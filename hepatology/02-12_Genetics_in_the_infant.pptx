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82528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Genetics in the Cholestatic Infant: Panel Yield, Rapid Genome in the NICU and the Kasai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82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EASL 2024 genetic cholestasis · Togawa 2016 · Karpen 2021 · Hoskins 2026 · Wang 2016, 2020 · Petrikin 2018 · Lunke 2020, 2023 · Maron 2023 (GEMINI) · Kaye 2010 · Fujishiro 2018 · Zhou 2025 · Serinet 2009 · Vandriel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93792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yield follows the phenotype · GGT as the gene filter · the genome now beats the panel · two clocks · never delay the cholangiogram · Alagille is the dangerous mimic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GENOME AND THE KASAI CLOCK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When should a cholestatic infant be sequenced, with which test, and what may the result change?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EASL CPG genetic cholestatic liver disease. J Hepatol 2024;81:303–25 · Maron JL, et al. JAMA 2023;330:161–9 · Kaye AJ, et al. JPGN 2010;51:319–21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70201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7020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Yield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4% to 71%, set by who is tested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Highest in syndromic or progressive disease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Lowest in the sick preterm on PN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1721" y="1773936"/>
            <a:ext cx="2070201" cy="22402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1721" y="1773936"/>
            <a:ext cx="2070201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6313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Gene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6313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GGT sorts the genes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Low GGT: ATP8B1, ABCB11, synthesis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High GGT: JAG1, ABCB4, CFTR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4803" y="1773936"/>
            <a:ext cx="2070201" cy="22402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4803" y="1773936"/>
            <a:ext cx="207020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9395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A33"/>
                </a:solidFill>
                <a:latin typeface="Abadi"/>
              </a:rPr>
              <a:t>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9395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Panel: about 3 weeks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Rapid genome: 2 to 6 days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Genome found more than panel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07884" y="1773936"/>
            <a:ext cx="2070201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7884" y="1773936"/>
            <a:ext cx="207020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2476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Kasai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2476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Outcome worsens with each week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Alagille after Kasai fares worse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Genetics never delays the cholangiogram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0966" y="1773936"/>
            <a:ext cx="207020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0966" y="1773936"/>
            <a:ext cx="207020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5558" y="1984248"/>
            <a:ext cx="174101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Pitfalls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5558" y="2615184"/>
            <a:ext cx="1741017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JAG1 deletions need del/dup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Heterozygous ABCB4/11 are modifiers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VUS is not a diagnosis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24528"/>
            <a:ext cx="1108252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the cholestatic infant, sequencing is no longer a late test for the unexplained case. A rapid genome can now return inside the Kasai window, so the question is how to run genetics in parallel with the atresia pathway without letting it slow that pathway down.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Alagille syndrome mistaken for biliary atresia and treated with a Kasai had more transplants (47% versus 14%) and more deaths (32% versus 3%) than matched patients spared the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TWO CLOCKS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TURNAROUND AGAINST THE KASAI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Days from sample to result, by test and study; the atresia work-up runs on a clock of days, not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Lunke S, et al. JAMA 2020;323:2503–11 · Dimmock D, et al. Am J Hum Genet 2021;108:1231–8 · Maron JL, et al. JAMA 2023;330:161–9 · Petrikin JE, et al. NPJ Genom Med 2018;3:6 · Karpen SJ, et al. JPGN 2021;72:654–60 · Hoskins BJ, et al. Front Pediatr 2026;14:1841006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105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Ultra-rapid exome, Australia (median)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931212"/>
            <a:ext cx="340156" cy="30723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6668" y="181051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 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591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Rapid genome, Project Baby Bear (average)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479852"/>
            <a:ext cx="340156" cy="30723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6668" y="235915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≈ 3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0779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Rapid genome, GEMINI urgent (79.9 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028492"/>
            <a:ext cx="374172" cy="30723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0684" y="2907791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3.3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564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Targeted panel, GEMINI urgent (98.5 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3577132"/>
            <a:ext cx="464880" cy="30723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1392" y="34564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4.1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Rapid genome to diagnosis, NSIGHT1 (median)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125772"/>
            <a:ext cx="1474012" cy="30723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0524" y="400507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13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5371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66-gene cholestasis panel (median)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674412"/>
            <a:ext cx="2381097" cy="30723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7609" y="455371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21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023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77-gene panel, recent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223052"/>
            <a:ext cx="2834640" cy="30723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31152" y="510235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3–4 wk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Day 60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age at Kasai in the French national cohort; native-liver survival fell with each later 15-day band (Serinet 2009).</a:t>
            </a: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RR 1.22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Native-liver survival favoured a Kasai at 30 days or younger in a 2023 meta-analysis; later surgery carried HR 2.12 for transplant.</a:t>
            </a:r>
          </a:p>
          <a:p>
            <a:pPr algn="l">
              <a:spcBef>
                <a:spcPts val="200"/>
              </a:spcBef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implication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 rapid genome sent on the day of referral can be back before the cholangiogram; a standard panel usually cannot.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DIAGNOSTIC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YIELD IS A PROPERTY OF THE PATIENT, NOT THE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Molecular diagnosis, % · navy = selected or syndromic infants, slate = mixed referral, red = NICU or preterm-dominated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Togawa T, et al. J Pediatr 2016 · Chen HL, et al. J Pediatr 2019;205:153 · Tang, et al. Front Pediatr 2026;14:1843435 · Wang NL, et al. Pediatr Res 2020;87:112–7 · Kaya, et al. J Paediatr Child Health 2025;61:1049–55 · Karpen 2021 · Hoskins 2026 · Wang H, et al. Transl Pediatr 2022;11:359–67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Japan · suspected genetic cholestasis · 18 genes · n = 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826879"/>
            <a:ext cx="2468880" cy="2278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1737360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44268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Taiwan · progressive or syndromic infancy · panel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233787"/>
            <a:ext cx="2173309" cy="2278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9901" y="2144268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62.5%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China · non-surgical infants after BA excluded · n = 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640695"/>
            <a:ext cx="2086377" cy="22786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2969" y="2551176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958084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Shanghai · suspected inherited cholestasis · n = 809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047603"/>
            <a:ext cx="1171848" cy="2278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8440" y="2958084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33.7%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64991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Türkiye · neonates · panel ± exome · n = 378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454511"/>
            <a:ext cx="973642" cy="2278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0234" y="3364991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71900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Japan · all infants · 18 genes · n = 109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861419"/>
            <a:ext cx="904096" cy="2278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0688" y="3771900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26%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78808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US · referred cholestasis · 66 genes · n = 2171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4268327"/>
            <a:ext cx="417275" cy="2278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3867" y="4178808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12%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85716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US · 77 genes, definitive · n = 10,894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675235"/>
            <a:ext cx="236456" cy="227868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3048" y="4585716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6.8%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92624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China · NICU cholestasis · clinical exome · n = 140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5082143"/>
            <a:ext cx="222546" cy="2278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9138" y="4992624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6.4%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99531"/>
            <a:ext cx="393192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1A1A1A"/>
                </a:solidFill>
                <a:latin typeface="Abadi"/>
              </a:rPr>
              <a:t>Japan · cholestasis with prematurity · n = 46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5489051"/>
            <a:ext cx="149523" cy="22786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86115" y="5399531"/>
            <a:ext cx="1371600" cy="406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Abadi"/>
              </a:rPr>
              <a:t>4.3%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1773936"/>
            <a:ext cx="363016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16-fold range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From 4.3% to 71% with the same kind of panel: pre-test probability, not platform, drives the number.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The NICU paradox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Among 160 cholestatic neonates in one NICU, 49% had PN-associated cholestasis; exome solved only 6.4%.</a:t>
            </a:r>
          </a:p>
          <a:p>
            <a:pPr algn="l">
              <a:spcBef>
                <a:spcPts val="2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Onset matters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In Shanghai all 17 disorders presented at 0–3 months; only 5 did after 4 months.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WHAT IT FINDS IN INFANTS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GENES DEPEND ON WHERE THE BABY WAS BORN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Leading molecular diagnoses in infant and mixed-age cholestasis cohorts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Hoskins BJ, et al. Front Pediatr 2026;14:1841006 · Togawa T, et al. J Pediatr 2016 · Wang NL, et al. Pediatr Res 2020;87:112–7 · Kaya, et al. J Paediatr Child Health 2025;61:1049–55 · Kim, et al. BMC Pediatr 2020;20 · Tang, et al. Front Pediatr 2026;14:1843435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7" cy="3520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4572000"/>
                <a:gridCol w="3675887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Cohort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Leading diagnoses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Lesson for the infant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US · 10,894 panels, 51% under 1 year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JAG1 192, SERPINA1 142, ABCC2 72, ABCB11 45, CFTR 38, POLG 31, NOTCH2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Alagille and alpha-1 dominate; Pi typing is faster than the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Japan · 109 infants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Alagille 12, neonatal Dubin–Johnson 5, citrin 5, low-GGT PFIC/BRIC 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ABCC2 and SLC25A13 must be on any East Asian panel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Shanghai · 809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SLC25A13 44.3%, JAG1 24.5%, ABCB11 11.0%, ATP8B1 5.9% of diagnoses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Citrin deficiency is the commonest genetic cholestasis in China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Türkiye · 378 neonates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ATP8B1, ABCB11, ABCB4, DCDC2, DGUOK, KIF12, USP53, HSD3B7, PEX1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Consanguinity in 56% of solved cases: recessive rarities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Korea · 135 infants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Neonatal Dubin–Johnson (ABCC2) in 6 (4.4%)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High bilirubin, near-normal transaminases: no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China · 326 infants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BA 49%; JAG1, SLC25A13, ABCC2, ATP8B1, ABCB11, USP53; one 20p12 deletion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Genetics solved 60% of the non-surgical group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82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Choose a panel that matches the local spectrum and reports copy-number changes; otherwise send a trio exome or genome.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GGT AS THE GENE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LOW GGT DOUBLES THE YIELD OF PFIC SEQUENCING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ATP8B1 and ABCB11 sequencing in 207 children with chronic cholestasis, Shanghai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Wang NL, et al. PLoS One 2016;11:e0153114 · Kaya, et al. J Paediatr Child Health 2025;61:1049–55 · EASL CPG genetic cholestatic liver disease. J Hepatol 2024;81:303–25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18288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8A939B"/>
                </a:solidFill>
                <a:latin typeface="Abadi"/>
              </a:rPr>
              <a:t>18.8%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78608"/>
            <a:ext cx="23042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Overall yield: 39 of 207 children had biallelic ATP8B1 or ABCB11 disease.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18288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7A33"/>
                </a:solidFill>
                <a:latin typeface="Abadi"/>
              </a:rPr>
              <a:t>35.1%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78608"/>
            <a:ext cx="23042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Yield when testing was limited to low peak GGT: 39 of 111, every diagnosis captured.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18288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22222"/>
                </a:solidFill>
                <a:latin typeface="Abadi"/>
              </a:rPr>
              <a:t>0 of 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042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Children above the GGT cut-offs: no PFIC1 or PFIC2 found.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18288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7A0B"/>
                </a:solidFill>
                <a:latin typeface="Abadi"/>
              </a:rPr>
              <a:t>43.8%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78608"/>
            <a:ext cx="230428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Share of sequencing cost spent on those 96 children.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3767328"/>
          <a:ext cx="411480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Age at peak GGT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Cut-off capturing all cases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2–6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&lt; 70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7–12 months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&lt; 60 U/L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Over 1 year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&lt; 50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846320" y="3767328"/>
          <a:ext cx="6784848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01568"/>
                <a:gridCol w="33832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Low or normal GGT points to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High GGT points to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ATP8B1, ABCB11, TJP2, MYO5B, USP53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JAG1, NOTCH2, ABCB4, CFTR, SERPINA1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Bile-acid synthesis defects (HSD3B7, AKR1D1)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Biliary atresia, choledochal malformation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ARC, SLOS (see 02-11)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Ductal plate and ciliary genes (DCDC2)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48640" y="5349240"/>
            <a:ext cx="11082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Caveat.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Single-centre, Chinese spectrum and pre-panel era: use GGT to read a panel and to order single genes, not to refuse broad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RAPID GENOME IN THE ICU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NICU HAS ALREADY RUN THE TRIALS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Rapid exome and genome sequencing in critically ill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Petrikin JE, et al. NPJ Genom Med 2018;3:6 · Kingsmore SF, et al. Am J Hum Genet 2019 · Lunke S, et al. JAMA 2020;323:2503–11 · Dimmock D, et al. Am J Hum Genet 2021;108:1231–8 · Lunke S, et al. Nat Med 2023;29:1681–91 · Maron JL, et al. JAMA 2023;330:161–9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2880360"/>
                <a:gridCol w="2011680"/>
                <a:gridCol w="1828800"/>
                <a:gridCol w="184708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Design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Yield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Time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Changed care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NSIGHT1 · US · n = 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RCT: rapid genome vs standard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31% vs 3% by day 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Median 13 vs 107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22% vs 9% (NS)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NSIGHT2 · US · n = 213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RCT: rapid genome vs rapid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19% vs 20%; ultra-rapid 46%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≈ 12 days; ultra-rapid 2.3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Similar in both arms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Lunke · Australia · n = 108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Ultra-rapid exome, median age 28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Median 3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76% of those diagnosed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Project Baby Bear · n = 178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Rapid genome, Medicaid ICUs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43%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≈ 3 days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31%; net saving reported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Acute Care Genomics · n = 290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Genome, then multi-omics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47% → 54%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Mean 2.9 days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77% of diagnosed; surgery, transplant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GEMINI · US · n = 400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Genome vs targeted panel, same infant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49% vs 27%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Urgent 80 h vs 99 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19%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074920"/>
            <a:ext cx="110825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355E"/>
                </a:solidFill>
                <a:latin typeface="Abadi"/>
              </a:rPr>
              <a:t>Reading the table.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Yields of 30–50% are from infants already selected for suspected genetic disease. None of these trials reported a cholestasis or suspected-atresia subgroup: the liver data are extrapolated.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1E7A33"/>
                </a:solidFill>
                <a:latin typeface="Abadi"/>
              </a:rPr>
              <a:t>Platform.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Exome and genome performed alike in NSIGHT2; trio versus singleton changed yield by about 1 point.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GEMINI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GENOME VERSUS PANEL, HEAD TO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400 hospitalised infants under 1 year had both tests on the same sample; diagnostic yield,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Maron JL, et al. JAMA 2023;330:161–9 (GEMINI) · cost modelling from a non-peer-reviewed preprint, shown for orientation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48656"/>
            <a:ext cx="603504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9616" y="2340863"/>
            <a:ext cx="658368" cy="290779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06654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Rapid genome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11295" y="3646403"/>
            <a:ext cx="658368" cy="16022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39" y="3372083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5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Targeted panel (NewbornDx)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975" y="4121144"/>
            <a:ext cx="658368" cy="112751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84682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2896" y="5312664"/>
            <a:ext cx="19385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Care changed after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95 versus 9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Diagnoses found by genome and missed by the panel, against the reverse; each test caught something.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146.6 h vs 100.3 h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Routine turnaround favoured the panel; in urgent cases the genome was faster (79.9 h vs 98.5 h).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$12,297 vs $2,449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Upfront cost per test in a preprint model; genome-first was modelled as cheaper overall. Not peer reviewed.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For the liver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 cholestasis panel is a narrower panel still: expect the genome to find the syndromic and multisystem causes it lacks.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LIVER SUBSET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LIVER DATA EXIST, BUT NOT FOR ATRESIA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rapid sequencing has shown in infants and children with liver disease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Bonser D, et al. J Pediatr 2023;260:113534 · Lunke S, et al. Nat Med 2023;29:1681–91 · Lenz D, et al. Hepatology 2024;79:1075–87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0116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7A33"/>
                </a:solidFill>
                <a:latin typeface="Abadi"/>
              </a:rPr>
              <a:t>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Acute liver dysfunction: 7 of 18 children diagnosed by rapid genome (OTC ×2, Wilson, PFIC1, NBAS, GSD IV, LARS).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0116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4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Median time to a diagnostic result in that cohort; 8 days overall.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0116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7A0B"/>
                </a:solidFill>
                <a:latin typeface="Abadi"/>
              </a:rPr>
              <a:t>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Diagnosed children who were being assessed or listed for liver transplant when the result arrived.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0116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22222"/>
                </a:solidFill>
                <a:latin typeface="Abadi"/>
              </a:rPr>
              <a:t>No trial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No published study of rapid genome in infants with suspected atresia before the cholangiogram.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1108252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What is extrapolation.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The yields and speeds come from mixed ICU populations and from acute liver failure. Whether a genome sent on referral changes the decision to operate in a cholestatic infant has not been tested prospectively.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1E7A33"/>
                </a:solidFill>
                <a:latin typeface="Abadi"/>
              </a:rPr>
              <a:t>What is known.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the Australian programme, 60% of diagnoses had major implications, including surgical and transplant decisions.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B22222"/>
                </a:solidFill>
                <a:latin typeface="Abadi"/>
              </a:rPr>
              <a:t>The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This is the study pediatric hepatology still needs: rapid trio genome at referral in every infant with conjugated hyperbilirubinemia, with the Kasai decision as the end 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KASAI IN THE WRONG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ALAGILLE AFTER A KASAI DOES WORSE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19 Alagille patients who had a Kasai versus 36 matched Alagille controls without one,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Kaye AJ, et al. JPGN 2010;51:319–21 · Fujishiro J, et al. Pediatr Surg Int 2018;34:1073–7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7393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Per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48656"/>
            <a:ext cx="6217920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1016" y="2340864"/>
            <a:ext cx="658368" cy="2907791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06654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47.3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Transplant, Kasai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5496" y="4394146"/>
            <a:ext cx="658368" cy="85450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411982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13.9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Transplant, no Kasai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5" y="3306029"/>
            <a:ext cx="658368" cy="194262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3031709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31.6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Death, Kasai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34455" y="5076524"/>
            <a:ext cx="658368" cy="172131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80220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badi"/>
              </a:rPr>
              <a:t>2.8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2976" y="5312664"/>
            <a:ext cx="148132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Death, no Kasai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773936"/>
            <a:ext cx="404164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9.6 vs 8.7 mg/dL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Bilirubin at 6–10 weeks was similar, so the groups did not start from obviously different severity.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OR 6.46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Transplant after Kasai in a meta-analysis of 6 studies and 394 Alagille patients (63% vs 23%); mortality OR 15.05.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Cause or marker?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Operated infants may have been sicker or had more hypoplastic ducts; the harm is plausible but not proven.</a:t>
            </a:r>
          </a:p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1B355E"/>
                </a:solidFill>
                <a:latin typeface="Abadi"/>
              </a:rPr>
              <a:t>Authors' advice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Consider Alagille before surgery in any high-GGT cholestatic infant.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DANGEROUS MIMIC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ALAGILLE LOOKS LIKE ATRESIA ON EVERY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JAG1 disease reaches the operating theatre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Zhou, et al. BMC Pediatr 2025;25:543 · Dědič T, et al. PLoS One 2015;10:e0143939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0116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7315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22222"/>
                </a:solidFill>
                <a:latin typeface="Abadi"/>
              </a:rPr>
              <a:t>9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Alagille infants in one Chinese series underwent surgical exploration for suspected atresia; 1 had a Kasai before JAG1 returned.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0116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7315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7A0B"/>
                </a:solidFill>
                <a:latin typeface="Abadi"/>
              </a:rPr>
              <a:t>5 of 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Kasai-treated 'atresia' patients in a Czech cohort carried JAG1 null variants; 2 transplanted, 1 died.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0116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7315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8A939B"/>
                </a:solidFill>
                <a:latin typeface="Abadi"/>
              </a:rPr>
              <a:t>68.5–72.2%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Specificity of hepatobiliary scintigraphy for atresia; non-excretion also occurs with duct paucity.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0116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7315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75104"/>
            <a:ext cx="23042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No paucity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578608"/>
            <a:ext cx="230428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 the Czech cases the biopsy showed ductular proliferation, not paucity: early histology can mislead.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48640" y="3977639"/>
          <a:ext cx="11082528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40"/>
                <a:gridCol w="2011680"/>
                <a:gridCol w="2011680"/>
                <a:gridCol w="376732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Feature (Zhou 2025)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Alagille, n = 14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Biliary atresia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How to use it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Gallbladder abnormal on ultrasound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64.3%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96.4%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 normal gallbladder argues for Alagille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Median GGT, U/L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305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515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Overlap is wide; GGT alone cannot separate them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Cardiac anomaly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78.6%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Echo before the cholangiogram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GENETICS RUNS BESIDE THE CHOLANGIOGRAM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parallel pathway for the infant with conjugated hyperbilirubinaemia and possible atresia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EASL CPG genetic cholestatic liver disease. J Hepatol 2024;81:303–25 · NHS England National Genomic Test Directory R14 (v9.1, 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040940" cy="20574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040940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Day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57984"/>
            <a:ext cx="18580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Fractionated bilirubin; stool colour; GGT; ultrasound; exclude sepsis, galactosaemia, hypothyroidism.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17012" y="271119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09036" y="1773936"/>
            <a:ext cx="2040940" cy="20574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09036" y="1773936"/>
            <a:ext cx="2040940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2188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Day 0–1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476" y="2157984"/>
            <a:ext cx="18580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Same-day sample: rapid trio genome or broad panel with del/dup; Pi type and level; sweat test or CFTR.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7409" y="271119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69433" y="1773936"/>
            <a:ext cx="2040940" cy="20574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3" y="1773936"/>
            <a:ext cx="2040940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2585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Day 1–3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0873" y="2157984"/>
            <a:ext cx="18580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Alagille screen: echo, spine film, eye exam for posterior embryotoxon. Fawaz: before the cholangiogram.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7806" y="271119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29830" y="1773936"/>
            <a:ext cx="2040940" cy="20574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9830" y="1773936"/>
            <a:ext cx="2040940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2982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Day 3–7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1270" y="2157984"/>
            <a:ext cx="18580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Cholangiogram on the atresia timetable. A pending result is never a reason to wait.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398203" y="2711196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0227" y="1773936"/>
            <a:ext cx="2040940" cy="20574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90227" y="1773936"/>
            <a:ext cx="2040940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63379" y="1773936"/>
            <a:ext cx="18946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1667" y="2157984"/>
            <a:ext cx="18580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Result reframes: cancel Kasai, re-read a poor Kasai, change drugs, screen family.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41648"/>
            <a:ext cx="1108252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B22222"/>
                </a:solidFill>
                <a:latin typeface="Abadi"/>
              </a:rPr>
              <a:t>What changes the operation.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A pathogenic JAG1 or NOTCH2 variant with a patent, hypoplastic tree argues against a Kasai; neonatal Dubin–Johnson, citrin deficiency or a low-GGT PFIC removes the reason to operate.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1B355E"/>
                </a:solidFill>
                <a:latin typeface="Abadi"/>
              </a:rPr>
              <a:t>What does not.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A heterozygous ABCB4 or ABCB11 variant, a VUS, or a biliary atresia susceptibility allele never cancels a cholangiogram in an infant with acholic stools.</a:t>
            </a:r>
          </a:p>
          <a:p>
            <a:pPr algn="l">
              <a:spcBef>
                <a:spcPts val="600"/>
              </a:spcBef>
            </a:pPr>
            <a:r>
              <a:rPr sz="1150" b="1" i="0">
                <a:solidFill>
                  <a:srgbClr val="1E7A33"/>
                </a:solidFill>
                <a:latin typeface="Abadi"/>
              </a:rPr>
              <a:t>Practical point.  </a:t>
            </a:r>
            <a:r>
              <a:rPr sz="1150" b="0" i="0">
                <a:solidFill>
                  <a:srgbClr val="1A1A1A"/>
                </a:solidFill>
                <a:latin typeface="Abadi"/>
              </a:rPr>
              <a:t>Fawaz notes that pre-operative testing for cystic fibrosis and Alagille helps the surgeon interpret the cholangiogram.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RESULT BEFORE SURGERY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EACH RESULT DOES TO THE KASAI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Interpretation of a genetic result that arrives before the cholangiogram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2017 · EASL 2024 · Kaye 2010 · Togawa 2016 · Kim 2020 · Wang NL 2016 · Berauer JP, et al. Hepatology 2019 · Vandriel SM, et al. Liver Int 2025;45:e70251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2651760"/>
                <a:gridCol w="1828800"/>
                <a:gridCol w="385876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Effect on surgery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JAG1 or NOTCH2, pathogenic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Alagille syndrome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Avoid Kasai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Cholangiogram only if atresia still suspected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ABCC2, biallelic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Neonatal Dubin–Johnson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surgery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Reassure; observe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SLC25A13, biallelic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Citrin deficiency (NICCD)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Lactose-free, MCT formula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ATP8B1, ABCB11, TJP2, USP53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Low-GGT PFIC spectrum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surgery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Genotype guides IBAT and diversion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CFTR, two variants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Cystic fibrosis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Usually 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Inspissated bile may still need drainage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One ABCB4 or ABCB11 variant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Possible modifier only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change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Proceed on the atresia timetable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PKD1L1, ADD3 risk allele, VUS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Susceptibility or uncertain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change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Do not let it delay or cancel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86400"/>
            <a:ext cx="11082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Rule.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result can remove the reason to operate; it can never supply a reason to wait.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ATRESIA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THERE IS NO BILIARY ATRESIA GENE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Susceptibility findings in biliary atresia and their clinical weight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Rajagopalan R, et al. Sci Rep 2020;10:2709 · Cui MM, et al. Int J Mol Sci 2023;24:14719 · Berauer JP, et al. Hepatology 2019 · Lam WY, et al. medRxiv 2020 (preprint)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Isolated 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Exomes of 101 patients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gene reached significance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complex, non-Mendelian disease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4028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ADD3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GWAS risk locus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Odds ratio 1.70 (317 cases)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GPC1, ARF6, EFEMP1 not replicated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BASM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Splenic malformation form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PKD1L1 variants in 8 of 67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Laterality genes, not a test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Ciliary genes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Variants in 31.5% of 89 trios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Odds ratio 2.58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Preprint: not yet peer reviewed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24528"/>
            <a:ext cx="11082528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In clinic.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No susceptibility variant changes the probability of atresia enough to alter the work-up. A genome that reports one should be read as research information.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1E7A33"/>
                </a:solidFill>
                <a:latin typeface="Abadi"/>
              </a:rPr>
              <a:t>Why it still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BASM and ciliopathy findings point to extrahepatic disease (heart, kidneys, laterality) that needs its own screening.</a:t>
            </a:r>
          </a:p>
          <a:p>
            <a:pPr algn="l">
              <a:spcBef>
                <a:spcPts val="600"/>
              </a:spcBef>
            </a:pPr>
            <a:r>
              <a:rPr sz="1250" b="1" i="0">
                <a:solidFill>
                  <a:srgbClr val="D97A0B"/>
                </a:solidFill>
                <a:latin typeface="Abadi"/>
              </a:rPr>
              <a:t>Counselling.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Recurrence of isolated atresia in siblings is rare; a negative genome does not change that advice.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A RESULT CAN HIDE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ways a genetic report misleads in the cholestatic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Vandriel SM, et al. Liver Int 2025;45:e70251 · Hoskins BJ, et al. Front Pediatr 2026;14:1841006 · Chen HL, et al. J Pediatr 2019;205:153 · Fawaz R, et al. JPGN 2017;64:154–68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Deletions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Whole-gene JAG1 deletions in 6.4% of probands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NOTCH2 deletions in 3.6%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Sequencing-only test misses them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Carriers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77.5% of a Taiwanese cohort carried ≥ 1 variant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Single-variant rate 25% vs 26% in controls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modifier, not a cause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Alpha-1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2nd commonest definitive call (142; 125 ZZ)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Not on every panel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Pi type and level in tier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37744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VUS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3117 VUS vs 662 P/LP in 2171 tests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&gt; 16,000 VUS alleles in 10,894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Phase with parents; re-analyse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70832"/>
            <a:ext cx="110825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Neonatal Dubin–Johnson.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ABCC2 was the third commonest definitive gene in the US series: conjugated hyperbilirubinaemia with near-normal transaminases that resolves; recognising it prevents a cholangiogram.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D97A0B"/>
                </a:solidFill>
                <a:latin typeface="Abadi"/>
              </a:rPr>
              <a:t>Secondary findings.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 genome may report adult-onset actionable genes; ACMG v3.3 (2025) added CYP27A1. Agree in advance with parents what will be returned.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(NASPGHAN/ESPGHAN 2017, ACMG 2021) versus Europe (EASL 2024, NHS England); AASLD has no guidance on this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EASL CPG. J Hepatol 2024;81:303–25 · Manickam K, et al. Genet Med 2021;23:2029–37 · NHS England Test Directory R14 v9.1 (2026)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886200"/>
                <a:gridCol w="3630168"/>
                <a:gridCol w="11887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When to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Tier 2: low threshold for panel or exome, with the hepatologist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Early in the work-up in infants and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Which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Panel or exome; ACMG: ES/GS first tier for anomalies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Panel or WES, not Sanger; WGS if WES negative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Rapid genome in the ICU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liver statement; payer-driven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NHS R14: rapid trio genome for acutely ill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Alpha-1 antitrypsin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Pi type and level in tier 1; level alone insufficient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Within genetic work-up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Alagille before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Look for features before cholangiogram; pre-op ALGS and CF testing helps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Not addressed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Genetics vs cholangiogram timing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Expedite atresia work-up; no explicit rule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No explicit rule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Abadi"/>
                        </a:rPr>
                        <a:t>Reanalysis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ACMG: laboratory policy, no interval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Abadi"/>
                        </a:rPr>
                        <a:t>At least every 3 years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212080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No guideline states that a pending genetic result must not delay the cholangiogram, although faster tests make that temptation new.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GENETICS GOES WRONG AT THE COT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missed, delayed or harmful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Kaye 2010 · Zhou 2025 · Dědič 2015 · Vandriel 2025 · Wang H 2022 · EASL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73936"/>
            <a:ext cx="2633472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73936"/>
            <a:ext cx="2633472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B22222"/>
                </a:solidFill>
                <a:latin typeface="Abadi"/>
              </a:rPr>
              <a:t>'Waiting for the panel'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Cholangiogram postponed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Kasai at 70 days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Native-liver survival lost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1773936"/>
            <a:ext cx="2633472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1773936"/>
            <a:ext cx="2633472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7A0B"/>
                </a:solidFill>
                <a:latin typeface="Abadi"/>
              </a:rPr>
              <a:t>'Sequencing negative'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No del/dup analysis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JAG1 deletion missed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Alagille gets a Kasai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1773936"/>
            <a:ext cx="2633472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773936"/>
            <a:ext cx="2633472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355E"/>
                </a:solidFill>
                <a:latin typeface="Abadi"/>
              </a:rPr>
              <a:t>'Two hits in ABCB11'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Parents not tested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Both on one allele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Wrong diagnosis, wrong drug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1773936"/>
            <a:ext cx="2633472" cy="22860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773936"/>
            <a:ext cx="2633472" cy="1005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62288" y="1984248"/>
            <a:ext cx="2304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A939B"/>
                </a:solidFill>
                <a:latin typeface="Abadi"/>
              </a:rPr>
              <a:t>'Genome for everyone'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615184"/>
            <a:ext cx="23042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▪  PN cholestasis in a preterm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Yield about 6%</a:t>
            </a:r>
          </a:p>
          <a:p>
            <a:pPr algn="l">
              <a:spcBef>
                <a:spcPts val="400"/>
              </a:spcBef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VUS anxiety, no gain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97680"/>
            <a:ext cx="110825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And one more: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normal-looking report read as 'not genetic' when the phenotype has moved on; EASL asks for reanalysis at least every 3 years.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onto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Togawa 2016 · Wang NL 2016 · Wang H 2022 · Maron 2023 · Lunke 2020, 2023 · Kaye 2010 · Fujishiro 2018 · Zhou 2025 · Vandriel 2025 · Hoskins 2026 · Serinet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73936"/>
            <a:ext cx="11082528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A1A"/>
                </a:solidFill>
                <a:latin typeface="Abadi"/>
              </a:rPr>
              <a:t>▪  Yield runs from about 4% in preterm or PN cholestasis to 71% when the phenotype looks genetic.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Low GGT with cholestasis doubled PFIC sequencing yield (18.8% to 35.1%) and lost no cases.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In the US, JAG1, SERPINA1 and ABCC2 lead; in China SLC25A13; in Türkiye recessive low-GGT genes.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Rapid exome or genome returns in 2–6 days; a cholestasis panel in about 3 weeks.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GEMINI: genome 49% versus targeted panel 27% in the same infants.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Alagille after Kasai: transplant 47% vs 14%, death 32% vs 3%; meta-analysis OR 6.5 for transplant.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9 of 14 Alagille infants in one series were explored surgically; echo first, cholangiogram second.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Ask for del/dup: whole-gene JAG1 deletions are about 6% of Alagille.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Heterozygous ABCB4 or ABCB11 variants are as common in controls; they never explain the infant.</a:t>
            </a:r>
          </a:p>
          <a:p>
            <a:pPr algn="l">
              <a:spcBef>
                <a:spcPts val="900"/>
              </a:spcBef>
            </a:pPr>
            <a:r>
              <a:rPr sz="1450" b="0" i="0">
                <a:solidFill>
                  <a:srgbClr val="1A1A1A"/>
                </a:solidFill>
                <a:latin typeface="Abadi"/>
              </a:rPr>
              <a:t>▪  A result may cancel a Kasai; it may never delay a cholangiogram.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309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0744" y="292608"/>
            <a:ext cx="1023213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22376"/>
            <a:ext cx="110825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82528" cy="2743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8252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88736"/>
            <a:ext cx="11082528" cy="914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6224" y="5971032"/>
            <a:ext cx="694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73936"/>
          <a:ext cx="11082528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212080"/>
                <a:gridCol w="587044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5-week-old, pale stools, GGT 480, small gallbladder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Atresia pathway now; rapid trio genome the same day; do not wait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6-week-old, murmur, butterfly vertebra, GGT 300, gallbladder seen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Echo and eye exam; JAG1/NOTCH2 with del/dup; cholangiogram only if still needed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4-week-old, bilirubin 8 mg/dL conjugated, ALT normal, East Asian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Think ABCC2 and SLC25A13; citrulline and panel before any surgery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8-week-old, low GGT, itch, normal stools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Atresia unlikely; ATP8B1, ABCB11, TJP2, USP53 panel; urine bile acids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28-week preterm on PN with sepsis, cholestatic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Genetics only if it fails to improve off PN; yield about 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Report: one ABCB11 variant and a VUS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Parental phasing; BSEP stain if biopsied; not a diagnosis yet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Post-Kasai infant with poor bile flow, panel shows JAG1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Re-label as Alagille; IBAT inhibitor eligibility; family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82528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Genetics in the Cholestatic Infant: Panel Yield, Rapid Genome in the NICU and the Kasai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30168"/>
            <a:ext cx="182880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31336"/>
            <a:ext cx="11082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