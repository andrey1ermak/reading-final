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45720" rIns="45720" tIns="27432" bIns="27432" anchor="b">
            <a:spAutoFit/>
          </a:bodyPr>
          <a:lstStyle/>
          <a:p>
            <a:pPr algn="ctr"/>
            <a:r>
              <a:rPr sz="4000" b="1" i="0">
                <a:solidFill>
                  <a:srgbClr val="FFFFFF"/>
                </a:solidFill>
                <a:latin typeface="Abadi"/>
              </a:rPr>
              <a:t>Biliary Atresia VI: Adjuvant Therapy after the Kasai — Steroids, IVIG, Antibiotics and Ursodeoxycholic Acid</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45720" rIns="45720" tIns="27432" bIns="27432" anchor="t">
            <a:spAutoFit/>
          </a:bodyPr>
          <a:lstStyle/>
          <a:p>
            <a:pPr algn="ctr"/>
            <a:r>
              <a:rPr sz="1100" b="0" i="0">
                <a:solidFill>
                  <a:srgbClr val="D9DEE7"/>
                </a:solidFill>
                <a:latin typeface="Abadi"/>
              </a:rPr>
              <a:t>Bezerra 2014 (START) · Alonso 2018 · Davenport 2007, 2013 · Tyraskis 2016, 2018 (Cochrane) · Yang 2022 · Lu 2023 · Mack 2019 (PRIME) · Bu 2003 · Chen 2021 · Calinescu-Tuleasca 2022 · Willot 2008 · JBAS 2021 · Fawaz 2017 · EMBARK 2023 · BOLD 2026</a:t>
            </a:r>
          </a:p>
        </p:txBody>
      </p:sp>
      <p:sp>
        <p:nvSpPr>
          <p:cNvPr id="7" name="TextBox 6"/>
          <p:cNvSpPr txBox="1"/>
          <p:nvPr/>
        </p:nvSpPr>
        <p:spPr>
          <a:xfrm>
            <a:off x="548640" y="5193792"/>
            <a:ext cx="11082528" cy="548640"/>
          </a:xfrm>
          <a:prstGeom prst="rect">
            <a:avLst/>
          </a:prstGeom>
          <a:noFill/>
        </p:spPr>
        <p:txBody>
          <a:bodyPr wrap="square" lIns="45720" rIns="45720" tIns="27432" bIns="27432" anchor="t">
            <a:spAutoFit/>
          </a:bodyPr>
          <a:lstStyle/>
          <a:p>
            <a:pPr algn="ctr"/>
            <a:r>
              <a:rPr sz="1100" b="0" i="1">
                <a:solidFill>
                  <a:srgbClr val="D9DEE7"/>
                </a:solidFill>
                <a:latin typeface="Abadi"/>
              </a:rPr>
              <a:t>steroids move bilirubin, not survival · the early, early-operated infant is the only candidate · IVIG and IBAT inhibitors: negative · prophylaxis and UDCA rest on habit and small studies · the operation, not the pill, decides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IS THERE A PILL AFTER THE OPERATION?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A 45-day-old has just had a Kasai. The ward asks: steroids, IVIG, antibiotics, ursodiol — which of these change the liver she keeps?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Bezerra JA, et al. JAMA 2014;311:1750–9 · Tyraskis A, et al. Cochrane Database Syst Rev 2018;CD008735 · Fligor SC, et al. Front Pediatr 2022;10:1007813</a:t>
            </a:r>
          </a:p>
        </p:txBody>
      </p:sp>
      <p:sp>
        <p:nvSpPr>
          <p:cNvPr id="12" name="Rectangle 11"/>
          <p:cNvSpPr/>
          <p:nvPr/>
        </p:nvSpPr>
        <p:spPr>
          <a:xfrm>
            <a:off x="548640"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1500" b="1" i="0">
                <a:solidFill>
                  <a:srgbClr val="1B355E"/>
                </a:solidFill>
                <a:latin typeface="Abadi"/>
              </a:rPr>
              <a:t>Steroids</a:t>
            </a:r>
          </a:p>
        </p:txBody>
      </p:sp>
      <p:sp>
        <p:nvSpPr>
          <p:cNvPr id="15" name="TextBox 14"/>
          <p:cNvSpPr txBox="1"/>
          <p:nvPr/>
        </p:nvSpPr>
        <p:spPr>
          <a:xfrm>
            <a:off x="694944"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Anti-inflammatory rationale</a:t>
            </a:r>
          </a:p>
          <a:p>
            <a:pPr>
              <a:spcAft>
                <a:spcPts val="400"/>
              </a:spcAft>
            </a:pPr>
            <a:r>
              <a:rPr sz="1100" b="0" i="0">
                <a:solidFill>
                  <a:srgbClr val="1A1A1A"/>
                </a:solidFill>
                <a:latin typeface="Abadi"/>
              </a:rPr>
              <a:t>▪  Two placebo-controlled RCTs: no survival gain</a:t>
            </a:r>
          </a:p>
          <a:p>
            <a:pPr>
              <a:spcAft>
                <a:spcPts val="400"/>
              </a:spcAft>
            </a:pPr>
            <a:r>
              <a:rPr sz="1100" b="0" i="0">
                <a:solidFill>
                  <a:srgbClr val="1A1A1A"/>
                </a:solidFill>
                <a:latin typeface="Abadi"/>
              </a:rPr>
              <a:t>▪  Signal in early Kasai</a:t>
            </a:r>
          </a:p>
        </p:txBody>
      </p:sp>
      <p:sp>
        <p:nvSpPr>
          <p:cNvPr id="16" name="Rectangle 15"/>
          <p:cNvSpPr/>
          <p:nvPr/>
        </p:nvSpPr>
        <p:spPr>
          <a:xfrm>
            <a:off x="2801721"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1500" b="1" i="0">
                <a:solidFill>
                  <a:srgbClr val="B22222"/>
                </a:solidFill>
                <a:latin typeface="Abadi"/>
              </a:rPr>
              <a:t>IVIG</a:t>
            </a:r>
          </a:p>
        </p:txBody>
      </p:sp>
      <p:sp>
        <p:nvSpPr>
          <p:cNvPr id="19" name="TextBox 18"/>
          <p:cNvSpPr txBox="1"/>
          <p:nvPr/>
        </p:nvSpPr>
        <p:spPr>
          <a:xfrm>
            <a:off x="2948025"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Immune hypothesis</a:t>
            </a:r>
          </a:p>
          <a:p>
            <a:pPr>
              <a:spcAft>
                <a:spcPts val="400"/>
              </a:spcAft>
            </a:pPr>
            <a:r>
              <a:rPr sz="1100" b="0" i="0">
                <a:solidFill>
                  <a:srgbClr val="1A1A1A"/>
                </a:solidFill>
                <a:latin typeface="Abadi"/>
              </a:rPr>
              <a:t>▪  Single-arm PRIME trial</a:t>
            </a:r>
          </a:p>
          <a:p>
            <a:pPr>
              <a:spcAft>
                <a:spcPts val="400"/>
              </a:spcAft>
            </a:pPr>
            <a:r>
              <a:rPr sz="1100" b="0" i="0">
                <a:solidFill>
                  <a:srgbClr val="1A1A1A"/>
                </a:solidFill>
                <a:latin typeface="Abadi"/>
              </a:rPr>
              <a:t>▪  No trend to benefit</a:t>
            </a:r>
          </a:p>
        </p:txBody>
      </p:sp>
      <p:sp>
        <p:nvSpPr>
          <p:cNvPr id="20" name="Rectangle 19"/>
          <p:cNvSpPr/>
          <p:nvPr/>
        </p:nvSpPr>
        <p:spPr>
          <a:xfrm>
            <a:off x="5054803"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1500" b="1" i="0">
                <a:solidFill>
                  <a:srgbClr val="D97A0B"/>
                </a:solidFill>
                <a:latin typeface="Abadi"/>
              </a:rPr>
              <a:t>Antibiotics</a:t>
            </a:r>
          </a:p>
        </p:txBody>
      </p:sp>
      <p:sp>
        <p:nvSpPr>
          <p:cNvPr id="23" name="TextBox 22"/>
          <p:cNvSpPr txBox="1"/>
          <p:nvPr/>
        </p:nvSpPr>
        <p:spPr>
          <a:xfrm>
            <a:off x="5201107"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Cholangitis in 30–60%</a:t>
            </a:r>
          </a:p>
          <a:p>
            <a:pPr>
              <a:spcAft>
                <a:spcPts val="400"/>
              </a:spcAft>
            </a:pPr>
            <a:r>
              <a:rPr sz="1100" b="0" i="0">
                <a:solidFill>
                  <a:srgbClr val="1A1A1A"/>
                </a:solidFill>
                <a:latin typeface="Abadi"/>
              </a:rPr>
              <a:t>▪  Prophylaxis: small studies</a:t>
            </a:r>
          </a:p>
          <a:p>
            <a:pPr>
              <a:spcAft>
                <a:spcPts val="400"/>
              </a:spcAft>
            </a:pPr>
            <a:r>
              <a:rPr sz="1100" b="0" i="0">
                <a:solidFill>
                  <a:srgbClr val="1A1A1A"/>
                </a:solidFill>
                <a:latin typeface="Abadi"/>
              </a:rPr>
              <a:t>▪  Delphi consensus only</a:t>
            </a:r>
          </a:p>
        </p:txBody>
      </p:sp>
      <p:sp>
        <p:nvSpPr>
          <p:cNvPr id="24" name="Rectangle 23"/>
          <p:cNvSpPr/>
          <p:nvPr/>
        </p:nvSpPr>
        <p:spPr>
          <a:xfrm>
            <a:off x="7307884"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1500" b="1" i="0">
                <a:solidFill>
                  <a:srgbClr val="1E7A33"/>
                </a:solidFill>
                <a:latin typeface="Abadi"/>
              </a:rPr>
              <a:t>Ursodiol</a:t>
            </a:r>
          </a:p>
        </p:txBody>
      </p:sp>
      <p:sp>
        <p:nvSpPr>
          <p:cNvPr id="27" name="TextBox 26"/>
          <p:cNvSpPr txBox="1"/>
          <p:nvPr/>
        </p:nvSpPr>
        <p:spPr>
          <a:xfrm>
            <a:off x="7454188"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Near-universal use</a:t>
            </a:r>
          </a:p>
          <a:p>
            <a:pPr>
              <a:spcAft>
                <a:spcPts val="400"/>
              </a:spcAft>
            </a:pPr>
            <a:r>
              <a:rPr sz="1100" b="0" i="0">
                <a:solidFill>
                  <a:srgbClr val="1A1A1A"/>
                </a:solidFill>
                <a:latin typeface="Abadi"/>
              </a:rPr>
              <a:t>▪  Withdrawal study only</a:t>
            </a:r>
          </a:p>
          <a:p>
            <a:pPr>
              <a:spcAft>
                <a:spcPts val="400"/>
              </a:spcAft>
            </a:pPr>
            <a:r>
              <a:rPr sz="1100" b="0" i="0">
                <a:solidFill>
                  <a:srgbClr val="1A1A1A"/>
                </a:solidFill>
                <a:latin typeface="Abadi"/>
              </a:rPr>
              <a:t>▪  No RCT</a:t>
            </a:r>
          </a:p>
        </p:txBody>
      </p:sp>
      <p:sp>
        <p:nvSpPr>
          <p:cNvPr id="28" name="Rectangle 27"/>
          <p:cNvSpPr/>
          <p:nvPr/>
        </p:nvSpPr>
        <p:spPr>
          <a:xfrm>
            <a:off x="9560966"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1500" b="1" i="0">
                <a:solidFill>
                  <a:srgbClr val="8A939B"/>
                </a:solidFill>
                <a:latin typeface="Abadi"/>
              </a:rPr>
              <a:t>Pipeline</a:t>
            </a:r>
          </a:p>
        </p:txBody>
      </p:sp>
      <p:sp>
        <p:nvSpPr>
          <p:cNvPr id="31" name="TextBox 30"/>
          <p:cNvSpPr txBox="1"/>
          <p:nvPr/>
        </p:nvSpPr>
        <p:spPr>
          <a:xfrm>
            <a:off x="9707270"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IBAT inhibitors: both negative</a:t>
            </a:r>
          </a:p>
          <a:p>
            <a:pPr>
              <a:spcAft>
                <a:spcPts val="400"/>
              </a:spcAft>
            </a:pPr>
            <a:r>
              <a:rPr sz="1100" b="0" i="0">
                <a:solidFill>
                  <a:srgbClr val="1A1A1A"/>
                </a:solidFill>
                <a:latin typeface="Abadi"/>
              </a:rPr>
              <a:t>▪  NAC, G-CSF in phase 2</a:t>
            </a:r>
          </a:p>
        </p:txBody>
      </p:sp>
      <p:sp>
        <p:nvSpPr>
          <p:cNvPr id="32" name="TextBox 31"/>
          <p:cNvSpPr txBox="1"/>
          <p:nvPr/>
        </p:nvSpPr>
        <p:spPr>
          <a:xfrm>
            <a:off x="548640" y="4114800"/>
            <a:ext cx="11082528" cy="1691640"/>
          </a:xfrm>
          <a:prstGeom prst="rect">
            <a:avLst/>
          </a:prstGeom>
          <a:noFill/>
        </p:spPr>
        <p:txBody>
          <a:bodyPr wrap="square" lIns="45720" rIns="45720" tIns="27432" bIns="27432" anchor="t">
            <a:spAutoFit/>
          </a:bodyPr>
          <a:lstStyle/>
          <a:p>
            <a:r>
              <a:rPr sz="1250" b="1" i="0">
                <a:solidFill>
                  <a:srgbClr val="1B355E"/>
                </a:solidFill>
                <a:latin typeface="Abadi"/>
              </a:rPr>
              <a:t>The main idea.   </a:t>
            </a:r>
            <a:r>
              <a:rPr sz="1250" b="0" i="0">
                <a:solidFill>
                  <a:srgbClr val="1A1A1A"/>
                </a:solidFill>
                <a:latin typeface="Abadi"/>
              </a:rPr>
              <a:t>No adjuvant therapy has level-one proof that it improves survival with the native liver. Steroids lower bilirubin faster, mainly when the Kasai is done early, at the price of early serious adverse events and slower growth. IVIG and the two ileal bile acid transporter inhibitors failed. Antibiotic prophylaxis and ursodeoxycholic acid are near-universal habits resting on small, low-quality studies. The operation, its timing and the centre still decide the outcome.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WHAT AN ADJUVANT WOULD HAVE TO FIX</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The disease does not stop at the operation: each step after a Kasai is a possible target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Bezerra 2014 · Mack CL, et al. J Pediatr Gastroenterol Nutr 2019;68:495–501 · Fligor 2022 · Calinescu-Tuleasca AM, et al. J Clin Med 2022;11:494</a:t>
            </a:r>
          </a:p>
        </p:txBody>
      </p:sp>
      <p:sp>
        <p:nvSpPr>
          <p:cNvPr id="12" name="Rectangle 11"/>
          <p:cNvSpPr/>
          <p:nvPr/>
        </p:nvSpPr>
        <p:spPr>
          <a:xfrm>
            <a:off x="548640"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Ongoing inflammation</a:t>
            </a:r>
          </a:p>
        </p:txBody>
      </p:sp>
      <p:sp>
        <p:nvSpPr>
          <p:cNvPr id="15" name="TextBox 14"/>
          <p:cNvSpPr txBox="1"/>
          <p:nvPr/>
        </p:nvSpPr>
        <p:spPr>
          <a:xfrm>
            <a:off x="658368"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Portal and ductular inflammation persists after the remnant is excised. Target: steroids, IVIG.</a:t>
            </a:r>
          </a:p>
        </p:txBody>
      </p:sp>
      <p:sp>
        <p:nvSpPr>
          <p:cNvPr id="16" name="TextBox 15"/>
          <p:cNvSpPr txBox="1"/>
          <p:nvPr/>
        </p:nvSpPr>
        <p:spPr>
          <a:xfrm>
            <a:off x="2531059"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Ductular injury</a:t>
            </a:r>
          </a:p>
        </p:txBody>
      </p:sp>
      <p:sp>
        <p:nvSpPr>
          <p:cNvPr id="20" name="TextBox 19"/>
          <p:cNvSpPr txBox="1"/>
          <p:nvPr/>
        </p:nvSpPr>
        <p:spPr>
          <a:xfrm>
            <a:off x="2933395"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Surviving ductules at the porta scar and close. Target: steroids (oedema, scar), NAC, G-CSF.</a:t>
            </a:r>
          </a:p>
        </p:txBody>
      </p:sp>
      <p:sp>
        <p:nvSpPr>
          <p:cNvPr id="21" name="TextBox 20"/>
          <p:cNvSpPr txBox="1"/>
          <p:nvPr/>
        </p:nvSpPr>
        <p:spPr>
          <a:xfrm>
            <a:off x="4806086"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Poor bile flow</a:t>
            </a:r>
          </a:p>
        </p:txBody>
      </p:sp>
      <p:sp>
        <p:nvSpPr>
          <p:cNvPr id="25" name="TextBox 24"/>
          <p:cNvSpPr txBox="1"/>
          <p:nvPr/>
        </p:nvSpPr>
        <p:spPr>
          <a:xfrm>
            <a:off x="5208422"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Low flow means retained bile acids and jaundice. Target: ursodiol, bile acid pool reduction (IBAT).</a:t>
            </a:r>
          </a:p>
        </p:txBody>
      </p:sp>
      <p:sp>
        <p:nvSpPr>
          <p:cNvPr id="26" name="TextBox 25"/>
          <p:cNvSpPr txBox="1"/>
          <p:nvPr/>
        </p:nvSpPr>
        <p:spPr>
          <a:xfrm>
            <a:off x="7081113"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Ascending infection</a:t>
            </a:r>
          </a:p>
        </p:txBody>
      </p:sp>
      <p:sp>
        <p:nvSpPr>
          <p:cNvPr id="30" name="TextBox 29"/>
          <p:cNvSpPr txBox="1"/>
          <p:nvPr/>
        </p:nvSpPr>
        <p:spPr>
          <a:xfrm>
            <a:off x="7483449"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Gut bacteria reach the porta via the Roux limb. Target: antibiotic prophylaxis.</a:t>
            </a:r>
          </a:p>
        </p:txBody>
      </p:sp>
      <p:sp>
        <p:nvSpPr>
          <p:cNvPr id="31" name="TextBox 30"/>
          <p:cNvSpPr txBox="1"/>
          <p:nvPr/>
        </p:nvSpPr>
        <p:spPr>
          <a:xfrm>
            <a:off x="9356140"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20116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Fibrosis</a:t>
            </a:r>
          </a:p>
        </p:txBody>
      </p:sp>
      <p:sp>
        <p:nvSpPr>
          <p:cNvPr id="35" name="TextBox 34"/>
          <p:cNvSpPr txBox="1"/>
          <p:nvPr/>
        </p:nvSpPr>
        <p:spPr>
          <a:xfrm>
            <a:off x="9758476"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Each insult adds scar; portal hypertension follows. No direct target yet.</a:t>
            </a:r>
          </a:p>
        </p:txBody>
      </p:sp>
      <p:sp>
        <p:nvSpPr>
          <p:cNvPr id="36" name="TextBox 35"/>
          <p:cNvSpPr txBox="1"/>
          <p:nvPr/>
        </p:nvSpPr>
        <p:spPr>
          <a:xfrm>
            <a:off x="548640" y="4023360"/>
            <a:ext cx="11082528" cy="1783080"/>
          </a:xfrm>
          <a:prstGeom prst="rect">
            <a:avLst/>
          </a:prstGeom>
          <a:noFill/>
        </p:spPr>
        <p:txBody>
          <a:bodyPr wrap="square" lIns="45720" rIns="45720" tIns="27432" bIns="27432" anchor="t">
            <a:spAutoFit/>
          </a:bodyPr>
          <a:lstStyle/>
          <a:p>
            <a:r>
              <a:rPr sz="1250" b="1" i="0">
                <a:solidFill>
                  <a:srgbClr val="1B355E"/>
                </a:solidFill>
                <a:latin typeface="Abadi"/>
              </a:rPr>
              <a:t>Reading the chain.   </a:t>
            </a:r>
            <a:r>
              <a:rPr sz="1250" b="0" i="0">
                <a:solidFill>
                  <a:srgbClr val="1A1A1A"/>
                </a:solidFill>
                <a:latin typeface="Abadi"/>
              </a:rPr>
              <a:t>Every adjuvant is aimed at one link, but the links are serial: a drug that dampens inflammation cannot open ductules that the operation failed to reach, and a drug that improves flow cannot help if no bile drains. That is why the strongest predictors of outcome remain age at Kasai, anatomy at the porta and centre experience, and why trials need large numbers to show a modest effect.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STEROIDS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FOUR REGIMENS, ONE QUESTION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Doses used in the main controlled studies of corticosteroids after the Kasai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Davenport M, et al. Hepatology 2007;46:1821–7 · Bezerra 2014 · Davenport M, et al. J Hepatol 2013;59:1054–8 · Lu X, et al. Ann Surg 2023;277:e1200–7</a:t>
            </a:r>
          </a:p>
        </p:txBody>
      </p:sp>
      <p:sp>
        <p:nvSpPr>
          <p:cNvPr id="12" name="Rectangle 11"/>
          <p:cNvSpPr/>
          <p:nvPr/>
        </p:nvSpPr>
        <p:spPr>
          <a:xfrm>
            <a:off x="548640" y="1773936"/>
            <a:ext cx="2633472"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45720" rIns="45720" tIns="27432" bIns="27432" anchor="t">
            <a:spAutoFit/>
          </a:bodyPr>
          <a:lstStyle/>
          <a:p>
            <a:r>
              <a:rPr sz="1500" b="1" i="0">
                <a:solidFill>
                  <a:srgbClr val="8A939B"/>
                </a:solidFill>
                <a:latin typeface="Abadi"/>
              </a:rPr>
              <a:t>UK low dose · 2007</a:t>
            </a:r>
          </a:p>
        </p:txBody>
      </p:sp>
      <p:sp>
        <p:nvSpPr>
          <p:cNvPr id="15" name="TextBox 14"/>
          <p:cNvSpPr txBox="1"/>
          <p:nvPr/>
        </p:nvSpPr>
        <p:spPr>
          <a:xfrm>
            <a:off x="694944" y="2505456"/>
            <a:ext cx="2340864"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Oral prednisolone 2 mg/kg/day</a:t>
            </a:r>
          </a:p>
          <a:p>
            <a:pPr>
              <a:spcAft>
                <a:spcPts val="400"/>
              </a:spcAft>
            </a:pPr>
            <a:r>
              <a:rPr sz="1100" b="0" i="0">
                <a:solidFill>
                  <a:srgbClr val="1A1A1A"/>
                </a:solidFill>
                <a:latin typeface="Abadi"/>
              </a:rPr>
              <a:t>▪  Tapered over about 6 weeks</a:t>
            </a:r>
          </a:p>
          <a:p>
            <a:pPr>
              <a:spcAft>
                <a:spcPts val="400"/>
              </a:spcAft>
            </a:pPr>
            <a:r>
              <a:rPr sz="1100" b="0" i="0">
                <a:solidFill>
                  <a:srgbClr val="1A1A1A"/>
                </a:solidFill>
                <a:latin typeface="Abadi"/>
              </a:rPr>
              <a:t>▪  RCT, 2 centres, n = 71</a:t>
            </a:r>
          </a:p>
        </p:txBody>
      </p:sp>
      <p:sp>
        <p:nvSpPr>
          <p:cNvPr id="16" name="Rectangle 15"/>
          <p:cNvSpPr/>
          <p:nvPr/>
        </p:nvSpPr>
        <p:spPr>
          <a:xfrm>
            <a:off x="3364992" y="1773936"/>
            <a:ext cx="2633472"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45720" rIns="45720" tIns="27432" bIns="27432" anchor="t">
            <a:spAutoFit/>
          </a:bodyPr>
          <a:lstStyle/>
          <a:p>
            <a:r>
              <a:rPr sz="1500" b="1" i="0">
                <a:solidFill>
                  <a:srgbClr val="1B355E"/>
                </a:solidFill>
                <a:latin typeface="Abadi"/>
              </a:rPr>
              <a:t>START · 2014</a:t>
            </a:r>
          </a:p>
        </p:txBody>
      </p:sp>
      <p:sp>
        <p:nvSpPr>
          <p:cNvPr id="19" name="TextBox 18"/>
          <p:cNvSpPr txBox="1"/>
          <p:nvPr/>
        </p:nvSpPr>
        <p:spPr>
          <a:xfrm>
            <a:off x="3511296" y="2505456"/>
            <a:ext cx="2340864"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IV methylprednisolone 4 mg/kg/day, then oral taper</a:t>
            </a:r>
          </a:p>
          <a:p>
            <a:pPr>
              <a:spcAft>
                <a:spcPts val="400"/>
              </a:spcAft>
            </a:pPr>
            <a:r>
              <a:rPr sz="1100" b="0" i="0">
                <a:solidFill>
                  <a:srgbClr val="1A1A1A"/>
                </a:solidFill>
                <a:latin typeface="Abadi"/>
              </a:rPr>
              <a:t>▪  About 13 weeks in total</a:t>
            </a:r>
          </a:p>
          <a:p>
            <a:pPr>
              <a:spcAft>
                <a:spcPts val="400"/>
              </a:spcAft>
            </a:pPr>
            <a:r>
              <a:rPr sz="1100" b="0" i="0">
                <a:solidFill>
                  <a:srgbClr val="1A1A1A"/>
                </a:solidFill>
                <a:latin typeface="Abadi"/>
              </a:rPr>
              <a:t>▪  Double-blind RCT, n = 140</a:t>
            </a:r>
          </a:p>
        </p:txBody>
      </p:sp>
      <p:sp>
        <p:nvSpPr>
          <p:cNvPr id="20" name="Rectangle 19"/>
          <p:cNvSpPr/>
          <p:nvPr/>
        </p:nvSpPr>
        <p:spPr>
          <a:xfrm>
            <a:off x="6181344" y="1773936"/>
            <a:ext cx="2633472"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45720" rIns="45720" tIns="27432" bIns="27432" anchor="t">
            <a:spAutoFit/>
          </a:bodyPr>
          <a:lstStyle/>
          <a:p>
            <a:r>
              <a:rPr sz="1500" b="1" i="0">
                <a:solidFill>
                  <a:srgbClr val="D97A0B"/>
                </a:solidFill>
                <a:latin typeface="Abadi"/>
              </a:rPr>
              <a:t>King's high dose · 2013</a:t>
            </a:r>
          </a:p>
        </p:txBody>
      </p:sp>
      <p:sp>
        <p:nvSpPr>
          <p:cNvPr id="23" name="TextBox 22"/>
          <p:cNvSpPr txBox="1"/>
          <p:nvPr/>
        </p:nvSpPr>
        <p:spPr>
          <a:xfrm>
            <a:off x="6327648" y="2505456"/>
            <a:ext cx="2340864"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Oral prednisolone from 5 mg/kg/day</a:t>
            </a:r>
          </a:p>
          <a:p>
            <a:pPr>
              <a:spcAft>
                <a:spcPts val="400"/>
              </a:spcAft>
            </a:pPr>
            <a:r>
              <a:rPr sz="1100" b="0" i="0">
                <a:solidFill>
                  <a:srgbClr val="1A1A1A"/>
                </a:solidFill>
                <a:latin typeface="Abadi"/>
              </a:rPr>
              <a:t>▪  Total about 75 mg/kg</a:t>
            </a:r>
          </a:p>
          <a:p>
            <a:pPr>
              <a:spcAft>
                <a:spcPts val="400"/>
              </a:spcAft>
            </a:pPr>
            <a:r>
              <a:rPr sz="1100" b="0" i="0">
                <a:solidFill>
                  <a:srgbClr val="1A1A1A"/>
                </a:solidFill>
                <a:latin typeface="Abadi"/>
              </a:rPr>
              <a:t>▪  Prospective, single surgeon, n = 44</a:t>
            </a:r>
          </a:p>
        </p:txBody>
      </p:sp>
      <p:sp>
        <p:nvSpPr>
          <p:cNvPr id="24" name="Rectangle 23"/>
          <p:cNvSpPr/>
          <p:nvPr/>
        </p:nvSpPr>
        <p:spPr>
          <a:xfrm>
            <a:off x="8997696" y="1773936"/>
            <a:ext cx="2633472"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45720" rIns="45720" tIns="27432" bIns="27432" anchor="t">
            <a:spAutoFit/>
          </a:bodyPr>
          <a:lstStyle/>
          <a:p>
            <a:r>
              <a:rPr sz="1500" b="1" i="0">
                <a:solidFill>
                  <a:srgbClr val="1E7A33"/>
                </a:solidFill>
                <a:latin typeface="Abadi"/>
              </a:rPr>
              <a:t>Shanghai · 2023</a:t>
            </a:r>
          </a:p>
        </p:txBody>
      </p:sp>
      <p:sp>
        <p:nvSpPr>
          <p:cNvPr id="27" name="TextBox 26"/>
          <p:cNvSpPr txBox="1"/>
          <p:nvPr/>
        </p:nvSpPr>
        <p:spPr>
          <a:xfrm>
            <a:off x="9144000" y="2505456"/>
            <a:ext cx="2340864"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Steroids for 10–12 weeks</a:t>
            </a:r>
          </a:p>
          <a:p>
            <a:pPr>
              <a:spcAft>
                <a:spcPts val="400"/>
              </a:spcAft>
            </a:pPr>
            <a:r>
              <a:rPr sz="1100" b="0" i="0">
                <a:solidFill>
                  <a:srgbClr val="1A1A1A"/>
                </a:solidFill>
                <a:latin typeface="Abadi"/>
              </a:rPr>
              <a:t>▪  Type 3 atresia only</a:t>
            </a:r>
          </a:p>
          <a:p>
            <a:pPr>
              <a:spcAft>
                <a:spcPts val="400"/>
              </a:spcAft>
            </a:pPr>
            <a:r>
              <a:rPr sz="1100" b="0" i="0">
                <a:solidFill>
                  <a:srgbClr val="1A1A1A"/>
                </a:solidFill>
                <a:latin typeface="Abadi"/>
              </a:rPr>
              <a:t>▪  Open-label RCT, n = 200</a:t>
            </a:r>
          </a:p>
        </p:txBody>
      </p:sp>
      <p:sp>
        <p:nvSpPr>
          <p:cNvPr id="28" name="TextBox 27"/>
          <p:cNvSpPr txBox="1"/>
          <p:nvPr/>
        </p:nvSpPr>
        <p:spPr>
          <a:xfrm>
            <a:off x="548640" y="4114800"/>
            <a:ext cx="11082528" cy="1691640"/>
          </a:xfrm>
          <a:prstGeom prst="rect">
            <a:avLst/>
          </a:prstGeom>
          <a:noFill/>
        </p:spPr>
        <p:txBody>
          <a:bodyPr wrap="square" lIns="45720" rIns="45720" tIns="27432" bIns="27432" anchor="t">
            <a:spAutoFit/>
          </a:bodyPr>
          <a:lstStyle/>
          <a:p>
            <a:r>
              <a:rPr sz="1250" b="1" i="0">
                <a:solidFill>
                  <a:srgbClr val="1B355E"/>
                </a:solidFill>
                <a:latin typeface="Abadi"/>
              </a:rPr>
              <a:t>Why steroids at all.   </a:t>
            </a:r>
            <a:r>
              <a:rPr sz="1250" b="0" i="0">
                <a:solidFill>
                  <a:srgbClr val="1A1A1A"/>
                </a:solidFill>
                <a:latin typeface="Abadi"/>
              </a:rPr>
              <a:t>The rationale is anti-inflammatory and anti-fibrotic: the portal infiltrate in atresia is rich in activated T cells and macrophages, and oedema around the ductules may limit drainage early after surgery. The doses rose over two decades because the low-dose trial showed only a faster early fall in bilirubin. The regimen, the start day and the age at Kasai all differ between studies, which matters when pooling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START TRIAL DESIGN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THE REGIMEN IN THE LARGEST TRIAL</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Steroids in Biliary Atresia Randomized Trial: double-blind, placebo-controlled, randomised within 72 hours of the Kasai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Bezerra JA, Spino C, Magee JC, et al. JAMA 2014;311:1750–9 (NCT00294684)</a:t>
            </a:r>
          </a:p>
        </p:txBody>
      </p:sp>
      <p:sp>
        <p:nvSpPr>
          <p:cNvPr id="12" name="Rectangle 11"/>
          <p:cNvSpPr/>
          <p:nvPr/>
        </p:nvSpPr>
        <p:spPr>
          <a:xfrm>
            <a:off x="548640"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Days 1–3</a:t>
            </a:r>
          </a:p>
        </p:txBody>
      </p:sp>
      <p:sp>
        <p:nvSpPr>
          <p:cNvPr id="15" name="TextBox 14"/>
          <p:cNvSpPr txBox="1"/>
          <p:nvPr/>
        </p:nvSpPr>
        <p:spPr>
          <a:xfrm>
            <a:off x="658368"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IV methylprednisolone 4 mg/kg/day in two doses, started within 72 hours of the operation.</a:t>
            </a:r>
          </a:p>
        </p:txBody>
      </p:sp>
      <p:sp>
        <p:nvSpPr>
          <p:cNvPr id="16" name="TextBox 15"/>
          <p:cNvSpPr txBox="1"/>
          <p:nvPr/>
        </p:nvSpPr>
        <p:spPr>
          <a:xfrm>
            <a:off x="2531059"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Days 4–14</a:t>
            </a:r>
          </a:p>
        </p:txBody>
      </p:sp>
      <p:sp>
        <p:nvSpPr>
          <p:cNvPr id="20" name="TextBox 19"/>
          <p:cNvSpPr txBox="1"/>
          <p:nvPr/>
        </p:nvSpPr>
        <p:spPr>
          <a:xfrm>
            <a:off x="2933395"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Oral prednisolone 4 mg/kg/day.</a:t>
            </a:r>
          </a:p>
        </p:txBody>
      </p:sp>
      <p:sp>
        <p:nvSpPr>
          <p:cNvPr id="21" name="TextBox 20"/>
          <p:cNvSpPr txBox="1"/>
          <p:nvPr/>
        </p:nvSpPr>
        <p:spPr>
          <a:xfrm>
            <a:off x="4806086"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Weeks 3–6</a:t>
            </a:r>
          </a:p>
        </p:txBody>
      </p:sp>
      <p:sp>
        <p:nvSpPr>
          <p:cNvPr id="25" name="TextBox 24"/>
          <p:cNvSpPr txBox="1"/>
          <p:nvPr/>
        </p:nvSpPr>
        <p:spPr>
          <a:xfrm>
            <a:off x="5208422"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2 mg/kg/day for two weeks, then 1 mg/kg/day for two weeks.</a:t>
            </a:r>
          </a:p>
        </p:txBody>
      </p:sp>
      <p:sp>
        <p:nvSpPr>
          <p:cNvPr id="26" name="TextBox 25"/>
          <p:cNvSpPr txBox="1"/>
          <p:nvPr/>
        </p:nvSpPr>
        <p:spPr>
          <a:xfrm>
            <a:off x="7081113"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Weeks 7–13</a:t>
            </a:r>
          </a:p>
        </p:txBody>
      </p:sp>
      <p:sp>
        <p:nvSpPr>
          <p:cNvPr id="30" name="TextBox 29"/>
          <p:cNvSpPr txBox="1"/>
          <p:nvPr/>
        </p:nvSpPr>
        <p:spPr>
          <a:xfrm>
            <a:off x="7483449"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Weekly taper 0.8, 0.6, 0.4, 0.2, 0.1 mg/kg/day, then alternate days.</a:t>
            </a:r>
          </a:p>
        </p:txBody>
      </p:sp>
      <p:sp>
        <p:nvSpPr>
          <p:cNvPr id="31" name="TextBox 30"/>
          <p:cNvSpPr txBox="1"/>
          <p:nvPr/>
        </p:nvSpPr>
        <p:spPr>
          <a:xfrm>
            <a:off x="9356140"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Week 14</a:t>
            </a:r>
          </a:p>
        </p:txBody>
      </p:sp>
      <p:sp>
        <p:nvSpPr>
          <p:cNvPr id="35" name="TextBox 34"/>
          <p:cNvSpPr txBox="1"/>
          <p:nvPr/>
        </p:nvSpPr>
        <p:spPr>
          <a:xfrm>
            <a:off x="9758476"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Stop. Primary endpoint read at 6 months: bilirubin &lt; 1.5 mg/dL with native liver.</a:t>
            </a:r>
          </a:p>
        </p:txBody>
      </p:sp>
      <p:sp>
        <p:nvSpPr>
          <p:cNvPr id="36" name="TextBox 35"/>
          <p:cNvSpPr txBox="1"/>
          <p:nvPr/>
        </p:nvSpPr>
        <p:spPr>
          <a:xfrm>
            <a:off x="548640" y="4023360"/>
            <a:ext cx="11082528" cy="1783080"/>
          </a:xfrm>
          <a:prstGeom prst="rect">
            <a:avLst/>
          </a:prstGeom>
          <a:noFill/>
        </p:spPr>
        <p:txBody>
          <a:bodyPr wrap="square" lIns="45720" rIns="45720" tIns="27432" bIns="27432" anchor="t">
            <a:spAutoFit/>
          </a:bodyPr>
          <a:lstStyle/>
          <a:p>
            <a:r>
              <a:rPr sz="1250" b="1" i="0">
                <a:solidFill>
                  <a:srgbClr val="1B355E"/>
                </a:solidFill>
                <a:latin typeface="Abadi"/>
              </a:rPr>
              <a:t>Population.   </a:t>
            </a:r>
            <a:r>
              <a:rPr sz="1250" b="0" i="0">
                <a:solidFill>
                  <a:srgbClr val="1A1A1A"/>
                </a:solidFill>
                <a:latin typeface="Abadi"/>
              </a:rPr>
              <a:t>140 infants, 70 per arm, enrolled 2005 to 2011 in the North American ChiLDReN network; mean age 2.3 months, which is late by European standards. A modest true effect, of the size later suggested by the meta-analyses, could easily have been missed with this sample. The comparison is steroid against placebo on top of each centre's usual post-operative care.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START RESULTS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BILIRUBIN MOVED, SURVIVAL DID NOT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START: steroids versus placebo, % of infants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Bezerra JA, et al. JAMA 2014;311:1750–9</a:t>
            </a:r>
          </a:p>
        </p:txBody>
      </p:sp>
      <p:sp>
        <p:nvSpPr>
          <p:cNvPr id="12" name="TextBox 11"/>
          <p:cNvSpPr txBox="1"/>
          <p:nvPr/>
        </p:nvSpPr>
        <p:spPr>
          <a:xfrm>
            <a:off x="548640" y="19659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Bilirubin &lt; 1.5 at 6 months · steroids</a:t>
            </a:r>
          </a:p>
        </p:txBody>
      </p:sp>
      <p:sp>
        <p:nvSpPr>
          <p:cNvPr id="13" name="Rectangle 12"/>
          <p:cNvSpPr/>
          <p:nvPr/>
        </p:nvSpPr>
        <p:spPr>
          <a:xfrm>
            <a:off x="3474720" y="2029967"/>
            <a:ext cx="3827417"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5289" y="19659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58.6%</a:t>
            </a:r>
          </a:p>
        </p:txBody>
      </p:sp>
      <p:sp>
        <p:nvSpPr>
          <p:cNvPr id="15" name="TextBox 14"/>
          <p:cNvSpPr txBox="1"/>
          <p:nvPr/>
        </p:nvSpPr>
        <p:spPr>
          <a:xfrm>
            <a:off x="548640" y="24231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Bilirubin &lt; 1.5 at 6 months · placebo</a:t>
            </a:r>
          </a:p>
        </p:txBody>
      </p:sp>
      <p:sp>
        <p:nvSpPr>
          <p:cNvPr id="16" name="Rectangle 15"/>
          <p:cNvSpPr/>
          <p:nvPr/>
        </p:nvSpPr>
        <p:spPr>
          <a:xfrm>
            <a:off x="3474720" y="2487168"/>
            <a:ext cx="3174274"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2146" y="24231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48.6%</a:t>
            </a:r>
          </a:p>
        </p:txBody>
      </p:sp>
      <p:sp>
        <p:nvSpPr>
          <p:cNvPr id="18" name="TextBox 17"/>
          <p:cNvSpPr txBox="1"/>
          <p:nvPr/>
        </p:nvSpPr>
        <p:spPr>
          <a:xfrm>
            <a:off x="548640" y="28803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Native liver at 24 months · steroids</a:t>
            </a:r>
          </a:p>
        </p:txBody>
      </p:sp>
      <p:sp>
        <p:nvSpPr>
          <p:cNvPr id="19" name="Rectangle 18"/>
          <p:cNvSpPr/>
          <p:nvPr/>
        </p:nvSpPr>
        <p:spPr>
          <a:xfrm>
            <a:off x="3474720" y="2944368"/>
            <a:ext cx="3833948"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81820" y="28803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58.7%</a:t>
            </a:r>
          </a:p>
        </p:txBody>
      </p:sp>
      <p:sp>
        <p:nvSpPr>
          <p:cNvPr id="21" name="TextBox 20"/>
          <p:cNvSpPr txBox="1"/>
          <p:nvPr/>
        </p:nvSpPr>
        <p:spPr>
          <a:xfrm>
            <a:off x="548640" y="33375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Native liver at 24 months · placebo</a:t>
            </a:r>
          </a:p>
        </p:txBody>
      </p:sp>
      <p:sp>
        <p:nvSpPr>
          <p:cNvPr id="22" name="Rectangle 21"/>
          <p:cNvSpPr/>
          <p:nvPr/>
        </p:nvSpPr>
        <p:spPr>
          <a:xfrm>
            <a:off x="3474720" y="3401568"/>
            <a:ext cx="3879668"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27540" y="33375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59.4%</a:t>
            </a:r>
          </a:p>
        </p:txBody>
      </p:sp>
      <p:sp>
        <p:nvSpPr>
          <p:cNvPr id="24" name="TextBox 23"/>
          <p:cNvSpPr txBox="1"/>
          <p:nvPr/>
        </p:nvSpPr>
        <p:spPr>
          <a:xfrm>
            <a:off x="548640" y="37947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First serious adverse event by day 30 · steroids</a:t>
            </a:r>
          </a:p>
        </p:txBody>
      </p:sp>
      <p:sp>
        <p:nvSpPr>
          <p:cNvPr id="25" name="Rectangle 24"/>
          <p:cNvSpPr/>
          <p:nvPr/>
        </p:nvSpPr>
        <p:spPr>
          <a:xfrm>
            <a:off x="3474720" y="3858768"/>
            <a:ext cx="2429691"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77563" y="37947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37.2%</a:t>
            </a:r>
          </a:p>
        </p:txBody>
      </p:sp>
      <p:sp>
        <p:nvSpPr>
          <p:cNvPr id="27" name="TextBox 26"/>
          <p:cNvSpPr txBox="1"/>
          <p:nvPr/>
        </p:nvSpPr>
        <p:spPr>
          <a:xfrm>
            <a:off x="548640" y="42519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First serious adverse event by day 30 · placebo</a:t>
            </a:r>
          </a:p>
        </p:txBody>
      </p:sp>
      <p:sp>
        <p:nvSpPr>
          <p:cNvPr id="28" name="Rectangle 27"/>
          <p:cNvSpPr/>
          <p:nvPr/>
        </p:nvSpPr>
        <p:spPr>
          <a:xfrm>
            <a:off x="3474720" y="4315968"/>
            <a:ext cx="1240971"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88843" y="42519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19.0%</a:t>
            </a:r>
          </a:p>
        </p:txBody>
      </p:sp>
      <p:sp>
        <p:nvSpPr>
          <p:cNvPr id="30" name="TextBox 29"/>
          <p:cNvSpPr txBox="1"/>
          <p:nvPr/>
        </p:nvSpPr>
        <p:spPr>
          <a:xfrm>
            <a:off x="548640" y="475488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70 per arm. Primary endpoint adjusted difference 8.7% (95% CI −10.4 to 27.7), P = .43; survival HR 1.0, P = .99; early SAE P = .008.</a:t>
            </a:r>
          </a:p>
        </p:txBody>
      </p:sp>
      <p:sp>
        <p:nvSpPr>
          <p:cNvPr id="31" name="TextBox 30"/>
          <p:cNvSpPr txBox="1"/>
          <p:nvPr/>
        </p:nvSpPr>
        <p:spPr>
          <a:xfrm>
            <a:off x="548640" y="5074920"/>
            <a:ext cx="7955279" cy="100584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A ten-point gain in bile drainage that was not statistically significant, no difference at all in native-liver survival at two years, and twice the rate of early serious adverse events.</a:t>
            </a:r>
          </a:p>
        </p:txBody>
      </p:sp>
      <p:sp>
        <p:nvSpPr>
          <p:cNvPr id="32" name="TextBox 31"/>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Age ≤ 70 days</a:t>
            </a:r>
          </a:p>
          <a:p>
            <a:pPr>
              <a:spcAft>
                <a:spcPts val="400"/>
              </a:spcAft>
            </a:pPr>
            <a:r>
              <a:rPr sz="1050" b="0" i="0">
                <a:solidFill>
                  <a:srgbClr val="1A1A1A"/>
                </a:solidFill>
                <a:latin typeface="Abadi"/>
              </a:rPr>
              <a:t>Post hoc, 76 infants: 71.8% vs 56.8% cleared (P = .36); interaction P = .67.</a:t>
            </a:r>
          </a:p>
          <a:p>
            <a:pPr>
              <a:spcAft>
                <a:spcPts val="400"/>
              </a:spcAft>
            </a:pPr>
            <a:r>
              <a:rPr sz="1500" b="1" i="0">
                <a:solidFill>
                  <a:srgbClr val="1B355E"/>
                </a:solidFill>
                <a:latin typeface="Abadi"/>
              </a:rPr>
              <a:t>Overall SAEs</a:t>
            </a:r>
          </a:p>
          <a:p>
            <a:pPr>
              <a:spcAft>
                <a:spcPts val="400"/>
              </a:spcAft>
            </a:pPr>
            <a:r>
              <a:rPr sz="1050" b="0" i="0">
                <a:solidFill>
                  <a:srgbClr val="1A1A1A"/>
                </a:solidFill>
                <a:latin typeface="Abadi"/>
              </a:rPr>
              <a:t>81.4% vs 80.0% over the study: harm concentrated in the treatment weeks.</a:t>
            </a:r>
          </a:p>
          <a:p>
            <a:pPr>
              <a:spcAft>
                <a:spcPts val="400"/>
              </a:spcAft>
            </a:pPr>
            <a:r>
              <a:rPr sz="1500" b="1" i="0">
                <a:solidFill>
                  <a:srgbClr val="1B355E"/>
                </a:solidFill>
                <a:latin typeface="Abadi"/>
              </a:rPr>
              <a:t>Surgical SAEs</a:t>
            </a:r>
          </a:p>
          <a:p>
            <a:pPr>
              <a:spcAft>
                <a:spcPts val="400"/>
              </a:spcAft>
            </a:pPr>
            <a:r>
              <a:rPr sz="1050" b="0" i="0">
                <a:solidFill>
                  <a:srgbClr val="1A1A1A"/>
                </a:solidFill>
                <a:latin typeface="Abadi"/>
              </a:rPr>
              <a:t>6 vs 1, including anastomotic complications and perforation.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THE PRICE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WHAT STEROIDS COST THE INFANT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Safety and growth findings from START and its follow-up</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Bezerra 2014 · Alonso EM, Ye W, Hawthorne K, et al. J Pediatr 2018;202:179–85</a:t>
            </a:r>
          </a:p>
        </p:txBody>
      </p:sp>
      <p:sp>
        <p:nvSpPr>
          <p:cNvPr id="12" name="Rectangle 11"/>
          <p:cNvSpPr/>
          <p:nvPr/>
        </p:nvSpPr>
        <p:spPr>
          <a:xfrm>
            <a:off x="548640" y="1773936"/>
            <a:ext cx="2070201"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2000" b="1" i="0">
                <a:solidFill>
                  <a:srgbClr val="B22222"/>
                </a:solidFill>
                <a:latin typeface="Abadi"/>
              </a:rPr>
              <a:t>37% vs 19%</a:t>
            </a:r>
          </a:p>
        </p:txBody>
      </p:sp>
      <p:sp>
        <p:nvSpPr>
          <p:cNvPr id="15" name="TextBox 14"/>
          <p:cNvSpPr txBox="1"/>
          <p:nvPr/>
        </p:nvSpPr>
        <p:spPr>
          <a:xfrm>
            <a:off x="694944" y="2505456"/>
            <a:ext cx="1777593" cy="1463040"/>
          </a:xfrm>
          <a:prstGeom prst="rect">
            <a:avLst/>
          </a:prstGeom>
          <a:noFill/>
        </p:spPr>
        <p:txBody>
          <a:bodyPr wrap="square" lIns="45720" rIns="45720" tIns="27432" bIns="27432" anchor="t">
            <a:spAutoFit/>
          </a:bodyPr>
          <a:lstStyle/>
          <a:p>
            <a:r>
              <a:rPr sz="1050" b="0" i="0">
                <a:solidFill>
                  <a:srgbClr val="1A1A1A"/>
                </a:solidFill>
                <a:latin typeface="Abadi"/>
              </a:rPr>
              <a:t>First serious adverse event within 30 days of the Kasai, steroids versus placebo.</a:t>
            </a:r>
          </a:p>
        </p:txBody>
      </p:sp>
      <p:sp>
        <p:nvSpPr>
          <p:cNvPr id="16" name="Rectangle 15"/>
          <p:cNvSpPr/>
          <p:nvPr/>
        </p:nvSpPr>
        <p:spPr>
          <a:xfrm>
            <a:off x="2801721" y="1773936"/>
            <a:ext cx="2070201"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2000" b="1" i="0">
                <a:solidFill>
                  <a:srgbClr val="B22222"/>
                </a:solidFill>
                <a:latin typeface="Abadi"/>
              </a:rPr>
              <a:t>6 vs 1</a:t>
            </a:r>
          </a:p>
        </p:txBody>
      </p:sp>
      <p:sp>
        <p:nvSpPr>
          <p:cNvPr id="19" name="TextBox 18"/>
          <p:cNvSpPr txBox="1"/>
          <p:nvPr/>
        </p:nvSpPr>
        <p:spPr>
          <a:xfrm>
            <a:off x="2948025" y="2505456"/>
            <a:ext cx="1777593" cy="1463040"/>
          </a:xfrm>
          <a:prstGeom prst="rect">
            <a:avLst/>
          </a:prstGeom>
          <a:noFill/>
        </p:spPr>
        <p:txBody>
          <a:bodyPr wrap="square" lIns="45720" rIns="45720" tIns="27432" bIns="27432" anchor="t">
            <a:spAutoFit/>
          </a:bodyPr>
          <a:lstStyle/>
          <a:p>
            <a:r>
              <a:rPr sz="1050" b="0" i="0">
                <a:solidFill>
                  <a:srgbClr val="1A1A1A"/>
                </a:solidFill>
                <a:latin typeface="Abadi"/>
              </a:rPr>
              <a:t>Surgical serious adverse events, including anastomotic problems and intestinal perforation.</a:t>
            </a:r>
          </a:p>
        </p:txBody>
      </p:sp>
      <p:sp>
        <p:nvSpPr>
          <p:cNvPr id="20" name="Rectangle 19"/>
          <p:cNvSpPr/>
          <p:nvPr/>
        </p:nvSpPr>
        <p:spPr>
          <a:xfrm>
            <a:off x="5054803" y="1773936"/>
            <a:ext cx="2070201" cy="22860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2000" b="1" i="0">
                <a:solidFill>
                  <a:srgbClr val="D97A0B"/>
                </a:solidFill>
                <a:latin typeface="Abadi"/>
              </a:rPr>
              <a:t>Length, head</a:t>
            </a:r>
          </a:p>
        </p:txBody>
      </p:sp>
      <p:sp>
        <p:nvSpPr>
          <p:cNvPr id="23" name="TextBox 22"/>
          <p:cNvSpPr txBox="1"/>
          <p:nvPr/>
        </p:nvSpPr>
        <p:spPr>
          <a:xfrm>
            <a:off x="5201107" y="2505456"/>
            <a:ext cx="1777593" cy="1463040"/>
          </a:xfrm>
          <a:prstGeom prst="rect">
            <a:avLst/>
          </a:prstGeom>
          <a:noFill/>
        </p:spPr>
        <p:txBody>
          <a:bodyPr wrap="square" lIns="45720" rIns="45720" tIns="27432" bIns="27432" anchor="t">
            <a:spAutoFit/>
          </a:bodyPr>
          <a:lstStyle/>
          <a:p>
            <a:r>
              <a:rPr sz="1050" b="0" i="0">
                <a:solidFill>
                  <a:srgbClr val="1A1A1A"/>
                </a:solidFill>
                <a:latin typeface="Abadi"/>
              </a:rPr>
              <a:t>Lower length and head-circumference z-scores for 3 months after the Kasai; head recovered later.</a:t>
            </a:r>
          </a:p>
        </p:txBody>
      </p:sp>
      <p:sp>
        <p:nvSpPr>
          <p:cNvPr id="24" name="Rectangle 23"/>
          <p:cNvSpPr/>
          <p:nvPr/>
        </p:nvSpPr>
        <p:spPr>
          <a:xfrm>
            <a:off x="7307884" y="1773936"/>
            <a:ext cx="2070201" cy="22860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2000" b="1" i="0">
                <a:solidFill>
                  <a:srgbClr val="D97A0B"/>
                </a:solidFill>
                <a:latin typeface="Abadi"/>
              </a:rPr>
              <a:t>Weight</a:t>
            </a:r>
          </a:p>
        </p:txBody>
      </p:sp>
      <p:sp>
        <p:nvSpPr>
          <p:cNvPr id="27" name="TextBox 26"/>
          <p:cNvSpPr txBox="1"/>
          <p:nvPr/>
        </p:nvSpPr>
        <p:spPr>
          <a:xfrm>
            <a:off x="7454188" y="2505456"/>
            <a:ext cx="1777593" cy="1463040"/>
          </a:xfrm>
          <a:prstGeom prst="rect">
            <a:avLst/>
          </a:prstGeom>
          <a:noFill/>
        </p:spPr>
        <p:txBody>
          <a:bodyPr wrap="square" lIns="45720" rIns="45720" tIns="27432" bIns="27432" anchor="t">
            <a:spAutoFit/>
          </a:bodyPr>
          <a:lstStyle/>
          <a:p>
            <a:r>
              <a:rPr sz="1050" b="0" i="0">
                <a:solidFill>
                  <a:srgbClr val="1A1A1A"/>
                </a:solidFill>
                <a:latin typeface="Abadi"/>
              </a:rPr>
              <a:t>Lower weight z-score until 12 months; effect largest in infants whose Kasai worked.</a:t>
            </a:r>
          </a:p>
        </p:txBody>
      </p:sp>
      <p:sp>
        <p:nvSpPr>
          <p:cNvPr id="28" name="Rectangle 27"/>
          <p:cNvSpPr/>
          <p:nvPr/>
        </p:nvSpPr>
        <p:spPr>
          <a:xfrm>
            <a:off x="9560966" y="1773936"/>
            <a:ext cx="2070201" cy="22860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2000" b="1" i="0">
                <a:solidFill>
                  <a:srgbClr val="8A939B"/>
                </a:solidFill>
                <a:latin typeface="Abadi"/>
              </a:rPr>
              <a:t>Vaccines</a:t>
            </a:r>
          </a:p>
        </p:txBody>
      </p:sp>
      <p:sp>
        <p:nvSpPr>
          <p:cNvPr id="31" name="TextBox 30"/>
          <p:cNvSpPr txBox="1"/>
          <p:nvPr/>
        </p:nvSpPr>
        <p:spPr>
          <a:xfrm>
            <a:off x="9707270" y="2505456"/>
            <a:ext cx="1777593" cy="1463040"/>
          </a:xfrm>
          <a:prstGeom prst="rect">
            <a:avLst/>
          </a:prstGeom>
          <a:noFill/>
        </p:spPr>
        <p:txBody>
          <a:bodyPr wrap="square" lIns="45720" rIns="45720" tIns="27432" bIns="27432" anchor="t">
            <a:spAutoFit/>
          </a:bodyPr>
          <a:lstStyle/>
          <a:p>
            <a:r>
              <a:rPr sz="1050" b="0" i="0">
                <a:solidFill>
                  <a:srgbClr val="1A1A1A"/>
                </a:solidFill>
                <a:latin typeface="Abadi"/>
              </a:rPr>
              <a:t>Inadequate immunisation response 51.5% vs 38.5% (P = .43); live vaccines need timing.</a:t>
            </a:r>
          </a:p>
        </p:txBody>
      </p:sp>
      <p:sp>
        <p:nvSpPr>
          <p:cNvPr id="32" name="TextBox 31"/>
          <p:cNvSpPr txBox="1"/>
          <p:nvPr/>
        </p:nvSpPr>
        <p:spPr>
          <a:xfrm>
            <a:off x="548640" y="4251960"/>
            <a:ext cx="11082528" cy="1554480"/>
          </a:xfrm>
          <a:prstGeom prst="rect">
            <a:avLst/>
          </a:prstGeom>
          <a:noFill/>
        </p:spPr>
        <p:txBody>
          <a:bodyPr wrap="square" lIns="45720" rIns="45720" tIns="27432" bIns="27432" anchor="t">
            <a:spAutoFit/>
          </a:bodyPr>
          <a:lstStyle/>
          <a:p>
            <a:r>
              <a:rPr sz="1250" b="1" i="0">
                <a:solidFill>
                  <a:srgbClr val="1B355E"/>
                </a:solidFill>
                <a:latin typeface="Abadi"/>
              </a:rPr>
              <a:t>Why it matters.   </a:t>
            </a:r>
            <a:r>
              <a:rPr sz="1250" b="0" i="0">
                <a:solidFill>
                  <a:srgbClr val="1A1A1A"/>
                </a:solidFill>
                <a:latin typeface="Abadi"/>
              </a:rPr>
              <a:t>Infants with atresia are already malnourished, fat-malabsorbing and catabolic, and growth failure predicts poor transplant outcomes. A drug that slows linear growth for three months must buy something real. The growth penalty was greatest in exactly the infants who drained well, the group in whom steroids are most often argued for.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THE EUROPEAN SIGNAL</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HIGHER DOSE, EARLIER KASAI</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King's College Hospital: high-dose prednisolone versus no steroids, Kasai at 70 days or younger,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Davenport M, et al. J Hepatol 2013;59:1054–8 · Davenport 2007 · Tyraskis A, Davenport M. Pediatr Surg Int 2016;32:193–200</a:t>
            </a:r>
          </a:p>
        </p:txBody>
      </p:sp>
      <p:sp>
        <p:nvSpPr>
          <p:cNvPr id="12" name="TextBox 11"/>
          <p:cNvSpPr txBox="1"/>
          <p:nvPr/>
        </p:nvSpPr>
        <p:spPr>
          <a:xfrm>
            <a:off x="548640" y="196596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Cleared jaundice · high-dose steroids</a:t>
            </a:r>
          </a:p>
        </p:txBody>
      </p:sp>
      <p:sp>
        <p:nvSpPr>
          <p:cNvPr id="13" name="Rectangle 12"/>
          <p:cNvSpPr/>
          <p:nvPr/>
        </p:nvSpPr>
        <p:spPr>
          <a:xfrm>
            <a:off x="3474720" y="2075688"/>
            <a:ext cx="4310742"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58614" y="196596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66%</a:t>
            </a:r>
          </a:p>
        </p:txBody>
      </p:sp>
      <p:sp>
        <p:nvSpPr>
          <p:cNvPr id="15" name="TextBox 14"/>
          <p:cNvSpPr txBox="1"/>
          <p:nvPr/>
        </p:nvSpPr>
        <p:spPr>
          <a:xfrm>
            <a:off x="548640" y="251460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Cleared jaundice · no steroids</a:t>
            </a:r>
          </a:p>
        </p:txBody>
      </p:sp>
      <p:sp>
        <p:nvSpPr>
          <p:cNvPr id="16" name="Rectangle 15"/>
          <p:cNvSpPr/>
          <p:nvPr/>
        </p:nvSpPr>
        <p:spPr>
          <a:xfrm>
            <a:off x="3474720" y="2624328"/>
            <a:ext cx="3396342"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4214" y="251460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52%</a:t>
            </a:r>
          </a:p>
        </p:txBody>
      </p:sp>
      <p:sp>
        <p:nvSpPr>
          <p:cNvPr id="18" name="TextBox 17"/>
          <p:cNvSpPr txBox="1"/>
          <p:nvPr/>
        </p:nvSpPr>
        <p:spPr>
          <a:xfrm>
            <a:off x="548640" y="306323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Native liver · high-dose steroids</a:t>
            </a:r>
          </a:p>
        </p:txBody>
      </p:sp>
      <p:sp>
        <p:nvSpPr>
          <p:cNvPr id="19" name="Rectangle 18"/>
          <p:cNvSpPr/>
          <p:nvPr/>
        </p:nvSpPr>
        <p:spPr>
          <a:xfrm>
            <a:off x="3474720" y="3172968"/>
            <a:ext cx="365760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306323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56%</a:t>
            </a:r>
          </a:p>
        </p:txBody>
      </p:sp>
      <p:sp>
        <p:nvSpPr>
          <p:cNvPr id="21" name="TextBox 20"/>
          <p:cNvSpPr txBox="1"/>
          <p:nvPr/>
        </p:nvSpPr>
        <p:spPr>
          <a:xfrm>
            <a:off x="548640" y="361187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Native liver · no steroids</a:t>
            </a:r>
          </a:p>
        </p:txBody>
      </p:sp>
      <p:sp>
        <p:nvSpPr>
          <p:cNvPr id="22" name="Rectangle 21"/>
          <p:cNvSpPr/>
          <p:nvPr/>
        </p:nvSpPr>
        <p:spPr>
          <a:xfrm>
            <a:off x="3474720" y="3721607"/>
            <a:ext cx="3135085"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82957" y="361187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48%</a:t>
            </a:r>
          </a:p>
        </p:txBody>
      </p:sp>
      <p:sp>
        <p:nvSpPr>
          <p:cNvPr id="24" name="TextBox 23"/>
          <p:cNvSpPr txBox="1"/>
          <p:nvPr/>
        </p:nvSpPr>
        <p:spPr>
          <a:xfrm>
            <a:off x="548640" y="420624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44 treated infants against contemporaneous and historical controls; clearance P = .037; native-liver survival not significant.</a:t>
            </a:r>
          </a:p>
        </p:txBody>
      </p:sp>
      <p:sp>
        <p:nvSpPr>
          <p:cNvPr id="25" name="TextBox 24"/>
          <p:cNvSpPr txBox="1"/>
          <p:nvPr/>
        </p:nvSpPr>
        <p:spPr>
          <a:xfrm>
            <a:off x="548640" y="4526279"/>
            <a:ext cx="7955279" cy="128016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In one surgeon's hands and in infants operated early, a high dose was associated with more clearance; survival with the native liver did not separate. Not randomised.</a:t>
            </a:r>
          </a:p>
        </p:txBody>
      </p:sp>
      <p:sp>
        <p:nvSpPr>
          <p:cNvPr id="26" name="TextBox 25"/>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UK RCT 2007</a:t>
            </a:r>
          </a:p>
          <a:p>
            <a:pPr>
              <a:spcAft>
                <a:spcPts val="400"/>
              </a:spcAft>
            </a:pPr>
            <a:r>
              <a:rPr sz="1050" b="0" i="0">
                <a:solidFill>
                  <a:srgbClr val="1A1A1A"/>
                </a:solidFill>
                <a:latin typeface="Abadi"/>
              </a:rPr>
              <a:t>71 infants, 2 mg/kg: no difference in clearance or native-liver survival; faster fall in 1-month bilirubin in infants under 70 days.</a:t>
            </a:r>
          </a:p>
          <a:p>
            <a:pPr>
              <a:spcAft>
                <a:spcPts val="400"/>
              </a:spcAft>
            </a:pPr>
            <a:r>
              <a:rPr sz="1500" b="1" i="0">
                <a:solidFill>
                  <a:srgbClr val="1B355E"/>
                </a:solidFill>
                <a:latin typeface="Abadi"/>
              </a:rPr>
              <a:t>Age gradient</a:t>
            </a:r>
          </a:p>
          <a:p>
            <a:pPr>
              <a:spcAft>
                <a:spcPts val="400"/>
              </a:spcAft>
            </a:pPr>
            <a:r>
              <a:rPr sz="1050" b="0" i="0">
                <a:solidFill>
                  <a:srgbClr val="1A1A1A"/>
                </a:solidFill>
                <a:latin typeface="Abadi"/>
              </a:rPr>
              <a:t>On high dose, 11 of 11 operated before 30 days cleared vs about two-thirds at 61–70 days.</a:t>
            </a:r>
          </a:p>
          <a:p>
            <a:pPr>
              <a:spcAft>
                <a:spcPts val="400"/>
              </a:spcAft>
            </a:pPr>
            <a:r>
              <a:rPr sz="1500" b="1" i="0">
                <a:solidFill>
                  <a:srgbClr val="1B355E"/>
                </a:solidFill>
                <a:latin typeface="Abadi"/>
              </a:rPr>
              <a:t>Isolated BA</a:t>
            </a:r>
          </a:p>
          <a:p>
            <a:pPr>
              <a:spcAft>
                <a:spcPts val="400"/>
              </a:spcAft>
            </a:pPr>
            <a:r>
              <a:rPr sz="1050" b="0" i="0">
                <a:solidFill>
                  <a:srgbClr val="1A1A1A"/>
                </a:solidFill>
                <a:latin typeface="Abadi"/>
              </a:rPr>
              <a:t>Age effect seen mainly in isolated atresia.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THE POSITIVE TRIAL</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SHANGHAI: THE OUTLIER, OR THE ANSWER?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Open-label RCT, 200 infants with type 3 atresia, steroids versus none after the Kasai,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Lu X, Jiang J, Shen Z, et al. Ann Surg 2023;277:e1200–7 (ChiCTR-IPR-14005666)</a:t>
            </a:r>
          </a:p>
        </p:txBody>
      </p:sp>
      <p:sp>
        <p:nvSpPr>
          <p:cNvPr id="12" name="TextBox 11"/>
          <p:cNvSpPr txBox="1"/>
          <p:nvPr/>
        </p:nvSpPr>
        <p:spPr>
          <a:xfrm>
            <a:off x="548640" y="196596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Jaundice-free native liver, 6 months · steroids</a:t>
            </a:r>
          </a:p>
        </p:txBody>
      </p:sp>
      <p:sp>
        <p:nvSpPr>
          <p:cNvPr id="13" name="Rectangle 12"/>
          <p:cNvSpPr/>
          <p:nvPr/>
        </p:nvSpPr>
        <p:spPr>
          <a:xfrm>
            <a:off x="3474720" y="2075688"/>
            <a:ext cx="3533502"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1374" y="196596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54.1%</a:t>
            </a:r>
          </a:p>
        </p:txBody>
      </p:sp>
      <p:sp>
        <p:nvSpPr>
          <p:cNvPr id="15" name="TextBox 14"/>
          <p:cNvSpPr txBox="1"/>
          <p:nvPr/>
        </p:nvSpPr>
        <p:spPr>
          <a:xfrm>
            <a:off x="548640" y="251460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Jaundice-free native liver, 6 months · control</a:t>
            </a:r>
          </a:p>
        </p:txBody>
      </p:sp>
      <p:sp>
        <p:nvSpPr>
          <p:cNvPr id="16" name="Rectangle 15"/>
          <p:cNvSpPr/>
          <p:nvPr/>
        </p:nvSpPr>
        <p:spPr>
          <a:xfrm>
            <a:off x="3474720" y="2624328"/>
            <a:ext cx="2024742"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2614" y="251460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31.0%</a:t>
            </a:r>
          </a:p>
        </p:txBody>
      </p:sp>
      <p:sp>
        <p:nvSpPr>
          <p:cNvPr id="18" name="TextBox 17"/>
          <p:cNvSpPr txBox="1"/>
          <p:nvPr/>
        </p:nvSpPr>
        <p:spPr>
          <a:xfrm>
            <a:off x="548640" y="306323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Native liver at 24 months · steroids</a:t>
            </a:r>
          </a:p>
        </p:txBody>
      </p:sp>
      <p:sp>
        <p:nvSpPr>
          <p:cNvPr id="19" name="Rectangle 18"/>
          <p:cNvSpPr/>
          <p:nvPr/>
        </p:nvSpPr>
        <p:spPr>
          <a:xfrm>
            <a:off x="3474720" y="3172968"/>
            <a:ext cx="3729445"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77317" y="306323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57.1%</a:t>
            </a:r>
          </a:p>
        </p:txBody>
      </p:sp>
      <p:sp>
        <p:nvSpPr>
          <p:cNvPr id="21" name="TextBox 20"/>
          <p:cNvSpPr txBox="1"/>
          <p:nvPr/>
        </p:nvSpPr>
        <p:spPr>
          <a:xfrm>
            <a:off x="548640" y="361187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Native liver at 24 months · control</a:t>
            </a:r>
          </a:p>
        </p:txBody>
      </p:sp>
      <p:sp>
        <p:nvSpPr>
          <p:cNvPr id="22" name="Rectangle 21"/>
          <p:cNvSpPr/>
          <p:nvPr/>
        </p:nvSpPr>
        <p:spPr>
          <a:xfrm>
            <a:off x="3474720" y="3721607"/>
            <a:ext cx="2612571"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60443" y="361187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40.0%</a:t>
            </a:r>
          </a:p>
        </p:txBody>
      </p:sp>
      <p:sp>
        <p:nvSpPr>
          <p:cNvPr id="24" name="TextBox 23"/>
          <p:cNvSpPr txBox="1"/>
          <p:nvPr/>
        </p:nvSpPr>
        <p:spPr>
          <a:xfrm>
            <a:off x="548640" y="420624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100 per arm; P = .0015 at 6 months, P = .02 at 24 months; SAEs in 3 months 0.63 vs 0.45 per infant (P = .20).</a:t>
            </a:r>
          </a:p>
        </p:txBody>
      </p:sp>
      <p:sp>
        <p:nvSpPr>
          <p:cNvPr id="25" name="TextBox 24"/>
          <p:cNvSpPr txBox="1"/>
          <p:nvPr/>
        </p:nvSpPr>
        <p:spPr>
          <a:xfrm>
            <a:off x="548640" y="4526279"/>
            <a:ext cx="7955279" cy="128016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The only randomised trial to show a survival difference. The control arm did unusually poorly, so part of the gap may be a weak comparator rather than a strong drug.</a:t>
            </a:r>
          </a:p>
        </p:txBody>
      </p:sp>
      <p:sp>
        <p:nvSpPr>
          <p:cNvPr id="26" name="TextBox 25"/>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Design</a:t>
            </a:r>
          </a:p>
          <a:p>
            <a:pPr>
              <a:spcAft>
                <a:spcPts val="400"/>
              </a:spcAft>
            </a:pPr>
            <a:r>
              <a:rPr sz="1050" b="0" i="0">
                <a:solidFill>
                  <a:srgbClr val="1A1A1A"/>
                </a:solidFill>
                <a:latin typeface="Abadi"/>
              </a:rPr>
              <a:t>Single centre, open-label: assessors knew the arm.</a:t>
            </a:r>
          </a:p>
          <a:p>
            <a:pPr>
              <a:spcAft>
                <a:spcPts val="400"/>
              </a:spcAft>
            </a:pPr>
            <a:r>
              <a:rPr sz="1500" b="1" i="0">
                <a:solidFill>
                  <a:srgbClr val="1B355E"/>
                </a:solidFill>
                <a:latin typeface="Abadi"/>
              </a:rPr>
              <a:t>Control arm</a:t>
            </a:r>
          </a:p>
          <a:p>
            <a:pPr>
              <a:spcAft>
                <a:spcPts val="400"/>
              </a:spcAft>
            </a:pPr>
            <a:r>
              <a:rPr sz="1050" b="0" i="0">
                <a:solidFill>
                  <a:srgbClr val="1A1A1A"/>
                </a:solidFill>
                <a:latin typeface="Abadi"/>
              </a:rPr>
              <a:t>31% cleared at 6 months, below the 48.6% of the START placebo arm.</a:t>
            </a:r>
          </a:p>
          <a:p>
            <a:pPr>
              <a:spcAft>
                <a:spcPts val="400"/>
              </a:spcAft>
            </a:pPr>
            <a:r>
              <a:rPr sz="1500" b="1" i="0">
                <a:solidFill>
                  <a:srgbClr val="1B355E"/>
                </a:solidFill>
                <a:latin typeface="Abadi"/>
              </a:rPr>
              <a:t>Status</a:t>
            </a:r>
          </a:p>
          <a:p>
            <a:pPr>
              <a:spcAft>
                <a:spcPts val="400"/>
              </a:spcAft>
            </a:pPr>
            <a:r>
              <a:rPr sz="1050" b="0" i="0">
                <a:solidFill>
                  <a:srgbClr val="1A1A1A"/>
                </a:solidFill>
                <a:latin typeface="Abadi"/>
              </a:rPr>
              <a:t>Hypothesis-strengthening; not yet replicated in a blinded multicentre trial.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POOLED EVIDENCE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TWO META-ANALYSES, TWO ANSWERS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Cochrane (2 placebo-controlled RCTs) versus a broader 2022 meta-analysis (5 RCTs, 6 cohorts)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Tyraskis A, Parsons C, Davenport M. Cochrane Database Syst Rev 2018;CD008735 · Yang C, Zhou Y, Ke M, et al. Front Pharmacol 2022;13:956093</a:t>
            </a:r>
          </a:p>
        </p:txBody>
      </p:sp>
      <p:sp>
        <p:nvSpPr>
          <p:cNvPr id="12" name="Rectangle 11"/>
          <p:cNvSpPr/>
          <p:nvPr/>
        </p:nvSpPr>
        <p:spPr>
          <a:xfrm>
            <a:off x="548640" y="1773936"/>
            <a:ext cx="2070201" cy="22402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2200" b="1" i="0">
                <a:solidFill>
                  <a:srgbClr val="8A939B"/>
                </a:solidFill>
                <a:latin typeface="Abadi"/>
              </a:rPr>
              <a:t>RR 1.00</a:t>
            </a:r>
          </a:p>
        </p:txBody>
      </p:sp>
      <p:sp>
        <p:nvSpPr>
          <p:cNvPr id="15" name="TextBox 14"/>
          <p:cNvSpPr txBox="1"/>
          <p:nvPr/>
        </p:nvSpPr>
        <p:spPr>
          <a:xfrm>
            <a:off x="694944"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Cochrane: death or transplant at 2 years, 95% CI 0.72 to 1.39. Low certainty.</a:t>
            </a:r>
          </a:p>
        </p:txBody>
      </p:sp>
      <p:sp>
        <p:nvSpPr>
          <p:cNvPr id="16" name="Rectangle 15"/>
          <p:cNvSpPr/>
          <p:nvPr/>
        </p:nvSpPr>
        <p:spPr>
          <a:xfrm>
            <a:off x="2801721" y="1773936"/>
            <a:ext cx="2070201" cy="22402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2200" b="1" i="0">
                <a:solidFill>
                  <a:srgbClr val="8A939B"/>
                </a:solidFill>
                <a:latin typeface="Abadi"/>
              </a:rPr>
              <a:t>RR 0.89</a:t>
            </a:r>
          </a:p>
        </p:txBody>
      </p:sp>
      <p:sp>
        <p:nvSpPr>
          <p:cNvPr id="19" name="TextBox 18"/>
          <p:cNvSpPr txBox="1"/>
          <p:nvPr/>
        </p:nvSpPr>
        <p:spPr>
          <a:xfrm>
            <a:off x="2948025"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Cochrane: jaundice not cleared at 6 months, 0.67 to 1.17; only 39% of the information size needed.</a:t>
            </a:r>
          </a:p>
        </p:txBody>
      </p:sp>
      <p:sp>
        <p:nvSpPr>
          <p:cNvPr id="20" name="Rectangle 19"/>
          <p:cNvSpPr/>
          <p:nvPr/>
        </p:nvSpPr>
        <p:spPr>
          <a:xfrm>
            <a:off x="5054803" y="1773936"/>
            <a:ext cx="2070201" cy="22402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2200" b="1" i="0">
                <a:solidFill>
                  <a:srgbClr val="1E7A33"/>
                </a:solidFill>
                <a:latin typeface="Abadi"/>
              </a:rPr>
              <a:t>RR 1.35</a:t>
            </a:r>
          </a:p>
        </p:txBody>
      </p:sp>
      <p:sp>
        <p:nvSpPr>
          <p:cNvPr id="23" name="TextBox 22"/>
          <p:cNvSpPr txBox="1"/>
          <p:nvPr/>
        </p:nvSpPr>
        <p:spPr>
          <a:xfrm>
            <a:off x="5201107"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Yang 2022: clearance at 6 months, 1.18 to 1.55, 1,032 infants.</a:t>
            </a:r>
          </a:p>
        </p:txBody>
      </p:sp>
      <p:sp>
        <p:nvSpPr>
          <p:cNvPr id="24" name="Rectangle 23"/>
          <p:cNvSpPr/>
          <p:nvPr/>
        </p:nvSpPr>
        <p:spPr>
          <a:xfrm>
            <a:off x="7307884" y="1773936"/>
            <a:ext cx="2070201" cy="22402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2200" b="1" i="0">
                <a:solidFill>
                  <a:srgbClr val="1E7A33"/>
                </a:solidFill>
                <a:latin typeface="Abadi"/>
              </a:rPr>
              <a:t>RR 1.31</a:t>
            </a:r>
          </a:p>
        </p:txBody>
      </p:sp>
      <p:sp>
        <p:nvSpPr>
          <p:cNvPr id="27" name="TextBox 26"/>
          <p:cNvSpPr txBox="1"/>
          <p:nvPr/>
        </p:nvSpPr>
        <p:spPr>
          <a:xfrm>
            <a:off x="7454188"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Yang 2022: native liver at 24 months, 1.03 to 1.68; not at 6 or 12 months.</a:t>
            </a:r>
          </a:p>
        </p:txBody>
      </p:sp>
      <p:sp>
        <p:nvSpPr>
          <p:cNvPr id="28" name="Rectangle 27"/>
          <p:cNvSpPr/>
          <p:nvPr/>
        </p:nvSpPr>
        <p:spPr>
          <a:xfrm>
            <a:off x="9560966"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2200" b="1" i="0">
                <a:solidFill>
                  <a:srgbClr val="D97A0B"/>
                </a:solidFill>
                <a:latin typeface="Abadi"/>
              </a:rPr>
              <a:t>RR 0.78</a:t>
            </a:r>
          </a:p>
        </p:txBody>
      </p:sp>
      <p:sp>
        <p:nvSpPr>
          <p:cNvPr id="31" name="TextBox 30"/>
          <p:cNvSpPr txBox="1"/>
          <p:nvPr/>
        </p:nvSpPr>
        <p:spPr>
          <a:xfrm>
            <a:off x="9707270"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Yang 2022: cholangitis, 0.60 to 1.01 — no clear effect.</a:t>
            </a:r>
          </a:p>
        </p:txBody>
      </p:sp>
      <p:sp>
        <p:nvSpPr>
          <p:cNvPr id="32" name="TextBox 31"/>
          <p:cNvSpPr txBox="1"/>
          <p:nvPr/>
        </p:nvSpPr>
        <p:spPr>
          <a:xfrm>
            <a:off x="548640" y="4206240"/>
            <a:ext cx="11082528" cy="1600200"/>
          </a:xfrm>
          <a:prstGeom prst="rect">
            <a:avLst/>
          </a:prstGeom>
          <a:noFill/>
        </p:spPr>
        <p:txBody>
          <a:bodyPr wrap="square" lIns="45720" rIns="45720" tIns="27432" bIns="27432" anchor="t">
            <a:spAutoFit/>
          </a:bodyPr>
          <a:lstStyle/>
          <a:p>
            <a:r>
              <a:rPr sz="1250" b="1" i="0">
                <a:solidFill>
                  <a:srgbClr val="1B355E"/>
                </a:solidFill>
                <a:latin typeface="Abadi"/>
              </a:rPr>
              <a:t>Interpretation.   </a:t>
            </a:r>
            <a:r>
              <a:rPr sz="1250" b="0" i="0">
                <a:solidFill>
                  <a:srgbClr val="1A1A1A"/>
                </a:solidFill>
                <a:latin typeface="Abadi"/>
              </a:rPr>
              <a:t>The answer depends on what you allow in. Restricting to blinded placebo-controlled trials gives no effect on survival and an underpowered, non-significant gain in clearance. Adding open-label and cohort data gives a positive result, driven by studies at high risk of bias and by infants operated before 70 days on medium-dose intravenous-then-oral regimens. Both agree that any benefit is modest and that a definitive multicentre trial has not been done.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USING STEROIDS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IF YOU USE THEM, USE THEM ON THE RIGHT INFANT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A decision frame drawn from the trials; not a guideline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Bezerra 2014 · Davenport 2013 · Tyraskis 2016 · Yang 2022 · Alonso 2018 · AAP Red Book (live vaccines during high-dose steroids)</a:t>
            </a:r>
          </a:p>
        </p:txBody>
      </p:sp>
      <p:graphicFrame>
        <p:nvGraphicFramePr>
          <p:cNvPr id="12" name="Table 11"/>
          <p:cNvGraphicFramePr>
            <a:graphicFrameLocks noGrp="1"/>
          </p:cNvGraphicFramePr>
          <p:nvPr/>
        </p:nvGraphicFramePr>
        <p:xfrm>
          <a:off x="548640" y="1783080"/>
          <a:ext cx="11082528" cy="3328416"/>
        </p:xfrm>
        <a:graphic>
          <a:graphicData uri="http://schemas.openxmlformats.org/drawingml/2006/table">
            <a:tbl>
              <a:tblPr firstRow="0" bandRow="0">
                <a:tableStyleId>{5C22544A-7EE6-4342-B048-85BDC9FD1C3A}</a:tableStyleId>
              </a:tblPr>
              <a:tblGrid>
                <a:gridCol w="2194560"/>
                <a:gridCol w="4443984"/>
                <a:gridCol w="4443984"/>
              </a:tblGrid>
              <a:tr h="475488">
                <a:tc>
                  <a:txBody>
                    <a:bodyPr wrap="square"/>
                    <a:lstStyle/>
                    <a:p>
                      <a:r>
                        <a:rPr sz="1050" b="1">
                          <a:solidFill>
                            <a:srgbClr val="FFFFFF"/>
                          </a:solidFill>
                          <a:latin typeface="Abadi"/>
                        </a:rPr>
                        <a:t>Factor</a:t>
                      </a:r>
                    </a:p>
                  </a:txBody>
                  <a:tcPr marL="73152" marR="73152" marT="27432" marB="27432" anchor="ctr">
                    <a:solidFill>
                      <a:srgbClr val="1B355E"/>
                    </a:solidFill>
                  </a:tcPr>
                </a:tc>
                <a:tc>
                  <a:txBody>
                    <a:bodyPr wrap="square"/>
                    <a:lstStyle/>
                    <a:p>
                      <a:r>
                        <a:rPr sz="1050" b="1">
                          <a:solidFill>
                            <a:srgbClr val="FFFFFF"/>
                          </a:solidFill>
                          <a:latin typeface="Abadi"/>
                        </a:rPr>
                        <a:t>Leans towards steroids</a:t>
                      </a:r>
                    </a:p>
                  </a:txBody>
                  <a:tcPr marL="73152" marR="73152" marT="27432" marB="27432" anchor="ctr">
                    <a:solidFill>
                      <a:srgbClr val="1B355E"/>
                    </a:solidFill>
                  </a:tcPr>
                </a:tc>
                <a:tc>
                  <a:txBody>
                    <a:bodyPr wrap="square"/>
                    <a:lstStyle/>
                    <a:p>
                      <a:r>
                        <a:rPr sz="1050" b="1">
                          <a:solidFill>
                            <a:srgbClr val="FFFFFF"/>
                          </a:solidFill>
                          <a:latin typeface="Abadi"/>
                        </a:rPr>
                        <a:t>Leans against steroids</a:t>
                      </a:r>
                    </a:p>
                  </a:txBody>
                  <a:tcPr marL="73152" marR="73152" marT="27432" marB="27432" anchor="ctr">
                    <a:solidFill>
                      <a:srgbClr val="1B355E"/>
                    </a:solidFill>
                  </a:tcPr>
                </a:tc>
              </a:tr>
              <a:tr h="475488">
                <a:tc>
                  <a:txBody>
                    <a:bodyPr wrap="square"/>
                    <a:lstStyle/>
                    <a:p>
                      <a:r>
                        <a:rPr sz="1050" b="1">
                          <a:solidFill>
                            <a:srgbClr val="1A1A1A"/>
                          </a:solidFill>
                          <a:latin typeface="Abadi"/>
                        </a:rPr>
                        <a:t>Age at Kasai</a:t>
                      </a:r>
                    </a:p>
                  </a:txBody>
                  <a:tcPr marL="73152" marR="73152" marT="27432" marB="27432" anchor="ctr">
                    <a:solidFill>
                      <a:srgbClr val="FFFFFF"/>
                    </a:solidFill>
                  </a:tcPr>
                </a:tc>
                <a:tc>
                  <a:txBody>
                    <a:bodyPr wrap="square"/>
                    <a:lstStyle/>
                    <a:p>
                      <a:r>
                        <a:rPr sz="1050" b="0">
                          <a:solidFill>
                            <a:srgbClr val="1A1A1A"/>
                          </a:solidFill>
                          <a:latin typeface="Abadi"/>
                        </a:rPr>
                        <a:t>Under 70 days, ideally under 45</a:t>
                      </a:r>
                    </a:p>
                  </a:txBody>
                  <a:tcPr marL="73152" marR="73152" marT="27432" marB="27432" anchor="ctr">
                    <a:solidFill>
                      <a:srgbClr val="FFFFFF"/>
                    </a:solidFill>
                  </a:tcPr>
                </a:tc>
                <a:tc>
                  <a:txBody>
                    <a:bodyPr wrap="square"/>
                    <a:lstStyle/>
                    <a:p>
                      <a:r>
                        <a:rPr sz="1050" b="0">
                          <a:solidFill>
                            <a:srgbClr val="1A1A1A"/>
                          </a:solidFill>
                          <a:latin typeface="Abadi"/>
                        </a:rPr>
                        <a:t>Over 90 days, established cirrhosis</a:t>
                      </a:r>
                    </a:p>
                  </a:txBody>
                  <a:tcPr marL="73152" marR="73152" marT="27432" marB="27432" anchor="ctr">
                    <a:solidFill>
                      <a:srgbClr val="FFFFFF"/>
                    </a:solidFill>
                  </a:tcPr>
                </a:tc>
              </a:tr>
              <a:tr h="475488">
                <a:tc>
                  <a:txBody>
                    <a:bodyPr wrap="square"/>
                    <a:lstStyle/>
                    <a:p>
                      <a:r>
                        <a:rPr sz="1050" b="1">
                          <a:solidFill>
                            <a:srgbClr val="1A1A1A"/>
                          </a:solidFill>
                          <a:latin typeface="Abadi"/>
                        </a:rPr>
                        <a:t>Anatomy</a:t>
                      </a:r>
                    </a:p>
                  </a:txBody>
                  <a:tcPr marL="73152" marR="73152" marT="27432" marB="27432" anchor="ctr">
                    <a:solidFill>
                      <a:srgbClr val="F2F4F7"/>
                    </a:solidFill>
                  </a:tcPr>
                </a:tc>
                <a:tc>
                  <a:txBody>
                    <a:bodyPr wrap="square"/>
                    <a:lstStyle/>
                    <a:p>
                      <a:r>
                        <a:rPr sz="1050" b="0">
                          <a:solidFill>
                            <a:srgbClr val="1A1A1A"/>
                          </a:solidFill>
                          <a:latin typeface="Abadi"/>
                        </a:rPr>
                        <a:t>Isolated atresia, good-sized ductules at the porta</a:t>
                      </a:r>
                    </a:p>
                  </a:txBody>
                  <a:tcPr marL="73152" marR="73152" marT="27432" marB="27432" anchor="ctr">
                    <a:solidFill>
                      <a:srgbClr val="F2F4F7"/>
                    </a:solidFill>
                  </a:tcPr>
                </a:tc>
                <a:tc>
                  <a:txBody>
                    <a:bodyPr wrap="square"/>
                    <a:lstStyle/>
                    <a:p>
                      <a:r>
                        <a:rPr sz="1050" b="0">
                          <a:solidFill>
                            <a:srgbClr val="1A1A1A"/>
                          </a:solidFill>
                          <a:latin typeface="Abadi"/>
                        </a:rPr>
                        <a:t>Splenic malformation, poor plate</a:t>
                      </a:r>
                    </a:p>
                  </a:txBody>
                  <a:tcPr marL="73152" marR="73152" marT="27432" marB="27432" anchor="ctr">
                    <a:solidFill>
                      <a:srgbClr val="F2F4F7"/>
                    </a:solidFill>
                  </a:tcPr>
                </a:tc>
              </a:tr>
              <a:tr h="475488">
                <a:tc>
                  <a:txBody>
                    <a:bodyPr wrap="square"/>
                    <a:lstStyle/>
                    <a:p>
                      <a:r>
                        <a:rPr sz="1050" b="1">
                          <a:solidFill>
                            <a:srgbClr val="1A1A1A"/>
                          </a:solidFill>
                          <a:latin typeface="Abadi"/>
                        </a:rPr>
                        <a:t>Operation</a:t>
                      </a:r>
                    </a:p>
                  </a:txBody>
                  <a:tcPr marL="73152" marR="73152" marT="27432" marB="27432" anchor="ctr">
                    <a:solidFill>
                      <a:srgbClr val="FFFFFF"/>
                    </a:solidFill>
                  </a:tcPr>
                </a:tc>
                <a:tc>
                  <a:txBody>
                    <a:bodyPr wrap="square"/>
                    <a:lstStyle/>
                    <a:p>
                      <a:r>
                        <a:rPr sz="1050" b="0">
                          <a:solidFill>
                            <a:srgbClr val="1A1A1A"/>
                          </a:solidFill>
                          <a:latin typeface="Abadi"/>
                        </a:rPr>
                        <a:t>Uncomplicated, good early bile in stool</a:t>
                      </a:r>
                    </a:p>
                  </a:txBody>
                  <a:tcPr marL="73152" marR="73152" marT="27432" marB="27432" anchor="ctr">
                    <a:solidFill>
                      <a:srgbClr val="FFFFFF"/>
                    </a:solidFill>
                  </a:tcPr>
                </a:tc>
                <a:tc>
                  <a:txBody>
                    <a:bodyPr wrap="square"/>
                    <a:lstStyle/>
                    <a:p>
                      <a:r>
                        <a:rPr sz="1050" b="0">
                          <a:solidFill>
                            <a:srgbClr val="1A1A1A"/>
                          </a:solidFill>
                          <a:latin typeface="Abadi"/>
                        </a:rPr>
                        <a:t>Bowel injury, leak, reoperation</a:t>
                      </a:r>
                    </a:p>
                  </a:txBody>
                  <a:tcPr marL="73152" marR="73152" marT="27432" marB="27432" anchor="ctr">
                    <a:solidFill>
                      <a:srgbClr val="FFFFFF"/>
                    </a:solidFill>
                  </a:tcPr>
                </a:tc>
              </a:tr>
              <a:tr h="475488">
                <a:tc>
                  <a:txBody>
                    <a:bodyPr wrap="square"/>
                    <a:lstStyle/>
                    <a:p>
                      <a:r>
                        <a:rPr sz="1050" b="1">
                          <a:solidFill>
                            <a:srgbClr val="1A1A1A"/>
                          </a:solidFill>
                          <a:latin typeface="Abadi"/>
                        </a:rPr>
                        <a:t>Infection</a:t>
                      </a:r>
                    </a:p>
                  </a:txBody>
                  <a:tcPr marL="73152" marR="73152" marT="27432" marB="27432" anchor="ctr">
                    <a:solidFill>
                      <a:srgbClr val="F2F4F7"/>
                    </a:solidFill>
                  </a:tcPr>
                </a:tc>
                <a:tc>
                  <a:txBody>
                    <a:bodyPr wrap="square"/>
                    <a:lstStyle/>
                    <a:p>
                      <a:r>
                        <a:rPr sz="1050" b="0">
                          <a:solidFill>
                            <a:srgbClr val="1A1A1A"/>
                          </a:solidFill>
                          <a:latin typeface="Abadi"/>
                        </a:rPr>
                        <a:t>No sepsis, cultures clear</a:t>
                      </a:r>
                    </a:p>
                  </a:txBody>
                  <a:tcPr marL="73152" marR="73152" marT="27432" marB="27432" anchor="ctr">
                    <a:solidFill>
                      <a:srgbClr val="F2F4F7"/>
                    </a:solidFill>
                  </a:tcPr>
                </a:tc>
                <a:tc>
                  <a:txBody>
                    <a:bodyPr wrap="square"/>
                    <a:lstStyle/>
                    <a:p>
                      <a:r>
                        <a:rPr sz="1050" b="0">
                          <a:solidFill>
                            <a:srgbClr val="1A1A1A"/>
                          </a:solidFill>
                          <a:latin typeface="Abadi"/>
                        </a:rPr>
                        <a:t>Early cholangitis, line sepsis</a:t>
                      </a:r>
                    </a:p>
                  </a:txBody>
                  <a:tcPr marL="73152" marR="73152" marT="27432" marB="27432" anchor="ctr">
                    <a:solidFill>
                      <a:srgbClr val="F2F4F7"/>
                    </a:solidFill>
                  </a:tcPr>
                </a:tc>
              </a:tr>
              <a:tr h="475488">
                <a:tc>
                  <a:txBody>
                    <a:bodyPr wrap="square"/>
                    <a:lstStyle/>
                    <a:p>
                      <a:r>
                        <a:rPr sz="1050" b="1">
                          <a:solidFill>
                            <a:srgbClr val="1A1A1A"/>
                          </a:solidFill>
                          <a:latin typeface="Abadi"/>
                        </a:rPr>
                        <a:t>Nutrition</a:t>
                      </a:r>
                    </a:p>
                  </a:txBody>
                  <a:tcPr marL="73152" marR="73152" marT="27432" marB="27432" anchor="ctr">
                    <a:solidFill>
                      <a:srgbClr val="FFFFFF"/>
                    </a:solidFill>
                  </a:tcPr>
                </a:tc>
                <a:tc>
                  <a:txBody>
                    <a:bodyPr wrap="square"/>
                    <a:lstStyle/>
                    <a:p>
                      <a:r>
                        <a:rPr sz="1050" b="0">
                          <a:solidFill>
                            <a:srgbClr val="1A1A1A"/>
                          </a:solidFill>
                          <a:latin typeface="Abadi"/>
                        </a:rPr>
                        <a:t>Feeding well, growth on track</a:t>
                      </a:r>
                    </a:p>
                  </a:txBody>
                  <a:tcPr marL="73152" marR="73152" marT="27432" marB="27432" anchor="ctr">
                    <a:solidFill>
                      <a:srgbClr val="FFFFFF"/>
                    </a:solidFill>
                  </a:tcPr>
                </a:tc>
                <a:tc>
                  <a:txBody>
                    <a:bodyPr wrap="square"/>
                    <a:lstStyle/>
                    <a:p>
                      <a:r>
                        <a:rPr sz="1050" b="0">
                          <a:solidFill>
                            <a:srgbClr val="1A1A1A"/>
                          </a:solidFill>
                          <a:latin typeface="Abadi"/>
                        </a:rPr>
                        <a:t>Already faltering growth</a:t>
                      </a:r>
                    </a:p>
                  </a:txBody>
                  <a:tcPr marL="73152" marR="73152" marT="27432" marB="27432" anchor="ctr">
                    <a:solidFill>
                      <a:srgbClr val="FFFFFF"/>
                    </a:solidFill>
                  </a:tcPr>
                </a:tc>
              </a:tr>
              <a:tr h="475488">
                <a:tc>
                  <a:txBody>
                    <a:bodyPr wrap="square"/>
                    <a:lstStyle/>
                    <a:p>
                      <a:r>
                        <a:rPr sz="1050" b="1">
                          <a:solidFill>
                            <a:srgbClr val="1A1A1A"/>
                          </a:solidFill>
                          <a:latin typeface="Abadi"/>
                        </a:rPr>
                        <a:t>Centre</a:t>
                      </a:r>
                    </a:p>
                  </a:txBody>
                  <a:tcPr marL="73152" marR="73152" marT="27432" marB="27432" anchor="ctr">
                    <a:solidFill>
                      <a:srgbClr val="F2F4F7"/>
                    </a:solidFill>
                  </a:tcPr>
                </a:tc>
                <a:tc>
                  <a:txBody>
                    <a:bodyPr wrap="square"/>
                    <a:lstStyle/>
                    <a:p>
                      <a:r>
                        <a:rPr sz="1050" b="0">
                          <a:solidFill>
                            <a:srgbClr val="1A1A1A"/>
                          </a:solidFill>
                          <a:latin typeface="Abadi"/>
                        </a:rPr>
                        <a:t>Protocol, audit, high volume</a:t>
                      </a:r>
                    </a:p>
                  </a:txBody>
                  <a:tcPr marL="73152" marR="73152" marT="27432" marB="27432" anchor="ctr">
                    <a:solidFill>
                      <a:srgbClr val="F2F4F7"/>
                    </a:solidFill>
                  </a:tcPr>
                </a:tc>
                <a:tc>
                  <a:txBody>
                    <a:bodyPr wrap="square"/>
                    <a:lstStyle/>
                    <a:p>
                      <a:r>
                        <a:rPr sz="1050" b="0">
                          <a:solidFill>
                            <a:srgbClr val="1A1A1A"/>
                          </a:solidFill>
                          <a:latin typeface="Abadi"/>
                        </a:rPr>
                        <a:t>No monitoring of growth or adverse events</a:t>
                      </a:r>
                    </a:p>
                  </a:txBody>
                  <a:tcPr marL="73152" marR="73152" marT="27432" marB="27432" anchor="ctr">
                    <a:solidFill>
                      <a:srgbClr val="F2F4F7"/>
                    </a:solidFill>
                  </a:tcPr>
                </a:tc>
              </a:tr>
            </a:tbl>
          </a:graphicData>
        </a:graphic>
      </p:graphicFrame>
      <p:sp>
        <p:nvSpPr>
          <p:cNvPr id="13" name="TextBox 12"/>
          <p:cNvSpPr txBox="1"/>
          <p:nvPr/>
        </p:nvSpPr>
        <p:spPr>
          <a:xfrm>
            <a:off x="548640" y="5166360"/>
            <a:ext cx="11082528" cy="548640"/>
          </a:xfrm>
          <a:prstGeom prst="rect">
            <a:avLst/>
          </a:prstGeom>
          <a:noFill/>
        </p:spPr>
        <p:txBody>
          <a:bodyPr wrap="square" lIns="45720" rIns="45720" tIns="27432" bIns="27432" anchor="t">
            <a:spAutoFit/>
          </a:bodyPr>
          <a:lstStyle/>
          <a:p>
            <a:r>
              <a:rPr sz="1200" b="1" i="0">
                <a:solidFill>
                  <a:srgbClr val="1B355E"/>
                </a:solidFill>
                <a:latin typeface="Abadi"/>
              </a:rPr>
              <a:t>Bottom line.   </a:t>
            </a:r>
            <a:r>
              <a:rPr sz="1200" b="0" i="0">
                <a:solidFill>
                  <a:srgbClr val="1A1A1A"/>
                </a:solidFill>
                <a:latin typeface="Abadi"/>
              </a:rPr>
              <a:t>Steroids are an option, not a standard: if used, start once the anastomosis is secure, monitor growth and infection, and defer live vaccines while on high doses.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IVIG</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THE IMMUNE HYPOTHESIS, TESTED ONCE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PRIME: open-label phase 1/2 trial of IVIG 1 g/kg at days 3–5, 30 and 60 after the Kasai, versus START placebo controls,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Mack CL, et al. (ChiLDReN). J Pediatr Gastroenterol Nutr 2019;68:495–501 (NCT01854827)</a:t>
            </a:r>
          </a:p>
        </p:txBody>
      </p:sp>
      <p:sp>
        <p:nvSpPr>
          <p:cNvPr id="12" name="TextBox 11"/>
          <p:cNvSpPr txBox="1"/>
          <p:nvPr/>
        </p:nvSpPr>
        <p:spPr>
          <a:xfrm>
            <a:off x="548640" y="196596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Native liver at 1 year · IVIG</a:t>
            </a:r>
          </a:p>
        </p:txBody>
      </p:sp>
      <p:sp>
        <p:nvSpPr>
          <p:cNvPr id="13" name="Rectangle 12"/>
          <p:cNvSpPr/>
          <p:nvPr/>
        </p:nvSpPr>
        <p:spPr>
          <a:xfrm>
            <a:off x="3474720" y="2075688"/>
            <a:ext cx="2679192"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96596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58.6%</a:t>
            </a:r>
          </a:p>
        </p:txBody>
      </p:sp>
      <p:sp>
        <p:nvSpPr>
          <p:cNvPr id="15" name="TextBox 14"/>
          <p:cNvSpPr txBox="1"/>
          <p:nvPr/>
        </p:nvSpPr>
        <p:spPr>
          <a:xfrm>
            <a:off x="548640" y="251460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Native liver at 1 year · historical placebo</a:t>
            </a:r>
          </a:p>
        </p:txBody>
      </p:sp>
      <p:sp>
        <p:nvSpPr>
          <p:cNvPr id="16" name="Rectangle 15"/>
          <p:cNvSpPr/>
          <p:nvPr/>
        </p:nvSpPr>
        <p:spPr>
          <a:xfrm>
            <a:off x="3474720" y="2624328"/>
            <a:ext cx="3223260"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71131" y="251460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70.5%</a:t>
            </a:r>
          </a:p>
        </p:txBody>
      </p:sp>
      <p:sp>
        <p:nvSpPr>
          <p:cNvPr id="18" name="TextBox 17"/>
          <p:cNvSpPr txBox="1"/>
          <p:nvPr/>
        </p:nvSpPr>
        <p:spPr>
          <a:xfrm>
            <a:off x="548640" y="306323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Feasibility and acceptability · IVIG</a:t>
            </a:r>
          </a:p>
        </p:txBody>
      </p:sp>
      <p:sp>
        <p:nvSpPr>
          <p:cNvPr id="19" name="Rectangle 18"/>
          <p:cNvSpPr/>
          <p:nvPr/>
        </p:nvSpPr>
        <p:spPr>
          <a:xfrm>
            <a:off x="3474720" y="3172968"/>
            <a:ext cx="361188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59752" y="306323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79%</a:t>
            </a:r>
          </a:p>
        </p:txBody>
      </p:sp>
      <p:sp>
        <p:nvSpPr>
          <p:cNvPr id="21" name="TextBox 20"/>
          <p:cNvSpPr txBox="1"/>
          <p:nvPr/>
        </p:nvSpPr>
        <p:spPr>
          <a:xfrm>
            <a:off x="548640" y="361187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Serious adverse events · IVIG</a:t>
            </a:r>
          </a:p>
        </p:txBody>
      </p:sp>
      <p:sp>
        <p:nvSpPr>
          <p:cNvPr id="22" name="Rectangle 21"/>
          <p:cNvSpPr/>
          <p:nvPr/>
        </p:nvSpPr>
        <p:spPr>
          <a:xfrm>
            <a:off x="3474720" y="3721607"/>
            <a:ext cx="4114800"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62672" y="361187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90%</a:t>
            </a:r>
          </a:p>
        </p:txBody>
      </p:sp>
      <p:sp>
        <p:nvSpPr>
          <p:cNvPr id="24" name="TextBox 23"/>
          <p:cNvSpPr txBox="1"/>
          <p:nvPr/>
        </p:nvSpPr>
        <p:spPr>
          <a:xfrm>
            <a:off x="548640" y="420624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29 infants completed; 1-year native-liver difference −11.9% (upper 90% bound 2.1%); no SAE attributed to IVIG.</a:t>
            </a:r>
          </a:p>
        </p:txBody>
      </p:sp>
      <p:sp>
        <p:nvSpPr>
          <p:cNvPr id="25" name="TextBox 24"/>
          <p:cNvSpPr txBox="1"/>
          <p:nvPr/>
        </p:nvSpPr>
        <p:spPr>
          <a:xfrm>
            <a:off x="548640" y="4526279"/>
            <a:ext cx="7955279" cy="128016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IVIG was feasible and safe but showed no trend to benefit; if anything the point estimate was worse. The programme did not proceed to a phase 3 trial.</a:t>
            </a:r>
          </a:p>
        </p:txBody>
      </p:sp>
      <p:sp>
        <p:nvSpPr>
          <p:cNvPr id="26" name="TextBox 25"/>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Rationale</a:t>
            </a:r>
          </a:p>
          <a:p>
            <a:pPr>
              <a:spcAft>
                <a:spcPts val="400"/>
              </a:spcAft>
            </a:pPr>
            <a:r>
              <a:rPr sz="1050" b="0" i="0">
                <a:solidFill>
                  <a:srgbClr val="1A1A1A"/>
                </a:solidFill>
                <a:latin typeface="Abadi"/>
              </a:rPr>
              <a:t>Mouse models of rotavirus-induced atresia: IVIG reduced cholangiocyte injury and inflammation.</a:t>
            </a:r>
          </a:p>
          <a:p>
            <a:pPr>
              <a:spcAft>
                <a:spcPts val="400"/>
              </a:spcAft>
            </a:pPr>
            <a:r>
              <a:rPr sz="1500" b="1" i="0">
                <a:solidFill>
                  <a:srgbClr val="1B355E"/>
                </a:solidFill>
                <a:latin typeface="Abadi"/>
              </a:rPr>
              <a:t>Bilirubin</a:t>
            </a:r>
          </a:p>
          <a:p>
            <a:pPr>
              <a:spcAft>
                <a:spcPts val="400"/>
              </a:spcAft>
            </a:pPr>
            <a:r>
              <a:rPr sz="1050" b="0" i="0">
                <a:solidFill>
                  <a:srgbClr val="1A1A1A"/>
                </a:solidFill>
                <a:latin typeface="Abadi"/>
              </a:rPr>
              <a:t>No increase in bilirubin &lt; 1.5 mg/dL at 90, 180 or 360 days.</a:t>
            </a:r>
          </a:p>
          <a:p>
            <a:pPr>
              <a:spcAft>
                <a:spcPts val="400"/>
              </a:spcAft>
            </a:pPr>
            <a:r>
              <a:rPr sz="1500" b="1" i="0">
                <a:solidFill>
                  <a:srgbClr val="1B355E"/>
                </a:solidFill>
                <a:latin typeface="Abadi"/>
              </a:rPr>
              <a:t>Lesson</a:t>
            </a:r>
          </a:p>
          <a:p>
            <a:pPr>
              <a:spcAft>
                <a:spcPts val="400"/>
              </a:spcAft>
            </a:pPr>
            <a:r>
              <a:rPr sz="1050" b="0" i="0">
                <a:solidFill>
                  <a:srgbClr val="1A1A1A"/>
                </a:solidFill>
                <a:latin typeface="Abadi"/>
              </a:rPr>
              <a:t>Single-arm trials with historical controls can rule out large effects only.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ANTIBIOTIC PROPHYLAXIS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SMALL STUDIES, WIDE USE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The direct evidence on preventing cholangitis after the Kasai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Bu LN, et al. J Pediatr Surg 2003;38:590–3 · Chen G, et al. Pediatr Surg Int 2021;37:1089–97 · Brody Y, et al. Acta Paediatr 2025;114:654–9 · Fligor 2022</a:t>
            </a:r>
          </a:p>
        </p:txBody>
      </p:sp>
      <p:sp>
        <p:nvSpPr>
          <p:cNvPr id="12" name="Rectangle 11"/>
          <p:cNvSpPr/>
          <p:nvPr/>
        </p:nvSpPr>
        <p:spPr>
          <a:xfrm>
            <a:off x="548640" y="1773936"/>
            <a:ext cx="2633472" cy="22860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45720" rIns="45720" tIns="27432" bIns="27432" anchor="t">
            <a:spAutoFit/>
          </a:bodyPr>
          <a:lstStyle/>
          <a:p>
            <a:r>
              <a:rPr sz="1500" b="1" i="0">
                <a:solidFill>
                  <a:srgbClr val="1B355E"/>
                </a:solidFill>
                <a:latin typeface="Abadi"/>
              </a:rPr>
              <a:t>Taiwan 2003</a:t>
            </a:r>
          </a:p>
        </p:txBody>
      </p:sp>
      <p:sp>
        <p:nvSpPr>
          <p:cNvPr id="15" name="TextBox 14"/>
          <p:cNvSpPr txBox="1"/>
          <p:nvPr/>
        </p:nvSpPr>
        <p:spPr>
          <a:xfrm>
            <a:off x="694944" y="2505456"/>
            <a:ext cx="2340864"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19 infants after a first cholangitis</a:t>
            </a:r>
          </a:p>
          <a:p>
            <a:pPr>
              <a:spcAft>
                <a:spcPts val="400"/>
              </a:spcAft>
            </a:pPr>
            <a:r>
              <a:rPr sz="1050" b="0" i="0">
                <a:solidFill>
                  <a:srgbClr val="1A1A1A"/>
                </a:solidFill>
                <a:latin typeface="Abadi"/>
              </a:rPr>
              <a:t>▪  TMP-SMX or neomycin vs 18 historical controls</a:t>
            </a:r>
          </a:p>
          <a:p>
            <a:pPr>
              <a:spcAft>
                <a:spcPts val="400"/>
              </a:spcAft>
            </a:pPr>
            <a:r>
              <a:rPr sz="1050" b="0" i="0">
                <a:solidFill>
                  <a:srgbClr val="1A1A1A"/>
                </a:solidFill>
                <a:latin typeface="Abadi"/>
              </a:rPr>
              <a:t>▪  Fewer recurrences (P = .042 and .011)</a:t>
            </a:r>
          </a:p>
        </p:txBody>
      </p:sp>
      <p:sp>
        <p:nvSpPr>
          <p:cNvPr id="16" name="Rectangle 15"/>
          <p:cNvSpPr/>
          <p:nvPr/>
        </p:nvSpPr>
        <p:spPr>
          <a:xfrm>
            <a:off x="3364992" y="1773936"/>
            <a:ext cx="2633472"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45720" rIns="45720" tIns="27432" bIns="27432" anchor="t">
            <a:spAutoFit/>
          </a:bodyPr>
          <a:lstStyle/>
          <a:p>
            <a:r>
              <a:rPr sz="1500" b="1" i="0">
                <a:solidFill>
                  <a:srgbClr val="B22222"/>
                </a:solidFill>
                <a:latin typeface="Abadi"/>
              </a:rPr>
              <a:t>No placebo RCT</a:t>
            </a:r>
          </a:p>
        </p:txBody>
      </p:sp>
      <p:sp>
        <p:nvSpPr>
          <p:cNvPr id="19" name="TextBox 18"/>
          <p:cNvSpPr txBox="1"/>
          <p:nvPr/>
        </p:nvSpPr>
        <p:spPr>
          <a:xfrm>
            <a:off x="3511296" y="2505456"/>
            <a:ext cx="2340864"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No randomised placebo-controlled trial of oral prophylaxis exists</a:t>
            </a:r>
          </a:p>
        </p:txBody>
      </p:sp>
      <p:sp>
        <p:nvSpPr>
          <p:cNvPr id="20" name="Rectangle 19"/>
          <p:cNvSpPr/>
          <p:nvPr/>
        </p:nvSpPr>
        <p:spPr>
          <a:xfrm>
            <a:off x="6181344" y="1773936"/>
            <a:ext cx="2633472" cy="22860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45720" rIns="45720" tIns="27432" bIns="27432" anchor="t">
            <a:spAutoFit/>
          </a:bodyPr>
          <a:lstStyle/>
          <a:p>
            <a:r>
              <a:rPr sz="1500" b="1" i="0">
                <a:solidFill>
                  <a:srgbClr val="D97A0B"/>
                </a:solidFill>
                <a:latin typeface="Abadi"/>
              </a:rPr>
              <a:t>IV course · 2021</a:t>
            </a:r>
          </a:p>
        </p:txBody>
      </p:sp>
      <p:sp>
        <p:nvSpPr>
          <p:cNvPr id="23" name="TextBox 22"/>
          <p:cNvSpPr txBox="1"/>
          <p:nvPr/>
        </p:nvSpPr>
        <p:spPr>
          <a:xfrm>
            <a:off x="6327648" y="2505456"/>
            <a:ext cx="2340864"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RCT, 180 infants: 7 vs 14 days of IV antibiotics after surgery</a:t>
            </a:r>
          </a:p>
          <a:p>
            <a:pPr>
              <a:spcAft>
                <a:spcPts val="400"/>
              </a:spcAft>
            </a:pPr>
            <a:r>
              <a:rPr sz="1050" b="0" i="0">
                <a:solidFill>
                  <a:srgbClr val="1A1A1A"/>
                </a:solidFill>
                <a:latin typeface="Abadi"/>
              </a:rPr>
              <a:t>▪  Early cholangitis 61% vs 38%</a:t>
            </a:r>
          </a:p>
          <a:p>
            <a:pPr>
              <a:spcAft>
                <a:spcPts val="400"/>
              </a:spcAft>
            </a:pPr>
            <a:r>
              <a:rPr sz="1050" b="0" i="0">
                <a:solidFill>
                  <a:srgbClr val="1A1A1A"/>
                </a:solidFill>
                <a:latin typeface="Abadi"/>
              </a:rPr>
              <a:t>▪  6-month rate similar (P = .27)</a:t>
            </a:r>
          </a:p>
        </p:txBody>
      </p:sp>
      <p:sp>
        <p:nvSpPr>
          <p:cNvPr id="24" name="Rectangle 23"/>
          <p:cNvSpPr/>
          <p:nvPr/>
        </p:nvSpPr>
        <p:spPr>
          <a:xfrm>
            <a:off x="8997696" y="1773936"/>
            <a:ext cx="2633472" cy="22860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45720" rIns="45720" tIns="27432" bIns="27432" anchor="t">
            <a:spAutoFit/>
          </a:bodyPr>
          <a:lstStyle/>
          <a:p>
            <a:r>
              <a:rPr sz="1500" b="1" i="0">
                <a:solidFill>
                  <a:srgbClr val="8A939B"/>
                </a:solidFill>
                <a:latin typeface="Abadi"/>
              </a:rPr>
              <a:t>Israel · 2025</a:t>
            </a:r>
          </a:p>
        </p:txBody>
      </p:sp>
      <p:sp>
        <p:nvSpPr>
          <p:cNvPr id="27" name="TextBox 26"/>
          <p:cNvSpPr txBox="1"/>
          <p:nvPr/>
        </p:nvSpPr>
        <p:spPr>
          <a:xfrm>
            <a:off x="9144000" y="2505456"/>
            <a:ext cx="2340864"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72 infants</a:t>
            </a:r>
          </a:p>
          <a:p>
            <a:pPr>
              <a:spcAft>
                <a:spcPts val="400"/>
              </a:spcAft>
            </a:pPr>
            <a:r>
              <a:rPr sz="1050" b="0" i="0">
                <a:solidFill>
                  <a:srgbClr val="1A1A1A"/>
                </a:solidFill>
                <a:latin typeface="Abadi"/>
              </a:rPr>
              <a:t>▪  Primary prophylaxis in 49%</a:t>
            </a:r>
          </a:p>
          <a:p>
            <a:pPr>
              <a:spcAft>
                <a:spcPts val="400"/>
              </a:spcAft>
            </a:pPr>
            <a:r>
              <a:rPr sz="1050" b="0" i="0">
                <a:solidFill>
                  <a:srgbClr val="1A1A1A"/>
                </a:solidFill>
                <a:latin typeface="Abadi"/>
              </a:rPr>
              <a:t>▪  Infection rate not lower</a:t>
            </a:r>
          </a:p>
        </p:txBody>
      </p:sp>
      <p:sp>
        <p:nvSpPr>
          <p:cNvPr id="28" name="TextBox 27"/>
          <p:cNvSpPr txBox="1"/>
          <p:nvPr/>
        </p:nvSpPr>
        <p:spPr>
          <a:xfrm>
            <a:off x="548640" y="4251960"/>
            <a:ext cx="11082528" cy="1554480"/>
          </a:xfrm>
          <a:prstGeom prst="rect">
            <a:avLst/>
          </a:prstGeom>
          <a:noFill/>
        </p:spPr>
        <p:txBody>
          <a:bodyPr wrap="square" lIns="45720" rIns="45720" tIns="27432" bIns="27432" anchor="t">
            <a:spAutoFit/>
          </a:bodyPr>
          <a:lstStyle/>
          <a:p>
            <a:r>
              <a:rPr sz="1250" b="1" i="0">
                <a:solidFill>
                  <a:srgbClr val="1B355E"/>
                </a:solidFill>
                <a:latin typeface="Abadi"/>
              </a:rPr>
              <a:t>Interpretation.   </a:t>
            </a:r>
            <a:r>
              <a:rPr sz="1250" b="0" i="0">
                <a:solidFill>
                  <a:srgbClr val="1A1A1A"/>
                </a:solidFill>
                <a:latin typeface="Abadi"/>
              </a:rPr>
              <a:t>The one prospective study of oral prophylaxis is small, secondary rather than primary prevention, and compared with historical controls. Later retrospective series give mixed results. The rationale is strong, since cholangitis occurs in roughly half of infants in the first two years and each episode can end bile drainage, but the effect size of prophylaxis is unknown. Resistance and Clostridioides difficile are the counterweights.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WHAT EXPERTS AGREE 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A DELPHI CONSENSUS FILLS THE GAP</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International Delphi on cholangitis after the Kasai (Biliary Atresia and Related Diseases network, ERN Rare-Liver)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Calinescu-Tuleasca AM, et al. J Clin Med 2022;11:494 · Calinescu-Tuleasca AM, Wildhaber BE. Semin Pediatr Surg 2024;33:151471 · Vutukuru S, et al. J Indian Assoc Pediatr Surg 2024;29:271–6</a:t>
            </a:r>
          </a:p>
        </p:txBody>
      </p:sp>
      <p:sp>
        <p:nvSpPr>
          <p:cNvPr id="12" name="Rectangle 11"/>
          <p:cNvSpPr/>
          <p:nvPr/>
        </p:nvSpPr>
        <p:spPr>
          <a:xfrm>
            <a:off x="548640"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Prophylaxis</a:t>
            </a:r>
          </a:p>
        </p:txBody>
      </p:sp>
      <p:sp>
        <p:nvSpPr>
          <p:cNvPr id="15" name="TextBox 14"/>
          <p:cNvSpPr txBox="1"/>
          <p:nvPr/>
        </p:nvSpPr>
        <p:spPr>
          <a:xfrm>
            <a:off x="658368"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Oral prophylaxis for 6–12 months after the Kasai was supported.</a:t>
            </a:r>
          </a:p>
        </p:txBody>
      </p:sp>
      <p:sp>
        <p:nvSpPr>
          <p:cNvPr id="16" name="TextBox 15"/>
          <p:cNvSpPr txBox="1"/>
          <p:nvPr/>
        </p:nvSpPr>
        <p:spPr>
          <a:xfrm>
            <a:off x="2531059"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Agent</a:t>
            </a:r>
          </a:p>
        </p:txBody>
      </p:sp>
      <p:sp>
        <p:nvSpPr>
          <p:cNvPr id="20" name="TextBox 19"/>
          <p:cNvSpPr txBox="1"/>
          <p:nvPr/>
        </p:nvSpPr>
        <p:spPr>
          <a:xfrm>
            <a:off x="2933395"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No consensus on the drug; TMP-SMX most used (54% of respondents).</a:t>
            </a:r>
          </a:p>
        </p:txBody>
      </p:sp>
      <p:sp>
        <p:nvSpPr>
          <p:cNvPr id="21" name="TextBox 20"/>
          <p:cNvSpPr txBox="1"/>
          <p:nvPr/>
        </p:nvSpPr>
        <p:spPr>
          <a:xfrm>
            <a:off x="4806086"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Suspected</a:t>
            </a:r>
          </a:p>
        </p:txBody>
      </p:sp>
      <p:sp>
        <p:nvSpPr>
          <p:cNvPr id="25" name="TextBox 24"/>
          <p:cNvSpPr txBox="1"/>
          <p:nvPr/>
        </p:nvSpPr>
        <p:spPr>
          <a:xfrm>
            <a:off x="5208422"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Treat suspected cholangitis for 10–14 days.</a:t>
            </a:r>
          </a:p>
        </p:txBody>
      </p:sp>
      <p:sp>
        <p:nvSpPr>
          <p:cNvPr id="26" name="TextBox 25"/>
          <p:cNvSpPr txBox="1"/>
          <p:nvPr/>
        </p:nvSpPr>
        <p:spPr>
          <a:xfrm>
            <a:off x="7081113"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Confirmed</a:t>
            </a:r>
          </a:p>
        </p:txBody>
      </p:sp>
      <p:sp>
        <p:nvSpPr>
          <p:cNvPr id="30" name="TextBox 29"/>
          <p:cNvSpPr txBox="1"/>
          <p:nvPr/>
        </p:nvSpPr>
        <p:spPr>
          <a:xfrm>
            <a:off x="7483449"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Treat confirmed (culture or imaging) cholangitis for 14–21 days.</a:t>
            </a:r>
          </a:p>
        </p:txBody>
      </p:sp>
      <p:sp>
        <p:nvSpPr>
          <p:cNvPr id="31" name="TextBox 30"/>
          <p:cNvSpPr txBox="1"/>
          <p:nvPr/>
        </p:nvSpPr>
        <p:spPr>
          <a:xfrm>
            <a:off x="9356140"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Protocol</a:t>
            </a:r>
          </a:p>
        </p:txBody>
      </p:sp>
      <p:sp>
        <p:nvSpPr>
          <p:cNvPr id="35" name="TextBox 34"/>
          <p:cNvSpPr txBox="1"/>
          <p:nvPr/>
        </p:nvSpPr>
        <p:spPr>
          <a:xfrm>
            <a:off x="9758476"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Swiss national protocol 2015: fewer recurrences and transplants afterwards.</a:t>
            </a:r>
          </a:p>
        </p:txBody>
      </p:sp>
      <p:sp>
        <p:nvSpPr>
          <p:cNvPr id="36" name="TextBox 35"/>
          <p:cNvSpPr txBox="1"/>
          <p:nvPr/>
        </p:nvSpPr>
        <p:spPr>
          <a:xfrm>
            <a:off x="548640" y="4023360"/>
            <a:ext cx="11082528" cy="1783080"/>
          </a:xfrm>
          <a:prstGeom prst="rect">
            <a:avLst/>
          </a:prstGeom>
          <a:noFill/>
        </p:spPr>
        <p:txBody>
          <a:bodyPr wrap="square" lIns="45720" rIns="45720" tIns="27432" bIns="27432" anchor="t">
            <a:spAutoFit/>
          </a:bodyPr>
          <a:lstStyle/>
          <a:p>
            <a:r>
              <a:rPr sz="1250" b="1" i="0">
                <a:solidFill>
                  <a:srgbClr val="1B355E"/>
                </a:solidFill>
                <a:latin typeface="Abadi"/>
              </a:rPr>
              <a:t>Why a protocol helps.   </a:t>
            </a:r>
            <a:r>
              <a:rPr sz="1250" b="0" i="0">
                <a:solidFill>
                  <a:srgbClr val="1A1A1A"/>
                </a:solidFill>
                <a:latin typeface="Abadi"/>
              </a:rPr>
              <a:t>Consensus is the weakest form of evidence, but standardising the definition, the cultures, the empirical intravenous regimen and the duration lets a centre audit itself. The prospective TRACK-BA study, collecting data since 2025, is validating the cholangitis definitions that future trials of prophylaxis will need. Practice still varies: an Indian Delphi split between 6–12 weeks and more than 12 weeks of prophylaxis.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URSODEOXYCHOLIC ACID</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WITHDRAWAL IS THE ONLY TEST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Lille: ursodiol stopped in 16 children with a successful Kasai, then restarted; × upper limit of normal</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Willot S, Uhlen S, Michaud L, et al. Pediatrics 2008;122:e1236–41 · Zheng Q, et al. Pediatr Surg Int 2020;36:827–33 · Lindor KD, et al. Hepatology 2009;50:808–14</a:t>
            </a:r>
          </a:p>
        </p:txBody>
      </p:sp>
      <p:sp>
        <p:nvSpPr>
          <p:cNvPr id="12" name="TextBox 11"/>
          <p:cNvSpPr txBox="1"/>
          <p:nvPr/>
        </p:nvSpPr>
        <p:spPr>
          <a:xfrm>
            <a:off x="548640" y="19659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ALT · on ursodiol</a:t>
            </a:r>
          </a:p>
        </p:txBody>
      </p:sp>
      <p:sp>
        <p:nvSpPr>
          <p:cNvPr id="13" name="Rectangle 12"/>
          <p:cNvSpPr/>
          <p:nvPr/>
        </p:nvSpPr>
        <p:spPr>
          <a:xfrm>
            <a:off x="3474720" y="2029967"/>
            <a:ext cx="762000"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09872" y="19659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1.5 ×</a:t>
            </a:r>
          </a:p>
        </p:txBody>
      </p:sp>
      <p:sp>
        <p:nvSpPr>
          <p:cNvPr id="15" name="TextBox 14"/>
          <p:cNvSpPr txBox="1"/>
          <p:nvPr/>
        </p:nvSpPr>
        <p:spPr>
          <a:xfrm>
            <a:off x="548640" y="24231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ALT · off ursodiol</a:t>
            </a:r>
          </a:p>
        </p:txBody>
      </p:sp>
      <p:sp>
        <p:nvSpPr>
          <p:cNvPr id="16" name="Rectangle 15"/>
          <p:cNvSpPr/>
          <p:nvPr/>
        </p:nvSpPr>
        <p:spPr>
          <a:xfrm>
            <a:off x="3474720" y="2487168"/>
            <a:ext cx="152400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1872" y="24231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3.0 ×</a:t>
            </a:r>
          </a:p>
        </p:txBody>
      </p:sp>
      <p:sp>
        <p:nvSpPr>
          <p:cNvPr id="18" name="TextBox 17"/>
          <p:cNvSpPr txBox="1"/>
          <p:nvPr/>
        </p:nvSpPr>
        <p:spPr>
          <a:xfrm>
            <a:off x="548640" y="28803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GGT · on ursodiol</a:t>
            </a:r>
          </a:p>
        </p:txBody>
      </p:sp>
      <p:sp>
        <p:nvSpPr>
          <p:cNvPr id="19" name="Rectangle 18"/>
          <p:cNvSpPr/>
          <p:nvPr/>
        </p:nvSpPr>
        <p:spPr>
          <a:xfrm>
            <a:off x="3474720" y="2944368"/>
            <a:ext cx="2133600"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81472" y="28803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4.2 ×</a:t>
            </a:r>
          </a:p>
        </p:txBody>
      </p:sp>
      <p:sp>
        <p:nvSpPr>
          <p:cNvPr id="21" name="TextBox 20"/>
          <p:cNvSpPr txBox="1"/>
          <p:nvPr/>
        </p:nvSpPr>
        <p:spPr>
          <a:xfrm>
            <a:off x="548640" y="33375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GGT · off ursodiol</a:t>
            </a:r>
          </a:p>
        </p:txBody>
      </p:sp>
      <p:sp>
        <p:nvSpPr>
          <p:cNvPr id="22" name="Rectangle 21"/>
          <p:cNvSpPr/>
          <p:nvPr/>
        </p:nvSpPr>
        <p:spPr>
          <a:xfrm>
            <a:off x="3474720" y="3401568"/>
            <a:ext cx="406400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11871" y="33375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8.0 ×</a:t>
            </a:r>
          </a:p>
        </p:txBody>
      </p:sp>
      <p:sp>
        <p:nvSpPr>
          <p:cNvPr id="24" name="TextBox 23"/>
          <p:cNvSpPr txBox="1"/>
          <p:nvPr/>
        </p:nvSpPr>
        <p:spPr>
          <a:xfrm>
            <a:off x="548640" y="37947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AST · on ursodiol</a:t>
            </a:r>
          </a:p>
        </p:txBody>
      </p:sp>
      <p:sp>
        <p:nvSpPr>
          <p:cNvPr id="25" name="Rectangle 24"/>
          <p:cNvSpPr/>
          <p:nvPr/>
        </p:nvSpPr>
        <p:spPr>
          <a:xfrm>
            <a:off x="3474720" y="3858768"/>
            <a:ext cx="660400"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08272" y="37947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1.3 ×</a:t>
            </a:r>
          </a:p>
        </p:txBody>
      </p:sp>
      <p:sp>
        <p:nvSpPr>
          <p:cNvPr id="27" name="TextBox 26"/>
          <p:cNvSpPr txBox="1"/>
          <p:nvPr/>
        </p:nvSpPr>
        <p:spPr>
          <a:xfrm>
            <a:off x="548640" y="42519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AST · off ursodiol</a:t>
            </a:r>
          </a:p>
        </p:txBody>
      </p:sp>
      <p:sp>
        <p:nvSpPr>
          <p:cNvPr id="28" name="Rectangle 27"/>
          <p:cNvSpPr/>
          <p:nvPr/>
        </p:nvSpPr>
        <p:spPr>
          <a:xfrm>
            <a:off x="3474720" y="4315968"/>
            <a:ext cx="86360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11472" y="42519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1.7 ×</a:t>
            </a:r>
          </a:p>
        </p:txBody>
      </p:sp>
      <p:sp>
        <p:nvSpPr>
          <p:cNvPr id="30" name="TextBox 29"/>
          <p:cNvSpPr txBox="1"/>
          <p:nvPr/>
        </p:nvSpPr>
        <p:spPr>
          <a:xfrm>
            <a:off x="548640" y="475488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mean values; mean dose 25 mg/kg/day for at least 18 months; tests worsened in 13 of 16 and improved after resumption.</a:t>
            </a:r>
          </a:p>
        </p:txBody>
      </p:sp>
      <p:sp>
        <p:nvSpPr>
          <p:cNvPr id="31" name="TextBox 30"/>
          <p:cNvSpPr txBox="1"/>
          <p:nvPr/>
        </p:nvSpPr>
        <p:spPr>
          <a:xfrm>
            <a:off x="548640" y="5074920"/>
            <a:ext cx="7955279" cy="100584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In children who already drain bile, ursodiol keeps the liver tests lower. It has never been shown to improve clearance or native-liver survival.</a:t>
            </a:r>
          </a:p>
        </p:txBody>
      </p:sp>
      <p:sp>
        <p:nvSpPr>
          <p:cNvPr id="32" name="TextBox 31"/>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No RCT</a:t>
            </a:r>
          </a:p>
          <a:p>
            <a:pPr>
              <a:spcAft>
                <a:spcPts val="400"/>
              </a:spcAft>
            </a:pPr>
            <a:r>
              <a:rPr sz="1050" b="0" i="0">
                <a:solidFill>
                  <a:srgbClr val="1A1A1A"/>
                </a:solidFill>
                <a:latin typeface="Abadi"/>
              </a:rPr>
              <a:t>No randomised or meta-analytic evidence.</a:t>
            </a:r>
          </a:p>
          <a:p>
            <a:pPr>
              <a:spcAft>
                <a:spcPts val="400"/>
              </a:spcAft>
            </a:pPr>
            <a:r>
              <a:rPr sz="1500" b="1" i="0">
                <a:solidFill>
                  <a:srgbClr val="1B355E"/>
                </a:solidFill>
                <a:latin typeface="Abadi"/>
              </a:rPr>
              <a:t>Dose</a:t>
            </a:r>
          </a:p>
          <a:p>
            <a:pPr>
              <a:spcAft>
                <a:spcPts val="400"/>
              </a:spcAft>
            </a:pPr>
            <a:r>
              <a:rPr sz="1050" b="0" i="0">
                <a:solidFill>
                  <a:srgbClr val="1A1A1A"/>
                </a:solidFill>
                <a:latin typeface="Abadi"/>
              </a:rPr>
              <a:t>Typically 10–20 mg/kg/day; up to 25 in the withdrawal study.</a:t>
            </a:r>
          </a:p>
          <a:p>
            <a:pPr>
              <a:spcAft>
                <a:spcPts val="400"/>
              </a:spcAft>
            </a:pPr>
            <a:r>
              <a:rPr sz="1500" b="1" i="0">
                <a:solidFill>
                  <a:srgbClr val="1B355E"/>
                </a:solidFill>
                <a:latin typeface="Abadi"/>
              </a:rPr>
              <a:t>Caution</a:t>
            </a:r>
          </a:p>
          <a:p>
            <a:pPr>
              <a:spcAft>
                <a:spcPts val="400"/>
              </a:spcAft>
            </a:pPr>
            <a:r>
              <a:rPr sz="1050" b="0" i="0">
                <a:solidFill>
                  <a:srgbClr val="1A1A1A"/>
                </a:solidFill>
                <a:latin typeface="Abadi"/>
              </a:rPr>
              <a:t>Not a substitute for drainage; in adult sclerosing cholangitis 28–30 mg/kg/day was harmful.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PRACTICE VARIATION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SAME EVIDENCE, DIFFERENT HABITS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Reported use of adjuvants by country, % of centres or clinicians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Zheng Q, et al. Pediatr Surg Int 2020;36:827–33 (China, 41 centres) · Stagg H, et al. J Pediatr Surg 2017;52:802–6 (Canada) · Liang NE, et al. Pediatr Surg Int 2026;42 (US PHIS)</a:t>
            </a:r>
          </a:p>
        </p:txBody>
      </p:sp>
      <p:sp>
        <p:nvSpPr>
          <p:cNvPr id="12" name="TextBox 11"/>
          <p:cNvSpPr txBox="1"/>
          <p:nvPr/>
        </p:nvSpPr>
        <p:spPr>
          <a:xfrm>
            <a:off x="548640" y="19659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Steroids · China</a:t>
            </a:r>
          </a:p>
        </p:txBody>
      </p:sp>
      <p:sp>
        <p:nvSpPr>
          <p:cNvPr id="13" name="Rectangle 12"/>
          <p:cNvSpPr/>
          <p:nvPr/>
        </p:nvSpPr>
        <p:spPr>
          <a:xfrm>
            <a:off x="3474720" y="2029967"/>
            <a:ext cx="411480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62672" y="19659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90%</a:t>
            </a:r>
          </a:p>
        </p:txBody>
      </p:sp>
      <p:sp>
        <p:nvSpPr>
          <p:cNvPr id="15" name="TextBox 14"/>
          <p:cNvSpPr txBox="1"/>
          <p:nvPr/>
        </p:nvSpPr>
        <p:spPr>
          <a:xfrm>
            <a:off x="548640" y="24231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Steroids · US children's hospitals (patients)</a:t>
            </a:r>
          </a:p>
        </p:txBody>
      </p:sp>
      <p:sp>
        <p:nvSpPr>
          <p:cNvPr id="16" name="Rectangle 15"/>
          <p:cNvSpPr/>
          <p:nvPr/>
        </p:nvSpPr>
        <p:spPr>
          <a:xfrm>
            <a:off x="3474720" y="2487168"/>
            <a:ext cx="128016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28031" y="24231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28%</a:t>
            </a:r>
          </a:p>
        </p:txBody>
      </p:sp>
      <p:sp>
        <p:nvSpPr>
          <p:cNvPr id="18" name="TextBox 17"/>
          <p:cNvSpPr txBox="1"/>
          <p:nvPr/>
        </p:nvSpPr>
        <p:spPr>
          <a:xfrm>
            <a:off x="548640" y="28803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Steroids · Canadian gastroenterologists</a:t>
            </a:r>
          </a:p>
        </p:txBody>
      </p:sp>
      <p:sp>
        <p:nvSpPr>
          <p:cNvPr id="19" name="Rectangle 18"/>
          <p:cNvSpPr/>
          <p:nvPr/>
        </p:nvSpPr>
        <p:spPr>
          <a:xfrm>
            <a:off x="3474720" y="2944368"/>
            <a:ext cx="109728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28803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24%</a:t>
            </a:r>
          </a:p>
        </p:txBody>
      </p:sp>
      <p:sp>
        <p:nvSpPr>
          <p:cNvPr id="21" name="TextBox 20"/>
          <p:cNvSpPr txBox="1"/>
          <p:nvPr/>
        </p:nvSpPr>
        <p:spPr>
          <a:xfrm>
            <a:off x="548640" y="33375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Ursodiol · China</a:t>
            </a:r>
          </a:p>
        </p:txBody>
      </p:sp>
      <p:sp>
        <p:nvSpPr>
          <p:cNvPr id="22" name="Rectangle 21"/>
          <p:cNvSpPr/>
          <p:nvPr/>
        </p:nvSpPr>
        <p:spPr>
          <a:xfrm>
            <a:off x="3474720" y="3401568"/>
            <a:ext cx="4251960"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9831" y="33375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93%</a:t>
            </a:r>
          </a:p>
        </p:txBody>
      </p:sp>
      <p:sp>
        <p:nvSpPr>
          <p:cNvPr id="24" name="TextBox 23"/>
          <p:cNvSpPr txBox="1"/>
          <p:nvPr/>
        </p:nvSpPr>
        <p:spPr>
          <a:xfrm>
            <a:off x="548640" y="37947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Ursodiol · Canadian gastroenterologists</a:t>
            </a:r>
          </a:p>
        </p:txBody>
      </p:sp>
      <p:sp>
        <p:nvSpPr>
          <p:cNvPr id="25" name="Rectangle 24"/>
          <p:cNvSpPr/>
          <p:nvPr/>
        </p:nvSpPr>
        <p:spPr>
          <a:xfrm>
            <a:off x="3474720" y="3858768"/>
            <a:ext cx="4343400"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91272" y="37947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95%</a:t>
            </a:r>
          </a:p>
        </p:txBody>
      </p:sp>
      <p:sp>
        <p:nvSpPr>
          <p:cNvPr id="27" name="TextBox 26"/>
          <p:cNvSpPr txBox="1"/>
          <p:nvPr/>
        </p:nvSpPr>
        <p:spPr>
          <a:xfrm>
            <a:off x="548640" y="42519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Oral antibiotics at discharge · Canada</a:t>
            </a:r>
          </a:p>
        </p:txBody>
      </p:sp>
      <p:sp>
        <p:nvSpPr>
          <p:cNvPr id="28" name="Rectangle 27"/>
          <p:cNvSpPr/>
          <p:nvPr/>
        </p:nvSpPr>
        <p:spPr>
          <a:xfrm>
            <a:off x="3474720" y="4315968"/>
            <a:ext cx="3657600"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05472" y="42519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80%</a:t>
            </a:r>
          </a:p>
        </p:txBody>
      </p:sp>
      <p:sp>
        <p:nvSpPr>
          <p:cNvPr id="30" name="TextBox 29"/>
          <p:cNvSpPr txBox="1"/>
          <p:nvPr/>
        </p:nvSpPr>
        <p:spPr>
          <a:xfrm>
            <a:off x="548640" y="475488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surveys of centres and clinicians, except US data (504 patients, 37 hospitals, 2017–2024).</a:t>
            </a:r>
          </a:p>
        </p:txBody>
      </p:sp>
      <p:sp>
        <p:nvSpPr>
          <p:cNvPr id="31" name="TextBox 30"/>
          <p:cNvSpPr txBox="1"/>
          <p:nvPr/>
        </p:nvSpPr>
        <p:spPr>
          <a:xfrm>
            <a:off x="548640" y="5074920"/>
            <a:ext cx="7955279" cy="100584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Steroid use tracks local trial results and culture more than evidence; ursodiol and prophylaxis are near-universal everywhere.</a:t>
            </a:r>
          </a:p>
        </p:txBody>
      </p:sp>
      <p:sp>
        <p:nvSpPr>
          <p:cNvPr id="32" name="TextBox 31"/>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US data</a:t>
            </a:r>
          </a:p>
          <a:p>
            <a:pPr>
              <a:spcAft>
                <a:spcPts val="400"/>
              </a:spcAft>
            </a:pPr>
            <a:r>
              <a:rPr sz="1050" b="0" i="0">
                <a:solidFill>
                  <a:srgbClr val="1A1A1A"/>
                </a:solidFill>
                <a:latin typeface="Abadi"/>
              </a:rPr>
              <a:t>Steroids given more at high-volume hospitals, lengthened stay, no 2-year survival difference.</a:t>
            </a:r>
          </a:p>
          <a:p>
            <a:pPr>
              <a:spcAft>
                <a:spcPts val="400"/>
              </a:spcAft>
            </a:pPr>
            <a:r>
              <a:rPr sz="1500" b="1" i="0">
                <a:solidFill>
                  <a:srgbClr val="1B355E"/>
                </a:solidFill>
                <a:latin typeface="Abadi"/>
              </a:rPr>
              <a:t>China</a:t>
            </a:r>
          </a:p>
          <a:p>
            <a:pPr>
              <a:spcAft>
                <a:spcPts val="400"/>
              </a:spcAft>
            </a:pPr>
            <a:r>
              <a:rPr sz="1050" b="0" i="0">
                <a:solidFill>
                  <a:srgbClr val="1A1A1A"/>
                </a:solidFill>
                <a:latin typeface="Abadi"/>
              </a:rPr>
              <a:t>Antibiotics 100%; ursodiol often beyond a year.</a:t>
            </a:r>
          </a:p>
          <a:p>
            <a:pPr>
              <a:spcAft>
                <a:spcPts val="400"/>
              </a:spcAft>
            </a:pPr>
            <a:r>
              <a:rPr sz="1500" b="1" i="0">
                <a:solidFill>
                  <a:srgbClr val="1B355E"/>
                </a:solidFill>
                <a:latin typeface="Abadi"/>
              </a:rPr>
              <a:t>Implication</a:t>
            </a:r>
          </a:p>
          <a:p>
            <a:pPr>
              <a:spcAft>
                <a:spcPts val="400"/>
              </a:spcAft>
            </a:pPr>
            <a:r>
              <a:rPr sz="1050" b="0" i="0">
                <a:solidFill>
                  <a:srgbClr val="1A1A1A"/>
                </a:solidFill>
                <a:latin typeface="Abadi"/>
              </a:rPr>
              <a:t>Multicentre outcome comparisons are confounded by adjuvant mix.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WHAT TO EXPECT</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THE PIPELINE AFTER TWO FAILURES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Newer adjuvants tested or in trial after the Kasai, status as of October 2026</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Ipsen press release 24 Jul 2026 (BOLD, NCT04336722) · Mirum press release 18 Dec 2023 (EMBARK, NCT04524390) · NCT03499249 · Nguyen HPA, et al. Pediatr Surg Int 2022;38:1019–30 (NCT04373941)</a:t>
            </a:r>
          </a:p>
        </p:txBody>
      </p:sp>
      <p:sp>
        <p:nvSpPr>
          <p:cNvPr id="12" name="Rectangle 11"/>
          <p:cNvSpPr/>
          <p:nvPr/>
        </p:nvSpPr>
        <p:spPr>
          <a:xfrm>
            <a:off x="548640"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1500" b="1" i="0">
                <a:solidFill>
                  <a:srgbClr val="B22222"/>
                </a:solidFill>
                <a:latin typeface="Abadi"/>
              </a:rPr>
              <a:t>Odevixibat</a:t>
            </a:r>
          </a:p>
        </p:txBody>
      </p:sp>
      <p:sp>
        <p:nvSpPr>
          <p:cNvPr id="15" name="TextBox 14"/>
          <p:cNvSpPr txBox="1"/>
          <p:nvPr/>
        </p:nvSpPr>
        <p:spPr>
          <a:xfrm>
            <a:off x="694944" y="2505456"/>
            <a:ext cx="1777593" cy="132588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Phase 3 BOLD, 254 infants, 19 countries</a:t>
            </a:r>
          </a:p>
          <a:p>
            <a:pPr>
              <a:spcAft>
                <a:spcPts val="400"/>
              </a:spcAft>
            </a:pPr>
            <a:r>
              <a:rPr sz="1050" b="0" i="0">
                <a:solidFill>
                  <a:srgbClr val="1A1A1A"/>
                </a:solidFill>
                <a:latin typeface="Abadi"/>
              </a:rPr>
              <a:t>▪  Primary: transplant or death</a:t>
            </a:r>
          </a:p>
          <a:p>
            <a:pPr>
              <a:spcAft>
                <a:spcPts val="400"/>
              </a:spcAft>
            </a:pPr>
            <a:r>
              <a:rPr sz="1050" b="0" i="0">
                <a:solidFill>
                  <a:srgbClr val="1A1A1A"/>
                </a:solidFill>
                <a:latin typeface="Abadi"/>
              </a:rPr>
              <a:t>▪  Not met (July 2026)</a:t>
            </a:r>
          </a:p>
        </p:txBody>
      </p:sp>
      <p:sp>
        <p:nvSpPr>
          <p:cNvPr id="16" name="Rectangle 15"/>
          <p:cNvSpPr/>
          <p:nvPr/>
        </p:nvSpPr>
        <p:spPr>
          <a:xfrm>
            <a:off x="2801721"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1500" b="1" i="0">
                <a:solidFill>
                  <a:srgbClr val="B22222"/>
                </a:solidFill>
                <a:latin typeface="Abadi"/>
              </a:rPr>
              <a:t>Maralixibat</a:t>
            </a:r>
          </a:p>
        </p:txBody>
      </p:sp>
      <p:sp>
        <p:nvSpPr>
          <p:cNvPr id="19" name="TextBox 18"/>
          <p:cNvSpPr txBox="1"/>
          <p:nvPr/>
        </p:nvSpPr>
        <p:spPr>
          <a:xfrm>
            <a:off x="2948025" y="2505456"/>
            <a:ext cx="1777593" cy="132588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Phase 2b EMBARK</a:t>
            </a:r>
          </a:p>
          <a:p>
            <a:pPr>
              <a:spcAft>
                <a:spcPts val="400"/>
              </a:spcAft>
            </a:pPr>
            <a:r>
              <a:rPr sz="1050" b="0" i="0">
                <a:solidFill>
                  <a:srgbClr val="1A1A1A"/>
                </a:solidFill>
                <a:latin typeface="Abadi"/>
              </a:rPr>
              <a:t>▪  26 weeks after Kasai</a:t>
            </a:r>
          </a:p>
          <a:p>
            <a:pPr>
              <a:spcAft>
                <a:spcPts val="400"/>
              </a:spcAft>
            </a:pPr>
            <a:r>
              <a:rPr sz="1050" b="0" i="0">
                <a:solidFill>
                  <a:srgbClr val="1A1A1A"/>
                </a:solidFill>
                <a:latin typeface="Abadi"/>
              </a:rPr>
              <a:t>▪  Missed bilirubin endpoint (2023)</a:t>
            </a:r>
          </a:p>
        </p:txBody>
      </p:sp>
      <p:sp>
        <p:nvSpPr>
          <p:cNvPr id="20" name="Rectangle 19"/>
          <p:cNvSpPr/>
          <p:nvPr/>
        </p:nvSpPr>
        <p:spPr>
          <a:xfrm>
            <a:off x="5054803"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1500" b="1" i="0">
                <a:solidFill>
                  <a:srgbClr val="D97A0B"/>
                </a:solidFill>
                <a:latin typeface="Abadi"/>
              </a:rPr>
              <a:t>N-acetylcysteine</a:t>
            </a:r>
          </a:p>
        </p:txBody>
      </p:sp>
      <p:sp>
        <p:nvSpPr>
          <p:cNvPr id="23" name="TextBox 22"/>
          <p:cNvSpPr txBox="1"/>
          <p:nvPr/>
        </p:nvSpPr>
        <p:spPr>
          <a:xfrm>
            <a:off x="5201107" y="2505456"/>
            <a:ext cx="1777593" cy="132588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IV for 7 days, Baylor</a:t>
            </a:r>
          </a:p>
          <a:p>
            <a:pPr>
              <a:spcAft>
                <a:spcPts val="400"/>
              </a:spcAft>
            </a:pPr>
            <a:r>
              <a:rPr sz="1050" b="0" i="0">
                <a:solidFill>
                  <a:srgbClr val="1A1A1A"/>
                </a:solidFill>
                <a:latin typeface="Abadi"/>
              </a:rPr>
              <a:t>▪  Endpoint: bile acids at 24 weeks</a:t>
            </a:r>
          </a:p>
          <a:p>
            <a:pPr>
              <a:spcAft>
                <a:spcPts val="400"/>
              </a:spcAft>
            </a:pPr>
            <a:r>
              <a:rPr sz="1050" b="0" i="0">
                <a:solidFill>
                  <a:srgbClr val="1A1A1A"/>
                </a:solidFill>
                <a:latin typeface="Abadi"/>
              </a:rPr>
              <a:t>▪  Results pending</a:t>
            </a:r>
          </a:p>
        </p:txBody>
      </p:sp>
      <p:sp>
        <p:nvSpPr>
          <p:cNvPr id="24" name="Rectangle 23"/>
          <p:cNvSpPr/>
          <p:nvPr/>
        </p:nvSpPr>
        <p:spPr>
          <a:xfrm>
            <a:off x="7307884"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1500" b="1" i="0">
                <a:solidFill>
                  <a:srgbClr val="D97A0B"/>
                </a:solidFill>
                <a:latin typeface="Abadi"/>
              </a:rPr>
              <a:t>G-CSF</a:t>
            </a:r>
          </a:p>
        </p:txBody>
      </p:sp>
      <p:sp>
        <p:nvSpPr>
          <p:cNvPr id="27" name="TextBox 26"/>
          <p:cNvSpPr txBox="1"/>
          <p:nvPr/>
        </p:nvSpPr>
        <p:spPr>
          <a:xfrm>
            <a:off x="7454188" y="2505456"/>
            <a:ext cx="1777593" cy="132588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Phase 2 RCT, Vietnam, Pakistan, US</a:t>
            </a:r>
          </a:p>
          <a:p>
            <a:pPr>
              <a:spcAft>
                <a:spcPts val="400"/>
              </a:spcAft>
            </a:pPr>
            <a:r>
              <a:rPr sz="1050" b="0" i="0">
                <a:solidFill>
                  <a:srgbClr val="1A1A1A"/>
                </a:solidFill>
                <a:latin typeface="Abadi"/>
              </a:rPr>
              <a:t>▪  3 daily doses</a:t>
            </a:r>
          </a:p>
          <a:p>
            <a:pPr>
              <a:spcAft>
                <a:spcPts val="400"/>
              </a:spcAft>
            </a:pPr>
            <a:r>
              <a:rPr sz="1050" b="0" i="0">
                <a:solidFill>
                  <a:srgbClr val="1A1A1A"/>
                </a:solidFill>
                <a:latin typeface="Abadi"/>
              </a:rPr>
              <a:t>▪  Results pending</a:t>
            </a:r>
          </a:p>
        </p:txBody>
      </p:sp>
      <p:sp>
        <p:nvSpPr>
          <p:cNvPr id="28" name="Rectangle 27"/>
          <p:cNvSpPr/>
          <p:nvPr/>
        </p:nvSpPr>
        <p:spPr>
          <a:xfrm>
            <a:off x="9560966"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1500" b="1" i="0">
                <a:solidFill>
                  <a:srgbClr val="8A939B"/>
                </a:solidFill>
                <a:latin typeface="Abadi"/>
              </a:rPr>
              <a:t>TRACK-BA</a:t>
            </a:r>
          </a:p>
        </p:txBody>
      </p:sp>
      <p:sp>
        <p:nvSpPr>
          <p:cNvPr id="31" name="TextBox 30"/>
          <p:cNvSpPr txBox="1"/>
          <p:nvPr/>
        </p:nvSpPr>
        <p:spPr>
          <a:xfrm>
            <a:off x="9707270" y="2505456"/>
            <a:ext cx="1777593" cy="132588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Prospective cholangitis study</a:t>
            </a:r>
          </a:p>
          <a:p>
            <a:pPr>
              <a:spcAft>
                <a:spcPts val="400"/>
              </a:spcAft>
            </a:pPr>
            <a:r>
              <a:rPr sz="1050" b="0" i="0">
                <a:solidFill>
                  <a:srgbClr val="1A1A1A"/>
                </a:solidFill>
                <a:latin typeface="Abadi"/>
              </a:rPr>
              <a:t>▪  Definitions for future trials</a:t>
            </a:r>
          </a:p>
        </p:txBody>
      </p:sp>
      <p:sp>
        <p:nvSpPr>
          <p:cNvPr id="32" name="TextBox 31"/>
          <p:cNvSpPr txBox="1"/>
          <p:nvPr/>
        </p:nvSpPr>
        <p:spPr>
          <a:xfrm>
            <a:off x="548640" y="4160520"/>
            <a:ext cx="11082528" cy="1645920"/>
          </a:xfrm>
          <a:prstGeom prst="rect">
            <a:avLst/>
          </a:prstGeom>
          <a:noFill/>
        </p:spPr>
        <p:txBody>
          <a:bodyPr wrap="square" lIns="45720" rIns="45720" tIns="27432" bIns="27432" anchor="t">
            <a:spAutoFit/>
          </a:bodyPr>
          <a:lstStyle/>
          <a:p>
            <a:r>
              <a:rPr sz="1250" b="1" i="0">
                <a:solidFill>
                  <a:srgbClr val="1B355E"/>
                </a:solidFill>
                <a:latin typeface="Abadi"/>
              </a:rPr>
              <a:t>Material point.   </a:t>
            </a:r>
            <a:r>
              <a:rPr sz="1250" b="0" i="0">
                <a:solidFill>
                  <a:srgbClr val="1A1A1A"/>
                </a:solidFill>
                <a:latin typeface="Abadi"/>
              </a:rPr>
              <a:t>Ileal bile acid transporter inhibitors work for pruritus in Alagille syndrome and progressive familial intrahepatic cholestasis, where bile ducts drain. In atresia the problem is the outflow itself, and two programmes have now failed to improve bilirubin or native-liver survival. Their use after the Kasai should stay inside trials. The next wave targets ductular survival and repair rather than the bile acid pool.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WHAT THE DOCUMENTS SAY ABOUT ADJUVANTS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Society guidance versus national and consensus statements; AASLD and EASL have no biliary atresia treatment guideline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Fawaz R, et al. JPGN 2017;64:154–68 · Japanese Biliary Atresia Society. J Hepatobiliary Pancreat Sci 2021;28:55–61 · Calinescu-Tuleasca 2022 · Tyraskis 2018 (Cochrane)</a:t>
            </a:r>
          </a:p>
        </p:txBody>
      </p:sp>
      <p:graphicFrame>
        <p:nvGraphicFramePr>
          <p:cNvPr id="12" name="Table 11"/>
          <p:cNvGraphicFramePr>
            <a:graphicFrameLocks noGrp="1"/>
          </p:cNvGraphicFramePr>
          <p:nvPr/>
        </p:nvGraphicFramePr>
        <p:xfrm>
          <a:off x="548640" y="1783080"/>
          <a:ext cx="11082528" cy="3328416"/>
        </p:xfrm>
        <a:graphic>
          <a:graphicData uri="http://schemas.openxmlformats.org/drawingml/2006/table">
            <a:tbl>
              <a:tblPr firstRow="0" bandRow="0">
                <a:tableStyleId>{5C22544A-7EE6-4342-B048-85BDC9FD1C3A}</a:tableStyleId>
              </a:tblPr>
              <a:tblGrid>
                <a:gridCol w="2103120"/>
                <a:gridCol w="1737360"/>
                <a:gridCol w="2651760"/>
                <a:gridCol w="3291840"/>
                <a:gridCol w="1298448"/>
              </a:tblGrid>
              <a:tr h="475488">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AASLD · EASL</a:t>
                      </a:r>
                    </a:p>
                  </a:txBody>
                  <a:tcPr marL="73152" marR="73152" marT="27432" marB="27432" anchor="ctr">
                    <a:solidFill>
                      <a:srgbClr val="1B355E"/>
                    </a:solidFill>
                  </a:tcPr>
                </a:tc>
                <a:tc>
                  <a:txBody>
                    <a:bodyPr wrap="square"/>
                    <a:lstStyle/>
                    <a:p>
                      <a:r>
                        <a:rPr sz="1050" b="1">
                          <a:solidFill>
                            <a:srgbClr val="FFFFFF"/>
                          </a:solidFill>
                          <a:latin typeface="Abadi"/>
                        </a:rPr>
                        <a:t>NASPGHAN/ESPGHAN 2017</a:t>
                      </a:r>
                    </a:p>
                  </a:txBody>
                  <a:tcPr marL="73152" marR="73152" marT="27432" marB="27432" anchor="ctr">
                    <a:solidFill>
                      <a:srgbClr val="1B355E"/>
                    </a:solidFill>
                  </a:tcPr>
                </a:tc>
                <a:tc>
                  <a:txBody>
                    <a:bodyPr wrap="square"/>
                    <a:lstStyle/>
                    <a:p>
                      <a:r>
                        <a:rPr sz="1050" b="1">
                          <a:solidFill>
                            <a:srgbClr val="FFFFFF"/>
                          </a:solidFill>
                          <a:latin typeface="Abadi"/>
                        </a:rPr>
                        <a:t>Japan 2021 · Delphi 2022</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475488">
                <a:tc>
                  <a:txBody>
                    <a:bodyPr wrap="square"/>
                    <a:lstStyle/>
                    <a:p>
                      <a:r>
                        <a:rPr sz="1000" b="1">
                          <a:solidFill>
                            <a:srgbClr val="1A1A1A"/>
                          </a:solidFill>
                          <a:latin typeface="Abadi"/>
                        </a:rPr>
                        <a:t>Steroids after Kasai</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 (diagnostic guideline)</a:t>
                      </a:r>
                    </a:p>
                  </a:txBody>
                  <a:tcPr marL="73152" marR="73152" marT="27432" marB="27432" anchor="ctr">
                    <a:solidFill>
                      <a:srgbClr val="FFFFFF"/>
                    </a:solidFill>
                  </a:tcPr>
                </a:tc>
                <a:tc>
                  <a:txBody>
                    <a:bodyPr wrap="square"/>
                    <a:lstStyle/>
                    <a:p>
                      <a:r>
                        <a:rPr sz="1000" b="0">
                          <a:solidFill>
                            <a:srgbClr val="1A1A1A"/>
                          </a:solidFill>
                          <a:latin typeface="Abadi"/>
                        </a:rPr>
                        <a:t>Japan: cannot recommend for or against</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75488">
                <a:tc>
                  <a:txBody>
                    <a:bodyPr wrap="square"/>
                    <a:lstStyle/>
                    <a:p>
                      <a:r>
                        <a:rPr sz="1000" b="1">
                          <a:solidFill>
                            <a:srgbClr val="1A1A1A"/>
                          </a:solidFill>
                          <a:latin typeface="Abadi"/>
                        </a:rPr>
                        <a:t>IVIG</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Not mentioned; trial use only</a:t>
                      </a:r>
                    </a:p>
                  </a:txBody>
                  <a:tcPr marL="73152" marR="73152" marT="27432" marB="27432" anchor="ctr">
                    <a:solidFill>
                      <a:srgbClr val="F2F4F7"/>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75488">
                <a:tc>
                  <a:txBody>
                    <a:bodyPr wrap="square"/>
                    <a:lstStyle/>
                    <a:p>
                      <a:r>
                        <a:rPr sz="1000" b="1">
                          <a:solidFill>
                            <a:srgbClr val="1A1A1A"/>
                          </a:solidFill>
                          <a:latin typeface="Abadi"/>
                        </a:rPr>
                        <a:t>Antibiotic prophylaxis</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Delphi: 6–12 months; agent open</a:t>
                      </a:r>
                    </a:p>
                  </a:txBody>
                  <a:tcPr marL="73152" marR="73152" marT="27432" marB="27432" anchor="ctr">
                    <a:solidFill>
                      <a:srgbClr val="FFFFFF"/>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75488">
                <a:tc>
                  <a:txBody>
                    <a:bodyPr wrap="square"/>
                    <a:lstStyle/>
                    <a:p>
                      <a:r>
                        <a:rPr sz="1000" b="1">
                          <a:solidFill>
                            <a:srgbClr val="1A1A1A"/>
                          </a:solidFill>
                          <a:latin typeface="Abadi"/>
                        </a:rPr>
                        <a:t>Cholangitis treatment</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Delphi: 10–14 days suspected, 14–21 confirmed</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75488">
                <a:tc>
                  <a:txBody>
                    <a:bodyPr wrap="square"/>
                    <a:lstStyle/>
                    <a:p>
                      <a:r>
                        <a:rPr sz="1000" b="1">
                          <a:solidFill>
                            <a:srgbClr val="1A1A1A"/>
                          </a:solidFill>
                          <a:latin typeface="Abadi"/>
                        </a:rPr>
                        <a:t>Ursodiol</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 statement found; near-universal use</a:t>
                      </a:r>
                    </a:p>
                  </a:txBody>
                  <a:tcPr marL="73152" marR="73152" marT="27432" marB="27432" anchor="ctr">
                    <a:solidFill>
                      <a:srgbClr val="FFFFFF"/>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75488">
                <a:tc>
                  <a:txBody>
                    <a:bodyPr wrap="square"/>
                    <a:lstStyle/>
                    <a:p>
                      <a:r>
                        <a:rPr sz="1000" b="1">
                          <a:solidFill>
                            <a:srgbClr val="1A1A1A"/>
                          </a:solidFill>
                          <a:latin typeface="Abadi"/>
                        </a:rPr>
                        <a:t>IBAT inhibitors</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Trials only</a:t>
                      </a:r>
                    </a:p>
                  </a:txBody>
                  <a:tcPr marL="73152" marR="73152" marT="27432" marB="27432" anchor="ctr">
                    <a:solidFill>
                      <a:srgbClr val="F2F4F7"/>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bl>
          </a:graphicData>
        </a:graphic>
      </p:graphicFrame>
      <p:sp>
        <p:nvSpPr>
          <p:cNvPr id="13" name="TextBox 12"/>
          <p:cNvSpPr txBox="1"/>
          <p:nvPr/>
        </p:nvSpPr>
        <p:spPr>
          <a:xfrm>
            <a:off x="548640" y="5257800"/>
            <a:ext cx="11082528" cy="548640"/>
          </a:xfrm>
          <a:prstGeom prst="rect">
            <a:avLst/>
          </a:prstGeom>
          <a:noFill/>
        </p:spPr>
        <p:txBody>
          <a:bodyPr wrap="square" lIns="45720" rIns="45720" tIns="27432" bIns="27432" anchor="t">
            <a:spAutoFit/>
          </a:bodyPr>
          <a:lstStyle/>
          <a:p>
            <a:r>
              <a:rPr sz="1200" b="1" i="0">
                <a:solidFill>
                  <a:srgbClr val="1B355E"/>
                </a:solidFill>
                <a:latin typeface="Abadi"/>
              </a:rPr>
              <a:t>Material gap.   </a:t>
            </a:r>
            <a:r>
              <a:rPr sz="1200" b="0" i="0">
                <a:solidFill>
                  <a:srgbClr val="1A1A1A"/>
                </a:solidFill>
                <a:latin typeface="Abadi"/>
              </a:rPr>
              <a:t>No major society guideline covers post-Kasai medical care; the most-used drugs are prescribed without any formal recommendation, and practice differs most for steroids.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HOW ADJUVANTS MISLEAD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Errors in reasoning around adjuvant therapy</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Bezerra 2014 · Alonso 2018 · Mack 2019 · Willot 2008 · Ipsen 2026 · Mirum 2023</a:t>
            </a:r>
          </a:p>
        </p:txBody>
      </p:sp>
      <p:sp>
        <p:nvSpPr>
          <p:cNvPr id="12" name="Rectangle 11"/>
          <p:cNvSpPr/>
          <p:nvPr/>
        </p:nvSpPr>
        <p:spPr>
          <a:xfrm>
            <a:off x="548640"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1300" b="1" i="0">
                <a:solidFill>
                  <a:srgbClr val="B22222"/>
                </a:solidFill>
                <a:latin typeface="Abadi"/>
              </a:rPr>
              <a:t>"Steroids rescue a late Kasai"</a:t>
            </a:r>
          </a:p>
        </p:txBody>
      </p:sp>
      <p:sp>
        <p:nvSpPr>
          <p:cNvPr id="15" name="TextBox 14"/>
          <p:cNvSpPr txBox="1"/>
          <p:nvPr/>
        </p:nvSpPr>
        <p:spPr>
          <a:xfrm>
            <a:off x="694944"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Any signal is in early surgery</a:t>
            </a:r>
          </a:p>
          <a:p>
            <a:pPr>
              <a:spcAft>
                <a:spcPts val="400"/>
              </a:spcAft>
            </a:pPr>
            <a:r>
              <a:rPr sz="1050" b="0" i="0">
                <a:solidFill>
                  <a:srgbClr val="1A1A1A"/>
                </a:solidFill>
                <a:latin typeface="Abadi"/>
              </a:rPr>
              <a:t>▪  Late, cirrhotic infants: harm only</a:t>
            </a:r>
          </a:p>
        </p:txBody>
      </p:sp>
      <p:sp>
        <p:nvSpPr>
          <p:cNvPr id="16" name="Rectangle 15"/>
          <p:cNvSpPr/>
          <p:nvPr/>
        </p:nvSpPr>
        <p:spPr>
          <a:xfrm>
            <a:off x="2801721"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1300" b="1" i="0">
                <a:solidFill>
                  <a:srgbClr val="B22222"/>
                </a:solidFill>
                <a:latin typeface="Abadi"/>
              </a:rPr>
              <a:t>"Start on day 1"</a:t>
            </a:r>
          </a:p>
        </p:txBody>
      </p:sp>
      <p:sp>
        <p:nvSpPr>
          <p:cNvPr id="19" name="TextBox 18"/>
          <p:cNvSpPr txBox="1"/>
          <p:nvPr/>
        </p:nvSpPr>
        <p:spPr>
          <a:xfrm>
            <a:off x="2948025"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Early SAEs doubled</a:t>
            </a:r>
          </a:p>
          <a:p>
            <a:pPr>
              <a:spcAft>
                <a:spcPts val="400"/>
              </a:spcAft>
            </a:pPr>
            <a:r>
              <a:rPr sz="1050" b="0" i="0">
                <a:solidFill>
                  <a:srgbClr val="1A1A1A"/>
                </a:solidFill>
                <a:latin typeface="Abadi"/>
              </a:rPr>
              <a:t>▪  Anastomotic problems, perforation</a:t>
            </a:r>
          </a:p>
        </p:txBody>
      </p:sp>
      <p:sp>
        <p:nvSpPr>
          <p:cNvPr id="20" name="Rectangle 19"/>
          <p:cNvSpPr/>
          <p:nvPr/>
        </p:nvSpPr>
        <p:spPr>
          <a:xfrm>
            <a:off x="5054803"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1300" b="1" i="0">
                <a:solidFill>
                  <a:srgbClr val="D97A0B"/>
                </a:solidFill>
                <a:latin typeface="Abadi"/>
              </a:rPr>
              <a:t>"She cleared because of steroids"</a:t>
            </a:r>
          </a:p>
        </p:txBody>
      </p:sp>
      <p:sp>
        <p:nvSpPr>
          <p:cNvPr id="23" name="TextBox 22"/>
          <p:cNvSpPr txBox="1"/>
          <p:nvPr/>
        </p:nvSpPr>
        <p:spPr>
          <a:xfrm>
            <a:off x="5201107"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Half clear without them</a:t>
            </a:r>
          </a:p>
          <a:p>
            <a:pPr>
              <a:spcAft>
                <a:spcPts val="400"/>
              </a:spcAft>
            </a:pPr>
            <a:r>
              <a:rPr sz="1050" b="0" i="0">
                <a:solidFill>
                  <a:srgbClr val="1A1A1A"/>
                </a:solidFill>
                <a:latin typeface="Abadi"/>
              </a:rPr>
              <a:t>▪  Individual attribution impossible</a:t>
            </a:r>
          </a:p>
        </p:txBody>
      </p:sp>
      <p:sp>
        <p:nvSpPr>
          <p:cNvPr id="24" name="Rectangle 23"/>
          <p:cNvSpPr/>
          <p:nvPr/>
        </p:nvSpPr>
        <p:spPr>
          <a:xfrm>
            <a:off x="7307884"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1300" b="1" i="0">
                <a:solidFill>
                  <a:srgbClr val="D97A0B"/>
                </a:solidFill>
                <a:latin typeface="Abadi"/>
              </a:rPr>
              <a:t>"Prophylaxis means no cultures"</a:t>
            </a:r>
          </a:p>
        </p:txBody>
      </p:sp>
      <p:sp>
        <p:nvSpPr>
          <p:cNvPr id="27" name="TextBox 26"/>
          <p:cNvSpPr txBox="1"/>
          <p:nvPr/>
        </p:nvSpPr>
        <p:spPr>
          <a:xfrm>
            <a:off x="7454188"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Fever after Kasai = cholangitis until proven otherwise</a:t>
            </a:r>
          </a:p>
          <a:p>
            <a:pPr>
              <a:spcAft>
                <a:spcPts val="400"/>
              </a:spcAft>
            </a:pPr>
            <a:r>
              <a:rPr sz="1050" b="0" i="0">
                <a:solidFill>
                  <a:srgbClr val="1A1A1A"/>
                </a:solidFill>
                <a:latin typeface="Abadi"/>
              </a:rPr>
              <a:t>▪  Blood cultures, IV therapy</a:t>
            </a:r>
          </a:p>
        </p:txBody>
      </p:sp>
      <p:sp>
        <p:nvSpPr>
          <p:cNvPr id="28" name="Rectangle 27"/>
          <p:cNvSpPr/>
          <p:nvPr/>
        </p:nvSpPr>
        <p:spPr>
          <a:xfrm>
            <a:off x="9560966"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1300" b="1" i="0">
                <a:solidFill>
                  <a:srgbClr val="8A939B"/>
                </a:solidFill>
                <a:latin typeface="Abadi"/>
              </a:rPr>
              <a:t>"Add an IBAT inhibitor"</a:t>
            </a:r>
          </a:p>
        </p:txBody>
      </p:sp>
      <p:sp>
        <p:nvSpPr>
          <p:cNvPr id="31" name="TextBox 30"/>
          <p:cNvSpPr txBox="1"/>
          <p:nvPr/>
        </p:nvSpPr>
        <p:spPr>
          <a:xfrm>
            <a:off x="9707270"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Two negative trials in atresia</a:t>
            </a:r>
          </a:p>
          <a:p>
            <a:pPr>
              <a:spcAft>
                <a:spcPts val="400"/>
              </a:spcAft>
            </a:pPr>
            <a:r>
              <a:rPr sz="1050" b="0" i="0">
                <a:solidFill>
                  <a:srgbClr val="1A1A1A"/>
                </a:solidFill>
                <a:latin typeface="Abadi"/>
              </a:rPr>
              <a:t>▪  Drug for draining ducts</a:t>
            </a:r>
          </a:p>
        </p:txBody>
      </p:sp>
      <p:sp>
        <p:nvSpPr>
          <p:cNvPr id="32" name="TextBox 31"/>
          <p:cNvSpPr txBox="1"/>
          <p:nvPr/>
        </p:nvSpPr>
        <p:spPr>
          <a:xfrm>
            <a:off x="548640" y="4297680"/>
            <a:ext cx="11082528" cy="1508760"/>
          </a:xfrm>
          <a:prstGeom prst="rect">
            <a:avLst/>
          </a:prstGeom>
          <a:noFill/>
        </p:spPr>
        <p:txBody>
          <a:bodyPr wrap="square" lIns="45720" rIns="45720" tIns="27432" bIns="27432" anchor="t">
            <a:spAutoFit/>
          </a:bodyPr>
          <a:lstStyle/>
          <a:p>
            <a:r>
              <a:rPr sz="1250" b="1" i="0">
                <a:solidFill>
                  <a:srgbClr val="1B355E"/>
                </a:solidFill>
                <a:latin typeface="Abadi"/>
              </a:rPr>
              <a:t>And one more.   </a:t>
            </a:r>
            <a:r>
              <a:rPr sz="1250" b="0" i="0">
                <a:solidFill>
                  <a:srgbClr val="1A1A1A"/>
                </a:solidFill>
                <a:latin typeface="Abadi"/>
              </a:rPr>
              <a:t>Treating rising bilirubin at two to three months with more drugs instead of referral: failure to clear by three months predicts transplant, and no adjuvant changes that trajectory. The right adjuvant for a failing Kasai is a transplant assessment.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The numbers worth carrying onto the ward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Bezerra 2014 · Alonso 2018 · Davenport 2007, 2013 · Tyraskis 2016, 2018 · Yang 2022 · Lu 2023 · Mack 2019 · Bu 2003 · Calinescu-Tuleasca 2022 · Willot 2008 · Ipsen 2026</a:t>
            </a:r>
          </a:p>
        </p:txBody>
      </p:sp>
      <p:sp>
        <p:nvSpPr>
          <p:cNvPr id="12" name="TextBox 11"/>
          <p:cNvSpPr txBox="1"/>
          <p:nvPr/>
        </p:nvSpPr>
        <p:spPr>
          <a:xfrm>
            <a:off x="548640" y="1810512"/>
            <a:ext cx="11082528" cy="3931920"/>
          </a:xfrm>
          <a:prstGeom prst="rect">
            <a:avLst/>
          </a:prstGeom>
          <a:noFill/>
        </p:spPr>
        <p:txBody>
          <a:bodyPr wrap="square" lIns="45720" rIns="45720" tIns="27432" bIns="27432" anchor="t">
            <a:spAutoFit/>
          </a:bodyPr>
          <a:lstStyle/>
          <a:p>
            <a:pPr>
              <a:spcAft>
                <a:spcPts val="500"/>
              </a:spcAft>
            </a:pPr>
            <a:r>
              <a:rPr sz="1400" b="0" i="0">
                <a:solidFill>
                  <a:srgbClr val="1A1A1A"/>
                </a:solidFill>
                <a:latin typeface="Abadi"/>
              </a:rPr>
              <a:t>▪  START: clearance 58.6% vs 48.6% (P = .43); native liver at 2 years 58.7% vs 59.4%.</a:t>
            </a:r>
          </a:p>
          <a:p>
            <a:pPr>
              <a:spcAft>
                <a:spcPts val="500"/>
              </a:spcAft>
            </a:pPr>
            <a:r>
              <a:rPr sz="1400" b="0" i="0">
                <a:solidFill>
                  <a:srgbClr val="1A1A1A"/>
                </a:solidFill>
                <a:latin typeface="Abadi"/>
              </a:rPr>
              <a:t>▪  Steroids double serious adverse events in the first 30 days (37% vs 19%).</a:t>
            </a:r>
          </a:p>
          <a:p>
            <a:pPr>
              <a:spcAft>
                <a:spcPts val="500"/>
              </a:spcAft>
            </a:pPr>
            <a:r>
              <a:rPr sz="1400" b="0" i="0">
                <a:solidFill>
                  <a:srgbClr val="1A1A1A"/>
                </a:solidFill>
                <a:latin typeface="Abadi"/>
              </a:rPr>
              <a:t>▪  Steroids slow length and head growth for 3 months and weight for a year.</a:t>
            </a:r>
          </a:p>
          <a:p>
            <a:pPr>
              <a:spcAft>
                <a:spcPts val="500"/>
              </a:spcAft>
            </a:pPr>
            <a:r>
              <a:rPr sz="1400" b="0" i="0">
                <a:solidFill>
                  <a:srgbClr val="1A1A1A"/>
                </a:solidFill>
                <a:latin typeface="Abadi"/>
              </a:rPr>
              <a:t>▪  Any steroid benefit is confined to infants operated before about 70 days.</a:t>
            </a:r>
          </a:p>
          <a:p>
            <a:pPr>
              <a:spcAft>
                <a:spcPts val="500"/>
              </a:spcAft>
            </a:pPr>
            <a:r>
              <a:rPr sz="1400" b="0" i="0">
                <a:solidFill>
                  <a:srgbClr val="1A1A1A"/>
                </a:solidFill>
                <a:latin typeface="Abadi"/>
              </a:rPr>
              <a:t>▪  Cochrane: low-certainty evidence, no effect on death or transplant (RR 1.00).</a:t>
            </a:r>
          </a:p>
          <a:p>
            <a:pPr>
              <a:spcAft>
                <a:spcPts val="500"/>
              </a:spcAft>
            </a:pPr>
            <a:r>
              <a:rPr sz="1400" b="0" i="0">
                <a:solidFill>
                  <a:srgbClr val="1A1A1A"/>
                </a:solidFill>
                <a:latin typeface="Abadi"/>
              </a:rPr>
              <a:t>▪  The positive Shanghai RCT was open-label with a weak control arm.</a:t>
            </a:r>
          </a:p>
          <a:p>
            <a:pPr>
              <a:spcAft>
                <a:spcPts val="500"/>
              </a:spcAft>
            </a:pPr>
            <a:r>
              <a:rPr sz="1400" b="0" i="0">
                <a:solidFill>
                  <a:srgbClr val="1A1A1A"/>
                </a:solidFill>
                <a:latin typeface="Abadi"/>
              </a:rPr>
              <a:t>▪  IVIG (PRIME): native liver at 1 year 58.6% vs 70.5% historical controls; abandoned.</a:t>
            </a:r>
          </a:p>
          <a:p>
            <a:pPr>
              <a:spcAft>
                <a:spcPts val="500"/>
              </a:spcAft>
            </a:pPr>
            <a:r>
              <a:rPr sz="1400" b="0" i="0">
                <a:solidFill>
                  <a:srgbClr val="1A1A1A"/>
                </a:solidFill>
                <a:latin typeface="Abadi"/>
              </a:rPr>
              <a:t>▪  Odevixibat (BOLD, 2026) and maralixibat (EMBARK, 2023) both failed after the Kasai.</a:t>
            </a:r>
          </a:p>
          <a:p>
            <a:pPr>
              <a:spcAft>
                <a:spcPts val="500"/>
              </a:spcAft>
            </a:pPr>
            <a:r>
              <a:rPr sz="1400" b="0" i="0">
                <a:solidFill>
                  <a:srgbClr val="1A1A1A"/>
                </a:solidFill>
                <a:latin typeface="Abadi"/>
              </a:rPr>
              <a:t>▪  Prophylaxis for 6–12 months is consensus; cholangitis treatment 10–14 or 14–21 days.</a:t>
            </a:r>
          </a:p>
          <a:p>
            <a:pPr>
              <a:spcAft>
                <a:spcPts val="500"/>
              </a:spcAft>
            </a:pPr>
            <a:r>
              <a:rPr sz="1400" b="0" i="0">
                <a:solidFill>
                  <a:srgbClr val="1A1A1A"/>
                </a:solidFill>
                <a:latin typeface="Abadi"/>
              </a:rPr>
              <a:t>▪  Ursodiol withdrawal doubles ALT and GGT in drained children; no outcome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Applying the adjuvant evidence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83080"/>
          <a:ext cx="11082527" cy="3803904"/>
        </p:xfrm>
        <a:graphic>
          <a:graphicData uri="http://schemas.openxmlformats.org/drawingml/2006/table">
            <a:tbl>
              <a:tblPr firstRow="0" bandRow="0">
                <a:tableStyleId>{5C22544A-7EE6-4342-B048-85BDC9FD1C3A}</a:tableStyleId>
              </a:tblPr>
              <a:tblGrid>
                <a:gridCol w="3840480"/>
                <a:gridCol w="3566160"/>
                <a:gridCol w="3675887"/>
              </a:tblGrid>
              <a:tr h="475488">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Decision</a:t>
                      </a:r>
                    </a:p>
                  </a:txBody>
                  <a:tcPr marL="73152" marR="73152" marT="27432" marB="27432" anchor="ctr">
                    <a:solidFill>
                      <a:srgbClr val="1B355E"/>
                    </a:solidFill>
                  </a:tcPr>
                </a:tc>
                <a:tc>
                  <a:txBody>
                    <a:bodyPr wrap="square"/>
                    <a:lstStyle/>
                    <a:p>
                      <a:r>
                        <a:rPr sz="1050" b="1">
                          <a:solidFill>
                            <a:srgbClr val="FFFFFF"/>
                          </a:solidFill>
                          <a:latin typeface="Abadi"/>
                        </a:rPr>
                        <a:t>Why</a:t>
                      </a:r>
                    </a:p>
                  </a:txBody>
                  <a:tcPr marL="73152" marR="73152" marT="27432" marB="27432" anchor="ctr">
                    <a:solidFill>
                      <a:srgbClr val="1B355E"/>
                    </a:solidFill>
                  </a:tcPr>
                </a:tc>
              </a:tr>
              <a:tr h="475488">
                <a:tc>
                  <a:txBody>
                    <a:bodyPr wrap="square"/>
                    <a:lstStyle/>
                    <a:p>
                      <a:r>
                        <a:rPr sz="1000" b="1">
                          <a:solidFill>
                            <a:srgbClr val="1A1A1A"/>
                          </a:solidFill>
                          <a:latin typeface="Abadi"/>
                        </a:rPr>
                        <a:t>38-day-old, isolated atresia, good bile flow at day 5</a:t>
                      </a:r>
                    </a:p>
                  </a:txBody>
                  <a:tcPr marL="73152" marR="73152" marT="27432" marB="27432" anchor="ctr">
                    <a:solidFill>
                      <a:srgbClr val="FFFFFF"/>
                    </a:solidFill>
                  </a:tcPr>
                </a:tc>
                <a:tc>
                  <a:txBody>
                    <a:bodyPr wrap="square"/>
                    <a:lstStyle/>
                    <a:p>
                      <a:r>
                        <a:rPr sz="1000" b="0">
                          <a:solidFill>
                            <a:srgbClr val="1A1A1A"/>
                          </a:solidFill>
                          <a:latin typeface="Abadi"/>
                        </a:rPr>
                        <a:t>Steroids reasonable after discussion</a:t>
                      </a:r>
                    </a:p>
                  </a:txBody>
                  <a:tcPr marL="73152" marR="73152" marT="27432" marB="27432" anchor="ctr">
                    <a:solidFill>
                      <a:srgbClr val="FFFFFF"/>
                    </a:solidFill>
                  </a:tcPr>
                </a:tc>
                <a:tc>
                  <a:txBody>
                    <a:bodyPr wrap="square"/>
                    <a:lstStyle/>
                    <a:p>
                      <a:r>
                        <a:rPr sz="1000" b="0">
                          <a:solidFill>
                            <a:srgbClr val="1A1A1A"/>
                          </a:solidFill>
                          <a:latin typeface="Abadi"/>
                        </a:rPr>
                        <a:t>Best-case group in subgroup data</a:t>
                      </a:r>
                    </a:p>
                  </a:txBody>
                  <a:tcPr marL="73152" marR="73152" marT="27432" marB="27432" anchor="ctr">
                    <a:solidFill>
                      <a:srgbClr val="FFFFFF"/>
                    </a:solidFill>
                  </a:tcPr>
                </a:tc>
              </a:tr>
              <a:tr h="475488">
                <a:tc>
                  <a:txBody>
                    <a:bodyPr wrap="square"/>
                    <a:lstStyle/>
                    <a:p>
                      <a:r>
                        <a:rPr sz="1000" b="1">
                          <a:solidFill>
                            <a:srgbClr val="1A1A1A"/>
                          </a:solidFill>
                          <a:latin typeface="Abadi"/>
                        </a:rPr>
                        <a:t>95-day-old, splenic malformation, firm liver</a:t>
                      </a:r>
                    </a:p>
                  </a:txBody>
                  <a:tcPr marL="73152" marR="73152" marT="27432" marB="27432" anchor="ctr">
                    <a:solidFill>
                      <a:srgbClr val="F2F4F7"/>
                    </a:solidFill>
                  </a:tcPr>
                </a:tc>
                <a:tc>
                  <a:txBody>
                    <a:bodyPr wrap="square"/>
                    <a:lstStyle/>
                    <a:p>
                      <a:r>
                        <a:rPr sz="1000" b="0">
                          <a:solidFill>
                            <a:srgbClr val="1A1A1A"/>
                          </a:solidFill>
                          <a:latin typeface="Abadi"/>
                        </a:rPr>
                        <a:t>No steroids; early transplant planning</a:t>
                      </a:r>
                    </a:p>
                  </a:txBody>
                  <a:tcPr marL="73152" marR="73152" marT="27432" marB="27432" anchor="ctr">
                    <a:solidFill>
                      <a:srgbClr val="F2F4F7"/>
                    </a:solidFill>
                  </a:tcPr>
                </a:tc>
                <a:tc>
                  <a:txBody>
                    <a:bodyPr wrap="square"/>
                    <a:lstStyle/>
                    <a:p>
                      <a:r>
                        <a:rPr sz="1000" b="0">
                          <a:solidFill>
                            <a:srgbClr val="1A1A1A"/>
                          </a:solidFill>
                          <a:latin typeface="Abadi"/>
                        </a:rPr>
                        <a:t>No benefit late; harm persists</a:t>
                      </a:r>
                    </a:p>
                  </a:txBody>
                  <a:tcPr marL="73152" marR="73152" marT="27432" marB="27432" anchor="ctr">
                    <a:solidFill>
                      <a:srgbClr val="F2F4F7"/>
                    </a:solidFill>
                  </a:tcPr>
                </a:tc>
              </a:tr>
              <a:tr h="475488">
                <a:tc>
                  <a:txBody>
                    <a:bodyPr wrap="square"/>
                    <a:lstStyle/>
                    <a:p>
                      <a:r>
                        <a:rPr sz="1000" b="1">
                          <a:solidFill>
                            <a:srgbClr val="1A1A1A"/>
                          </a:solidFill>
                          <a:latin typeface="Abadi"/>
                        </a:rPr>
                        <a:t>Day 2 after Kasai, ileus, drain bile-stained</a:t>
                      </a:r>
                    </a:p>
                  </a:txBody>
                  <a:tcPr marL="73152" marR="73152" marT="27432" marB="27432" anchor="ctr">
                    <a:solidFill>
                      <a:srgbClr val="FFFFFF"/>
                    </a:solidFill>
                  </a:tcPr>
                </a:tc>
                <a:tc>
                  <a:txBody>
                    <a:bodyPr wrap="square"/>
                    <a:lstStyle/>
                    <a:p>
                      <a:r>
                        <a:rPr sz="1000" b="0">
                          <a:solidFill>
                            <a:srgbClr val="1A1A1A"/>
                          </a:solidFill>
                          <a:latin typeface="Abadi"/>
                        </a:rPr>
                        <a:t>Hold steroids</a:t>
                      </a:r>
                    </a:p>
                  </a:txBody>
                  <a:tcPr marL="73152" marR="73152" marT="27432" marB="27432" anchor="ctr">
                    <a:solidFill>
                      <a:srgbClr val="FFFFFF"/>
                    </a:solidFill>
                  </a:tcPr>
                </a:tc>
                <a:tc>
                  <a:txBody>
                    <a:bodyPr wrap="square"/>
                    <a:lstStyle/>
                    <a:p>
                      <a:r>
                        <a:rPr sz="1000" b="0">
                          <a:solidFill>
                            <a:srgbClr val="1A1A1A"/>
                          </a:solidFill>
                          <a:latin typeface="Abadi"/>
                        </a:rPr>
                        <a:t>Surgical SAEs 6 vs 1 in START</a:t>
                      </a:r>
                    </a:p>
                  </a:txBody>
                  <a:tcPr marL="73152" marR="73152" marT="27432" marB="27432" anchor="ctr">
                    <a:solidFill>
                      <a:srgbClr val="FFFFFF"/>
                    </a:solidFill>
                  </a:tcPr>
                </a:tc>
              </a:tr>
              <a:tr h="475488">
                <a:tc>
                  <a:txBody>
                    <a:bodyPr wrap="square"/>
                    <a:lstStyle/>
                    <a:p>
                      <a:r>
                        <a:rPr sz="1000" b="1">
                          <a:solidFill>
                            <a:srgbClr val="1A1A1A"/>
                          </a:solidFill>
                          <a:latin typeface="Abadi"/>
                        </a:rPr>
                        <a:t>Parents ask about IVIG</a:t>
                      </a:r>
                    </a:p>
                  </a:txBody>
                  <a:tcPr marL="73152" marR="73152" marT="27432" marB="27432" anchor="ctr">
                    <a:solidFill>
                      <a:srgbClr val="F2F4F7"/>
                    </a:solidFill>
                  </a:tcPr>
                </a:tc>
                <a:tc>
                  <a:txBody>
                    <a:bodyPr wrap="square"/>
                    <a:lstStyle/>
                    <a:p>
                      <a:r>
                        <a:rPr sz="1000" b="0">
                          <a:solidFill>
                            <a:srgbClr val="1A1A1A"/>
                          </a:solidFill>
                          <a:latin typeface="Abadi"/>
                        </a:rPr>
                        <a:t>Not outside a trial</a:t>
                      </a:r>
                    </a:p>
                  </a:txBody>
                  <a:tcPr marL="73152" marR="73152" marT="27432" marB="27432" anchor="ctr">
                    <a:solidFill>
                      <a:srgbClr val="F2F4F7"/>
                    </a:solidFill>
                  </a:tcPr>
                </a:tc>
                <a:tc>
                  <a:txBody>
                    <a:bodyPr wrap="square"/>
                    <a:lstStyle/>
                    <a:p>
                      <a:r>
                        <a:rPr sz="1000" b="0">
                          <a:solidFill>
                            <a:srgbClr val="1A1A1A"/>
                          </a:solidFill>
                          <a:latin typeface="Abadi"/>
                        </a:rPr>
                        <a:t>PRIME: no trend to benefit</a:t>
                      </a:r>
                    </a:p>
                  </a:txBody>
                  <a:tcPr marL="73152" marR="73152" marT="27432" marB="27432" anchor="ctr">
                    <a:solidFill>
                      <a:srgbClr val="F2F4F7"/>
                    </a:solidFill>
                  </a:tcPr>
                </a:tc>
              </a:tr>
              <a:tr h="475488">
                <a:tc>
                  <a:txBody>
                    <a:bodyPr wrap="square"/>
                    <a:lstStyle/>
                    <a:p>
                      <a:r>
                        <a:rPr sz="1000" b="1">
                          <a:solidFill>
                            <a:srgbClr val="1A1A1A"/>
                          </a:solidFill>
                          <a:latin typeface="Abadi"/>
                        </a:rPr>
                        <a:t>Fever at 6 weeks on TMP-SMX prophylaxis</a:t>
                      </a:r>
                    </a:p>
                  </a:txBody>
                  <a:tcPr marL="73152" marR="73152" marT="27432" marB="27432" anchor="ctr">
                    <a:solidFill>
                      <a:srgbClr val="FFFFFF"/>
                    </a:solidFill>
                  </a:tcPr>
                </a:tc>
                <a:tc>
                  <a:txBody>
                    <a:bodyPr wrap="square"/>
                    <a:lstStyle/>
                    <a:p>
                      <a:r>
                        <a:rPr sz="1000" b="0">
                          <a:solidFill>
                            <a:srgbClr val="1A1A1A"/>
                          </a:solidFill>
                          <a:latin typeface="Abadi"/>
                        </a:rPr>
                        <a:t>Cultures, IV antibiotics 10–14 days</a:t>
                      </a:r>
                    </a:p>
                  </a:txBody>
                  <a:tcPr marL="73152" marR="73152" marT="27432" marB="27432" anchor="ctr">
                    <a:solidFill>
                      <a:srgbClr val="FFFFFF"/>
                    </a:solidFill>
                  </a:tcPr>
                </a:tc>
                <a:tc>
                  <a:txBody>
                    <a:bodyPr wrap="square"/>
                    <a:lstStyle/>
                    <a:p>
                      <a:r>
                        <a:rPr sz="1000" b="0">
                          <a:solidFill>
                            <a:srgbClr val="1A1A1A"/>
                          </a:solidFill>
                          <a:latin typeface="Abadi"/>
                        </a:rPr>
                        <a:t>Prophylaxis does not exclude cholangitis</a:t>
                      </a:r>
                    </a:p>
                  </a:txBody>
                  <a:tcPr marL="73152" marR="73152" marT="27432" marB="27432" anchor="ctr">
                    <a:solidFill>
                      <a:srgbClr val="FFFFFF"/>
                    </a:solidFill>
                  </a:tcPr>
                </a:tc>
              </a:tr>
              <a:tr h="475488">
                <a:tc>
                  <a:txBody>
                    <a:bodyPr wrap="square"/>
                    <a:lstStyle/>
                    <a:p>
                      <a:r>
                        <a:rPr sz="1000" b="1">
                          <a:solidFill>
                            <a:srgbClr val="1A1A1A"/>
                          </a:solidFill>
                          <a:latin typeface="Abadi"/>
                        </a:rPr>
                        <a:t>Cleared child on ursodiol, family wants to stop</a:t>
                      </a:r>
                    </a:p>
                  </a:txBody>
                  <a:tcPr marL="73152" marR="73152" marT="27432" marB="27432" anchor="ctr">
                    <a:solidFill>
                      <a:srgbClr val="F2F4F7"/>
                    </a:solidFill>
                  </a:tcPr>
                </a:tc>
                <a:tc>
                  <a:txBody>
                    <a:bodyPr wrap="square"/>
                    <a:lstStyle/>
                    <a:p>
                      <a:r>
                        <a:rPr sz="1000" b="0">
                          <a:solidFill>
                            <a:srgbClr val="1A1A1A"/>
                          </a:solidFill>
                          <a:latin typeface="Abadi"/>
                        </a:rPr>
                        <a:t>Can stop with liver tests in 4–8 weeks</a:t>
                      </a:r>
                    </a:p>
                  </a:txBody>
                  <a:tcPr marL="73152" marR="73152" marT="27432" marB="27432" anchor="ctr">
                    <a:solidFill>
                      <a:srgbClr val="F2F4F7"/>
                    </a:solidFill>
                  </a:tcPr>
                </a:tc>
                <a:tc>
                  <a:txBody>
                    <a:bodyPr wrap="square"/>
                    <a:lstStyle/>
                    <a:p>
                      <a:r>
                        <a:rPr sz="1000" b="0">
                          <a:solidFill>
                            <a:srgbClr val="1A1A1A"/>
                          </a:solidFill>
                          <a:latin typeface="Abadi"/>
                        </a:rPr>
                        <a:t>ALT and GGT rise in most; restart if so</a:t>
                      </a:r>
                    </a:p>
                  </a:txBody>
                  <a:tcPr marL="73152" marR="73152" marT="27432" marB="27432" anchor="ctr">
                    <a:solidFill>
                      <a:srgbClr val="F2F4F7"/>
                    </a:solidFill>
                  </a:tcPr>
                </a:tc>
              </a:tr>
              <a:tr h="475488">
                <a:tc>
                  <a:txBody>
                    <a:bodyPr wrap="square"/>
                    <a:lstStyle/>
                    <a:p>
                      <a:r>
                        <a:rPr sz="1000" b="1">
                          <a:solidFill>
                            <a:srgbClr val="1A1A1A"/>
                          </a:solidFill>
                          <a:latin typeface="Abadi"/>
                        </a:rPr>
                        <a:t>Bilirubin 5 mg/dL at 3 months on all adjuvants</a:t>
                      </a:r>
                    </a:p>
                  </a:txBody>
                  <a:tcPr marL="73152" marR="73152" marT="27432" marB="27432" anchor="ctr">
                    <a:solidFill>
                      <a:srgbClr val="FFFFFF"/>
                    </a:solidFill>
                  </a:tcPr>
                </a:tc>
                <a:tc>
                  <a:txBody>
                    <a:bodyPr wrap="square"/>
                    <a:lstStyle/>
                    <a:p>
                      <a:r>
                        <a:rPr sz="1000" b="0">
                          <a:solidFill>
                            <a:srgbClr val="1A1A1A"/>
                          </a:solidFill>
                          <a:latin typeface="Abadi"/>
                        </a:rPr>
                        <a:t>Transplant assessment now</a:t>
                      </a:r>
                    </a:p>
                  </a:txBody>
                  <a:tcPr marL="73152" marR="73152" marT="27432" marB="27432" anchor="ctr">
                    <a:solidFill>
                      <a:srgbClr val="FFFFFF"/>
                    </a:solidFill>
                  </a:tcPr>
                </a:tc>
                <a:tc>
                  <a:txBody>
                    <a:bodyPr wrap="square"/>
                    <a:lstStyle/>
                    <a:p>
                      <a:r>
                        <a:rPr sz="1000" b="0">
                          <a:solidFill>
                            <a:srgbClr val="1A1A1A"/>
                          </a:solidFill>
                          <a:latin typeface="Abadi"/>
                        </a:rPr>
                        <a:t>Failed drainage is not a drug problem</a:t>
                      </a:r>
                    </a:p>
                  </a:txBody>
                  <a:tcPr marL="73152" marR="73152"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45720" rIns="45720" tIns="27432" bIns="27432" anchor="b">
            <a:spAutoFit/>
          </a:bodyPr>
          <a:lstStyle/>
          <a:p>
            <a:pPr algn="ctr"/>
            <a:r>
              <a:rPr sz="4000" b="1" i="0">
                <a:solidFill>
                  <a:srgbClr val="FFFFFF"/>
                </a:solidFill>
                <a:latin typeface="Abadi"/>
              </a:rPr>
              <a:t>Biliary Atresia VI: Adjuvant Therapy after the Kasai — Steroids, IVIG, Antibiotics and Ursodeoxycholic Acid</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