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36576" rIns="36576" tIns="36576" bIns="36576" anchor="b">
            <a:spAutoFit/>
          </a:bodyPr>
          <a:lstStyle/>
          <a:p>
            <a:pPr algn="ctr"/>
            <a:r>
              <a:rPr sz="4000" b="1" i="0">
                <a:solidFill>
                  <a:srgbClr val="FFFFFF"/>
                </a:solidFill>
                <a:latin typeface="Abadi"/>
              </a:rPr>
              <a:t>Biliary Atresia VIII: Prognosis after the Kasai — Clearance of Jaundice and Long-Term Native-Liver Survival</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36576" rIns="36576" tIns="36576" bIns="36576"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36576" rIns="36576" tIns="36576" bIns="36576" anchor="t">
            <a:spAutoFit/>
          </a:bodyPr>
          <a:lstStyle/>
          <a:p>
            <a:pPr algn="ctr"/>
            <a:r>
              <a:rPr sz="1100" b="0" i="0">
                <a:solidFill>
                  <a:srgbClr val="D5DDE8"/>
                </a:solidFill>
                <a:latin typeface="Abadi"/>
              </a:rPr>
              <a:t>McKiernan 2000 · Lykavieris 2005 · Schreiber 2007 · Serinet 2009 · Lien 2011 · de Vries 2012 · Kumagi 2012 · Bijl 2013 · Hahn 2013 · Bezerra 2014 (START) · Ng 2014 · Squires 2014 (AASLD) · Shneider 2016 · Nightingale 2017 · Nio 2017 · Sundaram 2017 · Fawaz 2017 · Pakarinen 2018 · Fanna 2019 · Jain 2019 · Ando 2021 (JBAS) · Okubo 2025 · Anderson 2025 · Liu 2026</a:t>
            </a:r>
          </a:p>
        </p:txBody>
      </p:sp>
      <p:sp>
        <p:nvSpPr>
          <p:cNvPr id="7" name="TextBox 6"/>
          <p:cNvSpPr txBox="1"/>
          <p:nvPr/>
        </p:nvSpPr>
        <p:spPr>
          <a:xfrm>
            <a:off x="548640" y="5193792"/>
            <a:ext cx="11082528" cy="548640"/>
          </a:xfrm>
          <a:prstGeom prst="rect">
            <a:avLst/>
          </a:prstGeom>
          <a:noFill/>
        </p:spPr>
        <p:txBody>
          <a:bodyPr wrap="square" lIns="36576" rIns="36576" tIns="36576" bIns="36576" anchor="t">
            <a:spAutoFit/>
          </a:bodyPr>
          <a:lstStyle/>
          <a:p>
            <a:pPr algn="ctr"/>
            <a:r>
              <a:rPr sz="1100" b="0" i="1">
                <a:solidFill>
                  <a:srgbClr val="D5DDE8"/>
                </a:solidFill>
                <a:latin typeface="Abadi"/>
              </a:rPr>
              <a:t>bilirubin under 2 mg/dL by three months is the best early signal · about half keep their liver to five years, a quarter to twenty · a native liver is rarely a normal liver · portal hypertension stratifies the long run · follow-up is for life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YELLOW STOOLS AT THREE MONTHS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Twelve weeks after a Kasai, bilirubin is 1.6 mg/dL. The parents ask: will she keep her own liver, and for how long?</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Shneider BL, et al. J Pediatr 2016;170:211–7 · Fanna M, et al. JPGN 2019;69:416–24 · Ng VL, et al. J Pediatr 2014;165:539–46 · Squires RH, et al. Hepatology 2014;60:362–98</a:t>
            </a:r>
          </a:p>
        </p:txBody>
      </p:sp>
      <p:sp>
        <p:nvSpPr>
          <p:cNvPr id="12" name="Rectangle 11"/>
          <p:cNvSpPr/>
          <p:nvPr/>
        </p:nvSpPr>
        <p:spPr>
          <a:xfrm>
            <a:off x="548640"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Early signal</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TB &lt; 2 mg/dL by 3 months</a:t>
            </a:r>
          </a:p>
          <a:p>
            <a:pPr algn="l">
              <a:spcAft>
                <a:spcPts val="400"/>
              </a:spcAft>
            </a:pPr>
            <a:r>
              <a:rPr sz="1100" b="0" i="0">
                <a:solidFill>
                  <a:srgbClr val="1A1A1A"/>
                </a:solidFill>
                <a:latin typeface="Abadi"/>
              </a:rPr>
              <a:t>▪  2-yr transplant-free survival 86% vs 20%</a:t>
            </a:r>
          </a:p>
          <a:p>
            <a:pPr algn="l">
              <a:spcAft>
                <a:spcPts val="400"/>
              </a:spcAft>
            </a:pPr>
            <a:r>
              <a:rPr sz="1100" b="0" i="0">
                <a:solidFill>
                  <a:srgbClr val="1A1A1A"/>
                </a:solidFill>
                <a:latin typeface="Abadi"/>
              </a:rPr>
              <a:t>▪  Half of infants reach it</a:t>
            </a:r>
          </a:p>
        </p:txBody>
      </p:sp>
      <p:sp>
        <p:nvSpPr>
          <p:cNvPr id="16" name="Rectangle 15"/>
          <p:cNvSpPr/>
          <p:nvPr/>
        </p:nvSpPr>
        <p:spPr>
          <a:xfrm>
            <a:off x="2801721"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Long run</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France: native liver 41% at 5 y</a:t>
            </a:r>
          </a:p>
          <a:p>
            <a:pPr algn="l">
              <a:spcAft>
                <a:spcPts val="400"/>
              </a:spcAft>
            </a:pPr>
            <a:r>
              <a:rPr sz="1100" b="0" i="0">
                <a:solidFill>
                  <a:srgbClr val="1A1A1A"/>
                </a:solidFill>
                <a:latin typeface="Abadi"/>
              </a:rPr>
              <a:t>▪  26% at 20 y, 22% at 30 y</a:t>
            </a:r>
          </a:p>
          <a:p>
            <a:pPr algn="l">
              <a:spcAft>
                <a:spcPts val="400"/>
              </a:spcAft>
            </a:pPr>
            <a:r>
              <a:rPr sz="1100" b="0" i="0">
                <a:solidFill>
                  <a:srgbClr val="1A1A1A"/>
                </a:solidFill>
                <a:latin typeface="Abadi"/>
              </a:rPr>
              <a:t>▪  Japan: 49% at 20 y</a:t>
            </a:r>
          </a:p>
        </p:txBody>
      </p:sp>
      <p:sp>
        <p:nvSpPr>
          <p:cNvPr id="20" name="Rectangle 19"/>
          <p:cNvSpPr/>
          <p:nvPr/>
        </p:nvSpPr>
        <p:spPr>
          <a:xfrm>
            <a:off x="5054803"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Not cured</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&gt;98% of 5-year survivors have chronic liver disease</a:t>
            </a:r>
          </a:p>
          <a:p>
            <a:pPr algn="l">
              <a:spcAft>
                <a:spcPts val="400"/>
              </a:spcAft>
            </a:pPr>
            <a:r>
              <a:rPr sz="1100" b="0" i="0">
                <a:solidFill>
                  <a:srgbClr val="1A1A1A"/>
                </a:solidFill>
                <a:latin typeface="Abadi"/>
              </a:rPr>
              <a:t>▪  Cholangitis ever 62%</a:t>
            </a:r>
          </a:p>
        </p:txBody>
      </p:sp>
      <p:sp>
        <p:nvSpPr>
          <p:cNvPr id="24" name="Rectangle 23"/>
          <p:cNvSpPr/>
          <p:nvPr/>
        </p:nvSpPr>
        <p:spPr>
          <a:xfrm>
            <a:off x="7307884"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Modifiers</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Age at Kasai</a:t>
            </a:r>
          </a:p>
          <a:p>
            <a:pPr algn="l">
              <a:spcAft>
                <a:spcPts val="400"/>
              </a:spcAft>
            </a:pPr>
            <a:r>
              <a:rPr sz="1100" b="0" i="0">
                <a:solidFill>
                  <a:srgbClr val="1A1A1A"/>
                </a:solidFill>
                <a:latin typeface="Abadi"/>
              </a:rPr>
              <a:t>▪  Portal hypertension</a:t>
            </a:r>
          </a:p>
          <a:p>
            <a:pPr algn="l">
              <a:spcAft>
                <a:spcPts val="400"/>
              </a:spcAft>
            </a:pPr>
            <a:r>
              <a:rPr sz="1100" b="0" i="0">
                <a:solidFill>
                  <a:srgbClr val="1A1A1A"/>
                </a:solidFill>
                <a:latin typeface="Abadi"/>
              </a:rPr>
              <a:t>▪  Recurrent cholangitis</a:t>
            </a:r>
          </a:p>
          <a:p>
            <a:pPr algn="l">
              <a:spcAft>
                <a:spcPts val="400"/>
              </a:spcAft>
            </a:pPr>
            <a:r>
              <a:rPr sz="1100" b="0" i="0">
                <a:solidFill>
                  <a:srgbClr val="1A1A1A"/>
                </a:solidFill>
                <a:latin typeface="Abadi"/>
              </a:rPr>
              <a:t>▪  Albumin, stiffness</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Guidance</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AASLD 2014: refer if TB &gt; 6 mg/dL after 3 months</a:t>
            </a:r>
          </a:p>
          <a:p>
            <a:pPr algn="l">
              <a:spcAft>
                <a:spcPts val="400"/>
              </a:spcAft>
            </a:pPr>
            <a:r>
              <a:rPr sz="1100" b="0" i="0">
                <a:solidFill>
                  <a:srgbClr val="1A1A1A"/>
                </a:solidFill>
                <a:latin typeface="Abadi"/>
              </a:rPr>
              <a:t>▪  Few society statements</a:t>
            </a:r>
          </a:p>
        </p:txBody>
      </p:sp>
      <p:sp>
        <p:nvSpPr>
          <p:cNvPr id="32" name="TextBox 31"/>
          <p:cNvSpPr txBox="1"/>
          <p:nvPr/>
        </p:nvSpPr>
        <p:spPr>
          <a:xfrm>
            <a:off x="548640" y="4114800"/>
            <a:ext cx="11082528" cy="1691640"/>
          </a:xfrm>
          <a:prstGeom prst="rect">
            <a:avLst/>
          </a:prstGeom>
          <a:noFill/>
        </p:spPr>
        <p:txBody>
          <a:bodyPr wrap="square" lIns="36576" rIns="36576" tIns="36576" bIns="36576" anchor="t">
            <a:spAutoFit/>
          </a:bodyPr>
          <a:lstStyle/>
          <a:p>
            <a:pPr algn="l"/>
            <a:r>
              <a:rPr sz="1250" b="1" i="0">
                <a:solidFill>
                  <a:srgbClr val="1B355E"/>
                </a:solidFill>
                <a:latin typeface="Abadi"/>
              </a:rPr>
              <a:t>The main idea.   </a:t>
            </a:r>
            <a:r>
              <a:rPr sz="1250" b="0" i="0">
                <a:solidFill>
                  <a:srgbClr val="1A1A1A"/>
                </a:solidFill>
                <a:latin typeface="Abadi"/>
              </a:rPr>
              <a:t>Bilirubin in the first three months after the Kasai is the most useful early prognostic signal: an infant whose total bilirubin falls below 2 mg/dL has roughly a four-in-five chance of being transplant-free at two years; an infant who does not has about one in five. But clearance is not cure. About half of all children keep their own liver to five years and only about a quarter to twenty, almost all native-liver survivors have chronic liver disease, and portal hypertension, recurrent cholangitis and nutrition decide the long run. Prognosis is therefore re-estimated at every visit, for life.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WHY DRAINAGE PREDICTS, AND WHY IT IS NOT ENOUGH</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Kasai bypasses the obliterated extrahepatic duct; the intrahepatic disease continues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Sundaram SS, et al. Liver Transpl 2017;23:96–109 · Shneider 2016 · Okubo R, Nio M, et al. Pediatr Surg Int 2025;41:324</a:t>
            </a:r>
          </a:p>
        </p:txBody>
      </p:sp>
      <p:sp>
        <p:nvSpPr>
          <p:cNvPr id="12" name="Rectangle 11"/>
          <p:cNvSpPr/>
          <p:nvPr/>
        </p:nvSpPr>
        <p:spPr>
          <a:xfrm>
            <a:off x="548640" y="1773936"/>
            <a:ext cx="2011680" cy="17830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Patent ductules</a:t>
            </a:r>
          </a:p>
        </p:txBody>
      </p:sp>
      <p:sp>
        <p:nvSpPr>
          <p:cNvPr id="15" name="TextBox 14"/>
          <p:cNvSpPr txBox="1"/>
          <p:nvPr/>
        </p:nvSpPr>
        <p:spPr>
          <a:xfrm>
            <a:off x="658368"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Bile flows only if the porta still contains ductules of sufficient size and number; age and fibrosis reduce them.</a:t>
            </a:r>
          </a:p>
        </p:txBody>
      </p:sp>
      <p:sp>
        <p:nvSpPr>
          <p:cNvPr id="16" name="TextBox 15"/>
          <p:cNvSpPr txBox="1"/>
          <p:nvPr/>
        </p:nvSpPr>
        <p:spPr>
          <a:xfrm>
            <a:off x="2560320"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7830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Clearance</a:t>
            </a:r>
          </a:p>
        </p:txBody>
      </p:sp>
      <p:sp>
        <p:nvSpPr>
          <p:cNvPr id="20" name="TextBox 19"/>
          <p:cNvSpPr txBox="1"/>
          <p:nvPr/>
        </p:nvSpPr>
        <p:spPr>
          <a:xfrm>
            <a:off x="2926080"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Bilirubin falls over weeks. The three-month value integrates ductular patency, early cholangitis and fibrosis.</a:t>
            </a:r>
          </a:p>
        </p:txBody>
      </p:sp>
      <p:sp>
        <p:nvSpPr>
          <p:cNvPr id="21" name="TextBox 20"/>
          <p:cNvSpPr txBox="1"/>
          <p:nvPr/>
        </p:nvSpPr>
        <p:spPr>
          <a:xfrm>
            <a:off x="4828032"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7830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Ongoing injury</a:t>
            </a:r>
          </a:p>
        </p:txBody>
      </p:sp>
      <p:sp>
        <p:nvSpPr>
          <p:cNvPr id="25" name="TextBox 24"/>
          <p:cNvSpPr txBox="1"/>
          <p:nvPr/>
        </p:nvSpPr>
        <p:spPr>
          <a:xfrm>
            <a:off x="5193792"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Intrahepatic cholangiopathy, cholangitis and stasis keep driving fibrosis, even in anicteric children.</a:t>
            </a:r>
          </a:p>
        </p:txBody>
      </p:sp>
      <p:sp>
        <p:nvSpPr>
          <p:cNvPr id="26" name="TextBox 25"/>
          <p:cNvSpPr txBox="1"/>
          <p:nvPr/>
        </p:nvSpPr>
        <p:spPr>
          <a:xfrm>
            <a:off x="7095744"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7830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Portal hypertension</a:t>
            </a:r>
          </a:p>
        </p:txBody>
      </p:sp>
      <p:sp>
        <p:nvSpPr>
          <p:cNvPr id="30" name="TextBox 29"/>
          <p:cNvSpPr txBox="1"/>
          <p:nvPr/>
        </p:nvSpPr>
        <p:spPr>
          <a:xfrm>
            <a:off x="7461504"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Fibrosis raises portal pressure: splenomegaly, low platelets, varices, ascites.</a:t>
            </a:r>
          </a:p>
        </p:txBody>
      </p:sp>
      <p:sp>
        <p:nvSpPr>
          <p:cNvPr id="31" name="TextBox 30"/>
          <p:cNvSpPr txBox="1"/>
          <p:nvPr/>
        </p:nvSpPr>
        <p:spPr>
          <a:xfrm>
            <a:off x="9363456" y="252831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78308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Native-liver loss</a:t>
            </a:r>
          </a:p>
        </p:txBody>
      </p:sp>
      <p:sp>
        <p:nvSpPr>
          <p:cNvPr id="35" name="TextBox 34"/>
          <p:cNvSpPr txBox="1"/>
          <p:nvPr/>
        </p:nvSpPr>
        <p:spPr>
          <a:xfrm>
            <a:off x="9729216" y="2231136"/>
            <a:ext cx="1792224" cy="1252728"/>
          </a:xfrm>
          <a:prstGeom prst="rect">
            <a:avLst/>
          </a:prstGeom>
          <a:noFill/>
        </p:spPr>
        <p:txBody>
          <a:bodyPr wrap="square" lIns="36576" rIns="36576" tIns="36576" bIns="36576" anchor="t">
            <a:spAutoFit/>
          </a:bodyPr>
          <a:lstStyle/>
          <a:p>
            <a:pPr algn="l"/>
            <a:r>
              <a:rPr sz="1100" b="0" i="0">
                <a:solidFill>
                  <a:srgbClr val="1A1A1A"/>
                </a:solidFill>
                <a:latin typeface="Abadi"/>
              </a:rPr>
              <a:t>Failed drainage, decompensation, malnutrition, intractable cholangitis or HPS/POPH lead to transplant.</a:t>
            </a:r>
          </a:p>
        </p:txBody>
      </p:sp>
      <p:sp>
        <p:nvSpPr>
          <p:cNvPr id="36" name="TextBox 35"/>
          <p:cNvSpPr txBox="1"/>
          <p:nvPr/>
        </p:nvSpPr>
        <p:spPr>
          <a:xfrm>
            <a:off x="548640" y="3840480"/>
            <a:ext cx="11082528" cy="1463040"/>
          </a:xfrm>
          <a:prstGeom prst="rect">
            <a:avLst/>
          </a:prstGeom>
          <a:noFill/>
        </p:spPr>
        <p:txBody>
          <a:bodyPr wrap="square" lIns="36576" rIns="36576" tIns="36576" bIns="36576" anchor="t">
            <a:spAutoFit/>
          </a:bodyPr>
          <a:lstStyle/>
          <a:p>
            <a:pPr algn="l"/>
            <a:r>
              <a:rPr sz="1250" b="1" i="0">
                <a:solidFill>
                  <a:srgbClr val="1B355E"/>
                </a:solidFill>
                <a:latin typeface="Abadi"/>
              </a:rPr>
              <a:t>The two-clock model.   </a:t>
            </a:r>
            <a:r>
              <a:rPr sz="1250" b="0" i="0">
                <a:solidFill>
                  <a:srgbClr val="1A1A1A"/>
                </a:solidFill>
                <a:latin typeface="Abadi"/>
              </a:rPr>
              <a:t>The first clock is drainage: it is set within weeks of the operation and read from the bilirubin at about three months. The second clock is fibrosis: it keeps running after clearance and is read from platelets, spleen size, albumin, stiffness and, eventually, varices. Early survival depends on the first clock; adolescent and adult survival depend on the second.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DEFINITIONS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COUNTS AS CLEARANCE</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thresholds and time points differ between programmes, so the rates are not interchangeable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Shneider 2016 · Bezerra JA, et al. JAMA 2014;311:1750–59 · Fanna 2019 · Lien TH, et al. Hepatology 2011;53:202–8 · Anderson L, Hukkinen M, et al. JPGN 2025;80:462–70</a:t>
            </a:r>
          </a:p>
        </p:txBody>
      </p:sp>
      <p:graphicFrame>
        <p:nvGraphicFramePr>
          <p:cNvPr id="12" name="Table 11"/>
          <p:cNvGraphicFramePr>
            <a:graphicFrameLocks noGrp="1"/>
          </p:cNvGraphicFramePr>
          <p:nvPr/>
        </p:nvGraphicFramePr>
        <p:xfrm>
          <a:off x="548640" y="1783080"/>
          <a:ext cx="11082528" cy="2743200"/>
        </p:xfrm>
        <a:graphic>
          <a:graphicData uri="http://schemas.openxmlformats.org/drawingml/2006/table">
            <a:tbl>
              <a:tblPr firstRow="0" bandRow="0">
                <a:tableStyleId>{5C22544A-7EE6-4342-B048-85BDC9FD1C3A}</a:tableStyleId>
              </a:tblPr>
              <a:tblGrid>
                <a:gridCol w="2926080"/>
                <a:gridCol w="2651760"/>
                <a:gridCol w="2194560"/>
                <a:gridCol w="3310128"/>
              </a:tblGrid>
              <a:tr h="457200">
                <a:tc>
                  <a:txBody>
                    <a:bodyPr wrap="square"/>
                    <a:lstStyle/>
                    <a:p>
                      <a:pPr algn="l"/>
                      <a:r>
                        <a:rPr sz="1050" b="1">
                          <a:solidFill>
                            <a:srgbClr val="FFFFFF"/>
                          </a:solidFill>
                          <a:latin typeface="Abadi"/>
                        </a:rPr>
                        <a:t>Definition</a:t>
                      </a:r>
                    </a:p>
                  </a:txBody>
                  <a:tcPr marL="73152" marR="73152" marT="27432" marB="27432" anchor="ctr">
                    <a:solidFill>
                      <a:srgbClr val="1B355E"/>
                    </a:solidFill>
                  </a:tcPr>
                </a:tc>
                <a:tc>
                  <a:txBody>
                    <a:bodyPr wrap="square"/>
                    <a:lstStyle/>
                    <a:p>
                      <a:pPr algn="l"/>
                      <a:r>
                        <a:rPr sz="1050" b="1">
                          <a:solidFill>
                            <a:srgbClr val="FFFFFF"/>
                          </a:solidFill>
                          <a:latin typeface="Abadi"/>
                        </a:rPr>
                        <a:t>Threshold</a:t>
                      </a:r>
                    </a:p>
                  </a:txBody>
                  <a:tcPr marL="73152" marR="73152" marT="27432" marB="27432" anchor="ctr">
                    <a:solidFill>
                      <a:srgbClr val="1B355E"/>
                    </a:solidFill>
                  </a:tcPr>
                </a:tc>
                <a:tc>
                  <a:txBody>
                    <a:bodyPr wrap="square"/>
                    <a:lstStyle/>
                    <a:p>
                      <a:pPr algn="l"/>
                      <a:r>
                        <a:rPr sz="1050" b="1">
                          <a:solidFill>
                            <a:srgbClr val="FFFFFF"/>
                          </a:solidFill>
                          <a:latin typeface="Abadi"/>
                        </a:rPr>
                        <a:t>Time point</a:t>
                      </a:r>
                    </a:p>
                  </a:txBody>
                  <a:tcPr marL="73152" marR="73152" marT="27432" marB="27432" anchor="ctr">
                    <a:solidFill>
                      <a:srgbClr val="1B355E"/>
                    </a:solidFill>
                  </a:tcPr>
                </a:tc>
                <a:tc>
                  <a:txBody>
                    <a:bodyPr wrap="square"/>
                    <a:lstStyle/>
                    <a:p>
                      <a:pPr algn="l"/>
                      <a:r>
                        <a:rPr sz="1050" b="1">
                          <a:solidFill>
                            <a:srgbClr val="FFFFFF"/>
                          </a:solidFill>
                          <a:latin typeface="Abadi"/>
                        </a:rPr>
                        <a:t>Used by</a:t>
                      </a:r>
                    </a:p>
                  </a:txBody>
                  <a:tcPr marL="73152" marR="73152" marT="27432" marB="27432" anchor="ctr">
                    <a:solidFill>
                      <a:srgbClr val="1B355E"/>
                    </a:solidFill>
                  </a:tcPr>
                </a:tc>
              </a:tr>
              <a:tr h="457200">
                <a:tc>
                  <a:txBody>
                    <a:bodyPr wrap="square"/>
                    <a:lstStyle/>
                    <a:p>
                      <a:pPr algn="l"/>
                      <a:r>
                        <a:rPr sz="1050" b="1">
                          <a:solidFill>
                            <a:srgbClr val="1A1A1A"/>
                          </a:solidFill>
                          <a:latin typeface="Abadi"/>
                        </a:rPr>
                        <a:t>Bilirubin below 2 mg/dL</a:t>
                      </a:r>
                    </a:p>
                  </a:txBody>
                  <a:tcPr marL="73152" marR="73152" marT="27432" marB="27432" anchor="ctr">
                    <a:solidFill>
                      <a:srgbClr val="FFFFFF"/>
                    </a:solidFill>
                  </a:tcPr>
                </a:tc>
                <a:tc>
                  <a:txBody>
                    <a:bodyPr wrap="square"/>
                    <a:lstStyle/>
                    <a:p>
                      <a:pPr algn="l"/>
                      <a:r>
                        <a:rPr sz="1050" b="0">
                          <a:solidFill>
                            <a:srgbClr val="1A1A1A"/>
                          </a:solidFill>
                          <a:latin typeface="Abadi"/>
                        </a:rPr>
                        <a:t>34.2 µmol/L, at any point</a:t>
                      </a:r>
                    </a:p>
                  </a:txBody>
                  <a:tcPr marL="73152" marR="73152" marT="27432" marB="27432" anchor="ctr">
                    <a:solidFill>
                      <a:srgbClr val="FFFFFF"/>
                    </a:solidFill>
                  </a:tcPr>
                </a:tc>
                <a:tc>
                  <a:txBody>
                    <a:bodyPr wrap="square"/>
                    <a:lstStyle/>
                    <a:p>
                      <a:pPr algn="l"/>
                      <a:r>
                        <a:rPr sz="1050" b="0">
                          <a:solidFill>
                            <a:srgbClr val="1A1A1A"/>
                          </a:solidFill>
                          <a:latin typeface="Abadi"/>
                        </a:rPr>
                        <a:t>Within 3 months</a:t>
                      </a:r>
                    </a:p>
                  </a:txBody>
                  <a:tcPr marL="73152" marR="73152" marT="27432" marB="27432" anchor="ctr">
                    <a:solidFill>
                      <a:srgbClr val="FFFFFF"/>
                    </a:solidFill>
                  </a:tcPr>
                </a:tc>
                <a:tc>
                  <a:txBody>
                    <a:bodyPr wrap="square"/>
                    <a:lstStyle/>
                    <a:p>
                      <a:pPr algn="l"/>
                      <a:r>
                        <a:rPr sz="1050" b="0">
                          <a:solidFill>
                            <a:srgbClr val="1A1A1A"/>
                          </a:solidFill>
                          <a:latin typeface="Abadi"/>
                        </a:rPr>
                        <a:t>ChiLDReN (Shneider 2016); AASLD 2014</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Jaundice-free</a:t>
                      </a:r>
                    </a:p>
                  </a:txBody>
                  <a:tcPr marL="73152" marR="73152" marT="27432" marB="27432" anchor="ctr">
                    <a:solidFill>
                      <a:srgbClr val="F2F4F7"/>
                    </a:solidFill>
                  </a:tcPr>
                </a:tc>
                <a:tc>
                  <a:txBody>
                    <a:bodyPr wrap="square"/>
                    <a:lstStyle/>
                    <a:p>
                      <a:pPr algn="l"/>
                      <a:r>
                        <a:rPr sz="1050" b="0">
                          <a:solidFill>
                            <a:srgbClr val="1A1A1A"/>
                          </a:solidFill>
                          <a:latin typeface="Abadi"/>
                        </a:rPr>
                        <a:t>TB &lt; 2.0 mg/dL</a:t>
                      </a:r>
                    </a:p>
                  </a:txBody>
                  <a:tcPr marL="73152" marR="73152" marT="27432" marB="27432" anchor="ctr">
                    <a:solidFill>
                      <a:srgbClr val="F2F4F7"/>
                    </a:solidFill>
                  </a:tcPr>
                </a:tc>
                <a:tc>
                  <a:txBody>
                    <a:bodyPr wrap="square"/>
                    <a:lstStyle/>
                    <a:p>
                      <a:pPr algn="l"/>
                      <a:r>
                        <a:rPr sz="1050" b="0">
                          <a:solidFill>
                            <a:srgbClr val="1A1A1A"/>
                          </a:solidFill>
                          <a:latin typeface="Abadi"/>
                        </a:rPr>
                        <a:t>At 3 months</a:t>
                      </a:r>
                    </a:p>
                  </a:txBody>
                  <a:tcPr marL="73152" marR="73152" marT="27432" marB="27432" anchor="ctr">
                    <a:solidFill>
                      <a:srgbClr val="F2F4F7"/>
                    </a:solidFill>
                  </a:tcPr>
                </a:tc>
                <a:tc>
                  <a:txBody>
                    <a:bodyPr wrap="square"/>
                    <a:lstStyle/>
                    <a:p>
                      <a:pPr algn="l"/>
                      <a:r>
                        <a:rPr sz="1050" b="0">
                          <a:solidFill>
                            <a:srgbClr val="1A1A1A"/>
                          </a:solidFill>
                          <a:latin typeface="Abadi"/>
                        </a:rPr>
                        <a:t>Taiwan national series (Lien 2011)</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Clearance of jaundice (COJ)</a:t>
                      </a:r>
                    </a:p>
                  </a:txBody>
                  <a:tcPr marL="73152" marR="73152" marT="27432" marB="27432" anchor="ctr">
                    <a:solidFill>
                      <a:srgbClr val="FFFFFF"/>
                    </a:solidFill>
                  </a:tcPr>
                </a:tc>
                <a:tc>
                  <a:txBody>
                    <a:bodyPr wrap="square"/>
                    <a:lstStyle/>
                    <a:p>
                      <a:pPr algn="l"/>
                      <a:r>
                        <a:rPr sz="1050" b="0">
                          <a:solidFill>
                            <a:srgbClr val="1A1A1A"/>
                          </a:solidFill>
                          <a:latin typeface="Abadi"/>
                        </a:rPr>
                        <a:t>TB &lt; 20 µmol/L (≈ 1.2 mg/dL)</a:t>
                      </a:r>
                    </a:p>
                  </a:txBody>
                  <a:tcPr marL="73152" marR="73152" marT="27432" marB="27432" anchor="ctr">
                    <a:solidFill>
                      <a:srgbClr val="FFFFFF"/>
                    </a:solidFill>
                  </a:tcPr>
                </a:tc>
                <a:tc>
                  <a:txBody>
                    <a:bodyPr wrap="square"/>
                    <a:lstStyle/>
                    <a:p>
                      <a:pPr algn="l"/>
                      <a:r>
                        <a:rPr sz="1050" b="0">
                          <a:solidFill>
                            <a:srgbClr val="1A1A1A"/>
                          </a:solidFill>
                          <a:latin typeface="Abadi"/>
                        </a:rPr>
                        <a:t>Within 6 months</a:t>
                      </a:r>
                    </a:p>
                  </a:txBody>
                  <a:tcPr marL="73152" marR="73152" marT="27432" marB="27432" anchor="ctr">
                    <a:solidFill>
                      <a:srgbClr val="FFFFFF"/>
                    </a:solidFill>
                  </a:tcPr>
                </a:tc>
                <a:tc>
                  <a:txBody>
                    <a:bodyPr wrap="square"/>
                    <a:lstStyle/>
                    <a:p>
                      <a:pPr algn="l"/>
                      <a:r>
                        <a:rPr sz="1050" b="0">
                          <a:solidFill>
                            <a:srgbClr val="1A1A1A"/>
                          </a:solidFill>
                          <a:latin typeface="Abadi"/>
                        </a:rPr>
                        <a:t>UK, Nordic and Finnish series</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Clearance of jaundice</a:t>
                      </a:r>
                    </a:p>
                  </a:txBody>
                  <a:tcPr marL="73152" marR="73152" marT="27432" marB="27432" anchor="ctr">
                    <a:solidFill>
                      <a:srgbClr val="F2F4F7"/>
                    </a:solidFill>
                  </a:tcPr>
                </a:tc>
                <a:tc>
                  <a:txBody>
                    <a:bodyPr wrap="square"/>
                    <a:lstStyle/>
                    <a:p>
                      <a:pPr algn="l"/>
                      <a:r>
                        <a:rPr sz="1050" b="0">
                          <a:solidFill>
                            <a:srgbClr val="1A1A1A"/>
                          </a:solidFill>
                          <a:latin typeface="Abadi"/>
                        </a:rPr>
                        <a:t>TB ≤ 20 µmol/L</a:t>
                      </a:r>
                    </a:p>
                  </a:txBody>
                  <a:tcPr marL="73152" marR="73152" marT="27432" marB="27432" anchor="ctr">
                    <a:solidFill>
                      <a:srgbClr val="F2F4F7"/>
                    </a:solidFill>
                  </a:tcPr>
                </a:tc>
                <a:tc>
                  <a:txBody>
                    <a:bodyPr wrap="square"/>
                    <a:lstStyle/>
                    <a:p>
                      <a:pPr algn="l"/>
                      <a:r>
                        <a:rPr sz="1050" b="0">
                          <a:solidFill>
                            <a:srgbClr val="1A1A1A"/>
                          </a:solidFill>
                          <a:latin typeface="Abadi"/>
                        </a:rPr>
                        <a:t>Any time after the Kasai</a:t>
                      </a:r>
                    </a:p>
                  </a:txBody>
                  <a:tcPr marL="73152" marR="73152" marT="27432" marB="27432" anchor="ctr">
                    <a:solidFill>
                      <a:srgbClr val="F2F4F7"/>
                    </a:solidFill>
                  </a:tcPr>
                </a:tc>
                <a:tc>
                  <a:txBody>
                    <a:bodyPr wrap="square"/>
                    <a:lstStyle/>
                    <a:p>
                      <a:pPr algn="l"/>
                      <a:r>
                        <a:rPr sz="1050" b="0">
                          <a:solidFill>
                            <a:srgbClr val="1A1A1A"/>
                          </a:solidFill>
                          <a:latin typeface="Abadi"/>
                        </a:rPr>
                        <a:t>French national cohort (Fanna 2019)</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Bile drainage</a:t>
                      </a:r>
                    </a:p>
                  </a:txBody>
                  <a:tcPr marL="73152" marR="73152" marT="27432" marB="27432" anchor="ctr">
                    <a:solidFill>
                      <a:srgbClr val="FFFFFF"/>
                    </a:solidFill>
                  </a:tcPr>
                </a:tc>
                <a:tc>
                  <a:txBody>
                    <a:bodyPr wrap="square"/>
                    <a:lstStyle/>
                    <a:p>
                      <a:pPr algn="l"/>
                      <a:r>
                        <a:rPr sz="1050" b="0">
                          <a:solidFill>
                            <a:srgbClr val="1A1A1A"/>
                          </a:solidFill>
                          <a:latin typeface="Abadi"/>
                        </a:rPr>
                        <a:t>TB &lt; 1.5 mg/dL with native liver</a:t>
                      </a:r>
                    </a:p>
                  </a:txBody>
                  <a:tcPr marL="73152" marR="73152" marT="27432" marB="27432" anchor="ctr">
                    <a:solidFill>
                      <a:srgbClr val="FFFFFF"/>
                    </a:solidFill>
                  </a:tcPr>
                </a:tc>
                <a:tc>
                  <a:txBody>
                    <a:bodyPr wrap="square"/>
                    <a:lstStyle/>
                    <a:p>
                      <a:pPr algn="l"/>
                      <a:r>
                        <a:rPr sz="1050" b="0">
                          <a:solidFill>
                            <a:srgbClr val="1A1A1A"/>
                          </a:solidFill>
                          <a:latin typeface="Abadi"/>
                        </a:rPr>
                        <a:t>At 6 months</a:t>
                      </a:r>
                    </a:p>
                  </a:txBody>
                  <a:tcPr marL="73152" marR="73152" marT="27432" marB="27432" anchor="ctr">
                    <a:solidFill>
                      <a:srgbClr val="FFFFFF"/>
                    </a:solidFill>
                  </a:tcPr>
                </a:tc>
                <a:tc>
                  <a:txBody>
                    <a:bodyPr wrap="square"/>
                    <a:lstStyle/>
                    <a:p>
                      <a:pPr algn="l"/>
                      <a:r>
                        <a:rPr sz="1050" b="0">
                          <a:solidFill>
                            <a:srgbClr val="1A1A1A"/>
                          </a:solidFill>
                          <a:latin typeface="Abadi"/>
                        </a:rPr>
                        <a:t>START trial (Bezerra 2014)</a:t>
                      </a:r>
                    </a:p>
                  </a:txBody>
                  <a:tcPr marL="73152" marR="73152" marT="27432" marB="27432" anchor="ctr">
                    <a:solidFill>
                      <a:srgbClr val="FFFFFF"/>
                    </a:solidFill>
                  </a:tcPr>
                </a:tc>
              </a:tr>
            </a:tbl>
          </a:graphicData>
        </a:graphic>
      </p:graphicFrame>
      <p:sp>
        <p:nvSpPr>
          <p:cNvPr id="13" name="TextBox 12"/>
          <p:cNvSpPr txBox="1"/>
          <p:nvPr/>
        </p:nvSpPr>
        <p:spPr>
          <a:xfrm>
            <a:off x="548640" y="4800600"/>
            <a:ext cx="11082528" cy="82296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When you compare your unit with a published series, check the threshold, the time point and the denominator. A stricter threshold at six months gives lower rates than 2 mg/dL at any point in the first three months.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THE THREE-MONTH MARKER</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BELOW 2 MG/DL BY THREE MONTHS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ChiLDReN prospective cohort, 137 infants, Kasai 2004–2011: odds ratios for outcomes if TB stayed ≥ 2 mg/dL</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Shneider BL, Magee JC, Karpen SJ, et al. J Pediatr 2016;170:211–7.e2 (PMID 26725209)</a:t>
            </a:r>
          </a:p>
        </p:txBody>
      </p:sp>
      <p:sp>
        <p:nvSpPr>
          <p:cNvPr id="12" name="TextBox 11"/>
          <p:cNvSpPr txBox="1"/>
          <p:nvPr/>
        </p:nvSpPr>
        <p:spPr>
          <a:xfrm>
            <a:off x="548640" y="18288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Liver transplant or death</a:t>
            </a:r>
          </a:p>
        </p:txBody>
      </p:sp>
      <p:sp>
        <p:nvSpPr>
          <p:cNvPr id="13" name="Rectangle 12"/>
          <p:cNvSpPr/>
          <p:nvPr/>
        </p:nvSpPr>
        <p:spPr>
          <a:xfrm>
            <a:off x="3474720" y="1856231"/>
            <a:ext cx="3657600" cy="40233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5472" y="18288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OR 16.8 (7.2–39.2)</a:t>
            </a:r>
          </a:p>
        </p:txBody>
      </p:sp>
      <p:sp>
        <p:nvSpPr>
          <p:cNvPr id="15" name="TextBox 14"/>
          <p:cNvSpPr txBox="1"/>
          <p:nvPr/>
        </p:nvSpPr>
        <p:spPr>
          <a:xfrm>
            <a:off x="548640" y="22860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Liver transplant</a:t>
            </a:r>
          </a:p>
        </p:txBody>
      </p:sp>
      <p:sp>
        <p:nvSpPr>
          <p:cNvPr id="16" name="Rectangle 15"/>
          <p:cNvSpPr/>
          <p:nvPr/>
        </p:nvSpPr>
        <p:spPr>
          <a:xfrm>
            <a:off x="3474720" y="2313432"/>
            <a:ext cx="2699657" cy="40233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7529" y="22860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OR 12.4 (5.3–28.7)</a:t>
            </a:r>
          </a:p>
        </p:txBody>
      </p:sp>
      <p:sp>
        <p:nvSpPr>
          <p:cNvPr id="18" name="TextBox 17"/>
          <p:cNvSpPr txBox="1"/>
          <p:nvPr/>
        </p:nvSpPr>
        <p:spPr>
          <a:xfrm>
            <a:off x="548640" y="27432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Coagulopathy</a:t>
            </a:r>
          </a:p>
        </p:txBody>
      </p:sp>
      <p:sp>
        <p:nvSpPr>
          <p:cNvPr id="19" name="Rectangle 18"/>
          <p:cNvSpPr/>
          <p:nvPr/>
        </p:nvSpPr>
        <p:spPr>
          <a:xfrm>
            <a:off x="3474720" y="2770632"/>
            <a:ext cx="2351314" cy="40233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99186" y="27432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OR 10.8 (3.1–38.2)</a:t>
            </a:r>
          </a:p>
        </p:txBody>
      </p:sp>
      <p:sp>
        <p:nvSpPr>
          <p:cNvPr id="21" name="TextBox 20"/>
          <p:cNvSpPr txBox="1"/>
          <p:nvPr/>
        </p:nvSpPr>
        <p:spPr>
          <a:xfrm>
            <a:off x="548640" y="32004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Hypoalbuminaemia</a:t>
            </a:r>
          </a:p>
        </p:txBody>
      </p:sp>
      <p:sp>
        <p:nvSpPr>
          <p:cNvPr id="22" name="Rectangle 21"/>
          <p:cNvSpPr/>
          <p:nvPr/>
        </p:nvSpPr>
        <p:spPr>
          <a:xfrm>
            <a:off x="3474720" y="3227832"/>
            <a:ext cx="1654628" cy="40233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2500" y="32004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OR 7.6 (3.2–17.7)</a:t>
            </a:r>
          </a:p>
        </p:txBody>
      </p:sp>
      <p:sp>
        <p:nvSpPr>
          <p:cNvPr id="24" name="TextBox 23"/>
          <p:cNvSpPr txBox="1"/>
          <p:nvPr/>
        </p:nvSpPr>
        <p:spPr>
          <a:xfrm>
            <a:off x="548640" y="3657600"/>
            <a:ext cx="2834640" cy="457200"/>
          </a:xfrm>
          <a:prstGeom prst="rect">
            <a:avLst/>
          </a:prstGeom>
          <a:noFill/>
        </p:spPr>
        <p:txBody>
          <a:bodyPr wrap="square" lIns="36576" rIns="36576" tIns="36576" bIns="36576" anchor="ctr">
            <a:spAutoFit/>
          </a:bodyPr>
          <a:lstStyle/>
          <a:p>
            <a:pPr algn="l"/>
            <a:r>
              <a:rPr sz="1050" b="0" i="0">
                <a:solidFill>
                  <a:srgbClr val="1A1A1A"/>
                </a:solidFill>
                <a:latin typeface="Abadi"/>
              </a:rPr>
              <a:t>Ascites</a:t>
            </a:r>
          </a:p>
        </p:txBody>
      </p:sp>
      <p:sp>
        <p:nvSpPr>
          <p:cNvPr id="25" name="Rectangle 24"/>
          <p:cNvSpPr/>
          <p:nvPr/>
        </p:nvSpPr>
        <p:spPr>
          <a:xfrm>
            <a:off x="3474720" y="3685032"/>
            <a:ext cx="1393371" cy="40233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41243" y="3657600"/>
            <a:ext cx="1463040" cy="457200"/>
          </a:xfrm>
          <a:prstGeom prst="rect">
            <a:avLst/>
          </a:prstGeom>
          <a:noFill/>
        </p:spPr>
        <p:txBody>
          <a:bodyPr wrap="square" lIns="36576" rIns="36576" tIns="36576" bIns="36576" anchor="ctr">
            <a:spAutoFit/>
          </a:bodyPr>
          <a:lstStyle/>
          <a:p>
            <a:pPr algn="l"/>
            <a:r>
              <a:rPr sz="1050" b="1" i="0">
                <a:solidFill>
                  <a:srgbClr val="1A1A1A"/>
                </a:solidFill>
                <a:latin typeface="Abadi"/>
              </a:rPr>
              <a:t>OR 6.4 (2.9–14.1)</a:t>
            </a:r>
          </a:p>
        </p:txBody>
      </p:sp>
      <p:sp>
        <p:nvSpPr>
          <p:cNvPr id="27" name="TextBox 26"/>
          <p:cNvSpPr txBox="1"/>
          <p:nvPr/>
        </p:nvSpPr>
        <p:spPr>
          <a:xfrm>
            <a:off x="548640" y="4160520"/>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Comparison: TB ≥ 2 vs &lt; 2 mg/dL within 3 months of the Kasai; 95% confidence intervals in brackets.</a:t>
            </a:r>
          </a:p>
        </p:txBody>
      </p:sp>
      <p:sp>
        <p:nvSpPr>
          <p:cNvPr id="28" name="TextBox 27"/>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86% vs 20%</a:t>
            </a:r>
          </a:p>
          <a:p>
            <a:pPr algn="l">
              <a:spcAft>
                <a:spcPts val="300"/>
              </a:spcAft>
            </a:pPr>
            <a:r>
              <a:rPr sz="1050" b="0" i="0">
                <a:solidFill>
                  <a:srgbClr val="1A1A1A"/>
                </a:solidFill>
                <a:latin typeface="Abadi"/>
              </a:rPr>
              <a:t>Two-year transplant-free survival with TB &lt; 2 versus ≥ 2 mg/dL, P &lt; .0001.</a:t>
            </a:r>
          </a:p>
          <a:p>
            <a:pPr algn="l">
              <a:spcAft>
                <a:spcPts val="300"/>
              </a:spcAft>
            </a:pPr>
            <a:r>
              <a:rPr sz="1500" b="1" i="0">
                <a:solidFill>
                  <a:srgbClr val="1B355E"/>
                </a:solidFill>
                <a:latin typeface="Abadi"/>
              </a:rPr>
              <a:t>50%</a:t>
            </a:r>
          </a:p>
          <a:p>
            <a:pPr algn="l">
              <a:spcAft>
                <a:spcPts val="300"/>
              </a:spcAft>
            </a:pPr>
            <a:r>
              <a:rPr sz="1050" b="0" i="0">
                <a:solidFill>
                  <a:srgbClr val="1A1A1A"/>
                </a:solidFill>
                <a:latin typeface="Abadi"/>
              </a:rPr>
              <a:t>68 of 137 infants reached the threshold.</a:t>
            </a:r>
          </a:p>
          <a:p>
            <a:pPr algn="l">
              <a:spcAft>
                <a:spcPts val="300"/>
              </a:spcAft>
            </a:pPr>
            <a:r>
              <a:rPr sz="1500" b="1" i="0">
                <a:solidFill>
                  <a:srgbClr val="1B355E"/>
                </a:solidFill>
                <a:latin typeface="Abadi"/>
              </a:rPr>
              <a:t>Growth</a:t>
            </a:r>
          </a:p>
          <a:p>
            <a:pPr algn="l">
              <a:spcAft>
                <a:spcPts val="300"/>
              </a:spcAft>
            </a:pPr>
            <a:r>
              <a:rPr sz="1050" b="0" i="0">
                <a:solidFill>
                  <a:srgbClr val="1A1A1A"/>
                </a:solidFill>
                <a:latin typeface="Abadi"/>
              </a:rPr>
              <a:t>Weight gain was also worse when bilirubin stayed high (P &lt; .0001).</a:t>
            </a:r>
          </a:p>
        </p:txBody>
      </p:sp>
      <p:sp>
        <p:nvSpPr>
          <p:cNvPr id="29" name="TextBox 28"/>
          <p:cNvSpPr txBox="1"/>
          <p:nvPr/>
        </p:nvSpPr>
        <p:spPr>
          <a:xfrm>
            <a:off x="548640" y="4892040"/>
            <a:ext cx="7955279" cy="73152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The three-month bilirubin sorts infants into two very different futures, early enough to plan nutrition and transplant referral.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REFINING THE SIGNAL</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MORE THAN ONE NUMBER</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Markers that add to, or replace, the three-month bilirubin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Nightingale S, et al. JPGN 2017;64:203–9 · Anderson &amp; Hukkinen 2025 · Hahn SM, et al. PLoS One 2013;8:e80652 · Jain V, et al. J Hepatol 2019;71:71–7</a:t>
            </a:r>
          </a:p>
        </p:txBody>
      </p:sp>
      <p:sp>
        <p:nvSpPr>
          <p:cNvPr id="12" name="Rectangle 11"/>
          <p:cNvSpPr/>
          <p:nvPr/>
        </p:nvSpPr>
        <p:spPr>
          <a:xfrm>
            <a:off x="548640"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AUC 0.899</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Sydney–Toronto, 217 infants: TB &lt; 74 µmol/L (4.3 mg/dL) at 3 months predicted 2-year native-liver survival.</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Albumin &gt; 35</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Same cohort: albumin &gt; 35 g/L, AUC 0.763. Low albumin in an anicteric infant was a poor sign.</a:t>
            </a:r>
          </a:p>
        </p:txBody>
      </p:sp>
      <p:sp>
        <p:nvSpPr>
          <p:cNvPr id="20" name="Rectangle 19"/>
          <p:cNvSpPr/>
          <p:nvPr/>
        </p:nvSpPr>
        <p:spPr>
          <a:xfrm>
            <a:off x="5054803"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Bile acids</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Finland 2025: TB at 1 month did not predict outcome after clearance; serum bile acids at 1 month did (AUROC 0.82).</a:t>
            </a:r>
          </a:p>
        </p:txBody>
      </p:sp>
      <p:sp>
        <p:nvSpPr>
          <p:cNvPr id="24" name="Rectangle 23"/>
          <p:cNvSpPr/>
          <p:nvPr/>
        </p:nvSpPr>
        <p:spPr>
          <a:xfrm>
            <a:off x="7307884"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&gt; 19.9 kPa</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Korea, 69 children: liver stiffness at 3 months, AUROC 0.943 for liver-related events.</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TB ≥ 21 at 16</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King's: bilirubin ≥ 21 µmol/L at age 16 predicted later transplant, AUROC 0.848.</a:t>
            </a:r>
          </a:p>
        </p:txBody>
      </p:sp>
      <p:sp>
        <p:nvSpPr>
          <p:cNvPr id="32" name="TextBox 31"/>
          <p:cNvSpPr txBox="1"/>
          <p:nvPr/>
        </p:nvSpPr>
        <p:spPr>
          <a:xfrm>
            <a:off x="548640" y="4114800"/>
            <a:ext cx="11082528" cy="1371600"/>
          </a:xfrm>
          <a:prstGeom prst="rect">
            <a:avLst/>
          </a:prstGeom>
          <a:noFill/>
        </p:spPr>
        <p:txBody>
          <a:bodyPr wrap="square" lIns="36576" rIns="36576" tIns="36576" bIns="36576" anchor="t">
            <a:spAutoFit/>
          </a:bodyPr>
          <a:lstStyle/>
          <a:p>
            <a:pPr algn="l"/>
            <a:r>
              <a:rPr sz="1250" b="1" i="0">
                <a:solidFill>
                  <a:srgbClr val="1B355E"/>
                </a:solidFill>
                <a:latin typeface="Abadi"/>
              </a:rPr>
              <a:t>Synthesis.   </a:t>
            </a:r>
            <a:r>
              <a:rPr sz="1250" b="0" i="0">
                <a:solidFill>
                  <a:srgbClr val="1A1A1A"/>
                </a:solidFill>
                <a:latin typeface="Abadi"/>
              </a:rPr>
              <a:t>Bilirubin answers whether the Kasai drained. Albumin, bile acids and stiffness answer how much liver damage remains despite drainage. In Finland, an infant who had cleared jaundice but still had bilirubin above 8.5 µmol/L at six months had about thirteen times the risk of portal hypertension: “normal” bilirubin is a range, and the low end matters.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HOW OFTEN</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CLEARANCE RATES ACROSS PROGRAMMES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Proportion of infants who cleared jaundice after the Kasai, by series and definition,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Anderson &amp; Hukkinen 2025 · Pakarinen MP, et al. J Pediatr Surg 2018;53:1509–15 · Lien 2011 · Bezerra 2014 · Shneider 2016 · Fanna 2019</a:t>
            </a:r>
          </a:p>
        </p:txBody>
      </p:sp>
      <p:sp>
        <p:nvSpPr>
          <p:cNvPr id="12" name="TextBox 11"/>
          <p:cNvSpPr txBox="1"/>
          <p:nvPr/>
        </p:nvSpPr>
        <p:spPr>
          <a:xfrm>
            <a:off x="548640" y="1810512"/>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Finland 2025 · n = 56 · &lt; 20 µmol/L, 6 mo</a:t>
            </a:r>
          </a:p>
        </p:txBody>
      </p:sp>
      <p:sp>
        <p:nvSpPr>
          <p:cNvPr id="13" name="Rectangle 12"/>
          <p:cNvSpPr/>
          <p:nvPr/>
        </p:nvSpPr>
        <p:spPr>
          <a:xfrm>
            <a:off x="3931920" y="1837943"/>
            <a:ext cx="384048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1810512"/>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75%</a:t>
            </a:r>
          </a:p>
        </p:txBody>
      </p:sp>
      <p:sp>
        <p:nvSpPr>
          <p:cNvPr id="15" name="TextBox 14"/>
          <p:cNvSpPr txBox="1"/>
          <p:nvPr/>
        </p:nvSpPr>
        <p:spPr>
          <a:xfrm>
            <a:off x="548640" y="2194560"/>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Nordic 2018 · n = 148 · normalised</a:t>
            </a:r>
          </a:p>
        </p:txBody>
      </p:sp>
      <p:sp>
        <p:nvSpPr>
          <p:cNvPr id="16" name="Rectangle 15"/>
          <p:cNvSpPr/>
          <p:nvPr/>
        </p:nvSpPr>
        <p:spPr>
          <a:xfrm>
            <a:off x="3931920" y="2221991"/>
            <a:ext cx="3277209"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82281" y="2194560"/>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64%</a:t>
            </a:r>
          </a:p>
        </p:txBody>
      </p:sp>
      <p:sp>
        <p:nvSpPr>
          <p:cNvPr id="18" name="TextBox 17"/>
          <p:cNvSpPr txBox="1"/>
          <p:nvPr/>
        </p:nvSpPr>
        <p:spPr>
          <a:xfrm>
            <a:off x="548640" y="2578608"/>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Taiwan, stool card era · n = 102 · 3 mo</a:t>
            </a:r>
          </a:p>
        </p:txBody>
      </p:sp>
      <p:sp>
        <p:nvSpPr>
          <p:cNvPr id="19" name="Rectangle 18"/>
          <p:cNvSpPr/>
          <p:nvPr/>
        </p:nvSpPr>
        <p:spPr>
          <a:xfrm>
            <a:off x="3931920" y="2606039"/>
            <a:ext cx="3113349"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18421" y="2578608"/>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60.8%</a:t>
            </a:r>
          </a:p>
        </p:txBody>
      </p:sp>
      <p:sp>
        <p:nvSpPr>
          <p:cNvPr id="21" name="TextBox 20"/>
          <p:cNvSpPr txBox="1"/>
          <p:nvPr/>
        </p:nvSpPr>
        <p:spPr>
          <a:xfrm>
            <a:off x="548640" y="2962656"/>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START steroids · n = 70 · &lt; 1.5 mg/dL, 6 mo</a:t>
            </a:r>
          </a:p>
        </p:txBody>
      </p:sp>
      <p:sp>
        <p:nvSpPr>
          <p:cNvPr id="22" name="Rectangle 21"/>
          <p:cNvSpPr/>
          <p:nvPr/>
        </p:nvSpPr>
        <p:spPr>
          <a:xfrm>
            <a:off x="3931920" y="2990088"/>
            <a:ext cx="3000695"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05767" y="2962656"/>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58.6%</a:t>
            </a:r>
          </a:p>
        </p:txBody>
      </p:sp>
      <p:sp>
        <p:nvSpPr>
          <p:cNvPr id="24" name="TextBox 23"/>
          <p:cNvSpPr txBox="1"/>
          <p:nvPr/>
        </p:nvSpPr>
        <p:spPr>
          <a:xfrm>
            <a:off x="548640" y="3346704"/>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ChiLDReN 2016 · n = 137 · &lt; 2 mg/dL, 3 mo</a:t>
            </a:r>
          </a:p>
        </p:txBody>
      </p:sp>
      <p:sp>
        <p:nvSpPr>
          <p:cNvPr id="25" name="Rectangle 24"/>
          <p:cNvSpPr/>
          <p:nvPr/>
        </p:nvSpPr>
        <p:spPr>
          <a:xfrm>
            <a:off x="3931920" y="3374136"/>
            <a:ext cx="256032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3346704"/>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50%</a:t>
            </a:r>
          </a:p>
        </p:txBody>
      </p:sp>
      <p:sp>
        <p:nvSpPr>
          <p:cNvPr id="27" name="TextBox 26"/>
          <p:cNvSpPr txBox="1"/>
          <p:nvPr/>
        </p:nvSpPr>
        <p:spPr>
          <a:xfrm>
            <a:off x="548640" y="3730752"/>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START placebo · n = 70</a:t>
            </a:r>
          </a:p>
        </p:txBody>
      </p:sp>
      <p:sp>
        <p:nvSpPr>
          <p:cNvPr id="28" name="Rectangle 27"/>
          <p:cNvSpPr/>
          <p:nvPr/>
        </p:nvSpPr>
        <p:spPr>
          <a:xfrm>
            <a:off x="3931920" y="3758184"/>
            <a:ext cx="2488631"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3703" y="3730752"/>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48.6%</a:t>
            </a:r>
          </a:p>
        </p:txBody>
      </p:sp>
      <p:sp>
        <p:nvSpPr>
          <p:cNvPr id="30" name="TextBox 29"/>
          <p:cNvSpPr txBox="1"/>
          <p:nvPr/>
        </p:nvSpPr>
        <p:spPr>
          <a:xfrm>
            <a:off x="548640" y="4114800"/>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France 1986–2015 · n = 1340 · ≤ 20 µmol/L</a:t>
            </a:r>
          </a:p>
        </p:txBody>
      </p:sp>
      <p:sp>
        <p:nvSpPr>
          <p:cNvPr id="31" name="Rectangle 30"/>
          <p:cNvSpPr/>
          <p:nvPr/>
        </p:nvSpPr>
        <p:spPr>
          <a:xfrm>
            <a:off x="3931920" y="4142232"/>
            <a:ext cx="1997049"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02121" y="4114800"/>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39%</a:t>
            </a:r>
          </a:p>
        </p:txBody>
      </p:sp>
      <p:sp>
        <p:nvSpPr>
          <p:cNvPr id="33" name="TextBox 32"/>
          <p:cNvSpPr txBox="1"/>
          <p:nvPr/>
        </p:nvSpPr>
        <p:spPr>
          <a:xfrm>
            <a:off x="548640" y="4498848"/>
            <a:ext cx="3291840" cy="384048"/>
          </a:xfrm>
          <a:prstGeom prst="rect">
            <a:avLst/>
          </a:prstGeom>
          <a:noFill/>
        </p:spPr>
        <p:txBody>
          <a:bodyPr wrap="square" lIns="36576" rIns="36576" tIns="36576" bIns="36576" anchor="ctr">
            <a:spAutoFit/>
          </a:bodyPr>
          <a:lstStyle/>
          <a:p>
            <a:pPr algn="l"/>
            <a:r>
              <a:rPr sz="1000" b="0" i="0">
                <a:solidFill>
                  <a:srgbClr val="1A1A1A"/>
                </a:solidFill>
                <a:latin typeface="Abadi"/>
              </a:rPr>
              <a:t>Taiwan, before screening · n = 89 · 3 mo</a:t>
            </a:r>
          </a:p>
        </p:txBody>
      </p:sp>
      <p:sp>
        <p:nvSpPr>
          <p:cNvPr id="34" name="Rectangle 33"/>
          <p:cNvSpPr/>
          <p:nvPr/>
        </p:nvSpPr>
        <p:spPr>
          <a:xfrm>
            <a:off x="3931920" y="4526280"/>
            <a:ext cx="1781982"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87054" y="4498848"/>
            <a:ext cx="1463040" cy="384048"/>
          </a:xfrm>
          <a:prstGeom prst="rect">
            <a:avLst/>
          </a:prstGeom>
          <a:noFill/>
        </p:spPr>
        <p:txBody>
          <a:bodyPr wrap="square" lIns="36576" rIns="36576" tIns="36576" bIns="36576" anchor="ctr">
            <a:spAutoFit/>
          </a:bodyPr>
          <a:lstStyle/>
          <a:p>
            <a:pPr algn="l"/>
            <a:r>
              <a:rPr sz="1000" b="1" i="0">
                <a:solidFill>
                  <a:srgbClr val="1A1A1A"/>
                </a:solidFill>
                <a:latin typeface="Abadi"/>
              </a:rPr>
              <a:t>34.8%</a:t>
            </a:r>
          </a:p>
        </p:txBody>
      </p:sp>
      <p:sp>
        <p:nvSpPr>
          <p:cNvPr id="36" name="TextBox 35"/>
          <p:cNvSpPr txBox="1"/>
          <p:nvPr/>
        </p:nvSpPr>
        <p:spPr>
          <a:xfrm>
            <a:off x="548640" y="4910328"/>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Green and red: the same Taiwanese programme before and after universal stool-colour cards. Grey: whole national cohort over three decades.</a:t>
            </a:r>
          </a:p>
        </p:txBody>
      </p:sp>
      <p:sp>
        <p:nvSpPr>
          <p:cNvPr id="37" name="TextBox 36"/>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Range</a:t>
            </a:r>
          </a:p>
          <a:p>
            <a:pPr algn="l">
              <a:spcAft>
                <a:spcPts val="300"/>
              </a:spcAft>
            </a:pPr>
            <a:r>
              <a:rPr sz="1050" b="0" i="0">
                <a:solidFill>
                  <a:srgbClr val="1A1A1A"/>
                </a:solidFill>
                <a:latin typeface="Abadi"/>
              </a:rPr>
              <a:t>About one third to three quarters, depending on era, definition and programme.</a:t>
            </a:r>
          </a:p>
          <a:p>
            <a:pPr algn="l">
              <a:spcAft>
                <a:spcPts val="300"/>
              </a:spcAft>
            </a:pPr>
            <a:r>
              <a:rPr sz="1500" b="1" i="0">
                <a:solidFill>
                  <a:srgbClr val="1B355E"/>
                </a:solidFill>
                <a:latin typeface="Abadi"/>
              </a:rPr>
              <a:t>Screening</a:t>
            </a:r>
          </a:p>
          <a:p>
            <a:pPr algn="l">
              <a:spcAft>
                <a:spcPts val="300"/>
              </a:spcAft>
            </a:pPr>
            <a:r>
              <a:rPr sz="1050" b="0" i="0">
                <a:solidFill>
                  <a:srgbClr val="1A1A1A"/>
                </a:solidFill>
                <a:latin typeface="Abadi"/>
              </a:rPr>
              <a:t>Stool cards moved Kasai before 60 days from 49.4% to 65.7% and clearance from 34.8% to 60.8%.</a:t>
            </a:r>
          </a:p>
          <a:p>
            <a:pPr algn="l">
              <a:spcAft>
                <a:spcPts val="300"/>
              </a:spcAft>
            </a:pPr>
            <a:r>
              <a:rPr sz="1500" b="1" i="0">
                <a:solidFill>
                  <a:srgbClr val="1B355E"/>
                </a:solidFill>
                <a:latin typeface="Abadi"/>
              </a:rPr>
              <a:t>Steroids</a:t>
            </a:r>
          </a:p>
          <a:p>
            <a:pPr algn="l">
              <a:spcAft>
                <a:spcPts val="300"/>
              </a:spcAft>
            </a:pPr>
            <a:r>
              <a:rPr sz="1050" b="0" i="0">
                <a:solidFill>
                  <a:srgbClr val="1A1A1A"/>
                </a:solidFill>
                <a:latin typeface="Abadi"/>
              </a:rPr>
              <a:t>START: 58.6% vs 48.6%, P = .43; not significant.</a:t>
            </a:r>
          </a:p>
        </p:txBody>
      </p:sp>
      <p:sp>
        <p:nvSpPr>
          <p:cNvPr id="38" name="TextBox 37"/>
          <p:cNvSpPr txBox="1"/>
          <p:nvPr/>
        </p:nvSpPr>
        <p:spPr>
          <a:xfrm>
            <a:off x="548640" y="5349240"/>
            <a:ext cx="7955279" cy="54864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Roughly half of infants clear jaundice; programmes that operate earlier clear 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NATIVE-LIVER SURVIVAL</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HOW LONG THE LIVER LASTS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Survival with native liver after the Kasai in the two largest national cohorts,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Fanna M, et al. JPGN 2019;69:416–24 · Serinet MO, et al. Pediatrics 2009;123:1280–6 · Nio M. Pediatr Surg Int 2017;33:1319–25</a:t>
            </a:r>
          </a:p>
        </p:txBody>
      </p:sp>
      <p:sp>
        <p:nvSpPr>
          <p:cNvPr id="12" name="TextBox 11"/>
          <p:cNvSpPr txBox="1"/>
          <p:nvPr/>
        </p:nvSpPr>
        <p:spPr>
          <a:xfrm>
            <a:off x="548640" y="182880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5 years</a:t>
            </a:r>
          </a:p>
        </p:txBody>
      </p:sp>
      <p:sp>
        <p:nvSpPr>
          <p:cNvPr id="13" name="Rectangle 12"/>
          <p:cNvSpPr/>
          <p:nvPr/>
        </p:nvSpPr>
        <p:spPr>
          <a:xfrm>
            <a:off x="3474720" y="1856231"/>
            <a:ext cx="1853457"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01329" y="182880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41%</a:t>
            </a:r>
          </a:p>
        </p:txBody>
      </p:sp>
      <p:sp>
        <p:nvSpPr>
          <p:cNvPr id="15" name="TextBox 14"/>
          <p:cNvSpPr txBox="1"/>
          <p:nvPr/>
        </p:nvSpPr>
        <p:spPr>
          <a:xfrm>
            <a:off x="548640" y="224028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10 years</a:t>
            </a:r>
          </a:p>
        </p:txBody>
      </p:sp>
      <p:sp>
        <p:nvSpPr>
          <p:cNvPr id="16" name="Rectangle 15"/>
          <p:cNvSpPr/>
          <p:nvPr/>
        </p:nvSpPr>
        <p:spPr>
          <a:xfrm>
            <a:off x="3474720" y="2267712"/>
            <a:ext cx="1582220"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0092" y="224028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35%</a:t>
            </a:r>
          </a:p>
        </p:txBody>
      </p:sp>
      <p:sp>
        <p:nvSpPr>
          <p:cNvPr id="18" name="TextBox 17"/>
          <p:cNvSpPr txBox="1"/>
          <p:nvPr/>
        </p:nvSpPr>
        <p:spPr>
          <a:xfrm>
            <a:off x="548640" y="265176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20 years</a:t>
            </a:r>
          </a:p>
        </p:txBody>
      </p:sp>
      <p:sp>
        <p:nvSpPr>
          <p:cNvPr id="19" name="Rectangle 18"/>
          <p:cNvSpPr/>
          <p:nvPr/>
        </p:nvSpPr>
        <p:spPr>
          <a:xfrm>
            <a:off x="3474720" y="2679191"/>
            <a:ext cx="1175363"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23235" y="265176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26%</a:t>
            </a:r>
          </a:p>
        </p:txBody>
      </p:sp>
      <p:sp>
        <p:nvSpPr>
          <p:cNvPr id="21" name="TextBox 20"/>
          <p:cNvSpPr txBox="1"/>
          <p:nvPr/>
        </p:nvSpPr>
        <p:spPr>
          <a:xfrm>
            <a:off x="548640" y="306324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30 years</a:t>
            </a:r>
          </a:p>
        </p:txBody>
      </p:sp>
      <p:sp>
        <p:nvSpPr>
          <p:cNvPr id="22" name="Rectangle 21"/>
          <p:cNvSpPr/>
          <p:nvPr/>
        </p:nvSpPr>
        <p:spPr>
          <a:xfrm>
            <a:off x="3474720" y="3090672"/>
            <a:ext cx="994538"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2410" y="306324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22%</a:t>
            </a:r>
          </a:p>
        </p:txBody>
      </p:sp>
      <p:sp>
        <p:nvSpPr>
          <p:cNvPr id="24" name="TextBox 23"/>
          <p:cNvSpPr txBox="1"/>
          <p:nvPr/>
        </p:nvSpPr>
        <p:spPr>
          <a:xfrm>
            <a:off x="548640" y="347472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Japan registry · 20 years</a:t>
            </a:r>
          </a:p>
        </p:txBody>
      </p:sp>
      <p:sp>
        <p:nvSpPr>
          <p:cNvPr id="25" name="Rectangle 24"/>
          <p:cNvSpPr/>
          <p:nvPr/>
        </p:nvSpPr>
        <p:spPr>
          <a:xfrm>
            <a:off x="3474720" y="3502151"/>
            <a:ext cx="2215108" cy="3566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2980" y="347472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49%</a:t>
            </a:r>
          </a:p>
        </p:txBody>
      </p:sp>
      <p:sp>
        <p:nvSpPr>
          <p:cNvPr id="27" name="TextBox 26"/>
          <p:cNvSpPr txBox="1"/>
          <p:nvPr/>
        </p:nvSpPr>
        <p:spPr>
          <a:xfrm>
            <a:off x="548640" y="388620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overall survival</a:t>
            </a:r>
          </a:p>
        </p:txBody>
      </p:sp>
      <p:sp>
        <p:nvSpPr>
          <p:cNvPr id="28" name="Rectangle 27"/>
          <p:cNvSpPr/>
          <p:nvPr/>
        </p:nvSpPr>
        <p:spPr>
          <a:xfrm>
            <a:off x="3474720" y="3913632"/>
            <a:ext cx="3661709" cy="3566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09581" y="388620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81%</a:t>
            </a:r>
          </a:p>
        </p:txBody>
      </p:sp>
      <p:sp>
        <p:nvSpPr>
          <p:cNvPr id="30" name="TextBox 29"/>
          <p:cNvSpPr txBox="1"/>
          <p:nvPr/>
        </p:nvSpPr>
        <p:spPr>
          <a:xfrm>
            <a:off x="548640" y="4297680"/>
            <a:ext cx="2834640" cy="411480"/>
          </a:xfrm>
          <a:prstGeom prst="rect">
            <a:avLst/>
          </a:prstGeom>
          <a:noFill/>
        </p:spPr>
        <p:txBody>
          <a:bodyPr wrap="square" lIns="36576" rIns="36576" tIns="36576" bIns="36576" anchor="ctr">
            <a:spAutoFit/>
          </a:bodyPr>
          <a:lstStyle/>
          <a:p>
            <a:pPr algn="l"/>
            <a:r>
              <a:rPr sz="1050" b="0" i="0">
                <a:solidFill>
                  <a:srgbClr val="1A1A1A"/>
                </a:solidFill>
                <a:latin typeface="Abadi"/>
              </a:rPr>
              <a:t>Japan · 20-year overall survival</a:t>
            </a:r>
          </a:p>
        </p:txBody>
      </p:sp>
      <p:sp>
        <p:nvSpPr>
          <p:cNvPr id="31" name="Rectangle 30"/>
          <p:cNvSpPr/>
          <p:nvPr/>
        </p:nvSpPr>
        <p:spPr>
          <a:xfrm>
            <a:off x="3474720" y="4325112"/>
            <a:ext cx="4023360" cy="3566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71231" y="429768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89%</a:t>
            </a:r>
          </a:p>
        </p:txBody>
      </p:sp>
      <p:sp>
        <p:nvSpPr>
          <p:cNvPr id="33" name="TextBox 32"/>
          <p:cNvSpPr txBox="1"/>
          <p:nvPr/>
        </p:nvSpPr>
        <p:spPr>
          <a:xfrm>
            <a:off x="548640" y="4736592"/>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France: 1,340 Kasai procedures, 1986–2015, stable across eras. Japan: 3,160 registered 1989–2015, 1,236 transplanted.</a:t>
            </a:r>
          </a:p>
        </p:txBody>
      </p:sp>
      <p:sp>
        <p:nvSpPr>
          <p:cNvPr id="34" name="TextBox 33"/>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Steady attrition</a:t>
            </a:r>
          </a:p>
          <a:p>
            <a:pPr algn="l">
              <a:spcAft>
                <a:spcPts val="300"/>
              </a:spcAft>
            </a:pPr>
            <a:r>
              <a:rPr sz="1050" b="0" i="0">
                <a:solidFill>
                  <a:srgbClr val="1A1A1A"/>
                </a:solidFill>
                <a:latin typeface="Abadi"/>
              </a:rPr>
              <a:t>Most native livers are lost in the first years, but losses continue through adolescence and adulthood.</a:t>
            </a:r>
          </a:p>
          <a:p>
            <a:pPr algn="l">
              <a:spcAft>
                <a:spcPts val="300"/>
              </a:spcAft>
            </a:pPr>
            <a:r>
              <a:rPr sz="1500" b="1" i="0">
                <a:solidFill>
                  <a:srgbClr val="1B355E"/>
                </a:solidFill>
                <a:latin typeface="Abadi"/>
              </a:rPr>
              <a:t>Earlier French era</a:t>
            </a:r>
          </a:p>
          <a:p>
            <a:pPr algn="l">
              <a:spcAft>
                <a:spcPts val="300"/>
              </a:spcAft>
            </a:pPr>
            <a:r>
              <a:rPr sz="1050" b="0" i="0">
                <a:solidFill>
                  <a:srgbClr val="1A1A1A"/>
                </a:solidFill>
                <a:latin typeface="Abadi"/>
              </a:rPr>
              <a:t>Serinet 2009: 57.1% at 2 years, 37.9% at 5, 32.4% at 10, 28.5% at 15.</a:t>
            </a:r>
          </a:p>
          <a:p>
            <a:pPr algn="l">
              <a:spcAft>
                <a:spcPts val="300"/>
              </a:spcAft>
            </a:pPr>
            <a:r>
              <a:rPr sz="1500" b="1" i="0">
                <a:solidFill>
                  <a:srgbClr val="1B355E"/>
                </a:solidFill>
                <a:latin typeface="Abadi"/>
              </a:rPr>
              <a:t>Overall survival</a:t>
            </a:r>
          </a:p>
          <a:p>
            <a:pPr algn="l">
              <a:spcAft>
                <a:spcPts val="300"/>
              </a:spcAft>
            </a:pPr>
            <a:r>
              <a:rPr sz="1050" b="0" i="0">
                <a:solidFill>
                  <a:srgbClr val="1A1A1A"/>
                </a:solidFill>
                <a:latin typeface="Abadi"/>
              </a:rPr>
              <a:t>High because transplant rescues: post-transplant survival 79% at 28 years in France.</a:t>
            </a:r>
          </a:p>
        </p:txBody>
      </p:sp>
      <p:sp>
        <p:nvSpPr>
          <p:cNvPr id="35" name="TextBox 34"/>
          <p:cNvSpPr txBox="1"/>
          <p:nvPr/>
        </p:nvSpPr>
        <p:spPr>
          <a:xfrm>
            <a:off x="548640" y="5212080"/>
            <a:ext cx="7955279" cy="54864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About half keep their liver to five years and one quarter to twenty in Europe; Japan reports about half at twenty.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BENCHMARKS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NATIONAL SERIES SIDE BY SIDE</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Native-liver and overall survival in population-based series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de Vries W, et al. J Pediatr 2012;160:638–44 · Schreiber RA, et al. J Pediatr 2007;151:659–65 · Pakarinen 2018 · Swiss national study 1994–2004 (PMID 18376248) · Lien 2011 · Bezerra 2014</a:t>
            </a:r>
          </a:p>
        </p:txBody>
      </p:sp>
      <p:graphicFrame>
        <p:nvGraphicFramePr>
          <p:cNvPr id="12" name="Table 11"/>
          <p:cNvGraphicFramePr>
            <a:graphicFrameLocks noGrp="1"/>
          </p:cNvGraphicFramePr>
          <p:nvPr/>
        </p:nvGraphicFramePr>
        <p:xfrm>
          <a:off x="548640" y="1783080"/>
          <a:ext cx="11082528" cy="2944368"/>
        </p:xfrm>
        <a:graphic>
          <a:graphicData uri="http://schemas.openxmlformats.org/drawingml/2006/table">
            <a:tbl>
              <a:tblPr firstRow="0" bandRow="0">
                <a:tableStyleId>{5C22544A-7EE6-4342-B048-85BDC9FD1C3A}</a:tableStyleId>
              </a:tblPr>
              <a:tblGrid>
                <a:gridCol w="2377440"/>
                <a:gridCol w="2743200"/>
                <a:gridCol w="3291840"/>
                <a:gridCol w="2670048"/>
              </a:tblGrid>
              <a:tr h="420624">
                <a:tc>
                  <a:txBody>
                    <a:bodyPr wrap="square"/>
                    <a:lstStyle/>
                    <a:p>
                      <a:pPr algn="l"/>
                      <a:r>
                        <a:rPr sz="1050" b="1">
                          <a:solidFill>
                            <a:srgbClr val="FFFFFF"/>
                          </a:solidFill>
                          <a:latin typeface="Abadi"/>
                        </a:rPr>
                        <a:t>Series</a:t>
                      </a:r>
                    </a:p>
                  </a:txBody>
                  <a:tcPr marL="73152" marR="73152" marT="27432" marB="27432" anchor="ctr">
                    <a:solidFill>
                      <a:srgbClr val="1B355E"/>
                    </a:solidFill>
                  </a:tcPr>
                </a:tc>
                <a:tc>
                  <a:txBody>
                    <a:bodyPr wrap="square"/>
                    <a:lstStyle/>
                    <a:p>
                      <a:pPr algn="l"/>
                      <a:r>
                        <a:rPr sz="1050" b="1">
                          <a:solidFill>
                            <a:srgbClr val="FFFFFF"/>
                          </a:solidFill>
                          <a:latin typeface="Abadi"/>
                        </a:rPr>
                        <a:t>Patients, era</a:t>
                      </a:r>
                    </a:p>
                  </a:txBody>
                  <a:tcPr marL="73152" marR="73152" marT="27432" marB="27432" anchor="ctr">
                    <a:solidFill>
                      <a:srgbClr val="1B355E"/>
                    </a:solidFill>
                  </a:tcPr>
                </a:tc>
                <a:tc>
                  <a:txBody>
                    <a:bodyPr wrap="square"/>
                    <a:lstStyle/>
                    <a:p>
                      <a:pPr algn="l"/>
                      <a:r>
                        <a:rPr sz="1050" b="1">
                          <a:solidFill>
                            <a:srgbClr val="FFFFFF"/>
                          </a:solidFill>
                          <a:latin typeface="Abadi"/>
                        </a:rPr>
                        <a:t>Native-liver survival</a:t>
                      </a:r>
                    </a:p>
                  </a:txBody>
                  <a:tcPr marL="73152" marR="73152" marT="27432" marB="27432" anchor="ctr">
                    <a:solidFill>
                      <a:srgbClr val="1B355E"/>
                    </a:solidFill>
                  </a:tcPr>
                </a:tc>
                <a:tc>
                  <a:txBody>
                    <a:bodyPr wrap="square"/>
                    <a:lstStyle/>
                    <a:p>
                      <a:pPr algn="l"/>
                      <a:r>
                        <a:rPr sz="1050" b="1">
                          <a:solidFill>
                            <a:srgbClr val="FFFFFF"/>
                          </a:solidFill>
                          <a:latin typeface="Abadi"/>
                        </a:rPr>
                        <a:t>Overall survival</a:t>
                      </a:r>
                    </a:p>
                  </a:txBody>
                  <a:tcPr marL="73152" marR="73152" marT="27432" marB="27432" anchor="ctr">
                    <a:solidFill>
                      <a:srgbClr val="1B355E"/>
                    </a:solidFill>
                  </a:tcPr>
                </a:tc>
              </a:tr>
              <a:tr h="420624">
                <a:tc>
                  <a:txBody>
                    <a:bodyPr wrap="square"/>
                    <a:lstStyle/>
                    <a:p>
                      <a:pPr algn="l"/>
                      <a:r>
                        <a:rPr sz="1050" b="1">
                          <a:solidFill>
                            <a:srgbClr val="1A1A1A"/>
                          </a:solidFill>
                          <a:latin typeface="Abadi"/>
                        </a:rPr>
                        <a:t>Netherlands</a:t>
                      </a:r>
                    </a:p>
                  </a:txBody>
                  <a:tcPr marL="73152" marR="73152" marT="27432" marB="27432" anchor="ctr">
                    <a:solidFill>
                      <a:srgbClr val="FFFFFF"/>
                    </a:solidFill>
                  </a:tcPr>
                </a:tc>
                <a:tc>
                  <a:txBody>
                    <a:bodyPr wrap="square"/>
                    <a:lstStyle/>
                    <a:p>
                      <a:pPr algn="l"/>
                      <a:r>
                        <a:rPr sz="1050" b="0">
                          <a:solidFill>
                            <a:srgbClr val="1A1A1A"/>
                          </a:solidFill>
                          <a:latin typeface="Abadi"/>
                        </a:rPr>
                        <a:t>214, 1987–2008</a:t>
                      </a:r>
                    </a:p>
                  </a:txBody>
                  <a:tcPr marL="73152" marR="73152" marT="27432" marB="27432" anchor="ctr">
                    <a:solidFill>
                      <a:srgbClr val="FFFFFF"/>
                    </a:solidFill>
                  </a:tcPr>
                </a:tc>
                <a:tc>
                  <a:txBody>
                    <a:bodyPr wrap="square"/>
                    <a:lstStyle/>
                    <a:p>
                      <a:pPr algn="l"/>
                      <a:r>
                        <a:rPr sz="1050" b="0">
                          <a:solidFill>
                            <a:srgbClr val="1A1A1A"/>
                          </a:solidFill>
                          <a:latin typeface="Abadi"/>
                        </a:rPr>
                        <a:t>46% at 4 years</a:t>
                      </a:r>
                    </a:p>
                  </a:txBody>
                  <a:tcPr marL="73152" marR="73152" marT="27432" marB="27432" anchor="ctr">
                    <a:solidFill>
                      <a:srgbClr val="FFFFFF"/>
                    </a:solidFill>
                  </a:tcPr>
                </a:tc>
                <a:tc>
                  <a:txBody>
                    <a:bodyPr wrap="square"/>
                    <a:lstStyle/>
                    <a:p>
                      <a:pPr algn="l"/>
                      <a:r>
                        <a:rPr sz="1050" b="0">
                          <a:solidFill>
                            <a:srgbClr val="1A1A1A"/>
                          </a:solidFill>
                          <a:latin typeface="Abadi"/>
                        </a:rPr>
                        <a:t>73% at 4 years</a:t>
                      </a:r>
                    </a:p>
                  </a:txBody>
                  <a:tcPr marL="73152" marR="73152" marT="27432" marB="27432" anchor="ctr">
                    <a:solidFill>
                      <a:srgbClr val="FFFFFF"/>
                    </a:solidFill>
                  </a:tcPr>
                </a:tc>
              </a:tr>
              <a:tr h="420624">
                <a:tc>
                  <a:txBody>
                    <a:bodyPr wrap="square"/>
                    <a:lstStyle/>
                    <a:p>
                      <a:pPr algn="l"/>
                      <a:r>
                        <a:rPr sz="1050" b="1">
                          <a:solidFill>
                            <a:srgbClr val="1A1A1A"/>
                          </a:solidFill>
                          <a:latin typeface="Abadi"/>
                        </a:rPr>
                        <a:t>Canada</a:t>
                      </a:r>
                    </a:p>
                  </a:txBody>
                  <a:tcPr marL="73152" marR="73152" marT="27432" marB="27432" anchor="ctr">
                    <a:solidFill>
                      <a:srgbClr val="F2F4F7"/>
                    </a:solidFill>
                  </a:tcPr>
                </a:tc>
                <a:tc>
                  <a:txBody>
                    <a:bodyPr wrap="square"/>
                    <a:lstStyle/>
                    <a:p>
                      <a:pPr algn="l"/>
                      <a:r>
                        <a:rPr sz="1050" b="0">
                          <a:solidFill>
                            <a:srgbClr val="1A1A1A"/>
                          </a:solidFill>
                          <a:latin typeface="Abadi"/>
                        </a:rPr>
                        <a:t>349, 1985–2002</a:t>
                      </a:r>
                    </a:p>
                  </a:txBody>
                  <a:tcPr marL="73152" marR="73152" marT="27432" marB="27432" anchor="ctr">
                    <a:solidFill>
                      <a:srgbClr val="F2F4F7"/>
                    </a:solidFill>
                  </a:tcPr>
                </a:tc>
                <a:tc>
                  <a:txBody>
                    <a:bodyPr wrap="square"/>
                    <a:lstStyle/>
                    <a:p>
                      <a:pPr algn="l"/>
                      <a:r>
                        <a:rPr sz="1050" b="0">
                          <a:solidFill>
                            <a:srgbClr val="1A1A1A"/>
                          </a:solidFill>
                          <a:latin typeface="Abadi"/>
                        </a:rPr>
                        <a:t>35–39% at 4 years</a:t>
                      </a:r>
                    </a:p>
                  </a:txBody>
                  <a:tcPr marL="73152" marR="73152" marT="27432" marB="27432" anchor="ctr">
                    <a:solidFill>
                      <a:srgbClr val="F2F4F7"/>
                    </a:solidFill>
                  </a:tcPr>
                </a:tc>
                <a:tc>
                  <a:txBody>
                    <a:bodyPr wrap="square"/>
                    <a:lstStyle/>
                    <a:p>
                      <a:pPr algn="l"/>
                      <a:r>
                        <a:rPr sz="1050" b="0">
                          <a:solidFill>
                            <a:srgbClr val="1A1A1A"/>
                          </a:solidFill>
                          <a:latin typeface="Abadi"/>
                        </a:rPr>
                        <a:t>81% at 4 years</a:t>
                      </a:r>
                    </a:p>
                  </a:txBody>
                  <a:tcPr marL="73152" marR="73152" marT="27432" marB="27432" anchor="ctr">
                    <a:solidFill>
                      <a:srgbClr val="F2F4F7"/>
                    </a:solidFill>
                  </a:tcPr>
                </a:tc>
              </a:tr>
              <a:tr h="420624">
                <a:tc>
                  <a:txBody>
                    <a:bodyPr wrap="square"/>
                    <a:lstStyle/>
                    <a:p>
                      <a:pPr algn="l"/>
                      <a:r>
                        <a:rPr sz="1050" b="1">
                          <a:solidFill>
                            <a:srgbClr val="1A1A1A"/>
                          </a:solidFill>
                          <a:latin typeface="Abadi"/>
                        </a:rPr>
                        <a:t>Switzerland</a:t>
                      </a:r>
                    </a:p>
                  </a:txBody>
                  <a:tcPr marL="73152" marR="73152" marT="27432" marB="27432" anchor="ctr">
                    <a:solidFill>
                      <a:srgbClr val="FFFFFF"/>
                    </a:solidFill>
                  </a:tcPr>
                </a:tc>
                <a:tc>
                  <a:txBody>
                    <a:bodyPr wrap="square"/>
                    <a:lstStyle/>
                    <a:p>
                      <a:pPr algn="l"/>
                      <a:r>
                        <a:rPr sz="1050" b="0">
                          <a:solidFill>
                            <a:srgbClr val="1A1A1A"/>
                          </a:solidFill>
                          <a:latin typeface="Abadi"/>
                        </a:rPr>
                        <a:t>48, 1994–2004</a:t>
                      </a:r>
                    </a:p>
                  </a:txBody>
                  <a:tcPr marL="73152" marR="73152" marT="27432" marB="27432" anchor="ctr">
                    <a:solidFill>
                      <a:srgbClr val="FFFFFF"/>
                    </a:solidFill>
                  </a:tcPr>
                </a:tc>
                <a:tc>
                  <a:txBody>
                    <a:bodyPr wrap="square"/>
                    <a:lstStyle/>
                    <a:p>
                      <a:pPr algn="l"/>
                      <a:r>
                        <a:rPr sz="1050" b="0">
                          <a:solidFill>
                            <a:srgbClr val="1A1A1A"/>
                          </a:solidFill>
                          <a:latin typeface="Abadi"/>
                        </a:rPr>
                        <a:t>37.4% at 4 years</a:t>
                      </a:r>
                    </a:p>
                  </a:txBody>
                  <a:tcPr marL="73152" marR="73152" marT="27432" marB="27432" anchor="ctr">
                    <a:solidFill>
                      <a:srgbClr val="FFFFFF"/>
                    </a:solidFill>
                  </a:tcPr>
                </a:tc>
                <a:tc>
                  <a:txBody>
                    <a:bodyPr wrap="square"/>
                    <a:lstStyle/>
                    <a:p>
                      <a:pPr algn="l"/>
                      <a:r>
                        <a:rPr sz="1050" b="0">
                          <a:solidFill>
                            <a:srgbClr val="1A1A1A"/>
                          </a:solidFill>
                          <a:latin typeface="Abadi"/>
                        </a:rPr>
                        <a:t>91.7% at 4 years</a:t>
                      </a:r>
                    </a:p>
                  </a:txBody>
                  <a:tcPr marL="73152" marR="73152" marT="27432" marB="27432" anchor="ctr">
                    <a:solidFill>
                      <a:srgbClr val="FFFFFF"/>
                    </a:solidFill>
                  </a:tcPr>
                </a:tc>
              </a:tr>
              <a:tr h="420624">
                <a:tc>
                  <a:txBody>
                    <a:bodyPr wrap="square"/>
                    <a:lstStyle/>
                    <a:p>
                      <a:pPr algn="l"/>
                      <a:r>
                        <a:rPr sz="1050" b="1">
                          <a:solidFill>
                            <a:srgbClr val="1A1A1A"/>
                          </a:solidFill>
                          <a:latin typeface="Abadi"/>
                        </a:rPr>
                        <a:t>Nordic countries</a:t>
                      </a:r>
                    </a:p>
                  </a:txBody>
                  <a:tcPr marL="73152" marR="73152" marT="27432" marB="27432" anchor="ctr">
                    <a:solidFill>
                      <a:srgbClr val="F2F4F7"/>
                    </a:solidFill>
                  </a:tcPr>
                </a:tc>
                <a:tc>
                  <a:txBody>
                    <a:bodyPr wrap="square"/>
                    <a:lstStyle/>
                    <a:p>
                      <a:pPr algn="l"/>
                      <a:r>
                        <a:rPr sz="1050" b="0">
                          <a:solidFill>
                            <a:srgbClr val="1A1A1A"/>
                          </a:solidFill>
                          <a:latin typeface="Abadi"/>
                        </a:rPr>
                        <a:t>154, 2005–2016</a:t>
                      </a:r>
                    </a:p>
                  </a:txBody>
                  <a:tcPr marL="73152" marR="73152" marT="27432" marB="27432" anchor="ctr">
                    <a:solidFill>
                      <a:srgbClr val="F2F4F7"/>
                    </a:solidFill>
                  </a:tcPr>
                </a:tc>
                <a:tc>
                  <a:txBody>
                    <a:bodyPr wrap="square"/>
                    <a:lstStyle/>
                    <a:p>
                      <a:pPr algn="l"/>
                      <a:r>
                        <a:rPr sz="1050" b="0">
                          <a:solidFill>
                            <a:srgbClr val="1A1A1A"/>
                          </a:solidFill>
                          <a:latin typeface="Abadi"/>
                        </a:rPr>
                        <a:t>53% at 5 years</a:t>
                      </a:r>
                    </a:p>
                  </a:txBody>
                  <a:tcPr marL="73152" marR="73152" marT="27432" marB="27432" anchor="ctr">
                    <a:solidFill>
                      <a:srgbClr val="F2F4F7"/>
                    </a:solidFill>
                  </a:tcPr>
                </a:tc>
                <a:tc>
                  <a:txBody>
                    <a:bodyPr wrap="square"/>
                    <a:lstStyle/>
                    <a:p>
                      <a:pPr algn="l"/>
                      <a:r>
                        <a:rPr sz="1050" b="0">
                          <a:solidFill>
                            <a:srgbClr val="1A1A1A"/>
                          </a:solidFill>
                          <a:latin typeface="Abadi"/>
                        </a:rPr>
                        <a:t>88% at 5 years</a:t>
                      </a:r>
                    </a:p>
                  </a:txBody>
                  <a:tcPr marL="73152" marR="73152" marT="27432" marB="27432" anchor="ctr">
                    <a:solidFill>
                      <a:srgbClr val="F2F4F7"/>
                    </a:solidFill>
                  </a:tcPr>
                </a:tc>
              </a:tr>
              <a:tr h="420624">
                <a:tc>
                  <a:txBody>
                    <a:bodyPr wrap="square"/>
                    <a:lstStyle/>
                    <a:p>
                      <a:pPr algn="l"/>
                      <a:r>
                        <a:rPr sz="1050" b="1">
                          <a:solidFill>
                            <a:srgbClr val="1A1A1A"/>
                          </a:solidFill>
                          <a:latin typeface="Abadi"/>
                        </a:rPr>
                        <a:t>Taiwan</a:t>
                      </a:r>
                    </a:p>
                  </a:txBody>
                  <a:tcPr marL="73152" marR="73152" marT="27432" marB="27432" anchor="ctr">
                    <a:solidFill>
                      <a:srgbClr val="FFFFFF"/>
                    </a:solidFill>
                  </a:tcPr>
                </a:tc>
                <a:tc>
                  <a:txBody>
                    <a:bodyPr wrap="square"/>
                    <a:lstStyle/>
                    <a:p>
                      <a:pPr algn="l"/>
                      <a:r>
                        <a:rPr sz="1050" b="0">
                          <a:solidFill>
                            <a:srgbClr val="1A1A1A"/>
                          </a:solidFill>
                          <a:latin typeface="Abadi"/>
                        </a:rPr>
                        <a:t>Before vs after stool cards</a:t>
                      </a:r>
                    </a:p>
                  </a:txBody>
                  <a:tcPr marL="73152" marR="73152" marT="27432" marB="27432" anchor="ctr">
                    <a:solidFill>
                      <a:srgbClr val="FFFFFF"/>
                    </a:solidFill>
                  </a:tcPr>
                </a:tc>
                <a:tc>
                  <a:txBody>
                    <a:bodyPr wrap="square"/>
                    <a:lstStyle/>
                    <a:p>
                      <a:pPr algn="l"/>
                      <a:r>
                        <a:rPr sz="1050" b="0">
                          <a:solidFill>
                            <a:srgbClr val="1A1A1A"/>
                          </a:solidFill>
                          <a:latin typeface="Abadi"/>
                        </a:rPr>
                        <a:t>Jaundice-free 27.3% vs 64.3% at 5 years</a:t>
                      </a:r>
                    </a:p>
                  </a:txBody>
                  <a:tcPr marL="73152" marR="73152" marT="27432" marB="27432" anchor="ctr">
                    <a:solidFill>
                      <a:srgbClr val="FFFFFF"/>
                    </a:solidFill>
                  </a:tcPr>
                </a:tc>
                <a:tc>
                  <a:txBody>
                    <a:bodyPr wrap="square"/>
                    <a:lstStyle/>
                    <a:p>
                      <a:pPr algn="l"/>
                      <a:r>
                        <a:rPr sz="1050" b="0">
                          <a:solidFill>
                            <a:srgbClr val="1A1A1A"/>
                          </a:solidFill>
                          <a:latin typeface="Abadi"/>
                        </a:rPr>
                        <a:t>55.7% vs 89.3% at 5 years</a:t>
                      </a:r>
                    </a:p>
                  </a:txBody>
                  <a:tcPr marL="73152" marR="73152" marT="27432" marB="27432" anchor="ctr">
                    <a:solidFill>
                      <a:srgbClr val="FFFFFF"/>
                    </a:solidFill>
                  </a:tcPr>
                </a:tc>
              </a:tr>
              <a:tr h="420624">
                <a:tc>
                  <a:txBody>
                    <a:bodyPr wrap="square"/>
                    <a:lstStyle/>
                    <a:p>
                      <a:pPr algn="l"/>
                      <a:r>
                        <a:rPr sz="1050" b="1">
                          <a:solidFill>
                            <a:srgbClr val="1A1A1A"/>
                          </a:solidFill>
                          <a:latin typeface="Abadi"/>
                        </a:rPr>
                        <a:t>START trial (US)</a:t>
                      </a:r>
                    </a:p>
                  </a:txBody>
                  <a:tcPr marL="73152" marR="73152" marT="27432" marB="27432" anchor="ctr">
                    <a:solidFill>
                      <a:srgbClr val="F2F4F7"/>
                    </a:solidFill>
                  </a:tcPr>
                </a:tc>
                <a:tc>
                  <a:txBody>
                    <a:bodyPr wrap="square"/>
                    <a:lstStyle/>
                    <a:p>
                      <a:pPr algn="l"/>
                      <a:r>
                        <a:rPr sz="1050" b="0">
                          <a:solidFill>
                            <a:srgbClr val="1A1A1A"/>
                          </a:solidFill>
                          <a:latin typeface="Abadi"/>
                        </a:rPr>
                        <a:t>140, 2005–2011</a:t>
                      </a:r>
                    </a:p>
                  </a:txBody>
                  <a:tcPr marL="73152" marR="73152" marT="27432" marB="27432" anchor="ctr">
                    <a:solidFill>
                      <a:srgbClr val="F2F4F7"/>
                    </a:solidFill>
                  </a:tcPr>
                </a:tc>
                <a:tc>
                  <a:txBody>
                    <a:bodyPr wrap="square"/>
                    <a:lstStyle/>
                    <a:p>
                      <a:pPr algn="l"/>
                      <a:r>
                        <a:rPr sz="1050" b="0">
                          <a:solidFill>
                            <a:srgbClr val="1A1A1A"/>
                          </a:solidFill>
                          <a:latin typeface="Abadi"/>
                        </a:rPr>
                        <a:t>59% at 2 years, both arms</a:t>
                      </a:r>
                    </a:p>
                  </a:txBody>
                  <a:tcPr marL="73152" marR="73152" marT="27432" marB="27432" anchor="ctr">
                    <a:solidFill>
                      <a:srgbClr val="F2F4F7"/>
                    </a:solidFill>
                  </a:tcPr>
                </a:tc>
                <a:tc>
                  <a:txBody>
                    <a:bodyPr wrap="square"/>
                    <a:lstStyle/>
                    <a:p>
                      <a:pPr algn="l"/>
                      <a:r>
                        <a:rPr sz="1050" b="0">
                          <a:solidFill>
                            <a:srgbClr val="1A1A1A"/>
                          </a:solidFill>
                          <a:latin typeface="Abadi"/>
                        </a:rPr>
                        <a:t>Not the end point</a:t>
                      </a:r>
                    </a:p>
                  </a:txBody>
                  <a:tcPr marL="73152" marR="73152" marT="27432" marB="27432" anchor="ctr">
                    <a:solidFill>
                      <a:srgbClr val="F2F4F7"/>
                    </a:solidFill>
                  </a:tcPr>
                </a:tc>
              </a:tr>
            </a:tbl>
          </a:graphicData>
        </a:graphic>
      </p:graphicFrame>
      <p:sp>
        <p:nvSpPr>
          <p:cNvPr id="13" name="TextBox 12"/>
          <p:cNvSpPr txBox="1"/>
          <p:nvPr/>
        </p:nvSpPr>
        <p:spPr>
          <a:xfrm>
            <a:off x="548640" y="4892040"/>
            <a:ext cx="11082528" cy="82296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A centre that keeps about half of its patients on their own liver at four to five years is performing at the international benchmark. Dutch centres with small caseloads did not do worse (r = 0.024), so volume is not the whole 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AGE AT THE KASAI</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EVERY MONTH COUNTS, EVEN LATE</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Native-liver survival by age at the Kasai in two national cohorts,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Fanna 2019 · Schreiber 2007 · Serinet 2009</a:t>
            </a:r>
          </a:p>
        </p:txBody>
      </p:sp>
      <p:sp>
        <p:nvSpPr>
          <p:cNvPr id="12" name="TextBox 11"/>
          <p:cNvSpPr txBox="1"/>
          <p:nvPr/>
        </p:nvSpPr>
        <p:spPr>
          <a:xfrm>
            <a:off x="548640" y="182880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Kasai in month 1 · 25 years</a:t>
            </a:r>
          </a:p>
        </p:txBody>
      </p:sp>
      <p:sp>
        <p:nvSpPr>
          <p:cNvPr id="13" name="Rectangle 12"/>
          <p:cNvSpPr/>
          <p:nvPr/>
        </p:nvSpPr>
        <p:spPr>
          <a:xfrm>
            <a:off x="3657600" y="1856231"/>
            <a:ext cx="2978331"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9083" y="182880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38%</a:t>
            </a:r>
          </a:p>
        </p:txBody>
      </p:sp>
      <p:sp>
        <p:nvSpPr>
          <p:cNvPr id="15" name="TextBox 14"/>
          <p:cNvSpPr txBox="1"/>
          <p:nvPr/>
        </p:nvSpPr>
        <p:spPr>
          <a:xfrm>
            <a:off x="548640" y="224028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month 2</a:t>
            </a:r>
          </a:p>
        </p:txBody>
      </p:sp>
      <p:sp>
        <p:nvSpPr>
          <p:cNvPr id="16" name="Rectangle 15"/>
          <p:cNvSpPr/>
          <p:nvPr/>
        </p:nvSpPr>
        <p:spPr>
          <a:xfrm>
            <a:off x="3657600" y="2267712"/>
            <a:ext cx="2116182"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46934" y="224028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27%</a:t>
            </a:r>
          </a:p>
        </p:txBody>
      </p:sp>
      <p:sp>
        <p:nvSpPr>
          <p:cNvPr id="18" name="TextBox 17"/>
          <p:cNvSpPr txBox="1"/>
          <p:nvPr/>
        </p:nvSpPr>
        <p:spPr>
          <a:xfrm>
            <a:off x="548640" y="265176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month 3</a:t>
            </a:r>
          </a:p>
        </p:txBody>
      </p:sp>
      <p:sp>
        <p:nvSpPr>
          <p:cNvPr id="19" name="Rectangle 18"/>
          <p:cNvSpPr/>
          <p:nvPr/>
        </p:nvSpPr>
        <p:spPr>
          <a:xfrm>
            <a:off x="3657600" y="2679191"/>
            <a:ext cx="1724297" cy="3566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55049" y="265176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22%</a:t>
            </a:r>
          </a:p>
        </p:txBody>
      </p:sp>
      <p:sp>
        <p:nvSpPr>
          <p:cNvPr id="21" name="TextBox 20"/>
          <p:cNvSpPr txBox="1"/>
          <p:nvPr/>
        </p:nvSpPr>
        <p:spPr>
          <a:xfrm>
            <a:off x="548640" y="306324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France · later</a:t>
            </a:r>
          </a:p>
        </p:txBody>
      </p:sp>
      <p:sp>
        <p:nvSpPr>
          <p:cNvPr id="22" name="Rectangle 21"/>
          <p:cNvSpPr/>
          <p:nvPr/>
        </p:nvSpPr>
        <p:spPr>
          <a:xfrm>
            <a:off x="3657600" y="3090672"/>
            <a:ext cx="1489165" cy="3566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9917" y="306324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19%</a:t>
            </a:r>
          </a:p>
        </p:txBody>
      </p:sp>
      <p:sp>
        <p:nvSpPr>
          <p:cNvPr id="24" name="TextBox 23"/>
          <p:cNvSpPr txBox="1"/>
          <p:nvPr/>
        </p:nvSpPr>
        <p:spPr>
          <a:xfrm>
            <a:off x="548640" y="347472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Canada · ≤ 30 days · 4 years</a:t>
            </a:r>
          </a:p>
        </p:txBody>
      </p:sp>
      <p:sp>
        <p:nvSpPr>
          <p:cNvPr id="25" name="Rectangle 24"/>
          <p:cNvSpPr/>
          <p:nvPr/>
        </p:nvSpPr>
        <p:spPr>
          <a:xfrm>
            <a:off x="3657600" y="3502151"/>
            <a:ext cx="3840480" cy="3566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347472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49%</a:t>
            </a:r>
          </a:p>
        </p:txBody>
      </p:sp>
      <p:sp>
        <p:nvSpPr>
          <p:cNvPr id="27" name="TextBox 26"/>
          <p:cNvSpPr txBox="1"/>
          <p:nvPr/>
        </p:nvSpPr>
        <p:spPr>
          <a:xfrm>
            <a:off x="548640" y="388620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Canada · 31–90 days</a:t>
            </a:r>
          </a:p>
        </p:txBody>
      </p:sp>
      <p:sp>
        <p:nvSpPr>
          <p:cNvPr id="28" name="Rectangle 27"/>
          <p:cNvSpPr/>
          <p:nvPr/>
        </p:nvSpPr>
        <p:spPr>
          <a:xfrm>
            <a:off x="3657600" y="3913632"/>
            <a:ext cx="2821577" cy="3566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2329" y="388620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36%</a:t>
            </a:r>
          </a:p>
        </p:txBody>
      </p:sp>
      <p:sp>
        <p:nvSpPr>
          <p:cNvPr id="30" name="TextBox 29"/>
          <p:cNvSpPr txBox="1"/>
          <p:nvPr/>
        </p:nvSpPr>
        <p:spPr>
          <a:xfrm>
            <a:off x="548640" y="4297680"/>
            <a:ext cx="3017520" cy="411480"/>
          </a:xfrm>
          <a:prstGeom prst="rect">
            <a:avLst/>
          </a:prstGeom>
          <a:noFill/>
        </p:spPr>
        <p:txBody>
          <a:bodyPr wrap="square" lIns="36576" rIns="36576" tIns="36576" bIns="36576" anchor="ctr">
            <a:spAutoFit/>
          </a:bodyPr>
          <a:lstStyle/>
          <a:p>
            <a:pPr algn="l"/>
            <a:r>
              <a:rPr sz="1050" b="0" i="0">
                <a:solidFill>
                  <a:srgbClr val="1A1A1A"/>
                </a:solidFill>
                <a:latin typeface="Abadi"/>
              </a:rPr>
              <a:t>Canada · &gt; 90 days</a:t>
            </a:r>
          </a:p>
        </p:txBody>
      </p:sp>
      <p:sp>
        <p:nvSpPr>
          <p:cNvPr id="31" name="Rectangle 30"/>
          <p:cNvSpPr/>
          <p:nvPr/>
        </p:nvSpPr>
        <p:spPr>
          <a:xfrm>
            <a:off x="3657600" y="4325112"/>
            <a:ext cx="1802674" cy="3566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33426" y="4297680"/>
            <a:ext cx="1463040" cy="411480"/>
          </a:xfrm>
          <a:prstGeom prst="rect">
            <a:avLst/>
          </a:prstGeom>
          <a:noFill/>
        </p:spPr>
        <p:txBody>
          <a:bodyPr wrap="square" lIns="36576" rIns="36576" tIns="36576" bIns="36576" anchor="ctr">
            <a:spAutoFit/>
          </a:bodyPr>
          <a:lstStyle/>
          <a:p>
            <a:pPr algn="l"/>
            <a:r>
              <a:rPr sz="1050" b="1" i="0">
                <a:solidFill>
                  <a:srgbClr val="1A1A1A"/>
                </a:solidFill>
                <a:latin typeface="Abadi"/>
              </a:rPr>
              <a:t>23%</a:t>
            </a:r>
          </a:p>
        </p:txBody>
      </p:sp>
      <p:sp>
        <p:nvSpPr>
          <p:cNvPr id="33" name="TextBox 32"/>
          <p:cNvSpPr txBox="1"/>
          <p:nvPr/>
        </p:nvSpPr>
        <p:spPr>
          <a:xfrm>
            <a:off x="548640" y="4736592"/>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France P = .0001; Canada P &lt; .0001. Serinet 2009 showed a progressive fall across 30-day age bands.</a:t>
            </a:r>
          </a:p>
        </p:txBody>
      </p:sp>
      <p:sp>
        <p:nvSpPr>
          <p:cNvPr id="34" name="TextBox 33"/>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Gradient</a:t>
            </a:r>
          </a:p>
          <a:p>
            <a:pPr algn="l">
              <a:spcAft>
                <a:spcPts val="300"/>
              </a:spcAft>
            </a:pPr>
            <a:r>
              <a:rPr sz="1050" b="0" i="0">
                <a:solidFill>
                  <a:srgbClr val="1A1A1A"/>
                </a:solidFill>
                <a:latin typeface="Abadi"/>
              </a:rPr>
              <a:t>No threshold: survival falls continuously with age.</a:t>
            </a:r>
          </a:p>
          <a:p>
            <a:pPr algn="l">
              <a:spcAft>
                <a:spcPts val="300"/>
              </a:spcAft>
            </a:pPr>
            <a:r>
              <a:rPr sz="1500" b="1" i="0">
                <a:solidFill>
                  <a:srgbClr val="1B355E"/>
                </a:solidFill>
                <a:latin typeface="Abadi"/>
              </a:rPr>
              <a:t>Late is not futile</a:t>
            </a:r>
          </a:p>
          <a:p>
            <a:pPr algn="l">
              <a:spcAft>
                <a:spcPts val="300"/>
              </a:spcAft>
            </a:pPr>
            <a:r>
              <a:rPr sz="1050" b="0" i="0">
                <a:solidFill>
                  <a:srgbClr val="1A1A1A"/>
                </a:solidFill>
                <a:latin typeface="Abadi"/>
              </a:rPr>
              <a:t>About one in five operated after three months still had their own liver at 25 years in France.</a:t>
            </a:r>
          </a:p>
          <a:p>
            <a:pPr algn="l">
              <a:spcAft>
                <a:spcPts val="300"/>
              </a:spcAft>
            </a:pPr>
            <a:r>
              <a:rPr sz="1500" b="1" i="0">
                <a:solidFill>
                  <a:srgbClr val="1B355E"/>
                </a:solidFill>
                <a:latin typeface="Abadi"/>
              </a:rPr>
              <a:t>Link</a:t>
            </a:r>
          </a:p>
          <a:p>
            <a:pPr algn="l">
              <a:spcAft>
                <a:spcPts val="300"/>
              </a:spcAft>
            </a:pPr>
            <a:r>
              <a:rPr sz="1050" b="0" i="0">
                <a:solidFill>
                  <a:srgbClr val="1A1A1A"/>
                </a:solidFill>
                <a:latin typeface="Abadi"/>
              </a:rPr>
              <a:t>Day 4 of this block: timing and screening.</a:t>
            </a:r>
          </a:p>
        </p:txBody>
      </p:sp>
      <p:sp>
        <p:nvSpPr>
          <p:cNvPr id="35" name="TextBox 34"/>
          <p:cNvSpPr txBox="1"/>
          <p:nvPr/>
        </p:nvSpPr>
        <p:spPr>
          <a:xfrm>
            <a:off x="548640" y="5212080"/>
            <a:ext cx="7955279" cy="54864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Age sets the starting odds; the three-month bilirubin then updates them for the individual child.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OTHER MODIFIERS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ELSE MOVES THE ODDS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Factors associated with native-liver survival beyond age and bilirubin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McKiernan PJ, et al. Lancet 2000;355:25–9 · Zhao Y, et al. Front Pediatr 2021;9:710450 · Liu SH, et al. J Formos Med Assoc 2026;125:275–82 · Hahn 2013 · Okubo 2025</a:t>
            </a:r>
          </a:p>
        </p:txBody>
      </p:sp>
      <p:sp>
        <p:nvSpPr>
          <p:cNvPr id="12" name="Rectangle 11"/>
          <p:cNvSpPr/>
          <p:nvPr/>
        </p:nvSpPr>
        <p:spPr>
          <a:xfrm>
            <a:off x="548640"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Centre</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UK and Ireland 1993–95: better transplant-free survival in experienced centres. France: caseload mattered only before 1997.</a:t>
            </a:r>
          </a:p>
        </p:txBody>
      </p:sp>
      <p:sp>
        <p:nvSpPr>
          <p:cNvPr id="16" name="Rectangle 15"/>
          <p:cNvSpPr/>
          <p:nvPr/>
        </p:nvSpPr>
        <p:spPr>
          <a:xfrm>
            <a:off x="2801721"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CMV-IgM+</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Meta-analysis: lower clearance, OR 0.47 (0.32–0.69); 2-year survival difference not significant.</a:t>
            </a:r>
          </a:p>
        </p:txBody>
      </p:sp>
      <p:sp>
        <p:nvSpPr>
          <p:cNvPr id="20" name="Rectangle 19"/>
          <p:cNvSpPr/>
          <p:nvPr/>
        </p:nvSpPr>
        <p:spPr>
          <a:xfrm>
            <a:off x="5054803"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Cholangitis</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Taiwan 2026: ≥ 3 episodes a year in jaundice-free children, OR 2.64; direct bilirubin ≥ 1.1 mg/dL at 3 months, OR 8.17.</a:t>
            </a:r>
          </a:p>
        </p:txBody>
      </p:sp>
      <p:sp>
        <p:nvSpPr>
          <p:cNvPr id="24" name="Rectangle 23"/>
          <p:cNvSpPr/>
          <p:nvPr/>
        </p:nvSpPr>
        <p:spPr>
          <a:xfrm>
            <a:off x="7307884" y="1773936"/>
            <a:ext cx="2070201" cy="214884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1E7A33"/>
                </a:solidFill>
                <a:latin typeface="Abadi"/>
              </a:rPr>
              <a:t>Stiffness</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Above 19.9 kPa three months after the Kasai predicted liver-related events.</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Portal pressure</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The strongest long-term stratifier in the Japanese registry (next slide).</a:t>
            </a:r>
          </a:p>
        </p:txBody>
      </p:sp>
      <p:sp>
        <p:nvSpPr>
          <p:cNvPr id="32" name="TextBox 31"/>
          <p:cNvSpPr txBox="1"/>
          <p:nvPr/>
        </p:nvSpPr>
        <p:spPr>
          <a:xfrm>
            <a:off x="548640" y="4114800"/>
            <a:ext cx="11082528" cy="1280160"/>
          </a:xfrm>
          <a:prstGeom prst="rect">
            <a:avLst/>
          </a:prstGeom>
          <a:noFill/>
        </p:spPr>
        <p:txBody>
          <a:bodyPr wrap="square" lIns="36576" rIns="36576" tIns="36576" bIns="36576" anchor="t">
            <a:spAutoFit/>
          </a:bodyPr>
          <a:lstStyle/>
          <a:p>
            <a:pPr algn="l"/>
            <a:r>
              <a:rPr sz="1250" b="1" i="0">
                <a:solidFill>
                  <a:srgbClr val="1B355E"/>
                </a:solidFill>
                <a:latin typeface="Abadi"/>
              </a:rPr>
              <a:t>Interpretation.   </a:t>
            </a:r>
            <a:r>
              <a:rPr sz="1250" b="0" i="0">
                <a:solidFill>
                  <a:srgbClr val="1A1A1A"/>
                </a:solidFill>
                <a:latin typeface="Abadi"/>
              </a:rPr>
              <a:t>Phenotype and centre set expectations before surgery; drainage, cholangitis and portal hypertension update them afterwards. Syndromic (BASM) and cystic phenotypes are often quoted as worse and better respectively, but the size of the effect varies between series and should not be over-stated to families.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PORTAL HYPERTENSION</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THE LONG-TERM STRATIFIER</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Japanese Biliary Atresia Registry, 3,777 patients: native-liver survival at 10 and 30 years by portal-hypertension status,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Okubo R, Nio M, et al. Pediatr Surg Int 2025;41:324</a:t>
            </a:r>
          </a:p>
        </p:txBody>
      </p:sp>
      <p:sp>
        <p:nvSpPr>
          <p:cNvPr id="12" name="TextBox 11"/>
          <p:cNvSpPr txBox="1"/>
          <p:nvPr/>
        </p:nvSpPr>
        <p:spPr>
          <a:xfrm>
            <a:off x="548640" y="1828800"/>
            <a:ext cx="3017520" cy="429768"/>
          </a:xfrm>
          <a:prstGeom prst="rect">
            <a:avLst/>
          </a:prstGeom>
          <a:noFill/>
        </p:spPr>
        <p:txBody>
          <a:bodyPr wrap="square" lIns="36576" rIns="36576" tIns="36576" bIns="36576" anchor="ctr">
            <a:spAutoFit/>
          </a:bodyPr>
          <a:lstStyle/>
          <a:p>
            <a:pPr algn="l"/>
            <a:r>
              <a:rPr sz="1050" b="0" i="0">
                <a:solidFill>
                  <a:srgbClr val="1A1A1A"/>
                </a:solidFill>
                <a:latin typeface="Abadi"/>
              </a:rPr>
              <a:t>No portal hypertension · 10 y</a:t>
            </a:r>
          </a:p>
        </p:txBody>
      </p:sp>
      <p:sp>
        <p:nvSpPr>
          <p:cNvPr id="13" name="Rectangle 12"/>
          <p:cNvSpPr/>
          <p:nvPr/>
        </p:nvSpPr>
        <p:spPr>
          <a:xfrm>
            <a:off x="3657600" y="1856231"/>
            <a:ext cx="3633094" cy="37490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3846" y="1828800"/>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90.3%</a:t>
            </a:r>
          </a:p>
        </p:txBody>
      </p:sp>
      <p:sp>
        <p:nvSpPr>
          <p:cNvPr id="15" name="TextBox 14"/>
          <p:cNvSpPr txBox="1"/>
          <p:nvPr/>
        </p:nvSpPr>
        <p:spPr>
          <a:xfrm>
            <a:off x="548640" y="2258568"/>
            <a:ext cx="3017520" cy="429768"/>
          </a:xfrm>
          <a:prstGeom prst="rect">
            <a:avLst/>
          </a:prstGeom>
          <a:noFill/>
        </p:spPr>
        <p:txBody>
          <a:bodyPr wrap="square" lIns="36576" rIns="36576" tIns="36576" bIns="36576" anchor="ctr">
            <a:spAutoFit/>
          </a:bodyPr>
          <a:lstStyle/>
          <a:p>
            <a:pPr algn="l"/>
            <a:r>
              <a:rPr sz="1050" b="0" i="0">
                <a:solidFill>
                  <a:srgbClr val="1A1A1A"/>
                </a:solidFill>
                <a:latin typeface="Abadi"/>
              </a:rPr>
              <a:t>No portal hypertension · 30 y</a:t>
            </a:r>
          </a:p>
        </p:txBody>
      </p:sp>
      <p:sp>
        <p:nvSpPr>
          <p:cNvPr id="16" name="Rectangle 15"/>
          <p:cNvSpPr/>
          <p:nvPr/>
        </p:nvSpPr>
        <p:spPr>
          <a:xfrm>
            <a:off x="3657600" y="2285999"/>
            <a:ext cx="3556650" cy="37490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87402" y="2258568"/>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88.4%</a:t>
            </a:r>
          </a:p>
        </p:txBody>
      </p:sp>
      <p:sp>
        <p:nvSpPr>
          <p:cNvPr id="18" name="TextBox 17"/>
          <p:cNvSpPr txBox="1"/>
          <p:nvPr/>
        </p:nvSpPr>
        <p:spPr>
          <a:xfrm>
            <a:off x="548640" y="2688336"/>
            <a:ext cx="3017520" cy="429768"/>
          </a:xfrm>
          <a:prstGeom prst="rect">
            <a:avLst/>
          </a:prstGeom>
          <a:noFill/>
        </p:spPr>
        <p:txBody>
          <a:bodyPr wrap="square" lIns="36576" rIns="36576" tIns="36576" bIns="36576" anchor="ctr">
            <a:spAutoFit/>
          </a:bodyPr>
          <a:lstStyle/>
          <a:p>
            <a:pPr algn="l"/>
            <a:r>
              <a:rPr sz="1050" b="0" i="0">
                <a:solidFill>
                  <a:srgbClr val="1A1A1A"/>
                </a:solidFill>
                <a:latin typeface="Abadi"/>
              </a:rPr>
              <a:t>Untreated portal hypertension · 10 y</a:t>
            </a:r>
          </a:p>
        </p:txBody>
      </p:sp>
      <p:sp>
        <p:nvSpPr>
          <p:cNvPr id="19" name="Rectangle 18"/>
          <p:cNvSpPr/>
          <p:nvPr/>
        </p:nvSpPr>
        <p:spPr>
          <a:xfrm>
            <a:off x="3657600" y="2715768"/>
            <a:ext cx="3250874" cy="37490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81626" y="2688336"/>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80.8%</a:t>
            </a:r>
          </a:p>
        </p:txBody>
      </p:sp>
      <p:sp>
        <p:nvSpPr>
          <p:cNvPr id="21" name="TextBox 20"/>
          <p:cNvSpPr txBox="1"/>
          <p:nvPr/>
        </p:nvSpPr>
        <p:spPr>
          <a:xfrm>
            <a:off x="548640" y="3118104"/>
            <a:ext cx="3017520" cy="429768"/>
          </a:xfrm>
          <a:prstGeom prst="rect">
            <a:avLst/>
          </a:prstGeom>
          <a:noFill/>
        </p:spPr>
        <p:txBody>
          <a:bodyPr wrap="square" lIns="36576" rIns="36576" tIns="36576" bIns="36576" anchor="ctr">
            <a:spAutoFit/>
          </a:bodyPr>
          <a:lstStyle/>
          <a:p>
            <a:pPr algn="l"/>
            <a:r>
              <a:rPr sz="1050" b="0" i="0">
                <a:solidFill>
                  <a:srgbClr val="1A1A1A"/>
                </a:solidFill>
                <a:latin typeface="Abadi"/>
              </a:rPr>
              <a:t>Untreated portal hypertension · 30 y</a:t>
            </a:r>
          </a:p>
        </p:txBody>
      </p:sp>
      <p:sp>
        <p:nvSpPr>
          <p:cNvPr id="22" name="Rectangle 21"/>
          <p:cNvSpPr/>
          <p:nvPr/>
        </p:nvSpPr>
        <p:spPr>
          <a:xfrm>
            <a:off x="3657600" y="3145536"/>
            <a:ext cx="2743931" cy="37490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4683" y="3118104"/>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68.2%</a:t>
            </a:r>
          </a:p>
        </p:txBody>
      </p:sp>
      <p:sp>
        <p:nvSpPr>
          <p:cNvPr id="24" name="TextBox 23"/>
          <p:cNvSpPr txBox="1"/>
          <p:nvPr/>
        </p:nvSpPr>
        <p:spPr>
          <a:xfrm>
            <a:off x="548640" y="3547872"/>
            <a:ext cx="3017520" cy="429768"/>
          </a:xfrm>
          <a:prstGeom prst="rect">
            <a:avLst/>
          </a:prstGeom>
          <a:noFill/>
        </p:spPr>
        <p:txBody>
          <a:bodyPr wrap="square" lIns="36576" rIns="36576" tIns="36576" bIns="36576" anchor="ctr">
            <a:spAutoFit/>
          </a:bodyPr>
          <a:lstStyle/>
          <a:p>
            <a:pPr algn="l"/>
            <a:r>
              <a:rPr sz="1050" b="0" i="0">
                <a:solidFill>
                  <a:srgbClr val="1A1A1A"/>
                </a:solidFill>
                <a:latin typeface="Abadi"/>
              </a:rPr>
              <a:t>Treated portal hypertension · 10 y</a:t>
            </a:r>
          </a:p>
        </p:txBody>
      </p:sp>
      <p:sp>
        <p:nvSpPr>
          <p:cNvPr id="25" name="Rectangle 24"/>
          <p:cNvSpPr/>
          <p:nvPr/>
        </p:nvSpPr>
        <p:spPr>
          <a:xfrm>
            <a:off x="3657600" y="3575303"/>
            <a:ext cx="2498506"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29258" y="3547872"/>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62.1%</a:t>
            </a:r>
          </a:p>
        </p:txBody>
      </p:sp>
      <p:sp>
        <p:nvSpPr>
          <p:cNvPr id="27" name="TextBox 26"/>
          <p:cNvSpPr txBox="1"/>
          <p:nvPr/>
        </p:nvSpPr>
        <p:spPr>
          <a:xfrm>
            <a:off x="548640" y="3977639"/>
            <a:ext cx="3017520" cy="429768"/>
          </a:xfrm>
          <a:prstGeom prst="rect">
            <a:avLst/>
          </a:prstGeom>
          <a:noFill/>
        </p:spPr>
        <p:txBody>
          <a:bodyPr wrap="square" lIns="36576" rIns="36576" tIns="36576" bIns="36576" anchor="ctr">
            <a:spAutoFit/>
          </a:bodyPr>
          <a:lstStyle/>
          <a:p>
            <a:pPr algn="l"/>
            <a:r>
              <a:rPr sz="1050" b="0" i="0">
                <a:solidFill>
                  <a:srgbClr val="1A1A1A"/>
                </a:solidFill>
                <a:latin typeface="Abadi"/>
              </a:rPr>
              <a:t>Treated portal hypertension · 30 y</a:t>
            </a:r>
          </a:p>
        </p:txBody>
      </p:sp>
      <p:sp>
        <p:nvSpPr>
          <p:cNvPr id="28" name="Rectangle 27"/>
          <p:cNvSpPr/>
          <p:nvPr/>
        </p:nvSpPr>
        <p:spPr>
          <a:xfrm>
            <a:off x="3657600" y="4005072"/>
            <a:ext cx="1846722"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77474" y="3977639"/>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45.9%</a:t>
            </a:r>
          </a:p>
        </p:txBody>
      </p:sp>
      <p:sp>
        <p:nvSpPr>
          <p:cNvPr id="30" name="TextBox 29"/>
          <p:cNvSpPr txBox="1"/>
          <p:nvPr/>
        </p:nvSpPr>
        <p:spPr>
          <a:xfrm>
            <a:off x="548640" y="4434840"/>
            <a:ext cx="7863840" cy="274320"/>
          </a:xfrm>
          <a:prstGeom prst="rect">
            <a:avLst/>
          </a:prstGeom>
          <a:noFill/>
        </p:spPr>
        <p:txBody>
          <a:bodyPr wrap="square" lIns="36576" rIns="36576" tIns="36576" bIns="36576" anchor="t">
            <a:spAutoFit/>
          </a:bodyPr>
          <a:lstStyle/>
          <a:p>
            <a:pPr algn="l"/>
            <a:r>
              <a:rPr sz="950" b="0" i="0">
                <a:solidFill>
                  <a:srgbClr val="8A939B"/>
                </a:solidFill>
                <a:latin typeface="Abadi"/>
              </a:rPr>
              <a:t>Groups defined by portal-hypertension status during follow-up; “treated” means portal hypertension that needed intervention.</a:t>
            </a:r>
          </a:p>
        </p:txBody>
      </p:sp>
      <p:sp>
        <p:nvSpPr>
          <p:cNvPr id="31" name="TextBox 30"/>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46.4%</a:t>
            </a:r>
          </a:p>
          <a:p>
            <a:pPr algn="l">
              <a:spcAft>
                <a:spcPts val="300"/>
              </a:spcAft>
            </a:pPr>
            <a:r>
              <a:rPr sz="1050" b="0" i="0">
                <a:solidFill>
                  <a:srgbClr val="1A1A1A"/>
                </a:solidFill>
                <a:latin typeface="Abadi"/>
              </a:rPr>
              <a:t>Had portal hypertension in the registry overall.</a:t>
            </a:r>
          </a:p>
          <a:p>
            <a:pPr algn="l">
              <a:spcAft>
                <a:spcPts val="300"/>
              </a:spcAft>
            </a:pPr>
            <a:r>
              <a:rPr sz="1500" b="1" i="0">
                <a:solidFill>
                  <a:srgbClr val="1B355E"/>
                </a:solidFill>
                <a:latin typeface="Abadi"/>
              </a:rPr>
              <a:t>49.8%</a:t>
            </a:r>
          </a:p>
          <a:p>
            <a:pPr algn="l">
              <a:spcAft>
                <a:spcPts val="300"/>
              </a:spcAft>
            </a:pPr>
            <a:r>
              <a:rPr sz="1050" b="0" i="0">
                <a:solidFill>
                  <a:srgbClr val="1A1A1A"/>
                </a:solidFill>
                <a:latin typeface="Abadi"/>
              </a:rPr>
              <a:t>Of 20-year native-liver survivors had it.</a:t>
            </a:r>
          </a:p>
          <a:p>
            <a:pPr algn="l">
              <a:spcAft>
                <a:spcPts val="300"/>
              </a:spcAft>
            </a:pPr>
            <a:r>
              <a:rPr sz="1500" b="1" i="0">
                <a:solidFill>
                  <a:srgbClr val="1B355E"/>
                </a:solidFill>
                <a:latin typeface="Abadi"/>
              </a:rPr>
              <a:t>Meaning</a:t>
            </a:r>
          </a:p>
          <a:p>
            <a:pPr algn="l">
              <a:spcAft>
                <a:spcPts val="300"/>
              </a:spcAft>
            </a:pPr>
            <a:r>
              <a:rPr sz="1050" b="0" i="0">
                <a:solidFill>
                  <a:srgbClr val="1A1A1A"/>
                </a:solidFill>
                <a:latin typeface="Abadi"/>
              </a:rPr>
              <a:t>Once portal hypertension needs treatment, about half lose the liver by 30 years.</a:t>
            </a:r>
          </a:p>
        </p:txBody>
      </p:sp>
      <p:sp>
        <p:nvSpPr>
          <p:cNvPr id="32" name="TextBox 31"/>
          <p:cNvSpPr txBox="1"/>
          <p:nvPr/>
        </p:nvSpPr>
        <p:spPr>
          <a:xfrm>
            <a:off x="548640" y="5074920"/>
            <a:ext cx="7955279" cy="64008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Without portal hypertension, a native liver usually lasts; with treated portal hypertension, plan for transplant.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NATIVE-LIVER SURVIVORS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A NATIVE LIVER IS RARELY A NORMAL LIVER</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ChiLDReN: 219 children alive with their own liver five or more years after the Kasai (median age 9.7 years),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Ng VL, et al. J Pediatr 2014;165:539–46.e2</a:t>
            </a:r>
          </a:p>
        </p:txBody>
      </p:sp>
      <p:sp>
        <p:nvSpPr>
          <p:cNvPr id="12" name="TextBox 11"/>
          <p:cNvSpPr txBox="1"/>
          <p:nvPr/>
        </p:nvSpPr>
        <p:spPr>
          <a:xfrm>
            <a:off x="548640" y="1828800"/>
            <a:ext cx="2834640" cy="429768"/>
          </a:xfrm>
          <a:prstGeom prst="rect">
            <a:avLst/>
          </a:prstGeom>
          <a:noFill/>
        </p:spPr>
        <p:txBody>
          <a:bodyPr wrap="square" lIns="36576" rIns="36576" tIns="36576" bIns="36576" anchor="ctr">
            <a:spAutoFit/>
          </a:bodyPr>
          <a:lstStyle/>
          <a:p>
            <a:pPr algn="l"/>
            <a:r>
              <a:rPr sz="1050" b="0" i="0">
                <a:solidFill>
                  <a:srgbClr val="1A1A1A"/>
                </a:solidFill>
                <a:latin typeface="Abadi"/>
              </a:rPr>
              <a:t>Cholangitis, ever</a:t>
            </a:r>
          </a:p>
        </p:txBody>
      </p:sp>
      <p:sp>
        <p:nvSpPr>
          <p:cNvPr id="13" name="Rectangle 12"/>
          <p:cNvSpPr/>
          <p:nvPr/>
        </p:nvSpPr>
        <p:spPr>
          <a:xfrm>
            <a:off x="3474720" y="1856231"/>
            <a:ext cx="4023360"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1828800"/>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62%</a:t>
            </a:r>
          </a:p>
        </p:txBody>
      </p:sp>
      <p:sp>
        <p:nvSpPr>
          <p:cNvPr id="15" name="TextBox 14"/>
          <p:cNvSpPr txBox="1"/>
          <p:nvPr/>
        </p:nvSpPr>
        <p:spPr>
          <a:xfrm>
            <a:off x="548640" y="2258568"/>
            <a:ext cx="2834640" cy="429768"/>
          </a:xfrm>
          <a:prstGeom prst="rect">
            <a:avLst/>
          </a:prstGeom>
          <a:noFill/>
        </p:spPr>
        <p:txBody>
          <a:bodyPr wrap="square" lIns="36576" rIns="36576" tIns="36576" bIns="36576" anchor="ctr">
            <a:spAutoFit/>
          </a:bodyPr>
          <a:lstStyle/>
          <a:p>
            <a:pPr algn="l"/>
            <a:r>
              <a:rPr sz="1050" b="0" i="0">
                <a:solidFill>
                  <a:srgbClr val="1A1A1A"/>
                </a:solidFill>
                <a:latin typeface="Abadi"/>
              </a:rPr>
              <a:t>Splenomegaly</a:t>
            </a:r>
          </a:p>
        </p:txBody>
      </p:sp>
      <p:sp>
        <p:nvSpPr>
          <p:cNvPr id="16" name="Rectangle 15"/>
          <p:cNvSpPr/>
          <p:nvPr/>
        </p:nvSpPr>
        <p:spPr>
          <a:xfrm>
            <a:off x="3474720" y="2285999"/>
            <a:ext cx="3634002" cy="37490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81874" y="2258568"/>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56%</a:t>
            </a:r>
          </a:p>
        </p:txBody>
      </p:sp>
      <p:sp>
        <p:nvSpPr>
          <p:cNvPr id="18" name="TextBox 17"/>
          <p:cNvSpPr txBox="1"/>
          <p:nvPr/>
        </p:nvSpPr>
        <p:spPr>
          <a:xfrm>
            <a:off x="548640" y="2688336"/>
            <a:ext cx="2834640" cy="429768"/>
          </a:xfrm>
          <a:prstGeom prst="rect">
            <a:avLst/>
          </a:prstGeom>
          <a:noFill/>
        </p:spPr>
        <p:txBody>
          <a:bodyPr wrap="square" lIns="36576" rIns="36576" tIns="36576" bIns="36576" anchor="ctr">
            <a:spAutoFit/>
          </a:bodyPr>
          <a:lstStyle/>
          <a:p>
            <a:pPr algn="l"/>
            <a:r>
              <a:rPr sz="1050" b="0" i="0">
                <a:solidFill>
                  <a:srgbClr val="1A1A1A"/>
                </a:solidFill>
                <a:latin typeface="Abadi"/>
              </a:rPr>
              <a:t>Thrombocytopenia</a:t>
            </a:r>
          </a:p>
        </p:txBody>
      </p:sp>
      <p:sp>
        <p:nvSpPr>
          <p:cNvPr id="19" name="Rectangle 18"/>
          <p:cNvSpPr/>
          <p:nvPr/>
        </p:nvSpPr>
        <p:spPr>
          <a:xfrm>
            <a:off x="3474720" y="2715768"/>
            <a:ext cx="2790394" cy="37490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8266" y="2688336"/>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43%</a:t>
            </a:r>
          </a:p>
        </p:txBody>
      </p:sp>
      <p:sp>
        <p:nvSpPr>
          <p:cNvPr id="21" name="TextBox 20"/>
          <p:cNvSpPr txBox="1"/>
          <p:nvPr/>
        </p:nvSpPr>
        <p:spPr>
          <a:xfrm>
            <a:off x="548640" y="3118104"/>
            <a:ext cx="2834640" cy="429768"/>
          </a:xfrm>
          <a:prstGeom prst="rect">
            <a:avLst/>
          </a:prstGeom>
          <a:noFill/>
        </p:spPr>
        <p:txBody>
          <a:bodyPr wrap="square" lIns="36576" rIns="36576" tIns="36576" bIns="36576" anchor="ctr">
            <a:spAutoFit/>
          </a:bodyPr>
          <a:lstStyle/>
          <a:p>
            <a:pPr algn="l"/>
            <a:r>
              <a:rPr sz="1050" b="0" i="0">
                <a:solidFill>
                  <a:srgbClr val="1A1A1A"/>
                </a:solidFill>
                <a:latin typeface="Abadi"/>
              </a:rPr>
              <a:t>Ascites, ever</a:t>
            </a:r>
          </a:p>
        </p:txBody>
      </p:sp>
      <p:sp>
        <p:nvSpPr>
          <p:cNvPr id="22" name="Rectangle 21"/>
          <p:cNvSpPr/>
          <p:nvPr/>
        </p:nvSpPr>
        <p:spPr>
          <a:xfrm>
            <a:off x="3474720" y="3145536"/>
            <a:ext cx="1103179" cy="37490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1051" y="3118104"/>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17%</a:t>
            </a:r>
          </a:p>
        </p:txBody>
      </p:sp>
      <p:sp>
        <p:nvSpPr>
          <p:cNvPr id="24" name="TextBox 23"/>
          <p:cNvSpPr txBox="1"/>
          <p:nvPr/>
        </p:nvSpPr>
        <p:spPr>
          <a:xfrm>
            <a:off x="548640" y="3547872"/>
            <a:ext cx="2834640" cy="429768"/>
          </a:xfrm>
          <a:prstGeom prst="rect">
            <a:avLst/>
          </a:prstGeom>
          <a:noFill/>
        </p:spPr>
        <p:txBody>
          <a:bodyPr wrap="square" lIns="36576" rIns="36576" tIns="36576" bIns="36576" anchor="ctr">
            <a:spAutoFit/>
          </a:bodyPr>
          <a:lstStyle/>
          <a:p>
            <a:pPr algn="l"/>
            <a:r>
              <a:rPr sz="1050" b="0" i="0">
                <a:solidFill>
                  <a:srgbClr val="1A1A1A"/>
                </a:solidFill>
                <a:latin typeface="Abadi"/>
              </a:rPr>
              <a:t>Fracture, ever</a:t>
            </a:r>
          </a:p>
        </p:txBody>
      </p:sp>
      <p:sp>
        <p:nvSpPr>
          <p:cNvPr id="25" name="Rectangle 24"/>
          <p:cNvSpPr/>
          <p:nvPr/>
        </p:nvSpPr>
        <p:spPr>
          <a:xfrm>
            <a:off x="3474720" y="3575303"/>
            <a:ext cx="973393" cy="37490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1265" y="3547872"/>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15%</a:t>
            </a:r>
          </a:p>
        </p:txBody>
      </p:sp>
      <p:sp>
        <p:nvSpPr>
          <p:cNvPr id="27" name="TextBox 26"/>
          <p:cNvSpPr txBox="1"/>
          <p:nvPr/>
        </p:nvSpPr>
        <p:spPr>
          <a:xfrm>
            <a:off x="548640" y="3977639"/>
            <a:ext cx="2834640" cy="429768"/>
          </a:xfrm>
          <a:prstGeom prst="rect">
            <a:avLst/>
          </a:prstGeom>
          <a:noFill/>
        </p:spPr>
        <p:txBody>
          <a:bodyPr wrap="square" lIns="36576" rIns="36576" tIns="36576" bIns="36576" anchor="ctr">
            <a:spAutoFit/>
          </a:bodyPr>
          <a:lstStyle/>
          <a:p>
            <a:pPr algn="l"/>
            <a:r>
              <a:rPr sz="1050" b="0" i="0">
                <a:solidFill>
                  <a:srgbClr val="1A1A1A"/>
                </a:solidFill>
                <a:latin typeface="Abadi"/>
              </a:rPr>
              <a:t>Variceal bleed, ever</a:t>
            </a:r>
          </a:p>
        </p:txBody>
      </p:sp>
      <p:sp>
        <p:nvSpPr>
          <p:cNvPr id="28" name="Rectangle 27"/>
          <p:cNvSpPr/>
          <p:nvPr/>
        </p:nvSpPr>
        <p:spPr>
          <a:xfrm>
            <a:off x="3474720" y="4005072"/>
            <a:ext cx="584036" cy="37490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1908" y="3977639"/>
            <a:ext cx="1463040" cy="429768"/>
          </a:xfrm>
          <a:prstGeom prst="rect">
            <a:avLst/>
          </a:prstGeom>
          <a:noFill/>
        </p:spPr>
        <p:txBody>
          <a:bodyPr wrap="square" lIns="36576" rIns="36576" tIns="36576" bIns="36576" anchor="ctr">
            <a:spAutoFit/>
          </a:bodyPr>
          <a:lstStyle/>
          <a:p>
            <a:pPr algn="l"/>
            <a:r>
              <a:rPr sz="1050" b="1" i="0">
                <a:solidFill>
                  <a:srgbClr val="1A1A1A"/>
                </a:solidFill>
                <a:latin typeface="Abadi"/>
              </a:rPr>
              <a:t>9%</a:t>
            </a:r>
          </a:p>
        </p:txBody>
      </p:sp>
      <p:sp>
        <p:nvSpPr>
          <p:cNvPr id="30" name="TextBox 29"/>
          <p:cNvSpPr txBox="1"/>
          <p:nvPr/>
        </p:nvSpPr>
        <p:spPr>
          <a:xfrm>
            <a:off x="8778240" y="1783080"/>
            <a:ext cx="2834640" cy="3931920"/>
          </a:xfrm>
          <a:prstGeom prst="rect">
            <a:avLst/>
          </a:prstGeom>
          <a:noFill/>
        </p:spPr>
        <p:txBody>
          <a:bodyPr wrap="square" lIns="36576" rIns="36576" tIns="36576" bIns="36576" anchor="t">
            <a:spAutoFit/>
          </a:bodyPr>
          <a:lstStyle/>
          <a:p>
            <a:pPr algn="l">
              <a:spcAft>
                <a:spcPts val="300"/>
              </a:spcAft>
            </a:pPr>
            <a:r>
              <a:rPr sz="1500" b="1" i="0">
                <a:solidFill>
                  <a:srgbClr val="1B355E"/>
                </a:solidFill>
                <a:latin typeface="Abadi"/>
              </a:rPr>
              <a:t>&gt; 98%</a:t>
            </a:r>
          </a:p>
          <a:p>
            <a:pPr algn="l">
              <a:spcAft>
                <a:spcPts val="300"/>
              </a:spcAft>
            </a:pPr>
            <a:r>
              <a:rPr sz="1050" b="0" i="0">
                <a:solidFill>
                  <a:srgbClr val="1A1A1A"/>
                </a:solidFill>
                <a:latin typeface="Abadi"/>
              </a:rPr>
              <a:t>Had clinical or laboratory evidence of chronic liver disease.</a:t>
            </a:r>
          </a:p>
          <a:p>
            <a:pPr algn="l">
              <a:spcAft>
                <a:spcPts val="300"/>
              </a:spcAft>
            </a:pPr>
            <a:r>
              <a:rPr sz="1500" b="1" i="0">
                <a:solidFill>
                  <a:srgbClr val="1B355E"/>
                </a:solidFill>
                <a:latin typeface="Abadi"/>
              </a:rPr>
              <a:t>53%</a:t>
            </a:r>
          </a:p>
          <a:p>
            <a:pPr algn="l">
              <a:spcAft>
                <a:spcPts val="300"/>
              </a:spcAft>
            </a:pPr>
            <a:r>
              <a:rPr sz="1050" b="0" i="0">
                <a:solidFill>
                  <a:srgbClr val="1A1A1A"/>
                </a:solidFill>
                <a:latin typeface="Abadi"/>
              </a:rPr>
              <a:t>Had normal health-related quality of life.</a:t>
            </a:r>
          </a:p>
          <a:p>
            <a:pPr algn="l">
              <a:spcAft>
                <a:spcPts val="300"/>
              </a:spcAft>
            </a:pPr>
            <a:r>
              <a:rPr sz="1500" b="1" i="0">
                <a:solidFill>
                  <a:srgbClr val="1B355E"/>
                </a:solidFill>
                <a:latin typeface="Abadi"/>
              </a:rPr>
              <a:t>Reviews</a:t>
            </a:r>
          </a:p>
          <a:p>
            <a:pPr algn="l">
              <a:spcAft>
                <a:spcPts val="300"/>
              </a:spcAft>
            </a:pPr>
            <a:r>
              <a:rPr sz="1050" b="0" i="0">
                <a:solidFill>
                  <a:srgbClr val="1A1A1A"/>
                </a:solidFill>
                <a:latin typeface="Abadi"/>
              </a:rPr>
              <a:t>Bijl 2013, 14 studies: cholangitis 60.5%, portal hypertension 48% in 20-year survivors.</a:t>
            </a:r>
          </a:p>
        </p:txBody>
      </p:sp>
      <p:sp>
        <p:nvSpPr>
          <p:cNvPr id="31" name="TextBox 30"/>
          <p:cNvSpPr txBox="1"/>
          <p:nvPr/>
        </p:nvSpPr>
        <p:spPr>
          <a:xfrm>
            <a:off x="548640" y="4754880"/>
            <a:ext cx="7955279" cy="731520"/>
          </a:xfrm>
          <a:prstGeom prst="rect">
            <a:avLst/>
          </a:prstGeom>
          <a:noFill/>
        </p:spPr>
        <p:txBody>
          <a:bodyPr wrap="square" lIns="36576" rIns="36576" tIns="36576" bIns="36576" anchor="t">
            <a:spAutoFit/>
          </a:bodyPr>
          <a:lstStyle/>
          <a:p>
            <a:pPr algn="l"/>
            <a:r>
              <a:rPr sz="1250" b="1" i="0">
                <a:solidFill>
                  <a:srgbClr val="1B355E"/>
                </a:solidFill>
                <a:latin typeface="Abadi"/>
              </a:rPr>
              <a:t>Read it as.   </a:t>
            </a:r>
            <a:r>
              <a:rPr sz="1250" b="0" i="0">
                <a:solidFill>
                  <a:srgbClr val="1A1A1A"/>
                </a:solidFill>
                <a:latin typeface="Abadi"/>
              </a:rPr>
              <a:t>Survival with the native liver is a success, but most of these children have portal hypertension, bone fragility or recurrent infection to manage.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INTO ADULTHOOD</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FROM KASAI TO ADULT CLINIC</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King's College Hospital, 397 Kasai procedures 1980–1996, followed to and beyond 16 years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Jain V, et al. J Hepatol 2019;71:71–7 · Kumagi T, et al. Liver Int 2012;32:510–8 · Lykavieris P, et al. Hepatology 2005;41:366–71 · Bijl EJ, et al. Neth J Med 2013;71:170–3</a:t>
            </a:r>
          </a:p>
        </p:txBody>
      </p:sp>
      <p:sp>
        <p:nvSpPr>
          <p:cNvPr id="12" name="Rectangle 11"/>
          <p:cNvSpPr/>
          <p:nvPr/>
        </p:nvSpPr>
        <p:spPr>
          <a:xfrm>
            <a:off x="548640" y="1773936"/>
            <a:ext cx="2011680" cy="160020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3657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397 infants</a:t>
            </a:r>
          </a:p>
        </p:txBody>
      </p:sp>
      <p:sp>
        <p:nvSpPr>
          <p:cNvPr id="15" name="TextBox 14"/>
          <p:cNvSpPr txBox="1"/>
          <p:nvPr/>
        </p:nvSpPr>
        <p:spPr>
          <a:xfrm>
            <a:off x="658368" y="2231136"/>
            <a:ext cx="1792224" cy="1069848"/>
          </a:xfrm>
          <a:prstGeom prst="rect">
            <a:avLst/>
          </a:prstGeom>
          <a:noFill/>
        </p:spPr>
        <p:txBody>
          <a:bodyPr wrap="square" lIns="36576" rIns="36576" tIns="36576" bIns="36576" anchor="t">
            <a:spAutoFit/>
          </a:bodyPr>
          <a:lstStyle/>
          <a:p>
            <a:pPr algn="l"/>
            <a:r>
              <a:rPr sz="1100" b="0" i="0">
                <a:solidFill>
                  <a:srgbClr val="1A1A1A"/>
                </a:solidFill>
                <a:latin typeface="Abadi"/>
              </a:rPr>
              <a:t>Kasai at King's between 1980 and 1996.</a:t>
            </a:r>
          </a:p>
        </p:txBody>
      </p:sp>
      <p:sp>
        <p:nvSpPr>
          <p:cNvPr id="16" name="TextBox 15"/>
          <p:cNvSpPr txBox="1"/>
          <p:nvPr/>
        </p:nvSpPr>
        <p:spPr>
          <a:xfrm>
            <a:off x="2560320" y="243687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17" name="Rectangle 16"/>
          <p:cNvSpPr/>
          <p:nvPr/>
        </p:nvSpPr>
        <p:spPr>
          <a:xfrm>
            <a:off x="2816352" y="1773936"/>
            <a:ext cx="2011680" cy="160020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36576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111 at 16 y</a:t>
            </a:r>
          </a:p>
        </p:txBody>
      </p:sp>
      <p:sp>
        <p:nvSpPr>
          <p:cNvPr id="20" name="TextBox 19"/>
          <p:cNvSpPr txBox="1"/>
          <p:nvPr/>
        </p:nvSpPr>
        <p:spPr>
          <a:xfrm>
            <a:off x="2926080" y="2231136"/>
            <a:ext cx="1792224" cy="1069848"/>
          </a:xfrm>
          <a:prstGeom prst="rect">
            <a:avLst/>
          </a:prstGeom>
          <a:noFill/>
        </p:spPr>
        <p:txBody>
          <a:bodyPr wrap="square" lIns="36576" rIns="36576" tIns="36576" bIns="36576" anchor="t">
            <a:spAutoFit/>
          </a:bodyPr>
          <a:lstStyle/>
          <a:p>
            <a:pPr algn="l"/>
            <a:r>
              <a:rPr sz="1100" b="0" i="0">
                <a:solidFill>
                  <a:srgbClr val="1A1A1A"/>
                </a:solidFill>
                <a:latin typeface="Abadi"/>
              </a:rPr>
              <a:t>28% reached 16 years with their own liver.</a:t>
            </a:r>
          </a:p>
        </p:txBody>
      </p:sp>
      <p:sp>
        <p:nvSpPr>
          <p:cNvPr id="21" name="TextBox 20"/>
          <p:cNvSpPr txBox="1"/>
          <p:nvPr/>
        </p:nvSpPr>
        <p:spPr>
          <a:xfrm>
            <a:off x="4828032" y="243687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2" name="Rectangle 21"/>
          <p:cNvSpPr/>
          <p:nvPr/>
        </p:nvSpPr>
        <p:spPr>
          <a:xfrm>
            <a:off x="5084064" y="1773936"/>
            <a:ext cx="2011680" cy="160020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3657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7216"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22 of 89</a:t>
            </a:r>
          </a:p>
        </p:txBody>
      </p:sp>
      <p:sp>
        <p:nvSpPr>
          <p:cNvPr id="25" name="TextBox 24"/>
          <p:cNvSpPr txBox="1"/>
          <p:nvPr/>
        </p:nvSpPr>
        <p:spPr>
          <a:xfrm>
            <a:off x="5193792" y="2231136"/>
            <a:ext cx="1792224" cy="1069848"/>
          </a:xfrm>
          <a:prstGeom prst="rect">
            <a:avLst/>
          </a:prstGeom>
          <a:noFill/>
        </p:spPr>
        <p:txBody>
          <a:bodyPr wrap="square" lIns="36576" rIns="36576" tIns="36576" bIns="36576" anchor="t">
            <a:spAutoFit/>
          </a:bodyPr>
          <a:lstStyle/>
          <a:p>
            <a:pPr algn="l"/>
            <a:r>
              <a:rPr sz="1100" b="0" i="0">
                <a:solidFill>
                  <a:srgbClr val="1A1A1A"/>
                </a:solidFill>
                <a:latin typeface="Abadi"/>
              </a:rPr>
              <a:t>Needed transplant after 16, among those followed.</a:t>
            </a:r>
          </a:p>
        </p:txBody>
      </p:sp>
      <p:sp>
        <p:nvSpPr>
          <p:cNvPr id="26" name="TextBox 25"/>
          <p:cNvSpPr txBox="1"/>
          <p:nvPr/>
        </p:nvSpPr>
        <p:spPr>
          <a:xfrm>
            <a:off x="7095744" y="243687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27" name="Rectangle 26"/>
          <p:cNvSpPr/>
          <p:nvPr/>
        </p:nvSpPr>
        <p:spPr>
          <a:xfrm>
            <a:off x="7351776" y="1773936"/>
            <a:ext cx="2011680" cy="160020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3657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Risk markers</a:t>
            </a:r>
          </a:p>
        </p:txBody>
      </p:sp>
      <p:sp>
        <p:nvSpPr>
          <p:cNvPr id="30" name="TextBox 29"/>
          <p:cNvSpPr txBox="1"/>
          <p:nvPr/>
        </p:nvSpPr>
        <p:spPr>
          <a:xfrm>
            <a:off x="7461504" y="2231136"/>
            <a:ext cx="1792224" cy="1069848"/>
          </a:xfrm>
          <a:prstGeom prst="rect">
            <a:avLst/>
          </a:prstGeom>
          <a:noFill/>
        </p:spPr>
        <p:txBody>
          <a:bodyPr wrap="square" lIns="36576" rIns="36576" tIns="36576" bIns="36576" anchor="t">
            <a:spAutoFit/>
          </a:bodyPr>
          <a:lstStyle/>
          <a:p>
            <a:pPr algn="l"/>
            <a:r>
              <a:rPr sz="1100" b="0" i="0">
                <a:solidFill>
                  <a:srgbClr val="1A1A1A"/>
                </a:solidFill>
                <a:latin typeface="Abadi"/>
              </a:rPr>
              <a:t>Portal hypertension before 16 (about 7×), varices (about 8.6×), cholangitis in adolescence (about 5×).</a:t>
            </a:r>
          </a:p>
        </p:txBody>
      </p:sp>
      <p:sp>
        <p:nvSpPr>
          <p:cNvPr id="31" name="TextBox 30"/>
          <p:cNvSpPr txBox="1"/>
          <p:nvPr/>
        </p:nvSpPr>
        <p:spPr>
          <a:xfrm>
            <a:off x="9363456" y="2436876"/>
            <a:ext cx="256032" cy="274320"/>
          </a:xfrm>
          <a:prstGeom prst="rect">
            <a:avLst/>
          </a:prstGeom>
          <a:noFill/>
        </p:spPr>
        <p:txBody>
          <a:bodyPr wrap="square" lIns="36576" rIns="36576" tIns="36576" bIns="36576" anchor="t">
            <a:spAutoFit/>
          </a:bodyPr>
          <a:lstStyle/>
          <a:p>
            <a:pPr algn="ctr"/>
            <a:r>
              <a:rPr sz="900" b="0" i="0">
                <a:solidFill>
                  <a:srgbClr val="8A939B"/>
                </a:solidFill>
                <a:latin typeface="Abadi"/>
              </a:rPr>
              <a:t>▶</a:t>
            </a:r>
          </a:p>
        </p:txBody>
      </p:sp>
      <p:sp>
        <p:nvSpPr>
          <p:cNvPr id="32" name="Rectangle 31"/>
          <p:cNvSpPr/>
          <p:nvPr/>
        </p:nvSpPr>
        <p:spPr>
          <a:xfrm>
            <a:off x="9619488" y="1773936"/>
            <a:ext cx="2011680" cy="160020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3657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1773936"/>
            <a:ext cx="1865376" cy="365760"/>
          </a:xfrm>
          <a:prstGeom prst="rect">
            <a:avLst/>
          </a:prstGeom>
          <a:noFill/>
        </p:spPr>
        <p:txBody>
          <a:bodyPr wrap="square" lIns="36576" rIns="36576" tIns="36576" bIns="36576" anchor="ctr">
            <a:spAutoFit/>
          </a:bodyPr>
          <a:lstStyle/>
          <a:p>
            <a:pPr algn="l"/>
            <a:r>
              <a:rPr sz="1150" b="1" i="0">
                <a:solidFill>
                  <a:srgbClr val="FFFFFF"/>
                </a:solidFill>
                <a:latin typeface="Abadi"/>
              </a:rPr>
              <a:t>TB ≥ 21 µmol/L</a:t>
            </a:r>
          </a:p>
        </p:txBody>
      </p:sp>
      <p:sp>
        <p:nvSpPr>
          <p:cNvPr id="35" name="TextBox 34"/>
          <p:cNvSpPr txBox="1"/>
          <p:nvPr/>
        </p:nvSpPr>
        <p:spPr>
          <a:xfrm>
            <a:off x="9729216" y="2231136"/>
            <a:ext cx="1792224" cy="1069848"/>
          </a:xfrm>
          <a:prstGeom prst="rect">
            <a:avLst/>
          </a:prstGeom>
          <a:noFill/>
        </p:spPr>
        <p:txBody>
          <a:bodyPr wrap="square" lIns="36576" rIns="36576" tIns="36576" bIns="36576" anchor="t">
            <a:spAutoFit/>
          </a:bodyPr>
          <a:lstStyle/>
          <a:p>
            <a:pPr algn="l"/>
            <a:r>
              <a:rPr sz="1100" b="0" i="0">
                <a:solidFill>
                  <a:srgbClr val="1A1A1A"/>
                </a:solidFill>
                <a:latin typeface="Abadi"/>
              </a:rPr>
              <a:t>At 16 years: AUROC 0.848, sensitivity 85%, specificity 74% for later transplant.</a:t>
            </a:r>
          </a:p>
        </p:txBody>
      </p:sp>
      <p:sp>
        <p:nvSpPr>
          <p:cNvPr id="36" name="TextBox 35"/>
          <p:cNvSpPr txBox="1"/>
          <p:nvPr/>
        </p:nvSpPr>
        <p:spPr>
          <a:xfrm>
            <a:off x="548640" y="3611880"/>
            <a:ext cx="11082528" cy="914400"/>
          </a:xfrm>
          <a:prstGeom prst="rect">
            <a:avLst/>
          </a:prstGeom>
          <a:noFill/>
        </p:spPr>
        <p:txBody>
          <a:bodyPr wrap="square" lIns="36576" rIns="36576" tIns="36576" bIns="36576" anchor="t">
            <a:spAutoFit/>
          </a:bodyPr>
          <a:lstStyle/>
          <a:p>
            <a:pPr algn="l"/>
            <a:r>
              <a:rPr sz="1250" b="1" i="0">
                <a:solidFill>
                  <a:srgbClr val="1B355E"/>
                </a:solidFill>
                <a:latin typeface="Abadi"/>
              </a:rPr>
              <a:t>Other adult series.   </a:t>
            </a:r>
            <a:r>
              <a:rPr sz="1250" b="0" i="0">
                <a:solidFill>
                  <a:srgbClr val="1A1A1A"/>
                </a:solidFill>
                <a:latin typeface="Abadi"/>
              </a:rPr>
              <a:t>Paris: 63 patients alive with their own liver more than 20 years after the Kasai, with complications still appearing in adulthood. Japan, 22 adults (median age 25): portal hypertension in 21, cholangitis and jaundice in half, four transplanted between 20 and 27 years.</a:t>
            </a:r>
          </a:p>
        </p:txBody>
      </p:sp>
      <p:sp>
        <p:nvSpPr>
          <p:cNvPr id="37" name="TextBox 36"/>
          <p:cNvSpPr txBox="1"/>
          <p:nvPr/>
        </p:nvSpPr>
        <p:spPr>
          <a:xfrm>
            <a:off x="548640" y="4709160"/>
            <a:ext cx="11082528" cy="91440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Adolescence is a second high-risk period. Transition should carry the bilirubin, platelet and variceal history, and the adult team should know that liver failure, hepatopulmonary syndrome and rare malignancy can still appear (day 13 of this block).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NATIVE-LIVER FAILURE</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WHEN TO CHANGE THE PLAN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Indications for transplant in biliary atresia, as framed by the ChiLDReN investigators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Sundaram SS, Mack CL, Feldman AG, Sokol RJ. Liver Transpl 2017;23:96–109 · Squires 2014 · Okubo 2025</a:t>
            </a:r>
          </a:p>
        </p:txBody>
      </p:sp>
      <p:sp>
        <p:nvSpPr>
          <p:cNvPr id="12" name="Rectangle 11"/>
          <p:cNvSpPr/>
          <p:nvPr/>
        </p:nvSpPr>
        <p:spPr>
          <a:xfrm>
            <a:off x="548640"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500" b="1" i="0">
                <a:solidFill>
                  <a:srgbClr val="B22222"/>
                </a:solidFill>
                <a:latin typeface="Abadi"/>
              </a:rPr>
              <a:t>Failed Kasai</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Bilirubin not falling: in the AASLD guideline, prompt referral when TB stays above 6 mg/dL beyond 3 months.</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Malnutrition</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Growth failure despite optimised calories, MCT and fat-soluble vitamins.</a:t>
            </a:r>
          </a:p>
        </p:txBody>
      </p:sp>
      <p:sp>
        <p:nvSpPr>
          <p:cNvPr id="20" name="Rectangle 19"/>
          <p:cNvSpPr/>
          <p:nvPr/>
        </p:nvSpPr>
        <p:spPr>
          <a:xfrm>
            <a:off x="5054803"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500" b="1" i="0">
                <a:solidFill>
                  <a:srgbClr val="D97A0B"/>
                </a:solidFill>
                <a:latin typeface="Abadi"/>
              </a:rPr>
              <a:t>Cholangitis</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Recurrent or intractable episodes, especially with bile lakes.</a:t>
            </a:r>
          </a:p>
        </p:txBody>
      </p:sp>
      <p:sp>
        <p:nvSpPr>
          <p:cNvPr id="24" name="Rectangle 23"/>
          <p:cNvSpPr/>
          <p:nvPr/>
        </p:nvSpPr>
        <p:spPr>
          <a:xfrm>
            <a:off x="7307884" y="1773936"/>
            <a:ext cx="2070201" cy="214884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500" b="1" i="0">
                <a:solidFill>
                  <a:srgbClr val="1B355E"/>
                </a:solidFill>
                <a:latin typeface="Abadi"/>
              </a:rPr>
              <a:t>Portal hypertension</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Refractory variceal bleeding, ascites, hypersplenism.</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500" b="1" i="0">
                <a:solidFill>
                  <a:srgbClr val="8A939B"/>
                </a:solidFill>
                <a:latin typeface="Abadi"/>
              </a:rPr>
              <a:t>Pulmonary</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r>
              <a:rPr sz="1100" b="0" i="0">
                <a:solidFill>
                  <a:srgbClr val="1A1A1A"/>
                </a:solidFill>
                <a:latin typeface="Abadi"/>
              </a:rPr>
              <a:t>Hepatopulmonary syndrome or portopulmonary hypertension, regardless of bilirubin.</a:t>
            </a:r>
          </a:p>
        </p:txBody>
      </p:sp>
      <p:sp>
        <p:nvSpPr>
          <p:cNvPr id="32" name="TextBox 31"/>
          <p:cNvSpPr txBox="1"/>
          <p:nvPr/>
        </p:nvSpPr>
        <p:spPr>
          <a:xfrm>
            <a:off x="548640" y="4114800"/>
            <a:ext cx="11082528" cy="1188720"/>
          </a:xfrm>
          <a:prstGeom prst="rect">
            <a:avLst/>
          </a:prstGeom>
          <a:noFill/>
        </p:spPr>
        <p:txBody>
          <a:bodyPr wrap="square" lIns="36576" rIns="36576" tIns="36576" bIns="36576" anchor="t">
            <a:spAutoFit/>
          </a:bodyPr>
          <a:lstStyle/>
          <a:p>
            <a:pPr algn="l"/>
            <a:r>
              <a:rPr sz="1250" b="1" i="0">
                <a:solidFill>
                  <a:srgbClr val="1B355E"/>
                </a:solidFill>
                <a:latin typeface="Abadi"/>
              </a:rPr>
              <a:t>Timing.   </a:t>
            </a:r>
            <a:r>
              <a:rPr sz="1250" b="0" i="0">
                <a:solidFill>
                  <a:srgbClr val="1A1A1A"/>
                </a:solidFill>
                <a:latin typeface="Abadi"/>
              </a:rPr>
              <a:t>Referral is not listing. AASLD advises considering referral once bilirubin stays at or above 2 mg/dL after the Kasai and referring promptly above 6 mg/dL, so that evaluation, nutrition and a living-donor work-up are under way before the child decompensates.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FOLLOW-UP</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A MONITORING FRAME AFTER THE KASAI</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Built from the sources above; not a guideline schedule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Shneider 2016 · Nightingale 2017 · Anderson &amp; Hukkinen 2025 · Hahn 2013 · Squires 2014 · Okubo 2025</a:t>
            </a:r>
          </a:p>
        </p:txBody>
      </p:sp>
      <p:graphicFrame>
        <p:nvGraphicFramePr>
          <p:cNvPr id="12" name="Table 11"/>
          <p:cNvGraphicFramePr>
            <a:graphicFrameLocks noGrp="1"/>
          </p:cNvGraphicFramePr>
          <p:nvPr/>
        </p:nvGraphicFramePr>
        <p:xfrm>
          <a:off x="548640" y="1783080"/>
          <a:ext cx="11082528" cy="3072384"/>
        </p:xfrm>
        <a:graphic>
          <a:graphicData uri="http://schemas.openxmlformats.org/drawingml/2006/table">
            <a:tbl>
              <a:tblPr firstRow="0" bandRow="0">
                <a:tableStyleId>{5C22544A-7EE6-4342-B048-85BDC9FD1C3A}</a:tableStyleId>
              </a:tblPr>
              <a:tblGrid>
                <a:gridCol w="2011680"/>
                <a:gridCol w="4206240"/>
                <a:gridCol w="4864608"/>
              </a:tblGrid>
              <a:tr h="438912">
                <a:tc>
                  <a:txBody>
                    <a:bodyPr wrap="square"/>
                    <a:lstStyle/>
                    <a:p>
                      <a:pPr algn="l"/>
                      <a:r>
                        <a:rPr sz="1050" b="1">
                          <a:solidFill>
                            <a:srgbClr val="FFFFFF"/>
                          </a:solidFill>
                          <a:latin typeface="Abadi"/>
                        </a:rPr>
                        <a:t>Time point</a:t>
                      </a:r>
                    </a:p>
                  </a:txBody>
                  <a:tcPr marL="73152" marR="73152" marT="27432" marB="27432" anchor="ctr">
                    <a:solidFill>
                      <a:srgbClr val="1B355E"/>
                    </a:solidFill>
                  </a:tcPr>
                </a:tc>
                <a:tc>
                  <a:txBody>
                    <a:bodyPr wrap="square"/>
                    <a:lstStyle/>
                    <a:p>
                      <a:pPr algn="l"/>
                      <a:r>
                        <a:rPr sz="1050" b="1">
                          <a:solidFill>
                            <a:srgbClr val="FFFFFF"/>
                          </a:solidFill>
                          <a:latin typeface="Abadi"/>
                        </a:rPr>
                        <a:t>Measure</a:t>
                      </a:r>
                    </a:p>
                  </a:txBody>
                  <a:tcPr marL="73152" marR="73152" marT="27432" marB="27432" anchor="ctr">
                    <a:solidFill>
                      <a:srgbClr val="1B355E"/>
                    </a:solidFill>
                  </a:tcPr>
                </a:tc>
                <a:tc>
                  <a:txBody>
                    <a:bodyPr wrap="square"/>
                    <a:lstStyle/>
                    <a:p>
                      <a:pPr algn="l"/>
                      <a:r>
                        <a:rPr sz="1050" b="1">
                          <a:solidFill>
                            <a:srgbClr val="FFFFFF"/>
                          </a:solidFill>
                          <a:latin typeface="Abadi"/>
                        </a:rPr>
                        <a:t>Act on</a:t>
                      </a:r>
                    </a:p>
                  </a:txBody>
                  <a:tcPr marL="73152" marR="73152" marT="27432" marB="27432" anchor="ctr">
                    <a:solidFill>
                      <a:srgbClr val="1B355E"/>
                    </a:solidFill>
                  </a:tcPr>
                </a:tc>
              </a:tr>
              <a:tr h="438912">
                <a:tc>
                  <a:txBody>
                    <a:bodyPr wrap="square"/>
                    <a:lstStyle/>
                    <a:p>
                      <a:pPr algn="l"/>
                      <a:r>
                        <a:rPr sz="1050" b="1">
                          <a:solidFill>
                            <a:srgbClr val="1A1A1A"/>
                          </a:solidFill>
                          <a:latin typeface="Abadi"/>
                        </a:rPr>
                        <a:t>1 month</a:t>
                      </a:r>
                    </a:p>
                  </a:txBody>
                  <a:tcPr marL="73152" marR="73152" marT="27432" marB="27432" anchor="ctr">
                    <a:solidFill>
                      <a:srgbClr val="FFFFFF"/>
                    </a:solidFill>
                  </a:tcPr>
                </a:tc>
                <a:tc>
                  <a:txBody>
                    <a:bodyPr wrap="square"/>
                    <a:lstStyle/>
                    <a:p>
                      <a:pPr algn="l"/>
                      <a:r>
                        <a:rPr sz="1050" b="0">
                          <a:solidFill>
                            <a:srgbClr val="1A1A1A"/>
                          </a:solidFill>
                          <a:latin typeface="Abadi"/>
                        </a:rPr>
                        <a:t>Bilirubin, bile acids, stool colour, weight</a:t>
                      </a:r>
                    </a:p>
                  </a:txBody>
                  <a:tcPr marL="73152" marR="73152" marT="27432" marB="27432" anchor="ctr">
                    <a:solidFill>
                      <a:srgbClr val="FFFFFF"/>
                    </a:solidFill>
                  </a:tcPr>
                </a:tc>
                <a:tc>
                  <a:txBody>
                    <a:bodyPr wrap="square"/>
                    <a:lstStyle/>
                    <a:p>
                      <a:pPr algn="l"/>
                      <a:r>
                        <a:rPr sz="1050" b="0">
                          <a:solidFill>
                            <a:srgbClr val="1A1A1A"/>
                          </a:solidFill>
                          <a:latin typeface="Abadi"/>
                        </a:rPr>
                        <a:t>Rising bilirubin or pale stools: treat as cholangitis or failure</a:t>
                      </a:r>
                    </a:p>
                  </a:txBody>
                  <a:tcPr marL="73152" marR="73152" marT="27432" marB="27432" anchor="ctr">
                    <a:solidFill>
                      <a:srgbClr val="FFFFFF"/>
                    </a:solidFill>
                  </a:tcPr>
                </a:tc>
              </a:tr>
              <a:tr h="438912">
                <a:tc>
                  <a:txBody>
                    <a:bodyPr wrap="square"/>
                    <a:lstStyle/>
                    <a:p>
                      <a:pPr algn="l"/>
                      <a:r>
                        <a:rPr sz="1050" b="1">
                          <a:solidFill>
                            <a:srgbClr val="1A1A1A"/>
                          </a:solidFill>
                          <a:latin typeface="Abadi"/>
                        </a:rPr>
                        <a:t>3 months</a:t>
                      </a:r>
                    </a:p>
                  </a:txBody>
                  <a:tcPr marL="73152" marR="73152" marT="27432" marB="27432" anchor="ctr">
                    <a:solidFill>
                      <a:srgbClr val="F2F4F7"/>
                    </a:solidFill>
                  </a:tcPr>
                </a:tc>
                <a:tc>
                  <a:txBody>
                    <a:bodyPr wrap="square"/>
                    <a:lstStyle/>
                    <a:p>
                      <a:pPr algn="l"/>
                      <a:r>
                        <a:rPr sz="1050" b="0">
                          <a:solidFill>
                            <a:srgbClr val="1A1A1A"/>
                          </a:solidFill>
                          <a:latin typeface="Abadi"/>
                        </a:rPr>
                        <a:t>Total bilirubin, albumin, INR, growth</a:t>
                      </a:r>
                    </a:p>
                  </a:txBody>
                  <a:tcPr marL="73152" marR="73152" marT="27432" marB="27432" anchor="ctr">
                    <a:solidFill>
                      <a:srgbClr val="F2F4F7"/>
                    </a:solidFill>
                  </a:tcPr>
                </a:tc>
                <a:tc>
                  <a:txBody>
                    <a:bodyPr wrap="square"/>
                    <a:lstStyle/>
                    <a:p>
                      <a:pPr algn="l"/>
                      <a:r>
                        <a:rPr sz="1050" b="0">
                          <a:solidFill>
                            <a:srgbClr val="1A1A1A"/>
                          </a:solidFill>
                          <a:latin typeface="Abadi"/>
                        </a:rPr>
                        <a:t>TB ≥ 2 mg/dL: plan referral; &gt; 6 mg/dL: refer now</a:t>
                      </a:r>
                    </a:p>
                  </a:txBody>
                  <a:tcPr marL="73152" marR="73152" marT="27432" marB="27432" anchor="ctr">
                    <a:solidFill>
                      <a:srgbClr val="F2F4F7"/>
                    </a:solidFill>
                  </a:tcPr>
                </a:tc>
              </a:tr>
              <a:tr h="438912">
                <a:tc>
                  <a:txBody>
                    <a:bodyPr wrap="square"/>
                    <a:lstStyle/>
                    <a:p>
                      <a:pPr algn="l"/>
                      <a:r>
                        <a:rPr sz="1050" b="1">
                          <a:solidFill>
                            <a:srgbClr val="1A1A1A"/>
                          </a:solidFill>
                          <a:latin typeface="Abadi"/>
                        </a:rPr>
                        <a:t>6 months</a:t>
                      </a:r>
                    </a:p>
                  </a:txBody>
                  <a:tcPr marL="73152" marR="73152" marT="27432" marB="27432" anchor="ctr">
                    <a:solidFill>
                      <a:srgbClr val="FFFFFF"/>
                    </a:solidFill>
                  </a:tcPr>
                </a:tc>
                <a:tc>
                  <a:txBody>
                    <a:bodyPr wrap="square"/>
                    <a:lstStyle/>
                    <a:p>
                      <a:pPr algn="l"/>
                      <a:r>
                        <a:rPr sz="1050" b="0">
                          <a:solidFill>
                            <a:srgbClr val="1A1A1A"/>
                          </a:solidFill>
                          <a:latin typeface="Abadi"/>
                        </a:rPr>
                        <a:t>Bilirubin (&lt; 20 µmol/L?), platelets, spleen, stiffness</a:t>
                      </a:r>
                    </a:p>
                  </a:txBody>
                  <a:tcPr marL="73152" marR="73152" marT="27432" marB="27432" anchor="ctr">
                    <a:solidFill>
                      <a:srgbClr val="FFFFFF"/>
                    </a:solidFill>
                  </a:tcPr>
                </a:tc>
                <a:tc>
                  <a:txBody>
                    <a:bodyPr wrap="square"/>
                    <a:lstStyle/>
                    <a:p>
                      <a:pPr algn="l"/>
                      <a:r>
                        <a:rPr sz="1050" b="0">
                          <a:solidFill>
                            <a:srgbClr val="1A1A1A"/>
                          </a:solidFill>
                          <a:latin typeface="Abadi"/>
                        </a:rPr>
                        <a:t>Persisting low-grade elevation: closer portal-hypertension watch</a:t>
                      </a:r>
                    </a:p>
                  </a:txBody>
                  <a:tcPr marL="73152" marR="73152" marT="27432" marB="27432" anchor="ctr">
                    <a:solidFill>
                      <a:srgbClr val="FFFFFF"/>
                    </a:solidFill>
                  </a:tcPr>
                </a:tc>
              </a:tr>
              <a:tr h="438912">
                <a:tc>
                  <a:txBody>
                    <a:bodyPr wrap="square"/>
                    <a:lstStyle/>
                    <a:p>
                      <a:pPr algn="l"/>
                      <a:r>
                        <a:rPr sz="1050" b="1">
                          <a:solidFill>
                            <a:srgbClr val="1A1A1A"/>
                          </a:solidFill>
                          <a:latin typeface="Abadi"/>
                        </a:rPr>
                        <a:t>Every visit</a:t>
                      </a:r>
                    </a:p>
                  </a:txBody>
                  <a:tcPr marL="73152" marR="73152" marT="27432" marB="27432" anchor="ctr">
                    <a:solidFill>
                      <a:srgbClr val="F2F4F7"/>
                    </a:solidFill>
                  </a:tcPr>
                </a:tc>
                <a:tc>
                  <a:txBody>
                    <a:bodyPr wrap="square"/>
                    <a:lstStyle/>
                    <a:p>
                      <a:pPr algn="l"/>
                      <a:r>
                        <a:rPr sz="1050" b="0">
                          <a:solidFill>
                            <a:srgbClr val="1A1A1A"/>
                          </a:solidFill>
                          <a:latin typeface="Abadi"/>
                        </a:rPr>
                        <a:t>Platelets, spleen size, albumin, growth, vitamins</a:t>
                      </a:r>
                    </a:p>
                  </a:txBody>
                  <a:tcPr marL="73152" marR="73152" marT="27432" marB="27432" anchor="ctr">
                    <a:solidFill>
                      <a:srgbClr val="F2F4F7"/>
                    </a:solidFill>
                  </a:tcPr>
                </a:tc>
                <a:tc>
                  <a:txBody>
                    <a:bodyPr wrap="square"/>
                    <a:lstStyle/>
                    <a:p>
                      <a:pPr algn="l"/>
                      <a:r>
                        <a:rPr sz="1050" b="0">
                          <a:solidFill>
                            <a:srgbClr val="1A1A1A"/>
                          </a:solidFill>
                          <a:latin typeface="Abadi"/>
                        </a:rPr>
                        <a:t>New thrombocytopenia or splenomegaly: portal hypertension work-up</a:t>
                      </a:r>
                    </a:p>
                  </a:txBody>
                  <a:tcPr marL="73152" marR="73152" marT="27432" marB="27432" anchor="ctr">
                    <a:solidFill>
                      <a:srgbClr val="F2F4F7"/>
                    </a:solidFill>
                  </a:tcPr>
                </a:tc>
              </a:tr>
              <a:tr h="438912">
                <a:tc>
                  <a:txBody>
                    <a:bodyPr wrap="square"/>
                    <a:lstStyle/>
                    <a:p>
                      <a:pPr algn="l"/>
                      <a:r>
                        <a:rPr sz="1050" b="1">
                          <a:solidFill>
                            <a:srgbClr val="1A1A1A"/>
                          </a:solidFill>
                          <a:latin typeface="Abadi"/>
                        </a:rPr>
                        <a:t>Yearly</a:t>
                      </a:r>
                    </a:p>
                  </a:txBody>
                  <a:tcPr marL="73152" marR="73152" marT="27432" marB="27432" anchor="ctr">
                    <a:solidFill>
                      <a:srgbClr val="FFFFFF"/>
                    </a:solidFill>
                  </a:tcPr>
                </a:tc>
                <a:tc>
                  <a:txBody>
                    <a:bodyPr wrap="square"/>
                    <a:lstStyle/>
                    <a:p>
                      <a:pPr algn="l"/>
                      <a:r>
                        <a:rPr sz="1050" b="0">
                          <a:solidFill>
                            <a:srgbClr val="1A1A1A"/>
                          </a:solidFill>
                          <a:latin typeface="Abadi"/>
                        </a:rPr>
                        <a:t>Oxygen saturation, elastography, ultrasound</a:t>
                      </a:r>
                    </a:p>
                  </a:txBody>
                  <a:tcPr marL="73152" marR="73152" marT="27432" marB="27432" anchor="ctr">
                    <a:solidFill>
                      <a:srgbClr val="FFFFFF"/>
                    </a:solidFill>
                  </a:tcPr>
                </a:tc>
                <a:tc>
                  <a:txBody>
                    <a:bodyPr wrap="square"/>
                    <a:lstStyle/>
                    <a:p>
                      <a:pPr algn="l"/>
                      <a:r>
                        <a:rPr sz="1050" b="0">
                          <a:solidFill>
                            <a:srgbClr val="1A1A1A"/>
                          </a:solidFill>
                          <a:latin typeface="Abadi"/>
                        </a:rPr>
                        <a:t>Hypoxaemia: screen for hepatopulmonary syndrome (day 10)</a:t>
                      </a:r>
                    </a:p>
                  </a:txBody>
                  <a:tcPr marL="73152" marR="73152" marT="27432" marB="27432" anchor="ctr">
                    <a:solidFill>
                      <a:srgbClr val="FFFFFF"/>
                    </a:solidFill>
                  </a:tcPr>
                </a:tc>
              </a:tr>
              <a:tr h="438912">
                <a:tc>
                  <a:txBody>
                    <a:bodyPr wrap="square"/>
                    <a:lstStyle/>
                    <a:p>
                      <a:pPr algn="l"/>
                      <a:r>
                        <a:rPr sz="1050" b="1">
                          <a:solidFill>
                            <a:srgbClr val="1A1A1A"/>
                          </a:solidFill>
                          <a:latin typeface="Abadi"/>
                        </a:rPr>
                        <a:t>Adolescence</a:t>
                      </a:r>
                    </a:p>
                  </a:txBody>
                  <a:tcPr marL="73152" marR="73152" marT="27432" marB="27432" anchor="ctr">
                    <a:solidFill>
                      <a:srgbClr val="F2F4F7"/>
                    </a:solidFill>
                  </a:tcPr>
                </a:tc>
                <a:tc>
                  <a:txBody>
                    <a:bodyPr wrap="square"/>
                    <a:lstStyle/>
                    <a:p>
                      <a:pPr algn="l"/>
                      <a:r>
                        <a:rPr sz="1050" b="0">
                          <a:solidFill>
                            <a:srgbClr val="1A1A1A"/>
                          </a:solidFill>
                          <a:latin typeface="Abadi"/>
                        </a:rPr>
                        <a:t>Bilirubin, varices, cholangitis history</a:t>
                      </a:r>
                    </a:p>
                  </a:txBody>
                  <a:tcPr marL="73152" marR="73152" marT="27432" marB="27432" anchor="ctr">
                    <a:solidFill>
                      <a:srgbClr val="F2F4F7"/>
                    </a:solidFill>
                  </a:tcPr>
                </a:tc>
                <a:tc>
                  <a:txBody>
                    <a:bodyPr wrap="square"/>
                    <a:lstStyle/>
                    <a:p>
                      <a:pPr algn="l"/>
                      <a:r>
                        <a:rPr sz="1050" b="0">
                          <a:solidFill>
                            <a:srgbClr val="1A1A1A"/>
                          </a:solidFill>
                          <a:latin typeface="Abadi"/>
                        </a:rPr>
                        <a:t>TB ≥ 21 µmol/L or varices: adult transplant pathway</a:t>
                      </a:r>
                    </a:p>
                  </a:txBody>
                  <a:tcPr marL="73152" marR="73152" marT="27432" marB="27432" anchor="ctr">
                    <a:solidFill>
                      <a:srgbClr val="F2F4F7"/>
                    </a:solidFill>
                  </a:tcPr>
                </a:tc>
              </a:tr>
            </a:tbl>
          </a:graphicData>
        </a:graphic>
      </p:graphicFrame>
      <p:sp>
        <p:nvSpPr>
          <p:cNvPr id="13" name="TextBox 12"/>
          <p:cNvSpPr txBox="1"/>
          <p:nvPr/>
        </p:nvSpPr>
        <p:spPr>
          <a:xfrm>
            <a:off x="548640" y="4983480"/>
            <a:ext cx="11082528" cy="640080"/>
          </a:xfrm>
          <a:prstGeom prst="rect">
            <a:avLst/>
          </a:prstGeom>
          <a:noFill/>
        </p:spPr>
        <p:txBody>
          <a:bodyPr wrap="square" lIns="36576" rIns="36576" tIns="36576" bIns="36576" anchor="t">
            <a:spAutoFit/>
          </a:bodyPr>
          <a:lstStyle/>
          <a:p>
            <a:pPr algn="l"/>
            <a:r>
              <a:rPr sz="1250" b="1" i="0">
                <a:solidFill>
                  <a:srgbClr val="1B355E"/>
                </a:solidFill>
                <a:latin typeface="Abadi"/>
              </a:rPr>
              <a:t>Practical point.   </a:t>
            </a:r>
            <a:r>
              <a:rPr sz="1250" b="0" i="0">
                <a:solidFill>
                  <a:srgbClr val="1A1A1A"/>
                </a:solidFill>
                <a:latin typeface="Abadi"/>
              </a:rPr>
              <a:t>Write the three-month bilirubin into every letter. It is the single number that best predicts the next two years.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THE DOCUMENTS SAY ABOUT PROGNOSIS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Society guidance versus registry and consensus; EASL has no biliary atresia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Squires RH, et al. Hepatology 2014;60:362–98 · Fawaz R, et al. JPGN 2017;64:154–68 · Ando H, et al. J Hepatobiliary Pancreat Sci 2021;28:55–61</a:t>
            </a:r>
          </a:p>
        </p:txBody>
      </p:sp>
      <p:graphicFrame>
        <p:nvGraphicFramePr>
          <p:cNvPr id="12" name="Table 11"/>
          <p:cNvGraphicFramePr>
            <a:graphicFrameLocks noGrp="1"/>
          </p:cNvGraphicFramePr>
          <p:nvPr/>
        </p:nvGraphicFramePr>
        <p:xfrm>
          <a:off x="548640" y="1783080"/>
          <a:ext cx="11082528" cy="2743200"/>
        </p:xfrm>
        <a:graphic>
          <a:graphicData uri="http://schemas.openxmlformats.org/drawingml/2006/table">
            <a:tbl>
              <a:tblPr firstRow="0" bandRow="0">
                <a:tableStyleId>{5C22544A-7EE6-4342-B048-85BDC9FD1C3A}</a:tableStyleId>
              </a:tblPr>
              <a:tblGrid>
                <a:gridCol w="2286000"/>
                <a:gridCol w="3017520"/>
                <a:gridCol w="2377440"/>
                <a:gridCol w="2377440"/>
                <a:gridCol w="1024128"/>
              </a:tblGrid>
              <a:tr h="457200">
                <a:tc>
                  <a:txBody>
                    <a:bodyPr wrap="square"/>
                    <a:lstStyle/>
                    <a:p>
                      <a:pPr algn="l"/>
                      <a:r>
                        <a:rPr sz="1050" b="1">
                          <a:solidFill>
                            <a:srgbClr val="FFFFFF"/>
                          </a:solidFill>
                          <a:latin typeface="Abadi"/>
                        </a:rPr>
                        <a:t>Question</a:t>
                      </a:r>
                    </a:p>
                  </a:txBody>
                  <a:tcPr marL="73152" marR="73152" marT="27432" marB="27432" anchor="ctr">
                    <a:solidFill>
                      <a:srgbClr val="1B355E"/>
                    </a:solidFill>
                  </a:tcPr>
                </a:tc>
                <a:tc>
                  <a:txBody>
                    <a:bodyPr wrap="square"/>
                    <a:lstStyle/>
                    <a:p>
                      <a:pPr algn="l"/>
                      <a:r>
                        <a:rPr sz="1050" b="1">
                          <a:solidFill>
                            <a:srgbClr val="FFFFFF"/>
                          </a:solidFill>
                          <a:latin typeface="Abadi"/>
                        </a:rPr>
                        <a:t>AASLD 2014 · EASL</a:t>
                      </a:r>
                    </a:p>
                  </a:txBody>
                  <a:tcPr marL="73152" marR="73152" marT="27432" marB="27432" anchor="ctr">
                    <a:solidFill>
                      <a:srgbClr val="1B355E"/>
                    </a:solidFill>
                  </a:tcPr>
                </a:tc>
                <a:tc>
                  <a:txBody>
                    <a:bodyPr wrap="square"/>
                    <a:lstStyle/>
                    <a:p>
                      <a:pPr algn="l"/>
                      <a:r>
                        <a:rPr sz="1050" b="1">
                          <a:solidFill>
                            <a:srgbClr val="FFFFFF"/>
                          </a:solidFill>
                          <a:latin typeface="Abadi"/>
                        </a:rPr>
                        <a:t>NASPGHAN/ESPGHAN 2017</a:t>
                      </a:r>
                    </a:p>
                  </a:txBody>
                  <a:tcPr marL="73152" marR="73152" marT="27432" marB="27432" anchor="ctr">
                    <a:solidFill>
                      <a:srgbClr val="1B355E"/>
                    </a:solidFill>
                  </a:tcPr>
                </a:tc>
                <a:tc>
                  <a:txBody>
                    <a:bodyPr wrap="square"/>
                    <a:lstStyle/>
                    <a:p>
                      <a:pPr algn="l"/>
                      <a:r>
                        <a:rPr sz="1050" b="1">
                          <a:solidFill>
                            <a:srgbClr val="FFFFFF"/>
                          </a:solidFill>
                          <a:latin typeface="Abadi"/>
                        </a:rPr>
                        <a:t>Japan (JBAS) 2021</a:t>
                      </a:r>
                    </a:p>
                  </a:txBody>
                  <a:tcPr marL="73152" marR="73152" marT="27432" marB="27432" anchor="ctr">
                    <a:solidFill>
                      <a:srgbClr val="1B355E"/>
                    </a:solidFill>
                  </a:tcPr>
                </a:tc>
                <a:tc>
                  <a:txBody>
                    <a:bodyPr wrap="square"/>
                    <a:lstStyle/>
                    <a:p>
                      <a:pPr algn="l"/>
                      <a:r>
                        <a:rPr sz="1050" b="1">
                          <a:solidFill>
                            <a:srgbClr val="FFFFFF"/>
                          </a:solidFill>
                          <a:latin typeface="Abadi"/>
                        </a:rPr>
                        <a:t>Verdict</a:t>
                      </a:r>
                    </a:p>
                  </a:txBody>
                  <a:tcPr marL="73152" marR="73152" marT="27432" marB="27432" anchor="ctr">
                    <a:solidFill>
                      <a:srgbClr val="1B355E"/>
                    </a:solidFill>
                  </a:tcPr>
                </a:tc>
              </a:tr>
              <a:tr h="457200">
                <a:tc>
                  <a:txBody>
                    <a:bodyPr wrap="square"/>
                    <a:lstStyle/>
                    <a:p>
                      <a:pPr algn="l"/>
                      <a:r>
                        <a:rPr sz="1050" b="1">
                          <a:solidFill>
                            <a:srgbClr val="1A1A1A"/>
                          </a:solidFill>
                          <a:latin typeface="Abadi"/>
                        </a:rPr>
                        <a:t>Definition of clearance</a:t>
                      </a:r>
                    </a:p>
                  </a:txBody>
                  <a:tcPr marL="73152" marR="73152" marT="27432" marB="27432" anchor="ctr">
                    <a:solidFill>
                      <a:srgbClr val="FFFFFF"/>
                    </a:solidFill>
                  </a:tcPr>
                </a:tc>
                <a:tc>
                  <a:txBody>
                    <a:bodyPr wrap="square"/>
                    <a:lstStyle/>
                    <a:p>
                      <a:pPr algn="l"/>
                      <a:r>
                        <a:rPr sz="1050" b="0">
                          <a:solidFill>
                            <a:srgbClr val="1A1A1A"/>
                          </a:solidFill>
                          <a:latin typeface="Abadi"/>
                        </a:rPr>
                        <a:t>TB &lt; 2 mg/dL used for prognosis; EASL none</a:t>
                      </a:r>
                    </a:p>
                  </a:txBody>
                  <a:tcPr marL="73152" marR="73152" marT="27432" marB="27432" anchor="ctr">
                    <a:solidFill>
                      <a:srgbClr val="FFFFFF"/>
                    </a:solidFill>
                  </a:tcPr>
                </a:tc>
                <a:tc>
                  <a:txBody>
                    <a:bodyPr wrap="square"/>
                    <a:lstStyle/>
                    <a:p>
                      <a:pPr algn="l"/>
                      <a:r>
                        <a:rPr sz="1050" b="0">
                          <a:solidFill>
                            <a:srgbClr val="1A1A1A"/>
                          </a:solidFill>
                          <a:latin typeface="Abadi"/>
                        </a:rPr>
                        <a:t>Not addressed (diagnostic)</a:t>
                      </a:r>
                    </a:p>
                  </a:txBody>
                  <a:tcPr marL="73152" marR="73152" marT="27432" marB="27432" anchor="ctr">
                    <a:solidFill>
                      <a:srgbClr val="FFFFFF"/>
                    </a:solidFill>
                  </a:tcPr>
                </a:tc>
                <a:tc>
                  <a:txBody>
                    <a:bodyPr wrap="square"/>
                    <a:lstStyle/>
                    <a:p>
                      <a:pPr algn="l"/>
                      <a:r>
                        <a:rPr sz="1050" b="0">
                          <a:solidFill>
                            <a:srgbClr val="1A1A1A"/>
                          </a:solidFill>
                          <a:latin typeface="Abadi"/>
                        </a:rPr>
                        <a:t>Not defined</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57200">
                <a:tc>
                  <a:txBody>
                    <a:bodyPr wrap="square"/>
                    <a:lstStyle/>
                    <a:p>
                      <a:pPr algn="l"/>
                      <a:r>
                        <a:rPr sz="1050" b="1">
                          <a:solidFill>
                            <a:srgbClr val="1A1A1A"/>
                          </a:solidFill>
                          <a:latin typeface="Abadi"/>
                        </a:rPr>
                        <a:t>Referral trigger</a:t>
                      </a:r>
                    </a:p>
                  </a:txBody>
                  <a:tcPr marL="73152" marR="73152" marT="27432" marB="27432" anchor="ctr">
                    <a:solidFill>
                      <a:srgbClr val="F2F4F7"/>
                    </a:solidFill>
                  </a:tcPr>
                </a:tc>
                <a:tc>
                  <a:txBody>
                    <a:bodyPr wrap="square"/>
                    <a:lstStyle/>
                    <a:p>
                      <a:pPr algn="l"/>
                      <a:r>
                        <a:rPr sz="1050" b="0">
                          <a:solidFill>
                            <a:srgbClr val="1A1A1A"/>
                          </a:solidFill>
                          <a:latin typeface="Abadi"/>
                        </a:rPr>
                        <a:t>Consider at TB ≥ 2; refer if &gt; 6 mg/dL after 3 months</a:t>
                      </a:r>
                    </a:p>
                  </a:txBody>
                  <a:tcPr marL="73152" marR="73152" marT="27432" marB="27432" anchor="ctr">
                    <a:solidFill>
                      <a:srgbClr val="F2F4F7"/>
                    </a:solidFill>
                  </a:tcPr>
                </a:tc>
                <a:tc>
                  <a:txBody>
                    <a:bodyPr wrap="square"/>
                    <a:lstStyle/>
                    <a:p>
                      <a:pPr algn="l"/>
                      <a:r>
                        <a:rPr sz="1050" b="0">
                          <a:solidFill>
                            <a:srgbClr val="1A1A1A"/>
                          </a:solidFill>
                          <a:latin typeface="Abadi"/>
                        </a:rPr>
                        <a:t>Not addressed</a:t>
                      </a:r>
                    </a:p>
                  </a:txBody>
                  <a:tcPr marL="73152" marR="73152" marT="27432" marB="27432" anchor="ctr">
                    <a:solidFill>
                      <a:srgbClr val="F2F4F7"/>
                    </a:solidFill>
                  </a:tcPr>
                </a:tc>
                <a:tc>
                  <a:txBody>
                    <a:bodyPr wrap="square"/>
                    <a:lstStyle/>
                    <a:p>
                      <a:pPr algn="l"/>
                      <a:r>
                        <a:rPr sz="1050" b="0">
                          <a:solidFill>
                            <a:srgbClr val="1A1A1A"/>
                          </a:solidFill>
                          <a:latin typeface="Abadi"/>
                        </a:rPr>
                        <a:t>No recommendation</a:t>
                      </a:r>
                    </a:p>
                  </a:txBody>
                  <a:tcPr marL="73152" marR="73152" marT="27432" marB="27432" anchor="ctr">
                    <a:solidFill>
                      <a:srgbClr val="F2F4F7"/>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57200">
                <a:tc>
                  <a:txBody>
                    <a:bodyPr wrap="square"/>
                    <a:lstStyle/>
                    <a:p>
                      <a:pPr algn="l"/>
                      <a:r>
                        <a:rPr sz="1050" b="1">
                          <a:solidFill>
                            <a:srgbClr val="1A1A1A"/>
                          </a:solidFill>
                          <a:latin typeface="Abadi"/>
                        </a:rPr>
                        <a:t>Age and outcome</a:t>
                      </a:r>
                    </a:p>
                  </a:txBody>
                  <a:tcPr marL="73152" marR="73152" marT="27432" marB="27432" anchor="ctr">
                    <a:solidFill>
                      <a:srgbClr val="FFFFFF"/>
                    </a:solidFill>
                  </a:tcPr>
                </a:tc>
                <a:tc>
                  <a:txBody>
                    <a:bodyPr wrap="square"/>
                    <a:lstStyle/>
                    <a:p>
                      <a:pPr algn="l"/>
                      <a:r>
                        <a:rPr sz="1050" b="0">
                          <a:solidFill>
                            <a:srgbClr val="1A1A1A"/>
                          </a:solidFill>
                          <a:latin typeface="Abadi"/>
                        </a:rPr>
                        <a:t>Early Kasai improves outcome</a:t>
                      </a:r>
                    </a:p>
                  </a:txBody>
                  <a:tcPr marL="73152" marR="73152" marT="27432" marB="27432" anchor="ctr">
                    <a:solidFill>
                      <a:srgbClr val="FFFFFF"/>
                    </a:solidFill>
                  </a:tcPr>
                </a:tc>
                <a:tc>
                  <a:txBody>
                    <a:bodyPr wrap="square"/>
                    <a:lstStyle/>
                    <a:p>
                      <a:pPr algn="l"/>
                      <a:r>
                        <a:rPr sz="1050" b="0">
                          <a:solidFill>
                            <a:srgbClr val="1A1A1A"/>
                          </a:solidFill>
                          <a:latin typeface="Abadi"/>
                        </a:rPr>
                        <a:t>Native-liver survival falls with age</a:t>
                      </a:r>
                    </a:p>
                  </a:txBody>
                  <a:tcPr marL="73152" marR="73152" marT="27432" marB="27432" anchor="ctr">
                    <a:solidFill>
                      <a:srgbClr val="FFFFFF"/>
                    </a:solidFill>
                  </a:tcPr>
                </a:tc>
                <a:tc>
                  <a:txBody>
                    <a:bodyPr wrap="square"/>
                    <a:lstStyle/>
                    <a:p>
                      <a:pPr algn="l"/>
                      <a:r>
                        <a:rPr sz="1050" b="0">
                          <a:solidFill>
                            <a:srgbClr val="1A1A1A"/>
                          </a:solidFill>
                          <a:latin typeface="Abadi"/>
                        </a:rPr>
                        <a:t>Early Kasai advised</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57200">
                <a:tc>
                  <a:txBody>
                    <a:bodyPr wrap="square"/>
                    <a:lstStyle/>
                    <a:p>
                      <a:pPr algn="l"/>
                      <a:r>
                        <a:rPr sz="1050" b="1">
                          <a:solidFill>
                            <a:srgbClr val="1A1A1A"/>
                          </a:solidFill>
                          <a:latin typeface="Abadi"/>
                        </a:rPr>
                        <a:t>Transplant indications</a:t>
                      </a:r>
                    </a:p>
                  </a:txBody>
                  <a:tcPr marL="73152" marR="73152" marT="27432" marB="27432" anchor="ctr">
                    <a:solidFill>
                      <a:srgbClr val="F2F4F7"/>
                    </a:solidFill>
                  </a:tcPr>
                </a:tc>
                <a:tc>
                  <a:txBody>
                    <a:bodyPr wrap="square"/>
                    <a:lstStyle/>
                    <a:p>
                      <a:pPr algn="l"/>
                      <a:r>
                        <a:rPr sz="1050" b="0">
                          <a:solidFill>
                            <a:srgbClr val="1A1A1A"/>
                          </a:solidFill>
                          <a:latin typeface="Abadi"/>
                        </a:rPr>
                        <a:t>Failed Kasai, complications, growth failure</a:t>
                      </a:r>
                    </a:p>
                  </a:txBody>
                  <a:tcPr marL="73152" marR="73152" marT="27432" marB="27432" anchor="ctr">
                    <a:solidFill>
                      <a:srgbClr val="F2F4F7"/>
                    </a:solidFill>
                  </a:tcPr>
                </a:tc>
                <a:tc>
                  <a:txBody>
                    <a:bodyPr wrap="square"/>
                    <a:lstStyle/>
                    <a:p>
                      <a:pPr algn="l"/>
                      <a:r>
                        <a:rPr sz="1050" b="0">
                          <a:solidFill>
                            <a:srgbClr val="1A1A1A"/>
                          </a:solidFill>
                          <a:latin typeface="Abadi"/>
                        </a:rPr>
                        <a:t>Not addressed</a:t>
                      </a:r>
                    </a:p>
                  </a:txBody>
                  <a:tcPr marL="73152" marR="73152" marT="27432" marB="27432" anchor="ctr">
                    <a:solidFill>
                      <a:srgbClr val="F2F4F7"/>
                    </a:solidFill>
                  </a:tcPr>
                </a:tc>
                <a:tc>
                  <a:txBody>
                    <a:bodyPr wrap="square"/>
                    <a:lstStyle/>
                    <a:p>
                      <a:pPr algn="l"/>
                      <a:r>
                        <a:rPr sz="1050" b="0">
                          <a:solidFill>
                            <a:srgbClr val="1A1A1A"/>
                          </a:solidFill>
                          <a:latin typeface="Abadi"/>
                        </a:rPr>
                        <a:t>No recommendation (CQ 24–25)</a:t>
                      </a:r>
                    </a:p>
                  </a:txBody>
                  <a:tcPr marL="73152" marR="73152" marT="27432" marB="27432" anchor="ctr">
                    <a:solidFill>
                      <a:srgbClr val="F2F4F7"/>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57200">
                <a:tc>
                  <a:txBody>
                    <a:bodyPr wrap="square"/>
                    <a:lstStyle/>
                    <a:p>
                      <a:pPr algn="l"/>
                      <a:r>
                        <a:rPr sz="1050" b="1">
                          <a:solidFill>
                            <a:srgbClr val="1A1A1A"/>
                          </a:solidFill>
                          <a:latin typeface="Abadi"/>
                        </a:rPr>
                        <a:t>Lifelong follow-up</a:t>
                      </a:r>
                    </a:p>
                  </a:txBody>
                  <a:tcPr marL="73152" marR="73152" marT="27432" marB="27432" anchor="ctr">
                    <a:solidFill>
                      <a:srgbClr val="FFFFFF"/>
                    </a:solidFill>
                  </a:tcPr>
                </a:tc>
                <a:tc>
                  <a:txBody>
                    <a:bodyPr wrap="square"/>
                    <a:lstStyle/>
                    <a:p>
                      <a:pPr algn="l"/>
                      <a:r>
                        <a:rPr sz="1050" b="0">
                          <a:solidFill>
                            <a:srgbClr val="1A1A1A"/>
                          </a:solidFill>
                          <a:latin typeface="Abadi"/>
                        </a:rPr>
                        <a:t>Implied</a:t>
                      </a:r>
                    </a:p>
                  </a:txBody>
                  <a:tcPr marL="73152" marR="73152" marT="27432" marB="27432" anchor="ctr">
                    <a:solidFill>
                      <a:srgbClr val="FFFFFF"/>
                    </a:solidFill>
                  </a:tcPr>
                </a:tc>
                <a:tc>
                  <a:txBody>
                    <a:bodyPr wrap="square"/>
                    <a:lstStyle/>
                    <a:p>
                      <a:pPr algn="l"/>
                      <a:r>
                        <a:rPr sz="1050" b="0">
                          <a:solidFill>
                            <a:srgbClr val="1A1A1A"/>
                          </a:solidFill>
                          <a:latin typeface="Abadi"/>
                        </a:rPr>
                        <a:t>Not addressed</a:t>
                      </a:r>
                    </a:p>
                  </a:txBody>
                  <a:tcPr marL="73152" marR="73152" marT="27432" marB="27432" anchor="ctr">
                    <a:solidFill>
                      <a:srgbClr val="FFFFFF"/>
                    </a:solidFill>
                  </a:tcPr>
                </a:tc>
                <a:tc>
                  <a:txBody>
                    <a:bodyPr wrap="square"/>
                    <a:lstStyle/>
                    <a:p>
                      <a:pPr algn="l"/>
                      <a:r>
                        <a:rPr sz="1050" b="0">
                          <a:solidFill>
                            <a:srgbClr val="1A1A1A"/>
                          </a:solidFill>
                          <a:latin typeface="Abadi"/>
                        </a:rPr>
                        <a:t>Not addressed</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4846320"/>
            <a:ext cx="11082528" cy="914400"/>
          </a:xfrm>
          <a:prstGeom prst="rect">
            <a:avLst/>
          </a:prstGeom>
          <a:noFill/>
        </p:spPr>
        <p:txBody>
          <a:bodyPr wrap="square" lIns="36576" rIns="36576" tIns="36576" bIns="36576" anchor="t">
            <a:spAutoFit/>
          </a:bodyPr>
          <a:lstStyle/>
          <a:p>
            <a:pPr algn="l"/>
            <a:r>
              <a:rPr sz="1250" b="1" i="0">
                <a:solidFill>
                  <a:srgbClr val="1B355E"/>
                </a:solidFill>
                <a:latin typeface="Abadi"/>
              </a:rPr>
              <a:t>Material gap.   </a:t>
            </a:r>
            <a:r>
              <a:rPr sz="1250" b="0" i="0">
                <a:solidFill>
                  <a:srgbClr val="1A1A1A"/>
                </a:solidFill>
                <a:latin typeface="Abadi"/>
              </a:rPr>
              <a:t>Only the AASLD transplant-evaluation guideline gives a bilirubin trigger. The Japanese guideline explicitly declined to make transplant recommendations for lack of evidence, and the NASPGHAN/ESPGHAN document stops at diagnosis. Prognosis in practice rests on cohorts, not on guidelines.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COUNSELLING</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WHAT TO SAY AT THREE MONTHS</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Framing prognosis for families, by the three-month bilirubin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Shneider 2016 · Fanna 2019 · Ng 2014 · Squires 2014</a:t>
            </a:r>
          </a:p>
        </p:txBody>
      </p:sp>
      <p:sp>
        <p:nvSpPr>
          <p:cNvPr id="12" name="Rectangle 11"/>
          <p:cNvSpPr/>
          <p:nvPr/>
        </p:nvSpPr>
        <p:spPr>
          <a:xfrm>
            <a:off x="548640" y="1773936"/>
            <a:ext cx="2633472" cy="2240280"/>
          </a:xfrm>
          <a:prstGeom prst="rect">
            <a:avLst/>
          </a:prstGeom>
          <a:solidFill>
            <a:srgbClr val="CDE7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36576" rIns="36576" tIns="36576" bIns="36576" anchor="t">
            <a:spAutoFit/>
          </a:bodyPr>
          <a:lstStyle/>
          <a:p>
            <a:pPr algn="l"/>
            <a:r>
              <a:rPr sz="1500" b="1" i="0">
                <a:solidFill>
                  <a:srgbClr val="1E7A33"/>
                </a:solidFill>
                <a:latin typeface="Abadi"/>
              </a:rPr>
              <a:t>Below 2 mg/dL</a:t>
            </a:r>
          </a:p>
        </p:txBody>
      </p:sp>
      <p:sp>
        <p:nvSpPr>
          <p:cNvPr id="15" name="TextBox 14"/>
          <p:cNvSpPr txBox="1"/>
          <p:nvPr/>
        </p:nvSpPr>
        <p:spPr>
          <a:xfrm>
            <a:off x="694944" y="2487168"/>
            <a:ext cx="2340864" cy="143560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About 86% transplant-free at 2 years</a:t>
            </a:r>
          </a:p>
          <a:p>
            <a:pPr algn="l">
              <a:spcAft>
                <a:spcPts val="400"/>
              </a:spcAft>
            </a:pPr>
            <a:r>
              <a:rPr sz="1150" b="0" i="0">
                <a:solidFill>
                  <a:srgbClr val="1A1A1A"/>
                </a:solidFill>
                <a:latin typeface="Abadi"/>
              </a:rPr>
              <a:t>▪  Not cured: lifelong follow-up</a:t>
            </a:r>
          </a:p>
          <a:p>
            <a:pPr algn="l">
              <a:spcAft>
                <a:spcPts val="400"/>
              </a:spcAft>
            </a:pPr>
            <a:r>
              <a:rPr sz="1150" b="0" i="0">
                <a:solidFill>
                  <a:srgbClr val="1A1A1A"/>
                </a:solidFill>
                <a:latin typeface="Abadi"/>
              </a:rPr>
              <a:t>▪  Cholangitis and portal hypertension still possible</a:t>
            </a:r>
          </a:p>
        </p:txBody>
      </p:sp>
      <p:sp>
        <p:nvSpPr>
          <p:cNvPr id="16" name="Rectangle 15"/>
          <p:cNvSpPr/>
          <p:nvPr/>
        </p:nvSpPr>
        <p:spPr>
          <a:xfrm>
            <a:off x="3364992" y="1773936"/>
            <a:ext cx="2633472" cy="224028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36576" rIns="36576" tIns="36576" bIns="36576" anchor="t">
            <a:spAutoFit/>
          </a:bodyPr>
          <a:lstStyle/>
          <a:p>
            <a:pPr algn="l"/>
            <a:r>
              <a:rPr sz="1500" b="1" i="0">
                <a:solidFill>
                  <a:srgbClr val="D97A0B"/>
                </a:solidFill>
                <a:latin typeface="Abadi"/>
              </a:rPr>
              <a:t>2 to 6 mg/dL</a:t>
            </a:r>
          </a:p>
        </p:txBody>
      </p:sp>
      <p:sp>
        <p:nvSpPr>
          <p:cNvPr id="19" name="TextBox 18"/>
          <p:cNvSpPr txBox="1"/>
          <p:nvPr/>
        </p:nvSpPr>
        <p:spPr>
          <a:xfrm>
            <a:off x="3511296" y="2487168"/>
            <a:ext cx="2340864" cy="143560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Partial drainage</a:t>
            </a:r>
          </a:p>
          <a:p>
            <a:pPr algn="l">
              <a:spcAft>
                <a:spcPts val="400"/>
              </a:spcAft>
            </a:pPr>
            <a:r>
              <a:rPr sz="1150" b="0" i="0">
                <a:solidFill>
                  <a:srgbClr val="1A1A1A"/>
                </a:solidFill>
                <a:latin typeface="Abadi"/>
              </a:rPr>
              <a:t>▪  Optimise nutrition now</a:t>
            </a:r>
          </a:p>
          <a:p>
            <a:pPr algn="l">
              <a:spcAft>
                <a:spcPts val="400"/>
              </a:spcAft>
            </a:pPr>
            <a:r>
              <a:rPr sz="1150" b="0" i="0">
                <a:solidFill>
                  <a:srgbClr val="1A1A1A"/>
                </a:solidFill>
                <a:latin typeface="Abadi"/>
              </a:rPr>
              <a:t>▪  Discuss transplant team early</a:t>
            </a:r>
          </a:p>
        </p:txBody>
      </p:sp>
      <p:sp>
        <p:nvSpPr>
          <p:cNvPr id="20" name="Rectangle 19"/>
          <p:cNvSpPr/>
          <p:nvPr/>
        </p:nvSpPr>
        <p:spPr>
          <a:xfrm>
            <a:off x="6181344" y="1773936"/>
            <a:ext cx="2633472" cy="224028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36576" rIns="36576" tIns="36576" bIns="36576" anchor="t">
            <a:spAutoFit/>
          </a:bodyPr>
          <a:lstStyle/>
          <a:p>
            <a:pPr algn="l"/>
            <a:r>
              <a:rPr sz="1500" b="1" i="0">
                <a:solidFill>
                  <a:srgbClr val="B22222"/>
                </a:solidFill>
                <a:latin typeface="Abadi"/>
              </a:rPr>
              <a:t>Above 6 mg/dL</a:t>
            </a:r>
          </a:p>
        </p:txBody>
      </p:sp>
      <p:sp>
        <p:nvSpPr>
          <p:cNvPr id="23" name="TextBox 22"/>
          <p:cNvSpPr txBox="1"/>
          <p:nvPr/>
        </p:nvSpPr>
        <p:spPr>
          <a:xfrm>
            <a:off x="6327648" y="2487168"/>
            <a:ext cx="2340864" cy="143560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Kasai has failed</a:t>
            </a:r>
          </a:p>
          <a:p>
            <a:pPr algn="l">
              <a:spcAft>
                <a:spcPts val="400"/>
              </a:spcAft>
            </a:pPr>
            <a:r>
              <a:rPr sz="1150" b="0" i="0">
                <a:solidFill>
                  <a:srgbClr val="1A1A1A"/>
                </a:solidFill>
                <a:latin typeface="Abadi"/>
              </a:rPr>
              <a:t>▪  Refer promptly</a:t>
            </a:r>
          </a:p>
          <a:p>
            <a:pPr algn="l">
              <a:spcAft>
                <a:spcPts val="400"/>
              </a:spcAft>
            </a:pPr>
            <a:r>
              <a:rPr sz="1150" b="0" i="0">
                <a:solidFill>
                  <a:srgbClr val="1A1A1A"/>
                </a:solidFill>
                <a:latin typeface="Abadi"/>
              </a:rPr>
              <a:t>▪  Most need a transplant in the first two years</a:t>
            </a:r>
          </a:p>
        </p:txBody>
      </p:sp>
      <p:sp>
        <p:nvSpPr>
          <p:cNvPr id="24" name="Rectangle 23"/>
          <p:cNvSpPr/>
          <p:nvPr/>
        </p:nvSpPr>
        <p:spPr>
          <a:xfrm>
            <a:off x="8997696" y="1773936"/>
            <a:ext cx="2633472" cy="2240280"/>
          </a:xfrm>
          <a:prstGeom prst="rect">
            <a:avLst/>
          </a:prstGeom>
          <a:solidFill>
            <a:srgbClr val="DCE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36576" rIns="36576" tIns="36576" bIns="36576" anchor="t">
            <a:spAutoFit/>
          </a:bodyPr>
          <a:lstStyle/>
          <a:p>
            <a:pPr algn="l"/>
            <a:r>
              <a:rPr sz="1500" b="1" i="0">
                <a:solidFill>
                  <a:srgbClr val="1B355E"/>
                </a:solidFill>
                <a:latin typeface="Abadi"/>
              </a:rPr>
              <a:t>Every family</a:t>
            </a:r>
          </a:p>
        </p:txBody>
      </p:sp>
      <p:sp>
        <p:nvSpPr>
          <p:cNvPr id="27" name="TextBox 26"/>
          <p:cNvSpPr txBox="1"/>
          <p:nvPr/>
        </p:nvSpPr>
        <p:spPr>
          <a:xfrm>
            <a:off x="9144000" y="2487168"/>
            <a:ext cx="2340864" cy="1435608"/>
          </a:xfrm>
          <a:prstGeom prst="rect">
            <a:avLst/>
          </a:prstGeom>
          <a:noFill/>
        </p:spPr>
        <p:txBody>
          <a:bodyPr wrap="square" lIns="36576" rIns="36576" tIns="36576" bIns="36576" anchor="t">
            <a:spAutoFit/>
          </a:bodyPr>
          <a:lstStyle/>
          <a:p>
            <a:pPr algn="l">
              <a:spcAft>
                <a:spcPts val="400"/>
              </a:spcAft>
            </a:pPr>
            <a:r>
              <a:rPr sz="1150" b="0" i="0">
                <a:solidFill>
                  <a:srgbClr val="1A1A1A"/>
                </a:solidFill>
                <a:latin typeface="Abadi"/>
              </a:rPr>
              <a:t>▪  Overall survival &gt; 80% with transplant</a:t>
            </a:r>
          </a:p>
          <a:p>
            <a:pPr algn="l">
              <a:spcAft>
                <a:spcPts val="400"/>
              </a:spcAft>
            </a:pPr>
            <a:r>
              <a:rPr sz="1150" b="0" i="0">
                <a:solidFill>
                  <a:srgbClr val="1A1A1A"/>
                </a:solidFill>
                <a:latin typeface="Abadi"/>
              </a:rPr>
              <a:t>▪  Pale stools or fever: same day</a:t>
            </a:r>
          </a:p>
          <a:p>
            <a:pPr algn="l">
              <a:spcAft>
                <a:spcPts val="400"/>
              </a:spcAft>
            </a:pPr>
            <a:r>
              <a:rPr sz="1150" b="0" i="0">
                <a:solidFill>
                  <a:srgbClr val="1A1A1A"/>
                </a:solidFill>
                <a:latin typeface="Abadi"/>
              </a:rPr>
              <a:t>▪  Plan for adolescence</a:t>
            </a:r>
          </a:p>
        </p:txBody>
      </p:sp>
      <p:sp>
        <p:nvSpPr>
          <p:cNvPr id="28" name="TextBox 27"/>
          <p:cNvSpPr txBox="1"/>
          <p:nvPr/>
        </p:nvSpPr>
        <p:spPr>
          <a:xfrm>
            <a:off x="548640" y="4206240"/>
            <a:ext cx="11082528" cy="1005840"/>
          </a:xfrm>
          <a:prstGeom prst="rect">
            <a:avLst/>
          </a:prstGeom>
          <a:noFill/>
        </p:spPr>
        <p:txBody>
          <a:bodyPr wrap="square" lIns="36576" rIns="36576" tIns="36576" bIns="36576" anchor="t">
            <a:spAutoFit/>
          </a:bodyPr>
          <a:lstStyle/>
          <a:p>
            <a:pPr algn="l"/>
            <a:r>
              <a:rPr sz="1250" b="1" i="0">
                <a:solidFill>
                  <a:srgbClr val="1B355E"/>
                </a:solidFill>
                <a:latin typeface="Abadi"/>
              </a:rPr>
              <a:t>Language.   </a:t>
            </a:r>
            <a:r>
              <a:rPr sz="1250" b="0" i="0">
                <a:solidFill>
                  <a:srgbClr val="1A1A1A"/>
                </a:solidFill>
                <a:latin typeface="Abadi"/>
              </a:rPr>
              <a:t>Avoid “the operation worked” or “it failed” as final verdicts. Say what the bilirubin means for the next two years, what will be watched afterwards, and that a transplant, if needed, has excellent long-term results.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HOW PROGNOSIS IS MISJUDGED</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Errors in reasoning after the Kasai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Bezerra 2014 · Ng 2014 · Anderson &amp; Hukkinen 2025 · Fanna 2019 · Okubo 2025</a:t>
            </a:r>
          </a:p>
        </p:txBody>
      </p:sp>
      <p:sp>
        <p:nvSpPr>
          <p:cNvPr id="12" name="Rectangle 11"/>
          <p:cNvSpPr/>
          <p:nvPr/>
        </p:nvSpPr>
        <p:spPr>
          <a:xfrm>
            <a:off x="548640"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36576" rIns="36576" tIns="36576" bIns="36576" anchor="t">
            <a:spAutoFit/>
          </a:bodyPr>
          <a:lstStyle/>
          <a:p>
            <a:pPr algn="l"/>
            <a:r>
              <a:rPr sz="1350" b="1" i="0">
                <a:solidFill>
                  <a:srgbClr val="B22222"/>
                </a:solidFill>
                <a:latin typeface="Abadi"/>
              </a:rPr>
              <a:t>“Bilirubin normal, so cured”</a:t>
            </a:r>
          </a:p>
        </p:txBody>
      </p:sp>
      <p:sp>
        <p:nvSpPr>
          <p:cNvPr id="15" name="TextBox 14"/>
          <p:cNvSpPr txBox="1"/>
          <p:nvPr/>
        </p:nvSpPr>
        <p:spPr>
          <a:xfrm>
            <a:off x="694944"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&gt; 98% chronic liver disease</a:t>
            </a:r>
          </a:p>
          <a:p>
            <a:pPr algn="l">
              <a:spcAft>
                <a:spcPts val="400"/>
              </a:spcAft>
            </a:pPr>
            <a:r>
              <a:rPr sz="1100" b="0" i="0">
                <a:solidFill>
                  <a:srgbClr val="1A1A1A"/>
                </a:solidFill>
                <a:latin typeface="Abadi"/>
              </a:rPr>
              <a:t>▪  Watch platelets, spleen</a:t>
            </a:r>
          </a:p>
        </p:txBody>
      </p:sp>
      <p:sp>
        <p:nvSpPr>
          <p:cNvPr id="16" name="Rectangle 15"/>
          <p:cNvSpPr/>
          <p:nvPr/>
        </p:nvSpPr>
        <p:spPr>
          <a:xfrm>
            <a:off x="2801721"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36576" rIns="36576" tIns="36576" bIns="36576" anchor="t">
            <a:spAutoFit/>
          </a:bodyPr>
          <a:lstStyle/>
          <a:p>
            <a:pPr algn="l"/>
            <a:r>
              <a:rPr sz="1350" b="1" i="0">
                <a:solidFill>
                  <a:srgbClr val="D97A0B"/>
                </a:solidFill>
                <a:latin typeface="Abadi"/>
              </a:rPr>
              <a:t>“Yellow stool = success”</a:t>
            </a:r>
          </a:p>
        </p:txBody>
      </p:sp>
      <p:sp>
        <p:nvSpPr>
          <p:cNvPr id="19" name="TextBox 18"/>
          <p:cNvSpPr txBox="1"/>
          <p:nvPr/>
        </p:nvSpPr>
        <p:spPr>
          <a:xfrm>
            <a:off x="2948025"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Stools can be pigmented with TB &gt; 2</a:t>
            </a:r>
          </a:p>
          <a:p>
            <a:pPr algn="l">
              <a:spcAft>
                <a:spcPts val="400"/>
              </a:spcAft>
            </a:pPr>
            <a:r>
              <a:rPr sz="1100" b="0" i="0">
                <a:solidFill>
                  <a:srgbClr val="1A1A1A"/>
                </a:solidFill>
                <a:latin typeface="Abadi"/>
              </a:rPr>
              <a:t>▪  Measure, do not infer</a:t>
            </a:r>
          </a:p>
        </p:txBody>
      </p:sp>
      <p:sp>
        <p:nvSpPr>
          <p:cNvPr id="20" name="Rectangle 19"/>
          <p:cNvSpPr/>
          <p:nvPr/>
        </p:nvSpPr>
        <p:spPr>
          <a:xfrm>
            <a:off x="5054803" y="1773936"/>
            <a:ext cx="2070201" cy="2148840"/>
          </a:xfrm>
          <a:prstGeom prst="rect">
            <a:avLst/>
          </a:prstGeom>
          <a:solidFill>
            <a:srgbClr val="FBE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36576" rIns="36576" tIns="36576" bIns="36576" anchor="t">
            <a:spAutoFit/>
          </a:bodyPr>
          <a:lstStyle/>
          <a:p>
            <a:pPr algn="l"/>
            <a:r>
              <a:rPr sz="1350" b="1" i="0">
                <a:solidFill>
                  <a:srgbClr val="D97A0B"/>
                </a:solidFill>
                <a:latin typeface="Abadi"/>
              </a:rPr>
              <a:t>“Steroids raised clearance”</a:t>
            </a:r>
          </a:p>
        </p:txBody>
      </p:sp>
      <p:sp>
        <p:nvSpPr>
          <p:cNvPr id="23" name="TextBox 22"/>
          <p:cNvSpPr txBox="1"/>
          <p:nvPr/>
        </p:nvSpPr>
        <p:spPr>
          <a:xfrm>
            <a:off x="5201107"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START: 58.6% vs 48.6%, P = .43</a:t>
            </a:r>
          </a:p>
          <a:p>
            <a:pPr algn="l">
              <a:spcAft>
                <a:spcPts val="400"/>
              </a:spcAft>
            </a:pPr>
            <a:r>
              <a:rPr sz="1100" b="0" i="0">
                <a:solidFill>
                  <a:srgbClr val="1A1A1A"/>
                </a:solidFill>
                <a:latin typeface="Abadi"/>
              </a:rPr>
              <a:t>▪  No survival effect</a:t>
            </a:r>
          </a:p>
        </p:txBody>
      </p:sp>
      <p:sp>
        <p:nvSpPr>
          <p:cNvPr id="24" name="Rectangle 23"/>
          <p:cNvSpPr/>
          <p:nvPr/>
        </p:nvSpPr>
        <p:spPr>
          <a:xfrm>
            <a:off x="7307884" y="1773936"/>
            <a:ext cx="2070201" cy="2148840"/>
          </a:xfrm>
          <a:prstGeom prst="rect">
            <a:avLst/>
          </a:prstGeom>
          <a:solidFill>
            <a:srgbClr val="F6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36576" rIns="36576" tIns="36576" bIns="36576" anchor="t">
            <a:spAutoFit/>
          </a:bodyPr>
          <a:lstStyle/>
          <a:p>
            <a:pPr algn="l"/>
            <a:r>
              <a:rPr sz="1350" b="1" i="0">
                <a:solidFill>
                  <a:srgbClr val="B22222"/>
                </a:solidFill>
                <a:latin typeface="Abadi"/>
              </a:rPr>
              <a:t>“Too late to operate”</a:t>
            </a:r>
          </a:p>
        </p:txBody>
      </p:sp>
      <p:sp>
        <p:nvSpPr>
          <p:cNvPr id="27" name="TextBox 26"/>
          <p:cNvSpPr txBox="1"/>
          <p:nvPr/>
        </p:nvSpPr>
        <p:spPr>
          <a:xfrm>
            <a:off x="7454188"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19% native at 25 y after month 3</a:t>
            </a:r>
          </a:p>
          <a:p>
            <a:pPr algn="l">
              <a:spcAft>
                <a:spcPts val="400"/>
              </a:spcAft>
            </a:pPr>
            <a:r>
              <a:rPr sz="1100" b="0" i="0">
                <a:solidFill>
                  <a:srgbClr val="1A1A1A"/>
                </a:solidFill>
                <a:latin typeface="Abadi"/>
              </a:rPr>
              <a:t>▪  Discuss case by case</a:t>
            </a:r>
          </a:p>
        </p:txBody>
      </p:sp>
      <p:sp>
        <p:nvSpPr>
          <p:cNvPr id="28" name="Rectangle 27"/>
          <p:cNvSpPr/>
          <p:nvPr/>
        </p:nvSpPr>
        <p:spPr>
          <a:xfrm>
            <a:off x="9560966" y="1773936"/>
            <a:ext cx="2070201" cy="2148840"/>
          </a:xfrm>
          <a:prstGeom prst="rect">
            <a:avLst/>
          </a:prstGeom>
          <a:solidFill>
            <a:srgbClr val="E7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36576" rIns="36576" tIns="36576" bIns="36576" anchor="t">
            <a:spAutoFit/>
          </a:bodyPr>
          <a:lstStyle/>
          <a:p>
            <a:pPr algn="l"/>
            <a:r>
              <a:rPr sz="1350" b="1" i="0">
                <a:solidFill>
                  <a:srgbClr val="8A939B"/>
                </a:solidFill>
                <a:latin typeface="Abadi"/>
              </a:rPr>
              <a:t>“Our rate is worse”</a:t>
            </a:r>
          </a:p>
        </p:txBody>
      </p:sp>
      <p:sp>
        <p:nvSpPr>
          <p:cNvPr id="31" name="TextBox 30"/>
          <p:cNvSpPr txBox="1"/>
          <p:nvPr/>
        </p:nvSpPr>
        <p:spPr>
          <a:xfrm>
            <a:off x="9707270" y="2487168"/>
            <a:ext cx="1777593" cy="1344168"/>
          </a:xfrm>
          <a:prstGeom prst="rect">
            <a:avLst/>
          </a:prstGeom>
          <a:noFill/>
        </p:spPr>
        <p:txBody>
          <a:bodyPr wrap="square" lIns="36576" rIns="36576" tIns="36576" bIns="36576" anchor="t">
            <a:spAutoFit/>
          </a:bodyPr>
          <a:lstStyle/>
          <a:p>
            <a:pPr algn="l">
              <a:spcAft>
                <a:spcPts val="400"/>
              </a:spcAft>
            </a:pPr>
            <a:r>
              <a:rPr sz="1100" b="0" i="0">
                <a:solidFill>
                  <a:srgbClr val="1A1A1A"/>
                </a:solidFill>
                <a:latin typeface="Abadi"/>
              </a:rPr>
              <a:t>▪  Check definition and time point</a:t>
            </a:r>
          </a:p>
          <a:p>
            <a:pPr algn="l">
              <a:spcAft>
                <a:spcPts val="400"/>
              </a:spcAft>
            </a:pPr>
            <a:r>
              <a:rPr sz="1100" b="0" i="0">
                <a:solidFill>
                  <a:srgbClr val="1A1A1A"/>
                </a:solidFill>
                <a:latin typeface="Abadi"/>
              </a:rPr>
              <a:t>▪  Compare like with like</a:t>
            </a:r>
          </a:p>
        </p:txBody>
      </p:sp>
      <p:sp>
        <p:nvSpPr>
          <p:cNvPr id="32" name="TextBox 31"/>
          <p:cNvSpPr txBox="1"/>
          <p:nvPr/>
        </p:nvSpPr>
        <p:spPr>
          <a:xfrm>
            <a:off x="548640" y="4114800"/>
            <a:ext cx="11082528" cy="822960"/>
          </a:xfrm>
          <a:prstGeom prst="rect">
            <a:avLst/>
          </a:prstGeom>
          <a:noFill/>
        </p:spPr>
        <p:txBody>
          <a:bodyPr wrap="square" lIns="36576" rIns="36576" tIns="36576" bIns="36576" anchor="t">
            <a:spAutoFit/>
          </a:bodyPr>
          <a:lstStyle/>
          <a:p>
            <a:pPr algn="l"/>
            <a:r>
              <a:rPr sz="1250" b="1" i="0">
                <a:solidFill>
                  <a:srgbClr val="1B355E"/>
                </a:solidFill>
                <a:latin typeface="Abadi"/>
              </a:rPr>
              <a:t>And one more.   </a:t>
            </a:r>
            <a:r>
              <a:rPr sz="1250" b="0" i="0">
                <a:solidFill>
                  <a:srgbClr val="1A1A1A"/>
                </a:solidFill>
                <a:latin typeface="Abadi"/>
              </a:rPr>
              <a:t>A child with a normal bilirubin at six years and new thrombocytopenia has not “suddenly” developed liver disease: the second clock was running all along.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Shneider 2016 · Nightingale 2017 · Fanna 2019 · Nio 2017 · Okubo 2025 · Ng 2014 · Jain 2019 · Squires 2014 · Bezerra 2014</a:t>
            </a:r>
          </a:p>
        </p:txBody>
      </p:sp>
      <p:sp>
        <p:nvSpPr>
          <p:cNvPr id="12" name="TextBox 11"/>
          <p:cNvSpPr txBox="1"/>
          <p:nvPr/>
        </p:nvSpPr>
        <p:spPr>
          <a:xfrm>
            <a:off x="640080" y="1783080"/>
            <a:ext cx="10899648" cy="3931920"/>
          </a:xfrm>
          <a:prstGeom prst="rect">
            <a:avLst/>
          </a:prstGeom>
          <a:noFill/>
        </p:spPr>
        <p:txBody>
          <a:bodyPr wrap="square" lIns="36576" rIns="36576" tIns="36576" bIns="36576" anchor="t">
            <a:spAutoFit/>
          </a:bodyPr>
          <a:lstStyle/>
          <a:p>
            <a:pPr algn="l">
              <a:spcAft>
                <a:spcPts val="600"/>
              </a:spcAft>
            </a:pPr>
            <a:r>
              <a:rPr sz="1250" b="0" i="0">
                <a:solidFill>
                  <a:srgbClr val="1A1A1A"/>
                </a:solidFill>
                <a:latin typeface="Abadi"/>
              </a:rPr>
              <a:t>•  TB &lt; 2 mg/dL within 3 months: 2-year transplant-free survival 86% vs 20%; about half of infants reach it.</a:t>
            </a:r>
          </a:p>
          <a:p>
            <a:pPr algn="l">
              <a:spcAft>
                <a:spcPts val="600"/>
              </a:spcAft>
            </a:pPr>
            <a:r>
              <a:rPr sz="1250" b="0" i="0">
                <a:solidFill>
                  <a:srgbClr val="1A1A1A"/>
                </a:solidFill>
                <a:latin typeface="Abadi"/>
              </a:rPr>
              <a:t>•  Albumin &gt; 35 g/L and low bile acids add information; stiffness &gt; 19.9 kPa at 3 months predicts events.</a:t>
            </a:r>
          </a:p>
          <a:p>
            <a:pPr algn="l">
              <a:spcAft>
                <a:spcPts val="600"/>
              </a:spcAft>
            </a:pPr>
            <a:r>
              <a:rPr sz="1250" b="0" i="0">
                <a:solidFill>
                  <a:srgbClr val="1A1A1A"/>
                </a:solidFill>
                <a:latin typeface="Abadi"/>
              </a:rPr>
              <a:t>•  Clearance definitions differ: &lt; 2 mg/dL by 3 months, &lt; 20 µmol/L by 6 months, &lt; 1.5 mg/dL at 6 months.</a:t>
            </a:r>
          </a:p>
          <a:p>
            <a:pPr algn="l">
              <a:spcAft>
                <a:spcPts val="600"/>
              </a:spcAft>
            </a:pPr>
            <a:r>
              <a:rPr sz="1250" b="0" i="0">
                <a:solidFill>
                  <a:srgbClr val="1A1A1A"/>
                </a:solidFill>
                <a:latin typeface="Abadi"/>
              </a:rPr>
              <a:t>•  France: native liver 41% at 5 years, 26% at 20, 22% at 30. Japan: 49% at 20 years.</a:t>
            </a:r>
          </a:p>
          <a:p>
            <a:pPr algn="l">
              <a:spcAft>
                <a:spcPts val="600"/>
              </a:spcAft>
            </a:pPr>
            <a:r>
              <a:rPr sz="1250" b="0" i="0">
                <a:solidFill>
                  <a:srgbClr val="1A1A1A"/>
                </a:solidFill>
                <a:latin typeface="Abadi"/>
              </a:rPr>
              <a:t>•  Overall survival is above 80% because transplant rescues failed Kasai.</a:t>
            </a:r>
          </a:p>
          <a:p>
            <a:pPr algn="l">
              <a:spcAft>
                <a:spcPts val="600"/>
              </a:spcAft>
            </a:pPr>
            <a:r>
              <a:rPr sz="1250" b="0" i="0">
                <a:solidFill>
                  <a:srgbClr val="1A1A1A"/>
                </a:solidFill>
                <a:latin typeface="Abadi"/>
              </a:rPr>
              <a:t>•  Age at Kasai: a continuous gradient, 38% (month 1) to 19% (later) at 25 years in France.</a:t>
            </a:r>
          </a:p>
          <a:p>
            <a:pPr algn="l">
              <a:spcAft>
                <a:spcPts val="600"/>
              </a:spcAft>
            </a:pPr>
            <a:r>
              <a:rPr sz="1250" b="0" i="0">
                <a:solidFill>
                  <a:srgbClr val="1A1A1A"/>
                </a:solidFill>
                <a:latin typeface="Abadi"/>
              </a:rPr>
              <a:t>•  Japan: 30-year native-liver survival 88% without portal hypertension, 46% with treated portal hypertension.</a:t>
            </a:r>
          </a:p>
          <a:p>
            <a:pPr algn="l">
              <a:spcAft>
                <a:spcPts val="600"/>
              </a:spcAft>
            </a:pPr>
            <a:r>
              <a:rPr sz="1250" b="0" i="0">
                <a:solidFill>
                  <a:srgbClr val="1A1A1A"/>
                </a:solidFill>
                <a:latin typeface="Abadi"/>
              </a:rPr>
              <a:t>•  Native-liver survivors at 5+ years: &gt; 98% chronic liver disease, 62% ever cholangitis, 9% variceal bleed.</a:t>
            </a:r>
          </a:p>
          <a:p>
            <a:pPr algn="l">
              <a:spcAft>
                <a:spcPts val="600"/>
              </a:spcAft>
            </a:pPr>
            <a:r>
              <a:rPr sz="1250" b="0" i="0">
                <a:solidFill>
                  <a:srgbClr val="1A1A1A"/>
                </a:solidFill>
                <a:latin typeface="Abadi"/>
              </a:rPr>
              <a:t>•  King's: 28% reached 16 with their own liver; a quarter of those needed transplant later.</a:t>
            </a:r>
          </a:p>
          <a:p>
            <a:pPr algn="l">
              <a:spcAft>
                <a:spcPts val="600"/>
              </a:spcAft>
            </a:pPr>
            <a:r>
              <a:rPr sz="1250" b="0" i="0">
                <a:solidFill>
                  <a:srgbClr val="1A1A1A"/>
                </a:solidFill>
                <a:latin typeface="Abadi"/>
              </a:rPr>
              <a:t>•  AASLD: refer promptly when TB stays &gt; 6 mg/dL beyond 3 months; consider from 2 mg/dL.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36576" rIns="36576" tIns="36576" bIns="36576" anchor="ctr">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lIns="36576" rIns="36576" tIns="36576" bIns="36576"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36576" rIns="36576" tIns="36576" bIns="36576" anchor="ctr">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36576" rIns="36576" tIns="36576" bIns="36576" anchor="t">
            <a:spAutoFit/>
          </a:bodyPr>
          <a:lstStyle/>
          <a:p>
            <a:pPr algn="l"/>
            <a:r>
              <a:rPr sz="1300" b="0" i="0">
                <a:solidFill>
                  <a:srgbClr val="555555"/>
                </a:solidFill>
                <a:latin typeface="Abadi"/>
              </a:rPr>
              <a:t>Applying the prognosis evidence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36576" rIns="36576" tIns="36576" bIns="36576" anchor="t">
            <a:spAutoFit/>
          </a:bodyPr>
          <a:lstStyle/>
          <a:p>
            <a:pPr algn="r"/>
            <a:r>
              <a:rPr sz="1200" b="0" i="0">
                <a:solidFill>
                  <a:srgbClr val="555555"/>
                </a:solidFill>
                <a:latin typeface="Abadi"/>
              </a:rPr>
              <a:t>21</a:t>
            </a:r>
          </a:p>
        </p:txBody>
      </p:sp>
      <p:sp>
        <p:nvSpPr>
          <p:cNvPr id="11" name="TextBox 10"/>
          <p:cNvSpPr txBox="1"/>
          <p:nvPr/>
        </p:nvSpPr>
        <p:spPr>
          <a:xfrm>
            <a:off x="548640" y="5971032"/>
            <a:ext cx="10287000" cy="457200"/>
          </a:xfrm>
          <a:prstGeom prst="rect">
            <a:avLst/>
          </a:prstGeom>
          <a:noFill/>
        </p:spPr>
        <p:txBody>
          <a:bodyPr wrap="square" lIns="36576" rIns="36576" tIns="36576" bIns="36576" anchor="t">
            <a:spAutoFit/>
          </a:bodyPr>
          <a:lstStyle/>
          <a:p>
            <a:pPr algn="l"/>
            <a:r>
              <a:rPr sz="1000" b="0" i="0">
                <a:solidFill>
                  <a:srgbClr val="8A939B"/>
                </a:solidFill>
                <a:latin typeface="Abadi"/>
              </a:rPr>
              <a:t>Synthesis of the sources above</a:t>
            </a:r>
          </a:p>
        </p:txBody>
      </p:sp>
      <p:graphicFrame>
        <p:nvGraphicFramePr>
          <p:cNvPr id="12" name="Table 11"/>
          <p:cNvGraphicFramePr>
            <a:graphicFrameLocks noGrp="1"/>
          </p:cNvGraphicFramePr>
          <p:nvPr/>
        </p:nvGraphicFramePr>
        <p:xfrm>
          <a:off x="548640" y="1783080"/>
          <a:ext cx="11082527" cy="3657600"/>
        </p:xfrm>
        <a:graphic>
          <a:graphicData uri="http://schemas.openxmlformats.org/drawingml/2006/table">
            <a:tbl>
              <a:tblPr firstRow="0" bandRow="0">
                <a:tableStyleId>{5C22544A-7EE6-4342-B048-85BDC9FD1C3A}</a:tableStyleId>
              </a:tblPr>
              <a:tblGrid>
                <a:gridCol w="3566160"/>
                <a:gridCol w="3840480"/>
                <a:gridCol w="3675887"/>
              </a:tblGrid>
              <a:tr h="457200">
                <a:tc>
                  <a:txBody>
                    <a:bodyPr wrap="square"/>
                    <a:lstStyle/>
                    <a:p>
                      <a:pPr algn="l"/>
                      <a:r>
                        <a:rPr sz="1050" b="1">
                          <a:solidFill>
                            <a:srgbClr val="FFFFFF"/>
                          </a:solidFill>
                          <a:latin typeface="Abadi"/>
                        </a:rPr>
                        <a:t>Scenario</a:t>
                      </a:r>
                    </a:p>
                  </a:txBody>
                  <a:tcPr marL="73152" marR="73152" marT="27432" marB="27432" anchor="ctr">
                    <a:solidFill>
                      <a:srgbClr val="1B355E"/>
                    </a:solidFill>
                  </a:tcPr>
                </a:tc>
                <a:tc>
                  <a:txBody>
                    <a:bodyPr wrap="square"/>
                    <a:lstStyle/>
                    <a:p>
                      <a:pPr algn="l"/>
                      <a:r>
                        <a:rPr sz="1050" b="1">
                          <a:solidFill>
                            <a:srgbClr val="FFFFFF"/>
                          </a:solidFill>
                          <a:latin typeface="Abadi"/>
                        </a:rPr>
                        <a:t>Decision</a:t>
                      </a:r>
                    </a:p>
                  </a:txBody>
                  <a:tcPr marL="73152" marR="73152" marT="27432" marB="27432" anchor="ctr">
                    <a:solidFill>
                      <a:srgbClr val="1B355E"/>
                    </a:solidFill>
                  </a:tcPr>
                </a:tc>
                <a:tc>
                  <a:txBody>
                    <a:bodyPr wrap="square"/>
                    <a:lstStyle/>
                    <a:p>
                      <a:pPr algn="l"/>
                      <a:r>
                        <a:rPr sz="1050" b="1">
                          <a:solidFill>
                            <a:srgbClr val="FFFFFF"/>
                          </a:solidFill>
                          <a:latin typeface="Abadi"/>
                        </a:rPr>
                        <a:t>Why</a:t>
                      </a:r>
                    </a:p>
                  </a:txBody>
                  <a:tcPr marL="73152" marR="73152" marT="27432" marB="27432" anchor="ctr">
                    <a:solidFill>
                      <a:srgbClr val="1B355E"/>
                    </a:solidFill>
                  </a:tcPr>
                </a:tc>
              </a:tr>
              <a:tr h="457200">
                <a:tc>
                  <a:txBody>
                    <a:bodyPr wrap="square"/>
                    <a:lstStyle/>
                    <a:p>
                      <a:pPr algn="l"/>
                      <a:r>
                        <a:rPr sz="1050" b="1">
                          <a:solidFill>
                            <a:srgbClr val="1A1A1A"/>
                          </a:solidFill>
                          <a:latin typeface="Abadi"/>
                        </a:rPr>
                        <a:t>3 months, TB 1.6 mg/dL, albumin 38 g/L</a:t>
                      </a:r>
                    </a:p>
                  </a:txBody>
                  <a:tcPr marL="73152" marR="73152" marT="27432" marB="27432" anchor="ctr">
                    <a:solidFill>
                      <a:srgbClr val="FFFFFF"/>
                    </a:solidFill>
                  </a:tcPr>
                </a:tc>
                <a:tc>
                  <a:txBody>
                    <a:bodyPr wrap="square"/>
                    <a:lstStyle/>
                    <a:p>
                      <a:pPr algn="l"/>
                      <a:r>
                        <a:rPr sz="1050" b="0">
                          <a:solidFill>
                            <a:srgbClr val="1A1A1A"/>
                          </a:solidFill>
                          <a:latin typeface="Abadi"/>
                        </a:rPr>
                        <a:t>Reassure; routine schedule; lifelong follow-up</a:t>
                      </a:r>
                    </a:p>
                  </a:txBody>
                  <a:tcPr marL="73152" marR="73152" marT="27432" marB="27432" anchor="ctr">
                    <a:solidFill>
                      <a:srgbClr val="FFFFFF"/>
                    </a:solidFill>
                  </a:tcPr>
                </a:tc>
                <a:tc>
                  <a:txBody>
                    <a:bodyPr wrap="square"/>
                    <a:lstStyle/>
                    <a:p>
                      <a:pPr algn="l"/>
                      <a:r>
                        <a:rPr sz="1050" b="0">
                          <a:solidFill>
                            <a:srgbClr val="1A1A1A"/>
                          </a:solidFill>
                          <a:latin typeface="Abadi"/>
                        </a:rPr>
                        <a:t>86% transplant-free at 2 years</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3 months, TB 4.5 mg/dL, poor weight gain</a:t>
                      </a:r>
                    </a:p>
                  </a:txBody>
                  <a:tcPr marL="73152" marR="73152" marT="27432" marB="27432" anchor="ctr">
                    <a:solidFill>
                      <a:srgbClr val="F2F4F7"/>
                    </a:solidFill>
                  </a:tcPr>
                </a:tc>
                <a:tc>
                  <a:txBody>
                    <a:bodyPr wrap="square"/>
                    <a:lstStyle/>
                    <a:p>
                      <a:pPr algn="l"/>
                      <a:r>
                        <a:rPr sz="1050" b="0">
                          <a:solidFill>
                            <a:srgbClr val="1A1A1A"/>
                          </a:solidFill>
                          <a:latin typeface="Abadi"/>
                        </a:rPr>
                        <a:t>Nutrition push; involve transplant team</a:t>
                      </a:r>
                    </a:p>
                  </a:txBody>
                  <a:tcPr marL="73152" marR="73152" marT="27432" marB="27432" anchor="ctr">
                    <a:solidFill>
                      <a:srgbClr val="F2F4F7"/>
                    </a:solidFill>
                  </a:tcPr>
                </a:tc>
                <a:tc>
                  <a:txBody>
                    <a:bodyPr wrap="square"/>
                    <a:lstStyle/>
                    <a:p>
                      <a:pPr algn="l"/>
                      <a:r>
                        <a:rPr sz="1050" b="0">
                          <a:solidFill>
                            <a:srgbClr val="1A1A1A"/>
                          </a:solidFill>
                          <a:latin typeface="Abadi"/>
                        </a:rPr>
                        <a:t>Partial drainage; high transplant odds</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4 months, TB 8 mg/dL</a:t>
                      </a:r>
                    </a:p>
                  </a:txBody>
                  <a:tcPr marL="73152" marR="73152" marT="27432" marB="27432" anchor="ctr">
                    <a:solidFill>
                      <a:srgbClr val="FFFFFF"/>
                    </a:solidFill>
                  </a:tcPr>
                </a:tc>
                <a:tc>
                  <a:txBody>
                    <a:bodyPr wrap="square"/>
                    <a:lstStyle/>
                    <a:p>
                      <a:pPr algn="l"/>
                      <a:r>
                        <a:rPr sz="1050" b="0">
                          <a:solidFill>
                            <a:srgbClr val="1A1A1A"/>
                          </a:solidFill>
                          <a:latin typeface="Abadi"/>
                        </a:rPr>
                        <a:t>Refer for transplant evaluation now</a:t>
                      </a:r>
                    </a:p>
                  </a:txBody>
                  <a:tcPr marL="73152" marR="73152" marT="27432" marB="27432" anchor="ctr">
                    <a:solidFill>
                      <a:srgbClr val="FFFFFF"/>
                    </a:solidFill>
                  </a:tcPr>
                </a:tc>
                <a:tc>
                  <a:txBody>
                    <a:bodyPr wrap="square"/>
                    <a:lstStyle/>
                    <a:p>
                      <a:pPr algn="l"/>
                      <a:r>
                        <a:rPr sz="1050" b="0">
                          <a:solidFill>
                            <a:srgbClr val="1A1A1A"/>
                          </a:solidFill>
                          <a:latin typeface="Abadi"/>
                        </a:rPr>
                        <a:t>AASLD threshold exceeded</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Anicteric, albumin 31 g/L at 3 months</a:t>
                      </a:r>
                    </a:p>
                  </a:txBody>
                  <a:tcPr marL="73152" marR="73152" marT="27432" marB="27432" anchor="ctr">
                    <a:solidFill>
                      <a:srgbClr val="F2F4F7"/>
                    </a:solidFill>
                  </a:tcPr>
                </a:tc>
                <a:tc>
                  <a:txBody>
                    <a:bodyPr wrap="square"/>
                    <a:lstStyle/>
                    <a:p>
                      <a:pPr algn="l"/>
                      <a:r>
                        <a:rPr sz="1050" b="0">
                          <a:solidFill>
                            <a:srgbClr val="1A1A1A"/>
                          </a:solidFill>
                          <a:latin typeface="Abadi"/>
                        </a:rPr>
                        <a:t>Treat as higher risk; stiffness, closer review</a:t>
                      </a:r>
                    </a:p>
                  </a:txBody>
                  <a:tcPr marL="73152" marR="73152" marT="27432" marB="27432" anchor="ctr">
                    <a:solidFill>
                      <a:srgbClr val="F2F4F7"/>
                    </a:solidFill>
                  </a:tcPr>
                </a:tc>
                <a:tc>
                  <a:txBody>
                    <a:bodyPr wrap="square"/>
                    <a:lstStyle/>
                    <a:p>
                      <a:pPr algn="l"/>
                      <a:r>
                        <a:rPr sz="1050" b="0">
                          <a:solidFill>
                            <a:srgbClr val="1A1A1A"/>
                          </a:solidFill>
                          <a:latin typeface="Abadi"/>
                        </a:rPr>
                        <a:t>Low albumin a poor sign despite clearance</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Age 7, normal TB, platelets 90</a:t>
                      </a:r>
                    </a:p>
                  </a:txBody>
                  <a:tcPr marL="73152" marR="73152" marT="27432" marB="27432" anchor="ctr">
                    <a:solidFill>
                      <a:srgbClr val="FFFFFF"/>
                    </a:solidFill>
                  </a:tcPr>
                </a:tc>
                <a:tc>
                  <a:txBody>
                    <a:bodyPr wrap="square"/>
                    <a:lstStyle/>
                    <a:p>
                      <a:pPr algn="l"/>
                      <a:r>
                        <a:rPr sz="1050" b="0">
                          <a:solidFill>
                            <a:srgbClr val="1A1A1A"/>
                          </a:solidFill>
                          <a:latin typeface="Abadi"/>
                        </a:rPr>
                        <a:t>Portal hypertension work-up</a:t>
                      </a:r>
                    </a:p>
                  </a:txBody>
                  <a:tcPr marL="73152" marR="73152" marT="27432" marB="27432" anchor="ctr">
                    <a:solidFill>
                      <a:srgbClr val="FFFFFF"/>
                    </a:solidFill>
                  </a:tcPr>
                </a:tc>
                <a:tc>
                  <a:txBody>
                    <a:bodyPr wrap="square"/>
                    <a:lstStyle/>
                    <a:p>
                      <a:pPr algn="l"/>
                      <a:r>
                        <a:rPr sz="1050" b="0">
                          <a:solidFill>
                            <a:srgbClr val="1A1A1A"/>
                          </a:solidFill>
                          <a:latin typeface="Abadi"/>
                        </a:rPr>
                        <a:t>The fibrosis clock keeps running</a:t>
                      </a:r>
                    </a:p>
                  </a:txBody>
                  <a:tcPr marL="73152" marR="73152" marT="27432" marB="27432" anchor="ctr">
                    <a:solidFill>
                      <a:srgbClr val="FFFFFF"/>
                    </a:solidFill>
                  </a:tcPr>
                </a:tc>
              </a:tr>
              <a:tr h="457200">
                <a:tc>
                  <a:txBody>
                    <a:bodyPr wrap="square"/>
                    <a:lstStyle/>
                    <a:p>
                      <a:pPr algn="l"/>
                      <a:r>
                        <a:rPr sz="1050" b="1">
                          <a:solidFill>
                            <a:srgbClr val="1A1A1A"/>
                          </a:solidFill>
                          <a:latin typeface="Abadi"/>
                        </a:rPr>
                        <a:t>Age 16, TB 25 µmol/L, varices</a:t>
                      </a:r>
                    </a:p>
                  </a:txBody>
                  <a:tcPr marL="73152" marR="73152" marT="27432" marB="27432" anchor="ctr">
                    <a:solidFill>
                      <a:srgbClr val="F2F4F7"/>
                    </a:solidFill>
                  </a:tcPr>
                </a:tc>
                <a:tc>
                  <a:txBody>
                    <a:bodyPr wrap="square"/>
                    <a:lstStyle/>
                    <a:p>
                      <a:pPr algn="l"/>
                      <a:r>
                        <a:rPr sz="1050" b="0">
                          <a:solidFill>
                            <a:srgbClr val="1A1A1A"/>
                          </a:solidFill>
                          <a:latin typeface="Abadi"/>
                        </a:rPr>
                        <a:t>Adult transplant pathway at transition</a:t>
                      </a:r>
                    </a:p>
                  </a:txBody>
                  <a:tcPr marL="73152" marR="73152" marT="27432" marB="27432" anchor="ctr">
                    <a:solidFill>
                      <a:srgbClr val="F2F4F7"/>
                    </a:solidFill>
                  </a:tcPr>
                </a:tc>
                <a:tc>
                  <a:txBody>
                    <a:bodyPr wrap="square"/>
                    <a:lstStyle/>
                    <a:p>
                      <a:pPr algn="l"/>
                      <a:r>
                        <a:rPr sz="1050" b="0">
                          <a:solidFill>
                            <a:srgbClr val="1A1A1A"/>
                          </a:solidFill>
                          <a:latin typeface="Abadi"/>
                        </a:rPr>
                        <a:t>King's markers of later transplant</a:t>
                      </a:r>
                    </a:p>
                  </a:txBody>
                  <a:tcPr marL="73152" marR="73152" marT="27432" marB="27432" anchor="ctr">
                    <a:solidFill>
                      <a:srgbClr val="F2F4F7"/>
                    </a:solidFill>
                  </a:tcPr>
                </a:tc>
              </a:tr>
              <a:tr h="457200">
                <a:tc>
                  <a:txBody>
                    <a:bodyPr wrap="square"/>
                    <a:lstStyle/>
                    <a:p>
                      <a:pPr algn="l"/>
                      <a:r>
                        <a:rPr sz="1050" b="1">
                          <a:solidFill>
                            <a:srgbClr val="1A1A1A"/>
                          </a:solidFill>
                          <a:latin typeface="Abadi"/>
                        </a:rPr>
                        <a:t>Family asks: will she keep her liver?</a:t>
                      </a:r>
                    </a:p>
                  </a:txBody>
                  <a:tcPr marL="73152" marR="73152" marT="27432" marB="27432" anchor="ctr">
                    <a:solidFill>
                      <a:srgbClr val="FFFFFF"/>
                    </a:solidFill>
                  </a:tcPr>
                </a:tc>
                <a:tc>
                  <a:txBody>
                    <a:bodyPr wrap="square"/>
                    <a:lstStyle/>
                    <a:p>
                      <a:pPr algn="l"/>
                      <a:r>
                        <a:rPr sz="1050" b="0">
                          <a:solidFill>
                            <a:srgbClr val="1A1A1A"/>
                          </a:solidFill>
                          <a:latin typeface="Abadi"/>
                        </a:rPr>
                        <a:t>Give the number for her bilirubin and the long-run picture</a:t>
                      </a:r>
                    </a:p>
                  </a:txBody>
                  <a:tcPr marL="73152" marR="73152" marT="27432" marB="27432" anchor="ctr">
                    <a:solidFill>
                      <a:srgbClr val="FFFFFF"/>
                    </a:solidFill>
                  </a:tcPr>
                </a:tc>
                <a:tc>
                  <a:txBody>
                    <a:bodyPr wrap="square"/>
                    <a:lstStyle/>
                    <a:p>
                      <a:pPr algn="l"/>
                      <a:r>
                        <a:rPr sz="1050" b="0">
                          <a:solidFill>
                            <a:srgbClr val="1A1A1A"/>
                          </a:solidFill>
                          <a:latin typeface="Abadi"/>
                        </a:rPr>
                        <a:t>Prognosis is updated, not fixed</a:t>
                      </a:r>
                    </a:p>
                  </a:txBody>
                  <a:tcPr marL="73152" marR="73152"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1082528" cy="2011680"/>
          </a:xfrm>
          <a:prstGeom prst="rect">
            <a:avLst/>
          </a:prstGeom>
          <a:noFill/>
        </p:spPr>
        <p:txBody>
          <a:bodyPr wrap="square" lIns="36576" rIns="36576" tIns="36576" bIns="36576" anchor="b">
            <a:spAutoFit/>
          </a:bodyPr>
          <a:lstStyle/>
          <a:p>
            <a:pPr algn="ctr"/>
            <a:r>
              <a:rPr sz="4000" b="1" i="0">
                <a:solidFill>
                  <a:srgbClr val="FFFFFF"/>
                </a:solidFill>
                <a:latin typeface="Abadi"/>
              </a:rPr>
              <a:t>Biliary Atresia VIII: Prognosis after the Kasai — Clearance of Jaundice and Long-Term Native-Liver Survival</a:t>
            </a:r>
          </a:p>
        </p:txBody>
      </p:sp>
      <p:sp>
        <p:nvSpPr>
          <p:cNvPr id="4" name="TextBox 3"/>
          <p:cNvSpPr txBox="1"/>
          <p:nvPr/>
        </p:nvSpPr>
        <p:spPr>
          <a:xfrm>
            <a:off x="548640" y="3977639"/>
            <a:ext cx="11082528" cy="365760"/>
          </a:xfrm>
          <a:prstGeom prst="rect">
            <a:avLst/>
          </a:prstGeom>
          <a:noFill/>
        </p:spPr>
        <p:txBody>
          <a:bodyPr wrap="square" lIns="36576" rIns="36576" tIns="36576" bIns="36576"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