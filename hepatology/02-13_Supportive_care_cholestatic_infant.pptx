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0" bIns="0" anchor="b">
            <a:spAutoFit/>
          </a:bodyPr>
          <a:lstStyle/>
          <a:p>
            <a:pPr algn="ctr"/>
            <a:r>
              <a:rPr sz="4000" b="1" i="0">
                <a:solidFill>
                  <a:srgbClr val="FFFFFF"/>
                </a:solidFill>
                <a:latin typeface="Abadi"/>
              </a:rPr>
              <a:t>Managing the Cholestatic Infant, Whatever the Cause: UDCA, Vitamins, Itch, Growth and Monitoring</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0" bIns="0"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0" rIns="0" tIns="0" bIns="0" anchor="t">
            <a:spAutoFit/>
          </a:bodyPr>
          <a:lstStyle/>
          <a:p>
            <a:pPr algn="ctr"/>
            <a:r>
              <a:rPr sz="1100" b="0" i="0">
                <a:solidFill>
                  <a:srgbClr val="D9DEE7"/>
                </a:solidFill>
                <a:latin typeface="Abadi"/>
              </a:rPr>
              <a:t>Fawaz 2017 (NASPGHAN/ESPGHAN) · Mouzaki 2019 (NASPGHAN/ESPGHAN nutrition) · EASL 2024 genetic cholestasis · Shneider 2012 · Willot 2008 · Lindor 2009 · DeRusso 2007 · Gonzales 2021 · Thompson 2022 · Miethke 2024 · Ovchinsky 2024</a:t>
            </a:r>
          </a:p>
        </p:txBody>
      </p:sp>
      <p:sp>
        <p:nvSpPr>
          <p:cNvPr id="7" name="TextBox 6"/>
          <p:cNvSpPr txBox="1"/>
          <p:nvPr/>
        </p:nvSpPr>
        <p:spPr>
          <a:xfrm>
            <a:off x="548640" y="5193792"/>
            <a:ext cx="11082528" cy="548640"/>
          </a:xfrm>
          <a:prstGeom prst="rect">
            <a:avLst/>
          </a:prstGeom>
          <a:noFill/>
        </p:spPr>
        <p:txBody>
          <a:bodyPr wrap="square" lIns="0" rIns="0" tIns="0" bIns="0" anchor="t">
            <a:spAutoFit/>
          </a:bodyPr>
          <a:lstStyle/>
          <a:p>
            <a:pPr algn="ctr"/>
            <a:r>
              <a:rPr sz="1100" b="0" i="1">
                <a:solidFill>
                  <a:srgbClr val="D9DEE7"/>
                </a:solidFill>
                <a:latin typeface="Abadi"/>
              </a:rPr>
              <a:t>the bile acid that never reaches the gut · UDCA is a habit, not a proof · four vitamins, four markers · weight lies · itch is a disease · growth predicts the graft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TREAT THE CHOLESTASIS, NOT ONLY THE CAUSE</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Whatever the diagnosis turns out to be, what does every cholestatic infant need from the first week?</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Fawaz R, et al. JPGN 2017;64:154–68 · Mouzaki M, et al. JPGN 2019;69:498–511 · Verkade HJ, et al. EASL CPG genetic cholestatic liver diseases. J Hepatol 2024;81:303–25 · Shneider BL, et al. Pediatrics 2012;130:e607–14</a:t>
            </a:r>
          </a:p>
        </p:txBody>
      </p:sp>
      <p:sp>
        <p:nvSpPr>
          <p:cNvPr id="12" name="Rectangle 11"/>
          <p:cNvSpPr/>
          <p:nvPr/>
        </p:nvSpPr>
        <p:spPr>
          <a:xfrm>
            <a:off x="548640" y="1773936"/>
            <a:ext cx="2067275" cy="224028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6727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1738091" cy="457200"/>
          </a:xfrm>
          <a:prstGeom prst="rect">
            <a:avLst/>
          </a:prstGeom>
          <a:noFill/>
        </p:spPr>
        <p:txBody>
          <a:bodyPr wrap="square" lIns="0" rIns="0" tIns="0" bIns="0" anchor="t">
            <a:spAutoFit/>
          </a:bodyPr>
          <a:lstStyle/>
          <a:p>
            <a:pPr algn="l"/>
            <a:r>
              <a:rPr sz="1500" b="1" i="0">
                <a:solidFill>
                  <a:srgbClr val="1B355E"/>
                </a:solidFill>
                <a:latin typeface="Abadi"/>
              </a:rPr>
              <a:t>UDCA</a:t>
            </a:r>
          </a:p>
        </p:txBody>
      </p:sp>
      <p:sp>
        <p:nvSpPr>
          <p:cNvPr id="15" name="TextBox 14"/>
          <p:cNvSpPr txBox="1"/>
          <p:nvPr/>
        </p:nvSpPr>
        <p:spPr>
          <a:xfrm>
            <a:off x="713232"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Near-universal use</a:t>
            </a:r>
          </a:p>
          <a:p>
            <a:pPr algn="l">
              <a:spcBef>
                <a:spcPts val="400"/>
              </a:spcBef>
            </a:pPr>
            <a:r>
              <a:rPr sz="1150" b="0" i="0">
                <a:solidFill>
                  <a:srgbClr val="1A1A1A"/>
                </a:solidFill>
                <a:latin typeface="Abadi"/>
              </a:rPr>
              <a:t>▪  No RCT in infants with hard outcomes</a:t>
            </a:r>
          </a:p>
          <a:p>
            <a:pPr algn="l">
              <a:spcBef>
                <a:spcPts val="400"/>
              </a:spcBef>
            </a:pPr>
            <a:r>
              <a:rPr sz="1150" b="0" i="0">
                <a:solidFill>
                  <a:srgbClr val="1A1A1A"/>
                </a:solidFill>
                <a:latin typeface="Abadi"/>
              </a:rPr>
              <a:t>▪  Screen for bile acid synthesis defects first</a:t>
            </a:r>
          </a:p>
        </p:txBody>
      </p:sp>
      <p:sp>
        <p:nvSpPr>
          <p:cNvPr id="16" name="Rectangle 15"/>
          <p:cNvSpPr/>
          <p:nvPr/>
        </p:nvSpPr>
        <p:spPr>
          <a:xfrm>
            <a:off x="2802453" y="1773936"/>
            <a:ext cx="2067275" cy="224028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2453" y="1773936"/>
            <a:ext cx="2067275"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7045" y="1984248"/>
            <a:ext cx="1738091" cy="457200"/>
          </a:xfrm>
          <a:prstGeom prst="rect">
            <a:avLst/>
          </a:prstGeom>
          <a:noFill/>
        </p:spPr>
        <p:txBody>
          <a:bodyPr wrap="square" lIns="0" rIns="0" tIns="0" bIns="0" anchor="t">
            <a:spAutoFit/>
          </a:bodyPr>
          <a:lstStyle/>
          <a:p>
            <a:pPr algn="l"/>
            <a:r>
              <a:rPr sz="1500" b="1" i="0">
                <a:solidFill>
                  <a:srgbClr val="7F7F7F"/>
                </a:solidFill>
                <a:latin typeface="Abadi"/>
              </a:rPr>
              <a:t>Vitamins</a:t>
            </a:r>
          </a:p>
        </p:txBody>
      </p:sp>
      <p:sp>
        <p:nvSpPr>
          <p:cNvPr id="19" name="TextBox 18"/>
          <p:cNvSpPr txBox="1"/>
          <p:nvPr/>
        </p:nvSpPr>
        <p:spPr>
          <a:xfrm>
            <a:off x="2967045"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A, D, E, K fail together</a:t>
            </a:r>
          </a:p>
          <a:p>
            <a:pPr algn="l">
              <a:spcBef>
                <a:spcPts val="400"/>
              </a:spcBef>
            </a:pPr>
            <a:r>
              <a:rPr sz="1150" b="0" i="0">
                <a:solidFill>
                  <a:srgbClr val="1A1A1A"/>
                </a:solidFill>
                <a:latin typeface="Abadi"/>
              </a:rPr>
              <a:t>▪  Combined TPGS product alone fails</a:t>
            </a:r>
          </a:p>
          <a:p>
            <a:pPr algn="l">
              <a:spcBef>
                <a:spcPts val="400"/>
              </a:spcBef>
            </a:pPr>
            <a:r>
              <a:rPr sz="1150" b="0" i="0">
                <a:solidFill>
                  <a:srgbClr val="1A1A1A"/>
                </a:solidFill>
                <a:latin typeface="Abadi"/>
              </a:rPr>
              <a:t>▪  Dose each, measure each</a:t>
            </a:r>
          </a:p>
        </p:txBody>
      </p:sp>
      <p:sp>
        <p:nvSpPr>
          <p:cNvPr id="20" name="Rectangle 19"/>
          <p:cNvSpPr/>
          <p:nvPr/>
        </p:nvSpPr>
        <p:spPr>
          <a:xfrm>
            <a:off x="5056266" y="1773936"/>
            <a:ext cx="2067275" cy="224028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6266" y="1773936"/>
            <a:ext cx="2067275"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20858" y="1984248"/>
            <a:ext cx="1738091" cy="457200"/>
          </a:xfrm>
          <a:prstGeom prst="rect">
            <a:avLst/>
          </a:prstGeom>
          <a:noFill/>
        </p:spPr>
        <p:txBody>
          <a:bodyPr wrap="square" lIns="0" rIns="0" tIns="0" bIns="0" anchor="t">
            <a:spAutoFit/>
          </a:bodyPr>
          <a:lstStyle/>
          <a:p>
            <a:pPr algn="l"/>
            <a:r>
              <a:rPr sz="1500" b="1" i="0">
                <a:solidFill>
                  <a:srgbClr val="1E7A33"/>
                </a:solidFill>
                <a:latin typeface="Abadi"/>
              </a:rPr>
              <a:t>Growth</a:t>
            </a:r>
          </a:p>
        </p:txBody>
      </p:sp>
      <p:sp>
        <p:nvSpPr>
          <p:cNvPr id="23" name="TextBox 22"/>
          <p:cNvSpPr txBox="1"/>
          <p:nvPr/>
        </p:nvSpPr>
        <p:spPr>
          <a:xfrm>
            <a:off x="5220858"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130% of energy needs</a:t>
            </a:r>
          </a:p>
          <a:p>
            <a:pPr algn="l">
              <a:spcBef>
                <a:spcPts val="400"/>
              </a:spcBef>
            </a:pPr>
            <a:r>
              <a:rPr sz="1150" b="0" i="0">
                <a:solidFill>
                  <a:srgbClr val="1A1A1A"/>
                </a:solidFill>
                <a:latin typeface="Abadi"/>
              </a:rPr>
              <a:t>▪  MCT 30–50% of fat</a:t>
            </a:r>
          </a:p>
          <a:p>
            <a:pPr algn="l">
              <a:spcBef>
                <a:spcPts val="400"/>
              </a:spcBef>
            </a:pPr>
            <a:r>
              <a:rPr sz="1150" b="0" i="0">
                <a:solidFill>
                  <a:srgbClr val="1A1A1A"/>
                </a:solidFill>
                <a:latin typeface="Abadi"/>
              </a:rPr>
              <a:t>▪  Weight hides wasting</a:t>
            </a:r>
          </a:p>
        </p:txBody>
      </p:sp>
      <p:sp>
        <p:nvSpPr>
          <p:cNvPr id="24" name="Rectangle 23"/>
          <p:cNvSpPr/>
          <p:nvPr/>
        </p:nvSpPr>
        <p:spPr>
          <a:xfrm>
            <a:off x="7310079" y="1773936"/>
            <a:ext cx="2067275" cy="224028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0079" y="1773936"/>
            <a:ext cx="2067275"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4671" y="1984248"/>
            <a:ext cx="1738091" cy="457200"/>
          </a:xfrm>
          <a:prstGeom prst="rect">
            <a:avLst/>
          </a:prstGeom>
          <a:noFill/>
        </p:spPr>
        <p:txBody>
          <a:bodyPr wrap="square" lIns="0" rIns="0" tIns="0" bIns="0" anchor="t">
            <a:spAutoFit/>
          </a:bodyPr>
          <a:lstStyle/>
          <a:p>
            <a:pPr algn="l"/>
            <a:r>
              <a:rPr sz="1500" b="1" i="0">
                <a:solidFill>
                  <a:srgbClr val="B22222"/>
                </a:solidFill>
                <a:latin typeface="Abadi"/>
              </a:rPr>
              <a:t>Itch</a:t>
            </a:r>
          </a:p>
        </p:txBody>
      </p:sp>
      <p:sp>
        <p:nvSpPr>
          <p:cNvPr id="27" name="TextBox 26"/>
          <p:cNvSpPr txBox="1"/>
          <p:nvPr/>
        </p:nvSpPr>
        <p:spPr>
          <a:xfrm>
            <a:off x="7474671"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Rifampicin, sertraline</a:t>
            </a:r>
          </a:p>
          <a:p>
            <a:pPr algn="l">
              <a:spcBef>
                <a:spcPts val="400"/>
              </a:spcBef>
            </a:pPr>
            <a:r>
              <a:rPr sz="1150" b="0" i="0">
                <a:solidFill>
                  <a:srgbClr val="1A1A1A"/>
                </a:solidFill>
                <a:latin typeface="Abadi"/>
              </a:rPr>
              <a:t>▪  IBAT inhibitors in Alagille and PFIC</a:t>
            </a:r>
          </a:p>
          <a:p>
            <a:pPr algn="l">
              <a:spcBef>
                <a:spcPts val="400"/>
              </a:spcBef>
            </a:pPr>
            <a:r>
              <a:rPr sz="1150" b="0" i="0">
                <a:solidFill>
                  <a:srgbClr val="1A1A1A"/>
                </a:solidFill>
                <a:latin typeface="Abadi"/>
              </a:rPr>
              <a:t>▪  Not in biliary atresia</a:t>
            </a:r>
          </a:p>
        </p:txBody>
      </p:sp>
      <p:sp>
        <p:nvSpPr>
          <p:cNvPr id="28" name="Rectangle 27"/>
          <p:cNvSpPr/>
          <p:nvPr/>
        </p:nvSpPr>
        <p:spPr>
          <a:xfrm>
            <a:off x="9563892" y="1773936"/>
            <a:ext cx="2067275" cy="224028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3892" y="1773936"/>
            <a:ext cx="2067275"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28484" y="1984248"/>
            <a:ext cx="1738091" cy="457200"/>
          </a:xfrm>
          <a:prstGeom prst="rect">
            <a:avLst/>
          </a:prstGeom>
          <a:noFill/>
        </p:spPr>
        <p:txBody>
          <a:bodyPr wrap="square" lIns="0" rIns="0" tIns="0" bIns="0" anchor="t">
            <a:spAutoFit/>
          </a:bodyPr>
          <a:lstStyle/>
          <a:p>
            <a:pPr algn="l"/>
            <a:r>
              <a:rPr sz="1500" b="1" i="0">
                <a:solidFill>
                  <a:srgbClr val="D97A0B"/>
                </a:solidFill>
                <a:latin typeface="Abadi"/>
              </a:rPr>
              <a:t>Watch</a:t>
            </a:r>
          </a:p>
        </p:txBody>
      </p:sp>
      <p:sp>
        <p:nvSpPr>
          <p:cNvPr id="31" name="TextBox 30"/>
          <p:cNvSpPr txBox="1"/>
          <p:nvPr/>
        </p:nvSpPr>
        <p:spPr>
          <a:xfrm>
            <a:off x="9728484"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Vitamins every 3–6 months</a:t>
            </a:r>
          </a:p>
          <a:p>
            <a:pPr algn="l">
              <a:spcBef>
                <a:spcPts val="400"/>
              </a:spcBef>
            </a:pPr>
            <a:r>
              <a:rPr sz="1150" b="0" i="0">
                <a:solidFill>
                  <a:srgbClr val="1A1A1A"/>
                </a:solidFill>
                <a:latin typeface="Abadi"/>
              </a:rPr>
              <a:t>▪  Oximetry, spleen, platelets</a:t>
            </a:r>
          </a:p>
          <a:p>
            <a:pPr algn="l">
              <a:spcBef>
                <a:spcPts val="400"/>
              </a:spcBef>
            </a:pPr>
            <a:r>
              <a:rPr sz="1150" b="0" i="0">
                <a:solidFill>
                  <a:srgbClr val="1A1A1A"/>
                </a:solidFill>
                <a:latin typeface="Abadi"/>
              </a:rPr>
              <a:t>▪  Vaccinate before transplant</a:t>
            </a:r>
          </a:p>
        </p:txBody>
      </p:sp>
      <p:sp>
        <p:nvSpPr>
          <p:cNvPr id="32" name="TextBox 31"/>
          <p:cNvSpPr txBox="1"/>
          <p:nvPr/>
        </p:nvSpPr>
        <p:spPr>
          <a:xfrm>
            <a:off x="548640" y="4224528"/>
            <a:ext cx="11082528" cy="1600200"/>
          </a:xfrm>
          <a:prstGeom prst="rect">
            <a:avLst/>
          </a:prstGeom>
          <a:noFill/>
        </p:spPr>
        <p:txBody>
          <a:bodyPr wrap="square" lIns="0" rIns="0" tIns="0" bIns="0" anchor="t">
            <a:spAutoFit/>
          </a:bodyPr>
          <a:lstStyle/>
          <a:p>
            <a:pPr algn="l"/>
            <a:r>
              <a:rPr sz="1300" b="1" i="0">
                <a:solidFill>
                  <a:srgbClr val="1B355E"/>
                </a:solidFill>
                <a:latin typeface="Abadi"/>
              </a:rPr>
              <a:t>The main idea.  </a:t>
            </a:r>
            <a:r>
              <a:rPr sz="1300" b="0" i="0">
                <a:solidFill>
                  <a:srgbClr val="1A1A1A"/>
                </a:solidFill>
                <a:latin typeface="Abadi"/>
              </a:rPr>
              <a:t>The diagnostic guideline stops at the diagnosis. From that day, the infant is starved of intraluminal bile acid whatever the cause, and the same supportive programme of nutrition, vitamins, itch control and surveillance decides how well the child reaches the Kasai, the native-liver years or the transplant.</a:t>
            </a:r>
          </a:p>
          <a:p>
            <a:pPr algn="l">
              <a:spcBef>
                <a:spcPts val="600"/>
              </a:spcBef>
            </a:pPr>
            <a:r>
              <a:rPr sz="1300" b="1" i="0">
                <a:solidFill>
                  <a:srgbClr val="B22222"/>
                </a:solidFill>
                <a:latin typeface="Abadi"/>
              </a:rPr>
              <a:t>The clinical stake.  </a:t>
            </a:r>
            <a:r>
              <a:rPr sz="1300" b="0" i="0">
                <a:solidFill>
                  <a:srgbClr val="1A1A1A"/>
                </a:solidFill>
                <a:latin typeface="Abadi"/>
              </a:rPr>
              <a:t>With bilirubin of 2 mg/dL or more six months after a Kasai, 0 of 23 infants on a standard TPGS multivitamin were sufficient in all four fat-soluble vitamins; a weight z-score of −2.1 versus −1.2 separated those who went on to transplant or death.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WHY CHOLESTASIS STARVES THE INFANT</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From failed bile flow to rickets, neuropathy and bleeding: the chain is the same in every cause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Mouzaki M, et al. JPGN 2019;69:498–511 · Shneider BL, et al. Pediatrics 2012;130:e607–14 · DeRusso PA, et al. Hepatology 2007;46:1632–8</a:t>
            </a:r>
          </a:p>
        </p:txBody>
      </p:sp>
      <p:sp>
        <p:nvSpPr>
          <p:cNvPr id="12" name="Rectangle 11"/>
          <p:cNvSpPr/>
          <p:nvPr/>
        </p:nvSpPr>
        <p:spPr>
          <a:xfrm>
            <a:off x="548640" y="1773936"/>
            <a:ext cx="2011680" cy="178308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1 · Bile fails</a:t>
            </a:r>
          </a:p>
        </p:txBody>
      </p:sp>
      <p:sp>
        <p:nvSpPr>
          <p:cNvPr id="15" name="TextBox 14"/>
          <p:cNvSpPr txBox="1"/>
          <p:nvPr/>
        </p:nvSpPr>
        <p:spPr>
          <a:xfrm>
            <a:off x="658368" y="2157984"/>
            <a:ext cx="1792224" cy="1325880"/>
          </a:xfrm>
          <a:prstGeom prst="rect">
            <a:avLst/>
          </a:prstGeom>
          <a:noFill/>
        </p:spPr>
        <p:txBody>
          <a:bodyPr wrap="square" lIns="0" rIns="0" tIns="0" bIns="0" anchor="t">
            <a:spAutoFit/>
          </a:bodyPr>
          <a:lstStyle/>
          <a:p>
            <a:pPr algn="l"/>
            <a:r>
              <a:rPr sz="1050" b="0" i="0">
                <a:solidFill>
                  <a:srgbClr val="1A1A1A"/>
                </a:solidFill>
                <a:latin typeface="Abadi"/>
              </a:rPr>
              <a:t>Intraluminal bile acid falls below the critical micellar concentration.</a:t>
            </a:r>
          </a:p>
        </p:txBody>
      </p:sp>
      <p:sp>
        <p:nvSpPr>
          <p:cNvPr id="16" name="Isosceles Triangle 15"/>
          <p:cNvSpPr/>
          <p:nvPr/>
        </p:nvSpPr>
        <p:spPr>
          <a:xfrm rot="5400000">
            <a:off x="2624328" y="258318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73936"/>
            <a:ext cx="2011680" cy="178308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7792"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2 · No micelles</a:t>
            </a:r>
          </a:p>
        </p:txBody>
      </p:sp>
      <p:sp>
        <p:nvSpPr>
          <p:cNvPr id="20" name="TextBox 19"/>
          <p:cNvSpPr txBox="1"/>
          <p:nvPr/>
        </p:nvSpPr>
        <p:spPr>
          <a:xfrm>
            <a:off x="2926080" y="2157984"/>
            <a:ext cx="1792224" cy="1325880"/>
          </a:xfrm>
          <a:prstGeom prst="rect">
            <a:avLst/>
          </a:prstGeom>
          <a:noFill/>
        </p:spPr>
        <p:txBody>
          <a:bodyPr wrap="square" lIns="0" rIns="0" tIns="0" bIns="0" anchor="t">
            <a:spAutoFit/>
          </a:bodyPr>
          <a:lstStyle/>
          <a:p>
            <a:pPr algn="l"/>
            <a:r>
              <a:rPr sz="1050" b="0" i="0">
                <a:solidFill>
                  <a:srgbClr val="1A1A1A"/>
                </a:solidFill>
                <a:latin typeface="Abadi"/>
              </a:rPr>
              <a:t>Long-chain fat and vitamins A, D, E and K are not solubilised.</a:t>
            </a:r>
          </a:p>
        </p:txBody>
      </p:sp>
      <p:sp>
        <p:nvSpPr>
          <p:cNvPr id="21" name="Isosceles Triangle 20"/>
          <p:cNvSpPr/>
          <p:nvPr/>
        </p:nvSpPr>
        <p:spPr>
          <a:xfrm rot="5400000">
            <a:off x="4892040" y="258318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73936"/>
            <a:ext cx="2011680" cy="178308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5504"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3 · Malabsorption</a:t>
            </a:r>
          </a:p>
        </p:txBody>
      </p:sp>
      <p:sp>
        <p:nvSpPr>
          <p:cNvPr id="25" name="TextBox 24"/>
          <p:cNvSpPr txBox="1"/>
          <p:nvPr/>
        </p:nvSpPr>
        <p:spPr>
          <a:xfrm>
            <a:off x="5193792" y="2157984"/>
            <a:ext cx="1792224" cy="1325880"/>
          </a:xfrm>
          <a:prstGeom prst="rect">
            <a:avLst/>
          </a:prstGeom>
          <a:noFill/>
        </p:spPr>
        <p:txBody>
          <a:bodyPr wrap="square" lIns="0" rIns="0" tIns="0" bIns="0" anchor="t">
            <a:spAutoFit/>
          </a:bodyPr>
          <a:lstStyle/>
          <a:p>
            <a:pPr algn="l"/>
            <a:r>
              <a:rPr sz="1050" b="0" i="0">
                <a:solidFill>
                  <a:srgbClr val="1A1A1A"/>
                </a:solidFill>
                <a:latin typeface="Abadi"/>
              </a:rPr>
              <a:t>Steatorrhoea, essential fatty acid loss; MCT is still absorbed directly into the portal vein.</a:t>
            </a:r>
          </a:p>
        </p:txBody>
      </p:sp>
      <p:sp>
        <p:nvSpPr>
          <p:cNvPr id="26" name="Isosceles Triangle 25"/>
          <p:cNvSpPr/>
          <p:nvPr/>
        </p:nvSpPr>
        <p:spPr>
          <a:xfrm rot="5400000">
            <a:off x="7159752" y="258318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773936"/>
            <a:ext cx="2011680" cy="178308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4 · Catabolism</a:t>
            </a:r>
          </a:p>
        </p:txBody>
      </p:sp>
      <p:sp>
        <p:nvSpPr>
          <p:cNvPr id="30" name="TextBox 29"/>
          <p:cNvSpPr txBox="1"/>
          <p:nvPr/>
        </p:nvSpPr>
        <p:spPr>
          <a:xfrm>
            <a:off x="7461504" y="2157984"/>
            <a:ext cx="1792224" cy="1325880"/>
          </a:xfrm>
          <a:prstGeom prst="rect">
            <a:avLst/>
          </a:prstGeom>
          <a:noFill/>
        </p:spPr>
        <p:txBody>
          <a:bodyPr wrap="square" lIns="0" rIns="0" tIns="0" bIns="0" anchor="t">
            <a:spAutoFit/>
          </a:bodyPr>
          <a:lstStyle/>
          <a:p>
            <a:pPr algn="l"/>
            <a:r>
              <a:rPr sz="1050" b="0" i="0">
                <a:solidFill>
                  <a:srgbClr val="1A1A1A"/>
                </a:solidFill>
                <a:latin typeface="Abadi"/>
              </a:rPr>
              <a:t>Raised energy expenditure, anorexia, early satiety from organomegaly and ascites.</a:t>
            </a:r>
          </a:p>
        </p:txBody>
      </p:sp>
      <p:sp>
        <p:nvSpPr>
          <p:cNvPr id="31" name="Isosceles Triangle 30"/>
          <p:cNvSpPr/>
          <p:nvPr/>
        </p:nvSpPr>
        <p:spPr>
          <a:xfrm rot="5400000">
            <a:off x="9427464" y="258318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73936"/>
            <a:ext cx="2011680" cy="178308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0928"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5 · Deficiency</a:t>
            </a:r>
          </a:p>
        </p:txBody>
      </p:sp>
      <p:sp>
        <p:nvSpPr>
          <p:cNvPr id="35" name="TextBox 34"/>
          <p:cNvSpPr txBox="1"/>
          <p:nvPr/>
        </p:nvSpPr>
        <p:spPr>
          <a:xfrm>
            <a:off x="9729216" y="2157984"/>
            <a:ext cx="1792224" cy="1325880"/>
          </a:xfrm>
          <a:prstGeom prst="rect">
            <a:avLst/>
          </a:prstGeom>
          <a:noFill/>
        </p:spPr>
        <p:txBody>
          <a:bodyPr wrap="square" lIns="0" rIns="0" tIns="0" bIns="0" anchor="t">
            <a:spAutoFit/>
          </a:bodyPr>
          <a:lstStyle/>
          <a:p>
            <a:pPr algn="l"/>
            <a:r>
              <a:rPr sz="1050" b="0" i="0">
                <a:solidFill>
                  <a:srgbClr val="1A1A1A"/>
                </a:solidFill>
                <a:latin typeface="Abadi"/>
              </a:rPr>
              <a:t>Rickets and fractures, night blindness, neuropathy, vitamin K bleeding, poor growth.</a:t>
            </a:r>
          </a:p>
        </p:txBody>
      </p:sp>
      <p:sp>
        <p:nvSpPr>
          <p:cNvPr id="36" name="Rectangle 35"/>
          <p:cNvSpPr/>
          <p:nvPr/>
        </p:nvSpPr>
        <p:spPr>
          <a:xfrm>
            <a:off x="548640" y="3840480"/>
            <a:ext cx="2630728" cy="178308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3840480"/>
            <a:ext cx="2630728"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4069080"/>
            <a:ext cx="2301544" cy="502920"/>
          </a:xfrm>
          <a:prstGeom prst="rect">
            <a:avLst/>
          </a:prstGeom>
          <a:noFill/>
        </p:spPr>
        <p:txBody>
          <a:bodyPr wrap="square" lIns="0" rIns="0" tIns="0" bIns="0" anchor="t">
            <a:spAutoFit/>
          </a:bodyPr>
          <a:lstStyle/>
          <a:p>
            <a:pPr algn="l"/>
            <a:r>
              <a:rPr sz="2200" b="1" i="0">
                <a:solidFill>
                  <a:srgbClr val="1B355E"/>
                </a:solidFill>
                <a:latin typeface="Abadi"/>
              </a:rPr>
              <a:t>130%</a:t>
            </a:r>
          </a:p>
        </p:txBody>
      </p:sp>
      <p:sp>
        <p:nvSpPr>
          <p:cNvPr id="39" name="TextBox 38"/>
          <p:cNvSpPr txBox="1"/>
          <p:nvPr/>
        </p:nvSpPr>
        <p:spPr>
          <a:xfrm>
            <a:off x="713232" y="4663440"/>
            <a:ext cx="2301544" cy="868680"/>
          </a:xfrm>
          <a:prstGeom prst="rect">
            <a:avLst/>
          </a:prstGeom>
          <a:noFill/>
        </p:spPr>
        <p:txBody>
          <a:bodyPr wrap="square" lIns="0" rIns="0" tIns="0" bIns="0" anchor="t">
            <a:spAutoFit/>
          </a:bodyPr>
          <a:lstStyle/>
          <a:p>
            <a:pPr algn="l"/>
            <a:r>
              <a:rPr sz="1100" b="0" i="0">
                <a:solidFill>
                  <a:srgbClr val="1A1A1A"/>
                </a:solidFill>
                <a:latin typeface="Abadi"/>
              </a:rPr>
              <a:t>Energy target as a share of the age requirement in cholestasis (Mouzaki 2019).</a:t>
            </a:r>
          </a:p>
        </p:txBody>
      </p:sp>
      <p:sp>
        <p:nvSpPr>
          <p:cNvPr id="40" name="Rectangle 39"/>
          <p:cNvSpPr/>
          <p:nvPr/>
        </p:nvSpPr>
        <p:spPr>
          <a:xfrm>
            <a:off x="3365906" y="3840480"/>
            <a:ext cx="2630728" cy="178308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365906" y="3840480"/>
            <a:ext cx="2630728"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30498" y="4069080"/>
            <a:ext cx="2301544" cy="502920"/>
          </a:xfrm>
          <a:prstGeom prst="rect">
            <a:avLst/>
          </a:prstGeom>
          <a:noFill/>
        </p:spPr>
        <p:txBody>
          <a:bodyPr wrap="square" lIns="0" rIns="0" tIns="0" bIns="0" anchor="t">
            <a:spAutoFit/>
          </a:bodyPr>
          <a:lstStyle/>
          <a:p>
            <a:pPr algn="l"/>
            <a:r>
              <a:rPr sz="2200" b="1" i="0">
                <a:solidFill>
                  <a:srgbClr val="7F7F7F"/>
                </a:solidFill>
                <a:latin typeface="Abadi"/>
              </a:rPr>
              <a:t>30:70</a:t>
            </a:r>
          </a:p>
        </p:txBody>
      </p:sp>
      <p:sp>
        <p:nvSpPr>
          <p:cNvPr id="43" name="TextBox 42"/>
          <p:cNvSpPr txBox="1"/>
          <p:nvPr/>
        </p:nvSpPr>
        <p:spPr>
          <a:xfrm>
            <a:off x="3530498" y="4663440"/>
            <a:ext cx="2301544" cy="868680"/>
          </a:xfrm>
          <a:prstGeom prst="rect">
            <a:avLst/>
          </a:prstGeom>
          <a:noFill/>
        </p:spPr>
        <p:txBody>
          <a:bodyPr wrap="square" lIns="0" rIns="0" tIns="0" bIns="0" anchor="t">
            <a:spAutoFit/>
          </a:bodyPr>
          <a:lstStyle/>
          <a:p>
            <a:pPr algn="l"/>
            <a:r>
              <a:rPr sz="1100" b="0" i="0">
                <a:solidFill>
                  <a:srgbClr val="1A1A1A"/>
                </a:solidFill>
                <a:latin typeface="Abadi"/>
              </a:rPr>
              <a:t>Starting ratio of MCT to long-chain fat; MCT should stay below 80% of fat to avoid essential fatty acid deficiency.</a:t>
            </a:r>
          </a:p>
        </p:txBody>
      </p:sp>
      <p:sp>
        <p:nvSpPr>
          <p:cNvPr id="44" name="Rectangle 43"/>
          <p:cNvSpPr/>
          <p:nvPr/>
        </p:nvSpPr>
        <p:spPr>
          <a:xfrm>
            <a:off x="6183172" y="3840480"/>
            <a:ext cx="2630728" cy="178308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83172" y="3840480"/>
            <a:ext cx="2630728"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47764" y="4069080"/>
            <a:ext cx="2301544" cy="502920"/>
          </a:xfrm>
          <a:prstGeom prst="rect">
            <a:avLst/>
          </a:prstGeom>
          <a:noFill/>
        </p:spPr>
        <p:txBody>
          <a:bodyPr wrap="square" lIns="0" rIns="0" tIns="0" bIns="0" anchor="t">
            <a:spAutoFit/>
          </a:bodyPr>
          <a:lstStyle/>
          <a:p>
            <a:pPr algn="l"/>
            <a:r>
              <a:rPr sz="2200" b="1" i="0">
                <a:solidFill>
                  <a:srgbClr val="B22222"/>
                </a:solidFill>
                <a:latin typeface="Abadi"/>
              </a:rPr>
              <a:t>58%</a:t>
            </a:r>
          </a:p>
        </p:txBody>
      </p:sp>
      <p:sp>
        <p:nvSpPr>
          <p:cNvPr id="47" name="TextBox 46"/>
          <p:cNvSpPr txBox="1"/>
          <p:nvPr/>
        </p:nvSpPr>
        <p:spPr>
          <a:xfrm>
            <a:off x="6347764" y="4663440"/>
            <a:ext cx="2301544" cy="868680"/>
          </a:xfrm>
          <a:prstGeom prst="rect">
            <a:avLst/>
          </a:prstGeom>
          <a:noFill/>
        </p:spPr>
        <p:txBody>
          <a:bodyPr wrap="square" lIns="0" rIns="0" tIns="0" bIns="0" anchor="t">
            <a:spAutoFit/>
          </a:bodyPr>
          <a:lstStyle/>
          <a:p>
            <a:pPr algn="l"/>
            <a:r>
              <a:rPr sz="1100" b="0" i="0">
                <a:solidFill>
                  <a:srgbClr val="1A1A1A"/>
                </a:solidFill>
                <a:latin typeface="Abadi"/>
              </a:rPr>
              <a:t>Infants with at least one vitamin insufficiency 1 month after a Kasai despite a TPGS multivitamin.</a:t>
            </a:r>
          </a:p>
        </p:txBody>
      </p:sp>
      <p:sp>
        <p:nvSpPr>
          <p:cNvPr id="48" name="Rectangle 47"/>
          <p:cNvSpPr/>
          <p:nvPr/>
        </p:nvSpPr>
        <p:spPr>
          <a:xfrm>
            <a:off x="9000439" y="3840480"/>
            <a:ext cx="2630728" cy="178308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00439" y="3840480"/>
            <a:ext cx="2630728"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65031" y="4069080"/>
            <a:ext cx="2301544" cy="502920"/>
          </a:xfrm>
          <a:prstGeom prst="rect">
            <a:avLst/>
          </a:prstGeom>
          <a:noFill/>
        </p:spPr>
        <p:txBody>
          <a:bodyPr wrap="square" lIns="0" rIns="0" tIns="0" bIns="0" anchor="t">
            <a:spAutoFit/>
          </a:bodyPr>
          <a:lstStyle/>
          <a:p>
            <a:pPr algn="l"/>
            <a:r>
              <a:rPr sz="2200" b="1" i="0">
                <a:solidFill>
                  <a:srgbClr val="1E7A33"/>
                </a:solidFill>
                <a:latin typeface="Abadi"/>
              </a:rPr>
              <a:t>≥ 3%</a:t>
            </a:r>
          </a:p>
        </p:txBody>
      </p:sp>
      <p:sp>
        <p:nvSpPr>
          <p:cNvPr id="51" name="TextBox 50"/>
          <p:cNvSpPr txBox="1"/>
          <p:nvPr/>
        </p:nvSpPr>
        <p:spPr>
          <a:xfrm>
            <a:off x="9165031" y="4663440"/>
            <a:ext cx="2301544" cy="868680"/>
          </a:xfrm>
          <a:prstGeom prst="rect">
            <a:avLst/>
          </a:prstGeom>
          <a:noFill/>
        </p:spPr>
        <p:txBody>
          <a:bodyPr wrap="square" lIns="0" rIns="0" tIns="0" bIns="0" anchor="t">
            <a:spAutoFit/>
          </a:bodyPr>
          <a:lstStyle/>
          <a:p>
            <a:pPr algn="l"/>
            <a:r>
              <a:rPr sz="1100" b="0" i="0">
                <a:solidFill>
                  <a:srgbClr val="1A1A1A"/>
                </a:solidFill>
                <a:latin typeface="Abadi"/>
              </a:rPr>
              <a:t>Calories from linoleic acid needed to prevent essential fatty acid deficiency.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URSODEOXYCHOLIC ACID</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WHAT UDCA CAN AND CANNOT DO</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A hydrophilic bile acid works only on what is still flowing</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Fawaz R, et al. JPGN 2017;64:154–68 · Verkade HJ, et al. EASL CPG genetic cholestatic liver diseases. J Hepatol 2024;81:303–25 · Fligor SC, et al. Front Pediatr 2022;10:1007813</a:t>
            </a:r>
          </a:p>
        </p:txBody>
      </p:sp>
      <p:sp>
        <p:nvSpPr>
          <p:cNvPr id="12" name="Rectangle 11"/>
          <p:cNvSpPr/>
          <p:nvPr/>
        </p:nvSpPr>
        <p:spPr>
          <a:xfrm>
            <a:off x="548640" y="1773936"/>
            <a:ext cx="2630728" cy="228600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0728"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2301544" cy="457200"/>
          </a:xfrm>
          <a:prstGeom prst="rect">
            <a:avLst/>
          </a:prstGeom>
          <a:noFill/>
        </p:spPr>
        <p:txBody>
          <a:bodyPr wrap="square" lIns="0" rIns="0" tIns="0" bIns="0" anchor="t">
            <a:spAutoFit/>
          </a:bodyPr>
          <a:lstStyle/>
          <a:p>
            <a:pPr algn="l"/>
            <a:r>
              <a:rPr sz="1500" b="1" i="0">
                <a:solidFill>
                  <a:srgbClr val="1E7A33"/>
                </a:solidFill>
                <a:latin typeface="Abadi"/>
              </a:rPr>
              <a:t>It can</a:t>
            </a:r>
          </a:p>
        </p:txBody>
      </p:sp>
      <p:sp>
        <p:nvSpPr>
          <p:cNvPr id="15" name="TextBox 14"/>
          <p:cNvSpPr txBox="1"/>
          <p:nvPr/>
        </p:nvSpPr>
        <p:spPr>
          <a:xfrm>
            <a:off x="713232" y="2523744"/>
            <a:ext cx="2301544" cy="1417320"/>
          </a:xfrm>
          <a:prstGeom prst="rect">
            <a:avLst/>
          </a:prstGeom>
          <a:noFill/>
        </p:spPr>
        <p:txBody>
          <a:bodyPr wrap="square" lIns="0" rIns="0" tIns="0" bIns="0" anchor="t">
            <a:spAutoFit/>
          </a:bodyPr>
          <a:lstStyle/>
          <a:p>
            <a:pPr algn="l"/>
            <a:r>
              <a:rPr sz="1150" b="0" i="0">
                <a:solidFill>
                  <a:srgbClr val="1A1A1A"/>
                </a:solidFill>
                <a:latin typeface="Abadi"/>
              </a:rPr>
              <a:t>▪  Enrich the pool with a hydrophilic bile acid</a:t>
            </a:r>
          </a:p>
          <a:p>
            <a:pPr algn="l">
              <a:spcBef>
                <a:spcPts val="400"/>
              </a:spcBef>
            </a:pPr>
            <a:r>
              <a:rPr sz="1150" b="0" i="0">
                <a:solidFill>
                  <a:srgbClr val="1A1A1A"/>
                </a:solidFill>
                <a:latin typeface="Abadi"/>
              </a:rPr>
              <a:t>▪  Stimulate bicarbonate-rich choleresis</a:t>
            </a:r>
          </a:p>
          <a:p>
            <a:pPr algn="l">
              <a:spcBef>
                <a:spcPts val="400"/>
              </a:spcBef>
            </a:pPr>
            <a:r>
              <a:rPr sz="1150" b="0" i="0">
                <a:solidFill>
                  <a:srgbClr val="1A1A1A"/>
                </a:solidFill>
                <a:latin typeface="Abadi"/>
              </a:rPr>
              <a:t>▪  Protect cholangiocytes from toxic bile acids</a:t>
            </a:r>
          </a:p>
        </p:txBody>
      </p:sp>
      <p:sp>
        <p:nvSpPr>
          <p:cNvPr id="16" name="Rectangle 15"/>
          <p:cNvSpPr/>
          <p:nvPr/>
        </p:nvSpPr>
        <p:spPr>
          <a:xfrm>
            <a:off x="3365906" y="1773936"/>
            <a:ext cx="2630728" cy="228600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5906" y="1773936"/>
            <a:ext cx="2630728"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0498" y="1984248"/>
            <a:ext cx="2301544" cy="457200"/>
          </a:xfrm>
          <a:prstGeom prst="rect">
            <a:avLst/>
          </a:prstGeom>
          <a:noFill/>
        </p:spPr>
        <p:txBody>
          <a:bodyPr wrap="square" lIns="0" rIns="0" tIns="0" bIns="0" anchor="t">
            <a:spAutoFit/>
          </a:bodyPr>
          <a:lstStyle/>
          <a:p>
            <a:pPr algn="l"/>
            <a:r>
              <a:rPr sz="1500" b="1" i="0">
                <a:solidFill>
                  <a:srgbClr val="B22222"/>
                </a:solidFill>
                <a:latin typeface="Abadi"/>
              </a:rPr>
              <a:t>It cannot</a:t>
            </a:r>
          </a:p>
        </p:txBody>
      </p:sp>
      <p:sp>
        <p:nvSpPr>
          <p:cNvPr id="19" name="TextBox 18"/>
          <p:cNvSpPr txBox="1"/>
          <p:nvPr/>
        </p:nvSpPr>
        <p:spPr>
          <a:xfrm>
            <a:off x="3530498" y="2523744"/>
            <a:ext cx="2301544" cy="1417320"/>
          </a:xfrm>
          <a:prstGeom prst="rect">
            <a:avLst/>
          </a:prstGeom>
          <a:noFill/>
        </p:spPr>
        <p:txBody>
          <a:bodyPr wrap="square" lIns="0" rIns="0" tIns="0" bIns="0" anchor="t">
            <a:spAutoFit/>
          </a:bodyPr>
          <a:lstStyle/>
          <a:p>
            <a:pPr algn="l"/>
            <a:r>
              <a:rPr sz="1150" b="0" i="0">
                <a:solidFill>
                  <a:srgbClr val="1A1A1A"/>
                </a:solidFill>
                <a:latin typeface="Abadi"/>
              </a:rPr>
              <a:t>▪  Open an obliterated duct</a:t>
            </a:r>
          </a:p>
          <a:p>
            <a:pPr algn="l">
              <a:spcBef>
                <a:spcPts val="400"/>
              </a:spcBef>
            </a:pPr>
            <a:r>
              <a:rPr sz="1150" b="0" i="0">
                <a:solidFill>
                  <a:srgbClr val="1A1A1A"/>
                </a:solidFill>
                <a:latin typeface="Abadi"/>
              </a:rPr>
              <a:t>▪  Replace a missing transporter (FIC1, BSEP)</a:t>
            </a:r>
          </a:p>
          <a:p>
            <a:pPr algn="l">
              <a:spcBef>
                <a:spcPts val="400"/>
              </a:spcBef>
            </a:pPr>
            <a:r>
              <a:rPr sz="1150" b="0" i="0">
                <a:solidFill>
                  <a:srgbClr val="1A1A1A"/>
                </a:solidFill>
                <a:latin typeface="Abadi"/>
              </a:rPr>
              <a:t>▪  Correct a synthesis defect</a:t>
            </a:r>
          </a:p>
        </p:txBody>
      </p:sp>
      <p:sp>
        <p:nvSpPr>
          <p:cNvPr id="20" name="Rectangle 19"/>
          <p:cNvSpPr/>
          <p:nvPr/>
        </p:nvSpPr>
        <p:spPr>
          <a:xfrm>
            <a:off x="6183172" y="1773936"/>
            <a:ext cx="2630728" cy="228600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3172" y="1773936"/>
            <a:ext cx="2630728"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7764" y="1984248"/>
            <a:ext cx="2301544" cy="457200"/>
          </a:xfrm>
          <a:prstGeom prst="rect">
            <a:avLst/>
          </a:prstGeom>
          <a:noFill/>
        </p:spPr>
        <p:txBody>
          <a:bodyPr wrap="square" lIns="0" rIns="0" tIns="0" bIns="0" anchor="t">
            <a:spAutoFit/>
          </a:bodyPr>
          <a:lstStyle/>
          <a:p>
            <a:pPr algn="l"/>
            <a:r>
              <a:rPr sz="1500" b="1" i="0">
                <a:solidFill>
                  <a:srgbClr val="1B355E"/>
                </a:solidFill>
                <a:latin typeface="Abadi"/>
              </a:rPr>
              <a:t>Where it fits best</a:t>
            </a:r>
          </a:p>
        </p:txBody>
      </p:sp>
      <p:sp>
        <p:nvSpPr>
          <p:cNvPr id="23" name="TextBox 22"/>
          <p:cNvSpPr txBox="1"/>
          <p:nvPr/>
        </p:nvSpPr>
        <p:spPr>
          <a:xfrm>
            <a:off x="6347764" y="2523744"/>
            <a:ext cx="2301544" cy="1417320"/>
          </a:xfrm>
          <a:prstGeom prst="rect">
            <a:avLst/>
          </a:prstGeom>
          <a:noFill/>
        </p:spPr>
        <p:txBody>
          <a:bodyPr wrap="square" lIns="0" rIns="0" tIns="0" bIns="0" anchor="t">
            <a:spAutoFit/>
          </a:bodyPr>
          <a:lstStyle/>
          <a:p>
            <a:pPr algn="l"/>
            <a:r>
              <a:rPr sz="1150" b="0" i="0">
                <a:solidFill>
                  <a:srgbClr val="1A1A1A"/>
                </a:solidFill>
                <a:latin typeface="Abadi"/>
              </a:rPr>
              <a:t>▪  ABCB4 (MDR3) with a missense variant</a:t>
            </a:r>
          </a:p>
          <a:p>
            <a:pPr algn="l">
              <a:spcBef>
                <a:spcPts val="400"/>
              </a:spcBef>
            </a:pPr>
            <a:r>
              <a:rPr sz="1150" b="0" i="0">
                <a:solidFill>
                  <a:srgbClr val="1A1A1A"/>
                </a:solidFill>
                <a:latin typeface="Abadi"/>
              </a:rPr>
              <a:t>▪  Residual phospholipid secretion is the target</a:t>
            </a:r>
          </a:p>
          <a:p>
            <a:pPr algn="l">
              <a:spcBef>
                <a:spcPts val="400"/>
              </a:spcBef>
            </a:pPr>
            <a:r>
              <a:rPr sz="1150" b="0" i="0">
                <a:solidFill>
                  <a:srgbClr val="1A1A1A"/>
                </a:solidFill>
                <a:latin typeface="Abadi"/>
              </a:rPr>
              <a:t>▪  EASL: recommended, strong</a:t>
            </a:r>
          </a:p>
        </p:txBody>
      </p:sp>
      <p:sp>
        <p:nvSpPr>
          <p:cNvPr id="24" name="Rectangle 23"/>
          <p:cNvSpPr/>
          <p:nvPr/>
        </p:nvSpPr>
        <p:spPr>
          <a:xfrm>
            <a:off x="9000439" y="1773936"/>
            <a:ext cx="2630728" cy="228600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0439" y="1773936"/>
            <a:ext cx="2630728"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5031" y="1984248"/>
            <a:ext cx="2301544" cy="457200"/>
          </a:xfrm>
          <a:prstGeom prst="rect">
            <a:avLst/>
          </a:prstGeom>
          <a:noFill/>
        </p:spPr>
        <p:txBody>
          <a:bodyPr wrap="square" lIns="0" rIns="0" tIns="0" bIns="0" anchor="t">
            <a:spAutoFit/>
          </a:bodyPr>
          <a:lstStyle/>
          <a:p>
            <a:pPr algn="l"/>
            <a:r>
              <a:rPr sz="1500" b="1" i="0">
                <a:solidFill>
                  <a:srgbClr val="D97A0B"/>
                </a:solidFill>
                <a:latin typeface="Abadi"/>
              </a:rPr>
              <a:t>Before the first dose</a:t>
            </a:r>
          </a:p>
        </p:txBody>
      </p:sp>
      <p:sp>
        <p:nvSpPr>
          <p:cNvPr id="27" name="TextBox 26"/>
          <p:cNvSpPr txBox="1"/>
          <p:nvPr/>
        </p:nvSpPr>
        <p:spPr>
          <a:xfrm>
            <a:off x="9165031" y="2523744"/>
            <a:ext cx="2301544" cy="1417320"/>
          </a:xfrm>
          <a:prstGeom prst="rect">
            <a:avLst/>
          </a:prstGeom>
          <a:noFill/>
        </p:spPr>
        <p:txBody>
          <a:bodyPr wrap="square" lIns="0" rIns="0" tIns="0" bIns="0" anchor="t">
            <a:spAutoFit/>
          </a:bodyPr>
          <a:lstStyle/>
          <a:p>
            <a:pPr algn="l"/>
            <a:r>
              <a:rPr sz="1150" b="0" i="0">
                <a:solidFill>
                  <a:srgbClr val="1A1A1A"/>
                </a:solidFill>
                <a:latin typeface="Abadi"/>
              </a:rPr>
              <a:t>▪  Urine bile acids by mass spectrometry</a:t>
            </a:r>
          </a:p>
          <a:p>
            <a:pPr algn="l">
              <a:spcBef>
                <a:spcPts val="400"/>
              </a:spcBef>
            </a:pPr>
            <a:r>
              <a:rPr sz="1150" b="0" i="0">
                <a:solidFill>
                  <a:srgbClr val="1A1A1A"/>
                </a:solidFill>
                <a:latin typeface="Abadi"/>
              </a:rPr>
              <a:t>▪  Synthesis defects need cholic acid</a:t>
            </a:r>
          </a:p>
          <a:p>
            <a:pPr algn="l">
              <a:spcBef>
                <a:spcPts val="400"/>
              </a:spcBef>
            </a:pPr>
            <a:r>
              <a:rPr sz="1150" b="0" i="0">
                <a:solidFill>
                  <a:srgbClr val="1A1A1A"/>
                </a:solidFill>
                <a:latin typeface="Abadi"/>
              </a:rPr>
              <a:t>▪  UDCA can mask the profile</a:t>
            </a:r>
          </a:p>
        </p:txBody>
      </p:sp>
      <p:sp>
        <p:nvSpPr>
          <p:cNvPr id="28" name="TextBox 27"/>
          <p:cNvSpPr txBox="1"/>
          <p:nvPr/>
        </p:nvSpPr>
        <p:spPr>
          <a:xfrm>
            <a:off x="548640" y="4251960"/>
            <a:ext cx="11082528" cy="1554480"/>
          </a:xfrm>
          <a:prstGeom prst="rect">
            <a:avLst/>
          </a:prstGeom>
          <a:noFill/>
        </p:spPr>
        <p:txBody>
          <a:bodyPr wrap="square" lIns="0" rIns="0" tIns="0" bIns="0" anchor="t">
            <a:spAutoFit/>
          </a:bodyPr>
          <a:lstStyle/>
          <a:p>
            <a:pPr algn="l"/>
            <a:r>
              <a:rPr sz="1300" b="1" i="0">
                <a:solidFill>
                  <a:srgbClr val="1B355E"/>
                </a:solidFill>
                <a:latin typeface="Abadi"/>
              </a:rPr>
              <a:t>The mechanism lesson.  </a:t>
            </a:r>
            <a:r>
              <a:rPr sz="1300" b="0" i="0">
                <a:solidFill>
                  <a:srgbClr val="1A1A1A"/>
                </a:solidFill>
                <a:latin typeface="Abadi"/>
              </a:rPr>
              <a:t>UDCA needs a functioning canalicular export system to reach bile. Where export is absent, as in severe BSEP deficiency, there is little for it to act on; where the defect is phospholipid secretion with partial function, as in missense ABCB4, it has a real target.</a:t>
            </a:r>
          </a:p>
          <a:p>
            <a:pPr algn="l">
              <a:spcBef>
                <a:spcPts val="600"/>
              </a:spcBef>
            </a:pPr>
            <a:r>
              <a:rPr sz="1300" b="1" i="0">
                <a:solidFill>
                  <a:srgbClr val="B22222"/>
                </a:solidFill>
                <a:latin typeface="Abadi"/>
              </a:rPr>
              <a:t>Fawaz 2017.  </a:t>
            </a:r>
            <a:r>
              <a:rPr sz="1300" b="0" i="0">
                <a:solidFill>
                  <a:srgbClr val="1A1A1A"/>
                </a:solidFill>
                <a:latin typeface="Abadi"/>
              </a:rPr>
              <a:t>The only mention of UDCA in the diagnostic guideline is a warning: consider urinary bile acid screening before starting it, because bile acid synthesis disorders are treatable and often curable with primary bile acids.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EVIDENCE BY CAUSE</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UDCA IS A HABIT, NOT A PROOF</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Best available evidence for UDCA in infant and childhood cholestasis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Willot S, et al. Pediatrics 2008;122:e1236–41 · Anne RP, et al. Fundam Clin Pharmacol 2024;38:685–94 · Cheng K, et al. Cochrane 2017;CD000222 · Huang L, et al. PLoS One 2023;18:e0280691 · Gonzales E, et al. JHEP Rep 2023 · Verkade HJ, et al. EASL CPG genetic cholestatic liver diseases. J Hepatol 2024;81:303–25</a:t>
            </a:r>
          </a:p>
        </p:txBody>
      </p:sp>
      <p:graphicFrame>
        <p:nvGraphicFramePr>
          <p:cNvPr id="12" name="Table 11"/>
          <p:cNvGraphicFramePr>
            <a:graphicFrameLocks noGrp="1"/>
          </p:cNvGraphicFramePr>
          <p:nvPr/>
        </p:nvGraphicFramePr>
        <p:xfrm>
          <a:off x="548640" y="1773936"/>
          <a:ext cx="11082528" cy="3200400"/>
        </p:xfrm>
        <a:graphic>
          <a:graphicData uri="http://schemas.openxmlformats.org/drawingml/2006/table">
            <a:tbl>
              <a:tblPr firstRow="0" bandRow="0">
                <a:tableStyleId>{5C22544A-7EE6-4342-B048-85BDC9FD1C3A}</a:tableStyleId>
              </a:tblPr>
              <a:tblGrid>
                <a:gridCol w="2286000"/>
                <a:gridCol w="3017520"/>
                <a:gridCol w="4206240"/>
                <a:gridCol w="1572768"/>
              </a:tblGrid>
              <a:tr h="457200">
                <a:tc>
                  <a:txBody>
                    <a:bodyPr wrap="square"/>
                    <a:lstStyle/>
                    <a:p>
                      <a:r>
                        <a:rPr sz="1050" b="1">
                          <a:solidFill>
                            <a:srgbClr val="FFFFFF"/>
                          </a:solidFill>
                          <a:latin typeface="Abadi"/>
                        </a:rPr>
                        <a:t>Setting</a:t>
                      </a:r>
                    </a:p>
                  </a:txBody>
                  <a:tcPr marL="73152" marR="73152" marT="27432" marB="27432" anchor="ctr">
                    <a:solidFill>
                      <a:srgbClr val="1B355E"/>
                    </a:solidFill>
                  </a:tcPr>
                </a:tc>
                <a:tc>
                  <a:txBody>
                    <a:bodyPr wrap="square"/>
                    <a:lstStyle/>
                    <a:p>
                      <a:r>
                        <a:rPr sz="1050" b="1">
                          <a:solidFill>
                            <a:srgbClr val="FFFFFF"/>
                          </a:solidFill>
                          <a:latin typeface="Abadi"/>
                        </a:rPr>
                        <a:t>Best evidence</a:t>
                      </a:r>
                    </a:p>
                  </a:txBody>
                  <a:tcPr marL="73152" marR="73152" marT="27432" marB="27432" anchor="ctr">
                    <a:solidFill>
                      <a:srgbClr val="1B355E"/>
                    </a:solidFill>
                  </a:tcPr>
                </a:tc>
                <a:tc>
                  <a:txBody>
                    <a:bodyPr wrap="square"/>
                    <a:lstStyle/>
                    <a:p>
                      <a:r>
                        <a:rPr sz="1050" b="1">
                          <a:solidFill>
                            <a:srgbClr val="FFFFFF"/>
                          </a:solidFill>
                          <a:latin typeface="Abadi"/>
                        </a:rPr>
                        <a:t>What it showed</a:t>
                      </a:r>
                    </a:p>
                  </a:txBody>
                  <a:tcPr marL="73152" marR="73152" marT="27432" marB="27432" anchor="ctr">
                    <a:solidFill>
                      <a:srgbClr val="1B355E"/>
                    </a:solidFill>
                  </a:tcPr>
                </a:tc>
                <a:tc>
                  <a:txBody>
                    <a:bodyPr wrap="square"/>
                    <a:lstStyle/>
                    <a:p>
                      <a:r>
                        <a:rPr sz="1050" b="1">
                          <a:solidFill>
                            <a:srgbClr val="FFFFFF"/>
                          </a:solidFill>
                          <a:latin typeface="Abadi"/>
                        </a:rPr>
                        <a:t>Weight</a:t>
                      </a:r>
                    </a:p>
                  </a:txBody>
                  <a:tcPr marL="73152" marR="73152" marT="27432" marB="27432" anchor="ctr">
                    <a:solidFill>
                      <a:srgbClr val="1B355E"/>
                    </a:solidFill>
                  </a:tcPr>
                </a:tc>
              </a:tr>
              <a:tr h="457200">
                <a:tc>
                  <a:txBody>
                    <a:bodyPr wrap="square"/>
                    <a:lstStyle/>
                    <a:p>
                      <a:r>
                        <a:rPr sz="1050" b="1">
                          <a:solidFill>
                            <a:srgbClr val="1A1A1A"/>
                          </a:solidFill>
                          <a:latin typeface="Abadi"/>
                        </a:rPr>
                        <a:t>Biliary atresia after Kasai</a:t>
                      </a:r>
                    </a:p>
                  </a:txBody>
                  <a:tcPr marL="73152" marR="73152" marT="27432" marB="27432" anchor="ctr">
                    <a:solidFill>
                      <a:srgbClr val="FFFFFF"/>
                    </a:solidFill>
                  </a:tcPr>
                </a:tc>
                <a:tc>
                  <a:txBody>
                    <a:bodyPr wrap="square"/>
                    <a:lstStyle/>
                    <a:p>
                      <a:r>
                        <a:rPr sz="1050" b="0">
                          <a:solidFill>
                            <a:srgbClr val="1A1A1A"/>
                          </a:solidFill>
                          <a:latin typeface="Abadi"/>
                        </a:rPr>
                        <a:t>Withdrawal study, 16 children (Willot 2008)</a:t>
                      </a:r>
                    </a:p>
                  </a:txBody>
                  <a:tcPr marL="73152" marR="73152" marT="27432" marB="27432" anchor="ctr">
                    <a:solidFill>
                      <a:srgbClr val="FFFFFF"/>
                    </a:solidFill>
                  </a:tcPr>
                </a:tc>
                <a:tc>
                  <a:txBody>
                    <a:bodyPr wrap="square"/>
                    <a:lstStyle/>
                    <a:p>
                      <a:r>
                        <a:rPr sz="1050" b="0">
                          <a:solidFill>
                            <a:srgbClr val="1A1A1A"/>
                          </a:solidFill>
                          <a:latin typeface="Abadi"/>
                        </a:rPr>
                        <a:t>ALT and GGT doubled off drug in 13 of 16; reversed on restart</a:t>
                      </a:r>
                    </a:p>
                  </a:txBody>
                  <a:tcPr marL="73152" marR="73152" marT="27432" marB="27432" anchor="ctr">
                    <a:solidFill>
                      <a:srgbClr val="FFFFFF"/>
                    </a:solidFill>
                  </a:tcPr>
                </a:tc>
                <a:tc>
                  <a:txBody>
                    <a:bodyPr wrap="square"/>
                    <a:lstStyle/>
                    <a:p>
                      <a:r>
                        <a:rPr sz="1050" b="0">
                          <a:solidFill>
                            <a:srgbClr val="1A1A1A"/>
                          </a:solidFill>
                          <a:latin typeface="Abadi"/>
                        </a:rPr>
                        <a:t>Biochemical only</a:t>
                      </a:r>
                    </a:p>
                  </a:txBody>
                  <a:tcPr marL="73152" marR="73152" marT="27432" marB="27432" anchor="ctr">
                    <a:solidFill>
                      <a:srgbClr val="FFFFFF"/>
                    </a:solidFill>
                  </a:tcPr>
                </a:tc>
              </a:tr>
              <a:tr h="457200">
                <a:tc>
                  <a:txBody>
                    <a:bodyPr wrap="square"/>
                    <a:lstStyle/>
                    <a:p>
                      <a:r>
                        <a:rPr sz="1050" b="1">
                          <a:solidFill>
                            <a:srgbClr val="1A1A1A"/>
                          </a:solidFill>
                          <a:latin typeface="Abadi"/>
                        </a:rPr>
                        <a:t>Preterm PN cholestasis</a:t>
                      </a:r>
                    </a:p>
                  </a:txBody>
                  <a:tcPr marL="73152" marR="73152" marT="27432" marB="27432" anchor="ctr">
                    <a:solidFill>
                      <a:srgbClr val="F2F2F2"/>
                    </a:solidFill>
                  </a:tcPr>
                </a:tc>
                <a:tc>
                  <a:txBody>
                    <a:bodyPr wrap="square"/>
                    <a:lstStyle/>
                    <a:p>
                      <a:r>
                        <a:rPr sz="1050" b="0">
                          <a:solidFill>
                            <a:srgbClr val="1A1A1A"/>
                          </a:solidFill>
                          <a:latin typeface="Abadi"/>
                        </a:rPr>
                        <a:t>Meta-analysis, 5 studies (Anne 2024)</a:t>
                      </a:r>
                    </a:p>
                  </a:txBody>
                  <a:tcPr marL="73152" marR="73152" marT="27432" marB="27432" anchor="ctr">
                    <a:solidFill>
                      <a:srgbClr val="F2F2F2"/>
                    </a:solidFill>
                  </a:tcPr>
                </a:tc>
                <a:tc>
                  <a:txBody>
                    <a:bodyPr wrap="square"/>
                    <a:lstStyle/>
                    <a:p>
                      <a:r>
                        <a:rPr sz="1050" b="0">
                          <a:solidFill>
                            <a:srgbClr val="1A1A1A"/>
                          </a:solidFill>
                          <a:latin typeface="Abadi"/>
                        </a:rPr>
                        <a:t>No fall in cholestasis, death, sepsis or NEC; peak conjugated bilirubin −0.13 mg/dL</a:t>
                      </a:r>
                    </a:p>
                  </a:txBody>
                  <a:tcPr marL="73152" marR="73152" marT="27432" marB="27432" anchor="ctr">
                    <a:solidFill>
                      <a:srgbClr val="F2F2F2"/>
                    </a:solidFill>
                  </a:tcPr>
                </a:tc>
                <a:tc>
                  <a:txBody>
                    <a:bodyPr wrap="square"/>
                    <a:lstStyle/>
                    <a:p>
                      <a:r>
                        <a:rPr sz="1050" b="0">
                          <a:solidFill>
                            <a:srgbClr val="1A1A1A"/>
                          </a:solidFill>
                          <a:latin typeface="Abadi"/>
                        </a:rPr>
                        <a:t>No benefit shown</a:t>
                      </a:r>
                    </a:p>
                  </a:txBody>
                  <a:tcPr marL="73152" marR="73152" marT="27432" marB="27432" anchor="ctr">
                    <a:solidFill>
                      <a:srgbClr val="F2F2F2"/>
                    </a:solidFill>
                  </a:tcPr>
                </a:tc>
              </a:tr>
              <a:tr h="457200">
                <a:tc>
                  <a:txBody>
                    <a:bodyPr wrap="square"/>
                    <a:lstStyle/>
                    <a:p>
                      <a:r>
                        <a:rPr sz="1050" b="1">
                          <a:solidFill>
                            <a:srgbClr val="1A1A1A"/>
                          </a:solidFill>
                          <a:latin typeface="Abadi"/>
                        </a:rPr>
                        <a:t>Cystic fibrosis liver disease</a:t>
                      </a:r>
                    </a:p>
                  </a:txBody>
                  <a:tcPr marL="73152" marR="73152" marT="27432" marB="27432" anchor="ctr">
                    <a:solidFill>
                      <a:srgbClr val="FFFFFF"/>
                    </a:solidFill>
                  </a:tcPr>
                </a:tc>
                <a:tc>
                  <a:txBody>
                    <a:bodyPr wrap="square"/>
                    <a:lstStyle/>
                    <a:p>
                      <a:r>
                        <a:rPr sz="1050" b="0">
                          <a:solidFill>
                            <a:srgbClr val="1A1A1A"/>
                          </a:solidFill>
                          <a:latin typeface="Abadi"/>
                        </a:rPr>
                        <a:t>Cochrane, 4 trials, 137 patients (Cheng 2017)</a:t>
                      </a:r>
                    </a:p>
                  </a:txBody>
                  <a:tcPr marL="73152" marR="73152" marT="27432" marB="27432" anchor="ctr">
                    <a:solidFill>
                      <a:srgbClr val="FFFFFF"/>
                    </a:solidFill>
                  </a:tcPr>
                </a:tc>
                <a:tc>
                  <a:txBody>
                    <a:bodyPr wrap="square"/>
                    <a:lstStyle/>
                    <a:p>
                      <a:r>
                        <a:rPr sz="1050" b="0">
                          <a:solidFill>
                            <a:srgbClr val="1A1A1A"/>
                          </a:solidFill>
                          <a:latin typeface="Abadi"/>
                        </a:rPr>
                        <a:t>No change in enzymes, death or transplant</a:t>
                      </a:r>
                    </a:p>
                  </a:txBody>
                  <a:tcPr marL="73152" marR="73152" marT="27432" marB="27432" anchor="ctr">
                    <a:solidFill>
                      <a:srgbClr val="FFFFFF"/>
                    </a:solidFill>
                  </a:tcPr>
                </a:tc>
                <a:tc>
                  <a:txBody>
                    <a:bodyPr wrap="square"/>
                    <a:lstStyle/>
                    <a:p>
                      <a:r>
                        <a:rPr sz="1050" b="0">
                          <a:solidFill>
                            <a:srgbClr val="1A1A1A"/>
                          </a:solidFill>
                          <a:latin typeface="Abadi"/>
                        </a:rPr>
                        <a:t>Not routine</a:t>
                      </a:r>
                    </a:p>
                  </a:txBody>
                  <a:tcPr marL="73152" marR="73152" marT="27432" marB="27432" anchor="ctr">
                    <a:solidFill>
                      <a:srgbClr val="FFFFFF"/>
                    </a:solidFill>
                  </a:tcPr>
                </a:tc>
              </a:tr>
              <a:tr h="457200">
                <a:tc>
                  <a:txBody>
                    <a:bodyPr wrap="square"/>
                    <a:lstStyle/>
                    <a:p>
                      <a:r>
                        <a:rPr sz="1050" b="1">
                          <a:solidFill>
                            <a:srgbClr val="1A1A1A"/>
                          </a:solidFill>
                          <a:latin typeface="Abadi"/>
                        </a:rPr>
                        <a:t>ABCB4 / PFIC3</a:t>
                      </a:r>
                    </a:p>
                  </a:txBody>
                  <a:tcPr marL="73152" marR="73152" marT="27432" marB="27432" anchor="ctr">
                    <a:solidFill>
                      <a:srgbClr val="F2F2F2"/>
                    </a:solidFill>
                  </a:tcPr>
                </a:tc>
                <a:tc>
                  <a:txBody>
                    <a:bodyPr wrap="square"/>
                    <a:lstStyle/>
                    <a:p>
                      <a:r>
                        <a:rPr sz="1050" b="0">
                          <a:solidFill>
                            <a:srgbClr val="1A1A1A"/>
                          </a:solidFill>
                          <a:latin typeface="Abadi"/>
                        </a:rPr>
                        <a:t>Cohort of 38 (Gonzales 2023)</a:t>
                      </a:r>
                    </a:p>
                  </a:txBody>
                  <a:tcPr marL="73152" marR="73152" marT="27432" marB="27432" anchor="ctr">
                    <a:solidFill>
                      <a:srgbClr val="F2F2F2"/>
                    </a:solidFill>
                  </a:tcPr>
                </a:tc>
                <a:tc>
                  <a:txBody>
                    <a:bodyPr wrap="square"/>
                    <a:lstStyle/>
                    <a:p>
                      <a:r>
                        <a:rPr sz="1050" b="0">
                          <a:solidFill>
                            <a:srgbClr val="1A1A1A"/>
                          </a:solidFill>
                          <a:latin typeface="Abadi"/>
                        </a:rPr>
                        <a:t>About 87% of missense carriers responded; none with severe genotypes</a:t>
                      </a:r>
                    </a:p>
                  </a:txBody>
                  <a:tcPr marL="73152" marR="73152" marT="27432" marB="27432" anchor="ctr">
                    <a:solidFill>
                      <a:srgbClr val="F2F2F2"/>
                    </a:solidFill>
                  </a:tcPr>
                </a:tc>
                <a:tc>
                  <a:txBody>
                    <a:bodyPr wrap="square"/>
                    <a:lstStyle/>
                    <a:p>
                      <a:r>
                        <a:rPr sz="1050" b="0">
                          <a:solidFill>
                            <a:srgbClr val="1A1A1A"/>
                          </a:solidFill>
                          <a:latin typeface="Abadi"/>
                        </a:rPr>
                        <a:t>Recommended</a:t>
                      </a:r>
                    </a:p>
                  </a:txBody>
                  <a:tcPr marL="73152" marR="73152" marT="27432" marB="27432" anchor="ctr">
                    <a:solidFill>
                      <a:srgbClr val="F2F2F2"/>
                    </a:solidFill>
                  </a:tcPr>
                </a:tc>
              </a:tr>
              <a:tr h="457200">
                <a:tc>
                  <a:txBody>
                    <a:bodyPr wrap="square"/>
                    <a:lstStyle/>
                    <a:p>
                      <a:r>
                        <a:rPr sz="1050" b="1">
                          <a:solidFill>
                            <a:srgbClr val="1A1A1A"/>
                          </a:solidFill>
                          <a:latin typeface="Abadi"/>
                        </a:rPr>
                        <a:t>FIC1, BSEP, Alagille</a:t>
                      </a:r>
                    </a:p>
                  </a:txBody>
                  <a:tcPr marL="73152" marR="73152" marT="27432" marB="27432" anchor="ctr">
                    <a:solidFill>
                      <a:srgbClr val="FFFFFF"/>
                    </a:solidFill>
                  </a:tcPr>
                </a:tc>
                <a:tc>
                  <a:txBody>
                    <a:bodyPr wrap="square"/>
                    <a:lstStyle/>
                    <a:p>
                      <a:r>
                        <a:rPr sz="1050" b="0">
                          <a:solidFill>
                            <a:srgbClr val="1A1A1A"/>
                          </a:solidFill>
                          <a:latin typeface="Abadi"/>
                        </a:rPr>
                        <a:t>No controlled data</a:t>
                      </a:r>
                    </a:p>
                  </a:txBody>
                  <a:tcPr marL="73152" marR="73152" marT="27432" marB="27432" anchor="ctr">
                    <a:solidFill>
                      <a:srgbClr val="FFFFFF"/>
                    </a:solidFill>
                  </a:tcPr>
                </a:tc>
                <a:tc>
                  <a:txBody>
                    <a:bodyPr wrap="square"/>
                    <a:lstStyle/>
                    <a:p>
                      <a:r>
                        <a:rPr sz="1050" b="0">
                          <a:solidFill>
                            <a:srgbClr val="1A1A1A"/>
                          </a:solidFill>
                          <a:latin typeface="Abadi"/>
                        </a:rPr>
                        <a:t>EASL rates efficacy low</a:t>
                      </a:r>
                    </a:p>
                  </a:txBody>
                  <a:tcPr marL="73152" marR="73152" marT="27432" marB="27432" anchor="ctr">
                    <a:solidFill>
                      <a:srgbClr val="FFFFFF"/>
                    </a:solidFill>
                  </a:tcPr>
                </a:tc>
                <a:tc>
                  <a:txBody>
                    <a:bodyPr wrap="square"/>
                    <a:lstStyle/>
                    <a:p>
                      <a:r>
                        <a:rPr sz="1050" b="0">
                          <a:solidFill>
                            <a:srgbClr val="1A1A1A"/>
                          </a:solidFill>
                          <a:latin typeface="Abadi"/>
                        </a:rPr>
                        <a:t>Not first line</a:t>
                      </a:r>
                    </a:p>
                  </a:txBody>
                  <a:tcPr marL="73152" marR="73152" marT="27432" marB="27432" anchor="ctr">
                    <a:solidFill>
                      <a:srgbClr val="FFFFFF"/>
                    </a:solidFill>
                  </a:tcPr>
                </a:tc>
              </a:tr>
              <a:tr h="457200">
                <a:tc>
                  <a:txBody>
                    <a:bodyPr wrap="square"/>
                    <a:lstStyle/>
                    <a:p>
                      <a:r>
                        <a:rPr sz="1050" b="1">
                          <a:solidFill>
                            <a:srgbClr val="1A1A1A"/>
                          </a:solidFill>
                          <a:latin typeface="Abadi"/>
                        </a:rPr>
                        <a:t>Mixed paediatric causes</a:t>
                      </a:r>
                    </a:p>
                  </a:txBody>
                  <a:tcPr marL="73152" marR="73152" marT="27432" marB="27432" anchor="ctr">
                    <a:solidFill>
                      <a:srgbClr val="F2F2F2"/>
                    </a:solidFill>
                  </a:tcPr>
                </a:tc>
                <a:tc>
                  <a:txBody>
                    <a:bodyPr wrap="square"/>
                    <a:lstStyle/>
                    <a:p>
                      <a:r>
                        <a:rPr sz="1050" b="0">
                          <a:solidFill>
                            <a:srgbClr val="1A1A1A"/>
                          </a:solidFill>
                          <a:latin typeface="Abadi"/>
                        </a:rPr>
                        <a:t>32 RCTs, 2153 children (Huang 2023)</a:t>
                      </a:r>
                    </a:p>
                  </a:txBody>
                  <a:tcPr marL="73152" marR="73152" marT="27432" marB="27432" anchor="ctr">
                    <a:solidFill>
                      <a:srgbClr val="F2F2F2"/>
                    </a:solidFill>
                  </a:tcPr>
                </a:tc>
                <a:tc>
                  <a:txBody>
                    <a:bodyPr wrap="square"/>
                    <a:lstStyle/>
                    <a:p>
                      <a:r>
                        <a:rPr sz="1050" b="0">
                          <a:solidFill>
                            <a:srgbClr val="1A1A1A"/>
                          </a:solidFill>
                          <a:latin typeface="Abadi"/>
                        </a:rPr>
                        <a:t>Symptom RR 1.24; enzymes and bilirubin fell, low certainty</a:t>
                      </a:r>
                    </a:p>
                  </a:txBody>
                  <a:tcPr marL="73152" marR="73152" marT="27432" marB="27432" anchor="ctr">
                    <a:solidFill>
                      <a:srgbClr val="F2F2F2"/>
                    </a:solidFill>
                  </a:tcPr>
                </a:tc>
                <a:tc>
                  <a:txBody>
                    <a:bodyPr wrap="square"/>
                    <a:lstStyle/>
                    <a:p>
                      <a:r>
                        <a:rPr sz="1050" b="0">
                          <a:solidFill>
                            <a:srgbClr val="1A1A1A"/>
                          </a:solidFill>
                          <a:latin typeface="Abadi"/>
                        </a:rPr>
                        <a:t>Surrogates only</a:t>
                      </a:r>
                    </a:p>
                  </a:txBody>
                  <a:tcPr marL="73152" marR="73152" marT="27432" marB="27432" anchor="ctr">
                    <a:solidFill>
                      <a:srgbClr val="F2F2F2"/>
                    </a:solidFill>
                  </a:tcPr>
                </a:tc>
              </a:tr>
            </a:tbl>
          </a:graphicData>
        </a:graphic>
      </p:graphicFrame>
      <p:sp>
        <p:nvSpPr>
          <p:cNvPr id="13" name="TextBox 12"/>
          <p:cNvSpPr txBox="1"/>
          <p:nvPr/>
        </p:nvSpPr>
        <p:spPr>
          <a:xfrm>
            <a:off x="548640" y="5138928"/>
            <a:ext cx="11082528" cy="640080"/>
          </a:xfrm>
          <a:prstGeom prst="rect">
            <a:avLst/>
          </a:prstGeom>
          <a:noFill/>
        </p:spPr>
        <p:txBody>
          <a:bodyPr wrap="square" lIns="0" rIns="0" tIns="0" bIns="0" anchor="t">
            <a:spAutoFit/>
          </a:bodyPr>
          <a:lstStyle/>
          <a:p>
            <a:pPr algn="l"/>
            <a:r>
              <a:rPr sz="1200" b="1" i="0">
                <a:solidFill>
                  <a:srgbClr val="1B355E"/>
                </a:solidFill>
                <a:latin typeface="Abadi"/>
              </a:rPr>
              <a:t>Read the column on the right.  </a:t>
            </a:r>
            <a:r>
              <a:rPr sz="1200" b="0" i="0">
                <a:solidFill>
                  <a:srgbClr val="1A1A1A"/>
                </a:solidFill>
                <a:latin typeface="Abadi"/>
              </a:rPr>
              <a:t>Outside ABCB4 disease, every positive signal is a biochemical surrogate. There is no randomised trial of UDCA after a Kasai, and none with native-liver survival as the endpoint.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WITHDRAWAL SIGNAL</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STOP UDCA AFTER A KASAI AND THE ENZYMES RISE</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Liver tests on and off UDCA in 16 children with successful Kasai, multiples of the upper limit of normal</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Willot S, et al. Pediatrics 2008;122:e1236–41</a:t>
            </a:r>
          </a:p>
        </p:txBody>
      </p:sp>
      <p:sp>
        <p:nvSpPr>
          <p:cNvPr id="12" name="TextBox 11"/>
          <p:cNvSpPr txBox="1"/>
          <p:nvPr/>
        </p:nvSpPr>
        <p:spPr>
          <a:xfrm>
            <a:off x="640080" y="1810512"/>
            <a:ext cx="2286000" cy="228600"/>
          </a:xfrm>
          <a:prstGeom prst="rect">
            <a:avLst/>
          </a:prstGeom>
          <a:noFill/>
        </p:spPr>
        <p:txBody>
          <a:bodyPr wrap="square" lIns="0" rIns="0" tIns="0" bIns="0" anchor="t">
            <a:spAutoFit/>
          </a:bodyPr>
          <a:lstStyle/>
          <a:p>
            <a:pPr algn="l"/>
            <a:r>
              <a:rPr sz="1000" b="0" i="1">
                <a:solidFill>
                  <a:srgbClr val="7F7F7F"/>
                </a:solidFill>
                <a:latin typeface="Abadi"/>
              </a:rPr>
              <a:t>× upper limit of normal</a:t>
            </a:r>
          </a:p>
        </p:txBody>
      </p:sp>
      <p:sp>
        <p:nvSpPr>
          <p:cNvPr id="13" name="Rectangle 12"/>
          <p:cNvSpPr/>
          <p:nvPr/>
        </p:nvSpPr>
        <p:spPr>
          <a:xfrm>
            <a:off x="640080" y="5175504"/>
            <a:ext cx="6583680" cy="10972"/>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6968" y="4699730"/>
            <a:ext cx="603504" cy="475773"/>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7" y="4425410"/>
            <a:ext cx="1152144" cy="237744"/>
          </a:xfrm>
          <a:prstGeom prst="rect">
            <a:avLst/>
          </a:prstGeom>
          <a:noFill/>
        </p:spPr>
        <p:txBody>
          <a:bodyPr wrap="square" lIns="0" rIns="0" tIns="0" bIns="0" anchor="b">
            <a:spAutoFit/>
          </a:bodyPr>
          <a:lstStyle/>
          <a:p>
            <a:pPr algn="ctr"/>
            <a:r>
              <a:rPr sz="1100" b="1" i="0">
                <a:solidFill>
                  <a:srgbClr val="1A1A1A"/>
                </a:solidFill>
                <a:latin typeface="Abadi"/>
              </a:rPr>
              <a:t>1.4</a:t>
            </a:r>
          </a:p>
        </p:txBody>
      </p:sp>
      <p:sp>
        <p:nvSpPr>
          <p:cNvPr id="16" name="TextBox 15"/>
          <p:cNvSpPr txBox="1"/>
          <p:nvPr/>
        </p:nvSpPr>
        <p:spPr>
          <a:xfrm>
            <a:off x="658368" y="5230368"/>
            <a:ext cx="1060704" cy="512064"/>
          </a:xfrm>
          <a:prstGeom prst="rect">
            <a:avLst/>
          </a:prstGeom>
          <a:noFill/>
        </p:spPr>
        <p:txBody>
          <a:bodyPr wrap="square" lIns="0" rIns="0" tIns="0" bIns="0" anchor="t">
            <a:spAutoFit/>
          </a:bodyPr>
          <a:lstStyle/>
          <a:p>
            <a:pPr algn="ctr"/>
            <a:r>
              <a:rPr sz="1000" b="0" i="0">
                <a:solidFill>
                  <a:srgbClr val="555555"/>
                </a:solidFill>
                <a:latin typeface="Abadi"/>
              </a:rPr>
              <a:t>ALT, on UDCA</a:t>
            </a:r>
          </a:p>
        </p:txBody>
      </p:sp>
      <p:sp>
        <p:nvSpPr>
          <p:cNvPr id="17" name="Rectangle 16"/>
          <p:cNvSpPr/>
          <p:nvPr/>
        </p:nvSpPr>
        <p:spPr>
          <a:xfrm>
            <a:off x="1984248" y="4155988"/>
            <a:ext cx="603504" cy="1019515"/>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09928" y="3881668"/>
            <a:ext cx="1152144" cy="237744"/>
          </a:xfrm>
          <a:prstGeom prst="rect">
            <a:avLst/>
          </a:prstGeom>
          <a:noFill/>
        </p:spPr>
        <p:txBody>
          <a:bodyPr wrap="square" lIns="0" rIns="0" tIns="0" bIns="0" anchor="b">
            <a:spAutoFit/>
          </a:bodyPr>
          <a:lstStyle/>
          <a:p>
            <a:pPr algn="ctr"/>
            <a:r>
              <a:rPr sz="1100" b="1" i="0">
                <a:solidFill>
                  <a:srgbClr val="1A1A1A"/>
                </a:solidFill>
                <a:latin typeface="Abadi"/>
              </a:rPr>
              <a:t>3.0</a:t>
            </a:r>
          </a:p>
        </p:txBody>
      </p:sp>
      <p:sp>
        <p:nvSpPr>
          <p:cNvPr id="19" name="TextBox 18"/>
          <p:cNvSpPr txBox="1"/>
          <p:nvPr/>
        </p:nvSpPr>
        <p:spPr>
          <a:xfrm>
            <a:off x="1755648" y="5230368"/>
            <a:ext cx="1060704" cy="512064"/>
          </a:xfrm>
          <a:prstGeom prst="rect">
            <a:avLst/>
          </a:prstGeom>
          <a:noFill/>
        </p:spPr>
        <p:txBody>
          <a:bodyPr wrap="square" lIns="0" rIns="0" tIns="0" bIns="0" anchor="t">
            <a:spAutoFit/>
          </a:bodyPr>
          <a:lstStyle/>
          <a:p>
            <a:pPr algn="ctr"/>
            <a:r>
              <a:rPr sz="1000" b="0" i="0">
                <a:solidFill>
                  <a:srgbClr val="555555"/>
                </a:solidFill>
                <a:latin typeface="Abadi"/>
              </a:rPr>
              <a:t>ALT, off UDCA</a:t>
            </a:r>
          </a:p>
        </p:txBody>
      </p:sp>
      <p:sp>
        <p:nvSpPr>
          <p:cNvPr id="20" name="Rectangle 19"/>
          <p:cNvSpPr/>
          <p:nvPr/>
        </p:nvSpPr>
        <p:spPr>
          <a:xfrm>
            <a:off x="3081527" y="3748182"/>
            <a:ext cx="603504" cy="1427321"/>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07208" y="3473862"/>
            <a:ext cx="1152144" cy="237744"/>
          </a:xfrm>
          <a:prstGeom prst="rect">
            <a:avLst/>
          </a:prstGeom>
          <a:noFill/>
        </p:spPr>
        <p:txBody>
          <a:bodyPr wrap="square" lIns="0" rIns="0" tIns="0" bIns="0" anchor="b">
            <a:spAutoFit/>
          </a:bodyPr>
          <a:lstStyle/>
          <a:p>
            <a:pPr algn="ctr"/>
            <a:r>
              <a:rPr sz="1100" b="1" i="0">
                <a:solidFill>
                  <a:srgbClr val="1A1A1A"/>
                </a:solidFill>
                <a:latin typeface="Abadi"/>
              </a:rPr>
              <a:t>4.2</a:t>
            </a:r>
          </a:p>
        </p:txBody>
      </p:sp>
      <p:sp>
        <p:nvSpPr>
          <p:cNvPr id="22" name="TextBox 21"/>
          <p:cNvSpPr txBox="1"/>
          <p:nvPr/>
        </p:nvSpPr>
        <p:spPr>
          <a:xfrm>
            <a:off x="2852927" y="5230368"/>
            <a:ext cx="1060704" cy="512064"/>
          </a:xfrm>
          <a:prstGeom prst="rect">
            <a:avLst/>
          </a:prstGeom>
          <a:noFill/>
        </p:spPr>
        <p:txBody>
          <a:bodyPr wrap="square" lIns="0" rIns="0" tIns="0" bIns="0" anchor="t">
            <a:spAutoFit/>
          </a:bodyPr>
          <a:lstStyle/>
          <a:p>
            <a:pPr algn="ctr"/>
            <a:r>
              <a:rPr sz="1000" b="0" i="0">
                <a:solidFill>
                  <a:srgbClr val="555555"/>
                </a:solidFill>
                <a:latin typeface="Abadi"/>
              </a:rPr>
              <a:t>GGT, on UDCA</a:t>
            </a:r>
          </a:p>
        </p:txBody>
      </p:sp>
      <p:sp>
        <p:nvSpPr>
          <p:cNvPr id="23" name="Rectangle 22"/>
          <p:cNvSpPr/>
          <p:nvPr/>
        </p:nvSpPr>
        <p:spPr>
          <a:xfrm>
            <a:off x="4178807" y="2456796"/>
            <a:ext cx="603504" cy="2718707"/>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4487" y="2182476"/>
            <a:ext cx="1152144" cy="237744"/>
          </a:xfrm>
          <a:prstGeom prst="rect">
            <a:avLst/>
          </a:prstGeom>
          <a:noFill/>
        </p:spPr>
        <p:txBody>
          <a:bodyPr wrap="square" lIns="0" rIns="0" tIns="0" bIns="0" anchor="b">
            <a:spAutoFit/>
          </a:bodyPr>
          <a:lstStyle/>
          <a:p>
            <a:pPr algn="ctr"/>
            <a:r>
              <a:rPr sz="1100" b="1" i="0">
                <a:solidFill>
                  <a:srgbClr val="1A1A1A"/>
                </a:solidFill>
                <a:latin typeface="Abadi"/>
              </a:rPr>
              <a:t>8.0</a:t>
            </a:r>
          </a:p>
        </p:txBody>
      </p:sp>
      <p:sp>
        <p:nvSpPr>
          <p:cNvPr id="25" name="TextBox 24"/>
          <p:cNvSpPr txBox="1"/>
          <p:nvPr/>
        </p:nvSpPr>
        <p:spPr>
          <a:xfrm>
            <a:off x="3950207" y="5230368"/>
            <a:ext cx="1060704" cy="512064"/>
          </a:xfrm>
          <a:prstGeom prst="rect">
            <a:avLst/>
          </a:prstGeom>
          <a:noFill/>
        </p:spPr>
        <p:txBody>
          <a:bodyPr wrap="square" lIns="0" rIns="0" tIns="0" bIns="0" anchor="t">
            <a:spAutoFit/>
          </a:bodyPr>
          <a:lstStyle/>
          <a:p>
            <a:pPr algn="ctr"/>
            <a:r>
              <a:rPr sz="1000" b="0" i="0">
                <a:solidFill>
                  <a:srgbClr val="555555"/>
                </a:solidFill>
                <a:latin typeface="Abadi"/>
              </a:rPr>
              <a:t>GGT, off UDCA</a:t>
            </a:r>
          </a:p>
        </p:txBody>
      </p:sp>
      <p:sp>
        <p:nvSpPr>
          <p:cNvPr id="26" name="Rectangle 25"/>
          <p:cNvSpPr/>
          <p:nvPr/>
        </p:nvSpPr>
        <p:spPr>
          <a:xfrm>
            <a:off x="5276088" y="4733714"/>
            <a:ext cx="603504" cy="441789"/>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01768" y="4459394"/>
            <a:ext cx="1152144" cy="237744"/>
          </a:xfrm>
          <a:prstGeom prst="rect">
            <a:avLst/>
          </a:prstGeom>
          <a:noFill/>
        </p:spPr>
        <p:txBody>
          <a:bodyPr wrap="square" lIns="0" rIns="0" tIns="0" bIns="0" anchor="b">
            <a:spAutoFit/>
          </a:bodyPr>
          <a:lstStyle/>
          <a:p>
            <a:pPr algn="ctr"/>
            <a:r>
              <a:rPr sz="1100" b="1" i="0">
                <a:solidFill>
                  <a:srgbClr val="1A1A1A"/>
                </a:solidFill>
                <a:latin typeface="Abadi"/>
              </a:rPr>
              <a:t>1.3</a:t>
            </a:r>
          </a:p>
        </p:txBody>
      </p:sp>
      <p:sp>
        <p:nvSpPr>
          <p:cNvPr id="28" name="TextBox 27"/>
          <p:cNvSpPr txBox="1"/>
          <p:nvPr/>
        </p:nvSpPr>
        <p:spPr>
          <a:xfrm>
            <a:off x="5047488" y="5230368"/>
            <a:ext cx="1060704" cy="512064"/>
          </a:xfrm>
          <a:prstGeom prst="rect">
            <a:avLst/>
          </a:prstGeom>
          <a:noFill/>
        </p:spPr>
        <p:txBody>
          <a:bodyPr wrap="square" lIns="0" rIns="0" tIns="0" bIns="0" anchor="t">
            <a:spAutoFit/>
          </a:bodyPr>
          <a:lstStyle/>
          <a:p>
            <a:pPr algn="ctr"/>
            <a:r>
              <a:rPr sz="1000" b="0" i="0">
                <a:solidFill>
                  <a:srgbClr val="555555"/>
                </a:solidFill>
                <a:latin typeface="Abadi"/>
              </a:rPr>
              <a:t>AST, on UDCA</a:t>
            </a:r>
          </a:p>
        </p:txBody>
      </p:sp>
      <p:sp>
        <p:nvSpPr>
          <p:cNvPr id="29" name="Rectangle 28"/>
          <p:cNvSpPr/>
          <p:nvPr/>
        </p:nvSpPr>
        <p:spPr>
          <a:xfrm>
            <a:off x="6373368" y="4597778"/>
            <a:ext cx="603504" cy="577725"/>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9048" y="4323458"/>
            <a:ext cx="1152144" cy="237744"/>
          </a:xfrm>
          <a:prstGeom prst="rect">
            <a:avLst/>
          </a:prstGeom>
          <a:noFill/>
        </p:spPr>
        <p:txBody>
          <a:bodyPr wrap="square" lIns="0" rIns="0" tIns="0" bIns="0" anchor="b">
            <a:spAutoFit/>
          </a:bodyPr>
          <a:lstStyle/>
          <a:p>
            <a:pPr algn="ctr"/>
            <a:r>
              <a:rPr sz="1100" b="1" i="0">
                <a:solidFill>
                  <a:srgbClr val="1A1A1A"/>
                </a:solidFill>
                <a:latin typeface="Abadi"/>
              </a:rPr>
              <a:t>1.7</a:t>
            </a:r>
          </a:p>
        </p:txBody>
      </p:sp>
      <p:sp>
        <p:nvSpPr>
          <p:cNvPr id="31" name="TextBox 30"/>
          <p:cNvSpPr txBox="1"/>
          <p:nvPr/>
        </p:nvSpPr>
        <p:spPr>
          <a:xfrm>
            <a:off x="6144768" y="5230368"/>
            <a:ext cx="1060704" cy="512064"/>
          </a:xfrm>
          <a:prstGeom prst="rect">
            <a:avLst/>
          </a:prstGeom>
          <a:noFill/>
        </p:spPr>
        <p:txBody>
          <a:bodyPr wrap="square" lIns="0" rIns="0" tIns="0" bIns="0" anchor="t">
            <a:spAutoFit/>
          </a:bodyPr>
          <a:lstStyle/>
          <a:p>
            <a:pPr algn="ctr"/>
            <a:r>
              <a:rPr sz="1000" b="0" i="0">
                <a:solidFill>
                  <a:srgbClr val="555555"/>
                </a:solidFill>
                <a:latin typeface="Abadi"/>
              </a:rPr>
              <a:t>AST, off UDCA</a:t>
            </a:r>
          </a:p>
        </p:txBody>
      </p:sp>
      <p:sp>
        <p:nvSpPr>
          <p:cNvPr id="32" name="TextBox 31"/>
          <p:cNvSpPr txBox="1"/>
          <p:nvPr/>
        </p:nvSpPr>
        <p:spPr>
          <a:xfrm>
            <a:off x="7589520" y="1773936"/>
            <a:ext cx="4041648" cy="4023360"/>
          </a:xfrm>
          <a:prstGeom prst="rect">
            <a:avLst/>
          </a:prstGeom>
          <a:noFill/>
        </p:spPr>
        <p:txBody>
          <a:bodyPr wrap="square" lIns="0" rIns="0" tIns="0" bIns="0" anchor="t">
            <a:spAutoFit/>
          </a:bodyPr>
          <a:lstStyle/>
          <a:p>
            <a:pPr algn="l"/>
            <a:r>
              <a:rPr sz="1700" b="1" i="0">
                <a:solidFill>
                  <a:srgbClr val="1B355E"/>
                </a:solidFill>
                <a:latin typeface="Abadi"/>
              </a:rPr>
              <a:t>13 of 16</a:t>
            </a:r>
          </a:p>
          <a:p>
            <a:pPr algn="l">
              <a:spcBef>
                <a:spcPts val="200"/>
              </a:spcBef>
            </a:pPr>
            <a:r>
              <a:rPr sz="1100" b="0" i="0">
                <a:solidFill>
                  <a:srgbClr val="1A1A1A"/>
                </a:solidFill>
                <a:latin typeface="Abadi"/>
              </a:rPr>
              <a:t>Children whose liver tests worsened after withdrawal; all improved when UDCA was restarted.</a:t>
            </a:r>
          </a:p>
          <a:p>
            <a:pPr algn="l">
              <a:spcBef>
                <a:spcPts val="900"/>
              </a:spcBef>
            </a:pPr>
            <a:r>
              <a:rPr sz="1700" b="1" i="0">
                <a:solidFill>
                  <a:srgbClr val="1B355E"/>
                </a:solidFill>
                <a:latin typeface="Abadi"/>
              </a:rPr>
              <a:t>25 mg/kg/day</a:t>
            </a:r>
          </a:p>
          <a:p>
            <a:pPr algn="l">
              <a:spcBef>
                <a:spcPts val="200"/>
              </a:spcBef>
            </a:pPr>
            <a:r>
              <a:rPr sz="1100" b="0" i="0">
                <a:solidFill>
                  <a:srgbClr val="1A1A1A"/>
                </a:solidFill>
                <a:latin typeface="Abadi"/>
              </a:rPr>
              <a:t>Mean dose in the cohort (range 20–36), above the usual 10–20 mg/kg.</a:t>
            </a:r>
          </a:p>
          <a:p>
            <a:pPr algn="l">
              <a:spcBef>
                <a:spcPts val="900"/>
              </a:spcBef>
            </a:pPr>
            <a:r>
              <a:rPr sz="1700" b="1" i="0">
                <a:solidFill>
                  <a:srgbClr val="1B355E"/>
                </a:solidFill>
                <a:latin typeface="Abadi"/>
              </a:rPr>
              <a:t>What it proves</a:t>
            </a:r>
          </a:p>
          <a:p>
            <a:pPr algn="l">
              <a:spcBef>
                <a:spcPts val="200"/>
              </a:spcBef>
            </a:pPr>
            <a:r>
              <a:rPr sz="1100" b="0" i="0">
                <a:solidFill>
                  <a:srgbClr val="1A1A1A"/>
                </a:solidFill>
                <a:latin typeface="Abadi"/>
              </a:rPr>
              <a:t>UDCA moves enzymes in drained biliary atresia. It does not show that native-liver survival changes.</a:t>
            </a:r>
          </a:p>
          <a:p>
            <a:pPr algn="l">
              <a:spcBef>
                <a:spcPts val="900"/>
              </a:spcBef>
            </a:pPr>
            <a:r>
              <a:rPr sz="1700" b="1" i="0">
                <a:solidFill>
                  <a:srgbClr val="1B355E"/>
                </a:solidFill>
                <a:latin typeface="Abadi"/>
              </a:rPr>
              <a:t>Why it persists</a:t>
            </a:r>
          </a:p>
          <a:p>
            <a:pPr algn="l">
              <a:spcBef>
                <a:spcPts val="200"/>
              </a:spcBef>
            </a:pPr>
            <a:r>
              <a:rPr sz="1100" b="0" i="0">
                <a:solidFill>
                  <a:srgbClr val="1A1A1A"/>
                </a:solidFill>
                <a:latin typeface="Abadi"/>
              </a:rPr>
              <a:t>Low cost and few side effects make withdrawal uncomfortable; that is a reason for a trial, not for certainty.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DOSE CEILING</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MORE UDCA IS NOT BETTER</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High-dose UDCA (28–30 mg/kg/day) versus placebo in adult primary sclerosing cholangitis,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Lindor KD, et al. Hepatology 2009;50:808–14 · Fligor SC, et al. Front Pediatr 2022;10:1007813 · Mouzaki M, et al. JPGN 2019;69:498–511</a:t>
            </a:r>
          </a:p>
        </p:txBody>
      </p:sp>
      <p:sp>
        <p:nvSpPr>
          <p:cNvPr id="12" name="TextBox 11"/>
          <p:cNvSpPr txBox="1"/>
          <p:nvPr/>
        </p:nvSpPr>
        <p:spPr>
          <a:xfrm>
            <a:off x="640080" y="1810512"/>
            <a:ext cx="2286000" cy="228600"/>
          </a:xfrm>
          <a:prstGeom prst="rect">
            <a:avLst/>
          </a:prstGeom>
          <a:noFill/>
        </p:spPr>
        <p:txBody>
          <a:bodyPr wrap="square" lIns="0" rIns="0" tIns="0" bIns="0" anchor="t">
            <a:spAutoFit/>
          </a:bodyPr>
          <a:lstStyle/>
          <a:p>
            <a:pPr algn="l"/>
            <a:r>
              <a:rPr sz="1000" b="0" i="1">
                <a:solidFill>
                  <a:srgbClr val="7F7F7F"/>
                </a:solidFill>
                <a:latin typeface="Abadi"/>
              </a:rPr>
              <a:t>Per cent of patients</a:t>
            </a:r>
          </a:p>
        </p:txBody>
      </p:sp>
      <p:sp>
        <p:nvSpPr>
          <p:cNvPr id="13" name="Rectangle 12"/>
          <p:cNvSpPr/>
          <p:nvPr/>
        </p:nvSpPr>
        <p:spPr>
          <a:xfrm>
            <a:off x="640080" y="5175504"/>
            <a:ext cx="6309360" cy="10972"/>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94981" y="3492494"/>
            <a:ext cx="867537" cy="1683009"/>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661" y="3218174"/>
            <a:ext cx="1416177" cy="237744"/>
          </a:xfrm>
          <a:prstGeom prst="rect">
            <a:avLst/>
          </a:prstGeom>
          <a:noFill/>
        </p:spPr>
        <p:txBody>
          <a:bodyPr wrap="square" lIns="0" rIns="0" tIns="0" bIns="0" anchor="b">
            <a:spAutoFit/>
          </a:bodyPr>
          <a:lstStyle/>
          <a:p>
            <a:pPr algn="ctr"/>
            <a:r>
              <a:rPr sz="1100" b="1" i="0">
                <a:solidFill>
                  <a:srgbClr val="1A1A1A"/>
                </a:solidFill>
                <a:latin typeface="Abadi"/>
              </a:rPr>
              <a:t>39</a:t>
            </a:r>
          </a:p>
        </p:txBody>
      </p:sp>
      <p:sp>
        <p:nvSpPr>
          <p:cNvPr id="16" name="TextBox 15"/>
          <p:cNvSpPr txBox="1"/>
          <p:nvPr/>
        </p:nvSpPr>
        <p:spPr>
          <a:xfrm>
            <a:off x="658368" y="5230368"/>
            <a:ext cx="1540764" cy="512064"/>
          </a:xfrm>
          <a:prstGeom prst="rect">
            <a:avLst/>
          </a:prstGeom>
          <a:noFill/>
        </p:spPr>
        <p:txBody>
          <a:bodyPr wrap="square" lIns="0" rIns="0" tIns="0" bIns="0" anchor="t">
            <a:spAutoFit/>
          </a:bodyPr>
          <a:lstStyle/>
          <a:p>
            <a:pPr algn="ctr"/>
            <a:r>
              <a:rPr sz="1000" b="0" i="0">
                <a:solidFill>
                  <a:srgbClr val="555555"/>
                </a:solidFill>
                <a:latin typeface="Abadi"/>
              </a:rPr>
              <a:t>Primary endpoint, UDCA</a:t>
            </a:r>
          </a:p>
        </p:txBody>
      </p:sp>
      <p:sp>
        <p:nvSpPr>
          <p:cNvPr id="17" name="Rectangle 16"/>
          <p:cNvSpPr/>
          <p:nvPr/>
        </p:nvSpPr>
        <p:spPr>
          <a:xfrm>
            <a:off x="2572321" y="4053497"/>
            <a:ext cx="867537" cy="112200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98001" y="3779177"/>
            <a:ext cx="1416177" cy="237744"/>
          </a:xfrm>
          <a:prstGeom prst="rect">
            <a:avLst/>
          </a:prstGeom>
          <a:noFill/>
        </p:spPr>
        <p:txBody>
          <a:bodyPr wrap="square" lIns="0" rIns="0" tIns="0" bIns="0" anchor="b">
            <a:spAutoFit/>
          </a:bodyPr>
          <a:lstStyle/>
          <a:p>
            <a:pPr algn="ctr"/>
            <a:r>
              <a:rPr sz="1100" b="1" i="0">
                <a:solidFill>
                  <a:srgbClr val="1A1A1A"/>
                </a:solidFill>
                <a:latin typeface="Abadi"/>
              </a:rPr>
              <a:t>26</a:t>
            </a:r>
          </a:p>
        </p:txBody>
      </p:sp>
      <p:sp>
        <p:nvSpPr>
          <p:cNvPr id="19" name="TextBox 18"/>
          <p:cNvSpPr txBox="1"/>
          <p:nvPr/>
        </p:nvSpPr>
        <p:spPr>
          <a:xfrm>
            <a:off x="2235708" y="5230368"/>
            <a:ext cx="1540764" cy="512064"/>
          </a:xfrm>
          <a:prstGeom prst="rect">
            <a:avLst/>
          </a:prstGeom>
          <a:noFill/>
        </p:spPr>
        <p:txBody>
          <a:bodyPr wrap="square" lIns="0" rIns="0" tIns="0" bIns="0" anchor="t">
            <a:spAutoFit/>
          </a:bodyPr>
          <a:lstStyle/>
          <a:p>
            <a:pPr algn="ctr"/>
            <a:r>
              <a:rPr sz="1000" b="0" i="0">
                <a:solidFill>
                  <a:srgbClr val="555555"/>
                </a:solidFill>
                <a:latin typeface="Abadi"/>
              </a:rPr>
              <a:t>Primary endpoint, placebo</a:t>
            </a:r>
          </a:p>
        </p:txBody>
      </p:sp>
      <p:sp>
        <p:nvSpPr>
          <p:cNvPr id="20" name="Rectangle 19"/>
          <p:cNvSpPr/>
          <p:nvPr/>
        </p:nvSpPr>
        <p:spPr>
          <a:xfrm>
            <a:off x="4149661" y="2456796"/>
            <a:ext cx="867537" cy="2718707"/>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75341" y="2182476"/>
            <a:ext cx="1416177" cy="237744"/>
          </a:xfrm>
          <a:prstGeom prst="rect">
            <a:avLst/>
          </a:prstGeom>
          <a:noFill/>
        </p:spPr>
        <p:txBody>
          <a:bodyPr wrap="square" lIns="0" rIns="0" tIns="0" bIns="0" anchor="b">
            <a:spAutoFit/>
          </a:bodyPr>
          <a:lstStyle/>
          <a:p>
            <a:pPr algn="ctr"/>
            <a:r>
              <a:rPr sz="1100" b="1" i="0">
                <a:solidFill>
                  <a:srgbClr val="1A1A1A"/>
                </a:solidFill>
                <a:latin typeface="Abadi"/>
              </a:rPr>
              <a:t>63</a:t>
            </a:r>
          </a:p>
        </p:txBody>
      </p:sp>
      <p:sp>
        <p:nvSpPr>
          <p:cNvPr id="22" name="TextBox 21"/>
          <p:cNvSpPr txBox="1"/>
          <p:nvPr/>
        </p:nvSpPr>
        <p:spPr>
          <a:xfrm>
            <a:off x="3813048" y="5230368"/>
            <a:ext cx="1540764" cy="512064"/>
          </a:xfrm>
          <a:prstGeom prst="rect">
            <a:avLst/>
          </a:prstGeom>
          <a:noFill/>
        </p:spPr>
        <p:txBody>
          <a:bodyPr wrap="square" lIns="0" rIns="0" tIns="0" bIns="0" anchor="t">
            <a:spAutoFit/>
          </a:bodyPr>
          <a:lstStyle/>
          <a:p>
            <a:pPr algn="ctr"/>
            <a:r>
              <a:rPr sz="1000" b="0" i="0">
                <a:solidFill>
                  <a:srgbClr val="555555"/>
                </a:solidFill>
                <a:latin typeface="Abadi"/>
              </a:rPr>
              <a:t>Serious adverse events, UDCA</a:t>
            </a:r>
          </a:p>
        </p:txBody>
      </p:sp>
      <p:sp>
        <p:nvSpPr>
          <p:cNvPr id="23" name="Rectangle 22"/>
          <p:cNvSpPr/>
          <p:nvPr/>
        </p:nvSpPr>
        <p:spPr>
          <a:xfrm>
            <a:off x="5727001" y="3578802"/>
            <a:ext cx="867537" cy="1596701"/>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52681" y="3304482"/>
            <a:ext cx="1416177" cy="237744"/>
          </a:xfrm>
          <a:prstGeom prst="rect">
            <a:avLst/>
          </a:prstGeom>
          <a:noFill/>
        </p:spPr>
        <p:txBody>
          <a:bodyPr wrap="square" lIns="0" rIns="0" tIns="0" bIns="0" anchor="b">
            <a:spAutoFit/>
          </a:bodyPr>
          <a:lstStyle/>
          <a:p>
            <a:pPr algn="ctr"/>
            <a:r>
              <a:rPr sz="1100" b="1" i="0">
                <a:solidFill>
                  <a:srgbClr val="1A1A1A"/>
                </a:solidFill>
                <a:latin typeface="Abadi"/>
              </a:rPr>
              <a:t>37</a:t>
            </a:r>
          </a:p>
        </p:txBody>
      </p:sp>
      <p:sp>
        <p:nvSpPr>
          <p:cNvPr id="25" name="TextBox 24"/>
          <p:cNvSpPr txBox="1"/>
          <p:nvPr/>
        </p:nvSpPr>
        <p:spPr>
          <a:xfrm>
            <a:off x="5390388" y="5230368"/>
            <a:ext cx="1540764" cy="512064"/>
          </a:xfrm>
          <a:prstGeom prst="rect">
            <a:avLst/>
          </a:prstGeom>
          <a:noFill/>
        </p:spPr>
        <p:txBody>
          <a:bodyPr wrap="square" lIns="0" rIns="0" tIns="0" bIns="0" anchor="t">
            <a:spAutoFit/>
          </a:bodyPr>
          <a:lstStyle/>
          <a:p>
            <a:pPr algn="ctr"/>
            <a:r>
              <a:rPr sz="1000" b="0" i="0">
                <a:solidFill>
                  <a:srgbClr val="555555"/>
                </a:solidFill>
                <a:latin typeface="Abadi"/>
              </a:rPr>
              <a:t>Serious adverse events, placebo</a:t>
            </a:r>
          </a:p>
        </p:txBody>
      </p:sp>
      <p:sp>
        <p:nvSpPr>
          <p:cNvPr id="26" name="TextBox 25"/>
          <p:cNvSpPr txBox="1"/>
          <p:nvPr/>
        </p:nvSpPr>
        <p:spPr>
          <a:xfrm>
            <a:off x="7406640" y="1773936"/>
            <a:ext cx="4224528" cy="4023360"/>
          </a:xfrm>
          <a:prstGeom prst="rect">
            <a:avLst/>
          </a:prstGeom>
          <a:noFill/>
        </p:spPr>
        <p:txBody>
          <a:bodyPr wrap="square" lIns="0" rIns="0" tIns="0" bIns="0" anchor="t">
            <a:spAutoFit/>
          </a:bodyPr>
          <a:lstStyle/>
          <a:p>
            <a:pPr algn="l"/>
            <a:r>
              <a:rPr sz="1700" b="1" i="0">
                <a:solidFill>
                  <a:srgbClr val="1B355E"/>
                </a:solidFill>
                <a:latin typeface="Abadi"/>
              </a:rPr>
              <a:t>2.3-fold</a:t>
            </a:r>
          </a:p>
          <a:p>
            <a:pPr algn="l">
              <a:spcBef>
                <a:spcPts val="200"/>
              </a:spcBef>
            </a:pPr>
            <a:r>
              <a:rPr sz="1100" b="0" i="0">
                <a:solidFill>
                  <a:srgbClr val="1A1A1A"/>
                </a:solidFill>
                <a:latin typeface="Abadi"/>
              </a:rPr>
              <a:t>Higher risk of the primary endpoint on high-dose UDCA (cirrhosis, varices, cholangiocarcinoma, transplant or death).</a:t>
            </a:r>
          </a:p>
          <a:p>
            <a:pPr algn="l">
              <a:spcBef>
                <a:spcPts val="900"/>
              </a:spcBef>
            </a:pPr>
            <a:r>
              <a:rPr sz="1700" b="1" i="0">
                <a:solidFill>
                  <a:srgbClr val="1B355E"/>
                </a:solidFill>
                <a:latin typeface="Abadi"/>
              </a:rPr>
              <a:t>2.1-fold</a:t>
            </a:r>
          </a:p>
          <a:p>
            <a:pPr algn="l">
              <a:spcBef>
                <a:spcPts val="200"/>
              </a:spcBef>
            </a:pPr>
            <a:r>
              <a:rPr sz="1100" b="0" i="0">
                <a:solidFill>
                  <a:srgbClr val="1A1A1A"/>
                </a:solidFill>
                <a:latin typeface="Abadi"/>
              </a:rPr>
              <a:t>Higher risk of death, transplant or minimal listing criteria.</a:t>
            </a:r>
          </a:p>
          <a:p>
            <a:pPr algn="l">
              <a:spcBef>
                <a:spcPts val="900"/>
              </a:spcBef>
            </a:pPr>
            <a:r>
              <a:rPr sz="1700" b="1" i="0">
                <a:solidFill>
                  <a:srgbClr val="1B355E"/>
                </a:solidFill>
                <a:latin typeface="Abadi"/>
              </a:rPr>
              <a:t>Infant translation</a:t>
            </a:r>
          </a:p>
          <a:p>
            <a:pPr algn="l">
              <a:spcBef>
                <a:spcPts val="200"/>
              </a:spcBef>
            </a:pPr>
            <a:r>
              <a:rPr sz="1100" b="0" i="0">
                <a:solidFill>
                  <a:srgbClr val="1A1A1A"/>
                </a:solidFill>
                <a:latin typeface="Abadi"/>
              </a:rPr>
              <a:t>Adult data, not infant data. Keep the dose at 10–20 mg/kg/day and do not escalate for a stubborn bilirubin.</a:t>
            </a:r>
          </a:p>
          <a:p>
            <a:pPr algn="l">
              <a:spcBef>
                <a:spcPts val="900"/>
              </a:spcBef>
            </a:pPr>
            <a:r>
              <a:rPr sz="1700" b="1" i="0">
                <a:solidFill>
                  <a:srgbClr val="1B355E"/>
                </a:solidFill>
                <a:latin typeface="Abadi"/>
              </a:rPr>
              <a:t>Mechanism, unproven</a:t>
            </a:r>
          </a:p>
          <a:p>
            <a:pPr algn="l">
              <a:spcBef>
                <a:spcPts val="200"/>
              </a:spcBef>
            </a:pPr>
            <a:r>
              <a:rPr sz="1100" b="0" i="0">
                <a:solidFill>
                  <a:srgbClr val="1A1A1A"/>
                </a:solidFill>
                <a:latin typeface="Abadi"/>
              </a:rPr>
              <a:t>Excess UDCA is converted by gut bacteria to lithocholic acid, a hepatotoxic bile acid; no infant numbers exist.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FAT-SOLUBLE VITAMINS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BILIRUBIN ABOVE 2 PREDICTS VITAMIN FAILURE</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Insufficiency 6 months after Kasai on a TPGS multivitamin, %, by total bilirubin ≥ 2 versus &lt; 2 mg/dL (ChiLDREN cohort, n = 92)</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Shneider BL, et al. Pediatrics 2012;130:e607–14 (percentages calculated from reported counts)</a:t>
            </a:r>
          </a:p>
        </p:txBody>
      </p:sp>
      <p:sp>
        <p:nvSpPr>
          <p:cNvPr id="12" name="TextBox 11"/>
          <p:cNvSpPr txBox="1"/>
          <p:nvPr/>
        </p:nvSpPr>
        <p:spPr>
          <a:xfrm>
            <a:off x="640080" y="1810512"/>
            <a:ext cx="2286000" cy="228600"/>
          </a:xfrm>
          <a:prstGeom prst="rect">
            <a:avLst/>
          </a:prstGeom>
          <a:noFill/>
        </p:spPr>
        <p:txBody>
          <a:bodyPr wrap="square" lIns="0" rIns="0" tIns="0" bIns="0" anchor="t">
            <a:spAutoFit/>
          </a:bodyPr>
          <a:lstStyle/>
          <a:p>
            <a:pPr algn="l"/>
            <a:r>
              <a:rPr sz="1000" b="0" i="1">
                <a:solidFill>
                  <a:srgbClr val="7F7F7F"/>
                </a:solidFill>
                <a:latin typeface="Abadi"/>
              </a:rPr>
              <a:t>Per cent</a:t>
            </a:r>
          </a:p>
        </p:txBody>
      </p:sp>
      <p:sp>
        <p:nvSpPr>
          <p:cNvPr id="13" name="Rectangle 12"/>
          <p:cNvSpPr/>
          <p:nvPr/>
        </p:nvSpPr>
        <p:spPr>
          <a:xfrm>
            <a:off x="640080" y="5175504"/>
            <a:ext cx="6766560" cy="10972"/>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0389" y="2456796"/>
            <a:ext cx="465201" cy="2718707"/>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6069" y="2182476"/>
            <a:ext cx="1013841" cy="237744"/>
          </a:xfrm>
          <a:prstGeom prst="rect">
            <a:avLst/>
          </a:prstGeom>
          <a:noFill/>
        </p:spPr>
        <p:txBody>
          <a:bodyPr wrap="square" lIns="0" rIns="0" tIns="0" bIns="0" anchor="b">
            <a:spAutoFit/>
          </a:bodyPr>
          <a:lstStyle/>
          <a:p>
            <a:pPr algn="ctr"/>
            <a:r>
              <a:rPr sz="1100" b="1" i="0">
                <a:solidFill>
                  <a:srgbClr val="1A1A1A"/>
                </a:solidFill>
                <a:latin typeface="Abadi"/>
              </a:rPr>
              <a:t>100</a:t>
            </a:r>
          </a:p>
        </p:txBody>
      </p:sp>
      <p:sp>
        <p:nvSpPr>
          <p:cNvPr id="16" name="TextBox 15"/>
          <p:cNvSpPr txBox="1"/>
          <p:nvPr/>
        </p:nvSpPr>
        <p:spPr>
          <a:xfrm>
            <a:off x="658368" y="5230368"/>
            <a:ext cx="809244" cy="512064"/>
          </a:xfrm>
          <a:prstGeom prst="rect">
            <a:avLst/>
          </a:prstGeom>
          <a:noFill/>
        </p:spPr>
        <p:txBody>
          <a:bodyPr wrap="square" lIns="0" rIns="0" tIns="0" bIns="0" anchor="t">
            <a:spAutoFit/>
          </a:bodyPr>
          <a:lstStyle/>
          <a:p>
            <a:pPr algn="ctr"/>
            <a:r>
              <a:rPr sz="950" b="0" i="0">
                <a:solidFill>
                  <a:srgbClr val="555555"/>
                </a:solidFill>
                <a:latin typeface="Abadi"/>
              </a:rPr>
              <a:t>A, bili ≥ 2</a:t>
            </a:r>
          </a:p>
        </p:txBody>
      </p:sp>
      <p:sp>
        <p:nvSpPr>
          <p:cNvPr id="17" name="Rectangle 16"/>
          <p:cNvSpPr/>
          <p:nvPr/>
        </p:nvSpPr>
        <p:spPr>
          <a:xfrm>
            <a:off x="1676209" y="4658949"/>
            <a:ext cx="465201" cy="51655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01889" y="4384629"/>
            <a:ext cx="1013841" cy="237744"/>
          </a:xfrm>
          <a:prstGeom prst="rect">
            <a:avLst/>
          </a:prstGeom>
          <a:noFill/>
        </p:spPr>
        <p:txBody>
          <a:bodyPr wrap="square" lIns="0" rIns="0" tIns="0" bIns="0" anchor="b">
            <a:spAutoFit/>
          </a:bodyPr>
          <a:lstStyle/>
          <a:p>
            <a:pPr algn="ctr"/>
            <a:r>
              <a:rPr sz="1100" b="1" i="0">
                <a:solidFill>
                  <a:srgbClr val="1A1A1A"/>
                </a:solidFill>
                <a:latin typeface="Abadi"/>
              </a:rPr>
              <a:t>19</a:t>
            </a:r>
          </a:p>
        </p:txBody>
      </p:sp>
      <p:sp>
        <p:nvSpPr>
          <p:cNvPr id="19" name="TextBox 18"/>
          <p:cNvSpPr txBox="1"/>
          <p:nvPr/>
        </p:nvSpPr>
        <p:spPr>
          <a:xfrm>
            <a:off x="1504188" y="5230368"/>
            <a:ext cx="809244" cy="512064"/>
          </a:xfrm>
          <a:prstGeom prst="rect">
            <a:avLst/>
          </a:prstGeom>
          <a:noFill/>
        </p:spPr>
        <p:txBody>
          <a:bodyPr wrap="square" lIns="0" rIns="0" tIns="0" bIns="0" anchor="t">
            <a:spAutoFit/>
          </a:bodyPr>
          <a:lstStyle/>
          <a:p>
            <a:pPr algn="ctr"/>
            <a:r>
              <a:rPr sz="950" b="0" i="0">
                <a:solidFill>
                  <a:srgbClr val="555555"/>
                </a:solidFill>
                <a:latin typeface="Abadi"/>
              </a:rPr>
              <a:t>A, bili &lt; 2</a:t>
            </a:r>
          </a:p>
        </p:txBody>
      </p:sp>
      <p:sp>
        <p:nvSpPr>
          <p:cNvPr id="20" name="Rectangle 19"/>
          <p:cNvSpPr/>
          <p:nvPr/>
        </p:nvSpPr>
        <p:spPr>
          <a:xfrm>
            <a:off x="2522029" y="3027725"/>
            <a:ext cx="465201" cy="214777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7709" y="2753405"/>
            <a:ext cx="1013841" cy="237744"/>
          </a:xfrm>
          <a:prstGeom prst="rect">
            <a:avLst/>
          </a:prstGeom>
          <a:noFill/>
        </p:spPr>
        <p:txBody>
          <a:bodyPr wrap="square" lIns="0" rIns="0" tIns="0" bIns="0" anchor="b">
            <a:spAutoFit/>
          </a:bodyPr>
          <a:lstStyle/>
          <a:p>
            <a:pPr algn="ctr"/>
            <a:r>
              <a:rPr sz="1100" b="1" i="0">
                <a:solidFill>
                  <a:srgbClr val="1A1A1A"/>
                </a:solidFill>
                <a:latin typeface="Abadi"/>
              </a:rPr>
              <a:t>79</a:t>
            </a:r>
          </a:p>
        </p:txBody>
      </p:sp>
      <p:sp>
        <p:nvSpPr>
          <p:cNvPr id="22" name="TextBox 21"/>
          <p:cNvSpPr txBox="1"/>
          <p:nvPr/>
        </p:nvSpPr>
        <p:spPr>
          <a:xfrm>
            <a:off x="2350008" y="5230368"/>
            <a:ext cx="809244" cy="512064"/>
          </a:xfrm>
          <a:prstGeom prst="rect">
            <a:avLst/>
          </a:prstGeom>
          <a:noFill/>
        </p:spPr>
        <p:txBody>
          <a:bodyPr wrap="square" lIns="0" rIns="0" tIns="0" bIns="0" anchor="t">
            <a:spAutoFit/>
          </a:bodyPr>
          <a:lstStyle/>
          <a:p>
            <a:pPr algn="ctr"/>
            <a:r>
              <a:rPr sz="950" b="0" i="0">
                <a:solidFill>
                  <a:srgbClr val="555555"/>
                </a:solidFill>
                <a:latin typeface="Abadi"/>
              </a:rPr>
              <a:t>D, bili ≥ 2</a:t>
            </a:r>
          </a:p>
        </p:txBody>
      </p:sp>
      <p:sp>
        <p:nvSpPr>
          <p:cNvPr id="23" name="Rectangle 22"/>
          <p:cNvSpPr/>
          <p:nvPr/>
        </p:nvSpPr>
        <p:spPr>
          <a:xfrm>
            <a:off x="3367849" y="5093942"/>
            <a:ext cx="465201" cy="81561"/>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93529" y="4819622"/>
            <a:ext cx="1013841" cy="237744"/>
          </a:xfrm>
          <a:prstGeom prst="rect">
            <a:avLst/>
          </a:prstGeom>
          <a:noFill/>
        </p:spPr>
        <p:txBody>
          <a:bodyPr wrap="square" lIns="0" rIns="0" tIns="0" bIns="0" anchor="b">
            <a:spAutoFit/>
          </a:bodyPr>
          <a:lstStyle/>
          <a:p>
            <a:pPr algn="ctr"/>
            <a:r>
              <a:rPr sz="1100" b="1" i="0">
                <a:solidFill>
                  <a:srgbClr val="1A1A1A"/>
                </a:solidFill>
                <a:latin typeface="Abadi"/>
              </a:rPr>
              <a:t>3</a:t>
            </a:r>
          </a:p>
        </p:txBody>
      </p:sp>
      <p:sp>
        <p:nvSpPr>
          <p:cNvPr id="25" name="TextBox 24"/>
          <p:cNvSpPr txBox="1"/>
          <p:nvPr/>
        </p:nvSpPr>
        <p:spPr>
          <a:xfrm>
            <a:off x="3195828" y="5230368"/>
            <a:ext cx="809244" cy="512064"/>
          </a:xfrm>
          <a:prstGeom prst="rect">
            <a:avLst/>
          </a:prstGeom>
          <a:noFill/>
        </p:spPr>
        <p:txBody>
          <a:bodyPr wrap="square" lIns="0" rIns="0" tIns="0" bIns="0" anchor="t">
            <a:spAutoFit/>
          </a:bodyPr>
          <a:lstStyle/>
          <a:p>
            <a:pPr algn="ctr"/>
            <a:r>
              <a:rPr sz="950" b="0" i="0">
                <a:solidFill>
                  <a:srgbClr val="555555"/>
                </a:solidFill>
                <a:latin typeface="Abadi"/>
              </a:rPr>
              <a:t>D, bili &lt; 2</a:t>
            </a:r>
          </a:p>
        </p:txBody>
      </p:sp>
      <p:sp>
        <p:nvSpPr>
          <p:cNvPr id="26" name="Rectangle 25"/>
          <p:cNvSpPr/>
          <p:nvPr/>
        </p:nvSpPr>
        <p:spPr>
          <a:xfrm>
            <a:off x="4213669" y="3816150"/>
            <a:ext cx="465201" cy="1359353"/>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39349" y="3541830"/>
            <a:ext cx="1013841" cy="237744"/>
          </a:xfrm>
          <a:prstGeom prst="rect">
            <a:avLst/>
          </a:prstGeom>
          <a:noFill/>
        </p:spPr>
        <p:txBody>
          <a:bodyPr wrap="square" lIns="0" rIns="0" tIns="0" bIns="0" anchor="b">
            <a:spAutoFit/>
          </a:bodyPr>
          <a:lstStyle/>
          <a:p>
            <a:pPr algn="ctr"/>
            <a:r>
              <a:rPr sz="1100" b="1" i="0">
                <a:solidFill>
                  <a:srgbClr val="1A1A1A"/>
                </a:solidFill>
                <a:latin typeface="Abadi"/>
              </a:rPr>
              <a:t>50</a:t>
            </a:r>
          </a:p>
        </p:txBody>
      </p:sp>
      <p:sp>
        <p:nvSpPr>
          <p:cNvPr id="28" name="TextBox 27"/>
          <p:cNvSpPr txBox="1"/>
          <p:nvPr/>
        </p:nvSpPr>
        <p:spPr>
          <a:xfrm>
            <a:off x="4041648" y="5230368"/>
            <a:ext cx="809244" cy="512064"/>
          </a:xfrm>
          <a:prstGeom prst="rect">
            <a:avLst/>
          </a:prstGeom>
          <a:noFill/>
        </p:spPr>
        <p:txBody>
          <a:bodyPr wrap="square" lIns="0" rIns="0" tIns="0" bIns="0" anchor="t">
            <a:spAutoFit/>
          </a:bodyPr>
          <a:lstStyle/>
          <a:p>
            <a:pPr algn="ctr"/>
            <a:r>
              <a:rPr sz="950" b="0" i="0">
                <a:solidFill>
                  <a:srgbClr val="555555"/>
                </a:solidFill>
                <a:latin typeface="Abadi"/>
              </a:rPr>
              <a:t>E, bili ≥ 2</a:t>
            </a:r>
          </a:p>
        </p:txBody>
      </p:sp>
      <p:sp>
        <p:nvSpPr>
          <p:cNvPr id="29" name="Rectangle 28"/>
          <p:cNvSpPr/>
          <p:nvPr/>
        </p:nvSpPr>
        <p:spPr>
          <a:xfrm>
            <a:off x="5059489" y="5148072"/>
            <a:ext cx="465201" cy="2743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85169" y="4873752"/>
            <a:ext cx="1013841" cy="237744"/>
          </a:xfrm>
          <a:prstGeom prst="rect">
            <a:avLst/>
          </a:prstGeom>
          <a:noFill/>
        </p:spPr>
        <p:txBody>
          <a:bodyPr wrap="square" lIns="0" rIns="0" tIns="0" bIns="0" anchor="b">
            <a:spAutoFit/>
          </a:bodyPr>
          <a:lstStyle/>
          <a:p>
            <a:pPr algn="ctr"/>
            <a:r>
              <a:rPr sz="1100" b="1" i="0">
                <a:solidFill>
                  <a:srgbClr val="1A1A1A"/>
                </a:solidFill>
                <a:latin typeface="Abadi"/>
              </a:rPr>
              <a:t>0</a:t>
            </a:r>
          </a:p>
        </p:txBody>
      </p:sp>
      <p:sp>
        <p:nvSpPr>
          <p:cNvPr id="31" name="TextBox 30"/>
          <p:cNvSpPr txBox="1"/>
          <p:nvPr/>
        </p:nvSpPr>
        <p:spPr>
          <a:xfrm>
            <a:off x="4887468" y="5230368"/>
            <a:ext cx="809244" cy="512064"/>
          </a:xfrm>
          <a:prstGeom prst="rect">
            <a:avLst/>
          </a:prstGeom>
          <a:noFill/>
        </p:spPr>
        <p:txBody>
          <a:bodyPr wrap="square" lIns="0" rIns="0" tIns="0" bIns="0" anchor="t">
            <a:spAutoFit/>
          </a:bodyPr>
          <a:lstStyle/>
          <a:p>
            <a:pPr algn="ctr"/>
            <a:r>
              <a:rPr sz="950" b="0" i="0">
                <a:solidFill>
                  <a:srgbClr val="555555"/>
                </a:solidFill>
                <a:latin typeface="Abadi"/>
              </a:rPr>
              <a:t>E, bili &lt; 2</a:t>
            </a:r>
          </a:p>
        </p:txBody>
      </p:sp>
      <p:sp>
        <p:nvSpPr>
          <p:cNvPr id="32" name="Rectangle 31"/>
          <p:cNvSpPr/>
          <p:nvPr/>
        </p:nvSpPr>
        <p:spPr>
          <a:xfrm>
            <a:off x="5905309" y="3924898"/>
            <a:ext cx="465201" cy="1250605"/>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30989" y="3650578"/>
            <a:ext cx="1013841" cy="237744"/>
          </a:xfrm>
          <a:prstGeom prst="rect">
            <a:avLst/>
          </a:prstGeom>
          <a:noFill/>
        </p:spPr>
        <p:txBody>
          <a:bodyPr wrap="square" lIns="0" rIns="0" tIns="0" bIns="0" anchor="b">
            <a:spAutoFit/>
          </a:bodyPr>
          <a:lstStyle/>
          <a:p>
            <a:pPr algn="ctr"/>
            <a:r>
              <a:rPr sz="1100" b="1" i="0">
                <a:solidFill>
                  <a:srgbClr val="1A1A1A"/>
                </a:solidFill>
                <a:latin typeface="Abadi"/>
              </a:rPr>
              <a:t>46</a:t>
            </a:r>
          </a:p>
        </p:txBody>
      </p:sp>
      <p:sp>
        <p:nvSpPr>
          <p:cNvPr id="34" name="TextBox 33"/>
          <p:cNvSpPr txBox="1"/>
          <p:nvPr/>
        </p:nvSpPr>
        <p:spPr>
          <a:xfrm>
            <a:off x="5733288" y="5230368"/>
            <a:ext cx="809244" cy="512064"/>
          </a:xfrm>
          <a:prstGeom prst="rect">
            <a:avLst/>
          </a:prstGeom>
          <a:noFill/>
        </p:spPr>
        <p:txBody>
          <a:bodyPr wrap="square" lIns="0" rIns="0" tIns="0" bIns="0" anchor="t">
            <a:spAutoFit/>
          </a:bodyPr>
          <a:lstStyle/>
          <a:p>
            <a:pPr algn="ctr"/>
            <a:r>
              <a:rPr sz="950" b="0" i="0">
                <a:solidFill>
                  <a:srgbClr val="555555"/>
                </a:solidFill>
                <a:latin typeface="Abadi"/>
              </a:rPr>
              <a:t>K, bili ≥ 2</a:t>
            </a:r>
          </a:p>
        </p:txBody>
      </p:sp>
      <p:sp>
        <p:nvSpPr>
          <p:cNvPr id="35" name="Rectangle 34"/>
          <p:cNvSpPr/>
          <p:nvPr/>
        </p:nvSpPr>
        <p:spPr>
          <a:xfrm>
            <a:off x="6751129" y="5012381"/>
            <a:ext cx="465201" cy="16312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76809" y="4738061"/>
            <a:ext cx="1013841" cy="237744"/>
          </a:xfrm>
          <a:prstGeom prst="rect">
            <a:avLst/>
          </a:prstGeom>
          <a:noFill/>
        </p:spPr>
        <p:txBody>
          <a:bodyPr wrap="square" lIns="0" rIns="0" tIns="0" bIns="0" anchor="b">
            <a:spAutoFit/>
          </a:bodyPr>
          <a:lstStyle/>
          <a:p>
            <a:pPr algn="ctr"/>
            <a:r>
              <a:rPr sz="1100" b="1" i="0">
                <a:solidFill>
                  <a:srgbClr val="1A1A1A"/>
                </a:solidFill>
                <a:latin typeface="Abadi"/>
              </a:rPr>
              <a:t>6</a:t>
            </a:r>
          </a:p>
        </p:txBody>
      </p:sp>
      <p:sp>
        <p:nvSpPr>
          <p:cNvPr id="37" name="TextBox 36"/>
          <p:cNvSpPr txBox="1"/>
          <p:nvPr/>
        </p:nvSpPr>
        <p:spPr>
          <a:xfrm>
            <a:off x="6579108" y="5230368"/>
            <a:ext cx="809244" cy="512064"/>
          </a:xfrm>
          <a:prstGeom prst="rect">
            <a:avLst/>
          </a:prstGeom>
          <a:noFill/>
        </p:spPr>
        <p:txBody>
          <a:bodyPr wrap="square" lIns="0" rIns="0" tIns="0" bIns="0" anchor="t">
            <a:spAutoFit/>
          </a:bodyPr>
          <a:lstStyle/>
          <a:p>
            <a:pPr algn="ctr"/>
            <a:r>
              <a:rPr sz="950" b="0" i="0">
                <a:solidFill>
                  <a:srgbClr val="555555"/>
                </a:solidFill>
                <a:latin typeface="Abadi"/>
              </a:rPr>
              <a:t>K, bili &lt; 2</a:t>
            </a:r>
          </a:p>
        </p:txBody>
      </p:sp>
      <p:sp>
        <p:nvSpPr>
          <p:cNvPr id="38" name="TextBox 37"/>
          <p:cNvSpPr txBox="1"/>
          <p:nvPr/>
        </p:nvSpPr>
        <p:spPr>
          <a:xfrm>
            <a:off x="7635240" y="1773936"/>
            <a:ext cx="3995928" cy="4023360"/>
          </a:xfrm>
          <a:prstGeom prst="rect">
            <a:avLst/>
          </a:prstGeom>
          <a:noFill/>
        </p:spPr>
        <p:txBody>
          <a:bodyPr wrap="square" lIns="0" rIns="0" tIns="0" bIns="0" anchor="t">
            <a:spAutoFit/>
          </a:bodyPr>
          <a:lstStyle/>
          <a:p>
            <a:pPr algn="l"/>
            <a:r>
              <a:rPr sz="1700" b="1" i="0">
                <a:solidFill>
                  <a:srgbClr val="1B355E"/>
                </a:solidFill>
                <a:latin typeface="Abadi"/>
              </a:rPr>
              <a:t>0 of 23</a:t>
            </a:r>
          </a:p>
          <a:p>
            <a:pPr algn="l">
              <a:spcBef>
                <a:spcPts val="200"/>
              </a:spcBef>
            </a:pPr>
            <a:r>
              <a:rPr sz="1100" b="0" i="0">
                <a:solidFill>
                  <a:srgbClr val="1A1A1A"/>
                </a:solidFill>
                <a:latin typeface="Abadi"/>
              </a:rPr>
              <a:t>Infants with bilirubin ≥ 2 mg/dL sufficient in all four vitamins at 6 months.</a:t>
            </a:r>
          </a:p>
          <a:p>
            <a:pPr algn="l">
              <a:spcBef>
                <a:spcPts val="900"/>
              </a:spcBef>
            </a:pPr>
            <a:r>
              <a:rPr sz="1700" b="1" i="0">
                <a:solidFill>
                  <a:srgbClr val="1B355E"/>
                </a:solidFill>
                <a:latin typeface="Abadi"/>
              </a:rPr>
              <a:t>58% → 57%</a:t>
            </a:r>
          </a:p>
          <a:p>
            <a:pPr algn="l">
              <a:spcBef>
                <a:spcPts val="200"/>
              </a:spcBef>
            </a:pPr>
            <a:r>
              <a:rPr sz="1100" b="0" i="0">
                <a:solidFill>
                  <a:srgbClr val="1A1A1A"/>
                </a:solidFill>
                <a:latin typeface="Abadi"/>
              </a:rPr>
              <a:t>At least one insufficiency at 1 and 6 months across the whole cohort.</a:t>
            </a:r>
          </a:p>
          <a:p>
            <a:pPr algn="l">
              <a:spcBef>
                <a:spcPts val="900"/>
              </a:spcBef>
            </a:pPr>
            <a:r>
              <a:rPr sz="1700" b="1" i="0">
                <a:solidFill>
                  <a:srgbClr val="1B355E"/>
                </a:solidFill>
                <a:latin typeface="Abadi"/>
              </a:rPr>
              <a:t>Thresholds</a:t>
            </a:r>
          </a:p>
          <a:p>
            <a:pPr algn="l">
              <a:spcBef>
                <a:spcPts val="200"/>
              </a:spcBef>
            </a:pPr>
            <a:r>
              <a:rPr sz="1100" b="0" i="0">
                <a:solidFill>
                  <a:srgbClr val="1A1A1A"/>
                </a:solidFill>
                <a:latin typeface="Abadi"/>
              </a:rPr>
              <a:t>A: retinol:RBP molar ratio &lt; 0.8. D: 25-OH D &lt; 15 ng/mL. E: tocopherol:total lipid &lt; 0.6 mg/g. K: INR &gt; 1.2.</a:t>
            </a:r>
          </a:p>
          <a:p>
            <a:pPr algn="l">
              <a:spcBef>
                <a:spcPts val="900"/>
              </a:spcBef>
            </a:pPr>
            <a:r>
              <a:rPr sz="1700" b="1" i="0">
                <a:solidFill>
                  <a:srgbClr val="1B355E"/>
                </a:solidFill>
                <a:latin typeface="Abadi"/>
              </a:rPr>
              <a:t>Lesson</a:t>
            </a:r>
          </a:p>
          <a:p>
            <a:pPr algn="l">
              <a:spcBef>
                <a:spcPts val="200"/>
              </a:spcBef>
            </a:pPr>
            <a:r>
              <a:rPr sz="1100" b="0" i="0">
                <a:solidFill>
                  <a:srgbClr val="1A1A1A"/>
                </a:solidFill>
                <a:latin typeface="Abadi"/>
              </a:rPr>
              <a:t>A combined TPGS product is a start, not a plan; dose each vitamin separately once bilirubin stays above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DOSE AND MEASURE</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FOUR VITAMINS, FOUR MARKERS</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Starting doses and monitoring from the joint NASPGHAN/ESPGHAN nutrition paper; escalation as used in ChiLDREN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Mouzaki M, et al. JPGN 2019;69:498–511 · Shneider BL, et al. Pediatrics 2012;130:e607–14</a:t>
            </a:r>
          </a:p>
        </p:txBody>
      </p:sp>
      <p:graphicFrame>
        <p:nvGraphicFramePr>
          <p:cNvPr id="12" name="Table 11"/>
          <p:cNvGraphicFramePr>
            <a:graphicFrameLocks noGrp="1"/>
          </p:cNvGraphicFramePr>
          <p:nvPr/>
        </p:nvGraphicFramePr>
        <p:xfrm>
          <a:off x="548640" y="1773936"/>
          <a:ext cx="11082528" cy="3017520"/>
        </p:xfrm>
        <a:graphic>
          <a:graphicData uri="http://schemas.openxmlformats.org/drawingml/2006/table">
            <a:tbl>
              <a:tblPr firstRow="0" bandRow="0">
                <a:tableStyleId>{5C22544A-7EE6-4342-B048-85BDC9FD1C3A}</a:tableStyleId>
              </a:tblPr>
              <a:tblGrid>
                <a:gridCol w="914400"/>
                <a:gridCol w="2926080"/>
                <a:gridCol w="2377440"/>
                <a:gridCol w="2743200"/>
                <a:gridCol w="2121408"/>
              </a:tblGrid>
              <a:tr h="603504">
                <a:tc>
                  <a:txBody>
                    <a:bodyPr wrap="square"/>
                    <a:lstStyle/>
                    <a:p>
                      <a:r>
                        <a:rPr sz="1050" b="1">
                          <a:solidFill>
                            <a:srgbClr val="FFFFFF"/>
                          </a:solidFill>
                          <a:latin typeface="Abadi"/>
                        </a:rPr>
                        <a:t>Vitamin</a:t>
                      </a:r>
                    </a:p>
                  </a:txBody>
                  <a:tcPr marL="73152" marR="73152" marT="27432" marB="27432" anchor="ctr">
                    <a:solidFill>
                      <a:srgbClr val="1B355E"/>
                    </a:solidFill>
                  </a:tcPr>
                </a:tc>
                <a:tc>
                  <a:txBody>
                    <a:bodyPr wrap="square"/>
                    <a:lstStyle/>
                    <a:p>
                      <a:r>
                        <a:rPr sz="1050" b="1">
                          <a:solidFill>
                            <a:srgbClr val="FFFFFF"/>
                          </a:solidFill>
                          <a:latin typeface="Abadi"/>
                        </a:rPr>
                        <a:t>Marker of deficiency</a:t>
                      </a:r>
                    </a:p>
                  </a:txBody>
                  <a:tcPr marL="73152" marR="73152" marT="27432" marB="27432" anchor="ctr">
                    <a:solidFill>
                      <a:srgbClr val="1B355E"/>
                    </a:solidFill>
                  </a:tcPr>
                </a:tc>
                <a:tc>
                  <a:txBody>
                    <a:bodyPr wrap="square"/>
                    <a:lstStyle/>
                    <a:p>
                      <a:r>
                        <a:rPr sz="1050" b="1">
                          <a:solidFill>
                            <a:srgbClr val="FFFFFF"/>
                          </a:solidFill>
                          <a:latin typeface="Abadi"/>
                        </a:rPr>
                        <a:t>Starting dose</a:t>
                      </a:r>
                    </a:p>
                  </a:txBody>
                  <a:tcPr marL="73152" marR="73152" marT="27432" marB="27432" anchor="ctr">
                    <a:solidFill>
                      <a:srgbClr val="1B355E"/>
                    </a:solidFill>
                  </a:tcPr>
                </a:tc>
                <a:tc>
                  <a:txBody>
                    <a:bodyPr wrap="square"/>
                    <a:lstStyle/>
                    <a:p>
                      <a:r>
                        <a:rPr sz="1050" b="1">
                          <a:solidFill>
                            <a:srgbClr val="FFFFFF"/>
                          </a:solidFill>
                          <a:latin typeface="Abadi"/>
                        </a:rPr>
                        <a:t>Escalation used in ChiLDREN</a:t>
                      </a:r>
                    </a:p>
                  </a:txBody>
                  <a:tcPr marL="73152" marR="73152" marT="27432" marB="27432" anchor="ctr">
                    <a:solidFill>
                      <a:srgbClr val="1B355E"/>
                    </a:solidFill>
                  </a:tcPr>
                </a:tc>
                <a:tc>
                  <a:txBody>
                    <a:bodyPr wrap="square"/>
                    <a:lstStyle/>
                    <a:p>
                      <a:r>
                        <a:rPr sz="1050" b="1">
                          <a:solidFill>
                            <a:srgbClr val="FFFFFF"/>
                          </a:solidFill>
                          <a:latin typeface="Abadi"/>
                        </a:rPr>
                        <a:t>Caution</a:t>
                      </a:r>
                    </a:p>
                  </a:txBody>
                  <a:tcPr marL="73152" marR="73152" marT="27432" marB="27432" anchor="ctr">
                    <a:solidFill>
                      <a:srgbClr val="1B355E"/>
                    </a:solidFill>
                  </a:tcPr>
                </a:tc>
              </a:tr>
              <a:tr h="603504">
                <a:tc>
                  <a:txBody>
                    <a:bodyPr wrap="square"/>
                    <a:lstStyle/>
                    <a:p>
                      <a:r>
                        <a:rPr sz="1050" b="1">
                          <a:solidFill>
                            <a:srgbClr val="1A1A1A"/>
                          </a:solidFill>
                          <a:latin typeface="Abadi"/>
                        </a:rPr>
                        <a:t>A</a:t>
                      </a:r>
                    </a:p>
                  </a:txBody>
                  <a:tcPr marL="73152" marR="73152" marT="27432" marB="27432" anchor="ctr">
                    <a:solidFill>
                      <a:srgbClr val="FFFFFF"/>
                    </a:solidFill>
                  </a:tcPr>
                </a:tc>
                <a:tc>
                  <a:txBody>
                    <a:bodyPr wrap="square"/>
                    <a:lstStyle/>
                    <a:p>
                      <a:r>
                        <a:rPr sz="1050" b="0">
                          <a:solidFill>
                            <a:srgbClr val="1A1A1A"/>
                          </a:solidFill>
                          <a:latin typeface="Abadi"/>
                        </a:rPr>
                        <a:t>Retinol &lt; 20 µg/dL → relative dose response; retinol:RBP &lt; 0.8</a:t>
                      </a:r>
                    </a:p>
                  </a:txBody>
                  <a:tcPr marL="73152" marR="73152" marT="27432" marB="27432" anchor="ctr">
                    <a:solidFill>
                      <a:srgbClr val="FFFFFF"/>
                    </a:solidFill>
                  </a:tcPr>
                </a:tc>
                <a:tc>
                  <a:txBody>
                    <a:bodyPr wrap="square"/>
                    <a:lstStyle/>
                    <a:p>
                      <a:r>
                        <a:rPr sz="1050" b="0">
                          <a:solidFill>
                            <a:srgbClr val="1A1A1A"/>
                          </a:solidFill>
                          <a:latin typeface="Abadi"/>
                        </a:rPr>
                        <a:t>5,000 IU/day &lt; 10 kg; 10,000 IU/day &gt; 10 kg</a:t>
                      </a:r>
                    </a:p>
                  </a:txBody>
                  <a:tcPr marL="73152" marR="73152" marT="27432" marB="27432" anchor="ctr">
                    <a:solidFill>
                      <a:srgbClr val="FFFFFF"/>
                    </a:solidFill>
                  </a:tcPr>
                </a:tc>
                <a:tc>
                  <a:txBody>
                    <a:bodyPr wrap="square"/>
                    <a:lstStyle/>
                    <a:p>
                      <a:r>
                        <a:rPr sz="1050" b="0">
                          <a:solidFill>
                            <a:srgbClr val="1A1A1A"/>
                          </a:solidFill>
                          <a:latin typeface="Abadi"/>
                        </a:rPr>
                        <a:t>Up to 25,000–50,000 IU/day or 50,000 IU IM monthly</a:t>
                      </a:r>
                    </a:p>
                  </a:txBody>
                  <a:tcPr marL="73152" marR="73152" marT="27432" marB="27432" anchor="ctr">
                    <a:solidFill>
                      <a:srgbClr val="FFFFFF"/>
                    </a:solidFill>
                  </a:tcPr>
                </a:tc>
                <a:tc>
                  <a:txBody>
                    <a:bodyPr wrap="square"/>
                    <a:lstStyle/>
                    <a:p>
                      <a:r>
                        <a:rPr sz="1050" b="0">
                          <a:solidFill>
                            <a:srgbClr val="1A1A1A"/>
                          </a:solidFill>
                          <a:latin typeface="Abadi"/>
                        </a:rPr>
                        <a:t>Excess causes hepatic fibrosis; RBP unreliable late</a:t>
                      </a:r>
                    </a:p>
                  </a:txBody>
                  <a:tcPr marL="73152" marR="73152" marT="27432" marB="27432" anchor="ctr">
                    <a:solidFill>
                      <a:srgbClr val="FFFFFF"/>
                    </a:solidFill>
                  </a:tcPr>
                </a:tc>
              </a:tr>
              <a:tr h="603504">
                <a:tc>
                  <a:txBody>
                    <a:bodyPr wrap="square"/>
                    <a:lstStyle/>
                    <a:p>
                      <a:r>
                        <a:rPr sz="1050" b="1">
                          <a:solidFill>
                            <a:srgbClr val="1A1A1A"/>
                          </a:solidFill>
                          <a:latin typeface="Abadi"/>
                        </a:rPr>
                        <a:t>D</a:t>
                      </a:r>
                    </a:p>
                  </a:txBody>
                  <a:tcPr marL="73152" marR="73152" marT="27432" marB="27432" anchor="ctr">
                    <a:solidFill>
                      <a:srgbClr val="F2F2F2"/>
                    </a:solidFill>
                  </a:tcPr>
                </a:tc>
                <a:tc>
                  <a:txBody>
                    <a:bodyPr wrap="square"/>
                    <a:lstStyle/>
                    <a:p>
                      <a:r>
                        <a:rPr sz="1050" b="0">
                          <a:solidFill>
                            <a:srgbClr val="1A1A1A"/>
                          </a:solidFill>
                          <a:latin typeface="Abadi"/>
                        </a:rPr>
                        <a:t>25-OH vitamin D</a:t>
                      </a:r>
                    </a:p>
                  </a:txBody>
                  <a:tcPr marL="73152" marR="73152" marT="27432" marB="27432" anchor="ctr">
                    <a:solidFill>
                      <a:srgbClr val="F2F2F2"/>
                    </a:solidFill>
                  </a:tcPr>
                </a:tc>
                <a:tc>
                  <a:txBody>
                    <a:bodyPr wrap="square"/>
                    <a:lstStyle/>
                    <a:p>
                      <a:r>
                        <a:rPr sz="1050" b="0">
                          <a:solidFill>
                            <a:srgbClr val="1A1A1A"/>
                          </a:solidFill>
                          <a:latin typeface="Abadi"/>
                        </a:rPr>
                        <a:t>Cholecalciferol 2,000–5,000 IU/day</a:t>
                      </a:r>
                    </a:p>
                  </a:txBody>
                  <a:tcPr marL="73152" marR="73152" marT="27432" marB="27432" anchor="ctr">
                    <a:solidFill>
                      <a:srgbClr val="F2F2F2"/>
                    </a:solidFill>
                  </a:tcPr>
                </a:tc>
                <a:tc>
                  <a:txBody>
                    <a:bodyPr wrap="square"/>
                    <a:lstStyle/>
                    <a:p>
                      <a:r>
                        <a:rPr sz="1050" b="0">
                          <a:solidFill>
                            <a:srgbClr val="1A1A1A"/>
                          </a:solidFill>
                          <a:latin typeface="Abadi"/>
                        </a:rPr>
                        <a:t>1,200–8,000 IU/day or calcitriol 0.05–0.20 µg/kg/day</a:t>
                      </a:r>
                    </a:p>
                  </a:txBody>
                  <a:tcPr marL="73152" marR="73152" marT="27432" marB="27432" anchor="ctr">
                    <a:solidFill>
                      <a:srgbClr val="F2F2F2"/>
                    </a:solidFill>
                  </a:tcPr>
                </a:tc>
                <a:tc>
                  <a:txBody>
                    <a:bodyPr wrap="square"/>
                    <a:lstStyle/>
                    <a:p>
                      <a:r>
                        <a:rPr sz="1050" b="0">
                          <a:solidFill>
                            <a:srgbClr val="1A1A1A"/>
                          </a:solidFill>
                          <a:latin typeface="Abadi"/>
                        </a:rPr>
                        <a:t>No agreed upper target</a:t>
                      </a:r>
                    </a:p>
                  </a:txBody>
                  <a:tcPr marL="73152" marR="73152" marT="27432" marB="27432" anchor="ctr">
                    <a:solidFill>
                      <a:srgbClr val="F2F2F2"/>
                    </a:solidFill>
                  </a:tcPr>
                </a:tc>
              </a:tr>
              <a:tr h="603504">
                <a:tc>
                  <a:txBody>
                    <a:bodyPr wrap="square"/>
                    <a:lstStyle/>
                    <a:p>
                      <a:r>
                        <a:rPr sz="1050" b="1">
                          <a:solidFill>
                            <a:srgbClr val="1A1A1A"/>
                          </a:solidFill>
                          <a:latin typeface="Abadi"/>
                        </a:rPr>
                        <a:t>E</a:t>
                      </a:r>
                    </a:p>
                  </a:txBody>
                  <a:tcPr marL="73152" marR="73152" marT="27432" marB="27432" anchor="ctr">
                    <a:solidFill>
                      <a:srgbClr val="FFFFFF"/>
                    </a:solidFill>
                  </a:tcPr>
                </a:tc>
                <a:tc>
                  <a:txBody>
                    <a:bodyPr wrap="square"/>
                    <a:lstStyle/>
                    <a:p>
                      <a:r>
                        <a:rPr sz="1050" b="0">
                          <a:solidFill>
                            <a:srgbClr val="1A1A1A"/>
                          </a:solidFill>
                          <a:latin typeface="Abadi"/>
                        </a:rPr>
                        <a:t>Tocopherol:total lipid &lt; 0.6 mg/g (age 1–12), &lt; 0.8 older</a:t>
                      </a:r>
                    </a:p>
                  </a:txBody>
                  <a:tcPr marL="73152" marR="73152" marT="27432" marB="27432" anchor="ctr">
                    <a:solidFill>
                      <a:srgbClr val="FFFFFF"/>
                    </a:solidFill>
                  </a:tcPr>
                </a:tc>
                <a:tc>
                  <a:txBody>
                    <a:bodyPr wrap="square"/>
                    <a:lstStyle/>
                    <a:p>
                      <a:r>
                        <a:rPr sz="1050" b="0">
                          <a:solidFill>
                            <a:srgbClr val="1A1A1A"/>
                          </a:solidFill>
                          <a:latin typeface="Abadi"/>
                        </a:rPr>
                        <a:t>TPGS 15–25 IU/kg/day</a:t>
                      </a:r>
                    </a:p>
                  </a:txBody>
                  <a:tcPr marL="73152" marR="73152" marT="27432" marB="27432" anchor="ctr">
                    <a:solidFill>
                      <a:srgbClr val="FFFFFF"/>
                    </a:solidFill>
                  </a:tcPr>
                </a:tc>
                <a:tc>
                  <a:txBody>
                    <a:bodyPr wrap="square"/>
                    <a:lstStyle/>
                    <a:p>
                      <a:r>
                        <a:rPr sz="1050" b="0">
                          <a:solidFill>
                            <a:srgbClr val="1A1A1A"/>
                          </a:solidFill>
                          <a:latin typeface="Abadi"/>
                        </a:rPr>
                        <a:t>Up to 100 IU/kg/day</a:t>
                      </a:r>
                    </a:p>
                  </a:txBody>
                  <a:tcPr marL="73152" marR="73152" marT="27432" marB="27432" anchor="ctr">
                    <a:solidFill>
                      <a:srgbClr val="FFFFFF"/>
                    </a:solidFill>
                  </a:tcPr>
                </a:tc>
                <a:tc>
                  <a:txBody>
                    <a:bodyPr wrap="square"/>
                    <a:lstStyle/>
                    <a:p>
                      <a:r>
                        <a:rPr sz="1050" b="0">
                          <a:solidFill>
                            <a:srgbClr val="1A1A1A"/>
                          </a:solidFill>
                          <a:latin typeface="Abadi"/>
                        </a:rPr>
                        <a:t>Serum level alone misleads when lipids are high</a:t>
                      </a:r>
                    </a:p>
                  </a:txBody>
                  <a:tcPr marL="73152" marR="73152" marT="27432" marB="27432" anchor="ctr">
                    <a:solidFill>
                      <a:srgbClr val="FFFFFF"/>
                    </a:solidFill>
                  </a:tcPr>
                </a:tc>
              </a:tr>
              <a:tr h="603504">
                <a:tc>
                  <a:txBody>
                    <a:bodyPr wrap="square"/>
                    <a:lstStyle/>
                    <a:p>
                      <a:r>
                        <a:rPr sz="1050" b="1">
                          <a:solidFill>
                            <a:srgbClr val="1A1A1A"/>
                          </a:solidFill>
                          <a:latin typeface="Abadi"/>
                        </a:rPr>
                        <a:t>K</a:t>
                      </a:r>
                    </a:p>
                  </a:txBody>
                  <a:tcPr marL="73152" marR="73152" marT="27432" marB="27432" anchor="ctr">
                    <a:solidFill>
                      <a:srgbClr val="F2F2F2"/>
                    </a:solidFill>
                  </a:tcPr>
                </a:tc>
                <a:tc>
                  <a:txBody>
                    <a:bodyPr wrap="square"/>
                    <a:lstStyle/>
                    <a:p>
                      <a:r>
                        <a:rPr sz="1050" b="0">
                          <a:solidFill>
                            <a:srgbClr val="1A1A1A"/>
                          </a:solidFill>
                          <a:latin typeface="Abadi"/>
                        </a:rPr>
                        <a:t>INR; PIVKA-II if available</a:t>
                      </a:r>
                    </a:p>
                  </a:txBody>
                  <a:tcPr marL="73152" marR="73152" marT="27432" marB="27432" anchor="ctr">
                    <a:solidFill>
                      <a:srgbClr val="F2F2F2"/>
                    </a:solidFill>
                  </a:tcPr>
                </a:tc>
                <a:tc>
                  <a:txBody>
                    <a:bodyPr wrap="square"/>
                    <a:lstStyle/>
                    <a:p>
                      <a:r>
                        <a:rPr sz="1050" b="0">
                          <a:solidFill>
                            <a:srgbClr val="1A1A1A"/>
                          </a:solidFill>
                          <a:latin typeface="Abadi"/>
                        </a:rPr>
                        <a:t>2–5 mg/day orally</a:t>
                      </a:r>
                    </a:p>
                  </a:txBody>
                  <a:tcPr marL="73152" marR="73152" marT="27432" marB="27432" anchor="ctr">
                    <a:solidFill>
                      <a:srgbClr val="F2F2F2"/>
                    </a:solidFill>
                  </a:tcPr>
                </a:tc>
                <a:tc>
                  <a:txBody>
                    <a:bodyPr wrap="square"/>
                    <a:lstStyle/>
                    <a:p>
                      <a:r>
                        <a:rPr sz="1050" b="0">
                          <a:solidFill>
                            <a:srgbClr val="1A1A1A"/>
                          </a:solidFill>
                          <a:latin typeface="Abadi"/>
                        </a:rPr>
                        <a:t>INR 1.2–1.5: 2.5 mg/day; &gt; 1.5: IM 2–5 mg plus oral</a:t>
                      </a:r>
                    </a:p>
                  </a:txBody>
                  <a:tcPr marL="73152" marR="73152" marT="27432" marB="27432" anchor="ctr">
                    <a:solidFill>
                      <a:srgbClr val="F2F2F2"/>
                    </a:solidFill>
                  </a:tcPr>
                </a:tc>
                <a:tc>
                  <a:txBody>
                    <a:bodyPr wrap="square"/>
                    <a:lstStyle/>
                    <a:p>
                      <a:r>
                        <a:rPr sz="1050" b="0">
                          <a:solidFill>
                            <a:srgbClr val="1A1A1A"/>
                          </a:solidFill>
                          <a:latin typeface="Abadi"/>
                        </a:rPr>
                        <a:t>Normal INR ≠ normal bone K status; IV risks anaphylaxis</a:t>
                      </a:r>
                    </a:p>
                  </a:txBody>
                  <a:tcPr marL="73152" marR="73152" marT="27432" marB="27432" anchor="ctr">
                    <a:solidFill>
                      <a:srgbClr val="F2F2F2"/>
                    </a:solidFill>
                  </a:tcPr>
                </a:tc>
              </a:tr>
            </a:tbl>
          </a:graphicData>
        </a:graphic>
      </p:graphicFrame>
      <p:sp>
        <p:nvSpPr>
          <p:cNvPr id="13" name="TextBox 12"/>
          <p:cNvSpPr txBox="1"/>
          <p:nvPr/>
        </p:nvSpPr>
        <p:spPr>
          <a:xfrm>
            <a:off x="548640" y="4919472"/>
            <a:ext cx="11082528" cy="822960"/>
          </a:xfrm>
          <a:prstGeom prst="rect">
            <a:avLst/>
          </a:prstGeom>
          <a:noFill/>
        </p:spPr>
        <p:txBody>
          <a:bodyPr wrap="square" lIns="0" rIns="0" tIns="0" bIns="0" anchor="t">
            <a:spAutoFit/>
          </a:bodyPr>
          <a:lstStyle/>
          <a:p>
            <a:pPr algn="l"/>
            <a:r>
              <a:rPr sz="1200" b="1" i="0">
                <a:solidFill>
                  <a:srgbClr val="1B355E"/>
                </a:solidFill>
                <a:latin typeface="Abadi"/>
              </a:rPr>
              <a:t>Rhythm.  </a:t>
            </a:r>
            <a:r>
              <a:rPr sz="1200" b="0" i="0">
                <a:solidFill>
                  <a:srgbClr val="1A1A1A"/>
                </a:solidFill>
                <a:latin typeface="Abadi"/>
              </a:rPr>
              <a:t>Levels every 3–6 months, monthly in the severely cholestatic infant; essential fatty acids every 3–6 months by red-cell profile, because the triene:tetraene ratio alone is not adequate. TPGS also improves absorption of the other three vitamins.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VITAMIN K</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THE BLEED THAT ANNOUNCES THE LIVER</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Vitamin K deficiency bleeding in infants with cholestatic liver disease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McNinch A, et al. Arch Dis Child 2007;92:759–66 · Pediatr Int 2025;67:e70075 · Mouzaki M, et al. JPGN 2019;69:498–511</a:t>
            </a:r>
          </a:p>
        </p:txBody>
      </p:sp>
      <p:sp>
        <p:nvSpPr>
          <p:cNvPr id="12" name="Rectangle 11"/>
          <p:cNvSpPr/>
          <p:nvPr/>
        </p:nvSpPr>
        <p:spPr>
          <a:xfrm>
            <a:off x="548640" y="1773936"/>
            <a:ext cx="2630728" cy="210312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0728"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02536"/>
            <a:ext cx="2301544" cy="502920"/>
          </a:xfrm>
          <a:prstGeom prst="rect">
            <a:avLst/>
          </a:prstGeom>
          <a:noFill/>
        </p:spPr>
        <p:txBody>
          <a:bodyPr wrap="square" lIns="0" rIns="0" tIns="0" bIns="0" anchor="t">
            <a:spAutoFit/>
          </a:bodyPr>
          <a:lstStyle/>
          <a:p>
            <a:pPr algn="l"/>
            <a:r>
              <a:rPr sz="2200" b="1" i="0">
                <a:solidFill>
                  <a:srgbClr val="B22222"/>
                </a:solidFill>
                <a:latin typeface="Abadi"/>
              </a:rPr>
              <a:t>19</a:t>
            </a:r>
          </a:p>
        </p:txBody>
      </p:sp>
      <p:sp>
        <p:nvSpPr>
          <p:cNvPr id="15" name="TextBox 14"/>
          <p:cNvSpPr txBox="1"/>
          <p:nvPr/>
        </p:nvSpPr>
        <p:spPr>
          <a:xfrm>
            <a:off x="713232" y="2596896"/>
            <a:ext cx="2301544" cy="1188719"/>
          </a:xfrm>
          <a:prstGeom prst="rect">
            <a:avLst/>
          </a:prstGeom>
          <a:noFill/>
        </p:spPr>
        <p:txBody>
          <a:bodyPr wrap="square" lIns="0" rIns="0" tIns="0" bIns="0" anchor="t">
            <a:spAutoFit/>
          </a:bodyPr>
          <a:lstStyle/>
          <a:p>
            <a:pPr algn="l"/>
            <a:r>
              <a:rPr sz="1150" b="0" i="0">
                <a:solidFill>
                  <a:srgbClr val="1A1A1A"/>
                </a:solidFill>
                <a:latin typeface="Abadi"/>
              </a:rPr>
              <a:t>UK surveillance cases of late vitamin K deficiency bleeding with underlying liver disease across three BPSU surveys (6, 12 and 1 case).</a:t>
            </a:r>
          </a:p>
        </p:txBody>
      </p:sp>
      <p:sp>
        <p:nvSpPr>
          <p:cNvPr id="16" name="Rectangle 15"/>
          <p:cNvSpPr/>
          <p:nvPr/>
        </p:nvSpPr>
        <p:spPr>
          <a:xfrm>
            <a:off x="3365906" y="1773936"/>
            <a:ext cx="2630728" cy="210312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5906" y="1773936"/>
            <a:ext cx="2630728"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0498" y="2002536"/>
            <a:ext cx="2301544" cy="502920"/>
          </a:xfrm>
          <a:prstGeom prst="rect">
            <a:avLst/>
          </a:prstGeom>
          <a:noFill/>
        </p:spPr>
        <p:txBody>
          <a:bodyPr wrap="square" lIns="0" rIns="0" tIns="0" bIns="0" anchor="t">
            <a:spAutoFit/>
          </a:bodyPr>
          <a:lstStyle/>
          <a:p>
            <a:pPr algn="l"/>
            <a:r>
              <a:rPr sz="2200" b="1" i="0">
                <a:solidFill>
                  <a:srgbClr val="D97A0B"/>
                </a:solidFill>
                <a:latin typeface="Abadi"/>
              </a:rPr>
              <a:t>Breast-fed</a:t>
            </a:r>
          </a:p>
        </p:txBody>
      </p:sp>
      <p:sp>
        <p:nvSpPr>
          <p:cNvPr id="19" name="TextBox 18"/>
          <p:cNvSpPr txBox="1"/>
          <p:nvPr/>
        </p:nvSpPr>
        <p:spPr>
          <a:xfrm>
            <a:off x="3530498" y="2596896"/>
            <a:ext cx="2301544" cy="1188719"/>
          </a:xfrm>
          <a:prstGeom prst="rect">
            <a:avLst/>
          </a:prstGeom>
          <a:noFill/>
        </p:spPr>
        <p:txBody>
          <a:bodyPr wrap="square" lIns="0" rIns="0" tIns="0" bIns="0" anchor="t">
            <a:spAutoFit/>
          </a:bodyPr>
          <a:lstStyle/>
          <a:p>
            <a:pPr algn="l"/>
            <a:r>
              <a:rPr sz="1150" b="0" i="0">
                <a:solidFill>
                  <a:srgbClr val="1A1A1A"/>
                </a:solidFill>
                <a:latin typeface="Abadi"/>
              </a:rPr>
              <a:t>Most UK cases were breast-fed infants given no prophylaxis or a single oral dose.</a:t>
            </a:r>
          </a:p>
        </p:txBody>
      </p:sp>
      <p:sp>
        <p:nvSpPr>
          <p:cNvPr id="20" name="Rectangle 19"/>
          <p:cNvSpPr/>
          <p:nvPr/>
        </p:nvSpPr>
        <p:spPr>
          <a:xfrm>
            <a:off x="6183172" y="1773936"/>
            <a:ext cx="2630728" cy="210312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3172" y="1773936"/>
            <a:ext cx="2630728"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7764" y="2002536"/>
            <a:ext cx="2301544" cy="502920"/>
          </a:xfrm>
          <a:prstGeom prst="rect">
            <a:avLst/>
          </a:prstGeom>
          <a:noFill/>
        </p:spPr>
        <p:txBody>
          <a:bodyPr wrap="square" lIns="0" rIns="0" tIns="0" bIns="0" anchor="t">
            <a:spAutoFit/>
          </a:bodyPr>
          <a:lstStyle/>
          <a:p>
            <a:pPr algn="l"/>
            <a:r>
              <a:rPr sz="2200" b="1" i="0">
                <a:solidFill>
                  <a:srgbClr val="1E7A33"/>
                </a:solidFill>
                <a:latin typeface="Abadi"/>
              </a:rPr>
              <a:t>0 of 289</a:t>
            </a:r>
          </a:p>
        </p:txBody>
      </p:sp>
      <p:sp>
        <p:nvSpPr>
          <p:cNvPr id="23" name="TextBox 22"/>
          <p:cNvSpPr txBox="1"/>
          <p:nvPr/>
        </p:nvSpPr>
        <p:spPr>
          <a:xfrm>
            <a:off x="6347764" y="2596896"/>
            <a:ext cx="2301544" cy="1188719"/>
          </a:xfrm>
          <a:prstGeom prst="rect">
            <a:avLst/>
          </a:prstGeom>
          <a:noFill/>
        </p:spPr>
        <p:txBody>
          <a:bodyPr wrap="square" lIns="0" rIns="0" tIns="0" bIns="0" anchor="t">
            <a:spAutoFit/>
          </a:bodyPr>
          <a:lstStyle/>
          <a:p>
            <a:pPr algn="l"/>
            <a:r>
              <a:rPr sz="1150" b="0" i="0">
                <a:solidFill>
                  <a:srgbClr val="1A1A1A"/>
                </a:solidFill>
                <a:latin typeface="Abadi"/>
              </a:rPr>
              <a:t>Japanese infants with biliary atresia (2015–19) on a 3-month oral prophylaxis regimen who had VKDB; the three-dose regimen fared worse.</a:t>
            </a:r>
          </a:p>
        </p:txBody>
      </p:sp>
      <p:sp>
        <p:nvSpPr>
          <p:cNvPr id="24" name="Rectangle 23"/>
          <p:cNvSpPr/>
          <p:nvPr/>
        </p:nvSpPr>
        <p:spPr>
          <a:xfrm>
            <a:off x="9000439" y="1773936"/>
            <a:ext cx="2630728" cy="21031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0439" y="1773936"/>
            <a:ext cx="2630728"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5031" y="2002536"/>
            <a:ext cx="2301544" cy="502920"/>
          </a:xfrm>
          <a:prstGeom prst="rect">
            <a:avLst/>
          </a:prstGeom>
          <a:noFill/>
        </p:spPr>
        <p:txBody>
          <a:bodyPr wrap="square" lIns="0" rIns="0" tIns="0" bIns="0" anchor="t">
            <a:spAutoFit/>
          </a:bodyPr>
          <a:lstStyle/>
          <a:p>
            <a:pPr algn="l"/>
            <a:r>
              <a:rPr sz="2200" b="1" i="0">
                <a:solidFill>
                  <a:srgbClr val="1B355E"/>
                </a:solidFill>
                <a:latin typeface="Abadi"/>
              </a:rPr>
              <a:t>INR ≠ stores</a:t>
            </a:r>
          </a:p>
        </p:txBody>
      </p:sp>
      <p:sp>
        <p:nvSpPr>
          <p:cNvPr id="27" name="TextBox 26"/>
          <p:cNvSpPr txBox="1"/>
          <p:nvPr/>
        </p:nvSpPr>
        <p:spPr>
          <a:xfrm>
            <a:off x="9165031" y="2596896"/>
            <a:ext cx="2301544" cy="1188719"/>
          </a:xfrm>
          <a:prstGeom prst="rect">
            <a:avLst/>
          </a:prstGeom>
          <a:noFill/>
        </p:spPr>
        <p:txBody>
          <a:bodyPr wrap="square" lIns="0" rIns="0" tIns="0" bIns="0" anchor="t">
            <a:spAutoFit/>
          </a:bodyPr>
          <a:lstStyle/>
          <a:p>
            <a:pPr algn="l"/>
            <a:r>
              <a:rPr sz="1150" b="0" i="0">
                <a:solidFill>
                  <a:srgbClr val="1A1A1A"/>
                </a:solidFill>
                <a:latin typeface="Abadi"/>
              </a:rPr>
              <a:t>A normal INR does not prove adequate vitamin K for bone; PIVKA-II detects earlier deficiency.</a:t>
            </a:r>
          </a:p>
        </p:txBody>
      </p:sp>
      <p:sp>
        <p:nvSpPr>
          <p:cNvPr id="28" name="TextBox 27"/>
          <p:cNvSpPr txBox="1"/>
          <p:nvPr/>
        </p:nvSpPr>
        <p:spPr>
          <a:xfrm>
            <a:off x="548640" y="4114800"/>
            <a:ext cx="11082528" cy="1691640"/>
          </a:xfrm>
          <a:prstGeom prst="rect">
            <a:avLst/>
          </a:prstGeom>
          <a:noFill/>
        </p:spPr>
        <p:txBody>
          <a:bodyPr wrap="square" lIns="0" rIns="0" tIns="0" bIns="0" anchor="t">
            <a:spAutoFit/>
          </a:bodyPr>
          <a:lstStyle/>
          <a:p>
            <a:pPr algn="l"/>
            <a:r>
              <a:rPr sz="1250" b="1" i="0">
                <a:solidFill>
                  <a:srgbClr val="1B355E"/>
                </a:solidFill>
                <a:latin typeface="Abadi"/>
              </a:rPr>
              <a:t>At presentation.  </a:t>
            </a:r>
            <a:r>
              <a:rPr sz="1250" b="0" i="0">
                <a:solidFill>
                  <a:srgbClr val="1A1A1A"/>
                </a:solidFill>
                <a:latin typeface="Abadi"/>
              </a:rPr>
              <a:t>Check INR on day one in every jaundiced infant and give parenteral vitamin K if it is prolonged; correction within hours points to deficiency rather than synthetic failure.</a:t>
            </a:r>
          </a:p>
          <a:p>
            <a:pPr algn="l">
              <a:spcBef>
                <a:spcPts val="600"/>
              </a:spcBef>
            </a:pPr>
            <a:r>
              <a:rPr sz="1250" b="1" i="0">
                <a:solidFill>
                  <a:srgbClr val="B22222"/>
                </a:solidFill>
                <a:latin typeface="Abadi"/>
              </a:rPr>
              <a:t>After diagnosis.  </a:t>
            </a:r>
            <a:r>
              <a:rPr sz="1250" b="0" i="0">
                <a:solidFill>
                  <a:srgbClr val="1A1A1A"/>
                </a:solidFill>
                <a:latin typeface="Abadi"/>
              </a:rPr>
              <a:t>Oral prophylaxis cannot rely on bile; give daily oral vitamin K at the joint-paper dose and re-check INR at every visit, more often when bilirubin is rising.</a:t>
            </a:r>
          </a:p>
          <a:p>
            <a:pPr algn="l">
              <a:spcBef>
                <a:spcPts val="600"/>
              </a:spcBef>
            </a:pPr>
            <a:r>
              <a:rPr sz="1250" b="1" i="0">
                <a:solidFill>
                  <a:srgbClr val="D97A0B"/>
                </a:solidFill>
                <a:latin typeface="Abadi"/>
              </a:rPr>
              <a:t>The trap.  </a:t>
            </a:r>
            <a:r>
              <a:rPr sz="1250" b="0" i="0">
                <a:solidFill>
                  <a:srgbClr val="1A1A1A"/>
                </a:solidFill>
                <a:latin typeface="Abadi"/>
              </a:rPr>
              <a:t>Intracranial haemorrhage can be the first sign of biliary atresia or alpha-1 antitrypsin deficiency in a breast-fed infant whose single oral dose at birth was taken as protection.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NUTRITION</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FEED FOR THE LIVER YOU HAVE</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Targets in infant cholestasis from the joint NASPGHAN/ESPGHAN position paper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Mouzaki M, et al. JPGN 2019;69:498–511</a:t>
            </a:r>
          </a:p>
        </p:txBody>
      </p:sp>
      <p:graphicFrame>
        <p:nvGraphicFramePr>
          <p:cNvPr id="12" name="Table 11"/>
          <p:cNvGraphicFramePr>
            <a:graphicFrameLocks noGrp="1"/>
          </p:cNvGraphicFramePr>
          <p:nvPr/>
        </p:nvGraphicFramePr>
        <p:xfrm>
          <a:off x="548640" y="1773936"/>
          <a:ext cx="11082528" cy="3200400"/>
        </p:xfrm>
        <a:graphic>
          <a:graphicData uri="http://schemas.openxmlformats.org/drawingml/2006/table">
            <a:tbl>
              <a:tblPr firstRow="0" bandRow="0">
                <a:tableStyleId>{5C22544A-7EE6-4342-B048-85BDC9FD1C3A}</a:tableStyleId>
              </a:tblPr>
              <a:tblGrid>
                <a:gridCol w="2194560"/>
                <a:gridCol w="4206240"/>
                <a:gridCol w="4681728"/>
              </a:tblGrid>
              <a:tr h="457200">
                <a:tc>
                  <a:txBody>
                    <a:bodyPr wrap="square"/>
                    <a:lstStyle/>
                    <a:p>
                      <a:r>
                        <a:rPr sz="1050" b="1">
                          <a:solidFill>
                            <a:srgbClr val="FFFFFF"/>
                          </a:solidFill>
                          <a:latin typeface="Abadi"/>
                        </a:rPr>
                        <a:t>Domain</a:t>
                      </a:r>
                    </a:p>
                  </a:txBody>
                  <a:tcPr marL="73152" marR="73152" marT="27432" marB="27432" anchor="ctr">
                    <a:solidFill>
                      <a:srgbClr val="1B355E"/>
                    </a:solidFill>
                  </a:tcPr>
                </a:tc>
                <a:tc>
                  <a:txBody>
                    <a:bodyPr wrap="square"/>
                    <a:lstStyle/>
                    <a:p>
                      <a:r>
                        <a:rPr sz="1050" b="1">
                          <a:solidFill>
                            <a:srgbClr val="FFFFFF"/>
                          </a:solidFill>
                          <a:latin typeface="Abadi"/>
                        </a:rPr>
                        <a:t>Target</a:t>
                      </a:r>
                    </a:p>
                  </a:txBody>
                  <a:tcPr marL="73152" marR="73152" marT="27432" marB="27432" anchor="ctr">
                    <a:solidFill>
                      <a:srgbClr val="1B355E"/>
                    </a:solidFill>
                  </a:tcPr>
                </a:tc>
                <a:tc>
                  <a:txBody>
                    <a:bodyPr wrap="square"/>
                    <a:lstStyle/>
                    <a:p>
                      <a:r>
                        <a:rPr sz="1050" b="1">
                          <a:solidFill>
                            <a:srgbClr val="FFFFFF"/>
                          </a:solidFill>
                          <a:latin typeface="Abadi"/>
                        </a:rPr>
                        <a:t>Practical point</a:t>
                      </a:r>
                    </a:p>
                  </a:txBody>
                  <a:tcPr marL="73152" marR="73152" marT="27432" marB="27432" anchor="ctr">
                    <a:solidFill>
                      <a:srgbClr val="1B355E"/>
                    </a:solidFill>
                  </a:tcPr>
                </a:tc>
              </a:tr>
              <a:tr h="457200">
                <a:tc>
                  <a:txBody>
                    <a:bodyPr wrap="square"/>
                    <a:lstStyle/>
                    <a:p>
                      <a:r>
                        <a:rPr sz="1100" b="1">
                          <a:solidFill>
                            <a:srgbClr val="1A1A1A"/>
                          </a:solidFill>
                          <a:latin typeface="Abadi"/>
                        </a:rPr>
                        <a:t>Energy</a:t>
                      </a:r>
                    </a:p>
                  </a:txBody>
                  <a:tcPr marL="73152" marR="73152" marT="27432" marB="27432" anchor="ctr">
                    <a:solidFill>
                      <a:srgbClr val="FFFFFF"/>
                    </a:solidFill>
                  </a:tcPr>
                </a:tc>
                <a:tc>
                  <a:txBody>
                    <a:bodyPr wrap="square"/>
                    <a:lstStyle/>
                    <a:p>
                      <a:r>
                        <a:rPr sz="1100" b="0">
                          <a:solidFill>
                            <a:srgbClr val="1A1A1A"/>
                          </a:solidFill>
                          <a:latin typeface="Abadi"/>
                        </a:rPr>
                        <a:t>130% of the age requirement; ≥ 130% in end-stage disease</a:t>
                      </a:r>
                    </a:p>
                  </a:txBody>
                  <a:tcPr marL="73152" marR="73152" marT="27432" marB="27432" anchor="ctr">
                    <a:solidFill>
                      <a:srgbClr val="FFFFFF"/>
                    </a:solidFill>
                  </a:tcPr>
                </a:tc>
                <a:tc>
                  <a:txBody>
                    <a:bodyPr wrap="square"/>
                    <a:lstStyle/>
                    <a:p>
                      <a:r>
                        <a:rPr sz="1100" b="0">
                          <a:solidFill>
                            <a:srgbClr val="1A1A1A"/>
                          </a:solidFill>
                          <a:latin typeface="Abadi"/>
                        </a:rPr>
                        <a:t>Indirect calorimetry if available; concentrate formula before adding volume</a:t>
                      </a:r>
                    </a:p>
                  </a:txBody>
                  <a:tcPr marL="73152" marR="73152" marT="27432" marB="27432" anchor="ctr">
                    <a:solidFill>
                      <a:srgbClr val="FFFFFF"/>
                    </a:solidFill>
                  </a:tcPr>
                </a:tc>
              </a:tr>
              <a:tr h="457200">
                <a:tc>
                  <a:txBody>
                    <a:bodyPr wrap="square"/>
                    <a:lstStyle/>
                    <a:p>
                      <a:r>
                        <a:rPr sz="1100" b="1">
                          <a:solidFill>
                            <a:srgbClr val="1A1A1A"/>
                          </a:solidFill>
                          <a:latin typeface="Abadi"/>
                        </a:rPr>
                        <a:t>Protein</a:t>
                      </a:r>
                    </a:p>
                  </a:txBody>
                  <a:tcPr marL="73152" marR="73152" marT="27432" marB="27432" anchor="ctr">
                    <a:solidFill>
                      <a:srgbClr val="F2F2F2"/>
                    </a:solidFill>
                  </a:tcPr>
                </a:tc>
                <a:tc>
                  <a:txBody>
                    <a:bodyPr wrap="square"/>
                    <a:lstStyle/>
                    <a:p>
                      <a:r>
                        <a:rPr sz="1100" b="0">
                          <a:solidFill>
                            <a:srgbClr val="1A1A1A"/>
                          </a:solidFill>
                          <a:latin typeface="Abadi"/>
                        </a:rPr>
                        <a:t>130–150% of the age requirement</a:t>
                      </a:r>
                    </a:p>
                  </a:txBody>
                  <a:tcPr marL="73152" marR="73152" marT="27432" marB="27432" anchor="ctr">
                    <a:solidFill>
                      <a:srgbClr val="F2F2F2"/>
                    </a:solidFill>
                  </a:tcPr>
                </a:tc>
                <a:tc>
                  <a:txBody>
                    <a:bodyPr wrap="square"/>
                    <a:lstStyle/>
                    <a:p>
                      <a:r>
                        <a:rPr sz="1100" b="0">
                          <a:solidFill>
                            <a:srgbClr val="1A1A1A"/>
                          </a:solidFill>
                          <a:latin typeface="Abadi"/>
                        </a:rPr>
                        <a:t>Do not restrict; limit restriction for encephalopathy to 2–3 days</a:t>
                      </a:r>
                    </a:p>
                  </a:txBody>
                  <a:tcPr marL="73152" marR="73152" marT="27432" marB="27432" anchor="ctr">
                    <a:solidFill>
                      <a:srgbClr val="F2F2F2"/>
                    </a:solidFill>
                  </a:tcPr>
                </a:tc>
              </a:tr>
              <a:tr h="457200">
                <a:tc>
                  <a:txBody>
                    <a:bodyPr wrap="square"/>
                    <a:lstStyle/>
                    <a:p>
                      <a:r>
                        <a:rPr sz="1100" b="1">
                          <a:solidFill>
                            <a:srgbClr val="1A1A1A"/>
                          </a:solidFill>
                          <a:latin typeface="Abadi"/>
                        </a:rPr>
                        <a:t>Fat</a:t>
                      </a:r>
                    </a:p>
                  </a:txBody>
                  <a:tcPr marL="73152" marR="73152" marT="27432" marB="27432" anchor="ctr">
                    <a:solidFill>
                      <a:srgbClr val="FFFFFF"/>
                    </a:solidFill>
                  </a:tcPr>
                </a:tc>
                <a:tc>
                  <a:txBody>
                    <a:bodyPr wrap="square"/>
                    <a:lstStyle/>
                    <a:p>
                      <a:r>
                        <a:rPr sz="1100" b="0">
                          <a:solidFill>
                            <a:srgbClr val="1A1A1A"/>
                          </a:solidFill>
                          <a:latin typeface="Abadi"/>
                        </a:rPr>
                        <a:t>30–50% of calories; start MCT:LCT at 30:70</a:t>
                      </a:r>
                    </a:p>
                  </a:txBody>
                  <a:tcPr marL="73152" marR="73152" marT="27432" marB="27432" anchor="ctr">
                    <a:solidFill>
                      <a:srgbClr val="FFFFFF"/>
                    </a:solidFill>
                  </a:tcPr>
                </a:tc>
                <a:tc>
                  <a:txBody>
                    <a:bodyPr wrap="square"/>
                    <a:lstStyle/>
                    <a:p>
                      <a:r>
                        <a:rPr sz="1100" b="0">
                          <a:solidFill>
                            <a:srgbClr val="1A1A1A"/>
                          </a:solidFill>
                          <a:latin typeface="Abadi"/>
                        </a:rPr>
                        <a:t>MCT below 80% of fat; tube formulas with about 50% MCT may be used</a:t>
                      </a:r>
                    </a:p>
                  </a:txBody>
                  <a:tcPr marL="73152" marR="73152" marT="27432" marB="27432" anchor="ctr">
                    <a:solidFill>
                      <a:srgbClr val="FFFFFF"/>
                    </a:solidFill>
                  </a:tcPr>
                </a:tc>
              </a:tr>
              <a:tr h="457200">
                <a:tc>
                  <a:txBody>
                    <a:bodyPr wrap="square"/>
                    <a:lstStyle/>
                    <a:p>
                      <a:r>
                        <a:rPr sz="1100" b="1">
                          <a:solidFill>
                            <a:srgbClr val="1A1A1A"/>
                          </a:solidFill>
                          <a:latin typeface="Abadi"/>
                        </a:rPr>
                        <a:t>Essential fatty acids</a:t>
                      </a:r>
                    </a:p>
                  </a:txBody>
                  <a:tcPr marL="73152" marR="73152" marT="27432" marB="27432" anchor="ctr">
                    <a:solidFill>
                      <a:srgbClr val="F2F2F2"/>
                    </a:solidFill>
                  </a:tcPr>
                </a:tc>
                <a:tc>
                  <a:txBody>
                    <a:bodyPr wrap="square"/>
                    <a:lstStyle/>
                    <a:p>
                      <a:r>
                        <a:rPr sz="1100" b="0">
                          <a:solidFill>
                            <a:srgbClr val="1A1A1A"/>
                          </a:solidFill>
                          <a:latin typeface="Abadi"/>
                        </a:rPr>
                        <a:t>Linoleic ≥ 3% and α-linolenic 0.7–1% of calories</a:t>
                      </a:r>
                    </a:p>
                  </a:txBody>
                  <a:tcPr marL="73152" marR="73152" marT="27432" marB="27432" anchor="ctr">
                    <a:solidFill>
                      <a:srgbClr val="F2F2F2"/>
                    </a:solidFill>
                  </a:tcPr>
                </a:tc>
                <a:tc>
                  <a:txBody>
                    <a:bodyPr wrap="square"/>
                    <a:lstStyle/>
                    <a:p>
                      <a:r>
                        <a:rPr sz="1100" b="0">
                          <a:solidFill>
                            <a:srgbClr val="1A1A1A"/>
                          </a:solidFill>
                          <a:latin typeface="Abadi"/>
                        </a:rPr>
                        <a:t>Red-cell fatty acid profile; triene:tetraene alone is not adequate</a:t>
                      </a:r>
                    </a:p>
                  </a:txBody>
                  <a:tcPr marL="73152" marR="73152" marT="27432" marB="27432" anchor="ctr">
                    <a:solidFill>
                      <a:srgbClr val="F2F2F2"/>
                    </a:solidFill>
                  </a:tcPr>
                </a:tc>
              </a:tr>
              <a:tr h="457200">
                <a:tc>
                  <a:txBody>
                    <a:bodyPr wrap="square"/>
                    <a:lstStyle/>
                    <a:p>
                      <a:r>
                        <a:rPr sz="1100" b="1">
                          <a:solidFill>
                            <a:srgbClr val="1A1A1A"/>
                          </a:solidFill>
                          <a:latin typeface="Abadi"/>
                        </a:rPr>
                        <a:t>Branched-chain amino acids</a:t>
                      </a:r>
                    </a:p>
                  </a:txBody>
                  <a:tcPr marL="73152" marR="73152" marT="27432" marB="27432" anchor="ctr">
                    <a:solidFill>
                      <a:srgbClr val="FFFFFF"/>
                    </a:solidFill>
                  </a:tcPr>
                </a:tc>
                <a:tc>
                  <a:txBody>
                    <a:bodyPr wrap="square"/>
                    <a:lstStyle/>
                    <a:p>
                      <a:r>
                        <a:rPr sz="1100" b="0">
                          <a:solidFill>
                            <a:srgbClr val="1A1A1A"/>
                          </a:solidFill>
                          <a:latin typeface="Abadi"/>
                        </a:rPr>
                        <a:t>One paediatric RCT: enriched formula improved anthropometrics</a:t>
                      </a:r>
                    </a:p>
                  </a:txBody>
                  <a:tcPr marL="73152" marR="73152" marT="27432" marB="27432" anchor="ctr">
                    <a:solidFill>
                      <a:srgbClr val="FFFFFF"/>
                    </a:solidFill>
                  </a:tcPr>
                </a:tc>
                <a:tc>
                  <a:txBody>
                    <a:bodyPr wrap="square"/>
                    <a:lstStyle/>
                    <a:p>
                      <a:r>
                        <a:rPr sz="1100" b="0">
                          <a:solidFill>
                            <a:srgbClr val="1A1A1A"/>
                          </a:solidFill>
                          <a:latin typeface="Abadi"/>
                        </a:rPr>
                        <a:t>No dose recommended</a:t>
                      </a:r>
                    </a:p>
                  </a:txBody>
                  <a:tcPr marL="73152" marR="73152" marT="27432" marB="27432" anchor="ctr">
                    <a:solidFill>
                      <a:srgbClr val="FFFFFF"/>
                    </a:solidFill>
                  </a:tcPr>
                </a:tc>
              </a:tr>
              <a:tr h="457200">
                <a:tc>
                  <a:txBody>
                    <a:bodyPr wrap="square"/>
                    <a:lstStyle/>
                    <a:p>
                      <a:r>
                        <a:rPr sz="1100" b="1">
                          <a:solidFill>
                            <a:srgbClr val="1A1A1A"/>
                          </a:solidFill>
                          <a:latin typeface="Abadi"/>
                        </a:rPr>
                        <a:t>Tube feeding</a:t>
                      </a:r>
                    </a:p>
                  </a:txBody>
                  <a:tcPr marL="73152" marR="73152" marT="27432" marB="27432" anchor="ctr">
                    <a:solidFill>
                      <a:srgbClr val="F2F2F2"/>
                    </a:solidFill>
                  </a:tcPr>
                </a:tc>
                <a:tc>
                  <a:txBody>
                    <a:bodyPr wrap="square"/>
                    <a:lstStyle/>
                    <a:p>
                      <a:r>
                        <a:rPr sz="1100" b="0">
                          <a:solidFill>
                            <a:srgbClr val="1A1A1A"/>
                          </a:solidFill>
                          <a:latin typeface="Abadi"/>
                        </a:rPr>
                        <a:t>If energy goals unmet &gt; 2 weeks or growth poor for 2–4 weeks</a:t>
                      </a:r>
                    </a:p>
                  </a:txBody>
                  <a:tcPr marL="73152" marR="73152" marT="27432" marB="27432" anchor="ctr">
                    <a:solidFill>
                      <a:srgbClr val="F2F2F2"/>
                    </a:solidFill>
                  </a:tcPr>
                </a:tc>
                <a:tc>
                  <a:txBody>
                    <a:bodyPr wrap="square"/>
                    <a:lstStyle/>
                    <a:p>
                      <a:r>
                        <a:rPr sz="1100" b="0">
                          <a:solidFill>
                            <a:srgbClr val="1A1A1A"/>
                          </a:solidFill>
                          <a:latin typeface="Abadi"/>
                        </a:rPr>
                        <a:t>Infants every 1–2 h or continuous; avoid gastrostomy with portal hypertension</a:t>
                      </a:r>
                    </a:p>
                  </a:txBody>
                  <a:tcPr marL="73152" marR="73152" marT="27432" marB="27432" anchor="ctr">
                    <a:solidFill>
                      <a:srgbClr val="F2F2F2"/>
                    </a:solidFill>
                  </a:tcPr>
                </a:tc>
              </a:tr>
            </a:tbl>
          </a:graphicData>
        </a:graphic>
      </p:graphicFrame>
      <p:sp>
        <p:nvSpPr>
          <p:cNvPr id="13" name="TextBox 12"/>
          <p:cNvSpPr txBox="1"/>
          <p:nvPr/>
        </p:nvSpPr>
        <p:spPr>
          <a:xfrm>
            <a:off x="548640" y="5138928"/>
            <a:ext cx="11082528" cy="365760"/>
          </a:xfrm>
          <a:prstGeom prst="rect">
            <a:avLst/>
          </a:prstGeom>
          <a:noFill/>
        </p:spPr>
        <p:txBody>
          <a:bodyPr wrap="square" lIns="0" rIns="0" tIns="0" bIns="0" anchor="t">
            <a:spAutoFit/>
          </a:bodyPr>
          <a:lstStyle/>
          <a:p>
            <a:pPr algn="l"/>
            <a:r>
              <a:rPr sz="1200" b="1" i="0">
                <a:solidFill>
                  <a:srgbClr val="1B355E"/>
                </a:solidFill>
                <a:latin typeface="Abadi"/>
              </a:rPr>
              <a:t>Note.  </a:t>
            </a:r>
            <a:r>
              <a:rPr sz="1200" b="0" i="0">
                <a:solidFill>
                  <a:srgbClr val="1A1A1A"/>
                </a:solidFill>
                <a:latin typeface="Abadi"/>
              </a:rPr>
              <a:t>The paper sets protein as a share of the age requirement, not in grams per kilogram; breast milk alone rarely meets these targets in an infant with significant cholestasis.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GROWTH PREDICTS OUTCOME</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THE WEIGHT CURVE FORECASTS THE GRAFT</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Weight-for-age z-score 6 months after Kasai, by outcome at 24 months (transplant or death versus survival with native liver)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DeRusso PA, et al. Hepatology 2007;46:1632–8 · Utterson EC, et al. J Pediatr 2005;147:180–5</a:t>
            </a:r>
          </a:p>
        </p:txBody>
      </p:sp>
      <p:sp>
        <p:nvSpPr>
          <p:cNvPr id="12" name="TextBox 11"/>
          <p:cNvSpPr txBox="1"/>
          <p:nvPr/>
        </p:nvSpPr>
        <p:spPr>
          <a:xfrm>
            <a:off x="548640" y="1920240"/>
            <a:ext cx="3291840" cy="685800"/>
          </a:xfrm>
          <a:prstGeom prst="rect">
            <a:avLst/>
          </a:prstGeom>
          <a:noFill/>
        </p:spPr>
        <p:txBody>
          <a:bodyPr wrap="square" lIns="0" rIns="0" tIns="0" bIns="0" anchor="ctr">
            <a:spAutoFit/>
          </a:bodyPr>
          <a:lstStyle/>
          <a:p>
            <a:pPr algn="r"/>
            <a:r>
              <a:rPr sz="1100" b="0" i="0">
                <a:solidFill>
                  <a:srgbClr val="1A1A1A"/>
                </a:solidFill>
                <a:latin typeface="Abadi"/>
              </a:rPr>
              <a:t>Poor outcome, n = 46</a:t>
            </a:r>
          </a:p>
        </p:txBody>
      </p:sp>
      <p:sp>
        <p:nvSpPr>
          <p:cNvPr id="13" name="Rectangle 12"/>
          <p:cNvSpPr/>
          <p:nvPr/>
        </p:nvSpPr>
        <p:spPr>
          <a:xfrm>
            <a:off x="4023360" y="2071116"/>
            <a:ext cx="2743200" cy="38404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9712" y="1920240"/>
            <a:ext cx="1463040" cy="685800"/>
          </a:xfrm>
          <a:prstGeom prst="rect">
            <a:avLst/>
          </a:prstGeom>
          <a:noFill/>
        </p:spPr>
        <p:txBody>
          <a:bodyPr wrap="square" lIns="0" rIns="0" tIns="0" bIns="0" anchor="ctr">
            <a:spAutoFit/>
          </a:bodyPr>
          <a:lstStyle/>
          <a:p>
            <a:pPr algn="l"/>
            <a:r>
              <a:rPr sz="1100" b="1" i="0">
                <a:solidFill>
                  <a:srgbClr val="1A1A1A"/>
                </a:solidFill>
                <a:latin typeface="Abadi"/>
              </a:rPr>
              <a:t>z = −2.1</a:t>
            </a:r>
          </a:p>
        </p:txBody>
      </p:sp>
      <p:sp>
        <p:nvSpPr>
          <p:cNvPr id="15" name="TextBox 14"/>
          <p:cNvSpPr txBox="1"/>
          <p:nvPr/>
        </p:nvSpPr>
        <p:spPr>
          <a:xfrm>
            <a:off x="548640" y="2606040"/>
            <a:ext cx="3291840" cy="685800"/>
          </a:xfrm>
          <a:prstGeom prst="rect">
            <a:avLst/>
          </a:prstGeom>
          <a:noFill/>
        </p:spPr>
        <p:txBody>
          <a:bodyPr wrap="square" lIns="0" rIns="0" tIns="0" bIns="0" anchor="ctr">
            <a:spAutoFit/>
          </a:bodyPr>
          <a:lstStyle/>
          <a:p>
            <a:pPr algn="r"/>
            <a:r>
              <a:rPr sz="1100" b="0" i="0">
                <a:solidFill>
                  <a:srgbClr val="1A1A1A"/>
                </a:solidFill>
                <a:latin typeface="Abadi"/>
              </a:rPr>
              <a:t>Good outcome, n = 54</a:t>
            </a:r>
          </a:p>
        </p:txBody>
      </p:sp>
      <p:sp>
        <p:nvSpPr>
          <p:cNvPr id="16" name="Rectangle 15"/>
          <p:cNvSpPr/>
          <p:nvPr/>
        </p:nvSpPr>
        <p:spPr>
          <a:xfrm>
            <a:off x="4023360" y="2756916"/>
            <a:ext cx="1567542" cy="38404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4054" y="2606040"/>
            <a:ext cx="1463040" cy="685800"/>
          </a:xfrm>
          <a:prstGeom prst="rect">
            <a:avLst/>
          </a:prstGeom>
          <a:noFill/>
        </p:spPr>
        <p:txBody>
          <a:bodyPr wrap="square" lIns="0" rIns="0" tIns="0" bIns="0" anchor="ctr">
            <a:spAutoFit/>
          </a:bodyPr>
          <a:lstStyle/>
          <a:p>
            <a:pPr algn="l"/>
            <a:r>
              <a:rPr sz="1100" b="1" i="0">
                <a:solidFill>
                  <a:srgbClr val="1A1A1A"/>
                </a:solidFill>
                <a:latin typeface="Abadi"/>
              </a:rPr>
              <a:t>z = −1.2</a:t>
            </a:r>
          </a:p>
        </p:txBody>
      </p:sp>
      <p:sp>
        <p:nvSpPr>
          <p:cNvPr id="18" name="TextBox 17"/>
          <p:cNvSpPr txBox="1"/>
          <p:nvPr/>
        </p:nvSpPr>
        <p:spPr>
          <a:xfrm>
            <a:off x="548640" y="3291840"/>
            <a:ext cx="3291840" cy="685800"/>
          </a:xfrm>
          <a:prstGeom prst="rect">
            <a:avLst/>
          </a:prstGeom>
          <a:noFill/>
        </p:spPr>
        <p:txBody>
          <a:bodyPr wrap="square" lIns="0" rIns="0" tIns="0" bIns="0" anchor="ctr">
            <a:spAutoFit/>
          </a:bodyPr>
          <a:lstStyle/>
          <a:p>
            <a:pPr algn="r"/>
            <a:r>
              <a:rPr sz="1100" b="0" i="0">
                <a:solidFill>
                  <a:srgbClr val="1A1A1A"/>
                </a:solidFill>
                <a:latin typeface="Abadi"/>
              </a:rPr>
              <a:t>Bilirubin 2–6 at 3 months: poor outcome</a:t>
            </a:r>
          </a:p>
        </p:txBody>
      </p:sp>
      <p:sp>
        <p:nvSpPr>
          <p:cNvPr id="19" name="Rectangle 18"/>
          <p:cNvSpPr/>
          <p:nvPr/>
        </p:nvSpPr>
        <p:spPr>
          <a:xfrm>
            <a:off x="4023360" y="3442716"/>
            <a:ext cx="2612571" cy="38404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09083" y="3291840"/>
            <a:ext cx="1463040" cy="685800"/>
          </a:xfrm>
          <a:prstGeom prst="rect">
            <a:avLst/>
          </a:prstGeom>
          <a:noFill/>
        </p:spPr>
        <p:txBody>
          <a:bodyPr wrap="square" lIns="0" rIns="0" tIns="0" bIns="0" anchor="ctr">
            <a:spAutoFit/>
          </a:bodyPr>
          <a:lstStyle/>
          <a:p>
            <a:pPr algn="l"/>
            <a:r>
              <a:rPr sz="1100" b="1" i="0">
                <a:solidFill>
                  <a:srgbClr val="1A1A1A"/>
                </a:solidFill>
                <a:latin typeface="Abadi"/>
              </a:rPr>
              <a:t>z = −2.0</a:t>
            </a:r>
          </a:p>
        </p:txBody>
      </p:sp>
      <p:sp>
        <p:nvSpPr>
          <p:cNvPr id="21" name="TextBox 20"/>
          <p:cNvSpPr txBox="1"/>
          <p:nvPr/>
        </p:nvSpPr>
        <p:spPr>
          <a:xfrm>
            <a:off x="548640" y="3977639"/>
            <a:ext cx="3291840" cy="685800"/>
          </a:xfrm>
          <a:prstGeom prst="rect">
            <a:avLst/>
          </a:prstGeom>
          <a:noFill/>
        </p:spPr>
        <p:txBody>
          <a:bodyPr wrap="square" lIns="0" rIns="0" tIns="0" bIns="0" anchor="ctr">
            <a:spAutoFit/>
          </a:bodyPr>
          <a:lstStyle/>
          <a:p>
            <a:pPr algn="r"/>
            <a:r>
              <a:rPr sz="1100" b="0" i="0">
                <a:solidFill>
                  <a:srgbClr val="1A1A1A"/>
                </a:solidFill>
                <a:latin typeface="Abadi"/>
              </a:rPr>
              <a:t>Bilirubin 2–6 at 3 months: good outcome</a:t>
            </a:r>
          </a:p>
        </p:txBody>
      </p:sp>
      <p:sp>
        <p:nvSpPr>
          <p:cNvPr id="22" name="Rectangle 21"/>
          <p:cNvSpPr/>
          <p:nvPr/>
        </p:nvSpPr>
        <p:spPr>
          <a:xfrm>
            <a:off x="4023360" y="4128515"/>
            <a:ext cx="1306285" cy="38404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02797" y="3977639"/>
            <a:ext cx="1463040" cy="685800"/>
          </a:xfrm>
          <a:prstGeom prst="rect">
            <a:avLst/>
          </a:prstGeom>
          <a:noFill/>
        </p:spPr>
        <p:txBody>
          <a:bodyPr wrap="square" lIns="0" rIns="0" tIns="0" bIns="0" anchor="ctr">
            <a:spAutoFit/>
          </a:bodyPr>
          <a:lstStyle/>
          <a:p>
            <a:pPr algn="l"/>
            <a:r>
              <a:rPr sz="1100" b="1" i="0">
                <a:solidFill>
                  <a:srgbClr val="1A1A1A"/>
                </a:solidFill>
                <a:latin typeface="Abadi"/>
              </a:rPr>
              <a:t>z = −1.0</a:t>
            </a:r>
          </a:p>
        </p:txBody>
      </p:sp>
      <p:sp>
        <p:nvSpPr>
          <p:cNvPr id="24" name="TextBox 23"/>
          <p:cNvSpPr txBox="1"/>
          <p:nvPr/>
        </p:nvSpPr>
        <p:spPr>
          <a:xfrm>
            <a:off x="7635240" y="1773936"/>
            <a:ext cx="3995928" cy="4023360"/>
          </a:xfrm>
          <a:prstGeom prst="rect">
            <a:avLst/>
          </a:prstGeom>
          <a:noFill/>
        </p:spPr>
        <p:txBody>
          <a:bodyPr wrap="square" lIns="0" rIns="0" tIns="0" bIns="0" anchor="t">
            <a:spAutoFit/>
          </a:bodyPr>
          <a:lstStyle/>
          <a:p>
            <a:pPr algn="l"/>
            <a:r>
              <a:rPr sz="1700" b="1" i="0">
                <a:solidFill>
                  <a:srgbClr val="1B355E"/>
                </a:solidFill>
                <a:latin typeface="Abadi"/>
              </a:rPr>
              <a:t>p &lt; 0.001</a:t>
            </a:r>
          </a:p>
          <a:p>
            <a:pPr algn="l">
              <a:spcBef>
                <a:spcPts val="200"/>
              </a:spcBef>
            </a:pPr>
            <a:r>
              <a:rPr sz="1100" b="0" i="0">
                <a:solidFill>
                  <a:srgbClr val="1A1A1A"/>
                </a:solidFill>
                <a:latin typeface="Abadi"/>
              </a:rPr>
              <a:t>Difference at 6 months in 100 infants from nine US centres (DeRusso 2007); bar length shows the deficit below zero.</a:t>
            </a:r>
          </a:p>
          <a:p>
            <a:pPr algn="l">
              <a:spcBef>
                <a:spcPts val="900"/>
              </a:spcBef>
            </a:pPr>
            <a:r>
              <a:rPr sz="1700" b="1" i="0">
                <a:solidFill>
                  <a:srgbClr val="1B355E"/>
                </a:solidFill>
                <a:latin typeface="Abadi"/>
              </a:rPr>
              <a:t>Same bilirubin, different fate</a:t>
            </a:r>
          </a:p>
          <a:p>
            <a:pPr algn="l">
              <a:spcBef>
                <a:spcPts val="200"/>
              </a:spcBef>
            </a:pPr>
            <a:r>
              <a:rPr sz="1100" b="0" i="0">
                <a:solidFill>
                  <a:srgbClr val="1A1A1A"/>
                </a:solidFill>
                <a:latin typeface="Abadi"/>
              </a:rPr>
              <a:t>Among infants with bilirubin 2–6 mg/dL at 3 months, poor growth still separated outcome (p = 0.04).</a:t>
            </a:r>
          </a:p>
          <a:p>
            <a:pPr algn="l">
              <a:spcBef>
                <a:spcPts val="900"/>
              </a:spcBef>
            </a:pPr>
            <a:r>
              <a:rPr sz="1700" b="1" i="0">
                <a:solidFill>
                  <a:srgbClr val="1B355E"/>
                </a:solidFill>
                <a:latin typeface="Abadi"/>
              </a:rPr>
              <a:t>Before transplant</a:t>
            </a:r>
          </a:p>
          <a:p>
            <a:pPr algn="l">
              <a:spcBef>
                <a:spcPts val="200"/>
              </a:spcBef>
            </a:pPr>
            <a:r>
              <a:rPr sz="1100" b="0" i="0">
                <a:solidFill>
                  <a:srgbClr val="1A1A1A"/>
                </a:solidFill>
                <a:latin typeface="Abadi"/>
              </a:rPr>
              <a:t>In 755 listed children with biliary atresia, height or weight below −2 SD predicted post-transplant death and graft loss (Utterson 2005).</a:t>
            </a:r>
          </a:p>
        </p:txBody>
      </p:sp>
      <p:sp>
        <p:nvSpPr>
          <p:cNvPr id="25" name="TextBox 24"/>
          <p:cNvSpPr txBox="1"/>
          <p:nvPr/>
        </p:nvSpPr>
        <p:spPr>
          <a:xfrm>
            <a:off x="548640" y="5074920"/>
            <a:ext cx="6858000" cy="640080"/>
          </a:xfrm>
          <a:prstGeom prst="rect">
            <a:avLst/>
          </a:prstGeom>
          <a:noFill/>
        </p:spPr>
        <p:txBody>
          <a:bodyPr wrap="square" lIns="0" rIns="0" tIns="0" bIns="0" anchor="t">
            <a:spAutoFit/>
          </a:bodyPr>
          <a:lstStyle/>
          <a:p>
            <a:pPr algn="l"/>
            <a:r>
              <a:rPr sz="1200" b="1" i="0">
                <a:solidFill>
                  <a:srgbClr val="B22222"/>
                </a:solidFill>
                <a:latin typeface="Abadi"/>
              </a:rPr>
              <a:t>Action.  </a:t>
            </a:r>
            <a:r>
              <a:rPr sz="1200" b="0" i="0">
                <a:solidFill>
                  <a:srgbClr val="1A1A1A"/>
                </a:solidFill>
                <a:latin typeface="Abadi"/>
              </a:rPr>
              <a:t>Growth faltering after a Kasai is a liver sign and a nutrition emergency at the same time: start tube feeding and refer for transplant assessment in parallel.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MEASURING THE INFANT</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WEIGHT LIES</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Why organomegaly and ascites hide wasting, and what to measure instead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Mouzaki M, et al. JPGN 2019;69:498–511</a:t>
            </a:r>
          </a:p>
        </p:txBody>
      </p:sp>
      <p:sp>
        <p:nvSpPr>
          <p:cNvPr id="12" name="Rectangle 11"/>
          <p:cNvSpPr/>
          <p:nvPr/>
        </p:nvSpPr>
        <p:spPr>
          <a:xfrm>
            <a:off x="548640" y="1773936"/>
            <a:ext cx="2067275" cy="228600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67275"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1738091" cy="457200"/>
          </a:xfrm>
          <a:prstGeom prst="rect">
            <a:avLst/>
          </a:prstGeom>
          <a:noFill/>
        </p:spPr>
        <p:txBody>
          <a:bodyPr wrap="square" lIns="0" rIns="0" tIns="0" bIns="0" anchor="t">
            <a:spAutoFit/>
          </a:bodyPr>
          <a:lstStyle/>
          <a:p>
            <a:pPr algn="l"/>
            <a:r>
              <a:rPr sz="1500" b="1" i="0">
                <a:solidFill>
                  <a:srgbClr val="7F7F7F"/>
                </a:solidFill>
                <a:latin typeface="Abadi"/>
              </a:rPr>
              <a:t>Weight</a:t>
            </a:r>
          </a:p>
        </p:txBody>
      </p:sp>
      <p:sp>
        <p:nvSpPr>
          <p:cNvPr id="15" name="TextBox 14"/>
          <p:cNvSpPr txBox="1"/>
          <p:nvPr/>
        </p:nvSpPr>
        <p:spPr>
          <a:xfrm>
            <a:off x="713232" y="2523744"/>
            <a:ext cx="1738091" cy="1417320"/>
          </a:xfrm>
          <a:prstGeom prst="rect">
            <a:avLst/>
          </a:prstGeom>
          <a:noFill/>
        </p:spPr>
        <p:txBody>
          <a:bodyPr wrap="square" lIns="0" rIns="0" tIns="0" bIns="0" anchor="t">
            <a:spAutoFit/>
          </a:bodyPr>
          <a:lstStyle/>
          <a:p>
            <a:pPr algn="l"/>
            <a:r>
              <a:rPr sz="1150" b="0" i="0">
                <a:solidFill>
                  <a:srgbClr val="1A1A1A"/>
                </a:solidFill>
                <a:latin typeface="Abadi"/>
              </a:rPr>
              <a:t>▪  Inflated by liver, spleen and ascites</a:t>
            </a:r>
          </a:p>
          <a:p>
            <a:pPr algn="l">
              <a:spcBef>
                <a:spcPts val="400"/>
              </a:spcBef>
            </a:pPr>
            <a:r>
              <a:rPr sz="1150" b="0" i="0">
                <a:solidFill>
                  <a:srgbClr val="1A1A1A"/>
                </a:solidFill>
                <a:latin typeface="Abadi"/>
              </a:rPr>
              <a:t>▪  Can rise while muscle falls</a:t>
            </a:r>
          </a:p>
          <a:p>
            <a:pPr algn="l">
              <a:spcBef>
                <a:spcPts val="400"/>
              </a:spcBef>
            </a:pPr>
            <a:r>
              <a:rPr sz="1150" b="0" i="0">
                <a:solidFill>
                  <a:srgbClr val="1A1A1A"/>
                </a:solidFill>
                <a:latin typeface="Abadi"/>
              </a:rPr>
              <a:t>▪  Still plot it, never alone</a:t>
            </a:r>
          </a:p>
        </p:txBody>
      </p:sp>
      <p:sp>
        <p:nvSpPr>
          <p:cNvPr id="16" name="Rectangle 15"/>
          <p:cNvSpPr/>
          <p:nvPr/>
        </p:nvSpPr>
        <p:spPr>
          <a:xfrm>
            <a:off x="2802453" y="1773936"/>
            <a:ext cx="2067275" cy="228600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2453" y="1773936"/>
            <a:ext cx="206727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7045" y="1984248"/>
            <a:ext cx="1738091" cy="457200"/>
          </a:xfrm>
          <a:prstGeom prst="rect">
            <a:avLst/>
          </a:prstGeom>
          <a:noFill/>
        </p:spPr>
        <p:txBody>
          <a:bodyPr wrap="square" lIns="0" rIns="0" tIns="0" bIns="0" anchor="t">
            <a:spAutoFit/>
          </a:bodyPr>
          <a:lstStyle/>
          <a:p>
            <a:pPr algn="l"/>
            <a:r>
              <a:rPr sz="1500" b="1" i="0">
                <a:solidFill>
                  <a:srgbClr val="1B355E"/>
                </a:solidFill>
                <a:latin typeface="Abadi"/>
              </a:rPr>
              <a:t>Length</a:t>
            </a:r>
          </a:p>
        </p:txBody>
      </p:sp>
      <p:sp>
        <p:nvSpPr>
          <p:cNvPr id="19" name="TextBox 18"/>
          <p:cNvSpPr txBox="1"/>
          <p:nvPr/>
        </p:nvSpPr>
        <p:spPr>
          <a:xfrm>
            <a:off x="2967045" y="2523744"/>
            <a:ext cx="1738091" cy="1417320"/>
          </a:xfrm>
          <a:prstGeom prst="rect">
            <a:avLst/>
          </a:prstGeom>
          <a:noFill/>
        </p:spPr>
        <p:txBody>
          <a:bodyPr wrap="square" lIns="0" rIns="0" tIns="0" bIns="0" anchor="t">
            <a:spAutoFit/>
          </a:bodyPr>
          <a:lstStyle/>
          <a:p>
            <a:pPr algn="l"/>
            <a:r>
              <a:rPr sz="1150" b="0" i="0">
                <a:solidFill>
                  <a:srgbClr val="1A1A1A"/>
                </a:solidFill>
                <a:latin typeface="Abadi"/>
              </a:rPr>
              <a:t>▪  More meaningful than weight</a:t>
            </a:r>
          </a:p>
          <a:p>
            <a:pPr algn="l">
              <a:spcBef>
                <a:spcPts val="400"/>
              </a:spcBef>
            </a:pPr>
            <a:r>
              <a:rPr sz="1150" b="0" i="0">
                <a:solidFill>
                  <a:srgbClr val="1A1A1A"/>
                </a:solidFill>
                <a:latin typeface="Abadi"/>
              </a:rPr>
              <a:t>▪  Falls later, recovers later</a:t>
            </a:r>
          </a:p>
          <a:p>
            <a:pPr algn="l">
              <a:spcBef>
                <a:spcPts val="400"/>
              </a:spcBef>
            </a:pPr>
            <a:r>
              <a:rPr sz="1150" b="0" i="0">
                <a:solidFill>
                  <a:srgbClr val="1A1A1A"/>
                </a:solidFill>
                <a:latin typeface="Abadi"/>
              </a:rPr>
              <a:t>▪  Length board, two people</a:t>
            </a:r>
          </a:p>
        </p:txBody>
      </p:sp>
      <p:sp>
        <p:nvSpPr>
          <p:cNvPr id="20" name="Rectangle 19"/>
          <p:cNvSpPr/>
          <p:nvPr/>
        </p:nvSpPr>
        <p:spPr>
          <a:xfrm>
            <a:off x="5056266" y="1773936"/>
            <a:ext cx="2067275" cy="228600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6266" y="1773936"/>
            <a:ext cx="2067275"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20858" y="1984248"/>
            <a:ext cx="1738091" cy="457200"/>
          </a:xfrm>
          <a:prstGeom prst="rect">
            <a:avLst/>
          </a:prstGeom>
          <a:noFill/>
        </p:spPr>
        <p:txBody>
          <a:bodyPr wrap="square" lIns="0" rIns="0" tIns="0" bIns="0" anchor="t">
            <a:spAutoFit/>
          </a:bodyPr>
          <a:lstStyle/>
          <a:p>
            <a:pPr algn="l"/>
            <a:r>
              <a:rPr sz="1500" b="1" i="0">
                <a:solidFill>
                  <a:srgbClr val="1E7A33"/>
                </a:solidFill>
                <a:latin typeface="Abadi"/>
              </a:rPr>
              <a:t>Mid-upper arm</a:t>
            </a:r>
          </a:p>
        </p:txBody>
      </p:sp>
      <p:sp>
        <p:nvSpPr>
          <p:cNvPr id="23" name="TextBox 22"/>
          <p:cNvSpPr txBox="1"/>
          <p:nvPr/>
        </p:nvSpPr>
        <p:spPr>
          <a:xfrm>
            <a:off x="5220858" y="2523744"/>
            <a:ext cx="1738091" cy="1417320"/>
          </a:xfrm>
          <a:prstGeom prst="rect">
            <a:avLst/>
          </a:prstGeom>
          <a:noFill/>
        </p:spPr>
        <p:txBody>
          <a:bodyPr wrap="square" lIns="0" rIns="0" tIns="0" bIns="0" anchor="t">
            <a:spAutoFit/>
          </a:bodyPr>
          <a:lstStyle/>
          <a:p>
            <a:pPr algn="l"/>
            <a:r>
              <a:rPr sz="1150" b="0" i="0">
                <a:solidFill>
                  <a:srgbClr val="1A1A1A"/>
                </a:solidFill>
                <a:latin typeface="Abadi"/>
              </a:rPr>
              <a:t>▪  Arm is free of organomegaly</a:t>
            </a:r>
          </a:p>
          <a:p>
            <a:pPr algn="l">
              <a:spcBef>
                <a:spcPts val="400"/>
              </a:spcBef>
            </a:pPr>
            <a:r>
              <a:rPr sz="1150" b="0" i="0">
                <a:solidFill>
                  <a:srgbClr val="1A1A1A"/>
                </a:solidFill>
                <a:latin typeface="Abadi"/>
              </a:rPr>
              <a:t>▪  Serial MUAC every 2–4 weeks</a:t>
            </a:r>
          </a:p>
          <a:p>
            <a:pPr algn="l">
              <a:spcBef>
                <a:spcPts val="400"/>
              </a:spcBef>
            </a:pPr>
            <a:r>
              <a:rPr sz="1150" b="0" i="0">
                <a:solidFill>
                  <a:srgbClr val="1A1A1A"/>
                </a:solidFill>
                <a:latin typeface="Abadi"/>
              </a:rPr>
              <a:t>▪  Earliest sign of wasting</a:t>
            </a:r>
          </a:p>
        </p:txBody>
      </p:sp>
      <p:sp>
        <p:nvSpPr>
          <p:cNvPr id="24" name="Rectangle 23"/>
          <p:cNvSpPr/>
          <p:nvPr/>
        </p:nvSpPr>
        <p:spPr>
          <a:xfrm>
            <a:off x="7310079" y="1773936"/>
            <a:ext cx="2067275" cy="228600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0079" y="1773936"/>
            <a:ext cx="2067275"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4671" y="1984248"/>
            <a:ext cx="1738091" cy="457200"/>
          </a:xfrm>
          <a:prstGeom prst="rect">
            <a:avLst/>
          </a:prstGeom>
          <a:noFill/>
        </p:spPr>
        <p:txBody>
          <a:bodyPr wrap="square" lIns="0" rIns="0" tIns="0" bIns="0" anchor="t">
            <a:spAutoFit/>
          </a:bodyPr>
          <a:lstStyle/>
          <a:p>
            <a:pPr algn="l"/>
            <a:r>
              <a:rPr sz="1500" b="1" i="0">
                <a:solidFill>
                  <a:srgbClr val="D97A0B"/>
                </a:solidFill>
                <a:latin typeface="Abadi"/>
              </a:rPr>
              <a:t>Triceps skinfold</a:t>
            </a:r>
          </a:p>
        </p:txBody>
      </p:sp>
      <p:sp>
        <p:nvSpPr>
          <p:cNvPr id="27" name="TextBox 26"/>
          <p:cNvSpPr txBox="1"/>
          <p:nvPr/>
        </p:nvSpPr>
        <p:spPr>
          <a:xfrm>
            <a:off x="7474671" y="2523744"/>
            <a:ext cx="1738091" cy="1417320"/>
          </a:xfrm>
          <a:prstGeom prst="rect">
            <a:avLst/>
          </a:prstGeom>
          <a:noFill/>
        </p:spPr>
        <p:txBody>
          <a:bodyPr wrap="square" lIns="0" rIns="0" tIns="0" bIns="0" anchor="t">
            <a:spAutoFit/>
          </a:bodyPr>
          <a:lstStyle/>
          <a:p>
            <a:pPr algn="l"/>
            <a:r>
              <a:rPr sz="1150" b="0" i="0">
                <a:solidFill>
                  <a:srgbClr val="1A1A1A"/>
                </a:solidFill>
                <a:latin typeface="Abadi"/>
              </a:rPr>
              <a:t>▪  Fat stores directly</a:t>
            </a:r>
          </a:p>
          <a:p>
            <a:pPr algn="l">
              <a:spcBef>
                <a:spcPts val="400"/>
              </a:spcBef>
            </a:pPr>
            <a:r>
              <a:rPr sz="1150" b="0" i="0">
                <a:solidFill>
                  <a:srgbClr val="1A1A1A"/>
                </a:solidFill>
                <a:latin typeface="Abadi"/>
              </a:rPr>
              <a:t>▪  Same observer, same calliper</a:t>
            </a:r>
          </a:p>
          <a:p>
            <a:pPr algn="l">
              <a:spcBef>
                <a:spcPts val="400"/>
              </a:spcBef>
            </a:pPr>
            <a:r>
              <a:rPr sz="1150" b="0" i="0">
                <a:solidFill>
                  <a:srgbClr val="1A1A1A"/>
                </a:solidFill>
                <a:latin typeface="Abadi"/>
              </a:rPr>
              <a:t>▪  Combine with MUAC for muscle area</a:t>
            </a:r>
          </a:p>
        </p:txBody>
      </p:sp>
      <p:sp>
        <p:nvSpPr>
          <p:cNvPr id="28" name="Rectangle 27"/>
          <p:cNvSpPr/>
          <p:nvPr/>
        </p:nvSpPr>
        <p:spPr>
          <a:xfrm>
            <a:off x="9563892" y="1773936"/>
            <a:ext cx="2067275" cy="228600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3892" y="1773936"/>
            <a:ext cx="2067275"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28484" y="1984248"/>
            <a:ext cx="1738091" cy="457200"/>
          </a:xfrm>
          <a:prstGeom prst="rect">
            <a:avLst/>
          </a:prstGeom>
          <a:noFill/>
        </p:spPr>
        <p:txBody>
          <a:bodyPr wrap="square" lIns="0" rIns="0" tIns="0" bIns="0" anchor="t">
            <a:spAutoFit/>
          </a:bodyPr>
          <a:lstStyle/>
          <a:p>
            <a:pPr algn="l"/>
            <a:r>
              <a:rPr sz="1500" b="1" i="0">
                <a:solidFill>
                  <a:srgbClr val="B22222"/>
                </a:solidFill>
                <a:latin typeface="Abadi"/>
              </a:rPr>
              <a:t>Head and development</a:t>
            </a:r>
          </a:p>
        </p:txBody>
      </p:sp>
      <p:sp>
        <p:nvSpPr>
          <p:cNvPr id="31" name="TextBox 30"/>
          <p:cNvSpPr txBox="1"/>
          <p:nvPr/>
        </p:nvSpPr>
        <p:spPr>
          <a:xfrm>
            <a:off x="9728484" y="2523744"/>
            <a:ext cx="1738091" cy="1417320"/>
          </a:xfrm>
          <a:prstGeom prst="rect">
            <a:avLst/>
          </a:prstGeom>
          <a:noFill/>
        </p:spPr>
        <p:txBody>
          <a:bodyPr wrap="square" lIns="0" rIns="0" tIns="0" bIns="0" anchor="t">
            <a:spAutoFit/>
          </a:bodyPr>
          <a:lstStyle/>
          <a:p>
            <a:pPr algn="l"/>
            <a:r>
              <a:rPr sz="1150" b="0" i="0">
                <a:solidFill>
                  <a:srgbClr val="1A1A1A"/>
                </a:solidFill>
                <a:latin typeface="Abadi"/>
              </a:rPr>
              <a:t>▪  Head circumference on every visit</a:t>
            </a:r>
          </a:p>
          <a:p>
            <a:pPr algn="l">
              <a:spcBef>
                <a:spcPts val="400"/>
              </a:spcBef>
            </a:pPr>
            <a:r>
              <a:rPr sz="1150" b="0" i="0">
                <a:solidFill>
                  <a:srgbClr val="1A1A1A"/>
                </a:solidFill>
                <a:latin typeface="Abadi"/>
              </a:rPr>
              <a:t>▪  Vitamin E neuropathy is silent early</a:t>
            </a:r>
          </a:p>
          <a:p>
            <a:pPr algn="l">
              <a:spcBef>
                <a:spcPts val="400"/>
              </a:spcBef>
            </a:pPr>
            <a:r>
              <a:rPr sz="1150" b="0" i="0">
                <a:solidFill>
                  <a:srgbClr val="1A1A1A"/>
                </a:solidFill>
                <a:latin typeface="Abadi"/>
              </a:rPr>
              <a:t>▪  Development is an outcome</a:t>
            </a:r>
          </a:p>
        </p:txBody>
      </p:sp>
      <p:sp>
        <p:nvSpPr>
          <p:cNvPr id="32" name="TextBox 31"/>
          <p:cNvSpPr txBox="1"/>
          <p:nvPr/>
        </p:nvSpPr>
        <p:spPr>
          <a:xfrm>
            <a:off x="548640" y="4251960"/>
            <a:ext cx="11082528" cy="1554480"/>
          </a:xfrm>
          <a:prstGeom prst="rect">
            <a:avLst/>
          </a:prstGeom>
          <a:noFill/>
        </p:spPr>
        <p:txBody>
          <a:bodyPr wrap="square" lIns="0" rIns="0" tIns="0" bIns="0" anchor="t">
            <a:spAutoFit/>
          </a:bodyPr>
          <a:lstStyle/>
          <a:p>
            <a:pPr algn="l"/>
            <a:r>
              <a:rPr sz="1300" b="1" i="0">
                <a:solidFill>
                  <a:srgbClr val="1B355E"/>
                </a:solidFill>
                <a:latin typeface="Abadi"/>
              </a:rPr>
              <a:t>Interval.  </a:t>
            </a:r>
            <a:r>
              <a:rPr sz="1300" b="0" i="0">
                <a:solidFill>
                  <a:srgbClr val="1A1A1A"/>
                </a:solidFill>
                <a:latin typeface="Abadi"/>
              </a:rPr>
              <a:t>Anthropometry every 2–4 weeks in cholestatic infants; the joint paper allows 2 weeks to 3 months across chronic liver disease, but the young infant on the atresia pathway sits at the short end.</a:t>
            </a:r>
          </a:p>
          <a:p>
            <a:pPr algn="l">
              <a:spcBef>
                <a:spcPts val="600"/>
              </a:spcBef>
            </a:pPr>
            <a:r>
              <a:rPr sz="1300" b="1" i="0">
                <a:solidFill>
                  <a:srgbClr val="B22222"/>
                </a:solidFill>
                <a:latin typeface="Abadi"/>
              </a:rPr>
              <a:t>Pitfall.  </a:t>
            </a:r>
            <a:r>
              <a:rPr sz="1300" b="0" i="0">
                <a:solidFill>
                  <a:srgbClr val="1A1A1A"/>
                </a:solidFill>
                <a:latin typeface="Abadi"/>
              </a:rPr>
              <a:t>A rising weight z-score in an infant with a growing spleen or new ascites is not catch-up growth; look at the arm before you relax.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PRURITUS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ITCH IS A DISEASE, NOT A SYMPTOM</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A practical escalation for cholestatic itch; efficacy ratings from EASL 2024</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Gregorio GV, et al. Arch Dis Child 1993;69:141–3 · Thébaut A, et al. JPGN 2017;64:431–5 · Verkade HJ, et al. EASL CPG genetic cholestatic liver diseases. J Hepatol 2024;81:303–25</a:t>
            </a:r>
          </a:p>
        </p:txBody>
      </p:sp>
      <p:sp>
        <p:nvSpPr>
          <p:cNvPr id="12" name="Rectangle 11"/>
          <p:cNvSpPr/>
          <p:nvPr/>
        </p:nvSpPr>
        <p:spPr>
          <a:xfrm>
            <a:off x="548640" y="1773936"/>
            <a:ext cx="2011680" cy="233172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Skin and sleep</a:t>
            </a:r>
          </a:p>
        </p:txBody>
      </p:sp>
      <p:sp>
        <p:nvSpPr>
          <p:cNvPr id="15" name="TextBox 14"/>
          <p:cNvSpPr txBox="1"/>
          <p:nvPr/>
        </p:nvSpPr>
        <p:spPr>
          <a:xfrm>
            <a:off x="658368" y="2157984"/>
            <a:ext cx="1792224" cy="1874519"/>
          </a:xfrm>
          <a:prstGeom prst="rect">
            <a:avLst/>
          </a:prstGeom>
          <a:noFill/>
        </p:spPr>
        <p:txBody>
          <a:bodyPr wrap="square" lIns="0" rIns="0" tIns="0" bIns="0" anchor="t">
            <a:spAutoFit/>
          </a:bodyPr>
          <a:lstStyle/>
          <a:p>
            <a:pPr algn="l"/>
            <a:r>
              <a:rPr sz="1050" b="0" i="0">
                <a:solidFill>
                  <a:srgbClr val="1A1A1A"/>
                </a:solidFill>
                <a:latin typeface="Abadi"/>
              </a:rPr>
              <a:t>Emollients, short nails, cool room, sedating antihistamine at night only for sleep. Marginal efficacy.</a:t>
            </a:r>
          </a:p>
        </p:txBody>
      </p:sp>
      <p:sp>
        <p:nvSpPr>
          <p:cNvPr id="16" name="Isosceles Triangle 15"/>
          <p:cNvSpPr/>
          <p:nvPr/>
        </p:nvSpPr>
        <p:spPr>
          <a:xfrm rot="5400000">
            <a:off x="2624328" y="28575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73936"/>
            <a:ext cx="2011680" cy="23317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7792"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Rifampicin</a:t>
            </a:r>
          </a:p>
        </p:txBody>
      </p:sp>
      <p:sp>
        <p:nvSpPr>
          <p:cNvPr id="20" name="TextBox 19"/>
          <p:cNvSpPr txBox="1"/>
          <p:nvPr/>
        </p:nvSpPr>
        <p:spPr>
          <a:xfrm>
            <a:off x="2926080" y="2157984"/>
            <a:ext cx="1792224" cy="1874519"/>
          </a:xfrm>
          <a:prstGeom prst="rect">
            <a:avLst/>
          </a:prstGeom>
          <a:noFill/>
        </p:spPr>
        <p:txBody>
          <a:bodyPr wrap="square" lIns="0" rIns="0" tIns="0" bIns="0" anchor="t">
            <a:spAutoFit/>
          </a:bodyPr>
          <a:lstStyle/>
          <a:p>
            <a:pPr algn="l"/>
            <a:r>
              <a:rPr sz="1050" b="0" i="0">
                <a:solidFill>
                  <a:srgbClr val="1A1A1A"/>
                </a:solidFill>
                <a:latin typeface="Abadi"/>
              </a:rPr>
              <a:t>About 5 mg/kg/day (4–10). Complete relief 15%, partial 36% in 33 children. Check liver tests. Moderate efficacy.</a:t>
            </a:r>
          </a:p>
        </p:txBody>
      </p:sp>
      <p:sp>
        <p:nvSpPr>
          <p:cNvPr id="21" name="Isosceles Triangle 20"/>
          <p:cNvSpPr/>
          <p:nvPr/>
        </p:nvSpPr>
        <p:spPr>
          <a:xfrm rot="5400000">
            <a:off x="4892040" y="28575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73936"/>
            <a:ext cx="2011680" cy="233172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5504"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Sertraline</a:t>
            </a:r>
          </a:p>
        </p:txBody>
      </p:sp>
      <p:sp>
        <p:nvSpPr>
          <p:cNvPr id="25" name="TextBox 24"/>
          <p:cNvSpPr txBox="1"/>
          <p:nvPr/>
        </p:nvSpPr>
        <p:spPr>
          <a:xfrm>
            <a:off x="5193792" y="2157984"/>
            <a:ext cx="1792224" cy="1874519"/>
          </a:xfrm>
          <a:prstGeom prst="rect">
            <a:avLst/>
          </a:prstGeom>
          <a:noFill/>
        </p:spPr>
        <p:txBody>
          <a:bodyPr wrap="square" lIns="0" rIns="0" tIns="0" bIns="0" anchor="t">
            <a:spAutoFit/>
          </a:bodyPr>
          <a:lstStyle/>
          <a:p>
            <a:pPr algn="l"/>
            <a:r>
              <a:rPr sz="1050" b="0" i="0">
                <a:solidFill>
                  <a:srgbClr val="1A1A1A"/>
                </a:solidFill>
                <a:latin typeface="Abadi"/>
              </a:rPr>
              <a:t>1–4 mg/kg/day, median 2.2. Itch improved in 14 of 20 with ALGS or PFIC. Agitation, skin, alopecia.</a:t>
            </a:r>
          </a:p>
        </p:txBody>
      </p:sp>
      <p:sp>
        <p:nvSpPr>
          <p:cNvPr id="26" name="Isosceles Triangle 25"/>
          <p:cNvSpPr/>
          <p:nvPr/>
        </p:nvSpPr>
        <p:spPr>
          <a:xfrm rot="5400000">
            <a:off x="7159752" y="28575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773936"/>
            <a:ext cx="2011680" cy="233172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IBAT inhibitor</a:t>
            </a:r>
          </a:p>
        </p:txBody>
      </p:sp>
      <p:sp>
        <p:nvSpPr>
          <p:cNvPr id="30" name="TextBox 29"/>
          <p:cNvSpPr txBox="1"/>
          <p:nvPr/>
        </p:nvSpPr>
        <p:spPr>
          <a:xfrm>
            <a:off x="7461504" y="2157984"/>
            <a:ext cx="1792224" cy="1874519"/>
          </a:xfrm>
          <a:prstGeom prst="rect">
            <a:avLst/>
          </a:prstGeom>
          <a:noFill/>
        </p:spPr>
        <p:txBody>
          <a:bodyPr wrap="square" lIns="0" rIns="0" tIns="0" bIns="0" anchor="t">
            <a:spAutoFit/>
          </a:bodyPr>
          <a:lstStyle/>
          <a:p>
            <a:pPr algn="l"/>
            <a:r>
              <a:rPr sz="1050" b="0" i="0">
                <a:solidFill>
                  <a:srgbClr val="1A1A1A"/>
                </a:solidFill>
                <a:latin typeface="Abadi"/>
              </a:rPr>
              <a:t>Maralixibat or odevixibat in Alagille and selected PFIC. None to high efficacy by genotype.</a:t>
            </a:r>
          </a:p>
        </p:txBody>
      </p:sp>
      <p:sp>
        <p:nvSpPr>
          <p:cNvPr id="31" name="Isosceles Triangle 30"/>
          <p:cNvSpPr/>
          <p:nvPr/>
        </p:nvSpPr>
        <p:spPr>
          <a:xfrm rot="5400000">
            <a:off x="9427464" y="28575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73936"/>
            <a:ext cx="2011680" cy="233172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0928"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Diversion or graft</a:t>
            </a:r>
          </a:p>
        </p:txBody>
      </p:sp>
      <p:sp>
        <p:nvSpPr>
          <p:cNvPr id="35" name="TextBox 34"/>
          <p:cNvSpPr txBox="1"/>
          <p:nvPr/>
        </p:nvSpPr>
        <p:spPr>
          <a:xfrm>
            <a:off x="9729216" y="2157984"/>
            <a:ext cx="1792224" cy="1874519"/>
          </a:xfrm>
          <a:prstGeom prst="rect">
            <a:avLst/>
          </a:prstGeom>
          <a:noFill/>
        </p:spPr>
        <p:txBody>
          <a:bodyPr wrap="square" lIns="0" rIns="0" tIns="0" bIns="0" anchor="t">
            <a:spAutoFit/>
          </a:bodyPr>
          <a:lstStyle/>
          <a:p>
            <a:pPr algn="l"/>
            <a:r>
              <a:rPr sz="1050" b="0" i="0">
                <a:solidFill>
                  <a:srgbClr val="1A1A1A"/>
                </a:solidFill>
                <a:latin typeface="Abadi"/>
              </a:rPr>
              <a:t>Biliary diversion for responsive BSEP genotypes; not for FIC1. Transplant for intractable itch.</a:t>
            </a:r>
          </a:p>
        </p:txBody>
      </p:sp>
      <p:sp>
        <p:nvSpPr>
          <p:cNvPr id="36" name="TextBox 35"/>
          <p:cNvSpPr txBox="1"/>
          <p:nvPr/>
        </p:nvSpPr>
        <p:spPr>
          <a:xfrm>
            <a:off x="548640" y="4343400"/>
            <a:ext cx="11082528" cy="1463040"/>
          </a:xfrm>
          <a:prstGeom prst="rect">
            <a:avLst/>
          </a:prstGeom>
          <a:noFill/>
        </p:spPr>
        <p:txBody>
          <a:bodyPr wrap="square" lIns="0" rIns="0" tIns="0" bIns="0" anchor="t">
            <a:spAutoFit/>
          </a:bodyPr>
          <a:lstStyle/>
          <a:p>
            <a:pPr algn="l"/>
            <a:r>
              <a:rPr sz="1200" b="1" i="0">
                <a:solidFill>
                  <a:srgbClr val="1B355E"/>
                </a:solidFill>
                <a:latin typeface="Abadi"/>
              </a:rPr>
              <a:t>Cholestyramine and naltrexone.  </a:t>
            </a:r>
            <a:r>
              <a:rPr sz="1200" b="0" i="0">
                <a:solidFill>
                  <a:srgbClr val="1A1A1A"/>
                </a:solidFill>
                <a:latin typeface="Abadi"/>
              </a:rPr>
              <a:t>Rated marginal by EASL and difficult in infants: cholestyramine binds the fat-soluble vitamins and UDCA, and needs separating by hours.</a:t>
            </a:r>
          </a:p>
          <a:p>
            <a:pPr algn="l">
              <a:spcBef>
                <a:spcPts val="600"/>
              </a:spcBef>
            </a:pPr>
            <a:r>
              <a:rPr sz="1200" b="1" i="0">
                <a:solidFill>
                  <a:srgbClr val="B22222"/>
                </a:solidFill>
                <a:latin typeface="Abadi"/>
              </a:rPr>
              <a:t>Diversion.  </a:t>
            </a:r>
            <a:r>
              <a:rPr sz="1200" b="0" i="0">
                <a:solidFill>
                  <a:srgbClr val="1A1A1A"/>
                </a:solidFill>
                <a:latin typeface="Abadi"/>
              </a:rPr>
              <a:t>In BSEP deficiency pruritus responded in 54% overall: 66% with E297G or D482G, 36% with other missense variants and none of 3 with two truncating variants.</a:t>
            </a:r>
          </a:p>
          <a:p>
            <a:pPr algn="l">
              <a:spcBef>
                <a:spcPts val="600"/>
              </a:spcBef>
            </a:pPr>
            <a:r>
              <a:rPr sz="1200" b="1" i="0">
                <a:solidFill>
                  <a:srgbClr val="1E7A33"/>
                </a:solidFill>
                <a:latin typeface="Abadi"/>
              </a:rPr>
              <a:t>Measure it.  </a:t>
            </a:r>
            <a:r>
              <a:rPr sz="1200" b="0" i="0">
                <a:solidFill>
                  <a:srgbClr val="1A1A1A"/>
                </a:solidFill>
                <a:latin typeface="Abadi"/>
              </a:rPr>
              <a:t>Use a caregiver scratch score or ItchRO(Obs) at each visit; sleep loss is the outcome families feel.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IBAT INHIBITORS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INTERRUPT THE CIRCULATION, RELIEVE THE ITCH</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Randomised trials of ileal bile acid transporter inhibitors in childhood cholestasis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Gonzales E, et al. Lancet 2021;398:1581–92 · Miethke AG, et al. Lancet Gastroenterol Hepatol 2024;9:620–31 · Thompson RJ, et al. Lancet Gastroenterol Hepatol 2022;7:830–42 · Ovchinsky N, et al. Lancet Gastroenterol Hepatol 2024;9:632–45 · Mirum 2023 and Ipsen 2026 company reports</a:t>
            </a:r>
          </a:p>
        </p:txBody>
      </p:sp>
      <p:graphicFrame>
        <p:nvGraphicFramePr>
          <p:cNvPr id="12" name="Table 11"/>
          <p:cNvGraphicFramePr>
            <a:graphicFrameLocks noGrp="1"/>
          </p:cNvGraphicFramePr>
          <p:nvPr/>
        </p:nvGraphicFramePr>
        <p:xfrm>
          <a:off x="548640" y="1773936"/>
          <a:ext cx="11082528" cy="3008376"/>
        </p:xfrm>
        <a:graphic>
          <a:graphicData uri="http://schemas.openxmlformats.org/drawingml/2006/table">
            <a:tbl>
              <a:tblPr firstRow="0" bandRow="0">
                <a:tableStyleId>{5C22544A-7EE6-4342-B048-85BDC9FD1C3A}</a:tableStyleId>
              </a:tblPr>
              <a:tblGrid>
                <a:gridCol w="1463040"/>
                <a:gridCol w="2926080"/>
                <a:gridCol w="2377440"/>
                <a:gridCol w="4315968"/>
              </a:tblGrid>
              <a:tr h="429768">
                <a:tc>
                  <a:txBody>
                    <a:bodyPr wrap="square"/>
                    <a:lstStyle/>
                    <a:p>
                      <a:r>
                        <a:rPr sz="1050" b="1">
                          <a:solidFill>
                            <a:srgbClr val="FFFFFF"/>
                          </a:solidFill>
                          <a:latin typeface="Abadi"/>
                        </a:rPr>
                        <a:t>Trial</a:t>
                      </a:r>
                    </a:p>
                  </a:txBody>
                  <a:tcPr marL="73152" marR="73152" marT="27432" marB="27432" anchor="ctr">
                    <a:solidFill>
                      <a:srgbClr val="1B355E"/>
                    </a:solidFill>
                  </a:tcPr>
                </a:tc>
                <a:tc>
                  <a:txBody>
                    <a:bodyPr wrap="square"/>
                    <a:lstStyle/>
                    <a:p>
                      <a:r>
                        <a:rPr sz="1050" b="1">
                          <a:solidFill>
                            <a:srgbClr val="FFFFFF"/>
                          </a:solidFill>
                          <a:latin typeface="Abadi"/>
                        </a:rPr>
                        <a:t>Drug, population</a:t>
                      </a:r>
                    </a:p>
                  </a:txBody>
                  <a:tcPr marL="73152" marR="73152" marT="27432" marB="27432" anchor="ctr">
                    <a:solidFill>
                      <a:srgbClr val="1B355E"/>
                    </a:solidFill>
                  </a:tcPr>
                </a:tc>
                <a:tc>
                  <a:txBody>
                    <a:bodyPr wrap="square"/>
                    <a:lstStyle/>
                    <a:p>
                      <a:r>
                        <a:rPr sz="1050" b="1">
                          <a:solidFill>
                            <a:srgbClr val="FFFFFF"/>
                          </a:solidFill>
                          <a:latin typeface="Abadi"/>
                        </a:rPr>
                        <a:t>Design</a:t>
                      </a:r>
                    </a:p>
                  </a:txBody>
                  <a:tcPr marL="73152" marR="73152" marT="27432" marB="27432" anchor="ctr">
                    <a:solidFill>
                      <a:srgbClr val="1B355E"/>
                    </a:solidFill>
                  </a:tcPr>
                </a:tc>
                <a:tc>
                  <a:txBody>
                    <a:bodyPr wrap="square"/>
                    <a:lstStyle/>
                    <a:p>
                      <a:r>
                        <a:rPr sz="1050" b="1">
                          <a:solidFill>
                            <a:srgbClr val="FFFFFF"/>
                          </a:solidFill>
                          <a:latin typeface="Abadi"/>
                        </a:rPr>
                        <a:t>Main result</a:t>
                      </a:r>
                    </a:p>
                  </a:txBody>
                  <a:tcPr marL="73152" marR="73152" marT="27432" marB="27432" anchor="ctr">
                    <a:solidFill>
                      <a:srgbClr val="1B355E"/>
                    </a:solidFill>
                  </a:tcPr>
                </a:tc>
              </a:tr>
              <a:tr h="429768">
                <a:tc>
                  <a:txBody>
                    <a:bodyPr wrap="square"/>
                    <a:lstStyle/>
                    <a:p>
                      <a:r>
                        <a:rPr sz="1050" b="1">
                          <a:solidFill>
                            <a:srgbClr val="1A1A1A"/>
                          </a:solidFill>
                          <a:latin typeface="Abadi"/>
                        </a:rPr>
                        <a:t>ICONIC</a:t>
                      </a:r>
                    </a:p>
                  </a:txBody>
                  <a:tcPr marL="73152" marR="73152" marT="27432" marB="27432" anchor="ctr">
                    <a:solidFill>
                      <a:srgbClr val="FFFFFF"/>
                    </a:solidFill>
                  </a:tcPr>
                </a:tc>
                <a:tc>
                  <a:txBody>
                    <a:bodyPr wrap="square"/>
                    <a:lstStyle/>
                    <a:p>
                      <a:r>
                        <a:rPr sz="1050" b="0">
                          <a:solidFill>
                            <a:srgbClr val="1A1A1A"/>
                          </a:solidFill>
                          <a:latin typeface="Abadi"/>
                        </a:rPr>
                        <a:t>Maralixibat, Alagille, n = 31</a:t>
                      </a:r>
                    </a:p>
                  </a:txBody>
                  <a:tcPr marL="73152" marR="73152" marT="27432" marB="27432" anchor="ctr">
                    <a:solidFill>
                      <a:srgbClr val="FFFFFF"/>
                    </a:solidFill>
                  </a:tcPr>
                </a:tc>
                <a:tc>
                  <a:txBody>
                    <a:bodyPr wrap="square"/>
                    <a:lstStyle/>
                    <a:p>
                      <a:r>
                        <a:rPr sz="1050" b="0">
                          <a:solidFill>
                            <a:srgbClr val="1A1A1A"/>
                          </a:solidFill>
                          <a:latin typeface="Abadi"/>
                        </a:rPr>
                        <a:t>Randomised withdrawal</a:t>
                      </a:r>
                    </a:p>
                  </a:txBody>
                  <a:tcPr marL="73152" marR="73152" marT="27432" marB="27432" anchor="ctr">
                    <a:solidFill>
                      <a:srgbClr val="FFFFFF"/>
                    </a:solidFill>
                  </a:tcPr>
                </a:tc>
                <a:tc>
                  <a:txBody>
                    <a:bodyPr wrap="square"/>
                    <a:lstStyle/>
                    <a:p>
                      <a:r>
                        <a:rPr sz="1050" b="0">
                          <a:solidFill>
                            <a:srgbClr val="1A1A1A"/>
                          </a:solidFill>
                          <a:latin typeface="Abadi"/>
                        </a:rPr>
                        <a:t>On placebo, bile acids rose 94 µmol/L and itch 1.7 points; benefit held to week 204</a:t>
                      </a:r>
                    </a:p>
                  </a:txBody>
                  <a:tcPr marL="73152" marR="73152" marT="27432" marB="27432" anchor="ctr">
                    <a:solidFill>
                      <a:srgbClr val="FFFFFF"/>
                    </a:solidFill>
                  </a:tcPr>
                </a:tc>
              </a:tr>
              <a:tr h="429768">
                <a:tc>
                  <a:txBody>
                    <a:bodyPr wrap="square"/>
                    <a:lstStyle/>
                    <a:p>
                      <a:r>
                        <a:rPr sz="1050" b="1">
                          <a:solidFill>
                            <a:srgbClr val="1A1A1A"/>
                          </a:solidFill>
                          <a:latin typeface="Abadi"/>
                        </a:rPr>
                        <a:t>ASSERT</a:t>
                      </a:r>
                    </a:p>
                  </a:txBody>
                  <a:tcPr marL="73152" marR="73152" marT="27432" marB="27432" anchor="ctr">
                    <a:solidFill>
                      <a:srgbClr val="F2F2F2"/>
                    </a:solidFill>
                  </a:tcPr>
                </a:tc>
                <a:tc>
                  <a:txBody>
                    <a:bodyPr wrap="square"/>
                    <a:lstStyle/>
                    <a:p>
                      <a:r>
                        <a:rPr sz="1050" b="0">
                          <a:solidFill>
                            <a:srgbClr val="1A1A1A"/>
                          </a:solidFill>
                          <a:latin typeface="Abadi"/>
                        </a:rPr>
                        <a:t>Odevixibat, Alagille, n = 52</a:t>
                      </a:r>
                    </a:p>
                  </a:txBody>
                  <a:tcPr marL="73152" marR="73152" marT="27432" marB="27432" anchor="ctr">
                    <a:solidFill>
                      <a:srgbClr val="F2F2F2"/>
                    </a:solidFill>
                  </a:tcPr>
                </a:tc>
                <a:tc>
                  <a:txBody>
                    <a:bodyPr wrap="square"/>
                    <a:lstStyle/>
                    <a:p>
                      <a:r>
                        <a:rPr sz="1050" b="0">
                          <a:solidFill>
                            <a:srgbClr val="1A1A1A"/>
                          </a:solidFill>
                          <a:latin typeface="Abadi"/>
                        </a:rPr>
                        <a:t>Placebo-controlled, 24 weeks</a:t>
                      </a:r>
                    </a:p>
                  </a:txBody>
                  <a:tcPr marL="73152" marR="73152" marT="27432" marB="27432" anchor="ctr">
                    <a:solidFill>
                      <a:srgbClr val="F2F2F2"/>
                    </a:solidFill>
                  </a:tcPr>
                </a:tc>
                <a:tc>
                  <a:txBody>
                    <a:bodyPr wrap="square"/>
                    <a:lstStyle/>
                    <a:p>
                      <a:r>
                        <a:rPr sz="1050" b="0">
                          <a:solidFill>
                            <a:srgbClr val="1A1A1A"/>
                          </a:solidFill>
                          <a:latin typeface="Abadi"/>
                        </a:rPr>
                        <a:t>Scratch score −1.7 vs −0.8; bile acids −90 vs +22 µmol/L</a:t>
                      </a:r>
                    </a:p>
                  </a:txBody>
                  <a:tcPr marL="73152" marR="73152" marT="27432" marB="27432" anchor="ctr">
                    <a:solidFill>
                      <a:srgbClr val="F2F2F2"/>
                    </a:solidFill>
                  </a:tcPr>
                </a:tc>
              </a:tr>
              <a:tr h="429768">
                <a:tc>
                  <a:txBody>
                    <a:bodyPr wrap="square"/>
                    <a:lstStyle/>
                    <a:p>
                      <a:r>
                        <a:rPr sz="1050" b="1">
                          <a:solidFill>
                            <a:srgbClr val="1A1A1A"/>
                          </a:solidFill>
                          <a:latin typeface="Abadi"/>
                        </a:rPr>
                        <a:t>PEDFIC1</a:t>
                      </a:r>
                    </a:p>
                  </a:txBody>
                  <a:tcPr marL="73152" marR="73152" marT="27432" marB="27432" anchor="ctr">
                    <a:solidFill>
                      <a:srgbClr val="FFFFFF"/>
                    </a:solidFill>
                  </a:tcPr>
                </a:tc>
                <a:tc>
                  <a:txBody>
                    <a:bodyPr wrap="square"/>
                    <a:lstStyle/>
                    <a:p>
                      <a:r>
                        <a:rPr sz="1050" b="0">
                          <a:solidFill>
                            <a:srgbClr val="1A1A1A"/>
                          </a:solidFill>
                          <a:latin typeface="Abadi"/>
                        </a:rPr>
                        <a:t>Odevixibat, PFIC1 and 2, n = 62</a:t>
                      </a:r>
                    </a:p>
                  </a:txBody>
                  <a:tcPr marL="73152" marR="73152" marT="27432" marB="27432" anchor="ctr">
                    <a:solidFill>
                      <a:srgbClr val="FFFFFF"/>
                    </a:solidFill>
                  </a:tcPr>
                </a:tc>
                <a:tc>
                  <a:txBody>
                    <a:bodyPr wrap="square"/>
                    <a:lstStyle/>
                    <a:p>
                      <a:r>
                        <a:rPr sz="1050" b="0">
                          <a:solidFill>
                            <a:srgbClr val="1A1A1A"/>
                          </a:solidFill>
                          <a:latin typeface="Abadi"/>
                        </a:rPr>
                        <a:t>Placebo-controlled, 24 weeks</a:t>
                      </a:r>
                    </a:p>
                  </a:txBody>
                  <a:tcPr marL="73152" marR="73152" marT="27432" marB="27432" anchor="ctr">
                    <a:solidFill>
                      <a:srgbClr val="FFFFFF"/>
                    </a:solidFill>
                  </a:tcPr>
                </a:tc>
                <a:tc>
                  <a:txBody>
                    <a:bodyPr wrap="square"/>
                    <a:lstStyle/>
                    <a:p>
                      <a:r>
                        <a:rPr sz="1050" b="0">
                          <a:solidFill>
                            <a:srgbClr val="1A1A1A"/>
                          </a:solidFill>
                          <a:latin typeface="Abadi"/>
                        </a:rPr>
                        <a:t>Positive itch assessments 55% vs 30%; bile acid response 33% vs 0%</a:t>
                      </a:r>
                    </a:p>
                  </a:txBody>
                  <a:tcPr marL="73152" marR="73152" marT="27432" marB="27432" anchor="ctr">
                    <a:solidFill>
                      <a:srgbClr val="FFFFFF"/>
                    </a:solidFill>
                  </a:tcPr>
                </a:tc>
              </a:tr>
              <a:tr h="429768">
                <a:tc>
                  <a:txBody>
                    <a:bodyPr wrap="square"/>
                    <a:lstStyle/>
                    <a:p>
                      <a:r>
                        <a:rPr sz="1050" b="1">
                          <a:solidFill>
                            <a:srgbClr val="1A1A1A"/>
                          </a:solidFill>
                          <a:latin typeface="Abadi"/>
                        </a:rPr>
                        <a:t>MARCH-PFIC</a:t>
                      </a:r>
                    </a:p>
                  </a:txBody>
                  <a:tcPr marL="73152" marR="73152" marT="27432" marB="27432" anchor="ctr">
                    <a:solidFill>
                      <a:srgbClr val="F2F2F2"/>
                    </a:solidFill>
                  </a:tcPr>
                </a:tc>
                <a:tc>
                  <a:txBody>
                    <a:bodyPr wrap="square"/>
                    <a:lstStyle/>
                    <a:p>
                      <a:r>
                        <a:rPr sz="1050" b="0">
                          <a:solidFill>
                            <a:srgbClr val="1A1A1A"/>
                          </a:solidFill>
                          <a:latin typeface="Abadi"/>
                        </a:rPr>
                        <a:t>Maralixibat, PFIC, n = 93</a:t>
                      </a:r>
                    </a:p>
                  </a:txBody>
                  <a:tcPr marL="73152" marR="73152" marT="27432" marB="27432" anchor="ctr">
                    <a:solidFill>
                      <a:srgbClr val="F2F2F2"/>
                    </a:solidFill>
                  </a:tcPr>
                </a:tc>
                <a:tc>
                  <a:txBody>
                    <a:bodyPr wrap="square"/>
                    <a:lstStyle/>
                    <a:p>
                      <a:r>
                        <a:rPr sz="1050" b="0">
                          <a:solidFill>
                            <a:srgbClr val="1A1A1A"/>
                          </a:solidFill>
                          <a:latin typeface="Abadi"/>
                        </a:rPr>
                        <a:t>Placebo-controlled, 26 weeks</a:t>
                      </a:r>
                    </a:p>
                  </a:txBody>
                  <a:tcPr marL="73152" marR="73152" marT="27432" marB="27432" anchor="ctr">
                    <a:solidFill>
                      <a:srgbClr val="F2F2F2"/>
                    </a:solidFill>
                  </a:tcPr>
                </a:tc>
                <a:tc>
                  <a:txBody>
                    <a:bodyPr wrap="square"/>
                    <a:lstStyle/>
                    <a:p>
                      <a:r>
                        <a:rPr sz="1050" b="0">
                          <a:solidFill>
                            <a:srgbClr val="1A1A1A"/>
                          </a:solidFill>
                          <a:latin typeface="Abadi"/>
                        </a:rPr>
                        <a:t>BSEP cohort ItchRO −1.7 vs −0.6; diarrhoea 57% vs 20%</a:t>
                      </a:r>
                    </a:p>
                  </a:txBody>
                  <a:tcPr marL="73152" marR="73152" marT="27432" marB="27432" anchor="ctr">
                    <a:solidFill>
                      <a:srgbClr val="F2F2F2"/>
                    </a:solidFill>
                  </a:tcPr>
                </a:tc>
              </a:tr>
              <a:tr h="429768">
                <a:tc>
                  <a:txBody>
                    <a:bodyPr wrap="square"/>
                    <a:lstStyle/>
                    <a:p>
                      <a:r>
                        <a:rPr sz="1050" b="1">
                          <a:solidFill>
                            <a:srgbClr val="1A1A1A"/>
                          </a:solidFill>
                          <a:latin typeface="Abadi"/>
                        </a:rPr>
                        <a:t>EMBARK</a:t>
                      </a:r>
                    </a:p>
                  </a:txBody>
                  <a:tcPr marL="73152" marR="73152" marT="27432" marB="27432" anchor="ctr">
                    <a:solidFill>
                      <a:srgbClr val="FFFFFF"/>
                    </a:solidFill>
                  </a:tcPr>
                </a:tc>
                <a:tc>
                  <a:txBody>
                    <a:bodyPr wrap="square"/>
                    <a:lstStyle/>
                    <a:p>
                      <a:r>
                        <a:rPr sz="1050" b="0">
                          <a:solidFill>
                            <a:srgbClr val="1A1A1A"/>
                          </a:solidFill>
                          <a:latin typeface="Abadi"/>
                        </a:rPr>
                        <a:t>Maralixibat, after Kasai</a:t>
                      </a:r>
                    </a:p>
                  </a:txBody>
                  <a:tcPr marL="73152" marR="73152" marT="27432" marB="27432" anchor="ctr">
                    <a:solidFill>
                      <a:srgbClr val="FFFFFF"/>
                    </a:solidFill>
                  </a:tcPr>
                </a:tc>
                <a:tc>
                  <a:txBody>
                    <a:bodyPr wrap="square"/>
                    <a:lstStyle/>
                    <a:p>
                      <a:r>
                        <a:rPr sz="1050" b="0">
                          <a:solidFill>
                            <a:srgbClr val="1A1A1A"/>
                          </a:solidFill>
                          <a:latin typeface="Abadi"/>
                        </a:rPr>
                        <a:t>Phase 2b</a:t>
                      </a:r>
                    </a:p>
                  </a:txBody>
                  <a:tcPr marL="73152" marR="73152" marT="27432" marB="27432" anchor="ctr">
                    <a:solidFill>
                      <a:srgbClr val="FFFFFF"/>
                    </a:solidFill>
                  </a:tcPr>
                </a:tc>
                <a:tc>
                  <a:txBody>
                    <a:bodyPr wrap="square"/>
                    <a:lstStyle/>
                    <a:p>
                      <a:r>
                        <a:rPr sz="1050" b="0">
                          <a:solidFill>
                            <a:srgbClr val="1A1A1A"/>
                          </a:solidFill>
                          <a:latin typeface="Abadi"/>
                        </a:rPr>
                        <a:t>Missed bilirubin endpoint at 26 weeks</a:t>
                      </a:r>
                    </a:p>
                  </a:txBody>
                  <a:tcPr marL="73152" marR="73152" marT="27432" marB="27432" anchor="ctr">
                    <a:solidFill>
                      <a:srgbClr val="FFFFFF"/>
                    </a:solidFill>
                  </a:tcPr>
                </a:tc>
              </a:tr>
              <a:tr h="429768">
                <a:tc>
                  <a:txBody>
                    <a:bodyPr wrap="square"/>
                    <a:lstStyle/>
                    <a:p>
                      <a:r>
                        <a:rPr sz="1050" b="1">
                          <a:solidFill>
                            <a:srgbClr val="1A1A1A"/>
                          </a:solidFill>
                          <a:latin typeface="Abadi"/>
                        </a:rPr>
                        <a:t>BOLD</a:t>
                      </a:r>
                    </a:p>
                  </a:txBody>
                  <a:tcPr marL="73152" marR="73152" marT="27432" marB="27432" anchor="ctr">
                    <a:solidFill>
                      <a:srgbClr val="F2F2F2"/>
                    </a:solidFill>
                  </a:tcPr>
                </a:tc>
                <a:tc>
                  <a:txBody>
                    <a:bodyPr wrap="square"/>
                    <a:lstStyle/>
                    <a:p>
                      <a:r>
                        <a:rPr sz="1050" b="0">
                          <a:solidFill>
                            <a:srgbClr val="1A1A1A"/>
                          </a:solidFill>
                          <a:latin typeface="Abadi"/>
                        </a:rPr>
                        <a:t>Odevixibat, after Kasai, n = 254</a:t>
                      </a:r>
                    </a:p>
                  </a:txBody>
                  <a:tcPr marL="73152" marR="73152" marT="27432" marB="27432" anchor="ctr">
                    <a:solidFill>
                      <a:srgbClr val="F2F2F2"/>
                    </a:solidFill>
                  </a:tcPr>
                </a:tc>
                <a:tc>
                  <a:txBody>
                    <a:bodyPr wrap="square"/>
                    <a:lstStyle/>
                    <a:p>
                      <a:r>
                        <a:rPr sz="1050" b="0">
                          <a:solidFill>
                            <a:srgbClr val="1A1A1A"/>
                          </a:solidFill>
                          <a:latin typeface="Abadi"/>
                        </a:rPr>
                        <a:t>Phase 3, up to 104 weeks</a:t>
                      </a:r>
                    </a:p>
                  </a:txBody>
                  <a:tcPr marL="73152" marR="73152" marT="27432" marB="27432" anchor="ctr">
                    <a:solidFill>
                      <a:srgbClr val="F2F2F2"/>
                    </a:solidFill>
                  </a:tcPr>
                </a:tc>
                <a:tc>
                  <a:txBody>
                    <a:bodyPr wrap="square"/>
                    <a:lstStyle/>
                    <a:p>
                      <a:r>
                        <a:rPr sz="1050" b="0">
                          <a:solidFill>
                            <a:srgbClr val="1A1A1A"/>
                          </a:solidFill>
                          <a:latin typeface="Abadi"/>
                        </a:rPr>
                        <a:t>Missed native-liver survival endpoint (2026)</a:t>
                      </a:r>
                    </a:p>
                  </a:txBody>
                  <a:tcPr marL="73152" marR="73152" marT="27432" marB="27432" anchor="ctr">
                    <a:solidFill>
                      <a:srgbClr val="F2F2F2"/>
                    </a:solidFill>
                  </a:tcPr>
                </a:tc>
              </a:tr>
            </a:tbl>
          </a:graphicData>
        </a:graphic>
      </p:graphicFrame>
      <p:sp>
        <p:nvSpPr>
          <p:cNvPr id="13" name="TextBox 12"/>
          <p:cNvSpPr txBox="1"/>
          <p:nvPr/>
        </p:nvSpPr>
        <p:spPr>
          <a:xfrm>
            <a:off x="548640" y="5193792"/>
            <a:ext cx="11082528" cy="685800"/>
          </a:xfrm>
          <a:prstGeom prst="rect">
            <a:avLst/>
          </a:prstGeom>
          <a:noFill/>
        </p:spPr>
        <p:txBody>
          <a:bodyPr wrap="square" lIns="0" rIns="0" tIns="0" bIns="0" anchor="t">
            <a:spAutoFit/>
          </a:bodyPr>
          <a:lstStyle/>
          <a:p>
            <a:pPr algn="l"/>
            <a:r>
              <a:rPr sz="1200" b="1" i="0">
                <a:solidFill>
                  <a:srgbClr val="1B355E"/>
                </a:solidFill>
                <a:latin typeface="Abadi"/>
              </a:rPr>
              <a:t>Read across.  </a:t>
            </a:r>
            <a:r>
              <a:rPr sz="1200" b="0" i="0">
                <a:solidFill>
                  <a:srgbClr val="1A1A1A"/>
                </a:solidFill>
                <a:latin typeface="Abadi"/>
              </a:rPr>
              <a:t>The drugs work where bile acid secretion persists and itch is driven by retained bile acids. They have not changed outcome after a Kasai, and severe BSEP deficiency with no functional protein is excluded from the maralixibat label.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NUMBERS BEHIND THE LABEL</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BENEFIT AND COST OF IBAT INHIBITION</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PEDFIC1: odevixibat versus placebo in PFIC1 and PFIC2 over 24 weeks,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Thompson RJ, et al. Lancet Gastroenterol Hepatol 2022;7:830–42 · FDA and EMA labelling for odevixibat and maralixibat</a:t>
            </a:r>
          </a:p>
        </p:txBody>
      </p:sp>
      <p:sp>
        <p:nvSpPr>
          <p:cNvPr id="12" name="TextBox 11"/>
          <p:cNvSpPr txBox="1"/>
          <p:nvPr/>
        </p:nvSpPr>
        <p:spPr>
          <a:xfrm>
            <a:off x="640080" y="1810512"/>
            <a:ext cx="2286000" cy="228600"/>
          </a:xfrm>
          <a:prstGeom prst="rect">
            <a:avLst/>
          </a:prstGeom>
          <a:noFill/>
        </p:spPr>
        <p:txBody>
          <a:bodyPr wrap="square" lIns="0" rIns="0" tIns="0" bIns="0" anchor="t">
            <a:spAutoFit/>
          </a:bodyPr>
          <a:lstStyle/>
          <a:p>
            <a:pPr algn="l"/>
            <a:r>
              <a:rPr sz="1000" b="0" i="1">
                <a:solidFill>
                  <a:srgbClr val="7F7F7F"/>
                </a:solidFill>
                <a:latin typeface="Abadi"/>
              </a:rPr>
              <a:t>Per cent</a:t>
            </a:r>
          </a:p>
        </p:txBody>
      </p:sp>
      <p:sp>
        <p:nvSpPr>
          <p:cNvPr id="13" name="Rectangle 12"/>
          <p:cNvSpPr/>
          <p:nvPr/>
        </p:nvSpPr>
        <p:spPr>
          <a:xfrm>
            <a:off x="640080" y="5175504"/>
            <a:ext cx="6949440" cy="10972"/>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533" y="2474336"/>
            <a:ext cx="477773" cy="2701167"/>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1213" y="2200016"/>
            <a:ext cx="1026414" cy="237744"/>
          </a:xfrm>
          <a:prstGeom prst="rect">
            <a:avLst/>
          </a:prstGeom>
          <a:noFill/>
        </p:spPr>
        <p:txBody>
          <a:bodyPr wrap="square" lIns="0" rIns="0" tIns="0" bIns="0" anchor="b">
            <a:spAutoFit/>
          </a:bodyPr>
          <a:lstStyle/>
          <a:p>
            <a:pPr algn="ctr"/>
            <a:r>
              <a:rPr sz="1100" b="1" i="0">
                <a:solidFill>
                  <a:srgbClr val="1A1A1A"/>
                </a:solidFill>
                <a:latin typeface="Abadi"/>
              </a:rPr>
              <a:t>55</a:t>
            </a:r>
          </a:p>
        </p:txBody>
      </p:sp>
      <p:sp>
        <p:nvSpPr>
          <p:cNvPr id="16" name="TextBox 15"/>
          <p:cNvSpPr txBox="1"/>
          <p:nvPr/>
        </p:nvSpPr>
        <p:spPr>
          <a:xfrm>
            <a:off x="658368" y="5230368"/>
            <a:ext cx="832103" cy="512064"/>
          </a:xfrm>
          <a:prstGeom prst="rect">
            <a:avLst/>
          </a:prstGeom>
          <a:noFill/>
        </p:spPr>
        <p:txBody>
          <a:bodyPr wrap="square" lIns="0" rIns="0" tIns="0" bIns="0" anchor="t">
            <a:spAutoFit/>
          </a:bodyPr>
          <a:lstStyle/>
          <a:p>
            <a:pPr algn="ctr"/>
            <a:r>
              <a:rPr sz="950" b="0" i="0">
                <a:solidFill>
                  <a:srgbClr val="555555"/>
                </a:solidFill>
                <a:latin typeface="Abadi"/>
              </a:rPr>
              <a:t>Positive itch, odevixibat</a:t>
            </a:r>
          </a:p>
        </p:txBody>
      </p:sp>
      <p:sp>
        <p:nvSpPr>
          <p:cNvPr id="17" name="Rectangle 16"/>
          <p:cNvSpPr/>
          <p:nvPr/>
        </p:nvSpPr>
        <p:spPr>
          <a:xfrm>
            <a:off x="1704213" y="3702140"/>
            <a:ext cx="477773" cy="1473363"/>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9893" y="3427820"/>
            <a:ext cx="1026414" cy="237744"/>
          </a:xfrm>
          <a:prstGeom prst="rect">
            <a:avLst/>
          </a:prstGeom>
          <a:noFill/>
        </p:spPr>
        <p:txBody>
          <a:bodyPr wrap="square" lIns="0" rIns="0" tIns="0" bIns="0" anchor="b">
            <a:spAutoFit/>
          </a:bodyPr>
          <a:lstStyle/>
          <a:p>
            <a:pPr algn="ctr"/>
            <a:r>
              <a:rPr sz="1100" b="1" i="0">
                <a:solidFill>
                  <a:srgbClr val="1A1A1A"/>
                </a:solidFill>
                <a:latin typeface="Abadi"/>
              </a:rPr>
              <a:t>30</a:t>
            </a:r>
          </a:p>
        </p:txBody>
      </p:sp>
      <p:sp>
        <p:nvSpPr>
          <p:cNvPr id="19" name="TextBox 18"/>
          <p:cNvSpPr txBox="1"/>
          <p:nvPr/>
        </p:nvSpPr>
        <p:spPr>
          <a:xfrm>
            <a:off x="1527048" y="5230368"/>
            <a:ext cx="832103" cy="512064"/>
          </a:xfrm>
          <a:prstGeom prst="rect">
            <a:avLst/>
          </a:prstGeom>
          <a:noFill/>
        </p:spPr>
        <p:txBody>
          <a:bodyPr wrap="square" lIns="0" rIns="0" tIns="0" bIns="0" anchor="t">
            <a:spAutoFit/>
          </a:bodyPr>
          <a:lstStyle/>
          <a:p>
            <a:pPr algn="ctr"/>
            <a:r>
              <a:rPr sz="950" b="0" i="0">
                <a:solidFill>
                  <a:srgbClr val="555555"/>
                </a:solidFill>
                <a:latin typeface="Abadi"/>
              </a:rPr>
              <a:t>Positive itch, placebo</a:t>
            </a:r>
          </a:p>
        </p:txBody>
      </p:sp>
      <p:sp>
        <p:nvSpPr>
          <p:cNvPr id="20" name="Rectangle 19"/>
          <p:cNvSpPr/>
          <p:nvPr/>
        </p:nvSpPr>
        <p:spPr>
          <a:xfrm>
            <a:off x="2572893" y="3554803"/>
            <a:ext cx="477773" cy="162070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98573" y="3280483"/>
            <a:ext cx="1026414" cy="237744"/>
          </a:xfrm>
          <a:prstGeom prst="rect">
            <a:avLst/>
          </a:prstGeom>
          <a:noFill/>
        </p:spPr>
        <p:txBody>
          <a:bodyPr wrap="square" lIns="0" rIns="0" tIns="0" bIns="0" anchor="b">
            <a:spAutoFit/>
          </a:bodyPr>
          <a:lstStyle/>
          <a:p>
            <a:pPr algn="ctr"/>
            <a:r>
              <a:rPr sz="1100" b="1" i="0">
                <a:solidFill>
                  <a:srgbClr val="1A1A1A"/>
                </a:solidFill>
                <a:latin typeface="Abadi"/>
              </a:rPr>
              <a:t>33</a:t>
            </a:r>
          </a:p>
        </p:txBody>
      </p:sp>
      <p:sp>
        <p:nvSpPr>
          <p:cNvPr id="22" name="TextBox 21"/>
          <p:cNvSpPr txBox="1"/>
          <p:nvPr/>
        </p:nvSpPr>
        <p:spPr>
          <a:xfrm>
            <a:off x="2395727" y="5230368"/>
            <a:ext cx="832103" cy="512064"/>
          </a:xfrm>
          <a:prstGeom prst="rect">
            <a:avLst/>
          </a:prstGeom>
          <a:noFill/>
        </p:spPr>
        <p:txBody>
          <a:bodyPr wrap="square" lIns="0" rIns="0" tIns="0" bIns="0" anchor="t">
            <a:spAutoFit/>
          </a:bodyPr>
          <a:lstStyle/>
          <a:p>
            <a:pPr algn="ctr"/>
            <a:r>
              <a:rPr sz="950" b="0" i="0">
                <a:solidFill>
                  <a:srgbClr val="555555"/>
                </a:solidFill>
                <a:latin typeface="Abadi"/>
              </a:rPr>
              <a:t>Bile acid response, odevixibat</a:t>
            </a:r>
          </a:p>
        </p:txBody>
      </p:sp>
      <p:sp>
        <p:nvSpPr>
          <p:cNvPr id="23" name="Rectangle 22"/>
          <p:cNvSpPr/>
          <p:nvPr/>
        </p:nvSpPr>
        <p:spPr>
          <a:xfrm>
            <a:off x="3441573" y="5148072"/>
            <a:ext cx="477773" cy="2743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67253" y="4873752"/>
            <a:ext cx="1026414" cy="237744"/>
          </a:xfrm>
          <a:prstGeom prst="rect">
            <a:avLst/>
          </a:prstGeom>
          <a:noFill/>
        </p:spPr>
        <p:txBody>
          <a:bodyPr wrap="square" lIns="0" rIns="0" tIns="0" bIns="0" anchor="b">
            <a:spAutoFit/>
          </a:bodyPr>
          <a:lstStyle/>
          <a:p>
            <a:pPr algn="ctr"/>
            <a:r>
              <a:rPr sz="1100" b="1" i="0">
                <a:solidFill>
                  <a:srgbClr val="1A1A1A"/>
                </a:solidFill>
                <a:latin typeface="Abadi"/>
              </a:rPr>
              <a:t>0</a:t>
            </a:r>
          </a:p>
        </p:txBody>
      </p:sp>
      <p:sp>
        <p:nvSpPr>
          <p:cNvPr id="25" name="TextBox 24"/>
          <p:cNvSpPr txBox="1"/>
          <p:nvPr/>
        </p:nvSpPr>
        <p:spPr>
          <a:xfrm>
            <a:off x="3264408" y="5230368"/>
            <a:ext cx="832103" cy="512064"/>
          </a:xfrm>
          <a:prstGeom prst="rect">
            <a:avLst/>
          </a:prstGeom>
          <a:noFill/>
        </p:spPr>
        <p:txBody>
          <a:bodyPr wrap="square" lIns="0" rIns="0" tIns="0" bIns="0" anchor="t">
            <a:spAutoFit/>
          </a:bodyPr>
          <a:lstStyle/>
          <a:p>
            <a:pPr algn="ctr"/>
            <a:r>
              <a:rPr sz="950" b="0" i="0">
                <a:solidFill>
                  <a:srgbClr val="555555"/>
                </a:solidFill>
                <a:latin typeface="Abadi"/>
              </a:rPr>
              <a:t>Bile acid response, placebo</a:t>
            </a:r>
          </a:p>
        </p:txBody>
      </p:sp>
      <p:sp>
        <p:nvSpPr>
          <p:cNvPr id="26" name="Rectangle 25"/>
          <p:cNvSpPr/>
          <p:nvPr/>
        </p:nvSpPr>
        <p:spPr>
          <a:xfrm>
            <a:off x="4310253" y="3653028"/>
            <a:ext cx="477773" cy="1522475"/>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35933" y="3378708"/>
            <a:ext cx="1026414" cy="237744"/>
          </a:xfrm>
          <a:prstGeom prst="rect">
            <a:avLst/>
          </a:prstGeom>
          <a:noFill/>
        </p:spPr>
        <p:txBody>
          <a:bodyPr wrap="square" lIns="0" rIns="0" tIns="0" bIns="0" anchor="b">
            <a:spAutoFit/>
          </a:bodyPr>
          <a:lstStyle/>
          <a:p>
            <a:pPr algn="ctr"/>
            <a:r>
              <a:rPr sz="1100" b="1" i="0">
                <a:solidFill>
                  <a:srgbClr val="1A1A1A"/>
                </a:solidFill>
                <a:latin typeface="Abadi"/>
              </a:rPr>
              <a:t>31</a:t>
            </a:r>
          </a:p>
        </p:txBody>
      </p:sp>
      <p:sp>
        <p:nvSpPr>
          <p:cNvPr id="28" name="TextBox 27"/>
          <p:cNvSpPr txBox="1"/>
          <p:nvPr/>
        </p:nvSpPr>
        <p:spPr>
          <a:xfrm>
            <a:off x="4133087" y="5230368"/>
            <a:ext cx="832103" cy="512064"/>
          </a:xfrm>
          <a:prstGeom prst="rect">
            <a:avLst/>
          </a:prstGeom>
          <a:noFill/>
        </p:spPr>
        <p:txBody>
          <a:bodyPr wrap="square" lIns="0" rIns="0" tIns="0" bIns="0" anchor="t">
            <a:spAutoFit/>
          </a:bodyPr>
          <a:lstStyle/>
          <a:p>
            <a:pPr algn="ctr"/>
            <a:r>
              <a:rPr sz="950" b="0" i="0">
                <a:solidFill>
                  <a:srgbClr val="555555"/>
                </a:solidFill>
                <a:latin typeface="Abadi"/>
              </a:rPr>
              <a:t>Diarrhoea, odevixibat</a:t>
            </a:r>
          </a:p>
        </p:txBody>
      </p:sp>
      <p:sp>
        <p:nvSpPr>
          <p:cNvPr id="29" name="Rectangle 28"/>
          <p:cNvSpPr/>
          <p:nvPr/>
        </p:nvSpPr>
        <p:spPr>
          <a:xfrm>
            <a:off x="5178933" y="4684382"/>
            <a:ext cx="477773" cy="491121"/>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4613" y="4410062"/>
            <a:ext cx="1026414" cy="237744"/>
          </a:xfrm>
          <a:prstGeom prst="rect">
            <a:avLst/>
          </a:prstGeom>
          <a:noFill/>
        </p:spPr>
        <p:txBody>
          <a:bodyPr wrap="square" lIns="0" rIns="0" tIns="0" bIns="0" anchor="b">
            <a:spAutoFit/>
          </a:bodyPr>
          <a:lstStyle/>
          <a:p>
            <a:pPr algn="ctr"/>
            <a:r>
              <a:rPr sz="1100" b="1" i="0">
                <a:solidFill>
                  <a:srgbClr val="1A1A1A"/>
                </a:solidFill>
                <a:latin typeface="Abadi"/>
              </a:rPr>
              <a:t>10</a:t>
            </a:r>
          </a:p>
        </p:txBody>
      </p:sp>
      <p:sp>
        <p:nvSpPr>
          <p:cNvPr id="31" name="TextBox 30"/>
          <p:cNvSpPr txBox="1"/>
          <p:nvPr/>
        </p:nvSpPr>
        <p:spPr>
          <a:xfrm>
            <a:off x="5001768" y="5230368"/>
            <a:ext cx="832103" cy="512064"/>
          </a:xfrm>
          <a:prstGeom prst="rect">
            <a:avLst/>
          </a:prstGeom>
          <a:noFill/>
        </p:spPr>
        <p:txBody>
          <a:bodyPr wrap="square" lIns="0" rIns="0" tIns="0" bIns="0" anchor="t">
            <a:spAutoFit/>
          </a:bodyPr>
          <a:lstStyle/>
          <a:p>
            <a:pPr algn="ctr"/>
            <a:r>
              <a:rPr sz="950" b="0" i="0">
                <a:solidFill>
                  <a:srgbClr val="555555"/>
                </a:solidFill>
                <a:latin typeface="Abadi"/>
              </a:rPr>
              <a:t>Diarrhoea, placebo</a:t>
            </a:r>
          </a:p>
        </p:txBody>
      </p:sp>
      <p:sp>
        <p:nvSpPr>
          <p:cNvPr id="32" name="Rectangle 31"/>
          <p:cNvSpPr/>
          <p:nvPr/>
        </p:nvSpPr>
        <p:spPr>
          <a:xfrm>
            <a:off x="6047613" y="4831719"/>
            <a:ext cx="477773" cy="3437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73293" y="4557399"/>
            <a:ext cx="1026414" cy="237744"/>
          </a:xfrm>
          <a:prstGeom prst="rect">
            <a:avLst/>
          </a:prstGeom>
          <a:noFill/>
        </p:spPr>
        <p:txBody>
          <a:bodyPr wrap="square" lIns="0" rIns="0" tIns="0" bIns="0" anchor="b">
            <a:spAutoFit/>
          </a:bodyPr>
          <a:lstStyle/>
          <a:p>
            <a:pPr algn="ctr"/>
            <a:r>
              <a:rPr sz="1100" b="1" i="0">
                <a:solidFill>
                  <a:srgbClr val="1A1A1A"/>
                </a:solidFill>
                <a:latin typeface="Abadi"/>
              </a:rPr>
              <a:t>7</a:t>
            </a:r>
          </a:p>
        </p:txBody>
      </p:sp>
      <p:sp>
        <p:nvSpPr>
          <p:cNvPr id="34" name="TextBox 33"/>
          <p:cNvSpPr txBox="1"/>
          <p:nvPr/>
        </p:nvSpPr>
        <p:spPr>
          <a:xfrm>
            <a:off x="5870447" y="5230368"/>
            <a:ext cx="832103" cy="512064"/>
          </a:xfrm>
          <a:prstGeom prst="rect">
            <a:avLst/>
          </a:prstGeom>
          <a:noFill/>
        </p:spPr>
        <p:txBody>
          <a:bodyPr wrap="square" lIns="0" rIns="0" tIns="0" bIns="0" anchor="t">
            <a:spAutoFit/>
          </a:bodyPr>
          <a:lstStyle/>
          <a:p>
            <a:pPr algn="ctr"/>
            <a:r>
              <a:rPr sz="950" b="0" i="0">
                <a:solidFill>
                  <a:srgbClr val="555555"/>
                </a:solidFill>
                <a:latin typeface="Abadi"/>
              </a:rPr>
              <a:t>Serious AE, odevixibat</a:t>
            </a:r>
          </a:p>
        </p:txBody>
      </p:sp>
      <p:sp>
        <p:nvSpPr>
          <p:cNvPr id="35" name="Rectangle 34"/>
          <p:cNvSpPr/>
          <p:nvPr/>
        </p:nvSpPr>
        <p:spPr>
          <a:xfrm>
            <a:off x="6916293" y="3947700"/>
            <a:ext cx="477773" cy="1227803"/>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41973" y="3673380"/>
            <a:ext cx="1026414" cy="237744"/>
          </a:xfrm>
          <a:prstGeom prst="rect">
            <a:avLst/>
          </a:prstGeom>
          <a:noFill/>
        </p:spPr>
        <p:txBody>
          <a:bodyPr wrap="square" lIns="0" rIns="0" tIns="0" bIns="0" anchor="b">
            <a:spAutoFit/>
          </a:bodyPr>
          <a:lstStyle/>
          <a:p>
            <a:pPr algn="ctr"/>
            <a:r>
              <a:rPr sz="1100" b="1" i="0">
                <a:solidFill>
                  <a:srgbClr val="1A1A1A"/>
                </a:solidFill>
                <a:latin typeface="Abadi"/>
              </a:rPr>
              <a:t>25</a:t>
            </a:r>
          </a:p>
        </p:txBody>
      </p:sp>
      <p:sp>
        <p:nvSpPr>
          <p:cNvPr id="37" name="TextBox 36"/>
          <p:cNvSpPr txBox="1"/>
          <p:nvPr/>
        </p:nvSpPr>
        <p:spPr>
          <a:xfrm>
            <a:off x="6739127" y="5230368"/>
            <a:ext cx="832103" cy="512064"/>
          </a:xfrm>
          <a:prstGeom prst="rect">
            <a:avLst/>
          </a:prstGeom>
          <a:noFill/>
        </p:spPr>
        <p:txBody>
          <a:bodyPr wrap="square" lIns="0" rIns="0" tIns="0" bIns="0" anchor="t">
            <a:spAutoFit/>
          </a:bodyPr>
          <a:lstStyle/>
          <a:p>
            <a:pPr algn="ctr"/>
            <a:r>
              <a:rPr sz="950" b="0" i="0">
                <a:solidFill>
                  <a:srgbClr val="555555"/>
                </a:solidFill>
                <a:latin typeface="Abadi"/>
              </a:rPr>
              <a:t>Serious AE, placebo</a:t>
            </a:r>
          </a:p>
        </p:txBody>
      </p:sp>
      <p:sp>
        <p:nvSpPr>
          <p:cNvPr id="38" name="TextBox 37"/>
          <p:cNvSpPr txBox="1"/>
          <p:nvPr/>
        </p:nvSpPr>
        <p:spPr>
          <a:xfrm>
            <a:off x="7818120" y="1773936"/>
            <a:ext cx="3813048" cy="4023360"/>
          </a:xfrm>
          <a:prstGeom prst="rect">
            <a:avLst/>
          </a:prstGeom>
          <a:noFill/>
        </p:spPr>
        <p:txBody>
          <a:bodyPr wrap="square" lIns="0" rIns="0" tIns="0" bIns="0" anchor="t">
            <a:spAutoFit/>
          </a:bodyPr>
          <a:lstStyle/>
          <a:p>
            <a:pPr algn="l"/>
            <a:r>
              <a:rPr sz="1700" b="1" i="0">
                <a:solidFill>
                  <a:srgbClr val="1B355E"/>
                </a:solidFill>
                <a:latin typeface="Abadi"/>
              </a:rPr>
              <a:t>1 in 3</a:t>
            </a:r>
          </a:p>
          <a:p>
            <a:pPr algn="l">
              <a:spcBef>
                <a:spcPts val="200"/>
              </a:spcBef>
            </a:pPr>
            <a:r>
              <a:rPr sz="1100" b="0" i="0">
                <a:solidFill>
                  <a:srgbClr val="1A1A1A"/>
                </a:solidFill>
                <a:latin typeface="Abadi"/>
              </a:rPr>
              <a:t>Achieved a bile acid response; responders are the patients in whom native-liver survival may improve.</a:t>
            </a:r>
          </a:p>
          <a:p>
            <a:pPr algn="l">
              <a:spcBef>
                <a:spcPts val="900"/>
              </a:spcBef>
            </a:pPr>
            <a:r>
              <a:rPr sz="1700" b="1" i="0">
                <a:solidFill>
                  <a:srgbClr val="1B355E"/>
                </a:solidFill>
                <a:latin typeface="Abadi"/>
              </a:rPr>
              <a:t>Diarrhoea</a:t>
            </a:r>
          </a:p>
          <a:p>
            <a:pPr algn="l">
              <a:spcBef>
                <a:spcPts val="200"/>
              </a:spcBef>
            </a:pPr>
            <a:r>
              <a:rPr sz="1100" b="0" i="0">
                <a:solidFill>
                  <a:srgbClr val="1A1A1A"/>
                </a:solidFill>
                <a:latin typeface="Abadi"/>
              </a:rPr>
              <a:t>The class effect: 31% vs 10% here, 57% vs 20% in MARCH-PFIC; watch fat-soluble vitamins, which may fall further.</a:t>
            </a:r>
          </a:p>
          <a:p>
            <a:pPr algn="l">
              <a:spcBef>
                <a:spcPts val="900"/>
              </a:spcBef>
            </a:pPr>
            <a:r>
              <a:rPr sz="1700" b="1" i="0">
                <a:solidFill>
                  <a:srgbClr val="1B355E"/>
                </a:solidFill>
                <a:latin typeface="Abadi"/>
              </a:rPr>
              <a:t>Labels in 2026</a:t>
            </a:r>
          </a:p>
          <a:p>
            <a:pPr algn="l">
              <a:spcBef>
                <a:spcPts val="200"/>
              </a:spcBef>
            </a:pPr>
            <a:r>
              <a:rPr sz="1100" b="0" i="0">
                <a:solidFill>
                  <a:srgbClr val="1A1A1A"/>
                </a:solidFill>
                <a:latin typeface="Abadi"/>
              </a:rPr>
              <a:t>FDA: odevixibat PFIC ≥ 3 months, Alagille ≥ 12 months; maralixibat Alagille ≥ 3 months, PFIC ≥ 12 months. EMA: odevixibat PFIC and Alagille ≥ 6 months.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SURVEILLANCE</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WHAT TO WATCH, AND HOW OFTEN</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Monitoring the cholestatic infant regardless of cause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Mouzaki M, et al. JPGN 2019;69:498–511 · Martinez M, et al. AASLD/AST/NASPGHAN paediatric transplant evaluation guideline. Hepatology 2026 · Kim KY, et al. Sci Rep 2021;11:4134</a:t>
            </a:r>
          </a:p>
        </p:txBody>
      </p:sp>
      <p:graphicFrame>
        <p:nvGraphicFramePr>
          <p:cNvPr id="12" name="Table 11"/>
          <p:cNvGraphicFramePr>
            <a:graphicFrameLocks noGrp="1"/>
          </p:cNvGraphicFramePr>
          <p:nvPr/>
        </p:nvGraphicFramePr>
        <p:xfrm>
          <a:off x="548640" y="1773936"/>
          <a:ext cx="11082528" cy="3200400"/>
        </p:xfrm>
        <a:graphic>
          <a:graphicData uri="http://schemas.openxmlformats.org/drawingml/2006/table">
            <a:tbl>
              <a:tblPr firstRow="0" bandRow="0">
                <a:tableStyleId>{5C22544A-7EE6-4342-B048-85BDC9FD1C3A}</a:tableStyleId>
              </a:tblPr>
              <a:tblGrid>
                <a:gridCol w="2377440"/>
                <a:gridCol w="4937760"/>
                <a:gridCol w="3767328"/>
              </a:tblGrid>
              <a:tr h="457200">
                <a:tc>
                  <a:txBody>
                    <a:bodyPr wrap="square"/>
                    <a:lstStyle/>
                    <a:p>
                      <a:r>
                        <a:rPr sz="1050" b="1">
                          <a:solidFill>
                            <a:srgbClr val="FFFFFF"/>
                          </a:solidFill>
                          <a:latin typeface="Abadi"/>
                        </a:rPr>
                        <a:t>Domain</a:t>
                      </a:r>
                    </a:p>
                  </a:txBody>
                  <a:tcPr marL="73152" marR="73152" marT="27432" marB="27432" anchor="ctr">
                    <a:solidFill>
                      <a:srgbClr val="1B355E"/>
                    </a:solidFill>
                  </a:tcPr>
                </a:tc>
                <a:tc>
                  <a:txBody>
                    <a:bodyPr wrap="square"/>
                    <a:lstStyle/>
                    <a:p>
                      <a:r>
                        <a:rPr sz="1050" b="1">
                          <a:solidFill>
                            <a:srgbClr val="FFFFFF"/>
                          </a:solidFill>
                          <a:latin typeface="Abadi"/>
                        </a:rPr>
                        <a:t>What</a:t>
                      </a:r>
                    </a:p>
                  </a:txBody>
                  <a:tcPr marL="73152" marR="73152" marT="27432" marB="27432" anchor="ctr">
                    <a:solidFill>
                      <a:srgbClr val="1B355E"/>
                    </a:solidFill>
                  </a:tcPr>
                </a:tc>
                <a:tc>
                  <a:txBody>
                    <a:bodyPr wrap="square"/>
                    <a:lstStyle/>
                    <a:p>
                      <a:r>
                        <a:rPr sz="1050" b="1">
                          <a:solidFill>
                            <a:srgbClr val="FFFFFF"/>
                          </a:solidFill>
                          <a:latin typeface="Abadi"/>
                        </a:rPr>
                        <a:t>When</a:t>
                      </a:r>
                    </a:p>
                  </a:txBody>
                  <a:tcPr marL="73152" marR="73152" marT="27432" marB="27432" anchor="ctr">
                    <a:solidFill>
                      <a:srgbClr val="1B355E"/>
                    </a:solidFill>
                  </a:tcPr>
                </a:tc>
              </a:tr>
              <a:tr h="457200">
                <a:tc>
                  <a:txBody>
                    <a:bodyPr wrap="square"/>
                    <a:lstStyle/>
                    <a:p>
                      <a:r>
                        <a:rPr sz="1100" b="1">
                          <a:solidFill>
                            <a:srgbClr val="1A1A1A"/>
                          </a:solidFill>
                          <a:latin typeface="Abadi"/>
                        </a:rPr>
                        <a:t>Growth</a:t>
                      </a:r>
                    </a:p>
                  </a:txBody>
                  <a:tcPr marL="73152" marR="73152" marT="27432" marB="27432" anchor="ctr">
                    <a:solidFill>
                      <a:srgbClr val="FFFFFF"/>
                    </a:solidFill>
                  </a:tcPr>
                </a:tc>
                <a:tc>
                  <a:txBody>
                    <a:bodyPr wrap="square"/>
                    <a:lstStyle/>
                    <a:p>
                      <a:r>
                        <a:rPr sz="1100" b="0">
                          <a:solidFill>
                            <a:srgbClr val="1A1A1A"/>
                          </a:solidFill>
                          <a:latin typeface="Abadi"/>
                        </a:rPr>
                        <a:t>Weight, length, head, MUAC, triceps skinfold</a:t>
                      </a:r>
                    </a:p>
                  </a:txBody>
                  <a:tcPr marL="73152" marR="73152" marT="27432" marB="27432" anchor="ctr">
                    <a:solidFill>
                      <a:srgbClr val="FFFFFF"/>
                    </a:solidFill>
                  </a:tcPr>
                </a:tc>
                <a:tc>
                  <a:txBody>
                    <a:bodyPr wrap="square"/>
                    <a:lstStyle/>
                    <a:p>
                      <a:r>
                        <a:rPr sz="1100" b="0">
                          <a:solidFill>
                            <a:srgbClr val="1A1A1A"/>
                          </a:solidFill>
                          <a:latin typeface="Abadi"/>
                        </a:rPr>
                        <a:t>Every 2–4 weeks in infancy</a:t>
                      </a:r>
                    </a:p>
                  </a:txBody>
                  <a:tcPr marL="73152" marR="73152" marT="27432" marB="27432" anchor="ctr">
                    <a:solidFill>
                      <a:srgbClr val="FFFFFF"/>
                    </a:solidFill>
                  </a:tcPr>
                </a:tc>
              </a:tr>
              <a:tr h="457200">
                <a:tc>
                  <a:txBody>
                    <a:bodyPr wrap="square"/>
                    <a:lstStyle/>
                    <a:p>
                      <a:r>
                        <a:rPr sz="1100" b="1">
                          <a:solidFill>
                            <a:srgbClr val="1A1A1A"/>
                          </a:solidFill>
                          <a:latin typeface="Abadi"/>
                        </a:rPr>
                        <a:t>Vitamins</a:t>
                      </a:r>
                    </a:p>
                  </a:txBody>
                  <a:tcPr marL="73152" marR="73152" marT="27432" marB="27432" anchor="ctr">
                    <a:solidFill>
                      <a:srgbClr val="F2F2F2"/>
                    </a:solidFill>
                  </a:tcPr>
                </a:tc>
                <a:tc>
                  <a:txBody>
                    <a:bodyPr wrap="square"/>
                    <a:lstStyle/>
                    <a:p>
                      <a:r>
                        <a:rPr sz="1100" b="0">
                          <a:solidFill>
                            <a:srgbClr val="1A1A1A"/>
                          </a:solidFill>
                          <a:latin typeface="Abadi"/>
                        </a:rPr>
                        <a:t>Retinol:RBP, 25-OH D, vitamin E:lipid ratio, INR ± PIVKA-II</a:t>
                      </a:r>
                    </a:p>
                  </a:txBody>
                  <a:tcPr marL="73152" marR="73152" marT="27432" marB="27432" anchor="ctr">
                    <a:solidFill>
                      <a:srgbClr val="F2F2F2"/>
                    </a:solidFill>
                  </a:tcPr>
                </a:tc>
                <a:tc>
                  <a:txBody>
                    <a:bodyPr wrap="square"/>
                    <a:lstStyle/>
                    <a:p>
                      <a:r>
                        <a:rPr sz="1100" b="0">
                          <a:solidFill>
                            <a:srgbClr val="1A1A1A"/>
                          </a:solidFill>
                          <a:latin typeface="Abadi"/>
                        </a:rPr>
                        <a:t>Every 3–6 months; monthly if severely cholestatic</a:t>
                      </a:r>
                    </a:p>
                  </a:txBody>
                  <a:tcPr marL="73152" marR="73152" marT="27432" marB="27432" anchor="ctr">
                    <a:solidFill>
                      <a:srgbClr val="F2F2F2"/>
                    </a:solidFill>
                  </a:tcPr>
                </a:tc>
              </a:tr>
              <a:tr h="457200">
                <a:tc>
                  <a:txBody>
                    <a:bodyPr wrap="square"/>
                    <a:lstStyle/>
                    <a:p>
                      <a:r>
                        <a:rPr sz="1100" b="1">
                          <a:solidFill>
                            <a:srgbClr val="1A1A1A"/>
                          </a:solidFill>
                          <a:latin typeface="Abadi"/>
                        </a:rPr>
                        <a:t>Fatty acids and kidney</a:t>
                      </a:r>
                    </a:p>
                  </a:txBody>
                  <a:tcPr marL="73152" marR="73152" marT="27432" marB="27432" anchor="ctr">
                    <a:solidFill>
                      <a:srgbClr val="FFFFFF"/>
                    </a:solidFill>
                  </a:tcPr>
                </a:tc>
                <a:tc>
                  <a:txBody>
                    <a:bodyPr wrap="square"/>
                    <a:lstStyle/>
                    <a:p>
                      <a:r>
                        <a:rPr sz="1100" b="0">
                          <a:solidFill>
                            <a:srgbClr val="1A1A1A"/>
                          </a:solidFill>
                          <a:latin typeface="Abadi"/>
                        </a:rPr>
                        <a:t>Red-cell fatty acid profile; urea and creatinine</a:t>
                      </a:r>
                    </a:p>
                  </a:txBody>
                  <a:tcPr marL="73152" marR="73152" marT="27432" marB="27432" anchor="ctr">
                    <a:solidFill>
                      <a:srgbClr val="FFFFFF"/>
                    </a:solidFill>
                  </a:tcPr>
                </a:tc>
                <a:tc>
                  <a:txBody>
                    <a:bodyPr wrap="square"/>
                    <a:lstStyle/>
                    <a:p>
                      <a:r>
                        <a:rPr sz="1100" b="0">
                          <a:solidFill>
                            <a:srgbClr val="1A1A1A"/>
                          </a:solidFill>
                          <a:latin typeface="Abadi"/>
                        </a:rPr>
                        <a:t>Every 3–6 months; every 3 months</a:t>
                      </a:r>
                    </a:p>
                  </a:txBody>
                  <a:tcPr marL="73152" marR="73152" marT="27432" marB="27432" anchor="ctr">
                    <a:solidFill>
                      <a:srgbClr val="FFFFFF"/>
                    </a:solidFill>
                  </a:tcPr>
                </a:tc>
              </a:tr>
              <a:tr h="457200">
                <a:tc>
                  <a:txBody>
                    <a:bodyPr wrap="square"/>
                    <a:lstStyle/>
                    <a:p>
                      <a:r>
                        <a:rPr sz="1100" b="1">
                          <a:solidFill>
                            <a:srgbClr val="1A1A1A"/>
                          </a:solidFill>
                          <a:latin typeface="Abadi"/>
                        </a:rPr>
                        <a:t>Portal hypertension</a:t>
                      </a:r>
                    </a:p>
                  </a:txBody>
                  <a:tcPr marL="73152" marR="73152" marT="27432" marB="27432" anchor="ctr">
                    <a:solidFill>
                      <a:srgbClr val="F2F2F2"/>
                    </a:solidFill>
                  </a:tcPr>
                </a:tc>
                <a:tc>
                  <a:txBody>
                    <a:bodyPr wrap="square"/>
                    <a:lstStyle/>
                    <a:p>
                      <a:r>
                        <a:rPr sz="1100" b="0">
                          <a:solidFill>
                            <a:srgbClr val="1A1A1A"/>
                          </a:solidFill>
                          <a:latin typeface="Abadi"/>
                        </a:rPr>
                        <a:t>Spleen size, platelet count, ultrasound with Doppler</a:t>
                      </a:r>
                    </a:p>
                  </a:txBody>
                  <a:tcPr marL="73152" marR="73152" marT="27432" marB="27432" anchor="ctr">
                    <a:solidFill>
                      <a:srgbClr val="F2F2F2"/>
                    </a:solidFill>
                  </a:tcPr>
                </a:tc>
                <a:tc>
                  <a:txBody>
                    <a:bodyPr wrap="square"/>
                    <a:lstStyle/>
                    <a:p>
                      <a:r>
                        <a:rPr sz="1100" b="0">
                          <a:solidFill>
                            <a:srgbClr val="1A1A1A"/>
                          </a:solidFill>
                          <a:latin typeface="Abadi"/>
                        </a:rPr>
                        <a:t>Each visit; imaging by course</a:t>
                      </a:r>
                    </a:p>
                  </a:txBody>
                  <a:tcPr marL="73152" marR="73152" marT="27432" marB="27432" anchor="ctr">
                    <a:solidFill>
                      <a:srgbClr val="F2F2F2"/>
                    </a:solidFill>
                  </a:tcPr>
                </a:tc>
              </a:tr>
              <a:tr h="457200">
                <a:tc>
                  <a:txBody>
                    <a:bodyPr wrap="square"/>
                    <a:lstStyle/>
                    <a:p>
                      <a:r>
                        <a:rPr sz="1100" b="1">
                          <a:solidFill>
                            <a:srgbClr val="1A1A1A"/>
                          </a:solidFill>
                          <a:latin typeface="Abadi"/>
                        </a:rPr>
                        <a:t>Lungs</a:t>
                      </a:r>
                    </a:p>
                  </a:txBody>
                  <a:tcPr marL="73152" marR="73152" marT="27432" marB="27432" anchor="ctr">
                    <a:solidFill>
                      <a:srgbClr val="FFFFFF"/>
                    </a:solidFill>
                  </a:tcPr>
                </a:tc>
                <a:tc>
                  <a:txBody>
                    <a:bodyPr wrap="square"/>
                    <a:lstStyle/>
                    <a:p>
                      <a:r>
                        <a:rPr sz="1100" b="0">
                          <a:solidFill>
                            <a:srgbClr val="1A1A1A"/>
                          </a:solidFill>
                          <a:latin typeface="Abadi"/>
                        </a:rPr>
                        <a:t>Pulse oximetry upright and supine (hepatopulmonary syndrome)</a:t>
                      </a:r>
                    </a:p>
                  </a:txBody>
                  <a:tcPr marL="73152" marR="73152" marT="27432" marB="27432" anchor="ctr">
                    <a:solidFill>
                      <a:srgbClr val="FFFFFF"/>
                    </a:solidFill>
                  </a:tcPr>
                </a:tc>
                <a:tc>
                  <a:txBody>
                    <a:bodyPr wrap="square"/>
                    <a:lstStyle/>
                    <a:p>
                      <a:r>
                        <a:rPr sz="1100" b="0">
                          <a:solidFill>
                            <a:srgbClr val="1A1A1A"/>
                          </a:solidFill>
                          <a:latin typeface="Abadi"/>
                        </a:rPr>
                        <a:t>Routinely; below 97% investigate</a:t>
                      </a:r>
                    </a:p>
                  </a:txBody>
                  <a:tcPr marL="73152" marR="73152" marT="27432" marB="27432" anchor="ctr">
                    <a:solidFill>
                      <a:srgbClr val="FFFFFF"/>
                    </a:solidFill>
                  </a:tcPr>
                </a:tc>
              </a:tr>
              <a:tr h="457200">
                <a:tc>
                  <a:txBody>
                    <a:bodyPr wrap="square"/>
                    <a:lstStyle/>
                    <a:p>
                      <a:r>
                        <a:rPr sz="1100" b="1">
                          <a:solidFill>
                            <a:srgbClr val="1A1A1A"/>
                          </a:solidFill>
                          <a:latin typeface="Abadi"/>
                        </a:rPr>
                        <a:t>Transplant readiness</a:t>
                      </a:r>
                    </a:p>
                  </a:txBody>
                  <a:tcPr marL="73152" marR="73152" marT="27432" marB="27432" anchor="ctr">
                    <a:solidFill>
                      <a:srgbClr val="F2F2F2"/>
                    </a:solidFill>
                  </a:tcPr>
                </a:tc>
                <a:tc>
                  <a:txBody>
                    <a:bodyPr wrap="square"/>
                    <a:lstStyle/>
                    <a:p>
                      <a:r>
                        <a:rPr sz="1100" b="0">
                          <a:solidFill>
                            <a:srgbClr val="1A1A1A"/>
                          </a:solidFill>
                          <a:latin typeface="Abadi"/>
                        </a:rPr>
                        <a:t>PELD-Cr; accelerated vaccines, MMR and varicella from 6 months</a:t>
                      </a:r>
                    </a:p>
                  </a:txBody>
                  <a:tcPr marL="73152" marR="73152" marT="27432" marB="27432" anchor="ctr">
                    <a:solidFill>
                      <a:srgbClr val="F2F2F2"/>
                    </a:solidFill>
                  </a:tcPr>
                </a:tc>
                <a:tc>
                  <a:txBody>
                    <a:bodyPr wrap="square"/>
                    <a:lstStyle/>
                    <a:p>
                      <a:r>
                        <a:rPr sz="1100" b="0">
                          <a:solidFill>
                            <a:srgbClr val="1A1A1A"/>
                          </a:solidFill>
                          <a:latin typeface="Abadi"/>
                        </a:rPr>
                        <a:t>When bilirubin fails to clear or growth falters</a:t>
                      </a:r>
                    </a:p>
                  </a:txBody>
                  <a:tcPr marL="73152" marR="73152" marT="27432" marB="27432" anchor="ctr">
                    <a:solidFill>
                      <a:srgbClr val="F2F2F2"/>
                    </a:solidFill>
                  </a:tcPr>
                </a:tc>
              </a:tr>
            </a:tbl>
          </a:graphicData>
        </a:graphic>
      </p:graphicFrame>
      <p:sp>
        <p:nvSpPr>
          <p:cNvPr id="13" name="TextBox 12"/>
          <p:cNvSpPr txBox="1"/>
          <p:nvPr/>
        </p:nvSpPr>
        <p:spPr>
          <a:xfrm>
            <a:off x="548640" y="5230368"/>
            <a:ext cx="11082528" cy="365760"/>
          </a:xfrm>
          <a:prstGeom prst="rect">
            <a:avLst/>
          </a:prstGeom>
          <a:noFill/>
        </p:spPr>
        <p:txBody>
          <a:bodyPr wrap="square" lIns="0" rIns="0" tIns="0" bIns="0" anchor="t">
            <a:spAutoFit/>
          </a:bodyPr>
          <a:lstStyle/>
          <a:p>
            <a:pPr algn="l"/>
            <a:r>
              <a:rPr sz="1200" b="1" i="0">
                <a:solidFill>
                  <a:srgbClr val="1B355E"/>
                </a:solidFill>
                <a:latin typeface="Abadi"/>
              </a:rPr>
              <a:t>Hepatopulmonary syndrome.  </a:t>
            </a:r>
            <a:r>
              <a:rPr sz="1200" b="0" i="0">
                <a:solidFill>
                  <a:srgbClr val="1A1A1A"/>
                </a:solidFill>
                <a:latin typeface="Abadi"/>
              </a:rPr>
              <a:t>Present in 7% of 120 children with biliary atresia in one series, eight of ten cases were atresia; it is silent until an oximeter finds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North America (NASPGHAN, AASLD) versus Europe (ESPGHAN, EASL); the diagnostic guideline itself is silent on supportive care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Fawaz R, et al. JPGN 2017;64:154–68 · Mouzaki M, et al. JPGN 2019;69:498–511 · Verkade HJ, et al. EASL CPG genetic cholestatic liver diseases. J Hepatol 2024;81:303–25 · Martinez M, et al. Hepatology 2026</a:t>
            </a:r>
          </a:p>
        </p:txBody>
      </p:sp>
      <p:graphicFrame>
        <p:nvGraphicFramePr>
          <p:cNvPr id="12" name="Table 11"/>
          <p:cNvGraphicFramePr>
            <a:graphicFrameLocks noGrp="1"/>
          </p:cNvGraphicFramePr>
          <p:nvPr/>
        </p:nvGraphicFramePr>
        <p:xfrm>
          <a:off x="548640" y="1773936"/>
          <a:ext cx="11082527" cy="3456432"/>
        </p:xfrm>
        <a:graphic>
          <a:graphicData uri="http://schemas.openxmlformats.org/drawingml/2006/table">
            <a:tbl>
              <a:tblPr firstRow="0" bandRow="0">
                <a:tableStyleId>{5C22544A-7EE6-4342-B048-85BDC9FD1C3A}</a:tableStyleId>
              </a:tblPr>
              <a:tblGrid>
                <a:gridCol w="2377440"/>
                <a:gridCol w="3657600"/>
                <a:gridCol w="3749039"/>
                <a:gridCol w="1298448"/>
              </a:tblGrid>
              <a:tr h="384048">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North America</a:t>
                      </a:r>
                    </a:p>
                  </a:txBody>
                  <a:tcPr marL="73152" marR="73152" marT="27432" marB="27432" anchor="ctr">
                    <a:solidFill>
                      <a:srgbClr val="1B355E"/>
                    </a:solidFill>
                  </a:tcPr>
                </a:tc>
                <a:tc>
                  <a:txBody>
                    <a:bodyPr wrap="square"/>
                    <a:lstStyle/>
                    <a:p>
                      <a:r>
                        <a:rPr sz="1050" b="1">
                          <a:solidFill>
                            <a:srgbClr val="FFFFFF"/>
                          </a:solidFill>
                          <a:latin typeface="Abadi"/>
                        </a:rPr>
                        <a:t>Europe</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384048">
                <a:tc>
                  <a:txBody>
                    <a:bodyPr wrap="square"/>
                    <a:lstStyle/>
                    <a:p>
                      <a:r>
                        <a:rPr sz="1000" b="1">
                          <a:solidFill>
                            <a:srgbClr val="1A1A1A"/>
                          </a:solidFill>
                          <a:latin typeface="Abadi"/>
                        </a:rPr>
                        <a:t>UDCA for cholestatic infants</a:t>
                      </a:r>
                    </a:p>
                  </a:txBody>
                  <a:tcPr marL="73152" marR="73152" marT="27432" marB="27432" anchor="ctr">
                    <a:solidFill>
                      <a:srgbClr val="FFFFFF"/>
                    </a:solidFill>
                  </a:tcPr>
                </a:tc>
                <a:tc>
                  <a:txBody>
                    <a:bodyPr wrap="square"/>
                    <a:lstStyle/>
                    <a:p>
                      <a:r>
                        <a:rPr sz="1000" b="0">
                          <a:solidFill>
                            <a:srgbClr val="1A1A1A"/>
                          </a:solidFill>
                          <a:latin typeface="Abadi"/>
                        </a:rPr>
                        <a:t>Fawaz: no recommendation; screen for synthesis defects first</a:t>
                      </a:r>
                    </a:p>
                  </a:txBody>
                  <a:tcPr marL="73152" marR="73152" marT="27432" marB="27432" anchor="ctr">
                    <a:solidFill>
                      <a:srgbClr val="FFFFFF"/>
                    </a:solidFill>
                  </a:tcPr>
                </a:tc>
                <a:tc>
                  <a:txBody>
                    <a:bodyPr wrap="square"/>
                    <a:lstStyle/>
                    <a:p>
                      <a:r>
                        <a:rPr sz="1000" b="0">
                          <a:solidFill>
                            <a:srgbClr val="1A1A1A"/>
                          </a:solidFill>
                          <a:latin typeface="Abadi"/>
                        </a:rPr>
                        <a:t>EASL: not first line, lack of evidence</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384048">
                <a:tc>
                  <a:txBody>
                    <a:bodyPr wrap="square"/>
                    <a:lstStyle/>
                    <a:p>
                      <a:r>
                        <a:rPr sz="1000" b="1">
                          <a:solidFill>
                            <a:srgbClr val="1A1A1A"/>
                          </a:solidFill>
                          <a:latin typeface="Abadi"/>
                        </a:rPr>
                        <a:t>UDCA after Kasai</a:t>
                      </a:r>
                    </a:p>
                  </a:txBody>
                  <a:tcPr marL="73152" marR="73152" marT="27432" marB="27432" anchor="ctr">
                    <a:solidFill>
                      <a:srgbClr val="F2F2F2"/>
                    </a:solidFill>
                  </a:tcPr>
                </a:tc>
                <a:tc>
                  <a:txBody>
                    <a:bodyPr wrap="square"/>
                    <a:lstStyle/>
                    <a:p>
                      <a:r>
                        <a:rPr sz="1000" b="0">
                          <a:solidFill>
                            <a:srgbClr val="1A1A1A"/>
                          </a:solidFill>
                          <a:latin typeface="Abadi"/>
                        </a:rPr>
                        <a:t>No graded recommendation</a:t>
                      </a:r>
                    </a:p>
                  </a:txBody>
                  <a:tcPr marL="73152" marR="73152" marT="27432" marB="27432" anchor="ctr">
                    <a:solidFill>
                      <a:srgbClr val="F2F2F2"/>
                    </a:solidFill>
                  </a:tcPr>
                </a:tc>
                <a:tc>
                  <a:txBody>
                    <a:bodyPr wrap="square"/>
                    <a:lstStyle/>
                    <a:p>
                      <a:r>
                        <a:rPr sz="1000" b="0">
                          <a:solidFill>
                            <a:srgbClr val="1A1A1A"/>
                          </a:solidFill>
                          <a:latin typeface="Abadi"/>
                        </a:rPr>
                        <a:t>No graded recommendation; near-universal use</a:t>
                      </a:r>
                    </a:p>
                  </a:txBody>
                  <a:tcPr marL="73152" marR="73152" marT="27432" marB="27432" anchor="ctr">
                    <a:solidFill>
                      <a:srgbClr val="F2F2F2"/>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384048">
                <a:tc>
                  <a:txBody>
                    <a:bodyPr wrap="square"/>
                    <a:lstStyle/>
                    <a:p>
                      <a:r>
                        <a:rPr sz="1000" b="1">
                          <a:solidFill>
                            <a:srgbClr val="1A1A1A"/>
                          </a:solidFill>
                          <a:latin typeface="Abadi"/>
                        </a:rPr>
                        <a:t>UDCA in ABCB4 disease</a:t>
                      </a:r>
                    </a:p>
                  </a:txBody>
                  <a:tcPr marL="73152" marR="73152" marT="27432" marB="27432" anchor="ctr">
                    <a:solidFill>
                      <a:srgbClr val="FFFFFF"/>
                    </a:solidFill>
                  </a:tcPr>
                </a:tc>
                <a:tc>
                  <a:txBody>
                    <a:bodyPr wrap="square"/>
                    <a:lstStyle/>
                    <a:p>
                      <a:r>
                        <a:rPr sz="1000" b="0">
                          <a:solidFill>
                            <a:srgbClr val="1A1A1A"/>
                          </a:solidFill>
                          <a:latin typeface="Abadi"/>
                        </a:rPr>
                        <a:t>Nothing specific</a:t>
                      </a:r>
                    </a:p>
                  </a:txBody>
                  <a:tcPr marL="73152" marR="73152" marT="27432" marB="27432" anchor="ctr">
                    <a:solidFill>
                      <a:srgbClr val="FFFFFF"/>
                    </a:solidFill>
                  </a:tcPr>
                </a:tc>
                <a:tc>
                  <a:txBody>
                    <a:bodyPr wrap="square"/>
                    <a:lstStyle/>
                    <a:p>
                      <a:r>
                        <a:rPr sz="1000" b="0">
                          <a:solidFill>
                            <a:srgbClr val="1A1A1A"/>
                          </a:solidFill>
                          <a:latin typeface="Abadi"/>
                        </a:rPr>
                        <a:t>Recommended with ≥ 1 missense variant (strong)</a:t>
                      </a:r>
                    </a:p>
                  </a:txBody>
                  <a:tcPr marL="73152" marR="73152" marT="27432" marB="27432" anchor="ctr">
                    <a:solidFill>
                      <a:srgbClr val="FFFFFF"/>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384048">
                <a:tc>
                  <a:txBody>
                    <a:bodyPr wrap="square"/>
                    <a:lstStyle/>
                    <a:p>
                      <a:r>
                        <a:rPr sz="1000" b="1">
                          <a:solidFill>
                            <a:srgbClr val="1A1A1A"/>
                          </a:solidFill>
                          <a:latin typeface="Abadi"/>
                        </a:rPr>
                        <a:t>Vitamin doses and markers</a:t>
                      </a:r>
                    </a:p>
                  </a:txBody>
                  <a:tcPr marL="73152" marR="73152" marT="27432" marB="27432" anchor="ctr">
                    <a:solidFill>
                      <a:srgbClr val="F2F2F2"/>
                    </a:solidFill>
                  </a:tcPr>
                </a:tc>
                <a:tc>
                  <a:txBody>
                    <a:bodyPr wrap="square"/>
                    <a:lstStyle/>
                    <a:p>
                      <a:r>
                        <a:rPr sz="1000" b="0">
                          <a:solidFill>
                            <a:srgbClr val="1A1A1A"/>
                          </a:solidFill>
                          <a:latin typeface="Abadi"/>
                        </a:rPr>
                        <a:t>Mouzaki 2019 joint paper</a:t>
                      </a:r>
                    </a:p>
                  </a:txBody>
                  <a:tcPr marL="73152" marR="73152" marT="27432" marB="27432" anchor="ctr">
                    <a:solidFill>
                      <a:srgbClr val="F2F2F2"/>
                    </a:solidFill>
                  </a:tcPr>
                </a:tc>
                <a:tc>
                  <a:txBody>
                    <a:bodyPr wrap="square"/>
                    <a:lstStyle/>
                    <a:p>
                      <a:r>
                        <a:rPr sz="1000" b="0">
                          <a:solidFill>
                            <a:srgbClr val="1A1A1A"/>
                          </a:solidFill>
                          <a:latin typeface="Abadi"/>
                        </a:rPr>
                        <a:t>Same joint paper; EASL ungraded</a:t>
                      </a:r>
                    </a:p>
                  </a:txBody>
                  <a:tcPr marL="73152" marR="73152" marT="27432" marB="27432" anchor="ctr">
                    <a:solidFill>
                      <a:srgbClr val="F2F2F2"/>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384048">
                <a:tc>
                  <a:txBody>
                    <a:bodyPr wrap="square"/>
                    <a:lstStyle/>
                    <a:p>
                      <a:r>
                        <a:rPr sz="1000" b="1">
                          <a:solidFill>
                            <a:srgbClr val="1A1A1A"/>
                          </a:solidFill>
                          <a:latin typeface="Abadi"/>
                        </a:rPr>
                        <a:t>Energy, protein, MCT</a:t>
                      </a:r>
                    </a:p>
                  </a:txBody>
                  <a:tcPr marL="73152" marR="73152" marT="27432" marB="27432" anchor="ctr">
                    <a:solidFill>
                      <a:srgbClr val="FFFFFF"/>
                    </a:solidFill>
                  </a:tcPr>
                </a:tc>
                <a:tc>
                  <a:txBody>
                    <a:bodyPr wrap="square"/>
                    <a:lstStyle/>
                    <a:p>
                      <a:r>
                        <a:rPr sz="1000" b="0">
                          <a:solidFill>
                            <a:srgbClr val="1A1A1A"/>
                          </a:solidFill>
                          <a:latin typeface="Abadi"/>
                        </a:rPr>
                        <a:t>130% energy, 130–150% protein, MCT 30:70</a:t>
                      </a:r>
                    </a:p>
                  </a:txBody>
                  <a:tcPr marL="73152" marR="73152" marT="27432" marB="27432" anchor="ctr">
                    <a:solidFill>
                      <a:srgbClr val="FFFFFF"/>
                    </a:solidFill>
                  </a:tcPr>
                </a:tc>
                <a:tc>
                  <a:txBody>
                    <a:bodyPr wrap="square"/>
                    <a:lstStyle/>
                    <a:p>
                      <a:r>
                        <a:rPr sz="1000" b="0">
                          <a:solidFill>
                            <a:srgbClr val="1A1A1A"/>
                          </a:solidFill>
                          <a:latin typeface="Abadi"/>
                        </a:rPr>
                        <a:t>Same</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384048">
                <a:tc>
                  <a:txBody>
                    <a:bodyPr wrap="square"/>
                    <a:lstStyle/>
                    <a:p>
                      <a:r>
                        <a:rPr sz="1000" b="1">
                          <a:solidFill>
                            <a:srgbClr val="1A1A1A"/>
                          </a:solidFill>
                          <a:latin typeface="Abadi"/>
                        </a:rPr>
                        <a:t>IBAT inhibitors</a:t>
                      </a:r>
                    </a:p>
                  </a:txBody>
                  <a:tcPr marL="73152" marR="73152" marT="27432" marB="27432" anchor="ctr">
                    <a:solidFill>
                      <a:srgbClr val="F2F2F2"/>
                    </a:solidFill>
                  </a:tcPr>
                </a:tc>
                <a:tc>
                  <a:txBody>
                    <a:bodyPr wrap="square"/>
                    <a:lstStyle/>
                    <a:p>
                      <a:r>
                        <a:rPr sz="1000" b="0">
                          <a:solidFill>
                            <a:srgbClr val="1A1A1A"/>
                          </a:solidFill>
                          <a:latin typeface="Abadi"/>
                        </a:rPr>
                        <a:t>FDA labels by age and genotype</a:t>
                      </a:r>
                    </a:p>
                  </a:txBody>
                  <a:tcPr marL="73152" marR="73152" marT="27432" marB="27432" anchor="ctr">
                    <a:solidFill>
                      <a:srgbClr val="F2F2F2"/>
                    </a:solidFill>
                  </a:tcPr>
                </a:tc>
                <a:tc>
                  <a:txBody>
                    <a:bodyPr wrap="square"/>
                    <a:lstStyle/>
                    <a:p>
                      <a:r>
                        <a:rPr sz="1000" b="0">
                          <a:solidFill>
                            <a:srgbClr val="1A1A1A"/>
                          </a:solidFill>
                          <a:latin typeface="Abadi"/>
                        </a:rPr>
                        <a:t>EASL: offer in Alagille (strong); EMA ages differ</a:t>
                      </a:r>
                    </a:p>
                  </a:txBody>
                  <a:tcPr marL="73152" marR="73152" marT="27432" marB="27432" anchor="ctr">
                    <a:solidFill>
                      <a:srgbClr val="F2F2F2"/>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384048">
                <a:tc>
                  <a:txBody>
                    <a:bodyPr wrap="square"/>
                    <a:lstStyle/>
                    <a:p>
                      <a:r>
                        <a:rPr sz="1000" b="1">
                          <a:solidFill>
                            <a:srgbClr val="1A1A1A"/>
                          </a:solidFill>
                          <a:latin typeface="Abadi"/>
                        </a:rPr>
                        <a:t>Biliary diversion</a:t>
                      </a:r>
                    </a:p>
                  </a:txBody>
                  <a:tcPr marL="73152" marR="73152" marT="27432" marB="27432" anchor="ctr">
                    <a:solidFill>
                      <a:srgbClr val="FFFFFF"/>
                    </a:solidFill>
                  </a:tcPr>
                </a:tc>
                <a:tc>
                  <a:txBody>
                    <a:bodyPr wrap="square"/>
                    <a:lstStyle/>
                    <a:p>
                      <a:r>
                        <a:rPr sz="1000" b="0">
                          <a:solidFill>
                            <a:srgbClr val="1A1A1A"/>
                          </a:solidFill>
                          <a:latin typeface="Abadi"/>
                        </a:rPr>
                        <a:t>No current graded statement</a:t>
                      </a:r>
                    </a:p>
                  </a:txBody>
                  <a:tcPr marL="73152" marR="73152" marT="27432" marB="27432" anchor="ctr">
                    <a:solidFill>
                      <a:srgbClr val="FFFFFF"/>
                    </a:solidFill>
                  </a:tcPr>
                </a:tc>
                <a:tc>
                  <a:txBody>
                    <a:bodyPr wrap="square"/>
                    <a:lstStyle/>
                    <a:p>
                      <a:r>
                        <a:rPr sz="1000" b="0">
                          <a:solidFill>
                            <a:srgbClr val="1A1A1A"/>
                          </a:solidFill>
                          <a:latin typeface="Abadi"/>
                        </a:rPr>
                        <a:t>Not for FIC1; consider in responsive BSEP</a:t>
                      </a:r>
                    </a:p>
                  </a:txBody>
                  <a:tcPr marL="73152" marR="73152" marT="27432" marB="27432" anchor="ctr">
                    <a:solidFill>
                      <a:srgbClr val="FFFFFF"/>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384048">
                <a:tc>
                  <a:txBody>
                    <a:bodyPr wrap="square"/>
                    <a:lstStyle/>
                    <a:p>
                      <a:r>
                        <a:rPr sz="1000" b="1">
                          <a:solidFill>
                            <a:srgbClr val="1A1A1A"/>
                          </a:solidFill>
                          <a:latin typeface="Abadi"/>
                        </a:rPr>
                        <a:t>Transplant evaluation</a:t>
                      </a:r>
                    </a:p>
                  </a:txBody>
                  <a:tcPr marL="73152" marR="73152" marT="27432" marB="27432" anchor="ctr">
                    <a:solidFill>
                      <a:srgbClr val="F2F2F2"/>
                    </a:solidFill>
                  </a:tcPr>
                </a:tc>
                <a:tc>
                  <a:txBody>
                    <a:bodyPr wrap="square"/>
                    <a:lstStyle/>
                    <a:p>
                      <a:r>
                        <a:rPr sz="1000" b="0">
                          <a:solidFill>
                            <a:srgbClr val="1A1A1A"/>
                          </a:solidFill>
                          <a:latin typeface="Abadi"/>
                        </a:rPr>
                        <a:t>2026 guideline: oximetry, vaccines, PELD-Cr</a:t>
                      </a:r>
                    </a:p>
                  </a:txBody>
                  <a:tcPr marL="73152" marR="73152" marT="27432" marB="27432" anchor="ctr">
                    <a:solidFill>
                      <a:srgbClr val="F2F2F2"/>
                    </a:solidFill>
                  </a:tcPr>
                </a:tc>
                <a:tc>
                  <a:txBody>
                    <a:bodyPr wrap="square"/>
                    <a:lstStyle/>
                    <a:p>
                      <a:r>
                        <a:rPr sz="1000" b="0">
                          <a:solidFill>
                            <a:srgbClr val="1A1A1A"/>
                          </a:solidFill>
                          <a:latin typeface="Abadi"/>
                        </a:rPr>
                        <a:t>No paediatric equivalent</a:t>
                      </a:r>
                    </a:p>
                  </a:txBody>
                  <a:tcPr marL="73152" marR="73152" marT="27432" marB="27432" anchor="ctr">
                    <a:solidFill>
                      <a:srgbClr val="F2F2F2"/>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bl>
          </a:graphicData>
        </a:graphic>
      </p:graphicFrame>
      <p:sp>
        <p:nvSpPr>
          <p:cNvPr id="13" name="TextBox 12"/>
          <p:cNvSpPr txBox="1"/>
          <p:nvPr/>
        </p:nvSpPr>
        <p:spPr>
          <a:xfrm>
            <a:off x="548640" y="5504688"/>
            <a:ext cx="11082528" cy="365760"/>
          </a:xfrm>
          <a:prstGeom prst="rect">
            <a:avLst/>
          </a:prstGeom>
          <a:noFill/>
        </p:spPr>
        <p:txBody>
          <a:bodyPr wrap="square" lIns="0" rIns="0" tIns="0" bIns="0" anchor="t">
            <a:spAutoFit/>
          </a:bodyPr>
          <a:lstStyle/>
          <a:p>
            <a:pPr algn="l"/>
            <a:r>
              <a:rPr sz="1200" b="1" i="0">
                <a:solidFill>
                  <a:srgbClr val="B22222"/>
                </a:solidFill>
                <a:latin typeface="Abadi"/>
              </a:rPr>
              <a:t>Material gap.  </a:t>
            </a:r>
            <a:r>
              <a:rPr sz="1200" b="0" i="0">
                <a:solidFill>
                  <a:srgbClr val="1A1A1A"/>
                </a:solidFill>
                <a:latin typeface="Abadi"/>
              </a:rPr>
              <a:t>No guideline grades UDCA after a Kasai, the single most common prescription in this population.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WHERE SUPPORTIVE CARE GOES WRONG</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Common reasons for a preventable deficiency, bleed or delay</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Shneider 2012 · McNinch 2007 · Fawaz 2017 · Mouzaki M, et al. 2019 · Lindor 2009 · EASL 2024</a:t>
            </a:r>
          </a:p>
        </p:txBody>
      </p:sp>
      <p:sp>
        <p:nvSpPr>
          <p:cNvPr id="12" name="Rectangle 11"/>
          <p:cNvSpPr/>
          <p:nvPr/>
        </p:nvSpPr>
        <p:spPr>
          <a:xfrm>
            <a:off x="548640" y="1773936"/>
            <a:ext cx="2630728" cy="210312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0728"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2301544" cy="457200"/>
          </a:xfrm>
          <a:prstGeom prst="rect">
            <a:avLst/>
          </a:prstGeom>
          <a:noFill/>
        </p:spPr>
        <p:txBody>
          <a:bodyPr wrap="square" lIns="0" rIns="0" tIns="0" bIns="0" anchor="t">
            <a:spAutoFit/>
          </a:bodyPr>
          <a:lstStyle/>
          <a:p>
            <a:pPr algn="l"/>
            <a:r>
              <a:rPr sz="1500" b="1" i="0">
                <a:solidFill>
                  <a:srgbClr val="B22222"/>
                </a:solidFill>
                <a:latin typeface="Abadi"/>
              </a:rPr>
              <a:t>'The multivitamin covers it'</a:t>
            </a:r>
          </a:p>
        </p:txBody>
      </p:sp>
      <p:sp>
        <p:nvSpPr>
          <p:cNvPr id="15" name="TextBox 14"/>
          <p:cNvSpPr txBox="1"/>
          <p:nvPr/>
        </p:nvSpPr>
        <p:spPr>
          <a:xfrm>
            <a:off x="713232" y="2523744"/>
            <a:ext cx="2301544" cy="1234439"/>
          </a:xfrm>
          <a:prstGeom prst="rect">
            <a:avLst/>
          </a:prstGeom>
          <a:noFill/>
        </p:spPr>
        <p:txBody>
          <a:bodyPr wrap="square" lIns="0" rIns="0" tIns="0" bIns="0" anchor="t">
            <a:spAutoFit/>
          </a:bodyPr>
          <a:lstStyle/>
          <a:p>
            <a:pPr algn="l"/>
            <a:r>
              <a:rPr sz="1150" b="0" i="0">
                <a:solidFill>
                  <a:srgbClr val="1A1A1A"/>
                </a:solidFill>
                <a:latin typeface="Abadi"/>
              </a:rPr>
              <a:t>▪  Fails once bilirubin &gt; 2</a:t>
            </a:r>
          </a:p>
          <a:p>
            <a:pPr algn="l">
              <a:spcBef>
                <a:spcPts val="400"/>
              </a:spcBef>
            </a:pPr>
            <a:r>
              <a:rPr sz="1150" b="0" i="0">
                <a:solidFill>
                  <a:srgbClr val="1A1A1A"/>
                </a:solidFill>
                <a:latin typeface="Abadi"/>
              </a:rPr>
              <a:t>▪  0 of 23 sufficient at 6 months</a:t>
            </a:r>
          </a:p>
          <a:p>
            <a:pPr algn="l">
              <a:spcBef>
                <a:spcPts val="400"/>
              </a:spcBef>
            </a:pPr>
            <a:r>
              <a:rPr sz="1150" b="0" i="0">
                <a:solidFill>
                  <a:srgbClr val="1A1A1A"/>
                </a:solidFill>
                <a:latin typeface="Abadi"/>
              </a:rPr>
              <a:t>▪  Dose each vitamin</a:t>
            </a:r>
          </a:p>
        </p:txBody>
      </p:sp>
      <p:sp>
        <p:nvSpPr>
          <p:cNvPr id="16" name="Rectangle 15"/>
          <p:cNvSpPr/>
          <p:nvPr/>
        </p:nvSpPr>
        <p:spPr>
          <a:xfrm>
            <a:off x="3365906" y="1773936"/>
            <a:ext cx="2630728" cy="210312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5906" y="1773936"/>
            <a:ext cx="2630728"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0498" y="1984248"/>
            <a:ext cx="2301544" cy="457200"/>
          </a:xfrm>
          <a:prstGeom prst="rect">
            <a:avLst/>
          </a:prstGeom>
          <a:noFill/>
        </p:spPr>
        <p:txBody>
          <a:bodyPr wrap="square" lIns="0" rIns="0" tIns="0" bIns="0" anchor="t">
            <a:spAutoFit/>
          </a:bodyPr>
          <a:lstStyle/>
          <a:p>
            <a:pPr algn="l"/>
            <a:r>
              <a:rPr sz="1500" b="1" i="0">
                <a:solidFill>
                  <a:srgbClr val="D97A0B"/>
                </a:solidFill>
                <a:latin typeface="Abadi"/>
              </a:rPr>
              <a:t>'UDCA first, tests later'</a:t>
            </a:r>
          </a:p>
        </p:txBody>
      </p:sp>
      <p:sp>
        <p:nvSpPr>
          <p:cNvPr id="19" name="TextBox 18"/>
          <p:cNvSpPr txBox="1"/>
          <p:nvPr/>
        </p:nvSpPr>
        <p:spPr>
          <a:xfrm>
            <a:off x="3530498" y="2523744"/>
            <a:ext cx="2301544" cy="1234439"/>
          </a:xfrm>
          <a:prstGeom prst="rect">
            <a:avLst/>
          </a:prstGeom>
          <a:noFill/>
        </p:spPr>
        <p:txBody>
          <a:bodyPr wrap="square" lIns="0" rIns="0" tIns="0" bIns="0" anchor="t">
            <a:spAutoFit/>
          </a:bodyPr>
          <a:lstStyle/>
          <a:p>
            <a:pPr algn="l"/>
            <a:r>
              <a:rPr sz="1150" b="0" i="0">
                <a:solidFill>
                  <a:srgbClr val="1A1A1A"/>
                </a:solidFill>
                <a:latin typeface="Abadi"/>
              </a:rPr>
              <a:t>▪  Masks synthesis defects</a:t>
            </a:r>
          </a:p>
          <a:p>
            <a:pPr algn="l">
              <a:spcBef>
                <a:spcPts val="400"/>
              </a:spcBef>
            </a:pPr>
            <a:r>
              <a:rPr sz="1150" b="0" i="0">
                <a:solidFill>
                  <a:srgbClr val="1A1A1A"/>
                </a:solidFill>
                <a:latin typeface="Abadi"/>
              </a:rPr>
              <a:t>▪  Send urine bile acids first</a:t>
            </a:r>
          </a:p>
          <a:p>
            <a:pPr algn="l">
              <a:spcBef>
                <a:spcPts val="400"/>
              </a:spcBef>
            </a:pPr>
            <a:r>
              <a:rPr sz="1150" b="0" i="0">
                <a:solidFill>
                  <a:srgbClr val="1A1A1A"/>
                </a:solidFill>
                <a:latin typeface="Abadi"/>
              </a:rPr>
              <a:t>▪  Cholic acid may cure</a:t>
            </a:r>
          </a:p>
        </p:txBody>
      </p:sp>
      <p:sp>
        <p:nvSpPr>
          <p:cNvPr id="20" name="Rectangle 19"/>
          <p:cNvSpPr/>
          <p:nvPr/>
        </p:nvSpPr>
        <p:spPr>
          <a:xfrm>
            <a:off x="6183172" y="1773936"/>
            <a:ext cx="2630728" cy="21031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3172" y="1773936"/>
            <a:ext cx="2630728"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7764" y="1984248"/>
            <a:ext cx="2301544" cy="457200"/>
          </a:xfrm>
          <a:prstGeom prst="rect">
            <a:avLst/>
          </a:prstGeom>
          <a:noFill/>
        </p:spPr>
        <p:txBody>
          <a:bodyPr wrap="square" lIns="0" rIns="0" tIns="0" bIns="0" anchor="t">
            <a:spAutoFit/>
          </a:bodyPr>
          <a:lstStyle/>
          <a:p>
            <a:pPr algn="l"/>
            <a:r>
              <a:rPr sz="1500" b="1" i="0">
                <a:solidFill>
                  <a:srgbClr val="1B355E"/>
                </a:solidFill>
                <a:latin typeface="Abadi"/>
              </a:rPr>
              <a:t>'He is gaining weight'</a:t>
            </a:r>
          </a:p>
        </p:txBody>
      </p:sp>
      <p:sp>
        <p:nvSpPr>
          <p:cNvPr id="23" name="TextBox 22"/>
          <p:cNvSpPr txBox="1"/>
          <p:nvPr/>
        </p:nvSpPr>
        <p:spPr>
          <a:xfrm>
            <a:off x="6347764" y="2523744"/>
            <a:ext cx="2301544" cy="1234439"/>
          </a:xfrm>
          <a:prstGeom prst="rect">
            <a:avLst/>
          </a:prstGeom>
          <a:noFill/>
        </p:spPr>
        <p:txBody>
          <a:bodyPr wrap="square" lIns="0" rIns="0" tIns="0" bIns="0" anchor="t">
            <a:spAutoFit/>
          </a:bodyPr>
          <a:lstStyle/>
          <a:p>
            <a:pPr algn="l"/>
            <a:r>
              <a:rPr sz="1150" b="0" i="0">
                <a:solidFill>
                  <a:srgbClr val="1A1A1A"/>
                </a:solidFill>
                <a:latin typeface="Abadi"/>
              </a:rPr>
              <a:t>▪  Spleen and ascites weigh</a:t>
            </a:r>
          </a:p>
          <a:p>
            <a:pPr algn="l">
              <a:spcBef>
                <a:spcPts val="400"/>
              </a:spcBef>
            </a:pPr>
            <a:r>
              <a:rPr sz="1150" b="0" i="0">
                <a:solidFill>
                  <a:srgbClr val="1A1A1A"/>
                </a:solidFill>
                <a:latin typeface="Abadi"/>
              </a:rPr>
              <a:t>▪  Check MUAC and length</a:t>
            </a:r>
          </a:p>
          <a:p>
            <a:pPr algn="l">
              <a:spcBef>
                <a:spcPts val="400"/>
              </a:spcBef>
            </a:pPr>
            <a:r>
              <a:rPr sz="1150" b="0" i="0">
                <a:solidFill>
                  <a:srgbClr val="1A1A1A"/>
                </a:solidFill>
                <a:latin typeface="Abadi"/>
              </a:rPr>
              <a:t>▪  Wasting hides under fluid</a:t>
            </a:r>
          </a:p>
        </p:txBody>
      </p:sp>
      <p:sp>
        <p:nvSpPr>
          <p:cNvPr id="24" name="Rectangle 23"/>
          <p:cNvSpPr/>
          <p:nvPr/>
        </p:nvSpPr>
        <p:spPr>
          <a:xfrm>
            <a:off x="9000439" y="1773936"/>
            <a:ext cx="2630728" cy="210312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0439" y="1773936"/>
            <a:ext cx="2630728"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5031" y="1984248"/>
            <a:ext cx="2301544" cy="457200"/>
          </a:xfrm>
          <a:prstGeom prst="rect">
            <a:avLst/>
          </a:prstGeom>
          <a:noFill/>
        </p:spPr>
        <p:txBody>
          <a:bodyPr wrap="square" lIns="0" rIns="0" tIns="0" bIns="0" anchor="t">
            <a:spAutoFit/>
          </a:bodyPr>
          <a:lstStyle/>
          <a:p>
            <a:pPr algn="l"/>
            <a:r>
              <a:rPr sz="1500" b="1" i="0">
                <a:solidFill>
                  <a:srgbClr val="7F7F7F"/>
                </a:solidFill>
                <a:latin typeface="Abadi"/>
              </a:rPr>
              <a:t>'Normal INR, enough K'</a:t>
            </a:r>
          </a:p>
        </p:txBody>
      </p:sp>
      <p:sp>
        <p:nvSpPr>
          <p:cNvPr id="27" name="TextBox 26"/>
          <p:cNvSpPr txBox="1"/>
          <p:nvPr/>
        </p:nvSpPr>
        <p:spPr>
          <a:xfrm>
            <a:off x="9165031" y="2523744"/>
            <a:ext cx="2301544" cy="1234439"/>
          </a:xfrm>
          <a:prstGeom prst="rect">
            <a:avLst/>
          </a:prstGeom>
          <a:noFill/>
        </p:spPr>
        <p:txBody>
          <a:bodyPr wrap="square" lIns="0" rIns="0" tIns="0" bIns="0" anchor="t">
            <a:spAutoFit/>
          </a:bodyPr>
          <a:lstStyle/>
          <a:p>
            <a:pPr algn="l"/>
            <a:r>
              <a:rPr sz="1150" b="0" i="0">
                <a:solidFill>
                  <a:srgbClr val="1A1A1A"/>
                </a:solidFill>
                <a:latin typeface="Abadi"/>
              </a:rPr>
              <a:t>▪  INR is late</a:t>
            </a:r>
          </a:p>
          <a:p>
            <a:pPr algn="l">
              <a:spcBef>
                <a:spcPts val="400"/>
              </a:spcBef>
            </a:pPr>
            <a:r>
              <a:rPr sz="1150" b="0" i="0">
                <a:solidFill>
                  <a:srgbClr val="1A1A1A"/>
                </a:solidFill>
                <a:latin typeface="Abadi"/>
              </a:rPr>
              <a:t>▪  PIVKA-II is earlier</a:t>
            </a:r>
          </a:p>
          <a:p>
            <a:pPr algn="l">
              <a:spcBef>
                <a:spcPts val="400"/>
              </a:spcBef>
            </a:pPr>
            <a:r>
              <a:rPr sz="1150" b="0" i="0">
                <a:solidFill>
                  <a:srgbClr val="1A1A1A"/>
                </a:solidFill>
                <a:latin typeface="Abadi"/>
              </a:rPr>
              <a:t>▪  Bone needs K too</a:t>
            </a:r>
          </a:p>
        </p:txBody>
      </p:sp>
      <p:sp>
        <p:nvSpPr>
          <p:cNvPr id="28" name="TextBox 27"/>
          <p:cNvSpPr txBox="1"/>
          <p:nvPr/>
        </p:nvSpPr>
        <p:spPr>
          <a:xfrm>
            <a:off x="548640" y="4114800"/>
            <a:ext cx="11082528" cy="914400"/>
          </a:xfrm>
          <a:prstGeom prst="rect">
            <a:avLst/>
          </a:prstGeom>
          <a:noFill/>
        </p:spPr>
        <p:txBody>
          <a:bodyPr wrap="square" lIns="0" rIns="0" tIns="0" bIns="0" anchor="t">
            <a:spAutoFit/>
          </a:bodyPr>
          <a:lstStyle/>
          <a:p>
            <a:pPr algn="l"/>
            <a:r>
              <a:rPr sz="1300" b="1" i="0">
                <a:solidFill>
                  <a:srgbClr val="1B355E"/>
                </a:solidFill>
                <a:latin typeface="Abadi"/>
              </a:rPr>
              <a:t>And two more.  </a:t>
            </a:r>
            <a:r>
              <a:rPr sz="1300" b="0" i="0">
                <a:solidFill>
                  <a:srgbClr val="1A1A1A"/>
                </a:solidFill>
                <a:latin typeface="Abadi"/>
              </a:rPr>
              <a:t>Escalating UDCA above 20 mg/kg for a bilirubin that will not fall, and starting an IBAT inhibitor after a Kasai outside a trial: neither has evidence of benefit, and the first carries an adult signal of harm.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The numbers worth carrying onto the ward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Fawaz 2017 · Mouzaki 2019 · EASL 2024 · Shneider 2012 · Willot 2008 · Lindor 2009 · DeRusso 2007 · Thompson 2022 · Gregorio 1993 · Thébaut 2017</a:t>
            </a:r>
          </a:p>
        </p:txBody>
      </p:sp>
      <p:sp>
        <p:nvSpPr>
          <p:cNvPr id="12" name="TextBox 11"/>
          <p:cNvSpPr txBox="1"/>
          <p:nvPr/>
        </p:nvSpPr>
        <p:spPr>
          <a:xfrm>
            <a:off x="548640" y="1810512"/>
            <a:ext cx="11082528" cy="3977639"/>
          </a:xfrm>
          <a:prstGeom prst="rect">
            <a:avLst/>
          </a:prstGeom>
          <a:noFill/>
        </p:spPr>
        <p:txBody>
          <a:bodyPr wrap="square" lIns="0" rIns="0" tIns="0" bIns="0" anchor="t">
            <a:spAutoFit/>
          </a:bodyPr>
          <a:lstStyle/>
          <a:p>
            <a:pPr algn="l"/>
            <a:r>
              <a:rPr sz="1250" b="0" i="0">
                <a:solidFill>
                  <a:srgbClr val="1A1A1A"/>
                </a:solidFill>
                <a:latin typeface="Abadi"/>
              </a:rPr>
              <a:t>▪  The diagnostic guideline stops at the diagnosis; supportive care rests on the 2019 joint nutrition paper.</a:t>
            </a:r>
          </a:p>
          <a:p>
            <a:pPr algn="l">
              <a:spcBef>
                <a:spcPts val="700"/>
              </a:spcBef>
            </a:pPr>
            <a:r>
              <a:rPr sz="1250" b="0" i="0">
                <a:solidFill>
                  <a:srgbClr val="1A1A1A"/>
                </a:solidFill>
                <a:latin typeface="Abadi"/>
              </a:rPr>
              <a:t>▪  Send urine bile acids before the first dose of UDCA.</a:t>
            </a:r>
          </a:p>
          <a:p>
            <a:pPr algn="l">
              <a:spcBef>
                <a:spcPts val="700"/>
              </a:spcBef>
            </a:pPr>
            <a:r>
              <a:rPr sz="1250" b="0" i="0">
                <a:solidFill>
                  <a:srgbClr val="1A1A1A"/>
                </a:solidFill>
                <a:latin typeface="Abadi"/>
              </a:rPr>
              <a:t>▪  UDCA: 10–20 mg/kg/day; off-drug ALT and GGT doubled in 13 of 16 after Kasai; no survival trial.</a:t>
            </a:r>
          </a:p>
          <a:p>
            <a:pPr algn="l">
              <a:spcBef>
                <a:spcPts val="700"/>
              </a:spcBef>
            </a:pPr>
            <a:r>
              <a:rPr sz="1250" b="0" i="0">
                <a:solidFill>
                  <a:srgbClr val="1A1A1A"/>
                </a:solidFill>
                <a:latin typeface="Abadi"/>
              </a:rPr>
              <a:t>▪  High-dose UDCA (28–30 mg/kg) harmed adults with PSC: serious events 63% vs 37%.</a:t>
            </a:r>
          </a:p>
          <a:p>
            <a:pPr algn="l">
              <a:spcBef>
                <a:spcPts val="700"/>
              </a:spcBef>
            </a:pPr>
            <a:r>
              <a:rPr sz="1250" b="0" i="0">
                <a:solidFill>
                  <a:srgbClr val="1A1A1A"/>
                </a:solidFill>
                <a:latin typeface="Abadi"/>
              </a:rPr>
              <a:t>▪  Bilirubin ≥ 2 at 6 months after Kasai: 0 of 23 sufficient in A, D, E and K on a TPGS multivitamin.</a:t>
            </a:r>
          </a:p>
          <a:p>
            <a:pPr algn="l">
              <a:spcBef>
                <a:spcPts val="700"/>
              </a:spcBef>
            </a:pPr>
            <a:r>
              <a:rPr sz="1250" b="0" i="0">
                <a:solidFill>
                  <a:srgbClr val="1A1A1A"/>
                </a:solidFill>
                <a:latin typeface="Abadi"/>
              </a:rPr>
              <a:t>▪  Starting doses: A 5,000–10,000 IU, D 2,000–5,000 IU, E (TPGS) 15–25 IU/kg, K 2–5 mg daily.</a:t>
            </a:r>
          </a:p>
          <a:p>
            <a:pPr algn="l">
              <a:spcBef>
                <a:spcPts val="700"/>
              </a:spcBef>
            </a:pPr>
            <a:r>
              <a:rPr sz="1250" b="0" i="0">
                <a:solidFill>
                  <a:srgbClr val="1A1A1A"/>
                </a:solidFill>
                <a:latin typeface="Abadi"/>
              </a:rPr>
              <a:t>▪  Energy 130%, protein 130–150%, fat 30–50% with MCT 30:70; tube feed after 2 weeks of missed goals.</a:t>
            </a:r>
          </a:p>
          <a:p>
            <a:pPr algn="l">
              <a:spcBef>
                <a:spcPts val="700"/>
              </a:spcBef>
            </a:pPr>
            <a:r>
              <a:rPr sz="1250" b="0" i="0">
                <a:solidFill>
                  <a:srgbClr val="1A1A1A"/>
                </a:solidFill>
                <a:latin typeface="Abadi"/>
              </a:rPr>
              <a:t>▪  Weight z −2.1 vs −1.2 at 6 months separated poor from good outcome after Kasai.</a:t>
            </a:r>
          </a:p>
          <a:p>
            <a:pPr algn="l">
              <a:spcBef>
                <a:spcPts val="700"/>
              </a:spcBef>
            </a:pPr>
            <a:r>
              <a:rPr sz="1250" b="0" i="0">
                <a:solidFill>
                  <a:srgbClr val="1A1A1A"/>
                </a:solidFill>
                <a:latin typeface="Abadi"/>
              </a:rPr>
              <a:t>▪  Itch ladder: rifampicin, sertraline, IBAT inhibitor (Alagille, selected PFIC), diversion, transplant.</a:t>
            </a:r>
          </a:p>
          <a:p>
            <a:pPr algn="l">
              <a:spcBef>
                <a:spcPts val="700"/>
              </a:spcBef>
            </a:pPr>
            <a:r>
              <a:rPr sz="1250" b="0" i="0">
                <a:solidFill>
                  <a:srgbClr val="1A1A1A"/>
                </a:solidFill>
                <a:latin typeface="Abadi"/>
              </a:rPr>
              <a:t>▪  IBAT inhibitors failed after Kasai (EMBARK, BOLD); screen every candidate for hepatopulmonary syndrome by oximetry.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Applying the logic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21</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73936"/>
          <a:ext cx="11082528" cy="4096512"/>
        </p:xfrm>
        <a:graphic>
          <a:graphicData uri="http://schemas.openxmlformats.org/drawingml/2006/table">
            <a:tbl>
              <a:tblPr firstRow="0" bandRow="0">
                <a:tableStyleId>{5C22544A-7EE6-4342-B048-85BDC9FD1C3A}</a:tableStyleId>
              </a:tblPr>
              <a:tblGrid>
                <a:gridCol w="5120640"/>
                <a:gridCol w="5961888"/>
              </a:tblGrid>
              <a:tr h="512064">
                <a:tc>
                  <a:txBody>
                    <a:bodyPr wrap="square"/>
                    <a:lstStyle/>
                    <a:p>
                      <a:r>
                        <a:rPr sz="1050" b="1">
                          <a:solidFill>
                            <a:srgbClr val="FFFFFF"/>
                          </a:solidFill>
                          <a:latin typeface="Abadi"/>
                        </a:rPr>
                        <a:t>Scenario</a:t>
                      </a:r>
                    </a:p>
                  </a:txBody>
                  <a:tcPr marL="73152" marR="73152" marT="27432" marB="27432" anchor="ctr">
                    <a:solidFill>
                      <a:srgbClr val="1B355E"/>
                    </a:solidFill>
                  </a:tcPr>
                </a:tc>
                <a:tc>
                  <a:txBody>
                    <a:bodyPr wrap="square"/>
                    <a:lstStyle/>
                    <a:p>
                      <a:r>
                        <a:rPr sz="1050" b="1">
                          <a:solidFill>
                            <a:srgbClr val="FFFFFF"/>
                          </a:solidFill>
                          <a:latin typeface="Abadi"/>
                        </a:rPr>
                        <a:t>Decision</a:t>
                      </a:r>
                    </a:p>
                  </a:txBody>
                  <a:tcPr marL="73152" marR="73152" marT="27432" marB="27432" anchor="ctr">
                    <a:solidFill>
                      <a:srgbClr val="1B355E"/>
                    </a:solidFill>
                  </a:tcPr>
                </a:tc>
              </a:tr>
              <a:tr h="512064">
                <a:tc>
                  <a:txBody>
                    <a:bodyPr wrap="square"/>
                    <a:lstStyle/>
                    <a:p>
                      <a:r>
                        <a:rPr sz="1100" b="1">
                          <a:solidFill>
                            <a:srgbClr val="1A1A1A"/>
                          </a:solidFill>
                          <a:latin typeface="Abadi"/>
                        </a:rPr>
                        <a:t>6-week-old, cholestasis of unknown cause, team wants to start UDCA</a:t>
                      </a:r>
                    </a:p>
                  </a:txBody>
                  <a:tcPr marL="73152" marR="73152" marT="27432" marB="27432" anchor="ctr">
                    <a:solidFill>
                      <a:srgbClr val="FFFFFF"/>
                    </a:solidFill>
                  </a:tcPr>
                </a:tc>
                <a:tc>
                  <a:txBody>
                    <a:bodyPr wrap="square"/>
                    <a:lstStyle/>
                    <a:p>
                      <a:r>
                        <a:rPr sz="1100" b="0">
                          <a:solidFill>
                            <a:srgbClr val="1A1A1A"/>
                          </a:solidFill>
                          <a:latin typeface="Abadi"/>
                        </a:rPr>
                        <a:t>Send urine bile acids by mass spectrometry first; then UDCA 10–20 mg/kg if indicated</a:t>
                      </a:r>
                    </a:p>
                  </a:txBody>
                  <a:tcPr marL="73152" marR="73152" marT="27432" marB="27432" anchor="ctr">
                    <a:solidFill>
                      <a:srgbClr val="FFFFFF"/>
                    </a:solidFill>
                  </a:tcPr>
                </a:tc>
              </a:tr>
              <a:tr h="512064">
                <a:tc>
                  <a:txBody>
                    <a:bodyPr wrap="square"/>
                    <a:lstStyle/>
                    <a:p>
                      <a:r>
                        <a:rPr sz="1100" b="1">
                          <a:solidFill>
                            <a:srgbClr val="1A1A1A"/>
                          </a:solidFill>
                          <a:latin typeface="Abadi"/>
                        </a:rPr>
                        <a:t>4 months after Kasai, bilirubin 3.2, on ADEK drops only</a:t>
                      </a:r>
                    </a:p>
                  </a:txBody>
                  <a:tcPr marL="73152" marR="73152" marT="27432" marB="27432" anchor="ctr">
                    <a:solidFill>
                      <a:srgbClr val="F2F2F2"/>
                    </a:solidFill>
                  </a:tcPr>
                </a:tc>
                <a:tc>
                  <a:txBody>
                    <a:bodyPr wrap="square"/>
                    <a:lstStyle/>
                    <a:p>
                      <a:r>
                        <a:rPr sz="1100" b="0">
                          <a:solidFill>
                            <a:srgbClr val="1A1A1A"/>
                          </a:solidFill>
                          <a:latin typeface="Abadi"/>
                        </a:rPr>
                        <a:t>Measure A, D, E and INR; add separate vitamin D, TPGS and daily vitamin K; recheck in 4–6 weeks</a:t>
                      </a:r>
                    </a:p>
                  </a:txBody>
                  <a:tcPr marL="73152" marR="73152" marT="27432" marB="27432" anchor="ctr">
                    <a:solidFill>
                      <a:srgbClr val="F2F2F2"/>
                    </a:solidFill>
                  </a:tcPr>
                </a:tc>
              </a:tr>
              <a:tr h="512064">
                <a:tc>
                  <a:txBody>
                    <a:bodyPr wrap="square"/>
                    <a:lstStyle/>
                    <a:p>
                      <a:r>
                        <a:rPr sz="1100" b="1">
                          <a:solidFill>
                            <a:srgbClr val="1A1A1A"/>
                          </a:solidFill>
                          <a:latin typeface="Abadi"/>
                        </a:rPr>
                        <a:t>Breast-fed 7-week-old, single oral vitamin K at birth, irritability, INR 6</a:t>
                      </a:r>
                    </a:p>
                  </a:txBody>
                  <a:tcPr marL="73152" marR="73152" marT="27432" marB="27432" anchor="ctr">
                    <a:solidFill>
                      <a:srgbClr val="FFFFFF"/>
                    </a:solidFill>
                  </a:tcPr>
                </a:tc>
                <a:tc>
                  <a:txBody>
                    <a:bodyPr wrap="square"/>
                    <a:lstStyle/>
                    <a:p>
                      <a:r>
                        <a:rPr sz="1100" b="0">
                          <a:solidFill>
                            <a:srgbClr val="1A1A1A"/>
                          </a:solidFill>
                          <a:latin typeface="Abadi"/>
                        </a:rPr>
                        <a:t>Treat as vitamin K deficiency bleeding: IV vitamin K, head imaging, cholestasis work-up</a:t>
                      </a:r>
                    </a:p>
                  </a:txBody>
                  <a:tcPr marL="73152" marR="73152" marT="27432" marB="27432" anchor="ctr">
                    <a:solidFill>
                      <a:srgbClr val="FFFFFF"/>
                    </a:solidFill>
                  </a:tcPr>
                </a:tc>
              </a:tr>
              <a:tr h="512064">
                <a:tc>
                  <a:txBody>
                    <a:bodyPr wrap="square"/>
                    <a:lstStyle/>
                    <a:p>
                      <a:r>
                        <a:rPr sz="1100" b="1">
                          <a:solidFill>
                            <a:srgbClr val="1A1A1A"/>
                          </a:solidFill>
                          <a:latin typeface="Abadi"/>
                        </a:rPr>
                        <a:t>Infant after Kasai gaining weight, spleen growing, MUAC falling</a:t>
                      </a:r>
                    </a:p>
                  </a:txBody>
                  <a:tcPr marL="73152" marR="73152" marT="27432" marB="27432" anchor="ctr">
                    <a:solidFill>
                      <a:srgbClr val="F2F2F2"/>
                    </a:solidFill>
                  </a:tcPr>
                </a:tc>
                <a:tc>
                  <a:txBody>
                    <a:bodyPr wrap="square"/>
                    <a:lstStyle/>
                    <a:p>
                      <a:r>
                        <a:rPr sz="1100" b="0">
                          <a:solidFill>
                            <a:srgbClr val="1A1A1A"/>
                          </a:solidFill>
                          <a:latin typeface="Abadi"/>
                        </a:rPr>
                        <a:t>Wasting under organomegaly: start nasogastric MCT-rich feeds; refer for transplant assessment</a:t>
                      </a:r>
                    </a:p>
                  </a:txBody>
                  <a:tcPr marL="73152" marR="73152" marT="27432" marB="27432" anchor="ctr">
                    <a:solidFill>
                      <a:srgbClr val="F2F2F2"/>
                    </a:solidFill>
                  </a:tcPr>
                </a:tc>
              </a:tr>
              <a:tr h="512064">
                <a:tc>
                  <a:txBody>
                    <a:bodyPr wrap="square"/>
                    <a:lstStyle/>
                    <a:p>
                      <a:r>
                        <a:rPr sz="1100" b="1">
                          <a:solidFill>
                            <a:srgbClr val="1A1A1A"/>
                          </a:solidFill>
                          <a:latin typeface="Abadi"/>
                        </a:rPr>
                        <a:t>Alagille, 14 months, scratching through the night despite rifampicin</a:t>
                      </a:r>
                    </a:p>
                  </a:txBody>
                  <a:tcPr marL="73152" marR="73152" marT="27432" marB="27432" anchor="ctr">
                    <a:solidFill>
                      <a:srgbClr val="FFFFFF"/>
                    </a:solidFill>
                  </a:tcPr>
                </a:tc>
                <a:tc>
                  <a:txBody>
                    <a:bodyPr wrap="square"/>
                    <a:lstStyle/>
                    <a:p>
                      <a:r>
                        <a:rPr sz="1100" b="0">
                          <a:solidFill>
                            <a:srgbClr val="1A1A1A"/>
                          </a:solidFill>
                          <a:latin typeface="Abadi"/>
                        </a:rPr>
                        <a:t>Offer an IBAT inhibitor; monitor diarrhoea and fat-soluble vitamins</a:t>
                      </a:r>
                    </a:p>
                  </a:txBody>
                  <a:tcPr marL="73152" marR="73152" marT="27432" marB="27432" anchor="ctr">
                    <a:solidFill>
                      <a:srgbClr val="FFFFFF"/>
                    </a:solidFill>
                  </a:tcPr>
                </a:tc>
              </a:tr>
              <a:tr h="512064">
                <a:tc>
                  <a:txBody>
                    <a:bodyPr wrap="square"/>
                    <a:lstStyle/>
                    <a:p>
                      <a:r>
                        <a:rPr sz="1100" b="1">
                          <a:solidFill>
                            <a:srgbClr val="1A1A1A"/>
                          </a:solidFill>
                          <a:latin typeface="Abadi"/>
                        </a:rPr>
                        <a:t>PFIC2 with two truncating ABCB11 variants, refractory itch</a:t>
                      </a:r>
                    </a:p>
                  </a:txBody>
                  <a:tcPr marL="73152" marR="73152" marT="27432" marB="27432" anchor="ctr">
                    <a:solidFill>
                      <a:srgbClr val="F2F2F2"/>
                    </a:solidFill>
                  </a:tcPr>
                </a:tc>
                <a:tc>
                  <a:txBody>
                    <a:bodyPr wrap="square"/>
                    <a:lstStyle/>
                    <a:p>
                      <a:r>
                        <a:rPr sz="1100" b="0">
                          <a:solidFill>
                            <a:srgbClr val="1A1A1A"/>
                          </a:solidFill>
                          <a:latin typeface="Abadi"/>
                        </a:rPr>
                        <a:t>IBAT and diversion unlikely to work; plan transplant</a:t>
                      </a:r>
                    </a:p>
                  </a:txBody>
                  <a:tcPr marL="73152" marR="73152" marT="27432" marB="27432" anchor="ctr">
                    <a:solidFill>
                      <a:srgbClr val="F2F2F2"/>
                    </a:solidFill>
                  </a:tcPr>
                </a:tc>
              </a:tr>
              <a:tr h="512064">
                <a:tc>
                  <a:txBody>
                    <a:bodyPr wrap="square"/>
                    <a:lstStyle/>
                    <a:p>
                      <a:r>
                        <a:rPr sz="1100" b="1">
                          <a:solidFill>
                            <a:srgbClr val="1A1A1A"/>
                          </a:solidFill>
                          <a:latin typeface="Abadi"/>
                        </a:rPr>
                        <a:t>Biliary atresia, oxygen saturation 95% supine at 9 months</a:t>
                      </a:r>
                    </a:p>
                  </a:txBody>
                  <a:tcPr marL="73152" marR="73152" marT="27432" marB="27432" anchor="ctr">
                    <a:solidFill>
                      <a:srgbClr val="FFFFFF"/>
                    </a:solidFill>
                  </a:tcPr>
                </a:tc>
                <a:tc>
                  <a:txBody>
                    <a:bodyPr wrap="square"/>
                    <a:lstStyle/>
                    <a:p>
                      <a:r>
                        <a:rPr sz="1100" b="0">
                          <a:solidFill>
                            <a:srgbClr val="1A1A1A"/>
                          </a:solidFill>
                          <a:latin typeface="Abadi"/>
                        </a:rPr>
                        <a:t>Investigate for hepatopulmonary syndrome; it changes transplant timing</a:t>
                      </a:r>
                    </a:p>
                  </a:txBody>
                  <a:tcPr marL="73152" marR="73152"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82528" cy="2194560"/>
          </a:xfrm>
          <a:prstGeom prst="rect">
            <a:avLst/>
          </a:prstGeom>
          <a:noFill/>
        </p:spPr>
        <p:txBody>
          <a:bodyPr wrap="square" lIns="0" rIns="0" tIns="0" bIns="0" anchor="b">
            <a:spAutoFit/>
          </a:bodyPr>
          <a:lstStyle/>
          <a:p>
            <a:pPr algn="ctr"/>
            <a:r>
              <a:rPr sz="4000" b="1" i="0">
                <a:solidFill>
                  <a:srgbClr val="FFFFFF"/>
                </a:solidFill>
                <a:latin typeface="Abadi"/>
              </a:rPr>
              <a:t>Managing the Cholestatic Infant, Whatever the Cause: UDCA, Vitamins, Itch, Growth and Monitoring</a:t>
            </a:r>
          </a:p>
        </p:txBody>
      </p:sp>
      <p:sp>
        <p:nvSpPr>
          <p:cNvPr id="4" name="TextBox 3"/>
          <p:cNvSpPr txBox="1"/>
          <p:nvPr/>
        </p:nvSpPr>
        <p:spPr>
          <a:xfrm>
            <a:off x="548640" y="4434840"/>
            <a:ext cx="11082528" cy="292608"/>
          </a:xfrm>
          <a:prstGeom prst="rect">
            <a:avLst/>
          </a:prstGeom>
          <a:noFill/>
        </p:spPr>
        <p:txBody>
          <a:bodyPr wrap="square" lIns="0" rIns="0" tIns="0" bIns="0"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