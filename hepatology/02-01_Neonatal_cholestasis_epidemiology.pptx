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anchor="b" lIns="36576" rIns="36576" tIns="18288" bIns="18288">
            <a:spAutoFit/>
          </a:bodyPr>
          <a:lstStyle/>
          <a:p>
            <a:pPr algn="ctr"/>
            <a:r>
              <a:rPr sz="4200" b="1" i="0">
                <a:solidFill>
                  <a:srgbClr val="FFFFFF"/>
                </a:solidFill>
                <a:latin typeface="Abadi"/>
              </a:rPr>
              <a:t>Neonatal Cholestasis: Epidemiology and Definitions</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anchor="t" lIns="36576" rIns="36576" tIns="18288" bIns="18288">
            <a:spAutoFit/>
          </a:bodyPr>
          <a:lstStyle/>
          <a:p>
            <a:pPr algn="ctr"/>
            <a:r>
              <a:rPr sz="1700" b="1" i="0">
                <a:solidFill>
                  <a:srgbClr val="FFFFFF"/>
                </a:solidFill>
                <a:latin typeface="Abadi"/>
              </a:rPr>
              <a:t>Andrey Ermak, MD</a:t>
            </a:r>
          </a:p>
        </p:txBody>
      </p:sp>
      <p:sp>
        <p:nvSpPr>
          <p:cNvPr id="6" name="TextBox 5"/>
          <p:cNvSpPr txBox="1"/>
          <p:nvPr/>
        </p:nvSpPr>
        <p:spPr>
          <a:xfrm>
            <a:off x="548640" y="4498848"/>
            <a:ext cx="11091672" cy="704088"/>
          </a:xfrm>
          <a:prstGeom prst="rect">
            <a:avLst/>
          </a:prstGeom>
          <a:noFill/>
        </p:spPr>
        <p:txBody>
          <a:bodyPr wrap="square" anchor="t" lIns="36576" rIns="36576" tIns="18288" bIns="18288">
            <a:spAutoFit/>
          </a:bodyPr>
          <a:lstStyle/>
          <a:p>
            <a:pPr algn="ctr"/>
            <a:r>
              <a:rPr sz="1100" b="0" i="0">
                <a:solidFill>
                  <a:srgbClr val="CFD8E6"/>
                </a:solidFill>
                <a:latin typeface="Abadi"/>
              </a:rPr>
              <a:t>NASPGHAN/ESPGHAN 2017 (Fawaz) · AAP 2022 hyperbilirubinaemia guideline (Kemper) · AAP clinical report 2025 (Harpavat) · NICE CG98 · Dick &amp; Mowat 1985 · Gottesman 2015</a:t>
            </a:r>
          </a:p>
          <a:p>
            <a:pPr algn="ctr">
              <a:spcBef>
                <a:spcPts val="200"/>
              </a:spcBef>
            </a:pPr>
            <a:r>
              <a:rPr sz="1100" b="0" i="0">
                <a:solidFill>
                  <a:srgbClr val="CFD8E6"/>
                </a:solidFill>
                <a:latin typeface="Abadi"/>
              </a:rPr>
              <a:t>How common · what counts as cholestasis · direct versus conjugated · when to test · the breastfed infant at three weeks · why the clock matters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WHICH JAUNDICED INFANT NEEDS A FRACTION?</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Four decisions behind the most common referral in infant hepatology</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R, et al. JPGN 2017;64:154–68 · Kemper AR, et al. Pediatrics 2022;150:e2022058859 · Dick MC, Mowat AP. Arch Dis Child 1985;60:512–6</a:t>
            </a:r>
          </a:p>
        </p:txBody>
      </p:sp>
      <p:sp>
        <p:nvSpPr>
          <p:cNvPr id="12" name="Rectangle 11"/>
          <p:cNvSpPr/>
          <p:nvPr/>
        </p:nvSpPr>
        <p:spPr>
          <a:xfrm>
            <a:off x="548640" y="1773936"/>
            <a:ext cx="2567178" cy="2880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Count</a:t>
            </a:r>
          </a:p>
        </p:txBody>
      </p:sp>
      <p:sp>
        <p:nvSpPr>
          <p:cNvPr id="15" name="TextBox 14"/>
          <p:cNvSpPr txBox="1"/>
          <p:nvPr/>
        </p:nvSpPr>
        <p:spPr>
          <a:xfrm>
            <a:off x="768096"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About 1 in 2,500 term infants</a:t>
            </a:r>
          </a:p>
          <a:p>
            <a:pPr algn="l">
              <a:spcBef>
                <a:spcPts val="600"/>
              </a:spcBef>
            </a:pPr>
            <a:r>
              <a:rPr sz="1150" b="0" i="0">
                <a:solidFill>
                  <a:srgbClr val="1A1A1A"/>
                </a:solidFill>
                <a:latin typeface="Abadi"/>
              </a:rPr>
              <a:t>▪  Biliary atresia about 1 in 17,000 in England</a:t>
            </a:r>
          </a:p>
          <a:p>
            <a:pPr algn="l">
              <a:spcBef>
                <a:spcPts val="600"/>
              </a:spcBef>
            </a:pPr>
            <a:r>
              <a:rPr sz="1150" b="0" i="0">
                <a:solidFill>
                  <a:srgbClr val="1A1A1A"/>
                </a:solidFill>
                <a:latin typeface="Abadi"/>
              </a:rPr>
              <a:t>▪  Prolonged jaundice in 20–30% of breastfed infants</a:t>
            </a:r>
          </a:p>
        </p:txBody>
      </p:sp>
      <p:sp>
        <p:nvSpPr>
          <p:cNvPr id="16" name="Rectangle 15"/>
          <p:cNvSpPr/>
          <p:nvPr/>
        </p:nvSpPr>
        <p:spPr>
          <a:xfrm>
            <a:off x="3390138" y="1773936"/>
            <a:ext cx="2567178" cy="2880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9594"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Define</a:t>
            </a:r>
          </a:p>
        </p:txBody>
      </p:sp>
      <p:sp>
        <p:nvSpPr>
          <p:cNvPr id="19" name="TextBox 18"/>
          <p:cNvSpPr txBox="1"/>
          <p:nvPr/>
        </p:nvSpPr>
        <p:spPr>
          <a:xfrm>
            <a:off x="3609594"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Conjugated or direct bilirubin above 1.0 mg/dL (17 µmol/L)</a:t>
            </a:r>
          </a:p>
          <a:p>
            <a:pPr algn="l">
              <a:spcBef>
                <a:spcPts val="600"/>
              </a:spcBef>
            </a:pPr>
            <a:r>
              <a:rPr sz="1150" b="0" i="0">
                <a:solidFill>
                  <a:srgbClr val="1A1A1A"/>
                </a:solidFill>
                <a:latin typeface="Abadi"/>
              </a:rPr>
              <a:t>▪  Regardless of the total</a:t>
            </a:r>
          </a:p>
          <a:p>
            <a:pPr algn="l">
              <a:spcBef>
                <a:spcPts val="600"/>
              </a:spcBef>
            </a:pPr>
            <a:r>
              <a:rPr sz="1150" b="0" i="0">
                <a:solidFill>
                  <a:srgbClr val="1A1A1A"/>
                </a:solidFill>
                <a:latin typeface="Abadi"/>
              </a:rPr>
              <a:t>▪  The 20% rule is gone</a:t>
            </a:r>
          </a:p>
        </p:txBody>
      </p:sp>
      <p:sp>
        <p:nvSpPr>
          <p:cNvPr id="20" name="Rectangle 19"/>
          <p:cNvSpPr/>
          <p:nvPr/>
        </p:nvSpPr>
        <p:spPr>
          <a:xfrm>
            <a:off x="6231636" y="1773936"/>
            <a:ext cx="2567178" cy="2880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092"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Time</a:t>
            </a:r>
          </a:p>
        </p:txBody>
      </p:sp>
      <p:sp>
        <p:nvSpPr>
          <p:cNvPr id="23" name="TextBox 22"/>
          <p:cNvSpPr txBox="1"/>
          <p:nvPr/>
        </p:nvSpPr>
        <p:spPr>
          <a:xfrm>
            <a:off x="6451092"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Formula-fed: jaundiced at 2 weeks</a:t>
            </a:r>
          </a:p>
          <a:p>
            <a:pPr algn="l">
              <a:spcBef>
                <a:spcPts val="600"/>
              </a:spcBef>
            </a:pPr>
            <a:r>
              <a:rPr sz="1150" b="0" i="0">
                <a:solidFill>
                  <a:srgbClr val="1A1A1A"/>
                </a:solidFill>
                <a:latin typeface="Abadi"/>
              </a:rPr>
              <a:t>▪  Breastfed and well: by 3 weeks</a:t>
            </a:r>
          </a:p>
          <a:p>
            <a:pPr algn="l">
              <a:spcBef>
                <a:spcPts val="600"/>
              </a:spcBef>
            </a:pPr>
            <a:r>
              <a:rPr sz="1150" b="0" i="0">
                <a:solidFill>
                  <a:srgbClr val="1A1A1A"/>
                </a:solidFill>
                <a:latin typeface="Abadi"/>
              </a:rPr>
              <a:t>▪  Pale stool: any age, same day</a:t>
            </a:r>
          </a:p>
        </p:txBody>
      </p:sp>
      <p:sp>
        <p:nvSpPr>
          <p:cNvPr id="24" name="Rectangle 23"/>
          <p:cNvSpPr/>
          <p:nvPr/>
        </p:nvSpPr>
        <p:spPr>
          <a:xfrm>
            <a:off x="9073134" y="1773936"/>
            <a:ext cx="2567178" cy="2880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2590"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Measure</a:t>
            </a:r>
          </a:p>
        </p:txBody>
      </p:sp>
      <p:sp>
        <p:nvSpPr>
          <p:cNvPr id="27" name="TextBox 26"/>
          <p:cNvSpPr txBox="1"/>
          <p:nvPr/>
        </p:nvSpPr>
        <p:spPr>
          <a:xfrm>
            <a:off x="9292590"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Conjugated assay preferred</a:t>
            </a:r>
          </a:p>
          <a:p>
            <a:pPr algn="l">
              <a:spcBef>
                <a:spcPts val="600"/>
              </a:spcBef>
            </a:pPr>
            <a:r>
              <a:rPr sz="1150" b="0" i="0">
                <a:solidFill>
                  <a:srgbClr val="1A1A1A"/>
                </a:solidFill>
                <a:latin typeface="Abadi"/>
              </a:rPr>
              <a:t>▪  Direct includes delta bilirubin</a:t>
            </a:r>
          </a:p>
          <a:p>
            <a:pPr algn="l">
              <a:spcBef>
                <a:spcPts val="600"/>
              </a:spcBef>
            </a:pPr>
            <a:r>
              <a:rPr sz="1150" b="0" i="0">
                <a:solidFill>
                  <a:srgbClr val="1A1A1A"/>
                </a:solidFill>
                <a:latin typeface="Abadi"/>
              </a:rPr>
              <a:t>▪  Know which one your lab reports</a:t>
            </a:r>
          </a:p>
        </p:txBody>
      </p:sp>
      <p:sp>
        <p:nvSpPr>
          <p:cNvPr id="28" name="TextBox 27"/>
          <p:cNvSpPr txBox="1"/>
          <p:nvPr/>
        </p:nvSpPr>
        <p:spPr>
          <a:xfrm>
            <a:off x="548640" y="489204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Most jaundice at two weeks is unconjugated and harmless; the task is to find the one infant in a few hundred whose conjugated fraction is high, while surgery can still change the outcome.</a:t>
            </a:r>
          </a:p>
          <a:p>
            <a:pPr algn="l">
              <a:spcBef>
                <a:spcPts val="1000"/>
              </a:spcBef>
            </a:pPr>
            <a:r>
              <a:rPr sz="1250" b="1" i="1">
                <a:solidFill>
                  <a:srgbClr val="1A1A1A"/>
                </a:solidFill>
                <a:latin typeface="Abadi"/>
              </a:rPr>
              <a:t>Cholestasis is defined by a number and found by a habit: fractionate every infant still yellow at two to three weeks.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CONJUGATED BILIRUBIN IS NEVER PHYSIOLOGICAL</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Why the two fractions point to completely different problems in the newborn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2017 JPGN · Davis AR, et al. J Pediatr 2011;158:562–5 · Mayo Clinic Laboratories, direct bilirubin test 81787</a:t>
            </a:r>
          </a:p>
        </p:txBody>
      </p:sp>
      <p:graphicFrame>
        <p:nvGraphicFramePr>
          <p:cNvPr id="12" name="Table 11"/>
          <p:cNvGraphicFramePr>
            <a:graphicFrameLocks noGrp="1"/>
          </p:cNvGraphicFramePr>
          <p:nvPr/>
        </p:nvGraphicFramePr>
        <p:xfrm>
          <a:off x="548640" y="1773936"/>
          <a:ext cx="11091672" cy="3163824"/>
        </p:xfrm>
        <a:graphic>
          <a:graphicData uri="http://schemas.openxmlformats.org/drawingml/2006/table">
            <a:tbl>
              <a:tblPr firstRow="0" bandRow="0">
                <a:tableStyleId>{5C22544A-7EE6-4342-B048-85BDC9FD1C3A}</a:tableStyleId>
              </a:tblPr>
              <a:tblGrid>
                <a:gridCol w="2194560"/>
                <a:gridCol w="4206240"/>
                <a:gridCol w="4690872"/>
              </a:tblGrid>
              <a:tr h="420624">
                <a:tc>
                  <a:txBody>
                    <a:bodyPr wrap="square"/>
                    <a:lstStyle/>
                    <a:p>
                      <a:r>
                        <a:rPr sz="1200" b="1">
                          <a:solidFill>
                            <a:srgbClr val="FFFFFF"/>
                          </a:solidFill>
                          <a:latin typeface="Abadi"/>
                        </a:rPr>
                        <a:t>Feature</a:t>
                      </a:r>
                    </a:p>
                  </a:txBody>
                  <a:tcPr anchor="ctr" marL="73152" marR="73152" marT="27432" marB="27432">
                    <a:solidFill>
                      <a:srgbClr val="1B355E"/>
                    </a:solidFill>
                  </a:tcPr>
                </a:tc>
                <a:tc>
                  <a:txBody>
                    <a:bodyPr wrap="square"/>
                    <a:lstStyle/>
                    <a:p>
                      <a:r>
                        <a:rPr sz="1200" b="1">
                          <a:solidFill>
                            <a:srgbClr val="FFFFFF"/>
                          </a:solidFill>
                          <a:latin typeface="Abadi"/>
                        </a:rPr>
                        <a:t>Unconjugated bilirubin</a:t>
                      </a:r>
                    </a:p>
                  </a:txBody>
                  <a:tcPr anchor="ctr" marL="73152" marR="73152" marT="27432" marB="27432">
                    <a:solidFill>
                      <a:srgbClr val="1B355E"/>
                    </a:solidFill>
                  </a:tcPr>
                </a:tc>
                <a:tc>
                  <a:txBody>
                    <a:bodyPr wrap="square"/>
                    <a:lstStyle/>
                    <a:p>
                      <a:r>
                        <a:rPr sz="1200" b="1">
                          <a:solidFill>
                            <a:srgbClr val="FFFFFF"/>
                          </a:solidFill>
                          <a:latin typeface="Abadi"/>
                        </a:rPr>
                        <a:t>Conjugated bilirubin</a:t>
                      </a:r>
                    </a:p>
                  </a:txBody>
                  <a:tcPr anchor="ctr" marL="73152" marR="73152" marT="27432" marB="27432">
                    <a:solidFill>
                      <a:srgbClr val="1B355E"/>
                    </a:solidFill>
                  </a:tcPr>
                </a:tc>
              </a:tr>
              <a:tr h="457200">
                <a:tc>
                  <a:txBody>
                    <a:bodyPr wrap="square"/>
                    <a:lstStyle/>
                    <a:p>
                      <a:r>
                        <a:rPr sz="1050" b="1">
                          <a:solidFill>
                            <a:srgbClr val="1A1A1A"/>
                          </a:solidFill>
                          <a:latin typeface="Abadi"/>
                        </a:rPr>
                        <a:t>Where it comes from</a:t>
                      </a:r>
                    </a:p>
                  </a:txBody>
                  <a:tcPr anchor="ctr" marL="73152" marR="73152" marT="27432" marB="27432">
                    <a:solidFill>
                      <a:srgbClr val="FFFFFF"/>
                    </a:solidFill>
                  </a:tcPr>
                </a:tc>
                <a:tc>
                  <a:txBody>
                    <a:bodyPr wrap="square"/>
                    <a:lstStyle/>
                    <a:p>
                      <a:r>
                        <a:rPr sz="1050" b="0">
                          <a:solidFill>
                            <a:srgbClr val="1A1A1A"/>
                          </a:solidFill>
                          <a:latin typeface="Abadi"/>
                        </a:rPr>
                        <a:t>Haem turnover; high red-cell mass, short red-cell life</a:t>
                      </a:r>
                    </a:p>
                  </a:txBody>
                  <a:tcPr anchor="ctr" marL="73152" marR="73152" marT="27432" marB="27432">
                    <a:solidFill>
                      <a:srgbClr val="DCE6F1"/>
                    </a:solidFill>
                  </a:tcPr>
                </a:tc>
                <a:tc>
                  <a:txBody>
                    <a:bodyPr wrap="square"/>
                    <a:lstStyle/>
                    <a:p>
                      <a:r>
                        <a:rPr sz="1050" b="0">
                          <a:solidFill>
                            <a:srgbClr val="1A1A1A"/>
                          </a:solidFill>
                          <a:latin typeface="Abadi"/>
                        </a:rPr>
                        <a:t>Hepatocyte glucuronidation, then canalicular export by MRP2</a:t>
                      </a:r>
                    </a:p>
                  </a:txBody>
                  <a:tcPr anchor="ctr" marL="73152" marR="73152" marT="27432" marB="27432">
                    <a:solidFill>
                      <a:srgbClr val="FBEFBE"/>
                    </a:solidFill>
                  </a:tcPr>
                </a:tc>
              </a:tr>
              <a:tr h="457200">
                <a:tc>
                  <a:txBody>
                    <a:bodyPr wrap="square"/>
                    <a:lstStyle/>
                    <a:p>
                      <a:r>
                        <a:rPr sz="1050" b="1">
                          <a:solidFill>
                            <a:srgbClr val="1A1A1A"/>
                          </a:solidFill>
                          <a:latin typeface="Abadi"/>
                        </a:rPr>
                        <a:t>Solubility</a:t>
                      </a:r>
                    </a:p>
                  </a:txBody>
                  <a:tcPr anchor="ctr" marL="73152" marR="73152" marT="27432" marB="27432">
                    <a:solidFill>
                      <a:srgbClr val="F0F0F0"/>
                    </a:solidFill>
                  </a:tcPr>
                </a:tc>
                <a:tc>
                  <a:txBody>
                    <a:bodyPr wrap="square"/>
                    <a:lstStyle/>
                    <a:p>
                      <a:r>
                        <a:rPr sz="1050" b="0">
                          <a:solidFill>
                            <a:srgbClr val="1A1A1A"/>
                          </a:solidFill>
                          <a:latin typeface="Abadi"/>
                        </a:rPr>
                        <a:t>Lipid-soluble, albumin-bound, crosses the brain</a:t>
                      </a:r>
                    </a:p>
                  </a:txBody>
                  <a:tcPr anchor="ctr" marL="73152" marR="73152" marT="27432" marB="27432">
                    <a:solidFill>
                      <a:srgbClr val="DCE6F1"/>
                    </a:solidFill>
                  </a:tcPr>
                </a:tc>
                <a:tc>
                  <a:txBody>
                    <a:bodyPr wrap="square"/>
                    <a:lstStyle/>
                    <a:p>
                      <a:r>
                        <a:rPr sz="1050" b="0">
                          <a:solidFill>
                            <a:srgbClr val="1A1A1A"/>
                          </a:solidFill>
                          <a:latin typeface="Abadi"/>
                        </a:rPr>
                        <a:t>Water-soluble, appears in urine</a:t>
                      </a:r>
                    </a:p>
                  </a:txBody>
                  <a:tcPr anchor="ctr" marL="73152" marR="73152" marT="27432" marB="27432">
                    <a:solidFill>
                      <a:srgbClr val="FBEFBE"/>
                    </a:solidFill>
                  </a:tcPr>
                </a:tc>
              </a:tr>
              <a:tr h="457200">
                <a:tc>
                  <a:txBody>
                    <a:bodyPr wrap="square"/>
                    <a:lstStyle/>
                    <a:p>
                      <a:r>
                        <a:rPr sz="1050" b="1">
                          <a:solidFill>
                            <a:srgbClr val="1A1A1A"/>
                          </a:solidFill>
                          <a:latin typeface="Abadi"/>
                        </a:rPr>
                        <a:t>Why it rises in neonates</a:t>
                      </a:r>
                    </a:p>
                  </a:txBody>
                  <a:tcPr anchor="ctr" marL="73152" marR="73152" marT="27432" marB="27432">
                    <a:solidFill>
                      <a:srgbClr val="FFFFFF"/>
                    </a:solidFill>
                  </a:tcPr>
                </a:tc>
                <a:tc>
                  <a:txBody>
                    <a:bodyPr wrap="square"/>
                    <a:lstStyle/>
                    <a:p>
                      <a:r>
                        <a:rPr sz="1050" b="0">
                          <a:solidFill>
                            <a:srgbClr val="1A1A1A"/>
                          </a:solidFill>
                          <a:latin typeface="Abadi"/>
                        </a:rPr>
                        <a:t>Production up, UGT1A1 immature, enterohepatic return</a:t>
                      </a:r>
                    </a:p>
                  </a:txBody>
                  <a:tcPr anchor="ctr" marL="73152" marR="73152" marT="27432" marB="27432">
                    <a:solidFill>
                      <a:srgbClr val="DCE6F1"/>
                    </a:solidFill>
                  </a:tcPr>
                </a:tc>
                <a:tc>
                  <a:txBody>
                    <a:bodyPr wrap="square"/>
                    <a:lstStyle/>
                    <a:p>
                      <a:r>
                        <a:rPr sz="1050" b="0">
                          <a:solidFill>
                            <a:srgbClr val="1A1A1A"/>
                          </a:solidFill>
                          <a:latin typeface="Abadi"/>
                        </a:rPr>
                        <a:t>Export or bile flow has failed: never maturation alone</a:t>
                      </a:r>
                    </a:p>
                  </a:txBody>
                  <a:tcPr anchor="ctr" marL="73152" marR="73152" marT="27432" marB="27432">
                    <a:solidFill>
                      <a:srgbClr val="FBEFBE"/>
                    </a:solidFill>
                  </a:tcPr>
                </a:tc>
              </a:tr>
              <a:tr h="457200">
                <a:tc>
                  <a:txBody>
                    <a:bodyPr wrap="square"/>
                    <a:lstStyle/>
                    <a:p>
                      <a:r>
                        <a:rPr sz="1050" b="1">
                          <a:solidFill>
                            <a:srgbClr val="1A1A1A"/>
                          </a:solidFill>
                          <a:latin typeface="Abadi"/>
                        </a:rPr>
                        <a:t>Newborn 99th centile</a:t>
                      </a:r>
                    </a:p>
                  </a:txBody>
                  <a:tcPr anchor="ctr" marL="73152" marR="73152" marT="27432" marB="27432">
                    <a:solidFill>
                      <a:srgbClr val="F0F0F0"/>
                    </a:solidFill>
                  </a:tcPr>
                </a:tc>
                <a:tc>
                  <a:txBody>
                    <a:bodyPr wrap="square"/>
                    <a:lstStyle/>
                    <a:p>
                      <a:r>
                        <a:rPr sz="1050" b="0">
                          <a:solidFill>
                            <a:srgbClr val="1A1A1A"/>
                          </a:solidFill>
                          <a:latin typeface="Abadi"/>
                        </a:rPr>
                        <a:t>Rises to a peak at day 3 to 5</a:t>
                      </a:r>
                    </a:p>
                  </a:txBody>
                  <a:tcPr anchor="ctr" marL="73152" marR="73152" marT="27432" marB="27432">
                    <a:solidFill>
                      <a:srgbClr val="DCE6F1"/>
                    </a:solidFill>
                  </a:tcPr>
                </a:tc>
                <a:tc>
                  <a:txBody>
                    <a:bodyPr wrap="square"/>
                    <a:lstStyle/>
                    <a:p>
                      <a:r>
                        <a:rPr sz="1050" b="0">
                          <a:solidFill>
                            <a:srgbClr val="1A1A1A"/>
                          </a:solidFill>
                          <a:latin typeface="Abadi"/>
                        </a:rPr>
                        <a:t>0.5 mg/dL conjugated; 2.1 mg/dL as 'direct'</a:t>
                      </a:r>
                    </a:p>
                  </a:txBody>
                  <a:tcPr anchor="ctr" marL="73152" marR="73152" marT="27432" marB="27432">
                    <a:solidFill>
                      <a:srgbClr val="FBEFBE"/>
                    </a:solidFill>
                  </a:tcPr>
                </a:tc>
              </a:tr>
              <a:tr h="457200">
                <a:tc>
                  <a:txBody>
                    <a:bodyPr wrap="square"/>
                    <a:lstStyle/>
                    <a:p>
                      <a:r>
                        <a:rPr sz="1050" b="1">
                          <a:solidFill>
                            <a:srgbClr val="1A1A1A"/>
                          </a:solidFill>
                          <a:latin typeface="Abadi"/>
                        </a:rPr>
                        <a:t>Clinical meaning</a:t>
                      </a:r>
                    </a:p>
                  </a:txBody>
                  <a:tcPr anchor="ctr" marL="73152" marR="73152" marT="27432" marB="27432">
                    <a:solidFill>
                      <a:srgbClr val="FFFFFF"/>
                    </a:solidFill>
                  </a:tcPr>
                </a:tc>
                <a:tc>
                  <a:txBody>
                    <a:bodyPr wrap="square"/>
                    <a:lstStyle/>
                    <a:p>
                      <a:r>
                        <a:rPr sz="1050" b="0">
                          <a:solidFill>
                            <a:srgbClr val="1A1A1A"/>
                          </a:solidFill>
                          <a:latin typeface="Abadi"/>
                        </a:rPr>
                        <a:t>Usually benign; danger is kernicterus</a:t>
                      </a:r>
                    </a:p>
                  </a:txBody>
                  <a:tcPr anchor="ctr" marL="73152" marR="73152" marT="27432" marB="27432">
                    <a:solidFill>
                      <a:srgbClr val="DCE6F1"/>
                    </a:solidFill>
                  </a:tcPr>
                </a:tc>
                <a:tc>
                  <a:txBody>
                    <a:bodyPr wrap="square"/>
                    <a:lstStyle/>
                    <a:p>
                      <a:r>
                        <a:rPr sz="1050" b="0">
                          <a:solidFill>
                            <a:srgbClr val="1A1A1A"/>
                          </a:solidFill>
                          <a:latin typeface="Abadi"/>
                        </a:rPr>
                        <a:t>Always a disease until proven otherwise</a:t>
                      </a:r>
                    </a:p>
                  </a:txBody>
                  <a:tcPr anchor="ctr" marL="73152" marR="73152" marT="27432" marB="27432">
                    <a:solidFill>
                      <a:srgbClr val="FBEFBE"/>
                    </a:solidFill>
                  </a:tcPr>
                </a:tc>
              </a:tr>
              <a:tr h="457200">
                <a:tc>
                  <a:txBody>
                    <a:bodyPr wrap="square"/>
                    <a:lstStyle/>
                    <a:p>
                      <a:r>
                        <a:rPr sz="1050" b="1">
                          <a:solidFill>
                            <a:srgbClr val="1A1A1A"/>
                          </a:solidFill>
                          <a:latin typeface="Abadi"/>
                        </a:rPr>
                        <a:t>Clue at the cot side</a:t>
                      </a:r>
                    </a:p>
                  </a:txBody>
                  <a:tcPr anchor="ctr" marL="73152" marR="73152" marT="27432" marB="27432">
                    <a:solidFill>
                      <a:srgbClr val="F0F0F0"/>
                    </a:solidFill>
                  </a:tcPr>
                </a:tc>
                <a:tc>
                  <a:txBody>
                    <a:bodyPr wrap="square"/>
                    <a:lstStyle/>
                    <a:p>
                      <a:r>
                        <a:rPr sz="1050" b="0">
                          <a:solidFill>
                            <a:srgbClr val="1A1A1A"/>
                          </a:solidFill>
                          <a:latin typeface="Abadi"/>
                        </a:rPr>
                        <a:t>Normal stool colour</a:t>
                      </a:r>
                    </a:p>
                  </a:txBody>
                  <a:tcPr anchor="ctr" marL="73152" marR="73152" marT="27432" marB="27432">
                    <a:solidFill>
                      <a:srgbClr val="DCE6F1"/>
                    </a:solidFill>
                  </a:tcPr>
                </a:tc>
                <a:tc>
                  <a:txBody>
                    <a:bodyPr wrap="square"/>
                    <a:lstStyle/>
                    <a:p>
                      <a:r>
                        <a:rPr sz="1050" b="0">
                          <a:solidFill>
                            <a:srgbClr val="1A1A1A"/>
                          </a:solidFill>
                          <a:latin typeface="Abadi"/>
                        </a:rPr>
                        <a:t>Dark urine, pale or acholic stool</a:t>
                      </a:r>
                    </a:p>
                  </a:txBody>
                  <a:tcPr anchor="ctr" marL="73152" marR="73152" marT="27432" marB="27432">
                    <a:solidFill>
                      <a:srgbClr val="FBEFBE"/>
                    </a:solidFill>
                  </a:tcPr>
                </a:tc>
              </a:tr>
            </a:tbl>
          </a:graphicData>
        </a:graphic>
      </p:graphicFrame>
      <p:sp>
        <p:nvSpPr>
          <p:cNvPr id="13" name="TextBox 12"/>
          <p:cNvSpPr txBox="1"/>
          <p:nvPr/>
        </p:nvSpPr>
        <p:spPr>
          <a:xfrm>
            <a:off x="548640" y="5029200"/>
            <a:ext cx="11091672" cy="822960"/>
          </a:xfrm>
          <a:prstGeom prst="rect">
            <a:avLst/>
          </a:prstGeom>
          <a:noFill/>
        </p:spPr>
        <p:txBody>
          <a:bodyPr wrap="square" anchor="t" lIns="36576" rIns="36576" tIns="18288" bIns="18288">
            <a:spAutoFit/>
          </a:bodyPr>
          <a:lstStyle/>
          <a:p>
            <a:pPr algn="l"/>
            <a:r>
              <a:rPr sz="1250" b="0" i="0">
                <a:solidFill>
                  <a:srgbClr val="1A1A1A"/>
                </a:solidFill>
                <a:latin typeface="Abadi"/>
              </a:rPr>
              <a:t>The newborn makes a lot of bilirubin and conjugates it slowly, so unconjugated jaundice is expected. Conjugation itself works early; a high conjugated fraction means the hepatocyte cannot export bile or bile cannot leave the liver.</a:t>
            </a:r>
          </a:p>
          <a:p>
            <a:pPr algn="l">
              <a:spcBef>
                <a:spcPts val="1000"/>
              </a:spcBef>
            </a:pPr>
            <a:r>
              <a:rPr sz="1250" b="1" i="1">
                <a:solidFill>
                  <a:srgbClr val="1A1A1A"/>
                </a:solidFill>
                <a:latin typeface="Abadi"/>
              </a:rPr>
              <a:t>Prolonged unconjugated jaundice is a feeding question; conjugated jaundice is a liver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INCIDENCE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WHERE '1 IN 2,500' COMES FROM</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Prospective survey of conjugated jaundice lasting more than 2 weeks, south-east England, 1971–1973</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Dick MC, Mowat AP. Arch Dis Child 1985;60:512–6 · cited as reference 2 in Fawaz R, et al. JPGN 2017;64:154–68</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 in 2,500</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Live births with conjugated jaundice for more than 2 weeks: 54 infants</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29 of 54</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Labelled cryptogenic hepatitis</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11 of 54</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Extrahepatic biliary atresia</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7 of 54</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Alpha-1 antitrypsin deficiency</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The remaining 7 were 3 congenital infections, 1 chromosomal disorder, and one each of choledochal cyst, galactosaemia and rhesus disease. The 2017 guideline still quotes this survey for its denominator.</a:t>
            </a:r>
          </a:p>
          <a:p>
            <a:pPr algn="l">
              <a:spcBef>
                <a:spcPts val="1000"/>
              </a:spcBef>
            </a:pPr>
            <a:r>
              <a:rPr sz="1250" b="1" i="1">
                <a:solidFill>
                  <a:srgbClr val="1A1A1A"/>
                </a:solidFill>
                <a:latin typeface="Abadi"/>
              </a:rPr>
              <a:t>Our best population number is half a century old and predates genetic testing: 'cryptogenic' then meant 'not yet named'.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COUNTERWEIGHT</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THE NICU IS A DIFFERENT DENOMINATOR</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Conjugated hyperbilirubinaemia among sick and preterm infants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Turk J Gastroenterol 2013;24:406–14 · Sloane A, et al. J Perinatol 2017;37:536–40 · Christensen RD, et al. J Perinatol 2007;27:284–90</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2.1%</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Of tertiary NICU admissions (104 of 4,915); 80% had another illness at the same time</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1.7%</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Of NICU infants had an abnormal direct bilirubin within 72 hours (63 of 3,715)</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14%</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Developed PN-associated liver disease after 14–28 days of parenteral nutrition</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85%</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Developed it after more than 100 days of parenteral nutrition</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In 6,543 neonates on PN, cholestasis (direct bilirubin of 2.0 mg/dL or more) rose with duration. Birth weight under 500 g (OR 30.7), gastroschisis (OR 20.3) and jejunal atresia (OR 24.0) carried the highest odds.</a:t>
            </a:r>
          </a:p>
          <a:p>
            <a:pPr algn="l">
              <a:spcBef>
                <a:spcPts val="1000"/>
              </a:spcBef>
            </a:pPr>
            <a:r>
              <a:rPr sz="1250" b="1" i="1">
                <a:solidFill>
                  <a:srgbClr val="1A1A1A"/>
                </a:solidFill>
                <a:latin typeface="Abadi"/>
              </a:rPr>
              <a:t>In the NICU cholestasis is roughly fifty times commoner, and multifactorial: biliary atresia still hides among the PN babies.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BILIARY ATRESIA</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GEOGRAPHY CHANGES THE PRIOR</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Birth prevalence of biliary atresia, per 10,000 live births, national or registry data</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Chardot C, et al. J Hepatol 1999;31:1006–13 · Lin YC, et al. Pediatrics 2011;128:e530–6 · Tiao MM, et al. J Gastroenterol Hepatol 2008;23:62–6 · Livesey E, et al. ADC FN 2009;94:F451–5 · Hopkins PC, et al. J Pediatr 2017;187:253–7 · Davenport M, et al. J Clin Med 2021;10:5675</a:t>
            </a:r>
          </a:p>
        </p:txBody>
      </p:sp>
      <p:sp>
        <p:nvSpPr>
          <p:cNvPr id="12" name="TextBox 11"/>
          <p:cNvSpPr txBox="1"/>
          <p:nvPr/>
        </p:nvSpPr>
        <p:spPr>
          <a:xfrm>
            <a:off x="548640" y="1874519"/>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French Polynesia, 1986–96</a:t>
            </a:r>
          </a:p>
        </p:txBody>
      </p:sp>
      <p:sp>
        <p:nvSpPr>
          <p:cNvPr id="13" name="Rectangle 12"/>
          <p:cNvSpPr/>
          <p:nvPr/>
        </p:nvSpPr>
        <p:spPr>
          <a:xfrm>
            <a:off x="5669279" y="1901951"/>
            <a:ext cx="4301337"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62057" y="1874519"/>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2.94</a:t>
            </a:r>
          </a:p>
        </p:txBody>
      </p:sp>
      <p:sp>
        <p:nvSpPr>
          <p:cNvPr id="15" name="TextBox 14"/>
          <p:cNvSpPr txBox="1"/>
          <p:nvPr/>
        </p:nvSpPr>
        <p:spPr>
          <a:xfrm>
            <a:off x="548640" y="2258568"/>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New Zealand, Māori (1 in 5,285)</a:t>
            </a:r>
          </a:p>
        </p:txBody>
      </p:sp>
      <p:sp>
        <p:nvSpPr>
          <p:cNvPr id="16" name="Rectangle 15"/>
          <p:cNvSpPr/>
          <p:nvPr/>
        </p:nvSpPr>
        <p:spPr>
          <a:xfrm>
            <a:off x="5669279" y="2285999"/>
            <a:ext cx="2765145"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25865" y="2258568"/>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1.89</a:t>
            </a:r>
          </a:p>
        </p:txBody>
      </p:sp>
      <p:sp>
        <p:nvSpPr>
          <p:cNvPr id="18" name="TextBox 17"/>
          <p:cNvSpPr txBox="1"/>
          <p:nvPr/>
        </p:nvSpPr>
        <p:spPr>
          <a:xfrm>
            <a:off x="548640" y="2642615"/>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Taiwan, national registry 2004–06</a:t>
            </a:r>
          </a:p>
        </p:txBody>
      </p:sp>
      <p:sp>
        <p:nvSpPr>
          <p:cNvPr id="19" name="Rectangle 18"/>
          <p:cNvSpPr/>
          <p:nvPr/>
        </p:nvSpPr>
        <p:spPr>
          <a:xfrm>
            <a:off x="5669279" y="2670047"/>
            <a:ext cx="2618841"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9561" y="2642615"/>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1.79</a:t>
            </a:r>
          </a:p>
        </p:txBody>
      </p:sp>
      <p:sp>
        <p:nvSpPr>
          <p:cNvPr id="21" name="TextBox 20"/>
          <p:cNvSpPr txBox="1"/>
          <p:nvPr/>
        </p:nvSpPr>
        <p:spPr>
          <a:xfrm>
            <a:off x="548640" y="3026663"/>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Taiwan, national registry 2007–09</a:t>
            </a:r>
          </a:p>
        </p:txBody>
      </p:sp>
      <p:sp>
        <p:nvSpPr>
          <p:cNvPr id="22" name="Rectangle 21"/>
          <p:cNvSpPr/>
          <p:nvPr/>
        </p:nvSpPr>
        <p:spPr>
          <a:xfrm>
            <a:off x="5669279" y="3054095"/>
            <a:ext cx="1799539"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0259" y="3026663"/>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1.23</a:t>
            </a:r>
          </a:p>
        </p:txBody>
      </p:sp>
      <p:sp>
        <p:nvSpPr>
          <p:cNvPr id="24" name="TextBox 23"/>
          <p:cNvSpPr txBox="1"/>
          <p:nvPr/>
        </p:nvSpPr>
        <p:spPr>
          <a:xfrm>
            <a:off x="548640" y="3410711"/>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New Zealand, European ancestry (about 1 in 16,000)</a:t>
            </a:r>
          </a:p>
        </p:txBody>
      </p:sp>
      <p:sp>
        <p:nvSpPr>
          <p:cNvPr id="25" name="Rectangle 24"/>
          <p:cNvSpPr/>
          <p:nvPr/>
        </p:nvSpPr>
        <p:spPr>
          <a:xfrm>
            <a:off x="5669279" y="3438143"/>
            <a:ext cx="921715"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82435" y="3410711"/>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0.63</a:t>
            </a:r>
          </a:p>
        </p:txBody>
      </p:sp>
      <p:sp>
        <p:nvSpPr>
          <p:cNvPr id="27" name="TextBox 26"/>
          <p:cNvSpPr txBox="1"/>
          <p:nvPr/>
        </p:nvSpPr>
        <p:spPr>
          <a:xfrm>
            <a:off x="548640" y="379476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England and Wales, 1999–2006 (1 in 17,049)</a:t>
            </a:r>
          </a:p>
        </p:txBody>
      </p:sp>
      <p:sp>
        <p:nvSpPr>
          <p:cNvPr id="28" name="Rectangle 27"/>
          <p:cNvSpPr/>
          <p:nvPr/>
        </p:nvSpPr>
        <p:spPr>
          <a:xfrm>
            <a:off x="5669279" y="3822192"/>
            <a:ext cx="848563"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9283" y="379476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0.58</a:t>
            </a:r>
          </a:p>
        </p:txBody>
      </p:sp>
      <p:sp>
        <p:nvSpPr>
          <p:cNvPr id="30" name="TextBox 29"/>
          <p:cNvSpPr txBox="1"/>
          <p:nvPr/>
        </p:nvSpPr>
        <p:spPr>
          <a:xfrm>
            <a:off x="548640" y="4178808"/>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Metropolitan France, 1986–96</a:t>
            </a:r>
          </a:p>
        </p:txBody>
      </p:sp>
      <p:sp>
        <p:nvSpPr>
          <p:cNvPr id="31" name="Rectangle 30"/>
          <p:cNvSpPr/>
          <p:nvPr/>
        </p:nvSpPr>
        <p:spPr>
          <a:xfrm>
            <a:off x="5669279" y="4206240"/>
            <a:ext cx="746150"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06870" y="4178808"/>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0.51</a:t>
            </a:r>
          </a:p>
        </p:txBody>
      </p:sp>
      <p:sp>
        <p:nvSpPr>
          <p:cNvPr id="33" name="TextBox 32"/>
          <p:cNvSpPr txBox="1"/>
          <p:nvPr/>
        </p:nvSpPr>
        <p:spPr>
          <a:xfrm>
            <a:off x="548640" y="4562856"/>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United States, billing data 1997–2012</a:t>
            </a:r>
          </a:p>
        </p:txBody>
      </p:sp>
      <p:sp>
        <p:nvSpPr>
          <p:cNvPr id="34" name="Rectangle 33"/>
          <p:cNvSpPr/>
          <p:nvPr/>
        </p:nvSpPr>
        <p:spPr>
          <a:xfrm>
            <a:off x="5669279" y="4590288"/>
            <a:ext cx="658368"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7" y="4562856"/>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0.45</a:t>
            </a:r>
          </a:p>
        </p:txBody>
      </p:sp>
      <p:sp>
        <p:nvSpPr>
          <p:cNvPr id="36" name="Rectangle 35"/>
          <p:cNvSpPr/>
          <p:nvPr/>
        </p:nvSpPr>
        <p:spPr>
          <a:xfrm>
            <a:off x="5669279" y="1783079"/>
            <a:ext cx="9144" cy="3118103"/>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029200"/>
            <a:ext cx="11091672" cy="777240"/>
          </a:xfrm>
          <a:prstGeom prst="rect">
            <a:avLst/>
          </a:prstGeom>
          <a:noFill/>
        </p:spPr>
        <p:txBody>
          <a:bodyPr wrap="square" anchor="t" lIns="36576" rIns="36576" tIns="18288" bIns="18288">
            <a:spAutoFit/>
          </a:bodyPr>
          <a:lstStyle/>
          <a:p>
            <a:pPr algn="l"/>
            <a:r>
              <a:rPr sz="1250" b="0" i="0">
                <a:solidFill>
                  <a:srgbClr val="1A1A1A"/>
                </a:solidFill>
                <a:latin typeface="Abadi"/>
              </a:rPr>
              <a:t>French and US papers report per 100,000 (5.12 and 4.47); converted here. US incidence rose 7.9% a year from 1997 to 2012, and median age at Kasai was 63 days.</a:t>
            </a:r>
          </a:p>
          <a:p>
            <a:pPr algn="l">
              <a:spcBef>
                <a:spcPts val="1000"/>
              </a:spcBef>
            </a:pPr>
            <a:r>
              <a:rPr sz="1250" b="1" i="1">
                <a:solidFill>
                  <a:srgbClr val="1A1A1A"/>
                </a:solidFill>
                <a:latin typeface="Abadi"/>
              </a:rPr>
              <a:t>Pacific and East Asian infants carry a three- to sixfold higher prior; the same pale stool means more.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BEYOND ATRESIA</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HOW COMMON ARE THE NAMED CAUSES?</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Birth frequency of the inherited diseases that present as infant cholestasis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Sveger T. N Engl J Med 1976;294:1316–21 · Kamath BM, et al. J Med Genet 2003;40:891–5 · Lu YB, et al. J Hum Genet 2005;50:338–46 · Gottesman LE, et al. BMC Pediatr 2015</a:t>
            </a:r>
          </a:p>
        </p:txBody>
      </p:sp>
      <p:graphicFrame>
        <p:nvGraphicFramePr>
          <p:cNvPr id="12" name="Table 11"/>
          <p:cNvGraphicFramePr>
            <a:graphicFrameLocks noGrp="1"/>
          </p:cNvGraphicFramePr>
          <p:nvPr/>
        </p:nvGraphicFramePr>
        <p:xfrm>
          <a:off x="548640" y="1773936"/>
          <a:ext cx="11091672" cy="3255264"/>
        </p:xfrm>
        <a:graphic>
          <a:graphicData uri="http://schemas.openxmlformats.org/drawingml/2006/table">
            <a:tbl>
              <a:tblPr firstRow="0" bandRow="0">
                <a:tableStyleId>{5C22544A-7EE6-4342-B048-85BDC9FD1C3A}</a:tableStyleId>
              </a:tblPr>
              <a:tblGrid>
                <a:gridCol w="2377440"/>
                <a:gridCol w="2743200"/>
                <a:gridCol w="2834640"/>
                <a:gridCol w="3136392"/>
              </a:tblGrid>
              <a:tr h="420624">
                <a:tc>
                  <a:txBody>
                    <a:bodyPr wrap="square"/>
                    <a:lstStyle/>
                    <a:p>
                      <a:r>
                        <a:rPr sz="1200" b="1">
                          <a:solidFill>
                            <a:srgbClr val="FFFFFF"/>
                          </a:solidFill>
                          <a:latin typeface="Abadi"/>
                        </a:rPr>
                        <a:t>Disease</a:t>
                      </a:r>
                    </a:p>
                  </a:txBody>
                  <a:tcPr anchor="ctr" marL="73152" marR="73152" marT="27432" marB="27432">
                    <a:solidFill>
                      <a:srgbClr val="1B355E"/>
                    </a:solidFill>
                  </a:tcPr>
                </a:tc>
                <a:tc>
                  <a:txBody>
                    <a:bodyPr wrap="square"/>
                    <a:lstStyle/>
                    <a:p>
                      <a:r>
                        <a:rPr sz="1200" b="1">
                          <a:solidFill>
                            <a:srgbClr val="FFFFFF"/>
                          </a:solidFill>
                          <a:latin typeface="Abadi"/>
                        </a:rPr>
                        <a:t>Frequency</a:t>
                      </a:r>
                    </a:p>
                  </a:txBody>
                  <a:tcPr anchor="ctr" marL="73152" marR="73152" marT="27432" marB="27432">
                    <a:solidFill>
                      <a:srgbClr val="1B355E"/>
                    </a:solidFill>
                  </a:tcPr>
                </a:tc>
                <a:tc>
                  <a:txBody>
                    <a:bodyPr wrap="square"/>
                    <a:lstStyle/>
                    <a:p>
                      <a:r>
                        <a:rPr sz="1200" b="1">
                          <a:solidFill>
                            <a:srgbClr val="FFFFFF"/>
                          </a:solidFill>
                          <a:latin typeface="Abadi"/>
                        </a:rPr>
                        <a:t>Source and method</a:t>
                      </a:r>
                    </a:p>
                  </a:txBody>
                  <a:tcPr anchor="ctr" marL="73152" marR="73152" marT="27432" marB="27432">
                    <a:solidFill>
                      <a:srgbClr val="1B355E"/>
                    </a:solidFill>
                  </a:tcPr>
                </a:tc>
                <a:tc>
                  <a:txBody>
                    <a:bodyPr wrap="square"/>
                    <a:lstStyle/>
                    <a:p>
                      <a:r>
                        <a:rPr sz="1200" b="1">
                          <a:solidFill>
                            <a:srgbClr val="FFFFFF"/>
                          </a:solidFill>
                          <a:latin typeface="Abadi"/>
                        </a:rPr>
                        <a:t>What it means for the jaundiced infant</a:t>
                      </a:r>
                    </a:p>
                  </a:txBody>
                  <a:tcPr anchor="ctr" marL="73152" marR="73152" marT="27432" marB="27432">
                    <a:solidFill>
                      <a:srgbClr val="1B355E"/>
                    </a:solidFill>
                  </a:tcPr>
                </a:tc>
              </a:tr>
              <a:tr h="566928">
                <a:tc>
                  <a:txBody>
                    <a:bodyPr wrap="square"/>
                    <a:lstStyle/>
                    <a:p>
                      <a:r>
                        <a:rPr sz="1000" b="1">
                          <a:solidFill>
                            <a:srgbClr val="1A1A1A"/>
                          </a:solidFill>
                          <a:latin typeface="Abadi"/>
                        </a:rPr>
                        <a:t>Alpha-1 antitrypsin deficiency (PiZZ)</a:t>
                      </a:r>
                    </a:p>
                  </a:txBody>
                  <a:tcPr anchor="ctr" marL="73152" marR="73152" marT="27432" marB="27432">
                    <a:solidFill>
                      <a:srgbClr val="FFFFFF"/>
                    </a:solidFill>
                  </a:tcPr>
                </a:tc>
                <a:tc>
                  <a:txBody>
                    <a:bodyPr wrap="square"/>
                    <a:lstStyle/>
                    <a:p>
                      <a:r>
                        <a:rPr sz="1000" b="0">
                          <a:solidFill>
                            <a:srgbClr val="1A1A1A"/>
                          </a:solidFill>
                          <a:latin typeface="Abadi"/>
                        </a:rPr>
                        <a:t>About 1 in 1,670 newborns</a:t>
                      </a:r>
                    </a:p>
                  </a:txBody>
                  <a:tcPr anchor="ctr" marL="73152" marR="73152" marT="27432" marB="27432">
                    <a:solidFill>
                      <a:srgbClr val="FFFFFF"/>
                    </a:solidFill>
                  </a:tcPr>
                </a:tc>
                <a:tc>
                  <a:txBody>
                    <a:bodyPr wrap="square"/>
                    <a:lstStyle/>
                    <a:p>
                      <a:r>
                        <a:rPr sz="1000" b="0">
                          <a:solidFill>
                            <a:srgbClr val="1A1A1A"/>
                          </a:solidFill>
                          <a:latin typeface="Abadi"/>
                        </a:rPr>
                        <a:t>Sveger: 200,000 Swedish newborns screened; 120 PiZ</a:t>
                      </a:r>
                    </a:p>
                  </a:txBody>
                  <a:tcPr anchor="ctr" marL="73152" marR="73152" marT="27432" marB="27432">
                    <a:solidFill>
                      <a:srgbClr val="FFFFFF"/>
                    </a:solidFill>
                  </a:tcPr>
                </a:tc>
                <a:tc>
                  <a:txBody>
                    <a:bodyPr wrap="square"/>
                    <a:lstStyle/>
                    <a:p>
                      <a:r>
                        <a:rPr sz="1000" b="0">
                          <a:solidFill>
                            <a:srgbClr val="1A1A1A"/>
                          </a:solidFill>
                          <a:latin typeface="Abadi"/>
                        </a:rPr>
                        <a:t>14 of 120 PiZ infants had prolonged obstructive jaundice; most never do</a:t>
                      </a:r>
                    </a:p>
                  </a:txBody>
                  <a:tcPr anchor="ctr" marL="73152" marR="73152" marT="27432" marB="27432">
                    <a:solidFill>
                      <a:srgbClr val="FFFFFF"/>
                    </a:solidFill>
                  </a:tcPr>
                </a:tc>
              </a:tr>
              <a:tr h="566928">
                <a:tc>
                  <a:txBody>
                    <a:bodyPr wrap="square"/>
                    <a:lstStyle/>
                    <a:p>
                      <a:r>
                        <a:rPr sz="1000" b="1">
                          <a:solidFill>
                            <a:srgbClr val="1A1A1A"/>
                          </a:solidFill>
                          <a:latin typeface="Abadi"/>
                        </a:rPr>
                        <a:t>Alagille syndrome</a:t>
                      </a:r>
                    </a:p>
                  </a:txBody>
                  <a:tcPr anchor="ctr" marL="73152" marR="73152" marT="27432" marB="27432">
                    <a:solidFill>
                      <a:srgbClr val="F0F0F0"/>
                    </a:solidFill>
                  </a:tcPr>
                </a:tc>
                <a:tc>
                  <a:txBody>
                    <a:bodyPr wrap="square"/>
                    <a:lstStyle/>
                    <a:p>
                      <a:r>
                        <a:rPr sz="1000" b="0">
                          <a:solidFill>
                            <a:srgbClr val="1A1A1A"/>
                          </a:solidFill>
                          <a:latin typeface="Abadi"/>
                        </a:rPr>
                        <a:t>1 in 70,000–100,000 clinically; about 1 in 30,000 with genetics</a:t>
                      </a:r>
                    </a:p>
                  </a:txBody>
                  <a:tcPr anchor="ctr" marL="73152" marR="73152" marT="27432" marB="27432">
                    <a:solidFill>
                      <a:srgbClr val="F0F0F0"/>
                    </a:solidFill>
                  </a:tcPr>
                </a:tc>
                <a:tc>
                  <a:txBody>
                    <a:bodyPr wrap="square"/>
                    <a:lstStyle/>
                    <a:p>
                      <a:r>
                        <a:rPr sz="1000" b="0">
                          <a:solidFill>
                            <a:srgbClr val="1A1A1A"/>
                          </a:solidFill>
                          <a:latin typeface="Abadi"/>
                        </a:rPr>
                        <a:t>Kamath 2003: mutation-positive relatives with mild disease</a:t>
                      </a:r>
                    </a:p>
                  </a:txBody>
                  <a:tcPr anchor="ctr" marL="73152" marR="73152" marT="27432" marB="27432">
                    <a:solidFill>
                      <a:srgbClr val="F0F0F0"/>
                    </a:solidFill>
                  </a:tcPr>
                </a:tc>
                <a:tc>
                  <a:txBody>
                    <a:bodyPr wrap="square"/>
                    <a:lstStyle/>
                    <a:p>
                      <a:r>
                        <a:rPr sz="1000" b="0">
                          <a:solidFill>
                            <a:srgbClr val="1A1A1A"/>
                          </a:solidFill>
                          <a:latin typeface="Abadi"/>
                        </a:rPr>
                        <a:t>Clinical criteria miss mild cases; think of it with duct paucity</a:t>
                      </a:r>
                    </a:p>
                  </a:txBody>
                  <a:tcPr anchor="ctr" marL="73152" marR="73152" marT="27432" marB="27432">
                    <a:solidFill>
                      <a:srgbClr val="F0F0F0"/>
                    </a:solidFill>
                  </a:tcPr>
                </a:tc>
              </a:tr>
              <a:tr h="566928">
                <a:tc>
                  <a:txBody>
                    <a:bodyPr wrap="square"/>
                    <a:lstStyle/>
                    <a:p>
                      <a:r>
                        <a:rPr sz="1000" b="1">
                          <a:solidFill>
                            <a:srgbClr val="1A1A1A"/>
                          </a:solidFill>
                          <a:latin typeface="Abadi"/>
                        </a:rPr>
                        <a:t>Citrin deficiency (NICCD)</a:t>
                      </a:r>
                    </a:p>
                  </a:txBody>
                  <a:tcPr anchor="ctr" marL="73152" marR="73152" marT="27432" marB="27432">
                    <a:solidFill>
                      <a:srgbClr val="FFFFFF"/>
                    </a:solidFill>
                  </a:tcPr>
                </a:tc>
                <a:tc>
                  <a:txBody>
                    <a:bodyPr wrap="square"/>
                    <a:lstStyle/>
                    <a:p>
                      <a:r>
                        <a:rPr sz="1000" b="0">
                          <a:solidFill>
                            <a:srgbClr val="1A1A1A"/>
                          </a:solidFill>
                          <a:latin typeface="Abadi"/>
                        </a:rPr>
                        <a:t>Carriers 1 in 69 (Japan), 1 in 65 (China), 1 in 48 (south China), 1 in 112 (Korea)</a:t>
                      </a:r>
                    </a:p>
                  </a:txBody>
                  <a:tcPr anchor="ctr" marL="73152" marR="73152" marT="27432" marB="27432">
                    <a:solidFill>
                      <a:srgbClr val="FFFFFF"/>
                    </a:solidFill>
                  </a:tcPr>
                </a:tc>
                <a:tc>
                  <a:txBody>
                    <a:bodyPr wrap="square"/>
                    <a:lstStyle/>
                    <a:p>
                      <a:r>
                        <a:rPr sz="1000" b="0">
                          <a:solidFill>
                            <a:srgbClr val="1A1A1A"/>
                          </a:solidFill>
                          <a:latin typeface="Abadi"/>
                        </a:rPr>
                        <a:t>Lu 2005: SLC25A13 carrier screening</a:t>
                      </a:r>
                    </a:p>
                  </a:txBody>
                  <a:tcPr anchor="ctr" marL="73152" marR="73152" marT="27432" marB="27432">
                    <a:solidFill>
                      <a:srgbClr val="FFFFFF"/>
                    </a:solidFill>
                  </a:tcPr>
                </a:tc>
                <a:tc>
                  <a:txBody>
                    <a:bodyPr wrap="square"/>
                    <a:lstStyle/>
                    <a:p>
                      <a:r>
                        <a:rPr sz="1000" b="0">
                          <a:solidFill>
                            <a:srgbClr val="1A1A1A"/>
                          </a:solidFill>
                          <a:latin typeface="Abadi"/>
                        </a:rPr>
                        <a:t>Ask about East Asian ancestry; galactosaemia-like picture with high citrulline</a:t>
                      </a:r>
                    </a:p>
                  </a:txBody>
                  <a:tcPr anchor="ctr" marL="73152" marR="73152" marT="27432" marB="27432">
                    <a:solidFill>
                      <a:srgbClr val="FFFFFF"/>
                    </a:solidFill>
                  </a:tcPr>
                </a:tc>
              </a:tr>
              <a:tr h="566928">
                <a:tc>
                  <a:txBody>
                    <a:bodyPr wrap="square"/>
                    <a:lstStyle/>
                    <a:p>
                      <a:r>
                        <a:rPr sz="1000" b="1">
                          <a:solidFill>
                            <a:srgbClr val="1A1A1A"/>
                          </a:solidFill>
                          <a:latin typeface="Abadi"/>
                        </a:rPr>
                        <a:t>PFIC and bile-acid synthesis defects</a:t>
                      </a:r>
                    </a:p>
                  </a:txBody>
                  <a:tcPr anchor="ctr" marL="73152" marR="73152" marT="27432" marB="27432">
                    <a:solidFill>
                      <a:srgbClr val="F0F0F0"/>
                    </a:solidFill>
                  </a:tcPr>
                </a:tc>
                <a:tc>
                  <a:txBody>
                    <a:bodyPr wrap="square"/>
                    <a:lstStyle/>
                    <a:p>
                      <a:r>
                        <a:rPr sz="1000" b="0">
                          <a:solidFill>
                            <a:srgbClr val="1A1A1A"/>
                          </a:solidFill>
                          <a:latin typeface="Abadi"/>
                        </a:rPr>
                        <a:t>Individually rare: PFIC 1.0% of infant cholestasis</a:t>
                      </a:r>
                    </a:p>
                  </a:txBody>
                  <a:tcPr anchor="ctr" marL="73152" marR="73152" marT="27432" marB="27432">
                    <a:solidFill>
                      <a:srgbClr val="F0F0F0"/>
                    </a:solidFill>
                  </a:tcPr>
                </a:tc>
                <a:tc>
                  <a:txBody>
                    <a:bodyPr wrap="square"/>
                    <a:lstStyle/>
                    <a:p>
                      <a:r>
                        <a:rPr sz="1000" b="0">
                          <a:solidFill>
                            <a:srgbClr val="1A1A1A"/>
                          </a:solidFill>
                          <a:latin typeface="Abadi"/>
                        </a:rPr>
                        <a:t>Gottesman 2015 pooled series, 1,692 infants</a:t>
                      </a:r>
                    </a:p>
                  </a:txBody>
                  <a:tcPr anchor="ctr" marL="73152" marR="73152" marT="27432" marB="27432">
                    <a:solidFill>
                      <a:srgbClr val="F0F0F0"/>
                    </a:solidFill>
                  </a:tcPr>
                </a:tc>
                <a:tc>
                  <a:txBody>
                    <a:bodyPr wrap="square"/>
                    <a:lstStyle/>
                    <a:p>
                      <a:r>
                        <a:rPr sz="1000" b="0">
                          <a:solidFill>
                            <a:srgbClr val="1A1A1A"/>
                          </a:solidFill>
                          <a:latin typeface="Abadi"/>
                        </a:rPr>
                        <a:t>Low or normal GGT is the clue</a:t>
                      </a:r>
                    </a:p>
                  </a:txBody>
                  <a:tcPr anchor="ctr" marL="73152" marR="73152" marT="27432" marB="27432">
                    <a:solidFill>
                      <a:srgbClr val="F0F0F0"/>
                    </a:solidFill>
                  </a:tcPr>
                </a:tc>
              </a:tr>
              <a:tr h="566928">
                <a:tc>
                  <a:txBody>
                    <a:bodyPr wrap="square"/>
                    <a:lstStyle/>
                    <a:p>
                      <a:r>
                        <a:rPr sz="1000" b="1">
                          <a:solidFill>
                            <a:srgbClr val="1A1A1A"/>
                          </a:solidFill>
                          <a:latin typeface="Abadi"/>
                        </a:rPr>
                        <a:t>Biliary atresia</a:t>
                      </a:r>
                    </a:p>
                  </a:txBody>
                  <a:tcPr anchor="ctr" marL="73152" marR="73152" marT="27432" marB="27432">
                    <a:solidFill>
                      <a:srgbClr val="FFFFFF"/>
                    </a:solidFill>
                  </a:tcPr>
                </a:tc>
                <a:tc>
                  <a:txBody>
                    <a:bodyPr wrap="square"/>
                    <a:lstStyle/>
                    <a:p>
                      <a:r>
                        <a:rPr sz="1000" b="0">
                          <a:solidFill>
                            <a:srgbClr val="1A1A1A"/>
                          </a:solidFill>
                          <a:latin typeface="Abadi"/>
                        </a:rPr>
                        <a:t>1 in 5,000 to 1 in 19,000 by region</a:t>
                      </a:r>
                    </a:p>
                  </a:txBody>
                  <a:tcPr anchor="ctr" marL="73152" marR="73152" marT="27432" marB="27432">
                    <a:solidFill>
                      <a:srgbClr val="FFFFFF"/>
                    </a:solidFill>
                  </a:tcPr>
                </a:tc>
                <a:tc>
                  <a:txBody>
                    <a:bodyPr wrap="square"/>
                    <a:lstStyle/>
                    <a:p>
                      <a:r>
                        <a:rPr sz="1000" b="0">
                          <a:solidFill>
                            <a:srgbClr val="1A1A1A"/>
                          </a:solidFill>
                          <a:latin typeface="Abadi"/>
                        </a:rPr>
                        <a:t>National registries</a:t>
                      </a:r>
                    </a:p>
                  </a:txBody>
                  <a:tcPr anchor="ctr" marL="73152" marR="73152" marT="27432" marB="27432">
                    <a:solidFill>
                      <a:srgbClr val="FFFFFF"/>
                    </a:solidFill>
                  </a:tcPr>
                </a:tc>
                <a:tc>
                  <a:txBody>
                    <a:bodyPr wrap="square"/>
                    <a:lstStyle/>
                    <a:p>
                      <a:r>
                        <a:rPr sz="1000" b="0">
                          <a:solidFill>
                            <a:srgbClr val="1A1A1A"/>
                          </a:solidFill>
                          <a:latin typeface="Abadi"/>
                        </a:rPr>
                        <a:t>The one cause where days decide the outcome</a:t>
                      </a:r>
                    </a:p>
                  </a:txBody>
                  <a:tcPr anchor="ctr" marL="73152" marR="73152" marT="27432" marB="27432">
                    <a:solidFill>
                      <a:srgbClr val="FFFFFF"/>
                    </a:solidFill>
                  </a:tcPr>
                </a:tc>
              </a:tr>
            </a:tbl>
          </a:graphicData>
        </a:graphic>
      </p:graphicFrame>
      <p:sp>
        <p:nvSpPr>
          <p:cNvPr id="13" name="TextBox 12"/>
          <p:cNvSpPr txBox="1"/>
          <p:nvPr/>
        </p:nvSpPr>
        <p:spPr>
          <a:xfrm>
            <a:off x="548640" y="516636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A1AT deficiency is ten times commoner than atresia at birth, but only about one PiZZ infant in nine becomes jaundiced.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CAUSES BY FREQUENCY</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WHAT THE JAUNDICED INFANT TURNS OUT TO HAVE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Systematic review of 1,692 infants with conjugated hyperbilirubinaemia, % of cases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Gottesman LE, Del Vecchio MT, Aronoff SC. BMC Pediatr 2015 (doi 10.1186/s12887-015-0506-5)</a:t>
            </a:r>
          </a:p>
        </p:txBody>
      </p:sp>
      <p:sp>
        <p:nvSpPr>
          <p:cNvPr id="12" name="TextBox 11"/>
          <p:cNvSpPr txBox="1"/>
          <p:nvPr/>
        </p:nvSpPr>
        <p:spPr>
          <a:xfrm>
            <a:off x="548640" y="1810512"/>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Idiopathic neonatal hepatitis</a:t>
            </a:r>
          </a:p>
        </p:txBody>
      </p:sp>
      <p:sp>
        <p:nvSpPr>
          <p:cNvPr id="13" name="Rectangle 12"/>
          <p:cNvSpPr/>
          <p:nvPr/>
        </p:nvSpPr>
        <p:spPr>
          <a:xfrm>
            <a:off x="5669279" y="1837943"/>
            <a:ext cx="4389120"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0" y="1810512"/>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26.0%</a:t>
            </a:r>
          </a:p>
        </p:txBody>
      </p:sp>
      <p:sp>
        <p:nvSpPr>
          <p:cNvPr id="15" name="TextBox 14"/>
          <p:cNvSpPr txBox="1"/>
          <p:nvPr/>
        </p:nvSpPr>
        <p:spPr>
          <a:xfrm>
            <a:off x="548640" y="2121408"/>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Extrahepatic biliary atresia</a:t>
            </a:r>
          </a:p>
        </p:txBody>
      </p:sp>
      <p:sp>
        <p:nvSpPr>
          <p:cNvPr id="16" name="Rectangle 15"/>
          <p:cNvSpPr/>
          <p:nvPr/>
        </p:nvSpPr>
        <p:spPr>
          <a:xfrm>
            <a:off x="5669279" y="2148839"/>
            <a:ext cx="4370550"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31270" y="2121408"/>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25.9%</a:t>
            </a:r>
          </a:p>
        </p:txBody>
      </p:sp>
      <p:sp>
        <p:nvSpPr>
          <p:cNvPr id="18" name="TextBox 17"/>
          <p:cNvSpPr txBox="1"/>
          <p:nvPr/>
        </p:nvSpPr>
        <p:spPr>
          <a:xfrm>
            <a:off x="548640" y="2432304"/>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Infection</a:t>
            </a:r>
          </a:p>
        </p:txBody>
      </p:sp>
      <p:sp>
        <p:nvSpPr>
          <p:cNvPr id="19" name="Rectangle 18"/>
          <p:cNvSpPr/>
          <p:nvPr/>
        </p:nvSpPr>
        <p:spPr>
          <a:xfrm>
            <a:off x="5669279" y="2459736"/>
            <a:ext cx="1936277"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6997" y="2432304"/>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11.5%</a:t>
            </a:r>
          </a:p>
        </p:txBody>
      </p:sp>
      <p:sp>
        <p:nvSpPr>
          <p:cNvPr id="21" name="TextBox 20"/>
          <p:cNvSpPr txBox="1"/>
          <p:nvPr/>
        </p:nvSpPr>
        <p:spPr>
          <a:xfrm>
            <a:off x="548640" y="274320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Parenteral nutrition</a:t>
            </a:r>
          </a:p>
        </p:txBody>
      </p:sp>
      <p:sp>
        <p:nvSpPr>
          <p:cNvPr id="22" name="Rectangle 21"/>
          <p:cNvSpPr/>
          <p:nvPr/>
        </p:nvSpPr>
        <p:spPr>
          <a:xfrm>
            <a:off x="5669279" y="2770632"/>
            <a:ext cx="1087151"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47871" y="274320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6.4%</a:t>
            </a:r>
          </a:p>
        </p:txBody>
      </p:sp>
      <p:sp>
        <p:nvSpPr>
          <p:cNvPr id="24" name="TextBox 23"/>
          <p:cNvSpPr txBox="1"/>
          <p:nvPr/>
        </p:nvSpPr>
        <p:spPr>
          <a:xfrm>
            <a:off x="548640" y="3054096"/>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Metabolic disease</a:t>
            </a:r>
          </a:p>
        </p:txBody>
      </p:sp>
      <p:sp>
        <p:nvSpPr>
          <p:cNvPr id="25" name="Rectangle 24"/>
          <p:cNvSpPr/>
          <p:nvPr/>
        </p:nvSpPr>
        <p:spPr>
          <a:xfrm>
            <a:off x="5669279" y="3081527"/>
            <a:ext cx="737709"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8429" y="3054096"/>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4.4%</a:t>
            </a:r>
          </a:p>
        </p:txBody>
      </p:sp>
      <p:sp>
        <p:nvSpPr>
          <p:cNvPr id="27" name="TextBox 26"/>
          <p:cNvSpPr txBox="1"/>
          <p:nvPr/>
        </p:nvSpPr>
        <p:spPr>
          <a:xfrm>
            <a:off x="548640" y="3364992"/>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Alpha-1 antitrypsin deficiency</a:t>
            </a:r>
          </a:p>
        </p:txBody>
      </p:sp>
      <p:sp>
        <p:nvSpPr>
          <p:cNvPr id="28" name="Rectangle 27"/>
          <p:cNvSpPr/>
          <p:nvPr/>
        </p:nvSpPr>
        <p:spPr>
          <a:xfrm>
            <a:off x="5669279" y="3392424"/>
            <a:ext cx="698882"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9602" y="3364992"/>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4.1%</a:t>
            </a:r>
          </a:p>
        </p:txBody>
      </p:sp>
      <p:sp>
        <p:nvSpPr>
          <p:cNvPr id="30" name="TextBox 29"/>
          <p:cNvSpPr txBox="1"/>
          <p:nvPr/>
        </p:nvSpPr>
        <p:spPr>
          <a:xfrm>
            <a:off x="548640" y="3675887"/>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Perinatal hypoxia or ischaemia</a:t>
            </a:r>
          </a:p>
        </p:txBody>
      </p:sp>
      <p:sp>
        <p:nvSpPr>
          <p:cNvPr id="31" name="Rectangle 30"/>
          <p:cNvSpPr/>
          <p:nvPr/>
        </p:nvSpPr>
        <p:spPr>
          <a:xfrm>
            <a:off x="5669279" y="3703320"/>
            <a:ext cx="617853"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8573" y="3675887"/>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3.7%</a:t>
            </a:r>
          </a:p>
        </p:txBody>
      </p:sp>
      <p:sp>
        <p:nvSpPr>
          <p:cNvPr id="33" name="TextBox 32"/>
          <p:cNvSpPr txBox="1"/>
          <p:nvPr/>
        </p:nvSpPr>
        <p:spPr>
          <a:xfrm>
            <a:off x="548640" y="3986784"/>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Interlobular duct paucity</a:t>
            </a:r>
          </a:p>
        </p:txBody>
      </p:sp>
      <p:sp>
        <p:nvSpPr>
          <p:cNvPr id="34" name="Rectangle 33"/>
          <p:cNvSpPr/>
          <p:nvPr/>
        </p:nvSpPr>
        <p:spPr>
          <a:xfrm>
            <a:off x="5669279" y="4014216"/>
            <a:ext cx="418654"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9374" y="3986784"/>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2.5%</a:t>
            </a:r>
          </a:p>
        </p:txBody>
      </p:sp>
      <p:sp>
        <p:nvSpPr>
          <p:cNvPr id="36" name="TextBox 35"/>
          <p:cNvSpPr txBox="1"/>
          <p:nvPr/>
        </p:nvSpPr>
        <p:spPr>
          <a:xfrm>
            <a:off x="548640" y="429768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Choledochal cyst</a:t>
            </a:r>
          </a:p>
        </p:txBody>
      </p:sp>
      <p:sp>
        <p:nvSpPr>
          <p:cNvPr id="37" name="Rectangle 36"/>
          <p:cNvSpPr/>
          <p:nvPr/>
        </p:nvSpPr>
        <p:spPr>
          <a:xfrm>
            <a:off x="5669279" y="4325112"/>
            <a:ext cx="359570"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0290" y="429768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2.1%</a:t>
            </a:r>
          </a:p>
        </p:txBody>
      </p:sp>
      <p:sp>
        <p:nvSpPr>
          <p:cNvPr id="39" name="TextBox 38"/>
          <p:cNvSpPr txBox="1"/>
          <p:nvPr/>
        </p:nvSpPr>
        <p:spPr>
          <a:xfrm>
            <a:off x="548640" y="4608576"/>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Hypopituitarism or hypothyroidism</a:t>
            </a:r>
          </a:p>
        </p:txBody>
      </p:sp>
      <p:sp>
        <p:nvSpPr>
          <p:cNvPr id="40" name="Rectangle 39"/>
          <p:cNvSpPr/>
          <p:nvPr/>
        </p:nvSpPr>
        <p:spPr>
          <a:xfrm>
            <a:off x="5669279" y="4636008"/>
            <a:ext cx="329184" cy="19202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9903" y="4608576"/>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2.0%</a:t>
            </a:r>
          </a:p>
        </p:txBody>
      </p:sp>
      <p:sp>
        <p:nvSpPr>
          <p:cNvPr id="42" name="Rectangle 41"/>
          <p:cNvSpPr/>
          <p:nvPr/>
        </p:nvSpPr>
        <p:spPr>
          <a:xfrm>
            <a:off x="5669279" y="1719072"/>
            <a:ext cx="9144" cy="3154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029200"/>
            <a:ext cx="11091672" cy="640080"/>
          </a:xfrm>
          <a:prstGeom prst="rect">
            <a:avLst/>
          </a:prstGeom>
          <a:noFill/>
        </p:spPr>
        <p:txBody>
          <a:bodyPr wrap="square" anchor="t" lIns="36576" rIns="36576" tIns="18288" bIns="18288">
            <a:spAutoFit/>
          </a:bodyPr>
          <a:lstStyle/>
          <a:p>
            <a:pPr algn="l"/>
            <a:r>
              <a:rPr sz="1250" b="0" i="0">
                <a:solidFill>
                  <a:srgbClr val="1A1A1A"/>
                </a:solidFill>
                <a:latin typeface="Abadi"/>
              </a:rPr>
              <a:t>Also: haemolysis 1.4%, inspissated bile 1.4%, PFIC 1.0%, Alagille 1.0%, cystic fibrosis 0.9%; 'other' 5.9%, including trisomy 21 and cholestasis of prematurity.</a:t>
            </a:r>
          </a:p>
          <a:p>
            <a:pPr algn="l">
              <a:spcBef>
                <a:spcPts val="1000"/>
              </a:spcBef>
            </a:pPr>
            <a:r>
              <a:rPr sz="1250" b="1" i="1">
                <a:solidFill>
                  <a:srgbClr val="1A1A1A"/>
                </a:solidFill>
                <a:latin typeface="Abadi"/>
              </a:rPr>
              <a:t>One in four is atresia and one in four is still unnamed; the treatable causes are small slices you must not miss.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DEFINITION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ONE NUMBER: 1.0 MG/DL</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How the threshold for pathological conjugated bilirubin has been written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Moyer V, et al. JPGN 2004;39:115–28 · Fawaz 2017 JPGN · Kemper 2022 Pediatrics · Harpavat S, et al. Pediatrics 2025;e2024070077 · NICE CG98 (updated 2023) · Mercadal-Hally M, et al. An Pediatr 2025</a:t>
            </a:r>
          </a:p>
        </p:txBody>
      </p:sp>
      <p:graphicFrame>
        <p:nvGraphicFramePr>
          <p:cNvPr id="12" name="Table 11"/>
          <p:cNvGraphicFramePr>
            <a:graphicFrameLocks noGrp="1"/>
          </p:cNvGraphicFramePr>
          <p:nvPr/>
        </p:nvGraphicFramePr>
        <p:xfrm>
          <a:off x="548640" y="1773936"/>
          <a:ext cx="11091672" cy="3163824"/>
        </p:xfrm>
        <a:graphic>
          <a:graphicData uri="http://schemas.openxmlformats.org/drawingml/2006/table">
            <a:tbl>
              <a:tblPr firstRow="0" bandRow="0">
                <a:tableStyleId>{5C22544A-7EE6-4342-B048-85BDC9FD1C3A}</a:tableStyleId>
              </a:tblPr>
              <a:tblGrid>
                <a:gridCol w="2377440"/>
                <a:gridCol w="3657600"/>
                <a:gridCol w="2011680"/>
                <a:gridCol w="3044952"/>
              </a:tblGrid>
              <a:tr h="420624">
                <a:tc>
                  <a:txBody>
                    <a:bodyPr wrap="square"/>
                    <a:lstStyle/>
                    <a:p>
                      <a:r>
                        <a:rPr sz="1200" b="1">
                          <a:solidFill>
                            <a:srgbClr val="FFFFFF"/>
                          </a:solidFill>
                          <a:latin typeface="Abadi"/>
                        </a:rPr>
                        <a:t>Document</a:t>
                      </a:r>
                    </a:p>
                  </a:txBody>
                  <a:tcPr anchor="ctr" marL="73152" marR="73152" marT="27432" marB="27432">
                    <a:solidFill>
                      <a:srgbClr val="1B355E"/>
                    </a:solidFill>
                  </a:tcPr>
                </a:tc>
                <a:tc>
                  <a:txBody>
                    <a:bodyPr wrap="square"/>
                    <a:lstStyle/>
                    <a:p>
                      <a:r>
                        <a:rPr sz="1200" b="1">
                          <a:solidFill>
                            <a:srgbClr val="FFFFFF"/>
                          </a:solidFill>
                          <a:latin typeface="Abadi"/>
                        </a:rPr>
                        <a:t>Threshold</a:t>
                      </a:r>
                    </a:p>
                  </a:txBody>
                  <a:tcPr anchor="ctr" marL="73152" marR="73152" marT="27432" marB="27432">
                    <a:solidFill>
                      <a:srgbClr val="1B355E"/>
                    </a:solidFill>
                  </a:tcPr>
                </a:tc>
                <a:tc>
                  <a:txBody>
                    <a:bodyPr wrap="square"/>
                    <a:lstStyle/>
                    <a:p>
                      <a:r>
                        <a:rPr sz="1200" b="1">
                          <a:solidFill>
                            <a:srgbClr val="FFFFFF"/>
                          </a:solidFill>
                          <a:latin typeface="Abadi"/>
                        </a:rPr>
                        <a:t>The 20% rule</a:t>
                      </a:r>
                    </a:p>
                  </a:txBody>
                  <a:tcPr anchor="ctr" marL="73152" marR="73152" marT="27432" marB="27432">
                    <a:solidFill>
                      <a:srgbClr val="1B355E"/>
                    </a:solidFill>
                  </a:tcPr>
                </a:tc>
                <a:tc>
                  <a:txBody>
                    <a:bodyPr wrap="square"/>
                    <a:lstStyle/>
                    <a:p>
                      <a:r>
                        <a:rPr sz="1200" b="1">
                          <a:solidFill>
                            <a:srgbClr val="FFFFFF"/>
                          </a:solidFill>
                          <a:latin typeface="Abadi"/>
                        </a:rPr>
                        <a:t>Comment</a:t>
                      </a:r>
                    </a:p>
                  </a:txBody>
                  <a:tcPr anchor="ctr" marL="73152" marR="73152" marT="27432" marB="27432">
                    <a:solidFill>
                      <a:srgbClr val="1B355E"/>
                    </a:solidFill>
                  </a:tcPr>
                </a:tc>
              </a:tr>
              <a:tr h="457200">
                <a:tc>
                  <a:txBody>
                    <a:bodyPr wrap="square"/>
                    <a:lstStyle/>
                    <a:p>
                      <a:r>
                        <a:rPr sz="1000" b="1">
                          <a:solidFill>
                            <a:srgbClr val="1A1A1A"/>
                          </a:solidFill>
                          <a:latin typeface="Abadi"/>
                        </a:rPr>
                        <a:t>NASPGHAN 2004</a:t>
                      </a:r>
                    </a:p>
                  </a:txBody>
                  <a:tcPr anchor="ctr" marL="73152" marR="73152" marT="27432" marB="27432">
                    <a:solidFill>
                      <a:srgbClr val="FFFFFF"/>
                    </a:solidFill>
                  </a:tcPr>
                </a:tc>
                <a:tc>
                  <a:txBody>
                    <a:bodyPr wrap="square"/>
                    <a:lstStyle/>
                    <a:p>
                      <a:r>
                        <a:rPr sz="1000" b="0">
                          <a:solidFill>
                            <a:srgbClr val="1A1A1A"/>
                          </a:solidFill>
                          <a:latin typeface="Abadi"/>
                        </a:rPr>
                        <a:t>Direct above 1.0 mg/dL, or a percentage of total when total is high</a:t>
                      </a:r>
                    </a:p>
                  </a:txBody>
                  <a:tcPr anchor="ctr" marL="73152" marR="73152" marT="27432" marB="27432">
                    <a:solidFill>
                      <a:srgbClr val="FFFFFF"/>
                    </a:solidFill>
                  </a:tcPr>
                </a:tc>
                <a:tc>
                  <a:txBody>
                    <a:bodyPr wrap="square"/>
                    <a:lstStyle/>
                    <a:p>
                      <a:r>
                        <a:rPr sz="1000" b="0">
                          <a:solidFill>
                            <a:srgbClr val="1A1A1A"/>
                          </a:solidFill>
                          <a:latin typeface="Abadi"/>
                        </a:rPr>
                        <a:t>Used</a:t>
                      </a:r>
                    </a:p>
                  </a:txBody>
                  <a:tcPr anchor="ctr" marL="73152" marR="73152" marT="27432" marB="27432">
                    <a:solidFill>
                      <a:srgbClr val="FFFFFF"/>
                    </a:solidFill>
                  </a:tcPr>
                </a:tc>
                <a:tc>
                  <a:txBody>
                    <a:bodyPr wrap="square"/>
                    <a:lstStyle/>
                    <a:p>
                      <a:r>
                        <a:rPr sz="1000" b="0">
                          <a:solidFill>
                            <a:srgbClr val="1A1A1A"/>
                          </a:solidFill>
                          <a:latin typeface="Abadi"/>
                        </a:rPr>
                        <a:t>Superseded</a:t>
                      </a:r>
                    </a:p>
                  </a:txBody>
                  <a:tcPr anchor="ctr" marL="73152" marR="73152" marT="27432" marB="27432">
                    <a:solidFill>
                      <a:srgbClr val="FFFFFF"/>
                    </a:solidFill>
                  </a:tcPr>
                </a:tc>
              </a:tr>
              <a:tr h="457200">
                <a:tc>
                  <a:txBody>
                    <a:bodyPr wrap="square"/>
                    <a:lstStyle/>
                    <a:p>
                      <a:r>
                        <a:rPr sz="1000" b="1">
                          <a:solidFill>
                            <a:srgbClr val="1A1A1A"/>
                          </a:solidFill>
                          <a:latin typeface="Abadi"/>
                        </a:rPr>
                        <a:t>NASPGHAN/ESPGHAN 2017</a:t>
                      </a:r>
                    </a:p>
                  </a:txBody>
                  <a:tcPr anchor="ctr" marL="73152" marR="73152" marT="27432" marB="27432">
                    <a:solidFill>
                      <a:srgbClr val="F0F0F0"/>
                    </a:solidFill>
                  </a:tcPr>
                </a:tc>
                <a:tc>
                  <a:txBody>
                    <a:bodyPr wrap="square"/>
                    <a:lstStyle/>
                    <a:p>
                      <a:r>
                        <a:rPr sz="1000" b="0">
                          <a:solidFill>
                            <a:srgbClr val="1A1A1A"/>
                          </a:solidFill>
                          <a:latin typeface="Abadi"/>
                        </a:rPr>
                        <a:t>Conjugated or direct above 1.0 mg/dL (17 µmol/L)</a:t>
                      </a:r>
                    </a:p>
                  </a:txBody>
                  <a:tcPr anchor="ctr" marL="73152" marR="73152" marT="27432" marB="27432">
                    <a:solidFill>
                      <a:srgbClr val="F0F0F0"/>
                    </a:solidFill>
                  </a:tcPr>
                </a:tc>
                <a:tc>
                  <a:txBody>
                    <a:bodyPr wrap="square"/>
                    <a:lstStyle/>
                    <a:p>
                      <a:r>
                        <a:rPr sz="1000" b="0">
                          <a:solidFill>
                            <a:srgbClr val="1A1A1A"/>
                          </a:solidFill>
                          <a:latin typeface="Abadi"/>
                        </a:rPr>
                        <a:t>Dropped</a:t>
                      </a:r>
                    </a:p>
                  </a:txBody>
                  <a:tcPr anchor="ctr" marL="73152" marR="73152" marT="27432" marB="27432">
                    <a:solidFill>
                      <a:srgbClr val="F0F0F0"/>
                    </a:solidFill>
                  </a:tcPr>
                </a:tc>
                <a:tc>
                  <a:txBody>
                    <a:bodyPr wrap="square"/>
                    <a:lstStyle/>
                    <a:p>
                      <a:r>
                        <a:rPr sz="1000" b="0">
                          <a:solidFill>
                            <a:srgbClr val="1A1A1A"/>
                          </a:solidFill>
                          <a:latin typeface="Abadi"/>
                        </a:rPr>
                        <a:t>Conjugated assay preferred where available</a:t>
                      </a:r>
                    </a:p>
                  </a:txBody>
                  <a:tcPr anchor="ctr" marL="73152" marR="73152" marT="27432" marB="27432">
                    <a:solidFill>
                      <a:srgbClr val="F0F0F0"/>
                    </a:solidFill>
                  </a:tcPr>
                </a:tc>
              </a:tr>
              <a:tr h="457200">
                <a:tc>
                  <a:txBody>
                    <a:bodyPr wrap="square"/>
                    <a:lstStyle/>
                    <a:p>
                      <a:r>
                        <a:rPr sz="1000" b="1">
                          <a:solidFill>
                            <a:srgbClr val="1A1A1A"/>
                          </a:solidFill>
                          <a:latin typeface="Abadi"/>
                        </a:rPr>
                        <a:t>AAP 2022 guideline</a:t>
                      </a:r>
                    </a:p>
                  </a:txBody>
                  <a:tcPr anchor="ctr" marL="73152" marR="73152" marT="27432" marB="27432">
                    <a:solidFill>
                      <a:srgbClr val="FFFFFF"/>
                    </a:solidFill>
                  </a:tcPr>
                </a:tc>
                <a:tc>
                  <a:txBody>
                    <a:bodyPr wrap="square"/>
                    <a:lstStyle/>
                    <a:p>
                      <a:r>
                        <a:rPr sz="1000" b="0">
                          <a:solidFill>
                            <a:srgbClr val="1A1A1A"/>
                          </a:solidFill>
                          <a:latin typeface="Abadi"/>
                        </a:rPr>
                        <a:t>Direct above 1.0 mg/dL is abnormal</a:t>
                      </a:r>
                    </a:p>
                  </a:txBody>
                  <a:tcPr anchor="ctr" marL="73152" marR="73152" marT="27432" marB="27432">
                    <a:solidFill>
                      <a:srgbClr val="FFFFFF"/>
                    </a:solidFill>
                  </a:tcPr>
                </a:tc>
                <a:tc>
                  <a:txBody>
                    <a:bodyPr wrap="square"/>
                    <a:lstStyle/>
                    <a:p>
                      <a:r>
                        <a:rPr sz="1000" b="0">
                          <a:solidFill>
                            <a:srgbClr val="1A1A1A"/>
                          </a:solidFill>
                          <a:latin typeface="Abadi"/>
                        </a:rPr>
                        <a:t>'No longer regarded as necessary'</a:t>
                      </a:r>
                    </a:p>
                  </a:txBody>
                  <a:tcPr anchor="ctr" marL="73152" marR="73152" marT="27432" marB="27432">
                    <a:solidFill>
                      <a:srgbClr val="FFFFFF"/>
                    </a:solidFill>
                  </a:tcPr>
                </a:tc>
                <a:tc>
                  <a:txBody>
                    <a:bodyPr wrap="square"/>
                    <a:lstStyle/>
                    <a:p>
                      <a:r>
                        <a:rPr sz="1000" b="0">
                          <a:solidFill>
                            <a:srgbClr val="1A1A1A"/>
                          </a:solidFill>
                          <a:latin typeface="Abadi"/>
                        </a:rPr>
                        <a:t>Repeat within days to 2 weeks improves interpretation</a:t>
                      </a:r>
                    </a:p>
                  </a:txBody>
                  <a:tcPr anchor="ctr" marL="73152" marR="73152" marT="27432" marB="27432">
                    <a:solidFill>
                      <a:srgbClr val="FFFFFF"/>
                    </a:solidFill>
                  </a:tcPr>
                </a:tc>
              </a:tr>
              <a:tr h="457200">
                <a:tc>
                  <a:txBody>
                    <a:bodyPr wrap="square"/>
                    <a:lstStyle/>
                    <a:p>
                      <a:r>
                        <a:rPr sz="1000" b="1">
                          <a:solidFill>
                            <a:srgbClr val="1A1A1A"/>
                          </a:solidFill>
                          <a:latin typeface="Abadi"/>
                        </a:rPr>
                        <a:t>AAP clinical report 2025</a:t>
                      </a:r>
                    </a:p>
                  </a:txBody>
                  <a:tcPr anchor="ctr" marL="73152" marR="73152" marT="27432" marB="27432">
                    <a:solidFill>
                      <a:srgbClr val="F0F0F0"/>
                    </a:solidFill>
                  </a:tcPr>
                </a:tc>
                <a:tc>
                  <a:txBody>
                    <a:bodyPr wrap="square"/>
                    <a:lstStyle/>
                    <a:p>
                      <a:r>
                        <a:rPr sz="1000" b="0">
                          <a:solidFill>
                            <a:srgbClr val="1A1A1A"/>
                          </a:solidFill>
                          <a:latin typeface="Abadi"/>
                        </a:rPr>
                        <a:t>Direct or conjugated 1 mg/dL or more</a:t>
                      </a:r>
                    </a:p>
                  </a:txBody>
                  <a:tcPr anchor="ctr" marL="73152" marR="73152" marT="27432" marB="27432">
                    <a:solidFill>
                      <a:srgbClr val="F0F0F0"/>
                    </a:solidFill>
                  </a:tcPr>
                </a:tc>
                <a:tc>
                  <a:txBody>
                    <a:bodyPr wrap="square"/>
                    <a:lstStyle/>
                    <a:p>
                      <a:r>
                        <a:rPr sz="1000" b="0">
                          <a:solidFill>
                            <a:srgbClr val="1A1A1A"/>
                          </a:solidFill>
                          <a:latin typeface="Abadi"/>
                        </a:rPr>
                        <a:t>Not used</a:t>
                      </a:r>
                    </a:p>
                  </a:txBody>
                  <a:tcPr anchor="ctr" marL="73152" marR="73152" marT="27432" marB="27432">
                    <a:solidFill>
                      <a:srgbClr val="F0F0F0"/>
                    </a:solidFill>
                  </a:tcPr>
                </a:tc>
                <a:tc>
                  <a:txBody>
                    <a:bodyPr wrap="square"/>
                    <a:lstStyle/>
                    <a:p>
                      <a:r>
                        <a:rPr sz="1000" b="0">
                          <a:solidFill>
                            <a:srgbClr val="1A1A1A"/>
                          </a:solidFill>
                          <a:latin typeface="Abadi"/>
                        </a:rPr>
                        <a:t>Prompts urgent GI consultation; aims at Kasai before 30 days</a:t>
                      </a:r>
                    </a:p>
                  </a:txBody>
                  <a:tcPr anchor="ctr" marL="73152" marR="73152" marT="27432" marB="27432">
                    <a:solidFill>
                      <a:srgbClr val="F0F0F0"/>
                    </a:solidFill>
                  </a:tcPr>
                </a:tc>
              </a:tr>
              <a:tr h="457200">
                <a:tc>
                  <a:txBody>
                    <a:bodyPr wrap="square"/>
                    <a:lstStyle/>
                    <a:p>
                      <a:r>
                        <a:rPr sz="1000" b="1">
                          <a:solidFill>
                            <a:srgbClr val="1A1A1A"/>
                          </a:solidFill>
                          <a:latin typeface="Abadi"/>
                        </a:rPr>
                        <a:t>NICE CG98 (UK)</a:t>
                      </a:r>
                    </a:p>
                  </a:txBody>
                  <a:tcPr anchor="ctr" marL="73152" marR="73152" marT="27432" marB="27432">
                    <a:solidFill>
                      <a:srgbClr val="FFFFFF"/>
                    </a:solidFill>
                  </a:tcPr>
                </a:tc>
                <a:tc>
                  <a:txBody>
                    <a:bodyPr wrap="square"/>
                    <a:lstStyle/>
                    <a:p>
                      <a:r>
                        <a:rPr sz="1000" b="0">
                          <a:solidFill>
                            <a:srgbClr val="1A1A1A"/>
                          </a:solidFill>
                          <a:latin typeface="Abadi"/>
                        </a:rPr>
                        <a:t>Conjugated above 25 µmol/L (about 1.5 mg/dL)</a:t>
                      </a:r>
                    </a:p>
                  </a:txBody>
                  <a:tcPr anchor="ctr" marL="73152" marR="73152" marT="27432" marB="27432">
                    <a:solidFill>
                      <a:srgbClr val="FFFFFF"/>
                    </a:solidFill>
                  </a:tcPr>
                </a:tc>
                <a:tc>
                  <a:txBody>
                    <a:bodyPr wrap="square"/>
                    <a:lstStyle/>
                    <a:p>
                      <a:r>
                        <a:rPr sz="1000" b="0">
                          <a:solidFill>
                            <a:srgbClr val="1A1A1A"/>
                          </a:solidFill>
                          <a:latin typeface="Abadi"/>
                        </a:rPr>
                        <a:t>Not used</a:t>
                      </a:r>
                    </a:p>
                  </a:txBody>
                  <a:tcPr anchor="ctr" marL="73152" marR="73152" marT="27432" marB="27432">
                    <a:solidFill>
                      <a:srgbClr val="FFFFFF"/>
                    </a:solidFill>
                  </a:tcPr>
                </a:tc>
                <a:tc>
                  <a:txBody>
                    <a:bodyPr wrap="square"/>
                    <a:lstStyle/>
                    <a:p>
                      <a:r>
                        <a:rPr sz="1000" b="0">
                          <a:solidFill>
                            <a:srgbClr val="1A1A1A"/>
                          </a:solidFill>
                          <a:latin typeface="Abadi"/>
                        </a:rPr>
                        <a:t>'Follow expert advice'; threshold has no referenced data</a:t>
                      </a:r>
                    </a:p>
                  </a:txBody>
                  <a:tcPr anchor="ctr" marL="73152" marR="73152" marT="27432" marB="27432">
                    <a:solidFill>
                      <a:srgbClr val="FFFFFF"/>
                    </a:solidFill>
                  </a:tcPr>
                </a:tc>
              </a:tr>
              <a:tr h="457200">
                <a:tc>
                  <a:txBody>
                    <a:bodyPr wrap="square"/>
                    <a:lstStyle/>
                    <a:p>
                      <a:r>
                        <a:rPr sz="1000" b="1">
                          <a:solidFill>
                            <a:srgbClr val="1A1A1A"/>
                          </a:solidFill>
                          <a:latin typeface="Abadi"/>
                        </a:rPr>
                        <a:t>Spanish consensus 2025</a:t>
                      </a:r>
                    </a:p>
                  </a:txBody>
                  <a:tcPr anchor="ctr" marL="73152" marR="73152" marT="27432" marB="27432">
                    <a:solidFill>
                      <a:srgbClr val="F0F0F0"/>
                    </a:solidFill>
                  </a:tcPr>
                </a:tc>
                <a:tc>
                  <a:txBody>
                    <a:bodyPr wrap="square"/>
                    <a:lstStyle/>
                    <a:p>
                      <a:r>
                        <a:rPr sz="1000" b="0">
                          <a:solidFill>
                            <a:srgbClr val="1A1A1A"/>
                          </a:solidFill>
                          <a:latin typeface="Abadi"/>
                        </a:rPr>
                        <a:t>Direct above 1 mg/dL or above 20% of total</a:t>
                      </a:r>
                    </a:p>
                  </a:txBody>
                  <a:tcPr anchor="ctr" marL="73152" marR="73152" marT="27432" marB="27432">
                    <a:solidFill>
                      <a:srgbClr val="F0F0F0"/>
                    </a:solidFill>
                  </a:tcPr>
                </a:tc>
                <a:tc>
                  <a:txBody>
                    <a:bodyPr wrap="square"/>
                    <a:lstStyle/>
                    <a:p>
                      <a:r>
                        <a:rPr sz="1000" b="0">
                          <a:solidFill>
                            <a:srgbClr val="1A1A1A"/>
                          </a:solidFill>
                          <a:latin typeface="Abadi"/>
                        </a:rPr>
                        <a:t>Kept</a:t>
                      </a:r>
                    </a:p>
                  </a:txBody>
                  <a:tcPr anchor="ctr" marL="73152" marR="73152" marT="27432" marB="27432">
                    <a:solidFill>
                      <a:srgbClr val="F0F0F0"/>
                    </a:solidFill>
                  </a:tcPr>
                </a:tc>
                <a:tc>
                  <a:txBody>
                    <a:bodyPr wrap="square"/>
                    <a:lstStyle/>
                    <a:p>
                      <a:r>
                        <a:rPr sz="1000" b="0">
                          <a:solidFill>
                            <a:srgbClr val="1A1A1A"/>
                          </a:solidFill>
                          <a:latin typeface="Abadi"/>
                        </a:rPr>
                        <a:t>Shows the old rule still circulates</a:t>
                      </a:r>
                    </a:p>
                  </a:txBody>
                  <a:tcPr anchor="ctr" marL="73152" marR="73152" marT="27432" marB="27432">
                    <a:solidFill>
                      <a:srgbClr val="F0F0F0"/>
                    </a:solidFill>
                  </a:tcPr>
                </a:tc>
              </a:tr>
            </a:tbl>
          </a:graphicData>
        </a:graphic>
      </p:graphicFrame>
      <p:sp>
        <p:nvSpPr>
          <p:cNvPr id="13" name="TextBox 12"/>
          <p:cNvSpPr txBox="1"/>
          <p:nvPr/>
        </p:nvSpPr>
        <p:spPr>
          <a:xfrm>
            <a:off x="548640" y="5029200"/>
            <a:ext cx="11091672" cy="777240"/>
          </a:xfrm>
          <a:prstGeom prst="rect">
            <a:avLst/>
          </a:prstGeom>
          <a:noFill/>
        </p:spPr>
        <p:txBody>
          <a:bodyPr wrap="square" anchor="t" lIns="36576" rIns="36576" tIns="18288" bIns="18288">
            <a:spAutoFit/>
          </a:bodyPr>
          <a:lstStyle/>
          <a:p>
            <a:pPr algn="l"/>
            <a:r>
              <a:rPr sz="1250" b="0" i="0">
                <a:solidFill>
                  <a:srgbClr val="1A1A1A"/>
                </a:solidFill>
                <a:latin typeface="Abadi"/>
              </a:rPr>
              <a:t>To convert, divide µmol/L by 17.1: 17 µmol/L is 1.0 mg/dL and 25 µmol/L is 1.46 mg/dL.</a:t>
            </a:r>
          </a:p>
          <a:p>
            <a:pPr algn="l">
              <a:spcBef>
                <a:spcPts val="1000"/>
              </a:spcBef>
            </a:pPr>
            <a:r>
              <a:rPr sz="1250" b="1" i="1">
                <a:solidFill>
                  <a:srgbClr val="1A1A1A"/>
                </a:solidFill>
                <a:latin typeface="Abadi"/>
              </a:rPr>
              <a:t>Use an absolute value, not a ratio: a high total bilirubin does not make a high conjugated value normal.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WHY THE RATIO FAILED</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ATRESIA IS VISIBLE ON DAY ONE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Newborn direct or conjugated bilirubin in infants later diagnosed with biliary atresia (Houston)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Harpavat S, et al. Pediatrics 2011;128:e1428–33 · Davis AR, et al. J Pediatr 2011;158:562–5</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34 of 34</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Infants with biliary atresia who had a newborn value: all above laboratory norms</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1.4 vs 0.19</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Mean direct bilirubin at 24–48 hours, mg/dL: atresia versus controls</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79%</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Had a direct-to-total ratio of 0.2 or less: the 20% rule would have missed them</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0.5 mg/dL</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99th centile of conjugated bilirubin in 271,186 term newborns</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In the first days the total bilirubin is high for ordinary reasons, so the conjugated share looks small even when it is clearly abnormal in absolute terms. Of 61 infants with atresia, 34 had a newborn value measured.</a:t>
            </a:r>
          </a:p>
          <a:p>
            <a:pPr algn="l">
              <a:spcBef>
                <a:spcPts val="1000"/>
              </a:spcBef>
            </a:pPr>
            <a:r>
              <a:rPr sz="1250" b="1" i="1">
                <a:solidFill>
                  <a:srgbClr val="1A1A1A"/>
                </a:solidFill>
                <a:latin typeface="Abadi"/>
              </a:rPr>
              <a:t>The obstruction starts before birth; a low ratio hides it, an absolute value shows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ASSAY</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DIRECT IS NOT CONJUGATED</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What the laboratory measures, and how the normal range shifts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2017 JPGN · Kemper 2022 Pediatrics · Davis AR, et al. J Pediatr 2011;158:562–5 · Mayo Clinic Laboratories test 81787</a:t>
            </a:r>
          </a:p>
        </p:txBody>
      </p:sp>
      <p:graphicFrame>
        <p:nvGraphicFramePr>
          <p:cNvPr id="12" name="Table 11"/>
          <p:cNvGraphicFramePr>
            <a:graphicFrameLocks noGrp="1"/>
          </p:cNvGraphicFramePr>
          <p:nvPr/>
        </p:nvGraphicFramePr>
        <p:xfrm>
          <a:off x="548640" y="1773936"/>
          <a:ext cx="11091671" cy="2432304"/>
        </p:xfrm>
        <a:graphic>
          <a:graphicData uri="http://schemas.openxmlformats.org/drawingml/2006/table">
            <a:tbl>
              <a:tblPr firstRow="0" bandRow="0">
                <a:tableStyleId>{5C22544A-7EE6-4342-B048-85BDC9FD1C3A}</a:tableStyleId>
              </a:tblPr>
              <a:tblGrid>
                <a:gridCol w="2011680"/>
                <a:gridCol w="3749039"/>
                <a:gridCol w="2011680"/>
                <a:gridCol w="3319272"/>
              </a:tblGrid>
              <a:tr h="420624">
                <a:tc>
                  <a:txBody>
                    <a:bodyPr wrap="square"/>
                    <a:lstStyle/>
                    <a:p>
                      <a:r>
                        <a:rPr sz="1200" b="1">
                          <a:solidFill>
                            <a:srgbClr val="FFFFFF"/>
                          </a:solidFill>
                          <a:latin typeface="Abadi"/>
                        </a:rPr>
                        <a:t>Fraction</a:t>
                      </a:r>
                    </a:p>
                  </a:txBody>
                  <a:tcPr anchor="ctr" marL="73152" marR="73152" marT="27432" marB="27432">
                    <a:solidFill>
                      <a:srgbClr val="1B355E"/>
                    </a:solidFill>
                  </a:tcPr>
                </a:tc>
                <a:tc>
                  <a:txBody>
                    <a:bodyPr wrap="square"/>
                    <a:lstStyle/>
                    <a:p>
                      <a:r>
                        <a:rPr sz="1200" b="1">
                          <a:solidFill>
                            <a:srgbClr val="FFFFFF"/>
                          </a:solidFill>
                          <a:latin typeface="Abadi"/>
                        </a:rPr>
                        <a:t>What it is</a:t>
                      </a:r>
                    </a:p>
                  </a:txBody>
                  <a:tcPr anchor="ctr" marL="73152" marR="73152" marT="27432" marB="27432">
                    <a:solidFill>
                      <a:srgbClr val="1B355E"/>
                    </a:solidFill>
                  </a:tcPr>
                </a:tc>
                <a:tc>
                  <a:txBody>
                    <a:bodyPr wrap="square"/>
                    <a:lstStyle/>
                    <a:p>
                      <a:r>
                        <a:rPr sz="1200" b="1">
                          <a:solidFill>
                            <a:srgbClr val="FFFFFF"/>
                          </a:solidFill>
                          <a:latin typeface="Abadi"/>
                        </a:rPr>
                        <a:t>Newborn 99th centile</a:t>
                      </a:r>
                    </a:p>
                  </a:txBody>
                  <a:tcPr anchor="ctr" marL="73152" marR="73152" marT="27432" marB="27432">
                    <a:solidFill>
                      <a:srgbClr val="1B355E"/>
                    </a:solidFill>
                  </a:tcPr>
                </a:tc>
                <a:tc>
                  <a:txBody>
                    <a:bodyPr wrap="square"/>
                    <a:lstStyle/>
                    <a:p>
                      <a:r>
                        <a:rPr sz="1200" b="1">
                          <a:solidFill>
                            <a:srgbClr val="FFFFFF"/>
                          </a:solidFill>
                          <a:latin typeface="Abadi"/>
                        </a:rPr>
                        <a:t>Pitfall</a:t>
                      </a:r>
                    </a:p>
                  </a:txBody>
                  <a:tcPr anchor="ctr" marL="73152" marR="73152" marT="27432" marB="27432">
                    <a:solidFill>
                      <a:srgbClr val="1B355E"/>
                    </a:solidFill>
                  </a:tcPr>
                </a:tc>
              </a:tr>
              <a:tr h="502920">
                <a:tc>
                  <a:txBody>
                    <a:bodyPr wrap="square"/>
                    <a:lstStyle/>
                    <a:p>
                      <a:r>
                        <a:rPr sz="1050" b="1">
                          <a:solidFill>
                            <a:srgbClr val="1A1A1A"/>
                          </a:solidFill>
                          <a:latin typeface="Abadi"/>
                        </a:rPr>
                        <a:t>Conjugated (Bc)</a:t>
                      </a:r>
                    </a:p>
                  </a:txBody>
                  <a:tcPr anchor="ctr" marL="73152" marR="73152" marT="27432" marB="27432">
                    <a:solidFill>
                      <a:srgbClr val="FFFFFF"/>
                    </a:solidFill>
                  </a:tcPr>
                </a:tc>
                <a:tc>
                  <a:txBody>
                    <a:bodyPr wrap="square"/>
                    <a:lstStyle/>
                    <a:p>
                      <a:r>
                        <a:rPr sz="1050" b="0">
                          <a:solidFill>
                            <a:srgbClr val="1A1A1A"/>
                          </a:solidFill>
                          <a:latin typeface="Abadi"/>
                        </a:rPr>
                        <a:t>Mono- and diglucuronide, measured specifically</a:t>
                      </a:r>
                    </a:p>
                  </a:txBody>
                  <a:tcPr anchor="ctr" marL="73152" marR="73152" marT="27432" marB="27432">
                    <a:solidFill>
                      <a:srgbClr val="FFFFFF"/>
                    </a:solidFill>
                  </a:tcPr>
                </a:tc>
                <a:tc>
                  <a:txBody>
                    <a:bodyPr wrap="square"/>
                    <a:lstStyle/>
                    <a:p>
                      <a:r>
                        <a:rPr sz="1050" b="0">
                          <a:solidFill>
                            <a:srgbClr val="1A1A1A"/>
                          </a:solidFill>
                          <a:latin typeface="Abadi"/>
                        </a:rPr>
                        <a:t>0.5 mg/dL</a:t>
                      </a:r>
                    </a:p>
                  </a:txBody>
                  <a:tcPr anchor="ctr" marL="73152" marR="73152" marT="27432" marB="27432">
                    <a:solidFill>
                      <a:srgbClr val="FFFFFF"/>
                    </a:solidFill>
                  </a:tcPr>
                </a:tc>
                <a:tc>
                  <a:txBody>
                    <a:bodyPr wrap="square"/>
                    <a:lstStyle/>
                    <a:p>
                      <a:r>
                        <a:rPr sz="1050" b="0">
                          <a:solidFill>
                            <a:srgbClr val="1A1A1A"/>
                          </a:solidFill>
                          <a:latin typeface="Abadi"/>
                        </a:rPr>
                        <a:t>Not available everywhere</a:t>
                      </a:r>
                    </a:p>
                  </a:txBody>
                  <a:tcPr anchor="ctr" marL="73152" marR="73152" marT="27432" marB="27432">
                    <a:solidFill>
                      <a:srgbClr val="FFFFFF"/>
                    </a:solidFill>
                  </a:tcPr>
                </a:tc>
              </a:tr>
              <a:tr h="502920">
                <a:tc>
                  <a:txBody>
                    <a:bodyPr wrap="square"/>
                    <a:lstStyle/>
                    <a:p>
                      <a:r>
                        <a:rPr sz="1050" b="1">
                          <a:solidFill>
                            <a:srgbClr val="1A1A1A"/>
                          </a:solidFill>
                          <a:latin typeface="Abadi"/>
                        </a:rPr>
                        <a:t>Direct (diazo)</a:t>
                      </a:r>
                    </a:p>
                  </a:txBody>
                  <a:tcPr anchor="ctr" marL="73152" marR="73152" marT="27432" marB="27432">
                    <a:solidFill>
                      <a:srgbClr val="F0F0F0"/>
                    </a:solidFill>
                  </a:tcPr>
                </a:tc>
                <a:tc>
                  <a:txBody>
                    <a:bodyPr wrap="square"/>
                    <a:lstStyle/>
                    <a:p>
                      <a:r>
                        <a:rPr sz="1050" b="0">
                          <a:solidFill>
                            <a:srgbClr val="1A1A1A"/>
                          </a:solidFill>
                          <a:latin typeface="Abadi"/>
                        </a:rPr>
                        <a:t>Conjugated plus delta bilirubin; reacts without accelerator</a:t>
                      </a:r>
                    </a:p>
                  </a:txBody>
                  <a:tcPr anchor="ctr" marL="73152" marR="73152" marT="27432" marB="27432">
                    <a:solidFill>
                      <a:srgbClr val="F0F0F0"/>
                    </a:solidFill>
                  </a:tcPr>
                </a:tc>
                <a:tc>
                  <a:txBody>
                    <a:bodyPr wrap="square"/>
                    <a:lstStyle/>
                    <a:p>
                      <a:r>
                        <a:rPr sz="1050" b="0">
                          <a:solidFill>
                            <a:srgbClr val="1A1A1A"/>
                          </a:solidFill>
                          <a:latin typeface="Abadi"/>
                        </a:rPr>
                        <a:t>2.1 mg/dL</a:t>
                      </a:r>
                    </a:p>
                  </a:txBody>
                  <a:tcPr anchor="ctr" marL="73152" marR="73152" marT="27432" marB="27432">
                    <a:solidFill>
                      <a:srgbClr val="F0F0F0"/>
                    </a:solidFill>
                  </a:tcPr>
                </a:tc>
                <a:tc>
                  <a:txBody>
                    <a:bodyPr wrap="square"/>
                    <a:lstStyle/>
                    <a:p>
                      <a:r>
                        <a:rPr sz="1050" b="0">
                          <a:solidFill>
                            <a:srgbClr val="1A1A1A"/>
                          </a:solidFill>
                          <a:latin typeface="Abadi"/>
                        </a:rPr>
                        <a:t>Rises with total; 'higher and more variable' (AAP)</a:t>
                      </a:r>
                    </a:p>
                  </a:txBody>
                  <a:tcPr anchor="ctr" marL="73152" marR="73152" marT="27432" marB="27432">
                    <a:solidFill>
                      <a:srgbClr val="F0F0F0"/>
                    </a:solidFill>
                  </a:tcPr>
                </a:tc>
              </a:tr>
              <a:tr h="502920">
                <a:tc>
                  <a:txBody>
                    <a:bodyPr wrap="square"/>
                    <a:lstStyle/>
                    <a:p>
                      <a:r>
                        <a:rPr sz="1050" b="1">
                          <a:solidFill>
                            <a:srgbClr val="1A1A1A"/>
                          </a:solidFill>
                          <a:latin typeface="Abadi"/>
                        </a:rPr>
                        <a:t>Delta</a:t>
                      </a:r>
                    </a:p>
                  </a:txBody>
                  <a:tcPr anchor="ctr" marL="73152" marR="73152" marT="27432" marB="27432">
                    <a:solidFill>
                      <a:srgbClr val="FFFFFF"/>
                    </a:solidFill>
                  </a:tcPr>
                </a:tc>
                <a:tc>
                  <a:txBody>
                    <a:bodyPr wrap="square"/>
                    <a:lstStyle/>
                    <a:p>
                      <a:r>
                        <a:rPr sz="1050" b="0">
                          <a:solidFill>
                            <a:srgbClr val="1A1A1A"/>
                          </a:solidFill>
                          <a:latin typeface="Abadi"/>
                        </a:rPr>
                        <a:t>Bilirubin covalently bound to albumin</a:t>
                      </a:r>
                    </a:p>
                  </a:txBody>
                  <a:tcPr anchor="ctr" marL="73152" marR="73152" marT="27432" marB="27432">
                    <a:solidFill>
                      <a:srgbClr val="FFFFFF"/>
                    </a:solidFill>
                  </a:tcPr>
                </a:tc>
                <a:tc>
                  <a:txBody>
                    <a:bodyPr wrap="square"/>
                    <a:lstStyle/>
                    <a:p>
                      <a:r>
                        <a:rPr sz="1050" b="0">
                          <a:solidFill>
                            <a:srgbClr val="1A1A1A"/>
                          </a:solidFill>
                          <a:latin typeface="Abadi"/>
                        </a:rPr>
                        <a:t>Not reported</a:t>
                      </a:r>
                    </a:p>
                  </a:txBody>
                  <a:tcPr anchor="ctr" marL="73152" marR="73152" marT="27432" marB="27432">
                    <a:solidFill>
                      <a:srgbClr val="FFFFFF"/>
                    </a:solidFill>
                  </a:tcPr>
                </a:tc>
                <a:tc>
                  <a:txBody>
                    <a:bodyPr wrap="square"/>
                    <a:lstStyle/>
                    <a:p>
                      <a:r>
                        <a:rPr sz="1050" b="0">
                          <a:solidFill>
                            <a:srgbClr val="1A1A1A"/>
                          </a:solidFill>
                          <a:latin typeface="Abadi"/>
                        </a:rPr>
                        <a:t>Half-life of albumin, about 21 days: lags after recovery</a:t>
                      </a:r>
                    </a:p>
                  </a:txBody>
                  <a:tcPr anchor="ctr" marL="73152" marR="73152" marT="27432" marB="27432">
                    <a:solidFill>
                      <a:srgbClr val="FFFFFF"/>
                    </a:solidFill>
                  </a:tcPr>
                </a:tc>
              </a:tr>
              <a:tr h="502920">
                <a:tc>
                  <a:txBody>
                    <a:bodyPr wrap="square"/>
                    <a:lstStyle/>
                    <a:p>
                      <a:r>
                        <a:rPr sz="1050" b="1">
                          <a:solidFill>
                            <a:srgbClr val="1A1A1A"/>
                          </a:solidFill>
                          <a:latin typeface="Abadi"/>
                        </a:rPr>
                        <a:t>Unconjugated</a:t>
                      </a:r>
                    </a:p>
                  </a:txBody>
                  <a:tcPr anchor="ctr" marL="73152" marR="73152" marT="27432" marB="27432">
                    <a:solidFill>
                      <a:srgbClr val="F0F0F0"/>
                    </a:solidFill>
                  </a:tcPr>
                </a:tc>
                <a:tc>
                  <a:txBody>
                    <a:bodyPr wrap="square"/>
                    <a:lstStyle/>
                    <a:p>
                      <a:r>
                        <a:rPr sz="1050" b="0">
                          <a:solidFill>
                            <a:srgbClr val="1A1A1A"/>
                          </a:solidFill>
                          <a:latin typeface="Abadi"/>
                        </a:rPr>
                        <a:t>Albumin-bound, non-covalent</a:t>
                      </a:r>
                    </a:p>
                  </a:txBody>
                  <a:tcPr anchor="ctr" marL="73152" marR="73152" marT="27432" marB="27432">
                    <a:solidFill>
                      <a:srgbClr val="F0F0F0"/>
                    </a:solidFill>
                  </a:tcPr>
                </a:tc>
                <a:tc>
                  <a:txBody>
                    <a:bodyPr wrap="square"/>
                    <a:lstStyle/>
                    <a:p>
                      <a:r>
                        <a:rPr sz="1050" b="0">
                          <a:solidFill>
                            <a:srgbClr val="1A1A1A"/>
                          </a:solidFill>
                          <a:latin typeface="Abadi"/>
                        </a:rPr>
                        <a:t>Peaks day 3 to 5</a:t>
                      </a:r>
                    </a:p>
                  </a:txBody>
                  <a:tcPr anchor="ctr" marL="73152" marR="73152" marT="27432" marB="27432">
                    <a:solidFill>
                      <a:srgbClr val="F0F0F0"/>
                    </a:solidFill>
                  </a:tcPr>
                </a:tc>
                <a:tc>
                  <a:txBody>
                    <a:bodyPr wrap="square"/>
                    <a:lstStyle/>
                    <a:p>
                      <a:r>
                        <a:rPr sz="1050" b="0">
                          <a:solidFill>
                            <a:srgbClr val="1A1A1A"/>
                          </a:solidFill>
                          <a:latin typeface="Abadi"/>
                        </a:rPr>
                        <a:t>Do not subtract direct from total for phototherapy</a:t>
                      </a:r>
                    </a:p>
                  </a:txBody>
                  <a:tcPr anchor="ctr" marL="73152" marR="73152" marT="27432" marB="27432">
                    <a:solidFill>
                      <a:srgbClr val="F0F0F0"/>
                    </a:solidFill>
                  </a:tcPr>
                </a:tc>
              </a:tr>
            </a:tbl>
          </a:graphicData>
        </a:graphic>
      </p:graphicFrame>
      <p:sp>
        <p:nvSpPr>
          <p:cNvPr id="13" name="TextBox 12"/>
          <p:cNvSpPr txBox="1"/>
          <p:nvPr/>
        </p:nvSpPr>
        <p:spPr>
          <a:xfrm>
            <a:off x="548640" y="4526280"/>
            <a:ext cx="11091672" cy="1097280"/>
          </a:xfrm>
          <a:prstGeom prst="rect">
            <a:avLst/>
          </a:prstGeom>
          <a:noFill/>
        </p:spPr>
        <p:txBody>
          <a:bodyPr wrap="square" anchor="t" lIns="36576" rIns="36576" tIns="18288" bIns="18288">
            <a:spAutoFit/>
          </a:bodyPr>
          <a:lstStyle/>
          <a:p>
            <a:pPr algn="l"/>
            <a:r>
              <a:rPr sz="1250" b="0" i="0">
                <a:solidFill>
                  <a:srgbClr val="1A1A1A"/>
                </a:solidFill>
                <a:latin typeface="Abadi"/>
              </a:rPr>
              <a:t>In 271,186 Kaiser newborns, conjugated and direct values were 'not interchangeable'. When conjugated bilirubin reached 5 mg/dL, 47% had biliary disease and 43% liver disease. AAP: if the direct fraction exceeds half the total, call a specialist.</a:t>
            </a:r>
          </a:p>
          <a:p>
            <a:pPr algn="l">
              <a:spcBef>
                <a:spcPts val="1000"/>
              </a:spcBef>
            </a:pPr>
            <a:r>
              <a:rPr sz="1250" b="1" i="1">
                <a:solidFill>
                  <a:srgbClr val="1A1A1A"/>
                </a:solidFill>
                <a:latin typeface="Abadi"/>
              </a:rPr>
              <a:t>Read the report: a 'direct' of 1.2 mg/dL on day 2 is ordinary; a conjugated value of 1.2 mg/dL is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THE BREASTFED INFANT</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PROLONGED JAUNDICE IS THE NORM</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Natural history of jaundice in 1,044 predominantly breastfed infants of 35 weeks or more,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Maisels MJ, et al. Pediatrics 2014;134:e340–5</a:t>
            </a:r>
          </a:p>
        </p:txBody>
      </p:sp>
      <p:sp>
        <p:nvSpPr>
          <p:cNvPr id="12" name="Rectangle 11"/>
          <p:cNvSpPr/>
          <p:nvPr/>
        </p:nvSpPr>
        <p:spPr>
          <a:xfrm>
            <a:off x="1815084" y="2570480"/>
            <a:ext cx="822960" cy="21844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86484" y="23418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43%</a:t>
            </a:r>
          </a:p>
        </p:txBody>
      </p:sp>
      <p:sp>
        <p:nvSpPr>
          <p:cNvPr id="14" name="Rectangle 13"/>
          <p:cNvSpPr/>
          <p:nvPr/>
        </p:nvSpPr>
        <p:spPr>
          <a:xfrm>
            <a:off x="2665476" y="3027680"/>
            <a:ext cx="822960" cy="172720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36876" y="27990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34%</a:t>
            </a:r>
          </a:p>
        </p:txBody>
      </p:sp>
      <p:sp>
        <p:nvSpPr>
          <p:cNvPr id="16" name="TextBox 15"/>
          <p:cNvSpPr txBox="1"/>
          <p:nvPr/>
        </p:nvSpPr>
        <p:spPr>
          <a:xfrm>
            <a:off x="1280160" y="4818888"/>
            <a:ext cx="2743200" cy="365760"/>
          </a:xfrm>
          <a:prstGeom prst="rect">
            <a:avLst/>
          </a:prstGeom>
          <a:noFill/>
        </p:spPr>
        <p:txBody>
          <a:bodyPr wrap="square" anchor="t" lIns="36576" rIns="36576" tIns="18288" bIns="18288">
            <a:spAutoFit/>
          </a:bodyPr>
          <a:lstStyle/>
          <a:p>
            <a:pPr algn="ctr"/>
            <a:r>
              <a:rPr sz="1000" b="0" i="0">
                <a:solidFill>
                  <a:srgbClr val="1A1A1A"/>
                </a:solidFill>
                <a:latin typeface="Abadi"/>
              </a:rPr>
              <a:t>Day 21 ± 3</a:t>
            </a:r>
          </a:p>
        </p:txBody>
      </p:sp>
      <p:sp>
        <p:nvSpPr>
          <p:cNvPr id="17" name="Rectangle 16"/>
          <p:cNvSpPr/>
          <p:nvPr/>
        </p:nvSpPr>
        <p:spPr>
          <a:xfrm>
            <a:off x="4558284" y="3027680"/>
            <a:ext cx="822960" cy="17272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9684" y="27990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34%</a:t>
            </a:r>
          </a:p>
        </p:txBody>
      </p:sp>
      <p:sp>
        <p:nvSpPr>
          <p:cNvPr id="19" name="Rectangle 18"/>
          <p:cNvSpPr/>
          <p:nvPr/>
        </p:nvSpPr>
        <p:spPr>
          <a:xfrm>
            <a:off x="5408676" y="3688080"/>
            <a:ext cx="822960" cy="106680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34594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21%</a:t>
            </a:r>
          </a:p>
        </p:txBody>
      </p:sp>
      <p:sp>
        <p:nvSpPr>
          <p:cNvPr id="21" name="TextBox 20"/>
          <p:cNvSpPr txBox="1"/>
          <p:nvPr/>
        </p:nvSpPr>
        <p:spPr>
          <a:xfrm>
            <a:off x="4023360" y="4818888"/>
            <a:ext cx="2743200" cy="365760"/>
          </a:xfrm>
          <a:prstGeom prst="rect">
            <a:avLst/>
          </a:prstGeom>
          <a:noFill/>
        </p:spPr>
        <p:txBody>
          <a:bodyPr wrap="square" anchor="t" lIns="36576" rIns="36576" tIns="18288" bIns="18288">
            <a:spAutoFit/>
          </a:bodyPr>
          <a:lstStyle/>
          <a:p>
            <a:pPr algn="ctr"/>
            <a:r>
              <a:rPr sz="1000" b="0" i="0">
                <a:solidFill>
                  <a:srgbClr val="1A1A1A"/>
                </a:solidFill>
                <a:latin typeface="Abadi"/>
              </a:rPr>
              <a:t>Day 28 ± 3</a:t>
            </a:r>
          </a:p>
        </p:txBody>
      </p:sp>
      <p:sp>
        <p:nvSpPr>
          <p:cNvPr id="22" name="Rectangle 21"/>
          <p:cNvSpPr/>
          <p:nvPr/>
        </p:nvSpPr>
        <p:spPr>
          <a:xfrm>
            <a:off x="1280160" y="4754880"/>
            <a:ext cx="5486400"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1783080"/>
            <a:ext cx="4572000" cy="237744"/>
          </a:xfrm>
          <a:prstGeom prst="rect">
            <a:avLst/>
          </a:prstGeom>
          <a:noFill/>
        </p:spPr>
        <p:txBody>
          <a:bodyPr wrap="square" anchor="t" lIns="36576" rIns="36576" tIns="18288" bIns="18288">
            <a:spAutoFit/>
          </a:bodyPr>
          <a:lstStyle/>
          <a:p>
            <a:pPr algn="l"/>
            <a:r>
              <a:rPr sz="1000" b="0" i="0">
                <a:solidFill>
                  <a:srgbClr val="555555"/>
                </a:solidFill>
                <a:latin typeface="Abadi"/>
              </a:rPr>
              <a:t>%</a:t>
            </a:r>
          </a:p>
        </p:txBody>
      </p:sp>
      <p:sp>
        <p:nvSpPr>
          <p:cNvPr id="24" name="Rectangle 23"/>
          <p:cNvSpPr/>
          <p:nvPr/>
        </p:nvSpPr>
        <p:spPr>
          <a:xfrm>
            <a:off x="4988052" y="1819656"/>
            <a:ext cx="201168"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084" y="1783080"/>
            <a:ext cx="1595628" cy="237744"/>
          </a:xfrm>
          <a:prstGeom prst="rect">
            <a:avLst/>
          </a:prstGeom>
          <a:noFill/>
        </p:spPr>
        <p:txBody>
          <a:bodyPr wrap="square" anchor="t" lIns="36576" rIns="36576" tIns="18288" bIns="18288">
            <a:spAutoFit/>
          </a:bodyPr>
          <a:lstStyle/>
          <a:p>
            <a:pPr algn="l"/>
            <a:r>
              <a:rPr sz="1000" b="0" i="0">
                <a:solidFill>
                  <a:srgbClr val="1A1A1A"/>
                </a:solidFill>
                <a:latin typeface="Abadi"/>
              </a:rPr>
              <a:t>Visibly jaundiced</a:t>
            </a:r>
          </a:p>
        </p:txBody>
      </p:sp>
      <p:sp>
        <p:nvSpPr>
          <p:cNvPr id="26" name="Rectangle 25"/>
          <p:cNvSpPr/>
          <p:nvPr/>
        </p:nvSpPr>
        <p:spPr>
          <a:xfrm>
            <a:off x="3054096" y="1819656"/>
            <a:ext cx="201168" cy="14630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10128" y="1783080"/>
            <a:ext cx="1751076" cy="237744"/>
          </a:xfrm>
          <a:prstGeom prst="rect">
            <a:avLst/>
          </a:prstGeom>
          <a:noFill/>
        </p:spPr>
        <p:txBody>
          <a:bodyPr wrap="square" anchor="t" lIns="36576" rIns="36576" tIns="18288" bIns="18288">
            <a:spAutoFit/>
          </a:bodyPr>
          <a:lstStyle/>
          <a:p>
            <a:pPr algn="l"/>
            <a:r>
              <a:rPr sz="1000" b="0" i="0">
                <a:solidFill>
                  <a:srgbClr val="1A1A1A"/>
                </a:solidFill>
                <a:latin typeface="Abadi"/>
              </a:rPr>
              <a:t>TcB 5 mg/dL or more</a:t>
            </a:r>
          </a:p>
        </p:txBody>
      </p:sp>
      <p:sp>
        <p:nvSpPr>
          <p:cNvPr id="28" name="TextBox 27"/>
          <p:cNvSpPr txBox="1"/>
          <p:nvPr/>
        </p:nvSpPr>
        <p:spPr>
          <a:xfrm>
            <a:off x="7315200" y="1874519"/>
            <a:ext cx="4325112" cy="2834640"/>
          </a:xfrm>
          <a:prstGeom prst="rect">
            <a:avLst/>
          </a:prstGeom>
          <a:noFill/>
        </p:spPr>
        <p:txBody>
          <a:bodyPr wrap="square" anchor="t" lIns="36576" rIns="36576" tIns="18288" bIns="18288">
            <a:spAutoFit/>
          </a:bodyPr>
          <a:lstStyle/>
          <a:p>
            <a:pPr algn="l"/>
            <a:r>
              <a:rPr sz="1300" b="1" i="0">
                <a:solidFill>
                  <a:srgbClr val="2E5A88"/>
                </a:solidFill>
                <a:latin typeface="Abadi"/>
              </a:rPr>
              <a:t>Reading the study</a:t>
            </a:r>
          </a:p>
          <a:p>
            <a:pPr algn="l">
              <a:spcBef>
                <a:spcPts val="600"/>
              </a:spcBef>
            </a:pPr>
            <a:r>
              <a:rPr sz="1200" b="0" i="0">
                <a:solidFill>
                  <a:srgbClr val="1A1A1A"/>
                </a:solidFill>
                <a:latin typeface="Abadi"/>
              </a:rPr>
              <a:t>Transcutaneous bilirubin measured serially in healthy breastfed infants.</a:t>
            </a:r>
          </a:p>
          <a:p>
            <a:pPr algn="l">
              <a:spcBef>
                <a:spcPts val="600"/>
              </a:spcBef>
            </a:pPr>
            <a:r>
              <a:rPr sz="1200" b="0" i="0">
                <a:solidFill>
                  <a:srgbClr val="1A1A1A"/>
                </a:solidFill>
                <a:latin typeface="Abadi"/>
              </a:rPr>
              <a:t>At 3 weeks a third look yellow; at 4 weeks one in five still do.</a:t>
            </a:r>
          </a:p>
          <a:p>
            <a:pPr algn="l">
              <a:spcBef>
                <a:spcPts val="600"/>
              </a:spcBef>
            </a:pPr>
            <a:r>
              <a:rPr sz="1200" b="0" i="0">
                <a:solidFill>
                  <a:srgbClr val="1A1A1A"/>
                </a:solidFill>
                <a:latin typeface="Abadi"/>
              </a:rPr>
              <a:t>Authors: it is normal for 20–30% to be jaundiced at 3–4 weeks.</a:t>
            </a:r>
          </a:p>
          <a:p>
            <a:pPr algn="l">
              <a:spcBef>
                <a:spcPts val="1000"/>
              </a:spcBef>
            </a:pPr>
            <a:r>
              <a:rPr sz="1300" b="1" i="0">
                <a:solidFill>
                  <a:srgbClr val="2E5A88"/>
                </a:solidFill>
                <a:latin typeface="Abadi"/>
              </a:rPr>
              <a:t>Why it matters</a:t>
            </a:r>
          </a:p>
          <a:p>
            <a:pPr algn="l">
              <a:spcBef>
                <a:spcPts val="600"/>
              </a:spcBef>
            </a:pPr>
            <a:r>
              <a:rPr sz="1200" b="0" i="0">
                <a:solidFill>
                  <a:srgbClr val="1A1A1A"/>
                </a:solidFill>
                <a:latin typeface="Abadi"/>
              </a:rPr>
              <a:t>Waiting for jaundice to 'look abnormal' fails: you cannot see the fraction.</a:t>
            </a:r>
          </a:p>
        </p:txBody>
      </p:sp>
      <p:sp>
        <p:nvSpPr>
          <p:cNvPr id="29" name="TextBox 28"/>
          <p:cNvSpPr txBox="1"/>
          <p:nvPr/>
        </p:nvSpPr>
        <p:spPr>
          <a:xfrm>
            <a:off x="548640" y="507492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So many breastfed infants are yellow at three weeks that the only safe filter is a blood test, not a look.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TIMING</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TWO WEEKS, OR THREE IF BREASTFED AND WELL</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When each document asks for a fractionated bilirubin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2017 JPGN · Kemper 2022 Pediatrics (KAS 9) · Harpavat 2025 Pediatrics · NICE CG98 recommendation 1.7</a:t>
            </a:r>
          </a:p>
        </p:txBody>
      </p:sp>
      <p:graphicFrame>
        <p:nvGraphicFramePr>
          <p:cNvPr id="12" name="Table 11"/>
          <p:cNvGraphicFramePr>
            <a:graphicFrameLocks noGrp="1"/>
          </p:cNvGraphicFramePr>
          <p:nvPr/>
        </p:nvGraphicFramePr>
        <p:xfrm>
          <a:off x="548640" y="1773936"/>
          <a:ext cx="11091672" cy="2834640"/>
        </p:xfrm>
        <a:graphic>
          <a:graphicData uri="http://schemas.openxmlformats.org/drawingml/2006/table">
            <a:tbl>
              <a:tblPr firstRow="0" bandRow="0">
                <a:tableStyleId>{5C22544A-7EE6-4342-B048-85BDC9FD1C3A}</a:tableStyleId>
              </a:tblPr>
              <a:tblGrid>
                <a:gridCol w="2377440"/>
                <a:gridCol w="3566160"/>
                <a:gridCol w="2194560"/>
                <a:gridCol w="2953512"/>
              </a:tblGrid>
              <a:tr h="420624">
                <a:tc>
                  <a:txBody>
                    <a:bodyPr wrap="square"/>
                    <a:lstStyle/>
                    <a:p>
                      <a:r>
                        <a:rPr sz="1200" b="1">
                          <a:solidFill>
                            <a:srgbClr val="FFFFFF"/>
                          </a:solidFill>
                          <a:latin typeface="Abadi"/>
                        </a:rPr>
                        <a:t>Document</a:t>
                      </a:r>
                    </a:p>
                  </a:txBody>
                  <a:tcPr anchor="ctr" marL="73152" marR="73152" marT="27432" marB="27432">
                    <a:solidFill>
                      <a:srgbClr val="1B355E"/>
                    </a:solidFill>
                  </a:tcPr>
                </a:tc>
                <a:tc>
                  <a:txBody>
                    <a:bodyPr wrap="square"/>
                    <a:lstStyle/>
                    <a:p>
                      <a:r>
                        <a:rPr sz="1200" b="1">
                          <a:solidFill>
                            <a:srgbClr val="FFFFFF"/>
                          </a:solidFill>
                          <a:latin typeface="Abadi"/>
                        </a:rPr>
                        <a:t>Trigger</a:t>
                      </a:r>
                    </a:p>
                  </a:txBody>
                  <a:tcPr anchor="ctr" marL="73152" marR="73152" marT="27432" marB="27432">
                    <a:solidFill>
                      <a:srgbClr val="1B355E"/>
                    </a:solidFill>
                  </a:tcPr>
                </a:tc>
                <a:tc>
                  <a:txBody>
                    <a:bodyPr wrap="square"/>
                    <a:lstStyle/>
                    <a:p>
                      <a:r>
                        <a:rPr sz="1200" b="1">
                          <a:solidFill>
                            <a:srgbClr val="FFFFFF"/>
                          </a:solidFill>
                          <a:latin typeface="Abadi"/>
                        </a:rPr>
                        <a:t>What to send</a:t>
                      </a:r>
                    </a:p>
                  </a:txBody>
                  <a:tcPr anchor="ctr" marL="73152" marR="73152" marT="27432" marB="27432">
                    <a:solidFill>
                      <a:srgbClr val="1B355E"/>
                    </a:solidFill>
                  </a:tcPr>
                </a:tc>
                <a:tc>
                  <a:txBody>
                    <a:bodyPr wrap="square"/>
                    <a:lstStyle/>
                    <a:p>
                      <a:r>
                        <a:rPr sz="1200" b="1">
                          <a:solidFill>
                            <a:srgbClr val="FFFFFF"/>
                          </a:solidFill>
                          <a:latin typeface="Abadi"/>
                        </a:rPr>
                        <a:t>What else</a:t>
                      </a:r>
                    </a:p>
                  </a:txBody>
                  <a:tcPr anchor="ctr" marL="73152" marR="73152" marT="27432" marB="27432">
                    <a:solidFill>
                      <a:srgbClr val="1B355E"/>
                    </a:solidFill>
                  </a:tcPr>
                </a:tc>
              </a:tr>
              <a:tr h="603504">
                <a:tc>
                  <a:txBody>
                    <a:bodyPr wrap="square"/>
                    <a:lstStyle/>
                    <a:p>
                      <a:r>
                        <a:rPr sz="1000" b="1">
                          <a:solidFill>
                            <a:srgbClr val="1A1A1A"/>
                          </a:solidFill>
                          <a:latin typeface="Abadi"/>
                        </a:rPr>
                        <a:t>NASPGHAN/ESPGHAN 2017</a:t>
                      </a:r>
                    </a:p>
                  </a:txBody>
                  <a:tcPr anchor="ctr" marL="73152" marR="73152" marT="27432" marB="27432">
                    <a:solidFill>
                      <a:srgbClr val="FFFFFF"/>
                    </a:solidFill>
                  </a:tcPr>
                </a:tc>
                <a:tc>
                  <a:txBody>
                    <a:bodyPr wrap="square"/>
                    <a:lstStyle/>
                    <a:p>
                      <a:r>
                        <a:rPr sz="1000" b="0">
                          <a:solidFill>
                            <a:srgbClr val="1A1A1A"/>
                          </a:solidFill>
                          <a:latin typeface="Abadi"/>
                        </a:rPr>
                        <a:t>Formula-fed jaundiced after 2 weeks; breastfed and well may be followed to 3 weeks</a:t>
                      </a:r>
                    </a:p>
                  </a:txBody>
                  <a:tcPr anchor="ctr" marL="73152" marR="73152" marT="27432" marB="27432">
                    <a:solidFill>
                      <a:srgbClr val="FFFFFF"/>
                    </a:solidFill>
                  </a:tcPr>
                </a:tc>
                <a:tc>
                  <a:txBody>
                    <a:bodyPr wrap="square"/>
                    <a:lstStyle/>
                    <a:p>
                      <a:r>
                        <a:rPr sz="1000" b="0">
                          <a:solidFill>
                            <a:srgbClr val="1A1A1A"/>
                          </a:solidFill>
                          <a:latin typeface="Abadi"/>
                        </a:rPr>
                        <a:t>Total and conjugated or direct</a:t>
                      </a:r>
                    </a:p>
                  </a:txBody>
                  <a:tcPr anchor="ctr" marL="73152" marR="73152" marT="27432" marB="27432">
                    <a:solidFill>
                      <a:srgbClr val="FFFFFF"/>
                    </a:solidFill>
                  </a:tcPr>
                </a:tc>
                <a:tc>
                  <a:txBody>
                    <a:bodyPr wrap="square"/>
                    <a:lstStyle/>
                    <a:p>
                      <a:r>
                        <a:rPr sz="1000" b="0">
                          <a:solidFill>
                            <a:srgbClr val="1A1A1A"/>
                          </a:solidFill>
                          <a:latin typeface="Abadi"/>
                        </a:rPr>
                        <a:t>Stool colour at every visit</a:t>
                      </a:r>
                    </a:p>
                  </a:txBody>
                  <a:tcPr anchor="ctr" marL="73152" marR="73152" marT="27432" marB="27432">
                    <a:solidFill>
                      <a:srgbClr val="FFFFFF"/>
                    </a:solidFill>
                  </a:tcPr>
                </a:tc>
              </a:tr>
              <a:tr h="603504">
                <a:tc>
                  <a:txBody>
                    <a:bodyPr wrap="square"/>
                    <a:lstStyle/>
                    <a:p>
                      <a:r>
                        <a:rPr sz="1000" b="1">
                          <a:solidFill>
                            <a:srgbClr val="1A1A1A"/>
                          </a:solidFill>
                          <a:latin typeface="Abadi"/>
                        </a:rPr>
                        <a:t>AAP 2022 (KAS 9)</a:t>
                      </a:r>
                    </a:p>
                  </a:txBody>
                  <a:tcPr anchor="ctr" marL="73152" marR="73152" marT="27432" marB="27432">
                    <a:solidFill>
                      <a:srgbClr val="F0F0F0"/>
                    </a:solidFill>
                  </a:tcPr>
                </a:tc>
                <a:tc>
                  <a:txBody>
                    <a:bodyPr wrap="square"/>
                    <a:lstStyle/>
                    <a:p>
                      <a:r>
                        <a:rPr sz="1000" b="0">
                          <a:solidFill>
                            <a:srgbClr val="1A1A1A"/>
                          </a:solidFill>
                          <a:latin typeface="Abadi"/>
                        </a:rPr>
                        <a:t>Breastfed still jaundiced at 3–4 weeks; formula-fed at 2 weeks</a:t>
                      </a:r>
                    </a:p>
                  </a:txBody>
                  <a:tcPr anchor="ctr" marL="73152" marR="73152" marT="27432" marB="27432">
                    <a:solidFill>
                      <a:srgbClr val="F0F0F0"/>
                    </a:solidFill>
                  </a:tcPr>
                </a:tc>
                <a:tc>
                  <a:txBody>
                    <a:bodyPr wrap="square"/>
                    <a:lstStyle/>
                    <a:p>
                      <a:r>
                        <a:rPr sz="1000" b="0">
                          <a:solidFill>
                            <a:srgbClr val="1A1A1A"/>
                          </a:solidFill>
                          <a:latin typeface="Abadi"/>
                        </a:rPr>
                        <a:t>Total and direct or conjugated</a:t>
                      </a:r>
                    </a:p>
                  </a:txBody>
                  <a:tcPr anchor="ctr" marL="73152" marR="73152" marT="27432" marB="27432">
                    <a:solidFill>
                      <a:srgbClr val="F0F0F0"/>
                    </a:solidFill>
                  </a:tcPr>
                </a:tc>
                <a:tc>
                  <a:txBody>
                    <a:bodyPr wrap="square"/>
                    <a:lstStyle/>
                    <a:p>
                      <a:r>
                        <a:rPr sz="1000" b="0">
                          <a:solidFill>
                            <a:srgbClr val="1A1A1A"/>
                          </a:solidFill>
                          <a:latin typeface="Abadi"/>
                        </a:rPr>
                        <a:t>Repeat a single high value soon</a:t>
                      </a:r>
                    </a:p>
                  </a:txBody>
                  <a:tcPr anchor="ctr" marL="73152" marR="73152" marT="27432" marB="27432">
                    <a:solidFill>
                      <a:srgbClr val="F0F0F0"/>
                    </a:solidFill>
                  </a:tcPr>
                </a:tc>
              </a:tr>
              <a:tr h="603504">
                <a:tc>
                  <a:txBody>
                    <a:bodyPr wrap="square"/>
                    <a:lstStyle/>
                    <a:p>
                      <a:r>
                        <a:rPr sz="1000" b="1">
                          <a:solidFill>
                            <a:srgbClr val="1A1A1A"/>
                          </a:solidFill>
                          <a:latin typeface="Abadi"/>
                        </a:rPr>
                        <a:t>AAP clinical report 2025</a:t>
                      </a:r>
                    </a:p>
                  </a:txBody>
                  <a:tcPr anchor="ctr" marL="73152" marR="73152" marT="27432" marB="27432">
                    <a:solidFill>
                      <a:srgbClr val="FFFFFF"/>
                    </a:solidFill>
                  </a:tcPr>
                </a:tc>
                <a:tc>
                  <a:txBody>
                    <a:bodyPr wrap="square"/>
                    <a:lstStyle/>
                    <a:p>
                      <a:r>
                        <a:rPr sz="1000" b="0">
                          <a:solidFill>
                            <a:srgbClr val="1A1A1A"/>
                          </a:solidFill>
                          <a:latin typeface="Abadi"/>
                        </a:rPr>
                        <a:t>Jaundice beyond 2–3 weeks, pale stools at any time, or any prior high value</a:t>
                      </a:r>
                    </a:p>
                  </a:txBody>
                  <a:tcPr anchor="ctr" marL="73152" marR="73152" marT="27432" marB="27432">
                    <a:solidFill>
                      <a:srgbClr val="FFFFFF"/>
                    </a:solidFill>
                  </a:tcPr>
                </a:tc>
                <a:tc>
                  <a:txBody>
                    <a:bodyPr wrap="square"/>
                    <a:lstStyle/>
                    <a:p>
                      <a:r>
                        <a:rPr sz="1000" b="0">
                          <a:solidFill>
                            <a:srgbClr val="1A1A1A"/>
                          </a:solidFill>
                          <a:latin typeface="Abadi"/>
                        </a:rPr>
                        <a:t>Direct or conjugated</a:t>
                      </a:r>
                    </a:p>
                  </a:txBody>
                  <a:tcPr anchor="ctr" marL="73152" marR="73152" marT="27432" marB="27432">
                    <a:solidFill>
                      <a:srgbClr val="FFFFFF"/>
                    </a:solidFill>
                  </a:tcPr>
                </a:tc>
                <a:tc>
                  <a:txBody>
                    <a:bodyPr wrap="square"/>
                    <a:lstStyle/>
                    <a:p>
                      <a:r>
                        <a:rPr sz="1000" b="0">
                          <a:solidFill>
                            <a:srgbClr val="1A1A1A"/>
                          </a:solidFill>
                          <a:latin typeface="Abadi"/>
                        </a:rPr>
                        <a:t>Three-step check at the 2–4 week visit</a:t>
                      </a:r>
                    </a:p>
                  </a:txBody>
                  <a:tcPr anchor="ctr" marL="73152" marR="73152" marT="27432" marB="27432">
                    <a:solidFill>
                      <a:srgbClr val="FFFFFF"/>
                    </a:solidFill>
                  </a:tcPr>
                </a:tc>
              </a:tr>
              <a:tr h="603504">
                <a:tc>
                  <a:txBody>
                    <a:bodyPr wrap="square"/>
                    <a:lstStyle/>
                    <a:p>
                      <a:r>
                        <a:rPr sz="1000" b="1">
                          <a:solidFill>
                            <a:srgbClr val="1A1A1A"/>
                          </a:solidFill>
                          <a:latin typeface="Abadi"/>
                        </a:rPr>
                        <a:t>NICE CG98</a:t>
                      </a:r>
                    </a:p>
                  </a:txBody>
                  <a:tcPr anchor="ctr" marL="73152" marR="73152" marT="27432" marB="27432">
                    <a:solidFill>
                      <a:srgbClr val="F0F0F0"/>
                    </a:solidFill>
                  </a:tcPr>
                </a:tc>
                <a:tc>
                  <a:txBody>
                    <a:bodyPr wrap="square"/>
                    <a:lstStyle/>
                    <a:p>
                      <a:r>
                        <a:rPr sz="1000" b="0">
                          <a:solidFill>
                            <a:srgbClr val="1A1A1A"/>
                          </a:solidFill>
                          <a:latin typeface="Abadi"/>
                        </a:rPr>
                        <a:t>Term: more than 14 days; preterm: more than 21 days</a:t>
                      </a:r>
                    </a:p>
                  </a:txBody>
                  <a:tcPr anchor="ctr" marL="73152" marR="73152" marT="27432" marB="27432">
                    <a:solidFill>
                      <a:srgbClr val="F0F0F0"/>
                    </a:solidFill>
                  </a:tcPr>
                </a:tc>
                <a:tc>
                  <a:txBody>
                    <a:bodyPr wrap="square"/>
                    <a:lstStyle/>
                    <a:p>
                      <a:r>
                        <a:rPr sz="1000" b="0">
                          <a:solidFill>
                            <a:srgbClr val="1A1A1A"/>
                          </a:solidFill>
                          <a:latin typeface="Abadi"/>
                        </a:rPr>
                        <a:t>Conjugated bilirubin</a:t>
                      </a:r>
                    </a:p>
                  </a:txBody>
                  <a:tcPr anchor="ctr" marL="73152" marR="73152" marT="27432" marB="27432">
                    <a:solidFill>
                      <a:srgbClr val="F0F0F0"/>
                    </a:solidFill>
                  </a:tcPr>
                </a:tc>
                <a:tc>
                  <a:txBody>
                    <a:bodyPr wrap="square"/>
                    <a:lstStyle/>
                    <a:p>
                      <a:r>
                        <a:rPr sz="1000" b="0">
                          <a:solidFill>
                            <a:srgbClr val="1A1A1A"/>
                          </a:solidFill>
                          <a:latin typeface="Abadi"/>
                        </a:rPr>
                        <a:t>Stool and urine colour, FBC, blood group and DAT, urine culture, metabolic and thyroid screen</a:t>
                      </a:r>
                    </a:p>
                  </a:txBody>
                  <a:tcPr anchor="ctr" marL="73152" marR="73152" marT="27432" marB="27432">
                    <a:solidFill>
                      <a:srgbClr val="F0F0F0"/>
                    </a:solidFill>
                  </a:tcPr>
                </a:tc>
              </a:tr>
            </a:tbl>
          </a:graphicData>
        </a:graphic>
      </p:graphicFrame>
      <p:sp>
        <p:nvSpPr>
          <p:cNvPr id="13" name="TextBox 12"/>
          <p:cNvSpPr txBox="1"/>
          <p:nvPr/>
        </p:nvSpPr>
        <p:spPr>
          <a:xfrm>
            <a:off x="548640" y="4892040"/>
            <a:ext cx="11091672" cy="914400"/>
          </a:xfrm>
          <a:prstGeom prst="rect">
            <a:avLst/>
          </a:prstGeom>
          <a:noFill/>
        </p:spPr>
        <p:txBody>
          <a:bodyPr wrap="square" anchor="t" lIns="36576" rIns="36576" tIns="18288" bIns="18288">
            <a:spAutoFit/>
          </a:bodyPr>
          <a:lstStyle/>
          <a:p>
            <a:pPr algn="l"/>
            <a:r>
              <a:rPr sz="1250" b="0" i="0">
                <a:solidFill>
                  <a:srgbClr val="1A1A1A"/>
                </a:solidFill>
                <a:latin typeface="Abadi"/>
              </a:rPr>
              <a:t>The 2022 guideline lets a breastfed infant wait until four weeks; the 2025 report pulls the check earlier because Kasai before 30 days is the target.</a:t>
            </a:r>
          </a:p>
          <a:p>
            <a:pPr algn="l">
              <a:spcBef>
                <a:spcPts val="1000"/>
              </a:spcBef>
            </a:pPr>
            <a:r>
              <a:rPr sz="1250" b="1" i="1">
                <a:solidFill>
                  <a:srgbClr val="1A1A1A"/>
                </a:solidFill>
                <a:latin typeface="Abadi"/>
              </a:rPr>
              <a:t>In practice: fractionate at the two-week visit if the baby is yellow, and on the same day if the stool is pale.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THE CLOCK</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AGE AT KASAI PREDICTS THE NATIVE LIVER</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Four-year survival with native liver by age at Kasai portoenterostomy, Canada, 349 infants,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Schreiber RA, et al. J Pediatr 2007;151:659–65 · Serinet MO, et al. Pediatrics 2009;123:1280–6 · Okubo R, et al. World J Pediatr Surg 2025;8:e001024</a:t>
            </a:r>
          </a:p>
        </p:txBody>
      </p:sp>
      <p:sp>
        <p:nvSpPr>
          <p:cNvPr id="12" name="Rectangle 11"/>
          <p:cNvSpPr/>
          <p:nvPr/>
        </p:nvSpPr>
        <p:spPr>
          <a:xfrm>
            <a:off x="1325880" y="2718261"/>
            <a:ext cx="1005840" cy="2036618"/>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9661"/>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49%</a:t>
            </a:r>
          </a:p>
        </p:txBody>
      </p:sp>
      <p:sp>
        <p:nvSpPr>
          <p:cNvPr id="14" name="TextBox 13"/>
          <p:cNvSpPr txBox="1"/>
          <p:nvPr/>
        </p:nvSpPr>
        <p:spPr>
          <a:xfrm>
            <a:off x="9144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30 days or less</a:t>
            </a:r>
          </a:p>
        </p:txBody>
      </p:sp>
      <p:sp>
        <p:nvSpPr>
          <p:cNvPr id="15" name="Rectangle 14"/>
          <p:cNvSpPr/>
          <p:nvPr/>
        </p:nvSpPr>
        <p:spPr>
          <a:xfrm>
            <a:off x="3154680" y="3258589"/>
            <a:ext cx="1005840" cy="149629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3029989"/>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36%</a:t>
            </a:r>
          </a:p>
        </p:txBody>
      </p:sp>
      <p:sp>
        <p:nvSpPr>
          <p:cNvPr id="17" name="TextBox 16"/>
          <p:cNvSpPr txBox="1"/>
          <p:nvPr/>
        </p:nvSpPr>
        <p:spPr>
          <a:xfrm>
            <a:off x="27432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31–90 days</a:t>
            </a:r>
          </a:p>
        </p:txBody>
      </p:sp>
      <p:sp>
        <p:nvSpPr>
          <p:cNvPr id="18" name="Rectangle 17"/>
          <p:cNvSpPr/>
          <p:nvPr/>
        </p:nvSpPr>
        <p:spPr>
          <a:xfrm>
            <a:off x="4983480" y="3798916"/>
            <a:ext cx="1005840" cy="955963"/>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3570316"/>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23%</a:t>
            </a:r>
          </a:p>
        </p:txBody>
      </p:sp>
      <p:sp>
        <p:nvSpPr>
          <p:cNvPr id="20" name="TextBox 19"/>
          <p:cNvSpPr txBox="1"/>
          <p:nvPr/>
        </p:nvSpPr>
        <p:spPr>
          <a:xfrm>
            <a:off x="45720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Over 90 days</a:t>
            </a:r>
          </a:p>
        </p:txBody>
      </p:sp>
      <p:sp>
        <p:nvSpPr>
          <p:cNvPr id="21" name="Rectangle 20"/>
          <p:cNvSpPr/>
          <p:nvPr/>
        </p:nvSpPr>
        <p:spPr>
          <a:xfrm>
            <a:off x="914400" y="4754880"/>
            <a:ext cx="5486400"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1783080"/>
            <a:ext cx="4572000" cy="237744"/>
          </a:xfrm>
          <a:prstGeom prst="rect">
            <a:avLst/>
          </a:prstGeom>
          <a:noFill/>
        </p:spPr>
        <p:txBody>
          <a:bodyPr wrap="square" anchor="t" lIns="36576" rIns="36576" tIns="18288" bIns="18288">
            <a:spAutoFit/>
          </a:bodyPr>
          <a:lstStyle/>
          <a:p>
            <a:pPr algn="l"/>
            <a:r>
              <a:rPr sz="1000" b="0" i="0">
                <a:solidFill>
                  <a:srgbClr val="555555"/>
                </a:solidFill>
                <a:latin typeface="Abadi"/>
              </a:rPr>
              <a:t>%</a:t>
            </a:r>
          </a:p>
        </p:txBody>
      </p:sp>
      <p:sp>
        <p:nvSpPr>
          <p:cNvPr id="23" name="Rectangle 22"/>
          <p:cNvSpPr/>
          <p:nvPr/>
        </p:nvSpPr>
        <p:spPr>
          <a:xfrm>
            <a:off x="4155948" y="1819656"/>
            <a:ext cx="201168"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1980" y="1783080"/>
            <a:ext cx="2061972" cy="237744"/>
          </a:xfrm>
          <a:prstGeom prst="rect">
            <a:avLst/>
          </a:prstGeom>
          <a:noFill/>
        </p:spPr>
        <p:txBody>
          <a:bodyPr wrap="square" anchor="t" lIns="36576" rIns="36576" tIns="18288" bIns="18288">
            <a:spAutoFit/>
          </a:bodyPr>
          <a:lstStyle/>
          <a:p>
            <a:pPr algn="l"/>
            <a:r>
              <a:rPr sz="1000" b="0" i="0">
                <a:solidFill>
                  <a:srgbClr val="1A1A1A"/>
                </a:solidFill>
                <a:latin typeface="Abadi"/>
              </a:rPr>
              <a:t>Native liver at 4 years</a:t>
            </a:r>
          </a:p>
        </p:txBody>
      </p:sp>
      <p:sp>
        <p:nvSpPr>
          <p:cNvPr id="25" name="TextBox 24"/>
          <p:cNvSpPr txBox="1"/>
          <p:nvPr/>
        </p:nvSpPr>
        <p:spPr>
          <a:xfrm>
            <a:off x="7132320" y="1874519"/>
            <a:ext cx="4507992" cy="2926080"/>
          </a:xfrm>
          <a:prstGeom prst="rect">
            <a:avLst/>
          </a:prstGeom>
          <a:noFill/>
        </p:spPr>
        <p:txBody>
          <a:bodyPr wrap="square" anchor="t" lIns="36576" rIns="36576" tIns="18288" bIns="18288">
            <a:spAutoFit/>
          </a:bodyPr>
          <a:lstStyle/>
          <a:p>
            <a:pPr algn="l"/>
            <a:r>
              <a:rPr sz="1300" b="1" i="0">
                <a:solidFill>
                  <a:srgbClr val="2E5A88"/>
                </a:solidFill>
                <a:latin typeface="Abadi"/>
              </a:rPr>
              <a:t>France, 743 infants (Serinet 2009)</a:t>
            </a:r>
          </a:p>
          <a:p>
            <a:pPr algn="l">
              <a:spcBef>
                <a:spcPts val="600"/>
              </a:spcBef>
            </a:pPr>
            <a:r>
              <a:rPr sz="1200" b="0" i="0">
                <a:solidFill>
                  <a:srgbClr val="1A1A1A"/>
                </a:solidFill>
                <a:latin typeface="Abadi"/>
              </a:rPr>
              <a:t>Native-liver survival fell step by step across 15-day age bands; median Kasai age 60 days.</a:t>
            </a:r>
          </a:p>
          <a:p>
            <a:pPr algn="l">
              <a:spcBef>
                <a:spcPts val="600"/>
              </a:spcBef>
            </a:pPr>
            <a:r>
              <a:rPr sz="1200" b="0" i="0">
                <a:solidFill>
                  <a:srgbClr val="1A1A1A"/>
                </a:solidFill>
                <a:latin typeface="Abadi"/>
              </a:rPr>
              <a:t>Operating before day 46 could spare 5.7% of paediatric liver transplants a year.</a:t>
            </a:r>
          </a:p>
          <a:p>
            <a:pPr algn="l">
              <a:spcBef>
                <a:spcPts val="1000"/>
              </a:spcBef>
            </a:pPr>
            <a:r>
              <a:rPr sz="1300" b="1" i="0">
                <a:solidFill>
                  <a:srgbClr val="2E5A88"/>
                </a:solidFill>
                <a:latin typeface="Abadi"/>
              </a:rPr>
              <a:t>Japan, 3,951 infants (Okubo 2025)</a:t>
            </a:r>
          </a:p>
          <a:p>
            <a:pPr algn="l">
              <a:spcBef>
                <a:spcPts val="600"/>
              </a:spcBef>
            </a:pPr>
            <a:r>
              <a:rPr sz="1200" b="0" i="0">
                <a:solidFill>
                  <a:srgbClr val="1A1A1A"/>
                </a:solidFill>
                <a:latin typeface="Abadi"/>
              </a:rPr>
              <a:t>Native-liver survival 50.5% at 10 years and 40.9% at 30 years; mean Kasai age 65 days.</a:t>
            </a:r>
          </a:p>
        </p:txBody>
      </p:sp>
      <p:sp>
        <p:nvSpPr>
          <p:cNvPr id="26" name="TextBox 25"/>
          <p:cNvSpPr txBox="1"/>
          <p:nvPr/>
        </p:nvSpPr>
        <p:spPr>
          <a:xfrm>
            <a:off x="548640" y="507492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Every definition on the previous slides exists to move one operation earlier.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MOVING THE CLOCK</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SCREENING MOVES THE CLOCK</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Two-stage newborn direct or conjugated bilirubin screening, 14 Texas hospitals, 2015–2018</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Harpavat S, et al. JAMA 2020;323:1141–50 · Lacaille F, et al. JPGN 2024;78:1374–82</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124,385</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Newborns screened in the first days, then retested at about 2 weeks if above the cut-off</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100%</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Sensitivity for the 7 infants with atresia (95% CI 56.1–100); specificity 99.9%</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5.9%</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Positive predictive value: most screen-positive infants did not have atresia</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56 → 36</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Mean age at Kasai, days, before versus after screening</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Without screening, practice is slow: an ESPGHAN survey of 785 infants with atresia in 15 countries (2015–2019) found median referral at 53 days and Kasai at 60 days, and 6% too cirrhotic for surgery.</a:t>
            </a:r>
          </a:p>
          <a:p>
            <a:pPr algn="l">
              <a:spcBef>
                <a:spcPts val="1000"/>
              </a:spcBef>
            </a:pPr>
            <a:r>
              <a:rPr sz="1250" b="1" i="1">
                <a:solidFill>
                  <a:srgbClr val="1A1A1A"/>
                </a:solidFill>
                <a:latin typeface="Abadi"/>
              </a:rPr>
              <a:t>Screening and stool cards are tomorrow's subject; today's point is that the same 1.0 mg/dL logic works on day two.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WHAT THE DOCUMENTS SAY</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16</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2017 JPGN · Kemper 2022 Pediatrics · Harpavat 2025 Pediatrics · NICE CG98 · Mercadal-Hally 2025 · Verkade 2024 J Hepatol (EASL genetic cholestasis CPG) · UK NSC 2026</a:t>
            </a:r>
          </a:p>
        </p:txBody>
      </p:sp>
      <p:graphicFrame>
        <p:nvGraphicFramePr>
          <p:cNvPr id="11" name="Table 10"/>
          <p:cNvGraphicFramePr>
            <a:graphicFrameLocks noGrp="1"/>
          </p:cNvGraphicFramePr>
          <p:nvPr/>
        </p:nvGraphicFramePr>
        <p:xfrm>
          <a:off x="548640" y="1499616"/>
          <a:ext cx="11091672" cy="4041648"/>
        </p:xfrm>
        <a:graphic>
          <a:graphicData uri="http://schemas.openxmlformats.org/drawingml/2006/table">
            <a:tbl>
              <a:tblPr firstRow="0" bandRow="0">
                <a:tableStyleId>{5C22544A-7EE6-4342-B048-85BDC9FD1C3A}</a:tableStyleId>
              </a:tblPr>
              <a:tblGrid>
                <a:gridCol w="2103120"/>
                <a:gridCol w="3794760"/>
                <a:gridCol w="3794760"/>
                <a:gridCol w="1399032"/>
              </a:tblGrid>
              <a:tr h="420624">
                <a:tc>
                  <a:txBody>
                    <a:bodyPr wrap="square"/>
                    <a:lstStyle/>
                    <a:p>
                      <a:r>
                        <a:rPr sz="1200" b="1">
                          <a:solidFill>
                            <a:srgbClr val="FFFFFF"/>
                          </a:solidFill>
                          <a:latin typeface="Abadi"/>
                        </a:rPr>
                        <a:t>Question</a:t>
                      </a:r>
                    </a:p>
                  </a:txBody>
                  <a:tcPr anchor="ctr" marL="73152" marR="73152" marT="27432" marB="27432">
                    <a:solidFill>
                      <a:srgbClr val="1B355E"/>
                    </a:solidFill>
                  </a:tcPr>
                </a:tc>
                <a:tc>
                  <a:txBody>
                    <a:bodyPr wrap="square"/>
                    <a:lstStyle/>
                    <a:p>
                      <a:r>
                        <a:rPr sz="1200" b="1">
                          <a:solidFill>
                            <a:srgbClr val="FFFFFF"/>
                          </a:solidFill>
                          <a:latin typeface="Abadi"/>
                        </a:rPr>
                        <a:t>North America (NASPGHAN/ESPGHAN 2017 · AAP 2022, 2025)</a:t>
                      </a:r>
                    </a:p>
                  </a:txBody>
                  <a:tcPr anchor="ctr" marL="73152" marR="73152" marT="27432" marB="27432">
                    <a:solidFill>
                      <a:srgbClr val="1B355E"/>
                    </a:solidFill>
                  </a:tcPr>
                </a:tc>
                <a:tc>
                  <a:txBody>
                    <a:bodyPr wrap="square"/>
                    <a:lstStyle/>
                    <a:p>
                      <a:r>
                        <a:rPr sz="1200" b="1">
                          <a:solidFill>
                            <a:srgbClr val="FFFFFF"/>
                          </a:solidFill>
                          <a:latin typeface="Abadi"/>
                        </a:rPr>
                        <a:t>Europe and UK (ESPGHAN · NICE CG98 · Spanish 2025)</a:t>
                      </a:r>
                    </a:p>
                  </a:txBody>
                  <a:tcPr anchor="ctr" marL="73152" marR="73152" marT="27432" marB="27432">
                    <a:solidFill>
                      <a:srgbClr val="1B355E"/>
                    </a:solidFill>
                  </a:tcPr>
                </a:tc>
                <a:tc>
                  <a:txBody>
                    <a:bodyPr wrap="square"/>
                    <a:lstStyle/>
                    <a:p>
                      <a:r>
                        <a:rPr sz="1200" b="1">
                          <a:solidFill>
                            <a:srgbClr val="FFFFFF"/>
                          </a:solidFill>
                          <a:latin typeface="Abadi"/>
                        </a:rPr>
                        <a:t>Verdict</a:t>
                      </a:r>
                    </a:p>
                  </a:txBody>
                  <a:tcPr anchor="ctr" marL="73152" marR="73152" marT="27432" marB="27432">
                    <a:solidFill>
                      <a:srgbClr val="1B355E"/>
                    </a:solidFill>
                  </a:tcPr>
                </a:tc>
              </a:tr>
              <a:tr h="402336">
                <a:tc>
                  <a:txBody>
                    <a:bodyPr wrap="square"/>
                    <a:lstStyle/>
                    <a:p>
                      <a:r>
                        <a:rPr sz="950" b="1">
                          <a:solidFill>
                            <a:srgbClr val="1A1A1A"/>
                          </a:solidFill>
                          <a:latin typeface="Abadi"/>
                        </a:rPr>
                        <a:t>Threshold</a:t>
                      </a:r>
                    </a:p>
                  </a:txBody>
                  <a:tcPr anchor="ctr" marL="73152" marR="73152" marT="27432" marB="27432">
                    <a:solidFill>
                      <a:srgbClr val="FFFFFF"/>
                    </a:solidFill>
                  </a:tcPr>
                </a:tc>
                <a:tc>
                  <a:txBody>
                    <a:bodyPr wrap="square"/>
                    <a:lstStyle/>
                    <a:p>
                      <a:r>
                        <a:rPr sz="950" b="0">
                          <a:solidFill>
                            <a:srgbClr val="1A1A1A"/>
                          </a:solidFill>
                          <a:latin typeface="Abadi"/>
                        </a:rPr>
                        <a:t>Above 1.0 mg/dL (17 µmol/L)</a:t>
                      </a:r>
                    </a:p>
                  </a:txBody>
                  <a:tcPr anchor="ctr" marL="73152" marR="73152" marT="27432" marB="27432">
                    <a:solidFill>
                      <a:srgbClr val="FFFFFF"/>
                    </a:solidFill>
                  </a:tcPr>
                </a:tc>
                <a:tc>
                  <a:txBody>
                    <a:bodyPr wrap="square"/>
                    <a:lstStyle/>
                    <a:p>
                      <a:r>
                        <a:rPr sz="950" b="0">
                          <a:solidFill>
                            <a:srgbClr val="1A1A1A"/>
                          </a:solidFill>
                          <a:latin typeface="Abadi"/>
                        </a:rPr>
                        <a:t>NICE: above 25 µmol/L; Spain: 1 mg/dL</a:t>
                      </a:r>
                    </a:p>
                  </a:txBody>
                  <a:tcPr anchor="ctr" marL="73152" marR="73152" marT="27432" marB="27432">
                    <a:solidFill>
                      <a:srgbClr val="FFFFFF"/>
                    </a:solidFill>
                  </a:tcPr>
                </a:tc>
                <a:tc>
                  <a:txBody>
                    <a:bodyPr wrap="square"/>
                    <a:lstStyle/>
                    <a:p>
                      <a:pPr algn="ctr"/>
                      <a:r>
                        <a:rPr sz="950" b="1">
                          <a:solidFill>
                            <a:srgbClr val="FFFFFF"/>
                          </a:solidFill>
                          <a:latin typeface="Abadi"/>
                        </a:rPr>
                        <a:t>DIFFERS</a:t>
                      </a:r>
                    </a:p>
                  </a:txBody>
                  <a:tcPr anchor="ctr" marL="73152" marR="73152" marT="27432" marB="27432">
                    <a:solidFill>
                      <a:srgbClr val="D97A0B"/>
                    </a:solidFill>
                  </a:tcPr>
                </a:tc>
              </a:tr>
              <a:tr h="402336">
                <a:tc>
                  <a:txBody>
                    <a:bodyPr wrap="square"/>
                    <a:lstStyle/>
                    <a:p>
                      <a:r>
                        <a:rPr sz="950" b="1">
                          <a:solidFill>
                            <a:srgbClr val="1A1A1A"/>
                          </a:solidFill>
                          <a:latin typeface="Abadi"/>
                        </a:rPr>
                        <a:t>20% of total</a:t>
                      </a:r>
                    </a:p>
                  </a:txBody>
                  <a:tcPr anchor="ctr" marL="73152" marR="73152" marT="27432" marB="27432">
                    <a:solidFill>
                      <a:srgbClr val="F0F0F0"/>
                    </a:solidFill>
                  </a:tcPr>
                </a:tc>
                <a:tc>
                  <a:txBody>
                    <a:bodyPr wrap="square"/>
                    <a:lstStyle/>
                    <a:p>
                      <a:r>
                        <a:rPr sz="950" b="0">
                          <a:solidFill>
                            <a:srgbClr val="1A1A1A"/>
                          </a:solidFill>
                          <a:latin typeface="Abadi"/>
                        </a:rPr>
                        <a:t>Dropped (2017, 2022)</a:t>
                      </a:r>
                    </a:p>
                  </a:txBody>
                  <a:tcPr anchor="ctr" marL="73152" marR="73152" marT="27432" marB="27432">
                    <a:solidFill>
                      <a:srgbClr val="F0F0F0"/>
                    </a:solidFill>
                  </a:tcPr>
                </a:tc>
                <a:tc>
                  <a:txBody>
                    <a:bodyPr wrap="square"/>
                    <a:lstStyle/>
                    <a:p>
                      <a:r>
                        <a:rPr sz="950" b="0">
                          <a:solidFill>
                            <a:srgbClr val="1A1A1A"/>
                          </a:solidFill>
                          <a:latin typeface="Abadi"/>
                        </a:rPr>
                        <a:t>Spain 2025 keeps it</a:t>
                      </a:r>
                    </a:p>
                  </a:txBody>
                  <a:tcPr anchor="ctr" marL="73152" marR="73152" marT="27432" marB="27432">
                    <a:solidFill>
                      <a:srgbClr val="F0F0F0"/>
                    </a:solidFill>
                  </a:tcPr>
                </a:tc>
                <a:tc>
                  <a:txBody>
                    <a:bodyPr wrap="square"/>
                    <a:lstStyle/>
                    <a:p>
                      <a:pPr algn="ctr"/>
                      <a:r>
                        <a:rPr sz="950" b="1">
                          <a:solidFill>
                            <a:srgbClr val="FFFFFF"/>
                          </a:solidFill>
                          <a:latin typeface="Abadi"/>
                        </a:rPr>
                        <a:t>DIFFERS</a:t>
                      </a:r>
                    </a:p>
                  </a:txBody>
                  <a:tcPr anchor="ctr" marL="73152" marR="73152" marT="27432" marB="27432">
                    <a:solidFill>
                      <a:srgbClr val="D97A0B"/>
                    </a:solidFill>
                  </a:tcPr>
                </a:tc>
              </a:tr>
              <a:tr h="402336">
                <a:tc>
                  <a:txBody>
                    <a:bodyPr wrap="square"/>
                    <a:lstStyle/>
                    <a:p>
                      <a:r>
                        <a:rPr sz="950" b="1">
                          <a:solidFill>
                            <a:srgbClr val="1A1A1A"/>
                          </a:solidFill>
                          <a:latin typeface="Abadi"/>
                        </a:rPr>
                        <a:t>Formula-fed timing</a:t>
                      </a:r>
                    </a:p>
                  </a:txBody>
                  <a:tcPr anchor="ctr" marL="73152" marR="73152" marT="27432" marB="27432">
                    <a:solidFill>
                      <a:srgbClr val="FFFFFF"/>
                    </a:solidFill>
                  </a:tcPr>
                </a:tc>
                <a:tc>
                  <a:txBody>
                    <a:bodyPr wrap="square"/>
                    <a:lstStyle/>
                    <a:p>
                      <a:r>
                        <a:rPr sz="950" b="0">
                          <a:solidFill>
                            <a:srgbClr val="1A1A1A"/>
                          </a:solidFill>
                          <a:latin typeface="Abadi"/>
                        </a:rPr>
                        <a:t>Jaundiced at 2 weeks</a:t>
                      </a:r>
                    </a:p>
                  </a:txBody>
                  <a:tcPr anchor="ctr" marL="73152" marR="73152" marT="27432" marB="27432">
                    <a:solidFill>
                      <a:srgbClr val="FFFFFF"/>
                    </a:solidFill>
                  </a:tcPr>
                </a:tc>
                <a:tc>
                  <a:txBody>
                    <a:bodyPr wrap="square"/>
                    <a:lstStyle/>
                    <a:p>
                      <a:r>
                        <a:rPr sz="950" b="0">
                          <a:solidFill>
                            <a:srgbClr val="1A1A1A"/>
                          </a:solidFill>
                          <a:latin typeface="Abadi"/>
                        </a:rPr>
                        <a:t>NICE: more than 14 days at term</a:t>
                      </a:r>
                    </a:p>
                  </a:txBody>
                  <a:tcPr anchor="ctr" marL="73152" marR="73152" marT="27432" marB="27432">
                    <a:solidFill>
                      <a:srgbClr val="FFFFFF"/>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r h="402336">
                <a:tc>
                  <a:txBody>
                    <a:bodyPr wrap="square"/>
                    <a:lstStyle/>
                    <a:p>
                      <a:r>
                        <a:rPr sz="950" b="1">
                          <a:solidFill>
                            <a:srgbClr val="1A1A1A"/>
                          </a:solidFill>
                          <a:latin typeface="Abadi"/>
                        </a:rPr>
                        <a:t>Breastfed timing</a:t>
                      </a:r>
                    </a:p>
                  </a:txBody>
                  <a:tcPr anchor="ctr" marL="73152" marR="73152" marT="27432" marB="27432">
                    <a:solidFill>
                      <a:srgbClr val="F0F0F0"/>
                    </a:solidFill>
                  </a:tcPr>
                </a:tc>
                <a:tc>
                  <a:txBody>
                    <a:bodyPr wrap="square"/>
                    <a:lstStyle/>
                    <a:p>
                      <a:r>
                        <a:rPr sz="950" b="0">
                          <a:solidFill>
                            <a:srgbClr val="1A1A1A"/>
                          </a:solidFill>
                          <a:latin typeface="Abadi"/>
                        </a:rPr>
                        <a:t>2017: by 3 weeks; AAP 2022: 3–4 weeks</a:t>
                      </a:r>
                    </a:p>
                  </a:txBody>
                  <a:tcPr anchor="ctr" marL="73152" marR="73152" marT="27432" marB="27432">
                    <a:solidFill>
                      <a:srgbClr val="F0F0F0"/>
                    </a:solidFill>
                  </a:tcPr>
                </a:tc>
                <a:tc>
                  <a:txBody>
                    <a:bodyPr wrap="square"/>
                    <a:lstStyle/>
                    <a:p>
                      <a:r>
                        <a:rPr sz="950" b="0">
                          <a:solidFill>
                            <a:srgbClr val="1A1A1A"/>
                          </a:solidFill>
                          <a:latin typeface="Abadi"/>
                        </a:rPr>
                        <a:t>NICE: 14 days, all feeding types</a:t>
                      </a:r>
                    </a:p>
                  </a:txBody>
                  <a:tcPr anchor="ctr" marL="73152" marR="73152" marT="27432" marB="27432">
                    <a:solidFill>
                      <a:srgbClr val="F0F0F0"/>
                    </a:solidFill>
                  </a:tcPr>
                </a:tc>
                <a:tc>
                  <a:txBody>
                    <a:bodyPr wrap="square"/>
                    <a:lstStyle/>
                    <a:p>
                      <a:pPr algn="ctr"/>
                      <a:r>
                        <a:rPr sz="950" b="1">
                          <a:solidFill>
                            <a:srgbClr val="FFFFFF"/>
                          </a:solidFill>
                          <a:latin typeface="Abadi"/>
                        </a:rPr>
                        <a:t>MATERIAL</a:t>
                      </a:r>
                    </a:p>
                  </a:txBody>
                  <a:tcPr anchor="ctr" marL="73152" marR="73152" marT="27432" marB="27432">
                    <a:solidFill>
                      <a:srgbClr val="B22222"/>
                    </a:solidFill>
                  </a:tcPr>
                </a:tc>
              </a:tr>
              <a:tr h="402336">
                <a:tc>
                  <a:txBody>
                    <a:bodyPr wrap="square"/>
                    <a:lstStyle/>
                    <a:p>
                      <a:r>
                        <a:rPr sz="950" b="1">
                          <a:solidFill>
                            <a:srgbClr val="1A1A1A"/>
                          </a:solidFill>
                          <a:latin typeface="Abadi"/>
                        </a:rPr>
                        <a:t>Preferred assay</a:t>
                      </a:r>
                    </a:p>
                  </a:txBody>
                  <a:tcPr anchor="ctr" marL="73152" marR="73152" marT="27432" marB="27432">
                    <a:solidFill>
                      <a:srgbClr val="FFFFFF"/>
                    </a:solidFill>
                  </a:tcPr>
                </a:tc>
                <a:tc>
                  <a:txBody>
                    <a:bodyPr wrap="square"/>
                    <a:lstStyle/>
                    <a:p>
                      <a:r>
                        <a:rPr sz="950" b="0">
                          <a:solidFill>
                            <a:srgbClr val="1A1A1A"/>
                          </a:solidFill>
                          <a:latin typeface="Abadi"/>
                        </a:rPr>
                        <a:t>Conjugated where available</a:t>
                      </a:r>
                    </a:p>
                  </a:txBody>
                  <a:tcPr anchor="ctr" marL="73152" marR="73152" marT="27432" marB="27432">
                    <a:solidFill>
                      <a:srgbClr val="FFFFFF"/>
                    </a:solidFill>
                  </a:tcPr>
                </a:tc>
                <a:tc>
                  <a:txBody>
                    <a:bodyPr wrap="square"/>
                    <a:lstStyle/>
                    <a:p>
                      <a:r>
                        <a:rPr sz="950" b="0">
                          <a:solidFill>
                            <a:srgbClr val="1A1A1A"/>
                          </a:solidFill>
                          <a:latin typeface="Abadi"/>
                        </a:rPr>
                        <a:t>NICE: conjugated</a:t>
                      </a:r>
                    </a:p>
                  </a:txBody>
                  <a:tcPr anchor="ctr" marL="73152" marR="73152" marT="27432" marB="27432">
                    <a:solidFill>
                      <a:srgbClr val="FFFFFF"/>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r h="402336">
                <a:tc>
                  <a:txBody>
                    <a:bodyPr wrap="square"/>
                    <a:lstStyle/>
                    <a:p>
                      <a:r>
                        <a:rPr sz="950" b="1">
                          <a:solidFill>
                            <a:srgbClr val="1A1A1A"/>
                          </a:solidFill>
                          <a:latin typeface="Abadi"/>
                        </a:rPr>
                        <a:t>Stool colour</a:t>
                      </a:r>
                    </a:p>
                  </a:txBody>
                  <a:tcPr anchor="ctr" marL="73152" marR="73152" marT="27432" marB="27432">
                    <a:solidFill>
                      <a:srgbClr val="F0F0F0"/>
                    </a:solidFill>
                  </a:tcPr>
                </a:tc>
                <a:tc>
                  <a:txBody>
                    <a:bodyPr wrap="square"/>
                    <a:lstStyle/>
                    <a:p>
                      <a:r>
                        <a:rPr sz="950" b="0">
                          <a:solidFill>
                            <a:srgbClr val="1A1A1A"/>
                          </a:solidFill>
                          <a:latin typeface="Abadi"/>
                        </a:rPr>
                        <a:t>Pale stool at any age triggers testing</a:t>
                      </a:r>
                    </a:p>
                  </a:txBody>
                  <a:tcPr anchor="ctr" marL="73152" marR="73152" marT="27432" marB="27432">
                    <a:solidFill>
                      <a:srgbClr val="F0F0F0"/>
                    </a:solidFill>
                  </a:tcPr>
                </a:tc>
                <a:tc>
                  <a:txBody>
                    <a:bodyPr wrap="square"/>
                    <a:lstStyle/>
                    <a:p>
                      <a:r>
                        <a:rPr sz="950" b="0">
                          <a:solidFill>
                            <a:srgbClr val="1A1A1A"/>
                          </a:solidFill>
                          <a:latin typeface="Abadi"/>
                        </a:rPr>
                        <a:t>NICE: ask at 14 days; cards piloted</a:t>
                      </a:r>
                    </a:p>
                  </a:txBody>
                  <a:tcPr anchor="ctr" marL="73152" marR="73152" marT="27432" marB="27432">
                    <a:solidFill>
                      <a:srgbClr val="F0F0F0"/>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r h="402336">
                <a:tc>
                  <a:txBody>
                    <a:bodyPr wrap="square"/>
                    <a:lstStyle/>
                    <a:p>
                      <a:r>
                        <a:rPr sz="950" b="1">
                          <a:solidFill>
                            <a:srgbClr val="1A1A1A"/>
                          </a:solidFill>
                          <a:latin typeface="Abadi"/>
                        </a:rPr>
                        <a:t>Preterm infants</a:t>
                      </a:r>
                    </a:p>
                  </a:txBody>
                  <a:tcPr anchor="ctr" marL="73152" marR="73152" marT="27432" marB="27432">
                    <a:solidFill>
                      <a:srgbClr val="FFFFFF"/>
                    </a:solidFill>
                  </a:tcPr>
                </a:tc>
                <a:tc>
                  <a:txBody>
                    <a:bodyPr wrap="square"/>
                    <a:lstStyle/>
                    <a:p>
                      <a:r>
                        <a:rPr sz="950" b="0">
                          <a:solidFill>
                            <a:srgbClr val="1A1A1A"/>
                          </a:solidFill>
                          <a:latin typeface="Abadi"/>
                        </a:rPr>
                        <a:t>No separate timing</a:t>
                      </a:r>
                    </a:p>
                  </a:txBody>
                  <a:tcPr anchor="ctr" marL="73152" marR="73152" marT="27432" marB="27432">
                    <a:solidFill>
                      <a:srgbClr val="FFFFFF"/>
                    </a:solidFill>
                  </a:tcPr>
                </a:tc>
                <a:tc>
                  <a:txBody>
                    <a:bodyPr wrap="square"/>
                    <a:lstStyle/>
                    <a:p>
                      <a:r>
                        <a:rPr sz="950" b="0">
                          <a:solidFill>
                            <a:srgbClr val="1A1A1A"/>
                          </a:solidFill>
                          <a:latin typeface="Abadi"/>
                        </a:rPr>
                        <a:t>NICE: more than 21 days</a:t>
                      </a:r>
                    </a:p>
                  </a:txBody>
                  <a:tcPr anchor="ctr" marL="73152" marR="73152" marT="27432" marB="27432">
                    <a:solidFill>
                      <a:srgbClr val="FFFFFF"/>
                    </a:solidFill>
                  </a:tcPr>
                </a:tc>
                <a:tc>
                  <a:txBody>
                    <a:bodyPr wrap="square"/>
                    <a:lstStyle/>
                    <a:p>
                      <a:pPr algn="ctr"/>
                      <a:r>
                        <a:rPr sz="950" b="1">
                          <a:solidFill>
                            <a:srgbClr val="FFFFFF"/>
                          </a:solidFill>
                          <a:latin typeface="Abadi"/>
                        </a:rPr>
                        <a:t>GAP</a:t>
                      </a:r>
                    </a:p>
                  </a:txBody>
                  <a:tcPr anchor="ctr" marL="73152" marR="73152" marT="27432" marB="27432">
                    <a:solidFill>
                      <a:srgbClr val="7F7F7F"/>
                    </a:solidFill>
                  </a:tcPr>
                </a:tc>
              </a:tr>
              <a:tr h="402336">
                <a:tc>
                  <a:txBody>
                    <a:bodyPr wrap="square"/>
                    <a:lstStyle/>
                    <a:p>
                      <a:r>
                        <a:rPr sz="950" b="1">
                          <a:solidFill>
                            <a:srgbClr val="1A1A1A"/>
                          </a:solidFill>
                          <a:latin typeface="Abadi"/>
                        </a:rPr>
                        <a:t>Adult societies</a:t>
                      </a:r>
                    </a:p>
                  </a:txBody>
                  <a:tcPr anchor="ctr" marL="73152" marR="73152" marT="27432" marB="27432">
                    <a:solidFill>
                      <a:srgbClr val="F0F0F0"/>
                    </a:solidFill>
                  </a:tcPr>
                </a:tc>
                <a:tc>
                  <a:txBody>
                    <a:bodyPr wrap="square"/>
                    <a:lstStyle/>
                    <a:p>
                      <a:r>
                        <a:rPr sz="950" b="0">
                          <a:solidFill>
                            <a:srgbClr val="1A1A1A"/>
                          </a:solidFill>
                          <a:latin typeface="Abadi"/>
                        </a:rPr>
                        <a:t>AASLD: no infant cholestasis guidance</a:t>
                      </a:r>
                    </a:p>
                  </a:txBody>
                  <a:tcPr anchor="ctr" marL="73152" marR="73152" marT="27432" marB="27432">
                    <a:solidFill>
                      <a:srgbClr val="F0F0F0"/>
                    </a:solidFill>
                  </a:tcPr>
                </a:tc>
                <a:tc>
                  <a:txBody>
                    <a:bodyPr wrap="square"/>
                    <a:lstStyle/>
                    <a:p>
                      <a:r>
                        <a:rPr sz="950" b="0">
                          <a:solidFill>
                            <a:srgbClr val="1A1A1A"/>
                          </a:solidFill>
                          <a:latin typeface="Abadi"/>
                        </a:rPr>
                        <a:t>EASL 2024 CPG: genetic disease, not first assessment</a:t>
                      </a:r>
                    </a:p>
                  </a:txBody>
                  <a:tcPr anchor="ctr" marL="73152" marR="73152" marT="27432" marB="27432">
                    <a:solidFill>
                      <a:srgbClr val="F0F0F0"/>
                    </a:solidFill>
                  </a:tcPr>
                </a:tc>
                <a:tc>
                  <a:txBody>
                    <a:bodyPr wrap="square"/>
                    <a:lstStyle/>
                    <a:p>
                      <a:pPr algn="ctr"/>
                      <a:r>
                        <a:rPr sz="950" b="1">
                          <a:solidFill>
                            <a:srgbClr val="FFFFFF"/>
                          </a:solidFill>
                          <a:latin typeface="Abadi"/>
                        </a:rPr>
                        <a:t>GAP</a:t>
                      </a:r>
                    </a:p>
                  </a:txBody>
                  <a:tcPr anchor="ctr" marL="73152" marR="73152" marT="27432" marB="27432">
                    <a:solidFill>
                      <a:srgbClr val="7F7F7F"/>
                    </a:solidFill>
                  </a:tcPr>
                </a:tc>
              </a:tr>
              <a:tr h="402336">
                <a:tc>
                  <a:txBody>
                    <a:bodyPr wrap="square"/>
                    <a:lstStyle/>
                    <a:p>
                      <a:r>
                        <a:rPr sz="950" b="1">
                          <a:solidFill>
                            <a:srgbClr val="1A1A1A"/>
                          </a:solidFill>
                          <a:latin typeface="Abadi"/>
                        </a:rPr>
                        <a:t>Universal newborn screening</a:t>
                      </a:r>
                    </a:p>
                  </a:txBody>
                  <a:tcPr anchor="ctr" marL="73152" marR="73152" marT="27432" marB="27432">
                    <a:solidFill>
                      <a:srgbClr val="FFFFFF"/>
                    </a:solidFill>
                  </a:tcPr>
                </a:tc>
                <a:tc>
                  <a:txBody>
                    <a:bodyPr wrap="square"/>
                    <a:lstStyle/>
                    <a:p>
                      <a:r>
                        <a:rPr sz="950" b="0">
                          <a:solidFill>
                            <a:srgbClr val="1A1A1A"/>
                          </a:solidFill>
                          <a:latin typeface="Abadi"/>
                        </a:rPr>
                        <a:t>Not recommended by any guideline</a:t>
                      </a:r>
                    </a:p>
                  </a:txBody>
                  <a:tcPr anchor="ctr" marL="73152" marR="73152" marT="27432" marB="27432">
                    <a:solidFill>
                      <a:srgbClr val="FFFFFF"/>
                    </a:solidFill>
                  </a:tcPr>
                </a:tc>
                <a:tc>
                  <a:txBody>
                    <a:bodyPr wrap="square"/>
                    <a:lstStyle/>
                    <a:p>
                      <a:r>
                        <a:rPr sz="950" b="0">
                          <a:solidFill>
                            <a:srgbClr val="1A1A1A"/>
                          </a:solidFill>
                          <a:latin typeface="Abadi"/>
                        </a:rPr>
                        <a:t>UK NSC: not recommended (2026 consultation)</a:t>
                      </a:r>
                    </a:p>
                  </a:txBody>
                  <a:tcPr anchor="ctr" marL="73152" marR="73152" marT="27432" marB="27432">
                    <a:solidFill>
                      <a:srgbClr val="FFFFFF"/>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bl>
          </a:graphicData>
        </a:graphic>
      </p:graphicFrame>
      <p:sp>
        <p:nvSpPr>
          <p:cNvPr id="12" name="TextBox 11"/>
          <p:cNvSpPr txBox="1"/>
          <p:nvPr/>
        </p:nvSpPr>
        <p:spPr>
          <a:xfrm>
            <a:off x="548640" y="5532120"/>
            <a:ext cx="11091672" cy="320040"/>
          </a:xfrm>
          <a:prstGeom prst="rect">
            <a:avLst/>
          </a:prstGeom>
          <a:noFill/>
        </p:spPr>
        <p:txBody>
          <a:bodyPr wrap="square" anchor="t" lIns="36576" rIns="36576" tIns="18288" bIns="18288">
            <a:spAutoFit/>
          </a:bodyPr>
          <a:lstStyle/>
          <a:p>
            <a:pPr algn="l"/>
            <a:r>
              <a:rPr sz="1250" b="1" i="1">
                <a:solidFill>
                  <a:srgbClr val="1A1A1A"/>
                </a:solidFill>
                <a:latin typeface="Abadi"/>
              </a:rPr>
              <a:t>The material difference is the breastfed infant: a four-week window can push Kasai past 30 days.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X</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EIGHT THINGS TO REMEMBER</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17</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Dick &amp; Mowat 1985 · Gottesman 2015 · Harpavat 2011, 2020 · Davis 2011 · Maisels 2014 · Schreiber 2007 · Sveger 1976 · Kemper 2022 · Fawaz 2017</a:t>
            </a:r>
          </a:p>
        </p:txBody>
      </p:sp>
      <p:sp>
        <p:nvSpPr>
          <p:cNvPr id="11" name="TextBox 10"/>
          <p:cNvSpPr txBox="1"/>
          <p:nvPr/>
        </p:nvSpPr>
        <p:spPr>
          <a:xfrm>
            <a:off x="548640" y="1545336"/>
            <a:ext cx="11091672" cy="4206240"/>
          </a:xfrm>
          <a:prstGeom prst="rect">
            <a:avLst/>
          </a:prstGeom>
          <a:noFill/>
        </p:spPr>
        <p:txBody>
          <a:bodyPr wrap="square" anchor="t" lIns="36576" rIns="36576" tIns="18288" bIns="18288">
            <a:spAutoFit/>
          </a:bodyPr>
          <a:lstStyle/>
          <a:p>
            <a:pPr algn="l"/>
            <a:r>
              <a:rPr sz="1450" b="0" i="0">
                <a:solidFill>
                  <a:srgbClr val="1A1A1A"/>
                </a:solidFill>
                <a:latin typeface="Abadi"/>
              </a:rPr>
              <a:t>▪  Neonatal cholestasis affects about 1 in 2,500 term infants, and about 2% of NICU admissions.</a:t>
            </a:r>
          </a:p>
          <a:p>
            <a:pPr algn="l">
              <a:spcBef>
                <a:spcPts val="900"/>
              </a:spcBef>
            </a:pPr>
            <a:r>
              <a:rPr sz="1450" b="0" i="0">
                <a:solidFill>
                  <a:srgbClr val="1A1A1A"/>
                </a:solidFill>
                <a:latin typeface="Abadi"/>
              </a:rPr>
              <a:t>▪  Conjugated or direct bilirubin above 1.0 mg/dL is abnormal at any total; the 20% rule missed 79% of atresia on day two.</a:t>
            </a:r>
          </a:p>
          <a:p>
            <a:pPr algn="l">
              <a:spcBef>
                <a:spcPts val="900"/>
              </a:spcBef>
            </a:pPr>
            <a:r>
              <a:rPr sz="1450" b="0" i="0">
                <a:solidFill>
                  <a:srgbClr val="1A1A1A"/>
                </a:solidFill>
                <a:latin typeface="Abadi"/>
              </a:rPr>
              <a:t>▪  Direct is not conjugated: newborn 99th centiles are 2.1 versus 0.5 mg/dL.</a:t>
            </a:r>
          </a:p>
          <a:p>
            <a:pPr algn="l">
              <a:spcBef>
                <a:spcPts val="900"/>
              </a:spcBef>
            </a:pPr>
            <a:r>
              <a:rPr sz="1450" b="0" i="0">
                <a:solidFill>
                  <a:srgbClr val="1A1A1A"/>
                </a:solidFill>
                <a:latin typeface="Abadi"/>
              </a:rPr>
              <a:t>▪  Delta bilirubin has a half-life of about 21 days, so 'direct' falls slowly after a successful Kasai.</a:t>
            </a:r>
          </a:p>
          <a:p>
            <a:pPr algn="l">
              <a:spcBef>
                <a:spcPts val="900"/>
              </a:spcBef>
            </a:pPr>
            <a:r>
              <a:rPr sz="1450" b="0" i="0">
                <a:solidFill>
                  <a:srgbClr val="1A1A1A"/>
                </a:solidFill>
                <a:latin typeface="Abadi"/>
              </a:rPr>
              <a:t>▪  A third of breastfed infants are visibly jaundiced at 3 weeks; only a blood test separates them.</a:t>
            </a:r>
          </a:p>
          <a:p>
            <a:pPr algn="l">
              <a:spcBef>
                <a:spcPts val="900"/>
              </a:spcBef>
            </a:pPr>
            <a:r>
              <a:rPr sz="1450" b="0" i="0">
                <a:solidFill>
                  <a:srgbClr val="1A1A1A"/>
                </a:solidFill>
                <a:latin typeface="Abadi"/>
              </a:rPr>
              <a:t>▪  Atresia and idiopathic hepatitis are a quarter each; infection, PN, metabolic and A1AT make most of the rest.</a:t>
            </a:r>
          </a:p>
          <a:p>
            <a:pPr algn="l">
              <a:spcBef>
                <a:spcPts val="900"/>
              </a:spcBef>
            </a:pPr>
            <a:r>
              <a:rPr sz="1450" b="0" i="0">
                <a:solidFill>
                  <a:srgbClr val="1A1A1A"/>
                </a:solidFill>
                <a:latin typeface="Abadi"/>
              </a:rPr>
              <a:t>▪  Biliary atresia is three to six times commoner in Taiwan, French Polynesia and among Māori infants.</a:t>
            </a:r>
          </a:p>
          <a:p>
            <a:pPr algn="l">
              <a:spcBef>
                <a:spcPts val="900"/>
              </a:spcBef>
            </a:pPr>
            <a:r>
              <a:rPr sz="1450" b="0" i="0">
                <a:solidFill>
                  <a:srgbClr val="1A1A1A"/>
                </a:solidFill>
                <a:latin typeface="Abadi"/>
              </a:rPr>
              <a:t>▪  Native-liver survival at 4 years falls from 49% (Kasai by 30 days) to 23% (after 90 days).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X</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SYNTHESIS — SCENARIO TO PLAN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FROM SCENARIO TO DECISION</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18</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Fawaz 2017 · Kemper 2022 · Harpavat 2011, 2025 · Davis 2011 · Maisels 2014 · NICE CG98</a:t>
            </a:r>
          </a:p>
        </p:txBody>
      </p:sp>
      <p:graphicFrame>
        <p:nvGraphicFramePr>
          <p:cNvPr id="11" name="Table 10"/>
          <p:cNvGraphicFramePr>
            <a:graphicFrameLocks noGrp="1"/>
          </p:cNvGraphicFramePr>
          <p:nvPr/>
        </p:nvGraphicFramePr>
        <p:xfrm>
          <a:off x="548640" y="1499616"/>
          <a:ext cx="11091672" cy="4133088"/>
        </p:xfrm>
        <a:graphic>
          <a:graphicData uri="http://schemas.openxmlformats.org/drawingml/2006/table">
            <a:tbl>
              <a:tblPr firstRow="0" bandRow="0">
                <a:tableStyleId>{5C22544A-7EE6-4342-B048-85BDC9FD1C3A}</a:tableStyleId>
              </a:tblPr>
              <a:tblGrid>
                <a:gridCol w="2926080"/>
                <a:gridCol w="2377440"/>
                <a:gridCol w="2743200"/>
                <a:gridCol w="3044952"/>
              </a:tblGrid>
              <a:tr h="420624">
                <a:tc>
                  <a:txBody>
                    <a:bodyPr wrap="square"/>
                    <a:lstStyle/>
                    <a:p>
                      <a:r>
                        <a:rPr sz="1200" b="1">
                          <a:solidFill>
                            <a:srgbClr val="FFFFFF"/>
                          </a:solidFill>
                          <a:latin typeface="Abadi"/>
                        </a:rPr>
                        <a:t>Scenario</a:t>
                      </a:r>
                    </a:p>
                  </a:txBody>
                  <a:tcPr anchor="ctr" marL="73152" marR="73152" marT="27432" marB="27432">
                    <a:solidFill>
                      <a:srgbClr val="1B355E"/>
                    </a:solidFill>
                  </a:tcPr>
                </a:tc>
                <a:tc>
                  <a:txBody>
                    <a:bodyPr wrap="square"/>
                    <a:lstStyle/>
                    <a:p>
                      <a:r>
                        <a:rPr sz="1200" b="1">
                          <a:solidFill>
                            <a:srgbClr val="FFFFFF"/>
                          </a:solidFill>
                          <a:latin typeface="Abadi"/>
                        </a:rPr>
                        <a:t>Measure</a:t>
                      </a:r>
                    </a:p>
                  </a:txBody>
                  <a:tcPr anchor="ctr" marL="73152" marR="73152" marT="27432" marB="27432">
                    <a:solidFill>
                      <a:srgbClr val="1B355E"/>
                    </a:solidFill>
                  </a:tcPr>
                </a:tc>
                <a:tc>
                  <a:txBody>
                    <a:bodyPr wrap="square"/>
                    <a:lstStyle/>
                    <a:p>
                      <a:r>
                        <a:rPr sz="1200" b="1">
                          <a:solidFill>
                            <a:srgbClr val="FFFFFF"/>
                          </a:solidFill>
                          <a:latin typeface="Abadi"/>
                        </a:rPr>
                        <a:t>Read as</a:t>
                      </a:r>
                    </a:p>
                  </a:txBody>
                  <a:tcPr anchor="ctr" marL="73152" marR="73152" marT="27432" marB="27432">
                    <a:solidFill>
                      <a:srgbClr val="1B355E"/>
                    </a:solidFill>
                  </a:tcPr>
                </a:tc>
                <a:tc>
                  <a:txBody>
                    <a:bodyPr wrap="square"/>
                    <a:lstStyle/>
                    <a:p>
                      <a:r>
                        <a:rPr sz="1200" b="1">
                          <a:solidFill>
                            <a:srgbClr val="FFFFFF"/>
                          </a:solidFill>
                          <a:latin typeface="Abadi"/>
                        </a:rPr>
                        <a:t>Do</a:t>
                      </a:r>
                    </a:p>
                  </a:txBody>
                  <a:tcPr anchor="ctr" marL="73152" marR="73152" marT="27432" marB="27432">
                    <a:solidFill>
                      <a:srgbClr val="1B355E"/>
                    </a:solidFill>
                  </a:tcPr>
                </a:tc>
              </a:tr>
              <a:tr h="530352">
                <a:tc>
                  <a:txBody>
                    <a:bodyPr wrap="square"/>
                    <a:lstStyle/>
                    <a:p>
                      <a:r>
                        <a:rPr sz="950" b="1">
                          <a:solidFill>
                            <a:srgbClr val="1A1A1A"/>
                          </a:solidFill>
                          <a:latin typeface="Abadi"/>
                        </a:rPr>
                        <a:t>15-day formula-fed girl, yellow, normal stools</a:t>
                      </a:r>
                    </a:p>
                  </a:txBody>
                  <a:tcPr anchor="ctr" marL="73152" marR="73152" marT="27432" marB="27432">
                    <a:solidFill>
                      <a:srgbClr val="FFFFFF"/>
                    </a:solidFill>
                  </a:tcPr>
                </a:tc>
                <a:tc>
                  <a:txBody>
                    <a:bodyPr wrap="square"/>
                    <a:lstStyle/>
                    <a:p>
                      <a:r>
                        <a:rPr sz="950" b="0">
                          <a:solidFill>
                            <a:srgbClr val="1A1A1A"/>
                          </a:solidFill>
                          <a:latin typeface="Abadi"/>
                        </a:rPr>
                        <a:t>Total and conjugated bilirubin</a:t>
                      </a:r>
                    </a:p>
                  </a:txBody>
                  <a:tcPr anchor="ctr" marL="73152" marR="73152" marT="27432" marB="27432">
                    <a:solidFill>
                      <a:srgbClr val="FFFFFF"/>
                    </a:solidFill>
                  </a:tcPr>
                </a:tc>
                <a:tc>
                  <a:txBody>
                    <a:bodyPr wrap="square"/>
                    <a:lstStyle/>
                    <a:p>
                      <a:r>
                        <a:rPr sz="950" b="0">
                          <a:solidFill>
                            <a:srgbClr val="1A1A1A"/>
                          </a:solidFill>
                          <a:latin typeface="Abadi"/>
                        </a:rPr>
                        <a:t>Conjugated 0.4 mg/dL: unconjugated</a:t>
                      </a:r>
                    </a:p>
                  </a:txBody>
                  <a:tcPr anchor="ctr" marL="73152" marR="73152" marT="27432" marB="27432">
                    <a:solidFill>
                      <a:srgbClr val="FFFFFF"/>
                    </a:solidFill>
                  </a:tcPr>
                </a:tc>
                <a:tc>
                  <a:txBody>
                    <a:bodyPr wrap="square"/>
                    <a:lstStyle/>
                    <a:p>
                      <a:r>
                        <a:rPr sz="950" b="0">
                          <a:solidFill>
                            <a:srgbClr val="1A1A1A"/>
                          </a:solidFill>
                          <a:latin typeface="Abadi"/>
                        </a:rPr>
                        <a:t>Reassure; check feeding, thyroid screen</a:t>
                      </a:r>
                    </a:p>
                  </a:txBody>
                  <a:tcPr anchor="ctr" marL="73152" marR="73152" marT="27432" marB="27432">
                    <a:solidFill>
                      <a:srgbClr val="FFFFFF"/>
                    </a:solidFill>
                  </a:tcPr>
                </a:tc>
              </a:tr>
              <a:tr h="530352">
                <a:tc>
                  <a:txBody>
                    <a:bodyPr wrap="square"/>
                    <a:lstStyle/>
                    <a:p>
                      <a:r>
                        <a:rPr sz="950" b="1">
                          <a:solidFill>
                            <a:srgbClr val="1A1A1A"/>
                          </a:solidFill>
                          <a:latin typeface="Abadi"/>
                        </a:rPr>
                        <a:t>3-week breastfed boy, thriving, yellow</a:t>
                      </a:r>
                    </a:p>
                  </a:txBody>
                  <a:tcPr anchor="ctr" marL="73152" marR="73152" marT="27432" marB="27432">
                    <a:solidFill>
                      <a:srgbClr val="F0F0F0"/>
                    </a:solidFill>
                  </a:tcPr>
                </a:tc>
                <a:tc>
                  <a:txBody>
                    <a:bodyPr wrap="square"/>
                    <a:lstStyle/>
                    <a:p>
                      <a:r>
                        <a:rPr sz="950" b="0">
                          <a:solidFill>
                            <a:srgbClr val="1A1A1A"/>
                          </a:solidFill>
                          <a:latin typeface="Abadi"/>
                        </a:rPr>
                        <a:t>Total and conjugated bilirubin</a:t>
                      </a:r>
                    </a:p>
                  </a:txBody>
                  <a:tcPr anchor="ctr" marL="73152" marR="73152" marT="27432" marB="27432">
                    <a:solidFill>
                      <a:srgbClr val="F0F0F0"/>
                    </a:solidFill>
                  </a:tcPr>
                </a:tc>
                <a:tc>
                  <a:txBody>
                    <a:bodyPr wrap="square"/>
                    <a:lstStyle/>
                    <a:p>
                      <a:r>
                        <a:rPr sz="950" b="0">
                          <a:solidFill>
                            <a:srgbClr val="1A1A1A"/>
                          </a:solidFill>
                          <a:latin typeface="Abadi"/>
                        </a:rPr>
                        <a:t>Most likely breast-milk jaundice</a:t>
                      </a:r>
                    </a:p>
                  </a:txBody>
                  <a:tcPr anchor="ctr" marL="73152" marR="73152" marT="27432" marB="27432">
                    <a:solidFill>
                      <a:srgbClr val="F0F0F0"/>
                    </a:solidFill>
                  </a:tcPr>
                </a:tc>
                <a:tc>
                  <a:txBody>
                    <a:bodyPr wrap="square"/>
                    <a:lstStyle/>
                    <a:p>
                      <a:r>
                        <a:rPr sz="950" b="0">
                          <a:solidFill>
                            <a:srgbClr val="1A1A1A"/>
                          </a:solidFill>
                          <a:latin typeface="Abadi"/>
                        </a:rPr>
                        <a:t>Fractionate now; do not wait for 4 weeks</a:t>
                      </a:r>
                    </a:p>
                  </a:txBody>
                  <a:tcPr anchor="ctr" marL="73152" marR="73152" marT="27432" marB="27432">
                    <a:solidFill>
                      <a:srgbClr val="F0F0F0"/>
                    </a:solidFill>
                  </a:tcPr>
                </a:tc>
              </a:tr>
              <a:tr h="530352">
                <a:tc>
                  <a:txBody>
                    <a:bodyPr wrap="square"/>
                    <a:lstStyle/>
                    <a:p>
                      <a:r>
                        <a:rPr sz="950" b="1">
                          <a:solidFill>
                            <a:srgbClr val="1A1A1A"/>
                          </a:solidFill>
                          <a:latin typeface="Abadi"/>
                        </a:rPr>
                        <a:t>Day 2, direct 1.1 mg/dL, total 12 mg/dL</a:t>
                      </a:r>
                    </a:p>
                  </a:txBody>
                  <a:tcPr anchor="ctr" marL="73152" marR="73152" marT="27432" marB="27432">
                    <a:solidFill>
                      <a:srgbClr val="FFFFFF"/>
                    </a:solidFill>
                  </a:tcPr>
                </a:tc>
                <a:tc>
                  <a:txBody>
                    <a:bodyPr wrap="square"/>
                    <a:lstStyle/>
                    <a:p>
                      <a:r>
                        <a:rPr sz="950" b="0">
                          <a:solidFill>
                            <a:srgbClr val="1A1A1A"/>
                          </a:solidFill>
                          <a:latin typeface="Abadi"/>
                        </a:rPr>
                        <a:t>Is it direct or conjugated?</a:t>
                      </a:r>
                    </a:p>
                  </a:txBody>
                  <a:tcPr anchor="ctr" marL="73152" marR="73152" marT="27432" marB="27432">
                    <a:solidFill>
                      <a:srgbClr val="FFFFFF"/>
                    </a:solidFill>
                  </a:tcPr>
                </a:tc>
                <a:tc>
                  <a:txBody>
                    <a:bodyPr wrap="square"/>
                    <a:lstStyle/>
                    <a:p>
                      <a:r>
                        <a:rPr sz="950" b="0">
                          <a:solidFill>
                            <a:srgbClr val="1A1A1A"/>
                          </a:solidFill>
                          <a:latin typeface="Abadi"/>
                        </a:rPr>
                        <a:t>Borderline: direct runs higher than conjugated</a:t>
                      </a:r>
                    </a:p>
                  </a:txBody>
                  <a:tcPr anchor="ctr" marL="73152" marR="73152" marT="27432" marB="27432">
                    <a:solidFill>
                      <a:srgbClr val="FFFFFF"/>
                    </a:solidFill>
                  </a:tcPr>
                </a:tc>
                <a:tc>
                  <a:txBody>
                    <a:bodyPr wrap="square"/>
                    <a:lstStyle/>
                    <a:p>
                      <a:r>
                        <a:rPr sz="950" b="0">
                          <a:solidFill>
                            <a:srgbClr val="1A1A1A"/>
                          </a:solidFill>
                          <a:latin typeface="Abadi"/>
                        </a:rPr>
                        <a:t>Repeat as conjugated in days to 2 weeks</a:t>
                      </a:r>
                    </a:p>
                  </a:txBody>
                  <a:tcPr anchor="ctr" marL="73152" marR="73152" marT="27432" marB="27432">
                    <a:solidFill>
                      <a:srgbClr val="FFFFFF"/>
                    </a:solidFill>
                  </a:tcPr>
                </a:tc>
              </a:tr>
              <a:tr h="530352">
                <a:tc>
                  <a:txBody>
                    <a:bodyPr wrap="square"/>
                    <a:lstStyle/>
                    <a:p>
                      <a:r>
                        <a:rPr sz="950" b="1">
                          <a:solidFill>
                            <a:srgbClr val="1A1A1A"/>
                          </a:solidFill>
                          <a:latin typeface="Abadi"/>
                        </a:rPr>
                        <a:t>Day 2, conjugated 1.1 mg/dL</a:t>
                      </a:r>
                    </a:p>
                  </a:txBody>
                  <a:tcPr anchor="ctr" marL="73152" marR="73152" marT="27432" marB="27432">
                    <a:solidFill>
                      <a:srgbClr val="F0F0F0"/>
                    </a:solidFill>
                  </a:tcPr>
                </a:tc>
                <a:tc>
                  <a:txBody>
                    <a:bodyPr wrap="square"/>
                    <a:lstStyle/>
                    <a:p>
                      <a:r>
                        <a:rPr sz="950" b="0">
                          <a:solidFill>
                            <a:srgbClr val="1A1A1A"/>
                          </a:solidFill>
                          <a:latin typeface="Abadi"/>
                        </a:rPr>
                        <a:t>Repeat at 2 weeks</a:t>
                      </a:r>
                    </a:p>
                  </a:txBody>
                  <a:tcPr anchor="ctr" marL="73152" marR="73152" marT="27432" marB="27432">
                    <a:solidFill>
                      <a:srgbClr val="F0F0F0"/>
                    </a:solidFill>
                  </a:tcPr>
                </a:tc>
                <a:tc>
                  <a:txBody>
                    <a:bodyPr wrap="square"/>
                    <a:lstStyle/>
                    <a:p>
                      <a:r>
                        <a:rPr sz="950" b="0">
                          <a:solidFill>
                            <a:srgbClr val="1A1A1A"/>
                          </a:solidFill>
                          <a:latin typeface="Abadi"/>
                        </a:rPr>
                        <a:t>Above the 99th centile (0.5)</a:t>
                      </a:r>
                    </a:p>
                  </a:txBody>
                  <a:tcPr anchor="ctr" marL="73152" marR="73152" marT="27432" marB="27432">
                    <a:solidFill>
                      <a:srgbClr val="F0F0F0"/>
                    </a:solidFill>
                  </a:tcPr>
                </a:tc>
                <a:tc>
                  <a:txBody>
                    <a:bodyPr wrap="square"/>
                    <a:lstStyle/>
                    <a:p>
                      <a:r>
                        <a:rPr sz="950" b="0">
                          <a:solidFill>
                            <a:srgbClr val="1A1A1A"/>
                          </a:solidFill>
                          <a:latin typeface="Abadi"/>
                        </a:rPr>
                        <a:t>Treat as possible atresia until it falls</a:t>
                      </a:r>
                    </a:p>
                  </a:txBody>
                  <a:tcPr anchor="ctr" marL="73152" marR="73152" marT="27432" marB="27432">
                    <a:solidFill>
                      <a:srgbClr val="F0F0F0"/>
                    </a:solidFill>
                  </a:tcPr>
                </a:tc>
              </a:tr>
              <a:tr h="530352">
                <a:tc>
                  <a:txBody>
                    <a:bodyPr wrap="square"/>
                    <a:lstStyle/>
                    <a:p>
                      <a:r>
                        <a:rPr sz="950" b="1">
                          <a:solidFill>
                            <a:srgbClr val="1A1A1A"/>
                          </a:solidFill>
                          <a:latin typeface="Abadi"/>
                        </a:rPr>
                        <a:t>5-week infant, pale stool, conjugated 2.5 mg/dL</a:t>
                      </a:r>
                    </a:p>
                  </a:txBody>
                  <a:tcPr anchor="ctr" marL="73152" marR="73152" marT="27432" marB="27432">
                    <a:solidFill>
                      <a:srgbClr val="FFFFFF"/>
                    </a:solidFill>
                  </a:tcPr>
                </a:tc>
                <a:tc>
                  <a:txBody>
                    <a:bodyPr wrap="square"/>
                    <a:lstStyle/>
                    <a:p>
                      <a:r>
                        <a:rPr sz="950" b="0">
                          <a:solidFill>
                            <a:srgbClr val="1A1A1A"/>
                          </a:solidFill>
                          <a:latin typeface="Abadi"/>
                        </a:rPr>
                        <a:t>Same-day referral</a:t>
                      </a:r>
                    </a:p>
                  </a:txBody>
                  <a:tcPr anchor="ctr" marL="73152" marR="73152" marT="27432" marB="27432">
                    <a:solidFill>
                      <a:srgbClr val="FFFFFF"/>
                    </a:solidFill>
                  </a:tcPr>
                </a:tc>
                <a:tc>
                  <a:txBody>
                    <a:bodyPr wrap="square"/>
                    <a:lstStyle/>
                    <a:p>
                      <a:r>
                        <a:rPr sz="950" b="0">
                          <a:solidFill>
                            <a:srgbClr val="1A1A1A"/>
                          </a:solidFill>
                          <a:latin typeface="Abadi"/>
                        </a:rPr>
                        <a:t>Cholestasis</a:t>
                      </a:r>
                    </a:p>
                  </a:txBody>
                  <a:tcPr anchor="ctr" marL="73152" marR="73152" marT="27432" marB="27432">
                    <a:solidFill>
                      <a:srgbClr val="FFFFFF"/>
                    </a:solidFill>
                  </a:tcPr>
                </a:tc>
                <a:tc>
                  <a:txBody>
                    <a:bodyPr wrap="square"/>
                    <a:lstStyle/>
                    <a:p>
                      <a:r>
                        <a:rPr sz="950" b="0">
                          <a:solidFill>
                            <a:srgbClr val="1A1A1A"/>
                          </a:solidFill>
                          <a:latin typeface="Abadi"/>
                        </a:rPr>
                        <a:t>Hepatology today; aim for Kasai before day 46</a:t>
                      </a:r>
                    </a:p>
                  </a:txBody>
                  <a:tcPr anchor="ctr" marL="73152" marR="73152" marT="27432" marB="27432">
                    <a:solidFill>
                      <a:srgbClr val="FFFFFF"/>
                    </a:solidFill>
                  </a:tcPr>
                </a:tc>
              </a:tr>
              <a:tr h="530352">
                <a:tc>
                  <a:txBody>
                    <a:bodyPr wrap="square"/>
                    <a:lstStyle/>
                    <a:p>
                      <a:r>
                        <a:rPr sz="950" b="1">
                          <a:solidFill>
                            <a:srgbClr val="1A1A1A"/>
                          </a:solidFill>
                          <a:latin typeface="Abadi"/>
                        </a:rPr>
                        <a:t>28-week preterm on PN, conjugated 3 mg/dL</a:t>
                      </a:r>
                    </a:p>
                  </a:txBody>
                  <a:tcPr anchor="ctr" marL="73152" marR="73152" marT="27432" marB="27432">
                    <a:solidFill>
                      <a:srgbClr val="F0F0F0"/>
                    </a:solidFill>
                  </a:tcPr>
                </a:tc>
                <a:tc>
                  <a:txBody>
                    <a:bodyPr wrap="square"/>
                    <a:lstStyle/>
                    <a:p>
                      <a:r>
                        <a:rPr sz="950" b="0">
                          <a:solidFill>
                            <a:srgbClr val="1A1A1A"/>
                          </a:solidFill>
                          <a:latin typeface="Abadi"/>
                        </a:rPr>
                        <a:t>Stool colour, ultrasound</a:t>
                      </a:r>
                    </a:p>
                  </a:txBody>
                  <a:tcPr anchor="ctr" marL="73152" marR="73152" marT="27432" marB="27432">
                    <a:solidFill>
                      <a:srgbClr val="F0F0F0"/>
                    </a:solidFill>
                  </a:tcPr>
                </a:tc>
                <a:tc>
                  <a:txBody>
                    <a:bodyPr wrap="square"/>
                    <a:lstStyle/>
                    <a:p>
                      <a:r>
                        <a:rPr sz="950" b="0">
                          <a:solidFill>
                            <a:srgbClr val="1A1A1A"/>
                          </a:solidFill>
                          <a:latin typeface="Abadi"/>
                        </a:rPr>
                        <a:t>PN-associated, but atresia possible</a:t>
                      </a:r>
                    </a:p>
                  </a:txBody>
                  <a:tcPr anchor="ctr" marL="73152" marR="73152" marT="27432" marB="27432">
                    <a:solidFill>
                      <a:srgbClr val="F0F0F0"/>
                    </a:solidFill>
                  </a:tcPr>
                </a:tc>
                <a:tc>
                  <a:txBody>
                    <a:bodyPr wrap="square"/>
                    <a:lstStyle/>
                    <a:p>
                      <a:r>
                        <a:rPr sz="950" b="0">
                          <a:solidFill>
                            <a:srgbClr val="1A1A1A"/>
                          </a:solidFill>
                          <a:latin typeface="Abadi"/>
                        </a:rPr>
                        <a:t>Cycle PN, feed enterally, keep the work-up going</a:t>
                      </a:r>
                    </a:p>
                  </a:txBody>
                  <a:tcPr anchor="ctr" marL="73152" marR="73152" marT="27432" marB="27432">
                    <a:solidFill>
                      <a:srgbClr val="F0F0F0"/>
                    </a:solidFill>
                  </a:tcPr>
                </a:tc>
              </a:tr>
              <a:tr h="530352">
                <a:tc>
                  <a:txBody>
                    <a:bodyPr wrap="square"/>
                    <a:lstStyle/>
                    <a:p>
                      <a:r>
                        <a:rPr sz="950" b="1">
                          <a:solidFill>
                            <a:srgbClr val="1A1A1A"/>
                          </a:solidFill>
                          <a:latin typeface="Abadi"/>
                        </a:rPr>
                        <a:t>After Kasai, direct still 1.8 mg/dL at 4 weeks</a:t>
                      </a:r>
                    </a:p>
                  </a:txBody>
                  <a:tcPr anchor="ctr" marL="73152" marR="73152" marT="27432" marB="27432">
                    <a:solidFill>
                      <a:srgbClr val="FFFFFF"/>
                    </a:solidFill>
                  </a:tcPr>
                </a:tc>
                <a:tc>
                  <a:txBody>
                    <a:bodyPr wrap="square"/>
                    <a:lstStyle/>
                    <a:p>
                      <a:r>
                        <a:rPr sz="950" b="0">
                          <a:solidFill>
                            <a:srgbClr val="1A1A1A"/>
                          </a:solidFill>
                          <a:latin typeface="Abadi"/>
                        </a:rPr>
                        <a:t>Conjugated and delta</a:t>
                      </a:r>
                    </a:p>
                  </a:txBody>
                  <a:tcPr anchor="ctr" marL="73152" marR="73152" marT="27432" marB="27432">
                    <a:solidFill>
                      <a:srgbClr val="FFFFFF"/>
                    </a:solidFill>
                  </a:tcPr>
                </a:tc>
                <a:tc>
                  <a:txBody>
                    <a:bodyPr wrap="square"/>
                    <a:lstStyle/>
                    <a:p>
                      <a:r>
                        <a:rPr sz="950" b="0">
                          <a:solidFill>
                            <a:srgbClr val="1A1A1A"/>
                          </a:solidFill>
                          <a:latin typeface="Abadi"/>
                        </a:rPr>
                        <a:t>Delta lag possible</a:t>
                      </a:r>
                    </a:p>
                  </a:txBody>
                  <a:tcPr anchor="ctr" marL="73152" marR="73152" marT="27432" marB="27432">
                    <a:solidFill>
                      <a:srgbClr val="FFFFFF"/>
                    </a:solidFill>
                  </a:tcPr>
                </a:tc>
                <a:tc>
                  <a:txBody>
                    <a:bodyPr wrap="square"/>
                    <a:lstStyle/>
                    <a:p>
                      <a:r>
                        <a:rPr sz="950" b="0">
                          <a:solidFill>
                            <a:srgbClr val="1A1A1A"/>
                          </a:solidFill>
                          <a:latin typeface="Abadi"/>
                        </a:rPr>
                        <a:t>Judge by conjugated and stool colour</a:t>
                      </a:r>
                    </a:p>
                  </a:txBody>
                  <a:tcPr anchor="ct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anchor="b" lIns="36576" rIns="36576" tIns="18288" bIns="18288">
            <a:spAutoFit/>
          </a:bodyPr>
          <a:lstStyle/>
          <a:p>
            <a:pPr algn="ctr"/>
            <a:r>
              <a:rPr sz="4200" b="1" i="0">
                <a:solidFill>
                  <a:srgbClr val="FFFFFF"/>
                </a:solidFill>
                <a:latin typeface="Abadi"/>
              </a:rPr>
              <a:t>Neonatal Cholestasis: Epidemiology and Definitions</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anchor="t" lIns="36576" rIns="36576" tIns="18288" bIns="18288">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