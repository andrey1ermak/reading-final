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82528" cy="219456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Biliary Atresia II: Pathogenesis — Viral and Immune Hypotheses, Biliatresone and a Disease Present at Birth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Fawaz 2017 (NASPGHAN/ESPGHAN) · Harpavat 2011, 2020 · Shivakumar 2004, 2009 · Brindley 2012 · Tucker 2013 · Feldman 2013 · Wang (Cell) 2020 · Bezerra (START) 2014 · Mack (PRIME) 2019 · Lorent 2015 · Waisbourd-Zinman 2016 · Yue 2024 · Fischler 2022 · Berauer 2019 · Lertudomphonwanit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93792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the injury starts before the first feed · a virus at the scene is not a culprit · the immune system finishes the job · a plant in a dry dam · glutathione is the weak point · steroids answered the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WHO STRIKES THE DUCT, AND WHEN?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hypotheses for one fibro-obliterative cholangiopathy, and the timing evidence that constrains all of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Harpavat S, et al. Pediatrics 2011;128:e1428–33 · Asai A, Miethke A, Bezerra JA. Nat Rev Gastroenterol Hepatol 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14884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Viral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CMV, reovirus, rotavirus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Found in some livers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Causality unproven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14884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6313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Immune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Th1, IFN-γ, NK cells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 cells, autoantibodies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Treg deficit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14884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9395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Toxin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9395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Biliatresone in lambs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Glutathione depletion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SOX17 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1488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2476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Genetic and developmental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2476" y="2798063"/>
            <a:ext cx="1741017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ADD3, GPC1, PKD1L1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Cilia, ductal plate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Twins discordant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14884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5558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Timing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5558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Direct bilirubin up at birth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Prenatal onset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Narrow window to 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11480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Biliary atresia is best read as a multi-hit disease: a susceptible developing duct, a prenatal or perinatal epithelial insult (viral or toxic), then an immune amplification that obliterates the lumen and drives fibrosis. No single hypothesis explains every phenotype.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Every adjuvant tested so far (steroids, IVIG) targeted the last step. They failed partly because the first steps are already complete by the time of the Kasai.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MULTI-HIT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the four hypotheses fit together, from susceptibility to an obliterated 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Asai A, et al. Nat Rev Gastroenterol Hepatol 2015 · Waisbourd-Zinman O, et al. Hepatology 2016;64:880–93 · Lertudomphonwanit C, et al. Sci Transl Med 2017;9:eaan8462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11680" cy="205740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1168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Susceptibility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1792224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Rare variants in ciliary and laterality genes (PKD1L1), common risk loci (ADD3), a fragile extrahepatic duct with low glutathione.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4328" y="272034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773936"/>
            <a:ext cx="2011680" cy="205740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6352" y="1773936"/>
            <a:ext cx="201168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157984"/>
            <a:ext cx="1792224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 virus (CMV, reovirus) or an electrophilic toxin reaches the cholangiocyte, before birth or in the first weeks.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92040" y="272034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1773936"/>
            <a:ext cx="2011680" cy="205740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773936"/>
            <a:ext cx="2011680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4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Epithelial injury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2157984"/>
            <a:ext cx="1792224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Glutathione falls, SOX17 drops, cilia and tight junctions are lost; the duct leaks and its lumen collapses.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59752" y="272034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1773936"/>
            <a:ext cx="2011680" cy="205740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6" y="1773936"/>
            <a:ext cx="201168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Immune amplification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2157984"/>
            <a:ext cx="1792224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Th1 cells, IFN-γ, NK cells via NKG2D and B cells with autoantibodies attack the duct; regulatory T cells fail to brake.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27464" y="272034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9488" y="1773936"/>
            <a:ext cx="2011680" cy="205740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19488" y="1773936"/>
            <a:ext cx="2011680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Obliteration and fibrosis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2157984"/>
            <a:ext cx="1792224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Fibrous remnant, ductular reaction, portal fibrosis; MMP-7 leaks from injured epithelium into blood.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6908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Reading the cascade.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Mouse models can switch off any one step (IFN-γ, NK cells, B cells, glutathione) and prevent atresia. In infants the cascade is already advanced when jaundice is noticed, which is the core problem for therapy.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Why it matters.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biomarker of step three (MMP-7) now diagnoses the disease; a drug for step three or earlier (N-acetylcysteine) is being tested.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PRENATAL ONSET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INJURY STARTS BEFORE THE FIRST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Newborn direct bilirubin in infants later diagnosed with biliary atresia, Texas Children's Hospital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Harpavat S, Finegold MJ, Karpen SJ. Pediatrics 2011;128:e1428–33 · Harpavat S, et al. JPGN 2016 · Fawaz R, et al. JPGN 2017;64:154–68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17373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355E"/>
                </a:solidFill>
                <a:latin typeface="Abadi"/>
              </a:rPr>
              <a:t>61 infants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Retrospective cohort with biliary atresia; newborn fractionated bilirubin available in roughly half.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17373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1.4 vs 0.19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Mean direct bilirubin, mg/dL, in the first days of life: atresia versus controls (P &lt; .0001).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173736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Ratio 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Most had a direct-to-total ratio of 0.2 or less: the fraction reassures, the absolute value does not.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173736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35 of 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Follow-up series: every atresia infant had a raised newborn direct bilirubin; 98.2% of others were normal.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49039"/>
            <a:ext cx="11082528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Interpretation.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Conjugated bilirubin is retained before any postnatal infection could plausibly have occurred, so in most infants the obstruction or its forerunner is prenatal. This argues against a purely postnatal viral trigger and fits the cystic and splenic-malformation phenotypes seen on fetal scans.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Guideline anchor.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joint guideline states that the biliary injury begins before or soon after birth, and calls any direct or conjugated bilirubin above 1.0 mg/dL (17 µmol/L) pathological.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TIMING AS A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IF IT IS THERE AT BIRTH, SCREEN AT BIRTH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Two-stage newborn direct or conjugated bilirubin screening, 14 Texas hospitals, 2015–2018 (124,385 newborns)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Harpavat S, et al. JAMA 2020;323:1141–50 · Rabbani T, Shah J. J Med Screen 2025;32:61–6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7432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Newborns screened (stage 1, &lt; 60 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18995"/>
            <a:ext cx="2887578" cy="35112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4282" y="1920240"/>
            <a:ext cx="146304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124,385 (bar truncated)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27432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Positive at stage 2 (2-week visit)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567635"/>
            <a:ext cx="2290812" cy="351129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7516" y="2468880"/>
            <a:ext cx="146304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17520"/>
            <a:ext cx="27432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False positives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116275"/>
            <a:ext cx="2156058" cy="351129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2762" y="3017520"/>
            <a:ext cx="146304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27432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Biliary atresia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664915"/>
            <a:ext cx="134753" cy="351129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1457" y="3566160"/>
            <a:ext cx="146304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7  (0.6 per 10,000)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51960"/>
            <a:ext cx="7680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F7F7F"/>
                </a:solidFill>
                <a:latin typeface="Abadi"/>
              </a:rPr>
              <a:t>Bar lengths for stage 2 onward are to scale with each other; the screened cohort is truncated.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76809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Read it as.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Sensitivity 100% (95% CI 56–100), specificity 99.9%, positive predictive value 5.9%. False negatives were not fully ascertained, so 100% is an upper bound.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56 → 36 days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Mean age at Kasai before versus after screening; 19 days earlier (95% CI 7–32).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Thresholds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Stage 1: above the site reference interval (conjugated &gt; 0.2 mg/dL). Stage 2: higher than stage 1 or above 1 mg/dL.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Replicated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Single-centre programme, 3,861 screened: 1.3% flagged initially, net false-positive rate 0.3%.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VIRAL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VIRUS AT THE SCENE IS NOT A CULPRIT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has been found in livers and remnants, and why it has never satisfied causality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Tyler KL, et al. Hepatology 1998;27:1475–82 · Riepenhoff-Talty M, et al. Pediatr Res 1993 · Brindley SM, et al. Hepatology 2012;55:1130–8 · Front Pediatr 2021;9:710450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01168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Cytomegalovirus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2304288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IgM or DNA in 10–38% in Europe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Up to 60% in Chinese series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inclusion bodies in BA liver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0116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Reovirus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23744"/>
            <a:ext cx="2304288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RNA in hepatobiliary tissue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Also in choledochal cysts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specific to atresia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01168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Rotavirus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23744"/>
            <a:ext cx="2304288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Rhesus rotavirus in newborn mice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Duct obstruction and fibrosis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 workhorse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01168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Others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23744"/>
            <a:ext cx="2304288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HPV not found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HHV-6, EBV inconsistent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virus confirmed causal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problem.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Detection depends on age at sampling, assay and geography. A virus acquired after birth can colonise an already injured liver, so finding it at Kasai cannot date the insult.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What survives.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Viruses may be one trigger in a subgroup, and the rotavirus mouse model shows how a virus can start an immune attack on a duct still forming in the newborn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CMV AND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CMV RISES WITH AGE AT SURGERY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CMV positivity at Kasai by age, four European centres (Budapest, London, Stockholm, Warsaw),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Fischler B, et al. J Clin Med 2022;11:945 · Zhao Y, et al. Front Pediatr 2025;13:1577113 · Brindley SM, et al. Hepatology 2012;55:1130–8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56231"/>
            <a:ext cx="69494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F7F7F"/>
                </a:solidFill>
                <a:latin typeface="Abadi"/>
              </a:rPr>
              <a:t>Per cent CMV-positive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80"/>
            <a:ext cx="694944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32560" y="5184648"/>
            <a:ext cx="914400" cy="2743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799" y="4910328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48656"/>
            <a:ext cx="2316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Under 30 days
(0 of 14)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046220"/>
            <a:ext cx="914400" cy="11658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3771900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7999" y="5248656"/>
            <a:ext cx="2316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31–70 days
(53 of 308)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520" y="2948940"/>
            <a:ext cx="914400" cy="22631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9759" y="2674620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4480" y="5248656"/>
            <a:ext cx="2316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Over 70 days
(78 of 234)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783080"/>
            <a:ext cx="347472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Acquired, then harmful?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The gradient fits postnatal acquisition; yet CMV-positive infants clear jaundice less often (London 37% vs 71%).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China, 1,276 infants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31.3% CMV-positive; older at Kasai (68 vs 57 days). Antivirals cut early cholangitis, not clearance.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Immune signature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56% had liver T cells making IFN-γ to CMV; regulatory T cells lowest in CMV-positive infants.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IMMUNE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SWITCH OFF ONE ARM, PREVENT ATRESIA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Rhesus rotavirus model in newborn BALB/c mice: survival or disease-free survival,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Shivakumar P, et al. J Clin Invest 2004;114:322–9 · Shivakumar P, et al. J Clin Invest 2009 · Tucker RM, et al. J Autoimmun 2013 · Feldman AG, et al. PLoS One 2013;8:e73644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834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Wild type, survival beyond 21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956815"/>
            <a:ext cx="304495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2639" y="1874519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&lt; 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31720"/>
            <a:ext cx="2834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IFN-γ knockout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414015"/>
            <a:ext cx="270662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23317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&gt; 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88920"/>
            <a:ext cx="2834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Control mice, survival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871215"/>
            <a:ext cx="422910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1054" y="27889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12.5%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46120"/>
            <a:ext cx="2834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Regulatory T-cell transfer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328415"/>
            <a:ext cx="2841955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0099" y="32461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84%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2834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Wild type, disease-free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785615"/>
            <a:ext cx="592074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0218" y="37033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17.5%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60520"/>
            <a:ext cx="2834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B-cell deficient (Igα knockout)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242816"/>
            <a:ext cx="2598359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6503" y="41605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76.8%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75895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Read it as.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Each pair comes from a separate experiment. IFN-γ, regulatory T cells and B cells each decide whether a virus-injured duct obliterates. Blocking NK cells or their receptor NKG2D also preserved duct continuity.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783080"/>
            <a:ext cx="310896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Th1 drives it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Recombinant IFN-γ restored cholestasis in over 80% of knockout mice.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NK cells execute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NKG2D ligands on the cholangiocyte make the duct a target.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Tregs brake it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Hepatic Tregs are fewer and weaker in the newborn window.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B cells amplify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Without them, no hyperbilirubinaemia and less Th1 cytokine.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HUMAN 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SINGLE CELLS TELL THE SAME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Immune profiling of biliary atresia livers, and the autoimmune clues that preceded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Wang J, et al. Cell 2020;183:1867–83 · Lu BR, et al. Gastroenterology 2010 (α-enolase) · Masuya R, Muraji T, et al. Front Pediatr 2022;10:1007927 · Brindley 2012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182880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Macrophages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230428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Blunted inflammatory programme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Kupffer cells fail to scavenge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182880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T and NK 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23744"/>
            <a:ext cx="230428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Cytotoxic T cells expanded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CX3CR1+ effectors deficient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182880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B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23744"/>
            <a:ext cx="230428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Hepatic B lymphopoiesis persists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IgG autoantibodies accumulate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182880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Clinical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23744"/>
            <a:ext cx="230428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Rituximab depleted hepatic B cells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Immune profile normalised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an efficacy trial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94760"/>
            <a:ext cx="3572255" cy="146304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94760"/>
            <a:ext cx="3572255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005072"/>
            <a:ext cx="32430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Autoantigen mimicry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544568"/>
            <a:ext cx="3243072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α-enolase antibodies cross-react with viral proteins (mouse)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03775" y="3794760"/>
            <a:ext cx="3572255" cy="146304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03775" y="3794760"/>
            <a:ext cx="3572255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8367" y="4005072"/>
            <a:ext cx="32430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Maternal microchimerism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8367" y="4544568"/>
            <a:ext cx="3243072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Maternal DNA in 7 of 12 infants; higher load, worse outcome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8911" y="3794760"/>
            <a:ext cx="3572255" cy="146304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8911" y="3794760"/>
            <a:ext cx="3572255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3503" y="4005072"/>
            <a:ext cx="32430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Peripheral blood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3503" y="4544568"/>
            <a:ext cx="3243072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Fewer circulating regulatory T cells, most marked with CMV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Bottom line.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human data are descriptive; they show what sustains injury, not what started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TESTING THE IMMUNE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STEROIDS ANSWERED 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START trial: 140 infants randomised to high-dose steroids or placebo within 72 hours of Kasai,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Bezerra JA, et al. JAMA 2014;311:1750–9 · Front Pediatr 2022;10:1007813 (subgroup)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Bile drainage at 6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01952"/>
            <a:ext cx="2357688" cy="228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3808" y="1865376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58.6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76272"/>
            <a:ext cx="1955352" cy="2286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1472" y="2139696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48.6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42032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Kasai before 70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615184"/>
            <a:ext cx="2888772" cy="228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4892" y="2578608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71.8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889504"/>
            <a:ext cx="2285268" cy="2286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1388" y="2852928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56.8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Bile drainage at 24 months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328416"/>
            <a:ext cx="1987539" cy="228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3659" y="329184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49.4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602736"/>
            <a:ext cx="1601297" cy="2286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7417" y="356616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39.8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68496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Transplant-free survival, 24 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041648"/>
            <a:ext cx="2361712" cy="228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07832" y="400507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58.7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4315968"/>
            <a:ext cx="2389875" cy="2286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35995" y="427939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59.4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81728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Serious adverse event by day 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754880"/>
            <a:ext cx="1496689" cy="228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2809" y="4718304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37.2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5029200"/>
            <a:ext cx="764438" cy="2286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10558" y="4992624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19.0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5486400"/>
            <a:ext cx="228600" cy="14630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44068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Steroid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486400"/>
            <a:ext cx="228600" cy="14630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544068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Placebo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783080"/>
            <a:ext cx="33832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8.7 points, not significant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Primary end point: adjusted difference 8.7% (95% CI −10.4 to 27.7), P = .43.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No survival signal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Transplant-free survival identical at 2 years (HR 1.0).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Earlier harm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Same total serious events (81% vs 80%), but they came sooner with steroids (P = .008).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Cochrane, 213 infants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Two trials pooled: no effect on death, transplant or clearance; low certainty.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OTHER IMMUNE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EVERY ADJUVANT AIMED AT THE LAST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Trials and pilots built on the pathogenesis models, with their main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Davenport M, et al. Hepatology 2007;46:1821–7 · Tyraskis A, et al. Cochrane 2018;CD008735 · Mack CL, et al. JPGN 2019;68:495–501 · Wang J, et al. Cell 2020 · NCT03499249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2651760"/>
                <a:gridCol w="2560320"/>
                <a:gridCol w="38587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Approach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Design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Steroids, King's 2007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Broad suppression of inflammation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RCT, 73 infants, low dose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Transplant at 12 months 26% vs 35%, NS; early bilirubin lower if under 70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Steroids, START 2014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Th1 and cytokine blockade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RCT, 140 infants, high dose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Drainage 58.6% vs 48.6%, NS; earlier serious events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IVIG, PRIME 2019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Neutralise antibody and Th1 signals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Phase I/IIa, 29 infants, 1 g/kg ×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bilirubin benefit; 1-year native-liver survival 58.6% vs 70.5% historical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Rituximab pilot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Deplete autoreactive B cells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Mechanistic pilot (Cell 2020)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Hepatic B cells depleted; clinical efficacy unknown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Antivirals in CMV+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Remove the viral 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Non-randomised series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Signal for survival in London, fewer early cholangitis in China; no RCT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N-acetylcysteine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Restore glutathione, bile flow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Phase 2, IV, 7 days post-Kasai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Ongoing; primary end point normal bile acids by 24 weeks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pattern.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Immune modulation after the duct is gone cannot rebuild it; the next generation of trials aims earlier, at epithelial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TOXIN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PLANT IN A DRY DAM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From outbreaks in Australian lambs to a defined molecule that destroys the extrahepatic 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Lorent K, et al. Sci Transl Med 2015;7:286ra67 · Koo KA, et al. Chem Res Toxicol 2015;28:1519–21; 2016;29:142–9 · World J Pediatr 2022 (review)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11680" cy="219456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1168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1964 and 1988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New South Wales: newborn lambs with white stools and absent gallbladders after ewes grazed drought-exposed dam land; the ewes were well.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4328" y="278892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773936"/>
            <a:ext cx="2011680" cy="219456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6352" y="1773936"/>
            <a:ext cx="2011680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The plant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Dysphania glomulifera and D. littoralis grow on the exposed lake floor. Biliatresone is about 1.84% of dry weight.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92040" y="278892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1773936"/>
            <a:ext cx="2011680" cy="21945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773936"/>
            <a:ext cx="201168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4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Zebrafish 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Plant extract split into 95 fractions; one caused gallbladder and extrahepatic duct malformation in larvae.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59752" y="278892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1773936"/>
            <a:ext cx="2011680" cy="21945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6" y="1773936"/>
            <a:ext cx="201168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The molecule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An isoflavonoid-related 1,2-diaryl-2-propenone; the enone reacts with glutathione by Michael addition.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27464" y="278892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9488" y="1773936"/>
            <a:ext cx="2011680" cy="219456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19488" y="1773936"/>
            <a:ext cx="2011680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Selective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Extrahepatic cholangiocytes are hit while hepatocytes and intrahepatic ducts are largely spared.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6052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Why it matters.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Biliatresone is proof that a prenatal environmental toxin can produce an atresia-like lesion in a mammal, through the mother, without harming her.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caveat.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No human exposure has been shown. The plant's range is limited; candidates with the same chemistry include algal microcystin-RR and maternal aflatoxin B1.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 OF THE TOXIN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GLUTATHIONE IS THE WEAK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Mouse extrahepatic cholangiocyte spheroids and human liver organoids exposed to biliatresone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Waisbourd-Zinman O, et al. Hepatology 2016;64:880–93 · Yue HB, et al. Toxins 2024;16:144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17373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−43.6%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Glutathione within 1 hour of exposure, before any visible injury.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173736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4.4 vs 11.4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Time to 50% loss of rhodamine from spheroid lumens: toxin versus vehicle; the duct leaks.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173736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NAC 5 µM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L-N-acetylcysteine or sulforaphane prevented injury; the inactive D-isomer did not.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17373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355E"/>
                </a:solidFill>
                <a:latin typeface="Abadi"/>
              </a:rPr>
              <a:t>SOX17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Knockdown alone obstructed lumens without changing glutathione: the downstream effector.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03320"/>
            <a:ext cx="3572255" cy="14630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03320"/>
            <a:ext cx="3572255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886200"/>
            <a:ext cx="32430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355E"/>
                </a:solidFill>
                <a:latin typeface="Abadi"/>
              </a:rPr>
              <a:t>56% vs 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416552"/>
            <a:ext cx="324307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Human organoids: ciliated cells by day 5 in controls versus day 3 with toxin.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03775" y="3703320"/>
            <a:ext cx="3572255" cy="146304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03775" y="3703320"/>
            <a:ext cx="3572255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8367" y="3886200"/>
            <a:ext cx="32430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28% vs 1.3%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8367" y="4416552"/>
            <a:ext cx="324307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Cholangiocytes responding to flow with a calcium signal.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8911" y="3703320"/>
            <a:ext cx="3572255" cy="146304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8911" y="3703320"/>
            <a:ext cx="3572255" cy="731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3503" y="3886200"/>
            <a:ext cx="32430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7F7F7F"/>
                </a:solidFill>
                <a:latin typeface="Abadi"/>
              </a:rPr>
              <a:t>Low 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3503" y="4416552"/>
            <a:ext cx="324307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Extrahepatic duct tissue holds less glutathione than liver, explaining selectivity.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Translation.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Glutathione depletion recapitulates the lesion; restoring it rescues it. This is the rationale for N-acetylcysteine after Kasai.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GENETIC SUSCEPTIBILITY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RISK GENES, NOT A MENDELIAN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Variants associated with biliary atresia, by study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Garcia-Barceló MM, et al. Hum Mol Genet 2010;19:2917–25 · Cui S, et al. Gastroenterology 2013;144:1107–15 · Berauer JP, et al. Hepatology 2019 · Front Pediatr 2022;10:912154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1821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2103120"/>
                <a:gridCol w="2377440"/>
                <a:gridCol w="2651760"/>
                <a:gridCol w="184708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Gene or locus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Design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Population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Pathway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10q24.2 (XPNPEP1–ADD3)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Genome-wide association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200 cases, 481 controls; replication 124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rs17095355, combined P = 6.9 × 10⁻⁹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Cytoskeleton, epithelial junctions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GPC1 (2q37.3)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Copy-number analysis + zebrafish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61 cases, 5,088 controls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Deletions remove one copy; knockdown gives biliary defects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Hedgehog signalling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PKD1L1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Exome, trios (ChiLDReN)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67 with splenic malformation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Rare bi-allelic variants in 5, heterozygous in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Cilia, left–right axis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EFEMP1, ARF6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Candidate association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343 cases, 1,716 controls (EFEMP1)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Common risk alleles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Matrix, ciliogenesis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KIF3B, PCNT, TTC17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Chinese cohorts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Rare damaging variants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Ciliary transport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8252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 it as.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Common variants shift risk modestly; rare ciliary variants cluster in the splenic-malformation phenotype. Recurrence in siblings is rare, and genetics alone does not explain atresia.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TWINS AND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SAME GENES, DIFFERENT 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Twin data and the developmental clues in the liver itself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Pediatr Surg Int 2020 (19 twin pairs, 11 Chinese centres) · Chu AS, Russo PA, Wells RG. Mod Pathol 2012;25:751–7 · Fawaz R, et al. JPGN 2017;64:154–68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17373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19 of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Twin pairs discordant for atresia, including monozygotic pairs.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17373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355E"/>
                </a:solidFill>
                <a:latin typeface="Abadi"/>
              </a:rPr>
              <a:t>61.1%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Two-year native-liver survival in the affected twins; overall survival 94.4%.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173736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Splenic-malformation phenotype with laterality defects: the most embryonic, most genetic form.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173736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Cilia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487168"/>
            <a:ext cx="2304288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Cholangiocyte cilia are abnormal in both syndromic and non-syndromic atresia.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9476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Interpretation.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Discordant identical twins sharing a placenta and genome point to a stochastic or environmental second hit, or to post-zygotic events, rather than inheritance alone.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developmental thread.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Abnormal cilia, ductal plate remnants and laterality genes suggest a duct that is structurally vulnerable; a trigger then decides whether it fails.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FROM PATHOGENESIS TO BEDSIDE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INJURY YOU CAN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MMP-7: a cholangiocyte protein released by epithelial injury, discovered by large-scale proteomics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Lertudomphonwanit C, et al. Sci Transl Med 2017;9:eaan8462 · Fawaz R, et al. JPGN 2017;64:154–68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0116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235915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1,129 serum proteins screened in 70 infants; 76 differed between atresia and other cholestasis.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191256" y="269748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201168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79" y="1773936"/>
            <a:ext cx="2578608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Biology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157984"/>
            <a:ext cx="235915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MMP-7 is made by injured cholangiocytes and promotes disease in the mouse model; it is a sentinel, not a bystander.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6025896" y="269748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1773936"/>
            <a:ext cx="2578608" cy="201168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1773936"/>
            <a:ext cx="2578608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7" y="2157984"/>
            <a:ext cx="235915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With GGT: area under the curve 0.94, sensitivity 97%, specificity 94% in validation.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8860536" y="269748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59" y="1773936"/>
            <a:ext cx="2578608" cy="201168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59" y="1773936"/>
            <a:ext cx="2578608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3999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At a 26% prior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7" y="2157984"/>
            <a:ext cx="235915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Positive predictive value 85%, negative predictive value 99% among cholestatic infants.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02336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Why it belongs here.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MMP-7 is pathogenesis made useful: it reads out step three of the cascade, epithelial injury, which is why it rises early and stays high in atresia.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Next lesson.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Assay-specific cut-offs, how to combine MMP-7 with GGT and ultrasound, and when it changes the decision to operate are covered in Diagnosis (lesson 3).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NASPGHAN/ESPGHAN 2017 versus current trial and mechanistic evidence; no AASLD or EASL guideline addresses atresia pathogenesis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Bezerra 2014 · Tyraskis 2018 (Cochrane) · Mack 2019 · Harpavat 2020 · Fischler 2022 · Lorent 2015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374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383280"/>
                <a:gridCol w="4297680"/>
                <a:gridCol w="1389888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NASPGHAN/ESPGHAN 2017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Current evidence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Aetiology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Unknown; developmental, viral, toxic, immune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Multi-hit model; no single cause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Injury begins before or soon after birth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Direct bilirubin raised in first days; screening works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Role of CMV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Causal role unproven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Subgroup with worse outcome; prevalence rises with 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54864" marR="54864" marT="27432" marB="27432" anchor="ctr">
                    <a:solidFill>
                      <a:srgbClr val="D97A0B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Adjuvant steroids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supported routinely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START and Cochrane: no benefit, earlier harm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IVIG, rituximab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efficacy; rituximab mechanistic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7432" marB="27432" anchor="ctr">
                    <a:solidFill>
                      <a:srgbClr val="8A939B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Antivirals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Non-randomised signals only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7432" marB="27432" anchor="ctr">
                    <a:solidFill>
                      <a:srgbClr val="8A939B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Toxins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Mentioned as hypothesis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Biliatresone defined; human exposure unproven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Newborn screening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Evaluate jaundice at 2–3 weeks; no universal screen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Direct bilirubin screening: sensitivity ≈ 100%, Kasai 19 days earlier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54864" marR="54864" marT="27432" marB="27432" anchor="ctr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Material gap.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2017 guideline predates the evidence that newborn direct bilirubin screening is feasible at scale.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PATHOGENESIS MISLEADS AT THE COT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Reasoning errors that follow from half-understood mechanisms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Harpavat 2011, 2020 · Fischler 2022 · Bezerra 2014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1945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'Normal ratio, so not cholestatic'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98063"/>
            <a:ext cx="230428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Direct fraction ≤ 0.2 is common in newborns with atresia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Use the absolute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19456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'CMV positive, so viral hepatitis'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798063"/>
            <a:ext cx="230428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CMV coexists with atresia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Infection never excludes it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Cholangiogram if stools pale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1945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'Give steroids, it is immune'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Two RCTs negative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Earlier serious events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Only within protocols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19456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'Genetic, so siblings at risk'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Recurrence is rare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Twins discordant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Test genes in syndromic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And two more.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Assuming that a normal bilirubin at birth excludes atresia (it lowers the odds; it does not remove the need to look at the stools), and attributing atresia to a pregnancy event when parents ask: no maternal exposure has been proven in humans.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onto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Harpavat 2011, 2020 · Shivakumar 2004 · Bezerra 2014 · Mack 2019 · Lorent 2015 · Waisbourd-Zinman 2016 · Fischler 2022 · Lertudomphonwanit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0512"/>
            <a:ext cx="11082528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Atresia is multi-hit: susceptible duct, prenatal or perinatal epithelial insult, immune amplification, fibrosis.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Direct bilirubin is raised in the first days of life (about 1.4 vs 0.19 mg/dL): the disease is present at birth.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Newborn screening: sensitivity about 100%, specificity 99.9%, Kasai at 36 instead of 56 days.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CMV positivity rises with age at Kasai (0%, 17%, 33%); CMV-positive infants clear jaundice less often.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In the rotavirus model, removing IFN-γ, NK signalling, B cells, or adding regulatory T cells prevents atresia.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Human livers show B-cell autoimmunity and cytotoxic T cells; rituximab has only a mechanistic pilot.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START: drainage 58.6% vs 48.6% (NS), identical transplant-free survival, earlier serious events.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IVIG (PRIME): no benefit; 1-year native-liver survival 58.6% vs 70.5% historical.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Biliatresone depletes glutathione (−44% in 1 hour) and SOX17; N-acetylcysteine prevents injury in vitro.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Genetics: ADD3 locus, GPC1, rare PKD1L1 variants in splenic malformation; identical twins are discordant.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pathogenesis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632764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Newborn day 2: total bilirubin 9 mg/dL, direct 1.1 mg/dL (ratio 0.12)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Repeat fractionated bilirubin by 2 weeks; the ratio does not reassure; check stool colour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7-week-old, pale stools, serum CMV IgM positive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Cholangiogram and Kasai on the atresia pathway; record CMV status; antivirals only in a protocol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Surgeon asks about steroids after Kasai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routinely: START and Cochrane show no benefit and earlier serious events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Parents ask what they did in pregnancy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proven maternal cause; the injury likely began before birth, not from anything after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Monozygotic co-twin of an affected infant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risk; screen with fractionated bilirubin and stool colour rather than genetic testing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Infant with splenic malformation and situs anomaly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Consider ciliary gene panel (PKD1L1); echocardiogram; counsel that the onset is embryonic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82528" cy="219456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Biliary Atresia II: Pathogenesis — Viral and Immune Hypotheses, Biliatresone and a Disease Present at Birth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1108252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