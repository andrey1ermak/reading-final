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2011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badi"/>
              </a:rPr>
              <a:t>Block 2 Synthesis: The Cholestatic Infant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49039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1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0916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NASPGHAN/ESPGHAN 2017 (Fawaz) · AAP 2022 hyperbilirubinaemia guideline (Kemper) · AAP clinical report 2025 (Harpavat)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Stool colour card programmes: Taiwan, Japan, British Columbia · NICE CG98 · SIGENP 2022 · EASL 2024 genetic cholestasis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Guideline comparison · five difficult cases · twenty pearls · what we still do not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FD8E6"/>
                </a:solidFill>
                <a:latin typeface="Abadi"/>
              </a:rPr>
              <a:t>one sign, many clocks · the breastfed infant at three weeks · a pale stool is a referral · genes may cancel a Kasai, never delay a cholangiogram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JAUNDICED INFANT CANNOT WAIT?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Thirteen lessons on one sign: conjugated hyperbilirubinaemia in the first months of life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Kemper AR, et al. Pediatrics 2022;150:e2022058859 · Harpavat S, et al. Pediatrics 2025;155:e2024070077 · Gottesman LE, et al. BMC Pediatr 2015;15:192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9988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9988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05456"/>
            <a:ext cx="1633118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Fractionate at 2 weeks (formula) or 3 weeks (breastfed)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Direct &gt; 1.0 mg/dL at any total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Pale stool at any age: test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1838" y="1773936"/>
            <a:ext cx="19988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21838" y="1773936"/>
            <a:ext cx="19988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4718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Exclude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4718" y="2505456"/>
            <a:ext cx="1633118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Sepsis and urinary infection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Galactosaemia: stop lactose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Thyroid, cortisol, glucose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Parenteral vitamin 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5036" y="1773936"/>
            <a:ext cx="19988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5036" y="1773936"/>
            <a:ext cx="19988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7916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Decide atresia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7916" y="2505456"/>
            <a:ext cx="1633118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Ultrasound, then biopsy or cholangiogram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HIDA and MRCP only suggest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Kasai before 30–45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8235" y="1773936"/>
            <a:ext cx="19988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8235" y="1773936"/>
            <a:ext cx="19988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1115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Name the 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1115" y="2505456"/>
            <a:ext cx="1633118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A1AT, Alagille, PFIC, citrin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Bile acid synthesis, storage, GALD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Genome early, in parallel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1433" y="1773936"/>
            <a:ext cx="1998878" cy="288036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1433" y="1773936"/>
            <a:ext cx="1998878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4313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4313" y="2505456"/>
            <a:ext cx="1633118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Vitamins A, D, E, K by level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130% energy, MCT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Itch ladder; growth by arm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28032"/>
            <a:ext cx="1109167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Neonatal cholestasis is one sign shared by diseases that run on different clocks: hours for sepsis, galactosaemia and adrenal failure; weeks for atresia; months for nutrition. The work-up is ordered by which clock runs fastest, not by which disease is commonest.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The stake.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Atresia is about one cholestatic infant in four, and native-liver survival at 4 years falls from 49% with a Kasai by 30 days to 23% after 90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SIGN, SEVEN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Every cause of the block mapped to what fails, the clue that points to it, and the first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Gottesman 2015 · Fawaz 2017 · Levy HL, et al. NEJM 1977;297:823–5 · Christensen RD, et al. J Perinatol 2007;27:284–90 · Hadžić N, et al. 2022 · Verkade HJ, et al. J Hepatol 2024;81:303–25 · Mieli-Vergani G, Vergani D 2014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200400"/>
                <a:gridCol w="2880360"/>
                <a:gridCol w="290779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Mechanism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Examples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First action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Obstruction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Biliary atresia, choledochal cyst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Pale stool, high GGT, firm liver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Ultrasound, then biopsy or cholangiogram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Inflammatory signalling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Sepsis, E. coli urinary infection, CMV, syphilis, HSV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Ill infant, fever may be absent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Urine culture; aciclovir if liver failure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Hormone deficiency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Hypopituitarism, hypothyroidism, isolated cortisol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Hypoglycaemia, micropenis, midline defects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Cortisol and free T4 now; hydrocortisone first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Toxic metabolite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Galactosaemia, tyrosinaemia, citrin, HFI after weaning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Coagulopathy out of proportion; reducing substances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Stop lactose; succinylacetone; GALT before transfusion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Transport or synthesis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PFIC, BSEP, Alagille, bile acid synthesis defects, A1AT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Low GGT with itch; low bile acids without itch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Urine bile acids before UDCA; genome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Infiltration or alloimmunity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HLH, Niemann–Pick C, Wolman, GALD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Splenomegaly, ferritin, liver failure at birth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HLH criteria; lip biopsy for iron; IVIG and exchange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Iatrogenic and preterm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Parenteral nutrition, NEC,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Dose-dependent on PN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Enteral feeds; lipid change; still exclude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ANCHOR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each document is, what it rests on, and the line worth quoting from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Kemper AR, et al. Pediatrics 2022;150:e2022058859 · Harpavat S, et al. Pediatrics 2025;155:e2024070077 · Chen SM 2006 · Hsiao CH 2008 · Woolfson JP 2018 · Gu YH 2015 · NICE CG98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675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377440"/>
                <a:gridCol w="2514600"/>
                <a:gridCol w="382219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Document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Evidence base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The line to remember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NASPGHAN/ESPGHAN 2017 (Fawaz)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Evaluation of the cholestatic infant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GRADE; 10 numbered recommendations, mostly low 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Direct &gt; 1.0 mg/dL is abnormal at any total; test at 2 weeks, 3 weeks if breastfed and well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AAP 2022 hyperbilirubinaemia (Kemper)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Jaundice in infants ≥ 35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Key action statements; hyperbilirubinaemia focus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Breastfed and jaundiced at 3–4 weeks, or formula-fed at 2 weeks: total and direct bilirubin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AAP clinical report 2025 (Harpavat)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Finding atresia in primary care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Cohort data, screening studies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Any newborn direct value above the lab range is abnormal; identify by 2–4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Stool colour cards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Taiwan national 2004; Japan 1994, national 2012; British Columbia 2014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Programme cohorts; before–after comparisons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Sensitivity 97% in Taiwan, 50% in British Columbia: the programme, not the card, decides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NICE CG98 (UK)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Neonatal jaundice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Evidence review, consensus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Conjugated &gt; 25 µmol/L is significant; prolonged jaundice is &gt; 14 days at term, &gt; 21 days preterm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 — WHERE THEY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BREASTFED INFANT AT THREE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NASPGHAN/ESPGHAN 2017 versus AAP 2022 and 2025 versus the stool card programmes and Europe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Kemper 2022 · Harpavat 2025 · NICE CG98 · Ranucci G, et al. Dig Liver Dis 2022;54:40–53 (SIGENP) · UK NSC review 2026 · Chen 2006 · Woolfson 2018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602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514600"/>
                <a:gridCol w="2331720"/>
                <a:gridCol w="2862072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AAP 2022 / 2025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Card programmes and 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Abnormal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Direct &gt; 1.0 mg/dL; 20% rule dropped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2025: any newborn value above lab range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NICE &gt; 25 µmol/L; SIGENP keeps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Formula-fed timing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Jaundiced at 2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Jaundiced at 2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NICE: &gt; 14 days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Breastfed timing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By 3 weeks if well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3–4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NICE: 14 days, any feeding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Stool colour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Pale stool at any age: test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Ask at every visit 2–4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Card in every booklet (Taiwan, Japan)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Universal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Add direct to every bilirubin draw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UK NSC: not recommended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Target age at Kasai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As early as possible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Before 30 days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number; UK median about 50 days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Excretion helps exclude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SIGENP: not standard work-up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Preterm infants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separate timing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Outside scope (&lt; 35 weeks)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NICE: &gt; 21 days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Material difference.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A breastfed infant first tested at 4 weeks has already used most of a 30-day target; the stool and the first newborn value must carry the early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WHAT EARLY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TWO BLOOD TESTS MOVED THE KASAI BY THREE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Biliary atresia at the screening centre before (n = 24) and after (n = 19) two-stage direct bilirubin screening,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Harpavat S, et al. JAMA 2020;323:1141–50 · Schreiber RA, et al. J Pediatr 2007;151:659–65 · Serinet MO, et al. Pediatrics 2009;123:1280–6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59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badi"/>
              </a:rPr>
              <a:t>Per cent of infants with atresia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19" y="4766309"/>
            <a:ext cx="566928" cy="35433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" y="4491990"/>
            <a:ext cx="102412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12.5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516635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badi"/>
              </a:rPr>
              <a:t>Kasai ≤ 30 d, before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2495" y="3479383"/>
            <a:ext cx="566928" cy="16412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3895" y="3205063"/>
            <a:ext cx="102412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57.9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16635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badi"/>
              </a:rPr>
              <a:t>Kasai ≤ 30 d, after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3472" y="3938595"/>
            <a:ext cx="566928" cy="118204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4872" y="3664275"/>
            <a:ext cx="102412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41.7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9736" y="516635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badi"/>
              </a:rPr>
              <a:t>Bilirubin normal by 90 d, before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2884109"/>
            <a:ext cx="566928" cy="223653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2609789"/>
            <a:ext cx="102412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78.9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516635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badi"/>
              </a:rPr>
              <a:t>Bilirubin normal by 90 d, after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3113714"/>
            <a:ext cx="566928" cy="200692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6824" y="2839394"/>
            <a:ext cx="102412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70.8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16635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badi"/>
              </a:rPr>
              <a:t>1-y transplant-free, before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436235"/>
            <a:ext cx="566928" cy="26844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161915"/>
            <a:ext cx="102412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94.7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2664" y="516635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badi"/>
              </a:rPr>
              <a:t>1-y transplant-free, after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20640"/>
            <a:ext cx="5797296" cy="109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1828800"/>
            <a:ext cx="4663440" cy="3840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56 → 36 days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Mean age at Kasai before and after screening (P = 0.004).</a:t>
            </a:r>
          </a:p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7 of 7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Atresia cases found among 124,385 screened newborns; specificity 99.9%, positive predictive value 5.9%.</a:t>
            </a:r>
          </a:p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49% vs 23%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Native-liver survival at 4 years with Kasai by 30 days versus after 90 days (Canada, 349 infants).</a:t>
            </a:r>
          </a:p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P = 0.06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Transplant-free survival at 1 year: a trend, not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THE STOOL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SAME CARD, DIFFERENT PROGRAMMES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Sensitivity of stool colour card screening for biliary atresia, %, by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Chen SM, et al. Pediatrics 2006;117:1147–54 · Hsiao CH, et al. Hepatology 2008;47:1233–40 · Gu YH, et al. J Pediatr 2015;166:897–902 · Woolfson JP, et al. JPGN 2018;66:845–9 · Gu YH 2020 · Gopal SH, et al. PLoS One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0017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Taiwan national programme, 2005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093976"/>
            <a:ext cx="3995470" cy="20116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190" y="2048256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97.1%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50017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Taiwan regional pilot, 2002–03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569464"/>
            <a:ext cx="3690975" cy="20116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1695" y="252374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89.7%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08376"/>
            <a:ext cx="50017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Meta-analysis, 7 studies, 996,262 infants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044952"/>
            <a:ext cx="3275380" cy="20116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6100" y="2999232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79.6%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83864"/>
            <a:ext cx="50017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Japan, Tochigi, checked at 1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520440"/>
            <a:ext cx="3147822" cy="20116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8542" y="347472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76.5%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59352"/>
            <a:ext cx="50017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British Columbia, passive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995928"/>
            <a:ext cx="2057400" cy="20116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19" y="3950208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50017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Sapporo, checked once at 1 month (2 cases)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471416"/>
            <a:ext cx="36576" cy="2011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425696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1965960"/>
            <a:ext cx="9144" cy="28986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10916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B355E"/>
                </a:solidFill>
                <a:latin typeface="Abadi"/>
              </a:rPr>
              <a:t>Why they differ.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Prevalence (three times higher in Taiwan), the age at which the card is read, and whether anyone must call within 24 hours. Positive predictive value runs from 4% to 29%. In Taiwan, 5-year jaundice-free native-liver survival rose from 27% to 64% after the card, in a before–after comparison.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A normal card is not reassurance in a jaundiced infant; a pale stool is a same-day referral.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WHAT THE INFANT 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IN FOUR IS ATRESIA; ONE IN SIX IS TREATABLE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Final diagnoses in 1,692 infants with conjugated hyperbilirubinaemia, systematic review,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Gottesman LE, Del Vecchio MT, Aronoff SC. BMC Pediatr 2015;15:192 · Togawa T, et al. J Pediatr 2016;171:171–7 · Nicastro E, et al.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Idiopathic neonatal hepatitis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048256"/>
            <a:ext cx="3645407" cy="2011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8888" y="2002536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26.0%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32304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468880"/>
            <a:ext cx="3631387" cy="2011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4867" y="242316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25.9%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52928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Infection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889504"/>
            <a:ext cx="1612391" cy="2011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5872" y="2843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11.5%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73552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Parenteral nutrition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3310128"/>
            <a:ext cx="897331" cy="20116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0811" y="3264408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94176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Metabolic disease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3730752"/>
            <a:ext cx="616915" cy="2011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0395" y="3685032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Alpha-1 antitrypsin deficiency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4151376"/>
            <a:ext cx="574852" cy="20116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8332" y="4105656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35424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Hypopituitarism or hypothyroidism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572000"/>
            <a:ext cx="280416" cy="2011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3895" y="452628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2.0%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920240"/>
            <a:ext cx="9144" cy="29900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B355E"/>
                </a:solidFill>
                <a:latin typeface="Abadi"/>
              </a:rPr>
              <a:t>Read it twice.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Red bars are the causes that kill or maim within days if missed: together about 18%. The grey bar shrinks as genetics expands: modern algorithms leave about 14% or less without a name, and panels find a cause in up to 70% when the phenotype looks genetic.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NUMBERS THAT MOVE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SIX NUMBERS FROM THIS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Each one changes what happens next to a real infant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Harpavat 2011 · Levy 1977 · Shneider 2012 · Kaye 2010 · Gissen 2006 · Whitington 2014 (GALD) · Christensen 2007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680972" cy="20574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680972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75104"/>
            <a:ext cx="14066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B22222"/>
                </a:solidFill>
                <a:latin typeface="Abadi"/>
              </a:rPr>
              <a:t>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1406652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Of atresia infants had a direct-to-total ratio ≤ 0.2 on day two: the 20% rule calls them 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30780" y="1773936"/>
            <a:ext cx="1680972" cy="20574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0780" y="1773936"/>
            <a:ext cx="1680972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7940" y="1975104"/>
            <a:ext cx="14066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B22222"/>
                </a:solidFill>
                <a:latin typeface="Abadi"/>
              </a:rPr>
              <a:t>4 of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7940" y="2505456"/>
            <a:ext cx="1406652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Galactosaemic infants with E. coli infection in the 1977 Massachusetts cohort; 3 died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2920" y="1773936"/>
            <a:ext cx="1680972" cy="20574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2920" y="1773936"/>
            <a:ext cx="1680972" cy="914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0080" y="1975104"/>
            <a:ext cx="14066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97A0B"/>
                </a:solidFill>
                <a:latin typeface="Abadi"/>
              </a:rPr>
              <a:t>0 of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2505456"/>
            <a:ext cx="1406652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Infants with bilirubin ≥ 2 mg/dL sufficient in A, D, E and K 6 months after Kasai on TPGS multivitamin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60" y="1773936"/>
            <a:ext cx="1680972" cy="20574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5060" y="1773936"/>
            <a:ext cx="1680972" cy="914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975104"/>
            <a:ext cx="14066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97A0B"/>
                </a:solidFill>
                <a:latin typeface="Abadi"/>
              </a:rPr>
              <a:t>47% vs 14%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2505456"/>
            <a:ext cx="1406652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Transplant after Kasai in Alagille versus atresia; death 32% vs 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77200" y="1773936"/>
            <a:ext cx="1680972" cy="20574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7200" y="1773936"/>
            <a:ext cx="1680972" cy="914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4360" y="1975104"/>
            <a:ext cx="14066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E5A88"/>
                </a:solidFill>
                <a:latin typeface="Abadi"/>
              </a:rPr>
              <a:t>7 of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4360" y="2505456"/>
            <a:ext cx="1406652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ARC children biopsied who bled dangerously; platelets normal in most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59340" y="1773936"/>
            <a:ext cx="1680972" cy="20574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59340" y="1773936"/>
            <a:ext cx="1680972" cy="9144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6500" y="1975104"/>
            <a:ext cx="14066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E7A33"/>
                </a:solidFill>
                <a:latin typeface="Abadi"/>
              </a:rPr>
              <a:t>45% → 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6500" y="2505456"/>
            <a:ext cx="1406652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GALD recurrence without and with antenatal IVIG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526280"/>
            <a:ext cx="110916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 ratio rule that hides atresia, an infection that announces a metabolic disease, a multivitamin that fails, a syndrome that turns a Kasai into harm, a biopsy that bleeds, and a referral that protects the next pregnancy.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Know the denominator behind every number you quote.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1 — THE BREASTFED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YELLOW STOOLS AT FOUR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Breastfed, thriving, and seen for the first time with jaundice at 26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Kemper 2022 · Harpavat S, et al. Pediatrics 2011;128:e1428–33 · Harpavat 2025 · Serinet 2009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023360" cy="3703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Girl, 26 days, exclusively breastfed, gaining 35 g a day. Visibly jaundiced since day 4.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Parents say the stools are yellow; the card shows colour 4. Day-2 bilirubin: total 9.8, direct 0.6 mg/dL, lab upper limit 0.3; nobody repeated it.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Today: total 7.9, direct 2.1 mg/dL.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case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Direct 2.1 mg/dL is cholestasis at any total; thriving and breast milk explain nothing.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The day-2 direct value above the lab range was the first signal (Harpavat): atresia is abnormal from birth.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Stool colour early in atresia can be pigmented; a normal card does not exclude.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Day one: urine culture and reducing substances, glucose, INR, TSH with free T4, parenteral vitamin K.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A1A1A"/>
                </a:solidFill>
                <a:latin typeface="Abadi"/>
              </a:rPr>
              <a:t>Same-week hepatology review: fasting ultrasound, then biopsy or cholangiogram. Kasai, if needed, before day 45 at the latest.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2 — THE SICK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E. COLI, JAUNDICE AND A BLEEDING 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Ten days old, lethargic, and on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Levy HL, et al. NEJM 1977;297:823–5 · Welling L, et al. J Inherit Metab Dis 2017;40:171–6 · Fawaz 2017 · Chinsky JM 2017 · Sundaram 2011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023360" cy="3703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Boy, 10 days, standard formula; feeding poorly and vomiting since day 5.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Blood culture grows E. coli. Direct bilirubin 4.1 mg/dL, ALT 140 U/L, INR 3.2, glucose 2.4 mmol/L.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Cataracts are not yet visible. The newborn screen is pending.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case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Gram-negative sepsis plus cholestasis plus coagulopathy: galactosaemia until proven otherwise.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Stop lactose today, before any result; the diet is diagnostic and therapeutic.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Send red-cell GALT before any transfusion, or the result will be falsely normal for months.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INR out of proportion to bilirubin also suggests tyrosinaemia: send succinylacetone, not tyrosine.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A1A1A"/>
                </a:solidFill>
                <a:latin typeface="Abadi"/>
              </a:rPr>
              <a:t>Antibiotics, lactose-free formula, parenteral vitamin K and glucose now; GALT, succinylacetone and urine reducing substances before blood products.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3 — THE HYPOGLYCAEMIC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LOW GGT, LOW SUGAR, SMALL PENIS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Cholestasis that looks like PFIC and is a pituitary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Braslavsky D, et al. 2011 · Mauvais FX, et al. 2016 · van Trotsenburg P, et al. Eur J Endocrinol 2021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023360" cy="3703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Boy, 3 weeks, term. Recurrent glucose 2.1–2.6 mmol/L. Micropenis.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Direct bilirubin 3.6 mg/dL, GGT 60 U/L, ALT 85 U/L. TSH 2.1 mU/L with a normal newborn screen.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genetic cholestasis panel has been sent for low-GGT disease.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case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Hypoglycaemia was present in 14 of 16 hypopituitary cholestatic infants: the best bedside clue.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GGT is normal in about half; endocrine cholestasis mimics PFIC.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 normal TSH does not exclude central hypothyroidism: measure free T4.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Random cortisol below 5.6 µg/dL is specific; a normal value excludes nothing.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A1A1A"/>
                </a:solidFill>
                <a:latin typeface="Abadi"/>
              </a:rPr>
              <a:t>Cortisol and free T4 today; hydrocortisone before levothyroxine; MRI pituitary. Jaundice should clear in 2–6 months; adrenal crisis is the risk to life.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4 — THE GENE BEFORE THE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JAG1 VARIANT AND A GALLBLADDER NOT SEEN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Rapid genome returns on the morning of the planned cholangiogram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Kaye AJ, et al. JPGN 2010;51:319–21 · Fujishiro J 2018 · Wang NL 2016 · Lunke S 2023 · Vandriel SM 2025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023360" cy="3703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Girl, 6 weeks. Acholic stools, direct bilirubin 5.8 mg/dL, GGT 820 U/L.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Ultrasound: small gallbladder, no triangular cord. HIDA: no excretion at 24 h.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Biopsy: ductular reaction and bile plugs; 4 portal tracts. Echo: peripheral pulmonary stenosis.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Rapid genome: pathogenic JAG1 frameshift.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case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Alagille infants can have acholic stools and a non-excreting HIDA; ductular reaction mimics obstruction.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After a Kasai in Alagille, transplant 47% versus 14% and death 32% versus 3%.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Echo, spine film and eye examination first; cholangiogram second, if doubt remains.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 result may cancel a Kasai; a pending result may never delay a cholangiogram.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A1A1A"/>
                </a:solidFill>
                <a:latin typeface="Abadi"/>
              </a:rPr>
              <a:t>Intraoperative cholangiogram only if the duct remains in doubt; no portoenterostomy if the duct is patent. Start supportive care and plan IBAT inhibition for itch.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5 — THE NICU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PARENTERAL NUTRITION, OR ATRESIA AS WELL?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Born at 29 weeks, now 6 weeks old after surgical NEC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Christensen RD, et al. J Perinatol 2007;27:284–90 · Lauriti 2014 · Puder M, et al. Ann Surg 2009;250:395–402 · Chiu CY, et al. J Pediatr 2013;163:100–3 · Mouzaki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023360" cy="3703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Boy, born 29 weeks, now 35 weeks corrected; 6 weeks of parenteral nutrition after bowel resection for NEC.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Direct bilirubin 4.4 mg/dL and rising; GGT 310 U/L. Enteral feeds 30 mL/kg/day.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Nurses describe pale stools on two days this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case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Cholestasis affects 43% after 4–8 weeks of PN and 72–85% beyond 8 weeks: common, not exclusive.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Preterm atresia had Kasai at 72 versus 53 days: blame PN, lose the window.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HIDA and biopsy are confounded by PN; stool colour and trajectory decide.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Fish oil 1 g/kg/day rescues established PNAC; enteral feeds cure.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A1A1A"/>
                </a:solidFill>
                <a:latin typeface="Abadi"/>
              </a:rPr>
              <a:t>Switch lipid, advance enteral feeds, card every day; persistent pale stools or rising direct bilirubin despite feeds: ultrasound and cholangiogram.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TWENTY PEARLS OF THE BLOCK (1–10)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Lessons 02-01 to 02-07 · Fawaz 2017 · Kemper 2022 · Harpavat 2011, 2020, 2025 · Schreiber 2007 · Chen 2006 · Gottesman 2015 · Levy 1977 · Braslavsky 2011 · Kimberlin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1091672" cy="425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1.  Neonatal cholestasis is about 1 in 2,500 term births; atresia and idiopathic hepatitis are a quarter each.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2.  Direct &gt; 1.0 mg/dL is abnormal at any total; the 20% rule missed 79% of atresia on day two.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3.  Fractionate at 2 weeks if formula-fed, 3 weeks if breastfed and well; pale stool at any age means today.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4.  Kasai by 30 days: 49% native liver at 4 years; after 90 days: 23%.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5.  Two-stage blood screening found 7 of 7 cases and moved the mean Kasai from 56 to 36 days.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6.  Card sensitivity runs from 50% (British Columbia) to 97% (Taiwan): the programme decides.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7.  Send a urine culture on day one; E. coli in a cholestatic infant means galactosaemia until excluded.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8.  Hypoglycaemia plus cholestasis: cortisol and free T4 today; hydrocortisone first.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9.  Valganciclovir for 6 months in moderate to severe congenital CMV; it never delays a cholangiogram.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10.  Neonatal liver failure: aciclovir before the PCR; INR out of proportion means tyrosinaemia or GALD.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TWENTY PEARLS OF THE BLOCK (11–20)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Lessons 02-07 to 02-13 · Heubi 2007 · Christensen 2007 · Russo 2016 · Henter 2007 · Gissen 2006 · Togawa 2016 · Kaye 2010 · Shneider 2012 · DeRusso 2007 · Thompson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1091672" cy="425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11.  Low GGT and low serum bile acids without itch: bile acid synthesis defect; send urine bile acids before UDCA.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12.  NICCD: high GGT, very high AFP and citrulline; lactose-free MCT formula, almost all recover by 12 months.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13.  PN cholestasis is dose-dependent (14% → 85%); enteral feeds cure, fish oil rescues.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14.  Sporadic idiopathic hepatitis with pigmented stools usually recovers; familial cases are genetic.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15.  Splenomegaly in a cholestatic infant: storage or HLH; ferritin &gt; 10,000 is 90% sensitive.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16.  Never biopsy suspected ARC: 7 of 16 bled dangerously.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17.  Genetic yield runs from 4% in PN cholestasis to 71% with a genetic phenotype; genome beats panel (49% vs 27%).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18.  Alagille after Kasai: transplant 47% vs 14%; echo first, cholangiogram second.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19.  Bilirubin ≥ 2 mg/dL after Kasai: dose each vitamin separately and measure each.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20.  Weight z −2.1 vs −1.2 at 6 months separated poor from good outcome; measure the arm, not only the weight.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BLOCK COULD NOT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Questions where the evidence in infants is absent, borrowed or too small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Harpavat 2020, 2025 · UK NSC 2026 · Willot 2008 · Christensen 2007 · Mouzaki 2019 · EASL 2024 · Whitington 2014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114800"/>
                <a:gridCol w="386791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What would close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 single breastfed timing for fractionation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3, 3–4 or 2 weeks in three documents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Cohort of age at first direct bilirubin against age at Kasai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Universal direct bilirubin screening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Seven cases in the largest US study; lower bound of sensitivity 56%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Multistate programme with audited recall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Preterm cut-offs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validated direct value or timing below 35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NICU screening cohorts with stool card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UDCA after Kasai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Near-universal, never tested against placebo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Randomised withdrawal trial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GCH with autoimmune haemolysis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guideline; mortality 10–45%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Registry and rituximab-first protocol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GALD prevention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Neonatal guideline does not ask for antenatal IVIG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Referral pathway from neonatal hepatology to obstetrics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Interpreting a VUS before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Faster genomes create a temptation to wait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Explicit guideline statement: never delay cholangiogram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SELF-TEST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QUESTIONS FOR THE MIRROR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Kemper 2022 · Harpavat 2025 · Levy 1977 · Braslavsky 2011 · Christensen 2007 · Kaye 2010 · Gissen 2006 · Shneider 2012 · Whitington 2014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72768"/>
          <a:ext cx="11091672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Day 2: direct 0.5 mg/dL, lab limit 0.3. Abnormal?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Yes (AAP 2025): repeat by 2 weeks; ask about stools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Breastfed, jaundiced, thriving at 3 weeks: what test?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Total and direct bilirubin, whatever the stool colour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Cholestatic infant with E. coli sepsis: first diet change?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Stop lactose now; GALT before any transfusion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Low GGT, hypoglycaemia, normal TSH: next tests?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Cortisol and free T4; hydrocortisone before thyroxine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Tyrosinaemia screen measured tyrosine and was normal?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excluded: send succinylacetone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Low GGT, low serum bile acids, no itch: before UDCA?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Urine bile acids by mass spectrometry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Preterm on PN with pale stools: blame the PN?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No: ultrasound, stool card, cholangiogram if persistent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JAG1 pathogenic, HIDA non-excreting: Kasai?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portoenterostomy if the duct is patent; echo first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Suspected ARC: biopsy for diagnosis?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No: genetics; 7 of 16 biopsied children bled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Mother of an infant who died of GALD, pregnant again?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Weekly antenatal IVIG from mid-pregnancy: recurrence 45% → 5%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WHAT CHANGES IN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I WILL DO DIFFERENTLY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Synthesis of lessons 02-01 to 02-13 and the anchor documents: Fawaz 2017 · Kemper 2022 · Harpavat 2025 · Mouzaki 2019 · EASL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1091672" cy="425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Look up the newborn direct bilirubin of every jaundiced infant; above the lab range is a signal, not a footnote.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Fractionate every jaundiced breastfed infant by 3 weeks, and any infant with a pale stool on the day it is seen.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Run the day-one list before the atresia work-up: urine culture, reducing substances, glucose, INR, free T4, cortisol, vitamin K.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Stop lactose on suspicion; send GALT before blood; succinylacetone, not tyrosine.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Look at the stool myself, every visit, and teach parents the card.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Ask for a rapid genome in parallel with the atresia work-up; never let it delay the cholangiogram.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Send urine bile acids before the first dose of UDCA.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Dose each fat-soluble vitamin, measure each, and follow the arm circumference.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Refer the mother after GALD, and the family after familial idiopathic hepatitis, to genetics and obstetrics.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18288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badi"/>
              </a:rPr>
              <a:t>Block 2 Synthesis: The Cholestatic Infant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84048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