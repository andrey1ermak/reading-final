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27048"/>
            <a:ext cx="11082528" cy="1965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Syndromic Cholestasis in the Infant: Trisomies 21 and 18, ARC, Kabuki and SLOS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Fawaz 2017 (NASPGHAN/ESPGHAN) · Verkade 2024 (EASL) · Arnell 2012 · Roberts 2013 · Flasche 2018 · Nelson 2016 · Gissen 2004, 2006 · Cullinane 2010 · Rosenfeld 2024 · Rossi 2005 · Davenport 2006 · Manickam 2021 (ACMG)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02352"/>
            <a:ext cx="1108252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the face is a lab test · TAM and the fibrotic liver · low GGT plus contractures · never biopsy ARC · hyperinsulinism in Kabuki · 7-DHC not cholesterol · genome over 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DYSMORPHIC INFANT WITH JAUNDICE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When the baby looks different, the cholestasis work-up becomes a syndrome work-up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Arnell H, Fischler B. J Pediatr 2012;161:899–902 · Gissen P, et al. Hum Genet 2006;120:396–409 · Nowaczyk MJM, Wassif CA. GeneReviews (SLOS)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Trisomy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1741017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Cholestasis in about 4% of newborns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Severe disease means TAM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Heart disease in all cholestatic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2860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6313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Trisomy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2615184"/>
            <a:ext cx="1741017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Median survival 9 days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Liver is rarely the decision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Hepatoblastoma, mostly girls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2" y="1773936"/>
            <a:ext cx="2070201" cy="2286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2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9394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ARC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9394" y="2615184"/>
            <a:ext cx="1741017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Low-GGT cholestasis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Contractures, Fanconi, ichthyosis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Biopsy can be fatal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3" y="1773936"/>
            <a:ext cx="2070201" cy="2286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3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2475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Kabuki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2475" y="2615184"/>
            <a:ext cx="1741017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KMT2D or KDM6A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Hyperinsulinism in about 4%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Rare biliary atresia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4" y="1773936"/>
            <a:ext cx="2070201" cy="2286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4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5556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Smith–Lemli–Opitz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5556" y="2615184"/>
            <a:ext cx="1741017" cy="133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DHCR7: 7-DHC high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Cholesterol normal in ~10%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Treat with cholesterol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51960"/>
            <a:ext cx="11082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Dysmorphism, contractures, skin, kidneys, glucose and the blood film are part of the liver examination. They point to a karyotype, a sterol profile or a genome rather than to another liver panel.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Two of these diagnoses change what you must not do (biopsy in ARC) or what you must give (cholesterol in SLOS, diazoxide in Kabuki hyperinsulinism, cytarabine in severe TAM).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FIVE SYNDROMES, FIVE DIFFERENT FIRST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to look for at the bedside, what to send first, and what changes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Roberts 2013 · Gissen 2006 · Eastham 2001 · Rosenfeld 2024 · Nowaczyk GeneReviews · Rossi 2005 · Klouwer 2015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6" cy="33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89067"/>
                <a:gridCol w="3022507"/>
                <a:gridCol w="1133440"/>
                <a:gridCol w="2518756"/>
                <a:gridCol w="2518756"/>
              </a:tblGrid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Syndrome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Bedside clue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GGT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First 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What changes management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Trisomy 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Typical stigmata, heart disease, hepatomegaly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Blood film for blasts, GATA1, TSH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Cytarabine if TAM is symptomatic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Trisomy 18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Clenched fists, rocker-bottom feet, IUGR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Variable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Karyotype or rapid aneuploidy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Goals-of-care discussion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ARC (VPS33B, VIPAS39)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Contractures, dry scaly skin, polyuria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or normal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Urine for Fanconi, genome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percutaneous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Kabuki (KMT2D, KDM6A)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Long palpebral fissures, fetal finger pads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Glucose and insulin, genome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Diazoxide for hyperinsulinism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Smith–Lemli–Opitz (DHCR7)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2–3 toe syndactyly, ambiguous genitalia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or normal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Plasma 7-dehydrocholesterol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Cholesterol supplementation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Zellweger spectrum (PEX)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Hypotonia, large fontanelle, seizures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Variable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Very-long-chain fatty acids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Cholic acid; palliation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00000"/>
            <a:ext cx="11082528" cy="497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Rule.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low or normal GGT with conjugated hyperbilirubinaemia narrows the list to ARC, SLOS, bile-acid synthesis defects and PFIC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TRISOMY 21: HOW COMMON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JAUNDICE IS COMMON, CHOLESTASIS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Down syndrome newborns versus controls: unconjugated jaundice, %, and the Stockholm cholestasis cohort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Bahr TM, et al. J Pediatr 2020;219:140–5 · Arnell H, Fischler B. J Pediatr 2012;161:899–902 · Kotb MA, et al. Clin Exp Gastroenterol 2019;12:401–8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48656"/>
            <a:ext cx="658368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235632"/>
            <a:ext cx="658368" cy="101302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61312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23.5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Bilirubin &gt; 95th centile, DS (n = 357)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5033119"/>
            <a:ext cx="658368" cy="215537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758799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5.0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Bilirubin &gt; 95th centile, controls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4176" y="2567374"/>
            <a:ext cx="658368" cy="268128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293054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62.2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Phototherapy, 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0912" y="4946904"/>
            <a:ext cx="658368" cy="3017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4672584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7.0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Phototherapy, controls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5080538"/>
            <a:ext cx="658368" cy="16811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4806218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3.9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4184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Cholestasis, DS (n = 206)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8 of 206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Stockholm 2005–2011: cholestasis in 3.9% of Down syndrome newborns; all 8 had congenital heart disease.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3 of 8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Only infants with marrow disease (TAM) had severe cholestasis: two died and one developed cirrhosis.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0 of 55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Biliary atresia in a Cairo series of cholestatic Down syndrome infants; 67% neonatal hepatitis, 33% duct paucity, 64% resolved.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TAM: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FETAL LEUKAEMIA THAT SCARS THE 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Transient abnormal myelopoiesis: from trisomy 21 in the fetal liver to hepatic fibrosis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Roberts I, et al. Blood 2013;122:3908–17 · Bhatnagar N. PhD thesis, Imperial College 2015 · Flasche J, et al. Blood Adv 2018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40940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4094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Trisomy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An extra chromosome 21 expands megakaryocyte–erythroid progenitors in the fetal liver.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17012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9036" y="1773936"/>
            <a:ext cx="2040940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9036" y="1773936"/>
            <a:ext cx="204094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2188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GATA1 hit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476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 somatic GATA1 mutation in utero makes a truncated GATA1s protein; blasts proliferate.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7408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9432" y="1773936"/>
            <a:ext cx="2040940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9432" y="1773936"/>
            <a:ext cx="2040940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2584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Liver infiltrate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872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Megakaryoblasts fill the sinusoids; their growth factors are thought to drive fibrosis.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4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9828" y="1773936"/>
            <a:ext cx="2040940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9828" y="1773936"/>
            <a:ext cx="204094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2980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Cholestasis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68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Hepatomegaly, ascites, coagulopathy, cholestasis; hydrops in the worst cases.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398200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0224" y="1773936"/>
            <a:ext cx="2040940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90224" y="1773936"/>
            <a:ext cx="204094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3376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Two endings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1664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Most clones vanish by about 3 months; about one in five later develops myeloid leukaemia of 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11082528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Numbers.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200 unselected Down syndrome newborns, 97.5% had circulating blasts and 8.5% had a GATA1 mutation by standard sequencing; next-generation sequencing found small 'silent' clones in another 20% of those tested.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For the hepatologist.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Ask for a blood film in every cholestatic Down syndrome infant. Blasts above 10%, hepatomegaly and ascites mean TAM until proven otherwise; persistent hepatomegaly is associated with later leukaemia.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TAM: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LOW-DOSE CYTARABINE PREVENTS THE LIVER DEATH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TMD Prevention 2007 trial (n = 102) versus historical controls,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Flasche J, et al. Blood Adv 2018 (TMD Prevention 2007, Klusmann JH group) · Roberts I, et al. Blood 2013;122:3908–17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48656"/>
            <a:ext cx="658368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759202"/>
            <a:ext cx="548640" cy="248945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8488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12664"/>
            <a:ext cx="100584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Early death, historical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4343400"/>
            <a:ext cx="548640" cy="90525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069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5312664"/>
            <a:ext cx="100584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Early death, cytarabine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743222"/>
            <a:ext cx="548640" cy="50543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446890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6.7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312664"/>
            <a:ext cx="100584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Liver fibrosis, historical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5226025"/>
            <a:ext cx="548640" cy="22631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951705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5312664"/>
            <a:ext cx="100584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Liver fibrosis, trial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3589020"/>
            <a:ext cx="548640" cy="165963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3147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5312664"/>
            <a:ext cx="100584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ML-DS at 5 y, historical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362706"/>
            <a:ext cx="548640" cy="188595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08838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312664"/>
            <a:ext cx="1005840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ML-DS at 5 y, treated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12% vs 33%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Early death with low-dose cytarabine in symptomatic TAM versus historical controls (P = 0.02).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0 of 102 vs 7 of 104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Liver fibrosis on the trial versus historical controls (P = 0.01).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No change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Myeloid leukaemia of Down syndrome still occurred in about a quarter: cytarabine treats the liver, not the clone.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Who is high risk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High white count, ascites, liver dysfunction, hydrops and prematurity.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TRISOMY 21: THE REST OF THE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NOT EVERY JAUNDICED DOWN SYNDROME BABY HAS 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Other causes that share the cot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Purdy I, et al. J Perinatol 2014;34:936–40 · Freeman SB, et al. Clin Genet 2009 (Atlanta and National DS Projects) · Arnell 2012 · Kotb 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4892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489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≈ 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Congenital hypothyroidism, about 28 times the general rate (0.7% permanent, 0.3% transient). Check TSH and free T4.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852" y="1773936"/>
            <a:ext cx="2564892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773936"/>
            <a:ext cx="256489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444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3.9%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Duodenal atresia or stenosis among 1,892 infants with DS; surgery, fasting and parenteral nutrition follow.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73936"/>
            <a:ext cx="2564892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773936"/>
            <a:ext cx="2564892" cy="1005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9A227"/>
                </a:solidFill>
                <a:latin typeface="Abadi"/>
              </a:rPr>
              <a:t>0.8%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Hirschsprung disease in the same cohort: think enterocolitis and sepsis as cholestasis triggers.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6276" y="1773936"/>
            <a:ext cx="2564892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6276" y="1773936"/>
            <a:ext cx="256489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868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47%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Congenital heart disease in the Stockholm cohort; congestion and low output add a hepatic component.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82528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Reading the infant.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Most cholestasis in Down syndrome is multifactorial (heart, prematurity, sepsis, nutrition) and resolves. A biliary atresia excess has not been shown in population data, so the work-up for atresia proceeds as in any infant.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trap.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Attributing cholestasis to 'Down syndrome' without a blood film. Severe cholestasis with blasts or hepatomegaly changes the team: call haematology the same 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TRISOMY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LIVER IS RARELY THE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Survival of 254 children with trisomy 18, Ontario,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Nelson KE, et al. JAMA 2016;316:420–8 · Kosiv KA, et al. Pediatrics 2017;140:e20170772 · Satgé D, et al. Am J Med Genet C 2016 · Tomlinson GE, Kappler R. Pediatr Blood Cancer 2012;59:785–92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48656"/>
            <a:ext cx="658368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0704" y="4773397"/>
            <a:ext cx="658368" cy="475259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499077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12.6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Alive at 1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4879010"/>
            <a:ext cx="658368" cy="36964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604690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9.8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Alive at 10 years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4176" y="2661133"/>
            <a:ext cx="658368" cy="2587523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386813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68.6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1-year survival after first operation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0912" y="4645152"/>
            <a:ext cx="658368" cy="60350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4370832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In-hospital death, heart surgery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3589020"/>
            <a:ext cx="658368" cy="165963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3314700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4184" y="5312664"/>
            <a:ext cx="12252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In-hospital death, no surgery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9 days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Median survival in the Ontario cohort (interquartile range 2–92 days); 13.8% had surgery.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16% vs 44%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In-hospital mortality with versus without heart surgery in 1,020 US infants; selection bias is large.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29 of 45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Reported malignancies in trisomy 18 that were liver cancers, mostly hepatoblastoma, mostly in girls.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Atresia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Extrahepatic biliary atresia is described only in case reports.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ARC: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TRAFFICKING DEFECT IN FOUR ORGANS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VPS33B and VIPAS39 keep apical proteins on the right side of polarised cells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Gissen P, et al. Nat Genet 2004;36:400–4 · Cullinane AR, et al. Nat Genet 2010;42:303–12 · Lo B, et al. Blood 2005 · Eastham KM, et al. Arch Dis Child 2001;85:415–20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40940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4094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The complex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VPS33B (Sec1/Munc18 family) binds VIPAS39 and RAB11A at the apical recycling endosome.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17012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9036" y="1773936"/>
            <a:ext cx="2040940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9036" y="1773936"/>
            <a:ext cx="204094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2188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Mis-sorting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476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Apical membrane proteins are mislocalised; tight junctions and E-cadherin are abnormal.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7408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9432" y="1773936"/>
            <a:ext cx="2040940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9432" y="1773936"/>
            <a:ext cx="204094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2584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872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Canalicular transport fails: severe cholestasis with a normal or low GGT.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4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9828" y="1773936"/>
            <a:ext cx="2040940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9828" y="1773936"/>
            <a:ext cx="2040940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2980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Kidney and skin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68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Proximal tubulopathy (renal Fanconi, RTA) and ichthyosis from failed epithelial polarity.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398200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0224" y="1773936"/>
            <a:ext cx="2040940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90224" y="1773936"/>
            <a:ext cx="204094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3376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Platelets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1664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Alpha-granules do not form: grey-platelet-like defect and bleeding with normal counts.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11082528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Genes.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VPS33B mutations were found in 28 of 35 families (about 75%) in the largest series; VIPAS39 (formerly VIPAR) accounts for most of the rest.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For the hepatologist.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Arthrogryposis in a cholestatic infant with a low GGT is ARC until proven otherwise. The kidney and the platelet make the diagnosis safer than the liver does.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ARC: THE PHENOTYPE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CONTRACTURES, KIDNEYS, SKIN, AND A NORMAL GGT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Frequency of each feature in the two largest clinical series,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Gissen P, et al. Hum Genet 2006;120:396–409 (n = 62) · Eastham KM, et al. Arch Dis Child 2001;85:415–20 (n =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Severe failure to thrive (n = 62)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029968"/>
            <a:ext cx="2600000" cy="3657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0752" y="1865376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Arthrogryposis (60 of 62)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724912"/>
            <a:ext cx="2522000" cy="3657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2752" y="2560320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Normal GGT despite cholestasis (6 of 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419856"/>
            <a:ext cx="2600000" cy="3657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0752" y="3255264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0208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Renal Fanconi syndrome (5 of 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114800"/>
            <a:ext cx="2158000" cy="3657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8752" y="3950208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83%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45152"/>
            <a:ext cx="292608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Structural heart defect (n = 62)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809744"/>
            <a:ext cx="260000" cy="3657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0752" y="4645152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Normal GGT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Every child in the 2001 series had severe cholestasis with a normal GGT, the PFIC-like signal.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Fanconi or diabetes insipidus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one child without Fanconi syndrome had nephrogenic diabetes insipidus instead.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Large platelets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Common, with ichthyosis; the count is usually normal.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Infancy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Most children in the classic series died in the first year, many within six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ARC: THE BIOPSY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BIOPSY THAT CAN 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Bleeding after diagnostic organ biopsy in the 2006 series, and the attenuated survivors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Gissen P, et al. Hum Genet 2006;120:396–409 · Zhu Y, Chen D. Front Pediatr 2022;10:1041080 · Qiu YL, et al. Hum Mutat 2019;40:2247–57 · Linhares ND, et al. Front Genet 2022;13:796759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4892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489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7 of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Children with a diagnostic liver or kidney biopsy who had life-threatening haemorrhage.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852" y="1773936"/>
            <a:ext cx="2564892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773936"/>
            <a:ext cx="256489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444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9 of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Children with severe bleeding who had a normal platelet count and morphology: the count reassures no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73936"/>
            <a:ext cx="2564892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773936"/>
            <a:ext cx="256489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19 survivors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Long-term survivors reviewed in 2022, aged 3 to 59 years; 18 carried VPS33B variants.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6276" y="1773936"/>
            <a:ext cx="2564892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6276" y="1773936"/>
            <a:ext cx="256489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868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Missense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Milder disease with VPS33B missense variants; one variant caused isolated low-GGT cholestasis.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82528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22222"/>
                </a:solidFill>
                <a:latin typeface="Abadi"/>
              </a:rPr>
              <a:t>Rule.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Suspect ARC, do not biopsy. Make the diagnosis with genome or panel sequencing, urine studies and platelet electron microscopy or flow cytometry.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B355E"/>
                </a:solidFill>
                <a:latin typeface="Abadi"/>
              </a:rPr>
              <a:t>If surgery is unavoidable.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Plan with haematology: platelet transfusion and antifibrinolytics have been used; the attenuated forms are the children who reach these procedures.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LOW GGT, EXTRA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THE GGT IS LOW, LOOK BEYOND THE 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Low- or normal-GGT cholestasis in infancy: the extrahepatic signs that sort the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Verkade HJ, et al. J Hepatol 2024;81:303–25 · Gissen 2006 · Nowaczyk GeneReviews · Rossi 2005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3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32750"/>
                <a:gridCol w="3513972"/>
                <a:gridCol w="2838208"/>
                <a:gridCol w="2297597"/>
              </a:tblGrid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Disorder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Extrahepatic clue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Key 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Why it matters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ARC (VPS33B, VIPAS39)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Contractures, Fanconi, ichthyosis, large platelets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Genome; urine; platelet studies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Avoid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Smith–Lemli–Opitz (DHCR7)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Syndactyly, genital anomalies, microcephaly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Plasma 7-DHC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Cholesterol therapy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Bile-acid synthesis defects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Fat-soluble vitamin deficiency, none syndromic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Urine bile acids by mass spectrometry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Cholic acid works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PFIC1 (ATP8B1)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Diarrhoea, pancreatitis, deafness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Panel or genome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Diarrhoea worsens after transplant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PFIC2 (ABCB11)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None; high ALT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Panel or genome; BSEP stain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Early liver cancer 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TJP2 deficiency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Sometimes respiratory or neurological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Panel or genome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Cancer risk, transplant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00000"/>
            <a:ext cx="11082528" cy="497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Pattern.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Low GGT and normal or low serum bile acids point to a synthesis defect; low GGT with high bile acids points to a transport or trafficking defect.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KABUKI SYNDROME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 JAUNDICED, HYPOGLYCAEMIC, DYSMORPHIC BABY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Kabuki syndrome genetics and hyperinsulinism (33 children with hyperinsulinism)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Adam MP, Hannibal M. GeneReviews (Kabuki) · Ng SB, et al. Nat Genet 2010;42:790–3 · Rosenfeld E, et al. J Endocr Soc 2024;8:bvae101 · Masui D, et al. Surg Case Rep 2019;5:132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4892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489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55–80%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KMT2D variants; KDM6A on the X chromosome in 2–6%. Prevalence about 1 in 32,000.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852" y="1773936"/>
            <a:ext cx="2564892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773936"/>
            <a:ext cx="256489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444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≈ 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Hyperinsulinism among 449 children with confirmed Kabuki syndrome; 76% were hypoglycaemic on day 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73936"/>
            <a:ext cx="2564892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773936"/>
            <a:ext cx="256489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Hyperinsulinism responsive to diazoxide; KDM6A was over-represented (15%).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6276" y="1773936"/>
            <a:ext cx="2564892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6276" y="1773936"/>
            <a:ext cx="256489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868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61%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Hyperinsulinism was diagnosed before Kabuki syndrome itself: the face came second.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82528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The liver.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Liver involvement is sporadic: biliary atresia (including a cystic form with a de novo KDM6A variant), neonatal sclerosing cholangitis and hepatic fibrosis are reported. A GGT-high, acholic pattern still demands the atresia pathway.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trap.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Hypoglycaemia with cholestasis is not only hypopituitarism. Send insulin, beta-hydroxybutyrate and free fatty acids at the time of the low glucose.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SMITH–LEMLI–OPITZ: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LAST STEP TO CHOLESTEROL IS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DHCR7 deficiency: too little cholesterol, too much 7-dehydrocholesterol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Tint GS, et al. N Engl J Med 1994;330:107–13 · Nowaczyk MJM, Wassif CA. GeneReviews (SLOS) · Rossi M, et al. Am J Med Genet A 2005;132A:144–51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40940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4094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DHCR7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7-dehydrocholesterol reductase cannot convert 7-DHC to cholesterol.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17012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9036" y="1773936"/>
            <a:ext cx="2040940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9036" y="1773936"/>
            <a:ext cx="204094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2188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Sterol 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476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7-DHC and 8-DHC accumulate; cholesterol falls, though it can stay normal.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7408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9432" y="1773936"/>
            <a:ext cx="2040940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9432" y="1773936"/>
            <a:ext cx="2040940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2584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Morphogenesis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872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Cholesterol-dependent hedgehog signalling fails: syndactyly, genital and brain anomalies.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4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9828" y="1773936"/>
            <a:ext cx="2040940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9828" y="1773936"/>
            <a:ext cx="204094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2980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68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Less substrate for bile acids and toxic sterols: cholestasis, sometimes with a normal GGT.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398200" y="264261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0224" y="1773936"/>
            <a:ext cx="2040940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90224" y="1773936"/>
            <a:ext cx="204094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3376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Treatment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1664" y="2157984"/>
            <a:ext cx="1858060" cy="147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Dietary cholesterol, with bile acids in cholestatic infants; cholestasis often resolves.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22776"/>
            <a:ext cx="11082528" cy="187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Liver numbers.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Liver involvement is reported in 2.5–6% of SLOS but was 16% in one Italian cohort. Progressive normal-GGT cholestasis predicted early death; isolated stable transaminase elevation was the milder pattern.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Statins.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Simvastatin lowered 7-DHC in a trial but is not recommended in GeneReviews; cholesterol is the treatment.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SMITH–LEMLI–OPITZ: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NORMAL CHOLESTEROL DOES NOT EXCLUDE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to send and what fools the screen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Nowaczyk MJM, Wassif CA. GeneReviews (SLOS), updated 2020 · Rossi M, et al. Am J Med Genet A 2005;132A:144–51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4892" cy="21031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489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1 in 40,000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North American birth prevalence; carrier frequency about 1%.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852" y="1773936"/>
            <a:ext cx="2564892" cy="21031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773936"/>
            <a:ext cx="256489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444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≈ 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Patients with a normal total cholesterol: the screen misses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73936"/>
            <a:ext cx="2564892" cy="21031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773936"/>
            <a:ext cx="256489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7-DHC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Plasma sterol analysis by GC-MS is the test; fibroblast sterols if borderline.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6276" y="1773936"/>
            <a:ext cx="2564892" cy="21031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6276" y="1773936"/>
            <a:ext cx="256489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868" y="1984248"/>
            <a:ext cx="2235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≈ 28%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551176"/>
            <a:ext cx="2235708" cy="122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Alleles carrying c.964-1G&gt;C (IVS8-1G&gt;C), a null allele with severe disease.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1082528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When to send it.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Cholestasis with 2–3 toe syndactyly, microcephaly, cleft palate, hypospadias or ambiguous genitalia, or a low-GGT cholestasis without another answer.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Practical point.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Sterols must be measured before cholesterol-containing feeds or transfusion confuse the picture; mortality is highest when cholesterol is about 10 mg/dL.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MIMICS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OTHER SYNDROMES THAT REACH THE LIVER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Syndromic causes of infant cholestasis outside the five on this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Davenport M, et al. J Pediatr 2006;149:393–400 · Schwarz KB, et al. Hepatology 2013;58:1724–31 · Bourgeois P, et al. Hum Mutat 2018;39:774–89 · Hadj-Rabia S, et al. Gastroenterology 2004;127:1386–90 · Klouwer FCC, et al. Orphanet J Rare Dis 2015;10:151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36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47695"/>
                <a:gridCol w="4155948"/>
                <a:gridCol w="3878884"/>
              </a:tblGrid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Disorder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What makes it different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Key number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Alagille (JAG1, NOTCH2)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Dominant; heart, vertebrae, eye, face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Commonest familial intrahepatic cholestasis (block 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Biliary atresia splenic malformation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Polysplenia, situs inversus, heart; maternal diabetes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10.2% of 548 atresias; native-liver survival 46% at 5 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Biliary atresia with other malformations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Major malformation without laterality defect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6% of 289 (ChiLDReN); 10% laterality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Tricho-hepato-enteric (TTC37, SKIV2L)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Intractable diarrhoea, woolly hair, immunodeficiency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Liver disease in about half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NISCH (CLDN1)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Ichthyosis, scalp hypotrichosis, sclerosing cholangitis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Jaundice in 84% of 19 patients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Zellweger spectrum (PEX1 in ~60%)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Hypotonia, seizures, renal cysts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VLCFA first; about 1 in 50,000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300000"/>
            <a:ext cx="11082528" cy="497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Link.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Alagille syndrome is the commonest syndromic cholestasis and has its own block; BASM is a surgical syndrome, not a genetic 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GENETIC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THE CHOLESTASIS PANEL IS NOT A SYNDROME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Diagnostic yield of genetic testing, %: liver panels in cholestasis versus rapid genome in sick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Karpen SJ, et al. JPGN 2021 · Togawa T, et al. J Pediatr 2016 · Fang Y, et al. Front Pediatr 2021;9:631620 · Willig LK, et al. Lancet Respir Med 2015 · Kingsmore SF, et al. Am J Hum Genet 2019 (NSIGHT2)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65376"/>
            <a:ext cx="32000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66-gene panel, 2,171 cholestatic patients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520" y="2029968"/>
            <a:ext cx="480000" cy="3657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4672" y="1865376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badi"/>
              </a:rPr>
              <a:t>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32000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18-gene panel, 109 infants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520" y="2724912"/>
            <a:ext cx="1040000" cy="3657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4672" y="2560320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badi"/>
              </a:rPr>
              <a:t>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55264"/>
            <a:ext cx="32000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Exome, cholestatic subgroup (n = 63)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520" y="3419856"/>
            <a:ext cx="1840000" cy="3657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4672" y="3255264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badi"/>
              </a:rPr>
              <a:t>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0208"/>
            <a:ext cx="32000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Ultra-rapid genome, NICU (NSIGHT2)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520" y="4114800"/>
            <a:ext cx="1840000" cy="36576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4672" y="3950208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badi"/>
              </a:rPr>
              <a:t>46%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45152"/>
            <a:ext cx="32000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1A1A1A"/>
                </a:solidFill>
                <a:latin typeface="Abadi"/>
              </a:rPr>
              <a:t>Rapid genome, NICU (STAT-seq, n = 35)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520" y="4809744"/>
            <a:ext cx="2280000" cy="36576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4672" y="4645152"/>
            <a:ext cx="13716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badi"/>
              </a:rPr>
              <a:t>57%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773936"/>
            <a:ext cx="4041648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71%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Panel yield when a genetic cause was suspected clinically (Togawa 2016): pre-test probability drives yield.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65%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Share of rapid-genome diagnoses that changed management in STAT-seq.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First tier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ACMG 2021: exome or genome as a first- or second-tier test for congenital anomalies.</a:t>
            </a:r>
          </a:p>
          <a:p>
            <a:pPr algn="l">
              <a:spcBef>
                <a:spcPts val="3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Add a karyotype</a:t>
            </a:r>
          </a:p>
          <a:p>
            <a:pPr algn="l">
              <a:spcBef>
                <a:spcPts val="3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A trisomy needs a rapid aneuploidy test, karyotype or microarray, not a sequencing panel.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DYSMORPHISM PLUS CHOLESTASIS: THE FIRST 72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sequence that runs alongside the standard cholestasis algorithm, not instead of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Verkade 2024 (EASL) · Manickam K, et al. Genet Med 2021 · Gissen 2006 · Roberts 2013 · Nowaczyk GeneReviews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40940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4094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Day 1, bedside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58060" cy="174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Face, hands, feet, skin, genitals, joints; stool colour; heart murmur; spleen.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17012" y="277977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9036" y="1773936"/>
            <a:ext cx="2040940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9036" y="1773936"/>
            <a:ext cx="204094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2188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Day 1, blood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476" y="2157984"/>
            <a:ext cx="1858060" cy="174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GGT, glucose with insulin, TSH, cortisol, blood film for blasts, 7-DHC, VLCFA, urine for Fanconi.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7408" y="277977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9432" y="1773936"/>
            <a:ext cx="2040940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9432" y="1773936"/>
            <a:ext cx="204094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2584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Day 1,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872" y="2157984"/>
            <a:ext cx="1858060" cy="174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If contractures or Fanconi: no percutaneous biopsy; if blasts: haematology now.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4" y="277977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9828" y="1773936"/>
            <a:ext cx="2040940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9828" y="1773936"/>
            <a:ext cx="2040940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2980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Day 2, imaging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68" y="2157984"/>
            <a:ext cx="1858060" cy="174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Ultrasound for atresia signs and spleen; echocardiogram; renal ultrasound.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398200" y="277977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0224" y="1773936"/>
            <a:ext cx="2040940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90224" y="1773936"/>
            <a:ext cx="204094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3376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Day 2–7, genes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1664" y="2157984"/>
            <a:ext cx="1858060" cy="174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Rapid aneuploidy test, then trio genome or exome with copy-number analysis.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1108252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22222"/>
                </a:solidFill>
                <a:latin typeface="Abadi"/>
              </a:rPr>
              <a:t>Do not let the syndrome delay the atresia work-up.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Acholic stools still mean a cholangiogram by day 60, whatever the face looks like.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B355E"/>
                </a:solidFill>
                <a:latin typeface="Abadi"/>
              </a:rPr>
              <a:t>Sequence over certainty.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Send the safe blood and urine tests together on day 1; the genome result arrives after decisions about biopsy and Kasai, so plan both with the result pending.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(NASPGHAN/ESPGHAN 2017, ACMG 2021) versus Europe (EASL 2024); no AASLD guidance on this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Verkade HJ, et al. J Hepatol 2024;81:303–25 · Manickam K, et al. Genet Med 2021 · Flasche 2018 · Gissen 2006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6" cy="32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50943"/>
                <a:gridCol w="3836259"/>
                <a:gridCol w="3623134"/>
                <a:gridCol w="1172190"/>
              </a:tblGrid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 (NASPGHAN/ESPGHAN, ACMG)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 (EASL 2024)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Syndromes in the differential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Table 1: ARC, Alagille, trisomy 21, NISCH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ARC only among rarer genes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When to test genes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threshold for panels or exome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Early; panel or exome, genome if negative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Re-analysis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Re-analyse at least every 3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Karyotype or microarray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ACMG: exome or genome first-tier in anomalies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SLOS in the algorithm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mentioned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mentioned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TAM in Down syndrome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in the liver guideline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in the liver guideline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05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Biopsy when ARC is suspected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statement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statement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100000"/>
            <a:ext cx="11082528" cy="697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Material gap.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Neither liver guideline warns against biopsy in suspected ARC, yet 7 of 16 biopsied children had life-threatening bleeding; the warning lives only in case series.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DIAGNOSIS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missed or a late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Arnell 2012 · Roberts 2013 · Gissen 2006 · Rosenfeld 2024 · Nowaczyk GeneReviews · Davenport 2006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564892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56489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'It is just Down syndrome'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235708" cy="124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No blood film sent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TAM fibrosis missed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Atresia work-up skipped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7852" y="1773936"/>
            <a:ext cx="2564892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7852" y="1773936"/>
            <a:ext cx="256489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2444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Biopsy for low GGT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444" y="2615184"/>
            <a:ext cx="2235708" cy="124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Contractures not examined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Platelet count normal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Bleeding after biopsy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7064" y="1773936"/>
            <a:ext cx="2564892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773936"/>
            <a:ext cx="256489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Cholesterol as the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615184"/>
            <a:ext cx="2235708" cy="124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Normal in about 10%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7-DHC not sent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Sample after transfusion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66276" y="1773936"/>
            <a:ext cx="2564892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6276" y="1773936"/>
            <a:ext cx="2564892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0868" y="1984248"/>
            <a:ext cx="22357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Panel instead of genome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0868" y="2615184"/>
            <a:ext cx="2235708" cy="124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▪  Syndromic genes not covered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 copy-number analysis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 re-analysis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06240"/>
            <a:ext cx="1108252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And one more: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hypoglycaemic cholestatic infant labelled hypopituitary when insulin was never measured; Kabuki hyperinsulinism responds to diazoxide.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Arnell 2012 · Roberts 2013 · Flasche 2018 · Nelson 2016 · Gissen 2006 · Rosenfeld 2024 · Nowaczyk GeneReviews · Rossi 2005 · Davenport 2006 · Willig 2015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Abadi"/>
              </a:rPr>
              <a:t>▪  Cholestasis affects about 4% of Down syndrome newborns; severe cases are TAM.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GATA1 clones in 8.5% of DS newborns by standard sequencing, about 20% more by NGS.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Low-dose cytarabine cut early TAM death from 33% to 12% and liver fibrosis from 7 of 104 to 0 of 102.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Trisomy 18: median survival 9 days, 12.6% alive at 1 year; hepatoblastoma mostly in girls.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ARC: low GGT plus arthrogryposis (97%); VPS33B about 75%, VIPAS39 most of the rest.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ARC: 7 of 16 biopsied children bled dangerously; normal platelet count in 9 of 11 severe bleeds.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Kabuki: hyperinsulinism in about 4%, diazoxide-responsive in 92%; often diagnosed first.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SLOS: send plasma 7-DHC; cholesterol is normal in about 10%.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BASM is 10% of biliary atresia; maternal diabetes 12.5% versus 1.2%.</a:t>
            </a:r>
          </a:p>
          <a:p>
            <a:pPr algn="l">
              <a:spcBef>
                <a:spcPts val="400"/>
              </a:spcBef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Rapid genome in sick infants diagnoses 40–57%; a liver panel alone, about 12–26%.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5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720014"/>
                <a:gridCol w="5362513"/>
              </a:tblGrid>
              <a:tr h="50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3-day-old with Down syndrome, hepatomegaly, ascites, white cells 60 × 10⁹/L, blasts 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TAM: haematology today; low-dose cytarabine; monitor liver synthetic function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5-week-old with Down syndrome, pale stools, GGT 450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Standard atresia pathway: ultrasound, then cholangiogram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6-week-old, contractures, GGT 25, glycosuria, bilirubin 9 mg/dL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ARC: no liver biopsy; urine studies, platelet studies, rapid genome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4-week-old, syndactyly, hypospadias, cholestasis, cholesterol normal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Plasma 7-DHC; start cholesterol if confirmed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Day-3 hypoglycaemia, cholestasis, long palpebral fissures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Critical sample with insulin; diazoxide trial; genome for KMT2D, KDM6A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Dysmorphic infant, negative cholestasis panel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Trio genome with copy-number analysis; re-analyse in 2–3 years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27048"/>
            <a:ext cx="11082528" cy="1965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Syndromic Cholestasis in the Infant: Trisomies 21 and 18, ARC, Kabuki and SLOS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