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FD6A6-AF0A-064D-94E5-CE0772EA494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A162EC-6798-8348-9C16-681AC30D4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81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162EC-6798-8348-9C16-681AC30D4B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86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162EC-6798-8348-9C16-681AC30D4B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1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162EC-6798-8348-9C16-681AC30D4B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3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Reading the Liver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WHERE THE ENZYMES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Tissue source and half-life explain almost every “odd” pattern before any test is 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067809"/>
              </p:ext>
            </p:extLst>
          </p:nvPr>
        </p:nvGraphicFramePr>
        <p:xfrm>
          <a:off x="548640" y="1770000"/>
          <a:ext cx="11094720" cy="411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Marker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Where in the cell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Outside the liver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Kinetics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it tells you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ALT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Hepatocyte cytosol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Little: kidney, muscle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t½ ≈ 47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Most liver-specific injury marker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Cytosol and mitochondria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Heart, skeletal muscle, red cells, brain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t½ ≈ 17 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Falls first; AST &gt; ALT → muscle, haemolysis, macro-AST, advanced disease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ALP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Canalicular membrane (ACG) · biliary epithelium (BSG)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Bone, intestine, placenta, kidney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Zinc-dependent enzyme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Cholestasis — or growth, THI, blood group O/B after a fatty 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GGT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Canalicular membrane, cholangiocytes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Kidney, pancreas — not bone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Enzyme-inducible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Confirms hepatic ALP; low-GGT cholestasis is a diagnosis in itself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GLDH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Mitochondria, zone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Essentially 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Liver-specific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Normal in muscular dystrophy while ALT is 20-fold raised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LDH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Cytosol of every cell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Red cells, muscle, tumour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ALT/LDH &lt; 1.5 →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ischaemic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or paracetamol injury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Dufour DR, et al. Clin Chem 2000;46:2027–49 · Kwo PY, et al. Am J Gastroenterol 2017;112:18–35 · Newsome PN, et al. Gut 2018;67:6–19 · Schomaker S, et al. PLoS One 2020;15:e0229753 · Cassidy WM, Reynolds TB. J Clin Gastroenterol 1994;19:118–21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R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 dirty="0">
                <a:solidFill>
                  <a:srgbClr val="555555"/>
                </a:solidFill>
                <a:latin typeface="Abadi"/>
              </a:rPr>
              <a:t>A DILI tool borrowed for all liver tests — valid only if the denominator is the child's own ULN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Hepatocellular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 ≥ 5, where R = (ALT ÷ ULN) ÷ (ALP ÷ ULN).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78% of paediatric DILIN cases.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Viral, autoimmune, Wilson, DILI, ischaemia.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Mixed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 2–5: both limbs raised.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9% of paediatric DILIN cases.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Infiltration, DILI, early obstruction.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Cholestatic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 ≤ 2: ALP and GGT dominate.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13% of paediatric DILIN cases.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Obstruction, sclerosing cholangitis, drugs.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Paediatric trap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Use the age- and sex-specific ALP ULN.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 adult ULN turns every growing child “cholestatic”.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nR (higher of ALT or AST) best predicts ALF in DILI.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A 14-year-old boy with ALP 400 U/L is normal — against an adult ULN of 126 his R is cut three-fold.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Kwo PY, et al. Am J Gastroenterol 2017;112:18–35 · Robles-Diaz M, et al. Gastroenterology 2014;147:109–18 · Molleston JP, et al. J Pediatr Gastroenterol Nutr 2011;53:182–9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MAGNITUDE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HOW HIGH IS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ACG grades the aminotransferase; BSG warns that the grade does not predict the prognosis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65596"/>
              </p:ext>
            </p:extLst>
          </p:nvPr>
        </p:nvGraphicFramePr>
        <p:xfrm>
          <a:off x="548640" y="1770000"/>
          <a:ext cx="11094720" cy="33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ACG band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Definition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Commonest causes in children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to add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Borderline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&lt; 2 × ULN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MASLD, coeliac disease, muscle, drugs, thyroid, recent exercise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CK, tTG-IgA, TSH, drug history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Mild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2–5 × ULN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Above + autoimmune hepatitis, Wilson, A1AT, chronic HBV / HCV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IgG, autoantibodies, ceruloplasmin, A1AT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Moderate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5–15 × ULN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Acute HAV / HEV / EBV / CMV, autoimmune hepatitis, DILI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Acute viral serology, INR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Severe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15 × ULN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Paracetamol,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ischaemia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(cardiac, sepsis), HSV, AIH-ALF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Paracetamol level, LDH, echo, HSV PCR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Massive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10,000 U/L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Paracetamol,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ischaemic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hepatitis; rhabdomyolysis, heat stroke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CK — the liver may not be the source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2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BSG Rec. 3: hepatitis A can exceed 1,000 U/L and resolve, while hepatitis C can reach cirrhosis at a normal 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Kwo PY, et al. Am J Gastroenterol 2017;112:18–35 (bands and recommendations 16–18) · paediatric causes synthesised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ALT CUT-OFF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SAFETY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laboratory's normal range was built on a population that already contained the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53 U/L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ALT upper limit at US children's hospitals (range 30–90)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25.8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95th centile, healthy-weight NHANES boys (U/L)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22.1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95th centile, healthy-weight NHANES girls (U/L)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32–48%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Sensitivity of hospital cut-offs for NAFLD, HBV, HCV — 72–82% with biology-based 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Specificity fell only from 92–96% to 79–85%. With these cut-offs, suspected NAFLD among US adolescents rose from 3.9% to 10.7% (1988–2010).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A normal-range ALT in a child with obesity is not a normal liver.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Schwimmer JB, et al. Gastroenterology 2010;138:1357–64 · Welsh JA, et al. J Pediatr 2013;162:496–500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ALT CUT-OFF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FIVE DEFINITIONS OF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same child can be normal or abnormal depending on which document — or which laboratory — reads the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70000"/>
          <a:ext cx="11094720" cy="33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Boys / men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Girls / women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Basis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ACG 2017 (adults)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29–33 U/L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19–25 U/L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“True healthy normal”; labs in one state used 31–72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ADULT ONLY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BSG 2018 (all ages)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Laboratory reference range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Laboratory reference range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Accepts local ULN; admits it is probably too high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AASLD 2025 (≥ 10 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26 U/L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&gt; 22 U/L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SAFETY 95th centile; &gt; 30 U/L under age 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ESPGHAN 2026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≥ 30 U/L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≥ 30 U/L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One cut-off for all ages and both sexes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CHOP laboratory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1–12 y: 30 · 13–18 y: 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1–12 y: 30 · 13–18 y: 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Paediatric laboratory ranges in daily 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2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Report the ALT against 26 / 22 U/L in your own notes, whatever range the laboratory prints.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Kwo PY, et al. Am J Gastroenterol 2017;112:18–35 · Newsome PN, et al. Gut 2018;67:6–19 · Xanthakos SA, et al. Hepatology 2025;82:1352–94 · Mann JP, et al. J Pediatr Gastroenterol Nutr 2026;83:555–76 · Children's Hospital of Philadelphia, Pathology &amp; Laboratory Medicine reference ranges,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AGE-SPECIFIC NORMALS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GGT FALLS TENFOLD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Upper reference limit of GGT by age (U/L), one US paediatric laboratory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8376" y="2300000"/>
            <a:ext cx="420000" cy="218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376" y="2070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8376" y="2300000"/>
            <a:ext cx="420000" cy="218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8376" y="2070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1–30 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7848" y="2845000"/>
            <a:ext cx="420000" cy="1635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57848" y="2615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27848" y="2845000"/>
            <a:ext cx="420000" cy="1635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07848" y="2615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8112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1–6 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7320" y="3935000"/>
            <a:ext cx="420000" cy="545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67320" y="3705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320" y="3935000"/>
            <a:ext cx="420000" cy="545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17320" y="3705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7584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7–11 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96792" y="4272381"/>
            <a:ext cx="420000" cy="20761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76792" y="4042381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6792" y="4272381"/>
            <a:ext cx="420000" cy="207619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6792" y="4042381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6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1–6 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06264" y="4207500"/>
            <a:ext cx="420000" cy="272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86264" y="39775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6264" y="4207500"/>
            <a:ext cx="420000" cy="2725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36264" y="39775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6528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7–9 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5736" y="4155596"/>
            <a:ext cx="420000" cy="3244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95736" y="3925596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65736" y="4181548"/>
            <a:ext cx="420000" cy="29845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45736" y="3951548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0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10–11 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25208" y="3999881"/>
            <a:ext cx="420000" cy="48011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05208" y="3769881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5208" y="4207500"/>
            <a:ext cx="420000" cy="2725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55208" y="39775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12–13 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4680" y="4116667"/>
            <a:ext cx="420000" cy="36333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14680" y="3886667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84680" y="4194524"/>
            <a:ext cx="420000" cy="28547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64680" y="3964524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4944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14–15 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44152" y="4103691"/>
            <a:ext cx="420000" cy="37630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24152" y="3873691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94152" y="4181548"/>
            <a:ext cx="420000" cy="29845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4152" y="3951548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4416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16–20 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53624" y="3688453"/>
            <a:ext cx="420000" cy="79154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533624" y="3458453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61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03624" y="4012858"/>
            <a:ext cx="420000" cy="46714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983624" y="3782858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33888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Adult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4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03360" y="1790000"/>
            <a:ext cx="13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Boys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03360" y="1790000"/>
            <a:ext cx="13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Girls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Upper limit of normal, U/L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 GGT of 120 U/L is normal at 3 weeks and 7.5 × ULN at 3 years. The neonatal ceiling is higher than the adult one.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In a cholestatic infant, a GGT “normal for age” is the finding: PFIC 1 and 2, bile-acid synthesis defects.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Children's Hospital of Philadelphia, Pathology &amp; Laboratory Medicine reference ranges, 2024 · Newsome PN, et al. Gut 2018;67:6–19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AGE-SPECIFIC NORMALS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ALP FOLLOWS THE GROWTH 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Upper reference limit of alkaline phosphatase by age and sex (U/L)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8376" y="3312143"/>
            <a:ext cx="420000" cy="116785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376" y="3082143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8376" y="3312143"/>
            <a:ext cx="420000" cy="1167857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8376" y="3082143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1–29 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7848" y="3136965"/>
            <a:ext cx="420000" cy="134303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57848" y="2906965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27848" y="3136965"/>
            <a:ext cx="420000" cy="1343035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07848" y="2906965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8112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1–11 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7320" y="3234286"/>
            <a:ext cx="420000" cy="124571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67320" y="3004286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320" y="3234286"/>
            <a:ext cx="420000" cy="124571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17320" y="3004286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7584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1–3 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96792" y="3000715"/>
            <a:ext cx="420000" cy="147928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76792" y="2770715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6792" y="3000715"/>
            <a:ext cx="420000" cy="1479285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6792" y="2770715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380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6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4–6 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06264" y="2845000"/>
            <a:ext cx="420000" cy="1635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86264" y="2615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6264" y="2845000"/>
            <a:ext cx="420000" cy="1635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36264" y="2615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6528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7–9 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5736" y="2416786"/>
            <a:ext cx="420000" cy="206321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95736" y="2186786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530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65736" y="2300000"/>
            <a:ext cx="420000" cy="218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45736" y="2070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560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0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10–11 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25208" y="2553036"/>
            <a:ext cx="420000" cy="192696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05208" y="2323036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5208" y="2845000"/>
            <a:ext cx="420000" cy="1635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55208" y="26150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420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12–13 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4680" y="2436250"/>
            <a:ext cx="420000" cy="204375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14680" y="220625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525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84680" y="3584643"/>
            <a:ext cx="420000" cy="895357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64680" y="3354643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4944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14–15 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44152" y="3467858"/>
            <a:ext cx="420000" cy="101214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24152" y="3237858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260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94152" y="3973929"/>
            <a:ext cx="420000" cy="506071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4152" y="3743929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4416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16–20 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53624" y="3989500"/>
            <a:ext cx="420000" cy="490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533624" y="37595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03624" y="3989500"/>
            <a:ext cx="420000" cy="4905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983624" y="3759500"/>
            <a:ext cx="66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B355E"/>
                </a:solidFill>
                <a:latin typeface="Abadi"/>
              </a:rPr>
              <a:t>126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33888" y="4540000"/>
            <a:ext cx="1109472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A1A1A"/>
                </a:solidFill>
                <a:latin typeface="Abadi"/>
              </a:rPr>
              <a:t>Adult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4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03360" y="1790000"/>
            <a:ext cx="13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Boys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03360" y="1790000"/>
            <a:ext cx="13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Girls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Upper limit of normal, U/L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Girls peak at 10–11 years and are near adult values by 16; boys stay above 500 U/L until 15.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ALP 400 U/L: normal in a 14-year-old boy, 1.7 × ULN in a 14-year-old girl. Isolated ALP → GGT first, then vitamin 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Children's Hospital of Philadelphia, Pathology &amp; Laboratory Medicine reference ranges, 2024 · Newsome PN, et al. Gut 2018;67:6–19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ISOLATED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MACRO-AST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AST bound to immunoglobulin: too large to be cleared, harmless, and often biopsied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44 well children with isolated raised AST had macro-AST (17 of 44)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&lt; 67.1%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PEG-precipitable AST: macro-AST very unlikely below this, likely above 82.2%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 of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Still macro-AST positive after 6 years; all children symptom-free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54.3%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Familial probands carrying GOT1 p.Gln208Glu, vs 0.18% of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 dirty="0">
                <a:solidFill>
                  <a:srgbClr val="1A1A1A"/>
                </a:solidFill>
                <a:latin typeface="Abadi"/>
              </a:rPr>
              <a:t>AST stays high because the complex is not cleared; ALT, CK and LDH are normal. PEG precipitation is the screen; electrophoresis confirms.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 dirty="0">
                <a:solidFill>
                  <a:srgbClr val="1A1A1A"/>
                </a:solidFill>
                <a:latin typeface="Abadi"/>
              </a:rPr>
              <a:t>— Test the parents before the child's liver: familial macro-AST is common and genetic.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Caropreso M, et al. J Pediatr 2009;154:744–8 · Kulecka M, et al. J Hepatol 2017;67:1026–30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MUSCLE, NOT 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DYSTROPHY MISSED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ALT is not liver-specific enough when there is a lot of muscle breaking 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1,220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Peak ALT (U/L) in ambulant boys with Duchenne — 22.6 × ULN; AST to 801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 boys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Diagnosis delayed by a liver work-up before anyone measured 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14 of 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Genetic causes of persistent hypertransaminasaemia were muscular dystrophy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≥ 7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ALT and AST remain raised after one hour of weightlifting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21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 dirty="0">
                <a:solidFill>
                  <a:srgbClr val="1A1A1A"/>
                </a:solidFill>
                <a:latin typeface="Abadi"/>
              </a:rPr>
              <a:t>In a boy with raised ALT and AST, CK costs less than any other test in the panel. GLDH stays normal in dystrophy and rises only with true liver injury.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McMillan HJ, et al. Pediatrics 2011;127:e132–6 · Iorio R, et al. J Gastroenterol 2005;40:820–6 · Pettersson J, et al. Br J Clin Pharmacol 2008;65:253–9 · Schomaker S, et al. PLoS One 2020;15:e0229753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ISOLATED ALP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TRANSIENT HYPERPHOSPHATASAEMIA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Probably the commonest cause of a very high ALP in a well toddler — and benign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Published cases, 733 of them aged ≤ 18 years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≈ 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Had ALP ≥ 5 × the upper limit of normal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Normalised within 4 months; ≈ 20% took longer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1.1–3.5%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Prevalence among infants aged 2–24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21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 dirty="0">
                <a:solidFill>
                  <a:srgbClr val="1A1A1A"/>
                </a:solidFill>
                <a:latin typeface="Abadi"/>
              </a:rPr>
              <a:t>Kraut criteria: age &lt; 5 years, no bone or liver disease, bone and liver isoforms both raised, normal again within 4 months. Often follows an infection.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Gualco G, et al. J Pediatr Gastroenterol Nutr 2013;57:167–71 · Kraut JR, et al. Am J Dis Child 1985;139:736–40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LOW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LOW IS ALSO ABNORMAL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Every panel is read for the high numbers; the dangerous ones are often the low 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Hypophosphatasia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ALPL variants; low ALP is the diagnostic clue.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Children diagnosed a median &gt; 12 months after first sign.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Early loss of teeth, deformity, failure to thrive.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Zinc deficiency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ALP is a zinc metalloenzyme.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ALP in malnutrition, intestinal failure, cholestasis.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Check before reading “normal” ALP in a cholestatic child.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Wilson ALF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ALP beside haemolysis and high bilirubin.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ALP : bilirubin &lt; 4 and AST : ALT &gt; 2.2.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normal ALP in jaundice is a red flag.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Falling ALT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Rising INR and bilirubin with falling ALT.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Loss of hepatocyte mass, not recovery.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ALT also with B6 deficiency, dialysis.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An ALP inappropriately low for age should never be reported as normal.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Högler W, et al. BMC Musculoskelet Disord 2019;20:80 · Kwo PY, et al. Am J Gastroenterol 2017;112:18–35 · Korman JD, et al. Hepatology 2008;48:1167–74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LOW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WILSON RATIOS IN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Sensitivity for Wilsonian acute liver failure — mixed adult and paediatric cohort (16 WD) vs 40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3875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ALP : bilirubin &lt; 4 — US ALF cohort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8640" y="2058750"/>
            <a:ext cx="5146236" cy="4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04876" y="2058750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625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ALP : bilirubin &lt; 4 — Dhaka children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8640" y="2766250"/>
            <a:ext cx="1779284" cy="4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37924" y="2766250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5375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AST : ALT &gt; 2.2 — US ALF cohort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8640" y="3473750"/>
            <a:ext cx="5146236" cy="4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04876" y="3473750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125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AST : ALT ≥ 1.85 — Dhaka children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8640" y="4181250"/>
            <a:ext cx="4242908" cy="4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1548" y="4181250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77.5%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Specificity held (96% and 100% for ALP : bilirubin; 86% and 95% for AST : ALT). Only sensitivity collapsed in children.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In a child, a positive ratio supports Wilson; a negative one does not exclude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Korman JD, et al. Hepatology 2008;48:1167–74 · Yasmin A, et al. Indian J Gastroenterol 2022;41:224–30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PERSISTS,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425 consecutive children with isolated hypertransaminasaemia, Naples tertiary referral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76814"/>
            <a:ext cx="36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Normalised within 6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8640" y="1996814"/>
            <a:ext cx="6074720" cy="2506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33360" y="199681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1099"/>
            <a:ext cx="36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Obesity-related liver disease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8640" y="2401099"/>
            <a:ext cx="1759088" cy="2506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728" y="240109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5384"/>
            <a:ext cx="36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Genetic disorder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8640" y="2805384"/>
            <a:ext cx="1196180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54820" y="280538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89669"/>
            <a:ext cx="36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No cause after 6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8640" y="3209669"/>
            <a:ext cx="515999" cy="2506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4639" y="320966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93954"/>
            <a:ext cx="36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Autoimmune hepatitis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8640" y="3613954"/>
            <a:ext cx="164181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2821" y="361395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98239"/>
            <a:ext cx="36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Gallstones · choledochal cyst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8640" y="4018239"/>
            <a:ext cx="187636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46276" y="401823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02524"/>
            <a:ext cx="36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Coeliac disease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8640" y="4422524"/>
            <a:ext cx="70363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29003" y="442252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61% normalised within six months. Among the 166 who did not, one in three had a genetic disorder: Wilson 18, muscular dystrophy 14, A1AT 4, Alagille 4, HFI 4, GSD IX 3.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Repeat first; then look hard. The second abnormal result is where the treatable diseases hide.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Iorio R, et al. J Gastroenterol 2005;40:820–6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OBESE CHILD'S WORK-UP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Primary-care yield of the full panel is close to zero — except for the muscle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Obese, asymptomatic, non-cholestatic children with ALT ≥ 40 U/L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 / 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Had a disease other than NAFLD — muscular dystrophy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Positive predictive value of any screening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 / 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Ultrasounds with a significant abnormality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No Wilson, AIH, viral hepatitis, coeliac disease or A1AT deficiency; false positives were the main product of testing.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Pre-test probability decides the panel: a tertiary cohort finds genetics, a primary-care cohort finds 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Rudolph B, et al. Acta Paediatr 2015;104:e557–63 · Iorio R, et al. J Gastroenterol 2005;40:820–6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REPEAT OR INVESTIGATE?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one outright contradiction between the adult documents — and the paediatric societies side with ACG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ACG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Rec. 1: repeat the panel or add a clarifying test before evaluating.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GGT to confirm a raised ALP.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Adult evidence, adult thresholds.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BSG 2018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Rec. 4: investigate whatever the level and duration.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84% still abnormal at 1 month, 75% at 2 years.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Children: low threshold for paediatric referral.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AASLD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Well child, single raised ALT: repeat within 3 months.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Concern for acute hepatitis: repeat in 24–48 h and refer.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ESPGHAN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ALT 30–80: repeat in 2–6 months.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ALT ≥ 80: investigate now.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Any red flag: refer at once.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Repeat, but not twice: in children the second abnormal result starts the aetiology screen.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Kwo PY, et al. Am J Gastroenterol 2017;112:18–35 · Newsome PN, et al. Gut 2018;67:6–19 · Xanthakos SA, et al. Hepatology 2025;82:1352–94 · Mann JP, et al. J Pediatr Gastroenterol Nutr 2026;83:555–76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GOES IN THE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aetiology screen for persistently raised aminotransferases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24456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ACG 2017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BSG 2018 — children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AASLD 2025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badi"/>
                        </a:rPr>
                        <a:t>ESPGHAN 2026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5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GGT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Only to confirm ALP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In the first-line panel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Creatine kinase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If history suggests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“May help” in children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listed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Every child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Coeliac serology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If history suggests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tTG-IgA + total IgA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tTG-IgA + total IgA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PAEDS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Anti-LKM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listed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Ceruloplasmin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Persistent rise, &lt; 55 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Age &gt; 3 years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Plus 24-h urine copper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Alpha-1-antitrypsin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Phenotype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Phenotype or genotype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Iron studies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Everyone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“May not be indicated”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listed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Thyroid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If history suggests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listed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TSH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Thyroid function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PAEDS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Kwo PY, et al. Am J Gastroenterol 2017;112:18–35 · Newsome PN, et al. Gut 2018;67:6–19 · Xanthakos SA, et al. Hepatology 2025;82:1352–94 · Mann JP, et al. J Pediatr Gastroenterol Nutr 2026;83:555–76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FOUR DOCUMENTS, ONE PANEL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907445"/>
              </p:ext>
            </p:extLst>
          </p:nvPr>
        </p:nvGraphicFramePr>
        <p:xfrm>
          <a:off x="548640" y="930000"/>
          <a:ext cx="11094720" cy="4960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sz="2400"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ACG 2017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BSG 2018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AASLD 2025 · ESPGHAN 2026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Normal ALT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29–33 M · 19–25 F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Laboratory range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26 / 22 (AASLD) · ≥ 30 (ESPGHAN)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First response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Repeat or clarify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Investigate now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Repeat in weeks to months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CONTRADICT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Magnitude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Five bands guide work-up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a guide to significance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≥ 80 U/L escalates (ESPGHAN)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ALP source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Canalicular membrane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Biliary epithelium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Isolated ALP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Confirm with GGT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GGT; think vitamin D and growth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Isolated AST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Heart or muscle; macro-AST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CK in children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CK (ESPGHAN every child)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Low-GGT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Named: bile-acid synthesis, transport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PAEDS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Fibrosis scores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Adult tools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validated in children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Limited paediatric validation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ADULT ONLY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44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Age-specific ranges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Growth raises ALP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Sex-specific ALT from 10 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PAEDS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Kwo PY, et al. Am J Gastroenterol 2017;112:18–35 · Newsome PN, et al. Gut 2018;67:6–19 · Xanthakos SA, et al. Hepatology 2025;82:1352–94 · Mann JP, et al. J Pediatr Gastroenterol Nutr 2026;83:555–76 · Dufour DR, et al. Clin Chem 2000;46:2027–49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EXPERT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Four readings that separate the consultant from the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Kinetics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AST t½ ≈ 17 h, ALT ≈ 47 h: AST falls first after an insult.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Delta bilirubin shares albumin's 3-week t½ — jaundice outlasts recovery.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LDH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ALT/LDH &lt; 1.5: ischaemic or paracetamol injury.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Sensitivity 94%, specificity 84% against viral hepatitis.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INR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Prolonged in cholestasis from vitamin K malabsorption.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Give IV vitamin K before calling it liver failure.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Albumin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t½ ≈ 3 weeks: a low value means illness of weeks, or losses.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Any severe illness lowers it through cytokines.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Read the panel as a time series: the shape of the curve says more than any single value.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Dufour DR, et al. Clin Chem 2000;46:2027–49 · Cassidy WM, Reynolds TB. J Clin Gastroenterol 1994;19:118–21 · Kwo PY, et al. Am J Gastroenterol 2017;112:18–35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Reading the Liver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3103</Words>
  <Application>Microsoft Macintosh PowerPoint</Application>
  <PresentationFormat>Widescreen</PresentationFormat>
  <Paragraphs>514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Abadi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2</cp:revision>
  <dcterms:created xsi:type="dcterms:W3CDTF">2013-01-27T09:14:16Z</dcterms:created>
  <dcterms:modified xsi:type="dcterms:W3CDTF">2026-09-25T00:15:07Z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2026-09-25T00:15:07Z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32bf94e6-cfdf-42c5-8aeb-b15e48438b42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