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1082528" cy="2194560"/>
          </a:xfrm>
          <a:prstGeom prst="rect">
            <a:avLst/>
          </a:prstGeom>
          <a:noFill/>
        </p:spPr>
        <p:txBody>
          <a:bodyPr wrap="square" anchor="b" lIns="36576" rIns="36576" tIns="36576" bIns="36576">
            <a:spAutoFit/>
          </a:bodyPr>
          <a:lstStyle/>
          <a:p>
            <a:pPr algn="ctr"/>
            <a:r>
              <a:rPr sz="4000" b="1" i="0">
                <a:solidFill>
                  <a:srgbClr val="FFFFFF"/>
                </a:solidFill>
                <a:latin typeface="Abadi"/>
              </a:rPr>
              <a:t>Biliary Atresia VII: Cholangitis after the Kasai — Diagnosis, Empiric Therapy, Prophylaxis and Bile Lakes</a:t>
            </a:r>
          </a:p>
        </p:txBody>
      </p:sp>
      <p:sp>
        <p:nvSpPr>
          <p:cNvPr id="4" name="Rectangle 3"/>
          <p:cNvSpPr/>
          <p:nvPr/>
        </p:nvSpPr>
        <p:spPr>
          <a:xfrm>
            <a:off x="5184648" y="3630168"/>
            <a:ext cx="1828800"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31336"/>
            <a:ext cx="11082528" cy="292608"/>
          </a:xfrm>
          <a:prstGeom prst="rect">
            <a:avLst/>
          </a:prstGeom>
          <a:noFill/>
        </p:spPr>
        <p:txBody>
          <a:bodyPr wrap="square" anchor="t" lIns="36576" rIns="36576" tIns="36576" bIns="36576">
            <a:spAutoFit/>
          </a:bodyPr>
          <a:lstStyle/>
          <a:p>
            <a:pPr algn="ctr"/>
            <a:r>
              <a:rPr sz="1700" b="1" i="0">
                <a:solidFill>
                  <a:srgbClr val="FFFFFF"/>
                </a:solidFill>
                <a:latin typeface="Abadi"/>
              </a:rPr>
              <a:t>Andrey Ermak, MD</a:t>
            </a:r>
          </a:p>
        </p:txBody>
      </p:sp>
      <p:sp>
        <p:nvSpPr>
          <p:cNvPr id="6" name="TextBox 5"/>
          <p:cNvSpPr txBox="1"/>
          <p:nvPr/>
        </p:nvSpPr>
        <p:spPr>
          <a:xfrm>
            <a:off x="548640" y="4343400"/>
            <a:ext cx="11082528" cy="685800"/>
          </a:xfrm>
          <a:prstGeom prst="rect">
            <a:avLst/>
          </a:prstGeom>
          <a:noFill/>
        </p:spPr>
        <p:txBody>
          <a:bodyPr wrap="square" anchor="t" lIns="36576" rIns="36576" tIns="36576" bIns="36576">
            <a:spAutoFit/>
          </a:bodyPr>
          <a:lstStyle/>
          <a:p>
            <a:pPr algn="ctr"/>
            <a:r>
              <a:rPr sz="1100" b="0" i="0">
                <a:solidFill>
                  <a:srgbClr val="D9DEE7"/>
                </a:solidFill>
                <a:latin typeface="Abadi"/>
              </a:rPr>
              <a:t>van Heurn 2003 · Bu 2002, 2003 · Lien 2015 · Decharun 2016 · Li 2018 · Liu 2019 · Baek 2020 · Chen 2021 · Guan 2021 · Calinescu 2022 (BARD Delphi) · Alatas 2023 · Wang 2023 · Liu 2023 · Madadi-Sanjani 2024 · Harumatsu 2024 · Gohda 2024 · Calinescu 2024 · Brody 2025 · Aziz 2025 · Chen 2026</a:t>
            </a:r>
          </a:p>
        </p:txBody>
      </p:sp>
      <p:sp>
        <p:nvSpPr>
          <p:cNvPr id="7" name="TextBox 6"/>
          <p:cNvSpPr txBox="1"/>
          <p:nvPr/>
        </p:nvSpPr>
        <p:spPr>
          <a:xfrm>
            <a:off x="548640" y="5193792"/>
            <a:ext cx="11082528" cy="548640"/>
          </a:xfrm>
          <a:prstGeom prst="rect">
            <a:avLst/>
          </a:prstGeom>
          <a:noFill/>
        </p:spPr>
        <p:txBody>
          <a:bodyPr wrap="square" anchor="t" lIns="36576" rIns="36576" tIns="36576" bIns="36576">
            <a:spAutoFit/>
          </a:bodyPr>
          <a:lstStyle/>
          <a:p>
            <a:pPr algn="ctr"/>
            <a:r>
              <a:rPr sz="1100" b="0" i="1">
                <a:solidFill>
                  <a:srgbClr val="D9DEE7"/>
                </a:solidFill>
                <a:latin typeface="Abadi"/>
              </a:rPr>
              <a:t>common, early and often culture-negative · fever is not required · treat for two to three weeks · prophylaxis is consensus, not proof · recurrence, not a single episode, costs the liver · bile lakes breed infection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anchor="ctr" lIns="0" rIns="0" tIns="0" bIns="0">
            <a:spAutoFit/>
          </a:bodyPr>
          <a:lstStyle/>
          <a:p>
            <a:pPr algn="ctr"/>
            <a:r>
              <a:rPr sz="1500" b="1" i="0">
                <a:solidFill>
                  <a:srgbClr val="FFFFFF"/>
                </a:solidFill>
                <a:latin typeface="Abadi"/>
              </a:rPr>
              <a:t>I</a:t>
            </a:r>
          </a:p>
        </p:txBody>
      </p:sp>
      <p:sp>
        <p:nvSpPr>
          <p:cNvPr id="4" name="TextBox 3"/>
          <p:cNvSpPr txBox="1"/>
          <p:nvPr/>
        </p:nvSpPr>
        <p:spPr>
          <a:xfrm>
            <a:off x="1380744" y="292608"/>
            <a:ext cx="10232136" cy="347472"/>
          </a:xfrm>
          <a:prstGeom prst="rect">
            <a:avLst/>
          </a:prstGeom>
          <a:noFill/>
        </p:spPr>
        <p:txBody>
          <a:bodyPr wrap="square" anchor="ctr" lIns="36576" rIns="36576" tIns="36576" bIns="36576">
            <a:spAutoFit/>
          </a:bodyPr>
          <a:lstStyle/>
          <a:p>
            <a:pPr algn="l"/>
            <a:r>
              <a:rPr sz="1200" b="1" i="0">
                <a:solidFill>
                  <a:srgbClr val="B22222"/>
                </a:solidFill>
                <a:latin typeface="Abadi"/>
              </a:rPr>
              <a:t>THE QUESTION OF THE DAY</a:t>
            </a:r>
          </a:p>
        </p:txBody>
      </p:sp>
      <p:sp>
        <p:nvSpPr>
          <p:cNvPr id="5" name="TextBox 4"/>
          <p:cNvSpPr txBox="1"/>
          <p:nvPr/>
        </p:nvSpPr>
        <p:spPr>
          <a:xfrm>
            <a:off x="548640" y="722376"/>
            <a:ext cx="11082528" cy="548640"/>
          </a:xfrm>
          <a:prstGeom prst="rect">
            <a:avLst/>
          </a:prstGeom>
          <a:noFill/>
        </p:spPr>
        <p:txBody>
          <a:bodyPr wrap="square" anchor="ctr" lIns="36576" rIns="36576" tIns="36576" bIns="36576">
            <a:spAutoFit/>
          </a:bodyPr>
          <a:lstStyle/>
          <a:p>
            <a:pPr algn="l"/>
            <a:r>
              <a:rPr sz="3000" b="1" i="0">
                <a:solidFill>
                  <a:srgbClr val="1B355E"/>
                </a:solidFill>
                <a:latin typeface="Abadi"/>
              </a:rPr>
              <a:t>FEVER, PALE STOOLS, TEN WEEKS OLD</a:t>
            </a:r>
          </a:p>
        </p:txBody>
      </p:sp>
      <p:sp>
        <p:nvSpPr>
          <p:cNvPr id="6" name="TextBox 5"/>
          <p:cNvSpPr txBox="1"/>
          <p:nvPr/>
        </p:nvSpPr>
        <p:spPr>
          <a:xfrm>
            <a:off x="548640" y="1307592"/>
            <a:ext cx="11082528" cy="265176"/>
          </a:xfrm>
          <a:prstGeom prst="rect">
            <a:avLst/>
          </a:prstGeom>
          <a:noFill/>
        </p:spPr>
        <p:txBody>
          <a:bodyPr wrap="square" anchor="t" lIns="36576" rIns="36576" tIns="36576" bIns="36576">
            <a:spAutoFit/>
          </a:bodyPr>
          <a:lstStyle/>
          <a:p>
            <a:pPr algn="l"/>
            <a:r>
              <a:rPr sz="1300" b="0" i="0">
                <a:solidFill>
                  <a:srgbClr val="555555"/>
                </a:solidFill>
                <a:latin typeface="Abadi"/>
              </a:rPr>
              <a:t>Four weeks after a Kasai, an infant who was draining well spikes 38.6 °C and her stools fade. What do you call it, and what do you give?</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anchor="t" lIns="36576" rIns="36576" tIns="36576" bIns="36576">
            <a:spAutoFit/>
          </a:bodyPr>
          <a:lstStyle/>
          <a:p>
            <a:pPr algn="r"/>
            <a:r>
              <a:rPr sz="1200" b="0" i="0">
                <a:solidFill>
                  <a:srgbClr val="555555"/>
                </a:solidFill>
                <a:latin typeface="Abadi"/>
              </a:rPr>
              <a:t>2</a:t>
            </a:r>
          </a:p>
        </p:txBody>
      </p:sp>
      <p:sp>
        <p:nvSpPr>
          <p:cNvPr id="11" name="TextBox 10"/>
          <p:cNvSpPr txBox="1"/>
          <p:nvPr/>
        </p:nvSpPr>
        <p:spPr>
          <a:xfrm>
            <a:off x="548640" y="5971032"/>
            <a:ext cx="10287000" cy="457200"/>
          </a:xfrm>
          <a:prstGeom prst="rect">
            <a:avLst/>
          </a:prstGeom>
          <a:noFill/>
        </p:spPr>
        <p:txBody>
          <a:bodyPr wrap="square" anchor="t" lIns="36576" rIns="36576" tIns="36576" bIns="36576">
            <a:spAutoFit/>
          </a:bodyPr>
          <a:lstStyle/>
          <a:p>
            <a:pPr algn="l"/>
            <a:r>
              <a:rPr sz="1000" b="0" i="0">
                <a:solidFill>
                  <a:srgbClr val="7F7F7F"/>
                </a:solidFill>
                <a:latin typeface="Abadi"/>
              </a:rPr>
              <a:t>Calinescu AM, et al. J Clin Med 2022;11:494 · Calinescu AM, Wildhaber BE. Semin Pediatr Surg 2024;33:151471 · Madadi-Sanjani O, et al. JPGN Rep 2024</a:t>
            </a:r>
          </a:p>
        </p:txBody>
      </p:sp>
      <p:sp>
        <p:nvSpPr>
          <p:cNvPr id="12" name="Rectangle 11"/>
          <p:cNvSpPr/>
          <p:nvPr/>
        </p:nvSpPr>
        <p:spPr>
          <a:xfrm>
            <a:off x="548640" y="1773936"/>
            <a:ext cx="2070201" cy="214884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777593" cy="502920"/>
          </a:xfrm>
          <a:prstGeom prst="rect">
            <a:avLst/>
          </a:prstGeom>
          <a:noFill/>
        </p:spPr>
        <p:txBody>
          <a:bodyPr wrap="square" anchor="t" lIns="36576" rIns="36576" tIns="36576" bIns="36576">
            <a:spAutoFit/>
          </a:bodyPr>
          <a:lstStyle/>
          <a:p>
            <a:pPr algn="l"/>
            <a:r>
              <a:rPr sz="1500" b="1" i="0">
                <a:solidFill>
                  <a:srgbClr val="1B355E"/>
                </a:solidFill>
                <a:latin typeface="Abadi"/>
              </a:rPr>
              <a:t>Common</a:t>
            </a:r>
          </a:p>
        </p:txBody>
      </p:sp>
      <p:sp>
        <p:nvSpPr>
          <p:cNvPr id="15" name="TextBox 14"/>
          <p:cNvSpPr txBox="1"/>
          <p:nvPr/>
        </p:nvSpPr>
        <p:spPr>
          <a:xfrm>
            <a:off x="694944" y="2487168"/>
            <a:ext cx="1777593" cy="1344168"/>
          </a:xfrm>
          <a:prstGeom prst="rect">
            <a:avLst/>
          </a:prstGeom>
          <a:noFill/>
        </p:spPr>
        <p:txBody>
          <a:bodyPr wrap="square" anchor="t" lIns="36576" rIns="36576" tIns="36576" bIns="36576">
            <a:spAutoFit/>
          </a:bodyPr>
          <a:lstStyle/>
          <a:p>
            <a:pPr algn="l">
              <a:spcAft>
                <a:spcPts val="400"/>
              </a:spcAft>
            </a:pPr>
            <a:r>
              <a:rPr sz="1100" b="0" i="0">
                <a:solidFill>
                  <a:srgbClr val="1A1A1A"/>
                </a:solidFill>
                <a:latin typeface="Abadi"/>
              </a:rPr>
              <a:t>▪  22–93% across series</a:t>
            </a:r>
          </a:p>
          <a:p>
            <a:pPr algn="l">
              <a:spcAft>
                <a:spcPts val="400"/>
              </a:spcAft>
            </a:pPr>
            <a:r>
              <a:rPr sz="1100" b="0" i="0">
                <a:solidFill>
                  <a:srgbClr val="1A1A1A"/>
                </a:solidFill>
                <a:latin typeface="Abadi"/>
              </a:rPr>
              <a:t>▪  Most in the first year</a:t>
            </a:r>
          </a:p>
          <a:p>
            <a:pPr algn="l">
              <a:spcAft>
                <a:spcPts val="400"/>
              </a:spcAft>
            </a:pPr>
            <a:r>
              <a:rPr sz="1100" b="0" i="0">
                <a:solidFill>
                  <a:srgbClr val="1A1A1A"/>
                </a:solidFill>
                <a:latin typeface="Abadi"/>
              </a:rPr>
              <a:t>▪  First episode often by 2 months</a:t>
            </a:r>
          </a:p>
        </p:txBody>
      </p:sp>
      <p:sp>
        <p:nvSpPr>
          <p:cNvPr id="16" name="Rectangle 15"/>
          <p:cNvSpPr/>
          <p:nvPr/>
        </p:nvSpPr>
        <p:spPr>
          <a:xfrm>
            <a:off x="2801721" y="1773936"/>
            <a:ext cx="2070201" cy="214884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025" y="1956816"/>
            <a:ext cx="1777593" cy="502920"/>
          </a:xfrm>
          <a:prstGeom prst="rect">
            <a:avLst/>
          </a:prstGeom>
          <a:noFill/>
        </p:spPr>
        <p:txBody>
          <a:bodyPr wrap="square" anchor="t" lIns="36576" rIns="36576" tIns="36576" bIns="36576">
            <a:spAutoFit/>
          </a:bodyPr>
          <a:lstStyle/>
          <a:p>
            <a:pPr algn="l"/>
            <a:r>
              <a:rPr sz="1500" b="1" i="0">
                <a:solidFill>
                  <a:srgbClr val="B22222"/>
                </a:solidFill>
                <a:latin typeface="Abadi"/>
              </a:rPr>
              <a:t>Hard to define</a:t>
            </a:r>
          </a:p>
        </p:txBody>
      </p:sp>
      <p:sp>
        <p:nvSpPr>
          <p:cNvPr id="19" name="TextBox 18"/>
          <p:cNvSpPr txBox="1"/>
          <p:nvPr/>
        </p:nvSpPr>
        <p:spPr>
          <a:xfrm>
            <a:off x="2948025" y="2487168"/>
            <a:ext cx="1777593" cy="1344168"/>
          </a:xfrm>
          <a:prstGeom prst="rect">
            <a:avLst/>
          </a:prstGeom>
          <a:noFill/>
        </p:spPr>
        <p:txBody>
          <a:bodyPr wrap="square" anchor="t" lIns="36576" rIns="36576" tIns="36576" bIns="36576">
            <a:spAutoFit/>
          </a:bodyPr>
          <a:lstStyle/>
          <a:p>
            <a:pPr algn="l">
              <a:spcAft>
                <a:spcPts val="400"/>
              </a:spcAft>
            </a:pPr>
            <a:r>
              <a:rPr sz="1100" b="0" i="0">
                <a:solidFill>
                  <a:srgbClr val="1A1A1A"/>
                </a:solidFill>
                <a:latin typeface="Abadi"/>
              </a:rPr>
              <a:t>▪  Tokyo criteria not built for infants</a:t>
            </a:r>
          </a:p>
          <a:p>
            <a:pPr algn="l">
              <a:spcAft>
                <a:spcPts val="400"/>
              </a:spcAft>
            </a:pPr>
            <a:r>
              <a:rPr sz="1100" b="0" i="0">
                <a:solidFill>
                  <a:srgbClr val="1A1A1A"/>
                </a:solidFill>
                <a:latin typeface="Abadi"/>
              </a:rPr>
              <a:t>▪  Fever absent in many</a:t>
            </a:r>
          </a:p>
          <a:p>
            <a:pPr algn="l">
              <a:spcAft>
                <a:spcPts val="400"/>
              </a:spcAft>
            </a:pPr>
            <a:r>
              <a:rPr sz="1100" b="0" i="0">
                <a:solidFill>
                  <a:srgbClr val="1A1A1A"/>
                </a:solidFill>
                <a:latin typeface="Abadi"/>
              </a:rPr>
              <a:t>▪  BARD 2022 definition</a:t>
            </a:r>
          </a:p>
        </p:txBody>
      </p:sp>
      <p:sp>
        <p:nvSpPr>
          <p:cNvPr id="20" name="Rectangle 19"/>
          <p:cNvSpPr/>
          <p:nvPr/>
        </p:nvSpPr>
        <p:spPr>
          <a:xfrm>
            <a:off x="5054803" y="1773936"/>
            <a:ext cx="2070201" cy="214884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1107" y="1956816"/>
            <a:ext cx="1777593" cy="502920"/>
          </a:xfrm>
          <a:prstGeom prst="rect">
            <a:avLst/>
          </a:prstGeom>
          <a:noFill/>
        </p:spPr>
        <p:txBody>
          <a:bodyPr wrap="square" anchor="t" lIns="36576" rIns="36576" tIns="36576" bIns="36576">
            <a:spAutoFit/>
          </a:bodyPr>
          <a:lstStyle/>
          <a:p>
            <a:pPr algn="l"/>
            <a:r>
              <a:rPr sz="1500" b="1" i="0">
                <a:solidFill>
                  <a:srgbClr val="D97A0B"/>
                </a:solidFill>
                <a:latin typeface="Abadi"/>
              </a:rPr>
              <a:t>Culture-negative</a:t>
            </a:r>
          </a:p>
        </p:txBody>
      </p:sp>
      <p:sp>
        <p:nvSpPr>
          <p:cNvPr id="23" name="TextBox 22"/>
          <p:cNvSpPr txBox="1"/>
          <p:nvPr/>
        </p:nvSpPr>
        <p:spPr>
          <a:xfrm>
            <a:off x="5201107" y="2487168"/>
            <a:ext cx="1777593" cy="1344168"/>
          </a:xfrm>
          <a:prstGeom prst="rect">
            <a:avLst/>
          </a:prstGeom>
          <a:noFill/>
        </p:spPr>
        <p:txBody>
          <a:bodyPr wrap="square" anchor="t" lIns="36576" rIns="36576" tIns="36576" bIns="36576">
            <a:spAutoFit/>
          </a:bodyPr>
          <a:lstStyle/>
          <a:p>
            <a:pPr algn="l">
              <a:spcAft>
                <a:spcPts val="400"/>
              </a:spcAft>
            </a:pPr>
            <a:r>
              <a:rPr sz="1100" b="0" i="0">
                <a:solidFill>
                  <a:srgbClr val="1A1A1A"/>
                </a:solidFill>
                <a:latin typeface="Abadi"/>
              </a:rPr>
              <a:t>▪  Blood cultures 10–44% positive</a:t>
            </a:r>
          </a:p>
          <a:p>
            <a:pPr algn="l">
              <a:spcAft>
                <a:spcPts val="400"/>
              </a:spcAft>
            </a:pPr>
            <a:r>
              <a:rPr sz="1100" b="0" i="0">
                <a:solidFill>
                  <a:srgbClr val="1A1A1A"/>
                </a:solidFill>
                <a:latin typeface="Abadi"/>
              </a:rPr>
              <a:t>▪  Enterococci, Klebsiella, E. coli</a:t>
            </a:r>
          </a:p>
          <a:p>
            <a:pPr algn="l">
              <a:spcAft>
                <a:spcPts val="400"/>
              </a:spcAft>
            </a:pPr>
            <a:r>
              <a:rPr sz="1100" b="0" i="0">
                <a:solidFill>
                  <a:srgbClr val="1A1A1A"/>
                </a:solidFill>
                <a:latin typeface="Abadi"/>
              </a:rPr>
              <a:t>▪  Resistance rising</a:t>
            </a:r>
          </a:p>
        </p:txBody>
      </p:sp>
      <p:sp>
        <p:nvSpPr>
          <p:cNvPr id="24" name="Rectangle 23"/>
          <p:cNvSpPr/>
          <p:nvPr/>
        </p:nvSpPr>
        <p:spPr>
          <a:xfrm>
            <a:off x="7307884" y="1773936"/>
            <a:ext cx="2070201" cy="214884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4188" y="1956816"/>
            <a:ext cx="1777593" cy="502920"/>
          </a:xfrm>
          <a:prstGeom prst="rect">
            <a:avLst/>
          </a:prstGeom>
          <a:noFill/>
        </p:spPr>
        <p:txBody>
          <a:bodyPr wrap="square" anchor="t" lIns="36576" rIns="36576" tIns="36576" bIns="36576">
            <a:spAutoFit/>
          </a:bodyPr>
          <a:lstStyle/>
          <a:p>
            <a:pPr algn="l"/>
            <a:r>
              <a:rPr sz="1500" b="1" i="0">
                <a:solidFill>
                  <a:srgbClr val="1E7A33"/>
                </a:solidFill>
                <a:latin typeface="Abadi"/>
              </a:rPr>
              <a:t>Treat long</a:t>
            </a:r>
          </a:p>
        </p:txBody>
      </p:sp>
      <p:sp>
        <p:nvSpPr>
          <p:cNvPr id="27" name="TextBox 26"/>
          <p:cNvSpPr txBox="1"/>
          <p:nvPr/>
        </p:nvSpPr>
        <p:spPr>
          <a:xfrm>
            <a:off x="7454188" y="2487168"/>
            <a:ext cx="1777593" cy="1344168"/>
          </a:xfrm>
          <a:prstGeom prst="rect">
            <a:avLst/>
          </a:prstGeom>
          <a:noFill/>
        </p:spPr>
        <p:txBody>
          <a:bodyPr wrap="square" anchor="t" lIns="36576" rIns="36576" tIns="36576" bIns="36576">
            <a:spAutoFit/>
          </a:bodyPr>
          <a:lstStyle/>
          <a:p>
            <a:pPr algn="l">
              <a:spcAft>
                <a:spcPts val="400"/>
              </a:spcAft>
            </a:pPr>
            <a:r>
              <a:rPr sz="1100" b="0" i="0">
                <a:solidFill>
                  <a:srgbClr val="1A1A1A"/>
                </a:solidFill>
                <a:latin typeface="Abadi"/>
              </a:rPr>
              <a:t>▪  10–14 days if suspected</a:t>
            </a:r>
          </a:p>
          <a:p>
            <a:pPr algn="l">
              <a:spcAft>
                <a:spcPts val="400"/>
              </a:spcAft>
            </a:pPr>
            <a:r>
              <a:rPr sz="1100" b="0" i="0">
                <a:solidFill>
                  <a:srgbClr val="1A1A1A"/>
                </a:solidFill>
                <a:latin typeface="Abadi"/>
              </a:rPr>
              <a:t>▪  14–21 days if confirmed</a:t>
            </a:r>
          </a:p>
          <a:p>
            <a:pPr algn="l">
              <a:spcAft>
                <a:spcPts val="400"/>
              </a:spcAft>
            </a:pPr>
            <a:r>
              <a:rPr sz="1100" b="0" i="0">
                <a:solidFill>
                  <a:srgbClr val="1A1A1A"/>
                </a:solidFill>
                <a:latin typeface="Abadi"/>
              </a:rPr>
              <a:t>▪  Escalate by 72 h</a:t>
            </a:r>
          </a:p>
        </p:txBody>
      </p:sp>
      <p:sp>
        <p:nvSpPr>
          <p:cNvPr id="28" name="Rectangle 27"/>
          <p:cNvSpPr/>
          <p:nvPr/>
        </p:nvSpPr>
        <p:spPr>
          <a:xfrm>
            <a:off x="9560966" y="1773936"/>
            <a:ext cx="2070201" cy="214884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270" y="1956816"/>
            <a:ext cx="1777593" cy="502920"/>
          </a:xfrm>
          <a:prstGeom prst="rect">
            <a:avLst/>
          </a:prstGeom>
          <a:noFill/>
        </p:spPr>
        <p:txBody>
          <a:bodyPr wrap="square" anchor="t" lIns="36576" rIns="36576" tIns="36576" bIns="36576">
            <a:spAutoFit/>
          </a:bodyPr>
          <a:lstStyle/>
          <a:p>
            <a:pPr algn="l"/>
            <a:r>
              <a:rPr sz="1500" b="1" i="0">
                <a:solidFill>
                  <a:srgbClr val="8A939B"/>
                </a:solidFill>
                <a:latin typeface="Abadi"/>
              </a:rPr>
              <a:t>Prevent?</a:t>
            </a:r>
          </a:p>
        </p:txBody>
      </p:sp>
      <p:sp>
        <p:nvSpPr>
          <p:cNvPr id="31" name="TextBox 30"/>
          <p:cNvSpPr txBox="1"/>
          <p:nvPr/>
        </p:nvSpPr>
        <p:spPr>
          <a:xfrm>
            <a:off x="9707270" y="2487168"/>
            <a:ext cx="1777593" cy="1344168"/>
          </a:xfrm>
          <a:prstGeom prst="rect">
            <a:avLst/>
          </a:prstGeom>
          <a:noFill/>
        </p:spPr>
        <p:txBody>
          <a:bodyPr wrap="square" anchor="t" lIns="36576" rIns="36576" tIns="36576" bIns="36576">
            <a:spAutoFit/>
          </a:bodyPr>
          <a:lstStyle/>
          <a:p>
            <a:pPr algn="l">
              <a:spcAft>
                <a:spcPts val="400"/>
              </a:spcAft>
            </a:pPr>
            <a:r>
              <a:rPr sz="1100" b="0" i="0">
                <a:solidFill>
                  <a:srgbClr val="1A1A1A"/>
                </a:solidFill>
                <a:latin typeface="Abadi"/>
              </a:rPr>
              <a:t>▪  Prophylaxis 6–12 months by consensus</a:t>
            </a:r>
          </a:p>
          <a:p>
            <a:pPr algn="l">
              <a:spcAft>
                <a:spcPts val="400"/>
              </a:spcAft>
            </a:pPr>
            <a:r>
              <a:rPr sz="1100" b="0" i="0">
                <a:solidFill>
                  <a:srgbClr val="1A1A1A"/>
                </a:solidFill>
                <a:latin typeface="Abadi"/>
              </a:rPr>
              <a:t>▪  Meta-analyses: null</a:t>
            </a:r>
          </a:p>
          <a:p>
            <a:pPr algn="l">
              <a:spcAft>
                <a:spcPts val="400"/>
              </a:spcAft>
            </a:pPr>
            <a:r>
              <a:rPr sz="1100" b="0" i="0">
                <a:solidFill>
                  <a:srgbClr val="1A1A1A"/>
                </a:solidFill>
                <a:latin typeface="Abadi"/>
              </a:rPr>
              <a:t>▪  RCT under way</a:t>
            </a:r>
          </a:p>
        </p:txBody>
      </p:sp>
      <p:sp>
        <p:nvSpPr>
          <p:cNvPr id="32" name="TextBox 31"/>
          <p:cNvSpPr txBox="1"/>
          <p:nvPr/>
        </p:nvSpPr>
        <p:spPr>
          <a:xfrm>
            <a:off x="548640" y="4114800"/>
            <a:ext cx="11082528" cy="1691640"/>
          </a:xfrm>
          <a:prstGeom prst="rect">
            <a:avLst/>
          </a:prstGeom>
          <a:noFill/>
        </p:spPr>
        <p:txBody>
          <a:bodyPr wrap="square" anchor="t" lIns="36576" rIns="36576" tIns="36576" bIns="36576">
            <a:spAutoFit/>
          </a:bodyPr>
          <a:lstStyle/>
          <a:p>
            <a:pPr algn="l"/>
            <a:r>
              <a:rPr sz="1250" b="1" i="0">
                <a:solidFill>
                  <a:srgbClr val="1B355E"/>
                </a:solidFill>
                <a:latin typeface="Abadi"/>
              </a:rPr>
              <a:t>The main idea.   </a:t>
            </a:r>
            <a:r>
              <a:rPr sz="1250" b="0" i="0">
                <a:solidFill>
                  <a:srgbClr val="1A1A1A"/>
                </a:solidFill>
                <a:latin typeface="Abadi"/>
              </a:rPr>
              <a:t>Cholangitis after a Kasai is the commonest complication of a successful operation, it arrives early, and it is usually diagnosed without a positive culture. Use the 2022 international definition so that you do not wait for fever. Treat with intravenous antibiotics that cover gram-negative and enteric organisms for two to three weeks, and escalate if the child is not better by 72 hours. Prophylaxis is near-universal but unproven. Recurrent and early cholangitis, and bile lakes, are what predict loss of the native liver.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anchor="ctr" lIns="0" rIns="0" tIns="0" bIns="0">
            <a:spAutoFit/>
          </a:bodyPr>
          <a:lstStyle/>
          <a:p>
            <a:pPr algn="ctr"/>
            <a:r>
              <a:rPr sz="1500" b="1" i="0">
                <a:solidFill>
                  <a:srgbClr val="FFFFFF"/>
                </a:solidFill>
                <a:latin typeface="Abadi"/>
              </a:rPr>
              <a:t>I</a:t>
            </a:r>
          </a:p>
        </p:txBody>
      </p:sp>
      <p:sp>
        <p:nvSpPr>
          <p:cNvPr id="4" name="TextBox 3"/>
          <p:cNvSpPr txBox="1"/>
          <p:nvPr/>
        </p:nvSpPr>
        <p:spPr>
          <a:xfrm>
            <a:off x="1380744" y="292608"/>
            <a:ext cx="10232136" cy="347472"/>
          </a:xfrm>
          <a:prstGeom prst="rect">
            <a:avLst/>
          </a:prstGeom>
          <a:noFill/>
        </p:spPr>
        <p:txBody>
          <a:bodyPr wrap="square" anchor="ctr" lIns="36576" rIns="36576" tIns="36576" bIns="36576">
            <a:spAutoFit/>
          </a:bodyPr>
          <a:lstStyle/>
          <a:p>
            <a:pPr algn="l"/>
            <a:r>
              <a:rPr sz="1200" b="1" i="0">
                <a:solidFill>
                  <a:srgbClr val="B22222"/>
                </a:solidFill>
                <a:latin typeface="Abadi"/>
              </a:rPr>
              <a:t>MECHANISM</a:t>
            </a:r>
          </a:p>
        </p:txBody>
      </p:sp>
      <p:sp>
        <p:nvSpPr>
          <p:cNvPr id="5" name="TextBox 4"/>
          <p:cNvSpPr txBox="1"/>
          <p:nvPr/>
        </p:nvSpPr>
        <p:spPr>
          <a:xfrm>
            <a:off x="548640" y="722376"/>
            <a:ext cx="11082528" cy="548640"/>
          </a:xfrm>
          <a:prstGeom prst="rect">
            <a:avLst/>
          </a:prstGeom>
          <a:noFill/>
        </p:spPr>
        <p:txBody>
          <a:bodyPr wrap="square" anchor="ctr" lIns="36576" rIns="36576" tIns="36576" bIns="36576">
            <a:spAutoFit/>
          </a:bodyPr>
          <a:lstStyle/>
          <a:p>
            <a:pPr algn="l"/>
            <a:r>
              <a:rPr sz="3000" b="1" i="0">
                <a:solidFill>
                  <a:srgbClr val="1B355E"/>
                </a:solidFill>
                <a:latin typeface="Abadi"/>
              </a:rPr>
              <a:t>HOW BACTERIA REACH THE PORTA</a:t>
            </a:r>
          </a:p>
        </p:txBody>
      </p:sp>
      <p:sp>
        <p:nvSpPr>
          <p:cNvPr id="6" name="TextBox 5"/>
          <p:cNvSpPr txBox="1"/>
          <p:nvPr/>
        </p:nvSpPr>
        <p:spPr>
          <a:xfrm>
            <a:off x="548640" y="1307592"/>
            <a:ext cx="11082528" cy="265176"/>
          </a:xfrm>
          <a:prstGeom prst="rect">
            <a:avLst/>
          </a:prstGeom>
          <a:noFill/>
        </p:spPr>
        <p:txBody>
          <a:bodyPr wrap="square" anchor="t" lIns="36576" rIns="36576" tIns="36576" bIns="36576">
            <a:spAutoFit/>
          </a:bodyPr>
          <a:lstStyle/>
          <a:p>
            <a:pPr algn="l"/>
            <a:r>
              <a:rPr sz="1300" b="0" i="0">
                <a:solidFill>
                  <a:srgbClr val="555555"/>
                </a:solidFill>
                <a:latin typeface="Abadi"/>
              </a:rPr>
              <a:t>A Kasai builds a direct channel between the bowel and the intrahepatic ductules; each step below is a target</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anchor="t" lIns="36576" rIns="36576" tIns="36576" bIns="36576">
            <a:spAutoFit/>
          </a:bodyPr>
          <a:lstStyle/>
          <a:p>
            <a:pPr algn="r"/>
            <a:r>
              <a:rPr sz="1200" b="0" i="0">
                <a:solidFill>
                  <a:srgbClr val="555555"/>
                </a:solidFill>
                <a:latin typeface="Abadi"/>
              </a:rPr>
              <a:t>3</a:t>
            </a:r>
          </a:p>
        </p:txBody>
      </p:sp>
      <p:sp>
        <p:nvSpPr>
          <p:cNvPr id="11" name="TextBox 10"/>
          <p:cNvSpPr txBox="1"/>
          <p:nvPr/>
        </p:nvSpPr>
        <p:spPr>
          <a:xfrm>
            <a:off x="548640" y="5971032"/>
            <a:ext cx="10287000" cy="457200"/>
          </a:xfrm>
          <a:prstGeom prst="rect">
            <a:avLst/>
          </a:prstGeom>
          <a:noFill/>
        </p:spPr>
        <p:txBody>
          <a:bodyPr wrap="square" anchor="t" lIns="36576" rIns="36576" tIns="36576" bIns="36576">
            <a:spAutoFit/>
          </a:bodyPr>
          <a:lstStyle/>
          <a:p>
            <a:pPr algn="l"/>
            <a:r>
              <a:rPr sz="1000" b="0" i="0">
                <a:solidFill>
                  <a:srgbClr val="7F7F7F"/>
                </a:solidFill>
                <a:latin typeface="Abadi"/>
              </a:rPr>
              <a:t>Calinescu &amp; Wildhaber 2024 · van Heurn LWE, et al. J Pediatr 2003;142:566–71 · Liu F, et al. Front Pediatr 2023;11:1189792</a:t>
            </a:r>
          </a:p>
        </p:txBody>
      </p:sp>
      <p:sp>
        <p:nvSpPr>
          <p:cNvPr id="12" name="Rectangle 11"/>
          <p:cNvSpPr/>
          <p:nvPr/>
        </p:nvSpPr>
        <p:spPr>
          <a:xfrm>
            <a:off x="548640" y="1773936"/>
            <a:ext cx="1982419" cy="41148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1773936"/>
            <a:ext cx="1836115" cy="411480"/>
          </a:xfrm>
          <a:prstGeom prst="rect">
            <a:avLst/>
          </a:prstGeom>
          <a:noFill/>
        </p:spPr>
        <p:txBody>
          <a:bodyPr wrap="square" anchor="ctr" lIns="36576" rIns="36576" tIns="36576" bIns="36576">
            <a:spAutoFit/>
          </a:bodyPr>
          <a:lstStyle/>
          <a:p>
            <a:pPr algn="l"/>
            <a:r>
              <a:rPr sz="1150" b="1" i="0">
                <a:solidFill>
                  <a:srgbClr val="FFFFFF"/>
                </a:solidFill>
                <a:latin typeface="Abadi"/>
              </a:rPr>
              <a:t>Open conduit</a:t>
            </a:r>
          </a:p>
        </p:txBody>
      </p:sp>
      <p:sp>
        <p:nvSpPr>
          <p:cNvPr id="14" name="Rectangle 13"/>
          <p:cNvSpPr/>
          <p:nvPr/>
        </p:nvSpPr>
        <p:spPr>
          <a:xfrm>
            <a:off x="548640" y="2185416"/>
            <a:ext cx="1982419" cy="1691639"/>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276856"/>
            <a:ext cx="1799539" cy="1554480"/>
          </a:xfrm>
          <a:prstGeom prst="rect">
            <a:avLst/>
          </a:prstGeom>
          <a:noFill/>
        </p:spPr>
        <p:txBody>
          <a:bodyPr wrap="square" anchor="t" lIns="36576" rIns="36576" tIns="36576" bIns="36576">
            <a:spAutoFit/>
          </a:bodyPr>
          <a:lstStyle/>
          <a:p>
            <a:pPr algn="l"/>
            <a:r>
              <a:rPr sz="1100" b="0" i="0">
                <a:solidFill>
                  <a:srgbClr val="1A1A1A"/>
                </a:solidFill>
                <a:latin typeface="Abadi"/>
              </a:rPr>
              <a:t>The Roux limb opens onto the porta. No sphincter, no valve: refluxing bowel content reaches the ductules.</a:t>
            </a:r>
          </a:p>
        </p:txBody>
      </p:sp>
      <p:sp>
        <p:nvSpPr>
          <p:cNvPr id="16" name="TextBox 15"/>
          <p:cNvSpPr txBox="1"/>
          <p:nvPr/>
        </p:nvSpPr>
        <p:spPr>
          <a:xfrm>
            <a:off x="2531059" y="2642615"/>
            <a:ext cx="292608" cy="365760"/>
          </a:xfrm>
          <a:prstGeom prst="rect">
            <a:avLst/>
          </a:prstGeom>
          <a:noFill/>
        </p:spPr>
        <p:txBody>
          <a:bodyPr wrap="square" anchor="ctr" lIns="0" rIns="0" tIns="0" bIns="0">
            <a:spAutoFit/>
          </a:bodyPr>
          <a:lstStyle/>
          <a:p>
            <a:pPr algn="ctr"/>
            <a:r>
              <a:rPr sz="1200" b="0" i="0">
                <a:solidFill>
                  <a:srgbClr val="8A939B"/>
                </a:solidFill>
                <a:latin typeface="Abadi"/>
              </a:rPr>
              <a:t>▶</a:t>
            </a:r>
          </a:p>
        </p:txBody>
      </p:sp>
      <p:sp>
        <p:nvSpPr>
          <p:cNvPr id="17" name="Rectangle 16"/>
          <p:cNvSpPr/>
          <p:nvPr/>
        </p:nvSpPr>
        <p:spPr>
          <a:xfrm>
            <a:off x="2823667" y="1773936"/>
            <a:ext cx="1982419" cy="41148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96819" y="1773936"/>
            <a:ext cx="1836115" cy="411480"/>
          </a:xfrm>
          <a:prstGeom prst="rect">
            <a:avLst/>
          </a:prstGeom>
          <a:noFill/>
        </p:spPr>
        <p:txBody>
          <a:bodyPr wrap="square" anchor="ctr" lIns="36576" rIns="36576" tIns="36576" bIns="36576">
            <a:spAutoFit/>
          </a:bodyPr>
          <a:lstStyle/>
          <a:p>
            <a:pPr algn="l"/>
            <a:r>
              <a:rPr sz="1150" b="1" i="0">
                <a:solidFill>
                  <a:srgbClr val="FFFFFF"/>
                </a:solidFill>
                <a:latin typeface="Abadi"/>
              </a:rPr>
              <a:t>Stasis</a:t>
            </a:r>
          </a:p>
        </p:txBody>
      </p:sp>
      <p:sp>
        <p:nvSpPr>
          <p:cNvPr id="19" name="Rectangle 18"/>
          <p:cNvSpPr/>
          <p:nvPr/>
        </p:nvSpPr>
        <p:spPr>
          <a:xfrm>
            <a:off x="2823667" y="2185416"/>
            <a:ext cx="1982419" cy="1691639"/>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15107" y="2276856"/>
            <a:ext cx="1799539" cy="1554480"/>
          </a:xfrm>
          <a:prstGeom prst="rect">
            <a:avLst/>
          </a:prstGeom>
          <a:noFill/>
        </p:spPr>
        <p:txBody>
          <a:bodyPr wrap="square" anchor="t" lIns="36576" rIns="36576" tIns="36576" bIns="36576">
            <a:spAutoFit/>
          </a:bodyPr>
          <a:lstStyle/>
          <a:p>
            <a:pPr algn="l"/>
            <a:r>
              <a:rPr sz="1100" b="0" i="0">
                <a:solidFill>
                  <a:srgbClr val="1A1A1A"/>
                </a:solidFill>
                <a:latin typeface="Abadi"/>
              </a:rPr>
              <a:t>Partial drainage leaves slow bile in narrow, scarred ductules: the ideal culture medium.</a:t>
            </a:r>
          </a:p>
        </p:txBody>
      </p:sp>
      <p:sp>
        <p:nvSpPr>
          <p:cNvPr id="21" name="TextBox 20"/>
          <p:cNvSpPr txBox="1"/>
          <p:nvPr/>
        </p:nvSpPr>
        <p:spPr>
          <a:xfrm>
            <a:off x="4806086" y="2642615"/>
            <a:ext cx="292608" cy="365760"/>
          </a:xfrm>
          <a:prstGeom prst="rect">
            <a:avLst/>
          </a:prstGeom>
          <a:noFill/>
        </p:spPr>
        <p:txBody>
          <a:bodyPr wrap="square" anchor="ctr" lIns="0" rIns="0" tIns="0" bIns="0">
            <a:spAutoFit/>
          </a:bodyPr>
          <a:lstStyle/>
          <a:p>
            <a:pPr algn="ctr"/>
            <a:r>
              <a:rPr sz="1200" b="0" i="0">
                <a:solidFill>
                  <a:srgbClr val="8A939B"/>
                </a:solidFill>
                <a:latin typeface="Abadi"/>
              </a:rPr>
              <a:t>▶</a:t>
            </a:r>
          </a:p>
        </p:txBody>
      </p:sp>
      <p:sp>
        <p:nvSpPr>
          <p:cNvPr id="22" name="Rectangle 21"/>
          <p:cNvSpPr/>
          <p:nvPr/>
        </p:nvSpPr>
        <p:spPr>
          <a:xfrm>
            <a:off x="5098694" y="1773936"/>
            <a:ext cx="1982419" cy="41148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71846" y="1773936"/>
            <a:ext cx="1836115" cy="411480"/>
          </a:xfrm>
          <a:prstGeom prst="rect">
            <a:avLst/>
          </a:prstGeom>
          <a:noFill/>
        </p:spPr>
        <p:txBody>
          <a:bodyPr wrap="square" anchor="ctr" lIns="36576" rIns="36576" tIns="36576" bIns="36576">
            <a:spAutoFit/>
          </a:bodyPr>
          <a:lstStyle/>
          <a:p>
            <a:pPr algn="l"/>
            <a:r>
              <a:rPr sz="1150" b="1" i="0">
                <a:solidFill>
                  <a:srgbClr val="FFFFFF"/>
                </a:solidFill>
                <a:latin typeface="Abadi"/>
              </a:rPr>
              <a:t>Translocation</a:t>
            </a:r>
          </a:p>
        </p:txBody>
      </p:sp>
      <p:sp>
        <p:nvSpPr>
          <p:cNvPr id="24" name="Rectangle 23"/>
          <p:cNvSpPr/>
          <p:nvPr/>
        </p:nvSpPr>
        <p:spPr>
          <a:xfrm>
            <a:off x="5098694" y="2185416"/>
            <a:ext cx="1982419" cy="1691639"/>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90134" y="2276856"/>
            <a:ext cx="1799539" cy="1554480"/>
          </a:xfrm>
          <a:prstGeom prst="rect">
            <a:avLst/>
          </a:prstGeom>
          <a:noFill/>
        </p:spPr>
        <p:txBody>
          <a:bodyPr wrap="square" anchor="t" lIns="36576" rIns="36576" tIns="36576" bIns="36576">
            <a:spAutoFit/>
          </a:bodyPr>
          <a:lstStyle/>
          <a:p>
            <a:pPr algn="l"/>
            <a:r>
              <a:rPr sz="1100" b="0" i="0">
                <a:solidFill>
                  <a:srgbClr val="1A1A1A"/>
                </a:solidFill>
                <a:latin typeface="Abadi"/>
              </a:rPr>
              <a:t>Bacteria also enter via portal venous blood and lymphatics from an inflamed, cholestatic gut.</a:t>
            </a:r>
          </a:p>
        </p:txBody>
      </p:sp>
      <p:sp>
        <p:nvSpPr>
          <p:cNvPr id="26" name="TextBox 25"/>
          <p:cNvSpPr txBox="1"/>
          <p:nvPr/>
        </p:nvSpPr>
        <p:spPr>
          <a:xfrm>
            <a:off x="7081113" y="2642615"/>
            <a:ext cx="292608" cy="365760"/>
          </a:xfrm>
          <a:prstGeom prst="rect">
            <a:avLst/>
          </a:prstGeom>
          <a:noFill/>
        </p:spPr>
        <p:txBody>
          <a:bodyPr wrap="square" anchor="ctr" lIns="0" rIns="0" tIns="0" bIns="0">
            <a:spAutoFit/>
          </a:bodyPr>
          <a:lstStyle/>
          <a:p>
            <a:pPr algn="ctr"/>
            <a:r>
              <a:rPr sz="1200" b="0" i="0">
                <a:solidFill>
                  <a:srgbClr val="8A939B"/>
                </a:solidFill>
                <a:latin typeface="Abadi"/>
              </a:rPr>
              <a:t>▶</a:t>
            </a:r>
          </a:p>
        </p:txBody>
      </p:sp>
      <p:sp>
        <p:nvSpPr>
          <p:cNvPr id="27" name="Rectangle 26"/>
          <p:cNvSpPr/>
          <p:nvPr/>
        </p:nvSpPr>
        <p:spPr>
          <a:xfrm>
            <a:off x="7373721" y="1773936"/>
            <a:ext cx="1982419" cy="411480"/>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46873" y="1773936"/>
            <a:ext cx="1836115" cy="411480"/>
          </a:xfrm>
          <a:prstGeom prst="rect">
            <a:avLst/>
          </a:prstGeom>
          <a:noFill/>
        </p:spPr>
        <p:txBody>
          <a:bodyPr wrap="square" anchor="ctr" lIns="36576" rIns="36576" tIns="36576" bIns="36576">
            <a:spAutoFit/>
          </a:bodyPr>
          <a:lstStyle/>
          <a:p>
            <a:pPr algn="l"/>
            <a:r>
              <a:rPr sz="1150" b="1" i="0">
                <a:solidFill>
                  <a:srgbClr val="FFFFFF"/>
                </a:solidFill>
                <a:latin typeface="Abadi"/>
              </a:rPr>
              <a:t>Dysbiosis</a:t>
            </a:r>
          </a:p>
        </p:txBody>
      </p:sp>
      <p:sp>
        <p:nvSpPr>
          <p:cNvPr id="29" name="Rectangle 28"/>
          <p:cNvSpPr/>
          <p:nvPr/>
        </p:nvSpPr>
        <p:spPr>
          <a:xfrm>
            <a:off x="7373721" y="2185416"/>
            <a:ext cx="1982419" cy="1691639"/>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65161" y="2276856"/>
            <a:ext cx="1799539" cy="1554480"/>
          </a:xfrm>
          <a:prstGeom prst="rect">
            <a:avLst/>
          </a:prstGeom>
          <a:noFill/>
        </p:spPr>
        <p:txBody>
          <a:bodyPr wrap="square" anchor="t" lIns="36576" rIns="36576" tIns="36576" bIns="36576">
            <a:spAutoFit/>
          </a:bodyPr>
          <a:lstStyle/>
          <a:p>
            <a:pPr algn="l"/>
            <a:r>
              <a:rPr sz="1100" b="0" i="0">
                <a:solidFill>
                  <a:srgbClr val="1A1A1A"/>
                </a:solidFill>
                <a:latin typeface="Abadi"/>
              </a:rPr>
              <a:t>The gut flora shifts from Bifidobacterium towards Klebsiella and enterococci; prophylaxis selects resistance.</a:t>
            </a:r>
          </a:p>
        </p:txBody>
      </p:sp>
      <p:sp>
        <p:nvSpPr>
          <p:cNvPr id="31" name="TextBox 30"/>
          <p:cNvSpPr txBox="1"/>
          <p:nvPr/>
        </p:nvSpPr>
        <p:spPr>
          <a:xfrm>
            <a:off x="9356140" y="2642615"/>
            <a:ext cx="292608" cy="365760"/>
          </a:xfrm>
          <a:prstGeom prst="rect">
            <a:avLst/>
          </a:prstGeom>
          <a:noFill/>
        </p:spPr>
        <p:txBody>
          <a:bodyPr wrap="square" anchor="ctr" lIns="0" rIns="0" tIns="0" bIns="0">
            <a:spAutoFit/>
          </a:bodyPr>
          <a:lstStyle/>
          <a:p>
            <a:pPr algn="ctr"/>
            <a:r>
              <a:rPr sz="1200" b="0" i="0">
                <a:solidFill>
                  <a:srgbClr val="8A939B"/>
                </a:solidFill>
                <a:latin typeface="Abadi"/>
              </a:rPr>
              <a:t>▶</a:t>
            </a:r>
          </a:p>
        </p:txBody>
      </p:sp>
      <p:sp>
        <p:nvSpPr>
          <p:cNvPr id="32" name="Rectangle 31"/>
          <p:cNvSpPr/>
          <p:nvPr/>
        </p:nvSpPr>
        <p:spPr>
          <a:xfrm>
            <a:off x="9648748" y="1773936"/>
            <a:ext cx="1982419" cy="41148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21900" y="1773936"/>
            <a:ext cx="1836115" cy="411480"/>
          </a:xfrm>
          <a:prstGeom prst="rect">
            <a:avLst/>
          </a:prstGeom>
          <a:noFill/>
        </p:spPr>
        <p:txBody>
          <a:bodyPr wrap="square" anchor="ctr" lIns="36576" rIns="36576" tIns="36576" bIns="36576">
            <a:spAutoFit/>
          </a:bodyPr>
          <a:lstStyle/>
          <a:p>
            <a:pPr algn="l"/>
            <a:r>
              <a:rPr sz="1150" b="1" i="0">
                <a:solidFill>
                  <a:srgbClr val="FFFFFF"/>
                </a:solidFill>
                <a:latin typeface="Abadi"/>
              </a:rPr>
              <a:t>Ductular loss</a:t>
            </a:r>
          </a:p>
        </p:txBody>
      </p:sp>
      <p:sp>
        <p:nvSpPr>
          <p:cNvPr id="34" name="Rectangle 33"/>
          <p:cNvSpPr/>
          <p:nvPr/>
        </p:nvSpPr>
        <p:spPr>
          <a:xfrm>
            <a:off x="9648748" y="2185416"/>
            <a:ext cx="1982419" cy="1691639"/>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40188" y="2276856"/>
            <a:ext cx="1799539" cy="1554480"/>
          </a:xfrm>
          <a:prstGeom prst="rect">
            <a:avLst/>
          </a:prstGeom>
          <a:noFill/>
        </p:spPr>
        <p:txBody>
          <a:bodyPr wrap="square" anchor="t" lIns="36576" rIns="36576" tIns="36576" bIns="36576">
            <a:spAutoFit/>
          </a:bodyPr>
          <a:lstStyle/>
          <a:p>
            <a:pPr algn="l"/>
            <a:r>
              <a:rPr sz="1100" b="0" i="0">
                <a:solidFill>
                  <a:srgbClr val="1A1A1A"/>
                </a:solidFill>
                <a:latin typeface="Abadi"/>
              </a:rPr>
              <a:t>Each episode inflames and scars the remaining ductules: bilirubin rises and may not fall again.</a:t>
            </a:r>
          </a:p>
        </p:txBody>
      </p:sp>
      <p:sp>
        <p:nvSpPr>
          <p:cNvPr id="36" name="TextBox 35"/>
          <p:cNvSpPr txBox="1"/>
          <p:nvPr/>
        </p:nvSpPr>
        <p:spPr>
          <a:xfrm>
            <a:off x="548640" y="4069080"/>
            <a:ext cx="11082528" cy="1691640"/>
          </a:xfrm>
          <a:prstGeom prst="rect">
            <a:avLst/>
          </a:prstGeom>
          <a:noFill/>
        </p:spPr>
        <p:txBody>
          <a:bodyPr wrap="square" anchor="t" lIns="36576" rIns="36576" tIns="36576" bIns="36576">
            <a:spAutoFit/>
          </a:bodyPr>
          <a:lstStyle/>
          <a:p>
            <a:pPr algn="l"/>
            <a:r>
              <a:rPr sz="1250" b="1" i="0">
                <a:solidFill>
                  <a:srgbClr val="1B355E"/>
                </a:solidFill>
                <a:latin typeface="Abadi"/>
              </a:rPr>
              <a:t>The drainage paradox.   </a:t>
            </a:r>
            <a:r>
              <a:rPr sz="1250" b="0" i="0">
                <a:solidFill>
                  <a:srgbClr val="1A1A1A"/>
                </a:solidFill>
                <a:latin typeface="Abadi"/>
              </a:rPr>
              <a:t>Cholangitis needs an open channel, so infants with good early bile flow are diagnosed with it more often: in a 2023 Chinese series 67.7% of infants with good early drainage had cholangitis versus 47.5% of the rest. But partial drainage carries the highest risk once flow is considered: in the Hong Kong series partial drainage had an odds ratio of 5.72 against good drainage. A fever in a well-draining infant is therefore a threat to the very ductules that make the Kasai work.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anchor="ctr" lIns="0" rIns="0" tIns="0" bIns="0">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anchor="ctr" lIns="36576" rIns="36576" tIns="36576" bIns="36576">
            <a:spAutoFit/>
          </a:bodyPr>
          <a:lstStyle/>
          <a:p>
            <a:pPr algn="l"/>
            <a:r>
              <a:rPr sz="1200" b="1" i="0">
                <a:solidFill>
                  <a:srgbClr val="B22222"/>
                </a:solidFill>
                <a:latin typeface="Abadi"/>
              </a:rPr>
              <a:t>EPIDEMIOLOGY</a:t>
            </a:r>
          </a:p>
        </p:txBody>
      </p:sp>
      <p:sp>
        <p:nvSpPr>
          <p:cNvPr id="5" name="TextBox 4"/>
          <p:cNvSpPr txBox="1"/>
          <p:nvPr/>
        </p:nvSpPr>
        <p:spPr>
          <a:xfrm>
            <a:off x="548640" y="722376"/>
            <a:ext cx="11082528" cy="548640"/>
          </a:xfrm>
          <a:prstGeom prst="rect">
            <a:avLst/>
          </a:prstGeom>
          <a:noFill/>
        </p:spPr>
        <p:txBody>
          <a:bodyPr wrap="square" anchor="ctr" lIns="36576" rIns="36576" tIns="36576" bIns="36576">
            <a:spAutoFit/>
          </a:bodyPr>
          <a:lstStyle/>
          <a:p>
            <a:pPr algn="l"/>
            <a:r>
              <a:rPr sz="3000" b="1" i="0">
                <a:solidFill>
                  <a:srgbClr val="1B355E"/>
                </a:solidFill>
                <a:latin typeface="Abadi"/>
              </a:rPr>
              <a:t>HOW OFTEN, HOW EARLY</a:t>
            </a:r>
          </a:p>
        </p:txBody>
      </p:sp>
      <p:sp>
        <p:nvSpPr>
          <p:cNvPr id="6" name="TextBox 5"/>
          <p:cNvSpPr txBox="1"/>
          <p:nvPr/>
        </p:nvSpPr>
        <p:spPr>
          <a:xfrm>
            <a:off x="548640" y="1307592"/>
            <a:ext cx="11082528" cy="265176"/>
          </a:xfrm>
          <a:prstGeom prst="rect">
            <a:avLst/>
          </a:prstGeom>
          <a:noFill/>
        </p:spPr>
        <p:txBody>
          <a:bodyPr wrap="square" anchor="t" lIns="36576" rIns="36576" tIns="36576" bIns="36576">
            <a:spAutoFit/>
          </a:bodyPr>
          <a:lstStyle/>
          <a:p>
            <a:pPr algn="l"/>
            <a:r>
              <a:rPr sz="1300" b="0" i="0">
                <a:solidFill>
                  <a:srgbClr val="555555"/>
                </a:solidFill>
                <a:latin typeface="Abadi"/>
              </a:rPr>
              <a:t>Proportion of infants with at least one episode of cholangitis after the Kasai, by series,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anchor="t" lIns="36576" rIns="36576" tIns="36576" bIns="36576">
            <a:spAutoFit/>
          </a:bodyPr>
          <a:lstStyle/>
          <a:p>
            <a:pPr algn="r"/>
            <a:r>
              <a:rPr sz="1200" b="0" i="0">
                <a:solidFill>
                  <a:srgbClr val="555555"/>
                </a:solidFill>
                <a:latin typeface="Abadi"/>
              </a:rPr>
              <a:t>4</a:t>
            </a:r>
          </a:p>
        </p:txBody>
      </p:sp>
      <p:sp>
        <p:nvSpPr>
          <p:cNvPr id="11" name="TextBox 10"/>
          <p:cNvSpPr txBox="1"/>
          <p:nvPr/>
        </p:nvSpPr>
        <p:spPr>
          <a:xfrm>
            <a:off x="548640" y="5971032"/>
            <a:ext cx="10287000" cy="457200"/>
          </a:xfrm>
          <a:prstGeom prst="rect">
            <a:avLst/>
          </a:prstGeom>
          <a:noFill/>
        </p:spPr>
        <p:txBody>
          <a:bodyPr wrap="square" anchor="t" lIns="36576" rIns="36576" tIns="36576" bIns="36576">
            <a:spAutoFit/>
          </a:bodyPr>
          <a:lstStyle/>
          <a:p>
            <a:pPr algn="l"/>
            <a:r>
              <a:rPr sz="1000" b="0" i="0">
                <a:solidFill>
                  <a:srgbClr val="7F7F7F"/>
                </a:solidFill>
                <a:latin typeface="Abadi"/>
              </a:rPr>
              <a:t>van Heurn 2003 · Liu J, et al. J Pediatr Surg 2019;54:2559–64 · Baek SH, et al. JPGN 2020;70:171–7 · Guan XS, et al. Transl Pediatr 2021;10:2076–82 · Liu F 2023 · Harumatsu T, et al. Pediatr Surg Int 2024;40:190 · Madadi-Sanjani 2024 · Brody Y, et al. Acta Paediatr 2025;114:654–9</a:t>
            </a:r>
          </a:p>
        </p:txBody>
      </p:sp>
      <p:sp>
        <p:nvSpPr>
          <p:cNvPr id="12" name="TextBox 11"/>
          <p:cNvSpPr txBox="1"/>
          <p:nvPr/>
        </p:nvSpPr>
        <p:spPr>
          <a:xfrm>
            <a:off x="548640" y="1828800"/>
            <a:ext cx="2834640" cy="384048"/>
          </a:xfrm>
          <a:prstGeom prst="rect">
            <a:avLst/>
          </a:prstGeom>
          <a:noFill/>
        </p:spPr>
        <p:txBody>
          <a:bodyPr wrap="square" anchor="ctr" lIns="36576" rIns="36576" tIns="36576" bIns="36576">
            <a:spAutoFit/>
          </a:bodyPr>
          <a:lstStyle/>
          <a:p>
            <a:pPr algn="l"/>
            <a:r>
              <a:rPr sz="1050" b="0" i="0">
                <a:solidFill>
                  <a:srgbClr val="1A1A1A"/>
                </a:solidFill>
                <a:latin typeface="Abadi"/>
              </a:rPr>
              <a:t>Korea 2020 · n = 160 · any time</a:t>
            </a:r>
          </a:p>
        </p:txBody>
      </p:sp>
      <p:sp>
        <p:nvSpPr>
          <p:cNvPr id="13" name="Rectangle 12"/>
          <p:cNvSpPr/>
          <p:nvPr/>
        </p:nvSpPr>
        <p:spPr>
          <a:xfrm>
            <a:off x="3474720" y="1856231"/>
            <a:ext cx="3756355"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04227" y="1828800"/>
            <a:ext cx="1463040" cy="384048"/>
          </a:xfrm>
          <a:prstGeom prst="rect">
            <a:avLst/>
          </a:prstGeom>
          <a:noFill/>
        </p:spPr>
        <p:txBody>
          <a:bodyPr wrap="square" anchor="ctr" lIns="36576" rIns="36576" tIns="36576" bIns="36576">
            <a:spAutoFit/>
          </a:bodyPr>
          <a:lstStyle/>
          <a:p>
            <a:pPr algn="l"/>
            <a:r>
              <a:rPr sz="1050" b="1" i="0">
                <a:solidFill>
                  <a:srgbClr val="1A1A1A"/>
                </a:solidFill>
                <a:latin typeface="Abadi"/>
              </a:rPr>
              <a:t>79%</a:t>
            </a:r>
          </a:p>
        </p:txBody>
      </p:sp>
      <p:sp>
        <p:nvSpPr>
          <p:cNvPr id="15" name="TextBox 14"/>
          <p:cNvSpPr txBox="1"/>
          <p:nvPr/>
        </p:nvSpPr>
        <p:spPr>
          <a:xfrm>
            <a:off x="548640" y="2212848"/>
            <a:ext cx="2834640" cy="384048"/>
          </a:xfrm>
          <a:prstGeom prst="rect">
            <a:avLst/>
          </a:prstGeom>
          <a:noFill/>
        </p:spPr>
        <p:txBody>
          <a:bodyPr wrap="square" anchor="ctr" lIns="36576" rIns="36576" tIns="36576" bIns="36576">
            <a:spAutoFit/>
          </a:bodyPr>
          <a:lstStyle/>
          <a:p>
            <a:pPr algn="l"/>
            <a:r>
              <a:rPr sz="1050" b="0" i="0">
                <a:solidFill>
                  <a:srgbClr val="1A1A1A"/>
                </a:solidFill>
                <a:latin typeface="Abadi"/>
              </a:rPr>
              <a:t>Japan 2024 · n = 43</a:t>
            </a:r>
          </a:p>
        </p:txBody>
      </p:sp>
      <p:sp>
        <p:nvSpPr>
          <p:cNvPr id="16" name="Rectangle 15"/>
          <p:cNvSpPr/>
          <p:nvPr/>
        </p:nvSpPr>
        <p:spPr>
          <a:xfrm>
            <a:off x="3474720" y="2240279"/>
            <a:ext cx="3318906"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66778" y="2212848"/>
            <a:ext cx="1463040" cy="384048"/>
          </a:xfrm>
          <a:prstGeom prst="rect">
            <a:avLst/>
          </a:prstGeom>
          <a:noFill/>
        </p:spPr>
        <p:txBody>
          <a:bodyPr wrap="square" anchor="ctr" lIns="36576" rIns="36576" tIns="36576" bIns="36576">
            <a:spAutoFit/>
          </a:bodyPr>
          <a:lstStyle/>
          <a:p>
            <a:pPr algn="l"/>
            <a:r>
              <a:rPr sz="1050" b="1" i="0">
                <a:solidFill>
                  <a:srgbClr val="1A1A1A"/>
                </a:solidFill>
                <a:latin typeface="Abadi"/>
              </a:rPr>
              <a:t>69.8%</a:t>
            </a:r>
          </a:p>
        </p:txBody>
      </p:sp>
      <p:sp>
        <p:nvSpPr>
          <p:cNvPr id="18" name="TextBox 17"/>
          <p:cNvSpPr txBox="1"/>
          <p:nvPr/>
        </p:nvSpPr>
        <p:spPr>
          <a:xfrm>
            <a:off x="548640" y="2596896"/>
            <a:ext cx="2834640" cy="384048"/>
          </a:xfrm>
          <a:prstGeom prst="rect">
            <a:avLst/>
          </a:prstGeom>
          <a:noFill/>
        </p:spPr>
        <p:txBody>
          <a:bodyPr wrap="square" anchor="ctr" lIns="36576" rIns="36576" tIns="36576" bIns="36576">
            <a:spAutoFit/>
          </a:bodyPr>
          <a:lstStyle/>
          <a:p>
            <a:pPr algn="l"/>
            <a:r>
              <a:rPr sz="1050" b="0" i="0">
                <a:solidFill>
                  <a:srgbClr val="1A1A1A"/>
                </a:solidFill>
                <a:latin typeface="Abadi"/>
              </a:rPr>
              <a:t>China 2021 · n = 77 · first year</a:t>
            </a:r>
          </a:p>
        </p:txBody>
      </p:sp>
      <p:sp>
        <p:nvSpPr>
          <p:cNvPr id="19" name="Rectangle 18"/>
          <p:cNvSpPr/>
          <p:nvPr/>
        </p:nvSpPr>
        <p:spPr>
          <a:xfrm>
            <a:off x="3474720" y="2624327"/>
            <a:ext cx="3233318"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1190" y="2596896"/>
            <a:ext cx="1463040" cy="384048"/>
          </a:xfrm>
          <a:prstGeom prst="rect">
            <a:avLst/>
          </a:prstGeom>
          <a:noFill/>
        </p:spPr>
        <p:txBody>
          <a:bodyPr wrap="square" anchor="ctr" lIns="36576" rIns="36576" tIns="36576" bIns="36576">
            <a:spAutoFit/>
          </a:bodyPr>
          <a:lstStyle/>
          <a:p>
            <a:pPr algn="l"/>
            <a:r>
              <a:rPr sz="1050" b="1" i="0">
                <a:solidFill>
                  <a:srgbClr val="1A1A1A"/>
                </a:solidFill>
                <a:latin typeface="Abadi"/>
              </a:rPr>
              <a:t>68%</a:t>
            </a:r>
          </a:p>
        </p:txBody>
      </p:sp>
      <p:sp>
        <p:nvSpPr>
          <p:cNvPr id="21" name="TextBox 20"/>
          <p:cNvSpPr txBox="1"/>
          <p:nvPr/>
        </p:nvSpPr>
        <p:spPr>
          <a:xfrm>
            <a:off x="548640" y="2980944"/>
            <a:ext cx="2834640" cy="384048"/>
          </a:xfrm>
          <a:prstGeom prst="rect">
            <a:avLst/>
          </a:prstGeom>
          <a:noFill/>
        </p:spPr>
        <p:txBody>
          <a:bodyPr wrap="square" anchor="ctr" lIns="36576" rIns="36576" tIns="36576" bIns="36576">
            <a:spAutoFit/>
          </a:bodyPr>
          <a:lstStyle/>
          <a:p>
            <a:pPr algn="l"/>
            <a:r>
              <a:rPr sz="1050" b="0" i="0">
                <a:solidFill>
                  <a:srgbClr val="1A1A1A"/>
                </a:solidFill>
                <a:latin typeface="Abadi"/>
              </a:rPr>
              <a:t>China 2019 · n = 180 · two years</a:t>
            </a:r>
          </a:p>
        </p:txBody>
      </p:sp>
      <p:sp>
        <p:nvSpPr>
          <p:cNvPr id="22" name="Rectangle 21"/>
          <p:cNvSpPr/>
          <p:nvPr/>
        </p:nvSpPr>
        <p:spPr>
          <a:xfrm>
            <a:off x="3474720" y="3008375"/>
            <a:ext cx="3142975"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90847" y="2980944"/>
            <a:ext cx="1463040" cy="384048"/>
          </a:xfrm>
          <a:prstGeom prst="rect">
            <a:avLst/>
          </a:prstGeom>
          <a:noFill/>
        </p:spPr>
        <p:txBody>
          <a:bodyPr wrap="square" anchor="ctr" lIns="36576" rIns="36576" tIns="36576" bIns="36576">
            <a:spAutoFit/>
          </a:bodyPr>
          <a:lstStyle/>
          <a:p>
            <a:pPr algn="l"/>
            <a:r>
              <a:rPr sz="1050" b="1" i="0">
                <a:solidFill>
                  <a:srgbClr val="1A1A1A"/>
                </a:solidFill>
                <a:latin typeface="Abadi"/>
              </a:rPr>
              <a:t>66.1%</a:t>
            </a:r>
          </a:p>
        </p:txBody>
      </p:sp>
      <p:sp>
        <p:nvSpPr>
          <p:cNvPr id="24" name="TextBox 23"/>
          <p:cNvSpPr txBox="1"/>
          <p:nvPr/>
        </p:nvSpPr>
        <p:spPr>
          <a:xfrm>
            <a:off x="548640" y="3364991"/>
            <a:ext cx="2834640" cy="384048"/>
          </a:xfrm>
          <a:prstGeom prst="rect">
            <a:avLst/>
          </a:prstGeom>
          <a:noFill/>
        </p:spPr>
        <p:txBody>
          <a:bodyPr wrap="square" anchor="ctr" lIns="36576" rIns="36576" tIns="36576" bIns="36576">
            <a:spAutoFit/>
          </a:bodyPr>
          <a:lstStyle/>
          <a:p>
            <a:pPr algn="l"/>
            <a:r>
              <a:rPr sz="1050" b="0" i="0">
                <a:solidFill>
                  <a:srgbClr val="1A1A1A"/>
                </a:solidFill>
                <a:latin typeface="Abadi"/>
              </a:rPr>
              <a:t>Hong Kong 2003 · n = 77</a:t>
            </a:r>
          </a:p>
        </p:txBody>
      </p:sp>
      <p:sp>
        <p:nvSpPr>
          <p:cNvPr id="25" name="Rectangle 24"/>
          <p:cNvSpPr/>
          <p:nvPr/>
        </p:nvSpPr>
        <p:spPr>
          <a:xfrm>
            <a:off x="3474720" y="3392423"/>
            <a:ext cx="2805379"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53251" y="3364991"/>
            <a:ext cx="1463040" cy="384048"/>
          </a:xfrm>
          <a:prstGeom prst="rect">
            <a:avLst/>
          </a:prstGeom>
          <a:noFill/>
        </p:spPr>
        <p:txBody>
          <a:bodyPr wrap="square" anchor="ctr" lIns="36576" rIns="36576" tIns="36576" bIns="36576">
            <a:spAutoFit/>
          </a:bodyPr>
          <a:lstStyle/>
          <a:p>
            <a:pPr algn="l"/>
            <a:r>
              <a:rPr sz="1050" b="1" i="0">
                <a:solidFill>
                  <a:srgbClr val="1A1A1A"/>
                </a:solidFill>
                <a:latin typeface="Abadi"/>
              </a:rPr>
              <a:t>59%</a:t>
            </a:r>
          </a:p>
        </p:txBody>
      </p:sp>
      <p:sp>
        <p:nvSpPr>
          <p:cNvPr id="27" name="TextBox 26"/>
          <p:cNvSpPr txBox="1"/>
          <p:nvPr/>
        </p:nvSpPr>
        <p:spPr>
          <a:xfrm>
            <a:off x="548640" y="3749039"/>
            <a:ext cx="2834640" cy="384048"/>
          </a:xfrm>
          <a:prstGeom prst="rect">
            <a:avLst/>
          </a:prstGeom>
          <a:noFill/>
        </p:spPr>
        <p:txBody>
          <a:bodyPr wrap="square" anchor="ctr" lIns="36576" rIns="36576" tIns="36576" bIns="36576">
            <a:spAutoFit/>
          </a:bodyPr>
          <a:lstStyle/>
          <a:p>
            <a:pPr algn="l"/>
            <a:r>
              <a:rPr sz="1050" b="0" i="0">
                <a:solidFill>
                  <a:srgbClr val="1A1A1A"/>
                </a:solidFill>
                <a:latin typeface="Abadi"/>
              </a:rPr>
              <a:t>China 2023 · n = 145</a:t>
            </a:r>
          </a:p>
        </p:txBody>
      </p:sp>
      <p:sp>
        <p:nvSpPr>
          <p:cNvPr id="28" name="Rectangle 27"/>
          <p:cNvSpPr/>
          <p:nvPr/>
        </p:nvSpPr>
        <p:spPr>
          <a:xfrm>
            <a:off x="3474720" y="3776472"/>
            <a:ext cx="2691262"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39134" y="3749039"/>
            <a:ext cx="1463040" cy="384048"/>
          </a:xfrm>
          <a:prstGeom prst="rect">
            <a:avLst/>
          </a:prstGeom>
          <a:noFill/>
        </p:spPr>
        <p:txBody>
          <a:bodyPr wrap="square" anchor="ctr" lIns="36576" rIns="36576" tIns="36576" bIns="36576">
            <a:spAutoFit/>
          </a:bodyPr>
          <a:lstStyle/>
          <a:p>
            <a:pPr algn="l"/>
            <a:r>
              <a:rPr sz="1050" b="1" i="0">
                <a:solidFill>
                  <a:srgbClr val="1A1A1A"/>
                </a:solidFill>
                <a:latin typeface="Abadi"/>
              </a:rPr>
              <a:t>56.6%</a:t>
            </a:r>
          </a:p>
        </p:txBody>
      </p:sp>
      <p:sp>
        <p:nvSpPr>
          <p:cNvPr id="30" name="TextBox 29"/>
          <p:cNvSpPr txBox="1"/>
          <p:nvPr/>
        </p:nvSpPr>
        <p:spPr>
          <a:xfrm>
            <a:off x="548640" y="4133087"/>
            <a:ext cx="2834640" cy="384048"/>
          </a:xfrm>
          <a:prstGeom prst="rect">
            <a:avLst/>
          </a:prstGeom>
          <a:noFill/>
        </p:spPr>
        <p:txBody>
          <a:bodyPr wrap="square" anchor="ctr" lIns="36576" rIns="36576" tIns="36576" bIns="36576">
            <a:spAutoFit/>
          </a:bodyPr>
          <a:lstStyle/>
          <a:p>
            <a:pPr algn="l"/>
            <a:r>
              <a:rPr sz="1050" b="0" i="0">
                <a:solidFill>
                  <a:srgbClr val="1A1A1A"/>
                </a:solidFill>
                <a:latin typeface="Abadi"/>
              </a:rPr>
              <a:t>Hannover–Geneva 2024 · first year</a:t>
            </a:r>
          </a:p>
        </p:txBody>
      </p:sp>
      <p:sp>
        <p:nvSpPr>
          <p:cNvPr id="31" name="Rectangle 30"/>
          <p:cNvSpPr/>
          <p:nvPr/>
        </p:nvSpPr>
        <p:spPr>
          <a:xfrm>
            <a:off x="3474720" y="4160520"/>
            <a:ext cx="1521561" cy="3291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69433" y="4133087"/>
            <a:ext cx="1463040" cy="384048"/>
          </a:xfrm>
          <a:prstGeom prst="rect">
            <a:avLst/>
          </a:prstGeom>
          <a:noFill/>
        </p:spPr>
        <p:txBody>
          <a:bodyPr wrap="square" anchor="ctr" lIns="36576" rIns="36576" tIns="36576" bIns="36576">
            <a:spAutoFit/>
          </a:bodyPr>
          <a:lstStyle/>
          <a:p>
            <a:pPr algn="l"/>
            <a:r>
              <a:rPr sz="1050" b="1" i="0">
                <a:solidFill>
                  <a:srgbClr val="1A1A1A"/>
                </a:solidFill>
                <a:latin typeface="Abadi"/>
              </a:rPr>
              <a:t>32%</a:t>
            </a:r>
          </a:p>
        </p:txBody>
      </p:sp>
      <p:sp>
        <p:nvSpPr>
          <p:cNvPr id="33" name="TextBox 32"/>
          <p:cNvSpPr txBox="1"/>
          <p:nvPr/>
        </p:nvSpPr>
        <p:spPr>
          <a:xfrm>
            <a:off x="548640" y="4517136"/>
            <a:ext cx="2834640" cy="384048"/>
          </a:xfrm>
          <a:prstGeom prst="rect">
            <a:avLst/>
          </a:prstGeom>
          <a:noFill/>
        </p:spPr>
        <p:txBody>
          <a:bodyPr wrap="square" anchor="ctr" lIns="36576" rIns="36576" tIns="36576" bIns="36576">
            <a:spAutoFit/>
          </a:bodyPr>
          <a:lstStyle/>
          <a:p>
            <a:pPr algn="l"/>
            <a:r>
              <a:rPr sz="1050" b="0" i="0">
                <a:solidFill>
                  <a:srgbClr val="1A1A1A"/>
                </a:solidFill>
                <a:latin typeface="Abadi"/>
              </a:rPr>
              <a:t>Israel 2025 · successful Kasai</a:t>
            </a:r>
          </a:p>
        </p:txBody>
      </p:sp>
      <p:sp>
        <p:nvSpPr>
          <p:cNvPr id="34" name="Rectangle 33"/>
          <p:cNvSpPr/>
          <p:nvPr/>
        </p:nvSpPr>
        <p:spPr>
          <a:xfrm>
            <a:off x="3474720" y="4544568"/>
            <a:ext cx="1236268" cy="3291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84140" y="4517136"/>
            <a:ext cx="1463040" cy="384048"/>
          </a:xfrm>
          <a:prstGeom prst="rect">
            <a:avLst/>
          </a:prstGeom>
          <a:noFill/>
        </p:spPr>
        <p:txBody>
          <a:bodyPr wrap="square" anchor="ctr" lIns="36576" rIns="36576" tIns="36576" bIns="36576">
            <a:spAutoFit/>
          </a:bodyPr>
          <a:lstStyle/>
          <a:p>
            <a:pPr algn="l"/>
            <a:r>
              <a:rPr sz="1050" b="1" i="0">
                <a:solidFill>
                  <a:srgbClr val="1A1A1A"/>
                </a:solidFill>
                <a:latin typeface="Abadi"/>
              </a:rPr>
              <a:t>26%</a:t>
            </a:r>
          </a:p>
        </p:txBody>
      </p:sp>
      <p:sp>
        <p:nvSpPr>
          <p:cNvPr id="36" name="TextBox 35"/>
          <p:cNvSpPr txBox="1"/>
          <p:nvPr/>
        </p:nvSpPr>
        <p:spPr>
          <a:xfrm>
            <a:off x="548640" y="4946903"/>
            <a:ext cx="7863840" cy="274320"/>
          </a:xfrm>
          <a:prstGeom prst="rect">
            <a:avLst/>
          </a:prstGeom>
          <a:noFill/>
        </p:spPr>
        <p:txBody>
          <a:bodyPr wrap="square" anchor="t" lIns="36576" rIns="36576" tIns="36576" bIns="36576">
            <a:spAutoFit/>
          </a:bodyPr>
          <a:lstStyle/>
          <a:p>
            <a:pPr algn="l"/>
            <a:r>
              <a:rPr sz="950" b="0" i="0">
                <a:solidFill>
                  <a:srgbClr val="7F7F7F"/>
                </a:solidFill>
                <a:latin typeface="Abadi"/>
              </a:rPr>
              <a:t>Grey: series using the stricter BARD-type definition or restricted to successful Kasai.</a:t>
            </a:r>
          </a:p>
        </p:txBody>
      </p:sp>
      <p:sp>
        <p:nvSpPr>
          <p:cNvPr id="37" name="TextBox 36"/>
          <p:cNvSpPr txBox="1"/>
          <p:nvPr/>
        </p:nvSpPr>
        <p:spPr>
          <a:xfrm>
            <a:off x="8778240" y="1783080"/>
            <a:ext cx="2834640" cy="3931920"/>
          </a:xfrm>
          <a:prstGeom prst="rect">
            <a:avLst/>
          </a:prstGeom>
          <a:noFill/>
        </p:spPr>
        <p:txBody>
          <a:bodyPr wrap="square" anchor="t" lIns="36576" rIns="36576" tIns="36576" bIns="36576">
            <a:spAutoFit/>
          </a:bodyPr>
          <a:lstStyle/>
          <a:p>
            <a:pPr algn="l">
              <a:spcAft>
                <a:spcPts val="300"/>
              </a:spcAft>
            </a:pPr>
            <a:r>
              <a:rPr sz="1500" b="1" i="0">
                <a:solidFill>
                  <a:srgbClr val="1B355E"/>
                </a:solidFill>
                <a:latin typeface="Abadi"/>
              </a:rPr>
              <a:t>Range</a:t>
            </a:r>
          </a:p>
          <a:p>
            <a:pPr algn="l">
              <a:spcAft>
                <a:spcPts val="300"/>
              </a:spcAft>
            </a:pPr>
            <a:r>
              <a:rPr sz="1050" b="0" i="0">
                <a:solidFill>
                  <a:srgbClr val="1A1A1A"/>
                </a:solidFill>
                <a:latin typeface="Abadi"/>
              </a:rPr>
              <a:t>22–93% in the literature; the definition, not the disease, explains most of the spread.</a:t>
            </a:r>
          </a:p>
          <a:p>
            <a:pPr algn="l">
              <a:spcAft>
                <a:spcPts val="300"/>
              </a:spcAft>
            </a:pPr>
            <a:r>
              <a:rPr sz="1500" b="1" i="0">
                <a:solidFill>
                  <a:srgbClr val="1B355E"/>
                </a:solidFill>
                <a:latin typeface="Abadi"/>
              </a:rPr>
              <a:t>Timing</a:t>
            </a:r>
          </a:p>
          <a:p>
            <a:pPr algn="l">
              <a:spcAft>
                <a:spcPts val="300"/>
              </a:spcAft>
            </a:pPr>
            <a:r>
              <a:rPr sz="1050" b="0" i="0">
                <a:solidFill>
                  <a:srgbClr val="1A1A1A"/>
                </a:solidFill>
                <a:latin typeface="Abadi"/>
              </a:rPr>
              <a:t>First episode at a median of 60 days in one series; 86.9% of all episodes before age 3.</a:t>
            </a:r>
          </a:p>
          <a:p>
            <a:pPr algn="l">
              <a:spcAft>
                <a:spcPts val="300"/>
              </a:spcAft>
            </a:pPr>
            <a:r>
              <a:rPr sz="1500" b="1" i="0">
                <a:solidFill>
                  <a:srgbClr val="1B355E"/>
                </a:solidFill>
                <a:latin typeface="Abadi"/>
              </a:rPr>
              <a:t>Recurrence</a:t>
            </a:r>
          </a:p>
          <a:p>
            <a:pPr algn="l">
              <a:spcAft>
                <a:spcPts val="300"/>
              </a:spcAft>
            </a:pPr>
            <a:r>
              <a:rPr sz="1050" b="0" i="0">
                <a:solidFill>
                  <a:srgbClr val="1A1A1A"/>
                </a:solidFill>
                <a:latin typeface="Abadi"/>
              </a:rPr>
              <a:t>76% of affected Korean infants had more than one episode.</a:t>
            </a:r>
          </a:p>
        </p:txBody>
      </p:sp>
      <p:sp>
        <p:nvSpPr>
          <p:cNvPr id="38" name="TextBox 37"/>
          <p:cNvSpPr txBox="1"/>
          <p:nvPr/>
        </p:nvSpPr>
        <p:spPr>
          <a:xfrm>
            <a:off x="548640" y="5285231"/>
            <a:ext cx="7955279" cy="548640"/>
          </a:xfrm>
          <a:prstGeom prst="rect">
            <a:avLst/>
          </a:prstGeom>
          <a:noFill/>
        </p:spPr>
        <p:txBody>
          <a:bodyPr wrap="square" anchor="t" lIns="36576" rIns="36576" tIns="36576" bIns="36576">
            <a:spAutoFit/>
          </a:bodyPr>
          <a:lstStyle/>
          <a:p>
            <a:pPr algn="l"/>
            <a:r>
              <a:rPr sz="1200" b="1" i="0">
                <a:solidFill>
                  <a:srgbClr val="1B355E"/>
                </a:solidFill>
                <a:latin typeface="Abadi"/>
              </a:rPr>
              <a:t>Read it as.   </a:t>
            </a:r>
            <a:r>
              <a:rPr sz="1200" b="0" i="0">
                <a:solidFill>
                  <a:srgbClr val="1A1A1A"/>
                </a:solidFill>
                <a:latin typeface="Abadi"/>
              </a:rPr>
              <a:t>Expect at least half of your infants to have an episode, most in the first year, many in the first two months.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anchor="ctr" lIns="0" rIns="0" tIns="0" bIns="0">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anchor="ctr" lIns="36576" rIns="36576" tIns="36576" bIns="36576">
            <a:spAutoFit/>
          </a:bodyPr>
          <a:lstStyle/>
          <a:p>
            <a:pPr algn="l"/>
            <a:r>
              <a:rPr sz="1200" b="1" i="0">
                <a:solidFill>
                  <a:srgbClr val="B22222"/>
                </a:solidFill>
                <a:latin typeface="Abadi"/>
              </a:rPr>
              <a:t>PROGNOSIS</a:t>
            </a:r>
          </a:p>
        </p:txBody>
      </p:sp>
      <p:sp>
        <p:nvSpPr>
          <p:cNvPr id="5" name="TextBox 4"/>
          <p:cNvSpPr txBox="1"/>
          <p:nvPr/>
        </p:nvSpPr>
        <p:spPr>
          <a:xfrm>
            <a:off x="548640" y="722376"/>
            <a:ext cx="11082528" cy="548640"/>
          </a:xfrm>
          <a:prstGeom prst="rect">
            <a:avLst/>
          </a:prstGeom>
          <a:noFill/>
        </p:spPr>
        <p:txBody>
          <a:bodyPr wrap="square" anchor="ctr" lIns="36576" rIns="36576" tIns="36576" bIns="36576">
            <a:spAutoFit/>
          </a:bodyPr>
          <a:lstStyle/>
          <a:p>
            <a:pPr algn="l"/>
            <a:r>
              <a:rPr sz="3000" b="1" i="0">
                <a:solidFill>
                  <a:srgbClr val="1B355E"/>
                </a:solidFill>
                <a:latin typeface="Abadi"/>
              </a:rPr>
              <a:t>DOES CHOLANGITIS COST THE LIVER?</a:t>
            </a:r>
          </a:p>
        </p:txBody>
      </p:sp>
      <p:sp>
        <p:nvSpPr>
          <p:cNvPr id="6" name="TextBox 5"/>
          <p:cNvSpPr txBox="1"/>
          <p:nvPr/>
        </p:nvSpPr>
        <p:spPr>
          <a:xfrm>
            <a:off x="548640" y="1307592"/>
            <a:ext cx="11082528" cy="265176"/>
          </a:xfrm>
          <a:prstGeom prst="rect">
            <a:avLst/>
          </a:prstGeom>
          <a:noFill/>
        </p:spPr>
        <p:txBody>
          <a:bodyPr wrap="square" anchor="t" lIns="36576" rIns="36576" tIns="36576" bIns="36576">
            <a:spAutoFit/>
          </a:bodyPr>
          <a:lstStyle/>
          <a:p>
            <a:pPr algn="l"/>
            <a:r>
              <a:rPr sz="1300" b="0" i="0">
                <a:solidFill>
                  <a:srgbClr val="555555"/>
                </a:solidFill>
                <a:latin typeface="Abadi"/>
              </a:rPr>
              <a:t>One episode may not; early, recurrent or cystic cholangitis does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anchor="t" lIns="36576" rIns="36576" tIns="36576" bIns="36576">
            <a:spAutoFit/>
          </a:bodyPr>
          <a:lstStyle/>
          <a:p>
            <a:pPr algn="r"/>
            <a:r>
              <a:rPr sz="1200" b="0" i="0">
                <a:solidFill>
                  <a:srgbClr val="555555"/>
                </a:solidFill>
                <a:latin typeface="Abadi"/>
              </a:rPr>
              <a:t>5</a:t>
            </a:r>
          </a:p>
        </p:txBody>
      </p:sp>
      <p:sp>
        <p:nvSpPr>
          <p:cNvPr id="11" name="TextBox 10"/>
          <p:cNvSpPr txBox="1"/>
          <p:nvPr/>
        </p:nvSpPr>
        <p:spPr>
          <a:xfrm>
            <a:off x="548640" y="5971032"/>
            <a:ext cx="10287000" cy="457200"/>
          </a:xfrm>
          <a:prstGeom prst="rect">
            <a:avLst/>
          </a:prstGeom>
          <a:noFill/>
        </p:spPr>
        <p:txBody>
          <a:bodyPr wrap="square" anchor="t" lIns="36576" rIns="36576" tIns="36576" bIns="36576">
            <a:spAutoFit/>
          </a:bodyPr>
          <a:lstStyle/>
          <a:p>
            <a:pPr algn="l"/>
            <a:r>
              <a:rPr sz="1000" b="0" i="0">
                <a:solidFill>
                  <a:srgbClr val="7F7F7F"/>
                </a:solidFill>
                <a:latin typeface="Abadi"/>
              </a:rPr>
              <a:t>van Heurn 2003 · Liu F 2023 · Harumatsu 2024 · Intrahepatic cystic lesions series, J Pediatr Surg 2019 · Calinescu &amp; Wildhaber 2024</a:t>
            </a:r>
          </a:p>
        </p:txBody>
      </p:sp>
      <p:sp>
        <p:nvSpPr>
          <p:cNvPr id="12" name="Rectangle 11"/>
          <p:cNvSpPr/>
          <p:nvPr/>
        </p:nvSpPr>
        <p:spPr>
          <a:xfrm>
            <a:off x="548640" y="1773936"/>
            <a:ext cx="2070201" cy="233172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777593" cy="548640"/>
          </a:xfrm>
          <a:prstGeom prst="rect">
            <a:avLst/>
          </a:prstGeom>
          <a:noFill/>
        </p:spPr>
        <p:txBody>
          <a:bodyPr wrap="square" anchor="t" lIns="36576" rIns="36576" tIns="36576" bIns="36576">
            <a:spAutoFit/>
          </a:bodyPr>
          <a:lstStyle/>
          <a:p>
            <a:pPr algn="l"/>
            <a:r>
              <a:rPr sz="2000" b="1" i="0">
                <a:solidFill>
                  <a:srgbClr val="8A939B"/>
                </a:solidFill>
                <a:latin typeface="Abadi"/>
              </a:rPr>
              <a:t>Confounded</a:t>
            </a:r>
          </a:p>
        </p:txBody>
      </p:sp>
      <p:sp>
        <p:nvSpPr>
          <p:cNvPr id="15" name="TextBox 14"/>
          <p:cNvSpPr txBox="1"/>
          <p:nvPr/>
        </p:nvSpPr>
        <p:spPr>
          <a:xfrm>
            <a:off x="694944"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Hong Kong 2003: cholangitis was not an independent predictor of death or transplant once drainage was known.</a:t>
            </a:r>
          </a:p>
        </p:txBody>
      </p:sp>
      <p:sp>
        <p:nvSpPr>
          <p:cNvPr id="16" name="Rectangle 15"/>
          <p:cNvSpPr/>
          <p:nvPr/>
        </p:nvSpPr>
        <p:spPr>
          <a:xfrm>
            <a:off x="2801721" y="1773936"/>
            <a:ext cx="2070201" cy="233172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025" y="1956816"/>
            <a:ext cx="1777593" cy="548640"/>
          </a:xfrm>
          <a:prstGeom prst="rect">
            <a:avLst/>
          </a:prstGeom>
          <a:noFill/>
        </p:spPr>
        <p:txBody>
          <a:bodyPr wrap="square" anchor="t" lIns="36576" rIns="36576" tIns="36576" bIns="36576">
            <a:spAutoFit/>
          </a:bodyPr>
          <a:lstStyle/>
          <a:p>
            <a:pPr algn="l"/>
            <a:r>
              <a:rPr sz="2000" b="1" i="0">
                <a:solidFill>
                  <a:srgbClr val="B22222"/>
                </a:solidFill>
                <a:latin typeface="Abadi"/>
              </a:rPr>
              <a:t>P = .003</a:t>
            </a:r>
          </a:p>
        </p:txBody>
      </p:sp>
      <p:sp>
        <p:nvSpPr>
          <p:cNvPr id="19" name="TextBox 18"/>
          <p:cNvSpPr txBox="1"/>
          <p:nvPr/>
        </p:nvSpPr>
        <p:spPr>
          <a:xfrm>
            <a:off x="2948025"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China 2023: recurrent cholangitis, more than 3 episodes in 6 months, meant worse native-liver survival; any episode alone did not (P = .83).</a:t>
            </a:r>
          </a:p>
        </p:txBody>
      </p:sp>
      <p:sp>
        <p:nvSpPr>
          <p:cNvPr id="20" name="Rectangle 19"/>
          <p:cNvSpPr/>
          <p:nvPr/>
        </p:nvSpPr>
        <p:spPr>
          <a:xfrm>
            <a:off x="5054803" y="1773936"/>
            <a:ext cx="2070201" cy="233172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1107" y="1956816"/>
            <a:ext cx="1777593" cy="548640"/>
          </a:xfrm>
          <a:prstGeom prst="rect">
            <a:avLst/>
          </a:prstGeom>
          <a:noFill/>
        </p:spPr>
        <p:txBody>
          <a:bodyPr wrap="square" anchor="t" lIns="36576" rIns="36576" tIns="36576" bIns="36576">
            <a:spAutoFit/>
          </a:bodyPr>
          <a:lstStyle/>
          <a:p>
            <a:pPr algn="l"/>
            <a:r>
              <a:rPr sz="2000" b="1" i="0">
                <a:solidFill>
                  <a:srgbClr val="D97A0B"/>
                </a:solidFill>
                <a:latin typeface="Abadi"/>
              </a:rPr>
              <a:t>≥ 3 episodes</a:t>
            </a:r>
          </a:p>
        </p:txBody>
      </p:sp>
      <p:sp>
        <p:nvSpPr>
          <p:cNvPr id="23" name="TextBox 22"/>
          <p:cNvSpPr txBox="1"/>
          <p:nvPr/>
        </p:nvSpPr>
        <p:spPr>
          <a:xfrm>
            <a:off x="5201107"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Japan 2024: three or more episodes predicted transplant; area under the curve 0.695.</a:t>
            </a:r>
          </a:p>
        </p:txBody>
      </p:sp>
      <p:sp>
        <p:nvSpPr>
          <p:cNvPr id="24" name="Rectangle 23"/>
          <p:cNvSpPr/>
          <p:nvPr/>
        </p:nvSpPr>
        <p:spPr>
          <a:xfrm>
            <a:off x="7307884" y="1773936"/>
            <a:ext cx="2070201" cy="233172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4188" y="1956816"/>
            <a:ext cx="1777593" cy="548640"/>
          </a:xfrm>
          <a:prstGeom prst="rect">
            <a:avLst/>
          </a:prstGeom>
          <a:noFill/>
        </p:spPr>
        <p:txBody>
          <a:bodyPr wrap="square" anchor="t" lIns="36576" rIns="36576" tIns="36576" bIns="36576">
            <a:spAutoFit/>
          </a:bodyPr>
          <a:lstStyle/>
          <a:p>
            <a:pPr algn="l"/>
            <a:r>
              <a:rPr sz="2000" b="1" i="0">
                <a:solidFill>
                  <a:srgbClr val="B22222"/>
                </a:solidFill>
                <a:latin typeface="Abadi"/>
              </a:rPr>
              <a:t>43% vs 80%</a:t>
            </a:r>
          </a:p>
        </p:txBody>
      </p:sp>
      <p:sp>
        <p:nvSpPr>
          <p:cNvPr id="27" name="TextBox 26"/>
          <p:cNvSpPr txBox="1"/>
          <p:nvPr/>
        </p:nvSpPr>
        <p:spPr>
          <a:xfrm>
            <a:off x="7454188"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Infants with cystic lesions: 2-year native-liver survival 42.9% if cholangitis began before 3 months, 80% if after 6.</a:t>
            </a:r>
          </a:p>
        </p:txBody>
      </p:sp>
      <p:sp>
        <p:nvSpPr>
          <p:cNvPr id="28" name="Rectangle 27"/>
          <p:cNvSpPr/>
          <p:nvPr/>
        </p:nvSpPr>
        <p:spPr>
          <a:xfrm>
            <a:off x="9560966" y="1773936"/>
            <a:ext cx="2070201" cy="233172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270" y="1956816"/>
            <a:ext cx="1777593" cy="548640"/>
          </a:xfrm>
          <a:prstGeom prst="rect">
            <a:avLst/>
          </a:prstGeom>
          <a:noFill/>
        </p:spPr>
        <p:txBody>
          <a:bodyPr wrap="square" anchor="t" lIns="36576" rIns="36576" tIns="36576" bIns="36576">
            <a:spAutoFit/>
          </a:bodyPr>
          <a:lstStyle/>
          <a:p>
            <a:pPr algn="l"/>
            <a:r>
              <a:rPr sz="2000" b="1" i="0">
                <a:solidFill>
                  <a:srgbClr val="1E7A33"/>
                </a:solidFill>
                <a:latin typeface="Abadi"/>
              </a:rPr>
              <a:t>89% → 55%</a:t>
            </a:r>
          </a:p>
        </p:txBody>
      </p:sp>
      <p:sp>
        <p:nvSpPr>
          <p:cNvPr id="31" name="TextBox 30"/>
          <p:cNvSpPr txBox="1"/>
          <p:nvPr/>
        </p:nvSpPr>
        <p:spPr>
          <a:xfrm>
            <a:off x="9707270"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Switzerland: transplant rate fell after a standard cholangitis protocol (2015); before–after comparison.</a:t>
            </a:r>
          </a:p>
        </p:txBody>
      </p:sp>
      <p:sp>
        <p:nvSpPr>
          <p:cNvPr id="32" name="TextBox 31"/>
          <p:cNvSpPr txBox="1"/>
          <p:nvPr/>
        </p:nvSpPr>
        <p:spPr>
          <a:xfrm>
            <a:off x="548640" y="4297680"/>
            <a:ext cx="11082528" cy="1463040"/>
          </a:xfrm>
          <a:prstGeom prst="rect">
            <a:avLst/>
          </a:prstGeom>
          <a:noFill/>
        </p:spPr>
        <p:txBody>
          <a:bodyPr wrap="square" anchor="t" lIns="36576" rIns="36576" tIns="36576" bIns="36576">
            <a:spAutoFit/>
          </a:bodyPr>
          <a:lstStyle/>
          <a:p>
            <a:pPr algn="l"/>
            <a:r>
              <a:rPr sz="1250" b="1" i="0">
                <a:solidFill>
                  <a:srgbClr val="1B355E"/>
                </a:solidFill>
                <a:latin typeface="Abadi"/>
              </a:rPr>
              <a:t>Why it matters.   </a:t>
            </a:r>
            <a:r>
              <a:rPr sz="1250" b="0" i="0">
                <a:solidFill>
                  <a:srgbClr val="1A1A1A"/>
                </a:solidFill>
                <a:latin typeface="Abadi"/>
              </a:rPr>
              <a:t>Cholangitis is both a marker and a cause. Infants with partial drainage get it more and do worse anyway, which explains the null multivariable results. But each episode can close ductules, and early, repeated episodes track with loss of the native liver. The clinical targets are therefore prompt recognition, an adequate first course and prevention of recurrence.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anchor="ctr" lIns="0" rIns="0" tIns="0" bIns="0">
            <a:spAutoFit/>
          </a:bodyPr>
          <a:lstStyle/>
          <a:p>
            <a:pPr algn="ctr"/>
            <a:r>
              <a:rPr sz="1500" b="1" i="0">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anchor="ctr" lIns="36576" rIns="36576" tIns="36576" bIns="36576">
            <a:spAutoFit/>
          </a:bodyPr>
          <a:lstStyle/>
          <a:p>
            <a:pPr algn="l"/>
            <a:r>
              <a:rPr sz="1200" b="1" i="0">
                <a:solidFill>
                  <a:srgbClr val="B22222"/>
                </a:solidFill>
                <a:latin typeface="Abadi"/>
              </a:rPr>
              <a:t>DIAGNOSIS</a:t>
            </a:r>
          </a:p>
        </p:txBody>
      </p:sp>
      <p:sp>
        <p:nvSpPr>
          <p:cNvPr id="5" name="TextBox 4"/>
          <p:cNvSpPr txBox="1"/>
          <p:nvPr/>
        </p:nvSpPr>
        <p:spPr>
          <a:xfrm>
            <a:off x="548640" y="722376"/>
            <a:ext cx="11082528" cy="548640"/>
          </a:xfrm>
          <a:prstGeom prst="rect">
            <a:avLst/>
          </a:prstGeom>
          <a:noFill/>
        </p:spPr>
        <p:txBody>
          <a:bodyPr wrap="square" anchor="ctr" lIns="36576" rIns="36576" tIns="36576" bIns="36576">
            <a:spAutoFit/>
          </a:bodyPr>
          <a:lstStyle/>
          <a:p>
            <a:pPr algn="l"/>
            <a:r>
              <a:rPr sz="3000" b="1" i="0">
                <a:solidFill>
                  <a:srgbClr val="1B355E"/>
                </a:solidFill>
                <a:latin typeface="Abadi"/>
              </a:rPr>
              <a:t>THE BARD DEFINITION</a:t>
            </a:r>
          </a:p>
        </p:txBody>
      </p:sp>
      <p:sp>
        <p:nvSpPr>
          <p:cNvPr id="6" name="TextBox 5"/>
          <p:cNvSpPr txBox="1"/>
          <p:nvPr/>
        </p:nvSpPr>
        <p:spPr>
          <a:xfrm>
            <a:off x="548640" y="1307592"/>
            <a:ext cx="11082528" cy="265176"/>
          </a:xfrm>
          <a:prstGeom prst="rect">
            <a:avLst/>
          </a:prstGeom>
          <a:noFill/>
        </p:spPr>
        <p:txBody>
          <a:bodyPr wrap="square" anchor="t" lIns="36576" rIns="36576" tIns="36576" bIns="36576">
            <a:spAutoFit/>
          </a:bodyPr>
          <a:lstStyle/>
          <a:p>
            <a:pPr algn="l"/>
            <a:r>
              <a:rPr sz="1300" b="0" i="0">
                <a:solidFill>
                  <a:srgbClr val="555555"/>
                </a:solidFill>
                <a:latin typeface="Abadi"/>
              </a:rPr>
              <a:t>International Delphi consensus, Biliary Atresia and Related Diseases network, 2022: two lists and two levels of certainty</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anchor="t" lIns="36576" rIns="36576" tIns="36576" bIns="36576">
            <a:spAutoFit/>
          </a:bodyPr>
          <a:lstStyle/>
          <a:p>
            <a:pPr algn="r"/>
            <a:r>
              <a:rPr sz="1200" b="0" i="0">
                <a:solidFill>
                  <a:srgbClr val="555555"/>
                </a:solidFill>
                <a:latin typeface="Abadi"/>
              </a:rPr>
              <a:t>6</a:t>
            </a:r>
          </a:p>
        </p:txBody>
      </p:sp>
      <p:sp>
        <p:nvSpPr>
          <p:cNvPr id="11" name="TextBox 10"/>
          <p:cNvSpPr txBox="1"/>
          <p:nvPr/>
        </p:nvSpPr>
        <p:spPr>
          <a:xfrm>
            <a:off x="548640" y="5971032"/>
            <a:ext cx="10287000" cy="457200"/>
          </a:xfrm>
          <a:prstGeom prst="rect">
            <a:avLst/>
          </a:prstGeom>
          <a:noFill/>
        </p:spPr>
        <p:txBody>
          <a:bodyPr wrap="square" anchor="t" lIns="36576" rIns="36576" tIns="36576" bIns="36576">
            <a:spAutoFit/>
          </a:bodyPr>
          <a:lstStyle/>
          <a:p>
            <a:pPr algn="l"/>
            <a:r>
              <a:rPr sz="1000" b="0" i="0">
                <a:solidFill>
                  <a:srgbClr val="7F7F7F"/>
                </a:solidFill>
                <a:latin typeface="Abadi"/>
              </a:rPr>
              <a:t>Calinescu AM, Madadi-Sanjani O, Mack C, et al. J Clin Med 2022;11:494 · Calinescu &amp; Wildhaber 2024</a:t>
            </a:r>
          </a:p>
        </p:txBody>
      </p:sp>
      <p:sp>
        <p:nvSpPr>
          <p:cNvPr id="12" name="Rectangle 11"/>
          <p:cNvSpPr/>
          <p:nvPr/>
        </p:nvSpPr>
        <p:spPr>
          <a:xfrm>
            <a:off x="548640" y="1773936"/>
            <a:ext cx="2633472" cy="41148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1773936"/>
            <a:ext cx="2487168" cy="411480"/>
          </a:xfrm>
          <a:prstGeom prst="rect">
            <a:avLst/>
          </a:prstGeom>
          <a:noFill/>
        </p:spPr>
        <p:txBody>
          <a:bodyPr wrap="square" anchor="ctr" lIns="36576" rIns="36576" tIns="36576" bIns="36576">
            <a:spAutoFit/>
          </a:bodyPr>
          <a:lstStyle/>
          <a:p>
            <a:pPr algn="l"/>
            <a:r>
              <a:rPr sz="1150" b="1" i="0">
                <a:solidFill>
                  <a:srgbClr val="FFFFFF"/>
                </a:solidFill>
                <a:latin typeface="Abadi"/>
              </a:rPr>
              <a:t>A · Clinical</a:t>
            </a:r>
          </a:p>
        </p:txBody>
      </p:sp>
      <p:sp>
        <p:nvSpPr>
          <p:cNvPr id="14" name="Rectangle 13"/>
          <p:cNvSpPr/>
          <p:nvPr/>
        </p:nvSpPr>
        <p:spPr>
          <a:xfrm>
            <a:off x="548640" y="2185416"/>
            <a:ext cx="2633472" cy="155448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276856"/>
            <a:ext cx="2450591" cy="1417320"/>
          </a:xfrm>
          <a:prstGeom prst="rect">
            <a:avLst/>
          </a:prstGeom>
          <a:noFill/>
        </p:spPr>
        <p:txBody>
          <a:bodyPr wrap="square" anchor="t" lIns="36576" rIns="36576" tIns="36576" bIns="36576">
            <a:spAutoFit/>
          </a:bodyPr>
          <a:lstStyle/>
          <a:p>
            <a:pPr algn="l"/>
            <a:r>
              <a:rPr sz="1100" b="0" i="0">
                <a:solidFill>
                  <a:srgbClr val="1A1A1A"/>
                </a:solidFill>
                <a:latin typeface="Abadi"/>
              </a:rPr>
              <a:t>Fever without another source and/or shivering · change in stool colour · new or increasing jaundice · abdominal discomfort: vomiting, poor feeding, irritability.</a:t>
            </a:r>
          </a:p>
        </p:txBody>
      </p:sp>
      <p:sp>
        <p:nvSpPr>
          <p:cNvPr id="16" name="Rectangle 15"/>
          <p:cNvSpPr/>
          <p:nvPr/>
        </p:nvSpPr>
        <p:spPr>
          <a:xfrm>
            <a:off x="3364992" y="1773936"/>
            <a:ext cx="2633472" cy="41148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38144" y="1773936"/>
            <a:ext cx="2487168" cy="411480"/>
          </a:xfrm>
          <a:prstGeom prst="rect">
            <a:avLst/>
          </a:prstGeom>
          <a:noFill/>
        </p:spPr>
        <p:txBody>
          <a:bodyPr wrap="square" anchor="ctr" lIns="36576" rIns="36576" tIns="36576" bIns="36576">
            <a:spAutoFit/>
          </a:bodyPr>
          <a:lstStyle/>
          <a:p>
            <a:pPr algn="l"/>
            <a:r>
              <a:rPr sz="1150" b="1" i="0">
                <a:solidFill>
                  <a:srgbClr val="FFFFFF"/>
                </a:solidFill>
                <a:latin typeface="Abadi"/>
              </a:rPr>
              <a:t>B · Laboratory, imaging</a:t>
            </a:r>
          </a:p>
        </p:txBody>
      </p:sp>
      <p:sp>
        <p:nvSpPr>
          <p:cNvPr id="18" name="Rectangle 17"/>
          <p:cNvSpPr/>
          <p:nvPr/>
        </p:nvSpPr>
        <p:spPr>
          <a:xfrm>
            <a:off x="3364992" y="2185416"/>
            <a:ext cx="2633472" cy="155448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56432" y="2276856"/>
            <a:ext cx="2450591" cy="1417320"/>
          </a:xfrm>
          <a:prstGeom prst="rect">
            <a:avLst/>
          </a:prstGeom>
          <a:noFill/>
        </p:spPr>
        <p:txBody>
          <a:bodyPr wrap="square" anchor="t" lIns="36576" rIns="36576" tIns="36576" bIns="36576">
            <a:spAutoFit/>
          </a:bodyPr>
          <a:lstStyle/>
          <a:p>
            <a:pPr algn="l"/>
            <a:r>
              <a:rPr sz="1100" b="0" i="0">
                <a:solidFill>
                  <a:srgbClr val="1A1A1A"/>
                </a:solidFill>
                <a:latin typeface="Abadi"/>
              </a:rPr>
              <a:t>Raised white cells, CRP and/or procalcitonin · raised transaminases · raised GGT and/or bilirubin · bile lakes on imaging.</a:t>
            </a:r>
          </a:p>
        </p:txBody>
      </p:sp>
      <p:sp>
        <p:nvSpPr>
          <p:cNvPr id="20" name="Rectangle 19"/>
          <p:cNvSpPr/>
          <p:nvPr/>
        </p:nvSpPr>
        <p:spPr>
          <a:xfrm>
            <a:off x="6181344" y="1773936"/>
            <a:ext cx="2633472" cy="41148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54496" y="1773936"/>
            <a:ext cx="2487168" cy="411480"/>
          </a:xfrm>
          <a:prstGeom prst="rect">
            <a:avLst/>
          </a:prstGeom>
          <a:noFill/>
        </p:spPr>
        <p:txBody>
          <a:bodyPr wrap="square" anchor="ctr" lIns="36576" rIns="36576" tIns="36576" bIns="36576">
            <a:spAutoFit/>
          </a:bodyPr>
          <a:lstStyle/>
          <a:p>
            <a:pPr algn="l"/>
            <a:r>
              <a:rPr sz="1150" b="1" i="0">
                <a:solidFill>
                  <a:srgbClr val="FFFFFF"/>
                </a:solidFill>
                <a:latin typeface="Abadi"/>
              </a:rPr>
              <a:t>Suspected</a:t>
            </a:r>
          </a:p>
        </p:txBody>
      </p:sp>
      <p:sp>
        <p:nvSpPr>
          <p:cNvPr id="22" name="Rectangle 21"/>
          <p:cNvSpPr/>
          <p:nvPr/>
        </p:nvSpPr>
        <p:spPr>
          <a:xfrm>
            <a:off x="6181344" y="2185416"/>
            <a:ext cx="2633472" cy="155448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72783" y="2276856"/>
            <a:ext cx="2450591" cy="1417320"/>
          </a:xfrm>
          <a:prstGeom prst="rect">
            <a:avLst/>
          </a:prstGeom>
          <a:noFill/>
        </p:spPr>
        <p:txBody>
          <a:bodyPr wrap="square" anchor="t" lIns="36576" rIns="36576" tIns="36576" bIns="36576">
            <a:spAutoFit/>
          </a:bodyPr>
          <a:lstStyle/>
          <a:p>
            <a:pPr algn="l"/>
            <a:r>
              <a:rPr sz="1100" b="0" i="0">
                <a:solidFill>
                  <a:srgbClr val="1A1A1A"/>
                </a:solidFill>
                <a:latin typeface="Abadi"/>
              </a:rPr>
              <a:t>One A plus one B criterion.</a:t>
            </a:r>
          </a:p>
        </p:txBody>
      </p:sp>
      <p:sp>
        <p:nvSpPr>
          <p:cNvPr id="24" name="Rectangle 23"/>
          <p:cNvSpPr/>
          <p:nvPr/>
        </p:nvSpPr>
        <p:spPr>
          <a:xfrm>
            <a:off x="8997696" y="1773936"/>
            <a:ext cx="2633472" cy="411480"/>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70848" y="1773936"/>
            <a:ext cx="2487168" cy="411480"/>
          </a:xfrm>
          <a:prstGeom prst="rect">
            <a:avLst/>
          </a:prstGeom>
          <a:noFill/>
        </p:spPr>
        <p:txBody>
          <a:bodyPr wrap="square" anchor="ctr" lIns="36576" rIns="36576" tIns="36576" bIns="36576">
            <a:spAutoFit/>
          </a:bodyPr>
          <a:lstStyle/>
          <a:p>
            <a:pPr algn="l"/>
            <a:r>
              <a:rPr sz="1150" b="1" i="0">
                <a:solidFill>
                  <a:srgbClr val="FFFFFF"/>
                </a:solidFill>
                <a:latin typeface="Abadi"/>
              </a:rPr>
              <a:t>Confirmed</a:t>
            </a:r>
          </a:p>
        </p:txBody>
      </p:sp>
      <p:sp>
        <p:nvSpPr>
          <p:cNvPr id="26" name="Rectangle 25"/>
          <p:cNvSpPr/>
          <p:nvPr/>
        </p:nvSpPr>
        <p:spPr>
          <a:xfrm>
            <a:off x="8997696" y="2185416"/>
            <a:ext cx="2633472" cy="155448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89136" y="2276856"/>
            <a:ext cx="2450591" cy="1417320"/>
          </a:xfrm>
          <a:prstGeom prst="rect">
            <a:avLst/>
          </a:prstGeom>
          <a:noFill/>
        </p:spPr>
        <p:txBody>
          <a:bodyPr wrap="square" anchor="t" lIns="36576" rIns="36576" tIns="36576" bIns="36576">
            <a:spAutoFit/>
          </a:bodyPr>
          <a:lstStyle/>
          <a:p>
            <a:pPr algn="l"/>
            <a:r>
              <a:rPr sz="1100" b="0" i="0">
                <a:solidFill>
                  <a:srgbClr val="1A1A1A"/>
                </a:solidFill>
                <a:latin typeface="Abadi"/>
              </a:rPr>
              <a:t>Two A plus two B criteria, or suspected cholangitis plus a positive blood culture.</a:t>
            </a:r>
          </a:p>
        </p:txBody>
      </p:sp>
      <p:sp>
        <p:nvSpPr>
          <p:cNvPr id="28" name="Rectangle 27"/>
          <p:cNvSpPr/>
          <p:nvPr/>
        </p:nvSpPr>
        <p:spPr>
          <a:xfrm>
            <a:off x="548640" y="3840480"/>
            <a:ext cx="3572255" cy="132588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3840480"/>
            <a:ext cx="3572255"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4944" y="4023360"/>
            <a:ext cx="3279648" cy="548640"/>
          </a:xfrm>
          <a:prstGeom prst="rect">
            <a:avLst/>
          </a:prstGeom>
          <a:noFill/>
        </p:spPr>
        <p:txBody>
          <a:bodyPr wrap="square" anchor="t" lIns="36576" rIns="36576" tIns="36576" bIns="36576">
            <a:spAutoFit/>
          </a:bodyPr>
          <a:lstStyle/>
          <a:p>
            <a:pPr algn="l"/>
            <a:r>
              <a:rPr sz="1500" b="1" i="0">
                <a:solidFill>
                  <a:srgbClr val="1B355E"/>
                </a:solidFill>
                <a:latin typeface="Abadi"/>
              </a:rPr>
              <a:t>Early</a:t>
            </a:r>
          </a:p>
        </p:txBody>
      </p:sp>
      <p:sp>
        <p:nvSpPr>
          <p:cNvPr id="31" name="TextBox 30"/>
          <p:cNvSpPr txBox="1"/>
          <p:nvPr/>
        </p:nvSpPr>
        <p:spPr>
          <a:xfrm>
            <a:off x="694944" y="4617720"/>
            <a:ext cx="3279648" cy="457200"/>
          </a:xfrm>
          <a:prstGeom prst="rect">
            <a:avLst/>
          </a:prstGeom>
          <a:noFill/>
        </p:spPr>
        <p:txBody>
          <a:bodyPr wrap="square" anchor="t" lIns="36576" rIns="36576" tIns="36576" bIns="36576">
            <a:spAutoFit/>
          </a:bodyPr>
          <a:lstStyle/>
          <a:p>
            <a:pPr algn="l"/>
            <a:r>
              <a:rPr sz="1100" b="0" i="0">
                <a:solidFill>
                  <a:srgbClr val="1A1A1A"/>
                </a:solidFill>
                <a:latin typeface="Abadi"/>
              </a:rPr>
              <a:t>First month after the Kasai.</a:t>
            </a:r>
          </a:p>
        </p:txBody>
      </p:sp>
      <p:sp>
        <p:nvSpPr>
          <p:cNvPr id="32" name="Rectangle 31"/>
          <p:cNvSpPr/>
          <p:nvPr/>
        </p:nvSpPr>
        <p:spPr>
          <a:xfrm>
            <a:off x="4303775" y="3840480"/>
            <a:ext cx="3572255" cy="132588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303775" y="3840480"/>
            <a:ext cx="3572255"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50080" y="4023360"/>
            <a:ext cx="3279648" cy="548640"/>
          </a:xfrm>
          <a:prstGeom prst="rect">
            <a:avLst/>
          </a:prstGeom>
          <a:noFill/>
        </p:spPr>
        <p:txBody>
          <a:bodyPr wrap="square" anchor="t" lIns="36576" rIns="36576" tIns="36576" bIns="36576">
            <a:spAutoFit/>
          </a:bodyPr>
          <a:lstStyle/>
          <a:p>
            <a:pPr algn="l"/>
            <a:r>
              <a:rPr sz="1500" b="1" i="0">
                <a:solidFill>
                  <a:srgbClr val="D97A0B"/>
                </a:solidFill>
                <a:latin typeface="Abadi"/>
              </a:rPr>
              <a:t>Relapsing</a:t>
            </a:r>
          </a:p>
        </p:txBody>
      </p:sp>
      <p:sp>
        <p:nvSpPr>
          <p:cNvPr id="35" name="TextBox 34"/>
          <p:cNvSpPr txBox="1"/>
          <p:nvPr/>
        </p:nvSpPr>
        <p:spPr>
          <a:xfrm>
            <a:off x="4450080" y="4617720"/>
            <a:ext cx="3279648" cy="457200"/>
          </a:xfrm>
          <a:prstGeom prst="rect">
            <a:avLst/>
          </a:prstGeom>
          <a:noFill/>
        </p:spPr>
        <p:txBody>
          <a:bodyPr wrap="square" anchor="t" lIns="36576" rIns="36576" tIns="36576" bIns="36576">
            <a:spAutoFit/>
          </a:bodyPr>
          <a:lstStyle/>
          <a:p>
            <a:pPr algn="l"/>
            <a:r>
              <a:rPr sz="1100" b="0" i="0">
                <a:solidFill>
                  <a:srgbClr val="1A1A1A"/>
                </a:solidFill>
                <a:latin typeface="Abadi"/>
              </a:rPr>
              <a:t>More than 3 episodes within 6 months.</a:t>
            </a:r>
          </a:p>
        </p:txBody>
      </p:sp>
      <p:sp>
        <p:nvSpPr>
          <p:cNvPr id="36" name="Rectangle 35"/>
          <p:cNvSpPr/>
          <p:nvPr/>
        </p:nvSpPr>
        <p:spPr>
          <a:xfrm>
            <a:off x="8058911" y="3840480"/>
            <a:ext cx="3572255" cy="132588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058911" y="3840480"/>
            <a:ext cx="3572255"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05215" y="4023360"/>
            <a:ext cx="3279648" cy="548640"/>
          </a:xfrm>
          <a:prstGeom prst="rect">
            <a:avLst/>
          </a:prstGeom>
          <a:noFill/>
        </p:spPr>
        <p:txBody>
          <a:bodyPr wrap="square" anchor="t" lIns="36576" rIns="36576" tIns="36576" bIns="36576">
            <a:spAutoFit/>
          </a:bodyPr>
          <a:lstStyle/>
          <a:p>
            <a:pPr algn="l"/>
            <a:r>
              <a:rPr sz="1500" b="1" i="0">
                <a:solidFill>
                  <a:srgbClr val="B22222"/>
                </a:solidFill>
                <a:latin typeface="Abadi"/>
              </a:rPr>
              <a:t>Intractable</a:t>
            </a:r>
          </a:p>
        </p:txBody>
      </p:sp>
      <p:sp>
        <p:nvSpPr>
          <p:cNvPr id="39" name="TextBox 38"/>
          <p:cNvSpPr txBox="1"/>
          <p:nvPr/>
        </p:nvSpPr>
        <p:spPr>
          <a:xfrm>
            <a:off x="8205215" y="4617720"/>
            <a:ext cx="3279648" cy="457200"/>
          </a:xfrm>
          <a:prstGeom prst="rect">
            <a:avLst/>
          </a:prstGeom>
          <a:noFill/>
        </p:spPr>
        <p:txBody>
          <a:bodyPr wrap="square" anchor="t" lIns="36576" rIns="36576" tIns="36576" bIns="36576">
            <a:spAutoFit/>
          </a:bodyPr>
          <a:lstStyle/>
          <a:p>
            <a:pPr algn="l"/>
            <a:r>
              <a:rPr sz="1100" b="0" i="0">
                <a:solidFill>
                  <a:srgbClr val="1A1A1A"/>
                </a:solidFill>
                <a:latin typeface="Abadi"/>
              </a:rPr>
              <a:t>Antibiotics needed for more than 4 weeks, or 3 or more episodes less than a month apart.</a:t>
            </a:r>
          </a:p>
        </p:txBody>
      </p:sp>
      <p:sp>
        <p:nvSpPr>
          <p:cNvPr id="40" name="TextBox 39"/>
          <p:cNvSpPr txBox="1"/>
          <p:nvPr/>
        </p:nvSpPr>
        <p:spPr>
          <a:xfrm>
            <a:off x="548640" y="5303520"/>
            <a:ext cx="11082528" cy="502920"/>
          </a:xfrm>
          <a:prstGeom prst="rect">
            <a:avLst/>
          </a:prstGeom>
          <a:noFill/>
        </p:spPr>
        <p:txBody>
          <a:bodyPr wrap="square" anchor="t" lIns="36576" rIns="36576" tIns="36576" bIns="36576">
            <a:spAutoFit/>
          </a:bodyPr>
          <a:lstStyle/>
          <a:p>
            <a:pPr algn="l"/>
            <a:r>
              <a:rPr sz="1250" b="1" i="0">
                <a:solidFill>
                  <a:srgbClr val="1B355E"/>
                </a:solidFill>
                <a:latin typeface="Abadi"/>
              </a:rPr>
              <a:t>Why a new definition.   </a:t>
            </a:r>
            <a:r>
              <a:rPr sz="1250" b="0" i="0">
                <a:solidFill>
                  <a:srgbClr val="1A1A1A"/>
                </a:solidFill>
                <a:latin typeface="Abadi"/>
              </a:rPr>
              <a:t>Adult Tokyo criteria rely on pain and biliary obstruction that infants cannot report or do not have.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anchor="ctr" lIns="0" rIns="0" tIns="0" bIns="0">
            <a:spAutoFit/>
          </a:bodyPr>
          <a:lstStyle/>
          <a:p>
            <a:pPr algn="ctr"/>
            <a:r>
              <a:rPr sz="1500" b="1" i="0">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anchor="ctr" lIns="36576" rIns="36576" tIns="36576" bIns="36576">
            <a:spAutoFit/>
          </a:bodyPr>
          <a:lstStyle/>
          <a:p>
            <a:pPr algn="l"/>
            <a:r>
              <a:rPr sz="1200" b="1" i="0">
                <a:solidFill>
                  <a:srgbClr val="B22222"/>
                </a:solidFill>
                <a:latin typeface="Abadi"/>
              </a:rPr>
              <a:t>VALIDATION</a:t>
            </a:r>
          </a:p>
        </p:txBody>
      </p:sp>
      <p:sp>
        <p:nvSpPr>
          <p:cNvPr id="5" name="TextBox 4"/>
          <p:cNvSpPr txBox="1"/>
          <p:nvPr/>
        </p:nvSpPr>
        <p:spPr>
          <a:xfrm>
            <a:off x="548640" y="722376"/>
            <a:ext cx="11082528" cy="548640"/>
          </a:xfrm>
          <a:prstGeom prst="rect">
            <a:avLst/>
          </a:prstGeom>
          <a:noFill/>
        </p:spPr>
        <p:txBody>
          <a:bodyPr wrap="square" anchor="ctr" lIns="36576" rIns="36576" tIns="36576" bIns="36576">
            <a:spAutoFit/>
          </a:bodyPr>
          <a:lstStyle/>
          <a:p>
            <a:pPr algn="l"/>
            <a:r>
              <a:rPr sz="3000" b="1" i="0">
                <a:solidFill>
                  <a:srgbClr val="1B355E"/>
                </a:solidFill>
                <a:latin typeface="Abadi"/>
              </a:rPr>
              <a:t>FEVER IS NOT REQUIRED</a:t>
            </a:r>
          </a:p>
        </p:txBody>
      </p:sp>
      <p:sp>
        <p:nvSpPr>
          <p:cNvPr id="6" name="TextBox 5"/>
          <p:cNvSpPr txBox="1"/>
          <p:nvPr/>
        </p:nvSpPr>
        <p:spPr>
          <a:xfrm>
            <a:off x="548640" y="1307592"/>
            <a:ext cx="11082528" cy="265176"/>
          </a:xfrm>
          <a:prstGeom prst="rect">
            <a:avLst/>
          </a:prstGeom>
          <a:noFill/>
        </p:spPr>
        <p:txBody>
          <a:bodyPr wrap="square" anchor="t" lIns="36576" rIns="36576" tIns="36576" bIns="36576">
            <a:spAutoFit/>
          </a:bodyPr>
          <a:lstStyle/>
          <a:p>
            <a:pPr algn="l"/>
            <a:r>
              <a:rPr sz="1300" b="0" i="0">
                <a:solidFill>
                  <a:srgbClr val="555555"/>
                </a:solidFill>
                <a:latin typeface="Abadi"/>
              </a:rPr>
              <a:t>Clinician-diagnosed cholangitis in the first year after the Kasai, Hannover and Geneva: how often each feature was present,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anchor="t" lIns="36576" rIns="36576" tIns="36576" bIns="36576">
            <a:spAutoFit/>
          </a:bodyPr>
          <a:lstStyle/>
          <a:p>
            <a:pPr algn="r"/>
            <a:r>
              <a:rPr sz="1200" b="0" i="0">
                <a:solidFill>
                  <a:srgbClr val="555555"/>
                </a:solidFill>
                <a:latin typeface="Abadi"/>
              </a:rPr>
              <a:t>7</a:t>
            </a:r>
          </a:p>
        </p:txBody>
      </p:sp>
      <p:sp>
        <p:nvSpPr>
          <p:cNvPr id="11" name="TextBox 10"/>
          <p:cNvSpPr txBox="1"/>
          <p:nvPr/>
        </p:nvSpPr>
        <p:spPr>
          <a:xfrm>
            <a:off x="548640" y="5971032"/>
            <a:ext cx="10287000" cy="457200"/>
          </a:xfrm>
          <a:prstGeom prst="rect">
            <a:avLst/>
          </a:prstGeom>
          <a:noFill/>
        </p:spPr>
        <p:txBody>
          <a:bodyPr wrap="square" anchor="t" lIns="36576" rIns="36576" tIns="36576" bIns="36576">
            <a:spAutoFit/>
          </a:bodyPr>
          <a:lstStyle/>
          <a:p>
            <a:pPr algn="l"/>
            <a:r>
              <a:rPr sz="1000" b="0" i="0">
                <a:solidFill>
                  <a:srgbClr val="7F7F7F"/>
                </a:solidFill>
                <a:latin typeface="Abadi"/>
              </a:rPr>
              <a:t>Madadi-Sanjani O, et al. JPGN Rep 2024 (doi:10.1002/jpr3.12071) · Calinescu &amp; Wildhaber 2024</a:t>
            </a:r>
          </a:p>
        </p:txBody>
      </p:sp>
      <p:sp>
        <p:nvSpPr>
          <p:cNvPr id="12" name="TextBox 11"/>
          <p:cNvSpPr txBox="1"/>
          <p:nvPr/>
        </p:nvSpPr>
        <p:spPr>
          <a:xfrm>
            <a:off x="548640" y="1828800"/>
            <a:ext cx="2834640" cy="420624"/>
          </a:xfrm>
          <a:prstGeom prst="rect">
            <a:avLst/>
          </a:prstGeom>
          <a:noFill/>
        </p:spPr>
        <p:txBody>
          <a:bodyPr wrap="square" anchor="ctr" lIns="36576" rIns="36576" tIns="36576" bIns="36576">
            <a:spAutoFit/>
          </a:bodyPr>
          <a:lstStyle/>
          <a:p>
            <a:pPr algn="l"/>
            <a:r>
              <a:rPr sz="1050" b="0" i="0">
                <a:solidFill>
                  <a:srgbClr val="1A1A1A"/>
                </a:solidFill>
                <a:latin typeface="Abadi"/>
              </a:rPr>
              <a:t>At least one B criterion</a:t>
            </a:r>
          </a:p>
        </p:txBody>
      </p:sp>
      <p:sp>
        <p:nvSpPr>
          <p:cNvPr id="13" name="Rectangle 12"/>
          <p:cNvSpPr/>
          <p:nvPr/>
        </p:nvSpPr>
        <p:spPr>
          <a:xfrm>
            <a:off x="3474720" y="1874519"/>
            <a:ext cx="4512381" cy="3291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60253" y="1828800"/>
            <a:ext cx="1463040" cy="420624"/>
          </a:xfrm>
          <a:prstGeom prst="rect">
            <a:avLst/>
          </a:prstGeom>
          <a:noFill/>
        </p:spPr>
        <p:txBody>
          <a:bodyPr wrap="square" anchor="ctr" lIns="36576" rIns="36576" tIns="36576" bIns="36576">
            <a:spAutoFit/>
          </a:bodyPr>
          <a:lstStyle/>
          <a:p>
            <a:pPr algn="l"/>
            <a:r>
              <a:rPr sz="1050" b="1" i="0">
                <a:solidFill>
                  <a:srgbClr val="1A1A1A"/>
                </a:solidFill>
                <a:latin typeface="Abadi"/>
              </a:rPr>
              <a:t>94.9%</a:t>
            </a:r>
          </a:p>
        </p:txBody>
      </p:sp>
      <p:sp>
        <p:nvSpPr>
          <p:cNvPr id="15" name="TextBox 14"/>
          <p:cNvSpPr txBox="1"/>
          <p:nvPr/>
        </p:nvSpPr>
        <p:spPr>
          <a:xfrm>
            <a:off x="548640" y="2249424"/>
            <a:ext cx="2834640" cy="420624"/>
          </a:xfrm>
          <a:prstGeom prst="rect">
            <a:avLst/>
          </a:prstGeom>
          <a:noFill/>
        </p:spPr>
        <p:txBody>
          <a:bodyPr wrap="square" anchor="ctr" lIns="36576" rIns="36576" tIns="36576" bIns="36576">
            <a:spAutoFit/>
          </a:bodyPr>
          <a:lstStyle/>
          <a:p>
            <a:pPr algn="l"/>
            <a:r>
              <a:rPr sz="1050" b="0" i="0">
                <a:solidFill>
                  <a:srgbClr val="1A1A1A"/>
                </a:solidFill>
                <a:latin typeface="Abadi"/>
              </a:rPr>
              <a:t>Raised bilirubin or GGT</a:t>
            </a:r>
          </a:p>
        </p:txBody>
      </p:sp>
      <p:sp>
        <p:nvSpPr>
          <p:cNvPr id="16" name="Rectangle 15"/>
          <p:cNvSpPr/>
          <p:nvPr/>
        </p:nvSpPr>
        <p:spPr>
          <a:xfrm>
            <a:off x="3474720" y="2295144"/>
            <a:ext cx="4279392"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27264" y="2249424"/>
            <a:ext cx="1463040" cy="420624"/>
          </a:xfrm>
          <a:prstGeom prst="rect">
            <a:avLst/>
          </a:prstGeom>
          <a:noFill/>
        </p:spPr>
        <p:txBody>
          <a:bodyPr wrap="square" anchor="ctr" lIns="36576" rIns="36576" tIns="36576" bIns="36576">
            <a:spAutoFit/>
          </a:bodyPr>
          <a:lstStyle/>
          <a:p>
            <a:pPr algn="l"/>
            <a:r>
              <a:rPr sz="1050" b="1" i="0">
                <a:solidFill>
                  <a:srgbClr val="1A1A1A"/>
                </a:solidFill>
                <a:latin typeface="Abadi"/>
              </a:rPr>
              <a:t>90%</a:t>
            </a:r>
          </a:p>
        </p:txBody>
      </p:sp>
      <p:sp>
        <p:nvSpPr>
          <p:cNvPr id="18" name="TextBox 17"/>
          <p:cNvSpPr txBox="1"/>
          <p:nvPr/>
        </p:nvSpPr>
        <p:spPr>
          <a:xfrm>
            <a:off x="548640" y="2670048"/>
            <a:ext cx="2834640" cy="420624"/>
          </a:xfrm>
          <a:prstGeom prst="rect">
            <a:avLst/>
          </a:prstGeom>
          <a:noFill/>
        </p:spPr>
        <p:txBody>
          <a:bodyPr wrap="square" anchor="ctr" lIns="36576" rIns="36576" tIns="36576" bIns="36576">
            <a:spAutoFit/>
          </a:bodyPr>
          <a:lstStyle/>
          <a:p>
            <a:pPr algn="l"/>
            <a:r>
              <a:rPr sz="1050" b="0" i="0">
                <a:solidFill>
                  <a:srgbClr val="1A1A1A"/>
                </a:solidFill>
                <a:latin typeface="Abadi"/>
              </a:rPr>
              <a:t>Raised inflammatory markers</a:t>
            </a:r>
          </a:p>
        </p:txBody>
      </p:sp>
      <p:sp>
        <p:nvSpPr>
          <p:cNvPr id="19" name="Rectangle 18"/>
          <p:cNvSpPr/>
          <p:nvPr/>
        </p:nvSpPr>
        <p:spPr>
          <a:xfrm>
            <a:off x="3474720" y="2715768"/>
            <a:ext cx="3328416"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76288" y="2670048"/>
            <a:ext cx="1463040" cy="420624"/>
          </a:xfrm>
          <a:prstGeom prst="rect">
            <a:avLst/>
          </a:prstGeom>
          <a:noFill/>
        </p:spPr>
        <p:txBody>
          <a:bodyPr wrap="square" anchor="ctr" lIns="36576" rIns="36576" tIns="36576" bIns="36576">
            <a:spAutoFit/>
          </a:bodyPr>
          <a:lstStyle/>
          <a:p>
            <a:pPr algn="l"/>
            <a:r>
              <a:rPr sz="1050" b="1" i="0">
                <a:solidFill>
                  <a:srgbClr val="1A1A1A"/>
                </a:solidFill>
                <a:latin typeface="Abadi"/>
              </a:rPr>
              <a:t>70%</a:t>
            </a:r>
          </a:p>
        </p:txBody>
      </p:sp>
      <p:sp>
        <p:nvSpPr>
          <p:cNvPr id="21" name="TextBox 20"/>
          <p:cNvSpPr txBox="1"/>
          <p:nvPr/>
        </p:nvSpPr>
        <p:spPr>
          <a:xfrm>
            <a:off x="548640" y="3090672"/>
            <a:ext cx="2834640" cy="420624"/>
          </a:xfrm>
          <a:prstGeom prst="rect">
            <a:avLst/>
          </a:prstGeom>
          <a:noFill/>
        </p:spPr>
        <p:txBody>
          <a:bodyPr wrap="square" anchor="ctr" lIns="36576" rIns="36576" tIns="36576" bIns="36576">
            <a:spAutoFit/>
          </a:bodyPr>
          <a:lstStyle/>
          <a:p>
            <a:pPr algn="l"/>
            <a:r>
              <a:rPr sz="1050" b="0" i="0">
                <a:solidFill>
                  <a:srgbClr val="1A1A1A"/>
                </a:solidFill>
                <a:latin typeface="Abadi"/>
              </a:rPr>
              <a:t>Raised transaminases</a:t>
            </a:r>
          </a:p>
        </p:txBody>
      </p:sp>
      <p:sp>
        <p:nvSpPr>
          <p:cNvPr id="22" name="Rectangle 21"/>
          <p:cNvSpPr/>
          <p:nvPr/>
        </p:nvSpPr>
        <p:spPr>
          <a:xfrm>
            <a:off x="3474720" y="3136391"/>
            <a:ext cx="3233318"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81190" y="3090672"/>
            <a:ext cx="1463040" cy="420624"/>
          </a:xfrm>
          <a:prstGeom prst="rect">
            <a:avLst/>
          </a:prstGeom>
          <a:noFill/>
        </p:spPr>
        <p:txBody>
          <a:bodyPr wrap="square" anchor="ctr" lIns="36576" rIns="36576" tIns="36576" bIns="36576">
            <a:spAutoFit/>
          </a:bodyPr>
          <a:lstStyle/>
          <a:p>
            <a:pPr algn="l"/>
            <a:r>
              <a:rPr sz="1050" b="1" i="0">
                <a:solidFill>
                  <a:srgbClr val="1A1A1A"/>
                </a:solidFill>
                <a:latin typeface="Abadi"/>
              </a:rPr>
              <a:t>68%</a:t>
            </a:r>
          </a:p>
        </p:txBody>
      </p:sp>
      <p:sp>
        <p:nvSpPr>
          <p:cNvPr id="24" name="TextBox 23"/>
          <p:cNvSpPr txBox="1"/>
          <p:nvPr/>
        </p:nvSpPr>
        <p:spPr>
          <a:xfrm>
            <a:off x="548640" y="3511296"/>
            <a:ext cx="2834640" cy="420624"/>
          </a:xfrm>
          <a:prstGeom prst="rect">
            <a:avLst/>
          </a:prstGeom>
          <a:noFill/>
        </p:spPr>
        <p:txBody>
          <a:bodyPr wrap="square" anchor="ctr" lIns="36576" rIns="36576" tIns="36576" bIns="36576">
            <a:spAutoFit/>
          </a:bodyPr>
          <a:lstStyle/>
          <a:p>
            <a:pPr algn="l"/>
            <a:r>
              <a:rPr sz="1050" b="0" i="0">
                <a:solidFill>
                  <a:srgbClr val="1A1A1A"/>
                </a:solidFill>
                <a:latin typeface="Abadi"/>
              </a:rPr>
              <a:t>Fever</a:t>
            </a:r>
          </a:p>
        </p:txBody>
      </p:sp>
      <p:sp>
        <p:nvSpPr>
          <p:cNvPr id="25" name="Rectangle 24"/>
          <p:cNvSpPr/>
          <p:nvPr/>
        </p:nvSpPr>
        <p:spPr>
          <a:xfrm>
            <a:off x="3474720" y="3557015"/>
            <a:ext cx="1949500"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97372" y="3511296"/>
            <a:ext cx="1463040" cy="420624"/>
          </a:xfrm>
          <a:prstGeom prst="rect">
            <a:avLst/>
          </a:prstGeom>
          <a:noFill/>
        </p:spPr>
        <p:txBody>
          <a:bodyPr wrap="square" anchor="ctr" lIns="36576" rIns="36576" tIns="36576" bIns="36576">
            <a:spAutoFit/>
          </a:bodyPr>
          <a:lstStyle/>
          <a:p>
            <a:pPr algn="l"/>
            <a:r>
              <a:rPr sz="1050" b="1" i="0">
                <a:solidFill>
                  <a:srgbClr val="1A1A1A"/>
                </a:solidFill>
                <a:latin typeface="Abadi"/>
              </a:rPr>
              <a:t>41%</a:t>
            </a:r>
          </a:p>
        </p:txBody>
      </p:sp>
      <p:sp>
        <p:nvSpPr>
          <p:cNvPr id="27" name="TextBox 26"/>
          <p:cNvSpPr txBox="1"/>
          <p:nvPr/>
        </p:nvSpPr>
        <p:spPr>
          <a:xfrm>
            <a:off x="548640" y="3931920"/>
            <a:ext cx="2834640" cy="420624"/>
          </a:xfrm>
          <a:prstGeom prst="rect">
            <a:avLst/>
          </a:prstGeom>
          <a:noFill/>
        </p:spPr>
        <p:txBody>
          <a:bodyPr wrap="square" anchor="ctr" lIns="36576" rIns="36576" tIns="36576" bIns="36576">
            <a:spAutoFit/>
          </a:bodyPr>
          <a:lstStyle/>
          <a:p>
            <a:pPr algn="l"/>
            <a:r>
              <a:rPr sz="1050" b="0" i="0">
                <a:solidFill>
                  <a:srgbClr val="1A1A1A"/>
                </a:solidFill>
                <a:latin typeface="Abadi"/>
              </a:rPr>
              <a:t>Positive blood culture</a:t>
            </a:r>
          </a:p>
        </p:txBody>
      </p:sp>
      <p:sp>
        <p:nvSpPr>
          <p:cNvPr id="28" name="Rectangle 27"/>
          <p:cNvSpPr/>
          <p:nvPr/>
        </p:nvSpPr>
        <p:spPr>
          <a:xfrm>
            <a:off x="3474720" y="3977640"/>
            <a:ext cx="80832" cy="3291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28704" y="3931920"/>
            <a:ext cx="1463040" cy="420624"/>
          </a:xfrm>
          <a:prstGeom prst="rect">
            <a:avLst/>
          </a:prstGeom>
          <a:noFill/>
        </p:spPr>
        <p:txBody>
          <a:bodyPr wrap="square" anchor="ctr" lIns="36576" rIns="36576" tIns="36576" bIns="36576">
            <a:spAutoFit/>
          </a:bodyPr>
          <a:lstStyle/>
          <a:p>
            <a:pPr algn="l"/>
            <a:r>
              <a:rPr sz="1050" b="1" i="0">
                <a:solidFill>
                  <a:srgbClr val="1A1A1A"/>
                </a:solidFill>
                <a:latin typeface="Abadi"/>
              </a:rPr>
              <a:t>1 of 59</a:t>
            </a:r>
          </a:p>
        </p:txBody>
      </p:sp>
      <p:sp>
        <p:nvSpPr>
          <p:cNvPr id="30" name="TextBox 29"/>
          <p:cNvSpPr txBox="1"/>
          <p:nvPr/>
        </p:nvSpPr>
        <p:spPr>
          <a:xfrm>
            <a:off x="548640" y="4352544"/>
            <a:ext cx="2834640" cy="420624"/>
          </a:xfrm>
          <a:prstGeom prst="rect">
            <a:avLst/>
          </a:prstGeom>
          <a:noFill/>
        </p:spPr>
        <p:txBody>
          <a:bodyPr wrap="square" anchor="ctr" lIns="36576" rIns="36576" tIns="36576" bIns="36576">
            <a:spAutoFit/>
          </a:bodyPr>
          <a:lstStyle/>
          <a:p>
            <a:pPr algn="l"/>
            <a:r>
              <a:rPr sz="1050" b="0" i="0">
                <a:solidFill>
                  <a:srgbClr val="1A1A1A"/>
                </a:solidFill>
                <a:latin typeface="Abadi"/>
              </a:rPr>
              <a:t>Bile lakes on ultrasound</a:t>
            </a:r>
          </a:p>
        </p:txBody>
      </p:sp>
      <p:sp>
        <p:nvSpPr>
          <p:cNvPr id="31" name="Rectangle 30"/>
          <p:cNvSpPr/>
          <p:nvPr/>
        </p:nvSpPr>
        <p:spPr>
          <a:xfrm>
            <a:off x="3474720" y="4398264"/>
            <a:ext cx="80832" cy="3291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28704" y="4352544"/>
            <a:ext cx="1463040" cy="420624"/>
          </a:xfrm>
          <a:prstGeom prst="rect">
            <a:avLst/>
          </a:prstGeom>
          <a:noFill/>
        </p:spPr>
        <p:txBody>
          <a:bodyPr wrap="square" anchor="ctr" lIns="36576" rIns="36576" tIns="36576" bIns="36576">
            <a:spAutoFit/>
          </a:bodyPr>
          <a:lstStyle/>
          <a:p>
            <a:pPr algn="l"/>
            <a:r>
              <a:rPr sz="1050" b="1" i="0">
                <a:solidFill>
                  <a:srgbClr val="1A1A1A"/>
                </a:solidFill>
                <a:latin typeface="Abadi"/>
              </a:rPr>
              <a:t>1 of 59</a:t>
            </a:r>
          </a:p>
        </p:txBody>
      </p:sp>
      <p:sp>
        <p:nvSpPr>
          <p:cNvPr id="33" name="TextBox 32"/>
          <p:cNvSpPr txBox="1"/>
          <p:nvPr/>
        </p:nvSpPr>
        <p:spPr>
          <a:xfrm>
            <a:off x="548640" y="4818888"/>
            <a:ext cx="7863840" cy="274320"/>
          </a:xfrm>
          <a:prstGeom prst="rect">
            <a:avLst/>
          </a:prstGeom>
          <a:noFill/>
        </p:spPr>
        <p:txBody>
          <a:bodyPr wrap="square" anchor="t" lIns="36576" rIns="36576" tIns="36576" bIns="36576">
            <a:spAutoFit/>
          </a:bodyPr>
          <a:lstStyle/>
          <a:p>
            <a:pPr algn="l"/>
            <a:r>
              <a:rPr sz="950" b="0" i="0">
                <a:solidFill>
                  <a:srgbClr val="7F7F7F"/>
                </a:solidFill>
                <a:latin typeface="Abadi"/>
              </a:rPr>
              <a:t>59 episodes in 185 infants (32%). Agreement of the BARD definition with clinician diagnosis: r = 0.8.</a:t>
            </a:r>
          </a:p>
        </p:txBody>
      </p:sp>
      <p:sp>
        <p:nvSpPr>
          <p:cNvPr id="34" name="TextBox 33"/>
          <p:cNvSpPr txBox="1"/>
          <p:nvPr/>
        </p:nvSpPr>
        <p:spPr>
          <a:xfrm>
            <a:off x="8778240" y="1783080"/>
            <a:ext cx="2834640" cy="3931920"/>
          </a:xfrm>
          <a:prstGeom prst="rect">
            <a:avLst/>
          </a:prstGeom>
          <a:noFill/>
        </p:spPr>
        <p:txBody>
          <a:bodyPr wrap="square" anchor="t" lIns="36576" rIns="36576" tIns="36576" bIns="36576">
            <a:spAutoFit/>
          </a:bodyPr>
          <a:lstStyle/>
          <a:p>
            <a:pPr algn="l">
              <a:spcAft>
                <a:spcPts val="300"/>
              </a:spcAft>
            </a:pPr>
            <a:r>
              <a:rPr sz="1500" b="1" i="0">
                <a:solidFill>
                  <a:srgbClr val="1B355E"/>
                </a:solidFill>
                <a:latin typeface="Abadi"/>
              </a:rPr>
              <a:t>109 studies</a:t>
            </a:r>
          </a:p>
          <a:p>
            <a:pPr algn="l">
              <a:spcAft>
                <a:spcPts val="300"/>
              </a:spcAft>
            </a:pPr>
            <a:r>
              <a:rPr sz="1050" b="0" i="0">
                <a:solidFill>
                  <a:srgbClr val="1A1A1A"/>
                </a:solidFill>
                <a:latin typeface="Abadi"/>
              </a:rPr>
              <a:t>Fever was part of the definition in 73%, jaundice in 55%, CRP or procalcitonin in 17%, a positive culture in 14%.</a:t>
            </a:r>
          </a:p>
          <a:p>
            <a:pPr algn="l">
              <a:spcAft>
                <a:spcPts val="300"/>
              </a:spcAft>
            </a:pPr>
            <a:r>
              <a:rPr sz="1500" b="1" i="0">
                <a:solidFill>
                  <a:srgbClr val="1B355E"/>
                </a:solidFill>
                <a:latin typeface="Abadi"/>
              </a:rPr>
              <a:t>Implication</a:t>
            </a:r>
          </a:p>
          <a:p>
            <a:pPr algn="l">
              <a:spcAft>
                <a:spcPts val="300"/>
              </a:spcAft>
            </a:pPr>
            <a:r>
              <a:rPr sz="1050" b="0" i="0">
                <a:solidFill>
                  <a:srgbClr val="1A1A1A"/>
                </a:solidFill>
                <a:latin typeface="Abadi"/>
              </a:rPr>
              <a:t>A definition that demands fever or a culture misses most episodes.</a:t>
            </a:r>
          </a:p>
          <a:p>
            <a:pPr algn="l">
              <a:spcAft>
                <a:spcPts val="300"/>
              </a:spcAft>
            </a:pPr>
            <a:r>
              <a:rPr sz="1500" b="1" i="0">
                <a:solidFill>
                  <a:srgbClr val="1B355E"/>
                </a:solidFill>
                <a:latin typeface="Abadi"/>
              </a:rPr>
              <a:t>Cultures</a:t>
            </a:r>
          </a:p>
          <a:p>
            <a:pPr algn="l">
              <a:spcAft>
                <a:spcPts val="300"/>
              </a:spcAft>
            </a:pPr>
            <a:r>
              <a:rPr sz="1050" b="0" i="0">
                <a:solidFill>
                  <a:srgbClr val="1A1A1A"/>
                </a:solidFill>
                <a:latin typeface="Abadi"/>
              </a:rPr>
              <a:t>Positive in 10–44% across series.</a:t>
            </a:r>
          </a:p>
        </p:txBody>
      </p:sp>
      <p:sp>
        <p:nvSpPr>
          <p:cNvPr id="35" name="TextBox 34"/>
          <p:cNvSpPr txBox="1"/>
          <p:nvPr/>
        </p:nvSpPr>
        <p:spPr>
          <a:xfrm>
            <a:off x="548640" y="5157216"/>
            <a:ext cx="7955279" cy="548640"/>
          </a:xfrm>
          <a:prstGeom prst="rect">
            <a:avLst/>
          </a:prstGeom>
          <a:noFill/>
        </p:spPr>
        <p:txBody>
          <a:bodyPr wrap="square" anchor="t" lIns="36576" rIns="36576" tIns="36576" bIns="36576">
            <a:spAutoFit/>
          </a:bodyPr>
          <a:lstStyle/>
          <a:p>
            <a:pPr algn="l"/>
            <a:r>
              <a:rPr sz="1200" b="1" i="0">
                <a:solidFill>
                  <a:srgbClr val="1B355E"/>
                </a:solidFill>
                <a:latin typeface="Abadi"/>
              </a:rPr>
              <a:t>Read it as.   </a:t>
            </a:r>
            <a:r>
              <a:rPr sz="1200" b="0" i="0">
                <a:solidFill>
                  <a:srgbClr val="1A1A1A"/>
                </a:solidFill>
                <a:latin typeface="Abadi"/>
              </a:rPr>
              <a:t>Falling stool colour and rising bilirubin or GGT, not fever, are the commonest signals. Act on them.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anchor="ctr" lIns="0" rIns="0" tIns="0" bIns="0">
            <a:spAutoFit/>
          </a:bodyPr>
          <a:lstStyle/>
          <a:p>
            <a:pPr algn="ctr"/>
            <a:r>
              <a:rPr sz="1500" b="1" i="0">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anchor="ctr" lIns="36576" rIns="36576" tIns="36576" bIns="36576">
            <a:spAutoFit/>
          </a:bodyPr>
          <a:lstStyle/>
          <a:p>
            <a:pPr algn="l"/>
            <a:r>
              <a:rPr sz="1200" b="1" i="0">
                <a:solidFill>
                  <a:srgbClr val="B22222"/>
                </a:solidFill>
                <a:latin typeface="Abadi"/>
              </a:rPr>
              <a:t>THE WORKUP</a:t>
            </a:r>
          </a:p>
        </p:txBody>
      </p:sp>
      <p:sp>
        <p:nvSpPr>
          <p:cNvPr id="5" name="TextBox 4"/>
          <p:cNvSpPr txBox="1"/>
          <p:nvPr/>
        </p:nvSpPr>
        <p:spPr>
          <a:xfrm>
            <a:off x="548640" y="722376"/>
            <a:ext cx="11082528" cy="548640"/>
          </a:xfrm>
          <a:prstGeom prst="rect">
            <a:avLst/>
          </a:prstGeom>
          <a:noFill/>
        </p:spPr>
        <p:txBody>
          <a:bodyPr wrap="square" anchor="ctr" lIns="36576" rIns="36576" tIns="36576" bIns="36576">
            <a:spAutoFit/>
          </a:bodyPr>
          <a:lstStyle/>
          <a:p>
            <a:pPr algn="l"/>
            <a:r>
              <a:rPr sz="3000" b="1" i="0">
                <a:solidFill>
                  <a:srgbClr val="1B355E"/>
                </a:solidFill>
                <a:latin typeface="Abadi"/>
              </a:rPr>
              <a:t>THE FIRST HOUR</a:t>
            </a:r>
          </a:p>
        </p:txBody>
      </p:sp>
      <p:sp>
        <p:nvSpPr>
          <p:cNvPr id="6" name="TextBox 5"/>
          <p:cNvSpPr txBox="1"/>
          <p:nvPr/>
        </p:nvSpPr>
        <p:spPr>
          <a:xfrm>
            <a:off x="548640" y="1307592"/>
            <a:ext cx="11082528" cy="265176"/>
          </a:xfrm>
          <a:prstGeom prst="rect">
            <a:avLst/>
          </a:prstGeom>
          <a:noFill/>
        </p:spPr>
        <p:txBody>
          <a:bodyPr wrap="square" anchor="t" lIns="36576" rIns="36576" tIns="36576" bIns="36576">
            <a:spAutoFit/>
          </a:bodyPr>
          <a:lstStyle/>
          <a:p>
            <a:pPr algn="l"/>
            <a:r>
              <a:rPr sz="1300" b="0" i="0">
                <a:solidFill>
                  <a:srgbClr val="555555"/>
                </a:solidFill>
                <a:latin typeface="Abadi"/>
              </a:rPr>
              <a:t>What to obtain before the first dose, and why each test is there</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anchor="t" lIns="36576" rIns="36576" tIns="36576" bIns="36576">
            <a:spAutoFit/>
          </a:bodyPr>
          <a:lstStyle/>
          <a:p>
            <a:pPr algn="r"/>
            <a:r>
              <a:rPr sz="1200" b="0" i="0">
                <a:solidFill>
                  <a:srgbClr val="555555"/>
                </a:solidFill>
                <a:latin typeface="Abadi"/>
              </a:rPr>
              <a:t>8</a:t>
            </a:r>
          </a:p>
        </p:txBody>
      </p:sp>
      <p:sp>
        <p:nvSpPr>
          <p:cNvPr id="11" name="TextBox 10"/>
          <p:cNvSpPr txBox="1"/>
          <p:nvPr/>
        </p:nvSpPr>
        <p:spPr>
          <a:xfrm>
            <a:off x="548640" y="5971032"/>
            <a:ext cx="10287000" cy="457200"/>
          </a:xfrm>
          <a:prstGeom prst="rect">
            <a:avLst/>
          </a:prstGeom>
          <a:noFill/>
        </p:spPr>
        <p:txBody>
          <a:bodyPr wrap="square" anchor="t" lIns="36576" rIns="36576" tIns="36576" bIns="36576">
            <a:spAutoFit/>
          </a:bodyPr>
          <a:lstStyle/>
          <a:p>
            <a:pPr algn="l"/>
            <a:r>
              <a:rPr sz="1000" b="0" i="0">
                <a:solidFill>
                  <a:srgbClr val="7F7F7F"/>
                </a:solidFill>
                <a:latin typeface="Abadi"/>
              </a:rPr>
              <a:t>Calinescu 2022 · Li D, et al. Pediatr Surg Int 2018;34:399–404 · Aziz MA, et al. Indian J Gastroenterol 2025;44:506–16 · Harumatsu 2024</a:t>
            </a:r>
          </a:p>
        </p:txBody>
      </p:sp>
      <p:sp>
        <p:nvSpPr>
          <p:cNvPr id="12" name="Rectangle 11"/>
          <p:cNvSpPr/>
          <p:nvPr/>
        </p:nvSpPr>
        <p:spPr>
          <a:xfrm>
            <a:off x="548640" y="1773936"/>
            <a:ext cx="1982419" cy="41148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1773936"/>
            <a:ext cx="1836115" cy="411480"/>
          </a:xfrm>
          <a:prstGeom prst="rect">
            <a:avLst/>
          </a:prstGeom>
          <a:noFill/>
        </p:spPr>
        <p:txBody>
          <a:bodyPr wrap="square" anchor="ctr" lIns="36576" rIns="36576" tIns="36576" bIns="36576">
            <a:spAutoFit/>
          </a:bodyPr>
          <a:lstStyle/>
          <a:p>
            <a:pPr algn="l"/>
            <a:r>
              <a:rPr sz="1150" b="1" i="0">
                <a:solidFill>
                  <a:srgbClr val="FFFFFF"/>
                </a:solidFill>
                <a:latin typeface="Abadi"/>
              </a:rPr>
              <a:t>Blood culture</a:t>
            </a:r>
          </a:p>
        </p:txBody>
      </p:sp>
      <p:sp>
        <p:nvSpPr>
          <p:cNvPr id="14" name="Rectangle 13"/>
          <p:cNvSpPr/>
          <p:nvPr/>
        </p:nvSpPr>
        <p:spPr>
          <a:xfrm>
            <a:off x="548640" y="2185416"/>
            <a:ext cx="1982419" cy="1691639"/>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276856"/>
            <a:ext cx="1799539" cy="1554480"/>
          </a:xfrm>
          <a:prstGeom prst="rect">
            <a:avLst/>
          </a:prstGeom>
          <a:noFill/>
        </p:spPr>
        <p:txBody>
          <a:bodyPr wrap="square" anchor="t" lIns="36576" rIns="36576" tIns="36576" bIns="36576">
            <a:spAutoFit/>
          </a:bodyPr>
          <a:lstStyle/>
          <a:p>
            <a:pPr algn="l"/>
            <a:r>
              <a:rPr sz="1100" b="0" i="0">
                <a:solidFill>
                  <a:srgbClr val="1A1A1A"/>
                </a:solidFill>
                <a:latin typeface="Abadi"/>
              </a:rPr>
              <a:t>Before antibiotics, ideally two sets. Positive in a minority, but it steers escalation.</a:t>
            </a:r>
          </a:p>
        </p:txBody>
      </p:sp>
      <p:sp>
        <p:nvSpPr>
          <p:cNvPr id="16" name="TextBox 15"/>
          <p:cNvSpPr txBox="1"/>
          <p:nvPr/>
        </p:nvSpPr>
        <p:spPr>
          <a:xfrm>
            <a:off x="2531059" y="2642615"/>
            <a:ext cx="292608" cy="365760"/>
          </a:xfrm>
          <a:prstGeom prst="rect">
            <a:avLst/>
          </a:prstGeom>
          <a:noFill/>
        </p:spPr>
        <p:txBody>
          <a:bodyPr wrap="square" anchor="ctr" lIns="0" rIns="0" tIns="0" bIns="0">
            <a:spAutoFit/>
          </a:bodyPr>
          <a:lstStyle/>
          <a:p>
            <a:pPr algn="ctr"/>
            <a:r>
              <a:rPr sz="1200" b="0" i="0">
                <a:solidFill>
                  <a:srgbClr val="8A939B"/>
                </a:solidFill>
                <a:latin typeface="Abadi"/>
              </a:rPr>
              <a:t>▶</a:t>
            </a:r>
          </a:p>
        </p:txBody>
      </p:sp>
      <p:sp>
        <p:nvSpPr>
          <p:cNvPr id="17" name="Rectangle 16"/>
          <p:cNvSpPr/>
          <p:nvPr/>
        </p:nvSpPr>
        <p:spPr>
          <a:xfrm>
            <a:off x="2823667" y="1773936"/>
            <a:ext cx="1982419" cy="41148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96819" y="1773936"/>
            <a:ext cx="1836115" cy="411480"/>
          </a:xfrm>
          <a:prstGeom prst="rect">
            <a:avLst/>
          </a:prstGeom>
          <a:noFill/>
        </p:spPr>
        <p:txBody>
          <a:bodyPr wrap="square" anchor="ctr" lIns="36576" rIns="36576" tIns="36576" bIns="36576">
            <a:spAutoFit/>
          </a:bodyPr>
          <a:lstStyle/>
          <a:p>
            <a:pPr algn="l"/>
            <a:r>
              <a:rPr sz="1150" b="1" i="0">
                <a:solidFill>
                  <a:srgbClr val="FFFFFF"/>
                </a:solidFill>
                <a:latin typeface="Abadi"/>
              </a:rPr>
              <a:t>CBC, CRP, PCT</a:t>
            </a:r>
          </a:p>
        </p:txBody>
      </p:sp>
      <p:sp>
        <p:nvSpPr>
          <p:cNvPr id="19" name="Rectangle 18"/>
          <p:cNvSpPr/>
          <p:nvPr/>
        </p:nvSpPr>
        <p:spPr>
          <a:xfrm>
            <a:off x="2823667" y="2185416"/>
            <a:ext cx="1982419" cy="1691639"/>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15107" y="2276856"/>
            <a:ext cx="1799539" cy="1554480"/>
          </a:xfrm>
          <a:prstGeom prst="rect">
            <a:avLst/>
          </a:prstGeom>
          <a:noFill/>
        </p:spPr>
        <p:txBody>
          <a:bodyPr wrap="square" anchor="t" lIns="36576" rIns="36576" tIns="36576" bIns="36576">
            <a:spAutoFit/>
          </a:bodyPr>
          <a:lstStyle/>
          <a:p>
            <a:pPr algn="l"/>
            <a:r>
              <a:rPr sz="1100" b="0" i="0">
                <a:solidFill>
                  <a:srgbClr val="1A1A1A"/>
                </a:solidFill>
                <a:latin typeface="Abadi"/>
              </a:rPr>
              <a:t>Procalcitonin and CRP were higher in intractable than in simple cholangitis.</a:t>
            </a:r>
          </a:p>
        </p:txBody>
      </p:sp>
      <p:sp>
        <p:nvSpPr>
          <p:cNvPr id="21" name="TextBox 20"/>
          <p:cNvSpPr txBox="1"/>
          <p:nvPr/>
        </p:nvSpPr>
        <p:spPr>
          <a:xfrm>
            <a:off x="4806086" y="2642615"/>
            <a:ext cx="292608" cy="365760"/>
          </a:xfrm>
          <a:prstGeom prst="rect">
            <a:avLst/>
          </a:prstGeom>
          <a:noFill/>
        </p:spPr>
        <p:txBody>
          <a:bodyPr wrap="square" anchor="ctr" lIns="0" rIns="0" tIns="0" bIns="0">
            <a:spAutoFit/>
          </a:bodyPr>
          <a:lstStyle/>
          <a:p>
            <a:pPr algn="ctr"/>
            <a:r>
              <a:rPr sz="1200" b="0" i="0">
                <a:solidFill>
                  <a:srgbClr val="8A939B"/>
                </a:solidFill>
                <a:latin typeface="Abadi"/>
              </a:rPr>
              <a:t>▶</a:t>
            </a:r>
          </a:p>
        </p:txBody>
      </p:sp>
      <p:sp>
        <p:nvSpPr>
          <p:cNvPr id="22" name="Rectangle 21"/>
          <p:cNvSpPr/>
          <p:nvPr/>
        </p:nvSpPr>
        <p:spPr>
          <a:xfrm>
            <a:off x="5098694" y="1773936"/>
            <a:ext cx="1982419" cy="41148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71846" y="1773936"/>
            <a:ext cx="1836115" cy="411480"/>
          </a:xfrm>
          <a:prstGeom prst="rect">
            <a:avLst/>
          </a:prstGeom>
          <a:noFill/>
        </p:spPr>
        <p:txBody>
          <a:bodyPr wrap="square" anchor="ctr" lIns="36576" rIns="36576" tIns="36576" bIns="36576">
            <a:spAutoFit/>
          </a:bodyPr>
          <a:lstStyle/>
          <a:p>
            <a:pPr algn="l"/>
            <a:r>
              <a:rPr sz="1150" b="1" i="0">
                <a:solidFill>
                  <a:srgbClr val="FFFFFF"/>
                </a:solidFill>
                <a:latin typeface="Abadi"/>
              </a:rPr>
              <a:t>Bilirubin, GGT, ALT</a:t>
            </a:r>
          </a:p>
        </p:txBody>
      </p:sp>
      <p:sp>
        <p:nvSpPr>
          <p:cNvPr id="24" name="Rectangle 23"/>
          <p:cNvSpPr/>
          <p:nvPr/>
        </p:nvSpPr>
        <p:spPr>
          <a:xfrm>
            <a:off x="5098694" y="2185416"/>
            <a:ext cx="1982419" cy="1691639"/>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90134" y="2276856"/>
            <a:ext cx="1799539" cy="1554480"/>
          </a:xfrm>
          <a:prstGeom prst="rect">
            <a:avLst/>
          </a:prstGeom>
          <a:noFill/>
        </p:spPr>
        <p:txBody>
          <a:bodyPr wrap="square" anchor="t" lIns="36576" rIns="36576" tIns="36576" bIns="36576">
            <a:spAutoFit/>
          </a:bodyPr>
          <a:lstStyle/>
          <a:p>
            <a:pPr algn="l"/>
            <a:r>
              <a:rPr sz="1100" b="0" i="0">
                <a:solidFill>
                  <a:srgbClr val="1A1A1A"/>
                </a:solidFill>
                <a:latin typeface="Abadi"/>
              </a:rPr>
              <a:t>Baseline for response; a rise in GGT often precedes fever.</a:t>
            </a:r>
          </a:p>
        </p:txBody>
      </p:sp>
      <p:sp>
        <p:nvSpPr>
          <p:cNvPr id="26" name="TextBox 25"/>
          <p:cNvSpPr txBox="1"/>
          <p:nvPr/>
        </p:nvSpPr>
        <p:spPr>
          <a:xfrm>
            <a:off x="7081113" y="2642615"/>
            <a:ext cx="292608" cy="365760"/>
          </a:xfrm>
          <a:prstGeom prst="rect">
            <a:avLst/>
          </a:prstGeom>
          <a:noFill/>
        </p:spPr>
        <p:txBody>
          <a:bodyPr wrap="square" anchor="ctr" lIns="0" rIns="0" tIns="0" bIns="0">
            <a:spAutoFit/>
          </a:bodyPr>
          <a:lstStyle/>
          <a:p>
            <a:pPr algn="ctr"/>
            <a:r>
              <a:rPr sz="1200" b="0" i="0">
                <a:solidFill>
                  <a:srgbClr val="8A939B"/>
                </a:solidFill>
                <a:latin typeface="Abadi"/>
              </a:rPr>
              <a:t>▶</a:t>
            </a:r>
          </a:p>
        </p:txBody>
      </p:sp>
      <p:sp>
        <p:nvSpPr>
          <p:cNvPr id="27" name="Rectangle 26"/>
          <p:cNvSpPr/>
          <p:nvPr/>
        </p:nvSpPr>
        <p:spPr>
          <a:xfrm>
            <a:off x="7373721" y="1773936"/>
            <a:ext cx="1982419" cy="411480"/>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46873" y="1773936"/>
            <a:ext cx="1836115" cy="411480"/>
          </a:xfrm>
          <a:prstGeom prst="rect">
            <a:avLst/>
          </a:prstGeom>
          <a:noFill/>
        </p:spPr>
        <p:txBody>
          <a:bodyPr wrap="square" anchor="ctr" lIns="36576" rIns="36576" tIns="36576" bIns="36576">
            <a:spAutoFit/>
          </a:bodyPr>
          <a:lstStyle/>
          <a:p>
            <a:pPr algn="l"/>
            <a:r>
              <a:rPr sz="1150" b="1" i="0">
                <a:solidFill>
                  <a:srgbClr val="FFFFFF"/>
                </a:solidFill>
                <a:latin typeface="Abadi"/>
              </a:rPr>
              <a:t>Ultrasound</a:t>
            </a:r>
          </a:p>
        </p:txBody>
      </p:sp>
      <p:sp>
        <p:nvSpPr>
          <p:cNvPr id="29" name="Rectangle 28"/>
          <p:cNvSpPr/>
          <p:nvPr/>
        </p:nvSpPr>
        <p:spPr>
          <a:xfrm>
            <a:off x="7373721" y="2185416"/>
            <a:ext cx="1982419" cy="1691639"/>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65161" y="2276856"/>
            <a:ext cx="1799539" cy="1554480"/>
          </a:xfrm>
          <a:prstGeom prst="rect">
            <a:avLst/>
          </a:prstGeom>
          <a:noFill/>
        </p:spPr>
        <p:txBody>
          <a:bodyPr wrap="square" anchor="t" lIns="36576" rIns="36576" tIns="36576" bIns="36576">
            <a:spAutoFit/>
          </a:bodyPr>
          <a:lstStyle/>
          <a:p>
            <a:pPr algn="l"/>
            <a:r>
              <a:rPr sz="1100" b="0" i="0">
                <a:solidFill>
                  <a:srgbClr val="1A1A1A"/>
                </a:solidFill>
                <a:latin typeface="Abadi"/>
              </a:rPr>
              <a:t>Bile lakes, ascites, portal flow; exclude another source.</a:t>
            </a:r>
          </a:p>
        </p:txBody>
      </p:sp>
      <p:sp>
        <p:nvSpPr>
          <p:cNvPr id="31" name="TextBox 30"/>
          <p:cNvSpPr txBox="1"/>
          <p:nvPr/>
        </p:nvSpPr>
        <p:spPr>
          <a:xfrm>
            <a:off x="9356140" y="2642615"/>
            <a:ext cx="292608" cy="365760"/>
          </a:xfrm>
          <a:prstGeom prst="rect">
            <a:avLst/>
          </a:prstGeom>
          <a:noFill/>
        </p:spPr>
        <p:txBody>
          <a:bodyPr wrap="square" anchor="ctr" lIns="0" rIns="0" tIns="0" bIns="0">
            <a:spAutoFit/>
          </a:bodyPr>
          <a:lstStyle/>
          <a:p>
            <a:pPr algn="ctr"/>
            <a:r>
              <a:rPr sz="1200" b="0" i="0">
                <a:solidFill>
                  <a:srgbClr val="8A939B"/>
                </a:solidFill>
                <a:latin typeface="Abadi"/>
              </a:rPr>
              <a:t>▶</a:t>
            </a:r>
          </a:p>
        </p:txBody>
      </p:sp>
      <p:sp>
        <p:nvSpPr>
          <p:cNvPr id="32" name="Rectangle 31"/>
          <p:cNvSpPr/>
          <p:nvPr/>
        </p:nvSpPr>
        <p:spPr>
          <a:xfrm>
            <a:off x="9648748" y="1773936"/>
            <a:ext cx="1982419" cy="41148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21900" y="1773936"/>
            <a:ext cx="1836115" cy="411480"/>
          </a:xfrm>
          <a:prstGeom prst="rect">
            <a:avLst/>
          </a:prstGeom>
          <a:noFill/>
        </p:spPr>
        <p:txBody>
          <a:bodyPr wrap="square" anchor="ctr" lIns="36576" rIns="36576" tIns="36576" bIns="36576">
            <a:spAutoFit/>
          </a:bodyPr>
          <a:lstStyle/>
          <a:p>
            <a:pPr algn="l"/>
            <a:r>
              <a:rPr sz="1150" b="1" i="0">
                <a:solidFill>
                  <a:srgbClr val="FFFFFF"/>
                </a:solidFill>
                <a:latin typeface="Abadi"/>
              </a:rPr>
              <a:t>Biopsy, PCR</a:t>
            </a:r>
          </a:p>
        </p:txBody>
      </p:sp>
      <p:sp>
        <p:nvSpPr>
          <p:cNvPr id="34" name="Rectangle 33"/>
          <p:cNvSpPr/>
          <p:nvPr/>
        </p:nvSpPr>
        <p:spPr>
          <a:xfrm>
            <a:off x="9648748" y="2185416"/>
            <a:ext cx="1982419" cy="1691639"/>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40188" y="2276856"/>
            <a:ext cx="1799539" cy="1554480"/>
          </a:xfrm>
          <a:prstGeom prst="rect">
            <a:avLst/>
          </a:prstGeom>
          <a:noFill/>
        </p:spPr>
        <p:txBody>
          <a:bodyPr wrap="square" anchor="t" lIns="36576" rIns="36576" tIns="36576" bIns="36576">
            <a:spAutoFit/>
          </a:bodyPr>
          <a:lstStyle/>
          <a:p>
            <a:pPr algn="l"/>
            <a:r>
              <a:rPr sz="1100" b="0" i="0">
                <a:solidFill>
                  <a:srgbClr val="1A1A1A"/>
                </a:solidFill>
                <a:latin typeface="Abadi"/>
              </a:rPr>
              <a:t>Selected: culture or PCR of liver tissue raised yield to 53% in one Egyptian series.</a:t>
            </a:r>
          </a:p>
        </p:txBody>
      </p:sp>
      <p:sp>
        <p:nvSpPr>
          <p:cNvPr id="36" name="TextBox 35"/>
          <p:cNvSpPr txBox="1"/>
          <p:nvPr/>
        </p:nvSpPr>
        <p:spPr>
          <a:xfrm>
            <a:off x="548640" y="4069080"/>
            <a:ext cx="11082528" cy="1691640"/>
          </a:xfrm>
          <a:prstGeom prst="rect">
            <a:avLst/>
          </a:prstGeom>
          <a:noFill/>
        </p:spPr>
        <p:txBody>
          <a:bodyPr wrap="square" anchor="t" lIns="36576" rIns="36576" tIns="36576" bIns="36576">
            <a:spAutoFit/>
          </a:bodyPr>
          <a:lstStyle/>
          <a:p>
            <a:pPr algn="l"/>
            <a:r>
              <a:rPr sz="1250" b="1" i="0">
                <a:solidFill>
                  <a:srgbClr val="1B355E"/>
                </a:solidFill>
                <a:latin typeface="Abadi"/>
              </a:rPr>
              <a:t>Also exclude.   </a:t>
            </a:r>
            <a:r>
              <a:rPr sz="1250" b="0" i="0">
                <a:solidFill>
                  <a:srgbClr val="1A1A1A"/>
                </a:solidFill>
                <a:latin typeface="Abadi"/>
              </a:rPr>
              <a:t>Urinary infection, central-line sepsis, viral illness with transient cholestasis, and, in a jaundiced infant, failure of the Kasai itself. A rising bilirubin after a fever is cholangitis until proved otherwise: treat it fully before you label the operation as failed. In a Japanese series, a lower neutrophil-to-lymphocyte ratio at onset was seen in infants who later kept their liver (0.85 versus 1.63).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anchor="ctr" lIns="0" rIns="0" tIns="0" bIns="0">
            <a:spAutoFit/>
          </a:bodyPr>
          <a:lstStyle/>
          <a:p>
            <a:pPr algn="ctr"/>
            <a:r>
              <a:rPr sz="1500" b="1" i="0">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anchor="ctr" lIns="36576" rIns="36576" tIns="36576" bIns="36576">
            <a:spAutoFit/>
          </a:bodyPr>
          <a:lstStyle/>
          <a:p>
            <a:pPr algn="l"/>
            <a:r>
              <a:rPr sz="1200" b="1" i="0">
                <a:solidFill>
                  <a:srgbClr val="B22222"/>
                </a:solidFill>
                <a:latin typeface="Abadi"/>
              </a:rPr>
              <a:t>MICROBIOLOGY</a:t>
            </a:r>
          </a:p>
        </p:txBody>
      </p:sp>
      <p:sp>
        <p:nvSpPr>
          <p:cNvPr id="5" name="TextBox 4"/>
          <p:cNvSpPr txBox="1"/>
          <p:nvPr/>
        </p:nvSpPr>
        <p:spPr>
          <a:xfrm>
            <a:off x="548640" y="722376"/>
            <a:ext cx="11082528" cy="548640"/>
          </a:xfrm>
          <a:prstGeom prst="rect">
            <a:avLst/>
          </a:prstGeom>
          <a:noFill/>
        </p:spPr>
        <p:txBody>
          <a:bodyPr wrap="square" anchor="ctr" lIns="36576" rIns="36576" tIns="36576" bIns="36576">
            <a:spAutoFit/>
          </a:bodyPr>
          <a:lstStyle/>
          <a:p>
            <a:pPr algn="l"/>
            <a:r>
              <a:rPr sz="3000" b="1" i="0">
                <a:solidFill>
                  <a:srgbClr val="1B355E"/>
                </a:solidFill>
                <a:latin typeface="Abadi"/>
              </a:rPr>
              <a:t>WHO IS IN THE BLOOD</a:t>
            </a:r>
          </a:p>
        </p:txBody>
      </p:sp>
      <p:sp>
        <p:nvSpPr>
          <p:cNvPr id="6" name="TextBox 5"/>
          <p:cNvSpPr txBox="1"/>
          <p:nvPr/>
        </p:nvSpPr>
        <p:spPr>
          <a:xfrm>
            <a:off x="548640" y="1307592"/>
            <a:ext cx="11082528" cy="265176"/>
          </a:xfrm>
          <a:prstGeom prst="rect">
            <a:avLst/>
          </a:prstGeom>
          <a:noFill/>
        </p:spPr>
        <p:txBody>
          <a:bodyPr wrap="square" anchor="t" lIns="36576" rIns="36576" tIns="36576" bIns="36576">
            <a:spAutoFit/>
          </a:bodyPr>
          <a:lstStyle/>
          <a:p>
            <a:pPr algn="l"/>
            <a:r>
              <a:rPr sz="1300" b="0" i="0">
                <a:solidFill>
                  <a:srgbClr val="555555"/>
                </a:solidFill>
                <a:latin typeface="Abadi"/>
              </a:rPr>
              <a:t>Organisms isolated from blood in culture-positive cholangitis after the Kasai, Korea, % of isolates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anchor="t" lIns="36576" rIns="36576" tIns="36576" bIns="36576">
            <a:spAutoFit/>
          </a:bodyPr>
          <a:lstStyle/>
          <a:p>
            <a:pPr algn="r"/>
            <a:r>
              <a:rPr sz="1200" b="0" i="0">
                <a:solidFill>
                  <a:srgbClr val="555555"/>
                </a:solidFill>
                <a:latin typeface="Abadi"/>
              </a:rPr>
              <a:t>9</a:t>
            </a:r>
          </a:p>
        </p:txBody>
      </p:sp>
      <p:sp>
        <p:nvSpPr>
          <p:cNvPr id="11" name="TextBox 10"/>
          <p:cNvSpPr txBox="1"/>
          <p:nvPr/>
        </p:nvSpPr>
        <p:spPr>
          <a:xfrm>
            <a:off x="548640" y="5971032"/>
            <a:ext cx="10287000" cy="457200"/>
          </a:xfrm>
          <a:prstGeom prst="rect">
            <a:avLst/>
          </a:prstGeom>
          <a:noFill/>
        </p:spPr>
        <p:txBody>
          <a:bodyPr wrap="square" anchor="t" lIns="36576" rIns="36576" tIns="36576" bIns="36576">
            <a:spAutoFit/>
          </a:bodyPr>
          <a:lstStyle/>
          <a:p>
            <a:pPr algn="l"/>
            <a:r>
              <a:rPr sz="1000" b="0" i="0">
                <a:solidFill>
                  <a:srgbClr val="7F7F7F"/>
                </a:solidFill>
                <a:latin typeface="Abadi"/>
              </a:rPr>
              <a:t>Baek SH, et al. JPGN 2020;70:171–7 · Aziz 2025 · Wang P, et al. Int J Surg 2023 (PMID 37678274) · Calinescu &amp; Wildhaber 2024</a:t>
            </a:r>
          </a:p>
        </p:txBody>
      </p:sp>
      <p:sp>
        <p:nvSpPr>
          <p:cNvPr id="12" name="TextBox 11"/>
          <p:cNvSpPr txBox="1"/>
          <p:nvPr/>
        </p:nvSpPr>
        <p:spPr>
          <a:xfrm>
            <a:off x="548640" y="1828800"/>
            <a:ext cx="2834640" cy="502920"/>
          </a:xfrm>
          <a:prstGeom prst="rect">
            <a:avLst/>
          </a:prstGeom>
          <a:noFill/>
        </p:spPr>
        <p:txBody>
          <a:bodyPr wrap="square" anchor="ctr" lIns="36576" rIns="36576" tIns="36576" bIns="36576">
            <a:spAutoFit/>
          </a:bodyPr>
          <a:lstStyle/>
          <a:p>
            <a:pPr algn="l"/>
            <a:r>
              <a:rPr sz="1050" b="0" i="0">
                <a:solidFill>
                  <a:srgbClr val="1A1A1A"/>
                </a:solidFill>
                <a:latin typeface="Abadi"/>
              </a:rPr>
              <a:t>Enterococcus faecium</a:t>
            </a:r>
          </a:p>
        </p:txBody>
      </p:sp>
      <p:sp>
        <p:nvSpPr>
          <p:cNvPr id="13" name="Rectangle 12"/>
          <p:cNvSpPr/>
          <p:nvPr/>
        </p:nvSpPr>
        <p:spPr>
          <a:xfrm>
            <a:off x="3474720" y="1915668"/>
            <a:ext cx="3328415"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76288" y="1828800"/>
            <a:ext cx="1463040" cy="502920"/>
          </a:xfrm>
          <a:prstGeom prst="rect">
            <a:avLst/>
          </a:prstGeom>
          <a:noFill/>
        </p:spPr>
        <p:txBody>
          <a:bodyPr wrap="square" anchor="ctr" lIns="36576" rIns="36576" tIns="36576" bIns="36576">
            <a:spAutoFit/>
          </a:bodyPr>
          <a:lstStyle/>
          <a:p>
            <a:pPr algn="l"/>
            <a:r>
              <a:rPr sz="1050" b="1" i="0">
                <a:solidFill>
                  <a:srgbClr val="1A1A1A"/>
                </a:solidFill>
                <a:latin typeface="Abadi"/>
              </a:rPr>
              <a:t>28%</a:t>
            </a:r>
          </a:p>
        </p:txBody>
      </p:sp>
      <p:sp>
        <p:nvSpPr>
          <p:cNvPr id="15" name="TextBox 14"/>
          <p:cNvSpPr txBox="1"/>
          <p:nvPr/>
        </p:nvSpPr>
        <p:spPr>
          <a:xfrm>
            <a:off x="548640" y="2331720"/>
            <a:ext cx="2834640" cy="502920"/>
          </a:xfrm>
          <a:prstGeom prst="rect">
            <a:avLst/>
          </a:prstGeom>
          <a:noFill/>
        </p:spPr>
        <p:txBody>
          <a:bodyPr wrap="square" anchor="ctr" lIns="36576" rIns="36576" tIns="36576" bIns="36576">
            <a:spAutoFit/>
          </a:bodyPr>
          <a:lstStyle/>
          <a:p>
            <a:pPr algn="l"/>
            <a:r>
              <a:rPr sz="1050" b="0" i="0">
                <a:solidFill>
                  <a:srgbClr val="1A1A1A"/>
                </a:solidFill>
                <a:latin typeface="Abadi"/>
              </a:rPr>
              <a:t>Escherichia coli</a:t>
            </a:r>
          </a:p>
        </p:txBody>
      </p:sp>
      <p:sp>
        <p:nvSpPr>
          <p:cNvPr id="16" name="Rectangle 15"/>
          <p:cNvSpPr/>
          <p:nvPr/>
        </p:nvSpPr>
        <p:spPr>
          <a:xfrm>
            <a:off x="3474720" y="2418588"/>
            <a:ext cx="1783080"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30952" y="2331720"/>
            <a:ext cx="1463040" cy="502920"/>
          </a:xfrm>
          <a:prstGeom prst="rect">
            <a:avLst/>
          </a:prstGeom>
          <a:noFill/>
        </p:spPr>
        <p:txBody>
          <a:bodyPr wrap="square" anchor="ctr" lIns="36576" rIns="36576" tIns="36576" bIns="36576">
            <a:spAutoFit/>
          </a:bodyPr>
          <a:lstStyle/>
          <a:p>
            <a:pPr algn="l"/>
            <a:r>
              <a:rPr sz="1050" b="1" i="0">
                <a:solidFill>
                  <a:srgbClr val="1A1A1A"/>
                </a:solidFill>
                <a:latin typeface="Abadi"/>
              </a:rPr>
              <a:t>15%</a:t>
            </a:r>
          </a:p>
        </p:txBody>
      </p:sp>
      <p:sp>
        <p:nvSpPr>
          <p:cNvPr id="18" name="TextBox 17"/>
          <p:cNvSpPr txBox="1"/>
          <p:nvPr/>
        </p:nvSpPr>
        <p:spPr>
          <a:xfrm>
            <a:off x="548640" y="2834640"/>
            <a:ext cx="2834640" cy="502920"/>
          </a:xfrm>
          <a:prstGeom prst="rect">
            <a:avLst/>
          </a:prstGeom>
          <a:noFill/>
        </p:spPr>
        <p:txBody>
          <a:bodyPr wrap="square" anchor="ctr" lIns="36576" rIns="36576" tIns="36576" bIns="36576">
            <a:spAutoFit/>
          </a:bodyPr>
          <a:lstStyle/>
          <a:p>
            <a:pPr algn="l"/>
            <a:r>
              <a:rPr sz="1050" b="0" i="0">
                <a:solidFill>
                  <a:srgbClr val="1A1A1A"/>
                </a:solidFill>
                <a:latin typeface="Abadi"/>
              </a:rPr>
              <a:t>Enterobacter cloacae</a:t>
            </a:r>
          </a:p>
        </p:txBody>
      </p:sp>
      <p:sp>
        <p:nvSpPr>
          <p:cNvPr id="19" name="Rectangle 18"/>
          <p:cNvSpPr/>
          <p:nvPr/>
        </p:nvSpPr>
        <p:spPr>
          <a:xfrm>
            <a:off x="3474720" y="2921508"/>
            <a:ext cx="1307592"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55464" y="2834640"/>
            <a:ext cx="1463040" cy="502920"/>
          </a:xfrm>
          <a:prstGeom prst="rect">
            <a:avLst/>
          </a:prstGeom>
          <a:noFill/>
        </p:spPr>
        <p:txBody>
          <a:bodyPr wrap="square" anchor="ctr" lIns="36576" rIns="36576" tIns="36576" bIns="36576">
            <a:spAutoFit/>
          </a:bodyPr>
          <a:lstStyle/>
          <a:p>
            <a:pPr algn="l"/>
            <a:r>
              <a:rPr sz="1050" b="1" i="0">
                <a:solidFill>
                  <a:srgbClr val="1A1A1A"/>
                </a:solidFill>
                <a:latin typeface="Abadi"/>
              </a:rPr>
              <a:t>11%</a:t>
            </a:r>
          </a:p>
        </p:txBody>
      </p:sp>
      <p:sp>
        <p:nvSpPr>
          <p:cNvPr id="21" name="TextBox 20"/>
          <p:cNvSpPr txBox="1"/>
          <p:nvPr/>
        </p:nvSpPr>
        <p:spPr>
          <a:xfrm>
            <a:off x="548640" y="3337560"/>
            <a:ext cx="2834640" cy="502920"/>
          </a:xfrm>
          <a:prstGeom prst="rect">
            <a:avLst/>
          </a:prstGeom>
          <a:noFill/>
        </p:spPr>
        <p:txBody>
          <a:bodyPr wrap="square" anchor="ctr" lIns="36576" rIns="36576" tIns="36576" bIns="36576">
            <a:spAutoFit/>
          </a:bodyPr>
          <a:lstStyle/>
          <a:p>
            <a:pPr algn="l"/>
            <a:r>
              <a:rPr sz="1050" b="0" i="0">
                <a:solidFill>
                  <a:srgbClr val="1A1A1A"/>
                </a:solidFill>
                <a:latin typeface="Abadi"/>
              </a:rPr>
              <a:t>Klebsiella pneumoniae</a:t>
            </a:r>
          </a:p>
        </p:txBody>
      </p:sp>
      <p:sp>
        <p:nvSpPr>
          <p:cNvPr id="22" name="Rectangle 21"/>
          <p:cNvSpPr/>
          <p:nvPr/>
        </p:nvSpPr>
        <p:spPr>
          <a:xfrm>
            <a:off x="3474720" y="3424428"/>
            <a:ext cx="1069848"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17720" y="3337560"/>
            <a:ext cx="1463040" cy="502920"/>
          </a:xfrm>
          <a:prstGeom prst="rect">
            <a:avLst/>
          </a:prstGeom>
          <a:noFill/>
        </p:spPr>
        <p:txBody>
          <a:bodyPr wrap="square" anchor="ctr" lIns="36576" rIns="36576" tIns="36576" bIns="36576">
            <a:spAutoFit/>
          </a:bodyPr>
          <a:lstStyle/>
          <a:p>
            <a:pPr algn="l"/>
            <a:r>
              <a:rPr sz="1050" b="1" i="0">
                <a:solidFill>
                  <a:srgbClr val="1A1A1A"/>
                </a:solidFill>
                <a:latin typeface="Abadi"/>
              </a:rPr>
              <a:t>9%</a:t>
            </a:r>
          </a:p>
        </p:txBody>
      </p:sp>
      <p:sp>
        <p:nvSpPr>
          <p:cNvPr id="24" name="TextBox 23"/>
          <p:cNvSpPr txBox="1"/>
          <p:nvPr/>
        </p:nvSpPr>
        <p:spPr>
          <a:xfrm>
            <a:off x="548640" y="3886200"/>
            <a:ext cx="7863840" cy="274320"/>
          </a:xfrm>
          <a:prstGeom prst="rect">
            <a:avLst/>
          </a:prstGeom>
          <a:noFill/>
        </p:spPr>
        <p:txBody>
          <a:bodyPr wrap="square" anchor="t" lIns="36576" rIns="36576" tIns="36576" bIns="36576">
            <a:spAutoFit/>
          </a:bodyPr>
          <a:lstStyle/>
          <a:p>
            <a:pPr algn="l"/>
            <a:r>
              <a:rPr sz="950" b="0" i="0">
                <a:solidFill>
                  <a:srgbClr val="7F7F7F"/>
                </a:solidFill>
                <a:latin typeface="Abadi"/>
              </a:rPr>
              <a:t>Culture yield was 9% of episodes in this series.</a:t>
            </a:r>
          </a:p>
        </p:txBody>
      </p:sp>
      <p:sp>
        <p:nvSpPr>
          <p:cNvPr id="25" name="TextBox 24"/>
          <p:cNvSpPr txBox="1"/>
          <p:nvPr/>
        </p:nvSpPr>
        <p:spPr>
          <a:xfrm>
            <a:off x="8778240" y="1783080"/>
            <a:ext cx="2834640" cy="3931920"/>
          </a:xfrm>
          <a:prstGeom prst="rect">
            <a:avLst/>
          </a:prstGeom>
          <a:noFill/>
        </p:spPr>
        <p:txBody>
          <a:bodyPr wrap="square" anchor="t" lIns="36576" rIns="36576" tIns="36576" bIns="36576">
            <a:spAutoFit/>
          </a:bodyPr>
          <a:lstStyle/>
          <a:p>
            <a:pPr algn="l">
              <a:spcAft>
                <a:spcPts val="300"/>
              </a:spcAft>
            </a:pPr>
            <a:r>
              <a:rPr sz="1500" b="1" i="0">
                <a:solidFill>
                  <a:srgbClr val="1B355E"/>
                </a:solidFill>
                <a:latin typeface="Abadi"/>
              </a:rPr>
              <a:t>Susceptibility</a:t>
            </a:r>
          </a:p>
          <a:p>
            <a:pPr algn="l">
              <a:spcAft>
                <a:spcPts val="300"/>
              </a:spcAft>
            </a:pPr>
            <a:r>
              <a:rPr sz="1050" b="0" i="0">
                <a:solidFill>
                  <a:srgbClr val="1A1A1A"/>
                </a:solidFill>
                <a:latin typeface="Abadi"/>
              </a:rPr>
              <a:t>Gram-negatives: cefotaxime-susceptible in only 38%; nearly all meropenem-susceptible. Gram-positives: ampicillin 42%, vancomycin 100%.</a:t>
            </a:r>
          </a:p>
          <a:p>
            <a:pPr algn="l">
              <a:spcAft>
                <a:spcPts val="300"/>
              </a:spcAft>
            </a:pPr>
            <a:r>
              <a:rPr sz="1500" b="1" i="0">
                <a:solidFill>
                  <a:srgbClr val="1B355E"/>
                </a:solidFill>
                <a:latin typeface="Abadi"/>
              </a:rPr>
              <a:t>Egypt 2025</a:t>
            </a:r>
          </a:p>
          <a:p>
            <a:pPr algn="l">
              <a:spcAft>
                <a:spcPts val="300"/>
              </a:spcAft>
            </a:pPr>
            <a:r>
              <a:rPr sz="1050" b="0" i="0">
                <a:solidFill>
                  <a:srgbClr val="1A1A1A"/>
                </a:solidFill>
                <a:latin typeface="Abadi"/>
              </a:rPr>
              <a:t>Klebsiella variicola and K. pneumoniae dominated; meropenem was most often successful.</a:t>
            </a:r>
          </a:p>
          <a:p>
            <a:pPr algn="l">
              <a:spcAft>
                <a:spcPts val="300"/>
              </a:spcAft>
            </a:pPr>
            <a:r>
              <a:rPr sz="1500" b="1" i="0">
                <a:solidFill>
                  <a:srgbClr val="1B355E"/>
                </a:solidFill>
                <a:latin typeface="Abadi"/>
              </a:rPr>
              <a:t>China 2023</a:t>
            </a:r>
          </a:p>
          <a:p>
            <a:pPr algn="l">
              <a:spcAft>
                <a:spcPts val="300"/>
              </a:spcAft>
            </a:pPr>
            <a:r>
              <a:rPr sz="1050" b="0" i="0">
                <a:solidFill>
                  <a:srgbClr val="1A1A1A"/>
                </a:solidFill>
                <a:latin typeface="Abadi"/>
              </a:rPr>
              <a:t>Blood culture positive in 15.2% overall, 25.9% in severe episodes.</a:t>
            </a:r>
          </a:p>
        </p:txBody>
      </p:sp>
      <p:sp>
        <p:nvSpPr>
          <p:cNvPr id="26" name="TextBox 25"/>
          <p:cNvSpPr txBox="1"/>
          <p:nvPr/>
        </p:nvSpPr>
        <p:spPr>
          <a:xfrm>
            <a:off x="548640" y="4224528"/>
            <a:ext cx="7955279" cy="822960"/>
          </a:xfrm>
          <a:prstGeom prst="rect">
            <a:avLst/>
          </a:prstGeom>
          <a:noFill/>
        </p:spPr>
        <p:txBody>
          <a:bodyPr wrap="square" anchor="t" lIns="36576" rIns="36576" tIns="36576" bIns="36576">
            <a:spAutoFit/>
          </a:bodyPr>
          <a:lstStyle/>
          <a:p>
            <a:pPr algn="l"/>
            <a:r>
              <a:rPr sz="1200" b="1" i="0">
                <a:solidFill>
                  <a:srgbClr val="1B355E"/>
                </a:solidFill>
                <a:latin typeface="Abadi"/>
              </a:rPr>
              <a:t>Read it as.   </a:t>
            </a:r>
            <a:r>
              <a:rPr sz="1200" b="0" i="0">
                <a:solidFill>
                  <a:srgbClr val="1A1A1A"/>
                </a:solidFill>
                <a:latin typeface="Abadi"/>
              </a:rPr>
              <a:t>Enteric gram-negatives and enterococci, increasingly resistant to third-generation cephalosporins. Local antibiograms and the child's own prophylactic agent should shape the first choice.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anchor="ctr" lIns="0" rIns="0" tIns="0" bIns="0">
            <a:spAutoFit/>
          </a:bodyPr>
          <a:lstStyle/>
          <a:p>
            <a:pPr algn="ctr"/>
            <a:r>
              <a:rPr sz="1500" b="1" i="0">
                <a:solidFill>
                  <a:srgbClr val="FFFFFF"/>
                </a:solidFill>
                <a:latin typeface="Abadi"/>
              </a:rPr>
              <a:t>IV</a:t>
            </a:r>
          </a:p>
        </p:txBody>
      </p:sp>
      <p:sp>
        <p:nvSpPr>
          <p:cNvPr id="4" name="TextBox 3"/>
          <p:cNvSpPr txBox="1"/>
          <p:nvPr/>
        </p:nvSpPr>
        <p:spPr>
          <a:xfrm>
            <a:off x="1380744" y="292608"/>
            <a:ext cx="10232136" cy="347472"/>
          </a:xfrm>
          <a:prstGeom prst="rect">
            <a:avLst/>
          </a:prstGeom>
          <a:noFill/>
        </p:spPr>
        <p:txBody>
          <a:bodyPr wrap="square" anchor="ctr" lIns="36576" rIns="36576" tIns="36576" bIns="36576">
            <a:spAutoFit/>
          </a:bodyPr>
          <a:lstStyle/>
          <a:p>
            <a:pPr algn="l"/>
            <a:r>
              <a:rPr sz="1200" b="1" i="0">
                <a:solidFill>
                  <a:srgbClr val="B22222"/>
                </a:solidFill>
                <a:latin typeface="Abadi"/>
              </a:rPr>
              <a:t>EMPIRIC THERAPY</a:t>
            </a:r>
          </a:p>
        </p:txBody>
      </p:sp>
      <p:sp>
        <p:nvSpPr>
          <p:cNvPr id="5" name="TextBox 4"/>
          <p:cNvSpPr txBox="1"/>
          <p:nvPr/>
        </p:nvSpPr>
        <p:spPr>
          <a:xfrm>
            <a:off x="548640" y="722376"/>
            <a:ext cx="11082528" cy="548640"/>
          </a:xfrm>
          <a:prstGeom prst="rect">
            <a:avLst/>
          </a:prstGeom>
          <a:noFill/>
        </p:spPr>
        <p:txBody>
          <a:bodyPr wrap="square" anchor="ctr" lIns="36576" rIns="36576" tIns="36576" bIns="36576">
            <a:spAutoFit/>
          </a:bodyPr>
          <a:lstStyle/>
          <a:p>
            <a:pPr algn="l"/>
            <a:r>
              <a:rPr sz="3000" b="1" i="0">
                <a:solidFill>
                  <a:srgbClr val="1B355E"/>
                </a:solidFill>
                <a:latin typeface="Abadi"/>
              </a:rPr>
              <a:t>CHOOSING THE FIRST ANTIBIOTIC</a:t>
            </a:r>
          </a:p>
        </p:txBody>
      </p:sp>
      <p:sp>
        <p:nvSpPr>
          <p:cNvPr id="6" name="TextBox 5"/>
          <p:cNvSpPr txBox="1"/>
          <p:nvPr/>
        </p:nvSpPr>
        <p:spPr>
          <a:xfrm>
            <a:off x="548640" y="1307592"/>
            <a:ext cx="11082528" cy="265176"/>
          </a:xfrm>
          <a:prstGeom prst="rect">
            <a:avLst/>
          </a:prstGeom>
          <a:noFill/>
        </p:spPr>
        <p:txBody>
          <a:bodyPr wrap="square" anchor="t" lIns="36576" rIns="36576" tIns="36576" bIns="36576">
            <a:spAutoFit/>
          </a:bodyPr>
          <a:lstStyle/>
          <a:p>
            <a:pPr algn="l"/>
            <a:r>
              <a:rPr sz="1300" b="0" i="0">
                <a:solidFill>
                  <a:srgbClr val="555555"/>
                </a:solidFill>
                <a:latin typeface="Abadi"/>
              </a:rPr>
              <a:t>A decision frame drawn from consensus, trials and one published pathway; not a guideline</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anchor="t" lIns="36576" rIns="36576" tIns="36576" bIns="36576">
            <a:spAutoFit/>
          </a:bodyPr>
          <a:lstStyle/>
          <a:p>
            <a:pPr algn="r"/>
            <a:r>
              <a:rPr sz="1200" b="0" i="0">
                <a:solidFill>
                  <a:srgbClr val="555555"/>
                </a:solidFill>
                <a:latin typeface="Abadi"/>
              </a:rPr>
              <a:t>10</a:t>
            </a:r>
          </a:p>
        </p:txBody>
      </p:sp>
      <p:sp>
        <p:nvSpPr>
          <p:cNvPr id="11" name="TextBox 10"/>
          <p:cNvSpPr txBox="1"/>
          <p:nvPr/>
        </p:nvSpPr>
        <p:spPr>
          <a:xfrm>
            <a:off x="548640" y="5971032"/>
            <a:ext cx="10287000" cy="457200"/>
          </a:xfrm>
          <a:prstGeom prst="rect">
            <a:avLst/>
          </a:prstGeom>
          <a:noFill/>
        </p:spPr>
        <p:txBody>
          <a:bodyPr wrap="square" anchor="t" lIns="36576" rIns="36576" tIns="36576" bIns="36576">
            <a:spAutoFit/>
          </a:bodyPr>
          <a:lstStyle/>
          <a:p>
            <a:pPr algn="l"/>
            <a:r>
              <a:rPr sz="1000" b="0" i="0">
                <a:solidFill>
                  <a:srgbClr val="7F7F7F"/>
                </a:solidFill>
                <a:latin typeface="Abadi"/>
              </a:rPr>
              <a:t>Calinescu 2022 · Calinescu &amp; Wildhaber 2024 · Wang 2023 · Baek 2020 · Vanderbilt Cholangitis Clinical Pathway, 2024</a:t>
            </a:r>
          </a:p>
        </p:txBody>
      </p:sp>
      <p:graphicFrame>
        <p:nvGraphicFramePr>
          <p:cNvPr id="12" name="Table 11"/>
          <p:cNvGraphicFramePr>
            <a:graphicFrameLocks noGrp="1"/>
          </p:cNvGraphicFramePr>
          <p:nvPr/>
        </p:nvGraphicFramePr>
        <p:xfrm>
          <a:off x="548640" y="1783080"/>
          <a:ext cx="11082528" cy="3200400"/>
        </p:xfrm>
        <a:graphic>
          <a:graphicData uri="http://schemas.openxmlformats.org/drawingml/2006/table">
            <a:tbl>
              <a:tblPr firstRow="0" bandRow="0">
                <a:tableStyleId>{5C22544A-7EE6-4342-B048-85BDC9FD1C3A}</a:tableStyleId>
              </a:tblPr>
              <a:tblGrid>
                <a:gridCol w="3291840"/>
                <a:gridCol w="3108960"/>
                <a:gridCol w="4681728"/>
              </a:tblGrid>
              <a:tr h="457200">
                <a:tc>
                  <a:txBody>
                    <a:bodyPr wrap="square"/>
                    <a:lstStyle/>
                    <a:p>
                      <a:r>
                        <a:rPr sz="1050" b="1">
                          <a:solidFill>
                            <a:srgbClr val="FFFFFF"/>
                          </a:solidFill>
                          <a:latin typeface="Abadi"/>
                        </a:rPr>
                        <a:t>Situation</a:t>
                      </a:r>
                    </a:p>
                  </a:txBody>
                  <a:tcPr marL="73152" marR="73152" marT="27432" marB="27432" anchor="ctr">
                    <a:solidFill>
                      <a:srgbClr val="1B355E"/>
                    </a:solidFill>
                  </a:tcPr>
                </a:tc>
                <a:tc>
                  <a:txBody>
                    <a:bodyPr wrap="square"/>
                    <a:lstStyle/>
                    <a:p>
                      <a:r>
                        <a:rPr sz="1050" b="1">
                          <a:solidFill>
                            <a:srgbClr val="FFFFFF"/>
                          </a:solidFill>
                          <a:latin typeface="Abadi"/>
                        </a:rPr>
                        <a:t>Reasonable first choice</a:t>
                      </a:r>
                    </a:p>
                  </a:txBody>
                  <a:tcPr marL="73152" marR="73152" marT="27432" marB="27432" anchor="ctr">
                    <a:solidFill>
                      <a:srgbClr val="1B355E"/>
                    </a:solidFill>
                  </a:tcPr>
                </a:tc>
                <a:tc>
                  <a:txBody>
                    <a:bodyPr wrap="square"/>
                    <a:lstStyle/>
                    <a:p>
                      <a:r>
                        <a:rPr sz="1050" b="1">
                          <a:solidFill>
                            <a:srgbClr val="FFFFFF"/>
                          </a:solidFill>
                          <a:latin typeface="Abadi"/>
                        </a:rPr>
                        <a:t>Why</a:t>
                      </a:r>
                    </a:p>
                  </a:txBody>
                  <a:tcPr marL="73152" marR="73152" marT="27432" marB="27432" anchor="ctr">
                    <a:solidFill>
                      <a:srgbClr val="1B355E"/>
                    </a:solidFill>
                  </a:tcPr>
                </a:tc>
              </a:tr>
              <a:tr h="457200">
                <a:tc>
                  <a:txBody>
                    <a:bodyPr wrap="square"/>
                    <a:lstStyle/>
                    <a:p>
                      <a:r>
                        <a:rPr sz="1050" b="1">
                          <a:solidFill>
                            <a:srgbClr val="1A1A1A"/>
                          </a:solidFill>
                          <a:latin typeface="Abadi"/>
                        </a:rPr>
                        <a:t>Mild, first episode, low local resistance</a:t>
                      </a:r>
                    </a:p>
                  </a:txBody>
                  <a:tcPr marL="73152" marR="73152" marT="27432" marB="27432" anchor="ctr">
                    <a:solidFill>
                      <a:srgbClr val="FFFFFF"/>
                    </a:solidFill>
                  </a:tcPr>
                </a:tc>
                <a:tc>
                  <a:txBody>
                    <a:bodyPr wrap="square"/>
                    <a:lstStyle/>
                    <a:p>
                      <a:r>
                        <a:rPr sz="1050" b="0">
                          <a:solidFill>
                            <a:srgbClr val="1A1A1A"/>
                          </a:solidFill>
                          <a:latin typeface="Abadi"/>
                        </a:rPr>
                        <a:t>Ceftriaxone or piperacillin–tazobactam</a:t>
                      </a:r>
                    </a:p>
                  </a:txBody>
                  <a:tcPr marL="73152" marR="73152" marT="27432" marB="27432" anchor="ctr">
                    <a:solidFill>
                      <a:srgbClr val="FFFFFF"/>
                    </a:solidFill>
                  </a:tcPr>
                </a:tc>
                <a:tc>
                  <a:txBody>
                    <a:bodyPr wrap="square"/>
                    <a:lstStyle/>
                    <a:p>
                      <a:r>
                        <a:rPr sz="1050" b="0">
                          <a:solidFill>
                            <a:srgbClr val="1A1A1A"/>
                          </a:solidFill>
                          <a:latin typeface="Abadi"/>
                        </a:rPr>
                        <a:t>Most common in the literature and in the BARD survey (70.9% piperacillin–tazobactam)</a:t>
                      </a:r>
                    </a:p>
                  </a:txBody>
                  <a:tcPr marL="73152" marR="73152" marT="27432" marB="27432" anchor="ctr">
                    <a:solidFill>
                      <a:srgbClr val="FFFFFF"/>
                    </a:solidFill>
                  </a:tcPr>
                </a:tc>
              </a:tr>
              <a:tr h="457200">
                <a:tc>
                  <a:txBody>
                    <a:bodyPr wrap="square"/>
                    <a:lstStyle/>
                    <a:p>
                      <a:r>
                        <a:rPr sz="1050" b="1">
                          <a:solidFill>
                            <a:srgbClr val="1A1A1A"/>
                          </a:solidFill>
                          <a:latin typeface="Abadi"/>
                        </a:rPr>
                        <a:t>Moderate or severe, or septic</a:t>
                      </a:r>
                    </a:p>
                  </a:txBody>
                  <a:tcPr marL="73152" marR="73152" marT="27432" marB="27432" anchor="ctr">
                    <a:solidFill>
                      <a:srgbClr val="F2F4F7"/>
                    </a:solidFill>
                  </a:tcPr>
                </a:tc>
                <a:tc>
                  <a:txBody>
                    <a:bodyPr wrap="square"/>
                    <a:lstStyle/>
                    <a:p>
                      <a:r>
                        <a:rPr sz="1050" b="0">
                          <a:solidFill>
                            <a:srgbClr val="1A1A1A"/>
                          </a:solidFill>
                          <a:latin typeface="Abadi"/>
                        </a:rPr>
                        <a:t>Meropenem</a:t>
                      </a:r>
                    </a:p>
                  </a:txBody>
                  <a:tcPr marL="73152" marR="73152" marT="27432" marB="27432" anchor="ctr">
                    <a:solidFill>
                      <a:srgbClr val="F2F4F7"/>
                    </a:solidFill>
                  </a:tcPr>
                </a:tc>
                <a:tc>
                  <a:txBody>
                    <a:bodyPr wrap="square"/>
                    <a:lstStyle/>
                    <a:p>
                      <a:r>
                        <a:rPr sz="1050" b="0">
                          <a:solidFill>
                            <a:srgbClr val="1A1A1A"/>
                          </a:solidFill>
                          <a:latin typeface="Abadi"/>
                        </a:rPr>
                        <a:t>Cephalosporin efficacy fell from about 89% to 75%; meropenem covers ESBL organisms</a:t>
                      </a:r>
                    </a:p>
                  </a:txBody>
                  <a:tcPr marL="73152" marR="73152" marT="27432" marB="27432" anchor="ctr">
                    <a:solidFill>
                      <a:srgbClr val="F2F4F7"/>
                    </a:solidFill>
                  </a:tcPr>
                </a:tc>
              </a:tr>
              <a:tr h="457200">
                <a:tc>
                  <a:txBody>
                    <a:bodyPr wrap="square"/>
                    <a:lstStyle/>
                    <a:p>
                      <a:r>
                        <a:rPr sz="1050" b="1">
                          <a:solidFill>
                            <a:srgbClr val="1A1A1A"/>
                          </a:solidFill>
                          <a:latin typeface="Abadi"/>
                        </a:rPr>
                        <a:t>Breakthrough on prophylaxis</a:t>
                      </a:r>
                    </a:p>
                  </a:txBody>
                  <a:tcPr marL="73152" marR="73152" marT="27432" marB="27432" anchor="ctr">
                    <a:solidFill>
                      <a:srgbClr val="FFFFFF"/>
                    </a:solidFill>
                  </a:tcPr>
                </a:tc>
                <a:tc>
                  <a:txBody>
                    <a:bodyPr wrap="square"/>
                    <a:lstStyle/>
                    <a:p>
                      <a:r>
                        <a:rPr sz="1050" b="0">
                          <a:solidFill>
                            <a:srgbClr val="1A1A1A"/>
                          </a:solidFill>
                          <a:latin typeface="Abadi"/>
                        </a:rPr>
                        <a:t>Agent from a different class</a:t>
                      </a:r>
                    </a:p>
                  </a:txBody>
                  <a:tcPr marL="73152" marR="73152" marT="27432" marB="27432" anchor="ctr">
                    <a:solidFill>
                      <a:srgbClr val="FFFFFF"/>
                    </a:solidFill>
                  </a:tcPr>
                </a:tc>
                <a:tc>
                  <a:txBody>
                    <a:bodyPr wrap="square"/>
                    <a:lstStyle/>
                    <a:p>
                      <a:r>
                        <a:rPr sz="1050" b="0">
                          <a:solidFill>
                            <a:srgbClr val="1A1A1A"/>
                          </a:solidFill>
                          <a:latin typeface="Abadi"/>
                        </a:rPr>
                        <a:t>Prophylaxis selects resistant Klebsiella</a:t>
                      </a:r>
                    </a:p>
                  </a:txBody>
                  <a:tcPr marL="73152" marR="73152" marT="27432" marB="27432" anchor="ctr">
                    <a:solidFill>
                      <a:srgbClr val="FFFFFF"/>
                    </a:solidFill>
                  </a:tcPr>
                </a:tc>
              </a:tr>
              <a:tr h="457200">
                <a:tc>
                  <a:txBody>
                    <a:bodyPr wrap="square"/>
                    <a:lstStyle/>
                    <a:p>
                      <a:r>
                        <a:rPr sz="1050" b="1">
                          <a:solidFill>
                            <a:srgbClr val="1A1A1A"/>
                          </a:solidFill>
                          <a:latin typeface="Abadi"/>
                        </a:rPr>
                        <a:t>Gram-positive cocci or no response</a:t>
                      </a:r>
                    </a:p>
                  </a:txBody>
                  <a:tcPr marL="73152" marR="73152" marT="27432" marB="27432" anchor="ctr">
                    <a:solidFill>
                      <a:srgbClr val="F2F4F7"/>
                    </a:solidFill>
                  </a:tcPr>
                </a:tc>
                <a:tc>
                  <a:txBody>
                    <a:bodyPr wrap="square"/>
                    <a:lstStyle/>
                    <a:p>
                      <a:r>
                        <a:rPr sz="1050" b="0">
                          <a:solidFill>
                            <a:srgbClr val="1A1A1A"/>
                          </a:solidFill>
                          <a:latin typeface="Abadi"/>
                        </a:rPr>
                        <a:t>Add vancomycin</a:t>
                      </a:r>
                    </a:p>
                  </a:txBody>
                  <a:tcPr marL="73152" marR="73152" marT="27432" marB="27432" anchor="ctr">
                    <a:solidFill>
                      <a:srgbClr val="F2F4F7"/>
                    </a:solidFill>
                  </a:tcPr>
                </a:tc>
                <a:tc>
                  <a:txBody>
                    <a:bodyPr wrap="square"/>
                    <a:lstStyle/>
                    <a:p>
                      <a:r>
                        <a:rPr sz="1050" b="0">
                          <a:solidFill>
                            <a:srgbClr val="1A1A1A"/>
                          </a:solidFill>
                          <a:latin typeface="Abadi"/>
                        </a:rPr>
                        <a:t>Enterococcus faecium leads in Korean blood cultures</a:t>
                      </a:r>
                    </a:p>
                  </a:txBody>
                  <a:tcPr marL="73152" marR="73152" marT="27432" marB="27432" anchor="ctr">
                    <a:solidFill>
                      <a:srgbClr val="F2F4F7"/>
                    </a:solidFill>
                  </a:tcPr>
                </a:tc>
              </a:tr>
              <a:tr h="457200">
                <a:tc>
                  <a:txBody>
                    <a:bodyPr wrap="square"/>
                    <a:lstStyle/>
                    <a:p>
                      <a:r>
                        <a:rPr sz="1050" b="1">
                          <a:solidFill>
                            <a:srgbClr val="1A1A1A"/>
                          </a:solidFill>
                          <a:latin typeface="Abadi"/>
                        </a:rPr>
                        <a:t>No improvement at 72 hours</a:t>
                      </a:r>
                    </a:p>
                  </a:txBody>
                  <a:tcPr marL="73152" marR="73152" marT="27432" marB="27432" anchor="ctr">
                    <a:solidFill>
                      <a:srgbClr val="FFFFFF"/>
                    </a:solidFill>
                  </a:tcPr>
                </a:tc>
                <a:tc>
                  <a:txBody>
                    <a:bodyPr wrap="square"/>
                    <a:lstStyle/>
                    <a:p>
                      <a:r>
                        <a:rPr sz="1050" b="0">
                          <a:solidFill>
                            <a:srgbClr val="1A1A1A"/>
                          </a:solidFill>
                          <a:latin typeface="Abadi"/>
                        </a:rPr>
                        <a:t>Escalate; repeat culture; ultrasound</a:t>
                      </a:r>
                    </a:p>
                  </a:txBody>
                  <a:tcPr marL="73152" marR="73152" marT="27432" marB="27432" anchor="ctr">
                    <a:solidFill>
                      <a:srgbClr val="FFFFFF"/>
                    </a:solidFill>
                  </a:tcPr>
                </a:tc>
                <a:tc>
                  <a:txBody>
                    <a:bodyPr wrap="square"/>
                    <a:lstStyle/>
                    <a:p>
                      <a:r>
                        <a:rPr sz="1050" b="0">
                          <a:solidFill>
                            <a:srgbClr val="1A1A1A"/>
                          </a:solidFill>
                          <a:latin typeface="Abadi"/>
                        </a:rPr>
                        <a:t>Look for bile lakes, abscess, line infection</a:t>
                      </a:r>
                    </a:p>
                  </a:txBody>
                  <a:tcPr marL="73152" marR="73152" marT="27432" marB="27432" anchor="ctr">
                    <a:solidFill>
                      <a:srgbClr val="FFFFFF"/>
                    </a:solidFill>
                  </a:tcPr>
                </a:tc>
              </a:tr>
              <a:tr h="457200">
                <a:tc>
                  <a:txBody>
                    <a:bodyPr wrap="square"/>
                    <a:lstStyle/>
                    <a:p>
                      <a:r>
                        <a:rPr sz="1050" b="1">
                          <a:solidFill>
                            <a:srgbClr val="1A1A1A"/>
                          </a:solidFill>
                          <a:latin typeface="Abadi"/>
                        </a:rPr>
                        <a:t>Severe, slow to defervesce</a:t>
                      </a:r>
                    </a:p>
                  </a:txBody>
                  <a:tcPr marL="73152" marR="73152" marT="27432" marB="27432" anchor="ctr">
                    <a:solidFill>
                      <a:srgbClr val="F2F4F7"/>
                    </a:solidFill>
                  </a:tcPr>
                </a:tc>
                <a:tc>
                  <a:txBody>
                    <a:bodyPr wrap="square"/>
                    <a:lstStyle/>
                    <a:p>
                      <a:r>
                        <a:rPr sz="1050" b="0">
                          <a:solidFill>
                            <a:srgbClr val="1A1A1A"/>
                          </a:solidFill>
                          <a:latin typeface="Abadi"/>
                        </a:rPr>
                        <a:t>Consider IVIG with meropenem</a:t>
                      </a:r>
                    </a:p>
                  </a:txBody>
                  <a:tcPr marL="73152" marR="73152" marT="27432" marB="27432" anchor="ctr">
                    <a:solidFill>
                      <a:srgbClr val="F2F4F7"/>
                    </a:solidFill>
                  </a:tcPr>
                </a:tc>
                <a:tc>
                  <a:txBody>
                    <a:bodyPr wrap="square"/>
                    <a:lstStyle/>
                    <a:p>
                      <a:r>
                        <a:rPr sz="1050" b="0">
                          <a:solidFill>
                            <a:srgbClr val="1A1A1A"/>
                          </a:solidFill>
                          <a:latin typeface="Abadi"/>
                        </a:rPr>
                        <a:t>Single RCT: fever 52 vs 68 hours</a:t>
                      </a:r>
                    </a:p>
                  </a:txBody>
                  <a:tcPr marL="73152" marR="73152" marT="27432" marB="27432" anchor="ctr">
                    <a:solidFill>
                      <a:srgbClr val="F2F4F7"/>
                    </a:solidFill>
                  </a:tcPr>
                </a:tc>
              </a:tr>
            </a:tbl>
          </a:graphicData>
        </a:graphic>
      </p:graphicFrame>
      <p:sp>
        <p:nvSpPr>
          <p:cNvPr id="13" name="TextBox 12"/>
          <p:cNvSpPr txBox="1"/>
          <p:nvPr/>
        </p:nvSpPr>
        <p:spPr>
          <a:xfrm>
            <a:off x="548640" y="5166360"/>
            <a:ext cx="11082528" cy="640080"/>
          </a:xfrm>
          <a:prstGeom prst="rect">
            <a:avLst/>
          </a:prstGeom>
          <a:noFill/>
        </p:spPr>
        <p:txBody>
          <a:bodyPr wrap="square" anchor="t" lIns="36576" rIns="36576" tIns="36576" bIns="36576">
            <a:spAutoFit/>
          </a:bodyPr>
          <a:lstStyle/>
          <a:p>
            <a:pPr algn="l"/>
            <a:r>
              <a:rPr sz="1250" b="1" i="0">
                <a:solidFill>
                  <a:srgbClr val="1B355E"/>
                </a:solidFill>
                <a:latin typeface="Abadi"/>
              </a:rPr>
              <a:t>Practical point.   </a:t>
            </a:r>
            <a:r>
              <a:rPr sz="1250" b="0" i="0">
                <a:solidFill>
                  <a:srgbClr val="1A1A1A"/>
                </a:solidFill>
                <a:latin typeface="Abadi"/>
              </a:rPr>
              <a:t>Cover gram-negatives and anaerobes, think of enterococci, and know your unit's resistance pattern. Narrow when a culture returns.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anchor="ctr" lIns="0" rIns="0" tIns="0" bIns="0">
            <a:spAutoFit/>
          </a:bodyPr>
          <a:lstStyle/>
          <a:p>
            <a:pPr algn="ctr"/>
            <a:r>
              <a:rPr sz="1500" b="1" i="0">
                <a:solidFill>
                  <a:srgbClr val="FFFFFF"/>
                </a:solidFill>
                <a:latin typeface="Abadi"/>
              </a:rPr>
              <a:t>IV</a:t>
            </a:r>
          </a:p>
        </p:txBody>
      </p:sp>
      <p:sp>
        <p:nvSpPr>
          <p:cNvPr id="4" name="TextBox 3"/>
          <p:cNvSpPr txBox="1"/>
          <p:nvPr/>
        </p:nvSpPr>
        <p:spPr>
          <a:xfrm>
            <a:off x="1380744" y="292608"/>
            <a:ext cx="10232136" cy="347472"/>
          </a:xfrm>
          <a:prstGeom prst="rect">
            <a:avLst/>
          </a:prstGeom>
          <a:noFill/>
        </p:spPr>
        <p:txBody>
          <a:bodyPr wrap="square" anchor="ctr" lIns="36576" rIns="36576" tIns="36576" bIns="36576">
            <a:spAutoFit/>
          </a:bodyPr>
          <a:lstStyle/>
          <a:p>
            <a:pPr algn="l"/>
            <a:r>
              <a:rPr sz="1200" b="1" i="0">
                <a:solidFill>
                  <a:srgbClr val="B22222"/>
                </a:solidFill>
                <a:latin typeface="Abadi"/>
              </a:rPr>
              <a:t>THE TRIALS</a:t>
            </a:r>
          </a:p>
        </p:txBody>
      </p:sp>
      <p:sp>
        <p:nvSpPr>
          <p:cNvPr id="5" name="TextBox 4"/>
          <p:cNvSpPr txBox="1"/>
          <p:nvPr/>
        </p:nvSpPr>
        <p:spPr>
          <a:xfrm>
            <a:off x="548640" y="722376"/>
            <a:ext cx="11082528" cy="548640"/>
          </a:xfrm>
          <a:prstGeom prst="rect">
            <a:avLst/>
          </a:prstGeom>
          <a:noFill/>
        </p:spPr>
        <p:txBody>
          <a:bodyPr wrap="square" anchor="ctr" lIns="36576" rIns="36576" tIns="36576" bIns="36576">
            <a:spAutoFit/>
          </a:bodyPr>
          <a:lstStyle/>
          <a:p>
            <a:pPr algn="l"/>
            <a:r>
              <a:rPr sz="3000" b="1" i="0">
                <a:solidFill>
                  <a:srgbClr val="1B355E"/>
                </a:solidFill>
                <a:latin typeface="Abadi"/>
              </a:rPr>
              <a:t>SEVERITY-GUIDED THERAPY</a:t>
            </a:r>
          </a:p>
        </p:txBody>
      </p:sp>
      <p:sp>
        <p:nvSpPr>
          <p:cNvPr id="6" name="TextBox 5"/>
          <p:cNvSpPr txBox="1"/>
          <p:nvPr/>
        </p:nvSpPr>
        <p:spPr>
          <a:xfrm>
            <a:off x="548640" y="1307592"/>
            <a:ext cx="11082528" cy="265176"/>
          </a:xfrm>
          <a:prstGeom prst="rect">
            <a:avLst/>
          </a:prstGeom>
          <a:noFill/>
        </p:spPr>
        <p:txBody>
          <a:bodyPr wrap="square" anchor="t" lIns="36576" rIns="36576" tIns="36576" bIns="36576">
            <a:spAutoFit/>
          </a:bodyPr>
          <a:lstStyle/>
          <a:p>
            <a:pPr algn="l"/>
            <a:r>
              <a:rPr sz="1300" b="0" i="0">
                <a:solidFill>
                  <a:srgbClr val="555555"/>
                </a:solidFill>
                <a:latin typeface="Abadi"/>
              </a:rPr>
              <a:t>The only multicentre randomised trial of treatment, 14 Chinese centres, and a cohort of IVIG for intractable cholangitis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anchor="t" lIns="36576" rIns="36576" tIns="36576" bIns="36576">
            <a:spAutoFit/>
          </a:bodyPr>
          <a:lstStyle/>
          <a:p>
            <a:pPr algn="r"/>
            <a:r>
              <a:rPr sz="1200" b="0" i="0">
                <a:solidFill>
                  <a:srgbClr val="555555"/>
                </a:solidFill>
                <a:latin typeface="Abadi"/>
              </a:rPr>
              <a:t>11</a:t>
            </a:r>
          </a:p>
        </p:txBody>
      </p:sp>
      <p:sp>
        <p:nvSpPr>
          <p:cNvPr id="11" name="TextBox 10"/>
          <p:cNvSpPr txBox="1"/>
          <p:nvPr/>
        </p:nvSpPr>
        <p:spPr>
          <a:xfrm>
            <a:off x="548640" y="5971032"/>
            <a:ext cx="10287000" cy="457200"/>
          </a:xfrm>
          <a:prstGeom prst="rect">
            <a:avLst/>
          </a:prstGeom>
          <a:noFill/>
        </p:spPr>
        <p:txBody>
          <a:bodyPr wrap="square" anchor="t" lIns="36576" rIns="36576" tIns="36576" bIns="36576">
            <a:spAutoFit/>
          </a:bodyPr>
          <a:lstStyle/>
          <a:p>
            <a:pPr algn="l"/>
            <a:r>
              <a:rPr sz="1000" b="0" i="0">
                <a:solidFill>
                  <a:srgbClr val="7F7F7F"/>
                </a:solidFill>
                <a:latin typeface="Abadi"/>
              </a:rPr>
              <a:t>Wang P, Zhang H, Feng J, et al. Int J Surg 2023 (doi:10.1097/JS9.0000000000000682) · Li D, et al. Pediatr Surg Int 2018;34:399–404</a:t>
            </a:r>
          </a:p>
        </p:txBody>
      </p:sp>
      <p:sp>
        <p:nvSpPr>
          <p:cNvPr id="12" name="Rectangle 11"/>
          <p:cNvSpPr/>
          <p:nvPr/>
        </p:nvSpPr>
        <p:spPr>
          <a:xfrm>
            <a:off x="548640" y="1773936"/>
            <a:ext cx="2633472" cy="228600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633472"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2340864" cy="502920"/>
          </a:xfrm>
          <a:prstGeom prst="rect">
            <a:avLst/>
          </a:prstGeom>
          <a:noFill/>
        </p:spPr>
        <p:txBody>
          <a:bodyPr wrap="square" anchor="t" lIns="36576" rIns="36576" tIns="36576" bIns="36576">
            <a:spAutoFit/>
          </a:bodyPr>
          <a:lstStyle/>
          <a:p>
            <a:pPr algn="l"/>
            <a:r>
              <a:rPr sz="1500" b="1" i="0">
                <a:solidFill>
                  <a:srgbClr val="1E7A33"/>
                </a:solidFill>
                <a:latin typeface="Abadi"/>
              </a:rPr>
              <a:t>Mild</a:t>
            </a:r>
          </a:p>
        </p:txBody>
      </p:sp>
      <p:sp>
        <p:nvSpPr>
          <p:cNvPr id="15" name="TextBox 14"/>
          <p:cNvSpPr txBox="1"/>
          <p:nvPr/>
        </p:nvSpPr>
        <p:spPr>
          <a:xfrm>
            <a:off x="694944" y="2487168"/>
            <a:ext cx="2340864" cy="1481328"/>
          </a:xfrm>
          <a:prstGeom prst="rect">
            <a:avLst/>
          </a:prstGeom>
          <a:noFill/>
        </p:spPr>
        <p:txBody>
          <a:bodyPr wrap="square" anchor="t" lIns="36576" rIns="36576" tIns="36576" bIns="36576">
            <a:spAutoFit/>
          </a:bodyPr>
          <a:lstStyle/>
          <a:p>
            <a:pPr algn="l">
              <a:spcAft>
                <a:spcPts val="400"/>
              </a:spcAft>
            </a:pPr>
            <a:r>
              <a:rPr sz="1100" b="0" i="0">
                <a:solidFill>
                  <a:srgbClr val="1A1A1A"/>
                </a:solidFill>
                <a:latin typeface="Abadi"/>
              </a:rPr>
              <a:t>▪  Cefoperazone–sulbactam vs meropenem</a:t>
            </a:r>
          </a:p>
          <a:p>
            <a:pPr algn="l">
              <a:spcAft>
                <a:spcPts val="400"/>
              </a:spcAft>
            </a:pPr>
            <a:r>
              <a:rPr sz="1100" b="0" i="0">
                <a:solidFill>
                  <a:srgbClr val="1A1A1A"/>
                </a:solidFill>
                <a:latin typeface="Abadi"/>
              </a:rPr>
              <a:t>▪  No difference in response</a:t>
            </a:r>
          </a:p>
          <a:p>
            <a:pPr algn="l">
              <a:spcAft>
                <a:spcPts val="400"/>
              </a:spcAft>
            </a:pPr>
            <a:r>
              <a:rPr sz="1100" b="0" i="0">
                <a:solidFill>
                  <a:srgbClr val="1A1A1A"/>
                </a:solidFill>
                <a:latin typeface="Abadi"/>
              </a:rPr>
              <a:t>▪  Carbapenem can be spared</a:t>
            </a:r>
          </a:p>
        </p:txBody>
      </p:sp>
      <p:sp>
        <p:nvSpPr>
          <p:cNvPr id="16" name="Rectangle 15"/>
          <p:cNvSpPr/>
          <p:nvPr/>
        </p:nvSpPr>
        <p:spPr>
          <a:xfrm>
            <a:off x="3364992" y="1773936"/>
            <a:ext cx="2633472" cy="228600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4992" y="1773936"/>
            <a:ext cx="2633472"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11296" y="1956816"/>
            <a:ext cx="2340864" cy="502920"/>
          </a:xfrm>
          <a:prstGeom prst="rect">
            <a:avLst/>
          </a:prstGeom>
          <a:noFill/>
        </p:spPr>
        <p:txBody>
          <a:bodyPr wrap="square" anchor="t" lIns="36576" rIns="36576" tIns="36576" bIns="36576">
            <a:spAutoFit/>
          </a:bodyPr>
          <a:lstStyle/>
          <a:p>
            <a:pPr algn="l"/>
            <a:r>
              <a:rPr sz="1500" b="1" i="0">
                <a:solidFill>
                  <a:srgbClr val="D97A0B"/>
                </a:solidFill>
                <a:latin typeface="Abadi"/>
              </a:rPr>
              <a:t>Moderate</a:t>
            </a:r>
          </a:p>
        </p:txBody>
      </p:sp>
      <p:sp>
        <p:nvSpPr>
          <p:cNvPr id="19" name="TextBox 18"/>
          <p:cNvSpPr txBox="1"/>
          <p:nvPr/>
        </p:nvSpPr>
        <p:spPr>
          <a:xfrm>
            <a:off x="3511296" y="2487168"/>
            <a:ext cx="2340864" cy="1481328"/>
          </a:xfrm>
          <a:prstGeom prst="rect">
            <a:avLst/>
          </a:prstGeom>
          <a:noFill/>
        </p:spPr>
        <p:txBody>
          <a:bodyPr wrap="square" anchor="t" lIns="36576" rIns="36576" tIns="36576" bIns="36576">
            <a:spAutoFit/>
          </a:bodyPr>
          <a:lstStyle/>
          <a:p>
            <a:pPr algn="l">
              <a:spcAft>
                <a:spcPts val="400"/>
              </a:spcAft>
            </a:pPr>
            <a:r>
              <a:rPr sz="1100" b="0" i="0">
                <a:solidFill>
                  <a:srgbClr val="1A1A1A"/>
                </a:solidFill>
                <a:latin typeface="Abadi"/>
              </a:rPr>
              <a:t>▪  Meropenem</a:t>
            </a:r>
          </a:p>
          <a:p>
            <a:pPr algn="l">
              <a:spcAft>
                <a:spcPts val="400"/>
              </a:spcAft>
            </a:pPr>
            <a:r>
              <a:rPr sz="1100" b="0" i="0">
                <a:solidFill>
                  <a:srgbClr val="1A1A1A"/>
                </a:solidFill>
                <a:latin typeface="Abadi"/>
              </a:rPr>
              <a:t>▪  Severity graded on temperature, white cells, CRP</a:t>
            </a:r>
          </a:p>
        </p:txBody>
      </p:sp>
      <p:sp>
        <p:nvSpPr>
          <p:cNvPr id="20" name="Rectangle 19"/>
          <p:cNvSpPr/>
          <p:nvPr/>
        </p:nvSpPr>
        <p:spPr>
          <a:xfrm>
            <a:off x="6181344" y="1773936"/>
            <a:ext cx="2633472" cy="228600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1344" y="1773936"/>
            <a:ext cx="2633472"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27648" y="1956816"/>
            <a:ext cx="2340864" cy="502920"/>
          </a:xfrm>
          <a:prstGeom prst="rect">
            <a:avLst/>
          </a:prstGeom>
          <a:noFill/>
        </p:spPr>
        <p:txBody>
          <a:bodyPr wrap="square" anchor="t" lIns="36576" rIns="36576" tIns="36576" bIns="36576">
            <a:spAutoFit/>
          </a:bodyPr>
          <a:lstStyle/>
          <a:p>
            <a:pPr algn="l"/>
            <a:r>
              <a:rPr sz="1500" b="1" i="0">
                <a:solidFill>
                  <a:srgbClr val="B22222"/>
                </a:solidFill>
                <a:latin typeface="Abadi"/>
              </a:rPr>
              <a:t>Severe</a:t>
            </a:r>
          </a:p>
        </p:txBody>
      </p:sp>
      <p:sp>
        <p:nvSpPr>
          <p:cNvPr id="23" name="TextBox 22"/>
          <p:cNvSpPr txBox="1"/>
          <p:nvPr/>
        </p:nvSpPr>
        <p:spPr>
          <a:xfrm>
            <a:off x="6327648" y="2487168"/>
            <a:ext cx="2340864" cy="1481328"/>
          </a:xfrm>
          <a:prstGeom prst="rect">
            <a:avLst/>
          </a:prstGeom>
          <a:noFill/>
        </p:spPr>
        <p:txBody>
          <a:bodyPr wrap="square" anchor="t" lIns="36576" rIns="36576" tIns="36576" bIns="36576">
            <a:spAutoFit/>
          </a:bodyPr>
          <a:lstStyle/>
          <a:p>
            <a:pPr algn="l">
              <a:spcAft>
                <a:spcPts val="400"/>
              </a:spcAft>
            </a:pPr>
            <a:r>
              <a:rPr sz="1100" b="0" i="0">
                <a:solidFill>
                  <a:srgbClr val="1A1A1A"/>
                </a:solidFill>
                <a:latin typeface="Abadi"/>
              </a:rPr>
              <a:t>▪  Meropenem vs meropenem + IVIG</a:t>
            </a:r>
          </a:p>
          <a:p>
            <a:pPr algn="l">
              <a:spcAft>
                <a:spcPts val="400"/>
              </a:spcAft>
            </a:pPr>
            <a:r>
              <a:rPr sz="1100" b="0" i="0">
                <a:solidFill>
                  <a:srgbClr val="1A1A1A"/>
                </a:solidFill>
                <a:latin typeface="Abadi"/>
              </a:rPr>
              <a:t>▪  Fever 52 vs 68 hours, P = .001</a:t>
            </a:r>
          </a:p>
          <a:p>
            <a:pPr algn="l">
              <a:spcAft>
                <a:spcPts val="400"/>
              </a:spcAft>
            </a:pPr>
            <a:r>
              <a:rPr sz="1100" b="0" i="0">
                <a:solidFill>
                  <a:srgbClr val="1A1A1A"/>
                </a:solidFill>
                <a:latin typeface="Abadi"/>
              </a:rPr>
              <a:t>▪  Recurrence data reported inconsistently</a:t>
            </a:r>
          </a:p>
        </p:txBody>
      </p:sp>
      <p:sp>
        <p:nvSpPr>
          <p:cNvPr id="24" name="Rectangle 23"/>
          <p:cNvSpPr/>
          <p:nvPr/>
        </p:nvSpPr>
        <p:spPr>
          <a:xfrm>
            <a:off x="8997696" y="1773936"/>
            <a:ext cx="2633472" cy="228600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97696" y="1773936"/>
            <a:ext cx="2633472"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0" y="1956816"/>
            <a:ext cx="2340864" cy="502920"/>
          </a:xfrm>
          <a:prstGeom prst="rect">
            <a:avLst/>
          </a:prstGeom>
          <a:noFill/>
        </p:spPr>
        <p:txBody>
          <a:bodyPr wrap="square" anchor="t" lIns="36576" rIns="36576" tIns="36576" bIns="36576">
            <a:spAutoFit/>
          </a:bodyPr>
          <a:lstStyle/>
          <a:p>
            <a:pPr algn="l"/>
            <a:r>
              <a:rPr sz="1500" b="1" i="0">
                <a:solidFill>
                  <a:srgbClr val="1B355E"/>
                </a:solidFill>
                <a:latin typeface="Abadi"/>
              </a:rPr>
              <a:t>Intractable · 2018</a:t>
            </a:r>
          </a:p>
        </p:txBody>
      </p:sp>
      <p:sp>
        <p:nvSpPr>
          <p:cNvPr id="27" name="TextBox 26"/>
          <p:cNvSpPr txBox="1"/>
          <p:nvPr/>
        </p:nvSpPr>
        <p:spPr>
          <a:xfrm>
            <a:off x="9144000" y="2487168"/>
            <a:ext cx="2340864" cy="1481328"/>
          </a:xfrm>
          <a:prstGeom prst="rect">
            <a:avLst/>
          </a:prstGeom>
          <a:noFill/>
        </p:spPr>
        <p:txBody>
          <a:bodyPr wrap="square" anchor="t" lIns="36576" rIns="36576" tIns="36576" bIns="36576">
            <a:spAutoFit/>
          </a:bodyPr>
          <a:lstStyle/>
          <a:p>
            <a:pPr algn="l">
              <a:spcAft>
                <a:spcPts val="400"/>
              </a:spcAft>
            </a:pPr>
            <a:r>
              <a:rPr sz="1100" b="0" i="0">
                <a:solidFill>
                  <a:srgbClr val="1A1A1A"/>
                </a:solidFill>
                <a:latin typeface="Abadi"/>
              </a:rPr>
              <a:t>▪  113 infants</a:t>
            </a:r>
          </a:p>
          <a:p>
            <a:pPr algn="l">
              <a:spcAft>
                <a:spcPts val="400"/>
              </a:spcAft>
            </a:pPr>
            <a:r>
              <a:rPr sz="1100" b="0" i="0">
                <a:solidFill>
                  <a:srgbClr val="1A1A1A"/>
                </a:solidFill>
                <a:latin typeface="Abadi"/>
              </a:rPr>
              <a:t>▪  IVIG: shorter fever, P = .011</a:t>
            </a:r>
          </a:p>
          <a:p>
            <a:pPr algn="l">
              <a:spcAft>
                <a:spcPts val="400"/>
              </a:spcAft>
            </a:pPr>
            <a:r>
              <a:rPr sz="1100" b="0" i="0">
                <a:solidFill>
                  <a:srgbClr val="1A1A1A"/>
                </a:solidFill>
                <a:latin typeface="Abadi"/>
              </a:rPr>
              <a:t>▪  Shorter stay, P = .018</a:t>
            </a:r>
          </a:p>
          <a:p>
            <a:pPr algn="l">
              <a:spcAft>
                <a:spcPts val="400"/>
              </a:spcAft>
            </a:pPr>
            <a:r>
              <a:rPr sz="1100" b="0" i="0">
                <a:solidFill>
                  <a:srgbClr val="1A1A1A"/>
                </a:solidFill>
                <a:latin typeface="Abadi"/>
              </a:rPr>
              <a:t>▪  Later recurrence, P = .019</a:t>
            </a:r>
          </a:p>
        </p:txBody>
      </p:sp>
      <p:sp>
        <p:nvSpPr>
          <p:cNvPr id="28" name="TextBox 27"/>
          <p:cNvSpPr txBox="1"/>
          <p:nvPr/>
        </p:nvSpPr>
        <p:spPr>
          <a:xfrm>
            <a:off x="548640" y="4251960"/>
            <a:ext cx="11082528" cy="1463040"/>
          </a:xfrm>
          <a:prstGeom prst="rect">
            <a:avLst/>
          </a:prstGeom>
          <a:noFill/>
        </p:spPr>
        <p:txBody>
          <a:bodyPr wrap="square" anchor="t" lIns="36576" rIns="36576" tIns="36576" bIns="36576">
            <a:spAutoFit/>
          </a:bodyPr>
          <a:lstStyle/>
          <a:p>
            <a:pPr algn="l"/>
            <a:r>
              <a:rPr sz="1250" b="1" i="0">
                <a:solidFill>
                  <a:srgbClr val="1B355E"/>
                </a:solidFill>
                <a:latin typeface="Abadi"/>
              </a:rPr>
              <a:t>Interpretation.   </a:t>
            </a:r>
            <a:r>
              <a:rPr sz="1250" b="0" i="0">
                <a:solidFill>
                  <a:srgbClr val="1A1A1A"/>
                </a:solidFill>
                <a:latin typeface="Abadi"/>
              </a:rPr>
              <a:t>Grading severity lets a mild episode be treated without a carbapenem. IVIG shortened fever in severe episodes; whether it reduces recurrence or protects the liver is not established, and secondary reports of the trial disagree. Neither study was blinded. IVIG is a reasonable adjunct for a severe or intractable episode, not routine care.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anchor="ctr" lIns="0" rIns="0" tIns="0" bIns="0">
            <a:spAutoFit/>
          </a:bodyPr>
          <a:lstStyle/>
          <a:p>
            <a:pPr algn="ctr"/>
            <a:r>
              <a:rPr sz="1500" b="1" i="0">
                <a:solidFill>
                  <a:srgbClr val="FFFFFF"/>
                </a:solidFill>
                <a:latin typeface="Abadi"/>
              </a:rPr>
              <a:t>IV</a:t>
            </a:r>
          </a:p>
        </p:txBody>
      </p:sp>
      <p:sp>
        <p:nvSpPr>
          <p:cNvPr id="4" name="TextBox 3"/>
          <p:cNvSpPr txBox="1"/>
          <p:nvPr/>
        </p:nvSpPr>
        <p:spPr>
          <a:xfrm>
            <a:off x="1380744" y="292608"/>
            <a:ext cx="10232136" cy="347472"/>
          </a:xfrm>
          <a:prstGeom prst="rect">
            <a:avLst/>
          </a:prstGeom>
          <a:noFill/>
        </p:spPr>
        <p:txBody>
          <a:bodyPr wrap="square" anchor="ctr" lIns="36576" rIns="36576" tIns="36576" bIns="36576">
            <a:spAutoFit/>
          </a:bodyPr>
          <a:lstStyle/>
          <a:p>
            <a:pPr algn="l"/>
            <a:r>
              <a:rPr sz="1200" b="1" i="0">
                <a:solidFill>
                  <a:srgbClr val="B22222"/>
                </a:solidFill>
                <a:latin typeface="Abadi"/>
              </a:rPr>
              <a:t>DURATION</a:t>
            </a:r>
          </a:p>
        </p:txBody>
      </p:sp>
      <p:sp>
        <p:nvSpPr>
          <p:cNvPr id="5" name="TextBox 4"/>
          <p:cNvSpPr txBox="1"/>
          <p:nvPr/>
        </p:nvSpPr>
        <p:spPr>
          <a:xfrm>
            <a:off x="548640" y="722376"/>
            <a:ext cx="11082528" cy="548640"/>
          </a:xfrm>
          <a:prstGeom prst="rect">
            <a:avLst/>
          </a:prstGeom>
          <a:noFill/>
        </p:spPr>
        <p:txBody>
          <a:bodyPr wrap="square" anchor="ctr" lIns="36576" rIns="36576" tIns="36576" bIns="36576">
            <a:spAutoFit/>
          </a:bodyPr>
          <a:lstStyle/>
          <a:p>
            <a:pPr algn="l"/>
            <a:r>
              <a:rPr sz="3000" b="1" i="0">
                <a:solidFill>
                  <a:srgbClr val="1B355E"/>
                </a:solidFill>
                <a:latin typeface="Abadi"/>
              </a:rPr>
              <a:t>HOW LONG, AND WHEN TO STOP TRYING</a:t>
            </a:r>
          </a:p>
        </p:txBody>
      </p:sp>
      <p:sp>
        <p:nvSpPr>
          <p:cNvPr id="6" name="TextBox 5"/>
          <p:cNvSpPr txBox="1"/>
          <p:nvPr/>
        </p:nvSpPr>
        <p:spPr>
          <a:xfrm>
            <a:off x="548640" y="1307592"/>
            <a:ext cx="11082528" cy="265176"/>
          </a:xfrm>
          <a:prstGeom prst="rect">
            <a:avLst/>
          </a:prstGeom>
          <a:noFill/>
        </p:spPr>
        <p:txBody>
          <a:bodyPr wrap="square" anchor="t" lIns="36576" rIns="36576" tIns="36576" bIns="36576">
            <a:spAutoFit/>
          </a:bodyPr>
          <a:lstStyle/>
          <a:p>
            <a:pPr algn="l"/>
            <a:r>
              <a:rPr sz="1300" b="0" i="0">
                <a:solidFill>
                  <a:srgbClr val="555555"/>
                </a:solidFill>
                <a:latin typeface="Abadi"/>
              </a:rPr>
              <a:t>Treatment length by certainty, and the intractable child</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anchor="t" lIns="36576" rIns="36576" tIns="36576" bIns="36576">
            <a:spAutoFit/>
          </a:bodyPr>
          <a:lstStyle/>
          <a:p>
            <a:pPr algn="r"/>
            <a:r>
              <a:rPr sz="1200" b="0" i="0">
                <a:solidFill>
                  <a:srgbClr val="555555"/>
                </a:solidFill>
                <a:latin typeface="Abadi"/>
              </a:rPr>
              <a:t>12</a:t>
            </a:r>
          </a:p>
        </p:txBody>
      </p:sp>
      <p:sp>
        <p:nvSpPr>
          <p:cNvPr id="11" name="TextBox 10"/>
          <p:cNvSpPr txBox="1"/>
          <p:nvPr/>
        </p:nvSpPr>
        <p:spPr>
          <a:xfrm>
            <a:off x="548640" y="5971032"/>
            <a:ext cx="10287000" cy="457200"/>
          </a:xfrm>
          <a:prstGeom prst="rect">
            <a:avLst/>
          </a:prstGeom>
          <a:noFill/>
        </p:spPr>
        <p:txBody>
          <a:bodyPr wrap="square" anchor="t" lIns="36576" rIns="36576" tIns="36576" bIns="36576">
            <a:spAutoFit/>
          </a:bodyPr>
          <a:lstStyle/>
          <a:p>
            <a:pPr algn="l"/>
            <a:r>
              <a:rPr sz="1000" b="0" i="0">
                <a:solidFill>
                  <a:srgbClr val="7F7F7F"/>
                </a:solidFill>
                <a:latin typeface="Abadi"/>
              </a:rPr>
              <a:t>Calinescu 2022 · Calinescu &amp; Wildhaber 2024 · Liu J 2019 · Japanese Biliary Atresia Society guideline, Ando H, et al. J Hepatobiliary Pancreat Sci 2021;28:55–61</a:t>
            </a:r>
          </a:p>
        </p:txBody>
      </p:sp>
      <p:sp>
        <p:nvSpPr>
          <p:cNvPr id="12" name="Rectangle 11"/>
          <p:cNvSpPr/>
          <p:nvPr/>
        </p:nvSpPr>
        <p:spPr>
          <a:xfrm>
            <a:off x="548640" y="1773936"/>
            <a:ext cx="2070201" cy="233172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777593" cy="548640"/>
          </a:xfrm>
          <a:prstGeom prst="rect">
            <a:avLst/>
          </a:prstGeom>
          <a:noFill/>
        </p:spPr>
        <p:txBody>
          <a:bodyPr wrap="square" anchor="t" lIns="36576" rIns="36576" tIns="36576" bIns="36576">
            <a:spAutoFit/>
          </a:bodyPr>
          <a:lstStyle/>
          <a:p>
            <a:pPr algn="l"/>
            <a:r>
              <a:rPr sz="2000" b="1" i="0">
                <a:solidFill>
                  <a:srgbClr val="D97A0B"/>
                </a:solidFill>
                <a:latin typeface="Abadi"/>
              </a:rPr>
              <a:t>10–14 days</a:t>
            </a:r>
          </a:p>
        </p:txBody>
      </p:sp>
      <p:sp>
        <p:nvSpPr>
          <p:cNvPr id="15" name="TextBox 14"/>
          <p:cNvSpPr txBox="1"/>
          <p:nvPr/>
        </p:nvSpPr>
        <p:spPr>
          <a:xfrm>
            <a:off x="694944"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Suspected cholangitis: BARD consensus; 7–10 days judged too short.</a:t>
            </a:r>
          </a:p>
        </p:txBody>
      </p:sp>
      <p:sp>
        <p:nvSpPr>
          <p:cNvPr id="16" name="Rectangle 15"/>
          <p:cNvSpPr/>
          <p:nvPr/>
        </p:nvSpPr>
        <p:spPr>
          <a:xfrm>
            <a:off x="2801721" y="1773936"/>
            <a:ext cx="2070201" cy="233172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025" y="1956816"/>
            <a:ext cx="1777593" cy="548640"/>
          </a:xfrm>
          <a:prstGeom prst="rect">
            <a:avLst/>
          </a:prstGeom>
          <a:noFill/>
        </p:spPr>
        <p:txBody>
          <a:bodyPr wrap="square" anchor="t" lIns="36576" rIns="36576" tIns="36576" bIns="36576">
            <a:spAutoFit/>
          </a:bodyPr>
          <a:lstStyle/>
          <a:p>
            <a:pPr algn="l"/>
            <a:r>
              <a:rPr sz="2000" b="1" i="0">
                <a:solidFill>
                  <a:srgbClr val="B22222"/>
                </a:solidFill>
                <a:latin typeface="Abadi"/>
              </a:rPr>
              <a:t>14–21 days</a:t>
            </a:r>
          </a:p>
        </p:txBody>
      </p:sp>
      <p:sp>
        <p:nvSpPr>
          <p:cNvPr id="19" name="TextBox 18"/>
          <p:cNvSpPr txBox="1"/>
          <p:nvPr/>
        </p:nvSpPr>
        <p:spPr>
          <a:xfrm>
            <a:off x="2948025"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Confirmed cholangitis: culture-positive or full criteria.</a:t>
            </a:r>
          </a:p>
        </p:txBody>
      </p:sp>
      <p:sp>
        <p:nvSpPr>
          <p:cNvPr id="20" name="Rectangle 19"/>
          <p:cNvSpPr/>
          <p:nvPr/>
        </p:nvSpPr>
        <p:spPr>
          <a:xfrm>
            <a:off x="5054803" y="1773936"/>
            <a:ext cx="2070201" cy="233172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1107" y="1956816"/>
            <a:ext cx="1777593" cy="548640"/>
          </a:xfrm>
          <a:prstGeom prst="rect">
            <a:avLst/>
          </a:prstGeom>
          <a:noFill/>
        </p:spPr>
        <p:txBody>
          <a:bodyPr wrap="square" anchor="t" lIns="36576" rIns="36576" tIns="36576" bIns="36576">
            <a:spAutoFit/>
          </a:bodyPr>
          <a:lstStyle/>
          <a:p>
            <a:pPr algn="l"/>
            <a:r>
              <a:rPr sz="2000" b="1" i="0">
                <a:solidFill>
                  <a:srgbClr val="1B355E"/>
                </a:solidFill>
                <a:latin typeface="Abadi"/>
              </a:rPr>
              <a:t>6–12 weeks</a:t>
            </a:r>
          </a:p>
        </p:txBody>
      </p:sp>
      <p:sp>
        <p:nvSpPr>
          <p:cNvPr id="23" name="TextBox 22"/>
          <p:cNvSpPr txBox="1"/>
          <p:nvPr/>
        </p:nvSpPr>
        <p:spPr>
          <a:xfrm>
            <a:off x="5201107"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Home intravenous antibiotics have been used for intractable cases; a 20-patient series.</a:t>
            </a:r>
          </a:p>
        </p:txBody>
      </p:sp>
      <p:sp>
        <p:nvSpPr>
          <p:cNvPr id="24" name="Rectangle 23"/>
          <p:cNvSpPr/>
          <p:nvPr/>
        </p:nvSpPr>
        <p:spPr>
          <a:xfrm>
            <a:off x="7307884" y="1773936"/>
            <a:ext cx="2070201" cy="233172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4188" y="1956816"/>
            <a:ext cx="1777593" cy="548640"/>
          </a:xfrm>
          <a:prstGeom prst="rect">
            <a:avLst/>
          </a:prstGeom>
          <a:noFill/>
        </p:spPr>
        <p:txBody>
          <a:bodyPr wrap="square" anchor="t" lIns="36576" rIns="36576" tIns="36576" bIns="36576">
            <a:spAutoFit/>
          </a:bodyPr>
          <a:lstStyle/>
          <a:p>
            <a:pPr algn="l"/>
            <a:r>
              <a:rPr sz="2000" b="1" i="0">
                <a:solidFill>
                  <a:srgbClr val="8A939B"/>
                </a:solidFill>
                <a:latin typeface="Abadi"/>
              </a:rPr>
              <a:t>No steroids</a:t>
            </a:r>
          </a:p>
        </p:txBody>
      </p:sp>
      <p:sp>
        <p:nvSpPr>
          <p:cNvPr id="27" name="TextBox 26"/>
          <p:cNvSpPr txBox="1"/>
          <p:nvPr/>
        </p:nvSpPr>
        <p:spPr>
          <a:xfrm>
            <a:off x="7454188"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No verified evidence that steroids treat cholangitis; the Japanese guideline gives no steroid recommendation.</a:t>
            </a:r>
          </a:p>
        </p:txBody>
      </p:sp>
      <p:sp>
        <p:nvSpPr>
          <p:cNvPr id="28" name="Rectangle 27"/>
          <p:cNvSpPr/>
          <p:nvPr/>
        </p:nvSpPr>
        <p:spPr>
          <a:xfrm>
            <a:off x="9560966" y="1773936"/>
            <a:ext cx="2070201" cy="233172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270" y="1956816"/>
            <a:ext cx="1777593" cy="548640"/>
          </a:xfrm>
          <a:prstGeom prst="rect">
            <a:avLst/>
          </a:prstGeom>
          <a:noFill/>
        </p:spPr>
        <p:txBody>
          <a:bodyPr wrap="square" anchor="t" lIns="36576" rIns="36576" tIns="36576" bIns="36576">
            <a:spAutoFit/>
          </a:bodyPr>
          <a:lstStyle/>
          <a:p>
            <a:pPr algn="l"/>
            <a:r>
              <a:rPr sz="2000" b="1" i="0">
                <a:solidFill>
                  <a:srgbClr val="1E7A33"/>
                </a:solidFill>
                <a:latin typeface="Abadi"/>
              </a:rPr>
              <a:t>Transplant</a:t>
            </a:r>
          </a:p>
        </p:txBody>
      </p:sp>
      <p:sp>
        <p:nvSpPr>
          <p:cNvPr id="31" name="TextBox 30"/>
          <p:cNvSpPr txBox="1"/>
          <p:nvPr/>
        </p:nvSpPr>
        <p:spPr>
          <a:xfrm>
            <a:off x="9707270"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Intractable cholangitis with failing drainage is an indication for transplant assessment.</a:t>
            </a:r>
          </a:p>
        </p:txBody>
      </p:sp>
      <p:sp>
        <p:nvSpPr>
          <p:cNvPr id="32" name="TextBox 31"/>
          <p:cNvSpPr txBox="1"/>
          <p:nvPr/>
        </p:nvSpPr>
        <p:spPr>
          <a:xfrm>
            <a:off x="548640" y="4297680"/>
            <a:ext cx="11082528" cy="1463040"/>
          </a:xfrm>
          <a:prstGeom prst="rect">
            <a:avLst/>
          </a:prstGeom>
          <a:noFill/>
        </p:spPr>
        <p:txBody>
          <a:bodyPr wrap="square" anchor="t" lIns="36576" rIns="36576" tIns="36576" bIns="36576">
            <a:spAutoFit/>
          </a:bodyPr>
          <a:lstStyle/>
          <a:p>
            <a:pPr algn="l"/>
            <a:r>
              <a:rPr sz="1250" b="1" i="0">
                <a:solidFill>
                  <a:srgbClr val="1B355E"/>
                </a:solidFill>
                <a:latin typeface="Abadi"/>
              </a:rPr>
              <a:t>Bottom line.   </a:t>
            </a:r>
            <a:r>
              <a:rPr sz="1250" b="0" i="0">
                <a:solidFill>
                  <a:srgbClr val="1A1A1A"/>
                </a:solidFill>
                <a:latin typeface="Abadi"/>
              </a:rPr>
              <a:t>Give a full intravenous course; an early oral switch is not supported by data. When episodes run into each other, or need more than four weeks of antibiotics, the question becomes whether the native liver is still worth the infections, and the transplant team should be involved early.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anchor="ctr" lIns="0" rIns="0" tIns="0" bIns="0">
            <a:spAutoFit/>
          </a:bodyPr>
          <a:lstStyle/>
          <a:p>
            <a:pPr algn="ctr"/>
            <a:r>
              <a:rPr sz="1500" b="1" i="0">
                <a:solidFill>
                  <a:srgbClr val="FFFFFF"/>
                </a:solidFill>
                <a:latin typeface="Abadi"/>
              </a:rPr>
              <a:t>V</a:t>
            </a:r>
          </a:p>
        </p:txBody>
      </p:sp>
      <p:sp>
        <p:nvSpPr>
          <p:cNvPr id="4" name="TextBox 3"/>
          <p:cNvSpPr txBox="1"/>
          <p:nvPr/>
        </p:nvSpPr>
        <p:spPr>
          <a:xfrm>
            <a:off x="1380744" y="292608"/>
            <a:ext cx="10232136" cy="347472"/>
          </a:xfrm>
          <a:prstGeom prst="rect">
            <a:avLst/>
          </a:prstGeom>
          <a:noFill/>
        </p:spPr>
        <p:txBody>
          <a:bodyPr wrap="square" anchor="ctr" lIns="36576" rIns="36576" tIns="36576" bIns="36576">
            <a:spAutoFit/>
          </a:bodyPr>
          <a:lstStyle/>
          <a:p>
            <a:pPr algn="l"/>
            <a:r>
              <a:rPr sz="1200" b="1" i="0">
                <a:solidFill>
                  <a:srgbClr val="B22222"/>
                </a:solidFill>
                <a:latin typeface="Abadi"/>
              </a:rPr>
              <a:t>ANTIBIOTIC PROPHYLAXIS</a:t>
            </a:r>
          </a:p>
        </p:txBody>
      </p:sp>
      <p:sp>
        <p:nvSpPr>
          <p:cNvPr id="5" name="TextBox 4"/>
          <p:cNvSpPr txBox="1"/>
          <p:nvPr/>
        </p:nvSpPr>
        <p:spPr>
          <a:xfrm>
            <a:off x="548640" y="722376"/>
            <a:ext cx="11082528" cy="548640"/>
          </a:xfrm>
          <a:prstGeom prst="rect">
            <a:avLst/>
          </a:prstGeom>
          <a:noFill/>
        </p:spPr>
        <p:txBody>
          <a:bodyPr wrap="square" anchor="ctr" lIns="36576" rIns="36576" tIns="36576" bIns="36576">
            <a:spAutoFit/>
          </a:bodyPr>
          <a:lstStyle/>
          <a:p>
            <a:pPr algn="l"/>
            <a:r>
              <a:rPr sz="3000" b="1" i="0">
                <a:solidFill>
                  <a:srgbClr val="1B355E"/>
                </a:solidFill>
                <a:latin typeface="Abadi"/>
              </a:rPr>
              <a:t>SMALL STUDIES, WIDE USE</a:t>
            </a:r>
          </a:p>
        </p:txBody>
      </p:sp>
      <p:sp>
        <p:nvSpPr>
          <p:cNvPr id="6" name="TextBox 5"/>
          <p:cNvSpPr txBox="1"/>
          <p:nvPr/>
        </p:nvSpPr>
        <p:spPr>
          <a:xfrm>
            <a:off x="548640" y="1307592"/>
            <a:ext cx="11082528" cy="265176"/>
          </a:xfrm>
          <a:prstGeom prst="rect">
            <a:avLst/>
          </a:prstGeom>
          <a:noFill/>
        </p:spPr>
        <p:txBody>
          <a:bodyPr wrap="square" anchor="t" lIns="36576" rIns="36576" tIns="36576" bIns="36576">
            <a:spAutoFit/>
          </a:bodyPr>
          <a:lstStyle/>
          <a:p>
            <a:pPr algn="l"/>
            <a:r>
              <a:rPr sz="1300" b="0" i="0">
                <a:solidFill>
                  <a:srgbClr val="555555"/>
                </a:solidFill>
                <a:latin typeface="Abadi"/>
              </a:rPr>
              <a:t>The prospective evidence on preventing cholangitis after the Kasai</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anchor="t" lIns="36576" rIns="36576" tIns="36576" bIns="36576">
            <a:spAutoFit/>
          </a:bodyPr>
          <a:lstStyle/>
          <a:p>
            <a:pPr algn="r"/>
            <a:r>
              <a:rPr sz="1200" b="0" i="0">
                <a:solidFill>
                  <a:srgbClr val="555555"/>
                </a:solidFill>
                <a:latin typeface="Abadi"/>
              </a:rPr>
              <a:t>13</a:t>
            </a:r>
          </a:p>
        </p:txBody>
      </p:sp>
      <p:sp>
        <p:nvSpPr>
          <p:cNvPr id="11" name="TextBox 10"/>
          <p:cNvSpPr txBox="1"/>
          <p:nvPr/>
        </p:nvSpPr>
        <p:spPr>
          <a:xfrm>
            <a:off x="548640" y="5971032"/>
            <a:ext cx="10287000" cy="457200"/>
          </a:xfrm>
          <a:prstGeom prst="rect">
            <a:avLst/>
          </a:prstGeom>
          <a:noFill/>
        </p:spPr>
        <p:txBody>
          <a:bodyPr wrap="square" anchor="t" lIns="36576" rIns="36576" tIns="36576" bIns="36576">
            <a:spAutoFit/>
          </a:bodyPr>
          <a:lstStyle/>
          <a:p>
            <a:pPr algn="l"/>
            <a:r>
              <a:rPr sz="1000" b="0" i="0">
                <a:solidFill>
                  <a:srgbClr val="7F7F7F"/>
                </a:solidFill>
                <a:latin typeface="Abadi"/>
              </a:rPr>
              <a:t>Bu LN, et al. J Pediatr Surg 2003;38:590–3 · Lien TH, et al. JPGN 2015;60:654–8 · Chen G, et al. Pediatr Surg Int 2021;37:1089–97 · Pang WB, et al. Surg Infect 2019;20:231–5</a:t>
            </a:r>
          </a:p>
        </p:txBody>
      </p:sp>
      <p:sp>
        <p:nvSpPr>
          <p:cNvPr id="12" name="Rectangle 11"/>
          <p:cNvSpPr/>
          <p:nvPr/>
        </p:nvSpPr>
        <p:spPr>
          <a:xfrm>
            <a:off x="548640" y="1773936"/>
            <a:ext cx="2633472" cy="237744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633472"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2340864" cy="502920"/>
          </a:xfrm>
          <a:prstGeom prst="rect">
            <a:avLst/>
          </a:prstGeom>
          <a:noFill/>
        </p:spPr>
        <p:txBody>
          <a:bodyPr wrap="square" anchor="t" lIns="36576" rIns="36576" tIns="36576" bIns="36576">
            <a:spAutoFit/>
          </a:bodyPr>
          <a:lstStyle/>
          <a:p>
            <a:pPr algn="l"/>
            <a:r>
              <a:rPr sz="1500" b="1" i="0">
                <a:solidFill>
                  <a:srgbClr val="1B355E"/>
                </a:solidFill>
                <a:latin typeface="Abadi"/>
              </a:rPr>
              <a:t>Taiwan 2003</a:t>
            </a:r>
          </a:p>
        </p:txBody>
      </p:sp>
      <p:sp>
        <p:nvSpPr>
          <p:cNvPr id="15" name="TextBox 14"/>
          <p:cNvSpPr txBox="1"/>
          <p:nvPr/>
        </p:nvSpPr>
        <p:spPr>
          <a:xfrm>
            <a:off x="694944" y="2487168"/>
            <a:ext cx="2340864" cy="1572768"/>
          </a:xfrm>
          <a:prstGeom prst="rect">
            <a:avLst/>
          </a:prstGeom>
          <a:noFill/>
        </p:spPr>
        <p:txBody>
          <a:bodyPr wrap="square" anchor="t" lIns="36576" rIns="36576" tIns="36576" bIns="36576">
            <a:spAutoFit/>
          </a:bodyPr>
          <a:lstStyle/>
          <a:p>
            <a:pPr algn="l">
              <a:spcAft>
                <a:spcPts val="400"/>
              </a:spcAft>
            </a:pPr>
            <a:r>
              <a:rPr sz="1100" b="0" i="0">
                <a:solidFill>
                  <a:srgbClr val="1A1A1A"/>
                </a:solidFill>
                <a:latin typeface="Abadi"/>
              </a:rPr>
              <a:t>▪  After a first episode</a:t>
            </a:r>
          </a:p>
          <a:p>
            <a:pPr algn="l">
              <a:spcAft>
                <a:spcPts val="400"/>
              </a:spcAft>
            </a:pPr>
            <a:r>
              <a:rPr sz="1100" b="0" i="0">
                <a:solidFill>
                  <a:srgbClr val="1A1A1A"/>
                </a:solidFill>
                <a:latin typeface="Abadi"/>
              </a:rPr>
              <a:t>▪  TMP-SMX (n = 9) or neomycin (n = 10)</a:t>
            </a:r>
          </a:p>
          <a:p>
            <a:pPr algn="l">
              <a:spcAft>
                <a:spcPts val="400"/>
              </a:spcAft>
            </a:pPr>
            <a:r>
              <a:rPr sz="1100" b="0" i="0">
                <a:solidFill>
                  <a:srgbClr val="1A1A1A"/>
                </a:solidFill>
                <a:latin typeface="Abadi"/>
              </a:rPr>
              <a:t>▪  Fewer recurrences vs 18 historical controls (P = .042, .011)</a:t>
            </a:r>
          </a:p>
        </p:txBody>
      </p:sp>
      <p:sp>
        <p:nvSpPr>
          <p:cNvPr id="16" name="Rectangle 15"/>
          <p:cNvSpPr/>
          <p:nvPr/>
        </p:nvSpPr>
        <p:spPr>
          <a:xfrm>
            <a:off x="3364992" y="1773936"/>
            <a:ext cx="2633472" cy="237744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4992" y="1773936"/>
            <a:ext cx="2633472"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11296" y="1956816"/>
            <a:ext cx="2340864" cy="502920"/>
          </a:xfrm>
          <a:prstGeom prst="rect">
            <a:avLst/>
          </a:prstGeom>
          <a:noFill/>
        </p:spPr>
        <p:txBody>
          <a:bodyPr wrap="square" anchor="t" lIns="36576" rIns="36576" tIns="36576" bIns="36576">
            <a:spAutoFit/>
          </a:bodyPr>
          <a:lstStyle/>
          <a:p>
            <a:pPr algn="l"/>
            <a:r>
              <a:rPr sz="1500" b="1" i="0">
                <a:solidFill>
                  <a:srgbClr val="1E7A33"/>
                </a:solidFill>
                <a:latin typeface="Abadi"/>
              </a:rPr>
              <a:t>Taiwan 2015</a:t>
            </a:r>
          </a:p>
        </p:txBody>
      </p:sp>
      <p:sp>
        <p:nvSpPr>
          <p:cNvPr id="19" name="TextBox 18"/>
          <p:cNvSpPr txBox="1"/>
          <p:nvPr/>
        </p:nvSpPr>
        <p:spPr>
          <a:xfrm>
            <a:off x="3511296" y="2487168"/>
            <a:ext cx="2340864" cy="1572768"/>
          </a:xfrm>
          <a:prstGeom prst="rect">
            <a:avLst/>
          </a:prstGeom>
          <a:noFill/>
        </p:spPr>
        <p:txBody>
          <a:bodyPr wrap="square" anchor="t" lIns="36576" rIns="36576" tIns="36576" bIns="36576">
            <a:spAutoFit/>
          </a:bodyPr>
          <a:lstStyle/>
          <a:p>
            <a:pPr algn="l">
              <a:spcAft>
                <a:spcPts val="400"/>
              </a:spcAft>
            </a:pPr>
            <a:r>
              <a:rPr sz="1100" b="0" i="0">
                <a:solidFill>
                  <a:srgbClr val="1A1A1A"/>
                </a:solidFill>
                <a:latin typeface="Abadi"/>
              </a:rPr>
              <a:t>▪  Lactobacillus casei rhamnosus vs neomycin, 10 each</a:t>
            </a:r>
          </a:p>
          <a:p>
            <a:pPr algn="l">
              <a:spcAft>
                <a:spcPts val="400"/>
              </a:spcAft>
            </a:pPr>
            <a:r>
              <a:rPr sz="1100" b="0" i="0">
                <a:solidFill>
                  <a:srgbClr val="1A1A1A"/>
                </a:solidFill>
                <a:latin typeface="Abadi"/>
              </a:rPr>
              <a:t>▪  Cholangitis 20% in both vs 80% in historical controls</a:t>
            </a:r>
          </a:p>
        </p:txBody>
      </p:sp>
      <p:sp>
        <p:nvSpPr>
          <p:cNvPr id="20" name="Rectangle 19"/>
          <p:cNvSpPr/>
          <p:nvPr/>
        </p:nvSpPr>
        <p:spPr>
          <a:xfrm>
            <a:off x="6181344" y="1773936"/>
            <a:ext cx="2633472" cy="237744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1344" y="1773936"/>
            <a:ext cx="2633472"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27648" y="1956816"/>
            <a:ext cx="2340864" cy="502920"/>
          </a:xfrm>
          <a:prstGeom prst="rect">
            <a:avLst/>
          </a:prstGeom>
          <a:noFill/>
        </p:spPr>
        <p:txBody>
          <a:bodyPr wrap="square" anchor="t" lIns="36576" rIns="36576" tIns="36576" bIns="36576">
            <a:spAutoFit/>
          </a:bodyPr>
          <a:lstStyle/>
          <a:p>
            <a:pPr algn="l"/>
            <a:r>
              <a:rPr sz="1500" b="1" i="0">
                <a:solidFill>
                  <a:srgbClr val="D97A0B"/>
                </a:solidFill>
                <a:latin typeface="Abadi"/>
              </a:rPr>
              <a:t>China 2021</a:t>
            </a:r>
          </a:p>
        </p:txBody>
      </p:sp>
      <p:sp>
        <p:nvSpPr>
          <p:cNvPr id="23" name="TextBox 22"/>
          <p:cNvSpPr txBox="1"/>
          <p:nvPr/>
        </p:nvSpPr>
        <p:spPr>
          <a:xfrm>
            <a:off x="6327648" y="2487168"/>
            <a:ext cx="2340864" cy="1572768"/>
          </a:xfrm>
          <a:prstGeom prst="rect">
            <a:avLst/>
          </a:prstGeom>
          <a:noFill/>
        </p:spPr>
        <p:txBody>
          <a:bodyPr wrap="square" anchor="t" lIns="36576" rIns="36576" tIns="36576" bIns="36576">
            <a:spAutoFit/>
          </a:bodyPr>
          <a:lstStyle/>
          <a:p>
            <a:pPr algn="l">
              <a:spcAft>
                <a:spcPts val="400"/>
              </a:spcAft>
            </a:pPr>
            <a:r>
              <a:rPr sz="1100" b="0" i="0">
                <a:solidFill>
                  <a:srgbClr val="1A1A1A"/>
                </a:solidFill>
                <a:latin typeface="Abadi"/>
              </a:rPr>
              <a:t>▪  RCT, 180 infants: 7 vs 14 days of IV antibiotics after surgery</a:t>
            </a:r>
          </a:p>
          <a:p>
            <a:pPr algn="l">
              <a:spcAft>
                <a:spcPts val="400"/>
              </a:spcAft>
            </a:pPr>
            <a:r>
              <a:rPr sz="1100" b="0" i="0">
                <a:solidFill>
                  <a:srgbClr val="1A1A1A"/>
                </a:solidFill>
                <a:latin typeface="Abadi"/>
              </a:rPr>
              <a:t>▪  Early cholangitis 61% vs 38% (P = .02)</a:t>
            </a:r>
          </a:p>
          <a:p>
            <a:pPr algn="l">
              <a:spcAft>
                <a:spcPts val="400"/>
              </a:spcAft>
            </a:pPr>
            <a:r>
              <a:rPr sz="1100" b="0" i="0">
                <a:solidFill>
                  <a:srgbClr val="1A1A1A"/>
                </a:solidFill>
                <a:latin typeface="Abadi"/>
              </a:rPr>
              <a:t>▪  Native liver similar</a:t>
            </a:r>
          </a:p>
        </p:txBody>
      </p:sp>
      <p:sp>
        <p:nvSpPr>
          <p:cNvPr id="24" name="Rectangle 23"/>
          <p:cNvSpPr/>
          <p:nvPr/>
        </p:nvSpPr>
        <p:spPr>
          <a:xfrm>
            <a:off x="8997696" y="1773936"/>
            <a:ext cx="2633472" cy="237744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97696" y="1773936"/>
            <a:ext cx="2633472"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0" y="1956816"/>
            <a:ext cx="2340864" cy="502920"/>
          </a:xfrm>
          <a:prstGeom prst="rect">
            <a:avLst/>
          </a:prstGeom>
          <a:noFill/>
        </p:spPr>
        <p:txBody>
          <a:bodyPr wrap="square" anchor="t" lIns="36576" rIns="36576" tIns="36576" bIns="36576">
            <a:spAutoFit/>
          </a:bodyPr>
          <a:lstStyle/>
          <a:p>
            <a:pPr algn="l"/>
            <a:r>
              <a:rPr sz="1500" b="1" i="0">
                <a:solidFill>
                  <a:srgbClr val="B22222"/>
                </a:solidFill>
                <a:latin typeface="Abadi"/>
              </a:rPr>
              <a:t>China 2019</a:t>
            </a:r>
          </a:p>
        </p:txBody>
      </p:sp>
      <p:sp>
        <p:nvSpPr>
          <p:cNvPr id="27" name="TextBox 26"/>
          <p:cNvSpPr txBox="1"/>
          <p:nvPr/>
        </p:nvSpPr>
        <p:spPr>
          <a:xfrm>
            <a:off x="9144000" y="2487168"/>
            <a:ext cx="2340864" cy="1572768"/>
          </a:xfrm>
          <a:prstGeom prst="rect">
            <a:avLst/>
          </a:prstGeom>
          <a:noFill/>
        </p:spPr>
        <p:txBody>
          <a:bodyPr wrap="square" anchor="t" lIns="36576" rIns="36576" tIns="36576" bIns="36576">
            <a:spAutoFit/>
          </a:bodyPr>
          <a:lstStyle/>
          <a:p>
            <a:pPr algn="l">
              <a:spcAft>
                <a:spcPts val="400"/>
              </a:spcAft>
            </a:pPr>
            <a:r>
              <a:rPr sz="1100" b="0" i="0">
                <a:solidFill>
                  <a:srgbClr val="1A1A1A"/>
                </a:solidFill>
                <a:latin typeface="Abadi"/>
              </a:rPr>
              <a:t>▪  Imipenem vs cephalosporin + metronidazole</a:t>
            </a:r>
          </a:p>
          <a:p>
            <a:pPr algn="l">
              <a:spcAft>
                <a:spcPts val="400"/>
              </a:spcAft>
            </a:pPr>
            <a:r>
              <a:rPr sz="1100" b="0" i="0">
                <a:solidFill>
                  <a:srgbClr val="1A1A1A"/>
                </a:solidFill>
                <a:latin typeface="Abadi"/>
              </a:rPr>
              <a:t>▪  Early cholangitis 9.9% vs 59.2%</a:t>
            </a:r>
          </a:p>
          <a:p>
            <a:pPr algn="l">
              <a:spcAft>
                <a:spcPts val="400"/>
              </a:spcAft>
            </a:pPr>
            <a:r>
              <a:rPr sz="1100" b="0" i="0">
                <a:solidFill>
                  <a:srgbClr val="1A1A1A"/>
                </a:solidFill>
                <a:latin typeface="Abadi"/>
              </a:rPr>
              <a:t>▪  Retrospective</a:t>
            </a:r>
          </a:p>
        </p:txBody>
      </p:sp>
      <p:sp>
        <p:nvSpPr>
          <p:cNvPr id="28" name="TextBox 27"/>
          <p:cNvSpPr txBox="1"/>
          <p:nvPr/>
        </p:nvSpPr>
        <p:spPr>
          <a:xfrm>
            <a:off x="548640" y="4343400"/>
            <a:ext cx="11082528" cy="1463040"/>
          </a:xfrm>
          <a:prstGeom prst="rect">
            <a:avLst/>
          </a:prstGeom>
          <a:noFill/>
        </p:spPr>
        <p:txBody>
          <a:bodyPr wrap="square" anchor="t" lIns="36576" rIns="36576" tIns="36576" bIns="36576">
            <a:spAutoFit/>
          </a:bodyPr>
          <a:lstStyle/>
          <a:p>
            <a:pPr algn="l"/>
            <a:r>
              <a:rPr sz="1250" b="1" i="0">
                <a:solidFill>
                  <a:srgbClr val="1B355E"/>
                </a:solidFill>
                <a:latin typeface="Abadi"/>
              </a:rPr>
              <a:t>Interpretation.   </a:t>
            </a:r>
            <a:r>
              <a:rPr sz="1250" b="0" i="0">
                <a:solidFill>
                  <a:srgbClr val="1A1A1A"/>
                </a:solidFill>
                <a:latin typeface="Abadi"/>
              </a:rPr>
              <a:t>Every positive study is small, uses historical controls or is retrospective. Note that the Taiwanese trials test secondary prevention after a first episode, not primary prophylaxis. The 2021 trial suggests the first two post-operative weeks of intravenous cover matter for early cholangitis, without changing survival with the native liver.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anchor="ctr" lIns="0" rIns="0" tIns="0" bIns="0">
            <a:spAutoFit/>
          </a:bodyPr>
          <a:lstStyle/>
          <a:p>
            <a:pPr algn="ctr"/>
            <a:r>
              <a:rPr sz="1500" b="1" i="0">
                <a:solidFill>
                  <a:srgbClr val="FFFFFF"/>
                </a:solidFill>
                <a:latin typeface="Abadi"/>
              </a:rPr>
              <a:t>V</a:t>
            </a:r>
          </a:p>
        </p:txBody>
      </p:sp>
      <p:sp>
        <p:nvSpPr>
          <p:cNvPr id="4" name="TextBox 3"/>
          <p:cNvSpPr txBox="1"/>
          <p:nvPr/>
        </p:nvSpPr>
        <p:spPr>
          <a:xfrm>
            <a:off x="1380744" y="292608"/>
            <a:ext cx="10232136" cy="347472"/>
          </a:xfrm>
          <a:prstGeom prst="rect">
            <a:avLst/>
          </a:prstGeom>
          <a:noFill/>
        </p:spPr>
        <p:txBody>
          <a:bodyPr wrap="square" anchor="ctr" lIns="36576" rIns="36576" tIns="36576" bIns="36576">
            <a:spAutoFit/>
          </a:bodyPr>
          <a:lstStyle/>
          <a:p>
            <a:pPr algn="l"/>
            <a:r>
              <a:rPr sz="1200" b="1" i="0">
                <a:solidFill>
                  <a:srgbClr val="B22222"/>
                </a:solidFill>
                <a:latin typeface="Abadi"/>
              </a:rPr>
              <a:t>POOLED EVIDENCE</a:t>
            </a:r>
          </a:p>
        </p:txBody>
      </p:sp>
      <p:sp>
        <p:nvSpPr>
          <p:cNvPr id="5" name="TextBox 4"/>
          <p:cNvSpPr txBox="1"/>
          <p:nvPr/>
        </p:nvSpPr>
        <p:spPr>
          <a:xfrm>
            <a:off x="548640" y="722376"/>
            <a:ext cx="11082528" cy="548640"/>
          </a:xfrm>
          <a:prstGeom prst="rect">
            <a:avLst/>
          </a:prstGeom>
          <a:noFill/>
        </p:spPr>
        <p:txBody>
          <a:bodyPr wrap="square" anchor="ctr" lIns="36576" rIns="36576" tIns="36576" bIns="36576">
            <a:spAutoFit/>
          </a:bodyPr>
          <a:lstStyle/>
          <a:p>
            <a:pPr algn="l"/>
            <a:r>
              <a:rPr sz="3000" b="1" i="0">
                <a:solidFill>
                  <a:srgbClr val="1B355E"/>
                </a:solidFill>
                <a:latin typeface="Abadi"/>
              </a:rPr>
              <a:t>PROPHYLAXIS: THE POOLED ANSWER</a:t>
            </a:r>
          </a:p>
        </p:txBody>
      </p:sp>
      <p:sp>
        <p:nvSpPr>
          <p:cNvPr id="6" name="TextBox 5"/>
          <p:cNvSpPr txBox="1"/>
          <p:nvPr/>
        </p:nvSpPr>
        <p:spPr>
          <a:xfrm>
            <a:off x="548640" y="1307592"/>
            <a:ext cx="11082528" cy="265176"/>
          </a:xfrm>
          <a:prstGeom prst="rect">
            <a:avLst/>
          </a:prstGeom>
          <a:noFill/>
        </p:spPr>
        <p:txBody>
          <a:bodyPr wrap="square" anchor="t" lIns="36576" rIns="36576" tIns="36576" bIns="36576">
            <a:spAutoFit/>
          </a:bodyPr>
          <a:lstStyle/>
          <a:p>
            <a:pPr algn="l"/>
            <a:r>
              <a:rPr sz="1300" b="0" i="0">
                <a:solidFill>
                  <a:srgbClr val="555555"/>
                </a:solidFill>
                <a:latin typeface="Abadi"/>
              </a:rPr>
              <a:t>Systematic reviews and meta-analyses of oral antibiotic prophylaxis after the Kasai</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anchor="t" lIns="36576" rIns="36576" tIns="36576" bIns="36576">
            <a:spAutoFit/>
          </a:bodyPr>
          <a:lstStyle/>
          <a:p>
            <a:pPr algn="r"/>
            <a:r>
              <a:rPr sz="1200" b="0" i="0">
                <a:solidFill>
                  <a:srgbClr val="555555"/>
                </a:solidFill>
                <a:latin typeface="Abadi"/>
              </a:rPr>
              <a:t>14</a:t>
            </a:r>
          </a:p>
        </p:txBody>
      </p:sp>
      <p:sp>
        <p:nvSpPr>
          <p:cNvPr id="11" name="TextBox 10"/>
          <p:cNvSpPr txBox="1"/>
          <p:nvPr/>
        </p:nvSpPr>
        <p:spPr>
          <a:xfrm>
            <a:off x="548640" y="5971032"/>
            <a:ext cx="10287000" cy="457200"/>
          </a:xfrm>
          <a:prstGeom prst="rect">
            <a:avLst/>
          </a:prstGeom>
          <a:noFill/>
        </p:spPr>
        <p:txBody>
          <a:bodyPr wrap="square" anchor="t" lIns="36576" rIns="36576" tIns="36576" bIns="36576">
            <a:spAutoFit/>
          </a:bodyPr>
          <a:lstStyle/>
          <a:p>
            <a:pPr algn="l"/>
            <a:r>
              <a:rPr sz="1000" b="0" i="0">
                <a:solidFill>
                  <a:srgbClr val="7F7F7F"/>
                </a:solidFill>
                <a:latin typeface="Abadi"/>
              </a:rPr>
              <a:t>Decharun K, et al. Clin Pediatr 2016;55:66–72 · Alatas FS, et al. JPGN 2023;77:648–54 · Chen D, Chen G. Front Pediatr 2026 (doi:10.3389/fped.2026.1935772) · Brody 2025 · NCT05925309</a:t>
            </a:r>
          </a:p>
        </p:txBody>
      </p:sp>
      <p:sp>
        <p:nvSpPr>
          <p:cNvPr id="12" name="Rectangle 11"/>
          <p:cNvSpPr/>
          <p:nvPr/>
        </p:nvSpPr>
        <p:spPr>
          <a:xfrm>
            <a:off x="548640" y="1773936"/>
            <a:ext cx="2070201" cy="233172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777593" cy="548640"/>
          </a:xfrm>
          <a:prstGeom prst="rect">
            <a:avLst/>
          </a:prstGeom>
          <a:noFill/>
        </p:spPr>
        <p:txBody>
          <a:bodyPr wrap="square" anchor="t" lIns="36576" rIns="36576" tIns="36576" bIns="36576">
            <a:spAutoFit/>
          </a:bodyPr>
          <a:lstStyle/>
          <a:p>
            <a:pPr algn="l"/>
            <a:r>
              <a:rPr sz="2000" b="1" i="0">
                <a:solidFill>
                  <a:srgbClr val="8A939B"/>
                </a:solidFill>
                <a:latin typeface="Abadi"/>
              </a:rPr>
              <a:t>Low quality</a:t>
            </a:r>
          </a:p>
        </p:txBody>
      </p:sp>
      <p:sp>
        <p:nvSpPr>
          <p:cNvPr id="15" name="TextBox 14"/>
          <p:cNvSpPr txBox="1"/>
          <p:nvPr/>
        </p:nvSpPr>
        <p:spPr>
          <a:xfrm>
            <a:off x="694944"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2016: 4 studies, 329 infants; evidence judged too weak to conclude.</a:t>
            </a:r>
          </a:p>
        </p:txBody>
      </p:sp>
      <p:sp>
        <p:nvSpPr>
          <p:cNvPr id="16" name="Rectangle 15"/>
          <p:cNvSpPr/>
          <p:nvPr/>
        </p:nvSpPr>
        <p:spPr>
          <a:xfrm>
            <a:off x="2801721" y="1773936"/>
            <a:ext cx="2070201" cy="233172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025" y="1956816"/>
            <a:ext cx="1777593" cy="548640"/>
          </a:xfrm>
          <a:prstGeom prst="rect">
            <a:avLst/>
          </a:prstGeom>
          <a:noFill/>
        </p:spPr>
        <p:txBody>
          <a:bodyPr wrap="square" anchor="t" lIns="36576" rIns="36576" tIns="36576" bIns="36576">
            <a:spAutoFit/>
          </a:bodyPr>
          <a:lstStyle/>
          <a:p>
            <a:pPr algn="l"/>
            <a:r>
              <a:rPr sz="2000" b="1" i="0">
                <a:solidFill>
                  <a:srgbClr val="D97A0B"/>
                </a:solidFill>
                <a:latin typeface="Abadi"/>
              </a:rPr>
              <a:t>OR 1.15</a:t>
            </a:r>
          </a:p>
        </p:txBody>
      </p:sp>
      <p:sp>
        <p:nvSpPr>
          <p:cNvPr id="19" name="TextBox 18"/>
          <p:cNvSpPr txBox="1"/>
          <p:nvPr/>
        </p:nvSpPr>
        <p:spPr>
          <a:xfrm>
            <a:off x="2948025"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2023: 6 studies, 714 infants; 95% CI 0.59 to 2.25; I² 68%. No reduction in cholangitis.</a:t>
            </a:r>
          </a:p>
        </p:txBody>
      </p:sp>
      <p:sp>
        <p:nvSpPr>
          <p:cNvPr id="20" name="Rectangle 19"/>
          <p:cNvSpPr/>
          <p:nvPr/>
        </p:nvSpPr>
        <p:spPr>
          <a:xfrm>
            <a:off x="5054803" y="1773936"/>
            <a:ext cx="2070201" cy="233172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1107" y="1956816"/>
            <a:ext cx="1777593" cy="548640"/>
          </a:xfrm>
          <a:prstGeom prst="rect">
            <a:avLst/>
          </a:prstGeom>
          <a:noFill/>
        </p:spPr>
        <p:txBody>
          <a:bodyPr wrap="square" anchor="t" lIns="36576" rIns="36576" tIns="36576" bIns="36576">
            <a:spAutoFit/>
          </a:bodyPr>
          <a:lstStyle/>
          <a:p>
            <a:pPr algn="l"/>
            <a:r>
              <a:rPr sz="2000" b="1" i="0">
                <a:solidFill>
                  <a:srgbClr val="D97A0B"/>
                </a:solidFill>
                <a:latin typeface="Abadi"/>
              </a:rPr>
              <a:t>OR 0.88</a:t>
            </a:r>
          </a:p>
        </p:txBody>
      </p:sp>
      <p:sp>
        <p:nvSpPr>
          <p:cNvPr id="23" name="TextBox 22"/>
          <p:cNvSpPr txBox="1"/>
          <p:nvPr/>
        </p:nvSpPr>
        <p:spPr>
          <a:xfrm>
            <a:off x="5201107"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2026: cholangitis 56.9% with vs 56.6% without; 95% CI 0.41 to 1.92.</a:t>
            </a:r>
          </a:p>
        </p:txBody>
      </p:sp>
      <p:sp>
        <p:nvSpPr>
          <p:cNvPr id="24" name="Rectangle 23"/>
          <p:cNvSpPr/>
          <p:nvPr/>
        </p:nvSpPr>
        <p:spPr>
          <a:xfrm>
            <a:off x="7307884" y="1773936"/>
            <a:ext cx="2070201" cy="233172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4188" y="1956816"/>
            <a:ext cx="1777593" cy="548640"/>
          </a:xfrm>
          <a:prstGeom prst="rect">
            <a:avLst/>
          </a:prstGeom>
          <a:noFill/>
        </p:spPr>
        <p:txBody>
          <a:bodyPr wrap="square" anchor="t" lIns="36576" rIns="36576" tIns="36576" bIns="36576">
            <a:spAutoFit/>
          </a:bodyPr>
          <a:lstStyle/>
          <a:p>
            <a:pPr algn="l"/>
            <a:r>
              <a:rPr sz="2000" b="1" i="0">
                <a:solidFill>
                  <a:srgbClr val="1E7A33"/>
                </a:solidFill>
                <a:latin typeface="Abadi"/>
              </a:rPr>
              <a:t>OR 2.15</a:t>
            </a:r>
          </a:p>
        </p:txBody>
      </p:sp>
      <p:sp>
        <p:nvSpPr>
          <p:cNvPr id="27" name="TextBox 26"/>
          <p:cNvSpPr txBox="1"/>
          <p:nvPr/>
        </p:nvSpPr>
        <p:spPr>
          <a:xfrm>
            <a:off x="7454188"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2026: native-liver survival, 1.25 to 3.69, but from 2 studies only; authors call it hypothetical.</a:t>
            </a:r>
          </a:p>
        </p:txBody>
      </p:sp>
      <p:sp>
        <p:nvSpPr>
          <p:cNvPr id="28" name="Rectangle 27"/>
          <p:cNvSpPr/>
          <p:nvPr/>
        </p:nvSpPr>
        <p:spPr>
          <a:xfrm>
            <a:off x="9560966" y="1773936"/>
            <a:ext cx="2070201" cy="233172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270" y="1956816"/>
            <a:ext cx="1777593" cy="548640"/>
          </a:xfrm>
          <a:prstGeom prst="rect">
            <a:avLst/>
          </a:prstGeom>
          <a:noFill/>
        </p:spPr>
        <p:txBody>
          <a:bodyPr wrap="square" anchor="t" lIns="36576" rIns="36576" tIns="36576" bIns="36576">
            <a:spAutoFit/>
          </a:bodyPr>
          <a:lstStyle/>
          <a:p>
            <a:pPr algn="l"/>
            <a:r>
              <a:rPr sz="2000" b="1" i="0">
                <a:solidFill>
                  <a:srgbClr val="B22222"/>
                </a:solidFill>
                <a:latin typeface="Abadi"/>
              </a:rPr>
              <a:t>77 vs 239 d</a:t>
            </a:r>
          </a:p>
        </p:txBody>
      </p:sp>
      <p:sp>
        <p:nvSpPr>
          <p:cNvPr id="31" name="TextBox 30"/>
          <p:cNvSpPr txBox="1"/>
          <p:nvPr/>
        </p:nvSpPr>
        <p:spPr>
          <a:xfrm>
            <a:off x="9707270"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Israel 2025: on primary prophylaxis, the first episode came earlier (median days, P = .016).</a:t>
            </a:r>
          </a:p>
        </p:txBody>
      </p:sp>
      <p:sp>
        <p:nvSpPr>
          <p:cNvPr id="32" name="TextBox 31"/>
          <p:cNvSpPr txBox="1"/>
          <p:nvPr/>
        </p:nvSpPr>
        <p:spPr>
          <a:xfrm>
            <a:off x="548640" y="4297680"/>
            <a:ext cx="11082528" cy="1463040"/>
          </a:xfrm>
          <a:prstGeom prst="rect">
            <a:avLst/>
          </a:prstGeom>
          <a:noFill/>
        </p:spPr>
        <p:txBody>
          <a:bodyPr wrap="square" anchor="t" lIns="36576" rIns="36576" tIns="36576" bIns="36576">
            <a:spAutoFit/>
          </a:bodyPr>
          <a:lstStyle/>
          <a:p>
            <a:pPr algn="l"/>
            <a:r>
              <a:rPr sz="1250" b="1" i="0">
                <a:solidFill>
                  <a:srgbClr val="1B355E"/>
                </a:solidFill>
                <a:latin typeface="Abadi"/>
              </a:rPr>
              <a:t>Where this leaves us.   </a:t>
            </a:r>
            <a:r>
              <a:rPr sz="1250" b="0" i="0">
                <a:solidFill>
                  <a:srgbClr val="1A1A1A"/>
                </a:solidFill>
                <a:latin typeface="Abadi"/>
              </a:rPr>
              <a:t>Pooled data show no effect on the rate of cholangitis, a fragile signal on liver survival and a hint of earlier, possibly more resistant infection. A randomised trial in Shanghai (NCT05925309, TMP-SMX alternating with cefaclor from day 15 to month 6, target 356 infants) should report around 2029. Until then, prophylaxis is a defensible consensus, not an evidence-based standard.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anchor="ctr" lIns="0" rIns="0" tIns="0" bIns="0">
            <a:spAutoFit/>
          </a:bodyPr>
          <a:lstStyle/>
          <a:p>
            <a:pPr algn="ctr"/>
            <a:r>
              <a:rPr sz="1500" b="1" i="0">
                <a:solidFill>
                  <a:srgbClr val="FFFFFF"/>
                </a:solidFill>
                <a:latin typeface="Abadi"/>
              </a:rPr>
              <a:t>V</a:t>
            </a:r>
          </a:p>
        </p:txBody>
      </p:sp>
      <p:sp>
        <p:nvSpPr>
          <p:cNvPr id="4" name="TextBox 3"/>
          <p:cNvSpPr txBox="1"/>
          <p:nvPr/>
        </p:nvSpPr>
        <p:spPr>
          <a:xfrm>
            <a:off x="1380744" y="292608"/>
            <a:ext cx="10232136" cy="347472"/>
          </a:xfrm>
          <a:prstGeom prst="rect">
            <a:avLst/>
          </a:prstGeom>
          <a:noFill/>
        </p:spPr>
        <p:txBody>
          <a:bodyPr wrap="square" anchor="ctr" lIns="36576" rIns="36576" tIns="36576" bIns="36576">
            <a:spAutoFit/>
          </a:bodyPr>
          <a:lstStyle/>
          <a:p>
            <a:pPr algn="l"/>
            <a:r>
              <a:rPr sz="1200" b="1" i="0">
                <a:solidFill>
                  <a:srgbClr val="B22222"/>
                </a:solidFill>
                <a:latin typeface="Abadi"/>
              </a:rPr>
              <a:t>IN PRACTICE</a:t>
            </a:r>
          </a:p>
        </p:txBody>
      </p:sp>
      <p:sp>
        <p:nvSpPr>
          <p:cNvPr id="5" name="TextBox 4"/>
          <p:cNvSpPr txBox="1"/>
          <p:nvPr/>
        </p:nvSpPr>
        <p:spPr>
          <a:xfrm>
            <a:off x="548640" y="722376"/>
            <a:ext cx="11082528" cy="548640"/>
          </a:xfrm>
          <a:prstGeom prst="rect">
            <a:avLst/>
          </a:prstGeom>
          <a:noFill/>
        </p:spPr>
        <p:txBody>
          <a:bodyPr wrap="square" anchor="ctr" lIns="36576" rIns="36576" tIns="36576" bIns="36576">
            <a:spAutoFit/>
          </a:bodyPr>
          <a:lstStyle/>
          <a:p>
            <a:pPr algn="l"/>
            <a:r>
              <a:rPr sz="3000" b="1" i="0">
                <a:solidFill>
                  <a:srgbClr val="1B355E"/>
                </a:solidFill>
                <a:latin typeface="Abadi"/>
              </a:rPr>
              <a:t>IF YOU GIVE PROPHYLAXIS</a:t>
            </a:r>
          </a:p>
        </p:txBody>
      </p:sp>
      <p:sp>
        <p:nvSpPr>
          <p:cNvPr id="6" name="TextBox 5"/>
          <p:cNvSpPr txBox="1"/>
          <p:nvPr/>
        </p:nvSpPr>
        <p:spPr>
          <a:xfrm>
            <a:off x="548640" y="1307592"/>
            <a:ext cx="11082528" cy="265176"/>
          </a:xfrm>
          <a:prstGeom prst="rect">
            <a:avLst/>
          </a:prstGeom>
          <a:noFill/>
        </p:spPr>
        <p:txBody>
          <a:bodyPr wrap="square" anchor="t" lIns="36576" rIns="36576" tIns="36576" bIns="36576">
            <a:spAutoFit/>
          </a:bodyPr>
          <a:lstStyle/>
          <a:p>
            <a:pPr algn="l"/>
            <a:r>
              <a:rPr sz="1300" b="0" i="0">
                <a:solidFill>
                  <a:srgbClr val="555555"/>
                </a:solidFill>
                <a:latin typeface="Abadi"/>
              </a:rPr>
              <a:t>Agents and doses reported in the trials, and the consensus on duration</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anchor="t" lIns="36576" rIns="36576" tIns="36576" bIns="36576">
            <a:spAutoFit/>
          </a:bodyPr>
          <a:lstStyle/>
          <a:p>
            <a:pPr algn="r"/>
            <a:r>
              <a:rPr sz="1200" b="0" i="0">
                <a:solidFill>
                  <a:srgbClr val="555555"/>
                </a:solidFill>
                <a:latin typeface="Abadi"/>
              </a:rPr>
              <a:t>15</a:t>
            </a:r>
          </a:p>
        </p:txBody>
      </p:sp>
      <p:sp>
        <p:nvSpPr>
          <p:cNvPr id="11" name="TextBox 10"/>
          <p:cNvSpPr txBox="1"/>
          <p:nvPr/>
        </p:nvSpPr>
        <p:spPr>
          <a:xfrm>
            <a:off x="548640" y="5971032"/>
            <a:ext cx="10287000" cy="457200"/>
          </a:xfrm>
          <a:prstGeom prst="rect">
            <a:avLst/>
          </a:prstGeom>
          <a:noFill/>
        </p:spPr>
        <p:txBody>
          <a:bodyPr wrap="square" anchor="t" lIns="36576" rIns="36576" tIns="36576" bIns="36576">
            <a:spAutoFit/>
          </a:bodyPr>
          <a:lstStyle/>
          <a:p>
            <a:pPr algn="l"/>
            <a:r>
              <a:rPr sz="1000" b="0" i="0">
                <a:solidFill>
                  <a:srgbClr val="7F7F7F"/>
                </a:solidFill>
                <a:latin typeface="Abadi"/>
              </a:rPr>
              <a:t>Bu 2003 · Lien 2015 · Calinescu 2022 · Calinescu &amp; Wildhaber 2024</a:t>
            </a:r>
          </a:p>
        </p:txBody>
      </p:sp>
      <p:graphicFrame>
        <p:nvGraphicFramePr>
          <p:cNvPr id="12" name="Table 11"/>
          <p:cNvGraphicFramePr>
            <a:graphicFrameLocks noGrp="1"/>
          </p:cNvGraphicFramePr>
          <p:nvPr/>
        </p:nvGraphicFramePr>
        <p:xfrm>
          <a:off x="548640" y="1783080"/>
          <a:ext cx="11082528" cy="3017520"/>
        </p:xfrm>
        <a:graphic>
          <a:graphicData uri="http://schemas.openxmlformats.org/drawingml/2006/table">
            <a:tbl>
              <a:tblPr firstRow="0" bandRow="0">
                <a:tableStyleId>{5C22544A-7EE6-4342-B048-85BDC9FD1C3A}</a:tableStyleId>
              </a:tblPr>
              <a:tblGrid>
                <a:gridCol w="2651760"/>
                <a:gridCol w="2743200"/>
                <a:gridCol w="3291840"/>
                <a:gridCol w="2395728"/>
              </a:tblGrid>
              <a:tr h="502920">
                <a:tc>
                  <a:txBody>
                    <a:bodyPr wrap="square"/>
                    <a:lstStyle/>
                    <a:p>
                      <a:r>
                        <a:rPr sz="1050" b="1">
                          <a:solidFill>
                            <a:srgbClr val="FFFFFF"/>
                          </a:solidFill>
                          <a:latin typeface="Abadi"/>
                        </a:rPr>
                        <a:t>Agent</a:t>
                      </a:r>
                    </a:p>
                  </a:txBody>
                  <a:tcPr marL="73152" marR="73152" marT="27432" marB="27432" anchor="ctr">
                    <a:solidFill>
                      <a:srgbClr val="1B355E"/>
                    </a:solidFill>
                  </a:tcPr>
                </a:tc>
                <a:tc>
                  <a:txBody>
                    <a:bodyPr wrap="square"/>
                    <a:lstStyle/>
                    <a:p>
                      <a:r>
                        <a:rPr sz="1050" b="1">
                          <a:solidFill>
                            <a:srgbClr val="FFFFFF"/>
                          </a:solidFill>
                          <a:latin typeface="Abadi"/>
                        </a:rPr>
                        <a:t>Regimen reported</a:t>
                      </a:r>
                    </a:p>
                  </a:txBody>
                  <a:tcPr marL="73152" marR="73152" marT="27432" marB="27432" anchor="ctr">
                    <a:solidFill>
                      <a:srgbClr val="1B355E"/>
                    </a:solidFill>
                  </a:tcPr>
                </a:tc>
                <a:tc>
                  <a:txBody>
                    <a:bodyPr wrap="square"/>
                    <a:lstStyle/>
                    <a:p>
                      <a:r>
                        <a:rPr sz="1050" b="1">
                          <a:solidFill>
                            <a:srgbClr val="FFFFFF"/>
                          </a:solidFill>
                          <a:latin typeface="Abadi"/>
                        </a:rPr>
                        <a:t>Evidence</a:t>
                      </a:r>
                    </a:p>
                  </a:txBody>
                  <a:tcPr marL="73152" marR="73152" marT="27432" marB="27432" anchor="ctr">
                    <a:solidFill>
                      <a:srgbClr val="1B355E"/>
                    </a:solidFill>
                  </a:tcPr>
                </a:tc>
                <a:tc>
                  <a:txBody>
                    <a:bodyPr wrap="square"/>
                    <a:lstStyle/>
                    <a:p>
                      <a:r>
                        <a:rPr sz="1050" b="1">
                          <a:solidFill>
                            <a:srgbClr val="FFFFFF"/>
                          </a:solidFill>
                          <a:latin typeface="Abadi"/>
                        </a:rPr>
                        <a:t>Watch for</a:t>
                      </a:r>
                    </a:p>
                  </a:txBody>
                  <a:tcPr marL="73152" marR="73152" marT="27432" marB="27432" anchor="ctr">
                    <a:solidFill>
                      <a:srgbClr val="1B355E"/>
                    </a:solidFill>
                  </a:tcPr>
                </a:tc>
              </a:tr>
              <a:tr h="502920">
                <a:tc>
                  <a:txBody>
                    <a:bodyPr wrap="square"/>
                    <a:lstStyle/>
                    <a:p>
                      <a:r>
                        <a:rPr sz="1050" b="1">
                          <a:solidFill>
                            <a:srgbClr val="1A1A1A"/>
                          </a:solidFill>
                          <a:latin typeface="Abadi"/>
                        </a:rPr>
                        <a:t>Trimethoprim–sulfamethoxazole</a:t>
                      </a:r>
                    </a:p>
                  </a:txBody>
                  <a:tcPr marL="73152" marR="73152" marT="27432" marB="27432" anchor="ctr">
                    <a:solidFill>
                      <a:srgbClr val="FFFFFF"/>
                    </a:solidFill>
                  </a:tcPr>
                </a:tc>
                <a:tc>
                  <a:txBody>
                    <a:bodyPr wrap="square"/>
                    <a:lstStyle/>
                    <a:p>
                      <a:r>
                        <a:rPr sz="1050" b="0">
                          <a:solidFill>
                            <a:srgbClr val="1A1A1A"/>
                          </a:solidFill>
                          <a:latin typeface="Abadi"/>
                        </a:rPr>
                        <a:t>Trimethoprim 4 mg/kg/day</a:t>
                      </a:r>
                    </a:p>
                  </a:txBody>
                  <a:tcPr marL="73152" marR="73152" marT="27432" marB="27432" anchor="ctr">
                    <a:solidFill>
                      <a:srgbClr val="FFFFFF"/>
                    </a:solidFill>
                  </a:tcPr>
                </a:tc>
                <a:tc>
                  <a:txBody>
                    <a:bodyPr wrap="square"/>
                    <a:lstStyle/>
                    <a:p>
                      <a:r>
                        <a:rPr sz="1050" b="0">
                          <a:solidFill>
                            <a:srgbClr val="1A1A1A"/>
                          </a:solidFill>
                          <a:latin typeface="Abadi"/>
                        </a:rPr>
                        <a:t>Secondary prevention, n = 9; most used (53.8% of respondents)</a:t>
                      </a:r>
                    </a:p>
                  </a:txBody>
                  <a:tcPr marL="73152" marR="73152" marT="27432" marB="27432" anchor="ctr">
                    <a:solidFill>
                      <a:srgbClr val="FFFFFF"/>
                    </a:solidFill>
                  </a:tcPr>
                </a:tc>
                <a:tc>
                  <a:txBody>
                    <a:bodyPr wrap="square"/>
                    <a:lstStyle/>
                    <a:p>
                      <a:r>
                        <a:rPr sz="1050" b="0">
                          <a:solidFill>
                            <a:srgbClr val="1A1A1A"/>
                          </a:solidFill>
                          <a:latin typeface="Abadi"/>
                        </a:rPr>
                        <a:t>Resistant Klebsiella, cytopenias</a:t>
                      </a:r>
                    </a:p>
                  </a:txBody>
                  <a:tcPr marL="73152" marR="73152" marT="27432" marB="27432" anchor="ctr">
                    <a:solidFill>
                      <a:srgbClr val="FFFFFF"/>
                    </a:solidFill>
                  </a:tcPr>
                </a:tc>
              </a:tr>
              <a:tr h="502920">
                <a:tc>
                  <a:txBody>
                    <a:bodyPr wrap="square"/>
                    <a:lstStyle/>
                    <a:p>
                      <a:r>
                        <a:rPr sz="1050" b="1">
                          <a:solidFill>
                            <a:srgbClr val="1A1A1A"/>
                          </a:solidFill>
                          <a:latin typeface="Abadi"/>
                        </a:rPr>
                        <a:t>Neomycin</a:t>
                      </a:r>
                    </a:p>
                  </a:txBody>
                  <a:tcPr marL="73152" marR="73152" marT="27432" marB="27432" anchor="ctr">
                    <a:solidFill>
                      <a:srgbClr val="F2F4F7"/>
                    </a:solidFill>
                  </a:tcPr>
                </a:tc>
                <a:tc>
                  <a:txBody>
                    <a:bodyPr wrap="square"/>
                    <a:lstStyle/>
                    <a:p>
                      <a:r>
                        <a:rPr sz="1050" b="0">
                          <a:solidFill>
                            <a:srgbClr val="1A1A1A"/>
                          </a:solidFill>
                          <a:latin typeface="Abadi"/>
                        </a:rPr>
                        <a:t>25 mg/kg/day, 4 days a week</a:t>
                      </a:r>
                    </a:p>
                  </a:txBody>
                  <a:tcPr marL="73152" marR="73152" marT="27432" marB="27432" anchor="ctr">
                    <a:solidFill>
                      <a:srgbClr val="F2F4F7"/>
                    </a:solidFill>
                  </a:tcPr>
                </a:tc>
                <a:tc>
                  <a:txBody>
                    <a:bodyPr wrap="square"/>
                    <a:lstStyle/>
                    <a:p>
                      <a:r>
                        <a:rPr sz="1050" b="0">
                          <a:solidFill>
                            <a:srgbClr val="1A1A1A"/>
                          </a:solidFill>
                          <a:latin typeface="Abadi"/>
                        </a:rPr>
                        <a:t>Secondary prevention, n = 10</a:t>
                      </a:r>
                    </a:p>
                  </a:txBody>
                  <a:tcPr marL="73152" marR="73152" marT="27432" marB="27432" anchor="ctr">
                    <a:solidFill>
                      <a:srgbClr val="F2F4F7"/>
                    </a:solidFill>
                  </a:tcPr>
                </a:tc>
                <a:tc>
                  <a:txBody>
                    <a:bodyPr wrap="square"/>
                    <a:lstStyle/>
                    <a:p>
                      <a:r>
                        <a:rPr sz="1050" b="0">
                          <a:solidFill>
                            <a:srgbClr val="1A1A1A"/>
                          </a:solidFill>
                          <a:latin typeface="Abadi"/>
                        </a:rPr>
                        <a:t>Absorption with mucosal injury</a:t>
                      </a:r>
                    </a:p>
                  </a:txBody>
                  <a:tcPr marL="73152" marR="73152" marT="27432" marB="27432" anchor="ctr">
                    <a:solidFill>
                      <a:srgbClr val="F2F4F7"/>
                    </a:solidFill>
                  </a:tcPr>
                </a:tc>
              </a:tr>
              <a:tr h="502920">
                <a:tc>
                  <a:txBody>
                    <a:bodyPr wrap="square"/>
                    <a:lstStyle/>
                    <a:p>
                      <a:r>
                        <a:rPr sz="1050" b="1">
                          <a:solidFill>
                            <a:srgbClr val="1A1A1A"/>
                          </a:solidFill>
                          <a:latin typeface="Abadi"/>
                        </a:rPr>
                        <a:t>Oral cephalosporin</a:t>
                      </a:r>
                    </a:p>
                  </a:txBody>
                  <a:tcPr marL="73152" marR="73152" marT="27432" marB="27432" anchor="ctr">
                    <a:solidFill>
                      <a:srgbClr val="FFFFFF"/>
                    </a:solidFill>
                  </a:tcPr>
                </a:tc>
                <a:tc>
                  <a:txBody>
                    <a:bodyPr wrap="square"/>
                    <a:lstStyle/>
                    <a:p>
                      <a:r>
                        <a:rPr sz="1050" b="0">
                          <a:solidFill>
                            <a:srgbClr val="1A1A1A"/>
                          </a:solidFill>
                          <a:latin typeface="Abadi"/>
                        </a:rPr>
                        <a:t>Cefaclor or similar, alternating in trial</a:t>
                      </a:r>
                    </a:p>
                  </a:txBody>
                  <a:tcPr marL="73152" marR="73152" marT="27432" marB="27432" anchor="ctr">
                    <a:solidFill>
                      <a:srgbClr val="FFFFFF"/>
                    </a:solidFill>
                  </a:tcPr>
                </a:tc>
                <a:tc>
                  <a:txBody>
                    <a:bodyPr wrap="square"/>
                    <a:lstStyle/>
                    <a:p>
                      <a:r>
                        <a:rPr sz="1050" b="0">
                          <a:solidFill>
                            <a:srgbClr val="1A1A1A"/>
                          </a:solidFill>
                          <a:latin typeface="Abadi"/>
                        </a:rPr>
                        <a:t>Ongoing RCT</a:t>
                      </a:r>
                    </a:p>
                  </a:txBody>
                  <a:tcPr marL="73152" marR="73152" marT="27432" marB="27432" anchor="ctr">
                    <a:solidFill>
                      <a:srgbClr val="FFFFFF"/>
                    </a:solidFill>
                  </a:tcPr>
                </a:tc>
                <a:tc>
                  <a:txBody>
                    <a:bodyPr wrap="square"/>
                    <a:lstStyle/>
                    <a:p>
                      <a:r>
                        <a:rPr sz="1050" b="0">
                          <a:solidFill>
                            <a:srgbClr val="1A1A1A"/>
                          </a:solidFill>
                          <a:latin typeface="Abadi"/>
                        </a:rPr>
                        <a:t>ESBL selection</a:t>
                      </a:r>
                    </a:p>
                  </a:txBody>
                  <a:tcPr marL="73152" marR="73152" marT="27432" marB="27432" anchor="ctr">
                    <a:solidFill>
                      <a:srgbClr val="FFFFFF"/>
                    </a:solidFill>
                  </a:tcPr>
                </a:tc>
              </a:tr>
              <a:tr h="502920">
                <a:tc>
                  <a:txBody>
                    <a:bodyPr wrap="square"/>
                    <a:lstStyle/>
                    <a:p>
                      <a:r>
                        <a:rPr sz="1050" b="1">
                          <a:solidFill>
                            <a:srgbClr val="1A1A1A"/>
                          </a:solidFill>
                          <a:latin typeface="Abadi"/>
                        </a:rPr>
                        <a:t>Probiotic</a:t>
                      </a:r>
                    </a:p>
                  </a:txBody>
                  <a:tcPr marL="73152" marR="73152" marT="27432" marB="27432" anchor="ctr">
                    <a:solidFill>
                      <a:srgbClr val="F2F4F7"/>
                    </a:solidFill>
                  </a:tcPr>
                </a:tc>
                <a:tc>
                  <a:txBody>
                    <a:bodyPr wrap="square"/>
                    <a:lstStyle/>
                    <a:p>
                      <a:r>
                        <a:rPr sz="1050" b="0">
                          <a:solidFill>
                            <a:srgbClr val="1A1A1A"/>
                          </a:solidFill>
                          <a:latin typeface="Abadi"/>
                        </a:rPr>
                        <a:t>Lactobacillus casei rhamnosus</a:t>
                      </a:r>
                    </a:p>
                  </a:txBody>
                  <a:tcPr marL="73152" marR="73152" marT="27432" marB="27432" anchor="ctr">
                    <a:solidFill>
                      <a:srgbClr val="F2F4F7"/>
                    </a:solidFill>
                  </a:tcPr>
                </a:tc>
                <a:tc>
                  <a:txBody>
                    <a:bodyPr wrap="square"/>
                    <a:lstStyle/>
                    <a:p>
                      <a:r>
                        <a:rPr sz="1050" b="0">
                          <a:solidFill>
                            <a:srgbClr val="1A1A1A"/>
                          </a:solidFill>
                          <a:latin typeface="Abadi"/>
                        </a:rPr>
                        <a:t>Pilot, n = 10</a:t>
                      </a:r>
                    </a:p>
                  </a:txBody>
                  <a:tcPr marL="73152" marR="73152" marT="27432" marB="27432" anchor="ctr">
                    <a:solidFill>
                      <a:srgbClr val="F2F4F7"/>
                    </a:solidFill>
                  </a:tcPr>
                </a:tc>
                <a:tc>
                  <a:txBody>
                    <a:bodyPr wrap="square"/>
                    <a:lstStyle/>
                    <a:p>
                      <a:r>
                        <a:rPr sz="1050" b="0">
                          <a:solidFill>
                            <a:srgbClr val="1A1A1A"/>
                          </a:solidFill>
                          <a:latin typeface="Abadi"/>
                        </a:rPr>
                        <a:t>Line sepsis in fragile infants</a:t>
                      </a:r>
                    </a:p>
                  </a:txBody>
                  <a:tcPr marL="73152" marR="73152" marT="27432" marB="27432" anchor="ctr">
                    <a:solidFill>
                      <a:srgbClr val="F2F4F7"/>
                    </a:solidFill>
                  </a:tcPr>
                </a:tc>
              </a:tr>
              <a:tr h="502920">
                <a:tc>
                  <a:txBody>
                    <a:bodyPr wrap="square"/>
                    <a:lstStyle/>
                    <a:p>
                      <a:r>
                        <a:rPr sz="1050" b="1">
                          <a:solidFill>
                            <a:srgbClr val="1A1A1A"/>
                          </a:solidFill>
                          <a:latin typeface="Abadi"/>
                        </a:rPr>
                        <a:t>Duration</a:t>
                      </a:r>
                    </a:p>
                  </a:txBody>
                  <a:tcPr marL="73152" marR="73152" marT="27432" marB="27432" anchor="ctr">
                    <a:solidFill>
                      <a:srgbClr val="FFFFFF"/>
                    </a:solidFill>
                  </a:tcPr>
                </a:tc>
                <a:tc>
                  <a:txBody>
                    <a:bodyPr wrap="square"/>
                    <a:lstStyle/>
                    <a:p>
                      <a:r>
                        <a:rPr sz="1050" b="0">
                          <a:solidFill>
                            <a:srgbClr val="1A1A1A"/>
                          </a:solidFill>
                          <a:latin typeface="Abadi"/>
                        </a:rPr>
                        <a:t>6–12 months after the Kasai</a:t>
                      </a:r>
                    </a:p>
                  </a:txBody>
                  <a:tcPr marL="73152" marR="73152" marT="27432" marB="27432" anchor="ctr">
                    <a:solidFill>
                      <a:srgbClr val="FFFFFF"/>
                    </a:solidFill>
                  </a:tcPr>
                </a:tc>
                <a:tc>
                  <a:txBody>
                    <a:bodyPr wrap="square"/>
                    <a:lstStyle/>
                    <a:p>
                      <a:r>
                        <a:rPr sz="1050" b="0">
                          <a:solidFill>
                            <a:srgbClr val="1A1A1A"/>
                          </a:solidFill>
                          <a:latin typeface="Abadi"/>
                        </a:rPr>
                        <a:t>Delphi consensus only</a:t>
                      </a:r>
                    </a:p>
                  </a:txBody>
                  <a:tcPr marL="73152" marR="73152" marT="27432" marB="27432" anchor="ctr">
                    <a:solidFill>
                      <a:srgbClr val="FFFFFF"/>
                    </a:solidFill>
                  </a:tcPr>
                </a:tc>
                <a:tc>
                  <a:txBody>
                    <a:bodyPr wrap="square"/>
                    <a:lstStyle/>
                    <a:p>
                      <a:r>
                        <a:rPr sz="1050" b="0">
                          <a:solidFill>
                            <a:srgbClr val="1A1A1A"/>
                          </a:solidFill>
                          <a:latin typeface="Abadi"/>
                        </a:rPr>
                        <a:t>Stop: review at 12 months</a:t>
                      </a:r>
                    </a:p>
                  </a:txBody>
                  <a:tcPr marL="73152" marR="73152" marT="27432" marB="27432" anchor="ctr">
                    <a:solidFill>
                      <a:srgbClr val="FFFFFF"/>
                    </a:solidFill>
                  </a:tcPr>
                </a:tc>
              </a:tr>
            </a:tbl>
          </a:graphicData>
        </a:graphic>
      </p:graphicFrame>
      <p:sp>
        <p:nvSpPr>
          <p:cNvPr id="13" name="TextBox 12"/>
          <p:cNvSpPr txBox="1"/>
          <p:nvPr/>
        </p:nvSpPr>
        <p:spPr>
          <a:xfrm>
            <a:off x="548640" y="5029200"/>
            <a:ext cx="11082528" cy="777240"/>
          </a:xfrm>
          <a:prstGeom prst="rect">
            <a:avLst/>
          </a:prstGeom>
          <a:noFill/>
        </p:spPr>
        <p:txBody>
          <a:bodyPr wrap="square" anchor="t" lIns="36576" rIns="36576" tIns="36576" bIns="36576">
            <a:spAutoFit/>
          </a:bodyPr>
          <a:lstStyle/>
          <a:p>
            <a:pPr algn="l"/>
            <a:r>
              <a:rPr sz="1250" b="1" i="0">
                <a:solidFill>
                  <a:srgbClr val="1B355E"/>
                </a:solidFill>
                <a:latin typeface="Abadi"/>
              </a:rPr>
              <a:t>Practical point.   </a:t>
            </a:r>
            <a:r>
              <a:rPr sz="1250" b="0" i="0">
                <a:solidFill>
                  <a:srgbClr val="1A1A1A"/>
                </a:solidFill>
                <a:latin typeface="Abadi"/>
              </a:rPr>
              <a:t>Choose one agent, write its stop date, and treat breakthrough cholangitis with a different class. Prophylaxis never replaces a blood culture and a full intravenous course when the child is febrile or the stools pale.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anchor="ctr" lIns="0" rIns="0" tIns="0" bIns="0">
            <a:spAutoFit/>
          </a:bodyPr>
          <a:lstStyle/>
          <a:p>
            <a:pPr algn="ctr"/>
            <a:r>
              <a:rPr sz="1500" b="1" i="0">
                <a:solidFill>
                  <a:srgbClr val="FFFFFF"/>
                </a:solidFill>
                <a:latin typeface="Abadi"/>
              </a:rPr>
              <a:t>VI</a:t>
            </a:r>
          </a:p>
        </p:txBody>
      </p:sp>
      <p:sp>
        <p:nvSpPr>
          <p:cNvPr id="4" name="TextBox 3"/>
          <p:cNvSpPr txBox="1"/>
          <p:nvPr/>
        </p:nvSpPr>
        <p:spPr>
          <a:xfrm>
            <a:off x="1380744" y="292608"/>
            <a:ext cx="10232136" cy="347472"/>
          </a:xfrm>
          <a:prstGeom prst="rect">
            <a:avLst/>
          </a:prstGeom>
          <a:noFill/>
        </p:spPr>
        <p:txBody>
          <a:bodyPr wrap="square" anchor="ctr" lIns="36576" rIns="36576" tIns="36576" bIns="36576">
            <a:spAutoFit/>
          </a:bodyPr>
          <a:lstStyle/>
          <a:p>
            <a:pPr algn="l"/>
            <a:r>
              <a:rPr sz="1200" b="1" i="0">
                <a:solidFill>
                  <a:srgbClr val="B22222"/>
                </a:solidFill>
                <a:latin typeface="Abadi"/>
              </a:rPr>
              <a:t>INTRAHEPATIC CYSTS</a:t>
            </a:r>
          </a:p>
        </p:txBody>
      </p:sp>
      <p:sp>
        <p:nvSpPr>
          <p:cNvPr id="5" name="TextBox 4"/>
          <p:cNvSpPr txBox="1"/>
          <p:nvPr/>
        </p:nvSpPr>
        <p:spPr>
          <a:xfrm>
            <a:off x="548640" y="722376"/>
            <a:ext cx="11082528" cy="548640"/>
          </a:xfrm>
          <a:prstGeom prst="rect">
            <a:avLst/>
          </a:prstGeom>
          <a:noFill/>
        </p:spPr>
        <p:txBody>
          <a:bodyPr wrap="square" anchor="ctr" lIns="36576" rIns="36576" tIns="36576" bIns="36576">
            <a:spAutoFit/>
          </a:bodyPr>
          <a:lstStyle/>
          <a:p>
            <a:pPr algn="l"/>
            <a:r>
              <a:rPr sz="3000" b="1" i="0">
                <a:solidFill>
                  <a:srgbClr val="1B355E"/>
                </a:solidFill>
                <a:latin typeface="Abadi"/>
              </a:rPr>
              <a:t>BILE LAKES: CYSTS THAT BREED INFECTION</a:t>
            </a:r>
          </a:p>
        </p:txBody>
      </p:sp>
      <p:sp>
        <p:nvSpPr>
          <p:cNvPr id="6" name="TextBox 5"/>
          <p:cNvSpPr txBox="1"/>
          <p:nvPr/>
        </p:nvSpPr>
        <p:spPr>
          <a:xfrm>
            <a:off x="548640" y="1307592"/>
            <a:ext cx="11082528" cy="265176"/>
          </a:xfrm>
          <a:prstGeom prst="rect">
            <a:avLst/>
          </a:prstGeom>
          <a:noFill/>
        </p:spPr>
        <p:txBody>
          <a:bodyPr wrap="square" anchor="t" lIns="36576" rIns="36576" tIns="36576" bIns="36576">
            <a:spAutoFit/>
          </a:bodyPr>
          <a:lstStyle/>
          <a:p>
            <a:pPr algn="l"/>
            <a:r>
              <a:rPr sz="1300" b="0" i="0">
                <a:solidFill>
                  <a:srgbClr val="555555"/>
                </a:solidFill>
                <a:latin typeface="Abadi"/>
              </a:rPr>
              <a:t>Cystic dilatation of the intrahepatic bile ducts after the Kasai: how common, and what it means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anchor="t" lIns="36576" rIns="36576" tIns="36576" bIns="36576">
            <a:spAutoFit/>
          </a:bodyPr>
          <a:lstStyle/>
          <a:p>
            <a:pPr algn="r"/>
            <a:r>
              <a:rPr sz="1200" b="0" i="0">
                <a:solidFill>
                  <a:srgbClr val="555555"/>
                </a:solidFill>
                <a:latin typeface="Abadi"/>
              </a:rPr>
              <a:t>16</a:t>
            </a:r>
          </a:p>
        </p:txBody>
      </p:sp>
      <p:sp>
        <p:nvSpPr>
          <p:cNvPr id="11" name="TextBox 10"/>
          <p:cNvSpPr txBox="1"/>
          <p:nvPr/>
        </p:nvSpPr>
        <p:spPr>
          <a:xfrm>
            <a:off x="548640" y="5971032"/>
            <a:ext cx="10287000" cy="457200"/>
          </a:xfrm>
          <a:prstGeom prst="rect">
            <a:avLst/>
          </a:prstGeom>
          <a:noFill/>
        </p:spPr>
        <p:txBody>
          <a:bodyPr wrap="square" anchor="t" lIns="36576" rIns="36576" tIns="36576" bIns="36576">
            <a:spAutoFit/>
          </a:bodyPr>
          <a:lstStyle/>
          <a:p>
            <a:pPr algn="l"/>
            <a:r>
              <a:rPr sz="1000" b="0" i="0">
                <a:solidFill>
                  <a:srgbClr val="7F7F7F"/>
                </a:solidFill>
                <a:latin typeface="Abadi"/>
              </a:rPr>
              <a:t>Bu LN, et al. J Pediatr Surg 2002;37:1183–7 · J Pediatr Surg 2019 series of 787 infants · Gohda Y, et al. Pediatr Surg Int 2024;40:197 · Tainaka T, et al. Pediatr Surg Int 2008;24:265–9</a:t>
            </a:r>
          </a:p>
        </p:txBody>
      </p:sp>
      <p:sp>
        <p:nvSpPr>
          <p:cNvPr id="12" name="Rectangle 11"/>
          <p:cNvSpPr/>
          <p:nvPr/>
        </p:nvSpPr>
        <p:spPr>
          <a:xfrm>
            <a:off x="548640" y="1773936"/>
            <a:ext cx="2070201" cy="233172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777593" cy="548640"/>
          </a:xfrm>
          <a:prstGeom prst="rect">
            <a:avLst/>
          </a:prstGeom>
          <a:noFill/>
        </p:spPr>
        <p:txBody>
          <a:bodyPr wrap="square" anchor="t" lIns="36576" rIns="36576" tIns="36576" bIns="36576">
            <a:spAutoFit/>
          </a:bodyPr>
          <a:lstStyle/>
          <a:p>
            <a:pPr algn="l"/>
            <a:r>
              <a:rPr sz="2000" b="1" i="0">
                <a:solidFill>
                  <a:srgbClr val="1B355E"/>
                </a:solidFill>
                <a:latin typeface="Abadi"/>
              </a:rPr>
              <a:t>6–26%</a:t>
            </a:r>
          </a:p>
        </p:txBody>
      </p:sp>
      <p:sp>
        <p:nvSpPr>
          <p:cNvPr id="15" name="TextBox 14"/>
          <p:cNvSpPr txBox="1"/>
          <p:nvPr/>
        </p:nvSpPr>
        <p:spPr>
          <a:xfrm>
            <a:off x="694944"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Reported incidence after the Kasai; higher with long follow-up and routine imaging.</a:t>
            </a:r>
          </a:p>
        </p:txBody>
      </p:sp>
      <p:sp>
        <p:nvSpPr>
          <p:cNvPr id="16" name="Rectangle 15"/>
          <p:cNvSpPr/>
          <p:nvPr/>
        </p:nvSpPr>
        <p:spPr>
          <a:xfrm>
            <a:off x="2801721" y="1773936"/>
            <a:ext cx="2070201" cy="233172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025" y="1956816"/>
            <a:ext cx="1777593" cy="548640"/>
          </a:xfrm>
          <a:prstGeom prst="rect">
            <a:avLst/>
          </a:prstGeom>
          <a:noFill/>
        </p:spPr>
        <p:txBody>
          <a:bodyPr wrap="square" anchor="t" lIns="36576" rIns="36576" tIns="36576" bIns="36576">
            <a:spAutoFit/>
          </a:bodyPr>
          <a:lstStyle/>
          <a:p>
            <a:pPr algn="l"/>
            <a:r>
              <a:rPr sz="2000" b="1" i="0">
                <a:solidFill>
                  <a:srgbClr val="D97A0B"/>
                </a:solidFill>
                <a:latin typeface="Abadi"/>
              </a:rPr>
              <a:t>25%</a:t>
            </a:r>
          </a:p>
        </p:txBody>
      </p:sp>
      <p:sp>
        <p:nvSpPr>
          <p:cNvPr id="19" name="TextBox 18"/>
          <p:cNvSpPr txBox="1"/>
          <p:nvPr/>
        </p:nvSpPr>
        <p:spPr>
          <a:xfrm>
            <a:off x="2948025"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Taiwan 2002, 154 infants: any cyst 25.3%, multiple cysts 10.4%.</a:t>
            </a:r>
          </a:p>
        </p:txBody>
      </p:sp>
      <p:sp>
        <p:nvSpPr>
          <p:cNvPr id="20" name="Rectangle 19"/>
          <p:cNvSpPr/>
          <p:nvPr/>
        </p:nvSpPr>
        <p:spPr>
          <a:xfrm>
            <a:off x="5054803" y="1773936"/>
            <a:ext cx="2070201" cy="233172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1107" y="1956816"/>
            <a:ext cx="1777593" cy="548640"/>
          </a:xfrm>
          <a:prstGeom prst="rect">
            <a:avLst/>
          </a:prstGeom>
          <a:noFill/>
        </p:spPr>
        <p:txBody>
          <a:bodyPr wrap="square" anchor="t" lIns="36576" rIns="36576" tIns="36576" bIns="36576">
            <a:spAutoFit/>
          </a:bodyPr>
          <a:lstStyle/>
          <a:p>
            <a:pPr algn="l"/>
            <a:r>
              <a:rPr sz="2000" b="1" i="0">
                <a:solidFill>
                  <a:srgbClr val="B22222"/>
                </a:solidFill>
                <a:latin typeface="Abadi"/>
              </a:rPr>
              <a:t>94%</a:t>
            </a:r>
          </a:p>
        </p:txBody>
      </p:sp>
      <p:sp>
        <p:nvSpPr>
          <p:cNvPr id="23" name="TextBox 22"/>
          <p:cNvSpPr txBox="1"/>
          <p:nvPr/>
        </p:nvSpPr>
        <p:spPr>
          <a:xfrm>
            <a:off x="5201107"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Of infants with multiple cysts, 93.8% had previous cholangitis; mortality higher than with single cysts (P = .037).</a:t>
            </a:r>
          </a:p>
        </p:txBody>
      </p:sp>
      <p:sp>
        <p:nvSpPr>
          <p:cNvPr id="24" name="Rectangle 23"/>
          <p:cNvSpPr/>
          <p:nvPr/>
        </p:nvSpPr>
        <p:spPr>
          <a:xfrm>
            <a:off x="7307884" y="1773936"/>
            <a:ext cx="2070201" cy="233172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4188" y="1956816"/>
            <a:ext cx="1777593" cy="548640"/>
          </a:xfrm>
          <a:prstGeom prst="rect">
            <a:avLst/>
          </a:prstGeom>
          <a:noFill/>
        </p:spPr>
        <p:txBody>
          <a:bodyPr wrap="square" anchor="t" lIns="36576" rIns="36576" tIns="36576" bIns="36576">
            <a:spAutoFit/>
          </a:bodyPr>
          <a:lstStyle/>
          <a:p>
            <a:pPr algn="l"/>
            <a:r>
              <a:rPr sz="2000" b="1" i="0">
                <a:solidFill>
                  <a:srgbClr val="B22222"/>
                </a:solidFill>
                <a:latin typeface="Abadi"/>
              </a:rPr>
              <a:t>60% vs 87%</a:t>
            </a:r>
          </a:p>
        </p:txBody>
      </p:sp>
      <p:sp>
        <p:nvSpPr>
          <p:cNvPr id="27" name="TextBox 26"/>
          <p:cNvSpPr txBox="1"/>
          <p:nvPr/>
        </p:nvSpPr>
        <p:spPr>
          <a:xfrm>
            <a:off x="7454188"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China 2019, 787 infants, cysts in 9.7%: 2-year native-liver survival with vs without cholangitis.</a:t>
            </a:r>
          </a:p>
        </p:txBody>
      </p:sp>
      <p:sp>
        <p:nvSpPr>
          <p:cNvPr id="28" name="Rectangle 27"/>
          <p:cNvSpPr/>
          <p:nvPr/>
        </p:nvSpPr>
        <p:spPr>
          <a:xfrm>
            <a:off x="9560966" y="1773936"/>
            <a:ext cx="2070201" cy="233172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270" y="1956816"/>
            <a:ext cx="1777593" cy="548640"/>
          </a:xfrm>
          <a:prstGeom prst="rect">
            <a:avLst/>
          </a:prstGeom>
          <a:noFill/>
        </p:spPr>
        <p:txBody>
          <a:bodyPr wrap="square" anchor="t" lIns="36576" rIns="36576" tIns="36576" bIns="36576">
            <a:spAutoFit/>
          </a:bodyPr>
          <a:lstStyle/>
          <a:p>
            <a:pPr algn="l"/>
            <a:r>
              <a:rPr sz="2000" b="1" i="0">
                <a:solidFill>
                  <a:srgbClr val="1E7A33"/>
                </a:solidFill>
                <a:latin typeface="Abadi"/>
              </a:rPr>
              <a:t>Score</a:t>
            </a:r>
          </a:p>
        </p:txBody>
      </p:sp>
      <p:sp>
        <p:nvSpPr>
          <p:cNvPr id="31" name="TextBox 30"/>
          <p:cNvSpPr txBox="1"/>
          <p:nvPr/>
        </p:nvSpPr>
        <p:spPr>
          <a:xfrm>
            <a:off x="9707270"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Japan 2024: bile-lake score plus bile acids predicted later transplant; area under the curve 0.83.</a:t>
            </a:r>
          </a:p>
        </p:txBody>
      </p:sp>
      <p:sp>
        <p:nvSpPr>
          <p:cNvPr id="32" name="TextBox 31"/>
          <p:cNvSpPr txBox="1"/>
          <p:nvPr/>
        </p:nvSpPr>
        <p:spPr>
          <a:xfrm>
            <a:off x="548640" y="4297680"/>
            <a:ext cx="11082528" cy="1463040"/>
          </a:xfrm>
          <a:prstGeom prst="rect">
            <a:avLst/>
          </a:prstGeom>
          <a:noFill/>
        </p:spPr>
        <p:txBody>
          <a:bodyPr wrap="square" anchor="t" lIns="36576" rIns="36576" tIns="36576" bIns="36576">
            <a:spAutoFit/>
          </a:bodyPr>
          <a:lstStyle/>
          <a:p>
            <a:pPr algn="l"/>
            <a:r>
              <a:rPr sz="1250" b="1" i="0">
                <a:solidFill>
                  <a:srgbClr val="1B355E"/>
                </a:solidFill>
                <a:latin typeface="Abadi"/>
              </a:rPr>
              <a:t>Two kinds.   </a:t>
            </a:r>
            <a:r>
              <a:rPr sz="1250" b="0" i="0">
                <a:solidFill>
                  <a:srgbClr val="1A1A1A"/>
                </a:solidFill>
                <a:latin typeface="Abadi"/>
              </a:rPr>
              <a:t>A single simple lesion is usually a pseudocyst without biliary epithelium, an extravasated collection near the porta, and can often be drained. Multiple or complex dilatations of true ducts reflect diffuse obstruction and fibrosis, recur, and carry the worse prognosis. A biloma, by contrast, is a collection outside the ducts after a leak; it is drained like any other, and there are no atresia-specific series.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anchor="ctr" lIns="0" rIns="0" tIns="0" bIns="0">
            <a:spAutoFit/>
          </a:bodyPr>
          <a:lstStyle/>
          <a:p>
            <a:pPr algn="ctr"/>
            <a:r>
              <a:rPr sz="1500" b="1" i="0">
                <a:solidFill>
                  <a:srgbClr val="FFFFFF"/>
                </a:solidFill>
                <a:latin typeface="Abadi"/>
              </a:rPr>
              <a:t>VI</a:t>
            </a:r>
          </a:p>
        </p:txBody>
      </p:sp>
      <p:sp>
        <p:nvSpPr>
          <p:cNvPr id="4" name="TextBox 3"/>
          <p:cNvSpPr txBox="1"/>
          <p:nvPr/>
        </p:nvSpPr>
        <p:spPr>
          <a:xfrm>
            <a:off x="1380744" y="292608"/>
            <a:ext cx="10232136" cy="347472"/>
          </a:xfrm>
          <a:prstGeom prst="rect">
            <a:avLst/>
          </a:prstGeom>
          <a:noFill/>
        </p:spPr>
        <p:txBody>
          <a:bodyPr wrap="square" anchor="ctr" lIns="36576" rIns="36576" tIns="36576" bIns="36576">
            <a:spAutoFit/>
          </a:bodyPr>
          <a:lstStyle/>
          <a:p>
            <a:pPr algn="l"/>
            <a:r>
              <a:rPr sz="1200" b="1" i="0">
                <a:solidFill>
                  <a:srgbClr val="B22222"/>
                </a:solidFill>
                <a:latin typeface="Abadi"/>
              </a:rPr>
              <a:t>MANAGEMENT</a:t>
            </a:r>
          </a:p>
        </p:txBody>
      </p:sp>
      <p:sp>
        <p:nvSpPr>
          <p:cNvPr id="5" name="TextBox 4"/>
          <p:cNvSpPr txBox="1"/>
          <p:nvPr/>
        </p:nvSpPr>
        <p:spPr>
          <a:xfrm>
            <a:off x="548640" y="722376"/>
            <a:ext cx="11082528" cy="548640"/>
          </a:xfrm>
          <a:prstGeom prst="rect">
            <a:avLst/>
          </a:prstGeom>
          <a:noFill/>
        </p:spPr>
        <p:txBody>
          <a:bodyPr wrap="square" anchor="ctr" lIns="36576" rIns="36576" tIns="36576" bIns="36576">
            <a:spAutoFit/>
          </a:bodyPr>
          <a:lstStyle/>
          <a:p>
            <a:pPr algn="l"/>
            <a:r>
              <a:rPr sz="3000" b="1" i="0">
                <a:solidFill>
                  <a:srgbClr val="1B355E"/>
                </a:solidFill>
                <a:latin typeface="Abadi"/>
              </a:rPr>
              <a:t>FROM ANTIBIOTICS TO TRANSPLANT</a:t>
            </a:r>
          </a:p>
        </p:txBody>
      </p:sp>
      <p:sp>
        <p:nvSpPr>
          <p:cNvPr id="6" name="TextBox 5"/>
          <p:cNvSpPr txBox="1"/>
          <p:nvPr/>
        </p:nvSpPr>
        <p:spPr>
          <a:xfrm>
            <a:off x="548640" y="1307592"/>
            <a:ext cx="11082528" cy="265176"/>
          </a:xfrm>
          <a:prstGeom prst="rect">
            <a:avLst/>
          </a:prstGeom>
          <a:noFill/>
        </p:spPr>
        <p:txBody>
          <a:bodyPr wrap="square" anchor="t" lIns="36576" rIns="36576" tIns="36576" bIns="36576">
            <a:spAutoFit/>
          </a:bodyPr>
          <a:lstStyle/>
          <a:p>
            <a:pPr algn="l"/>
            <a:r>
              <a:rPr sz="1300" b="0" i="0">
                <a:solidFill>
                  <a:srgbClr val="555555"/>
                </a:solidFill>
                <a:latin typeface="Abadi"/>
              </a:rPr>
              <a:t>A stepwise approach to bile lakes with cholangitis, from small series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anchor="t" lIns="36576" rIns="36576" tIns="36576" bIns="36576">
            <a:spAutoFit/>
          </a:bodyPr>
          <a:lstStyle/>
          <a:p>
            <a:pPr algn="r"/>
            <a:r>
              <a:rPr sz="1200" b="0" i="0">
                <a:solidFill>
                  <a:srgbClr val="555555"/>
                </a:solidFill>
                <a:latin typeface="Abadi"/>
              </a:rPr>
              <a:t>17</a:t>
            </a:r>
          </a:p>
        </p:txBody>
      </p:sp>
      <p:sp>
        <p:nvSpPr>
          <p:cNvPr id="11" name="TextBox 10"/>
          <p:cNvSpPr txBox="1"/>
          <p:nvPr/>
        </p:nvSpPr>
        <p:spPr>
          <a:xfrm>
            <a:off x="548640" y="5971032"/>
            <a:ext cx="10287000" cy="457200"/>
          </a:xfrm>
          <a:prstGeom prst="rect">
            <a:avLst/>
          </a:prstGeom>
          <a:noFill/>
        </p:spPr>
        <p:txBody>
          <a:bodyPr wrap="square" anchor="t" lIns="36576" rIns="36576" tIns="36576" bIns="36576">
            <a:spAutoFit/>
          </a:bodyPr>
          <a:lstStyle/>
          <a:p>
            <a:pPr algn="l"/>
            <a:r>
              <a:rPr sz="1000" b="0" i="0">
                <a:solidFill>
                  <a:srgbClr val="7F7F7F"/>
                </a:solidFill>
                <a:latin typeface="Abadi"/>
              </a:rPr>
              <a:t>Bu 2002 · Ginström DA, et al. JPGN 2019;69:488–94 · Pediatr Surg Int 2024 (doi:10.1007/s00383-024-05857-z) · Sáez J, et al. Rev Chil Pediatr 2017;88:629–34</a:t>
            </a:r>
          </a:p>
        </p:txBody>
      </p:sp>
      <p:sp>
        <p:nvSpPr>
          <p:cNvPr id="12" name="Rectangle 11"/>
          <p:cNvSpPr/>
          <p:nvPr/>
        </p:nvSpPr>
        <p:spPr>
          <a:xfrm>
            <a:off x="548640" y="1773936"/>
            <a:ext cx="1982419" cy="41148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1773936"/>
            <a:ext cx="1836115" cy="411480"/>
          </a:xfrm>
          <a:prstGeom prst="rect">
            <a:avLst/>
          </a:prstGeom>
          <a:noFill/>
        </p:spPr>
        <p:txBody>
          <a:bodyPr wrap="square" anchor="ctr" lIns="36576" rIns="36576" tIns="36576" bIns="36576">
            <a:spAutoFit/>
          </a:bodyPr>
          <a:lstStyle/>
          <a:p>
            <a:pPr algn="l"/>
            <a:r>
              <a:rPr sz="1150" b="1" i="0">
                <a:solidFill>
                  <a:srgbClr val="FFFFFF"/>
                </a:solidFill>
                <a:latin typeface="Abadi"/>
              </a:rPr>
              <a:t>Recognise</a:t>
            </a:r>
          </a:p>
        </p:txBody>
      </p:sp>
      <p:sp>
        <p:nvSpPr>
          <p:cNvPr id="14" name="Rectangle 13"/>
          <p:cNvSpPr/>
          <p:nvPr/>
        </p:nvSpPr>
        <p:spPr>
          <a:xfrm>
            <a:off x="548640" y="2185416"/>
            <a:ext cx="1982419" cy="1691639"/>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276856"/>
            <a:ext cx="1799539" cy="1554480"/>
          </a:xfrm>
          <a:prstGeom prst="rect">
            <a:avLst/>
          </a:prstGeom>
          <a:noFill/>
        </p:spPr>
        <p:txBody>
          <a:bodyPr wrap="square" anchor="t" lIns="36576" rIns="36576" tIns="36576" bIns="36576">
            <a:spAutoFit/>
          </a:bodyPr>
          <a:lstStyle/>
          <a:p>
            <a:pPr algn="l"/>
            <a:r>
              <a:rPr sz="1100" b="0" i="0">
                <a:solidFill>
                  <a:srgbClr val="1A1A1A"/>
                </a:solidFill>
                <a:latin typeface="Abadi"/>
              </a:rPr>
              <a:t>Ultrasound at every episode and at follow-up; anechoic lakes near the porta or throughout the liver.</a:t>
            </a:r>
          </a:p>
        </p:txBody>
      </p:sp>
      <p:sp>
        <p:nvSpPr>
          <p:cNvPr id="16" name="TextBox 15"/>
          <p:cNvSpPr txBox="1"/>
          <p:nvPr/>
        </p:nvSpPr>
        <p:spPr>
          <a:xfrm>
            <a:off x="2531059" y="2642615"/>
            <a:ext cx="292608" cy="365760"/>
          </a:xfrm>
          <a:prstGeom prst="rect">
            <a:avLst/>
          </a:prstGeom>
          <a:noFill/>
        </p:spPr>
        <p:txBody>
          <a:bodyPr wrap="square" anchor="ctr" lIns="0" rIns="0" tIns="0" bIns="0">
            <a:spAutoFit/>
          </a:bodyPr>
          <a:lstStyle/>
          <a:p>
            <a:pPr algn="ctr"/>
            <a:r>
              <a:rPr sz="1200" b="0" i="0">
                <a:solidFill>
                  <a:srgbClr val="8A939B"/>
                </a:solidFill>
                <a:latin typeface="Abadi"/>
              </a:rPr>
              <a:t>▶</a:t>
            </a:r>
          </a:p>
        </p:txBody>
      </p:sp>
      <p:sp>
        <p:nvSpPr>
          <p:cNvPr id="17" name="Rectangle 16"/>
          <p:cNvSpPr/>
          <p:nvPr/>
        </p:nvSpPr>
        <p:spPr>
          <a:xfrm>
            <a:off x="2823667" y="1773936"/>
            <a:ext cx="1982419" cy="41148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96819" y="1773936"/>
            <a:ext cx="1836115" cy="411480"/>
          </a:xfrm>
          <a:prstGeom prst="rect">
            <a:avLst/>
          </a:prstGeom>
          <a:noFill/>
        </p:spPr>
        <p:txBody>
          <a:bodyPr wrap="square" anchor="ctr" lIns="36576" rIns="36576" tIns="36576" bIns="36576">
            <a:spAutoFit/>
          </a:bodyPr>
          <a:lstStyle/>
          <a:p>
            <a:pPr algn="l"/>
            <a:r>
              <a:rPr sz="1150" b="1" i="0">
                <a:solidFill>
                  <a:srgbClr val="FFFFFF"/>
                </a:solidFill>
                <a:latin typeface="Abadi"/>
              </a:rPr>
              <a:t>Antibiotics</a:t>
            </a:r>
          </a:p>
        </p:txBody>
      </p:sp>
      <p:sp>
        <p:nvSpPr>
          <p:cNvPr id="19" name="Rectangle 18"/>
          <p:cNvSpPr/>
          <p:nvPr/>
        </p:nvSpPr>
        <p:spPr>
          <a:xfrm>
            <a:off x="2823667" y="2185416"/>
            <a:ext cx="1982419" cy="1691639"/>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15107" y="2276856"/>
            <a:ext cx="1799539" cy="1554480"/>
          </a:xfrm>
          <a:prstGeom prst="rect">
            <a:avLst/>
          </a:prstGeom>
          <a:noFill/>
        </p:spPr>
        <p:txBody>
          <a:bodyPr wrap="square" anchor="t" lIns="36576" rIns="36576" tIns="36576" bIns="36576">
            <a:spAutoFit/>
          </a:bodyPr>
          <a:lstStyle/>
          <a:p>
            <a:pPr algn="l"/>
            <a:r>
              <a:rPr sz="1100" b="0" i="0">
                <a:solidFill>
                  <a:srgbClr val="1A1A1A"/>
                </a:solidFill>
                <a:latin typeface="Abadi"/>
              </a:rPr>
              <a:t>Prolonged intravenous course; the lake is a closed, infected space.</a:t>
            </a:r>
          </a:p>
        </p:txBody>
      </p:sp>
      <p:sp>
        <p:nvSpPr>
          <p:cNvPr id="21" name="TextBox 20"/>
          <p:cNvSpPr txBox="1"/>
          <p:nvPr/>
        </p:nvSpPr>
        <p:spPr>
          <a:xfrm>
            <a:off x="4806086" y="2642615"/>
            <a:ext cx="292608" cy="365760"/>
          </a:xfrm>
          <a:prstGeom prst="rect">
            <a:avLst/>
          </a:prstGeom>
          <a:noFill/>
        </p:spPr>
        <p:txBody>
          <a:bodyPr wrap="square" anchor="ctr" lIns="0" rIns="0" tIns="0" bIns="0">
            <a:spAutoFit/>
          </a:bodyPr>
          <a:lstStyle/>
          <a:p>
            <a:pPr algn="ctr"/>
            <a:r>
              <a:rPr sz="1200" b="0" i="0">
                <a:solidFill>
                  <a:srgbClr val="8A939B"/>
                </a:solidFill>
                <a:latin typeface="Abadi"/>
              </a:rPr>
              <a:t>▶</a:t>
            </a:r>
          </a:p>
        </p:txBody>
      </p:sp>
      <p:sp>
        <p:nvSpPr>
          <p:cNvPr id="22" name="Rectangle 21"/>
          <p:cNvSpPr/>
          <p:nvPr/>
        </p:nvSpPr>
        <p:spPr>
          <a:xfrm>
            <a:off x="5098694" y="1773936"/>
            <a:ext cx="1982419" cy="41148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71846" y="1773936"/>
            <a:ext cx="1836115" cy="411480"/>
          </a:xfrm>
          <a:prstGeom prst="rect">
            <a:avLst/>
          </a:prstGeom>
          <a:noFill/>
        </p:spPr>
        <p:txBody>
          <a:bodyPr wrap="square" anchor="ctr" lIns="36576" rIns="36576" tIns="36576" bIns="36576">
            <a:spAutoFit/>
          </a:bodyPr>
          <a:lstStyle/>
          <a:p>
            <a:pPr algn="l"/>
            <a:r>
              <a:rPr sz="1150" b="1" i="0">
                <a:solidFill>
                  <a:srgbClr val="FFFFFF"/>
                </a:solidFill>
                <a:latin typeface="Abadi"/>
              </a:rPr>
              <a:t>Percutaneous drain</a:t>
            </a:r>
          </a:p>
        </p:txBody>
      </p:sp>
      <p:sp>
        <p:nvSpPr>
          <p:cNvPr id="24" name="Rectangle 23"/>
          <p:cNvSpPr/>
          <p:nvPr/>
        </p:nvSpPr>
        <p:spPr>
          <a:xfrm>
            <a:off x="5098694" y="2185416"/>
            <a:ext cx="1982419" cy="1691639"/>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90134" y="2276856"/>
            <a:ext cx="1799539" cy="1554480"/>
          </a:xfrm>
          <a:prstGeom prst="rect">
            <a:avLst/>
          </a:prstGeom>
          <a:noFill/>
        </p:spPr>
        <p:txBody>
          <a:bodyPr wrap="square" anchor="t" lIns="36576" rIns="36576" tIns="36576" bIns="36576">
            <a:spAutoFit/>
          </a:bodyPr>
          <a:lstStyle/>
          <a:p>
            <a:pPr algn="l"/>
            <a:r>
              <a:rPr sz="1100" b="0" i="0">
                <a:solidFill>
                  <a:srgbClr val="1A1A1A"/>
                </a:solidFill>
                <a:latin typeface="Abadi"/>
              </a:rPr>
              <a:t>Single lake: drainage resolved 6 of 7, but biliary peritonitis in 3 of 7.</a:t>
            </a:r>
          </a:p>
        </p:txBody>
      </p:sp>
      <p:sp>
        <p:nvSpPr>
          <p:cNvPr id="26" name="TextBox 25"/>
          <p:cNvSpPr txBox="1"/>
          <p:nvPr/>
        </p:nvSpPr>
        <p:spPr>
          <a:xfrm>
            <a:off x="7081113" y="2642615"/>
            <a:ext cx="292608" cy="365760"/>
          </a:xfrm>
          <a:prstGeom prst="rect">
            <a:avLst/>
          </a:prstGeom>
          <a:noFill/>
        </p:spPr>
        <p:txBody>
          <a:bodyPr wrap="square" anchor="ctr" lIns="0" rIns="0" tIns="0" bIns="0">
            <a:spAutoFit/>
          </a:bodyPr>
          <a:lstStyle/>
          <a:p>
            <a:pPr algn="ctr"/>
            <a:r>
              <a:rPr sz="1200" b="0" i="0">
                <a:solidFill>
                  <a:srgbClr val="8A939B"/>
                </a:solidFill>
                <a:latin typeface="Abadi"/>
              </a:rPr>
              <a:t>▶</a:t>
            </a:r>
          </a:p>
        </p:txBody>
      </p:sp>
      <p:sp>
        <p:nvSpPr>
          <p:cNvPr id="27" name="Rectangle 26"/>
          <p:cNvSpPr/>
          <p:nvPr/>
        </p:nvSpPr>
        <p:spPr>
          <a:xfrm>
            <a:off x="7373721" y="1773936"/>
            <a:ext cx="1982419" cy="411480"/>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46873" y="1773936"/>
            <a:ext cx="1836115" cy="411480"/>
          </a:xfrm>
          <a:prstGeom prst="rect">
            <a:avLst/>
          </a:prstGeom>
          <a:noFill/>
        </p:spPr>
        <p:txBody>
          <a:bodyPr wrap="square" anchor="ctr" lIns="36576" rIns="36576" tIns="36576" bIns="36576">
            <a:spAutoFit/>
          </a:bodyPr>
          <a:lstStyle/>
          <a:p>
            <a:pPr algn="l"/>
            <a:r>
              <a:rPr sz="1150" b="1" i="0">
                <a:solidFill>
                  <a:srgbClr val="FFFFFF"/>
                </a:solidFill>
                <a:latin typeface="Abadi"/>
              </a:rPr>
              <a:t>Bile-lake jejunostomy</a:t>
            </a:r>
          </a:p>
        </p:txBody>
      </p:sp>
      <p:sp>
        <p:nvSpPr>
          <p:cNvPr id="29" name="Rectangle 28"/>
          <p:cNvSpPr/>
          <p:nvPr/>
        </p:nvSpPr>
        <p:spPr>
          <a:xfrm>
            <a:off x="7373721" y="2185416"/>
            <a:ext cx="1982419" cy="1691639"/>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65161" y="2276856"/>
            <a:ext cx="1799539" cy="1554480"/>
          </a:xfrm>
          <a:prstGeom prst="rect">
            <a:avLst/>
          </a:prstGeom>
          <a:noFill/>
        </p:spPr>
        <p:txBody>
          <a:bodyPr wrap="square" anchor="t" lIns="36576" rIns="36576" tIns="36576" bIns="36576">
            <a:spAutoFit/>
          </a:bodyPr>
          <a:lstStyle/>
          <a:p>
            <a:pPr algn="l"/>
            <a:r>
              <a:rPr sz="1100" b="0" i="0">
                <a:solidFill>
                  <a:srgbClr val="1A1A1A"/>
                </a:solidFill>
                <a:latin typeface="Abadi"/>
              </a:rPr>
              <a:t>Finland: regression in all 6; cholangitis fell from 8.8 to 1.1 episodes a year.</a:t>
            </a:r>
          </a:p>
        </p:txBody>
      </p:sp>
      <p:sp>
        <p:nvSpPr>
          <p:cNvPr id="31" name="TextBox 30"/>
          <p:cNvSpPr txBox="1"/>
          <p:nvPr/>
        </p:nvSpPr>
        <p:spPr>
          <a:xfrm>
            <a:off x="9356140" y="2642615"/>
            <a:ext cx="292608" cy="365760"/>
          </a:xfrm>
          <a:prstGeom prst="rect">
            <a:avLst/>
          </a:prstGeom>
          <a:noFill/>
        </p:spPr>
        <p:txBody>
          <a:bodyPr wrap="square" anchor="ctr" lIns="0" rIns="0" tIns="0" bIns="0">
            <a:spAutoFit/>
          </a:bodyPr>
          <a:lstStyle/>
          <a:p>
            <a:pPr algn="ctr"/>
            <a:r>
              <a:rPr sz="1200" b="0" i="0">
                <a:solidFill>
                  <a:srgbClr val="8A939B"/>
                </a:solidFill>
                <a:latin typeface="Abadi"/>
              </a:rPr>
              <a:t>▶</a:t>
            </a:r>
          </a:p>
        </p:txBody>
      </p:sp>
      <p:sp>
        <p:nvSpPr>
          <p:cNvPr id="32" name="Rectangle 31"/>
          <p:cNvSpPr/>
          <p:nvPr/>
        </p:nvSpPr>
        <p:spPr>
          <a:xfrm>
            <a:off x="9648748" y="1773936"/>
            <a:ext cx="1982419" cy="41148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21900" y="1773936"/>
            <a:ext cx="1836115" cy="411480"/>
          </a:xfrm>
          <a:prstGeom prst="rect">
            <a:avLst/>
          </a:prstGeom>
          <a:noFill/>
        </p:spPr>
        <p:txBody>
          <a:bodyPr wrap="square" anchor="ctr" lIns="36576" rIns="36576" tIns="36576" bIns="36576">
            <a:spAutoFit/>
          </a:bodyPr>
          <a:lstStyle/>
          <a:p>
            <a:pPr algn="l"/>
            <a:r>
              <a:rPr sz="1150" b="1" i="0">
                <a:solidFill>
                  <a:srgbClr val="FFFFFF"/>
                </a:solidFill>
                <a:latin typeface="Abadi"/>
              </a:rPr>
              <a:t>Transplant</a:t>
            </a:r>
          </a:p>
        </p:txBody>
      </p:sp>
      <p:sp>
        <p:nvSpPr>
          <p:cNvPr id="34" name="Rectangle 33"/>
          <p:cNvSpPr/>
          <p:nvPr/>
        </p:nvSpPr>
        <p:spPr>
          <a:xfrm>
            <a:off x="9648748" y="2185416"/>
            <a:ext cx="1982419" cy="1691639"/>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40188" y="2276856"/>
            <a:ext cx="1799539" cy="1554480"/>
          </a:xfrm>
          <a:prstGeom prst="rect">
            <a:avLst/>
          </a:prstGeom>
          <a:noFill/>
        </p:spPr>
        <p:txBody>
          <a:bodyPr wrap="square" anchor="t" lIns="36576" rIns="36576" tIns="36576" bIns="36576">
            <a:spAutoFit/>
          </a:bodyPr>
          <a:lstStyle/>
          <a:p>
            <a:pPr algn="l"/>
            <a:r>
              <a:rPr sz="1100" b="0" i="0">
                <a:solidFill>
                  <a:srgbClr val="1A1A1A"/>
                </a:solidFill>
                <a:latin typeface="Abadi"/>
              </a:rPr>
              <a:t>Multiple lakes with recurrent cholangitis or failing drainage: assess for transplant.</a:t>
            </a:r>
          </a:p>
        </p:txBody>
      </p:sp>
      <p:sp>
        <p:nvSpPr>
          <p:cNvPr id="36" name="TextBox 35"/>
          <p:cNvSpPr txBox="1"/>
          <p:nvPr/>
        </p:nvSpPr>
        <p:spPr>
          <a:xfrm>
            <a:off x="548640" y="4069080"/>
            <a:ext cx="11082528" cy="1691640"/>
          </a:xfrm>
          <a:prstGeom prst="rect">
            <a:avLst/>
          </a:prstGeom>
          <a:noFill/>
        </p:spPr>
        <p:txBody>
          <a:bodyPr wrap="square" anchor="t" lIns="36576" rIns="36576" tIns="36576" bIns="36576">
            <a:spAutoFit/>
          </a:bodyPr>
          <a:lstStyle/>
          <a:p>
            <a:pPr algn="l"/>
            <a:r>
              <a:rPr sz="1250" b="1" i="0">
                <a:solidFill>
                  <a:srgbClr val="1B355E"/>
                </a:solidFill>
                <a:latin typeface="Abadi"/>
              </a:rPr>
              <a:t>Caution.   </a:t>
            </a:r>
            <a:r>
              <a:rPr sz="1250" b="0" i="0">
                <a:solidFill>
                  <a:srgbClr val="1A1A1A"/>
                </a:solidFill>
                <a:latin typeface="Abadi"/>
              </a:rPr>
              <a:t>Drainage works mainly for single cysts; in a Chilean series cholangitis-free time with lakes was 1.6 months versus 27.3 months without. Two Finnish children treated earlier with percutaneous drainage alone died. These are tiny series, so management is individual and belongs to a centre that does both hepatobiliary surgery and transplant.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anchor="ctr" lIns="0" rIns="0" tIns="0" bIns="0">
            <a:spAutoFit/>
          </a:bodyPr>
          <a:lstStyle/>
          <a:p>
            <a:pPr algn="ctr"/>
            <a:r>
              <a:rPr sz="1500" b="1" i="0">
                <a:solidFill>
                  <a:srgbClr val="FFFFFF"/>
                </a:solidFill>
                <a:latin typeface="Abadi"/>
              </a:rPr>
              <a:t>VII</a:t>
            </a:r>
          </a:p>
        </p:txBody>
      </p:sp>
      <p:sp>
        <p:nvSpPr>
          <p:cNvPr id="4" name="TextBox 3"/>
          <p:cNvSpPr txBox="1"/>
          <p:nvPr/>
        </p:nvSpPr>
        <p:spPr>
          <a:xfrm>
            <a:off x="1380744" y="292608"/>
            <a:ext cx="10232136" cy="347472"/>
          </a:xfrm>
          <a:prstGeom prst="rect">
            <a:avLst/>
          </a:prstGeom>
          <a:noFill/>
        </p:spPr>
        <p:txBody>
          <a:bodyPr wrap="square" anchor="ctr" lIns="36576" rIns="36576" tIns="36576" bIns="36576">
            <a:spAutoFit/>
          </a:bodyPr>
          <a:lstStyle/>
          <a:p>
            <a:pPr algn="l"/>
            <a:r>
              <a:rPr sz="1200" b="1" i="0">
                <a:solidFill>
                  <a:srgbClr val="B22222"/>
                </a:solidFill>
                <a:latin typeface="Abadi"/>
              </a:rPr>
              <a:t>GUIDELINES</a:t>
            </a:r>
          </a:p>
        </p:txBody>
      </p:sp>
      <p:sp>
        <p:nvSpPr>
          <p:cNvPr id="5" name="TextBox 4"/>
          <p:cNvSpPr txBox="1"/>
          <p:nvPr/>
        </p:nvSpPr>
        <p:spPr>
          <a:xfrm>
            <a:off x="548640" y="722376"/>
            <a:ext cx="11082528" cy="548640"/>
          </a:xfrm>
          <a:prstGeom prst="rect">
            <a:avLst/>
          </a:prstGeom>
          <a:noFill/>
        </p:spPr>
        <p:txBody>
          <a:bodyPr wrap="square" anchor="ctr" lIns="36576" rIns="36576" tIns="36576" bIns="36576">
            <a:spAutoFit/>
          </a:bodyPr>
          <a:lstStyle/>
          <a:p>
            <a:pPr algn="l"/>
            <a:r>
              <a:rPr sz="3000" b="1" i="0">
                <a:solidFill>
                  <a:srgbClr val="1B355E"/>
                </a:solidFill>
                <a:latin typeface="Abadi"/>
              </a:rPr>
              <a:t>WHAT THE DOCUMENTS SAY ABOUT CHOLANGITIS</a:t>
            </a:r>
          </a:p>
        </p:txBody>
      </p:sp>
      <p:sp>
        <p:nvSpPr>
          <p:cNvPr id="6" name="TextBox 5"/>
          <p:cNvSpPr txBox="1"/>
          <p:nvPr/>
        </p:nvSpPr>
        <p:spPr>
          <a:xfrm>
            <a:off x="548640" y="1307592"/>
            <a:ext cx="11082528" cy="265176"/>
          </a:xfrm>
          <a:prstGeom prst="rect">
            <a:avLst/>
          </a:prstGeom>
          <a:noFill/>
        </p:spPr>
        <p:txBody>
          <a:bodyPr wrap="square" anchor="t" lIns="36576" rIns="36576" tIns="36576" bIns="36576">
            <a:spAutoFit/>
          </a:bodyPr>
          <a:lstStyle/>
          <a:p>
            <a:pPr algn="l"/>
            <a:r>
              <a:rPr sz="1300" b="0" i="0">
                <a:solidFill>
                  <a:srgbClr val="555555"/>
                </a:solidFill>
                <a:latin typeface="Abadi"/>
              </a:rPr>
              <a:t>Society guidance versus consensus; AASLD and EASL have no biliary atresia treatment guideline</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anchor="t" lIns="36576" rIns="36576" tIns="36576" bIns="36576">
            <a:spAutoFit/>
          </a:bodyPr>
          <a:lstStyle/>
          <a:p>
            <a:pPr algn="r"/>
            <a:r>
              <a:rPr sz="1200" b="0" i="0">
                <a:solidFill>
                  <a:srgbClr val="555555"/>
                </a:solidFill>
                <a:latin typeface="Abadi"/>
              </a:rPr>
              <a:t>18</a:t>
            </a:r>
          </a:p>
        </p:txBody>
      </p:sp>
      <p:sp>
        <p:nvSpPr>
          <p:cNvPr id="11" name="TextBox 10"/>
          <p:cNvSpPr txBox="1"/>
          <p:nvPr/>
        </p:nvSpPr>
        <p:spPr>
          <a:xfrm>
            <a:off x="548640" y="5971032"/>
            <a:ext cx="10287000" cy="457200"/>
          </a:xfrm>
          <a:prstGeom prst="rect">
            <a:avLst/>
          </a:prstGeom>
          <a:noFill/>
        </p:spPr>
        <p:txBody>
          <a:bodyPr wrap="square" anchor="t" lIns="36576" rIns="36576" tIns="36576" bIns="36576">
            <a:spAutoFit/>
          </a:bodyPr>
          <a:lstStyle/>
          <a:p>
            <a:pPr algn="l"/>
            <a:r>
              <a:rPr sz="1000" b="0" i="0">
                <a:solidFill>
                  <a:srgbClr val="7F7F7F"/>
                </a:solidFill>
                <a:latin typeface="Abadi"/>
              </a:rPr>
              <a:t>Fawaz R, et al. JPGN 2017;64:154–68 · Ando H, et al. J Hepatobiliary Pancreat Sci 2021;28:55–61 · Calinescu 2022 · Alatas 2023 · Chen 2026</a:t>
            </a:r>
          </a:p>
        </p:txBody>
      </p:sp>
      <p:graphicFrame>
        <p:nvGraphicFramePr>
          <p:cNvPr id="12" name="Table 11"/>
          <p:cNvGraphicFramePr>
            <a:graphicFrameLocks noGrp="1"/>
          </p:cNvGraphicFramePr>
          <p:nvPr/>
        </p:nvGraphicFramePr>
        <p:xfrm>
          <a:off x="548640" y="1783080"/>
          <a:ext cx="11082528" cy="3328416"/>
        </p:xfrm>
        <a:graphic>
          <a:graphicData uri="http://schemas.openxmlformats.org/drawingml/2006/table">
            <a:tbl>
              <a:tblPr firstRow="0" bandRow="0">
                <a:tableStyleId>{5C22544A-7EE6-4342-B048-85BDC9FD1C3A}</a:tableStyleId>
              </a:tblPr>
              <a:tblGrid>
                <a:gridCol w="2103120"/>
                <a:gridCol w="1737360"/>
                <a:gridCol w="2651760"/>
                <a:gridCol w="3291840"/>
                <a:gridCol w="1298448"/>
              </a:tblGrid>
              <a:tr h="475488">
                <a:tc>
                  <a:txBody>
                    <a:bodyPr wrap="square"/>
                    <a:lstStyle/>
                    <a:p>
                      <a:r>
                        <a:rPr sz="1050" b="1">
                          <a:solidFill>
                            <a:srgbClr val="FFFFFF"/>
                          </a:solidFill>
                          <a:latin typeface="Abadi"/>
                        </a:rPr>
                        <a:t>Question</a:t>
                      </a:r>
                    </a:p>
                  </a:txBody>
                  <a:tcPr marL="73152" marR="73152" marT="27432" marB="27432" anchor="ctr">
                    <a:solidFill>
                      <a:srgbClr val="1B355E"/>
                    </a:solidFill>
                  </a:tcPr>
                </a:tc>
                <a:tc>
                  <a:txBody>
                    <a:bodyPr wrap="square"/>
                    <a:lstStyle/>
                    <a:p>
                      <a:r>
                        <a:rPr sz="1050" b="1">
                          <a:solidFill>
                            <a:srgbClr val="FFFFFF"/>
                          </a:solidFill>
                          <a:latin typeface="Abadi"/>
                        </a:rPr>
                        <a:t>AASLD · EASL</a:t>
                      </a:r>
                    </a:p>
                  </a:txBody>
                  <a:tcPr marL="73152" marR="73152" marT="27432" marB="27432" anchor="ctr">
                    <a:solidFill>
                      <a:srgbClr val="1B355E"/>
                    </a:solidFill>
                  </a:tcPr>
                </a:tc>
                <a:tc>
                  <a:txBody>
                    <a:bodyPr wrap="square"/>
                    <a:lstStyle/>
                    <a:p>
                      <a:r>
                        <a:rPr sz="1050" b="1">
                          <a:solidFill>
                            <a:srgbClr val="FFFFFF"/>
                          </a:solidFill>
                          <a:latin typeface="Abadi"/>
                        </a:rPr>
                        <a:t>NASPGHAN/ESPGHAN 2017</a:t>
                      </a:r>
                    </a:p>
                  </a:txBody>
                  <a:tcPr marL="73152" marR="73152" marT="27432" marB="27432" anchor="ctr">
                    <a:solidFill>
                      <a:srgbClr val="1B355E"/>
                    </a:solidFill>
                  </a:tcPr>
                </a:tc>
                <a:tc>
                  <a:txBody>
                    <a:bodyPr wrap="square"/>
                    <a:lstStyle/>
                    <a:p>
                      <a:r>
                        <a:rPr sz="1050" b="1">
                          <a:solidFill>
                            <a:srgbClr val="FFFFFF"/>
                          </a:solidFill>
                          <a:latin typeface="Abadi"/>
                        </a:rPr>
                        <a:t>BARD Delphi 2022 · Japan 2021</a:t>
                      </a:r>
                    </a:p>
                  </a:txBody>
                  <a:tcPr marL="73152" marR="73152" marT="27432" marB="27432" anchor="ctr">
                    <a:solidFill>
                      <a:srgbClr val="1B355E"/>
                    </a:solidFill>
                  </a:tcPr>
                </a:tc>
                <a:tc>
                  <a:txBody>
                    <a:bodyPr wrap="square"/>
                    <a:lstStyle/>
                    <a:p>
                      <a:r>
                        <a:rPr sz="1050" b="1">
                          <a:solidFill>
                            <a:srgbClr val="FFFFFF"/>
                          </a:solidFill>
                          <a:latin typeface="Abadi"/>
                        </a:rPr>
                        <a:t>Verdict</a:t>
                      </a:r>
                    </a:p>
                  </a:txBody>
                  <a:tcPr marL="73152" marR="73152" marT="27432" marB="27432" anchor="ctr">
                    <a:solidFill>
                      <a:srgbClr val="1B355E"/>
                    </a:solidFill>
                  </a:tcPr>
                </a:tc>
              </a:tr>
              <a:tr h="475488">
                <a:tc>
                  <a:txBody>
                    <a:bodyPr wrap="square"/>
                    <a:lstStyle/>
                    <a:p>
                      <a:r>
                        <a:rPr sz="1000" b="1">
                          <a:solidFill>
                            <a:srgbClr val="1A1A1A"/>
                          </a:solidFill>
                          <a:latin typeface="Abadi"/>
                        </a:rPr>
                        <a:t>Definition</a:t>
                      </a:r>
                    </a:p>
                  </a:txBody>
                  <a:tcPr marL="73152" marR="73152" marT="27432" marB="27432" anchor="ctr">
                    <a:solidFill>
                      <a:srgbClr val="FFFFFF"/>
                    </a:solidFill>
                  </a:tcPr>
                </a:tc>
                <a:tc>
                  <a:txBody>
                    <a:bodyPr wrap="square"/>
                    <a:lstStyle/>
                    <a:p>
                      <a:r>
                        <a:rPr sz="1000" b="0">
                          <a:solidFill>
                            <a:srgbClr val="1A1A1A"/>
                          </a:solidFill>
                          <a:latin typeface="Abadi"/>
                        </a:rPr>
                        <a:t>Not addressed</a:t>
                      </a:r>
                    </a:p>
                  </a:txBody>
                  <a:tcPr marL="73152" marR="73152" marT="27432" marB="27432" anchor="ctr">
                    <a:solidFill>
                      <a:srgbClr val="FFFFFF"/>
                    </a:solidFill>
                  </a:tcPr>
                </a:tc>
                <a:tc>
                  <a:txBody>
                    <a:bodyPr wrap="square"/>
                    <a:lstStyle/>
                    <a:p>
                      <a:r>
                        <a:rPr sz="1000" b="0">
                          <a:solidFill>
                            <a:srgbClr val="1A1A1A"/>
                          </a:solidFill>
                          <a:latin typeface="Abadi"/>
                        </a:rPr>
                        <a:t>Not addressed (diagnostic guideline)</a:t>
                      </a:r>
                    </a:p>
                  </a:txBody>
                  <a:tcPr marL="73152" marR="73152" marT="27432" marB="27432" anchor="ctr">
                    <a:solidFill>
                      <a:srgbClr val="FFFFFF"/>
                    </a:solidFill>
                  </a:tcPr>
                </a:tc>
                <a:tc>
                  <a:txBody>
                    <a:bodyPr wrap="square"/>
                    <a:lstStyle/>
                    <a:p>
                      <a:r>
                        <a:rPr sz="1000" b="0">
                          <a:solidFill>
                            <a:srgbClr val="1A1A1A"/>
                          </a:solidFill>
                          <a:latin typeface="Abadi"/>
                        </a:rPr>
                        <a:t>Suspected and confirmed criteria</a:t>
                      </a:r>
                    </a:p>
                  </a:txBody>
                  <a:tcPr marL="73152" marR="73152" marT="27432" marB="27432" anchor="ctr">
                    <a:solidFill>
                      <a:srgbClr val="FFFFFF"/>
                    </a:solidFill>
                  </a:tcPr>
                </a:tc>
                <a:tc>
                  <a:txBody>
                    <a:bodyPr wrap="square"/>
                    <a:lstStyle/>
                    <a:p>
                      <a:pPr algn="ctr"/>
                      <a:r>
                        <a:rPr sz="850" b="1">
                          <a:solidFill>
                            <a:srgbClr val="FFFFFF"/>
                          </a:solidFill>
                          <a:latin typeface="Abadi"/>
                        </a:rPr>
                        <a:t>GAP</a:t>
                      </a:r>
                    </a:p>
                  </a:txBody>
                  <a:tcPr marL="73152" marR="73152" marT="27432" marB="27432" anchor="ctr">
                    <a:solidFill>
                      <a:srgbClr val="8A939B"/>
                    </a:solidFill>
                  </a:tcPr>
                </a:tc>
              </a:tr>
              <a:tr h="475488">
                <a:tc>
                  <a:txBody>
                    <a:bodyPr wrap="square"/>
                    <a:lstStyle/>
                    <a:p>
                      <a:r>
                        <a:rPr sz="1000" b="1">
                          <a:solidFill>
                            <a:srgbClr val="1A1A1A"/>
                          </a:solidFill>
                          <a:latin typeface="Abadi"/>
                        </a:rPr>
                        <a:t>Empiric agent</a:t>
                      </a:r>
                    </a:p>
                  </a:txBody>
                  <a:tcPr marL="73152" marR="73152" marT="27432" marB="27432" anchor="ctr">
                    <a:solidFill>
                      <a:srgbClr val="F2F4F7"/>
                    </a:solidFill>
                  </a:tcPr>
                </a:tc>
                <a:tc>
                  <a:txBody>
                    <a:bodyPr wrap="square"/>
                    <a:lstStyle/>
                    <a:p>
                      <a:r>
                        <a:rPr sz="1000" b="0">
                          <a:solidFill>
                            <a:srgbClr val="1A1A1A"/>
                          </a:solidFill>
                          <a:latin typeface="Abadi"/>
                        </a:rPr>
                        <a:t>Not addressed</a:t>
                      </a:r>
                    </a:p>
                  </a:txBody>
                  <a:tcPr marL="73152" marR="73152" marT="27432" marB="27432" anchor="ctr">
                    <a:solidFill>
                      <a:srgbClr val="F2F4F7"/>
                    </a:solidFill>
                  </a:tcPr>
                </a:tc>
                <a:tc>
                  <a:txBody>
                    <a:bodyPr wrap="square"/>
                    <a:lstStyle/>
                    <a:p>
                      <a:r>
                        <a:rPr sz="1000" b="0">
                          <a:solidFill>
                            <a:srgbClr val="1A1A1A"/>
                          </a:solidFill>
                          <a:latin typeface="Abadi"/>
                        </a:rPr>
                        <a:t>Not addressed</a:t>
                      </a:r>
                    </a:p>
                  </a:txBody>
                  <a:tcPr marL="73152" marR="73152" marT="27432" marB="27432" anchor="ctr">
                    <a:solidFill>
                      <a:srgbClr val="F2F4F7"/>
                    </a:solidFill>
                  </a:tcPr>
                </a:tc>
                <a:tc>
                  <a:txBody>
                    <a:bodyPr wrap="square"/>
                    <a:lstStyle/>
                    <a:p>
                      <a:r>
                        <a:rPr sz="1000" b="0">
                          <a:solidFill>
                            <a:srgbClr val="1A1A1A"/>
                          </a:solidFill>
                          <a:latin typeface="Abadi"/>
                        </a:rPr>
                        <a:t>No consensus; piperacillin–tazobactam most used</a:t>
                      </a:r>
                    </a:p>
                  </a:txBody>
                  <a:tcPr marL="73152" marR="73152" marT="27432" marB="27432" anchor="ctr">
                    <a:solidFill>
                      <a:srgbClr val="F2F4F7"/>
                    </a:solidFill>
                  </a:tcPr>
                </a:tc>
                <a:tc>
                  <a:txBody>
                    <a:bodyPr wrap="square"/>
                    <a:lstStyle/>
                    <a:p>
                      <a:pPr algn="ctr"/>
                      <a:r>
                        <a:rPr sz="850" b="1">
                          <a:solidFill>
                            <a:srgbClr val="FFFFFF"/>
                          </a:solidFill>
                          <a:latin typeface="Abadi"/>
                        </a:rPr>
                        <a:t>GAP</a:t>
                      </a:r>
                    </a:p>
                  </a:txBody>
                  <a:tcPr marL="73152" marR="73152" marT="27432" marB="27432" anchor="ctr">
                    <a:solidFill>
                      <a:srgbClr val="8A939B"/>
                    </a:solidFill>
                  </a:tcPr>
                </a:tc>
              </a:tr>
              <a:tr h="475488">
                <a:tc>
                  <a:txBody>
                    <a:bodyPr wrap="square"/>
                    <a:lstStyle/>
                    <a:p>
                      <a:r>
                        <a:rPr sz="1000" b="1">
                          <a:solidFill>
                            <a:srgbClr val="1A1A1A"/>
                          </a:solidFill>
                          <a:latin typeface="Abadi"/>
                        </a:rPr>
                        <a:t>Duration</a:t>
                      </a:r>
                    </a:p>
                  </a:txBody>
                  <a:tcPr marL="73152" marR="73152" marT="27432" marB="27432" anchor="ctr">
                    <a:solidFill>
                      <a:srgbClr val="FFFFFF"/>
                    </a:solidFill>
                  </a:tcPr>
                </a:tc>
                <a:tc>
                  <a:txBody>
                    <a:bodyPr wrap="square"/>
                    <a:lstStyle/>
                    <a:p>
                      <a:r>
                        <a:rPr sz="1000" b="0">
                          <a:solidFill>
                            <a:srgbClr val="1A1A1A"/>
                          </a:solidFill>
                          <a:latin typeface="Abadi"/>
                        </a:rPr>
                        <a:t>Not addressed</a:t>
                      </a:r>
                    </a:p>
                  </a:txBody>
                  <a:tcPr marL="73152" marR="73152" marT="27432" marB="27432" anchor="ctr">
                    <a:solidFill>
                      <a:srgbClr val="FFFFFF"/>
                    </a:solidFill>
                  </a:tcPr>
                </a:tc>
                <a:tc>
                  <a:txBody>
                    <a:bodyPr wrap="square"/>
                    <a:lstStyle/>
                    <a:p>
                      <a:r>
                        <a:rPr sz="1000" b="0">
                          <a:solidFill>
                            <a:srgbClr val="1A1A1A"/>
                          </a:solidFill>
                          <a:latin typeface="Abadi"/>
                        </a:rPr>
                        <a:t>Not addressed</a:t>
                      </a:r>
                    </a:p>
                  </a:txBody>
                  <a:tcPr marL="73152" marR="73152" marT="27432" marB="27432" anchor="ctr">
                    <a:solidFill>
                      <a:srgbClr val="FFFFFF"/>
                    </a:solidFill>
                  </a:tcPr>
                </a:tc>
                <a:tc>
                  <a:txBody>
                    <a:bodyPr wrap="square"/>
                    <a:lstStyle/>
                    <a:p>
                      <a:r>
                        <a:rPr sz="1000" b="0">
                          <a:solidFill>
                            <a:srgbClr val="1A1A1A"/>
                          </a:solidFill>
                          <a:latin typeface="Abadi"/>
                        </a:rPr>
                        <a:t>10–14 days suspected, 14–21 confirmed</a:t>
                      </a:r>
                    </a:p>
                  </a:txBody>
                  <a:tcPr marL="73152" marR="73152" marT="27432" marB="27432" anchor="ctr">
                    <a:solidFill>
                      <a:srgbClr val="FFFFFF"/>
                    </a:solidFill>
                  </a:tcPr>
                </a:tc>
                <a:tc>
                  <a:txBody>
                    <a:bodyPr wrap="square"/>
                    <a:lstStyle/>
                    <a:p>
                      <a:pPr algn="ctr"/>
                      <a:r>
                        <a:rPr sz="850" b="1">
                          <a:solidFill>
                            <a:srgbClr val="FFFFFF"/>
                          </a:solidFill>
                          <a:latin typeface="Abadi"/>
                        </a:rPr>
                        <a:t>DIFFERS</a:t>
                      </a:r>
                    </a:p>
                  </a:txBody>
                  <a:tcPr marL="73152" marR="73152" marT="27432" marB="27432" anchor="ctr">
                    <a:solidFill>
                      <a:srgbClr val="D97A0B"/>
                    </a:solidFill>
                  </a:tcPr>
                </a:tc>
              </a:tr>
              <a:tr h="475488">
                <a:tc>
                  <a:txBody>
                    <a:bodyPr wrap="square"/>
                    <a:lstStyle/>
                    <a:p>
                      <a:r>
                        <a:rPr sz="1000" b="1">
                          <a:solidFill>
                            <a:srgbClr val="1A1A1A"/>
                          </a:solidFill>
                          <a:latin typeface="Abadi"/>
                        </a:rPr>
                        <a:t>Primary prophylaxis</a:t>
                      </a:r>
                    </a:p>
                  </a:txBody>
                  <a:tcPr marL="73152" marR="73152" marT="27432" marB="27432" anchor="ctr">
                    <a:solidFill>
                      <a:srgbClr val="F2F4F7"/>
                    </a:solidFill>
                  </a:tcPr>
                </a:tc>
                <a:tc>
                  <a:txBody>
                    <a:bodyPr wrap="square"/>
                    <a:lstStyle/>
                    <a:p>
                      <a:r>
                        <a:rPr sz="1000" b="0">
                          <a:solidFill>
                            <a:srgbClr val="1A1A1A"/>
                          </a:solidFill>
                          <a:latin typeface="Abadi"/>
                        </a:rPr>
                        <a:t>Not addressed</a:t>
                      </a:r>
                    </a:p>
                  </a:txBody>
                  <a:tcPr marL="73152" marR="73152" marT="27432" marB="27432" anchor="ctr">
                    <a:solidFill>
                      <a:srgbClr val="F2F4F7"/>
                    </a:solidFill>
                  </a:tcPr>
                </a:tc>
                <a:tc>
                  <a:txBody>
                    <a:bodyPr wrap="square"/>
                    <a:lstStyle/>
                    <a:p>
                      <a:r>
                        <a:rPr sz="1000" b="0">
                          <a:solidFill>
                            <a:srgbClr val="1A1A1A"/>
                          </a:solidFill>
                          <a:latin typeface="Abadi"/>
                        </a:rPr>
                        <a:t>Not addressed</a:t>
                      </a:r>
                    </a:p>
                  </a:txBody>
                  <a:tcPr marL="73152" marR="73152" marT="27432" marB="27432" anchor="ctr">
                    <a:solidFill>
                      <a:srgbClr val="F2F4F7"/>
                    </a:solidFill>
                  </a:tcPr>
                </a:tc>
                <a:tc>
                  <a:txBody>
                    <a:bodyPr wrap="square"/>
                    <a:lstStyle/>
                    <a:p>
                      <a:r>
                        <a:rPr sz="1000" b="0">
                          <a:solidFill>
                            <a:srgbClr val="1A1A1A"/>
                          </a:solidFill>
                          <a:latin typeface="Abadi"/>
                        </a:rPr>
                        <a:t>6–12 months supported; pooled data null</a:t>
                      </a:r>
                    </a:p>
                  </a:txBody>
                  <a:tcPr marL="73152" marR="73152" marT="27432" marB="27432" anchor="ctr">
                    <a:solidFill>
                      <a:srgbClr val="F2F4F7"/>
                    </a:solidFill>
                  </a:tcPr>
                </a:tc>
                <a:tc>
                  <a:txBody>
                    <a:bodyPr wrap="square"/>
                    <a:lstStyle/>
                    <a:p>
                      <a:pPr algn="ctr"/>
                      <a:r>
                        <a:rPr sz="850" b="1">
                          <a:solidFill>
                            <a:srgbClr val="FFFFFF"/>
                          </a:solidFill>
                          <a:latin typeface="Abadi"/>
                        </a:rPr>
                        <a:t>MATERIAL</a:t>
                      </a:r>
                    </a:p>
                  </a:txBody>
                  <a:tcPr marL="73152" marR="73152" marT="27432" marB="27432" anchor="ctr">
                    <a:solidFill>
                      <a:srgbClr val="B22222"/>
                    </a:solidFill>
                  </a:tcPr>
                </a:tc>
              </a:tr>
              <a:tr h="475488">
                <a:tc>
                  <a:txBody>
                    <a:bodyPr wrap="square"/>
                    <a:lstStyle/>
                    <a:p>
                      <a:r>
                        <a:rPr sz="1000" b="1">
                          <a:solidFill>
                            <a:srgbClr val="1A1A1A"/>
                          </a:solidFill>
                          <a:latin typeface="Abadi"/>
                        </a:rPr>
                        <a:t>Steroids, adjuncts</a:t>
                      </a:r>
                    </a:p>
                  </a:txBody>
                  <a:tcPr marL="73152" marR="73152" marT="27432" marB="27432" anchor="ctr">
                    <a:solidFill>
                      <a:srgbClr val="FFFFFF"/>
                    </a:solidFill>
                  </a:tcPr>
                </a:tc>
                <a:tc>
                  <a:txBody>
                    <a:bodyPr wrap="square"/>
                    <a:lstStyle/>
                    <a:p>
                      <a:r>
                        <a:rPr sz="1000" b="0">
                          <a:solidFill>
                            <a:srgbClr val="1A1A1A"/>
                          </a:solidFill>
                          <a:latin typeface="Abadi"/>
                        </a:rPr>
                        <a:t>Not addressed</a:t>
                      </a:r>
                    </a:p>
                  </a:txBody>
                  <a:tcPr marL="73152" marR="73152" marT="27432" marB="27432" anchor="ctr">
                    <a:solidFill>
                      <a:srgbClr val="FFFFFF"/>
                    </a:solidFill>
                  </a:tcPr>
                </a:tc>
                <a:tc>
                  <a:txBody>
                    <a:bodyPr wrap="square"/>
                    <a:lstStyle/>
                    <a:p>
                      <a:r>
                        <a:rPr sz="1000" b="0">
                          <a:solidFill>
                            <a:srgbClr val="1A1A1A"/>
                          </a:solidFill>
                          <a:latin typeface="Abadi"/>
                        </a:rPr>
                        <a:t>Not addressed</a:t>
                      </a:r>
                    </a:p>
                  </a:txBody>
                  <a:tcPr marL="73152" marR="73152" marT="27432" marB="27432" anchor="ctr">
                    <a:solidFill>
                      <a:srgbClr val="FFFFFF"/>
                    </a:solidFill>
                  </a:tcPr>
                </a:tc>
                <a:tc>
                  <a:txBody>
                    <a:bodyPr wrap="square"/>
                    <a:lstStyle/>
                    <a:p>
                      <a:r>
                        <a:rPr sz="1000" b="0">
                          <a:solidFill>
                            <a:srgbClr val="1A1A1A"/>
                          </a:solidFill>
                          <a:latin typeface="Abadi"/>
                        </a:rPr>
                        <a:t>Japan: no recommendation on steroids</a:t>
                      </a:r>
                    </a:p>
                  </a:txBody>
                  <a:tcPr marL="73152" marR="73152" marT="27432" marB="27432" anchor="ctr">
                    <a:solidFill>
                      <a:srgbClr val="FFFFFF"/>
                    </a:solidFill>
                  </a:tcPr>
                </a:tc>
                <a:tc>
                  <a:txBody>
                    <a:bodyPr wrap="square"/>
                    <a:lstStyle/>
                    <a:p>
                      <a:pPr algn="ctr"/>
                      <a:r>
                        <a:rPr sz="850" b="1">
                          <a:solidFill>
                            <a:srgbClr val="FFFFFF"/>
                          </a:solidFill>
                          <a:latin typeface="Abadi"/>
                        </a:rPr>
                        <a:t>ALIGNED</a:t>
                      </a:r>
                    </a:p>
                  </a:txBody>
                  <a:tcPr marL="73152" marR="73152" marT="27432" marB="27432" anchor="ctr">
                    <a:solidFill>
                      <a:srgbClr val="1E7A33"/>
                    </a:solidFill>
                  </a:tcPr>
                </a:tc>
              </a:tr>
              <a:tr h="475488">
                <a:tc>
                  <a:txBody>
                    <a:bodyPr wrap="square"/>
                    <a:lstStyle/>
                    <a:p>
                      <a:r>
                        <a:rPr sz="1000" b="1">
                          <a:solidFill>
                            <a:srgbClr val="1A1A1A"/>
                          </a:solidFill>
                          <a:latin typeface="Abadi"/>
                        </a:rPr>
                        <a:t>Bile lakes</a:t>
                      </a:r>
                    </a:p>
                  </a:txBody>
                  <a:tcPr marL="73152" marR="73152" marT="27432" marB="27432" anchor="ctr">
                    <a:solidFill>
                      <a:srgbClr val="F2F4F7"/>
                    </a:solidFill>
                  </a:tcPr>
                </a:tc>
                <a:tc>
                  <a:txBody>
                    <a:bodyPr wrap="square"/>
                    <a:lstStyle/>
                    <a:p>
                      <a:r>
                        <a:rPr sz="1000" b="0">
                          <a:solidFill>
                            <a:srgbClr val="1A1A1A"/>
                          </a:solidFill>
                          <a:latin typeface="Abadi"/>
                        </a:rPr>
                        <a:t>Not addressed</a:t>
                      </a:r>
                    </a:p>
                  </a:txBody>
                  <a:tcPr marL="73152" marR="73152" marT="27432" marB="27432" anchor="ctr">
                    <a:solidFill>
                      <a:srgbClr val="F2F4F7"/>
                    </a:solidFill>
                  </a:tcPr>
                </a:tc>
                <a:tc>
                  <a:txBody>
                    <a:bodyPr wrap="square"/>
                    <a:lstStyle/>
                    <a:p>
                      <a:r>
                        <a:rPr sz="1000" b="0">
                          <a:solidFill>
                            <a:srgbClr val="1A1A1A"/>
                          </a:solidFill>
                          <a:latin typeface="Abadi"/>
                        </a:rPr>
                        <a:t>Not addressed</a:t>
                      </a:r>
                    </a:p>
                  </a:txBody>
                  <a:tcPr marL="73152" marR="73152" marT="27432" marB="27432" anchor="ctr">
                    <a:solidFill>
                      <a:srgbClr val="F2F4F7"/>
                    </a:solidFill>
                  </a:tcPr>
                </a:tc>
                <a:tc>
                  <a:txBody>
                    <a:bodyPr wrap="square"/>
                    <a:lstStyle/>
                    <a:p>
                      <a:r>
                        <a:rPr sz="1000" b="0">
                          <a:solidFill>
                            <a:srgbClr val="1A1A1A"/>
                          </a:solidFill>
                          <a:latin typeface="Abadi"/>
                        </a:rPr>
                        <a:t>Listed as a diagnostic criterion only</a:t>
                      </a:r>
                    </a:p>
                  </a:txBody>
                  <a:tcPr marL="73152" marR="73152" marT="27432" marB="27432" anchor="ctr">
                    <a:solidFill>
                      <a:srgbClr val="F2F4F7"/>
                    </a:solidFill>
                  </a:tcPr>
                </a:tc>
                <a:tc>
                  <a:txBody>
                    <a:bodyPr wrap="square"/>
                    <a:lstStyle/>
                    <a:p>
                      <a:pPr algn="ctr"/>
                      <a:r>
                        <a:rPr sz="850" b="1">
                          <a:solidFill>
                            <a:srgbClr val="FFFFFF"/>
                          </a:solidFill>
                          <a:latin typeface="Abadi"/>
                        </a:rPr>
                        <a:t>GAP</a:t>
                      </a:r>
                    </a:p>
                  </a:txBody>
                  <a:tcPr marL="73152" marR="73152" marT="27432" marB="27432" anchor="ctr">
                    <a:solidFill>
                      <a:srgbClr val="8A939B"/>
                    </a:solidFill>
                  </a:tcPr>
                </a:tc>
              </a:tr>
            </a:tbl>
          </a:graphicData>
        </a:graphic>
      </p:graphicFrame>
      <p:sp>
        <p:nvSpPr>
          <p:cNvPr id="13" name="TextBox 12"/>
          <p:cNvSpPr txBox="1"/>
          <p:nvPr/>
        </p:nvSpPr>
        <p:spPr>
          <a:xfrm>
            <a:off x="548640" y="5257800"/>
            <a:ext cx="11082528" cy="548640"/>
          </a:xfrm>
          <a:prstGeom prst="rect">
            <a:avLst/>
          </a:prstGeom>
          <a:noFill/>
        </p:spPr>
        <p:txBody>
          <a:bodyPr wrap="square" anchor="t" lIns="36576" rIns="36576" tIns="36576" bIns="36576">
            <a:spAutoFit/>
          </a:bodyPr>
          <a:lstStyle/>
          <a:p>
            <a:pPr algn="l"/>
            <a:r>
              <a:rPr sz="1200" b="1" i="0">
                <a:solidFill>
                  <a:srgbClr val="1B355E"/>
                </a:solidFill>
                <a:latin typeface="Abadi"/>
              </a:rPr>
              <a:t>Material gap.   </a:t>
            </a:r>
            <a:r>
              <a:rPr sz="1200" b="0" i="0">
                <a:solidFill>
                  <a:srgbClr val="1A1A1A"/>
                </a:solidFill>
                <a:latin typeface="Abadi"/>
              </a:rPr>
              <a:t>The most common complication of the Kasai has no society guideline. Practice rests on a 2022 consensus, and its prophylaxis advice is not supported by the meta-analyses of 2023 and 2026. Duration in practice is often shorter than the consensus advises.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anchor="ctr" lIns="0" rIns="0" tIns="0" bIns="0">
            <a:spAutoFit/>
          </a:bodyPr>
          <a:lstStyle/>
          <a:p>
            <a:pPr algn="ctr"/>
            <a:r>
              <a:rPr sz="1500" b="1" i="0">
                <a:solidFill>
                  <a:srgbClr val="FFFFFF"/>
                </a:solidFill>
                <a:latin typeface="Abadi"/>
              </a:rPr>
              <a:t>VIII</a:t>
            </a:r>
          </a:p>
        </p:txBody>
      </p:sp>
      <p:sp>
        <p:nvSpPr>
          <p:cNvPr id="4" name="TextBox 3"/>
          <p:cNvSpPr txBox="1"/>
          <p:nvPr/>
        </p:nvSpPr>
        <p:spPr>
          <a:xfrm>
            <a:off x="1380744" y="292608"/>
            <a:ext cx="10232136" cy="347472"/>
          </a:xfrm>
          <a:prstGeom prst="rect">
            <a:avLst/>
          </a:prstGeom>
          <a:noFill/>
        </p:spPr>
        <p:txBody>
          <a:bodyPr wrap="square" anchor="ctr" lIns="36576" rIns="36576" tIns="36576" bIns="36576">
            <a:spAutoFit/>
          </a:bodyPr>
          <a:lstStyle/>
          <a:p>
            <a:pPr algn="l"/>
            <a:r>
              <a:rPr sz="1200" b="1" i="0">
                <a:solidFill>
                  <a:srgbClr val="B22222"/>
                </a:solidFill>
                <a:latin typeface="Abadi"/>
              </a:rPr>
              <a:t>TRAPS</a:t>
            </a:r>
          </a:p>
        </p:txBody>
      </p:sp>
      <p:sp>
        <p:nvSpPr>
          <p:cNvPr id="5" name="TextBox 4"/>
          <p:cNvSpPr txBox="1"/>
          <p:nvPr/>
        </p:nvSpPr>
        <p:spPr>
          <a:xfrm>
            <a:off x="548640" y="722376"/>
            <a:ext cx="11082528" cy="548640"/>
          </a:xfrm>
          <a:prstGeom prst="rect">
            <a:avLst/>
          </a:prstGeom>
          <a:noFill/>
        </p:spPr>
        <p:txBody>
          <a:bodyPr wrap="square" anchor="ctr" lIns="36576" rIns="36576" tIns="36576" bIns="36576">
            <a:spAutoFit/>
          </a:bodyPr>
          <a:lstStyle/>
          <a:p>
            <a:pPr algn="l"/>
            <a:r>
              <a:rPr sz="3000" b="1" i="0">
                <a:solidFill>
                  <a:srgbClr val="1B355E"/>
                </a:solidFill>
                <a:latin typeface="Abadi"/>
              </a:rPr>
              <a:t>HOW CHOLANGITIS IS MISSED</a:t>
            </a:r>
          </a:p>
        </p:txBody>
      </p:sp>
      <p:sp>
        <p:nvSpPr>
          <p:cNvPr id="6" name="TextBox 5"/>
          <p:cNvSpPr txBox="1"/>
          <p:nvPr/>
        </p:nvSpPr>
        <p:spPr>
          <a:xfrm>
            <a:off x="548640" y="1307592"/>
            <a:ext cx="11082528" cy="265176"/>
          </a:xfrm>
          <a:prstGeom prst="rect">
            <a:avLst/>
          </a:prstGeom>
          <a:noFill/>
        </p:spPr>
        <p:txBody>
          <a:bodyPr wrap="square" anchor="t" lIns="36576" rIns="36576" tIns="36576" bIns="36576">
            <a:spAutoFit/>
          </a:bodyPr>
          <a:lstStyle/>
          <a:p>
            <a:pPr algn="l"/>
            <a:r>
              <a:rPr sz="1300" b="0" i="0">
                <a:solidFill>
                  <a:srgbClr val="555555"/>
                </a:solidFill>
                <a:latin typeface="Abadi"/>
              </a:rPr>
              <a:t>Errors in reasoning after the Kasai</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anchor="t" lIns="36576" rIns="36576" tIns="36576" bIns="36576">
            <a:spAutoFit/>
          </a:bodyPr>
          <a:lstStyle/>
          <a:p>
            <a:pPr algn="r"/>
            <a:r>
              <a:rPr sz="1200" b="0" i="0">
                <a:solidFill>
                  <a:srgbClr val="555555"/>
                </a:solidFill>
                <a:latin typeface="Abadi"/>
              </a:rPr>
              <a:t>19</a:t>
            </a:r>
          </a:p>
        </p:txBody>
      </p:sp>
      <p:sp>
        <p:nvSpPr>
          <p:cNvPr id="11" name="TextBox 10"/>
          <p:cNvSpPr txBox="1"/>
          <p:nvPr/>
        </p:nvSpPr>
        <p:spPr>
          <a:xfrm>
            <a:off x="548640" y="5971032"/>
            <a:ext cx="10287000" cy="457200"/>
          </a:xfrm>
          <a:prstGeom prst="rect">
            <a:avLst/>
          </a:prstGeom>
          <a:noFill/>
        </p:spPr>
        <p:txBody>
          <a:bodyPr wrap="square" anchor="t" lIns="36576" rIns="36576" tIns="36576" bIns="36576">
            <a:spAutoFit/>
          </a:bodyPr>
          <a:lstStyle/>
          <a:p>
            <a:pPr algn="l"/>
            <a:r>
              <a:rPr sz="1000" b="0" i="0">
                <a:solidFill>
                  <a:srgbClr val="7F7F7F"/>
                </a:solidFill>
                <a:latin typeface="Abadi"/>
              </a:rPr>
              <a:t>Madadi-Sanjani 2024 · Calinescu 2022 · Baek 2020 · Brody 2025 · Chen 2021</a:t>
            </a:r>
          </a:p>
        </p:txBody>
      </p:sp>
      <p:sp>
        <p:nvSpPr>
          <p:cNvPr id="12" name="Rectangle 11"/>
          <p:cNvSpPr/>
          <p:nvPr/>
        </p:nvSpPr>
        <p:spPr>
          <a:xfrm>
            <a:off x="548640" y="1773936"/>
            <a:ext cx="2070201" cy="224028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777593" cy="502920"/>
          </a:xfrm>
          <a:prstGeom prst="rect">
            <a:avLst/>
          </a:prstGeom>
          <a:noFill/>
        </p:spPr>
        <p:txBody>
          <a:bodyPr wrap="square" anchor="t" lIns="36576" rIns="36576" tIns="36576" bIns="36576">
            <a:spAutoFit/>
          </a:bodyPr>
          <a:lstStyle/>
          <a:p>
            <a:pPr algn="l"/>
            <a:r>
              <a:rPr sz="1300" b="1" i="0">
                <a:solidFill>
                  <a:srgbClr val="B22222"/>
                </a:solidFill>
                <a:latin typeface="Abadi"/>
              </a:rPr>
              <a:t>"No fever, so not cholangitis"</a:t>
            </a:r>
          </a:p>
        </p:txBody>
      </p:sp>
      <p:sp>
        <p:nvSpPr>
          <p:cNvPr id="15" name="TextBox 14"/>
          <p:cNvSpPr txBox="1"/>
          <p:nvPr/>
        </p:nvSpPr>
        <p:spPr>
          <a:xfrm>
            <a:off x="694944" y="2487168"/>
            <a:ext cx="1777593" cy="1435608"/>
          </a:xfrm>
          <a:prstGeom prst="rect">
            <a:avLst/>
          </a:prstGeom>
          <a:noFill/>
        </p:spPr>
        <p:txBody>
          <a:bodyPr wrap="square" anchor="t" lIns="36576" rIns="36576" tIns="36576" bIns="36576">
            <a:spAutoFit/>
          </a:bodyPr>
          <a:lstStyle/>
          <a:p>
            <a:pPr algn="l">
              <a:spcAft>
                <a:spcPts val="400"/>
              </a:spcAft>
            </a:pPr>
            <a:r>
              <a:rPr sz="1100" b="0" i="0">
                <a:solidFill>
                  <a:srgbClr val="1A1A1A"/>
                </a:solidFill>
                <a:latin typeface="Abadi"/>
              </a:rPr>
              <a:t>▪  Fever in only 41% of episodes</a:t>
            </a:r>
          </a:p>
          <a:p>
            <a:pPr algn="l">
              <a:spcAft>
                <a:spcPts val="400"/>
              </a:spcAft>
            </a:pPr>
            <a:r>
              <a:rPr sz="1100" b="0" i="0">
                <a:solidFill>
                  <a:srgbClr val="1A1A1A"/>
                </a:solidFill>
                <a:latin typeface="Abadi"/>
              </a:rPr>
              <a:t>▪  Pale stools and rising GGT count</a:t>
            </a:r>
          </a:p>
        </p:txBody>
      </p:sp>
      <p:sp>
        <p:nvSpPr>
          <p:cNvPr id="16" name="Rectangle 15"/>
          <p:cNvSpPr/>
          <p:nvPr/>
        </p:nvSpPr>
        <p:spPr>
          <a:xfrm>
            <a:off x="2801721" y="1773936"/>
            <a:ext cx="2070201" cy="224028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025" y="1956816"/>
            <a:ext cx="1777593" cy="502920"/>
          </a:xfrm>
          <a:prstGeom prst="rect">
            <a:avLst/>
          </a:prstGeom>
          <a:noFill/>
        </p:spPr>
        <p:txBody>
          <a:bodyPr wrap="square" anchor="t" lIns="36576" rIns="36576" tIns="36576" bIns="36576">
            <a:spAutoFit/>
          </a:bodyPr>
          <a:lstStyle/>
          <a:p>
            <a:pPr algn="l"/>
            <a:r>
              <a:rPr sz="1300" b="1" i="0">
                <a:solidFill>
                  <a:srgbClr val="D97A0B"/>
                </a:solidFill>
                <a:latin typeface="Abadi"/>
              </a:rPr>
              <a:t>"Culture negative, so viral"</a:t>
            </a:r>
          </a:p>
        </p:txBody>
      </p:sp>
      <p:sp>
        <p:nvSpPr>
          <p:cNvPr id="19" name="TextBox 18"/>
          <p:cNvSpPr txBox="1"/>
          <p:nvPr/>
        </p:nvSpPr>
        <p:spPr>
          <a:xfrm>
            <a:off x="2948025" y="2487168"/>
            <a:ext cx="1777593" cy="1435608"/>
          </a:xfrm>
          <a:prstGeom prst="rect">
            <a:avLst/>
          </a:prstGeom>
          <a:noFill/>
        </p:spPr>
        <p:txBody>
          <a:bodyPr wrap="square" anchor="t" lIns="36576" rIns="36576" tIns="36576" bIns="36576">
            <a:spAutoFit/>
          </a:bodyPr>
          <a:lstStyle/>
          <a:p>
            <a:pPr algn="l">
              <a:spcAft>
                <a:spcPts val="400"/>
              </a:spcAft>
            </a:pPr>
            <a:r>
              <a:rPr sz="1100" b="0" i="0">
                <a:solidFill>
                  <a:srgbClr val="1A1A1A"/>
                </a:solidFill>
                <a:latin typeface="Abadi"/>
              </a:rPr>
              <a:t>▪  Cultures positive in 10–44%</a:t>
            </a:r>
          </a:p>
          <a:p>
            <a:pPr algn="l">
              <a:spcAft>
                <a:spcPts val="400"/>
              </a:spcAft>
            </a:pPr>
            <a:r>
              <a:rPr sz="1100" b="0" i="0">
                <a:solidFill>
                  <a:srgbClr val="1A1A1A"/>
                </a:solidFill>
                <a:latin typeface="Abadi"/>
              </a:rPr>
              <a:t>▪  Treat on criteria</a:t>
            </a:r>
          </a:p>
        </p:txBody>
      </p:sp>
      <p:sp>
        <p:nvSpPr>
          <p:cNvPr id="20" name="Rectangle 19"/>
          <p:cNvSpPr/>
          <p:nvPr/>
        </p:nvSpPr>
        <p:spPr>
          <a:xfrm>
            <a:off x="5054803" y="1773936"/>
            <a:ext cx="2070201" cy="224028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1107" y="1956816"/>
            <a:ext cx="1777593" cy="502920"/>
          </a:xfrm>
          <a:prstGeom prst="rect">
            <a:avLst/>
          </a:prstGeom>
          <a:noFill/>
        </p:spPr>
        <p:txBody>
          <a:bodyPr wrap="square" anchor="t" lIns="36576" rIns="36576" tIns="36576" bIns="36576">
            <a:spAutoFit/>
          </a:bodyPr>
          <a:lstStyle/>
          <a:p>
            <a:pPr algn="l"/>
            <a:r>
              <a:rPr sz="1300" b="1" i="0">
                <a:solidFill>
                  <a:srgbClr val="D97A0B"/>
                </a:solidFill>
                <a:latin typeface="Abadi"/>
              </a:rPr>
              <a:t>"The Kasai has failed"</a:t>
            </a:r>
          </a:p>
        </p:txBody>
      </p:sp>
      <p:sp>
        <p:nvSpPr>
          <p:cNvPr id="23" name="TextBox 22"/>
          <p:cNvSpPr txBox="1"/>
          <p:nvPr/>
        </p:nvSpPr>
        <p:spPr>
          <a:xfrm>
            <a:off x="5201107" y="2487168"/>
            <a:ext cx="1777593" cy="1435608"/>
          </a:xfrm>
          <a:prstGeom prst="rect">
            <a:avLst/>
          </a:prstGeom>
          <a:noFill/>
        </p:spPr>
        <p:txBody>
          <a:bodyPr wrap="square" anchor="t" lIns="36576" rIns="36576" tIns="36576" bIns="36576">
            <a:spAutoFit/>
          </a:bodyPr>
          <a:lstStyle/>
          <a:p>
            <a:pPr algn="l">
              <a:spcAft>
                <a:spcPts val="400"/>
              </a:spcAft>
            </a:pPr>
            <a:r>
              <a:rPr sz="1100" b="0" i="0">
                <a:solidFill>
                  <a:srgbClr val="1A1A1A"/>
                </a:solidFill>
                <a:latin typeface="Abadi"/>
              </a:rPr>
              <a:t>▪  Treat the infection first</a:t>
            </a:r>
          </a:p>
          <a:p>
            <a:pPr algn="l">
              <a:spcAft>
                <a:spcPts val="400"/>
              </a:spcAft>
            </a:pPr>
            <a:r>
              <a:rPr sz="1100" b="0" i="0">
                <a:solidFill>
                  <a:srgbClr val="1A1A1A"/>
                </a:solidFill>
                <a:latin typeface="Abadi"/>
              </a:rPr>
              <a:t>▪  Bilirubin may fall again</a:t>
            </a:r>
          </a:p>
        </p:txBody>
      </p:sp>
      <p:sp>
        <p:nvSpPr>
          <p:cNvPr id="24" name="Rectangle 23"/>
          <p:cNvSpPr/>
          <p:nvPr/>
        </p:nvSpPr>
        <p:spPr>
          <a:xfrm>
            <a:off x="7307884" y="1773936"/>
            <a:ext cx="2070201" cy="224028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4188" y="1956816"/>
            <a:ext cx="1777593" cy="502920"/>
          </a:xfrm>
          <a:prstGeom prst="rect">
            <a:avLst/>
          </a:prstGeom>
          <a:noFill/>
        </p:spPr>
        <p:txBody>
          <a:bodyPr wrap="square" anchor="t" lIns="36576" rIns="36576" tIns="36576" bIns="36576">
            <a:spAutoFit/>
          </a:bodyPr>
          <a:lstStyle/>
          <a:p>
            <a:pPr algn="l"/>
            <a:r>
              <a:rPr sz="1300" b="1" i="0">
                <a:solidFill>
                  <a:srgbClr val="B22222"/>
                </a:solidFill>
                <a:latin typeface="Abadi"/>
              </a:rPr>
              <a:t>"She is on prophylaxis"</a:t>
            </a:r>
          </a:p>
        </p:txBody>
      </p:sp>
      <p:sp>
        <p:nvSpPr>
          <p:cNvPr id="27" name="TextBox 26"/>
          <p:cNvSpPr txBox="1"/>
          <p:nvPr/>
        </p:nvSpPr>
        <p:spPr>
          <a:xfrm>
            <a:off x="7454188" y="2487168"/>
            <a:ext cx="1777593" cy="1435608"/>
          </a:xfrm>
          <a:prstGeom prst="rect">
            <a:avLst/>
          </a:prstGeom>
          <a:noFill/>
        </p:spPr>
        <p:txBody>
          <a:bodyPr wrap="square" anchor="t" lIns="36576" rIns="36576" tIns="36576" bIns="36576">
            <a:spAutoFit/>
          </a:bodyPr>
          <a:lstStyle/>
          <a:p>
            <a:pPr algn="l">
              <a:spcAft>
                <a:spcPts val="400"/>
              </a:spcAft>
            </a:pPr>
            <a:r>
              <a:rPr sz="1100" b="0" i="0">
                <a:solidFill>
                  <a:srgbClr val="1A1A1A"/>
                </a:solidFill>
                <a:latin typeface="Abadi"/>
              </a:rPr>
              <a:t>▪  Breakthrough is common</a:t>
            </a:r>
          </a:p>
          <a:p>
            <a:pPr algn="l">
              <a:spcAft>
                <a:spcPts val="400"/>
              </a:spcAft>
            </a:pPr>
            <a:r>
              <a:rPr sz="1100" b="0" i="0">
                <a:solidFill>
                  <a:srgbClr val="1A1A1A"/>
                </a:solidFill>
                <a:latin typeface="Abadi"/>
              </a:rPr>
              <a:t>▪  Change class</a:t>
            </a:r>
          </a:p>
        </p:txBody>
      </p:sp>
      <p:sp>
        <p:nvSpPr>
          <p:cNvPr id="28" name="Rectangle 27"/>
          <p:cNvSpPr/>
          <p:nvPr/>
        </p:nvSpPr>
        <p:spPr>
          <a:xfrm>
            <a:off x="9560966" y="1773936"/>
            <a:ext cx="2070201" cy="224028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270" y="1956816"/>
            <a:ext cx="1777593" cy="502920"/>
          </a:xfrm>
          <a:prstGeom prst="rect">
            <a:avLst/>
          </a:prstGeom>
          <a:noFill/>
        </p:spPr>
        <p:txBody>
          <a:bodyPr wrap="square" anchor="t" lIns="36576" rIns="36576" tIns="36576" bIns="36576">
            <a:spAutoFit/>
          </a:bodyPr>
          <a:lstStyle/>
          <a:p>
            <a:pPr algn="l"/>
            <a:r>
              <a:rPr sz="1300" b="1" i="0">
                <a:solidFill>
                  <a:srgbClr val="8A939B"/>
                </a:solidFill>
                <a:latin typeface="Abadi"/>
              </a:rPr>
              <a:t>"Oral after 3 days"</a:t>
            </a:r>
          </a:p>
        </p:txBody>
      </p:sp>
      <p:sp>
        <p:nvSpPr>
          <p:cNvPr id="31" name="TextBox 30"/>
          <p:cNvSpPr txBox="1"/>
          <p:nvPr/>
        </p:nvSpPr>
        <p:spPr>
          <a:xfrm>
            <a:off x="9707270" y="2487168"/>
            <a:ext cx="1777593" cy="1435608"/>
          </a:xfrm>
          <a:prstGeom prst="rect">
            <a:avLst/>
          </a:prstGeom>
          <a:noFill/>
        </p:spPr>
        <p:txBody>
          <a:bodyPr wrap="square" anchor="t" lIns="36576" rIns="36576" tIns="36576" bIns="36576">
            <a:spAutoFit/>
          </a:bodyPr>
          <a:lstStyle/>
          <a:p>
            <a:pPr algn="l">
              <a:spcAft>
                <a:spcPts val="400"/>
              </a:spcAft>
            </a:pPr>
            <a:r>
              <a:rPr sz="1100" b="0" i="0">
                <a:solidFill>
                  <a:srgbClr val="1A1A1A"/>
                </a:solidFill>
                <a:latin typeface="Abadi"/>
              </a:rPr>
              <a:t>▪  Consensus: 10–21 days</a:t>
            </a:r>
          </a:p>
          <a:p>
            <a:pPr algn="l">
              <a:spcAft>
                <a:spcPts val="400"/>
              </a:spcAft>
            </a:pPr>
            <a:r>
              <a:rPr sz="1100" b="0" i="0">
                <a:solidFill>
                  <a:srgbClr val="1A1A1A"/>
                </a:solidFill>
                <a:latin typeface="Abadi"/>
              </a:rPr>
              <a:t>▪  Short courses relapse</a:t>
            </a:r>
          </a:p>
        </p:txBody>
      </p:sp>
      <p:sp>
        <p:nvSpPr>
          <p:cNvPr id="32" name="TextBox 31"/>
          <p:cNvSpPr txBox="1"/>
          <p:nvPr/>
        </p:nvSpPr>
        <p:spPr>
          <a:xfrm>
            <a:off x="548640" y="4251960"/>
            <a:ext cx="11082528" cy="914400"/>
          </a:xfrm>
          <a:prstGeom prst="rect">
            <a:avLst/>
          </a:prstGeom>
          <a:noFill/>
        </p:spPr>
        <p:txBody>
          <a:bodyPr wrap="square" anchor="t" lIns="36576" rIns="36576" tIns="36576" bIns="36576">
            <a:spAutoFit/>
          </a:bodyPr>
          <a:lstStyle/>
          <a:p>
            <a:pPr algn="l"/>
            <a:r>
              <a:rPr sz="1250" b="1" i="0">
                <a:solidFill>
                  <a:srgbClr val="1B355E"/>
                </a:solidFill>
                <a:latin typeface="Abadi"/>
              </a:rPr>
              <a:t>And one more.   </a:t>
            </a:r>
            <a:r>
              <a:rPr sz="1250" b="0" i="0">
                <a:solidFill>
                  <a:srgbClr val="1A1A1A"/>
                </a:solidFill>
                <a:latin typeface="Abadi"/>
              </a:rPr>
              <a:t>A ceftriaxone habit in a unit where Klebsiella and enterococci dominate means many first courses fail. Know the local antibiogram and the child's last isolate.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anchor="ctr" lIns="0" rIns="0" tIns="0" bIns="0">
            <a:spAutoFit/>
          </a:bodyPr>
          <a:lstStyle/>
          <a:p>
            <a:pPr algn="ctr"/>
            <a:r>
              <a:rPr sz="1500" b="1" i="0">
                <a:solidFill>
                  <a:srgbClr val="FFFFFF"/>
                </a:solidFill>
                <a:latin typeface="Abadi"/>
              </a:rPr>
              <a:t>IX</a:t>
            </a:r>
          </a:p>
        </p:txBody>
      </p:sp>
      <p:sp>
        <p:nvSpPr>
          <p:cNvPr id="4" name="TextBox 3"/>
          <p:cNvSpPr txBox="1"/>
          <p:nvPr/>
        </p:nvSpPr>
        <p:spPr>
          <a:xfrm>
            <a:off x="1380744" y="292608"/>
            <a:ext cx="10232136" cy="347472"/>
          </a:xfrm>
          <a:prstGeom prst="rect">
            <a:avLst/>
          </a:prstGeom>
          <a:noFill/>
        </p:spPr>
        <p:txBody>
          <a:bodyPr wrap="square" anchor="ctr" lIns="36576" rIns="36576" tIns="36576" bIns="36576">
            <a:spAutoFit/>
          </a:bodyPr>
          <a:lstStyle/>
          <a:p>
            <a:pPr algn="l"/>
            <a:r>
              <a:rPr sz="1200" b="1" i="0">
                <a:solidFill>
                  <a:srgbClr val="B22222"/>
                </a:solidFill>
                <a:latin typeface="Abadi"/>
              </a:rPr>
              <a:t>PEARLS</a:t>
            </a:r>
          </a:p>
        </p:txBody>
      </p:sp>
      <p:sp>
        <p:nvSpPr>
          <p:cNvPr id="5" name="TextBox 4"/>
          <p:cNvSpPr txBox="1"/>
          <p:nvPr/>
        </p:nvSpPr>
        <p:spPr>
          <a:xfrm>
            <a:off x="548640" y="722376"/>
            <a:ext cx="11082528" cy="548640"/>
          </a:xfrm>
          <a:prstGeom prst="rect">
            <a:avLst/>
          </a:prstGeom>
          <a:noFill/>
        </p:spPr>
        <p:txBody>
          <a:bodyPr wrap="square" anchor="ctr" lIns="36576" rIns="36576" tIns="36576" bIns="36576">
            <a:spAutoFit/>
          </a:bodyPr>
          <a:lstStyle/>
          <a:p>
            <a:pPr algn="l"/>
            <a:r>
              <a:rPr sz="3000" b="1" i="0">
                <a:solidFill>
                  <a:srgbClr val="1B355E"/>
                </a:solidFill>
                <a:latin typeface="Abadi"/>
              </a:rPr>
              <a:t>TEN THINGS TO REMEMBER</a:t>
            </a:r>
          </a:p>
        </p:txBody>
      </p:sp>
      <p:sp>
        <p:nvSpPr>
          <p:cNvPr id="6" name="TextBox 5"/>
          <p:cNvSpPr txBox="1"/>
          <p:nvPr/>
        </p:nvSpPr>
        <p:spPr>
          <a:xfrm>
            <a:off x="548640" y="1307592"/>
            <a:ext cx="11082528" cy="265176"/>
          </a:xfrm>
          <a:prstGeom prst="rect">
            <a:avLst/>
          </a:prstGeom>
          <a:noFill/>
        </p:spPr>
        <p:txBody>
          <a:bodyPr wrap="square" anchor="t" lIns="36576" rIns="36576" tIns="36576" bIns="36576">
            <a:spAutoFit/>
          </a:bodyPr>
          <a:lstStyle/>
          <a:p>
            <a:pPr algn="l"/>
            <a:r>
              <a:rPr sz="1300" b="0" i="0">
                <a:solidFill>
                  <a:srgbClr val="555555"/>
                </a:solidFill>
                <a:latin typeface="Abadi"/>
              </a:rPr>
              <a:t>The numbers worth carrying onto the ward</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anchor="t" lIns="36576" rIns="36576" tIns="36576" bIns="36576">
            <a:spAutoFit/>
          </a:bodyPr>
          <a:lstStyle/>
          <a:p>
            <a:pPr algn="r"/>
            <a:r>
              <a:rPr sz="1200" b="0" i="0">
                <a:solidFill>
                  <a:srgbClr val="555555"/>
                </a:solidFill>
                <a:latin typeface="Abadi"/>
              </a:rPr>
              <a:t>20</a:t>
            </a:r>
          </a:p>
        </p:txBody>
      </p:sp>
      <p:sp>
        <p:nvSpPr>
          <p:cNvPr id="11" name="TextBox 10"/>
          <p:cNvSpPr txBox="1"/>
          <p:nvPr/>
        </p:nvSpPr>
        <p:spPr>
          <a:xfrm>
            <a:off x="548640" y="5971032"/>
            <a:ext cx="10287000" cy="457200"/>
          </a:xfrm>
          <a:prstGeom prst="rect">
            <a:avLst/>
          </a:prstGeom>
          <a:noFill/>
        </p:spPr>
        <p:txBody>
          <a:bodyPr wrap="square" anchor="t" lIns="36576" rIns="36576" tIns="36576" bIns="36576">
            <a:spAutoFit/>
          </a:bodyPr>
          <a:lstStyle/>
          <a:p>
            <a:pPr algn="l"/>
            <a:r>
              <a:rPr sz="1000" b="0" i="0">
                <a:solidFill>
                  <a:srgbClr val="7F7F7F"/>
                </a:solidFill>
                <a:latin typeface="Abadi"/>
              </a:rPr>
              <a:t>van Heurn 2003 · Calinescu 2022 · Madadi-Sanjani 2024 · Baek 2020 · Wang 2023 · Chen 2021 · Alatas 2023 · Chen 2026 · Bu 2002 · Ginström 2019</a:t>
            </a:r>
          </a:p>
        </p:txBody>
      </p:sp>
      <p:sp>
        <p:nvSpPr>
          <p:cNvPr id="12" name="TextBox 11"/>
          <p:cNvSpPr txBox="1"/>
          <p:nvPr/>
        </p:nvSpPr>
        <p:spPr>
          <a:xfrm>
            <a:off x="548640" y="1810512"/>
            <a:ext cx="11082528" cy="3931920"/>
          </a:xfrm>
          <a:prstGeom prst="rect">
            <a:avLst/>
          </a:prstGeom>
          <a:noFill/>
        </p:spPr>
        <p:txBody>
          <a:bodyPr wrap="square" anchor="t" lIns="36576" rIns="36576" tIns="36576" bIns="36576">
            <a:spAutoFit/>
          </a:bodyPr>
          <a:lstStyle/>
          <a:p>
            <a:pPr algn="l">
              <a:spcAft>
                <a:spcPts val="500"/>
              </a:spcAft>
            </a:pPr>
            <a:r>
              <a:rPr sz="1300" b="0" i="0">
                <a:solidFill>
                  <a:srgbClr val="1A1A1A"/>
                </a:solidFill>
                <a:latin typeface="Abadi"/>
              </a:rPr>
              <a:t>▪  Half or more of infants have cholangitis after the Kasai, most in the first year, often by two months.</a:t>
            </a:r>
          </a:p>
          <a:p>
            <a:pPr algn="l">
              <a:spcAft>
                <a:spcPts val="500"/>
              </a:spcAft>
            </a:pPr>
            <a:r>
              <a:rPr sz="1300" b="0" i="0">
                <a:solidFill>
                  <a:srgbClr val="1A1A1A"/>
                </a:solidFill>
                <a:latin typeface="Abadi"/>
              </a:rPr>
              <a:t>▪  Partial drainage carries the highest risk; good early drainage still gets cholangitis often.</a:t>
            </a:r>
          </a:p>
          <a:p>
            <a:pPr algn="l">
              <a:spcAft>
                <a:spcPts val="500"/>
              </a:spcAft>
            </a:pPr>
            <a:r>
              <a:rPr sz="1300" b="0" i="0">
                <a:solidFill>
                  <a:srgbClr val="1A1A1A"/>
                </a:solidFill>
                <a:latin typeface="Abadi"/>
              </a:rPr>
              <a:t>▪  BARD 2022: suspected = 1 clinical + 1 laboratory criterion; confirmed = 2 + 2, or a positive culture.</a:t>
            </a:r>
          </a:p>
          <a:p>
            <a:pPr algn="l">
              <a:spcAft>
                <a:spcPts val="500"/>
              </a:spcAft>
            </a:pPr>
            <a:r>
              <a:rPr sz="1300" b="0" i="0">
                <a:solidFill>
                  <a:srgbClr val="1A1A1A"/>
                </a:solidFill>
                <a:latin typeface="Abadi"/>
              </a:rPr>
              <a:t>▪  Fever was present in only 41% of clinician-diagnosed episodes; bilirubin or GGT rose in 90%.</a:t>
            </a:r>
          </a:p>
          <a:p>
            <a:pPr algn="l">
              <a:spcAft>
                <a:spcPts val="500"/>
              </a:spcAft>
            </a:pPr>
            <a:r>
              <a:rPr sz="1300" b="0" i="0">
                <a:solidFill>
                  <a:srgbClr val="1A1A1A"/>
                </a:solidFill>
                <a:latin typeface="Abadi"/>
              </a:rPr>
              <a:t>▪  Blood cultures are positive in 10–44%; enterococci, E. coli, Enterobacter and Klebsiella lead.</a:t>
            </a:r>
          </a:p>
          <a:p>
            <a:pPr algn="l">
              <a:spcAft>
                <a:spcPts val="500"/>
              </a:spcAft>
            </a:pPr>
            <a:r>
              <a:rPr sz="1300" b="0" i="0">
                <a:solidFill>
                  <a:srgbClr val="1A1A1A"/>
                </a:solidFill>
                <a:latin typeface="Abadi"/>
              </a:rPr>
              <a:t>▪  Third-generation cephalosporins are failing more often; meropenem for severe or resistant cases.</a:t>
            </a:r>
          </a:p>
          <a:p>
            <a:pPr algn="l">
              <a:spcAft>
                <a:spcPts val="500"/>
              </a:spcAft>
            </a:pPr>
            <a:r>
              <a:rPr sz="1300" b="0" i="0">
                <a:solidFill>
                  <a:srgbClr val="1A1A1A"/>
                </a:solidFill>
                <a:latin typeface="Abadi"/>
              </a:rPr>
              <a:t>▪  Treat 10–14 days if suspected, 14–21 days if confirmed; escalate at 72 hours without response.</a:t>
            </a:r>
          </a:p>
          <a:p>
            <a:pPr algn="l">
              <a:spcAft>
                <a:spcPts val="500"/>
              </a:spcAft>
            </a:pPr>
            <a:r>
              <a:rPr sz="1300" b="0" i="0">
                <a:solidFill>
                  <a:srgbClr val="1A1A1A"/>
                </a:solidFill>
                <a:latin typeface="Abadi"/>
              </a:rPr>
              <a:t>▪  IVIG shortened fever in severe cholangitis in one RCT; not routine.</a:t>
            </a:r>
          </a:p>
          <a:p>
            <a:pPr algn="l">
              <a:spcAft>
                <a:spcPts val="500"/>
              </a:spcAft>
            </a:pPr>
            <a:r>
              <a:rPr sz="1300" b="0" i="0">
                <a:solidFill>
                  <a:srgbClr val="1A1A1A"/>
                </a:solidFill>
                <a:latin typeface="Abadi"/>
              </a:rPr>
              <a:t>▪  Prophylaxis for 6–12 months is consensus; meta-analyses show no fall in cholangitis.</a:t>
            </a:r>
          </a:p>
          <a:p>
            <a:pPr algn="l">
              <a:spcAft>
                <a:spcPts val="500"/>
              </a:spcAft>
            </a:pPr>
            <a:r>
              <a:rPr sz="1300" b="0" i="0">
                <a:solidFill>
                  <a:srgbClr val="1A1A1A"/>
                </a:solidFill>
                <a:latin typeface="Abadi"/>
              </a:rPr>
              <a:t>▪  Bile lakes in 6–26%; multiple lakes with recurrent cholangitis point towards transplant.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anchor="ctr" lIns="0" rIns="0" tIns="0" bIns="0">
            <a:spAutoFit/>
          </a:bodyPr>
          <a:lstStyle/>
          <a:p>
            <a:pPr algn="ctr"/>
            <a:r>
              <a:rPr sz="1500" b="1" i="0">
                <a:solidFill>
                  <a:srgbClr val="FFFFFF"/>
                </a:solidFill>
                <a:latin typeface="Abadi"/>
              </a:rPr>
              <a:t>X</a:t>
            </a:r>
          </a:p>
        </p:txBody>
      </p:sp>
      <p:sp>
        <p:nvSpPr>
          <p:cNvPr id="4" name="TextBox 3"/>
          <p:cNvSpPr txBox="1"/>
          <p:nvPr/>
        </p:nvSpPr>
        <p:spPr>
          <a:xfrm>
            <a:off x="1380744" y="292608"/>
            <a:ext cx="10232136" cy="347472"/>
          </a:xfrm>
          <a:prstGeom prst="rect">
            <a:avLst/>
          </a:prstGeom>
          <a:noFill/>
        </p:spPr>
        <p:txBody>
          <a:bodyPr wrap="square" anchor="ctr" lIns="36576" rIns="36576" tIns="36576" bIns="36576">
            <a:spAutoFit/>
          </a:bodyPr>
          <a:lstStyle/>
          <a:p>
            <a:pPr algn="l"/>
            <a:r>
              <a:rPr sz="1200" b="1" i="0">
                <a:solidFill>
                  <a:srgbClr val="B22222"/>
                </a:solidFill>
                <a:latin typeface="Abadi"/>
              </a:rPr>
              <a:t>SYNTHESIS — SCENARIO TO DECISION</a:t>
            </a:r>
          </a:p>
        </p:txBody>
      </p:sp>
      <p:sp>
        <p:nvSpPr>
          <p:cNvPr id="5" name="TextBox 4"/>
          <p:cNvSpPr txBox="1"/>
          <p:nvPr/>
        </p:nvSpPr>
        <p:spPr>
          <a:xfrm>
            <a:off x="548640" y="722376"/>
            <a:ext cx="11082528" cy="548640"/>
          </a:xfrm>
          <a:prstGeom prst="rect">
            <a:avLst/>
          </a:prstGeom>
          <a:noFill/>
        </p:spPr>
        <p:txBody>
          <a:bodyPr wrap="square" anchor="ctr" lIns="36576" rIns="36576" tIns="36576" bIns="36576">
            <a:spAutoFit/>
          </a:bodyPr>
          <a:lstStyle/>
          <a:p>
            <a:pPr algn="l"/>
            <a:r>
              <a:rPr sz="3000" b="1" i="0">
                <a:solidFill>
                  <a:srgbClr val="1B355E"/>
                </a:solidFill>
                <a:latin typeface="Abadi"/>
              </a:rPr>
              <a:t>FROM SCENARIO TO DECISION</a:t>
            </a:r>
          </a:p>
        </p:txBody>
      </p:sp>
      <p:sp>
        <p:nvSpPr>
          <p:cNvPr id="6" name="TextBox 5"/>
          <p:cNvSpPr txBox="1"/>
          <p:nvPr/>
        </p:nvSpPr>
        <p:spPr>
          <a:xfrm>
            <a:off x="548640" y="1307592"/>
            <a:ext cx="11082528" cy="265176"/>
          </a:xfrm>
          <a:prstGeom prst="rect">
            <a:avLst/>
          </a:prstGeom>
          <a:noFill/>
        </p:spPr>
        <p:txBody>
          <a:bodyPr wrap="square" anchor="t" lIns="36576" rIns="36576" tIns="36576" bIns="36576">
            <a:spAutoFit/>
          </a:bodyPr>
          <a:lstStyle/>
          <a:p>
            <a:pPr algn="l"/>
            <a:r>
              <a:rPr sz="1300" b="0" i="0">
                <a:solidFill>
                  <a:srgbClr val="555555"/>
                </a:solidFill>
                <a:latin typeface="Abadi"/>
              </a:rPr>
              <a:t>Applying the cholangitis evidence in clinic</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anchor="t" lIns="36576" rIns="36576" tIns="36576" bIns="36576">
            <a:spAutoFit/>
          </a:bodyPr>
          <a:lstStyle/>
          <a:p>
            <a:pPr algn="r"/>
            <a:r>
              <a:rPr sz="1200" b="0" i="0">
                <a:solidFill>
                  <a:srgbClr val="555555"/>
                </a:solidFill>
                <a:latin typeface="Abadi"/>
              </a:rPr>
              <a:t>21</a:t>
            </a:r>
          </a:p>
        </p:txBody>
      </p:sp>
      <p:sp>
        <p:nvSpPr>
          <p:cNvPr id="11" name="TextBox 10"/>
          <p:cNvSpPr txBox="1"/>
          <p:nvPr/>
        </p:nvSpPr>
        <p:spPr>
          <a:xfrm>
            <a:off x="548640" y="5971032"/>
            <a:ext cx="10287000" cy="457200"/>
          </a:xfrm>
          <a:prstGeom prst="rect">
            <a:avLst/>
          </a:prstGeom>
          <a:noFill/>
        </p:spPr>
        <p:txBody>
          <a:bodyPr wrap="square" anchor="t" lIns="36576" rIns="36576" tIns="36576" bIns="36576">
            <a:spAutoFit/>
          </a:bodyPr>
          <a:lstStyle/>
          <a:p>
            <a:pPr algn="l"/>
            <a:r>
              <a:rPr sz="1000" b="0" i="0">
                <a:solidFill>
                  <a:srgbClr val="7F7F7F"/>
                </a:solidFill>
                <a:latin typeface="Abadi"/>
              </a:rPr>
              <a:t>Synthesis of the sources above</a:t>
            </a:r>
          </a:p>
        </p:txBody>
      </p:sp>
      <p:graphicFrame>
        <p:nvGraphicFramePr>
          <p:cNvPr id="12" name="Table 11"/>
          <p:cNvGraphicFramePr>
            <a:graphicFrameLocks noGrp="1"/>
          </p:cNvGraphicFramePr>
          <p:nvPr/>
        </p:nvGraphicFramePr>
        <p:xfrm>
          <a:off x="548640" y="1783080"/>
          <a:ext cx="11082526" cy="3657600"/>
        </p:xfrm>
        <a:graphic>
          <a:graphicData uri="http://schemas.openxmlformats.org/drawingml/2006/table">
            <a:tbl>
              <a:tblPr firstRow="0" bandRow="0">
                <a:tableStyleId>{5C22544A-7EE6-4342-B048-85BDC9FD1C3A}</a:tableStyleId>
              </a:tblPr>
              <a:tblGrid>
                <a:gridCol w="3749039"/>
                <a:gridCol w="3749039"/>
                <a:gridCol w="3584448"/>
              </a:tblGrid>
              <a:tr h="457200">
                <a:tc>
                  <a:txBody>
                    <a:bodyPr wrap="square"/>
                    <a:lstStyle/>
                    <a:p>
                      <a:r>
                        <a:rPr sz="1050" b="1">
                          <a:solidFill>
                            <a:srgbClr val="FFFFFF"/>
                          </a:solidFill>
                          <a:latin typeface="Abadi"/>
                        </a:rPr>
                        <a:t>Scenario</a:t>
                      </a:r>
                    </a:p>
                  </a:txBody>
                  <a:tcPr marL="73152" marR="73152" marT="27432" marB="27432" anchor="ctr">
                    <a:solidFill>
                      <a:srgbClr val="1B355E"/>
                    </a:solidFill>
                  </a:tcPr>
                </a:tc>
                <a:tc>
                  <a:txBody>
                    <a:bodyPr wrap="square"/>
                    <a:lstStyle/>
                    <a:p>
                      <a:r>
                        <a:rPr sz="1050" b="1">
                          <a:solidFill>
                            <a:srgbClr val="FFFFFF"/>
                          </a:solidFill>
                          <a:latin typeface="Abadi"/>
                        </a:rPr>
                        <a:t>Decision</a:t>
                      </a:r>
                    </a:p>
                  </a:txBody>
                  <a:tcPr marL="73152" marR="73152" marT="27432" marB="27432" anchor="ctr">
                    <a:solidFill>
                      <a:srgbClr val="1B355E"/>
                    </a:solidFill>
                  </a:tcPr>
                </a:tc>
                <a:tc>
                  <a:txBody>
                    <a:bodyPr wrap="square"/>
                    <a:lstStyle/>
                    <a:p>
                      <a:r>
                        <a:rPr sz="1050" b="1">
                          <a:solidFill>
                            <a:srgbClr val="FFFFFF"/>
                          </a:solidFill>
                          <a:latin typeface="Abadi"/>
                        </a:rPr>
                        <a:t>Why</a:t>
                      </a:r>
                    </a:p>
                  </a:txBody>
                  <a:tcPr marL="73152" marR="73152" marT="27432" marB="27432" anchor="ctr">
                    <a:solidFill>
                      <a:srgbClr val="1B355E"/>
                    </a:solidFill>
                  </a:tcPr>
                </a:tc>
              </a:tr>
              <a:tr h="457200">
                <a:tc>
                  <a:txBody>
                    <a:bodyPr wrap="square"/>
                    <a:lstStyle/>
                    <a:p>
                      <a:r>
                        <a:rPr sz="1000" b="1">
                          <a:solidFill>
                            <a:srgbClr val="1A1A1A"/>
                          </a:solidFill>
                          <a:latin typeface="Abadi"/>
                        </a:rPr>
                        <a:t>Week 4, afebrile, pale stools, GGT doubled</a:t>
                      </a:r>
                    </a:p>
                  </a:txBody>
                  <a:tcPr marL="73152" marR="73152" marT="27432" marB="27432" anchor="ctr">
                    <a:solidFill>
                      <a:srgbClr val="FFFFFF"/>
                    </a:solidFill>
                  </a:tcPr>
                </a:tc>
                <a:tc>
                  <a:txBody>
                    <a:bodyPr wrap="square"/>
                    <a:lstStyle/>
                    <a:p>
                      <a:r>
                        <a:rPr sz="1000" b="0">
                          <a:solidFill>
                            <a:srgbClr val="1A1A1A"/>
                          </a:solidFill>
                          <a:latin typeface="Abadi"/>
                        </a:rPr>
                        <a:t>Cultures, IV antibiotics as suspected cholangitis</a:t>
                      </a:r>
                    </a:p>
                  </a:txBody>
                  <a:tcPr marL="73152" marR="73152" marT="27432" marB="27432" anchor="ctr">
                    <a:solidFill>
                      <a:srgbClr val="FFFFFF"/>
                    </a:solidFill>
                  </a:tcPr>
                </a:tc>
                <a:tc>
                  <a:txBody>
                    <a:bodyPr wrap="square"/>
                    <a:lstStyle/>
                    <a:p>
                      <a:r>
                        <a:rPr sz="1000" b="0">
                          <a:solidFill>
                            <a:srgbClr val="1A1A1A"/>
                          </a:solidFill>
                          <a:latin typeface="Abadi"/>
                        </a:rPr>
                        <a:t>Fever absent in most episodes</a:t>
                      </a:r>
                    </a:p>
                  </a:txBody>
                  <a:tcPr marL="73152" marR="73152" marT="27432" marB="27432" anchor="ctr">
                    <a:solidFill>
                      <a:srgbClr val="FFFFFF"/>
                    </a:solidFill>
                  </a:tcPr>
                </a:tc>
              </a:tr>
              <a:tr h="457200">
                <a:tc>
                  <a:txBody>
                    <a:bodyPr wrap="square"/>
                    <a:lstStyle/>
                    <a:p>
                      <a:r>
                        <a:rPr sz="1000" b="1">
                          <a:solidFill>
                            <a:srgbClr val="1A1A1A"/>
                          </a:solidFill>
                          <a:latin typeface="Abadi"/>
                        </a:rPr>
                        <a:t>Fever at 8 weeks on TMP-SMX</a:t>
                      </a:r>
                    </a:p>
                  </a:txBody>
                  <a:tcPr marL="73152" marR="73152" marT="27432" marB="27432" anchor="ctr">
                    <a:solidFill>
                      <a:srgbClr val="F2F4F7"/>
                    </a:solidFill>
                  </a:tcPr>
                </a:tc>
                <a:tc>
                  <a:txBody>
                    <a:bodyPr wrap="square"/>
                    <a:lstStyle/>
                    <a:p>
                      <a:r>
                        <a:rPr sz="1000" b="0">
                          <a:solidFill>
                            <a:srgbClr val="1A1A1A"/>
                          </a:solidFill>
                          <a:latin typeface="Abadi"/>
                        </a:rPr>
                        <a:t>Meropenem or piperacillin–tazobactam</a:t>
                      </a:r>
                    </a:p>
                  </a:txBody>
                  <a:tcPr marL="73152" marR="73152" marT="27432" marB="27432" anchor="ctr">
                    <a:solidFill>
                      <a:srgbClr val="F2F4F7"/>
                    </a:solidFill>
                  </a:tcPr>
                </a:tc>
                <a:tc>
                  <a:txBody>
                    <a:bodyPr wrap="square"/>
                    <a:lstStyle/>
                    <a:p>
                      <a:r>
                        <a:rPr sz="1000" b="0">
                          <a:solidFill>
                            <a:srgbClr val="1A1A1A"/>
                          </a:solidFill>
                          <a:latin typeface="Abadi"/>
                        </a:rPr>
                        <a:t>Breakthrough on prophylaxis selects resistance</a:t>
                      </a:r>
                    </a:p>
                  </a:txBody>
                  <a:tcPr marL="73152" marR="73152" marT="27432" marB="27432" anchor="ctr">
                    <a:solidFill>
                      <a:srgbClr val="F2F4F7"/>
                    </a:solidFill>
                  </a:tcPr>
                </a:tc>
              </a:tr>
              <a:tr h="457200">
                <a:tc>
                  <a:txBody>
                    <a:bodyPr wrap="square"/>
                    <a:lstStyle/>
                    <a:p>
                      <a:r>
                        <a:rPr sz="1000" b="1">
                          <a:solidFill>
                            <a:srgbClr val="1A1A1A"/>
                          </a:solidFill>
                          <a:latin typeface="Abadi"/>
                        </a:rPr>
                        <a:t>Culture: Enterococcus faecium</a:t>
                      </a:r>
                    </a:p>
                  </a:txBody>
                  <a:tcPr marL="73152" marR="73152" marT="27432" marB="27432" anchor="ctr">
                    <a:solidFill>
                      <a:srgbClr val="FFFFFF"/>
                    </a:solidFill>
                  </a:tcPr>
                </a:tc>
                <a:tc>
                  <a:txBody>
                    <a:bodyPr wrap="square"/>
                    <a:lstStyle/>
                    <a:p>
                      <a:r>
                        <a:rPr sz="1000" b="0">
                          <a:solidFill>
                            <a:srgbClr val="1A1A1A"/>
                          </a:solidFill>
                          <a:latin typeface="Abadi"/>
                        </a:rPr>
                        <a:t>Add vancomycin, narrow later</a:t>
                      </a:r>
                    </a:p>
                  </a:txBody>
                  <a:tcPr marL="73152" marR="73152" marT="27432" marB="27432" anchor="ctr">
                    <a:solidFill>
                      <a:srgbClr val="FFFFFF"/>
                    </a:solidFill>
                  </a:tcPr>
                </a:tc>
                <a:tc>
                  <a:txBody>
                    <a:bodyPr wrap="square"/>
                    <a:lstStyle/>
                    <a:p>
                      <a:r>
                        <a:rPr sz="1000" b="0">
                          <a:solidFill>
                            <a:srgbClr val="1A1A1A"/>
                          </a:solidFill>
                          <a:latin typeface="Abadi"/>
                        </a:rPr>
                        <a:t>Ampicillin-susceptible in only 42%</a:t>
                      </a:r>
                    </a:p>
                  </a:txBody>
                  <a:tcPr marL="73152" marR="73152" marT="27432" marB="27432" anchor="ctr">
                    <a:solidFill>
                      <a:srgbClr val="FFFFFF"/>
                    </a:solidFill>
                  </a:tcPr>
                </a:tc>
              </a:tr>
              <a:tr h="457200">
                <a:tc>
                  <a:txBody>
                    <a:bodyPr wrap="square"/>
                    <a:lstStyle/>
                    <a:p>
                      <a:r>
                        <a:rPr sz="1000" b="1">
                          <a:solidFill>
                            <a:srgbClr val="1A1A1A"/>
                          </a:solidFill>
                          <a:latin typeface="Abadi"/>
                        </a:rPr>
                        <a:t>Well at day 5, parents ask for oral</a:t>
                      </a:r>
                    </a:p>
                  </a:txBody>
                  <a:tcPr marL="73152" marR="73152" marT="27432" marB="27432" anchor="ctr">
                    <a:solidFill>
                      <a:srgbClr val="F2F4F7"/>
                    </a:solidFill>
                  </a:tcPr>
                </a:tc>
                <a:tc>
                  <a:txBody>
                    <a:bodyPr wrap="square"/>
                    <a:lstStyle/>
                    <a:p>
                      <a:r>
                        <a:rPr sz="1000" b="0">
                          <a:solidFill>
                            <a:srgbClr val="1A1A1A"/>
                          </a:solidFill>
                          <a:latin typeface="Abadi"/>
                        </a:rPr>
                        <a:t>Complete 10–14 days IV</a:t>
                      </a:r>
                    </a:p>
                  </a:txBody>
                  <a:tcPr marL="73152" marR="73152" marT="27432" marB="27432" anchor="ctr">
                    <a:solidFill>
                      <a:srgbClr val="F2F4F7"/>
                    </a:solidFill>
                  </a:tcPr>
                </a:tc>
                <a:tc>
                  <a:txBody>
                    <a:bodyPr wrap="square"/>
                    <a:lstStyle/>
                    <a:p>
                      <a:r>
                        <a:rPr sz="1000" b="0">
                          <a:solidFill>
                            <a:srgbClr val="1A1A1A"/>
                          </a:solidFill>
                          <a:latin typeface="Abadi"/>
                        </a:rPr>
                        <a:t>Consensus; short courses relapse</a:t>
                      </a:r>
                    </a:p>
                  </a:txBody>
                  <a:tcPr marL="73152" marR="73152" marT="27432" marB="27432" anchor="ctr">
                    <a:solidFill>
                      <a:srgbClr val="F2F4F7"/>
                    </a:solidFill>
                  </a:tcPr>
                </a:tc>
              </a:tr>
              <a:tr h="457200">
                <a:tc>
                  <a:txBody>
                    <a:bodyPr wrap="square"/>
                    <a:lstStyle/>
                    <a:p>
                      <a:r>
                        <a:rPr sz="1000" b="1">
                          <a:solidFill>
                            <a:srgbClr val="1A1A1A"/>
                          </a:solidFill>
                          <a:latin typeface="Abadi"/>
                        </a:rPr>
                        <a:t>Third episode in 6 months</a:t>
                      </a:r>
                    </a:p>
                  </a:txBody>
                  <a:tcPr marL="73152" marR="73152" marT="27432" marB="27432" anchor="ctr">
                    <a:solidFill>
                      <a:srgbClr val="FFFFFF"/>
                    </a:solidFill>
                  </a:tcPr>
                </a:tc>
                <a:tc>
                  <a:txBody>
                    <a:bodyPr wrap="square"/>
                    <a:lstStyle/>
                    <a:p>
                      <a:r>
                        <a:rPr sz="1000" b="0">
                          <a:solidFill>
                            <a:srgbClr val="1A1A1A"/>
                          </a:solidFill>
                          <a:latin typeface="Abadi"/>
                        </a:rPr>
                        <a:t>Ultrasound for lakes; refer to transplant team</a:t>
                      </a:r>
                    </a:p>
                  </a:txBody>
                  <a:tcPr marL="73152" marR="73152" marT="27432" marB="27432" anchor="ctr">
                    <a:solidFill>
                      <a:srgbClr val="FFFFFF"/>
                    </a:solidFill>
                  </a:tcPr>
                </a:tc>
                <a:tc>
                  <a:txBody>
                    <a:bodyPr wrap="square"/>
                    <a:lstStyle/>
                    <a:p>
                      <a:r>
                        <a:rPr sz="1000" b="0">
                          <a:solidFill>
                            <a:srgbClr val="1A1A1A"/>
                          </a:solidFill>
                          <a:latin typeface="Abadi"/>
                        </a:rPr>
                        <a:t>Relapsing cholangitis predicts liver loss</a:t>
                      </a:r>
                    </a:p>
                  </a:txBody>
                  <a:tcPr marL="73152" marR="73152" marT="27432" marB="27432" anchor="ctr">
                    <a:solidFill>
                      <a:srgbClr val="FFFFFF"/>
                    </a:solidFill>
                  </a:tcPr>
                </a:tc>
              </a:tr>
              <a:tr h="457200">
                <a:tc>
                  <a:txBody>
                    <a:bodyPr wrap="square"/>
                    <a:lstStyle/>
                    <a:p>
                      <a:r>
                        <a:rPr sz="1000" b="1">
                          <a:solidFill>
                            <a:srgbClr val="1A1A1A"/>
                          </a:solidFill>
                          <a:latin typeface="Abadi"/>
                        </a:rPr>
                        <a:t>Single lake near porta, recurrent fever</a:t>
                      </a:r>
                    </a:p>
                  </a:txBody>
                  <a:tcPr marL="73152" marR="73152" marT="27432" marB="27432" anchor="ctr">
                    <a:solidFill>
                      <a:srgbClr val="F2F4F7"/>
                    </a:solidFill>
                  </a:tcPr>
                </a:tc>
                <a:tc>
                  <a:txBody>
                    <a:bodyPr wrap="square"/>
                    <a:lstStyle/>
                    <a:p>
                      <a:r>
                        <a:rPr sz="1000" b="0">
                          <a:solidFill>
                            <a:srgbClr val="1A1A1A"/>
                          </a:solidFill>
                          <a:latin typeface="Abadi"/>
                        </a:rPr>
                        <a:t>Prolonged antibiotics; discuss drainage</a:t>
                      </a:r>
                    </a:p>
                  </a:txBody>
                  <a:tcPr marL="73152" marR="73152" marT="27432" marB="27432" anchor="ctr">
                    <a:solidFill>
                      <a:srgbClr val="F2F4F7"/>
                    </a:solidFill>
                  </a:tcPr>
                </a:tc>
                <a:tc>
                  <a:txBody>
                    <a:bodyPr wrap="square"/>
                    <a:lstStyle/>
                    <a:p>
                      <a:r>
                        <a:rPr sz="1000" b="0">
                          <a:solidFill>
                            <a:srgbClr val="1A1A1A"/>
                          </a:solidFill>
                          <a:latin typeface="Abadi"/>
                        </a:rPr>
                        <a:t>Single lakes drain; multiple do not</a:t>
                      </a:r>
                    </a:p>
                  </a:txBody>
                  <a:tcPr marL="73152" marR="73152" marT="27432" marB="27432" anchor="ctr">
                    <a:solidFill>
                      <a:srgbClr val="F2F4F7"/>
                    </a:solidFill>
                  </a:tcPr>
                </a:tc>
              </a:tr>
              <a:tr h="457200">
                <a:tc>
                  <a:txBody>
                    <a:bodyPr wrap="square"/>
                    <a:lstStyle/>
                    <a:p>
                      <a:r>
                        <a:rPr sz="1000" b="1">
                          <a:solidFill>
                            <a:srgbClr val="1A1A1A"/>
                          </a:solidFill>
                          <a:latin typeface="Abadi"/>
                        </a:rPr>
                        <a:t>Family asks: is prophylaxis needed?</a:t>
                      </a:r>
                    </a:p>
                  </a:txBody>
                  <a:tcPr marL="73152" marR="73152" marT="27432" marB="27432" anchor="ctr">
                    <a:solidFill>
                      <a:srgbClr val="FFFFFF"/>
                    </a:solidFill>
                  </a:tcPr>
                </a:tc>
                <a:tc>
                  <a:txBody>
                    <a:bodyPr wrap="square"/>
                    <a:lstStyle/>
                    <a:p>
                      <a:r>
                        <a:rPr sz="1000" b="0">
                          <a:solidFill>
                            <a:srgbClr val="1A1A1A"/>
                          </a:solidFill>
                          <a:latin typeface="Abadi"/>
                        </a:rPr>
                        <a:t>Offer 6–12 months, explain uncertainty</a:t>
                      </a:r>
                    </a:p>
                  </a:txBody>
                  <a:tcPr marL="73152" marR="73152" marT="27432" marB="27432" anchor="ctr">
                    <a:solidFill>
                      <a:srgbClr val="FFFFFF"/>
                    </a:solidFill>
                  </a:tcPr>
                </a:tc>
                <a:tc>
                  <a:txBody>
                    <a:bodyPr wrap="square"/>
                    <a:lstStyle/>
                    <a:p>
                      <a:r>
                        <a:rPr sz="1000" b="0">
                          <a:solidFill>
                            <a:srgbClr val="1A1A1A"/>
                          </a:solidFill>
                          <a:latin typeface="Abadi"/>
                        </a:rPr>
                        <a:t>Consensus support, null meta-analyses</a:t>
                      </a:r>
                    </a:p>
                  </a:txBody>
                  <a:tcPr marL="73152" marR="73152" marT="27432" marB="27432" anchor="ctr">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737360"/>
            <a:ext cx="11082528" cy="2194560"/>
          </a:xfrm>
          <a:prstGeom prst="rect">
            <a:avLst/>
          </a:prstGeom>
          <a:noFill/>
        </p:spPr>
        <p:txBody>
          <a:bodyPr wrap="square" anchor="b" lIns="36576" rIns="36576" tIns="36576" bIns="36576">
            <a:spAutoFit/>
          </a:bodyPr>
          <a:lstStyle/>
          <a:p>
            <a:pPr algn="ctr"/>
            <a:r>
              <a:rPr sz="4000" b="1" i="0">
                <a:solidFill>
                  <a:srgbClr val="FFFFFF"/>
                </a:solidFill>
                <a:latin typeface="Abadi"/>
              </a:rPr>
              <a:t>Biliary Atresia VII: Cholangitis after the Kasai — Diagnosis, Empiric Therapy, Prophylaxis and Bile Lakes</a:t>
            </a:r>
          </a:p>
        </p:txBody>
      </p:sp>
      <p:sp>
        <p:nvSpPr>
          <p:cNvPr id="4" name="TextBox 3"/>
          <p:cNvSpPr txBox="1"/>
          <p:nvPr/>
        </p:nvSpPr>
        <p:spPr>
          <a:xfrm>
            <a:off x="548640" y="4114800"/>
            <a:ext cx="11082528" cy="365760"/>
          </a:xfrm>
          <a:prstGeom prst="rect">
            <a:avLst/>
          </a:prstGeom>
          <a:noFill/>
        </p:spPr>
        <p:txBody>
          <a:bodyPr wrap="square" anchor="t" lIns="36576" rIns="36576" tIns="36576" bIns="36576">
            <a:spAutoFit/>
          </a:bodyPr>
          <a:lstStyle/>
          <a:p>
            <a:pPr algn="ctr"/>
            <a:r>
              <a:rPr sz="1700" b="1" i="0">
                <a:solidFill>
                  <a:srgbClr val="FFFFFF"/>
                </a:solidFill>
                <a:latin typeface="Abadi"/>
              </a:rPr>
              <a:t>Andrey Ermak, 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