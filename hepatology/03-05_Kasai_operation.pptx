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0" rIns="0" tIns="0" bIns="0" anchor="b">
            <a:spAutoFit/>
          </a:bodyPr>
          <a:lstStyle/>
          <a:p>
            <a:pPr algn="ctr"/>
            <a:r>
              <a:rPr sz="4000" b="1" i="0">
                <a:solidFill>
                  <a:srgbClr val="FFFFFF"/>
                </a:solidFill>
                <a:latin typeface="Abadi"/>
              </a:rPr>
              <a:t>Biliary Atresia V: The Kasai Operation — Technique, Laparoscopic versus Open, and Centre Volume</a:t>
            </a:r>
          </a:p>
        </p:txBody>
      </p:sp>
      <p:sp>
        <p:nvSpPr>
          <p:cNvPr id="4" name="Rectangle 3"/>
          <p:cNvSpPr/>
          <p:nvPr/>
        </p:nvSpPr>
        <p:spPr>
          <a:xfrm>
            <a:off x="5184648" y="3630168"/>
            <a:ext cx="1828800"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0" rIns="0" tIns="0" bIns="0" anchor="t">
            <a:spAutoFit/>
          </a:bodyPr>
          <a:lstStyle/>
          <a:p>
            <a:pPr algn="ctr"/>
            <a:r>
              <a:rPr sz="1700" b="1" i="0">
                <a:solidFill>
                  <a:srgbClr val="FFFFFF"/>
                </a:solidFill>
                <a:latin typeface="Abadi"/>
              </a:rPr>
              <a:t>Andrey Ermak, MD</a:t>
            </a:r>
          </a:p>
        </p:txBody>
      </p:sp>
      <p:sp>
        <p:nvSpPr>
          <p:cNvPr id="6" name="TextBox 5"/>
          <p:cNvSpPr txBox="1"/>
          <p:nvPr/>
        </p:nvSpPr>
        <p:spPr>
          <a:xfrm>
            <a:off x="548640" y="4343400"/>
            <a:ext cx="11082528" cy="685800"/>
          </a:xfrm>
          <a:prstGeom prst="rect">
            <a:avLst/>
          </a:prstGeom>
          <a:noFill/>
        </p:spPr>
        <p:txBody>
          <a:bodyPr wrap="square" lIns="0" rIns="0" tIns="0" bIns="0" anchor="t">
            <a:spAutoFit/>
          </a:bodyPr>
          <a:lstStyle/>
          <a:p>
            <a:pPr algn="ctr"/>
            <a:r>
              <a:rPr sz="1100" b="0" i="0">
                <a:solidFill>
                  <a:srgbClr val="D9DEE7"/>
                </a:solidFill>
                <a:latin typeface="Abadi"/>
              </a:rPr>
              <a:t>Kasai 1959 · Superina 2011 · Abe 2022 · Ramachandran 2016 · Ure 2011 · Wong 2008 · Son 2023 · Okur 2023 · Shirota 2020 · Guo 2025 · Pakarinen 2018 · Nio 2025 · Davenport 2011 · McKiernan 2000 · Hery 2017 · NASPGHAN/ESPGHAN 2017 · AAP 2025</a:t>
            </a:r>
          </a:p>
        </p:txBody>
      </p:sp>
      <p:sp>
        <p:nvSpPr>
          <p:cNvPr id="7" name="TextBox 6"/>
          <p:cNvSpPr txBox="1"/>
          <p:nvPr/>
        </p:nvSpPr>
        <p:spPr>
          <a:xfrm>
            <a:off x="548640" y="5193792"/>
            <a:ext cx="11082528" cy="548640"/>
          </a:xfrm>
          <a:prstGeom prst="rect">
            <a:avLst/>
          </a:prstGeom>
          <a:noFill/>
        </p:spPr>
        <p:txBody>
          <a:bodyPr wrap="square" lIns="0" rIns="0" tIns="0" bIns="0" anchor="t">
            <a:spAutoFit/>
          </a:bodyPr>
          <a:lstStyle/>
          <a:p>
            <a:pPr algn="ctr"/>
            <a:r>
              <a:rPr sz="1100" b="0" i="1">
                <a:solidFill>
                  <a:srgbClr val="D9DEE7"/>
                </a:solidFill>
                <a:latin typeface="Abadi"/>
              </a:rPr>
              <a:t>the operation drains what is left at the porta · flush, not deep · no diathermy on the plate · keyhole has not beaten the open operation · the team, not the incision, buys native liver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THE QUESTION OF THE DAY</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SAME OPERATION, DIFFERENT LIVERS?</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A 6-week-old with type III atresia: does it matter who operates, how deep they cut, and through what incisions?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2</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Kasai M, et al. Shujutsu 1959 · Superina R, et al. Ann Surg 2011;254:577–85 · Pakarinen MP, et al. J Pediatr Surg 2018;53:1509–15</a:t>
            </a:r>
          </a:p>
        </p:txBody>
      </p:sp>
      <p:sp>
        <p:nvSpPr>
          <p:cNvPr id="12" name="Rectangle 11"/>
          <p:cNvSpPr/>
          <p:nvPr/>
        </p:nvSpPr>
        <p:spPr>
          <a:xfrm>
            <a:off x="548640" y="1773936"/>
            <a:ext cx="2070201"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0" rIns="0" tIns="0" bIns="0" anchor="t">
            <a:spAutoFit/>
          </a:bodyPr>
          <a:lstStyle/>
          <a:p>
            <a:pPr algn="l"/>
            <a:r>
              <a:rPr sz="1500" b="1" i="0">
                <a:solidFill>
                  <a:srgbClr val="1B355E"/>
                </a:solidFill>
                <a:latin typeface="Abadi"/>
              </a:rPr>
              <a:t>Technique</a:t>
            </a:r>
          </a:p>
        </p:txBody>
      </p:sp>
      <p:sp>
        <p:nvSpPr>
          <p:cNvPr id="15" name="TextBox 14"/>
          <p:cNvSpPr txBox="1"/>
          <p:nvPr/>
        </p:nvSpPr>
        <p:spPr>
          <a:xfrm>
            <a:off x="694944" y="2505456"/>
            <a:ext cx="1777593" cy="1325880"/>
          </a:xfrm>
          <a:prstGeom prst="rect">
            <a:avLst/>
          </a:prstGeom>
          <a:noFill/>
        </p:spPr>
        <p:txBody>
          <a:bodyPr wrap="square" lIns="0" rIns="0" tIns="0" bIns="0" anchor="t">
            <a:spAutoFit/>
          </a:bodyPr>
          <a:lstStyle/>
          <a:p>
            <a:pPr algn="l">
              <a:spcAft>
                <a:spcPts val="400"/>
              </a:spcAft>
            </a:pPr>
            <a:r>
              <a:rPr sz="1100" b="0" i="0">
                <a:solidFill>
                  <a:srgbClr val="1A1A1A"/>
                </a:solidFill>
                <a:latin typeface="Abadi"/>
              </a:rPr>
              <a:t>▪  Level of plate transection</a:t>
            </a:r>
          </a:p>
          <a:p>
            <a:pPr algn="l">
              <a:spcAft>
                <a:spcPts val="400"/>
              </a:spcAft>
            </a:pPr>
            <a:r>
              <a:rPr sz="1100" b="0" i="0">
                <a:solidFill>
                  <a:srgbClr val="1A1A1A"/>
                </a:solidFill>
                <a:latin typeface="Abadi"/>
              </a:rPr>
              <a:t>▪  Haemostasis without diathermy</a:t>
            </a:r>
          </a:p>
          <a:p>
            <a:pPr algn="l">
              <a:spcAft>
                <a:spcPts val="400"/>
              </a:spcAft>
            </a:pPr>
            <a:r>
              <a:rPr sz="1100" b="0" i="0">
                <a:solidFill>
                  <a:srgbClr val="1A1A1A"/>
                </a:solidFill>
                <a:latin typeface="Abadi"/>
              </a:rPr>
              <a:t>▪  Roux limb ~40 cm</a:t>
            </a:r>
          </a:p>
        </p:txBody>
      </p:sp>
      <p:sp>
        <p:nvSpPr>
          <p:cNvPr id="16" name="Rectangle 15"/>
          <p:cNvSpPr/>
          <p:nvPr/>
        </p:nvSpPr>
        <p:spPr>
          <a:xfrm>
            <a:off x="2801721" y="1773936"/>
            <a:ext cx="2070201"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0" rIns="0" tIns="0" bIns="0" anchor="t">
            <a:spAutoFit/>
          </a:bodyPr>
          <a:lstStyle/>
          <a:p>
            <a:pPr algn="l"/>
            <a:r>
              <a:rPr sz="1500" b="1" i="0">
                <a:solidFill>
                  <a:srgbClr val="D97A0B"/>
                </a:solidFill>
                <a:latin typeface="Abadi"/>
              </a:rPr>
              <a:t>Approach</a:t>
            </a:r>
          </a:p>
        </p:txBody>
      </p:sp>
      <p:sp>
        <p:nvSpPr>
          <p:cNvPr id="19" name="TextBox 18"/>
          <p:cNvSpPr txBox="1"/>
          <p:nvPr/>
        </p:nvSpPr>
        <p:spPr>
          <a:xfrm>
            <a:off x="2948025" y="2505456"/>
            <a:ext cx="1777593" cy="1325880"/>
          </a:xfrm>
          <a:prstGeom prst="rect">
            <a:avLst/>
          </a:prstGeom>
          <a:noFill/>
        </p:spPr>
        <p:txBody>
          <a:bodyPr wrap="square" lIns="0" rIns="0" tIns="0" bIns="0" anchor="t">
            <a:spAutoFit/>
          </a:bodyPr>
          <a:lstStyle/>
          <a:p>
            <a:pPr algn="l">
              <a:spcAft>
                <a:spcPts val="400"/>
              </a:spcAft>
            </a:pPr>
            <a:r>
              <a:rPr sz="1100" b="0" i="0">
                <a:solidFill>
                  <a:srgbClr val="1A1A1A"/>
                </a:solidFill>
                <a:latin typeface="Abadi"/>
              </a:rPr>
              <a:t>▪  Open: the reference</a:t>
            </a:r>
          </a:p>
          <a:p>
            <a:pPr algn="l">
              <a:spcAft>
                <a:spcPts val="400"/>
              </a:spcAft>
            </a:pPr>
            <a:r>
              <a:rPr sz="1100" b="0" i="0">
                <a:solidFill>
                  <a:srgbClr val="1A1A1A"/>
                </a:solidFill>
                <a:latin typeface="Abadi"/>
              </a:rPr>
              <a:t>▪  Laparoscopic: mixed record</a:t>
            </a:r>
          </a:p>
          <a:p>
            <a:pPr algn="l">
              <a:spcAft>
                <a:spcPts val="400"/>
              </a:spcAft>
            </a:pPr>
            <a:r>
              <a:rPr sz="1100" b="0" i="0">
                <a:solidFill>
                  <a:srgbClr val="1A1A1A"/>
                </a:solidFill>
                <a:latin typeface="Abadi"/>
              </a:rPr>
              <a:t>▪  Robotic: early series</a:t>
            </a:r>
          </a:p>
        </p:txBody>
      </p:sp>
      <p:sp>
        <p:nvSpPr>
          <p:cNvPr id="20" name="Rectangle 19"/>
          <p:cNvSpPr/>
          <p:nvPr/>
        </p:nvSpPr>
        <p:spPr>
          <a:xfrm>
            <a:off x="5054803" y="1773936"/>
            <a:ext cx="2070201"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0" rIns="0" tIns="0" bIns="0" anchor="t">
            <a:spAutoFit/>
          </a:bodyPr>
          <a:lstStyle/>
          <a:p>
            <a:pPr algn="l"/>
            <a:r>
              <a:rPr sz="1500" b="1" i="0">
                <a:solidFill>
                  <a:srgbClr val="1E7A33"/>
                </a:solidFill>
                <a:latin typeface="Abadi"/>
              </a:rPr>
              <a:t>Centre</a:t>
            </a:r>
          </a:p>
        </p:txBody>
      </p:sp>
      <p:sp>
        <p:nvSpPr>
          <p:cNvPr id="23" name="TextBox 22"/>
          <p:cNvSpPr txBox="1"/>
          <p:nvPr/>
        </p:nvSpPr>
        <p:spPr>
          <a:xfrm>
            <a:off x="5201107" y="2505456"/>
            <a:ext cx="1777593" cy="1325880"/>
          </a:xfrm>
          <a:prstGeom prst="rect">
            <a:avLst/>
          </a:prstGeom>
          <a:noFill/>
        </p:spPr>
        <p:txBody>
          <a:bodyPr wrap="square" lIns="0" rIns="0" tIns="0" bIns="0" anchor="t">
            <a:spAutoFit/>
          </a:bodyPr>
          <a:lstStyle/>
          <a:p>
            <a:pPr algn="l">
              <a:spcAft>
                <a:spcPts val="400"/>
              </a:spcAft>
            </a:pPr>
            <a:r>
              <a:rPr sz="1100" b="0" i="0">
                <a:solidFill>
                  <a:srgbClr val="1A1A1A"/>
                </a:solidFill>
                <a:latin typeface="Abadi"/>
              </a:rPr>
              <a:t>▪  Caseload &gt; 3 per year</a:t>
            </a:r>
          </a:p>
          <a:p>
            <a:pPr algn="l">
              <a:spcAft>
                <a:spcPts val="400"/>
              </a:spcAft>
            </a:pPr>
            <a:r>
              <a:rPr sz="1100" b="0" i="0">
                <a:solidFill>
                  <a:srgbClr val="1A1A1A"/>
                </a:solidFill>
                <a:latin typeface="Abadi"/>
              </a:rPr>
              <a:t>▪  Surgeon, hepatologist, transplant on one site</a:t>
            </a:r>
          </a:p>
        </p:txBody>
      </p:sp>
      <p:sp>
        <p:nvSpPr>
          <p:cNvPr id="24" name="Rectangle 23"/>
          <p:cNvSpPr/>
          <p:nvPr/>
        </p:nvSpPr>
        <p:spPr>
          <a:xfrm>
            <a:off x="7307884" y="1773936"/>
            <a:ext cx="2070201"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0" rIns="0" tIns="0" bIns="0" anchor="t">
            <a:spAutoFit/>
          </a:bodyPr>
          <a:lstStyle/>
          <a:p>
            <a:pPr algn="l"/>
            <a:r>
              <a:rPr sz="1500" b="1" i="0">
                <a:solidFill>
                  <a:srgbClr val="B22222"/>
                </a:solidFill>
                <a:latin typeface="Abadi"/>
              </a:rPr>
              <a:t>Substrate</a:t>
            </a:r>
          </a:p>
        </p:txBody>
      </p:sp>
      <p:sp>
        <p:nvSpPr>
          <p:cNvPr id="27" name="TextBox 26"/>
          <p:cNvSpPr txBox="1"/>
          <p:nvPr/>
        </p:nvSpPr>
        <p:spPr>
          <a:xfrm>
            <a:off x="7454188" y="2505456"/>
            <a:ext cx="1777593" cy="1325880"/>
          </a:xfrm>
          <a:prstGeom prst="rect">
            <a:avLst/>
          </a:prstGeom>
          <a:noFill/>
        </p:spPr>
        <p:txBody>
          <a:bodyPr wrap="square" lIns="0" rIns="0" tIns="0" bIns="0" anchor="t">
            <a:spAutoFit/>
          </a:bodyPr>
          <a:lstStyle/>
          <a:p>
            <a:pPr algn="l">
              <a:spcAft>
                <a:spcPts val="400"/>
              </a:spcAft>
            </a:pPr>
            <a:r>
              <a:rPr sz="1100" b="0" i="0">
                <a:solidFill>
                  <a:srgbClr val="1A1A1A"/>
                </a:solidFill>
                <a:latin typeface="Abadi"/>
              </a:rPr>
              <a:t>▪  Age, ductule size, Ohi type</a:t>
            </a:r>
          </a:p>
          <a:p>
            <a:pPr algn="l">
              <a:spcAft>
                <a:spcPts val="400"/>
              </a:spcAft>
            </a:pPr>
            <a:r>
              <a:rPr sz="1100" b="0" i="0">
                <a:solidFill>
                  <a:srgbClr val="1A1A1A"/>
                </a:solidFill>
                <a:latin typeface="Abadi"/>
              </a:rPr>
              <a:t>▪  Splenic malformation</a:t>
            </a:r>
          </a:p>
          <a:p>
            <a:pPr algn="l">
              <a:spcAft>
                <a:spcPts val="400"/>
              </a:spcAft>
            </a:pPr>
            <a:r>
              <a:rPr sz="1100" b="0" i="0">
                <a:solidFill>
                  <a:srgbClr val="1A1A1A"/>
                </a:solidFill>
                <a:latin typeface="Abadi"/>
              </a:rPr>
              <a:t>▪  Ascites, nodular liver</a:t>
            </a:r>
          </a:p>
        </p:txBody>
      </p:sp>
      <p:sp>
        <p:nvSpPr>
          <p:cNvPr id="28" name="Rectangle 27"/>
          <p:cNvSpPr/>
          <p:nvPr/>
        </p:nvSpPr>
        <p:spPr>
          <a:xfrm>
            <a:off x="9560966" y="1773936"/>
            <a:ext cx="2070201"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0" rIns="0" tIns="0" bIns="0" anchor="t">
            <a:spAutoFit/>
          </a:bodyPr>
          <a:lstStyle/>
          <a:p>
            <a:pPr algn="l"/>
            <a:r>
              <a:rPr sz="1500" b="1" i="0">
                <a:solidFill>
                  <a:srgbClr val="8A939B"/>
                </a:solidFill>
                <a:latin typeface="Abadi"/>
              </a:rPr>
              <a:t>What follows</a:t>
            </a:r>
          </a:p>
        </p:txBody>
      </p:sp>
      <p:sp>
        <p:nvSpPr>
          <p:cNvPr id="31" name="TextBox 30"/>
          <p:cNvSpPr txBox="1"/>
          <p:nvPr/>
        </p:nvSpPr>
        <p:spPr>
          <a:xfrm>
            <a:off x="9707270" y="2505456"/>
            <a:ext cx="1777593" cy="1325880"/>
          </a:xfrm>
          <a:prstGeom prst="rect">
            <a:avLst/>
          </a:prstGeom>
          <a:noFill/>
        </p:spPr>
        <p:txBody>
          <a:bodyPr wrap="square" lIns="0" rIns="0" tIns="0" bIns="0" anchor="t">
            <a:spAutoFit/>
          </a:bodyPr>
          <a:lstStyle/>
          <a:p>
            <a:pPr algn="l">
              <a:spcAft>
                <a:spcPts val="400"/>
              </a:spcAft>
            </a:pPr>
            <a:r>
              <a:rPr sz="1100" b="0" i="0">
                <a:solidFill>
                  <a:srgbClr val="1A1A1A"/>
                </a:solidFill>
                <a:latin typeface="Abadi"/>
              </a:rPr>
              <a:t>▪  Cholangitis in 30–60%</a:t>
            </a:r>
          </a:p>
          <a:p>
            <a:pPr algn="l">
              <a:spcAft>
                <a:spcPts val="400"/>
              </a:spcAft>
            </a:pPr>
            <a:r>
              <a:rPr sz="1100" b="0" i="0">
                <a:solidFill>
                  <a:srgbClr val="1A1A1A"/>
                </a:solidFill>
                <a:latin typeface="Abadi"/>
              </a:rPr>
              <a:t>▪  Bilirubin &lt; 2 mg/dL by 3 months as the readout</a:t>
            </a:r>
          </a:p>
        </p:txBody>
      </p:sp>
      <p:sp>
        <p:nvSpPr>
          <p:cNvPr id="32" name="TextBox 31"/>
          <p:cNvSpPr txBox="1"/>
          <p:nvPr/>
        </p:nvSpPr>
        <p:spPr>
          <a:xfrm>
            <a:off x="548640" y="4114800"/>
            <a:ext cx="11082528" cy="1691640"/>
          </a:xfrm>
          <a:prstGeom prst="rect">
            <a:avLst/>
          </a:prstGeom>
          <a:noFill/>
        </p:spPr>
        <p:txBody>
          <a:bodyPr wrap="square" lIns="0" rIns="0" tIns="0" bIns="0" anchor="t">
            <a:spAutoFit/>
          </a:bodyPr>
          <a:lstStyle/>
          <a:p>
            <a:pPr algn="l">
              <a:spcAft>
                <a:spcPts val="600"/>
              </a:spcAft>
            </a:pPr>
            <a:r>
              <a:rPr sz="1250" b="1" i="0">
                <a:solidFill>
                  <a:srgbClr val="1B355E"/>
                </a:solidFill>
                <a:latin typeface="Abadi"/>
              </a:rPr>
              <a:t>The main idea.   </a:t>
            </a:r>
            <a:r>
              <a:rPr sz="1250" b="0" i="0">
                <a:solidFill>
                  <a:srgbClr val="1A1A1A"/>
                </a:solidFill>
                <a:latin typeface="Abadi"/>
              </a:rPr>
              <a:t>The Kasai portoenterostomy is a drainage operation, not a reconstruction: it can only open what fibrosis has not yet destroyed. Within that limit, outcome depends on a precise, flush transection of the portal plate, on not adding harm (deep cuts, diathermy, complex conduits), and on the experience of the whole team. The incision matters less than the hands behind it; no approach has beaten the open operation.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MECHANISM</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WHAT THE KASAI ACTUALLY DOES</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Excise the fibrous remnant, transect the plate at the level of the liver capsule, and let microscopic ductules drain into a Roux limb</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3</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Kasai 1959 · Superina 2011 · Davenport M. Semin Pediatr Surg 2012 (technical review) · Ramachandran P, et al. J Indian Assoc Pediatr Surg 2016;21:66–71</a:t>
            </a:r>
          </a:p>
        </p:txBody>
      </p:sp>
      <p:sp>
        <p:nvSpPr>
          <p:cNvPr id="12" name="Rectangle 11"/>
          <p:cNvSpPr/>
          <p:nvPr/>
        </p:nvSpPr>
        <p:spPr>
          <a:xfrm>
            <a:off x="548640" y="1773936"/>
            <a:ext cx="1982419" cy="19202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1799539" cy="274320"/>
          </a:xfrm>
          <a:prstGeom prst="rect">
            <a:avLst/>
          </a:prstGeom>
          <a:noFill/>
        </p:spPr>
        <p:txBody>
          <a:bodyPr wrap="square" lIns="0" rIns="0" tIns="0" bIns="0" anchor="ctr">
            <a:spAutoFit/>
          </a:bodyPr>
          <a:lstStyle/>
          <a:p>
            <a:pPr algn="l"/>
            <a:r>
              <a:rPr sz="1050" b="1" i="0">
                <a:solidFill>
                  <a:srgbClr val="FFFFFF"/>
                </a:solidFill>
                <a:latin typeface="Abadi"/>
              </a:rPr>
              <a:t>Fibrous remnant</a:t>
            </a:r>
          </a:p>
        </p:txBody>
      </p:sp>
      <p:sp>
        <p:nvSpPr>
          <p:cNvPr id="15" name="TextBox 14"/>
          <p:cNvSpPr txBox="1"/>
          <p:nvPr/>
        </p:nvSpPr>
        <p:spPr>
          <a:xfrm>
            <a:off x="658368" y="2185416"/>
            <a:ext cx="1762963" cy="1463040"/>
          </a:xfrm>
          <a:prstGeom prst="rect">
            <a:avLst/>
          </a:prstGeom>
          <a:noFill/>
        </p:spPr>
        <p:txBody>
          <a:bodyPr wrap="square" lIns="0" rIns="0" tIns="0" bIns="0" anchor="t">
            <a:spAutoFit/>
          </a:bodyPr>
          <a:lstStyle/>
          <a:p>
            <a:pPr algn="l"/>
            <a:r>
              <a:rPr sz="1050" b="0" i="0">
                <a:solidFill>
                  <a:srgbClr val="1A1A1A"/>
                </a:solidFill>
                <a:latin typeface="Abadi"/>
              </a:rPr>
              <a:t>The extrahepatic ducts are a solid cord ending in a fibrous cone at the porta hepatis.</a:t>
            </a:r>
          </a:p>
        </p:txBody>
      </p:sp>
      <p:sp>
        <p:nvSpPr>
          <p:cNvPr id="16" name="TextBox 15"/>
          <p:cNvSpPr txBox="1"/>
          <p:nvPr/>
        </p:nvSpPr>
        <p:spPr>
          <a:xfrm>
            <a:off x="2531059" y="2551176"/>
            <a:ext cx="292608" cy="365760"/>
          </a:xfrm>
          <a:prstGeom prst="rect">
            <a:avLst/>
          </a:prstGeom>
          <a:noFill/>
        </p:spPr>
        <p:txBody>
          <a:bodyPr wrap="square" lIns="0" rIns="0" tIns="0" bIns="0" anchor="t">
            <a:spAutoFit/>
          </a:bodyPr>
          <a:lstStyle/>
          <a:p>
            <a:pPr algn="ctr"/>
            <a:r>
              <a:rPr sz="1200" b="0" i="0">
                <a:solidFill>
                  <a:srgbClr val="8A939B"/>
                </a:solidFill>
                <a:latin typeface="Abadi"/>
              </a:rPr>
              <a:t>▶</a:t>
            </a:r>
          </a:p>
        </p:txBody>
      </p:sp>
      <p:sp>
        <p:nvSpPr>
          <p:cNvPr id="17" name="Rectangle 16"/>
          <p:cNvSpPr/>
          <p:nvPr/>
        </p:nvSpPr>
        <p:spPr>
          <a:xfrm>
            <a:off x="2823667" y="1773936"/>
            <a:ext cx="1982419" cy="19202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3667" y="1773936"/>
            <a:ext cx="1982419"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15107" y="1792224"/>
            <a:ext cx="1799539" cy="274320"/>
          </a:xfrm>
          <a:prstGeom prst="rect">
            <a:avLst/>
          </a:prstGeom>
          <a:noFill/>
        </p:spPr>
        <p:txBody>
          <a:bodyPr wrap="square" lIns="0" rIns="0" tIns="0" bIns="0" anchor="ctr">
            <a:spAutoFit/>
          </a:bodyPr>
          <a:lstStyle/>
          <a:p>
            <a:pPr algn="l"/>
            <a:r>
              <a:rPr sz="1050" b="1" i="0">
                <a:solidFill>
                  <a:srgbClr val="FFFFFF"/>
                </a:solidFill>
                <a:latin typeface="Abadi"/>
              </a:rPr>
              <a:t>Residual ductules</a:t>
            </a:r>
          </a:p>
        </p:txBody>
      </p:sp>
      <p:sp>
        <p:nvSpPr>
          <p:cNvPr id="20" name="TextBox 19"/>
          <p:cNvSpPr txBox="1"/>
          <p:nvPr/>
        </p:nvSpPr>
        <p:spPr>
          <a:xfrm>
            <a:off x="2933395" y="2185416"/>
            <a:ext cx="1762963" cy="1463040"/>
          </a:xfrm>
          <a:prstGeom prst="rect">
            <a:avLst/>
          </a:prstGeom>
          <a:noFill/>
        </p:spPr>
        <p:txBody>
          <a:bodyPr wrap="square" lIns="0" rIns="0" tIns="0" bIns="0" anchor="t">
            <a:spAutoFit/>
          </a:bodyPr>
          <a:lstStyle/>
          <a:p>
            <a:pPr algn="l"/>
            <a:r>
              <a:rPr sz="1050" b="0" i="0">
                <a:solidFill>
                  <a:srgbClr val="1A1A1A"/>
                </a:solidFill>
                <a:latin typeface="Abadi"/>
              </a:rPr>
              <a:t>Inside the cone lie microscopic channels still connected to the intrahepatic bile ducts.</a:t>
            </a:r>
          </a:p>
        </p:txBody>
      </p:sp>
      <p:sp>
        <p:nvSpPr>
          <p:cNvPr id="21" name="TextBox 20"/>
          <p:cNvSpPr txBox="1"/>
          <p:nvPr/>
        </p:nvSpPr>
        <p:spPr>
          <a:xfrm>
            <a:off x="4806086" y="2551176"/>
            <a:ext cx="292608" cy="365760"/>
          </a:xfrm>
          <a:prstGeom prst="rect">
            <a:avLst/>
          </a:prstGeom>
          <a:noFill/>
        </p:spPr>
        <p:txBody>
          <a:bodyPr wrap="square" lIns="0" rIns="0" tIns="0" bIns="0" anchor="t">
            <a:spAutoFit/>
          </a:bodyPr>
          <a:lstStyle/>
          <a:p>
            <a:pPr algn="ctr"/>
            <a:r>
              <a:rPr sz="1200" b="0" i="0">
                <a:solidFill>
                  <a:srgbClr val="8A939B"/>
                </a:solidFill>
                <a:latin typeface="Abadi"/>
              </a:rPr>
              <a:t>▶</a:t>
            </a:r>
          </a:p>
        </p:txBody>
      </p:sp>
      <p:sp>
        <p:nvSpPr>
          <p:cNvPr id="22" name="Rectangle 21"/>
          <p:cNvSpPr/>
          <p:nvPr/>
        </p:nvSpPr>
        <p:spPr>
          <a:xfrm>
            <a:off x="5098694" y="1773936"/>
            <a:ext cx="1982419" cy="19202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8694"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0134" y="1792224"/>
            <a:ext cx="1799539" cy="274320"/>
          </a:xfrm>
          <a:prstGeom prst="rect">
            <a:avLst/>
          </a:prstGeom>
          <a:noFill/>
        </p:spPr>
        <p:txBody>
          <a:bodyPr wrap="square" lIns="0" rIns="0" tIns="0" bIns="0" anchor="ctr">
            <a:spAutoFit/>
          </a:bodyPr>
          <a:lstStyle/>
          <a:p>
            <a:pPr algn="l"/>
            <a:r>
              <a:rPr sz="1050" b="1" i="0">
                <a:solidFill>
                  <a:srgbClr val="FFFFFF"/>
                </a:solidFill>
                <a:latin typeface="Abadi"/>
              </a:rPr>
              <a:t>Flush transection</a:t>
            </a:r>
          </a:p>
        </p:txBody>
      </p:sp>
      <p:sp>
        <p:nvSpPr>
          <p:cNvPr id="25" name="TextBox 24"/>
          <p:cNvSpPr txBox="1"/>
          <p:nvPr/>
        </p:nvSpPr>
        <p:spPr>
          <a:xfrm>
            <a:off x="5208422" y="2185416"/>
            <a:ext cx="1762963" cy="1463040"/>
          </a:xfrm>
          <a:prstGeom prst="rect">
            <a:avLst/>
          </a:prstGeom>
          <a:noFill/>
        </p:spPr>
        <p:txBody>
          <a:bodyPr wrap="square" lIns="0" rIns="0" tIns="0" bIns="0" anchor="t">
            <a:spAutoFit/>
          </a:bodyPr>
          <a:lstStyle/>
          <a:p>
            <a:pPr algn="l"/>
            <a:r>
              <a:rPr sz="1050" b="0" i="0">
                <a:solidFill>
                  <a:srgbClr val="1A1A1A"/>
                </a:solidFill>
                <a:latin typeface="Abadi"/>
              </a:rPr>
              <a:t>Cutting the cone level with the liver capsule opens these channels without injuring them.</a:t>
            </a:r>
          </a:p>
        </p:txBody>
      </p:sp>
      <p:sp>
        <p:nvSpPr>
          <p:cNvPr id="26" name="TextBox 25"/>
          <p:cNvSpPr txBox="1"/>
          <p:nvPr/>
        </p:nvSpPr>
        <p:spPr>
          <a:xfrm>
            <a:off x="7081113" y="2551176"/>
            <a:ext cx="292608" cy="365760"/>
          </a:xfrm>
          <a:prstGeom prst="rect">
            <a:avLst/>
          </a:prstGeom>
          <a:noFill/>
        </p:spPr>
        <p:txBody>
          <a:bodyPr wrap="square" lIns="0" rIns="0" tIns="0" bIns="0" anchor="t">
            <a:spAutoFit/>
          </a:bodyPr>
          <a:lstStyle/>
          <a:p>
            <a:pPr algn="ctr"/>
            <a:r>
              <a:rPr sz="1200" b="0" i="0">
                <a:solidFill>
                  <a:srgbClr val="8A939B"/>
                </a:solidFill>
                <a:latin typeface="Abadi"/>
              </a:rPr>
              <a:t>▶</a:t>
            </a:r>
          </a:p>
        </p:txBody>
      </p:sp>
      <p:sp>
        <p:nvSpPr>
          <p:cNvPr id="27" name="Rectangle 26"/>
          <p:cNvSpPr/>
          <p:nvPr/>
        </p:nvSpPr>
        <p:spPr>
          <a:xfrm>
            <a:off x="7373721" y="1773936"/>
            <a:ext cx="1982419" cy="19202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3721" y="1773936"/>
            <a:ext cx="1982419"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5161" y="1792224"/>
            <a:ext cx="1799539" cy="274320"/>
          </a:xfrm>
          <a:prstGeom prst="rect">
            <a:avLst/>
          </a:prstGeom>
          <a:noFill/>
        </p:spPr>
        <p:txBody>
          <a:bodyPr wrap="square" lIns="0" rIns="0" tIns="0" bIns="0" anchor="ctr">
            <a:spAutoFit/>
          </a:bodyPr>
          <a:lstStyle/>
          <a:p>
            <a:pPr algn="l"/>
            <a:r>
              <a:rPr sz="1050" b="1" i="0">
                <a:solidFill>
                  <a:srgbClr val="FFFFFF"/>
                </a:solidFill>
                <a:latin typeface="Abadi"/>
              </a:rPr>
              <a:t>Roux limb drains</a:t>
            </a:r>
          </a:p>
        </p:txBody>
      </p:sp>
      <p:sp>
        <p:nvSpPr>
          <p:cNvPr id="30" name="TextBox 29"/>
          <p:cNvSpPr txBox="1"/>
          <p:nvPr/>
        </p:nvSpPr>
        <p:spPr>
          <a:xfrm>
            <a:off x="7483449" y="2185416"/>
            <a:ext cx="1762963" cy="1463040"/>
          </a:xfrm>
          <a:prstGeom prst="rect">
            <a:avLst/>
          </a:prstGeom>
          <a:noFill/>
        </p:spPr>
        <p:txBody>
          <a:bodyPr wrap="square" lIns="0" rIns="0" tIns="0" bIns="0" anchor="t">
            <a:spAutoFit/>
          </a:bodyPr>
          <a:lstStyle/>
          <a:p>
            <a:pPr algn="l"/>
            <a:r>
              <a:rPr sz="1050" b="0" i="0">
                <a:solidFill>
                  <a:srgbClr val="1A1A1A"/>
                </a:solidFill>
                <a:latin typeface="Abadi"/>
              </a:rPr>
              <a:t>A jejunal limb is sewn around the edge of the cut surface so bile leaks into bowel.</a:t>
            </a:r>
          </a:p>
        </p:txBody>
      </p:sp>
      <p:sp>
        <p:nvSpPr>
          <p:cNvPr id="31" name="TextBox 30"/>
          <p:cNvSpPr txBox="1"/>
          <p:nvPr/>
        </p:nvSpPr>
        <p:spPr>
          <a:xfrm>
            <a:off x="9356140" y="2551176"/>
            <a:ext cx="292608" cy="365760"/>
          </a:xfrm>
          <a:prstGeom prst="rect">
            <a:avLst/>
          </a:prstGeom>
          <a:noFill/>
        </p:spPr>
        <p:txBody>
          <a:bodyPr wrap="square" lIns="0" rIns="0" tIns="0" bIns="0" anchor="t">
            <a:spAutoFit/>
          </a:bodyPr>
          <a:lstStyle/>
          <a:p>
            <a:pPr algn="ctr"/>
            <a:r>
              <a:rPr sz="1200" b="0" i="0">
                <a:solidFill>
                  <a:srgbClr val="8A939B"/>
                </a:solidFill>
                <a:latin typeface="Abadi"/>
              </a:rPr>
              <a:t>▶</a:t>
            </a:r>
          </a:p>
        </p:txBody>
      </p:sp>
      <p:sp>
        <p:nvSpPr>
          <p:cNvPr id="32" name="Rectangle 31"/>
          <p:cNvSpPr/>
          <p:nvPr/>
        </p:nvSpPr>
        <p:spPr>
          <a:xfrm>
            <a:off x="9648748" y="1773936"/>
            <a:ext cx="1982419" cy="19202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48748" y="1773936"/>
            <a:ext cx="1982419"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0188" y="1792224"/>
            <a:ext cx="1799539" cy="274320"/>
          </a:xfrm>
          <a:prstGeom prst="rect">
            <a:avLst/>
          </a:prstGeom>
          <a:noFill/>
        </p:spPr>
        <p:txBody>
          <a:bodyPr wrap="square" lIns="0" rIns="0" tIns="0" bIns="0" anchor="ctr">
            <a:spAutoFit/>
          </a:bodyPr>
          <a:lstStyle/>
          <a:p>
            <a:pPr algn="l"/>
            <a:r>
              <a:rPr sz="1050" b="1" i="0">
                <a:solidFill>
                  <a:srgbClr val="FFFFFF"/>
                </a:solidFill>
                <a:latin typeface="Abadi"/>
              </a:rPr>
              <a:t>Readout</a:t>
            </a:r>
          </a:p>
        </p:txBody>
      </p:sp>
      <p:sp>
        <p:nvSpPr>
          <p:cNvPr id="35" name="TextBox 34"/>
          <p:cNvSpPr txBox="1"/>
          <p:nvPr/>
        </p:nvSpPr>
        <p:spPr>
          <a:xfrm>
            <a:off x="9758476" y="2185416"/>
            <a:ext cx="1762963" cy="1463040"/>
          </a:xfrm>
          <a:prstGeom prst="rect">
            <a:avLst/>
          </a:prstGeom>
          <a:noFill/>
        </p:spPr>
        <p:txBody>
          <a:bodyPr wrap="square" lIns="0" rIns="0" tIns="0" bIns="0" anchor="t">
            <a:spAutoFit/>
          </a:bodyPr>
          <a:lstStyle/>
          <a:p>
            <a:pPr algn="l"/>
            <a:r>
              <a:rPr sz="1050" b="0" i="0">
                <a:solidFill>
                  <a:srgbClr val="1A1A1A"/>
                </a:solidFill>
                <a:latin typeface="Abadi"/>
              </a:rPr>
              <a:t>Bilirubin &lt; 2 mg/dL within 3 months; HR for transplant or death 0.08 if achieved.</a:t>
            </a:r>
          </a:p>
        </p:txBody>
      </p:sp>
      <p:sp>
        <p:nvSpPr>
          <p:cNvPr id="36" name="TextBox 35"/>
          <p:cNvSpPr txBox="1"/>
          <p:nvPr/>
        </p:nvSpPr>
        <p:spPr>
          <a:xfrm>
            <a:off x="548640" y="3977639"/>
            <a:ext cx="11082528" cy="1828800"/>
          </a:xfrm>
          <a:prstGeom prst="rect">
            <a:avLst/>
          </a:prstGeom>
          <a:noFill/>
        </p:spPr>
        <p:txBody>
          <a:bodyPr wrap="square" lIns="0" rIns="0" tIns="0" bIns="0" anchor="t">
            <a:spAutoFit/>
          </a:bodyPr>
          <a:lstStyle/>
          <a:p>
            <a:pPr algn="l">
              <a:spcAft>
                <a:spcPts val="600"/>
              </a:spcAft>
            </a:pPr>
            <a:r>
              <a:rPr sz="1250" b="1" i="0">
                <a:solidFill>
                  <a:srgbClr val="1B355E"/>
                </a:solidFill>
                <a:latin typeface="Abadi"/>
              </a:rPr>
              <a:t>Reading the chain.   </a:t>
            </a:r>
            <a:r>
              <a:rPr sz="1250" b="0" i="0">
                <a:solidFill>
                  <a:srgbClr val="1A1A1A"/>
                </a:solidFill>
                <a:latin typeface="Abadi"/>
              </a:rPr>
              <a:t>There is no duct-to-bowel anastomosis in the usual sense: the operation relies on capillary-sized ductules that the surgeon cannot see. Anything that burns, crushes or scars them, or a cut too shallow to reach them, turns a technically complete operation into a failed one.</a:t>
            </a:r>
          </a:p>
          <a:p>
            <a:pPr algn="l">
              <a:spcAft>
                <a:spcPts val="600"/>
              </a:spcAft>
            </a:pPr>
            <a:r>
              <a:rPr sz="1250" b="1" i="0">
                <a:solidFill>
                  <a:srgbClr val="1B355E"/>
                </a:solidFill>
                <a:latin typeface="Abadi"/>
              </a:rPr>
              <a:t>Why the substrate dominates.   </a:t>
            </a:r>
            <a:r>
              <a:rPr sz="1250" b="0" i="0">
                <a:solidFill>
                  <a:srgbClr val="1A1A1A"/>
                </a:solidFill>
                <a:latin typeface="Abadi"/>
              </a:rPr>
              <a:t>The number and calibre of patent ductules fall with age and with the anatomical pattern; Ohi subtypes b to d carried an HR of 4.31 for transplant or death in the North American network.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OPERATIVE STEPS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SIX STEPS, EACH WITH A PITFALL</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The classical open operation as performed in experienced centres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4</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Kasai 1959 · Davenport 2012 · Ramachandran 2016 · Superina 2011</a:t>
            </a:r>
          </a:p>
        </p:txBody>
      </p:sp>
      <p:sp>
        <p:nvSpPr>
          <p:cNvPr id="12" name="Rectangle 11"/>
          <p:cNvSpPr/>
          <p:nvPr/>
        </p:nvSpPr>
        <p:spPr>
          <a:xfrm>
            <a:off x="548640" y="1773936"/>
            <a:ext cx="1603247" cy="21031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603247"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1420368" cy="274320"/>
          </a:xfrm>
          <a:prstGeom prst="rect">
            <a:avLst/>
          </a:prstGeom>
          <a:noFill/>
        </p:spPr>
        <p:txBody>
          <a:bodyPr wrap="square" lIns="0" rIns="0" tIns="0" bIns="0" anchor="ctr">
            <a:spAutoFit/>
          </a:bodyPr>
          <a:lstStyle/>
          <a:p>
            <a:pPr algn="l"/>
            <a:r>
              <a:rPr sz="1050" b="1" i="0">
                <a:solidFill>
                  <a:srgbClr val="FFFFFF"/>
                </a:solidFill>
                <a:latin typeface="Abadi"/>
              </a:rPr>
              <a:t>1 · Confirm</a:t>
            </a:r>
          </a:p>
        </p:txBody>
      </p:sp>
      <p:sp>
        <p:nvSpPr>
          <p:cNvPr id="15" name="TextBox 14"/>
          <p:cNvSpPr txBox="1"/>
          <p:nvPr/>
        </p:nvSpPr>
        <p:spPr>
          <a:xfrm>
            <a:off x="658368" y="2185416"/>
            <a:ext cx="1383791" cy="1645919"/>
          </a:xfrm>
          <a:prstGeom prst="rect">
            <a:avLst/>
          </a:prstGeom>
          <a:noFill/>
        </p:spPr>
        <p:txBody>
          <a:bodyPr wrap="square" lIns="0" rIns="0" tIns="0" bIns="0" anchor="t">
            <a:spAutoFit/>
          </a:bodyPr>
          <a:lstStyle/>
          <a:p>
            <a:pPr algn="l"/>
            <a:r>
              <a:rPr sz="1000" b="0" i="0">
                <a:solidFill>
                  <a:srgbClr val="1A1A1A"/>
                </a:solidFill>
                <a:latin typeface="Abadi"/>
              </a:rPr>
              <a:t>Cholangiogram via the gallbladder remnant; liver biopsy; record type, cyst, splenic malformation.</a:t>
            </a:r>
          </a:p>
        </p:txBody>
      </p:sp>
      <p:sp>
        <p:nvSpPr>
          <p:cNvPr id="16" name="TextBox 15"/>
          <p:cNvSpPr txBox="1"/>
          <p:nvPr/>
        </p:nvSpPr>
        <p:spPr>
          <a:xfrm>
            <a:off x="2151887" y="2642615"/>
            <a:ext cx="292608" cy="365760"/>
          </a:xfrm>
          <a:prstGeom prst="rect">
            <a:avLst/>
          </a:prstGeom>
          <a:noFill/>
        </p:spPr>
        <p:txBody>
          <a:bodyPr wrap="square" lIns="0" rIns="0" tIns="0" bIns="0" anchor="t">
            <a:spAutoFit/>
          </a:bodyPr>
          <a:lstStyle/>
          <a:p>
            <a:pPr algn="ctr"/>
            <a:r>
              <a:rPr sz="1200" b="0" i="0">
                <a:solidFill>
                  <a:srgbClr val="8A939B"/>
                </a:solidFill>
                <a:latin typeface="Abadi"/>
              </a:rPr>
              <a:t>▶</a:t>
            </a:r>
          </a:p>
        </p:txBody>
      </p:sp>
      <p:sp>
        <p:nvSpPr>
          <p:cNvPr id="17" name="Rectangle 16"/>
          <p:cNvSpPr/>
          <p:nvPr/>
        </p:nvSpPr>
        <p:spPr>
          <a:xfrm>
            <a:off x="2444496" y="1773936"/>
            <a:ext cx="1603247" cy="21031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44496" y="1773936"/>
            <a:ext cx="1603247"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35936" y="1792224"/>
            <a:ext cx="1420368" cy="274320"/>
          </a:xfrm>
          <a:prstGeom prst="rect">
            <a:avLst/>
          </a:prstGeom>
          <a:noFill/>
        </p:spPr>
        <p:txBody>
          <a:bodyPr wrap="square" lIns="0" rIns="0" tIns="0" bIns="0" anchor="ctr">
            <a:spAutoFit/>
          </a:bodyPr>
          <a:lstStyle/>
          <a:p>
            <a:pPr algn="l"/>
            <a:r>
              <a:rPr sz="1050" b="1" i="0">
                <a:solidFill>
                  <a:srgbClr val="FFFFFF"/>
                </a:solidFill>
                <a:latin typeface="Abadi"/>
              </a:rPr>
              <a:t>2 · Mobilise</a:t>
            </a:r>
          </a:p>
        </p:txBody>
      </p:sp>
      <p:sp>
        <p:nvSpPr>
          <p:cNvPr id="20" name="TextBox 19"/>
          <p:cNvSpPr txBox="1"/>
          <p:nvPr/>
        </p:nvSpPr>
        <p:spPr>
          <a:xfrm>
            <a:off x="2554224" y="2185416"/>
            <a:ext cx="1383791" cy="1645919"/>
          </a:xfrm>
          <a:prstGeom prst="rect">
            <a:avLst/>
          </a:prstGeom>
          <a:noFill/>
        </p:spPr>
        <p:txBody>
          <a:bodyPr wrap="square" lIns="0" rIns="0" tIns="0" bIns="0" anchor="t">
            <a:spAutoFit/>
          </a:bodyPr>
          <a:lstStyle/>
          <a:p>
            <a:pPr algn="l"/>
            <a:r>
              <a:rPr sz="1000" b="0" i="0">
                <a:solidFill>
                  <a:srgbClr val="1A1A1A"/>
                </a:solidFill>
                <a:latin typeface="Abadi"/>
              </a:rPr>
              <a:t>Divide triangular ligaments and evert the liver for a direct view of the porta.</a:t>
            </a:r>
          </a:p>
        </p:txBody>
      </p:sp>
      <p:sp>
        <p:nvSpPr>
          <p:cNvPr id="21" name="TextBox 20"/>
          <p:cNvSpPr txBox="1"/>
          <p:nvPr/>
        </p:nvSpPr>
        <p:spPr>
          <a:xfrm>
            <a:off x="4047744" y="2642615"/>
            <a:ext cx="292608" cy="365760"/>
          </a:xfrm>
          <a:prstGeom prst="rect">
            <a:avLst/>
          </a:prstGeom>
          <a:noFill/>
        </p:spPr>
        <p:txBody>
          <a:bodyPr wrap="square" lIns="0" rIns="0" tIns="0" bIns="0" anchor="t">
            <a:spAutoFit/>
          </a:bodyPr>
          <a:lstStyle/>
          <a:p>
            <a:pPr algn="ctr"/>
            <a:r>
              <a:rPr sz="1200" b="0" i="0">
                <a:solidFill>
                  <a:srgbClr val="8A939B"/>
                </a:solidFill>
                <a:latin typeface="Abadi"/>
              </a:rPr>
              <a:t>▶</a:t>
            </a:r>
          </a:p>
        </p:txBody>
      </p:sp>
      <p:sp>
        <p:nvSpPr>
          <p:cNvPr id="22" name="Rectangle 21"/>
          <p:cNvSpPr/>
          <p:nvPr/>
        </p:nvSpPr>
        <p:spPr>
          <a:xfrm>
            <a:off x="4340351" y="1773936"/>
            <a:ext cx="1603247" cy="21031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0351" y="1773936"/>
            <a:ext cx="1603247"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1791" y="1792224"/>
            <a:ext cx="1420368" cy="274320"/>
          </a:xfrm>
          <a:prstGeom prst="rect">
            <a:avLst/>
          </a:prstGeom>
          <a:noFill/>
        </p:spPr>
        <p:txBody>
          <a:bodyPr wrap="square" lIns="0" rIns="0" tIns="0" bIns="0" anchor="ctr">
            <a:spAutoFit/>
          </a:bodyPr>
          <a:lstStyle/>
          <a:p>
            <a:pPr algn="l"/>
            <a:r>
              <a:rPr sz="1050" b="1" i="0">
                <a:solidFill>
                  <a:srgbClr val="FFFFFF"/>
                </a:solidFill>
                <a:latin typeface="Abadi"/>
              </a:rPr>
              <a:t>3 · Dissect</a:t>
            </a:r>
          </a:p>
        </p:txBody>
      </p:sp>
      <p:sp>
        <p:nvSpPr>
          <p:cNvPr id="25" name="TextBox 24"/>
          <p:cNvSpPr txBox="1"/>
          <p:nvPr/>
        </p:nvSpPr>
        <p:spPr>
          <a:xfrm>
            <a:off x="4450080" y="2185416"/>
            <a:ext cx="1383791" cy="1645919"/>
          </a:xfrm>
          <a:prstGeom prst="rect">
            <a:avLst/>
          </a:prstGeom>
          <a:noFill/>
        </p:spPr>
        <p:txBody>
          <a:bodyPr wrap="square" lIns="0" rIns="0" tIns="0" bIns="0" anchor="t">
            <a:spAutoFit/>
          </a:bodyPr>
          <a:lstStyle/>
          <a:p>
            <a:pPr algn="l"/>
            <a:r>
              <a:rPr sz="1000" b="0" i="0">
                <a:solidFill>
                  <a:srgbClr val="1A1A1A"/>
                </a:solidFill>
                <a:latin typeface="Abadi"/>
              </a:rPr>
              <a:t>Follow the remnant up to the portal vein bifurcation; tie the tiny portal branches to it.</a:t>
            </a:r>
          </a:p>
        </p:txBody>
      </p:sp>
      <p:sp>
        <p:nvSpPr>
          <p:cNvPr id="26" name="TextBox 25"/>
          <p:cNvSpPr txBox="1"/>
          <p:nvPr/>
        </p:nvSpPr>
        <p:spPr>
          <a:xfrm>
            <a:off x="5943599" y="2642615"/>
            <a:ext cx="292608" cy="365760"/>
          </a:xfrm>
          <a:prstGeom prst="rect">
            <a:avLst/>
          </a:prstGeom>
          <a:noFill/>
        </p:spPr>
        <p:txBody>
          <a:bodyPr wrap="square" lIns="0" rIns="0" tIns="0" bIns="0" anchor="t">
            <a:spAutoFit/>
          </a:bodyPr>
          <a:lstStyle/>
          <a:p>
            <a:pPr algn="ctr"/>
            <a:r>
              <a:rPr sz="1200" b="0" i="0">
                <a:solidFill>
                  <a:srgbClr val="8A939B"/>
                </a:solidFill>
                <a:latin typeface="Abadi"/>
              </a:rPr>
              <a:t>▶</a:t>
            </a:r>
          </a:p>
        </p:txBody>
      </p:sp>
      <p:sp>
        <p:nvSpPr>
          <p:cNvPr id="27" name="Rectangle 26"/>
          <p:cNvSpPr/>
          <p:nvPr/>
        </p:nvSpPr>
        <p:spPr>
          <a:xfrm>
            <a:off x="6236207" y="1773936"/>
            <a:ext cx="1603247" cy="21031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6207" y="1773936"/>
            <a:ext cx="1603247"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1792224"/>
            <a:ext cx="1420368" cy="274320"/>
          </a:xfrm>
          <a:prstGeom prst="rect">
            <a:avLst/>
          </a:prstGeom>
          <a:noFill/>
        </p:spPr>
        <p:txBody>
          <a:bodyPr wrap="square" lIns="0" rIns="0" tIns="0" bIns="0" anchor="ctr">
            <a:spAutoFit/>
          </a:bodyPr>
          <a:lstStyle/>
          <a:p>
            <a:pPr algn="l"/>
            <a:r>
              <a:rPr sz="1050" b="1" i="0">
                <a:solidFill>
                  <a:srgbClr val="FFFFFF"/>
                </a:solidFill>
                <a:latin typeface="Abadi"/>
              </a:rPr>
              <a:t>4 · Transect</a:t>
            </a:r>
          </a:p>
        </p:txBody>
      </p:sp>
      <p:sp>
        <p:nvSpPr>
          <p:cNvPr id="30" name="TextBox 29"/>
          <p:cNvSpPr txBox="1"/>
          <p:nvPr/>
        </p:nvSpPr>
        <p:spPr>
          <a:xfrm>
            <a:off x="6345936" y="2185416"/>
            <a:ext cx="1383791" cy="1645919"/>
          </a:xfrm>
          <a:prstGeom prst="rect">
            <a:avLst/>
          </a:prstGeom>
          <a:noFill/>
        </p:spPr>
        <p:txBody>
          <a:bodyPr wrap="square" lIns="0" rIns="0" tIns="0" bIns="0" anchor="t">
            <a:spAutoFit/>
          </a:bodyPr>
          <a:lstStyle/>
          <a:p>
            <a:pPr algn="l"/>
            <a:r>
              <a:rPr sz="1000" b="0" i="0">
                <a:solidFill>
                  <a:srgbClr val="1A1A1A"/>
                </a:solidFill>
                <a:latin typeface="Abadi"/>
              </a:rPr>
              <a:t>Sharp division flush with the capsule, laterally to the hepatic artery entry points.</a:t>
            </a:r>
          </a:p>
        </p:txBody>
      </p:sp>
      <p:sp>
        <p:nvSpPr>
          <p:cNvPr id="31" name="TextBox 30"/>
          <p:cNvSpPr txBox="1"/>
          <p:nvPr/>
        </p:nvSpPr>
        <p:spPr>
          <a:xfrm>
            <a:off x="7839455" y="2642615"/>
            <a:ext cx="292608" cy="365760"/>
          </a:xfrm>
          <a:prstGeom prst="rect">
            <a:avLst/>
          </a:prstGeom>
          <a:noFill/>
        </p:spPr>
        <p:txBody>
          <a:bodyPr wrap="square" lIns="0" rIns="0" tIns="0" bIns="0" anchor="t">
            <a:spAutoFit/>
          </a:bodyPr>
          <a:lstStyle/>
          <a:p>
            <a:pPr algn="ctr"/>
            <a:r>
              <a:rPr sz="1200" b="0" i="0">
                <a:solidFill>
                  <a:srgbClr val="8A939B"/>
                </a:solidFill>
                <a:latin typeface="Abadi"/>
              </a:rPr>
              <a:t>▶</a:t>
            </a:r>
          </a:p>
        </p:txBody>
      </p:sp>
      <p:sp>
        <p:nvSpPr>
          <p:cNvPr id="32" name="Rectangle 31"/>
          <p:cNvSpPr/>
          <p:nvPr/>
        </p:nvSpPr>
        <p:spPr>
          <a:xfrm>
            <a:off x="8132063" y="1773936"/>
            <a:ext cx="1603247" cy="21031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32063" y="1773936"/>
            <a:ext cx="1603247"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3503" y="1792224"/>
            <a:ext cx="1420368" cy="274320"/>
          </a:xfrm>
          <a:prstGeom prst="rect">
            <a:avLst/>
          </a:prstGeom>
          <a:noFill/>
        </p:spPr>
        <p:txBody>
          <a:bodyPr wrap="square" lIns="0" rIns="0" tIns="0" bIns="0" anchor="ctr">
            <a:spAutoFit/>
          </a:bodyPr>
          <a:lstStyle/>
          <a:p>
            <a:pPr algn="l"/>
            <a:r>
              <a:rPr sz="1050" b="1" i="0">
                <a:solidFill>
                  <a:srgbClr val="FFFFFF"/>
                </a:solidFill>
                <a:latin typeface="Abadi"/>
              </a:rPr>
              <a:t>5 · Reconstruct</a:t>
            </a:r>
          </a:p>
        </p:txBody>
      </p:sp>
      <p:sp>
        <p:nvSpPr>
          <p:cNvPr id="35" name="TextBox 34"/>
          <p:cNvSpPr txBox="1"/>
          <p:nvPr/>
        </p:nvSpPr>
        <p:spPr>
          <a:xfrm>
            <a:off x="8241791" y="2185416"/>
            <a:ext cx="1383791" cy="1645919"/>
          </a:xfrm>
          <a:prstGeom prst="rect">
            <a:avLst/>
          </a:prstGeom>
          <a:noFill/>
        </p:spPr>
        <p:txBody>
          <a:bodyPr wrap="square" lIns="0" rIns="0" tIns="0" bIns="0" anchor="t">
            <a:spAutoFit/>
          </a:bodyPr>
          <a:lstStyle/>
          <a:p>
            <a:pPr algn="l"/>
            <a:r>
              <a:rPr sz="1000" b="0" i="0">
                <a:solidFill>
                  <a:srgbClr val="1A1A1A"/>
                </a:solidFill>
                <a:latin typeface="Abadi"/>
              </a:rPr>
              <a:t>Retrocolic Roux limb ~40 cm; wide anastomosis to the edge of the transected plate.</a:t>
            </a:r>
          </a:p>
        </p:txBody>
      </p:sp>
      <p:sp>
        <p:nvSpPr>
          <p:cNvPr id="36" name="TextBox 35"/>
          <p:cNvSpPr txBox="1"/>
          <p:nvPr/>
        </p:nvSpPr>
        <p:spPr>
          <a:xfrm>
            <a:off x="9735312" y="2642615"/>
            <a:ext cx="292608" cy="365760"/>
          </a:xfrm>
          <a:prstGeom prst="rect">
            <a:avLst/>
          </a:prstGeom>
          <a:noFill/>
        </p:spPr>
        <p:txBody>
          <a:bodyPr wrap="square" lIns="0" rIns="0" tIns="0" bIns="0" anchor="t">
            <a:spAutoFit/>
          </a:bodyPr>
          <a:lstStyle/>
          <a:p>
            <a:pPr algn="ctr"/>
            <a:r>
              <a:rPr sz="1200" b="0" i="0">
                <a:solidFill>
                  <a:srgbClr val="8A939B"/>
                </a:solidFill>
                <a:latin typeface="Abadi"/>
              </a:rPr>
              <a:t>▶</a:t>
            </a:r>
          </a:p>
        </p:txBody>
      </p:sp>
      <p:sp>
        <p:nvSpPr>
          <p:cNvPr id="37" name="Rectangle 36"/>
          <p:cNvSpPr/>
          <p:nvPr/>
        </p:nvSpPr>
        <p:spPr>
          <a:xfrm>
            <a:off x="10027920" y="1773936"/>
            <a:ext cx="1603247" cy="210312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027920" y="1773936"/>
            <a:ext cx="1603247"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19360" y="1792224"/>
            <a:ext cx="1420368" cy="274320"/>
          </a:xfrm>
          <a:prstGeom prst="rect">
            <a:avLst/>
          </a:prstGeom>
          <a:noFill/>
        </p:spPr>
        <p:txBody>
          <a:bodyPr wrap="square" lIns="0" rIns="0" tIns="0" bIns="0" anchor="ctr">
            <a:spAutoFit/>
          </a:bodyPr>
          <a:lstStyle/>
          <a:p>
            <a:pPr algn="l"/>
            <a:r>
              <a:rPr sz="1050" b="1" i="0">
                <a:solidFill>
                  <a:srgbClr val="FFFFFF"/>
                </a:solidFill>
                <a:latin typeface="Abadi"/>
              </a:rPr>
              <a:t>6 · Close</a:t>
            </a:r>
          </a:p>
        </p:txBody>
      </p:sp>
      <p:sp>
        <p:nvSpPr>
          <p:cNvPr id="40" name="TextBox 39"/>
          <p:cNvSpPr txBox="1"/>
          <p:nvPr/>
        </p:nvSpPr>
        <p:spPr>
          <a:xfrm>
            <a:off x="10137648" y="2185416"/>
            <a:ext cx="1383791" cy="1645919"/>
          </a:xfrm>
          <a:prstGeom prst="rect">
            <a:avLst/>
          </a:prstGeom>
          <a:noFill/>
        </p:spPr>
        <p:txBody>
          <a:bodyPr wrap="square" lIns="0" rIns="0" tIns="0" bIns="0" anchor="t">
            <a:spAutoFit/>
          </a:bodyPr>
          <a:lstStyle/>
          <a:p>
            <a:pPr algn="l"/>
            <a:r>
              <a:rPr sz="1000" b="0" i="0">
                <a:solidFill>
                  <a:srgbClr val="1A1A1A"/>
                </a:solidFill>
                <a:latin typeface="Abadi"/>
              </a:rPr>
              <a:t>Haemostasis with pressure or dilute adrenaline gauze; drain; liver back in place.</a:t>
            </a:r>
          </a:p>
        </p:txBody>
      </p:sp>
      <p:sp>
        <p:nvSpPr>
          <p:cNvPr id="41" name="TextBox 40"/>
          <p:cNvSpPr txBox="1"/>
          <p:nvPr/>
        </p:nvSpPr>
        <p:spPr>
          <a:xfrm>
            <a:off x="548640" y="4114800"/>
            <a:ext cx="11082528" cy="1691640"/>
          </a:xfrm>
          <a:prstGeom prst="rect">
            <a:avLst/>
          </a:prstGeom>
          <a:noFill/>
        </p:spPr>
        <p:txBody>
          <a:bodyPr wrap="square" lIns="0" rIns="0" tIns="0" bIns="0" anchor="t">
            <a:spAutoFit/>
          </a:bodyPr>
          <a:lstStyle/>
          <a:p>
            <a:pPr algn="l">
              <a:spcAft>
                <a:spcPts val="600"/>
              </a:spcAft>
            </a:pPr>
            <a:r>
              <a:rPr sz="1250" b="1" i="0">
                <a:solidFill>
                  <a:srgbClr val="1B355E"/>
                </a:solidFill>
                <a:latin typeface="Abadi"/>
              </a:rPr>
              <a:t>Where it goes wrong.   </a:t>
            </a:r>
            <a:r>
              <a:rPr sz="1250" b="0" i="0">
                <a:solidFill>
                  <a:srgbClr val="1A1A1A"/>
                </a:solidFill>
                <a:latin typeface="Abadi"/>
              </a:rPr>
              <a:t>Step 4 is the operation. Diathermy or deep sutures on the transected surface occlude the ductules; dissection into the parenchyma creates scar and bile lakes; too narrow an anastomosis leaves part of the draining surface outside the limb.</a:t>
            </a:r>
          </a:p>
          <a:p>
            <a:pPr algn="l">
              <a:spcAft>
                <a:spcPts val="600"/>
              </a:spcAft>
            </a:pPr>
            <a:r>
              <a:rPr sz="1250" b="1" i="0">
                <a:solidFill>
                  <a:srgbClr val="1B355E"/>
                </a:solidFill>
                <a:latin typeface="Abadi"/>
              </a:rPr>
              <a:t>The pitfall at step 1.   </a:t>
            </a:r>
            <a:r>
              <a:rPr sz="1250" b="0" i="0">
                <a:solidFill>
                  <a:srgbClr val="1A1A1A"/>
                </a:solidFill>
                <a:latin typeface="Abadi"/>
              </a:rPr>
              <a:t>An unconfirmed diagnosis: a patent distal duct on cholangiogram changes the operation, and a non-atretic cholestatic liver should not have a Kasai at 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WHAT THE SURGEON FINDS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ANATOMY DECIDES THE OPERATION</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Japanese classification of the level of obstruction and the variants that change prognosis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5</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Superina 2011 · Davenport M, et al. (BASM series) · Hery G, et al. 2017 (gallbladder Kasai) · Nio M, et al. World J Pediatr Surg 2025</a:t>
            </a:r>
          </a:p>
        </p:txBody>
      </p:sp>
      <p:sp>
        <p:nvSpPr>
          <p:cNvPr id="12" name="Rectangle 11"/>
          <p:cNvSpPr/>
          <p:nvPr/>
        </p:nvSpPr>
        <p:spPr>
          <a:xfrm>
            <a:off x="548640" y="1773936"/>
            <a:ext cx="2070201" cy="23317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0" rIns="0" tIns="0" bIns="0" anchor="t">
            <a:spAutoFit/>
          </a:bodyPr>
          <a:lstStyle/>
          <a:p>
            <a:pPr algn="l"/>
            <a:r>
              <a:rPr sz="1500" b="1" i="0">
                <a:solidFill>
                  <a:srgbClr val="1E7A33"/>
                </a:solidFill>
                <a:latin typeface="Abadi"/>
              </a:rPr>
              <a:t>Type I · ~5%</a:t>
            </a:r>
          </a:p>
        </p:txBody>
      </p:sp>
      <p:sp>
        <p:nvSpPr>
          <p:cNvPr id="15" name="TextBox 14"/>
          <p:cNvSpPr txBox="1"/>
          <p:nvPr/>
        </p:nvSpPr>
        <p:spPr>
          <a:xfrm>
            <a:off x="694944" y="2505456"/>
            <a:ext cx="1777593" cy="150876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  Common bile duct atresia</a:t>
            </a:r>
          </a:p>
          <a:p>
            <a:pPr algn="l">
              <a:spcAft>
                <a:spcPts val="400"/>
              </a:spcAft>
            </a:pPr>
            <a:r>
              <a:rPr sz="1050" b="0" i="0">
                <a:solidFill>
                  <a:srgbClr val="1A1A1A"/>
                </a:solidFill>
                <a:latin typeface="Abadi"/>
              </a:rPr>
              <a:t>▪  Proximal duct patent, often a cyst</a:t>
            </a:r>
          </a:p>
          <a:p>
            <a:pPr algn="l">
              <a:spcAft>
                <a:spcPts val="400"/>
              </a:spcAft>
            </a:pPr>
            <a:r>
              <a:rPr sz="1050" b="0" i="0">
                <a:solidFill>
                  <a:srgbClr val="1A1A1A"/>
                </a:solidFill>
                <a:latin typeface="Abadi"/>
              </a:rPr>
              <a:t>▪  Best clearance</a:t>
            </a:r>
          </a:p>
        </p:txBody>
      </p:sp>
      <p:sp>
        <p:nvSpPr>
          <p:cNvPr id="16" name="Rectangle 15"/>
          <p:cNvSpPr/>
          <p:nvPr/>
        </p:nvSpPr>
        <p:spPr>
          <a:xfrm>
            <a:off x="2801721" y="1773936"/>
            <a:ext cx="2070201"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0" rIns="0" tIns="0" bIns="0" anchor="t">
            <a:spAutoFit/>
          </a:bodyPr>
          <a:lstStyle/>
          <a:p>
            <a:pPr algn="l"/>
            <a:r>
              <a:rPr sz="1500" b="1" i="0">
                <a:solidFill>
                  <a:srgbClr val="D97A0B"/>
                </a:solidFill>
                <a:latin typeface="Abadi"/>
              </a:rPr>
              <a:t>Type II · ~2%</a:t>
            </a:r>
          </a:p>
        </p:txBody>
      </p:sp>
      <p:sp>
        <p:nvSpPr>
          <p:cNvPr id="19" name="TextBox 18"/>
          <p:cNvSpPr txBox="1"/>
          <p:nvPr/>
        </p:nvSpPr>
        <p:spPr>
          <a:xfrm>
            <a:off x="2948025" y="2505456"/>
            <a:ext cx="1777593" cy="150876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  Common hepatic duct atresia</a:t>
            </a:r>
          </a:p>
          <a:p>
            <a:pPr algn="l">
              <a:spcAft>
                <a:spcPts val="400"/>
              </a:spcAft>
            </a:pPr>
            <a:r>
              <a:rPr sz="1050" b="0" i="0">
                <a:solidFill>
                  <a:srgbClr val="1A1A1A"/>
                </a:solidFill>
                <a:latin typeface="Abadi"/>
              </a:rPr>
              <a:t>▪  Patent ducts at the porta in some</a:t>
            </a:r>
          </a:p>
        </p:txBody>
      </p:sp>
      <p:sp>
        <p:nvSpPr>
          <p:cNvPr id="20" name="Rectangle 19"/>
          <p:cNvSpPr/>
          <p:nvPr/>
        </p:nvSpPr>
        <p:spPr>
          <a:xfrm>
            <a:off x="5054803"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0" rIns="0" tIns="0" bIns="0" anchor="t">
            <a:spAutoFit/>
          </a:bodyPr>
          <a:lstStyle/>
          <a:p>
            <a:pPr algn="l"/>
            <a:r>
              <a:rPr sz="1500" b="1" i="0">
                <a:solidFill>
                  <a:srgbClr val="B22222"/>
                </a:solidFill>
                <a:latin typeface="Abadi"/>
              </a:rPr>
              <a:t>Type III · &gt; 90%</a:t>
            </a:r>
          </a:p>
        </p:txBody>
      </p:sp>
      <p:sp>
        <p:nvSpPr>
          <p:cNvPr id="23" name="TextBox 22"/>
          <p:cNvSpPr txBox="1"/>
          <p:nvPr/>
        </p:nvSpPr>
        <p:spPr>
          <a:xfrm>
            <a:off x="5201107" y="2505456"/>
            <a:ext cx="1777593" cy="150876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  Obliteration at the porta</a:t>
            </a:r>
          </a:p>
          <a:p>
            <a:pPr algn="l">
              <a:spcAft>
                <a:spcPts val="400"/>
              </a:spcAft>
            </a:pPr>
            <a:r>
              <a:rPr sz="1050" b="0" i="0">
                <a:solidFill>
                  <a:srgbClr val="1A1A1A"/>
                </a:solidFill>
                <a:latin typeface="Abadi"/>
              </a:rPr>
              <a:t>▪  Classical Kasai</a:t>
            </a:r>
          </a:p>
          <a:p>
            <a:pPr algn="l">
              <a:spcAft>
                <a:spcPts val="400"/>
              </a:spcAft>
            </a:pPr>
            <a:r>
              <a:rPr sz="1050" b="0" i="0">
                <a:solidFill>
                  <a:srgbClr val="1A1A1A"/>
                </a:solidFill>
                <a:latin typeface="Abadi"/>
              </a:rPr>
              <a:t>▪  Prognosis set by ductules</a:t>
            </a:r>
          </a:p>
        </p:txBody>
      </p:sp>
      <p:sp>
        <p:nvSpPr>
          <p:cNvPr id="24" name="Rectangle 23"/>
          <p:cNvSpPr/>
          <p:nvPr/>
        </p:nvSpPr>
        <p:spPr>
          <a:xfrm>
            <a:off x="7307884" y="1773936"/>
            <a:ext cx="2070201" cy="23317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0" rIns="0" tIns="0" bIns="0" anchor="t">
            <a:spAutoFit/>
          </a:bodyPr>
          <a:lstStyle/>
          <a:p>
            <a:pPr algn="l"/>
            <a:r>
              <a:rPr sz="1500" b="1" i="0">
                <a:solidFill>
                  <a:srgbClr val="1B355E"/>
                </a:solidFill>
                <a:latin typeface="Abadi"/>
              </a:rPr>
              <a:t>Cystic atresia</a:t>
            </a:r>
          </a:p>
        </p:txBody>
      </p:sp>
      <p:sp>
        <p:nvSpPr>
          <p:cNvPr id="27" name="TextBox 26"/>
          <p:cNvSpPr txBox="1"/>
          <p:nvPr/>
        </p:nvSpPr>
        <p:spPr>
          <a:xfrm>
            <a:off x="7454188" y="2505456"/>
            <a:ext cx="1777593" cy="150876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  Cyst in the remnant on antenatal scan</a:t>
            </a:r>
          </a:p>
          <a:p>
            <a:pPr algn="l">
              <a:spcAft>
                <a:spcPts val="400"/>
              </a:spcAft>
            </a:pPr>
            <a:r>
              <a:rPr sz="1050" b="0" i="0">
                <a:solidFill>
                  <a:srgbClr val="1A1A1A"/>
                </a:solidFill>
                <a:latin typeface="Abadi"/>
              </a:rPr>
              <a:t>▪  Earlier surgery, better outcome</a:t>
            </a:r>
          </a:p>
          <a:p>
            <a:pPr algn="l">
              <a:spcAft>
                <a:spcPts val="400"/>
              </a:spcAft>
            </a:pPr>
            <a:r>
              <a:rPr sz="1050" b="0" i="0">
                <a:solidFill>
                  <a:srgbClr val="1A1A1A"/>
                </a:solidFill>
                <a:latin typeface="Abadi"/>
              </a:rPr>
              <a:t>▪  Not a choledochal cyst</a:t>
            </a:r>
          </a:p>
        </p:txBody>
      </p:sp>
      <p:sp>
        <p:nvSpPr>
          <p:cNvPr id="28" name="Rectangle 27"/>
          <p:cNvSpPr/>
          <p:nvPr/>
        </p:nvSpPr>
        <p:spPr>
          <a:xfrm>
            <a:off x="9560966" y="1773936"/>
            <a:ext cx="2070201" cy="233172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0" rIns="0" tIns="0" bIns="0" anchor="t">
            <a:spAutoFit/>
          </a:bodyPr>
          <a:lstStyle/>
          <a:p>
            <a:pPr algn="l"/>
            <a:r>
              <a:rPr sz="1500" b="1" i="0">
                <a:solidFill>
                  <a:srgbClr val="8A939B"/>
                </a:solidFill>
                <a:latin typeface="Abadi"/>
              </a:rPr>
              <a:t>Splenic malformation</a:t>
            </a:r>
          </a:p>
        </p:txBody>
      </p:sp>
      <p:sp>
        <p:nvSpPr>
          <p:cNvPr id="31" name="TextBox 30"/>
          <p:cNvSpPr txBox="1"/>
          <p:nvPr/>
        </p:nvSpPr>
        <p:spPr>
          <a:xfrm>
            <a:off x="9707270" y="2505456"/>
            <a:ext cx="1777593" cy="150876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  Polysplenia, situs, preduodenal portal vein, absent IVC</a:t>
            </a:r>
          </a:p>
          <a:p>
            <a:pPr algn="l">
              <a:spcAft>
                <a:spcPts val="400"/>
              </a:spcAft>
            </a:pPr>
            <a:r>
              <a:rPr sz="1050" b="0" i="0">
                <a:solidFill>
                  <a:srgbClr val="1A1A1A"/>
                </a:solidFill>
                <a:latin typeface="Abadi"/>
              </a:rPr>
              <a:t>▪  HR 1.92 for transplant or death</a:t>
            </a:r>
          </a:p>
        </p:txBody>
      </p:sp>
      <p:sp>
        <p:nvSpPr>
          <p:cNvPr id="32" name="TextBox 31"/>
          <p:cNvSpPr txBox="1"/>
          <p:nvPr/>
        </p:nvSpPr>
        <p:spPr>
          <a:xfrm>
            <a:off x="548640" y="4297680"/>
            <a:ext cx="11082528" cy="1508760"/>
          </a:xfrm>
          <a:prstGeom prst="rect">
            <a:avLst/>
          </a:prstGeom>
          <a:noFill/>
        </p:spPr>
        <p:txBody>
          <a:bodyPr wrap="square" lIns="0" rIns="0" tIns="0" bIns="0" anchor="t">
            <a:spAutoFit/>
          </a:bodyPr>
          <a:lstStyle/>
          <a:p>
            <a:pPr algn="l">
              <a:spcAft>
                <a:spcPts val="600"/>
              </a:spcAft>
            </a:pPr>
            <a:r>
              <a:rPr sz="1250" b="1" i="0">
                <a:solidFill>
                  <a:srgbClr val="1B355E"/>
                </a:solidFill>
                <a:latin typeface="Abadi"/>
              </a:rPr>
              <a:t>Why it matters in clinic.   </a:t>
            </a:r>
            <a:r>
              <a:rPr sz="1250" b="0" i="0">
                <a:solidFill>
                  <a:srgbClr val="1A1A1A"/>
                </a:solidFill>
                <a:latin typeface="Abadi"/>
              </a:rPr>
              <a:t>The operative note is a prognostic document. Type I and cystic atresia clear more often; type III with splenic malformation, ascites or a nodular liver warns of early failure. The vascular anomalies of the splenic malformation syndrome also shape any later transplant, so they must be recorded at the first operation.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DEPTH OF DISSECTION</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FLUSH BEATS DEEP</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Juntendo University: extended versus modified (flush transection, superficial sutures) portoenterostomy, 55 consecutive infants,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6</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Abe E, et al. Pediatr Surg Int 2022;38:701–6 · Ramachandran P, et al. J Indian Assoc Pediatr Surg 2016;21:66–71</a:t>
            </a:r>
          </a:p>
        </p:txBody>
      </p:sp>
      <p:sp>
        <p:nvSpPr>
          <p:cNvPr id="12" name="TextBox 11"/>
          <p:cNvSpPr txBox="1"/>
          <p:nvPr/>
        </p:nvSpPr>
        <p:spPr>
          <a:xfrm>
            <a:off x="548640" y="1965960"/>
            <a:ext cx="2834640" cy="566928"/>
          </a:xfrm>
          <a:prstGeom prst="rect">
            <a:avLst/>
          </a:prstGeom>
          <a:noFill/>
        </p:spPr>
        <p:txBody>
          <a:bodyPr wrap="square" lIns="0" rIns="0" tIns="0" bIns="0" anchor="ctr">
            <a:spAutoFit/>
          </a:bodyPr>
          <a:lstStyle/>
          <a:p>
            <a:pPr algn="l"/>
            <a:r>
              <a:rPr sz="1050" b="0" i="0">
                <a:solidFill>
                  <a:srgbClr val="1A1A1A"/>
                </a:solidFill>
                <a:latin typeface="Abadi"/>
              </a:rPr>
              <a:t>Jaundice-free · modified</a:t>
            </a:r>
          </a:p>
        </p:txBody>
      </p:sp>
      <p:sp>
        <p:nvSpPr>
          <p:cNvPr id="13" name="Rectangle 12"/>
          <p:cNvSpPr/>
          <p:nvPr/>
        </p:nvSpPr>
        <p:spPr>
          <a:xfrm>
            <a:off x="3474720" y="2084831"/>
            <a:ext cx="3476914"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4786" y="1965960"/>
            <a:ext cx="2194560" cy="566928"/>
          </a:xfrm>
          <a:prstGeom prst="rect">
            <a:avLst/>
          </a:prstGeom>
          <a:noFill/>
        </p:spPr>
        <p:txBody>
          <a:bodyPr wrap="square" lIns="0" rIns="0" tIns="0" bIns="0" anchor="ctr">
            <a:spAutoFit/>
          </a:bodyPr>
          <a:lstStyle/>
          <a:p>
            <a:pPr algn="l"/>
            <a:r>
              <a:rPr sz="1050" b="1" i="0">
                <a:solidFill>
                  <a:srgbClr val="1A1A1A"/>
                </a:solidFill>
                <a:latin typeface="Abadi"/>
              </a:rPr>
              <a:t>78.4%</a:t>
            </a:r>
          </a:p>
        </p:txBody>
      </p:sp>
      <p:sp>
        <p:nvSpPr>
          <p:cNvPr id="15" name="TextBox 14"/>
          <p:cNvSpPr txBox="1"/>
          <p:nvPr/>
        </p:nvSpPr>
        <p:spPr>
          <a:xfrm>
            <a:off x="548640" y="2532888"/>
            <a:ext cx="2834640" cy="566928"/>
          </a:xfrm>
          <a:prstGeom prst="rect">
            <a:avLst/>
          </a:prstGeom>
          <a:noFill/>
        </p:spPr>
        <p:txBody>
          <a:bodyPr wrap="square" lIns="0" rIns="0" tIns="0" bIns="0" anchor="ctr">
            <a:spAutoFit/>
          </a:bodyPr>
          <a:lstStyle/>
          <a:p>
            <a:pPr algn="l"/>
            <a:r>
              <a:rPr sz="1050" b="0" i="0">
                <a:solidFill>
                  <a:srgbClr val="1A1A1A"/>
                </a:solidFill>
                <a:latin typeface="Abadi"/>
              </a:rPr>
              <a:t>Jaundice-free · extended</a:t>
            </a:r>
          </a:p>
        </p:txBody>
      </p:sp>
      <p:sp>
        <p:nvSpPr>
          <p:cNvPr id="16" name="Rectangle 15"/>
          <p:cNvSpPr/>
          <p:nvPr/>
        </p:nvSpPr>
        <p:spPr>
          <a:xfrm>
            <a:off x="3474720" y="2651760"/>
            <a:ext cx="2217420"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5292" y="2532888"/>
            <a:ext cx="2194560" cy="566928"/>
          </a:xfrm>
          <a:prstGeom prst="rect">
            <a:avLst/>
          </a:prstGeom>
          <a:noFill/>
        </p:spPr>
        <p:txBody>
          <a:bodyPr wrap="square" lIns="0" rIns="0" tIns="0" bIns="0" anchor="ctr">
            <a:spAutoFit/>
          </a:bodyPr>
          <a:lstStyle/>
          <a:p>
            <a:pPr algn="l"/>
            <a:r>
              <a:rPr sz="1050" b="1" i="0">
                <a:solidFill>
                  <a:srgbClr val="1A1A1A"/>
                </a:solidFill>
                <a:latin typeface="Abadi"/>
              </a:rPr>
              <a:t>50.0%</a:t>
            </a:r>
          </a:p>
        </p:txBody>
      </p:sp>
      <p:sp>
        <p:nvSpPr>
          <p:cNvPr id="18" name="TextBox 17"/>
          <p:cNvSpPr txBox="1"/>
          <p:nvPr/>
        </p:nvSpPr>
        <p:spPr>
          <a:xfrm>
            <a:off x="548640" y="3099815"/>
            <a:ext cx="2834640" cy="566928"/>
          </a:xfrm>
          <a:prstGeom prst="rect">
            <a:avLst/>
          </a:prstGeom>
          <a:noFill/>
        </p:spPr>
        <p:txBody>
          <a:bodyPr wrap="square" lIns="0" rIns="0" tIns="0" bIns="0" anchor="ctr">
            <a:spAutoFit/>
          </a:bodyPr>
          <a:lstStyle/>
          <a:p>
            <a:pPr algn="l"/>
            <a:r>
              <a:rPr sz="1050" b="0" i="0">
                <a:solidFill>
                  <a:srgbClr val="1A1A1A"/>
                </a:solidFill>
                <a:latin typeface="Abadi"/>
              </a:rPr>
              <a:t>Native liver, jaundice-free · modified</a:t>
            </a:r>
          </a:p>
        </p:txBody>
      </p:sp>
      <p:sp>
        <p:nvSpPr>
          <p:cNvPr id="19" name="Rectangle 18"/>
          <p:cNvSpPr/>
          <p:nvPr/>
        </p:nvSpPr>
        <p:spPr>
          <a:xfrm>
            <a:off x="3474720" y="3218687"/>
            <a:ext cx="3113257"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61129" y="3099815"/>
            <a:ext cx="2194560" cy="566928"/>
          </a:xfrm>
          <a:prstGeom prst="rect">
            <a:avLst/>
          </a:prstGeom>
          <a:noFill/>
        </p:spPr>
        <p:txBody>
          <a:bodyPr wrap="square" lIns="0" rIns="0" tIns="0" bIns="0" anchor="ctr">
            <a:spAutoFit/>
          </a:bodyPr>
          <a:lstStyle/>
          <a:p>
            <a:pPr algn="l"/>
            <a:r>
              <a:rPr sz="1050" b="1" i="0">
                <a:solidFill>
                  <a:srgbClr val="1A1A1A"/>
                </a:solidFill>
                <a:latin typeface="Abadi"/>
              </a:rPr>
              <a:t>70.2%</a:t>
            </a:r>
          </a:p>
        </p:txBody>
      </p:sp>
      <p:sp>
        <p:nvSpPr>
          <p:cNvPr id="21" name="TextBox 20"/>
          <p:cNvSpPr txBox="1"/>
          <p:nvPr/>
        </p:nvSpPr>
        <p:spPr>
          <a:xfrm>
            <a:off x="548640" y="3666744"/>
            <a:ext cx="2834640" cy="566928"/>
          </a:xfrm>
          <a:prstGeom prst="rect">
            <a:avLst/>
          </a:prstGeom>
          <a:noFill/>
        </p:spPr>
        <p:txBody>
          <a:bodyPr wrap="square" lIns="0" rIns="0" tIns="0" bIns="0" anchor="ctr">
            <a:spAutoFit/>
          </a:bodyPr>
          <a:lstStyle/>
          <a:p>
            <a:pPr algn="l"/>
            <a:r>
              <a:rPr sz="1050" b="0" i="0">
                <a:solidFill>
                  <a:srgbClr val="1A1A1A"/>
                </a:solidFill>
                <a:latin typeface="Abadi"/>
              </a:rPr>
              <a:t>Native liver, jaundice-free · extended</a:t>
            </a:r>
          </a:p>
        </p:txBody>
      </p:sp>
      <p:sp>
        <p:nvSpPr>
          <p:cNvPr id="22" name="Rectangle 21"/>
          <p:cNvSpPr/>
          <p:nvPr/>
        </p:nvSpPr>
        <p:spPr>
          <a:xfrm>
            <a:off x="3474720" y="3785615"/>
            <a:ext cx="984534"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32406" y="3666744"/>
            <a:ext cx="2194560" cy="566928"/>
          </a:xfrm>
          <a:prstGeom prst="rect">
            <a:avLst/>
          </a:prstGeom>
          <a:noFill/>
        </p:spPr>
        <p:txBody>
          <a:bodyPr wrap="square" lIns="0" rIns="0" tIns="0" bIns="0" anchor="ctr">
            <a:spAutoFit/>
          </a:bodyPr>
          <a:lstStyle/>
          <a:p>
            <a:pPr algn="l"/>
            <a:r>
              <a:rPr sz="1050" b="1" i="0">
                <a:solidFill>
                  <a:srgbClr val="1A1A1A"/>
                </a:solidFill>
                <a:latin typeface="Abadi"/>
              </a:rPr>
              <a:t>22.2%</a:t>
            </a:r>
          </a:p>
        </p:txBody>
      </p:sp>
      <p:sp>
        <p:nvSpPr>
          <p:cNvPr id="24" name="TextBox 23"/>
          <p:cNvSpPr txBox="1"/>
          <p:nvPr/>
        </p:nvSpPr>
        <p:spPr>
          <a:xfrm>
            <a:off x="548640" y="4233672"/>
            <a:ext cx="2834640" cy="566928"/>
          </a:xfrm>
          <a:prstGeom prst="rect">
            <a:avLst/>
          </a:prstGeom>
          <a:noFill/>
        </p:spPr>
        <p:txBody>
          <a:bodyPr wrap="square" lIns="0" rIns="0" tIns="0" bIns="0" anchor="ctr">
            <a:spAutoFit/>
          </a:bodyPr>
          <a:lstStyle/>
          <a:p>
            <a:pPr algn="l"/>
            <a:r>
              <a:rPr sz="1050" b="0" i="0">
                <a:solidFill>
                  <a:srgbClr val="1A1A1A"/>
                </a:solidFill>
                <a:latin typeface="Abadi"/>
              </a:rPr>
              <a:t>Bile lakes · modified</a:t>
            </a:r>
          </a:p>
        </p:txBody>
      </p:sp>
      <p:sp>
        <p:nvSpPr>
          <p:cNvPr id="25" name="Rectangle 24"/>
          <p:cNvSpPr/>
          <p:nvPr/>
        </p:nvSpPr>
        <p:spPr>
          <a:xfrm>
            <a:off x="3474720" y="4352544"/>
            <a:ext cx="838184"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6056" y="4233672"/>
            <a:ext cx="2194560" cy="566928"/>
          </a:xfrm>
          <a:prstGeom prst="rect">
            <a:avLst/>
          </a:prstGeom>
          <a:noFill/>
        </p:spPr>
        <p:txBody>
          <a:bodyPr wrap="square" lIns="0" rIns="0" tIns="0" bIns="0" anchor="ctr">
            <a:spAutoFit/>
          </a:bodyPr>
          <a:lstStyle/>
          <a:p>
            <a:pPr algn="l"/>
            <a:r>
              <a:rPr sz="1050" b="1" i="0">
                <a:solidFill>
                  <a:srgbClr val="1A1A1A"/>
                </a:solidFill>
                <a:latin typeface="Abadi"/>
              </a:rPr>
              <a:t>18.9%</a:t>
            </a:r>
          </a:p>
        </p:txBody>
      </p:sp>
      <p:sp>
        <p:nvSpPr>
          <p:cNvPr id="27" name="TextBox 26"/>
          <p:cNvSpPr txBox="1"/>
          <p:nvPr/>
        </p:nvSpPr>
        <p:spPr>
          <a:xfrm>
            <a:off x="548640" y="4846320"/>
            <a:ext cx="7863840" cy="274320"/>
          </a:xfrm>
          <a:prstGeom prst="rect">
            <a:avLst/>
          </a:prstGeom>
          <a:noFill/>
        </p:spPr>
        <p:txBody>
          <a:bodyPr wrap="square" lIns="0" rIns="0" tIns="0" bIns="0" anchor="t">
            <a:spAutoFit/>
          </a:bodyPr>
          <a:lstStyle/>
          <a:p>
            <a:pPr algn="l"/>
            <a:r>
              <a:rPr sz="950" b="0" i="0">
                <a:solidFill>
                  <a:srgbClr val="7F7F7F"/>
                </a:solidFill>
                <a:latin typeface="Abadi"/>
              </a:rPr>
              <a:t>Bars: proportion of infants; modified n = 37, extended n = 18; single centre, non-randomised, sequential eras.</a:t>
            </a:r>
          </a:p>
        </p:txBody>
      </p:sp>
      <p:sp>
        <p:nvSpPr>
          <p:cNvPr id="28" name="TextBox 27"/>
          <p:cNvSpPr txBox="1"/>
          <p:nvPr/>
        </p:nvSpPr>
        <p:spPr>
          <a:xfrm>
            <a:off x="548640" y="5166359"/>
            <a:ext cx="7955279" cy="1280160"/>
          </a:xfrm>
          <a:prstGeom prst="rect">
            <a:avLst/>
          </a:prstGeom>
          <a:noFill/>
        </p:spPr>
        <p:txBody>
          <a:bodyPr wrap="square" lIns="0" rIns="0" tIns="0" bIns="0" anchor="t">
            <a:spAutoFit/>
          </a:bodyPr>
          <a:lstStyle/>
          <a:p>
            <a:pPr algn="l">
              <a:spcAft>
                <a:spcPts val="600"/>
              </a:spcAft>
            </a:pPr>
            <a:r>
              <a:rPr sz="1200" b="1" i="0">
                <a:solidFill>
                  <a:srgbClr val="1B355E"/>
                </a:solidFill>
                <a:latin typeface="Abadi"/>
              </a:rPr>
              <a:t>Read it as.   </a:t>
            </a:r>
            <a:r>
              <a:rPr sz="1200" b="0" i="0">
                <a:solidFill>
                  <a:srgbClr val="1A1A1A"/>
                </a:solidFill>
                <a:latin typeface="Abadi"/>
              </a:rPr>
              <a:t>When the same team moved from deep, wide dissection to a flush cut with sutures kept off the ductule-bearing surface, four times as many infants kept a jaundice-free native liver. The price was bile lakes at the porta in about one in five.</a:t>
            </a:r>
          </a:p>
        </p:txBody>
      </p:sp>
      <p:sp>
        <p:nvSpPr>
          <p:cNvPr id="29" name="TextBox 28"/>
          <p:cNvSpPr txBox="1"/>
          <p:nvPr/>
        </p:nvSpPr>
        <p:spPr>
          <a:xfrm>
            <a:off x="8778240" y="1783080"/>
            <a:ext cx="2834640" cy="3931920"/>
          </a:xfrm>
          <a:prstGeom prst="rect">
            <a:avLst/>
          </a:prstGeom>
          <a:noFill/>
        </p:spPr>
        <p:txBody>
          <a:bodyPr wrap="square" lIns="0" rIns="0" tIns="0" bIns="0" anchor="t">
            <a:spAutoFit/>
          </a:bodyPr>
          <a:lstStyle/>
          <a:p>
            <a:pPr algn="l">
              <a:spcAft>
                <a:spcPts val="300"/>
              </a:spcAft>
            </a:pPr>
            <a:r>
              <a:rPr sz="1500" b="1" i="0">
                <a:solidFill>
                  <a:srgbClr val="1B355E"/>
                </a:solidFill>
                <a:latin typeface="Abadi"/>
              </a:rPr>
              <a:t>Extended Kasai</a:t>
            </a:r>
          </a:p>
          <a:p>
            <a:pPr algn="l">
              <a:spcAft>
                <a:spcPts val="300"/>
              </a:spcAft>
            </a:pPr>
            <a:r>
              <a:rPr sz="1050" b="0" i="0">
                <a:solidFill>
                  <a:srgbClr val="555555"/>
                </a:solidFill>
                <a:latin typeface="Abadi"/>
              </a:rPr>
              <a:t>Chennai, 31 infants, mean age 73 days: clearance 45.2%, cholangitis 35.5%. Wider is not reliably better.</a:t>
            </a:r>
          </a:p>
          <a:p>
            <a:pPr algn="l">
              <a:spcAft>
                <a:spcPts val="300"/>
              </a:spcAft>
            </a:pPr>
            <a:r>
              <a:rPr sz="1500" b="1" i="0">
                <a:solidFill>
                  <a:srgbClr val="1B355E"/>
                </a:solidFill>
                <a:latin typeface="Abadi"/>
              </a:rPr>
              <a:t>Other modifications</a:t>
            </a:r>
          </a:p>
          <a:p>
            <a:pPr algn="l">
              <a:spcAft>
                <a:spcPts val="300"/>
              </a:spcAft>
            </a:pPr>
            <a:r>
              <a:rPr sz="1050" b="0" i="0">
                <a:solidFill>
                  <a:srgbClr val="555555"/>
                </a:solidFill>
                <a:latin typeface="Abadi"/>
              </a:rPr>
              <a:t>Single-centre series with ultrasonic trimming and sharp plate division report 77–81% clearance.</a:t>
            </a:r>
          </a:p>
          <a:p>
            <a:pPr algn="l">
              <a:spcAft>
                <a:spcPts val="300"/>
              </a:spcAft>
            </a:pPr>
            <a:r>
              <a:rPr sz="1500" b="1" i="0">
                <a:solidFill>
                  <a:srgbClr val="1B355E"/>
                </a:solidFill>
                <a:latin typeface="Abadi"/>
              </a:rPr>
              <a:t>Caveat</a:t>
            </a:r>
          </a:p>
          <a:p>
            <a:pPr algn="l">
              <a:spcAft>
                <a:spcPts val="300"/>
              </a:spcAft>
            </a:pPr>
            <a:r>
              <a:rPr sz="1050" b="0" i="0">
                <a:solidFill>
                  <a:srgbClr val="555555"/>
                </a:solidFill>
                <a:latin typeface="Abadi"/>
              </a:rPr>
              <a:t>Era effects, small numbers, no randomisation: treat depth as a principle, not a proven rule.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THE CONDUIT</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LONGER IS NOT SAFER</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Roux limb modifications tried since the 1970s to prevent cholangitis, and what became of them</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7</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Ramachandran 2016 (review of conduit modifications) · Superina 2011 · Western Pediatric Surgery Research Consortium, Pediatr Surg Int 2021</a:t>
            </a:r>
          </a:p>
        </p:txBody>
      </p:sp>
      <p:sp>
        <p:nvSpPr>
          <p:cNvPr id="12" name="Rectangle 11"/>
          <p:cNvSpPr/>
          <p:nvPr/>
        </p:nvSpPr>
        <p:spPr>
          <a:xfrm>
            <a:off x="548640" y="1773936"/>
            <a:ext cx="2633472" cy="22860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502920"/>
          </a:xfrm>
          <a:prstGeom prst="rect">
            <a:avLst/>
          </a:prstGeom>
          <a:noFill/>
        </p:spPr>
        <p:txBody>
          <a:bodyPr wrap="square" lIns="0" rIns="0" tIns="0" bIns="0" anchor="t">
            <a:spAutoFit/>
          </a:bodyPr>
          <a:lstStyle/>
          <a:p>
            <a:pPr algn="l"/>
            <a:r>
              <a:rPr sz="1500" b="1" i="0">
                <a:solidFill>
                  <a:srgbClr val="1E7A33"/>
                </a:solidFill>
                <a:latin typeface="Abadi"/>
              </a:rPr>
              <a:t>Standard limb</a:t>
            </a:r>
          </a:p>
        </p:txBody>
      </p:sp>
      <p:sp>
        <p:nvSpPr>
          <p:cNvPr id="15" name="TextBox 14"/>
          <p:cNvSpPr txBox="1"/>
          <p:nvPr/>
        </p:nvSpPr>
        <p:spPr>
          <a:xfrm>
            <a:off x="694944" y="2505456"/>
            <a:ext cx="2340864" cy="1463040"/>
          </a:xfrm>
          <a:prstGeom prst="rect">
            <a:avLst/>
          </a:prstGeom>
          <a:noFill/>
        </p:spPr>
        <p:txBody>
          <a:bodyPr wrap="square" lIns="0" rIns="0" tIns="0" bIns="0" anchor="t">
            <a:spAutoFit/>
          </a:bodyPr>
          <a:lstStyle/>
          <a:p>
            <a:pPr algn="l">
              <a:spcAft>
                <a:spcPts val="400"/>
              </a:spcAft>
            </a:pPr>
            <a:r>
              <a:rPr sz="1100" b="0" i="0">
                <a:solidFill>
                  <a:srgbClr val="1A1A1A"/>
                </a:solidFill>
                <a:latin typeface="Abadi"/>
              </a:rPr>
              <a:t>▪  Retrocolic, ~40 cm (30–60)</a:t>
            </a:r>
          </a:p>
          <a:p>
            <a:pPr algn="l">
              <a:spcAft>
                <a:spcPts val="400"/>
              </a:spcAft>
            </a:pPr>
            <a:r>
              <a:rPr sz="1100" b="0" i="0">
                <a:solidFill>
                  <a:srgbClr val="1A1A1A"/>
                </a:solidFill>
                <a:latin typeface="Abadi"/>
              </a:rPr>
              <a:t>▪  End-to-side jejunojejunostomy</a:t>
            </a:r>
          </a:p>
          <a:p>
            <a:pPr algn="l">
              <a:spcAft>
                <a:spcPts val="400"/>
              </a:spcAft>
            </a:pPr>
            <a:r>
              <a:rPr sz="1100" b="0" i="0">
                <a:solidFill>
                  <a:srgbClr val="1A1A1A"/>
                </a:solidFill>
                <a:latin typeface="Abadi"/>
              </a:rPr>
              <a:t>▪  Universal reference</a:t>
            </a:r>
          </a:p>
        </p:txBody>
      </p:sp>
      <p:sp>
        <p:nvSpPr>
          <p:cNvPr id="16" name="Rectangle 15"/>
          <p:cNvSpPr/>
          <p:nvPr/>
        </p:nvSpPr>
        <p:spPr>
          <a:xfrm>
            <a:off x="3364992" y="1773936"/>
            <a:ext cx="2633472" cy="22860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502920"/>
          </a:xfrm>
          <a:prstGeom prst="rect">
            <a:avLst/>
          </a:prstGeom>
          <a:noFill/>
        </p:spPr>
        <p:txBody>
          <a:bodyPr wrap="square" lIns="0" rIns="0" tIns="0" bIns="0" anchor="t">
            <a:spAutoFit/>
          </a:bodyPr>
          <a:lstStyle/>
          <a:p>
            <a:pPr algn="l"/>
            <a:r>
              <a:rPr sz="1500" b="1" i="0">
                <a:solidFill>
                  <a:srgbClr val="B22222"/>
                </a:solidFill>
                <a:latin typeface="Abadi"/>
              </a:rPr>
              <a:t>Antireflux valves</a:t>
            </a:r>
          </a:p>
        </p:txBody>
      </p:sp>
      <p:sp>
        <p:nvSpPr>
          <p:cNvPr id="19" name="TextBox 18"/>
          <p:cNvSpPr txBox="1"/>
          <p:nvPr/>
        </p:nvSpPr>
        <p:spPr>
          <a:xfrm>
            <a:off x="3511296" y="2505456"/>
            <a:ext cx="2340864" cy="1463040"/>
          </a:xfrm>
          <a:prstGeom prst="rect">
            <a:avLst/>
          </a:prstGeom>
          <a:noFill/>
        </p:spPr>
        <p:txBody>
          <a:bodyPr wrap="square" lIns="0" rIns="0" tIns="0" bIns="0" anchor="t">
            <a:spAutoFit/>
          </a:bodyPr>
          <a:lstStyle/>
          <a:p>
            <a:pPr algn="l">
              <a:spcAft>
                <a:spcPts val="400"/>
              </a:spcAft>
            </a:pPr>
            <a:r>
              <a:rPr sz="1100" b="0" i="0">
                <a:solidFill>
                  <a:srgbClr val="1A1A1A"/>
                </a:solidFill>
                <a:latin typeface="Abadi"/>
              </a:rPr>
              <a:t>▪  Intussusception or spur valves</a:t>
            </a:r>
          </a:p>
          <a:p>
            <a:pPr algn="l">
              <a:spcAft>
                <a:spcPts val="400"/>
              </a:spcAft>
            </a:pPr>
            <a:r>
              <a:rPr sz="1100" b="0" i="0">
                <a:solidFill>
                  <a:srgbClr val="1A1A1A"/>
                </a:solidFill>
                <a:latin typeface="Abadi"/>
              </a:rPr>
              <a:t>▪  No fall in cholangitis</a:t>
            </a:r>
          </a:p>
          <a:p>
            <a:pPr algn="l">
              <a:spcAft>
                <a:spcPts val="400"/>
              </a:spcAft>
            </a:pPr>
            <a:r>
              <a:rPr sz="1100" b="0" i="0">
                <a:solidFill>
                  <a:srgbClr val="1A1A1A"/>
                </a:solidFill>
                <a:latin typeface="Abadi"/>
              </a:rPr>
              <a:t>▪  Largely abandoned</a:t>
            </a:r>
          </a:p>
        </p:txBody>
      </p:sp>
      <p:sp>
        <p:nvSpPr>
          <p:cNvPr id="20" name="Rectangle 19"/>
          <p:cNvSpPr/>
          <p:nvPr/>
        </p:nvSpPr>
        <p:spPr>
          <a:xfrm>
            <a:off x="6181344" y="1773936"/>
            <a:ext cx="2633472" cy="22860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502920"/>
          </a:xfrm>
          <a:prstGeom prst="rect">
            <a:avLst/>
          </a:prstGeom>
          <a:noFill/>
        </p:spPr>
        <p:txBody>
          <a:bodyPr wrap="square" lIns="0" rIns="0" tIns="0" bIns="0" anchor="t">
            <a:spAutoFit/>
          </a:bodyPr>
          <a:lstStyle/>
          <a:p>
            <a:pPr algn="l"/>
            <a:r>
              <a:rPr sz="1500" b="1" i="0">
                <a:solidFill>
                  <a:srgbClr val="D97A0B"/>
                </a:solidFill>
                <a:latin typeface="Abadi"/>
              </a:rPr>
              <a:t>Stomas and conduits</a:t>
            </a:r>
          </a:p>
        </p:txBody>
      </p:sp>
      <p:sp>
        <p:nvSpPr>
          <p:cNvPr id="23" name="TextBox 22"/>
          <p:cNvSpPr txBox="1"/>
          <p:nvPr/>
        </p:nvSpPr>
        <p:spPr>
          <a:xfrm>
            <a:off x="6327648" y="2505456"/>
            <a:ext cx="2340864" cy="1463040"/>
          </a:xfrm>
          <a:prstGeom prst="rect">
            <a:avLst/>
          </a:prstGeom>
          <a:noFill/>
        </p:spPr>
        <p:txBody>
          <a:bodyPr wrap="square" lIns="0" rIns="0" tIns="0" bIns="0" anchor="t">
            <a:spAutoFit/>
          </a:bodyPr>
          <a:lstStyle/>
          <a:p>
            <a:pPr algn="l">
              <a:spcAft>
                <a:spcPts val="400"/>
              </a:spcAft>
            </a:pPr>
            <a:r>
              <a:rPr sz="1100" b="0" i="0">
                <a:solidFill>
                  <a:srgbClr val="1A1A1A"/>
                </a:solidFill>
                <a:latin typeface="Abadi"/>
              </a:rPr>
              <a:t>▪  Double-barrel or external conduits</a:t>
            </a:r>
          </a:p>
          <a:p>
            <a:pPr algn="l">
              <a:spcAft>
                <a:spcPts val="400"/>
              </a:spcAft>
            </a:pPr>
            <a:r>
              <a:rPr sz="1100" b="0" i="0">
                <a:solidFill>
                  <a:srgbClr val="1A1A1A"/>
                </a:solidFill>
                <a:latin typeface="Abadi"/>
              </a:rPr>
              <a:t>▪  Stomal varices, fluid loss</a:t>
            </a:r>
          </a:p>
          <a:p>
            <a:pPr algn="l">
              <a:spcAft>
                <a:spcPts val="400"/>
              </a:spcAft>
            </a:pPr>
            <a:r>
              <a:rPr sz="1100" b="0" i="0">
                <a:solidFill>
                  <a:srgbClr val="1A1A1A"/>
                </a:solidFill>
                <a:latin typeface="Abadi"/>
              </a:rPr>
              <a:t>▪  Complicate transplant</a:t>
            </a:r>
          </a:p>
        </p:txBody>
      </p:sp>
      <p:sp>
        <p:nvSpPr>
          <p:cNvPr id="24" name="Rectangle 23"/>
          <p:cNvSpPr/>
          <p:nvPr/>
        </p:nvSpPr>
        <p:spPr>
          <a:xfrm>
            <a:off x="8997696" y="1773936"/>
            <a:ext cx="2633472" cy="22860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502920"/>
          </a:xfrm>
          <a:prstGeom prst="rect">
            <a:avLst/>
          </a:prstGeom>
          <a:noFill/>
        </p:spPr>
        <p:txBody>
          <a:bodyPr wrap="square" lIns="0" rIns="0" tIns="0" bIns="0" anchor="t">
            <a:spAutoFit/>
          </a:bodyPr>
          <a:lstStyle/>
          <a:p>
            <a:pPr algn="l"/>
            <a:r>
              <a:rPr sz="1500" b="1" i="0">
                <a:solidFill>
                  <a:srgbClr val="1B355E"/>
                </a:solidFill>
                <a:latin typeface="Abadi"/>
              </a:rPr>
              <a:t>Short limbs</a:t>
            </a:r>
          </a:p>
        </p:txBody>
      </p:sp>
      <p:sp>
        <p:nvSpPr>
          <p:cNvPr id="27" name="TextBox 26"/>
          <p:cNvSpPr txBox="1"/>
          <p:nvPr/>
        </p:nvSpPr>
        <p:spPr>
          <a:xfrm>
            <a:off x="9144000" y="2505456"/>
            <a:ext cx="2340864" cy="1463040"/>
          </a:xfrm>
          <a:prstGeom prst="rect">
            <a:avLst/>
          </a:prstGeom>
          <a:noFill/>
        </p:spPr>
        <p:txBody>
          <a:bodyPr wrap="square" lIns="0" rIns="0" tIns="0" bIns="0" anchor="t">
            <a:spAutoFit/>
          </a:bodyPr>
          <a:lstStyle/>
          <a:p>
            <a:pPr algn="l">
              <a:spcAft>
                <a:spcPts val="400"/>
              </a:spcAft>
            </a:pPr>
            <a:r>
              <a:rPr sz="1100" b="0" i="0">
                <a:solidFill>
                  <a:srgbClr val="1A1A1A"/>
                </a:solidFill>
                <a:latin typeface="Abadi"/>
              </a:rPr>
              <a:t>▪  Individualised shorter loops</a:t>
            </a:r>
          </a:p>
          <a:p>
            <a:pPr algn="l">
              <a:spcAft>
                <a:spcPts val="400"/>
              </a:spcAft>
            </a:pPr>
            <a:r>
              <a:rPr sz="1100" b="0" i="0">
                <a:solidFill>
                  <a:srgbClr val="1A1A1A"/>
                </a:solidFill>
                <a:latin typeface="Abadi"/>
              </a:rPr>
              <a:t>▪  One Chinese randomised trial: similar reflux protection</a:t>
            </a:r>
          </a:p>
        </p:txBody>
      </p:sp>
      <p:sp>
        <p:nvSpPr>
          <p:cNvPr id="28" name="TextBox 27"/>
          <p:cNvSpPr txBox="1"/>
          <p:nvPr/>
        </p:nvSpPr>
        <p:spPr>
          <a:xfrm>
            <a:off x="548640" y="4251960"/>
            <a:ext cx="11082528" cy="1554480"/>
          </a:xfrm>
          <a:prstGeom prst="rect">
            <a:avLst/>
          </a:prstGeom>
          <a:noFill/>
        </p:spPr>
        <p:txBody>
          <a:bodyPr wrap="square" lIns="0" rIns="0" tIns="0" bIns="0" anchor="t">
            <a:spAutoFit/>
          </a:bodyPr>
          <a:lstStyle/>
          <a:p>
            <a:pPr algn="l">
              <a:spcAft>
                <a:spcPts val="600"/>
              </a:spcAft>
            </a:pPr>
            <a:r>
              <a:rPr sz="1250" b="1" i="0">
                <a:solidFill>
                  <a:srgbClr val="1B355E"/>
                </a:solidFill>
                <a:latin typeface="Abadi"/>
              </a:rPr>
              <a:t>Why the limb does not prevent cholangitis.   </a:t>
            </a:r>
            <a:r>
              <a:rPr sz="1250" b="0" i="0">
                <a:solidFill>
                  <a:srgbClr val="1A1A1A"/>
                </a:solidFill>
                <a:latin typeface="Abadi"/>
              </a:rPr>
              <a:t>Cholangitis after the Kasai is common: about 57% of 223 US infants had at least one episode in the first year. It reflects bacterial access to a poorly draining, fibrotic biliary tree, not simply reflux of bowel content, so mechanical tricks in the conduit did not help and added complications.</a:t>
            </a:r>
          </a:p>
          <a:p>
            <a:pPr algn="l">
              <a:spcAft>
                <a:spcPts val="600"/>
              </a:spcAft>
            </a:pPr>
            <a:r>
              <a:rPr sz="1250" b="1" i="0">
                <a:solidFill>
                  <a:srgbClr val="1B355E"/>
                </a:solidFill>
                <a:latin typeface="Abadi"/>
              </a:rPr>
              <a:t>Practical rule.   </a:t>
            </a:r>
            <a:r>
              <a:rPr sz="1250" b="0" i="0">
                <a:solidFill>
                  <a:srgbClr val="1A1A1A"/>
                </a:solidFill>
                <a:latin typeface="Abadi"/>
              </a:rPr>
              <a:t>Keep the reconstruction simple and transplant-friendly: one Roux limb of standard length, no stoma.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WHEN THE DISTAL DUCT IS OPEN</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NOT EVERY ATRESIA NEEDS A JEJUNAL LIMB</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Alternatives to the classical Roux portoenterostomy, and when each applies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8</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Hery G, et al. 2017 (97 gallbladder Kasai procedures, cited by Chen SH, et al. Front Surg 2022) · Superina 2011 · Nio 2025</a:t>
            </a:r>
          </a:p>
        </p:txBody>
      </p:sp>
      <p:sp>
        <p:nvSpPr>
          <p:cNvPr id="12" name="Rectangle 11"/>
          <p:cNvSpPr/>
          <p:nvPr/>
        </p:nvSpPr>
        <p:spPr>
          <a:xfrm>
            <a:off x="548640" y="1773936"/>
            <a:ext cx="2633472" cy="20116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502920"/>
          </a:xfrm>
          <a:prstGeom prst="rect">
            <a:avLst/>
          </a:prstGeom>
          <a:noFill/>
        </p:spPr>
        <p:txBody>
          <a:bodyPr wrap="square" lIns="0" rIns="0" tIns="0" bIns="0" anchor="t">
            <a:spAutoFit/>
          </a:bodyPr>
          <a:lstStyle/>
          <a:p>
            <a:pPr algn="l"/>
            <a:r>
              <a:rPr sz="2600" b="1" i="0">
                <a:solidFill>
                  <a:srgbClr val="1E7A33"/>
                </a:solidFill>
                <a:latin typeface="Abadi"/>
              </a:rPr>
              <a:t>46%</a:t>
            </a:r>
          </a:p>
        </p:txBody>
      </p:sp>
      <p:sp>
        <p:nvSpPr>
          <p:cNvPr id="15" name="TextBox 14"/>
          <p:cNvSpPr txBox="1"/>
          <p:nvPr/>
        </p:nvSpPr>
        <p:spPr>
          <a:xfrm>
            <a:off x="694944" y="2505456"/>
            <a:ext cx="2340864" cy="1188720"/>
          </a:xfrm>
          <a:prstGeom prst="rect">
            <a:avLst/>
          </a:prstGeom>
          <a:noFill/>
        </p:spPr>
        <p:txBody>
          <a:bodyPr wrap="square" lIns="0" rIns="0" tIns="0" bIns="0" anchor="t">
            <a:spAutoFit/>
          </a:bodyPr>
          <a:lstStyle/>
          <a:p>
            <a:pPr algn="l">
              <a:spcAft>
                <a:spcPts val="400"/>
              </a:spcAft>
            </a:pPr>
            <a:r>
              <a:rPr sz="1100" b="0" i="0">
                <a:solidFill>
                  <a:srgbClr val="1A1A1A"/>
                </a:solidFill>
                <a:latin typeface="Abadi"/>
              </a:rPr>
              <a:t>Gallbladder Kasai: jaundice-free with the native liver at 5 years in a single-institution series of 97 infants.</a:t>
            </a:r>
          </a:p>
        </p:txBody>
      </p:sp>
      <p:sp>
        <p:nvSpPr>
          <p:cNvPr id="16" name="Rectangle 15"/>
          <p:cNvSpPr/>
          <p:nvPr/>
        </p:nvSpPr>
        <p:spPr>
          <a:xfrm>
            <a:off x="3364992" y="1773936"/>
            <a:ext cx="2633472"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502920"/>
          </a:xfrm>
          <a:prstGeom prst="rect">
            <a:avLst/>
          </a:prstGeom>
          <a:noFill/>
        </p:spPr>
        <p:txBody>
          <a:bodyPr wrap="square" lIns="0" rIns="0" tIns="0" bIns="0" anchor="t">
            <a:spAutoFit/>
          </a:bodyPr>
          <a:lstStyle/>
          <a:p>
            <a:pPr algn="l"/>
            <a:r>
              <a:rPr sz="2600" b="1" i="0">
                <a:solidFill>
                  <a:srgbClr val="1B355E"/>
                </a:solidFill>
                <a:latin typeface="Abadi"/>
              </a:rPr>
              <a:t>Patent</a:t>
            </a:r>
          </a:p>
        </p:txBody>
      </p:sp>
      <p:sp>
        <p:nvSpPr>
          <p:cNvPr id="19" name="TextBox 18"/>
          <p:cNvSpPr txBox="1"/>
          <p:nvPr/>
        </p:nvSpPr>
        <p:spPr>
          <a:xfrm>
            <a:off x="3511296" y="2505456"/>
            <a:ext cx="2340864" cy="1188720"/>
          </a:xfrm>
          <a:prstGeom prst="rect">
            <a:avLst/>
          </a:prstGeom>
          <a:noFill/>
        </p:spPr>
        <p:txBody>
          <a:bodyPr wrap="square" lIns="0" rIns="0" tIns="0" bIns="0" anchor="t">
            <a:spAutoFit/>
          </a:bodyPr>
          <a:lstStyle/>
          <a:p>
            <a:pPr algn="l">
              <a:spcAft>
                <a:spcPts val="400"/>
              </a:spcAft>
            </a:pPr>
            <a:r>
              <a:rPr sz="1100" b="0" i="0">
                <a:solidFill>
                  <a:srgbClr val="1A1A1A"/>
                </a:solidFill>
                <a:latin typeface="Abadi"/>
              </a:rPr>
              <a:t>Prerequisite: gallbladder, cystic duct and common bile duct patent to the duodenum on cholangiogram.</a:t>
            </a:r>
          </a:p>
        </p:txBody>
      </p:sp>
      <p:sp>
        <p:nvSpPr>
          <p:cNvPr id="20" name="Rectangle 19"/>
          <p:cNvSpPr/>
          <p:nvPr/>
        </p:nvSpPr>
        <p:spPr>
          <a:xfrm>
            <a:off x="6181344" y="1773936"/>
            <a:ext cx="2633472" cy="20116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502920"/>
          </a:xfrm>
          <a:prstGeom prst="rect">
            <a:avLst/>
          </a:prstGeom>
          <a:noFill/>
        </p:spPr>
        <p:txBody>
          <a:bodyPr wrap="square" lIns="0" rIns="0" tIns="0" bIns="0" anchor="t">
            <a:spAutoFit/>
          </a:bodyPr>
          <a:lstStyle/>
          <a:p>
            <a:pPr algn="l"/>
            <a:r>
              <a:rPr sz="2600" b="1" i="0">
                <a:solidFill>
                  <a:srgbClr val="D97A0B"/>
                </a:solidFill>
                <a:latin typeface="Abadi"/>
              </a:rPr>
              <a:t>Kinking</a:t>
            </a:r>
          </a:p>
        </p:txBody>
      </p:sp>
      <p:sp>
        <p:nvSpPr>
          <p:cNvPr id="23" name="TextBox 22"/>
          <p:cNvSpPr txBox="1"/>
          <p:nvPr/>
        </p:nvSpPr>
        <p:spPr>
          <a:xfrm>
            <a:off x="6327648" y="2505456"/>
            <a:ext cx="2340864" cy="1188720"/>
          </a:xfrm>
          <a:prstGeom prst="rect">
            <a:avLst/>
          </a:prstGeom>
          <a:noFill/>
        </p:spPr>
        <p:txBody>
          <a:bodyPr wrap="square" lIns="0" rIns="0" tIns="0" bIns="0" anchor="t">
            <a:spAutoFit/>
          </a:bodyPr>
          <a:lstStyle/>
          <a:p>
            <a:pPr algn="l">
              <a:spcAft>
                <a:spcPts val="400"/>
              </a:spcAft>
            </a:pPr>
            <a:r>
              <a:rPr sz="1100" b="0" i="0">
                <a:solidFill>
                  <a:srgbClr val="1A1A1A"/>
                </a:solidFill>
                <a:latin typeface="Abadi"/>
              </a:rPr>
              <a:t>Risks: bile leak, kinking of the cystic duct, obstruction of a narrow distal duct.</a:t>
            </a:r>
          </a:p>
        </p:txBody>
      </p:sp>
      <p:sp>
        <p:nvSpPr>
          <p:cNvPr id="24" name="Rectangle 23"/>
          <p:cNvSpPr/>
          <p:nvPr/>
        </p:nvSpPr>
        <p:spPr>
          <a:xfrm>
            <a:off x="8997696" y="1773936"/>
            <a:ext cx="2633472" cy="20116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502920"/>
          </a:xfrm>
          <a:prstGeom prst="rect">
            <a:avLst/>
          </a:prstGeom>
          <a:noFill/>
        </p:spPr>
        <p:txBody>
          <a:bodyPr wrap="square" lIns="0" rIns="0" tIns="0" bIns="0" anchor="t">
            <a:spAutoFit/>
          </a:bodyPr>
          <a:lstStyle/>
          <a:p>
            <a:pPr algn="l"/>
            <a:r>
              <a:rPr sz="2600" b="1" i="0">
                <a:solidFill>
                  <a:srgbClr val="B22222"/>
                </a:solidFill>
                <a:latin typeface="Abadi"/>
              </a:rPr>
              <a:t>Cyst</a:t>
            </a:r>
          </a:p>
        </p:txBody>
      </p:sp>
      <p:sp>
        <p:nvSpPr>
          <p:cNvPr id="27" name="TextBox 26"/>
          <p:cNvSpPr txBox="1"/>
          <p:nvPr/>
        </p:nvSpPr>
        <p:spPr>
          <a:xfrm>
            <a:off x="9144000" y="2505456"/>
            <a:ext cx="2340864" cy="1188720"/>
          </a:xfrm>
          <a:prstGeom prst="rect">
            <a:avLst/>
          </a:prstGeom>
          <a:noFill/>
        </p:spPr>
        <p:txBody>
          <a:bodyPr wrap="square" lIns="0" rIns="0" tIns="0" bIns="0" anchor="t">
            <a:spAutoFit/>
          </a:bodyPr>
          <a:lstStyle/>
          <a:p>
            <a:pPr algn="l">
              <a:spcAft>
                <a:spcPts val="400"/>
              </a:spcAft>
            </a:pPr>
            <a:r>
              <a:rPr sz="1100" b="0" i="0">
                <a:solidFill>
                  <a:srgbClr val="1A1A1A"/>
                </a:solidFill>
                <a:latin typeface="Abadi"/>
              </a:rPr>
              <a:t>Cystic atresia: the cyst is anastomosed or the porta drained; outcomes better than type III.</a:t>
            </a:r>
          </a:p>
        </p:txBody>
      </p:sp>
      <p:sp>
        <p:nvSpPr>
          <p:cNvPr id="28" name="TextBox 27"/>
          <p:cNvSpPr txBox="1"/>
          <p:nvPr/>
        </p:nvSpPr>
        <p:spPr>
          <a:xfrm>
            <a:off x="548640" y="4023360"/>
            <a:ext cx="11082528" cy="1783080"/>
          </a:xfrm>
          <a:prstGeom prst="rect">
            <a:avLst/>
          </a:prstGeom>
          <a:noFill/>
        </p:spPr>
        <p:txBody>
          <a:bodyPr wrap="square" lIns="0" rIns="0" tIns="0" bIns="0" anchor="t">
            <a:spAutoFit/>
          </a:bodyPr>
          <a:lstStyle/>
          <a:p>
            <a:pPr algn="l">
              <a:spcAft>
                <a:spcPts val="600"/>
              </a:spcAft>
            </a:pPr>
            <a:r>
              <a:rPr sz="1250" b="1" i="0">
                <a:solidFill>
                  <a:srgbClr val="1B355E"/>
                </a:solidFill>
                <a:latin typeface="Abadi"/>
              </a:rPr>
              <a:t>The appeal.   </a:t>
            </a:r>
            <a:r>
              <a:rPr sz="1250" b="0" i="0">
                <a:solidFill>
                  <a:srgbClr val="1A1A1A"/>
                </a:solidFill>
                <a:latin typeface="Abadi"/>
              </a:rPr>
              <a:t>The portocholecystostomy keeps the sphincter of Oddi and avoids a Roux limb, so bowel bacteria have a longer way to travel, which is why it was expected to cut cholangitis.</a:t>
            </a:r>
          </a:p>
          <a:p>
            <a:pPr algn="l">
              <a:spcAft>
                <a:spcPts val="600"/>
              </a:spcAft>
            </a:pPr>
            <a:r>
              <a:rPr sz="1250" b="1" i="0">
                <a:solidFill>
                  <a:srgbClr val="1B355E"/>
                </a:solidFill>
                <a:latin typeface="Abadi"/>
              </a:rPr>
              <a:t>The reality.   </a:t>
            </a:r>
            <a:r>
              <a:rPr sz="1250" b="0" i="0">
                <a:solidFill>
                  <a:srgbClr val="1A1A1A"/>
                </a:solidFill>
                <a:latin typeface="Abadi"/>
              </a:rPr>
              <a:t>Few infants have a patent distal tree, and the narrow cystic duct can kink or block. Most centres use it only when anatomy clearly allows; otherwise the standard Roux operation remains the default.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LAPAROSCOPIC KASAI</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WHY SURGEONS TRIED KEYHOLE</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Proposed advantages, and the one benefit that has held up: an easier transplant later</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9</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Shirota C, et al. Surg Endosc 2020;34:3375–81 · Okur MH, et al. Pediatr Surg Int 2023;39:148</a:t>
            </a:r>
          </a:p>
        </p:txBody>
      </p:sp>
      <p:sp>
        <p:nvSpPr>
          <p:cNvPr id="12" name="TextBox 11"/>
          <p:cNvSpPr txBox="1"/>
          <p:nvPr/>
        </p:nvSpPr>
        <p:spPr>
          <a:xfrm>
            <a:off x="548640" y="1965960"/>
            <a:ext cx="2880360" cy="566928"/>
          </a:xfrm>
          <a:prstGeom prst="rect">
            <a:avLst/>
          </a:prstGeom>
          <a:noFill/>
        </p:spPr>
        <p:txBody>
          <a:bodyPr wrap="square" lIns="0" rIns="0" tIns="0" bIns="0" anchor="ctr">
            <a:spAutoFit/>
          </a:bodyPr>
          <a:lstStyle/>
          <a:p>
            <a:pPr algn="l"/>
            <a:r>
              <a:rPr sz="1050" b="0" i="0">
                <a:solidFill>
                  <a:srgbClr val="1A1A1A"/>
                </a:solidFill>
                <a:latin typeface="Abadi"/>
              </a:rPr>
              <a:t>Jaundice-free native liver at 1 year · open</a:t>
            </a:r>
          </a:p>
        </p:txBody>
      </p:sp>
      <p:sp>
        <p:nvSpPr>
          <p:cNvPr id="13" name="Rectangle 12"/>
          <p:cNvSpPr/>
          <p:nvPr/>
        </p:nvSpPr>
        <p:spPr>
          <a:xfrm>
            <a:off x="3474720" y="2084831"/>
            <a:ext cx="2796557"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4429" y="1965960"/>
            <a:ext cx="2194560" cy="566928"/>
          </a:xfrm>
          <a:prstGeom prst="rect">
            <a:avLst/>
          </a:prstGeom>
          <a:noFill/>
        </p:spPr>
        <p:txBody>
          <a:bodyPr wrap="square" lIns="0" rIns="0" tIns="0" bIns="0" anchor="ctr">
            <a:spAutoFit/>
          </a:bodyPr>
          <a:lstStyle/>
          <a:p>
            <a:pPr algn="l"/>
            <a:r>
              <a:rPr sz="1050" b="1" i="0">
                <a:solidFill>
                  <a:srgbClr val="1A1A1A"/>
                </a:solidFill>
                <a:latin typeface="Abadi"/>
              </a:rPr>
              <a:t>67% (31/46)</a:t>
            </a:r>
          </a:p>
        </p:txBody>
      </p:sp>
      <p:sp>
        <p:nvSpPr>
          <p:cNvPr id="15" name="TextBox 14"/>
          <p:cNvSpPr txBox="1"/>
          <p:nvPr/>
        </p:nvSpPr>
        <p:spPr>
          <a:xfrm>
            <a:off x="548640" y="2532888"/>
            <a:ext cx="2880360" cy="566928"/>
          </a:xfrm>
          <a:prstGeom prst="rect">
            <a:avLst/>
          </a:prstGeom>
          <a:noFill/>
        </p:spPr>
        <p:txBody>
          <a:bodyPr wrap="square" lIns="0" rIns="0" tIns="0" bIns="0" anchor="ctr">
            <a:spAutoFit/>
          </a:bodyPr>
          <a:lstStyle/>
          <a:p>
            <a:pPr algn="l"/>
            <a:r>
              <a:rPr sz="1050" b="0" i="0">
                <a:solidFill>
                  <a:srgbClr val="1A1A1A"/>
                </a:solidFill>
                <a:latin typeface="Abadi"/>
              </a:rPr>
              <a:t>Jaundice-free native liver at 1 year · laparoscopic</a:t>
            </a:r>
          </a:p>
        </p:txBody>
      </p:sp>
      <p:sp>
        <p:nvSpPr>
          <p:cNvPr id="16" name="Rectangle 15"/>
          <p:cNvSpPr/>
          <p:nvPr/>
        </p:nvSpPr>
        <p:spPr>
          <a:xfrm>
            <a:off x="3474720" y="2651760"/>
            <a:ext cx="3213954"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1826" y="2532888"/>
            <a:ext cx="2194560" cy="566928"/>
          </a:xfrm>
          <a:prstGeom prst="rect">
            <a:avLst/>
          </a:prstGeom>
          <a:noFill/>
        </p:spPr>
        <p:txBody>
          <a:bodyPr wrap="square" lIns="0" rIns="0" tIns="0" bIns="0" anchor="ctr">
            <a:spAutoFit/>
          </a:bodyPr>
          <a:lstStyle/>
          <a:p>
            <a:pPr algn="l"/>
            <a:r>
              <a:rPr sz="1050" b="1" i="0">
                <a:solidFill>
                  <a:srgbClr val="1A1A1A"/>
                </a:solidFill>
                <a:latin typeface="Abadi"/>
              </a:rPr>
              <a:t>77% (23/30)</a:t>
            </a:r>
          </a:p>
        </p:txBody>
      </p:sp>
      <p:sp>
        <p:nvSpPr>
          <p:cNvPr id="18" name="TextBox 17"/>
          <p:cNvSpPr txBox="1"/>
          <p:nvPr/>
        </p:nvSpPr>
        <p:spPr>
          <a:xfrm>
            <a:off x="548640" y="3099815"/>
            <a:ext cx="2880360" cy="566928"/>
          </a:xfrm>
          <a:prstGeom prst="rect">
            <a:avLst/>
          </a:prstGeom>
          <a:noFill/>
        </p:spPr>
        <p:txBody>
          <a:bodyPr wrap="square" lIns="0" rIns="0" tIns="0" bIns="0" anchor="ctr">
            <a:spAutoFit/>
          </a:bodyPr>
          <a:lstStyle/>
          <a:p>
            <a:pPr algn="l"/>
            <a:r>
              <a:rPr sz="1050" b="0" i="0">
                <a:solidFill>
                  <a:srgbClr val="1A1A1A"/>
                </a:solidFill>
                <a:latin typeface="Abadi"/>
              </a:rPr>
              <a:t>Jaundice-free native liver at 2 years · open</a:t>
            </a:r>
          </a:p>
        </p:txBody>
      </p:sp>
      <p:sp>
        <p:nvSpPr>
          <p:cNvPr id="19" name="Rectangle 18"/>
          <p:cNvSpPr/>
          <p:nvPr/>
        </p:nvSpPr>
        <p:spPr>
          <a:xfrm>
            <a:off x="3474720" y="3218687"/>
            <a:ext cx="2629599"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7471" y="3099815"/>
            <a:ext cx="2194560" cy="566928"/>
          </a:xfrm>
          <a:prstGeom prst="rect">
            <a:avLst/>
          </a:prstGeom>
          <a:noFill/>
        </p:spPr>
        <p:txBody>
          <a:bodyPr wrap="square" lIns="0" rIns="0" tIns="0" bIns="0" anchor="ctr">
            <a:spAutoFit/>
          </a:bodyPr>
          <a:lstStyle/>
          <a:p>
            <a:pPr algn="l"/>
            <a:r>
              <a:rPr sz="1050" b="1" i="0">
                <a:solidFill>
                  <a:srgbClr val="1A1A1A"/>
                </a:solidFill>
                <a:latin typeface="Abadi"/>
              </a:rPr>
              <a:t>63% (29/46)</a:t>
            </a:r>
          </a:p>
        </p:txBody>
      </p:sp>
      <p:sp>
        <p:nvSpPr>
          <p:cNvPr id="21" name="TextBox 20"/>
          <p:cNvSpPr txBox="1"/>
          <p:nvPr/>
        </p:nvSpPr>
        <p:spPr>
          <a:xfrm>
            <a:off x="548640" y="3666744"/>
            <a:ext cx="2880360" cy="566928"/>
          </a:xfrm>
          <a:prstGeom prst="rect">
            <a:avLst/>
          </a:prstGeom>
          <a:noFill/>
        </p:spPr>
        <p:txBody>
          <a:bodyPr wrap="square" lIns="0" rIns="0" tIns="0" bIns="0" anchor="ctr">
            <a:spAutoFit/>
          </a:bodyPr>
          <a:lstStyle/>
          <a:p>
            <a:pPr algn="l"/>
            <a:r>
              <a:rPr sz="1050" b="0" i="0">
                <a:solidFill>
                  <a:srgbClr val="1A1A1A"/>
                </a:solidFill>
                <a:latin typeface="Abadi"/>
              </a:rPr>
              <a:t>Jaundice-free native liver at 2 years · laparoscopic</a:t>
            </a:r>
          </a:p>
        </p:txBody>
      </p:sp>
      <p:sp>
        <p:nvSpPr>
          <p:cNvPr id="22" name="Rectangle 21"/>
          <p:cNvSpPr/>
          <p:nvPr/>
        </p:nvSpPr>
        <p:spPr>
          <a:xfrm>
            <a:off x="3474720" y="3785615"/>
            <a:ext cx="2921776"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9648" y="3666744"/>
            <a:ext cx="2194560" cy="566928"/>
          </a:xfrm>
          <a:prstGeom prst="rect">
            <a:avLst/>
          </a:prstGeom>
          <a:noFill/>
        </p:spPr>
        <p:txBody>
          <a:bodyPr wrap="square" lIns="0" rIns="0" tIns="0" bIns="0" anchor="ctr">
            <a:spAutoFit/>
          </a:bodyPr>
          <a:lstStyle/>
          <a:p>
            <a:pPr algn="l"/>
            <a:r>
              <a:rPr sz="1050" b="1" i="0">
                <a:solidFill>
                  <a:srgbClr val="1A1A1A"/>
                </a:solidFill>
                <a:latin typeface="Abadi"/>
              </a:rPr>
              <a:t>70% (19/27)</a:t>
            </a:r>
          </a:p>
        </p:txBody>
      </p:sp>
      <p:sp>
        <p:nvSpPr>
          <p:cNvPr id="24" name="TextBox 23"/>
          <p:cNvSpPr txBox="1"/>
          <p:nvPr/>
        </p:nvSpPr>
        <p:spPr>
          <a:xfrm>
            <a:off x="548640" y="4279392"/>
            <a:ext cx="7863840" cy="274320"/>
          </a:xfrm>
          <a:prstGeom prst="rect">
            <a:avLst/>
          </a:prstGeom>
          <a:noFill/>
        </p:spPr>
        <p:txBody>
          <a:bodyPr wrap="square" lIns="0" rIns="0" tIns="0" bIns="0" anchor="t">
            <a:spAutoFit/>
          </a:bodyPr>
          <a:lstStyle/>
          <a:p>
            <a:pPr algn="l"/>
            <a:r>
              <a:rPr sz="950" b="0" i="0">
                <a:solidFill>
                  <a:srgbClr val="7F7F7F"/>
                </a:solidFill>
                <a:latin typeface="Abadi"/>
              </a:rPr>
              <a:t>Bars: Nagoya series; differences not significant (p = 0.38 and p = 0.52).</a:t>
            </a:r>
          </a:p>
        </p:txBody>
      </p:sp>
      <p:sp>
        <p:nvSpPr>
          <p:cNvPr id="25" name="TextBox 24"/>
          <p:cNvSpPr txBox="1"/>
          <p:nvPr/>
        </p:nvSpPr>
        <p:spPr>
          <a:xfrm>
            <a:off x="548640" y="4599431"/>
            <a:ext cx="7955279" cy="1371600"/>
          </a:xfrm>
          <a:prstGeom prst="rect">
            <a:avLst/>
          </a:prstGeom>
          <a:noFill/>
        </p:spPr>
        <p:txBody>
          <a:bodyPr wrap="square" lIns="0" rIns="0" tIns="0" bIns="0" anchor="t">
            <a:spAutoFit/>
          </a:bodyPr>
          <a:lstStyle/>
          <a:p>
            <a:pPr algn="l">
              <a:spcAft>
                <a:spcPts val="600"/>
              </a:spcAft>
            </a:pPr>
            <a:r>
              <a:rPr sz="1200" b="1" i="0">
                <a:solidFill>
                  <a:srgbClr val="1B355E"/>
                </a:solidFill>
                <a:latin typeface="Abadi"/>
              </a:rPr>
              <a:t>Read it as.   </a:t>
            </a:r>
            <a:r>
              <a:rPr sz="1200" b="0" i="0">
                <a:solidFill>
                  <a:srgbClr val="1A1A1A"/>
                </a:solidFill>
                <a:latin typeface="Abadi"/>
              </a:rPr>
              <a:t>In an experienced Japanese centre, laparoscopic results matched the open operation; when transplant followed, laparoscopic patients had fewer adhesions, a shorter recipient hepatectomy and a shorter post-transplant stay.</a:t>
            </a:r>
          </a:p>
        </p:txBody>
      </p:sp>
      <p:sp>
        <p:nvSpPr>
          <p:cNvPr id="26" name="TextBox 25"/>
          <p:cNvSpPr txBox="1"/>
          <p:nvPr/>
        </p:nvSpPr>
        <p:spPr>
          <a:xfrm>
            <a:off x="8778240" y="1783080"/>
            <a:ext cx="2834640" cy="3931920"/>
          </a:xfrm>
          <a:prstGeom prst="rect">
            <a:avLst/>
          </a:prstGeom>
          <a:noFill/>
        </p:spPr>
        <p:txBody>
          <a:bodyPr wrap="square" lIns="0" rIns="0" tIns="0" bIns="0" anchor="t">
            <a:spAutoFit/>
          </a:bodyPr>
          <a:lstStyle/>
          <a:p>
            <a:pPr algn="l">
              <a:spcAft>
                <a:spcPts val="300"/>
              </a:spcAft>
            </a:pPr>
            <a:r>
              <a:rPr sz="1500" b="1" i="0">
                <a:solidFill>
                  <a:srgbClr val="1B355E"/>
                </a:solidFill>
                <a:latin typeface="Abadi"/>
              </a:rPr>
              <a:t>Magnification</a:t>
            </a:r>
          </a:p>
          <a:p>
            <a:pPr algn="l">
              <a:spcAft>
                <a:spcPts val="300"/>
              </a:spcAft>
            </a:pPr>
            <a:r>
              <a:rPr sz="1050" b="0" i="0">
                <a:solidFill>
                  <a:srgbClr val="555555"/>
                </a:solidFill>
                <a:latin typeface="Abadi"/>
              </a:rPr>
              <a:t>A close, lit view of the porta, the critical step.</a:t>
            </a:r>
          </a:p>
          <a:p>
            <a:pPr algn="l">
              <a:spcAft>
                <a:spcPts val="300"/>
              </a:spcAft>
            </a:pPr>
            <a:r>
              <a:rPr sz="1500" b="1" i="0">
                <a:solidFill>
                  <a:srgbClr val="1B355E"/>
                </a:solidFill>
                <a:latin typeface="Abadi"/>
              </a:rPr>
              <a:t>Smaller wounds</a:t>
            </a:r>
          </a:p>
          <a:p>
            <a:pPr algn="l">
              <a:spcAft>
                <a:spcPts val="300"/>
              </a:spcAft>
            </a:pPr>
            <a:r>
              <a:rPr sz="1050" b="0" i="0">
                <a:solidFill>
                  <a:srgbClr val="555555"/>
                </a:solidFill>
                <a:latin typeface="Abadi"/>
              </a:rPr>
              <a:t>Less blood loss and earlier feeding in pooled data.</a:t>
            </a:r>
          </a:p>
          <a:p>
            <a:pPr algn="l">
              <a:spcAft>
                <a:spcPts val="300"/>
              </a:spcAft>
            </a:pPr>
            <a:r>
              <a:rPr sz="1500" b="1" i="0">
                <a:solidFill>
                  <a:srgbClr val="1B355E"/>
                </a:solidFill>
                <a:latin typeface="Abadi"/>
              </a:rPr>
              <a:t>Transplant</a:t>
            </a:r>
          </a:p>
          <a:p>
            <a:pPr algn="l">
              <a:spcAft>
                <a:spcPts val="300"/>
              </a:spcAft>
            </a:pPr>
            <a:r>
              <a:rPr sz="1050" b="0" i="0">
                <a:solidFill>
                  <a:srgbClr val="555555"/>
                </a:solidFill>
                <a:latin typeface="Abadi"/>
              </a:rPr>
              <a:t>Fewer adhesions: the most consistent benefit, since about half of children will need a graft.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THE EARLY WARNING</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THE FIRST TRIALS STOPPED EARLY</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European and Hong Kong experience in the 2000s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10</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Ure BM, et al. Ann Surg 2011;253:826–30 (NCT01063699) · Wong KKY, et al. Pediatr Surg Int 2008;24:931–3 · Superina 2011</a:t>
            </a:r>
          </a:p>
        </p:txBody>
      </p:sp>
      <p:sp>
        <p:nvSpPr>
          <p:cNvPr id="12" name="Rectangle 11"/>
          <p:cNvSpPr/>
          <p:nvPr/>
        </p:nvSpPr>
        <p:spPr>
          <a:xfrm>
            <a:off x="548640" y="1773936"/>
            <a:ext cx="2633472" cy="25146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502920"/>
          </a:xfrm>
          <a:prstGeom prst="rect">
            <a:avLst/>
          </a:prstGeom>
          <a:noFill/>
        </p:spPr>
        <p:txBody>
          <a:bodyPr wrap="square" lIns="0" rIns="0" tIns="0" bIns="0" anchor="t">
            <a:spAutoFit/>
          </a:bodyPr>
          <a:lstStyle/>
          <a:p>
            <a:pPr algn="l"/>
            <a:r>
              <a:rPr sz="1500" b="1" i="0">
                <a:solidFill>
                  <a:srgbClr val="B22222"/>
                </a:solidFill>
                <a:latin typeface="Abadi"/>
              </a:rPr>
              <a:t>Hannover</a:t>
            </a:r>
          </a:p>
        </p:txBody>
      </p:sp>
      <p:sp>
        <p:nvSpPr>
          <p:cNvPr id="15" name="TextBox 14"/>
          <p:cNvSpPr txBox="1"/>
          <p:nvPr/>
        </p:nvSpPr>
        <p:spPr>
          <a:xfrm>
            <a:off x="694944" y="2505456"/>
            <a:ext cx="2340864" cy="169164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  Prospective laparoscopic series vs open controls</a:t>
            </a:r>
          </a:p>
          <a:p>
            <a:pPr algn="l">
              <a:spcAft>
                <a:spcPts val="400"/>
              </a:spcAft>
            </a:pPr>
            <a:r>
              <a:rPr sz="1050" b="0" i="0">
                <a:solidFill>
                  <a:srgbClr val="1A1A1A"/>
                </a:solidFill>
                <a:latin typeface="Abadi"/>
              </a:rPr>
              <a:t>▪  Stopped after interim analysis of first 12 cases</a:t>
            </a:r>
          </a:p>
          <a:p>
            <a:pPr algn="l">
              <a:spcAft>
                <a:spcPts val="400"/>
              </a:spcAft>
            </a:pPr>
            <a:r>
              <a:rPr sz="1050" b="0" i="0">
                <a:solidFill>
                  <a:srgbClr val="1A1A1A"/>
                </a:solidFill>
                <a:latin typeface="Abadi"/>
              </a:rPr>
              <a:t>▪  Lower native-liver survival at 6 months, confirmed at 24</a:t>
            </a:r>
          </a:p>
        </p:txBody>
      </p:sp>
      <p:sp>
        <p:nvSpPr>
          <p:cNvPr id="16" name="Rectangle 15"/>
          <p:cNvSpPr/>
          <p:nvPr/>
        </p:nvSpPr>
        <p:spPr>
          <a:xfrm>
            <a:off x="3364992" y="1773936"/>
            <a:ext cx="2633472" cy="25146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502920"/>
          </a:xfrm>
          <a:prstGeom prst="rect">
            <a:avLst/>
          </a:prstGeom>
          <a:noFill/>
        </p:spPr>
        <p:txBody>
          <a:bodyPr wrap="square" lIns="0" rIns="0" tIns="0" bIns="0" anchor="t">
            <a:spAutoFit/>
          </a:bodyPr>
          <a:lstStyle/>
          <a:p>
            <a:pPr algn="l"/>
            <a:r>
              <a:rPr sz="1500" b="1" i="0">
                <a:solidFill>
                  <a:srgbClr val="B22222"/>
                </a:solidFill>
                <a:latin typeface="Abadi"/>
              </a:rPr>
              <a:t>Hong Kong</a:t>
            </a:r>
          </a:p>
        </p:txBody>
      </p:sp>
      <p:sp>
        <p:nvSpPr>
          <p:cNvPr id="19" name="TextBox 18"/>
          <p:cNvSpPr txBox="1"/>
          <p:nvPr/>
        </p:nvSpPr>
        <p:spPr>
          <a:xfrm>
            <a:off x="3511296" y="2505456"/>
            <a:ext cx="2340864" cy="169164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  Transplant within 1 year: 6 of 9 laparoscopic (67%) vs 38.5% open</a:t>
            </a:r>
          </a:p>
          <a:p>
            <a:pPr algn="l">
              <a:spcAft>
                <a:spcPts val="400"/>
              </a:spcAft>
            </a:pPr>
            <a:r>
              <a:rPr sz="1050" b="0" i="0">
                <a:solidFill>
                  <a:srgbClr val="1A1A1A"/>
                </a:solidFill>
                <a:latin typeface="Abadi"/>
              </a:rPr>
              <a:t>▪  Volvulus, internal hernia of the Roux limb</a:t>
            </a:r>
          </a:p>
        </p:txBody>
      </p:sp>
      <p:sp>
        <p:nvSpPr>
          <p:cNvPr id="20" name="Rectangle 19"/>
          <p:cNvSpPr/>
          <p:nvPr/>
        </p:nvSpPr>
        <p:spPr>
          <a:xfrm>
            <a:off x="6181344" y="1773936"/>
            <a:ext cx="2633472" cy="25146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502920"/>
          </a:xfrm>
          <a:prstGeom prst="rect">
            <a:avLst/>
          </a:prstGeom>
          <a:noFill/>
        </p:spPr>
        <p:txBody>
          <a:bodyPr wrap="square" lIns="0" rIns="0" tIns="0" bIns="0" anchor="t">
            <a:spAutoFit/>
          </a:bodyPr>
          <a:lstStyle/>
          <a:p>
            <a:pPr algn="l"/>
            <a:r>
              <a:rPr sz="1500" b="1" i="0">
                <a:solidFill>
                  <a:srgbClr val="D97A0B"/>
                </a:solidFill>
                <a:latin typeface="Abadi"/>
              </a:rPr>
              <a:t>North America</a:t>
            </a:r>
          </a:p>
        </p:txBody>
      </p:sp>
      <p:sp>
        <p:nvSpPr>
          <p:cNvPr id="23" name="TextBox 22"/>
          <p:cNvSpPr txBox="1"/>
          <p:nvPr/>
        </p:nvSpPr>
        <p:spPr>
          <a:xfrm>
            <a:off x="6327648" y="2505456"/>
            <a:ext cx="2340864" cy="169164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  Only 5 laparoscopic cases in the 16-centre network</a:t>
            </a:r>
          </a:p>
          <a:p>
            <a:pPr algn="l">
              <a:spcAft>
                <a:spcPts val="400"/>
              </a:spcAft>
            </a:pPr>
            <a:r>
              <a:rPr sz="1050" b="0" i="0">
                <a:solidFill>
                  <a:srgbClr val="1A1A1A"/>
                </a:solidFill>
                <a:latin typeface="Abadi"/>
              </a:rPr>
              <a:t>▪  Authors cautious about experience</a:t>
            </a:r>
          </a:p>
        </p:txBody>
      </p:sp>
      <p:sp>
        <p:nvSpPr>
          <p:cNvPr id="24" name="Rectangle 23"/>
          <p:cNvSpPr/>
          <p:nvPr/>
        </p:nvSpPr>
        <p:spPr>
          <a:xfrm>
            <a:off x="8997696" y="1773936"/>
            <a:ext cx="2633472" cy="251460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502920"/>
          </a:xfrm>
          <a:prstGeom prst="rect">
            <a:avLst/>
          </a:prstGeom>
          <a:noFill/>
        </p:spPr>
        <p:txBody>
          <a:bodyPr wrap="square" lIns="0" rIns="0" tIns="0" bIns="0" anchor="t">
            <a:spAutoFit/>
          </a:bodyPr>
          <a:lstStyle/>
          <a:p>
            <a:pPr algn="l"/>
            <a:r>
              <a:rPr sz="1500" b="1" i="0">
                <a:solidFill>
                  <a:srgbClr val="8A939B"/>
                </a:solidFill>
                <a:latin typeface="Abadi"/>
              </a:rPr>
              <a:t>Proposed reasons</a:t>
            </a:r>
          </a:p>
        </p:txBody>
      </p:sp>
      <p:sp>
        <p:nvSpPr>
          <p:cNvPr id="27" name="TextBox 26"/>
          <p:cNvSpPr txBox="1"/>
          <p:nvPr/>
        </p:nvSpPr>
        <p:spPr>
          <a:xfrm>
            <a:off x="9144000" y="2505456"/>
            <a:ext cx="2340864" cy="169164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  Shallower plate dissection</a:t>
            </a:r>
          </a:p>
          <a:p>
            <a:pPr algn="l">
              <a:spcAft>
                <a:spcPts val="400"/>
              </a:spcAft>
            </a:pPr>
            <a:r>
              <a:rPr sz="1050" b="0" i="0">
                <a:solidFill>
                  <a:srgbClr val="1A1A1A"/>
                </a:solidFill>
                <a:latin typeface="Abadi"/>
              </a:rPr>
              <a:t>▪  Thermal injury from energy devices</a:t>
            </a:r>
          </a:p>
          <a:p>
            <a:pPr algn="l">
              <a:spcAft>
                <a:spcPts val="400"/>
              </a:spcAft>
            </a:pPr>
            <a:r>
              <a:rPr sz="1050" b="0" i="0">
                <a:solidFill>
                  <a:srgbClr val="1A1A1A"/>
                </a:solidFill>
                <a:latin typeface="Abadi"/>
              </a:rPr>
              <a:t>▪  Pneumoperitoneum, learning curve</a:t>
            </a:r>
          </a:p>
        </p:txBody>
      </p:sp>
      <p:sp>
        <p:nvSpPr>
          <p:cNvPr id="28" name="TextBox 27"/>
          <p:cNvSpPr txBox="1"/>
          <p:nvPr/>
        </p:nvSpPr>
        <p:spPr>
          <a:xfrm>
            <a:off x="548640" y="4480560"/>
            <a:ext cx="11082528" cy="1325880"/>
          </a:xfrm>
          <a:prstGeom prst="rect">
            <a:avLst/>
          </a:prstGeom>
          <a:noFill/>
        </p:spPr>
        <p:txBody>
          <a:bodyPr wrap="square" lIns="0" rIns="0" tIns="0" bIns="0" anchor="t">
            <a:spAutoFit/>
          </a:bodyPr>
          <a:lstStyle/>
          <a:p>
            <a:pPr algn="l">
              <a:spcAft>
                <a:spcPts val="600"/>
              </a:spcAft>
            </a:pPr>
            <a:r>
              <a:rPr sz="1250" b="1" i="0">
                <a:solidFill>
                  <a:srgbClr val="1B355E"/>
                </a:solidFill>
                <a:latin typeface="Abadi"/>
              </a:rPr>
              <a:t>Material point.   </a:t>
            </a:r>
            <a:r>
              <a:rPr sz="1250" b="0" i="0">
                <a:solidFill>
                  <a:srgbClr val="1A1A1A"/>
                </a:solidFill>
                <a:latin typeface="Abadi"/>
              </a:rPr>
              <a:t>Both European and Hong Kong groups returned to the open operation. The signal came from small, partly historical comparisons, but it was in the outcome that matters, survival with the native liver, and it was large enough that no Western centre has since mounted a definitive trial.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THE ONLY RANDOMISED TRIAL</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TEN YEARS LATER, KEYHOLE STILL TRAILS</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Hanoi, single surgeon, 122 infants with type III atresia randomised to laparoscopic or open Kasai, 2009–2017,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11</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Son TN, Mai DV, Tung PT, Liem NT. Laparoscopic versus open Kasai procedure for biliary atresia: long-term results of a randomized clinical trial. 2023</a:t>
            </a:r>
          </a:p>
        </p:txBody>
      </p:sp>
      <p:sp>
        <p:nvSpPr>
          <p:cNvPr id="12" name="TextBox 11"/>
          <p:cNvSpPr txBox="1"/>
          <p:nvPr/>
        </p:nvSpPr>
        <p:spPr>
          <a:xfrm>
            <a:off x="548640" y="1965960"/>
            <a:ext cx="2834640" cy="566928"/>
          </a:xfrm>
          <a:prstGeom prst="rect">
            <a:avLst/>
          </a:prstGeom>
          <a:noFill/>
        </p:spPr>
        <p:txBody>
          <a:bodyPr wrap="square" lIns="0" rIns="0" tIns="0" bIns="0" anchor="ctr">
            <a:spAutoFit/>
          </a:bodyPr>
          <a:lstStyle/>
          <a:p>
            <a:pPr algn="l"/>
            <a:r>
              <a:rPr sz="1050" b="0" i="0">
                <a:solidFill>
                  <a:srgbClr val="1A1A1A"/>
                </a:solidFill>
                <a:latin typeface="Abadi"/>
              </a:rPr>
              <a:t>Jaundice-free at 6 months · open</a:t>
            </a:r>
          </a:p>
        </p:txBody>
      </p:sp>
      <p:sp>
        <p:nvSpPr>
          <p:cNvPr id="13" name="Rectangle 12"/>
          <p:cNvSpPr/>
          <p:nvPr/>
        </p:nvSpPr>
        <p:spPr>
          <a:xfrm>
            <a:off x="3474720" y="2084831"/>
            <a:ext cx="3076511"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4383" y="1965960"/>
            <a:ext cx="2194560" cy="566928"/>
          </a:xfrm>
          <a:prstGeom prst="rect">
            <a:avLst/>
          </a:prstGeom>
          <a:noFill/>
        </p:spPr>
        <p:txBody>
          <a:bodyPr wrap="square" lIns="0" rIns="0" tIns="0" bIns="0" anchor="ctr">
            <a:spAutoFit/>
          </a:bodyPr>
          <a:lstStyle/>
          <a:p>
            <a:pPr algn="l"/>
            <a:r>
              <a:rPr sz="1050" b="1" i="0">
                <a:solidFill>
                  <a:srgbClr val="1A1A1A"/>
                </a:solidFill>
                <a:latin typeface="Abadi"/>
              </a:rPr>
              <a:t>60.7%</a:t>
            </a:r>
          </a:p>
        </p:txBody>
      </p:sp>
      <p:sp>
        <p:nvSpPr>
          <p:cNvPr id="15" name="TextBox 14"/>
          <p:cNvSpPr txBox="1"/>
          <p:nvPr/>
        </p:nvSpPr>
        <p:spPr>
          <a:xfrm>
            <a:off x="548640" y="2532888"/>
            <a:ext cx="2834640" cy="566928"/>
          </a:xfrm>
          <a:prstGeom prst="rect">
            <a:avLst/>
          </a:prstGeom>
          <a:noFill/>
        </p:spPr>
        <p:txBody>
          <a:bodyPr wrap="square" lIns="0" rIns="0" tIns="0" bIns="0" anchor="ctr">
            <a:spAutoFit/>
          </a:bodyPr>
          <a:lstStyle/>
          <a:p>
            <a:pPr algn="l"/>
            <a:r>
              <a:rPr sz="1050" b="0" i="0">
                <a:solidFill>
                  <a:srgbClr val="1A1A1A"/>
                </a:solidFill>
                <a:latin typeface="Abadi"/>
              </a:rPr>
              <a:t>Jaundice-free at 6 months · laparoscopic</a:t>
            </a:r>
          </a:p>
        </p:txBody>
      </p:sp>
      <p:sp>
        <p:nvSpPr>
          <p:cNvPr id="16" name="Rectangle 15"/>
          <p:cNvSpPr/>
          <p:nvPr/>
        </p:nvSpPr>
        <p:spPr>
          <a:xfrm>
            <a:off x="3474720" y="2651760"/>
            <a:ext cx="2660903"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08775" y="2532888"/>
            <a:ext cx="2194560" cy="566928"/>
          </a:xfrm>
          <a:prstGeom prst="rect">
            <a:avLst/>
          </a:prstGeom>
          <a:noFill/>
        </p:spPr>
        <p:txBody>
          <a:bodyPr wrap="square" lIns="0" rIns="0" tIns="0" bIns="0" anchor="ctr">
            <a:spAutoFit/>
          </a:bodyPr>
          <a:lstStyle/>
          <a:p>
            <a:pPr algn="l"/>
            <a:r>
              <a:rPr sz="1050" b="1" i="0">
                <a:solidFill>
                  <a:srgbClr val="1A1A1A"/>
                </a:solidFill>
                <a:latin typeface="Abadi"/>
              </a:rPr>
              <a:t>52.5%</a:t>
            </a:r>
          </a:p>
        </p:txBody>
      </p:sp>
      <p:sp>
        <p:nvSpPr>
          <p:cNvPr id="18" name="TextBox 17"/>
          <p:cNvSpPr txBox="1"/>
          <p:nvPr/>
        </p:nvSpPr>
        <p:spPr>
          <a:xfrm>
            <a:off x="548640" y="3099815"/>
            <a:ext cx="2834640" cy="566928"/>
          </a:xfrm>
          <a:prstGeom prst="rect">
            <a:avLst/>
          </a:prstGeom>
          <a:noFill/>
        </p:spPr>
        <p:txBody>
          <a:bodyPr wrap="square" lIns="0" rIns="0" tIns="0" bIns="0" anchor="ctr">
            <a:spAutoFit/>
          </a:bodyPr>
          <a:lstStyle/>
          <a:p>
            <a:pPr algn="l"/>
            <a:r>
              <a:rPr sz="1050" b="0" i="0">
                <a:solidFill>
                  <a:srgbClr val="1A1A1A"/>
                </a:solidFill>
                <a:latin typeface="Abadi"/>
              </a:rPr>
              <a:t>Survival at 10 years · open</a:t>
            </a:r>
          </a:p>
        </p:txBody>
      </p:sp>
      <p:sp>
        <p:nvSpPr>
          <p:cNvPr id="19" name="Rectangle 18"/>
          <p:cNvSpPr/>
          <p:nvPr/>
        </p:nvSpPr>
        <p:spPr>
          <a:xfrm>
            <a:off x="3474720" y="3218687"/>
            <a:ext cx="298528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3152" y="3099815"/>
            <a:ext cx="2194560" cy="566928"/>
          </a:xfrm>
          <a:prstGeom prst="rect">
            <a:avLst/>
          </a:prstGeom>
          <a:noFill/>
        </p:spPr>
        <p:txBody>
          <a:bodyPr wrap="square" lIns="0" rIns="0" tIns="0" bIns="0" anchor="ctr">
            <a:spAutoFit/>
          </a:bodyPr>
          <a:lstStyle/>
          <a:p>
            <a:pPr algn="l"/>
            <a:r>
              <a:rPr sz="1050" b="1" i="0">
                <a:solidFill>
                  <a:srgbClr val="1A1A1A"/>
                </a:solidFill>
                <a:latin typeface="Abadi"/>
              </a:rPr>
              <a:t>58.9%</a:t>
            </a:r>
          </a:p>
        </p:txBody>
      </p:sp>
      <p:sp>
        <p:nvSpPr>
          <p:cNvPr id="21" name="TextBox 20"/>
          <p:cNvSpPr txBox="1"/>
          <p:nvPr/>
        </p:nvSpPr>
        <p:spPr>
          <a:xfrm>
            <a:off x="548640" y="3666744"/>
            <a:ext cx="2834640" cy="566928"/>
          </a:xfrm>
          <a:prstGeom prst="rect">
            <a:avLst/>
          </a:prstGeom>
          <a:noFill/>
        </p:spPr>
        <p:txBody>
          <a:bodyPr wrap="square" lIns="0" rIns="0" tIns="0" bIns="0" anchor="ctr">
            <a:spAutoFit/>
          </a:bodyPr>
          <a:lstStyle/>
          <a:p>
            <a:pPr algn="l"/>
            <a:r>
              <a:rPr sz="1050" b="0" i="0">
                <a:solidFill>
                  <a:srgbClr val="1A1A1A"/>
                </a:solidFill>
                <a:latin typeface="Abadi"/>
              </a:rPr>
              <a:t>Survival at 10 years · laparoscopic</a:t>
            </a:r>
          </a:p>
        </p:txBody>
      </p:sp>
      <p:sp>
        <p:nvSpPr>
          <p:cNvPr id="22" name="Rectangle 21"/>
          <p:cNvSpPr/>
          <p:nvPr/>
        </p:nvSpPr>
        <p:spPr>
          <a:xfrm>
            <a:off x="3474720" y="3785615"/>
            <a:ext cx="2245296"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93168" y="3666744"/>
            <a:ext cx="2194560" cy="566928"/>
          </a:xfrm>
          <a:prstGeom prst="rect">
            <a:avLst/>
          </a:prstGeom>
          <a:noFill/>
        </p:spPr>
        <p:txBody>
          <a:bodyPr wrap="square" lIns="0" rIns="0" tIns="0" bIns="0" anchor="ctr">
            <a:spAutoFit/>
          </a:bodyPr>
          <a:lstStyle/>
          <a:p>
            <a:pPr algn="l"/>
            <a:r>
              <a:rPr sz="1050" b="1" i="0">
                <a:solidFill>
                  <a:srgbClr val="1A1A1A"/>
                </a:solidFill>
                <a:latin typeface="Abadi"/>
              </a:rPr>
              <a:t>44.3%</a:t>
            </a:r>
          </a:p>
        </p:txBody>
      </p:sp>
      <p:sp>
        <p:nvSpPr>
          <p:cNvPr id="24" name="TextBox 23"/>
          <p:cNvSpPr txBox="1"/>
          <p:nvPr/>
        </p:nvSpPr>
        <p:spPr>
          <a:xfrm>
            <a:off x="548640" y="4279392"/>
            <a:ext cx="7863840" cy="274320"/>
          </a:xfrm>
          <a:prstGeom prst="rect">
            <a:avLst/>
          </a:prstGeom>
          <a:noFill/>
        </p:spPr>
        <p:txBody>
          <a:bodyPr wrap="square" lIns="0" rIns="0" tIns="0" bIns="0" anchor="t">
            <a:spAutoFit/>
          </a:bodyPr>
          <a:lstStyle/>
          <a:p>
            <a:pPr algn="l"/>
            <a:r>
              <a:rPr sz="950" b="0" i="0">
                <a:solidFill>
                  <a:srgbClr val="7F7F7F"/>
                </a:solidFill>
                <a:latin typeface="Abadi"/>
              </a:rPr>
              <a:t>Bars: 61 per arm; p = 0.23 at 6 months, p = 0.09 at 10 years; follow-up up to 142 months.</a:t>
            </a:r>
          </a:p>
        </p:txBody>
      </p:sp>
      <p:sp>
        <p:nvSpPr>
          <p:cNvPr id="25" name="TextBox 24"/>
          <p:cNvSpPr txBox="1"/>
          <p:nvPr/>
        </p:nvSpPr>
        <p:spPr>
          <a:xfrm>
            <a:off x="548640" y="4599431"/>
            <a:ext cx="7955279" cy="1371600"/>
          </a:xfrm>
          <a:prstGeom prst="rect">
            <a:avLst/>
          </a:prstGeom>
          <a:noFill/>
        </p:spPr>
        <p:txBody>
          <a:bodyPr wrap="square" lIns="0" rIns="0" tIns="0" bIns="0" anchor="t">
            <a:spAutoFit/>
          </a:bodyPr>
          <a:lstStyle/>
          <a:p>
            <a:pPr algn="l">
              <a:spcAft>
                <a:spcPts val="600"/>
              </a:spcAft>
            </a:pPr>
            <a:r>
              <a:rPr sz="1200" b="1" i="0">
                <a:solidFill>
                  <a:srgbClr val="1B355E"/>
                </a:solidFill>
                <a:latin typeface="Abadi"/>
              </a:rPr>
              <a:t>Read it as.   </a:t>
            </a:r>
            <a:r>
              <a:rPr sz="1200" b="0" i="0">
                <a:solidFill>
                  <a:srgbClr val="1A1A1A"/>
                </a:solidFill>
                <a:latin typeface="Abadi"/>
              </a:rPr>
              <a:t>Not statistically different, but every point estimate favours the open operation, and the 10-year gap of almost 15 points is clinically large. A trial of 122 infants was powered to exclude only a big difference.</a:t>
            </a:r>
          </a:p>
        </p:txBody>
      </p:sp>
      <p:sp>
        <p:nvSpPr>
          <p:cNvPr id="26" name="TextBox 25"/>
          <p:cNvSpPr txBox="1"/>
          <p:nvPr/>
        </p:nvSpPr>
        <p:spPr>
          <a:xfrm>
            <a:off x="8778240" y="1783080"/>
            <a:ext cx="2834640" cy="3931920"/>
          </a:xfrm>
          <a:prstGeom prst="rect">
            <a:avLst/>
          </a:prstGeom>
          <a:noFill/>
        </p:spPr>
        <p:txBody>
          <a:bodyPr wrap="square" lIns="0" rIns="0" tIns="0" bIns="0" anchor="t">
            <a:spAutoFit/>
          </a:bodyPr>
          <a:lstStyle/>
          <a:p>
            <a:pPr algn="l">
              <a:spcAft>
                <a:spcPts val="300"/>
              </a:spcAft>
            </a:pPr>
            <a:r>
              <a:rPr sz="1500" b="1" i="0">
                <a:solidFill>
                  <a:srgbClr val="1B355E"/>
                </a:solidFill>
                <a:latin typeface="Abadi"/>
              </a:rPr>
              <a:t>Population</a:t>
            </a:r>
          </a:p>
          <a:p>
            <a:pPr algn="l">
              <a:spcAft>
                <a:spcPts val="300"/>
              </a:spcAft>
            </a:pPr>
            <a:r>
              <a:rPr sz="1050" b="0" i="0">
                <a:solidFill>
                  <a:srgbClr val="555555"/>
                </a:solidFill>
                <a:latin typeface="Abadi"/>
              </a:rPr>
              <a:t>Median age at surgery 79.7 days: late, as in many health systems.</a:t>
            </a:r>
          </a:p>
          <a:p>
            <a:pPr algn="l">
              <a:spcAft>
                <a:spcPts val="300"/>
              </a:spcAft>
            </a:pPr>
            <a:r>
              <a:rPr sz="1500" b="1" i="0">
                <a:solidFill>
                  <a:srgbClr val="1B355E"/>
                </a:solidFill>
                <a:latin typeface="Abadi"/>
              </a:rPr>
              <a:t>Strength</a:t>
            </a:r>
          </a:p>
          <a:p>
            <a:pPr algn="l">
              <a:spcAft>
                <a:spcPts val="300"/>
              </a:spcAft>
            </a:pPr>
            <a:r>
              <a:rPr sz="1050" b="0" i="0">
                <a:solidFill>
                  <a:srgbClr val="555555"/>
                </a:solidFill>
                <a:latin typeface="Abadi"/>
              </a:rPr>
              <a:t>Same surgeon, same principles, true randomisation.</a:t>
            </a:r>
          </a:p>
          <a:p>
            <a:pPr algn="l">
              <a:spcAft>
                <a:spcPts val="300"/>
              </a:spcAft>
            </a:pPr>
            <a:r>
              <a:rPr sz="1500" b="1" i="0">
                <a:solidFill>
                  <a:srgbClr val="1B355E"/>
                </a:solidFill>
                <a:latin typeface="Abadi"/>
              </a:rPr>
              <a:t>Limit</a:t>
            </a:r>
          </a:p>
          <a:p>
            <a:pPr algn="l">
              <a:spcAft>
                <a:spcPts val="300"/>
              </a:spcAft>
            </a:pPr>
            <a:r>
              <a:rPr sz="1050" b="0" i="0">
                <a:solidFill>
                  <a:srgbClr val="555555"/>
                </a:solidFill>
                <a:latin typeface="Abadi"/>
              </a:rPr>
              <a:t>One centre, one surgeon; survival endpoint not split into native-liver and transplant.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POOLED EVIDENCE</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FASTER RECOVERY, SAME LIVER?</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Meta-analysis of 23 studies (689 laparoscopic, 818 open) and the first robotic comparison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12</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Okur MH, et al. Pediatr Surg Int 2023;39:148 · Guo Y, et al. Surg Endosc 2025;39:349–55</a:t>
            </a:r>
          </a:p>
        </p:txBody>
      </p:sp>
      <p:sp>
        <p:nvSpPr>
          <p:cNvPr id="12" name="Rectangle 11"/>
          <p:cNvSpPr/>
          <p:nvPr/>
        </p:nvSpPr>
        <p:spPr>
          <a:xfrm>
            <a:off x="548640" y="1773936"/>
            <a:ext cx="2070201" cy="22402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0" rIns="0" tIns="0" bIns="0" anchor="t">
            <a:spAutoFit/>
          </a:bodyPr>
          <a:lstStyle/>
          <a:p>
            <a:pPr algn="l"/>
            <a:r>
              <a:rPr sz="2200" b="1" i="0">
                <a:solidFill>
                  <a:srgbClr val="1E7A33"/>
                </a:solidFill>
                <a:latin typeface="Abadi"/>
              </a:rPr>
              <a:t>−18 mL</a:t>
            </a:r>
          </a:p>
        </p:txBody>
      </p:sp>
      <p:sp>
        <p:nvSpPr>
          <p:cNvPr id="15" name="TextBox 14"/>
          <p:cNvSpPr txBox="1"/>
          <p:nvPr/>
        </p:nvSpPr>
        <p:spPr>
          <a:xfrm>
            <a:off x="694944" y="2505456"/>
            <a:ext cx="1777593" cy="141732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Blood loss lower with laparoscopy (weighted mean difference −17.9 mL).</a:t>
            </a:r>
          </a:p>
        </p:txBody>
      </p:sp>
      <p:sp>
        <p:nvSpPr>
          <p:cNvPr id="16" name="Rectangle 15"/>
          <p:cNvSpPr/>
          <p:nvPr/>
        </p:nvSpPr>
        <p:spPr>
          <a:xfrm>
            <a:off x="2801721" y="1773936"/>
            <a:ext cx="2070201" cy="22402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0" rIns="0" tIns="0" bIns="0" anchor="t">
            <a:spAutoFit/>
          </a:bodyPr>
          <a:lstStyle/>
          <a:p>
            <a:pPr algn="l"/>
            <a:r>
              <a:rPr sz="2200" b="1" i="0">
                <a:solidFill>
                  <a:srgbClr val="1E7A33"/>
                </a:solidFill>
                <a:latin typeface="Abadi"/>
              </a:rPr>
              <a:t>−2.9 days</a:t>
            </a:r>
          </a:p>
        </p:txBody>
      </p:sp>
      <p:sp>
        <p:nvSpPr>
          <p:cNvPr id="19" name="TextBox 18"/>
          <p:cNvSpPr txBox="1"/>
          <p:nvPr/>
        </p:nvSpPr>
        <p:spPr>
          <a:xfrm>
            <a:off x="2948025" y="2505456"/>
            <a:ext cx="1777593" cy="141732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Time to first feed shorter with laparoscopy.</a:t>
            </a:r>
          </a:p>
        </p:txBody>
      </p:sp>
      <p:sp>
        <p:nvSpPr>
          <p:cNvPr id="20" name="Rectangle 19"/>
          <p:cNvSpPr/>
          <p:nvPr/>
        </p:nvSpPr>
        <p:spPr>
          <a:xfrm>
            <a:off x="5054803" y="1773936"/>
            <a:ext cx="2070201" cy="22402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0" rIns="0" tIns="0" bIns="0" anchor="t">
            <a:spAutoFit/>
          </a:bodyPr>
          <a:lstStyle/>
          <a:p>
            <a:pPr algn="l"/>
            <a:r>
              <a:rPr sz="2200" b="1" i="0">
                <a:solidFill>
                  <a:srgbClr val="B22222"/>
                </a:solidFill>
                <a:latin typeface="Abadi"/>
              </a:rPr>
              <a:t>+33 min</a:t>
            </a:r>
          </a:p>
        </p:txBody>
      </p:sp>
      <p:sp>
        <p:nvSpPr>
          <p:cNvPr id="23" name="TextBox 22"/>
          <p:cNvSpPr txBox="1"/>
          <p:nvPr/>
        </p:nvSpPr>
        <p:spPr>
          <a:xfrm>
            <a:off x="5201107" y="2505456"/>
            <a:ext cx="1777593" cy="141732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Operating time longer with laparoscopy (weighted mean difference +32.5 min).</a:t>
            </a:r>
          </a:p>
        </p:txBody>
      </p:sp>
      <p:sp>
        <p:nvSpPr>
          <p:cNvPr id="24" name="Rectangle 23"/>
          <p:cNvSpPr/>
          <p:nvPr/>
        </p:nvSpPr>
        <p:spPr>
          <a:xfrm>
            <a:off x="7307884" y="1773936"/>
            <a:ext cx="2070201" cy="22402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0" rIns="0" tIns="0" bIns="0" anchor="t">
            <a:spAutoFit/>
          </a:bodyPr>
          <a:lstStyle/>
          <a:p>
            <a:pPr algn="l"/>
            <a:r>
              <a:rPr sz="2200" b="1" i="0">
                <a:solidFill>
                  <a:srgbClr val="8A939B"/>
                </a:solidFill>
                <a:latin typeface="Abadi"/>
              </a:rPr>
              <a:t>Neutral</a:t>
            </a:r>
          </a:p>
        </p:txBody>
      </p:sp>
      <p:sp>
        <p:nvSpPr>
          <p:cNvPr id="27" name="TextBox 26"/>
          <p:cNvSpPr txBox="1"/>
          <p:nvPr/>
        </p:nvSpPr>
        <p:spPr>
          <a:xfrm>
            <a:off x="7454188" y="2505456"/>
            <a:ext cx="1777593" cy="141732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Clearance, cholangitis, complications and 2-year transplant-free survival.</a:t>
            </a:r>
          </a:p>
        </p:txBody>
      </p:sp>
      <p:sp>
        <p:nvSpPr>
          <p:cNvPr id="28" name="Rectangle 27"/>
          <p:cNvSpPr/>
          <p:nvPr/>
        </p:nvSpPr>
        <p:spPr>
          <a:xfrm>
            <a:off x="9560966" y="1773936"/>
            <a:ext cx="2070201" cy="22402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0" rIns="0" tIns="0" bIns="0" anchor="t">
            <a:spAutoFit/>
          </a:bodyPr>
          <a:lstStyle/>
          <a:p>
            <a:pPr algn="l"/>
            <a:r>
              <a:rPr sz="2200" b="1" i="0">
                <a:solidFill>
                  <a:srgbClr val="D97A0B"/>
                </a:solidFill>
                <a:latin typeface="Abadi"/>
              </a:rPr>
              <a:t>Robotic</a:t>
            </a:r>
          </a:p>
        </p:txBody>
      </p:sp>
      <p:sp>
        <p:nvSpPr>
          <p:cNvPr id="31" name="TextBox 30"/>
          <p:cNvSpPr txBox="1"/>
          <p:nvPr/>
        </p:nvSpPr>
        <p:spPr>
          <a:xfrm>
            <a:off x="9707270" y="2505456"/>
            <a:ext cx="1777593" cy="141732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74 infants: clearance at 6 months 75.0% vs 68.4%; native liver 66.7% vs 63.2% (ns).</a:t>
            </a:r>
          </a:p>
        </p:txBody>
      </p:sp>
      <p:sp>
        <p:nvSpPr>
          <p:cNvPr id="32" name="TextBox 31"/>
          <p:cNvSpPr txBox="1"/>
          <p:nvPr/>
        </p:nvSpPr>
        <p:spPr>
          <a:xfrm>
            <a:off x="548640" y="4206240"/>
            <a:ext cx="11082528" cy="1600200"/>
          </a:xfrm>
          <a:prstGeom prst="rect">
            <a:avLst/>
          </a:prstGeom>
          <a:noFill/>
        </p:spPr>
        <p:txBody>
          <a:bodyPr wrap="square" lIns="0" rIns="0" tIns="0" bIns="0" anchor="t">
            <a:spAutoFit/>
          </a:bodyPr>
          <a:lstStyle/>
          <a:p>
            <a:pPr algn="l">
              <a:spcAft>
                <a:spcPts val="600"/>
              </a:spcAft>
            </a:pPr>
            <a:r>
              <a:rPr sz="1250" b="1" i="0">
                <a:solidFill>
                  <a:srgbClr val="1B355E"/>
                </a:solidFill>
                <a:latin typeface="Abadi"/>
              </a:rPr>
              <a:t>Interpretation.   </a:t>
            </a:r>
            <a:r>
              <a:rPr sz="1250" b="0" i="0">
                <a:solidFill>
                  <a:srgbClr val="1A1A1A"/>
                </a:solidFill>
                <a:latin typeface="Abadi"/>
              </a:rPr>
              <a:t>The pooled data are almost all retrospective, from Asian centres with large caseloads, with heterogeneity above 80% for most outcomes and younger infants in the laparoscopic groups. They show that experts can do the operation laparoscopically without obvious harm, not that laparoscopy improves drainage.</a:t>
            </a:r>
          </a:p>
          <a:p>
            <a:pPr algn="l">
              <a:spcAft>
                <a:spcPts val="600"/>
              </a:spcAft>
            </a:pPr>
            <a:r>
              <a:rPr sz="1250" b="1" i="0">
                <a:solidFill>
                  <a:srgbClr val="1B355E"/>
                </a:solidFill>
                <a:latin typeface="Abadi"/>
              </a:rPr>
              <a:t>Material point.   </a:t>
            </a:r>
            <a:r>
              <a:rPr sz="1250" b="0" i="0">
                <a:solidFill>
                  <a:srgbClr val="1A1A1A"/>
                </a:solidFill>
                <a:latin typeface="Abadi"/>
              </a:rPr>
              <a:t>Short-term comfort gains are small in an infant; the outcome that counts, native-liver survival, is not improved.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APPROACH COMPARED</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OPEN, LAPAROSCOPIC, ROBOTIC</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What each approach offers on the outcomes that matter</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13</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Son 2023 · Okur 2023 · Ure 2011 · Wong 2008 · Shirota 2020 · Guo 2025</a:t>
            </a:r>
          </a:p>
        </p:txBody>
      </p:sp>
      <p:graphicFrame>
        <p:nvGraphicFramePr>
          <p:cNvPr id="12" name="Table 11"/>
          <p:cNvGraphicFramePr>
            <a:graphicFrameLocks noGrp="1"/>
          </p:cNvGraphicFramePr>
          <p:nvPr/>
        </p:nvGraphicFramePr>
        <p:xfrm>
          <a:off x="548640" y="1783080"/>
          <a:ext cx="11082528" cy="3520440"/>
        </p:xfrm>
        <a:graphic>
          <a:graphicData uri="http://schemas.openxmlformats.org/drawingml/2006/table">
            <a:tbl>
              <a:tblPr firstRow="0" bandRow="0">
                <a:tableStyleId>{5C22544A-7EE6-4342-B048-85BDC9FD1C3A}</a:tableStyleId>
              </a:tblPr>
              <a:tblGrid>
                <a:gridCol w="2377440"/>
                <a:gridCol w="2743200"/>
                <a:gridCol w="3291840"/>
                <a:gridCol w="2670048"/>
              </a:tblGrid>
              <a:tr h="502920">
                <a:tc>
                  <a:txBody>
                    <a:bodyPr wrap="square"/>
                    <a:lstStyle/>
                    <a:p>
                      <a:r>
                        <a:rPr sz="1050" b="1">
                          <a:solidFill>
                            <a:srgbClr val="FFFFFF"/>
                          </a:solidFill>
                          <a:latin typeface="Abadi"/>
                        </a:rPr>
                        <a:t>Outcome</a:t>
                      </a:r>
                    </a:p>
                  </a:txBody>
                  <a:tcPr marL="73152" marR="73152" marT="27432" marB="27432" anchor="ctr">
                    <a:solidFill>
                      <a:srgbClr val="1B355E"/>
                    </a:solidFill>
                  </a:tcPr>
                </a:tc>
                <a:tc>
                  <a:txBody>
                    <a:bodyPr wrap="square"/>
                    <a:lstStyle/>
                    <a:p>
                      <a:r>
                        <a:rPr sz="1050" b="1">
                          <a:solidFill>
                            <a:srgbClr val="FFFFFF"/>
                          </a:solidFill>
                          <a:latin typeface="Abadi"/>
                        </a:rPr>
                        <a:t>Open</a:t>
                      </a:r>
                    </a:p>
                  </a:txBody>
                  <a:tcPr marL="73152" marR="73152" marT="27432" marB="27432" anchor="ctr">
                    <a:solidFill>
                      <a:srgbClr val="1B355E"/>
                    </a:solidFill>
                  </a:tcPr>
                </a:tc>
                <a:tc>
                  <a:txBody>
                    <a:bodyPr wrap="square"/>
                    <a:lstStyle/>
                    <a:p>
                      <a:r>
                        <a:rPr sz="1050" b="1">
                          <a:solidFill>
                            <a:srgbClr val="FFFFFF"/>
                          </a:solidFill>
                          <a:latin typeface="Abadi"/>
                        </a:rPr>
                        <a:t>Laparoscopic</a:t>
                      </a:r>
                    </a:p>
                  </a:txBody>
                  <a:tcPr marL="73152" marR="73152" marT="27432" marB="27432" anchor="ctr">
                    <a:solidFill>
                      <a:srgbClr val="1B355E"/>
                    </a:solidFill>
                  </a:tcPr>
                </a:tc>
                <a:tc>
                  <a:txBody>
                    <a:bodyPr wrap="square"/>
                    <a:lstStyle/>
                    <a:p>
                      <a:r>
                        <a:rPr sz="1050" b="1">
                          <a:solidFill>
                            <a:srgbClr val="FFFFFF"/>
                          </a:solidFill>
                          <a:latin typeface="Abadi"/>
                        </a:rPr>
                        <a:t>Robotic</a:t>
                      </a:r>
                    </a:p>
                  </a:txBody>
                  <a:tcPr marL="73152" marR="73152" marT="27432" marB="27432" anchor="ctr">
                    <a:solidFill>
                      <a:srgbClr val="1B355E"/>
                    </a:solidFill>
                  </a:tcPr>
                </a:tc>
              </a:tr>
              <a:tr h="502920">
                <a:tc>
                  <a:txBody>
                    <a:bodyPr wrap="square"/>
                    <a:lstStyle/>
                    <a:p>
                      <a:r>
                        <a:rPr sz="1000" b="1">
                          <a:solidFill>
                            <a:srgbClr val="1A1A1A"/>
                          </a:solidFill>
                          <a:latin typeface="Abadi"/>
                        </a:rPr>
                        <a:t>Highest-level evidence</a:t>
                      </a:r>
                    </a:p>
                  </a:txBody>
                  <a:tcPr marL="73152" marR="73152" marT="27432" marB="27432" anchor="ctr">
                    <a:solidFill>
                      <a:srgbClr val="FFFFFF"/>
                    </a:solidFill>
                  </a:tcPr>
                </a:tc>
                <a:tc>
                  <a:txBody>
                    <a:bodyPr wrap="square"/>
                    <a:lstStyle/>
                    <a:p>
                      <a:r>
                        <a:rPr sz="1000" b="0">
                          <a:solidFill>
                            <a:srgbClr val="1A1A1A"/>
                          </a:solidFill>
                          <a:latin typeface="Abadi"/>
                        </a:rPr>
                        <a:t>Reference arm of all comparisons</a:t>
                      </a:r>
                    </a:p>
                  </a:txBody>
                  <a:tcPr marL="73152" marR="73152" marT="27432" marB="27432" anchor="ctr">
                    <a:solidFill>
                      <a:srgbClr val="FFFFFF"/>
                    </a:solidFill>
                  </a:tcPr>
                </a:tc>
                <a:tc>
                  <a:txBody>
                    <a:bodyPr wrap="square"/>
                    <a:lstStyle/>
                    <a:p>
                      <a:r>
                        <a:rPr sz="1000" b="0">
                          <a:solidFill>
                            <a:srgbClr val="1A1A1A"/>
                          </a:solidFill>
                          <a:latin typeface="Abadi"/>
                        </a:rPr>
                        <a:t>One RCT (122 infants), 23-study meta-analysis</a:t>
                      </a:r>
                    </a:p>
                  </a:txBody>
                  <a:tcPr marL="73152" marR="73152" marT="27432" marB="27432" anchor="ctr">
                    <a:solidFill>
                      <a:srgbClr val="FFFFFF"/>
                    </a:solidFill>
                  </a:tcPr>
                </a:tc>
                <a:tc>
                  <a:txBody>
                    <a:bodyPr wrap="square"/>
                    <a:lstStyle/>
                    <a:p>
                      <a:r>
                        <a:rPr sz="1000" b="0">
                          <a:solidFill>
                            <a:srgbClr val="1A1A1A"/>
                          </a:solidFill>
                          <a:latin typeface="Abadi"/>
                        </a:rPr>
                        <a:t>Retrospective series</a:t>
                      </a:r>
                    </a:p>
                  </a:txBody>
                  <a:tcPr marL="73152" marR="73152" marT="27432" marB="27432" anchor="ctr">
                    <a:solidFill>
                      <a:srgbClr val="FFFFFF"/>
                    </a:solidFill>
                  </a:tcPr>
                </a:tc>
              </a:tr>
              <a:tr h="502920">
                <a:tc>
                  <a:txBody>
                    <a:bodyPr wrap="square"/>
                    <a:lstStyle/>
                    <a:p>
                      <a:r>
                        <a:rPr sz="1000" b="1">
                          <a:solidFill>
                            <a:srgbClr val="1A1A1A"/>
                          </a:solidFill>
                          <a:latin typeface="Abadi"/>
                        </a:rPr>
                        <a:t>Clearance of jaundice</a:t>
                      </a:r>
                    </a:p>
                  </a:txBody>
                  <a:tcPr marL="73152" marR="73152" marT="27432" marB="27432" anchor="ctr">
                    <a:solidFill>
                      <a:srgbClr val="F2F4F7"/>
                    </a:solidFill>
                  </a:tcPr>
                </a:tc>
                <a:tc>
                  <a:txBody>
                    <a:bodyPr wrap="square"/>
                    <a:lstStyle/>
                    <a:p>
                      <a:r>
                        <a:rPr sz="1000" b="0">
                          <a:solidFill>
                            <a:srgbClr val="1A1A1A"/>
                          </a:solidFill>
                          <a:latin typeface="Abadi"/>
                        </a:rPr>
                        <a:t>Benchmark 45–65% in national series</a:t>
                      </a:r>
                    </a:p>
                  </a:txBody>
                  <a:tcPr marL="73152" marR="73152" marT="27432" marB="27432" anchor="ctr">
                    <a:solidFill>
                      <a:srgbClr val="F2F4F7"/>
                    </a:solidFill>
                  </a:tcPr>
                </a:tc>
                <a:tc>
                  <a:txBody>
                    <a:bodyPr wrap="square"/>
                    <a:lstStyle/>
                    <a:p>
                      <a:r>
                        <a:rPr sz="1000" b="0">
                          <a:solidFill>
                            <a:srgbClr val="1A1A1A"/>
                          </a:solidFill>
                          <a:latin typeface="Abadi"/>
                        </a:rPr>
                        <a:t>Equal in pooled data; lower in Hannover and Hanoi</a:t>
                      </a:r>
                    </a:p>
                  </a:txBody>
                  <a:tcPr marL="73152" marR="73152" marT="27432" marB="27432" anchor="ctr">
                    <a:solidFill>
                      <a:srgbClr val="F2F4F7"/>
                    </a:solidFill>
                  </a:tcPr>
                </a:tc>
                <a:tc>
                  <a:txBody>
                    <a:bodyPr wrap="square"/>
                    <a:lstStyle/>
                    <a:p>
                      <a:r>
                        <a:rPr sz="1000" b="0">
                          <a:solidFill>
                            <a:srgbClr val="1A1A1A"/>
                          </a:solidFill>
                          <a:latin typeface="Abadi"/>
                        </a:rPr>
                        <a:t>Similar or higher in one series</a:t>
                      </a:r>
                    </a:p>
                  </a:txBody>
                  <a:tcPr marL="73152" marR="73152" marT="27432" marB="27432" anchor="ctr">
                    <a:solidFill>
                      <a:srgbClr val="F2F4F7"/>
                    </a:solidFill>
                  </a:tcPr>
                </a:tc>
              </a:tr>
              <a:tr h="502920">
                <a:tc>
                  <a:txBody>
                    <a:bodyPr wrap="square"/>
                    <a:lstStyle/>
                    <a:p>
                      <a:r>
                        <a:rPr sz="1000" b="1">
                          <a:solidFill>
                            <a:srgbClr val="1A1A1A"/>
                          </a:solidFill>
                          <a:latin typeface="Abadi"/>
                        </a:rPr>
                        <a:t>Native-liver survival</a:t>
                      </a:r>
                    </a:p>
                  </a:txBody>
                  <a:tcPr marL="73152" marR="73152" marT="27432" marB="27432" anchor="ctr">
                    <a:solidFill>
                      <a:srgbClr val="FFFFFF"/>
                    </a:solidFill>
                  </a:tcPr>
                </a:tc>
                <a:tc>
                  <a:txBody>
                    <a:bodyPr wrap="square"/>
                    <a:lstStyle/>
                    <a:p>
                      <a:r>
                        <a:rPr sz="1000" b="0">
                          <a:solidFill>
                            <a:srgbClr val="1A1A1A"/>
                          </a:solidFill>
                          <a:latin typeface="Abadi"/>
                        </a:rPr>
                        <a:t>Benchmark</a:t>
                      </a:r>
                    </a:p>
                  </a:txBody>
                  <a:tcPr marL="73152" marR="73152" marT="27432" marB="27432" anchor="ctr">
                    <a:solidFill>
                      <a:srgbClr val="FFFFFF"/>
                    </a:solidFill>
                  </a:tcPr>
                </a:tc>
                <a:tc>
                  <a:txBody>
                    <a:bodyPr wrap="square"/>
                    <a:lstStyle/>
                    <a:p>
                      <a:r>
                        <a:rPr sz="1000" b="0">
                          <a:solidFill>
                            <a:srgbClr val="1A1A1A"/>
                          </a:solidFill>
                          <a:latin typeface="Abadi"/>
                        </a:rPr>
                        <a:t>Not better; 10-year survival 44% vs 59% in the RCT</a:t>
                      </a:r>
                    </a:p>
                  </a:txBody>
                  <a:tcPr marL="73152" marR="73152" marT="27432" marB="27432" anchor="ctr">
                    <a:solidFill>
                      <a:srgbClr val="FFFFFF"/>
                    </a:solidFill>
                  </a:tcPr>
                </a:tc>
                <a:tc>
                  <a:txBody>
                    <a:bodyPr wrap="square"/>
                    <a:lstStyle/>
                    <a:p>
                      <a:r>
                        <a:rPr sz="1000" b="0">
                          <a:solidFill>
                            <a:srgbClr val="1A1A1A"/>
                          </a:solidFill>
                          <a:latin typeface="Abadi"/>
                        </a:rPr>
                        <a:t>Similar at short follow-up</a:t>
                      </a:r>
                    </a:p>
                  </a:txBody>
                  <a:tcPr marL="73152" marR="73152" marT="27432" marB="27432" anchor="ctr">
                    <a:solidFill>
                      <a:srgbClr val="FFFFFF"/>
                    </a:solidFill>
                  </a:tcPr>
                </a:tc>
              </a:tr>
              <a:tr h="502920">
                <a:tc>
                  <a:txBody>
                    <a:bodyPr wrap="square"/>
                    <a:lstStyle/>
                    <a:p>
                      <a:r>
                        <a:rPr sz="1000" b="1">
                          <a:solidFill>
                            <a:srgbClr val="1A1A1A"/>
                          </a:solidFill>
                          <a:latin typeface="Abadi"/>
                        </a:rPr>
                        <a:t>Recovery</a:t>
                      </a:r>
                    </a:p>
                  </a:txBody>
                  <a:tcPr marL="73152" marR="73152" marT="27432" marB="27432" anchor="ctr">
                    <a:solidFill>
                      <a:srgbClr val="F2F4F7"/>
                    </a:solidFill>
                  </a:tcPr>
                </a:tc>
                <a:tc>
                  <a:txBody>
                    <a:bodyPr wrap="square"/>
                    <a:lstStyle/>
                    <a:p>
                      <a:r>
                        <a:rPr sz="1000" b="0">
                          <a:solidFill>
                            <a:srgbClr val="1A1A1A"/>
                          </a:solidFill>
                          <a:latin typeface="Abadi"/>
                        </a:rPr>
                        <a:t>Longer wound, later feeding</a:t>
                      </a:r>
                    </a:p>
                  </a:txBody>
                  <a:tcPr marL="73152" marR="73152" marT="27432" marB="27432" anchor="ctr">
                    <a:solidFill>
                      <a:srgbClr val="F2F4F7"/>
                    </a:solidFill>
                  </a:tcPr>
                </a:tc>
                <a:tc>
                  <a:txBody>
                    <a:bodyPr wrap="square"/>
                    <a:lstStyle/>
                    <a:p>
                      <a:r>
                        <a:rPr sz="1000" b="0">
                          <a:solidFill>
                            <a:srgbClr val="1A1A1A"/>
                          </a:solidFill>
                          <a:latin typeface="Abadi"/>
                        </a:rPr>
                        <a:t>Less blood loss, feeding ~3 days earlier</a:t>
                      </a:r>
                    </a:p>
                  </a:txBody>
                  <a:tcPr marL="73152" marR="73152" marT="27432" marB="27432" anchor="ctr">
                    <a:solidFill>
                      <a:srgbClr val="F2F4F7"/>
                    </a:solidFill>
                  </a:tcPr>
                </a:tc>
                <a:tc>
                  <a:txBody>
                    <a:bodyPr wrap="square"/>
                    <a:lstStyle/>
                    <a:p>
                      <a:r>
                        <a:rPr sz="1000" b="0">
                          <a:solidFill>
                            <a:srgbClr val="1A1A1A"/>
                          </a:solidFill>
                          <a:latin typeface="Abadi"/>
                        </a:rPr>
                        <a:t>Less blood loss, longer operation</a:t>
                      </a:r>
                    </a:p>
                  </a:txBody>
                  <a:tcPr marL="73152" marR="73152" marT="27432" marB="27432" anchor="ctr">
                    <a:solidFill>
                      <a:srgbClr val="F2F4F7"/>
                    </a:solidFill>
                  </a:tcPr>
                </a:tc>
              </a:tr>
              <a:tr h="502920">
                <a:tc>
                  <a:txBody>
                    <a:bodyPr wrap="square"/>
                    <a:lstStyle/>
                    <a:p>
                      <a:r>
                        <a:rPr sz="1000" b="1">
                          <a:solidFill>
                            <a:srgbClr val="1A1A1A"/>
                          </a:solidFill>
                          <a:latin typeface="Abadi"/>
                        </a:rPr>
                        <a:t>Later transplant</a:t>
                      </a:r>
                    </a:p>
                  </a:txBody>
                  <a:tcPr marL="73152" marR="73152" marT="27432" marB="27432" anchor="ctr">
                    <a:solidFill>
                      <a:srgbClr val="FFFFFF"/>
                    </a:solidFill>
                  </a:tcPr>
                </a:tc>
                <a:tc>
                  <a:txBody>
                    <a:bodyPr wrap="square"/>
                    <a:lstStyle/>
                    <a:p>
                      <a:r>
                        <a:rPr sz="1000" b="0">
                          <a:solidFill>
                            <a:srgbClr val="1A1A1A"/>
                          </a:solidFill>
                          <a:latin typeface="Abadi"/>
                        </a:rPr>
                        <a:t>More adhesions</a:t>
                      </a:r>
                    </a:p>
                  </a:txBody>
                  <a:tcPr marL="73152" marR="73152" marT="27432" marB="27432" anchor="ctr">
                    <a:solidFill>
                      <a:srgbClr val="FFFFFF"/>
                    </a:solidFill>
                  </a:tcPr>
                </a:tc>
                <a:tc>
                  <a:txBody>
                    <a:bodyPr wrap="square"/>
                    <a:lstStyle/>
                    <a:p>
                      <a:r>
                        <a:rPr sz="1000" b="0">
                          <a:solidFill>
                            <a:srgbClr val="1A1A1A"/>
                          </a:solidFill>
                          <a:latin typeface="Abadi"/>
                        </a:rPr>
                        <a:t>Fewer adhesions, shorter hepatectomy</a:t>
                      </a:r>
                    </a:p>
                  </a:txBody>
                  <a:tcPr marL="73152" marR="73152" marT="27432" marB="27432" anchor="ctr">
                    <a:solidFill>
                      <a:srgbClr val="FFFFFF"/>
                    </a:solidFill>
                  </a:tcPr>
                </a:tc>
                <a:tc>
                  <a:txBody>
                    <a:bodyPr wrap="square"/>
                    <a:lstStyle/>
                    <a:p>
                      <a:r>
                        <a:rPr sz="1000" b="0">
                          <a:solidFill>
                            <a:srgbClr val="1A1A1A"/>
                          </a:solidFill>
                          <a:latin typeface="Abadi"/>
                        </a:rPr>
                        <a:t>Unknown</a:t>
                      </a:r>
                    </a:p>
                  </a:txBody>
                  <a:tcPr marL="73152" marR="73152" marT="27432" marB="27432" anchor="ctr">
                    <a:solidFill>
                      <a:srgbClr val="FFFFFF"/>
                    </a:solidFill>
                  </a:tcPr>
                </a:tc>
              </a:tr>
              <a:tr h="502920">
                <a:tc>
                  <a:txBody>
                    <a:bodyPr wrap="square"/>
                    <a:lstStyle/>
                    <a:p>
                      <a:r>
                        <a:rPr sz="1000" b="1">
                          <a:solidFill>
                            <a:srgbClr val="1A1A1A"/>
                          </a:solidFill>
                          <a:latin typeface="Abadi"/>
                        </a:rPr>
                        <a:t>Learning curve</a:t>
                      </a:r>
                    </a:p>
                  </a:txBody>
                  <a:tcPr marL="73152" marR="73152" marT="27432" marB="27432" anchor="ctr">
                    <a:solidFill>
                      <a:srgbClr val="F2F4F7"/>
                    </a:solidFill>
                  </a:tcPr>
                </a:tc>
                <a:tc>
                  <a:txBody>
                    <a:bodyPr wrap="square"/>
                    <a:lstStyle/>
                    <a:p>
                      <a:r>
                        <a:rPr sz="1000" b="0">
                          <a:solidFill>
                            <a:srgbClr val="1A1A1A"/>
                          </a:solidFill>
                          <a:latin typeface="Abadi"/>
                        </a:rPr>
                        <a:t>Shortest</a:t>
                      </a:r>
                    </a:p>
                  </a:txBody>
                  <a:tcPr marL="73152" marR="73152" marT="27432" marB="27432" anchor="ctr">
                    <a:solidFill>
                      <a:srgbClr val="F2F4F7"/>
                    </a:solidFill>
                  </a:tcPr>
                </a:tc>
                <a:tc>
                  <a:txBody>
                    <a:bodyPr wrap="square"/>
                    <a:lstStyle/>
                    <a:p>
                      <a:r>
                        <a:rPr sz="1000" b="0">
                          <a:solidFill>
                            <a:srgbClr val="1A1A1A"/>
                          </a:solidFill>
                          <a:latin typeface="Abadi"/>
                        </a:rPr>
                        <a:t>Long; needs caseload</a:t>
                      </a:r>
                    </a:p>
                  </a:txBody>
                  <a:tcPr marL="73152" marR="73152" marT="27432" marB="27432" anchor="ctr">
                    <a:solidFill>
                      <a:srgbClr val="F2F4F7"/>
                    </a:solidFill>
                  </a:tcPr>
                </a:tc>
                <a:tc>
                  <a:txBody>
                    <a:bodyPr wrap="square"/>
                    <a:lstStyle/>
                    <a:p>
                      <a:r>
                        <a:rPr sz="1000" b="0">
                          <a:solidFill>
                            <a:srgbClr val="1A1A1A"/>
                          </a:solidFill>
                          <a:latin typeface="Abadi"/>
                        </a:rPr>
                        <a:t>Long; cost and access</a:t>
                      </a:r>
                    </a:p>
                  </a:txBody>
                  <a:tcPr marL="73152" marR="73152" marT="27432" marB="27432" anchor="ctr">
                    <a:solidFill>
                      <a:srgbClr val="F2F4F7"/>
                    </a:solidFill>
                  </a:tcPr>
                </a:tc>
              </a:tr>
            </a:tbl>
          </a:graphicData>
        </a:graphic>
      </p:graphicFrame>
      <p:sp>
        <p:nvSpPr>
          <p:cNvPr id="13" name="TextBox 12"/>
          <p:cNvSpPr txBox="1"/>
          <p:nvPr/>
        </p:nvSpPr>
        <p:spPr>
          <a:xfrm>
            <a:off x="548640" y="5440680"/>
            <a:ext cx="11082528" cy="411480"/>
          </a:xfrm>
          <a:prstGeom prst="rect">
            <a:avLst/>
          </a:prstGeom>
          <a:noFill/>
        </p:spPr>
        <p:txBody>
          <a:bodyPr wrap="square" lIns="0" rIns="0" tIns="0" bIns="0" anchor="t">
            <a:spAutoFit/>
          </a:bodyPr>
          <a:lstStyle/>
          <a:p>
            <a:pPr algn="l">
              <a:spcAft>
                <a:spcPts val="600"/>
              </a:spcAft>
            </a:pPr>
            <a:r>
              <a:rPr sz="1200" b="1" i="0">
                <a:solidFill>
                  <a:srgbClr val="1B355E"/>
                </a:solidFill>
                <a:latin typeface="Abadi"/>
              </a:rPr>
              <a:t>Bottom line.   </a:t>
            </a:r>
            <a:r>
              <a:rPr sz="1200" b="0" i="0">
                <a:solidFill>
                  <a:srgbClr val="1A1A1A"/>
                </a:solidFill>
                <a:latin typeface="Abadi"/>
              </a:rPr>
              <a:t>Open remains the standard; laparoscopy belongs in high-volume centres that audit their native-liver survival.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CENTRE VOLUME</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CASELOAD PREDICTS THE NATIVE LIVER</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Five-year native-liver survival by centre caseload in two national cohorts,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14</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McKiernan PJ, et al. Lancet 2000;355:25–9 · Pakarinen MP, et al. J Pediatr Surg 2018;53:1509–15 · Davenport M, et al. J Pediatr Surg 2011;46:1689–94</a:t>
            </a:r>
          </a:p>
        </p:txBody>
      </p:sp>
      <p:sp>
        <p:nvSpPr>
          <p:cNvPr id="12" name="TextBox 11"/>
          <p:cNvSpPr txBox="1"/>
          <p:nvPr/>
        </p:nvSpPr>
        <p:spPr>
          <a:xfrm>
            <a:off x="548640" y="1965960"/>
            <a:ext cx="2880360" cy="566928"/>
          </a:xfrm>
          <a:prstGeom prst="rect">
            <a:avLst/>
          </a:prstGeom>
          <a:noFill/>
        </p:spPr>
        <p:txBody>
          <a:bodyPr wrap="square" lIns="0" rIns="0" tIns="0" bIns="0" anchor="ctr">
            <a:spAutoFit/>
          </a:bodyPr>
          <a:lstStyle/>
          <a:p>
            <a:pPr algn="l"/>
            <a:r>
              <a:rPr sz="1050" b="0" i="0">
                <a:solidFill>
                  <a:srgbClr val="1A1A1A"/>
                </a:solidFill>
                <a:latin typeface="Abadi"/>
              </a:rPr>
              <a:t>UK and Ireland 1993–95 · centres &gt; 5 cases/yr</a:t>
            </a:r>
          </a:p>
        </p:txBody>
      </p:sp>
      <p:sp>
        <p:nvSpPr>
          <p:cNvPr id="13" name="Rectangle 12"/>
          <p:cNvSpPr/>
          <p:nvPr/>
        </p:nvSpPr>
        <p:spPr>
          <a:xfrm>
            <a:off x="3474720" y="2084831"/>
            <a:ext cx="3106922"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54794" y="1965960"/>
            <a:ext cx="2194560" cy="566928"/>
          </a:xfrm>
          <a:prstGeom prst="rect">
            <a:avLst/>
          </a:prstGeom>
          <a:noFill/>
        </p:spPr>
        <p:txBody>
          <a:bodyPr wrap="square" lIns="0" rIns="0" tIns="0" bIns="0" anchor="ctr">
            <a:spAutoFit/>
          </a:bodyPr>
          <a:lstStyle/>
          <a:p>
            <a:pPr algn="l"/>
            <a:r>
              <a:rPr sz="1050" b="1" i="0">
                <a:solidFill>
                  <a:srgbClr val="1A1A1A"/>
                </a:solidFill>
                <a:latin typeface="Abadi"/>
              </a:rPr>
              <a:t>61.3%</a:t>
            </a:r>
          </a:p>
        </p:txBody>
      </p:sp>
      <p:sp>
        <p:nvSpPr>
          <p:cNvPr id="15" name="TextBox 14"/>
          <p:cNvSpPr txBox="1"/>
          <p:nvPr/>
        </p:nvSpPr>
        <p:spPr>
          <a:xfrm>
            <a:off x="548640" y="2532888"/>
            <a:ext cx="2880360" cy="566928"/>
          </a:xfrm>
          <a:prstGeom prst="rect">
            <a:avLst/>
          </a:prstGeom>
          <a:noFill/>
        </p:spPr>
        <p:txBody>
          <a:bodyPr wrap="square" lIns="0" rIns="0" tIns="0" bIns="0" anchor="ctr">
            <a:spAutoFit/>
          </a:bodyPr>
          <a:lstStyle/>
          <a:p>
            <a:pPr algn="l"/>
            <a:r>
              <a:rPr sz="1050" b="0" i="0">
                <a:solidFill>
                  <a:srgbClr val="1A1A1A"/>
                </a:solidFill>
                <a:latin typeface="Abadi"/>
              </a:rPr>
              <a:t>UK and Ireland 1993–95 · smaller centres</a:t>
            </a:r>
          </a:p>
        </p:txBody>
      </p:sp>
      <p:sp>
        <p:nvSpPr>
          <p:cNvPr id="16" name="Rectangle 15"/>
          <p:cNvSpPr/>
          <p:nvPr/>
        </p:nvSpPr>
        <p:spPr>
          <a:xfrm>
            <a:off x="3474720" y="2651760"/>
            <a:ext cx="694369"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42241" y="2532888"/>
            <a:ext cx="2194560" cy="566928"/>
          </a:xfrm>
          <a:prstGeom prst="rect">
            <a:avLst/>
          </a:prstGeom>
          <a:noFill/>
        </p:spPr>
        <p:txBody>
          <a:bodyPr wrap="square" lIns="0" rIns="0" tIns="0" bIns="0" anchor="ctr">
            <a:spAutoFit/>
          </a:bodyPr>
          <a:lstStyle/>
          <a:p>
            <a:pPr algn="l"/>
            <a:r>
              <a:rPr sz="1050" b="1" i="0">
                <a:solidFill>
                  <a:srgbClr val="1A1A1A"/>
                </a:solidFill>
                <a:latin typeface="Abadi"/>
              </a:rPr>
              <a:t>13.7%</a:t>
            </a:r>
          </a:p>
        </p:txBody>
      </p:sp>
      <p:sp>
        <p:nvSpPr>
          <p:cNvPr id="18" name="TextBox 17"/>
          <p:cNvSpPr txBox="1"/>
          <p:nvPr/>
        </p:nvSpPr>
        <p:spPr>
          <a:xfrm>
            <a:off x="548640" y="3099815"/>
            <a:ext cx="2880360" cy="566928"/>
          </a:xfrm>
          <a:prstGeom prst="rect">
            <a:avLst/>
          </a:prstGeom>
          <a:noFill/>
        </p:spPr>
        <p:txBody>
          <a:bodyPr wrap="square" lIns="0" rIns="0" tIns="0" bIns="0" anchor="ctr">
            <a:spAutoFit/>
          </a:bodyPr>
          <a:lstStyle/>
          <a:p>
            <a:pPr algn="l"/>
            <a:r>
              <a:rPr sz="1050" b="0" i="0">
                <a:solidFill>
                  <a:srgbClr val="1A1A1A"/>
                </a:solidFill>
                <a:latin typeface="Abadi"/>
              </a:rPr>
              <a:t>England and Wales 1999–2009 · 3 centres</a:t>
            </a:r>
          </a:p>
        </p:txBody>
      </p:sp>
      <p:sp>
        <p:nvSpPr>
          <p:cNvPr id="19" name="Rectangle 18"/>
          <p:cNvSpPr/>
          <p:nvPr/>
        </p:nvSpPr>
        <p:spPr>
          <a:xfrm>
            <a:off x="3474720" y="3218687"/>
            <a:ext cx="2331458"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79330" y="3099815"/>
            <a:ext cx="2194560" cy="566928"/>
          </a:xfrm>
          <a:prstGeom prst="rect">
            <a:avLst/>
          </a:prstGeom>
          <a:noFill/>
        </p:spPr>
        <p:txBody>
          <a:bodyPr wrap="square" lIns="0" rIns="0" tIns="0" bIns="0" anchor="ctr">
            <a:spAutoFit/>
          </a:bodyPr>
          <a:lstStyle/>
          <a:p>
            <a:pPr algn="l"/>
            <a:r>
              <a:rPr sz="1050" b="1" i="0">
                <a:solidFill>
                  <a:srgbClr val="1A1A1A"/>
                </a:solidFill>
                <a:latin typeface="Abadi"/>
              </a:rPr>
              <a:t>46%</a:t>
            </a:r>
          </a:p>
        </p:txBody>
      </p:sp>
      <p:sp>
        <p:nvSpPr>
          <p:cNvPr id="21" name="TextBox 20"/>
          <p:cNvSpPr txBox="1"/>
          <p:nvPr/>
        </p:nvSpPr>
        <p:spPr>
          <a:xfrm>
            <a:off x="548640" y="3666744"/>
            <a:ext cx="2880360" cy="566928"/>
          </a:xfrm>
          <a:prstGeom prst="rect">
            <a:avLst/>
          </a:prstGeom>
          <a:noFill/>
        </p:spPr>
        <p:txBody>
          <a:bodyPr wrap="square" lIns="0" rIns="0" tIns="0" bIns="0" anchor="ctr">
            <a:spAutoFit/>
          </a:bodyPr>
          <a:lstStyle/>
          <a:p>
            <a:pPr algn="l"/>
            <a:r>
              <a:rPr sz="1050" b="0" i="0">
                <a:solidFill>
                  <a:srgbClr val="1A1A1A"/>
                </a:solidFill>
                <a:latin typeface="Abadi"/>
              </a:rPr>
              <a:t>Nordic countries 2005–2016 · all centres</a:t>
            </a:r>
          </a:p>
        </p:txBody>
      </p:sp>
      <p:sp>
        <p:nvSpPr>
          <p:cNvPr id="22" name="Rectangle 21"/>
          <p:cNvSpPr/>
          <p:nvPr/>
        </p:nvSpPr>
        <p:spPr>
          <a:xfrm>
            <a:off x="3474720" y="3785615"/>
            <a:ext cx="2686245"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4117" y="3666744"/>
            <a:ext cx="2194560" cy="566928"/>
          </a:xfrm>
          <a:prstGeom prst="rect">
            <a:avLst/>
          </a:prstGeom>
          <a:noFill/>
        </p:spPr>
        <p:txBody>
          <a:bodyPr wrap="square" lIns="0" rIns="0" tIns="0" bIns="0" anchor="ctr">
            <a:spAutoFit/>
          </a:bodyPr>
          <a:lstStyle/>
          <a:p>
            <a:pPr algn="l"/>
            <a:r>
              <a:rPr sz="1050" b="1" i="0">
                <a:solidFill>
                  <a:srgbClr val="1A1A1A"/>
                </a:solidFill>
                <a:latin typeface="Abadi"/>
              </a:rPr>
              <a:t>53%</a:t>
            </a:r>
          </a:p>
        </p:txBody>
      </p:sp>
      <p:sp>
        <p:nvSpPr>
          <p:cNvPr id="24" name="TextBox 23"/>
          <p:cNvSpPr txBox="1"/>
          <p:nvPr/>
        </p:nvSpPr>
        <p:spPr>
          <a:xfrm>
            <a:off x="548640" y="4279392"/>
            <a:ext cx="7863840" cy="274320"/>
          </a:xfrm>
          <a:prstGeom prst="rect">
            <a:avLst/>
          </a:prstGeom>
          <a:noFill/>
        </p:spPr>
        <p:txBody>
          <a:bodyPr wrap="square" lIns="0" rIns="0" tIns="0" bIns="0" anchor="t">
            <a:spAutoFit/>
          </a:bodyPr>
          <a:lstStyle/>
          <a:p>
            <a:pPr algn="l"/>
            <a:r>
              <a:rPr sz="950" b="0" i="0">
                <a:solidFill>
                  <a:srgbClr val="7F7F7F"/>
                </a:solidFill>
                <a:latin typeface="Abadi"/>
              </a:rPr>
              <a:t>Bars: native-liver survival at 5 years; Nordic: caseload &gt; 3 per year was an independent predictor.</a:t>
            </a:r>
          </a:p>
        </p:txBody>
      </p:sp>
      <p:sp>
        <p:nvSpPr>
          <p:cNvPr id="25" name="TextBox 24"/>
          <p:cNvSpPr txBox="1"/>
          <p:nvPr/>
        </p:nvSpPr>
        <p:spPr>
          <a:xfrm>
            <a:off x="548640" y="4599431"/>
            <a:ext cx="7955279" cy="1371600"/>
          </a:xfrm>
          <a:prstGeom prst="rect">
            <a:avLst/>
          </a:prstGeom>
          <a:noFill/>
        </p:spPr>
        <p:txBody>
          <a:bodyPr wrap="square" lIns="0" rIns="0" tIns="0" bIns="0" anchor="t">
            <a:spAutoFit/>
          </a:bodyPr>
          <a:lstStyle/>
          <a:p>
            <a:pPr algn="l">
              <a:spcAft>
                <a:spcPts val="600"/>
              </a:spcAft>
            </a:pPr>
            <a:r>
              <a:rPr sz="1200" b="1" i="0">
                <a:solidFill>
                  <a:srgbClr val="1B355E"/>
                </a:solidFill>
                <a:latin typeface="Abadi"/>
              </a:rPr>
              <a:t>Read it as.   </a:t>
            </a:r>
            <a:r>
              <a:rPr sz="1200" b="0" i="0">
                <a:solidFill>
                  <a:srgbClr val="1A1A1A"/>
                </a:solidFill>
                <a:latin typeface="Abadi"/>
              </a:rPr>
              <a:t>The volume effect appears wherever it has been looked for in Europe. After England centralised to three centres, the national figure became the benchmark rather than the best case.</a:t>
            </a:r>
          </a:p>
        </p:txBody>
      </p:sp>
      <p:sp>
        <p:nvSpPr>
          <p:cNvPr id="26" name="TextBox 25"/>
          <p:cNvSpPr txBox="1"/>
          <p:nvPr/>
        </p:nvSpPr>
        <p:spPr>
          <a:xfrm>
            <a:off x="8778240" y="1783080"/>
            <a:ext cx="2834640" cy="3931920"/>
          </a:xfrm>
          <a:prstGeom prst="rect">
            <a:avLst/>
          </a:prstGeom>
          <a:noFill/>
        </p:spPr>
        <p:txBody>
          <a:bodyPr wrap="square" lIns="0" rIns="0" tIns="0" bIns="0" anchor="t">
            <a:spAutoFit/>
          </a:bodyPr>
          <a:lstStyle/>
          <a:p>
            <a:pPr algn="l">
              <a:spcAft>
                <a:spcPts val="300"/>
              </a:spcAft>
            </a:pPr>
            <a:r>
              <a:rPr sz="1500" b="1" i="0">
                <a:solidFill>
                  <a:srgbClr val="1B355E"/>
                </a:solidFill>
                <a:latin typeface="Abadi"/>
              </a:rPr>
              <a:t>Nordic 2018</a:t>
            </a:r>
          </a:p>
          <a:p>
            <a:pPr algn="l">
              <a:spcAft>
                <a:spcPts val="300"/>
              </a:spcAft>
            </a:pPr>
            <a:r>
              <a:rPr sz="1050" b="0" i="0">
                <a:solidFill>
                  <a:srgbClr val="555555"/>
                </a:solidFill>
                <a:latin typeface="Abadi"/>
              </a:rPr>
              <a:t>154 infants, median age 64 days; clearance 64%; overall 5-year survival 88%.</a:t>
            </a:r>
          </a:p>
          <a:p>
            <a:pPr algn="l">
              <a:spcAft>
                <a:spcPts val="300"/>
              </a:spcAft>
            </a:pPr>
            <a:r>
              <a:rPr sz="1500" b="1" i="0">
                <a:solidFill>
                  <a:srgbClr val="1B355E"/>
                </a:solidFill>
                <a:latin typeface="Abadi"/>
              </a:rPr>
              <a:t>Thresholds</a:t>
            </a:r>
          </a:p>
          <a:p>
            <a:pPr algn="l">
              <a:spcAft>
                <a:spcPts val="300"/>
              </a:spcAft>
            </a:pPr>
            <a:r>
              <a:rPr sz="1050" b="0" i="0">
                <a:solidFill>
                  <a:srgbClr val="555555"/>
                </a:solidFill>
                <a:latin typeface="Abadi"/>
              </a:rPr>
              <a:t>Nordic &gt; 3 per year; an Indian consensus ≥ 6 per year; England 3 centres for the nation.</a:t>
            </a:r>
          </a:p>
          <a:p>
            <a:pPr algn="l">
              <a:spcAft>
                <a:spcPts val="300"/>
              </a:spcAft>
            </a:pPr>
            <a:r>
              <a:rPr sz="1500" b="1" i="0">
                <a:solidFill>
                  <a:srgbClr val="1B355E"/>
                </a:solidFill>
                <a:latin typeface="Abadi"/>
              </a:rPr>
              <a:t>North America</a:t>
            </a:r>
          </a:p>
          <a:p>
            <a:pPr algn="l">
              <a:spcAft>
                <a:spcPts val="300"/>
              </a:spcAft>
            </a:pPr>
            <a:r>
              <a:rPr sz="1050" b="0" i="0">
                <a:solidFill>
                  <a:srgbClr val="555555"/>
                </a:solidFill>
                <a:latin typeface="Abadi"/>
              </a:rPr>
              <a:t>No mandated centralisation; outcomes vary widely by centre.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WHAT A CENTRE DOES DIFFERENTLY</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VOLUME IS A TEAM, NOT A SURGEON</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Elements of the high-volume pathway and the outcome each protects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15</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Davenport 2011 · Pakarinen 2018 · Superina 2011 · Nio 2025</a:t>
            </a:r>
          </a:p>
        </p:txBody>
      </p:sp>
      <p:sp>
        <p:nvSpPr>
          <p:cNvPr id="12" name="Rectangle 11"/>
          <p:cNvSpPr/>
          <p:nvPr/>
        </p:nvSpPr>
        <p:spPr>
          <a:xfrm>
            <a:off x="548640" y="1773936"/>
            <a:ext cx="1982419"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1799539" cy="274320"/>
          </a:xfrm>
          <a:prstGeom prst="rect">
            <a:avLst/>
          </a:prstGeom>
          <a:noFill/>
        </p:spPr>
        <p:txBody>
          <a:bodyPr wrap="square" lIns="0" rIns="0" tIns="0" bIns="0" anchor="ctr">
            <a:spAutoFit/>
          </a:bodyPr>
          <a:lstStyle/>
          <a:p>
            <a:pPr algn="l"/>
            <a:r>
              <a:rPr sz="1050" b="1" i="0">
                <a:solidFill>
                  <a:srgbClr val="FFFFFF"/>
                </a:solidFill>
                <a:latin typeface="Abadi"/>
              </a:rPr>
              <a:t>Same-week work-up</a:t>
            </a:r>
          </a:p>
        </p:txBody>
      </p:sp>
      <p:sp>
        <p:nvSpPr>
          <p:cNvPr id="15" name="TextBox 14"/>
          <p:cNvSpPr txBox="1"/>
          <p:nvPr/>
        </p:nvSpPr>
        <p:spPr>
          <a:xfrm>
            <a:off x="658368" y="2185416"/>
            <a:ext cx="1762963" cy="1554480"/>
          </a:xfrm>
          <a:prstGeom prst="rect">
            <a:avLst/>
          </a:prstGeom>
          <a:noFill/>
        </p:spPr>
        <p:txBody>
          <a:bodyPr wrap="square" lIns="0" rIns="0" tIns="0" bIns="0" anchor="t">
            <a:spAutoFit/>
          </a:bodyPr>
          <a:lstStyle/>
          <a:p>
            <a:pPr algn="l"/>
            <a:r>
              <a:rPr sz="1050" b="0" i="0">
                <a:solidFill>
                  <a:srgbClr val="1A1A1A"/>
                </a:solidFill>
                <a:latin typeface="Abadi"/>
              </a:rPr>
              <a:t>Diagnosis and surgery run in parallel, not in series.</a:t>
            </a:r>
          </a:p>
        </p:txBody>
      </p:sp>
      <p:sp>
        <p:nvSpPr>
          <p:cNvPr id="16" name="TextBox 15"/>
          <p:cNvSpPr txBox="1"/>
          <p:nvPr/>
        </p:nvSpPr>
        <p:spPr>
          <a:xfrm>
            <a:off x="2531059" y="2596896"/>
            <a:ext cx="292608" cy="365760"/>
          </a:xfrm>
          <a:prstGeom prst="rect">
            <a:avLst/>
          </a:prstGeom>
          <a:noFill/>
        </p:spPr>
        <p:txBody>
          <a:bodyPr wrap="square" lIns="0" rIns="0" tIns="0" bIns="0" anchor="t">
            <a:spAutoFit/>
          </a:bodyPr>
          <a:lstStyle/>
          <a:p>
            <a:pPr algn="ctr"/>
            <a:r>
              <a:rPr sz="1200" b="0" i="0">
                <a:solidFill>
                  <a:srgbClr val="8A939B"/>
                </a:solidFill>
                <a:latin typeface="Abadi"/>
              </a:rPr>
              <a:t>▶</a:t>
            </a:r>
          </a:p>
        </p:txBody>
      </p:sp>
      <p:sp>
        <p:nvSpPr>
          <p:cNvPr id="17" name="Rectangle 16"/>
          <p:cNvSpPr/>
          <p:nvPr/>
        </p:nvSpPr>
        <p:spPr>
          <a:xfrm>
            <a:off x="2823667" y="1773936"/>
            <a:ext cx="1982419" cy="20116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3667" y="1773936"/>
            <a:ext cx="1982419"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15107" y="1792224"/>
            <a:ext cx="1799539" cy="274320"/>
          </a:xfrm>
          <a:prstGeom prst="rect">
            <a:avLst/>
          </a:prstGeom>
          <a:noFill/>
        </p:spPr>
        <p:txBody>
          <a:bodyPr wrap="square" lIns="0" rIns="0" tIns="0" bIns="0" anchor="ctr">
            <a:spAutoFit/>
          </a:bodyPr>
          <a:lstStyle/>
          <a:p>
            <a:pPr algn="l"/>
            <a:r>
              <a:rPr sz="1050" b="1" i="0">
                <a:solidFill>
                  <a:srgbClr val="FFFFFF"/>
                </a:solidFill>
                <a:latin typeface="Abadi"/>
              </a:rPr>
              <a:t>Consistent technique</a:t>
            </a:r>
          </a:p>
        </p:txBody>
      </p:sp>
      <p:sp>
        <p:nvSpPr>
          <p:cNvPr id="20" name="TextBox 19"/>
          <p:cNvSpPr txBox="1"/>
          <p:nvPr/>
        </p:nvSpPr>
        <p:spPr>
          <a:xfrm>
            <a:off x="2933395" y="2185416"/>
            <a:ext cx="1762963" cy="1554480"/>
          </a:xfrm>
          <a:prstGeom prst="rect">
            <a:avLst/>
          </a:prstGeom>
          <a:noFill/>
        </p:spPr>
        <p:txBody>
          <a:bodyPr wrap="square" lIns="0" rIns="0" tIns="0" bIns="0" anchor="t">
            <a:spAutoFit/>
          </a:bodyPr>
          <a:lstStyle/>
          <a:p>
            <a:pPr algn="l"/>
            <a:r>
              <a:rPr sz="1050" b="0" i="0">
                <a:solidFill>
                  <a:srgbClr val="1A1A1A"/>
                </a:solidFill>
                <a:latin typeface="Abadi"/>
              </a:rPr>
              <a:t>Few surgeons, a standard flush transection, simple limb.</a:t>
            </a:r>
          </a:p>
        </p:txBody>
      </p:sp>
      <p:sp>
        <p:nvSpPr>
          <p:cNvPr id="21" name="TextBox 20"/>
          <p:cNvSpPr txBox="1"/>
          <p:nvPr/>
        </p:nvSpPr>
        <p:spPr>
          <a:xfrm>
            <a:off x="4806086" y="2596896"/>
            <a:ext cx="292608" cy="365760"/>
          </a:xfrm>
          <a:prstGeom prst="rect">
            <a:avLst/>
          </a:prstGeom>
          <a:noFill/>
        </p:spPr>
        <p:txBody>
          <a:bodyPr wrap="square" lIns="0" rIns="0" tIns="0" bIns="0" anchor="t">
            <a:spAutoFit/>
          </a:bodyPr>
          <a:lstStyle/>
          <a:p>
            <a:pPr algn="ctr"/>
            <a:r>
              <a:rPr sz="1200" b="0" i="0">
                <a:solidFill>
                  <a:srgbClr val="8A939B"/>
                </a:solidFill>
                <a:latin typeface="Abadi"/>
              </a:rPr>
              <a:t>▶</a:t>
            </a:r>
          </a:p>
        </p:txBody>
      </p:sp>
      <p:sp>
        <p:nvSpPr>
          <p:cNvPr id="22" name="Rectangle 21"/>
          <p:cNvSpPr/>
          <p:nvPr/>
        </p:nvSpPr>
        <p:spPr>
          <a:xfrm>
            <a:off x="5098694" y="1773936"/>
            <a:ext cx="1982419" cy="20116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8694"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0134" y="1792224"/>
            <a:ext cx="1799539" cy="274320"/>
          </a:xfrm>
          <a:prstGeom prst="rect">
            <a:avLst/>
          </a:prstGeom>
          <a:noFill/>
        </p:spPr>
        <p:txBody>
          <a:bodyPr wrap="square" lIns="0" rIns="0" tIns="0" bIns="0" anchor="ctr">
            <a:spAutoFit/>
          </a:bodyPr>
          <a:lstStyle/>
          <a:p>
            <a:pPr algn="l"/>
            <a:r>
              <a:rPr sz="1050" b="1" i="0">
                <a:solidFill>
                  <a:srgbClr val="FFFFFF"/>
                </a:solidFill>
                <a:latin typeface="Abadi"/>
              </a:rPr>
              <a:t>Cholangitis protocol</a:t>
            </a:r>
          </a:p>
        </p:txBody>
      </p:sp>
      <p:sp>
        <p:nvSpPr>
          <p:cNvPr id="25" name="TextBox 24"/>
          <p:cNvSpPr txBox="1"/>
          <p:nvPr/>
        </p:nvSpPr>
        <p:spPr>
          <a:xfrm>
            <a:off x="5208422" y="2185416"/>
            <a:ext cx="1762963" cy="1554480"/>
          </a:xfrm>
          <a:prstGeom prst="rect">
            <a:avLst/>
          </a:prstGeom>
          <a:noFill/>
        </p:spPr>
        <p:txBody>
          <a:bodyPr wrap="square" lIns="0" rIns="0" tIns="0" bIns="0" anchor="t">
            <a:spAutoFit/>
          </a:bodyPr>
          <a:lstStyle/>
          <a:p>
            <a:pPr algn="l"/>
            <a:r>
              <a:rPr sz="1050" b="0" i="0">
                <a:solidFill>
                  <a:srgbClr val="1A1A1A"/>
                </a:solidFill>
                <a:latin typeface="Abadi"/>
              </a:rPr>
              <a:t>Low threshold for cultures and IV antibiotics; prophylaxis.</a:t>
            </a:r>
          </a:p>
        </p:txBody>
      </p:sp>
      <p:sp>
        <p:nvSpPr>
          <p:cNvPr id="26" name="TextBox 25"/>
          <p:cNvSpPr txBox="1"/>
          <p:nvPr/>
        </p:nvSpPr>
        <p:spPr>
          <a:xfrm>
            <a:off x="7081113" y="2596896"/>
            <a:ext cx="292608" cy="365760"/>
          </a:xfrm>
          <a:prstGeom prst="rect">
            <a:avLst/>
          </a:prstGeom>
          <a:noFill/>
        </p:spPr>
        <p:txBody>
          <a:bodyPr wrap="square" lIns="0" rIns="0" tIns="0" bIns="0" anchor="t">
            <a:spAutoFit/>
          </a:bodyPr>
          <a:lstStyle/>
          <a:p>
            <a:pPr algn="ctr"/>
            <a:r>
              <a:rPr sz="1200" b="0" i="0">
                <a:solidFill>
                  <a:srgbClr val="8A939B"/>
                </a:solidFill>
                <a:latin typeface="Abadi"/>
              </a:rPr>
              <a:t>▶</a:t>
            </a:r>
          </a:p>
        </p:txBody>
      </p:sp>
      <p:sp>
        <p:nvSpPr>
          <p:cNvPr id="27" name="Rectangle 26"/>
          <p:cNvSpPr/>
          <p:nvPr/>
        </p:nvSpPr>
        <p:spPr>
          <a:xfrm>
            <a:off x="7373721" y="1773936"/>
            <a:ext cx="1982419" cy="20116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3721" y="1773936"/>
            <a:ext cx="1982419"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5161" y="1792224"/>
            <a:ext cx="1799539" cy="274320"/>
          </a:xfrm>
          <a:prstGeom prst="rect">
            <a:avLst/>
          </a:prstGeom>
          <a:noFill/>
        </p:spPr>
        <p:txBody>
          <a:bodyPr wrap="square" lIns="0" rIns="0" tIns="0" bIns="0" anchor="ctr">
            <a:spAutoFit/>
          </a:bodyPr>
          <a:lstStyle/>
          <a:p>
            <a:pPr algn="l"/>
            <a:r>
              <a:rPr sz="1050" b="1" i="0">
                <a:solidFill>
                  <a:srgbClr val="FFFFFF"/>
                </a:solidFill>
                <a:latin typeface="Abadi"/>
              </a:rPr>
              <a:t>Nutrition</a:t>
            </a:r>
          </a:p>
        </p:txBody>
      </p:sp>
      <p:sp>
        <p:nvSpPr>
          <p:cNvPr id="30" name="TextBox 29"/>
          <p:cNvSpPr txBox="1"/>
          <p:nvPr/>
        </p:nvSpPr>
        <p:spPr>
          <a:xfrm>
            <a:off x="7483449" y="2185416"/>
            <a:ext cx="1762963" cy="1554480"/>
          </a:xfrm>
          <a:prstGeom prst="rect">
            <a:avLst/>
          </a:prstGeom>
          <a:noFill/>
        </p:spPr>
        <p:txBody>
          <a:bodyPr wrap="square" lIns="0" rIns="0" tIns="0" bIns="0" anchor="t">
            <a:spAutoFit/>
          </a:bodyPr>
          <a:lstStyle/>
          <a:p>
            <a:pPr algn="l"/>
            <a:r>
              <a:rPr sz="1050" b="0" i="0">
                <a:solidFill>
                  <a:srgbClr val="1A1A1A"/>
                </a:solidFill>
                <a:latin typeface="Abadi"/>
              </a:rPr>
              <a:t>MCT formula, fat-soluble vitamins, early tube feeding.</a:t>
            </a:r>
          </a:p>
        </p:txBody>
      </p:sp>
      <p:sp>
        <p:nvSpPr>
          <p:cNvPr id="31" name="TextBox 30"/>
          <p:cNvSpPr txBox="1"/>
          <p:nvPr/>
        </p:nvSpPr>
        <p:spPr>
          <a:xfrm>
            <a:off x="9356140" y="2596896"/>
            <a:ext cx="292608" cy="365760"/>
          </a:xfrm>
          <a:prstGeom prst="rect">
            <a:avLst/>
          </a:prstGeom>
          <a:noFill/>
        </p:spPr>
        <p:txBody>
          <a:bodyPr wrap="square" lIns="0" rIns="0" tIns="0" bIns="0" anchor="t">
            <a:spAutoFit/>
          </a:bodyPr>
          <a:lstStyle/>
          <a:p>
            <a:pPr algn="ctr"/>
            <a:r>
              <a:rPr sz="1200" b="0" i="0">
                <a:solidFill>
                  <a:srgbClr val="8A939B"/>
                </a:solidFill>
                <a:latin typeface="Abadi"/>
              </a:rPr>
              <a:t>▶</a:t>
            </a:r>
          </a:p>
        </p:txBody>
      </p:sp>
      <p:sp>
        <p:nvSpPr>
          <p:cNvPr id="32" name="Rectangle 31"/>
          <p:cNvSpPr/>
          <p:nvPr/>
        </p:nvSpPr>
        <p:spPr>
          <a:xfrm>
            <a:off x="9648748" y="1773936"/>
            <a:ext cx="1982419" cy="20116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48748" y="1773936"/>
            <a:ext cx="1982419"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0188" y="1792224"/>
            <a:ext cx="1799539" cy="274320"/>
          </a:xfrm>
          <a:prstGeom prst="rect">
            <a:avLst/>
          </a:prstGeom>
          <a:noFill/>
        </p:spPr>
        <p:txBody>
          <a:bodyPr wrap="square" lIns="0" rIns="0" tIns="0" bIns="0" anchor="ctr">
            <a:spAutoFit/>
          </a:bodyPr>
          <a:lstStyle/>
          <a:p>
            <a:pPr algn="l"/>
            <a:r>
              <a:rPr sz="1050" b="1" i="0">
                <a:solidFill>
                  <a:srgbClr val="FFFFFF"/>
                </a:solidFill>
                <a:latin typeface="Abadi"/>
              </a:rPr>
              <a:t>Transplant on site</a:t>
            </a:r>
          </a:p>
        </p:txBody>
      </p:sp>
      <p:sp>
        <p:nvSpPr>
          <p:cNvPr id="35" name="TextBox 34"/>
          <p:cNvSpPr txBox="1"/>
          <p:nvPr/>
        </p:nvSpPr>
        <p:spPr>
          <a:xfrm>
            <a:off x="9758476" y="2185416"/>
            <a:ext cx="1762963" cy="1554480"/>
          </a:xfrm>
          <a:prstGeom prst="rect">
            <a:avLst/>
          </a:prstGeom>
          <a:noFill/>
        </p:spPr>
        <p:txBody>
          <a:bodyPr wrap="square" lIns="0" rIns="0" tIns="0" bIns="0" anchor="t">
            <a:spAutoFit/>
          </a:bodyPr>
          <a:lstStyle/>
          <a:p>
            <a:pPr algn="l"/>
            <a:r>
              <a:rPr sz="1050" b="0" i="0">
                <a:solidFill>
                  <a:srgbClr val="1A1A1A"/>
                </a:solidFill>
                <a:latin typeface="Abadi"/>
              </a:rPr>
              <a:t>Timely listing when clearance fails; no inter-hospital delay.</a:t>
            </a:r>
          </a:p>
        </p:txBody>
      </p:sp>
      <p:sp>
        <p:nvSpPr>
          <p:cNvPr id="36" name="TextBox 35"/>
          <p:cNvSpPr txBox="1"/>
          <p:nvPr/>
        </p:nvSpPr>
        <p:spPr>
          <a:xfrm>
            <a:off x="548640" y="4023360"/>
            <a:ext cx="11082528" cy="1783080"/>
          </a:xfrm>
          <a:prstGeom prst="rect">
            <a:avLst/>
          </a:prstGeom>
          <a:noFill/>
        </p:spPr>
        <p:txBody>
          <a:bodyPr wrap="square" lIns="0" rIns="0" tIns="0" bIns="0" anchor="t">
            <a:spAutoFit/>
          </a:bodyPr>
          <a:lstStyle/>
          <a:p>
            <a:pPr algn="l">
              <a:spcAft>
                <a:spcPts val="600"/>
              </a:spcAft>
            </a:pPr>
            <a:r>
              <a:rPr sz="1250" b="1" i="0">
                <a:solidFill>
                  <a:srgbClr val="1B355E"/>
                </a:solidFill>
                <a:latin typeface="Abadi"/>
              </a:rPr>
              <a:t>Why it matters.   </a:t>
            </a:r>
            <a:r>
              <a:rPr sz="1250" b="0" i="0">
                <a:solidFill>
                  <a:srgbClr val="1A1A1A"/>
                </a:solidFill>
                <a:latin typeface="Abadi"/>
              </a:rPr>
              <a:t>A surgeon doing one Kasai a year cannot develop a feel for the plane at the porta, and a hospital seeing one infant a year cannot sustain the hepatology that follows. Native-liver survival is the product of the operation and five years of aftercare.</a:t>
            </a:r>
          </a:p>
          <a:p>
            <a:pPr algn="l">
              <a:spcAft>
                <a:spcPts val="600"/>
              </a:spcAft>
            </a:pPr>
            <a:r>
              <a:rPr sz="1250" b="1" i="0">
                <a:solidFill>
                  <a:srgbClr val="1B355E"/>
                </a:solidFill>
                <a:latin typeface="Abadi"/>
              </a:rPr>
              <a:t>Japan as the counterexample.   </a:t>
            </a:r>
            <a:r>
              <a:rPr sz="1250" b="0" i="0">
                <a:solidFill>
                  <a:srgbClr val="1A1A1A"/>
                </a:solidFill>
                <a:latin typeface="Abadi"/>
              </a:rPr>
              <a:t>Without formal centralisation, the national registry of 3,951 children reports native-liver survival of 50.5%, 44.4% and 40.9% at 10, 20 and 30 years, built on a culture of specialised surgeons.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BENCHMARKS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NUMBERS TO AUDIT AGAINST</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Outcomes of national and multicentre programmes; time points differ, so compare within rows, not across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16</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Davenport 2011 · Pakarinen 2018 · Nio 2025 · Superina 2011 · WPSRC, Pediatr Surg Int 2021 (DOI 10.1007/s00383-021-05047-1)</a:t>
            </a:r>
          </a:p>
        </p:txBody>
      </p:sp>
      <p:graphicFrame>
        <p:nvGraphicFramePr>
          <p:cNvPr id="12" name="Table 11"/>
          <p:cNvGraphicFramePr>
            <a:graphicFrameLocks noGrp="1"/>
          </p:cNvGraphicFramePr>
          <p:nvPr/>
        </p:nvGraphicFramePr>
        <p:xfrm>
          <a:off x="548640" y="1783080"/>
          <a:ext cx="11082528" cy="3291840"/>
        </p:xfrm>
        <a:graphic>
          <a:graphicData uri="http://schemas.openxmlformats.org/drawingml/2006/table">
            <a:tbl>
              <a:tblPr firstRow="0" bandRow="0">
                <a:tableStyleId>{5C22544A-7EE6-4342-B048-85BDC9FD1C3A}</a:tableStyleId>
              </a:tblPr>
              <a:tblGrid>
                <a:gridCol w="2331720"/>
                <a:gridCol w="1783080"/>
                <a:gridCol w="1691640"/>
                <a:gridCol w="1188720"/>
                <a:gridCol w="2715768"/>
                <a:gridCol w="1371600"/>
              </a:tblGrid>
              <a:tr h="548640">
                <a:tc>
                  <a:txBody>
                    <a:bodyPr wrap="square"/>
                    <a:lstStyle/>
                    <a:p>
                      <a:r>
                        <a:rPr sz="1050" b="1">
                          <a:solidFill>
                            <a:srgbClr val="FFFFFF"/>
                          </a:solidFill>
                          <a:latin typeface="Abadi"/>
                        </a:rPr>
                        <a:t>Programme</a:t>
                      </a:r>
                    </a:p>
                  </a:txBody>
                  <a:tcPr marL="73152" marR="73152" marT="27432" marB="27432" anchor="ctr">
                    <a:solidFill>
                      <a:srgbClr val="1B355E"/>
                    </a:solidFill>
                  </a:tcPr>
                </a:tc>
                <a:tc>
                  <a:txBody>
                    <a:bodyPr wrap="square"/>
                    <a:lstStyle/>
                    <a:p>
                      <a:r>
                        <a:rPr sz="1050" b="1">
                          <a:solidFill>
                            <a:srgbClr val="FFFFFF"/>
                          </a:solidFill>
                          <a:latin typeface="Abadi"/>
                        </a:rPr>
                        <a:t>Era · infants</a:t>
                      </a:r>
                    </a:p>
                  </a:txBody>
                  <a:tcPr marL="73152" marR="73152" marT="27432" marB="27432" anchor="ctr">
                    <a:solidFill>
                      <a:srgbClr val="1B355E"/>
                    </a:solidFill>
                  </a:tcPr>
                </a:tc>
                <a:tc>
                  <a:txBody>
                    <a:bodyPr wrap="square"/>
                    <a:lstStyle/>
                    <a:p>
                      <a:r>
                        <a:rPr sz="1050" b="1">
                          <a:solidFill>
                            <a:srgbClr val="FFFFFF"/>
                          </a:solidFill>
                          <a:latin typeface="Abadi"/>
                        </a:rPr>
                        <a:t>Age at Kasai</a:t>
                      </a:r>
                    </a:p>
                  </a:txBody>
                  <a:tcPr marL="73152" marR="73152" marT="27432" marB="27432" anchor="ctr">
                    <a:solidFill>
                      <a:srgbClr val="1B355E"/>
                    </a:solidFill>
                  </a:tcPr>
                </a:tc>
                <a:tc>
                  <a:txBody>
                    <a:bodyPr wrap="square"/>
                    <a:lstStyle/>
                    <a:p>
                      <a:r>
                        <a:rPr sz="1050" b="1">
                          <a:solidFill>
                            <a:srgbClr val="FFFFFF"/>
                          </a:solidFill>
                          <a:latin typeface="Abadi"/>
                        </a:rPr>
                        <a:t>Clearance</a:t>
                      </a:r>
                    </a:p>
                  </a:txBody>
                  <a:tcPr marL="73152" marR="73152" marT="27432" marB="27432" anchor="ctr">
                    <a:solidFill>
                      <a:srgbClr val="1B355E"/>
                    </a:solidFill>
                  </a:tcPr>
                </a:tc>
                <a:tc>
                  <a:txBody>
                    <a:bodyPr wrap="square"/>
                    <a:lstStyle/>
                    <a:p>
                      <a:r>
                        <a:rPr sz="1050" b="1">
                          <a:solidFill>
                            <a:srgbClr val="FFFFFF"/>
                          </a:solidFill>
                          <a:latin typeface="Abadi"/>
                        </a:rPr>
                        <a:t>Native liver</a:t>
                      </a:r>
                    </a:p>
                  </a:txBody>
                  <a:tcPr marL="73152" marR="73152" marT="27432" marB="27432" anchor="ctr">
                    <a:solidFill>
                      <a:srgbClr val="1B355E"/>
                    </a:solidFill>
                  </a:tcPr>
                </a:tc>
                <a:tc>
                  <a:txBody>
                    <a:bodyPr wrap="square"/>
                    <a:lstStyle/>
                    <a:p>
                      <a:r>
                        <a:rPr sz="1050" b="1">
                          <a:solidFill>
                            <a:srgbClr val="FFFFFF"/>
                          </a:solidFill>
                          <a:latin typeface="Abadi"/>
                        </a:rPr>
                        <a:t>Overall survival</a:t>
                      </a:r>
                    </a:p>
                  </a:txBody>
                  <a:tcPr marL="73152" marR="73152" marT="27432" marB="27432" anchor="ctr">
                    <a:solidFill>
                      <a:srgbClr val="1B355E"/>
                    </a:solidFill>
                  </a:tcPr>
                </a:tc>
              </a:tr>
              <a:tr h="548640">
                <a:tc>
                  <a:txBody>
                    <a:bodyPr wrap="square"/>
                    <a:lstStyle/>
                    <a:p>
                      <a:r>
                        <a:rPr sz="1000" b="1">
                          <a:solidFill>
                            <a:srgbClr val="1A1A1A"/>
                          </a:solidFill>
                          <a:latin typeface="Abadi"/>
                        </a:rPr>
                        <a:t>England and Wales (3 centres)</a:t>
                      </a:r>
                    </a:p>
                  </a:txBody>
                  <a:tcPr marL="73152" marR="73152" marT="27432" marB="27432" anchor="ctr">
                    <a:solidFill>
                      <a:srgbClr val="FFFFFF"/>
                    </a:solidFill>
                  </a:tcPr>
                </a:tc>
                <a:tc>
                  <a:txBody>
                    <a:bodyPr wrap="square"/>
                    <a:lstStyle/>
                    <a:p>
                      <a:r>
                        <a:rPr sz="1000" b="0">
                          <a:solidFill>
                            <a:srgbClr val="1A1A1A"/>
                          </a:solidFill>
                          <a:latin typeface="Abadi"/>
                        </a:rPr>
                        <a:t>1999–2009 · 443</a:t>
                      </a:r>
                    </a:p>
                  </a:txBody>
                  <a:tcPr marL="73152" marR="73152" marT="27432" marB="27432" anchor="ctr">
                    <a:solidFill>
                      <a:srgbClr val="FFFFFF"/>
                    </a:solidFill>
                  </a:tcPr>
                </a:tc>
                <a:tc>
                  <a:txBody>
                    <a:bodyPr wrap="square"/>
                    <a:lstStyle/>
                    <a:p>
                      <a:r>
                        <a:rPr sz="1000" b="0">
                          <a:solidFill>
                            <a:srgbClr val="1A1A1A"/>
                          </a:solidFill>
                          <a:latin typeface="Abadi"/>
                        </a:rPr>
                        <a:t>Median 54 days</a:t>
                      </a:r>
                    </a:p>
                  </a:txBody>
                  <a:tcPr marL="73152" marR="73152" marT="27432" marB="27432" anchor="ctr">
                    <a:solidFill>
                      <a:srgbClr val="FFFFFF"/>
                    </a:solidFill>
                  </a:tcPr>
                </a:tc>
                <a:tc>
                  <a:txBody>
                    <a:bodyPr wrap="square"/>
                    <a:lstStyle/>
                    <a:p>
                      <a:r>
                        <a:rPr sz="1000" b="0">
                          <a:solidFill>
                            <a:srgbClr val="1A1A1A"/>
                          </a:solidFill>
                          <a:latin typeface="Abadi"/>
                        </a:rPr>
                        <a:t>55%</a:t>
                      </a:r>
                    </a:p>
                  </a:txBody>
                  <a:tcPr marL="73152" marR="73152" marT="27432" marB="27432" anchor="ctr">
                    <a:solidFill>
                      <a:srgbClr val="FFFFFF"/>
                    </a:solidFill>
                  </a:tcPr>
                </a:tc>
                <a:tc>
                  <a:txBody>
                    <a:bodyPr wrap="square"/>
                    <a:lstStyle/>
                    <a:p>
                      <a:r>
                        <a:rPr sz="1000" b="0">
                          <a:solidFill>
                            <a:srgbClr val="1A1A1A"/>
                          </a:solidFill>
                          <a:latin typeface="Abadi"/>
                        </a:rPr>
                        <a:t>46% at 5 y; 40% at 10 y</a:t>
                      </a:r>
                    </a:p>
                  </a:txBody>
                  <a:tcPr marL="73152" marR="73152" marT="27432" marB="27432" anchor="ctr">
                    <a:solidFill>
                      <a:srgbClr val="FFFFFF"/>
                    </a:solidFill>
                  </a:tcPr>
                </a:tc>
                <a:tc>
                  <a:txBody>
                    <a:bodyPr wrap="square"/>
                    <a:lstStyle/>
                    <a:p>
                      <a:r>
                        <a:rPr sz="1000" b="0">
                          <a:solidFill>
                            <a:srgbClr val="1A1A1A"/>
                          </a:solidFill>
                          <a:latin typeface="Abadi"/>
                        </a:rPr>
                        <a:t>90% at 5 y</a:t>
                      </a:r>
                    </a:p>
                  </a:txBody>
                  <a:tcPr marL="73152" marR="73152" marT="27432" marB="27432" anchor="ctr">
                    <a:solidFill>
                      <a:srgbClr val="FFFFFF"/>
                    </a:solidFill>
                  </a:tcPr>
                </a:tc>
              </a:tr>
              <a:tr h="548640">
                <a:tc>
                  <a:txBody>
                    <a:bodyPr wrap="square"/>
                    <a:lstStyle/>
                    <a:p>
                      <a:r>
                        <a:rPr sz="1000" b="1">
                          <a:solidFill>
                            <a:srgbClr val="1A1A1A"/>
                          </a:solidFill>
                          <a:latin typeface="Abadi"/>
                        </a:rPr>
                        <a:t>Nordic countries</a:t>
                      </a:r>
                    </a:p>
                  </a:txBody>
                  <a:tcPr marL="73152" marR="73152" marT="27432" marB="27432" anchor="ctr">
                    <a:solidFill>
                      <a:srgbClr val="F2F4F7"/>
                    </a:solidFill>
                  </a:tcPr>
                </a:tc>
                <a:tc>
                  <a:txBody>
                    <a:bodyPr wrap="square"/>
                    <a:lstStyle/>
                    <a:p>
                      <a:r>
                        <a:rPr sz="1000" b="0">
                          <a:solidFill>
                            <a:srgbClr val="1A1A1A"/>
                          </a:solidFill>
                          <a:latin typeface="Abadi"/>
                        </a:rPr>
                        <a:t>2005–2016 · 154</a:t>
                      </a:r>
                    </a:p>
                  </a:txBody>
                  <a:tcPr marL="73152" marR="73152" marT="27432" marB="27432" anchor="ctr">
                    <a:solidFill>
                      <a:srgbClr val="F2F4F7"/>
                    </a:solidFill>
                  </a:tcPr>
                </a:tc>
                <a:tc>
                  <a:txBody>
                    <a:bodyPr wrap="square"/>
                    <a:lstStyle/>
                    <a:p>
                      <a:r>
                        <a:rPr sz="1000" b="0">
                          <a:solidFill>
                            <a:srgbClr val="1A1A1A"/>
                          </a:solidFill>
                          <a:latin typeface="Abadi"/>
                        </a:rPr>
                        <a:t>Median 64 days</a:t>
                      </a:r>
                    </a:p>
                  </a:txBody>
                  <a:tcPr marL="73152" marR="73152" marT="27432" marB="27432" anchor="ctr">
                    <a:solidFill>
                      <a:srgbClr val="F2F4F7"/>
                    </a:solidFill>
                  </a:tcPr>
                </a:tc>
                <a:tc>
                  <a:txBody>
                    <a:bodyPr wrap="square"/>
                    <a:lstStyle/>
                    <a:p>
                      <a:r>
                        <a:rPr sz="1000" b="0">
                          <a:solidFill>
                            <a:srgbClr val="1A1A1A"/>
                          </a:solidFill>
                          <a:latin typeface="Abadi"/>
                        </a:rPr>
                        <a:t>64%</a:t>
                      </a:r>
                    </a:p>
                  </a:txBody>
                  <a:tcPr marL="73152" marR="73152" marT="27432" marB="27432" anchor="ctr">
                    <a:solidFill>
                      <a:srgbClr val="F2F4F7"/>
                    </a:solidFill>
                  </a:tcPr>
                </a:tc>
                <a:tc>
                  <a:txBody>
                    <a:bodyPr wrap="square"/>
                    <a:lstStyle/>
                    <a:p>
                      <a:r>
                        <a:rPr sz="1000" b="0">
                          <a:solidFill>
                            <a:srgbClr val="1A1A1A"/>
                          </a:solidFill>
                          <a:latin typeface="Abadi"/>
                        </a:rPr>
                        <a:t>53% at 5 y</a:t>
                      </a:r>
                    </a:p>
                  </a:txBody>
                  <a:tcPr marL="73152" marR="73152" marT="27432" marB="27432" anchor="ctr">
                    <a:solidFill>
                      <a:srgbClr val="F2F4F7"/>
                    </a:solidFill>
                  </a:tcPr>
                </a:tc>
                <a:tc>
                  <a:txBody>
                    <a:bodyPr wrap="square"/>
                    <a:lstStyle/>
                    <a:p>
                      <a:r>
                        <a:rPr sz="1000" b="0">
                          <a:solidFill>
                            <a:srgbClr val="1A1A1A"/>
                          </a:solidFill>
                          <a:latin typeface="Abadi"/>
                        </a:rPr>
                        <a:t>88% at 5 y</a:t>
                      </a:r>
                    </a:p>
                  </a:txBody>
                  <a:tcPr marL="73152" marR="73152" marT="27432" marB="27432" anchor="ctr">
                    <a:solidFill>
                      <a:srgbClr val="F2F4F7"/>
                    </a:solidFill>
                  </a:tcPr>
                </a:tc>
              </a:tr>
              <a:tr h="548640">
                <a:tc>
                  <a:txBody>
                    <a:bodyPr wrap="square"/>
                    <a:lstStyle/>
                    <a:p>
                      <a:r>
                        <a:rPr sz="1000" b="1">
                          <a:solidFill>
                            <a:srgbClr val="1A1A1A"/>
                          </a:solidFill>
                          <a:latin typeface="Abadi"/>
                        </a:rPr>
                        <a:t>Japan, national registry</a:t>
                      </a:r>
                    </a:p>
                  </a:txBody>
                  <a:tcPr marL="73152" marR="73152" marT="27432" marB="27432" anchor="ctr">
                    <a:solidFill>
                      <a:srgbClr val="FFFFFF"/>
                    </a:solidFill>
                  </a:tcPr>
                </a:tc>
                <a:tc>
                  <a:txBody>
                    <a:bodyPr wrap="square"/>
                    <a:lstStyle/>
                    <a:p>
                      <a:r>
                        <a:rPr sz="1000" b="0">
                          <a:solidFill>
                            <a:srgbClr val="1A1A1A"/>
                          </a:solidFill>
                          <a:latin typeface="Abadi"/>
                        </a:rPr>
                        <a:t>1989– · 3,951</a:t>
                      </a:r>
                    </a:p>
                  </a:txBody>
                  <a:tcPr marL="73152" marR="73152" marT="27432" marB="27432" anchor="ctr">
                    <a:solidFill>
                      <a:srgbClr val="FFFFFF"/>
                    </a:solidFill>
                  </a:tcPr>
                </a:tc>
                <a:tc>
                  <a:txBody>
                    <a:bodyPr wrap="square"/>
                    <a:lstStyle/>
                    <a:p>
                      <a:r>
                        <a:rPr sz="1000" b="0">
                          <a:solidFill>
                            <a:srgbClr val="1A1A1A"/>
                          </a:solidFill>
                          <a:latin typeface="Abadi"/>
                        </a:rPr>
                        <a:t>—</a:t>
                      </a:r>
                    </a:p>
                  </a:txBody>
                  <a:tcPr marL="73152" marR="73152" marT="27432" marB="27432" anchor="ctr">
                    <a:solidFill>
                      <a:srgbClr val="FFFFFF"/>
                    </a:solidFill>
                  </a:tcPr>
                </a:tc>
                <a:tc>
                  <a:txBody>
                    <a:bodyPr wrap="square"/>
                    <a:lstStyle/>
                    <a:p>
                      <a:r>
                        <a:rPr sz="1000" b="0">
                          <a:solidFill>
                            <a:srgbClr val="1A1A1A"/>
                          </a:solidFill>
                          <a:latin typeface="Abadi"/>
                        </a:rPr>
                        <a:t>—</a:t>
                      </a:r>
                    </a:p>
                  </a:txBody>
                  <a:tcPr marL="73152" marR="73152" marT="27432" marB="27432" anchor="ctr">
                    <a:solidFill>
                      <a:srgbClr val="FFFFFF"/>
                    </a:solidFill>
                  </a:tcPr>
                </a:tc>
                <a:tc>
                  <a:txBody>
                    <a:bodyPr wrap="square"/>
                    <a:lstStyle/>
                    <a:p>
                      <a:r>
                        <a:rPr sz="1000" b="0">
                          <a:solidFill>
                            <a:srgbClr val="1A1A1A"/>
                          </a:solidFill>
                          <a:latin typeface="Abadi"/>
                        </a:rPr>
                        <a:t>50.5 / 44.4 / 40.9% at 10 / 20 / 30 y</a:t>
                      </a:r>
                    </a:p>
                  </a:txBody>
                  <a:tcPr marL="73152" marR="73152" marT="27432" marB="27432" anchor="ctr">
                    <a:solidFill>
                      <a:srgbClr val="FFFFFF"/>
                    </a:solidFill>
                  </a:tcPr>
                </a:tc>
                <a:tc>
                  <a:txBody>
                    <a:bodyPr wrap="square"/>
                    <a:lstStyle/>
                    <a:p>
                      <a:r>
                        <a:rPr sz="1000" b="0">
                          <a:solidFill>
                            <a:srgbClr val="1A1A1A"/>
                          </a:solidFill>
                          <a:latin typeface="Abadi"/>
                        </a:rPr>
                        <a:t>88.9 / 87.6 / 85.7%</a:t>
                      </a:r>
                    </a:p>
                  </a:txBody>
                  <a:tcPr marL="73152" marR="73152" marT="27432" marB="27432" anchor="ctr">
                    <a:solidFill>
                      <a:srgbClr val="FFFFFF"/>
                    </a:solidFill>
                  </a:tcPr>
                </a:tc>
              </a:tr>
              <a:tr h="548640">
                <a:tc>
                  <a:txBody>
                    <a:bodyPr wrap="square"/>
                    <a:lstStyle/>
                    <a:p>
                      <a:r>
                        <a:rPr sz="1000" b="1">
                          <a:solidFill>
                            <a:srgbClr val="1A1A1A"/>
                          </a:solidFill>
                          <a:latin typeface="Abadi"/>
                        </a:rPr>
                        <a:t>North America, ChiLDReN</a:t>
                      </a:r>
                    </a:p>
                  </a:txBody>
                  <a:tcPr marL="73152" marR="73152" marT="27432" marB="27432" anchor="ctr">
                    <a:solidFill>
                      <a:srgbClr val="F2F4F7"/>
                    </a:solidFill>
                  </a:tcPr>
                </a:tc>
                <a:tc>
                  <a:txBody>
                    <a:bodyPr wrap="square"/>
                    <a:lstStyle/>
                    <a:p>
                      <a:r>
                        <a:rPr sz="1000" b="0">
                          <a:solidFill>
                            <a:srgbClr val="1A1A1A"/>
                          </a:solidFill>
                          <a:latin typeface="Abadi"/>
                        </a:rPr>
                        <a:t>16 centres · 136 analysed</a:t>
                      </a:r>
                    </a:p>
                  </a:txBody>
                  <a:tcPr marL="73152" marR="73152" marT="27432" marB="27432" anchor="ctr">
                    <a:solidFill>
                      <a:srgbClr val="F2F4F7"/>
                    </a:solidFill>
                  </a:tcPr>
                </a:tc>
                <a:tc>
                  <a:txBody>
                    <a:bodyPr wrap="square"/>
                    <a:lstStyle/>
                    <a:p>
                      <a:r>
                        <a:rPr sz="1000" b="0">
                          <a:solidFill>
                            <a:srgbClr val="1A1A1A"/>
                          </a:solidFill>
                          <a:latin typeface="Abadi"/>
                        </a:rPr>
                        <a:t>HR 1.73 if ≥ 75 days</a:t>
                      </a:r>
                    </a:p>
                  </a:txBody>
                  <a:tcPr marL="73152" marR="73152" marT="27432" marB="27432" anchor="ctr">
                    <a:solidFill>
                      <a:srgbClr val="F2F4F7"/>
                    </a:solidFill>
                  </a:tcPr>
                </a:tc>
                <a:tc>
                  <a:txBody>
                    <a:bodyPr wrap="square"/>
                    <a:lstStyle/>
                    <a:p>
                      <a:r>
                        <a:rPr sz="1000" b="0">
                          <a:solidFill>
                            <a:srgbClr val="1A1A1A"/>
                          </a:solidFill>
                          <a:latin typeface="Abadi"/>
                        </a:rPr>
                        <a:t>45.6%</a:t>
                      </a:r>
                    </a:p>
                  </a:txBody>
                  <a:tcPr marL="73152" marR="73152" marT="27432" marB="27432" anchor="ctr">
                    <a:solidFill>
                      <a:srgbClr val="F2F4F7"/>
                    </a:solidFill>
                  </a:tcPr>
                </a:tc>
                <a:tc>
                  <a:txBody>
                    <a:bodyPr wrap="square"/>
                    <a:lstStyle/>
                    <a:p>
                      <a:r>
                        <a:rPr sz="1000" b="0">
                          <a:solidFill>
                            <a:srgbClr val="1A1A1A"/>
                          </a:solidFill>
                          <a:latin typeface="Abadi"/>
                        </a:rPr>
                        <a:t>53.7% at 1 y; 46.7% at 2 y</a:t>
                      </a:r>
                    </a:p>
                  </a:txBody>
                  <a:tcPr marL="73152" marR="73152" marT="27432" marB="27432" anchor="ctr">
                    <a:solidFill>
                      <a:srgbClr val="F2F4F7"/>
                    </a:solidFill>
                  </a:tcPr>
                </a:tc>
                <a:tc>
                  <a:txBody>
                    <a:bodyPr wrap="square"/>
                    <a:lstStyle/>
                    <a:p>
                      <a:r>
                        <a:rPr sz="1000" b="0">
                          <a:solidFill>
                            <a:srgbClr val="1A1A1A"/>
                          </a:solidFill>
                          <a:latin typeface="Abadi"/>
                        </a:rPr>
                        <a:t>—</a:t>
                      </a:r>
                    </a:p>
                  </a:txBody>
                  <a:tcPr marL="73152" marR="73152" marT="27432" marB="27432" anchor="ctr">
                    <a:solidFill>
                      <a:srgbClr val="F2F4F7"/>
                    </a:solidFill>
                  </a:tcPr>
                </a:tc>
              </a:tr>
              <a:tr h="548640">
                <a:tc>
                  <a:txBody>
                    <a:bodyPr wrap="square"/>
                    <a:lstStyle/>
                    <a:p>
                      <a:r>
                        <a:rPr sz="1000" b="1">
                          <a:solidFill>
                            <a:srgbClr val="1A1A1A"/>
                          </a:solidFill>
                          <a:latin typeface="Abadi"/>
                        </a:rPr>
                        <a:t>US Western consortium</a:t>
                      </a:r>
                    </a:p>
                  </a:txBody>
                  <a:tcPr marL="73152" marR="73152" marT="27432" marB="27432" anchor="ctr">
                    <a:solidFill>
                      <a:srgbClr val="FFFFFF"/>
                    </a:solidFill>
                  </a:tcPr>
                </a:tc>
                <a:tc>
                  <a:txBody>
                    <a:bodyPr wrap="square"/>
                    <a:lstStyle/>
                    <a:p>
                      <a:r>
                        <a:rPr sz="1000" b="0">
                          <a:solidFill>
                            <a:srgbClr val="1A1A1A"/>
                          </a:solidFill>
                          <a:latin typeface="Abadi"/>
                        </a:rPr>
                        <a:t>2009–2017 · 223</a:t>
                      </a:r>
                    </a:p>
                  </a:txBody>
                  <a:tcPr marL="73152" marR="73152" marT="27432" marB="27432" anchor="ctr">
                    <a:solidFill>
                      <a:srgbClr val="FFFFFF"/>
                    </a:solidFill>
                  </a:tcPr>
                </a:tc>
                <a:tc>
                  <a:txBody>
                    <a:bodyPr wrap="square"/>
                    <a:lstStyle/>
                    <a:p>
                      <a:r>
                        <a:rPr sz="1000" b="0">
                          <a:solidFill>
                            <a:srgbClr val="1A1A1A"/>
                          </a:solidFill>
                          <a:latin typeface="Abadi"/>
                        </a:rPr>
                        <a:t>Mean 64 days</a:t>
                      </a:r>
                    </a:p>
                  </a:txBody>
                  <a:tcPr marL="73152" marR="73152" marT="27432" marB="27432" anchor="ctr">
                    <a:solidFill>
                      <a:srgbClr val="FFFFFF"/>
                    </a:solidFill>
                  </a:tcPr>
                </a:tc>
                <a:tc>
                  <a:txBody>
                    <a:bodyPr wrap="square"/>
                    <a:lstStyle/>
                    <a:p>
                      <a:r>
                        <a:rPr sz="1000" b="0">
                          <a:solidFill>
                            <a:srgbClr val="1A1A1A"/>
                          </a:solidFill>
                          <a:latin typeface="Abadi"/>
                        </a:rPr>
                        <a:t>76.6% at 3 mo*</a:t>
                      </a:r>
                    </a:p>
                  </a:txBody>
                  <a:tcPr marL="73152" marR="73152" marT="27432" marB="27432" anchor="ctr">
                    <a:solidFill>
                      <a:srgbClr val="FFFFFF"/>
                    </a:solidFill>
                  </a:tcPr>
                </a:tc>
                <a:tc>
                  <a:txBody>
                    <a:bodyPr wrap="square"/>
                    <a:lstStyle/>
                    <a:p>
                      <a:r>
                        <a:rPr sz="1000" b="0">
                          <a:solidFill>
                            <a:srgbClr val="1A1A1A"/>
                          </a:solidFill>
                          <a:latin typeface="Abadi"/>
                        </a:rPr>
                        <a:t>40.8% overall</a:t>
                      </a:r>
                    </a:p>
                  </a:txBody>
                  <a:tcPr marL="73152" marR="73152" marT="27432" marB="27432" anchor="ctr">
                    <a:solidFill>
                      <a:srgbClr val="FFFFFF"/>
                    </a:solidFill>
                  </a:tcPr>
                </a:tc>
                <a:tc>
                  <a:txBody>
                    <a:bodyPr wrap="square"/>
                    <a:lstStyle/>
                    <a:p>
                      <a:r>
                        <a:rPr sz="1000" b="0">
                          <a:solidFill>
                            <a:srgbClr val="1A1A1A"/>
                          </a:solidFill>
                          <a:latin typeface="Abadi"/>
                        </a:rPr>
                        <a:t>5 deaths at 1 y</a:t>
                      </a:r>
                    </a:p>
                  </a:txBody>
                  <a:tcPr marL="73152" marR="73152" marT="27432" marB="27432" anchor="ctr">
                    <a:solidFill>
                      <a:srgbClr val="FFFFFF"/>
                    </a:solidFill>
                  </a:tcPr>
                </a:tc>
              </a:tr>
            </a:tbl>
          </a:graphicData>
        </a:graphic>
      </p:graphicFrame>
      <p:sp>
        <p:nvSpPr>
          <p:cNvPr id="13" name="TextBox 12"/>
          <p:cNvSpPr txBox="1"/>
          <p:nvPr/>
        </p:nvSpPr>
        <p:spPr>
          <a:xfrm>
            <a:off x="548640" y="5257800"/>
            <a:ext cx="11082528" cy="548640"/>
          </a:xfrm>
          <a:prstGeom prst="rect">
            <a:avLst/>
          </a:prstGeom>
          <a:noFill/>
        </p:spPr>
        <p:txBody>
          <a:bodyPr wrap="square" lIns="0" rIns="0" tIns="0" bIns="0" anchor="t">
            <a:spAutoFit/>
          </a:bodyPr>
          <a:lstStyle/>
          <a:p>
            <a:pPr algn="l">
              <a:spcAft>
                <a:spcPts val="600"/>
              </a:spcAft>
            </a:pPr>
            <a:r>
              <a:rPr sz="1100" b="1" i="0">
                <a:solidFill>
                  <a:srgbClr val="1B355E"/>
                </a:solidFill>
                <a:latin typeface="Abadi"/>
              </a:rPr>
              <a:t>*   </a:t>
            </a:r>
            <a:r>
              <a:rPr sz="1100" b="0" i="0">
                <a:solidFill>
                  <a:srgbClr val="1A1A1A"/>
                </a:solidFill>
                <a:latin typeface="Abadi"/>
              </a:rPr>
              <a:t>Definition of clearance differed. Use your own centre's 2-year native-liver survival against these rows at every annual audit.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AFTER THE OPERATION</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THE FIRST 90 DAYS DECIDE</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Hazard ratios for transplant or death after the Kasai, North American multicentre cohort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17</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Superina R, et al. Ann Surg 2011;254:577–85</a:t>
            </a:r>
          </a:p>
        </p:txBody>
      </p:sp>
      <p:sp>
        <p:nvSpPr>
          <p:cNvPr id="12" name="TextBox 11"/>
          <p:cNvSpPr txBox="1"/>
          <p:nvPr/>
        </p:nvSpPr>
        <p:spPr>
          <a:xfrm>
            <a:off x="548640" y="1965960"/>
            <a:ext cx="2834640" cy="457200"/>
          </a:xfrm>
          <a:prstGeom prst="rect">
            <a:avLst/>
          </a:prstGeom>
          <a:noFill/>
        </p:spPr>
        <p:txBody>
          <a:bodyPr wrap="square" lIns="0" rIns="0" tIns="0" bIns="0" anchor="ctr">
            <a:spAutoFit/>
          </a:bodyPr>
          <a:lstStyle/>
          <a:p>
            <a:pPr algn="l"/>
            <a:r>
              <a:rPr sz="1050" b="0" i="0">
                <a:solidFill>
                  <a:srgbClr val="1A1A1A"/>
                </a:solidFill>
                <a:latin typeface="Abadi"/>
              </a:rPr>
              <a:t>Ohi subtype b, c or d</a:t>
            </a:r>
          </a:p>
        </p:txBody>
      </p:sp>
      <p:sp>
        <p:nvSpPr>
          <p:cNvPr id="13" name="Rectangle 12"/>
          <p:cNvSpPr/>
          <p:nvPr/>
        </p:nvSpPr>
        <p:spPr>
          <a:xfrm>
            <a:off x="3474720" y="2029967"/>
            <a:ext cx="3324201"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72073" y="1965960"/>
            <a:ext cx="2194560" cy="457200"/>
          </a:xfrm>
          <a:prstGeom prst="rect">
            <a:avLst/>
          </a:prstGeom>
          <a:noFill/>
        </p:spPr>
        <p:txBody>
          <a:bodyPr wrap="square" lIns="0" rIns="0" tIns="0" bIns="0" anchor="ctr">
            <a:spAutoFit/>
          </a:bodyPr>
          <a:lstStyle/>
          <a:p>
            <a:pPr algn="l"/>
            <a:r>
              <a:rPr sz="1050" b="1" i="0">
                <a:solidFill>
                  <a:srgbClr val="1A1A1A"/>
                </a:solidFill>
                <a:latin typeface="Abadi"/>
              </a:rPr>
              <a:t>HR 4.31</a:t>
            </a:r>
          </a:p>
        </p:txBody>
      </p:sp>
      <p:sp>
        <p:nvSpPr>
          <p:cNvPr id="15" name="TextBox 14"/>
          <p:cNvSpPr txBox="1"/>
          <p:nvPr/>
        </p:nvSpPr>
        <p:spPr>
          <a:xfrm>
            <a:off x="548640" y="2423160"/>
            <a:ext cx="2834640" cy="457200"/>
          </a:xfrm>
          <a:prstGeom prst="rect">
            <a:avLst/>
          </a:prstGeom>
          <a:noFill/>
        </p:spPr>
        <p:txBody>
          <a:bodyPr wrap="square" lIns="0" rIns="0" tIns="0" bIns="0" anchor="ctr">
            <a:spAutoFit/>
          </a:bodyPr>
          <a:lstStyle/>
          <a:p>
            <a:pPr algn="l"/>
            <a:r>
              <a:rPr sz="1050" b="0" i="0">
                <a:solidFill>
                  <a:srgbClr val="1A1A1A"/>
                </a:solidFill>
                <a:latin typeface="Abadi"/>
              </a:rPr>
              <a:t>Ohi type II or III</a:t>
            </a:r>
          </a:p>
        </p:txBody>
      </p:sp>
      <p:sp>
        <p:nvSpPr>
          <p:cNvPr id="16" name="Rectangle 15"/>
          <p:cNvSpPr/>
          <p:nvPr/>
        </p:nvSpPr>
        <p:spPr>
          <a:xfrm>
            <a:off x="3474720" y="2487168"/>
            <a:ext cx="1565691"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13563" y="2423160"/>
            <a:ext cx="2194560" cy="457200"/>
          </a:xfrm>
          <a:prstGeom prst="rect">
            <a:avLst/>
          </a:prstGeom>
          <a:noFill/>
        </p:spPr>
        <p:txBody>
          <a:bodyPr wrap="square" lIns="0" rIns="0" tIns="0" bIns="0" anchor="ctr">
            <a:spAutoFit/>
          </a:bodyPr>
          <a:lstStyle/>
          <a:p>
            <a:pPr algn="l"/>
            <a:r>
              <a:rPr sz="1050" b="1" i="0">
                <a:solidFill>
                  <a:srgbClr val="1A1A1A"/>
                </a:solidFill>
                <a:latin typeface="Abadi"/>
              </a:rPr>
              <a:t>HR 2.03</a:t>
            </a:r>
          </a:p>
        </p:txBody>
      </p:sp>
      <p:sp>
        <p:nvSpPr>
          <p:cNvPr id="18" name="TextBox 17"/>
          <p:cNvSpPr txBox="1"/>
          <p:nvPr/>
        </p:nvSpPr>
        <p:spPr>
          <a:xfrm>
            <a:off x="548640" y="2880360"/>
            <a:ext cx="2834640" cy="457200"/>
          </a:xfrm>
          <a:prstGeom prst="rect">
            <a:avLst/>
          </a:prstGeom>
          <a:noFill/>
        </p:spPr>
        <p:txBody>
          <a:bodyPr wrap="square" lIns="0" rIns="0" tIns="0" bIns="0" anchor="ctr">
            <a:spAutoFit/>
          </a:bodyPr>
          <a:lstStyle/>
          <a:p>
            <a:pPr algn="l"/>
            <a:r>
              <a:rPr sz="1050" b="0" i="0">
                <a:solidFill>
                  <a:srgbClr val="1A1A1A"/>
                </a:solidFill>
                <a:latin typeface="Abadi"/>
              </a:rPr>
              <a:t>Splenic malformation</a:t>
            </a:r>
          </a:p>
        </p:txBody>
      </p:sp>
      <p:sp>
        <p:nvSpPr>
          <p:cNvPr id="19" name="Rectangle 18"/>
          <p:cNvSpPr/>
          <p:nvPr/>
        </p:nvSpPr>
        <p:spPr>
          <a:xfrm>
            <a:off x="3474720" y="2944368"/>
            <a:ext cx="1480850"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8722" y="2880360"/>
            <a:ext cx="2194560" cy="457200"/>
          </a:xfrm>
          <a:prstGeom prst="rect">
            <a:avLst/>
          </a:prstGeom>
          <a:noFill/>
        </p:spPr>
        <p:txBody>
          <a:bodyPr wrap="square" lIns="0" rIns="0" tIns="0" bIns="0" anchor="ctr">
            <a:spAutoFit/>
          </a:bodyPr>
          <a:lstStyle/>
          <a:p>
            <a:pPr algn="l"/>
            <a:r>
              <a:rPr sz="1050" b="1" i="0">
                <a:solidFill>
                  <a:srgbClr val="1A1A1A"/>
                </a:solidFill>
                <a:latin typeface="Abadi"/>
              </a:rPr>
              <a:t>HR 1.92</a:t>
            </a:r>
          </a:p>
        </p:txBody>
      </p:sp>
      <p:sp>
        <p:nvSpPr>
          <p:cNvPr id="21" name="TextBox 20"/>
          <p:cNvSpPr txBox="1"/>
          <p:nvPr/>
        </p:nvSpPr>
        <p:spPr>
          <a:xfrm>
            <a:off x="548640" y="3337560"/>
            <a:ext cx="2834640" cy="457200"/>
          </a:xfrm>
          <a:prstGeom prst="rect">
            <a:avLst/>
          </a:prstGeom>
          <a:noFill/>
        </p:spPr>
        <p:txBody>
          <a:bodyPr wrap="square" lIns="0" rIns="0" tIns="0" bIns="0" anchor="ctr">
            <a:spAutoFit/>
          </a:bodyPr>
          <a:lstStyle/>
          <a:p>
            <a:pPr algn="l"/>
            <a:r>
              <a:rPr sz="1050" b="0" i="0">
                <a:solidFill>
                  <a:srgbClr val="1A1A1A"/>
                </a:solidFill>
                <a:latin typeface="Abadi"/>
              </a:rPr>
              <a:t>Ascites &gt; 20 mL</a:t>
            </a:r>
          </a:p>
        </p:txBody>
      </p:sp>
      <p:sp>
        <p:nvSpPr>
          <p:cNvPr id="22" name="Rectangle 21"/>
          <p:cNvSpPr/>
          <p:nvPr/>
        </p:nvSpPr>
        <p:spPr>
          <a:xfrm>
            <a:off x="3474720" y="3401568"/>
            <a:ext cx="1465425"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13297" y="3337560"/>
            <a:ext cx="2194560" cy="457200"/>
          </a:xfrm>
          <a:prstGeom prst="rect">
            <a:avLst/>
          </a:prstGeom>
          <a:noFill/>
        </p:spPr>
        <p:txBody>
          <a:bodyPr wrap="square" lIns="0" rIns="0" tIns="0" bIns="0" anchor="ctr">
            <a:spAutoFit/>
          </a:bodyPr>
          <a:lstStyle/>
          <a:p>
            <a:pPr algn="l"/>
            <a:r>
              <a:rPr sz="1050" b="1" i="0">
                <a:solidFill>
                  <a:srgbClr val="1A1A1A"/>
                </a:solidFill>
                <a:latin typeface="Abadi"/>
              </a:rPr>
              <a:t>HR 1.90</a:t>
            </a:r>
          </a:p>
        </p:txBody>
      </p:sp>
      <p:sp>
        <p:nvSpPr>
          <p:cNvPr id="24" name="TextBox 23"/>
          <p:cNvSpPr txBox="1"/>
          <p:nvPr/>
        </p:nvSpPr>
        <p:spPr>
          <a:xfrm>
            <a:off x="548640" y="3794760"/>
            <a:ext cx="2834640" cy="457200"/>
          </a:xfrm>
          <a:prstGeom prst="rect">
            <a:avLst/>
          </a:prstGeom>
          <a:noFill/>
        </p:spPr>
        <p:txBody>
          <a:bodyPr wrap="square" lIns="0" rIns="0" tIns="0" bIns="0" anchor="ctr">
            <a:spAutoFit/>
          </a:bodyPr>
          <a:lstStyle/>
          <a:p>
            <a:pPr algn="l"/>
            <a:r>
              <a:rPr sz="1050" b="0" i="0">
                <a:solidFill>
                  <a:srgbClr val="1A1A1A"/>
                </a:solidFill>
                <a:latin typeface="Abadi"/>
              </a:rPr>
              <a:t>Age at Kasai ≥ 75 days</a:t>
            </a:r>
          </a:p>
        </p:txBody>
      </p:sp>
      <p:sp>
        <p:nvSpPr>
          <p:cNvPr id="25" name="Rectangle 24"/>
          <p:cNvSpPr/>
          <p:nvPr/>
        </p:nvSpPr>
        <p:spPr>
          <a:xfrm>
            <a:off x="3474720" y="3858768"/>
            <a:ext cx="1334308"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82180" y="3794760"/>
            <a:ext cx="2194560" cy="457200"/>
          </a:xfrm>
          <a:prstGeom prst="rect">
            <a:avLst/>
          </a:prstGeom>
          <a:noFill/>
        </p:spPr>
        <p:txBody>
          <a:bodyPr wrap="square" lIns="0" rIns="0" tIns="0" bIns="0" anchor="ctr">
            <a:spAutoFit/>
          </a:bodyPr>
          <a:lstStyle/>
          <a:p>
            <a:pPr algn="l"/>
            <a:r>
              <a:rPr sz="1050" b="1" i="0">
                <a:solidFill>
                  <a:srgbClr val="1A1A1A"/>
                </a:solidFill>
                <a:latin typeface="Abadi"/>
              </a:rPr>
              <a:t>HR 1.73</a:t>
            </a:r>
          </a:p>
        </p:txBody>
      </p:sp>
      <p:sp>
        <p:nvSpPr>
          <p:cNvPr id="27" name="TextBox 26"/>
          <p:cNvSpPr txBox="1"/>
          <p:nvPr/>
        </p:nvSpPr>
        <p:spPr>
          <a:xfrm>
            <a:off x="548640" y="4251960"/>
            <a:ext cx="2834640" cy="457200"/>
          </a:xfrm>
          <a:prstGeom prst="rect">
            <a:avLst/>
          </a:prstGeom>
          <a:noFill/>
        </p:spPr>
        <p:txBody>
          <a:bodyPr wrap="square" lIns="0" rIns="0" tIns="0" bIns="0" anchor="ctr">
            <a:spAutoFit/>
          </a:bodyPr>
          <a:lstStyle/>
          <a:p>
            <a:pPr algn="l"/>
            <a:r>
              <a:rPr sz="1050" b="0" i="0">
                <a:solidFill>
                  <a:srgbClr val="1A1A1A"/>
                </a:solidFill>
                <a:latin typeface="Abadi"/>
              </a:rPr>
              <a:t>Bilirubin &lt; 2 mg/dL by 3 months</a:t>
            </a:r>
          </a:p>
        </p:txBody>
      </p:sp>
      <p:sp>
        <p:nvSpPr>
          <p:cNvPr id="28" name="Rectangle 27"/>
          <p:cNvSpPr/>
          <p:nvPr/>
        </p:nvSpPr>
        <p:spPr>
          <a:xfrm>
            <a:off x="3474720" y="4315968"/>
            <a:ext cx="61702"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09574" y="4251960"/>
            <a:ext cx="2194560" cy="457200"/>
          </a:xfrm>
          <a:prstGeom prst="rect">
            <a:avLst/>
          </a:prstGeom>
          <a:noFill/>
        </p:spPr>
        <p:txBody>
          <a:bodyPr wrap="square" lIns="0" rIns="0" tIns="0" bIns="0" anchor="ctr">
            <a:spAutoFit/>
          </a:bodyPr>
          <a:lstStyle/>
          <a:p>
            <a:pPr algn="l"/>
            <a:r>
              <a:rPr sz="1050" b="1" i="0">
                <a:solidFill>
                  <a:srgbClr val="1A1A1A"/>
                </a:solidFill>
                <a:latin typeface="Abadi"/>
              </a:rPr>
              <a:t>HR 0.08</a:t>
            </a:r>
          </a:p>
        </p:txBody>
      </p:sp>
      <p:sp>
        <p:nvSpPr>
          <p:cNvPr id="30" name="TextBox 29"/>
          <p:cNvSpPr txBox="1"/>
          <p:nvPr/>
        </p:nvSpPr>
        <p:spPr>
          <a:xfrm>
            <a:off x="548640" y="4754880"/>
            <a:ext cx="7863840" cy="274320"/>
          </a:xfrm>
          <a:prstGeom prst="rect">
            <a:avLst/>
          </a:prstGeom>
          <a:noFill/>
        </p:spPr>
        <p:txBody>
          <a:bodyPr wrap="square" lIns="0" rIns="0" tIns="0" bIns="0" anchor="t">
            <a:spAutoFit/>
          </a:bodyPr>
          <a:lstStyle/>
          <a:p>
            <a:pPr algn="l"/>
            <a:r>
              <a:rPr sz="950" b="0" i="0">
                <a:solidFill>
                  <a:srgbClr val="7F7F7F"/>
                </a:solidFill>
                <a:latin typeface="Abadi"/>
              </a:rPr>
              <a:t>Bars: hazard ratio for transplant or death; 136 infants; clearance at 3 months achieved in 45.6%.</a:t>
            </a:r>
          </a:p>
        </p:txBody>
      </p:sp>
      <p:sp>
        <p:nvSpPr>
          <p:cNvPr id="31" name="TextBox 30"/>
          <p:cNvSpPr txBox="1"/>
          <p:nvPr/>
        </p:nvSpPr>
        <p:spPr>
          <a:xfrm>
            <a:off x="548640" y="5047488"/>
            <a:ext cx="7955279" cy="1097280"/>
          </a:xfrm>
          <a:prstGeom prst="rect">
            <a:avLst/>
          </a:prstGeom>
          <a:noFill/>
        </p:spPr>
        <p:txBody>
          <a:bodyPr wrap="square" lIns="0" rIns="0" tIns="0" bIns="0" anchor="t">
            <a:spAutoFit/>
          </a:bodyPr>
          <a:lstStyle/>
          <a:p>
            <a:pPr algn="l">
              <a:spcAft>
                <a:spcPts val="600"/>
              </a:spcAft>
            </a:pPr>
            <a:r>
              <a:rPr sz="1200" b="1" i="0">
                <a:solidFill>
                  <a:srgbClr val="1B355E"/>
                </a:solidFill>
                <a:latin typeface="Abadi"/>
              </a:rPr>
              <a:t>Read it as.   </a:t>
            </a:r>
            <a:r>
              <a:rPr sz="1200" b="0" i="0">
                <a:solidFill>
                  <a:srgbClr val="1A1A1A"/>
                </a:solidFill>
                <a:latin typeface="Abadi"/>
              </a:rPr>
              <a:t>Anatomy at the porta, found by the surgeon, is the strongest predictor; clearance by 3 months turns a coin toss into a near-certain native liver at 2 years.</a:t>
            </a:r>
          </a:p>
        </p:txBody>
      </p:sp>
      <p:sp>
        <p:nvSpPr>
          <p:cNvPr id="32" name="TextBox 31"/>
          <p:cNvSpPr txBox="1"/>
          <p:nvPr/>
        </p:nvSpPr>
        <p:spPr>
          <a:xfrm>
            <a:off x="8778240" y="1783080"/>
            <a:ext cx="2834640" cy="3931920"/>
          </a:xfrm>
          <a:prstGeom prst="rect">
            <a:avLst/>
          </a:prstGeom>
          <a:noFill/>
        </p:spPr>
        <p:txBody>
          <a:bodyPr wrap="square" lIns="0" rIns="0" tIns="0" bIns="0" anchor="t">
            <a:spAutoFit/>
          </a:bodyPr>
          <a:lstStyle/>
          <a:p>
            <a:pPr algn="l">
              <a:spcAft>
                <a:spcPts val="300"/>
              </a:spcAft>
            </a:pPr>
            <a:r>
              <a:rPr sz="1500" b="1" i="0">
                <a:solidFill>
                  <a:srgbClr val="1B355E"/>
                </a:solidFill>
                <a:latin typeface="Abadi"/>
              </a:rPr>
              <a:t>Actionable</a:t>
            </a:r>
          </a:p>
          <a:p>
            <a:pPr algn="l">
              <a:spcAft>
                <a:spcPts val="300"/>
              </a:spcAft>
            </a:pPr>
            <a:r>
              <a:rPr sz="1050" b="0" i="0">
                <a:solidFill>
                  <a:srgbClr val="555555"/>
                </a:solidFill>
                <a:latin typeface="Abadi"/>
              </a:rPr>
              <a:t>Only age, and what the team does, are modifiable.</a:t>
            </a:r>
          </a:p>
          <a:p>
            <a:pPr algn="l">
              <a:spcAft>
                <a:spcPts val="300"/>
              </a:spcAft>
            </a:pPr>
            <a:r>
              <a:rPr sz="1500" b="1" i="0">
                <a:solidFill>
                  <a:srgbClr val="1B355E"/>
                </a:solidFill>
                <a:latin typeface="Abadi"/>
              </a:rPr>
              <a:t>Monitoring</a:t>
            </a:r>
          </a:p>
          <a:p>
            <a:pPr algn="l">
              <a:spcAft>
                <a:spcPts val="300"/>
              </a:spcAft>
            </a:pPr>
            <a:r>
              <a:rPr sz="1050" b="0" i="0">
                <a:solidFill>
                  <a:srgbClr val="555555"/>
                </a:solidFill>
                <a:latin typeface="Abadi"/>
              </a:rPr>
              <a:t>Bilirubin at 1, 2 and 3 months; failure to clear means early transplant referral.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GUIDELINES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WHAT THE DOCUMENTS SAY ABOUT THE OPERATION</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Society guidance versus national policy; AASLD and EASL have no biliary atresia operative guideline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18</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Fawaz R, et al. JPGN 2017;64:154–68 · Squires RH, et al. Hepatology 2014;60:362–98 (AASLD) · Harpavat S, et al. Pediatrics 2025 (AAP) · Pakarinen 2018 · Davenport 2011</a:t>
            </a:r>
          </a:p>
        </p:txBody>
      </p:sp>
      <p:graphicFrame>
        <p:nvGraphicFramePr>
          <p:cNvPr id="12" name="Table 11"/>
          <p:cNvGraphicFramePr>
            <a:graphicFrameLocks noGrp="1"/>
          </p:cNvGraphicFramePr>
          <p:nvPr/>
        </p:nvGraphicFramePr>
        <p:xfrm>
          <a:off x="548640" y="1783080"/>
          <a:ext cx="11082528" cy="3291840"/>
        </p:xfrm>
        <a:graphic>
          <a:graphicData uri="http://schemas.openxmlformats.org/drawingml/2006/table">
            <a:tbl>
              <a:tblPr firstRow="0" bandRow="0">
                <a:tableStyleId>{5C22544A-7EE6-4342-B048-85BDC9FD1C3A}</a:tableStyleId>
              </a:tblPr>
              <a:tblGrid>
                <a:gridCol w="2011680"/>
                <a:gridCol w="2286000"/>
                <a:gridCol w="2377440"/>
                <a:gridCol w="3108960"/>
                <a:gridCol w="1298448"/>
              </a:tblGrid>
              <a:tr h="548640">
                <a:tc>
                  <a:txBody>
                    <a:bodyPr wrap="square"/>
                    <a:lstStyle/>
                    <a:p>
                      <a:r>
                        <a:rPr sz="1050" b="1">
                          <a:solidFill>
                            <a:srgbClr val="FFFFFF"/>
                          </a:solidFill>
                          <a:latin typeface="Abadi"/>
                        </a:rPr>
                        <a:t>Question</a:t>
                      </a:r>
                    </a:p>
                  </a:txBody>
                  <a:tcPr marL="73152" marR="73152" marT="27432" marB="27432" anchor="ctr">
                    <a:solidFill>
                      <a:srgbClr val="1B355E"/>
                    </a:solidFill>
                  </a:tcPr>
                </a:tc>
                <a:tc>
                  <a:txBody>
                    <a:bodyPr wrap="square"/>
                    <a:lstStyle/>
                    <a:p>
                      <a:r>
                        <a:rPr sz="1050" b="1">
                          <a:solidFill>
                            <a:srgbClr val="FFFFFF"/>
                          </a:solidFill>
                          <a:latin typeface="Abadi"/>
                        </a:rPr>
                        <a:t>AASLD · EASL</a:t>
                      </a:r>
                    </a:p>
                  </a:txBody>
                  <a:tcPr marL="73152" marR="73152" marT="27432" marB="27432" anchor="ctr">
                    <a:solidFill>
                      <a:srgbClr val="1B355E"/>
                    </a:solidFill>
                  </a:tcPr>
                </a:tc>
                <a:tc>
                  <a:txBody>
                    <a:bodyPr wrap="square"/>
                    <a:lstStyle/>
                    <a:p>
                      <a:r>
                        <a:rPr sz="1050" b="1">
                          <a:solidFill>
                            <a:srgbClr val="FFFFFF"/>
                          </a:solidFill>
                          <a:latin typeface="Abadi"/>
                        </a:rPr>
                        <a:t>NASPGHAN/ESPGHAN 2017 · AAP 2025</a:t>
                      </a:r>
                    </a:p>
                  </a:txBody>
                  <a:tcPr marL="73152" marR="73152" marT="27432" marB="27432" anchor="ctr">
                    <a:solidFill>
                      <a:srgbClr val="1B355E"/>
                    </a:solidFill>
                  </a:tcPr>
                </a:tc>
                <a:tc>
                  <a:txBody>
                    <a:bodyPr wrap="square"/>
                    <a:lstStyle/>
                    <a:p>
                      <a:r>
                        <a:rPr sz="1050" b="1">
                          <a:solidFill>
                            <a:srgbClr val="FFFFFF"/>
                          </a:solidFill>
                          <a:latin typeface="Abadi"/>
                        </a:rPr>
                        <a:t>National policy (UK, Nordic, Japan)</a:t>
                      </a:r>
                    </a:p>
                  </a:txBody>
                  <a:tcPr marL="73152" marR="73152" marT="27432" marB="27432" anchor="ctr">
                    <a:solidFill>
                      <a:srgbClr val="1B355E"/>
                    </a:solidFill>
                  </a:tcPr>
                </a:tc>
                <a:tc>
                  <a:txBody>
                    <a:bodyPr wrap="square"/>
                    <a:lstStyle/>
                    <a:p>
                      <a:r>
                        <a:rPr sz="1050" b="1">
                          <a:solidFill>
                            <a:srgbClr val="FFFFFF"/>
                          </a:solidFill>
                          <a:latin typeface="Abadi"/>
                        </a:rPr>
                        <a:t>Verdict</a:t>
                      </a:r>
                    </a:p>
                  </a:txBody>
                  <a:tcPr marL="73152" marR="73152" marT="27432" marB="27432" anchor="ctr">
                    <a:solidFill>
                      <a:srgbClr val="1B355E"/>
                    </a:solidFill>
                  </a:tcPr>
                </a:tc>
              </a:tr>
              <a:tr h="548640">
                <a:tc>
                  <a:txBody>
                    <a:bodyPr wrap="square"/>
                    <a:lstStyle/>
                    <a:p>
                      <a:r>
                        <a:rPr sz="1000" b="1">
                          <a:solidFill>
                            <a:srgbClr val="1A1A1A"/>
                          </a:solidFill>
                          <a:latin typeface="Abadi"/>
                        </a:rPr>
                        <a:t>Kasai as first operation</a:t>
                      </a:r>
                    </a:p>
                  </a:txBody>
                  <a:tcPr marL="73152" marR="73152" marT="27432" marB="27432" anchor="ctr">
                    <a:solidFill>
                      <a:srgbClr val="FFFFFF"/>
                    </a:solidFill>
                  </a:tcPr>
                </a:tc>
                <a:tc>
                  <a:txBody>
                    <a:bodyPr wrap="square"/>
                    <a:lstStyle/>
                    <a:p>
                      <a:r>
                        <a:rPr sz="1000" b="0">
                          <a:solidFill>
                            <a:srgbClr val="1A1A1A"/>
                          </a:solidFill>
                          <a:latin typeface="Abadi"/>
                        </a:rPr>
                        <a:t>AASLD 2014: Kasai first; transplant if it fails</a:t>
                      </a:r>
                    </a:p>
                  </a:txBody>
                  <a:tcPr marL="73152" marR="73152" marT="27432" marB="27432" anchor="ctr">
                    <a:solidFill>
                      <a:srgbClr val="FFFFFF"/>
                    </a:solidFill>
                  </a:tcPr>
                </a:tc>
                <a:tc>
                  <a:txBody>
                    <a:bodyPr wrap="square"/>
                    <a:lstStyle/>
                    <a:p>
                      <a:r>
                        <a:rPr sz="1000" b="0">
                          <a:solidFill>
                            <a:srgbClr val="1A1A1A"/>
                          </a:solidFill>
                          <a:latin typeface="Abadi"/>
                        </a:rPr>
                        <a:t>Prompt referral for Kasai</a:t>
                      </a:r>
                    </a:p>
                  </a:txBody>
                  <a:tcPr marL="73152" marR="73152" marT="27432" marB="27432" anchor="ctr">
                    <a:solidFill>
                      <a:srgbClr val="FFFFFF"/>
                    </a:solidFill>
                  </a:tcPr>
                </a:tc>
                <a:tc>
                  <a:txBody>
                    <a:bodyPr wrap="square"/>
                    <a:lstStyle/>
                    <a:p>
                      <a:r>
                        <a:rPr sz="1000" b="0">
                          <a:solidFill>
                            <a:srgbClr val="1A1A1A"/>
                          </a:solidFill>
                          <a:latin typeface="Abadi"/>
                        </a:rPr>
                        <a:t>Kasai first in all</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548640">
                <a:tc>
                  <a:txBody>
                    <a:bodyPr wrap="square"/>
                    <a:lstStyle/>
                    <a:p>
                      <a:r>
                        <a:rPr sz="1000" b="1">
                          <a:solidFill>
                            <a:srgbClr val="1A1A1A"/>
                          </a:solidFill>
                          <a:latin typeface="Abadi"/>
                        </a:rPr>
                        <a:t>Who should operate</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Experienced centre, no number</a:t>
                      </a:r>
                    </a:p>
                  </a:txBody>
                  <a:tcPr marL="73152" marR="73152" marT="27432" marB="27432" anchor="ctr">
                    <a:solidFill>
                      <a:srgbClr val="F2F4F7"/>
                    </a:solidFill>
                  </a:tcPr>
                </a:tc>
                <a:tc>
                  <a:txBody>
                    <a:bodyPr wrap="square"/>
                    <a:lstStyle/>
                    <a:p>
                      <a:r>
                        <a:rPr sz="1000" b="0">
                          <a:solidFill>
                            <a:srgbClr val="1A1A1A"/>
                          </a:solidFill>
                          <a:latin typeface="Abadi"/>
                        </a:rPr>
                        <a:t>UK 3 centres; Nordic &gt; 3/yr</a:t>
                      </a:r>
                    </a:p>
                  </a:txBody>
                  <a:tcPr marL="73152" marR="73152" marT="27432" marB="27432" anchor="ctr">
                    <a:solidFill>
                      <a:srgbClr val="F2F4F7"/>
                    </a:solidFill>
                  </a:tcPr>
                </a:tc>
                <a:tc>
                  <a:txBody>
                    <a:bodyPr wrap="square"/>
                    <a:lstStyle/>
                    <a:p>
                      <a:pPr algn="ctr"/>
                      <a:r>
                        <a:rPr sz="850" b="1">
                          <a:solidFill>
                            <a:srgbClr val="FFFFFF"/>
                          </a:solidFill>
                          <a:latin typeface="Abadi"/>
                        </a:rPr>
                        <a:t>MATERIAL</a:t>
                      </a:r>
                    </a:p>
                  </a:txBody>
                  <a:tcPr marL="73152" marR="73152" marT="27432" marB="27432" anchor="ctr">
                    <a:solidFill>
                      <a:srgbClr val="B22222"/>
                    </a:solidFill>
                  </a:tcPr>
                </a:tc>
              </a:tr>
              <a:tr h="548640">
                <a:tc>
                  <a:txBody>
                    <a:bodyPr wrap="square"/>
                    <a:lstStyle/>
                    <a:p>
                      <a:r>
                        <a:rPr sz="1000" b="1">
                          <a:solidFill>
                            <a:srgbClr val="1A1A1A"/>
                          </a:solidFill>
                          <a:latin typeface="Abadi"/>
                        </a:rPr>
                        <a:t>Open vs laparoscopic</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r>
                        <a:rPr sz="1000" b="0">
                          <a:solidFill>
                            <a:srgbClr val="1A1A1A"/>
                          </a:solidFill>
                          <a:latin typeface="Abadi"/>
                        </a:rPr>
                        <a:t>Not addressed</a:t>
                      </a:r>
                    </a:p>
                  </a:txBody>
                  <a:tcPr marL="73152" marR="73152" marT="27432" marB="27432" anchor="ctr">
                    <a:solidFill>
                      <a:srgbClr val="FFFFFF"/>
                    </a:solidFill>
                  </a:tcPr>
                </a:tc>
                <a:tc>
                  <a:txBody>
                    <a:bodyPr wrap="square"/>
                    <a:lstStyle/>
                    <a:p>
                      <a:r>
                        <a:rPr sz="1000" b="0">
                          <a:solidFill>
                            <a:srgbClr val="1A1A1A"/>
                          </a:solidFill>
                          <a:latin typeface="Abadi"/>
                        </a:rPr>
                        <a:t>Open standard in Europe; laparoscopy in some Asian centres</a:t>
                      </a:r>
                    </a:p>
                  </a:txBody>
                  <a:tcPr marL="73152" marR="73152" marT="27432" marB="27432" anchor="ctr">
                    <a:solidFill>
                      <a:srgbClr val="FFFFFF"/>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548640">
                <a:tc>
                  <a:txBody>
                    <a:bodyPr wrap="square"/>
                    <a:lstStyle/>
                    <a:p>
                      <a:r>
                        <a:rPr sz="1000" b="1">
                          <a:solidFill>
                            <a:srgbClr val="1A1A1A"/>
                          </a:solidFill>
                          <a:latin typeface="Abadi"/>
                        </a:rPr>
                        <a:t>Plate dissection, limb</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Surgical convention: flush cut, ~40 cm limb</a:t>
                      </a:r>
                    </a:p>
                  </a:txBody>
                  <a:tcPr marL="73152" marR="73152" marT="27432" marB="27432" anchor="ctr">
                    <a:solidFill>
                      <a:srgbClr val="F2F4F7"/>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r h="548640">
                <a:tc>
                  <a:txBody>
                    <a:bodyPr wrap="square"/>
                    <a:lstStyle/>
                    <a:p>
                      <a:r>
                        <a:rPr sz="1000" b="1">
                          <a:solidFill>
                            <a:srgbClr val="1A1A1A"/>
                          </a:solidFill>
                          <a:latin typeface="Abadi"/>
                        </a:rPr>
                        <a:t>Primary transplant</a:t>
                      </a:r>
                    </a:p>
                  </a:txBody>
                  <a:tcPr marL="73152" marR="73152" marT="27432" marB="27432" anchor="ctr">
                    <a:solidFill>
                      <a:srgbClr val="FFFFFF"/>
                    </a:solidFill>
                  </a:tcPr>
                </a:tc>
                <a:tc>
                  <a:txBody>
                    <a:bodyPr wrap="square"/>
                    <a:lstStyle/>
                    <a:p>
                      <a:r>
                        <a:rPr sz="1000" b="0">
                          <a:solidFill>
                            <a:srgbClr val="1A1A1A"/>
                          </a:solidFill>
                          <a:latin typeface="Abadi"/>
                        </a:rPr>
                        <a:t>Advanced cirrhosis, decompensation</a:t>
                      </a:r>
                    </a:p>
                  </a:txBody>
                  <a:tcPr marL="73152" marR="73152" marT="27432" marB="27432" anchor="ctr">
                    <a:solidFill>
                      <a:srgbClr val="FFFFFF"/>
                    </a:solidFill>
                  </a:tcPr>
                </a:tc>
                <a:tc>
                  <a:txBody>
                    <a:bodyPr wrap="square"/>
                    <a:lstStyle/>
                    <a:p>
                      <a:r>
                        <a:rPr sz="1000" b="0">
                          <a:solidFill>
                            <a:srgbClr val="1A1A1A"/>
                          </a:solidFill>
                          <a:latin typeface="Abadi"/>
                        </a:rPr>
                        <a:t>Late presenters individualised</a:t>
                      </a:r>
                    </a:p>
                  </a:txBody>
                  <a:tcPr marL="73152" marR="73152" marT="27432" marB="27432" anchor="ctr">
                    <a:solidFill>
                      <a:srgbClr val="FFFFFF"/>
                    </a:solidFill>
                  </a:tcPr>
                </a:tc>
                <a:tc>
                  <a:txBody>
                    <a:bodyPr wrap="square"/>
                    <a:lstStyle/>
                    <a:p>
                      <a:r>
                        <a:rPr sz="1000" b="0">
                          <a:solidFill>
                            <a:srgbClr val="1A1A1A"/>
                          </a:solidFill>
                          <a:latin typeface="Abadi"/>
                        </a:rPr>
                        <a:t>Kasai offered even after 90 days</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bl>
          </a:graphicData>
        </a:graphic>
      </p:graphicFrame>
      <p:sp>
        <p:nvSpPr>
          <p:cNvPr id="13" name="TextBox 12"/>
          <p:cNvSpPr txBox="1"/>
          <p:nvPr/>
        </p:nvSpPr>
        <p:spPr>
          <a:xfrm>
            <a:off x="548640" y="5212080"/>
            <a:ext cx="11082528" cy="594360"/>
          </a:xfrm>
          <a:prstGeom prst="rect">
            <a:avLst/>
          </a:prstGeom>
          <a:noFill/>
        </p:spPr>
        <p:txBody>
          <a:bodyPr wrap="square" lIns="0" rIns="0" tIns="0" bIns="0" anchor="t">
            <a:spAutoFit/>
          </a:bodyPr>
          <a:lstStyle/>
          <a:p>
            <a:pPr algn="l">
              <a:spcAft>
                <a:spcPts val="600"/>
              </a:spcAft>
            </a:pPr>
            <a:r>
              <a:rPr sz="1200" b="1" i="0">
                <a:solidFill>
                  <a:srgbClr val="1B355E"/>
                </a:solidFill>
                <a:latin typeface="Abadi"/>
              </a:rPr>
              <a:t>Material gap.   </a:t>
            </a:r>
            <a:r>
              <a:rPr sz="1200" b="0" i="0">
                <a:solidFill>
                  <a:srgbClr val="1A1A1A"/>
                </a:solidFill>
                <a:latin typeface="Abadi"/>
              </a:rPr>
              <a:t>No society sets a minimum caseload, although every national cohort that measured it found one; that decision is left to health systems.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TRAPS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HOW THE OPERATION IS LOST</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Errors that turn a correctly timed Kasai into a failed one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19</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Abe 2022 · Ramachandran 2016 · Ure 2011 · Wong 2008 · Superina 2011</a:t>
            </a:r>
          </a:p>
        </p:txBody>
      </p:sp>
      <p:sp>
        <p:nvSpPr>
          <p:cNvPr id="12" name="Rectangle 11"/>
          <p:cNvSpPr/>
          <p:nvPr/>
        </p:nvSpPr>
        <p:spPr>
          <a:xfrm>
            <a:off x="548640"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0" rIns="0" tIns="0" bIns="0" anchor="t">
            <a:spAutoFit/>
          </a:bodyPr>
          <a:lstStyle/>
          <a:p>
            <a:pPr algn="l"/>
            <a:r>
              <a:rPr sz="1500" b="1" i="0">
                <a:solidFill>
                  <a:srgbClr val="B22222"/>
                </a:solidFill>
                <a:latin typeface="Abadi"/>
              </a:rPr>
              <a:t>"Burn the bleeding"</a:t>
            </a:r>
          </a:p>
        </p:txBody>
      </p:sp>
      <p:sp>
        <p:nvSpPr>
          <p:cNvPr id="15" name="TextBox 14"/>
          <p:cNvSpPr txBox="1"/>
          <p:nvPr/>
        </p:nvSpPr>
        <p:spPr>
          <a:xfrm>
            <a:off x="694944" y="2505456"/>
            <a:ext cx="1777593" cy="150876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  Diathermy on the plate seals the ductules</a:t>
            </a:r>
          </a:p>
          <a:p>
            <a:pPr algn="l">
              <a:spcAft>
                <a:spcPts val="400"/>
              </a:spcAft>
            </a:pPr>
            <a:r>
              <a:rPr sz="1050" b="0" i="0">
                <a:solidFill>
                  <a:srgbClr val="1A1A1A"/>
                </a:solidFill>
                <a:latin typeface="Abadi"/>
              </a:rPr>
              <a:t>▪  Use pressure, adrenaline gauze</a:t>
            </a:r>
          </a:p>
        </p:txBody>
      </p:sp>
      <p:sp>
        <p:nvSpPr>
          <p:cNvPr id="16" name="Rectangle 15"/>
          <p:cNvSpPr/>
          <p:nvPr/>
        </p:nvSpPr>
        <p:spPr>
          <a:xfrm>
            <a:off x="2801721"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0" rIns="0" tIns="0" bIns="0" anchor="t">
            <a:spAutoFit/>
          </a:bodyPr>
          <a:lstStyle/>
          <a:p>
            <a:pPr algn="l"/>
            <a:r>
              <a:rPr sz="1500" b="1" i="0">
                <a:solidFill>
                  <a:srgbClr val="B22222"/>
                </a:solidFill>
                <a:latin typeface="Abadi"/>
              </a:rPr>
              <a:t>"Go deeper"</a:t>
            </a:r>
          </a:p>
        </p:txBody>
      </p:sp>
      <p:sp>
        <p:nvSpPr>
          <p:cNvPr id="19" name="TextBox 18"/>
          <p:cNvSpPr txBox="1"/>
          <p:nvPr/>
        </p:nvSpPr>
        <p:spPr>
          <a:xfrm>
            <a:off x="2948025" y="2505456"/>
            <a:ext cx="1777593" cy="150876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  Cutting into parenchyma adds scar</a:t>
            </a:r>
          </a:p>
          <a:p>
            <a:pPr algn="l">
              <a:spcAft>
                <a:spcPts val="400"/>
              </a:spcAft>
            </a:pPr>
            <a:r>
              <a:rPr sz="1050" b="0" i="0">
                <a:solidFill>
                  <a:srgbClr val="1A1A1A"/>
                </a:solidFill>
                <a:latin typeface="Abadi"/>
              </a:rPr>
              <a:t>▪  Flush with the capsule</a:t>
            </a:r>
          </a:p>
        </p:txBody>
      </p:sp>
      <p:sp>
        <p:nvSpPr>
          <p:cNvPr id="20" name="Rectangle 19"/>
          <p:cNvSpPr/>
          <p:nvPr/>
        </p:nvSpPr>
        <p:spPr>
          <a:xfrm>
            <a:off x="5054803" y="1773936"/>
            <a:ext cx="2070201"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0" rIns="0" tIns="0" bIns="0" anchor="t">
            <a:spAutoFit/>
          </a:bodyPr>
          <a:lstStyle/>
          <a:p>
            <a:pPr algn="l"/>
            <a:r>
              <a:rPr sz="1500" b="1" i="0">
                <a:solidFill>
                  <a:srgbClr val="D97A0B"/>
                </a:solidFill>
                <a:latin typeface="Abadi"/>
              </a:rPr>
              <a:t>"Add a valve"</a:t>
            </a:r>
          </a:p>
        </p:txBody>
      </p:sp>
      <p:sp>
        <p:nvSpPr>
          <p:cNvPr id="23" name="TextBox 22"/>
          <p:cNvSpPr txBox="1"/>
          <p:nvPr/>
        </p:nvSpPr>
        <p:spPr>
          <a:xfrm>
            <a:off x="5201107" y="2505456"/>
            <a:ext cx="1777593" cy="150876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  Valves and stomas do not stop cholangitis</a:t>
            </a:r>
          </a:p>
          <a:p>
            <a:pPr algn="l">
              <a:spcAft>
                <a:spcPts val="400"/>
              </a:spcAft>
            </a:pPr>
            <a:r>
              <a:rPr sz="1050" b="0" i="0">
                <a:solidFill>
                  <a:srgbClr val="1A1A1A"/>
                </a:solidFill>
                <a:latin typeface="Abadi"/>
              </a:rPr>
              <a:t>▪  They complicate transplant</a:t>
            </a:r>
          </a:p>
        </p:txBody>
      </p:sp>
      <p:sp>
        <p:nvSpPr>
          <p:cNvPr id="24" name="Rectangle 23"/>
          <p:cNvSpPr/>
          <p:nvPr/>
        </p:nvSpPr>
        <p:spPr>
          <a:xfrm>
            <a:off x="7307884" y="1773936"/>
            <a:ext cx="2070201"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0" rIns="0" tIns="0" bIns="0" anchor="t">
            <a:spAutoFit/>
          </a:bodyPr>
          <a:lstStyle/>
          <a:p>
            <a:pPr algn="l"/>
            <a:r>
              <a:rPr sz="1500" b="1" i="0">
                <a:solidFill>
                  <a:srgbClr val="D97A0B"/>
                </a:solidFill>
                <a:latin typeface="Abadi"/>
              </a:rPr>
              <a:t>"Redo it"</a:t>
            </a:r>
          </a:p>
        </p:txBody>
      </p:sp>
      <p:sp>
        <p:nvSpPr>
          <p:cNvPr id="27" name="TextBox 26"/>
          <p:cNvSpPr txBox="1"/>
          <p:nvPr/>
        </p:nvSpPr>
        <p:spPr>
          <a:xfrm>
            <a:off x="7454188" y="2505456"/>
            <a:ext cx="1777593" cy="150876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  Redo only after good initial flow that stopped abruptly</a:t>
            </a:r>
          </a:p>
          <a:p>
            <a:pPr algn="l">
              <a:spcAft>
                <a:spcPts val="400"/>
              </a:spcAft>
            </a:pPr>
            <a:r>
              <a:rPr sz="1050" b="0" i="0">
                <a:solidFill>
                  <a:srgbClr val="1A1A1A"/>
                </a:solidFill>
                <a:latin typeface="Abadi"/>
              </a:rPr>
              <a:t>▪  Otherwise refer for transplant</a:t>
            </a:r>
          </a:p>
        </p:txBody>
      </p:sp>
      <p:sp>
        <p:nvSpPr>
          <p:cNvPr id="28" name="Rectangle 27"/>
          <p:cNvSpPr/>
          <p:nvPr/>
        </p:nvSpPr>
        <p:spPr>
          <a:xfrm>
            <a:off x="9560966" y="1773936"/>
            <a:ext cx="2070201" cy="233172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0" rIns="0" tIns="0" bIns="0" anchor="t">
            <a:spAutoFit/>
          </a:bodyPr>
          <a:lstStyle/>
          <a:p>
            <a:pPr algn="l"/>
            <a:r>
              <a:rPr sz="1500" b="1" i="0">
                <a:solidFill>
                  <a:srgbClr val="8A939B"/>
                </a:solidFill>
                <a:latin typeface="Abadi"/>
              </a:rPr>
              <a:t>"Keyhole is gentler"</a:t>
            </a:r>
          </a:p>
        </p:txBody>
      </p:sp>
      <p:sp>
        <p:nvSpPr>
          <p:cNvPr id="31" name="TextBox 30"/>
          <p:cNvSpPr txBox="1"/>
          <p:nvPr/>
        </p:nvSpPr>
        <p:spPr>
          <a:xfrm>
            <a:off x="9707270" y="2505456"/>
            <a:ext cx="1777593" cy="1508760"/>
          </a:xfrm>
          <a:prstGeom prst="rect">
            <a:avLst/>
          </a:prstGeom>
          <a:noFill/>
        </p:spPr>
        <p:txBody>
          <a:bodyPr wrap="square" lIns="0" rIns="0" tIns="0" bIns="0" anchor="t">
            <a:spAutoFit/>
          </a:bodyPr>
          <a:lstStyle/>
          <a:p>
            <a:pPr algn="l">
              <a:spcAft>
                <a:spcPts val="400"/>
              </a:spcAft>
            </a:pPr>
            <a:r>
              <a:rPr sz="1050" b="0" i="0">
                <a:solidFill>
                  <a:srgbClr val="1A1A1A"/>
                </a:solidFill>
                <a:latin typeface="Abadi"/>
              </a:rPr>
              <a:t>▪  Not in a low-volume unit</a:t>
            </a:r>
          </a:p>
          <a:p>
            <a:pPr algn="l">
              <a:spcAft>
                <a:spcPts val="400"/>
              </a:spcAft>
            </a:pPr>
            <a:r>
              <a:rPr sz="1050" b="0" i="0">
                <a:solidFill>
                  <a:srgbClr val="1A1A1A"/>
                </a:solidFill>
                <a:latin typeface="Abadi"/>
              </a:rPr>
              <a:t>▪  Native liver first, scar second</a:t>
            </a:r>
          </a:p>
        </p:txBody>
      </p:sp>
      <p:sp>
        <p:nvSpPr>
          <p:cNvPr id="32" name="TextBox 31"/>
          <p:cNvSpPr txBox="1"/>
          <p:nvPr/>
        </p:nvSpPr>
        <p:spPr>
          <a:xfrm>
            <a:off x="548640" y="4297680"/>
            <a:ext cx="11082528" cy="1508760"/>
          </a:xfrm>
          <a:prstGeom prst="rect">
            <a:avLst/>
          </a:prstGeom>
          <a:noFill/>
        </p:spPr>
        <p:txBody>
          <a:bodyPr wrap="square" lIns="0" rIns="0" tIns="0" bIns="0" anchor="t">
            <a:spAutoFit/>
          </a:bodyPr>
          <a:lstStyle/>
          <a:p>
            <a:pPr algn="l">
              <a:spcAft>
                <a:spcPts val="600"/>
              </a:spcAft>
            </a:pPr>
            <a:r>
              <a:rPr sz="1250" b="1" i="0">
                <a:solidFill>
                  <a:srgbClr val="1B355E"/>
                </a:solidFill>
                <a:latin typeface="Abadi"/>
              </a:rPr>
              <a:t>And one more.   </a:t>
            </a:r>
            <a:r>
              <a:rPr sz="1250" b="0" i="0">
                <a:solidFill>
                  <a:srgbClr val="1A1A1A"/>
                </a:solidFill>
                <a:latin typeface="Abadi"/>
              </a:rPr>
              <a:t>Operating on a decompensated older infant with ascites and a coagulopathy uncorrected by vitamin K: the Kasai then delays a transplant that is already needed.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PEARLS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TEN THINGS TO REMEMBER</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The numbers worth carrying onto the ward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20</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Superina 2011 · Abe 2022 · Son 2023 · Okur 2023 · Ure 2011 · Wong 2008 · Shirota 2020 · Pakarinen 2018 · McKiernan 2000 · Nio 2025</a:t>
            </a:r>
          </a:p>
        </p:txBody>
      </p:sp>
      <p:sp>
        <p:nvSpPr>
          <p:cNvPr id="12" name="TextBox 11"/>
          <p:cNvSpPr txBox="1"/>
          <p:nvPr/>
        </p:nvSpPr>
        <p:spPr>
          <a:xfrm>
            <a:off x="548640" y="1810512"/>
            <a:ext cx="11082528" cy="3931920"/>
          </a:xfrm>
          <a:prstGeom prst="rect">
            <a:avLst/>
          </a:prstGeom>
          <a:noFill/>
        </p:spPr>
        <p:txBody>
          <a:bodyPr wrap="square" lIns="0" rIns="0" tIns="0" bIns="0" anchor="t">
            <a:spAutoFit/>
          </a:bodyPr>
          <a:lstStyle/>
          <a:p>
            <a:pPr algn="l">
              <a:spcAft>
                <a:spcPts val="500"/>
              </a:spcAft>
            </a:pPr>
            <a:r>
              <a:rPr sz="1450" b="0" i="0">
                <a:solidFill>
                  <a:srgbClr val="1A1A1A"/>
                </a:solidFill>
                <a:latin typeface="Abadi"/>
              </a:rPr>
              <a:t>▪  The Kasai drains surviving microscopic ductules; it cannot create ducts.</a:t>
            </a:r>
          </a:p>
          <a:p>
            <a:pPr algn="l">
              <a:spcAft>
                <a:spcPts val="500"/>
              </a:spcAft>
            </a:pPr>
            <a:r>
              <a:rPr sz="1450" b="0" i="0">
                <a:solidFill>
                  <a:srgbClr val="1A1A1A"/>
                </a:solidFill>
                <a:latin typeface="Abadi"/>
              </a:rPr>
              <a:t>▪  Transect the plate flush with the liver capsule; no diathermy on the cut surface.</a:t>
            </a:r>
          </a:p>
          <a:p>
            <a:pPr algn="l">
              <a:spcAft>
                <a:spcPts val="500"/>
              </a:spcAft>
            </a:pPr>
            <a:r>
              <a:rPr sz="1450" b="0" i="0">
                <a:solidFill>
                  <a:srgbClr val="1A1A1A"/>
                </a:solidFill>
                <a:latin typeface="Abadi"/>
              </a:rPr>
              <a:t>▪  Flush versus extended dissection at Juntendo: jaundice-free native liver 70% vs 22%.</a:t>
            </a:r>
          </a:p>
          <a:p>
            <a:pPr algn="l">
              <a:spcAft>
                <a:spcPts val="500"/>
              </a:spcAft>
            </a:pPr>
            <a:r>
              <a:rPr sz="1450" b="0" i="0">
                <a:solidFill>
                  <a:srgbClr val="1A1A1A"/>
                </a:solidFill>
                <a:latin typeface="Abadi"/>
              </a:rPr>
              <a:t>▪  One retrocolic Roux limb of about 40 cm; valves, stomas and conduits did not reduce cholangitis.</a:t>
            </a:r>
          </a:p>
          <a:p>
            <a:pPr algn="l">
              <a:spcAft>
                <a:spcPts val="500"/>
              </a:spcAft>
            </a:pPr>
            <a:r>
              <a:rPr sz="1450" b="0" i="0">
                <a:solidFill>
                  <a:srgbClr val="1A1A1A"/>
                </a:solidFill>
                <a:latin typeface="Abadi"/>
              </a:rPr>
              <a:t>▪  Cholangitis affects 30–60%, 57% in the first year in a US cohort.</a:t>
            </a:r>
          </a:p>
          <a:p>
            <a:pPr algn="l">
              <a:spcAft>
                <a:spcPts val="500"/>
              </a:spcAft>
            </a:pPr>
            <a:r>
              <a:rPr sz="1450" b="0" i="0">
                <a:solidFill>
                  <a:srgbClr val="1A1A1A"/>
                </a:solidFill>
                <a:latin typeface="Abadi"/>
              </a:rPr>
              <a:t>▪  Hannover and Hong Kong abandoned laparoscopy after worse early native-liver survival.</a:t>
            </a:r>
          </a:p>
          <a:p>
            <a:pPr algn="l">
              <a:spcAft>
                <a:spcPts val="500"/>
              </a:spcAft>
            </a:pPr>
            <a:r>
              <a:rPr sz="1450" b="0" i="0">
                <a:solidFill>
                  <a:srgbClr val="1A1A1A"/>
                </a:solidFill>
                <a:latin typeface="Abadi"/>
              </a:rPr>
              <a:t>▪  Hanoi RCT: 10-year survival 44.3% laparoscopic vs 58.9% open (p = 0.09).</a:t>
            </a:r>
          </a:p>
          <a:p>
            <a:pPr algn="l">
              <a:spcAft>
                <a:spcPts val="500"/>
              </a:spcAft>
            </a:pPr>
            <a:r>
              <a:rPr sz="1450" b="0" i="0">
                <a:solidFill>
                  <a:srgbClr val="1A1A1A"/>
                </a:solidFill>
                <a:latin typeface="Abadi"/>
              </a:rPr>
              <a:t>▪  Meta-analysis: laparoscopy saves blood and feeds earlier, takes 33 min longer, no gain in the liver.</a:t>
            </a:r>
          </a:p>
          <a:p>
            <a:pPr algn="l">
              <a:spcAft>
                <a:spcPts val="500"/>
              </a:spcAft>
            </a:pPr>
            <a:r>
              <a:rPr sz="1450" b="0" i="0">
                <a:solidFill>
                  <a:srgbClr val="1A1A1A"/>
                </a:solidFill>
                <a:latin typeface="Abadi"/>
              </a:rPr>
              <a:t>▪  Volume: 61% vs 14% native liver at 5 years in UK centres above vs below 5 cases a year; Nordic threshold &gt; 3.</a:t>
            </a:r>
          </a:p>
          <a:p>
            <a:pPr algn="l">
              <a:spcAft>
                <a:spcPts val="500"/>
              </a:spcAft>
            </a:pPr>
            <a:r>
              <a:rPr sz="1450" b="0" i="0">
                <a:solidFill>
                  <a:srgbClr val="1A1A1A"/>
                </a:solidFill>
                <a:latin typeface="Abadi"/>
              </a:rPr>
              <a:t>▪  Bilirubin &lt; 2 mg/dL by 3 months (HR 0.08) is the operation's report card.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IX</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SYNTHESIS — SCENARIO TO DECISION</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FROM SCENARIO TO DECISION</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0">
                <a:solidFill>
                  <a:srgbClr val="555555"/>
                </a:solidFill>
                <a:latin typeface="Abadi"/>
              </a:rPr>
              <a:t>Applying the operative logic in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21</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0">
                <a:solidFill>
                  <a:srgbClr val="7F7F7F"/>
                </a:solidFill>
                <a:latin typeface="Abadi"/>
              </a:rPr>
              <a:t>Synthesis of the sources above</a:t>
            </a:r>
          </a:p>
        </p:txBody>
      </p:sp>
      <p:graphicFrame>
        <p:nvGraphicFramePr>
          <p:cNvPr id="12" name="Table 11"/>
          <p:cNvGraphicFramePr>
            <a:graphicFrameLocks noGrp="1"/>
          </p:cNvGraphicFramePr>
          <p:nvPr/>
        </p:nvGraphicFramePr>
        <p:xfrm>
          <a:off x="548640" y="1783080"/>
          <a:ext cx="11082528" cy="3803904"/>
        </p:xfrm>
        <a:graphic>
          <a:graphicData uri="http://schemas.openxmlformats.org/drawingml/2006/table">
            <a:tbl>
              <a:tblPr firstRow="0" bandRow="0">
                <a:tableStyleId>{5C22544A-7EE6-4342-B048-85BDC9FD1C3A}</a:tableStyleId>
              </a:tblPr>
              <a:tblGrid>
                <a:gridCol w="3474720"/>
                <a:gridCol w="3657600"/>
                <a:gridCol w="3950208"/>
              </a:tblGrid>
              <a:tr h="475488">
                <a:tc>
                  <a:txBody>
                    <a:bodyPr wrap="square"/>
                    <a:lstStyle/>
                    <a:p>
                      <a:r>
                        <a:rPr sz="1050" b="1">
                          <a:solidFill>
                            <a:srgbClr val="FFFFFF"/>
                          </a:solidFill>
                          <a:latin typeface="Abadi"/>
                        </a:rPr>
                        <a:t>Scenario</a:t>
                      </a:r>
                    </a:p>
                  </a:txBody>
                  <a:tcPr marL="73152" marR="73152" marT="27432" marB="27432" anchor="ctr">
                    <a:solidFill>
                      <a:srgbClr val="1B355E"/>
                    </a:solidFill>
                  </a:tcPr>
                </a:tc>
                <a:tc>
                  <a:txBody>
                    <a:bodyPr wrap="square"/>
                    <a:lstStyle/>
                    <a:p>
                      <a:r>
                        <a:rPr sz="1050" b="1">
                          <a:solidFill>
                            <a:srgbClr val="FFFFFF"/>
                          </a:solidFill>
                          <a:latin typeface="Abadi"/>
                        </a:rPr>
                        <a:t>Decision</a:t>
                      </a:r>
                    </a:p>
                  </a:txBody>
                  <a:tcPr marL="73152" marR="73152" marT="27432" marB="27432" anchor="ctr">
                    <a:solidFill>
                      <a:srgbClr val="1B355E"/>
                    </a:solidFill>
                  </a:tcPr>
                </a:tc>
                <a:tc>
                  <a:txBody>
                    <a:bodyPr wrap="square"/>
                    <a:lstStyle/>
                    <a:p>
                      <a:r>
                        <a:rPr sz="1050" b="1">
                          <a:solidFill>
                            <a:srgbClr val="FFFFFF"/>
                          </a:solidFill>
                          <a:latin typeface="Abadi"/>
                        </a:rPr>
                        <a:t>Why</a:t>
                      </a:r>
                    </a:p>
                  </a:txBody>
                  <a:tcPr marL="73152" marR="73152" marT="27432" marB="27432" anchor="ctr">
                    <a:solidFill>
                      <a:srgbClr val="1B355E"/>
                    </a:solidFill>
                  </a:tcPr>
                </a:tc>
              </a:tr>
              <a:tr h="475488">
                <a:tc>
                  <a:txBody>
                    <a:bodyPr wrap="square"/>
                    <a:lstStyle/>
                    <a:p>
                      <a:r>
                        <a:rPr sz="1000" b="1">
                          <a:solidFill>
                            <a:srgbClr val="1A1A1A"/>
                          </a:solidFill>
                          <a:latin typeface="Abadi"/>
                        </a:rPr>
                        <a:t>6-week-old, type III, local surgeon does 1 Kasai a year</a:t>
                      </a:r>
                    </a:p>
                  </a:txBody>
                  <a:tcPr marL="73152" marR="73152" marT="27432" marB="27432" anchor="ctr">
                    <a:solidFill>
                      <a:srgbClr val="FFFFFF"/>
                    </a:solidFill>
                  </a:tcPr>
                </a:tc>
                <a:tc>
                  <a:txBody>
                    <a:bodyPr wrap="square"/>
                    <a:lstStyle/>
                    <a:p>
                      <a:r>
                        <a:rPr sz="1000" b="0">
                          <a:solidFill>
                            <a:srgbClr val="1A1A1A"/>
                          </a:solidFill>
                          <a:latin typeface="Abadi"/>
                        </a:rPr>
                        <a:t>Transfer to a high-volume centre within days</a:t>
                      </a:r>
                    </a:p>
                  </a:txBody>
                  <a:tcPr marL="73152" marR="73152" marT="27432" marB="27432" anchor="ctr">
                    <a:solidFill>
                      <a:srgbClr val="FFFFFF"/>
                    </a:solidFill>
                  </a:tcPr>
                </a:tc>
                <a:tc>
                  <a:txBody>
                    <a:bodyPr wrap="square"/>
                    <a:lstStyle/>
                    <a:p>
                      <a:r>
                        <a:rPr sz="1000" b="0">
                          <a:solidFill>
                            <a:srgbClr val="1A1A1A"/>
                          </a:solidFill>
                          <a:latin typeface="Abadi"/>
                        </a:rPr>
                        <a:t>Caseload predicts native liver; days, not weeks, of delay</a:t>
                      </a:r>
                    </a:p>
                  </a:txBody>
                  <a:tcPr marL="73152" marR="73152" marT="27432" marB="27432" anchor="ctr">
                    <a:solidFill>
                      <a:srgbClr val="FFFFFF"/>
                    </a:solidFill>
                  </a:tcPr>
                </a:tc>
              </a:tr>
              <a:tr h="475488">
                <a:tc>
                  <a:txBody>
                    <a:bodyPr wrap="square"/>
                    <a:lstStyle/>
                    <a:p>
                      <a:r>
                        <a:rPr sz="1000" b="1">
                          <a:solidFill>
                            <a:srgbClr val="1A1A1A"/>
                          </a:solidFill>
                          <a:latin typeface="Abadi"/>
                        </a:rPr>
                        <a:t>Parents ask for a keyhole operation</a:t>
                      </a:r>
                    </a:p>
                  </a:txBody>
                  <a:tcPr marL="73152" marR="73152" marT="27432" marB="27432" anchor="ctr">
                    <a:solidFill>
                      <a:srgbClr val="F2F4F7"/>
                    </a:solidFill>
                  </a:tcPr>
                </a:tc>
                <a:tc>
                  <a:txBody>
                    <a:bodyPr wrap="square"/>
                    <a:lstStyle/>
                    <a:p>
                      <a:r>
                        <a:rPr sz="1000" b="0">
                          <a:solidFill>
                            <a:srgbClr val="1A1A1A"/>
                          </a:solidFill>
                          <a:latin typeface="Abadi"/>
                        </a:rPr>
                        <a:t>Open unless the centre audits its laparoscopic results</a:t>
                      </a:r>
                    </a:p>
                  </a:txBody>
                  <a:tcPr marL="73152" marR="73152" marT="27432" marB="27432" anchor="ctr">
                    <a:solidFill>
                      <a:srgbClr val="F2F4F7"/>
                    </a:solidFill>
                  </a:tcPr>
                </a:tc>
                <a:tc>
                  <a:txBody>
                    <a:bodyPr wrap="square"/>
                    <a:lstStyle/>
                    <a:p>
                      <a:r>
                        <a:rPr sz="1000" b="0">
                          <a:solidFill>
                            <a:srgbClr val="1A1A1A"/>
                          </a:solidFill>
                          <a:latin typeface="Abadi"/>
                        </a:rPr>
                        <a:t>No native-liver benefit; early series worse</a:t>
                      </a:r>
                    </a:p>
                  </a:txBody>
                  <a:tcPr marL="73152" marR="73152" marT="27432" marB="27432" anchor="ctr">
                    <a:solidFill>
                      <a:srgbClr val="F2F4F7"/>
                    </a:solidFill>
                  </a:tcPr>
                </a:tc>
              </a:tr>
              <a:tr h="475488">
                <a:tc>
                  <a:txBody>
                    <a:bodyPr wrap="square"/>
                    <a:lstStyle/>
                    <a:p>
                      <a:r>
                        <a:rPr sz="1000" b="1">
                          <a:solidFill>
                            <a:srgbClr val="1A1A1A"/>
                          </a:solidFill>
                          <a:latin typeface="Abadi"/>
                        </a:rPr>
                        <a:t>Cholangiogram shows patent distal duct</a:t>
                      </a:r>
                    </a:p>
                  </a:txBody>
                  <a:tcPr marL="73152" marR="73152" marT="27432" marB="27432" anchor="ctr">
                    <a:solidFill>
                      <a:srgbClr val="FFFFFF"/>
                    </a:solidFill>
                  </a:tcPr>
                </a:tc>
                <a:tc>
                  <a:txBody>
                    <a:bodyPr wrap="square"/>
                    <a:lstStyle/>
                    <a:p>
                      <a:r>
                        <a:rPr sz="1000" b="0">
                          <a:solidFill>
                            <a:srgbClr val="1A1A1A"/>
                          </a:solidFill>
                          <a:latin typeface="Abadi"/>
                        </a:rPr>
                        <a:t>Consider gallbladder Kasai</a:t>
                      </a:r>
                    </a:p>
                  </a:txBody>
                  <a:tcPr marL="73152" marR="73152" marT="27432" marB="27432" anchor="ctr">
                    <a:solidFill>
                      <a:srgbClr val="FFFFFF"/>
                    </a:solidFill>
                  </a:tcPr>
                </a:tc>
                <a:tc>
                  <a:txBody>
                    <a:bodyPr wrap="square"/>
                    <a:lstStyle/>
                    <a:p>
                      <a:r>
                        <a:rPr sz="1000" b="0">
                          <a:solidFill>
                            <a:srgbClr val="1A1A1A"/>
                          </a:solidFill>
                          <a:latin typeface="Abadi"/>
                        </a:rPr>
                        <a:t>46% jaundice-free native liver at 5 years in one series</a:t>
                      </a:r>
                    </a:p>
                  </a:txBody>
                  <a:tcPr marL="73152" marR="73152" marT="27432" marB="27432" anchor="ctr">
                    <a:solidFill>
                      <a:srgbClr val="FFFFFF"/>
                    </a:solidFill>
                  </a:tcPr>
                </a:tc>
              </a:tr>
              <a:tr h="475488">
                <a:tc>
                  <a:txBody>
                    <a:bodyPr wrap="square"/>
                    <a:lstStyle/>
                    <a:p>
                      <a:r>
                        <a:rPr sz="1000" b="1">
                          <a:solidFill>
                            <a:srgbClr val="1A1A1A"/>
                          </a:solidFill>
                          <a:latin typeface="Abadi"/>
                        </a:rPr>
                        <a:t>Splenic malformation, preduodenal portal vein</a:t>
                      </a:r>
                    </a:p>
                  </a:txBody>
                  <a:tcPr marL="73152" marR="73152" marT="27432" marB="27432" anchor="ctr">
                    <a:solidFill>
                      <a:srgbClr val="F2F4F7"/>
                    </a:solidFill>
                  </a:tcPr>
                </a:tc>
                <a:tc>
                  <a:txBody>
                    <a:bodyPr wrap="square"/>
                    <a:lstStyle/>
                    <a:p>
                      <a:r>
                        <a:rPr sz="1000" b="0">
                          <a:solidFill>
                            <a:srgbClr val="1A1A1A"/>
                          </a:solidFill>
                          <a:latin typeface="Abadi"/>
                        </a:rPr>
                        <a:t>Kasai, record anatomy, early transplant planning</a:t>
                      </a:r>
                    </a:p>
                  </a:txBody>
                  <a:tcPr marL="73152" marR="73152" marT="27432" marB="27432" anchor="ctr">
                    <a:solidFill>
                      <a:srgbClr val="F2F4F7"/>
                    </a:solidFill>
                  </a:tcPr>
                </a:tc>
                <a:tc>
                  <a:txBody>
                    <a:bodyPr wrap="square"/>
                    <a:lstStyle/>
                    <a:p>
                      <a:r>
                        <a:rPr sz="1000" b="0">
                          <a:solidFill>
                            <a:srgbClr val="1A1A1A"/>
                          </a:solidFill>
                          <a:latin typeface="Abadi"/>
                        </a:rPr>
                        <a:t>HR 1.92; vascular anomalies matter at transplant</a:t>
                      </a:r>
                    </a:p>
                  </a:txBody>
                  <a:tcPr marL="73152" marR="73152" marT="27432" marB="27432" anchor="ctr">
                    <a:solidFill>
                      <a:srgbClr val="F2F4F7"/>
                    </a:solidFill>
                  </a:tcPr>
                </a:tc>
              </a:tr>
              <a:tr h="475488">
                <a:tc>
                  <a:txBody>
                    <a:bodyPr wrap="square"/>
                    <a:lstStyle/>
                    <a:p>
                      <a:r>
                        <a:rPr sz="1000" b="1">
                          <a:solidFill>
                            <a:srgbClr val="1A1A1A"/>
                          </a:solidFill>
                          <a:latin typeface="Abadi"/>
                        </a:rPr>
                        <a:t>Bilirubin 4 mg/dL at 3 months</a:t>
                      </a:r>
                    </a:p>
                  </a:txBody>
                  <a:tcPr marL="73152" marR="73152" marT="27432" marB="27432" anchor="ctr">
                    <a:solidFill>
                      <a:srgbClr val="FFFFFF"/>
                    </a:solidFill>
                  </a:tcPr>
                </a:tc>
                <a:tc>
                  <a:txBody>
                    <a:bodyPr wrap="square"/>
                    <a:lstStyle/>
                    <a:p>
                      <a:r>
                        <a:rPr sz="1000" b="0">
                          <a:solidFill>
                            <a:srgbClr val="1A1A1A"/>
                          </a:solidFill>
                          <a:latin typeface="Abadi"/>
                        </a:rPr>
                        <a:t>Refer for transplant assessment now</a:t>
                      </a:r>
                    </a:p>
                  </a:txBody>
                  <a:tcPr marL="73152" marR="73152" marT="27432" marB="27432" anchor="ctr">
                    <a:solidFill>
                      <a:srgbClr val="FFFFFF"/>
                    </a:solidFill>
                  </a:tcPr>
                </a:tc>
                <a:tc>
                  <a:txBody>
                    <a:bodyPr wrap="square"/>
                    <a:lstStyle/>
                    <a:p>
                      <a:r>
                        <a:rPr sz="1000" b="0">
                          <a:solidFill>
                            <a:srgbClr val="1A1A1A"/>
                          </a:solidFill>
                          <a:latin typeface="Abadi"/>
                        </a:rPr>
                        <a:t>Failure to clear predicts transplant within 2 years</a:t>
                      </a:r>
                    </a:p>
                  </a:txBody>
                  <a:tcPr marL="73152" marR="73152" marT="27432" marB="27432" anchor="ctr">
                    <a:solidFill>
                      <a:srgbClr val="FFFFFF"/>
                    </a:solidFill>
                  </a:tcPr>
                </a:tc>
              </a:tr>
              <a:tr h="475488">
                <a:tc>
                  <a:txBody>
                    <a:bodyPr wrap="square"/>
                    <a:lstStyle/>
                    <a:p>
                      <a:r>
                        <a:rPr sz="1000" b="1">
                          <a:solidFill>
                            <a:srgbClr val="1A1A1A"/>
                          </a:solidFill>
                          <a:latin typeface="Abadi"/>
                        </a:rPr>
                        <a:t>Cleared, then sudden jaundice with fever</a:t>
                      </a:r>
                    </a:p>
                  </a:txBody>
                  <a:tcPr marL="73152" marR="73152" marT="27432" marB="27432" anchor="ctr">
                    <a:solidFill>
                      <a:srgbClr val="F2F4F7"/>
                    </a:solidFill>
                  </a:tcPr>
                </a:tc>
                <a:tc>
                  <a:txBody>
                    <a:bodyPr wrap="square"/>
                    <a:lstStyle/>
                    <a:p>
                      <a:r>
                        <a:rPr sz="1000" b="0">
                          <a:solidFill>
                            <a:srgbClr val="1A1A1A"/>
                          </a:solidFill>
                          <a:latin typeface="Abadi"/>
                        </a:rPr>
                        <a:t>Treat cholangitis first; redo only rarely</a:t>
                      </a:r>
                    </a:p>
                  </a:txBody>
                  <a:tcPr marL="73152" marR="73152" marT="27432" marB="27432" anchor="ctr">
                    <a:solidFill>
                      <a:srgbClr val="F2F4F7"/>
                    </a:solidFill>
                  </a:tcPr>
                </a:tc>
                <a:tc>
                  <a:txBody>
                    <a:bodyPr wrap="square"/>
                    <a:lstStyle/>
                    <a:p>
                      <a:r>
                        <a:rPr sz="1000" b="0">
                          <a:solidFill>
                            <a:srgbClr val="1A1A1A"/>
                          </a:solidFill>
                          <a:latin typeface="Abadi"/>
                        </a:rPr>
                        <a:t>Most recurrences are infection, not anastomotic</a:t>
                      </a:r>
                    </a:p>
                  </a:txBody>
                  <a:tcPr marL="73152" marR="73152" marT="27432" marB="27432" anchor="ctr">
                    <a:solidFill>
                      <a:srgbClr val="F2F4F7"/>
                    </a:solidFill>
                  </a:tcPr>
                </a:tc>
              </a:tr>
              <a:tr h="475488">
                <a:tc>
                  <a:txBody>
                    <a:bodyPr wrap="square"/>
                    <a:lstStyle/>
                    <a:p>
                      <a:r>
                        <a:rPr sz="1000" b="1">
                          <a:solidFill>
                            <a:srgbClr val="1A1A1A"/>
                          </a:solidFill>
                          <a:latin typeface="Abadi"/>
                        </a:rPr>
                        <a:t>5-month-old, ascites, INR uncorrected</a:t>
                      </a:r>
                    </a:p>
                  </a:txBody>
                  <a:tcPr marL="73152" marR="73152" marT="27432" marB="27432" anchor="ctr">
                    <a:solidFill>
                      <a:srgbClr val="FFFFFF"/>
                    </a:solidFill>
                  </a:tcPr>
                </a:tc>
                <a:tc>
                  <a:txBody>
                    <a:bodyPr wrap="square"/>
                    <a:lstStyle/>
                    <a:p>
                      <a:r>
                        <a:rPr sz="1000" b="0">
                          <a:solidFill>
                            <a:srgbClr val="1A1A1A"/>
                          </a:solidFill>
                          <a:latin typeface="Abadi"/>
                        </a:rPr>
                        <a:t>Transplant assessment first</a:t>
                      </a:r>
                    </a:p>
                  </a:txBody>
                  <a:tcPr marL="73152" marR="73152" marT="27432" marB="27432" anchor="ctr">
                    <a:solidFill>
                      <a:srgbClr val="FFFFFF"/>
                    </a:solidFill>
                  </a:tcPr>
                </a:tc>
                <a:tc>
                  <a:txBody>
                    <a:bodyPr wrap="square"/>
                    <a:lstStyle/>
                    <a:p>
                      <a:r>
                        <a:rPr sz="1000" b="0">
                          <a:solidFill>
                            <a:srgbClr val="1A1A1A"/>
                          </a:solidFill>
                          <a:latin typeface="Abadi"/>
                        </a:rPr>
                        <a:t>Decompensated liver; Kasai only delays the graft</a:t>
                      </a:r>
                    </a:p>
                  </a:txBody>
                  <a:tcPr marL="73152" marR="73152" marT="27432" marB="27432"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0" rIns="0" tIns="0" bIns="0" anchor="b">
            <a:spAutoFit/>
          </a:bodyPr>
          <a:lstStyle/>
          <a:p>
            <a:pPr algn="ctr"/>
            <a:r>
              <a:rPr sz="4000" b="1" i="0">
                <a:solidFill>
                  <a:srgbClr val="FFFFFF"/>
                </a:solidFill>
                <a:latin typeface="Abadi"/>
              </a:rPr>
              <a:t>Biliary Atresia V: The Kasai Operation — Technique, Laparoscopic versus Open, and Centre Volume</a:t>
            </a:r>
          </a:p>
        </p:txBody>
      </p:sp>
      <p:sp>
        <p:nvSpPr>
          <p:cNvPr id="4" name="Rectangle 3"/>
          <p:cNvSpPr/>
          <p:nvPr/>
        </p:nvSpPr>
        <p:spPr>
          <a:xfrm>
            <a:off x="5184648" y="3630168"/>
            <a:ext cx="1828800"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0" rIns="0" tIns="0" bIns="0"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