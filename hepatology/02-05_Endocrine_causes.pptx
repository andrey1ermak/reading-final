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920240"/>
            <a:ext cx="11091672" cy="1417320"/>
          </a:xfrm>
          <a:prstGeom prst="rect">
            <a:avLst/>
          </a:prstGeom>
          <a:noFill/>
        </p:spPr>
        <p:txBody>
          <a:bodyPr wrap="square" lIns="36576" rIns="36576" tIns="18288" bIns="18288" anchor="b">
            <a:spAutoFit/>
          </a:bodyPr>
          <a:lstStyle/>
          <a:p>
            <a:pPr algn="ctr"/>
            <a:r>
              <a:rPr sz="4000" b="1" i="0">
                <a:solidFill>
                  <a:srgbClr val="FFFFFF"/>
                </a:solidFill>
                <a:latin typeface="Abadi"/>
              </a:rPr>
              <a:t>Endocrine Cholestasis: Septo-Optic Dysplasia, Hypopituitarism, Hypothyroidism and Cortisol Deficiency</a:t>
            </a:r>
          </a:p>
        </p:txBody>
      </p:sp>
      <p:sp>
        <p:nvSpPr>
          <p:cNvPr id="4" name="Rectangle 3"/>
          <p:cNvSpPr/>
          <p:nvPr/>
        </p:nvSpPr>
        <p:spPr>
          <a:xfrm>
            <a:off x="5184648" y="361188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0"/>
            <a:ext cx="11091672" cy="301752"/>
          </a:xfrm>
          <a:prstGeom prst="rect">
            <a:avLst/>
          </a:prstGeom>
          <a:noFill/>
        </p:spPr>
        <p:txBody>
          <a:bodyPr wrap="square" lIns="36576" rIns="36576" tIns="18288" bIns="18288"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91672" cy="685800"/>
          </a:xfrm>
          <a:prstGeom prst="rect">
            <a:avLst/>
          </a:prstGeom>
          <a:noFill/>
        </p:spPr>
        <p:txBody>
          <a:bodyPr wrap="square" lIns="36576" rIns="36576" tIns="18288" bIns="18288" anchor="t">
            <a:spAutoFit/>
          </a:bodyPr>
          <a:lstStyle/>
          <a:p>
            <a:pPr algn="ctr"/>
            <a:r>
              <a:rPr sz="1100" b="0" i="0">
                <a:solidFill>
                  <a:srgbClr val="CFD8E6"/>
                </a:solidFill>
                <a:latin typeface="Abadi"/>
              </a:rPr>
              <a:t>Fawaz 2017 (NASPGHAN/ESPGHAN) · Gottesman 2015 · Braslavsky 2011 · Grammatikopoulos 2018 · Mauvais 2016 · Karnsakul 2007 · van Tijn 2005 · van Trotsenburg 2021 (ESPE/ENDO-ERN) · Bulan 2023</a:t>
            </a:r>
          </a:p>
        </p:txBody>
      </p:sp>
      <p:sp>
        <p:nvSpPr>
          <p:cNvPr id="7" name="TextBox 6"/>
          <p:cNvSpPr txBox="1"/>
          <p:nvPr/>
        </p:nvSpPr>
        <p:spPr>
          <a:xfrm>
            <a:off x="548640" y="5074920"/>
            <a:ext cx="11091672" cy="365760"/>
          </a:xfrm>
          <a:prstGeom prst="rect">
            <a:avLst/>
          </a:prstGeom>
          <a:noFill/>
        </p:spPr>
        <p:txBody>
          <a:bodyPr wrap="square" lIns="36576" rIns="36576" tIns="18288" bIns="18288" anchor="t">
            <a:spAutoFit/>
          </a:bodyPr>
          <a:lstStyle/>
          <a:p>
            <a:pPr algn="ctr"/>
            <a:r>
              <a:rPr sz="1100" b="0" i="1">
                <a:solidFill>
                  <a:srgbClr val="CFD8E6"/>
                </a:solidFill>
                <a:latin typeface="Abadi"/>
              </a:rPr>
              <a:t>Cholestasis as the first sign · cortisol and the bile pump · the newborn-screen blind spot · test order · treatment order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THE QUESTION OF THE DAY</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THE LIVER AS THE FIRST ENDOCRINE SIGN</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Fewer than one cholestatic infant in fifty has an endocrine cause, yet it is the cause that can kill quietly and resolves fully with tablets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2</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Gottesman LE, et al. BMC Pediatr 2015;15:192 · Fawaz R, et al. JPGN 2017;64:154–68 · van Trotsenburg P, et al. Thyroid 2021;31:387–419</a:t>
            </a:r>
          </a:p>
        </p:txBody>
      </p:sp>
      <p:sp>
        <p:nvSpPr>
          <p:cNvPr id="12" name="Rectangle 11"/>
          <p:cNvSpPr/>
          <p:nvPr/>
        </p:nvSpPr>
        <p:spPr>
          <a:xfrm>
            <a:off x="548640" y="1783080"/>
            <a:ext cx="2587752"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Pituitary / SOD</a:t>
            </a:r>
          </a:p>
        </p:txBody>
      </p:sp>
      <p:sp>
        <p:nvSpPr>
          <p:cNvPr id="15" name="TextBox 14"/>
          <p:cNvSpPr txBox="1"/>
          <p:nvPr/>
        </p:nvSpPr>
        <p:spPr>
          <a:xfrm>
            <a:off x="731520" y="2496312"/>
            <a:ext cx="2221992" cy="1508760"/>
          </a:xfrm>
          <a:prstGeom prst="rect">
            <a:avLst/>
          </a:prstGeom>
          <a:noFill/>
        </p:spPr>
        <p:txBody>
          <a:bodyPr wrap="square" lIns="36576" rIns="36576" tIns="18288" bIns="18288" anchor="t">
            <a:spAutoFit/>
          </a:bodyPr>
          <a:lstStyle/>
          <a:p>
            <a:pPr algn="l"/>
            <a:r>
              <a:rPr sz="1250" b="0" i="0">
                <a:solidFill>
                  <a:srgbClr val="1A1A1A"/>
                </a:solidFill>
                <a:latin typeface="Abadi"/>
              </a:rPr>
              <a:t>▪  Septo-optic dysplasia, pituitary stalk interruption</a:t>
            </a:r>
          </a:p>
          <a:p>
            <a:pPr algn="l">
              <a:spcBef>
                <a:spcPts val="500"/>
              </a:spcBef>
            </a:pPr>
            <a:r>
              <a:rPr sz="1250" b="0" i="0">
                <a:solidFill>
                  <a:srgbClr val="1A1A1A"/>
                </a:solidFill>
                <a:latin typeface="Abadi"/>
              </a:rPr>
              <a:t>▪  Cortisol, TSH and GH missing together</a:t>
            </a:r>
          </a:p>
          <a:p>
            <a:pPr algn="l">
              <a:spcBef>
                <a:spcPts val="500"/>
              </a:spcBef>
            </a:pPr>
            <a:r>
              <a:rPr sz="1250" b="0" i="0">
                <a:solidFill>
                  <a:srgbClr val="1A1A1A"/>
                </a:solidFill>
                <a:latin typeface="Abadi"/>
              </a:rPr>
              <a:t>▪  Hypoglycaemia, micropenis, roving eyes</a:t>
            </a:r>
          </a:p>
        </p:txBody>
      </p:sp>
      <p:sp>
        <p:nvSpPr>
          <p:cNvPr id="16" name="Rectangle 15"/>
          <p:cNvSpPr/>
          <p:nvPr/>
        </p:nvSpPr>
        <p:spPr>
          <a:xfrm>
            <a:off x="3383280" y="1783080"/>
            <a:ext cx="2587752"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Isolated cortisol</a:t>
            </a:r>
          </a:p>
        </p:txBody>
      </p:sp>
      <p:sp>
        <p:nvSpPr>
          <p:cNvPr id="19" name="TextBox 18"/>
          <p:cNvSpPr txBox="1"/>
          <p:nvPr/>
        </p:nvSpPr>
        <p:spPr>
          <a:xfrm>
            <a:off x="3566160" y="2496312"/>
            <a:ext cx="2221992" cy="1508760"/>
          </a:xfrm>
          <a:prstGeom prst="rect">
            <a:avLst/>
          </a:prstGeom>
          <a:noFill/>
        </p:spPr>
        <p:txBody>
          <a:bodyPr wrap="square" lIns="36576" rIns="36576" tIns="18288" bIns="18288" anchor="t">
            <a:spAutoFit/>
          </a:bodyPr>
          <a:lstStyle/>
          <a:p>
            <a:pPr algn="l"/>
            <a:r>
              <a:rPr sz="1250" b="0" i="0">
                <a:solidFill>
                  <a:srgbClr val="1A1A1A"/>
                </a:solidFill>
                <a:latin typeface="Abadi"/>
              </a:rPr>
              <a:t>▪  Central ACTH deficiency alone</a:t>
            </a:r>
          </a:p>
          <a:p>
            <a:pPr algn="l">
              <a:spcBef>
                <a:spcPts val="500"/>
              </a:spcBef>
            </a:pPr>
            <a:r>
              <a:rPr sz="1250" b="0" i="0">
                <a:solidFill>
                  <a:srgbClr val="1A1A1A"/>
                </a:solidFill>
                <a:latin typeface="Abadi"/>
              </a:rPr>
              <a:t>▪  Cholestasis resolves fastest on hydrocortisone</a:t>
            </a:r>
          </a:p>
          <a:p>
            <a:pPr algn="l">
              <a:spcBef>
                <a:spcPts val="500"/>
              </a:spcBef>
            </a:pPr>
            <a:r>
              <a:rPr sz="1250" b="0" i="0">
                <a:solidFill>
                  <a:srgbClr val="1A1A1A"/>
                </a:solidFill>
                <a:latin typeface="Abadi"/>
              </a:rPr>
              <a:t>▪  Normal thyroid tests</a:t>
            </a:r>
          </a:p>
        </p:txBody>
      </p:sp>
      <p:sp>
        <p:nvSpPr>
          <p:cNvPr id="20" name="Rectangle 19"/>
          <p:cNvSpPr/>
          <p:nvPr/>
        </p:nvSpPr>
        <p:spPr>
          <a:xfrm>
            <a:off x="6217920" y="1783080"/>
            <a:ext cx="2587752"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Central hypothyroid</a:t>
            </a:r>
          </a:p>
        </p:txBody>
      </p:sp>
      <p:sp>
        <p:nvSpPr>
          <p:cNvPr id="23" name="TextBox 22"/>
          <p:cNvSpPr txBox="1"/>
          <p:nvPr/>
        </p:nvSpPr>
        <p:spPr>
          <a:xfrm>
            <a:off x="6400800" y="2496312"/>
            <a:ext cx="2221992" cy="1508760"/>
          </a:xfrm>
          <a:prstGeom prst="rect">
            <a:avLst/>
          </a:prstGeom>
          <a:noFill/>
        </p:spPr>
        <p:txBody>
          <a:bodyPr wrap="square" lIns="36576" rIns="36576" tIns="18288" bIns="18288" anchor="t">
            <a:spAutoFit/>
          </a:bodyPr>
          <a:lstStyle/>
          <a:p>
            <a:pPr algn="l"/>
            <a:r>
              <a:rPr sz="1250" b="0" i="0">
                <a:solidFill>
                  <a:srgbClr val="1A1A1A"/>
                </a:solidFill>
                <a:latin typeface="Abadi"/>
              </a:rPr>
              <a:t>▪  Low free T4, normal or mildly raised TSH</a:t>
            </a:r>
          </a:p>
          <a:p>
            <a:pPr algn="l">
              <a:spcBef>
                <a:spcPts val="500"/>
              </a:spcBef>
            </a:pPr>
            <a:r>
              <a:rPr sz="1250" b="0" i="0">
                <a:solidFill>
                  <a:srgbClr val="1A1A1A"/>
                </a:solidFill>
                <a:latin typeface="Abadi"/>
              </a:rPr>
              <a:t>▪  Missed by TSH-based newborn screens</a:t>
            </a:r>
          </a:p>
          <a:p>
            <a:pPr algn="l">
              <a:spcBef>
                <a:spcPts val="500"/>
              </a:spcBef>
            </a:pPr>
            <a:r>
              <a:rPr sz="1250" b="0" i="0">
                <a:solidFill>
                  <a:srgbClr val="1A1A1A"/>
                </a:solidFill>
                <a:latin typeface="Abadi"/>
              </a:rPr>
              <a:t>▪  Usually part of multiple deficiency</a:t>
            </a:r>
          </a:p>
        </p:txBody>
      </p:sp>
      <p:sp>
        <p:nvSpPr>
          <p:cNvPr id="24" name="Rectangle 23"/>
          <p:cNvSpPr/>
          <p:nvPr/>
        </p:nvSpPr>
        <p:spPr>
          <a:xfrm>
            <a:off x="9052560" y="1783080"/>
            <a:ext cx="2587752"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Primary hypothyroid</a:t>
            </a:r>
          </a:p>
        </p:txBody>
      </p:sp>
      <p:sp>
        <p:nvSpPr>
          <p:cNvPr id="27" name="TextBox 26"/>
          <p:cNvSpPr txBox="1"/>
          <p:nvPr/>
        </p:nvSpPr>
        <p:spPr>
          <a:xfrm>
            <a:off x="9235440" y="2496312"/>
            <a:ext cx="2221992" cy="1508760"/>
          </a:xfrm>
          <a:prstGeom prst="rect">
            <a:avLst/>
          </a:prstGeom>
          <a:noFill/>
        </p:spPr>
        <p:txBody>
          <a:bodyPr wrap="square" lIns="36576" rIns="36576" tIns="18288" bIns="18288" anchor="t">
            <a:spAutoFit/>
          </a:bodyPr>
          <a:lstStyle/>
          <a:p>
            <a:pPr algn="l"/>
            <a:r>
              <a:rPr sz="1250" b="0" i="0">
                <a:solidFill>
                  <a:srgbClr val="1A1A1A"/>
                </a:solidFill>
                <a:latin typeface="Abadi"/>
              </a:rPr>
              <a:t>▪  Mostly prolonged unconjugated jaundice</a:t>
            </a:r>
          </a:p>
          <a:p>
            <a:pPr algn="l">
              <a:spcBef>
                <a:spcPts val="500"/>
              </a:spcBef>
            </a:pPr>
            <a:r>
              <a:rPr sz="1250" b="0" i="0">
                <a:solidFill>
                  <a:srgbClr val="1A1A1A"/>
                </a:solidFill>
                <a:latin typeface="Abadi"/>
              </a:rPr>
              <a:t>▪  Conjugated cholestasis is rare</a:t>
            </a:r>
          </a:p>
          <a:p>
            <a:pPr algn="l">
              <a:spcBef>
                <a:spcPts val="500"/>
              </a:spcBef>
            </a:pPr>
            <a:r>
              <a:rPr sz="1250" b="0" i="0">
                <a:solidFill>
                  <a:srgbClr val="1A1A1A"/>
                </a:solidFill>
                <a:latin typeface="Abadi"/>
              </a:rPr>
              <a:t>▪  Newborn screen usually catches it</a:t>
            </a:r>
          </a:p>
        </p:txBody>
      </p:sp>
      <p:sp>
        <p:nvSpPr>
          <p:cNvPr id="28" name="TextBox 27"/>
          <p:cNvSpPr txBox="1"/>
          <p:nvPr/>
        </p:nvSpPr>
        <p:spPr>
          <a:xfrm>
            <a:off x="548640" y="4343400"/>
            <a:ext cx="11091672" cy="1371600"/>
          </a:xfrm>
          <a:prstGeom prst="rect">
            <a:avLst/>
          </a:prstGeom>
          <a:noFill/>
        </p:spPr>
        <p:txBody>
          <a:bodyPr wrap="square" lIns="36576" rIns="36576" tIns="18288" bIns="18288" anchor="t">
            <a:spAutoFit/>
          </a:bodyPr>
          <a:lstStyle/>
          <a:p>
            <a:pPr algn="l"/>
            <a:r>
              <a:rPr sz="1250" b="1" i="0">
                <a:solidFill>
                  <a:srgbClr val="1B355E"/>
                </a:solidFill>
                <a:latin typeface="Abadi"/>
              </a:rPr>
              <a:t>The main idea.  </a:t>
            </a:r>
            <a:r>
              <a:rPr sz="1250" b="0" i="0">
                <a:solidFill>
                  <a:srgbClr val="1A1A1A"/>
                </a:solidFill>
                <a:latin typeface="Abadi"/>
              </a:rPr>
              <a:t>Cortisol deficiency is the engine of endocrine cholestasis: it lowers bile-salt transporter expression, gives a variable GGT that mimics PFIC or atresia, and resolves within weeks to months of replacement. The risk to life is adrenal, not hepatic.</a:t>
            </a:r>
          </a:p>
          <a:p>
            <a:pPr algn="l">
              <a:spcBef>
                <a:spcPts val="800"/>
              </a:spcBef>
            </a:pPr>
            <a:r>
              <a:rPr sz="1250" b="1" i="0">
                <a:solidFill>
                  <a:srgbClr val="1B355E"/>
                </a:solidFill>
                <a:latin typeface="Abadi"/>
              </a:rPr>
              <a:t>The clinical task.  </a:t>
            </a:r>
            <a:r>
              <a:rPr sz="1250" b="0" i="0">
                <a:solidFill>
                  <a:srgbClr val="1A1A1A"/>
                </a:solidFill>
                <a:latin typeface="Abadi"/>
              </a:rPr>
              <a:t>Look for the hypoglycaemia, the genitals and the eyes; measure free T4 with TSH and a cortisol early; give hydrocortisone before levothyroxine.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MECHANISM</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HORMONES KEEP THE BILE PUMPS RUNNING</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Glucocorticoids drive transporter transcription; thyroid hormone drives bile-salt-independent flow; GH/STAT5 plays a supporting role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3</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Warskulat U, et al. Biol Chem 1999;380:1273–9 · Rose AJ, et al. Cell Metab 2011;14:123–30 · Layden TJ, Boyer JL. J Clin Invest 1976;57:1009–18 · Grammatikopoulos T, et al. J Pediatr 2018;200:181–7</a:t>
            </a:r>
          </a:p>
        </p:txBody>
      </p:sp>
      <p:sp>
        <p:nvSpPr>
          <p:cNvPr id="12" name="Rectangle 11"/>
          <p:cNvSpPr/>
          <p:nvPr/>
        </p:nvSpPr>
        <p:spPr>
          <a:xfrm>
            <a:off x="548640" y="1783080"/>
            <a:ext cx="2035454"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1 · Cortisol absent</a:t>
            </a:r>
          </a:p>
        </p:txBody>
      </p:sp>
      <p:sp>
        <p:nvSpPr>
          <p:cNvPr id="14" name="Rectangle 13"/>
          <p:cNvSpPr/>
          <p:nvPr/>
        </p:nvSpPr>
        <p:spPr>
          <a:xfrm>
            <a:off x="548640" y="2112264"/>
            <a:ext cx="2035454" cy="1728216"/>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203704"/>
            <a:ext cx="1815998" cy="1600200"/>
          </a:xfrm>
          <a:prstGeom prst="rect">
            <a:avLst/>
          </a:prstGeom>
          <a:noFill/>
        </p:spPr>
        <p:txBody>
          <a:bodyPr wrap="square" lIns="36576" rIns="36576" tIns="18288" bIns="18288" anchor="t">
            <a:spAutoFit/>
          </a:bodyPr>
          <a:lstStyle/>
          <a:p>
            <a:pPr algn="l"/>
            <a:r>
              <a:rPr sz="1150" b="0" i="0">
                <a:solidFill>
                  <a:srgbClr val="1A1A1A"/>
                </a:solidFill>
                <a:latin typeface="Abadi"/>
              </a:rPr>
              <a:t>No ACTH, so no glucocorticoid signal through the hepatocyte glucocorticoid receptor</a:t>
            </a:r>
          </a:p>
        </p:txBody>
      </p:sp>
      <p:sp>
        <p:nvSpPr>
          <p:cNvPr id="16" name="Isosceles Triangle 15"/>
          <p:cNvSpPr/>
          <p:nvPr/>
        </p:nvSpPr>
        <p:spPr>
          <a:xfrm rot="5400000">
            <a:off x="2620670" y="2811780"/>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2694" y="1783080"/>
            <a:ext cx="2035454"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4134"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2 · Pumps fall</a:t>
            </a:r>
          </a:p>
        </p:txBody>
      </p:sp>
      <p:sp>
        <p:nvSpPr>
          <p:cNvPr id="19" name="Rectangle 18"/>
          <p:cNvSpPr/>
          <p:nvPr/>
        </p:nvSpPr>
        <p:spPr>
          <a:xfrm>
            <a:off x="2812694" y="2112264"/>
            <a:ext cx="2035454" cy="1728216"/>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2422" y="2203704"/>
            <a:ext cx="1815998" cy="1600200"/>
          </a:xfrm>
          <a:prstGeom prst="rect">
            <a:avLst/>
          </a:prstGeom>
          <a:noFill/>
        </p:spPr>
        <p:txBody>
          <a:bodyPr wrap="square" lIns="36576" rIns="36576" tIns="18288" bIns="18288" anchor="t">
            <a:spAutoFit/>
          </a:bodyPr>
          <a:lstStyle/>
          <a:p>
            <a:pPr algn="l"/>
            <a:r>
              <a:rPr sz="1150" b="0" i="0">
                <a:solidFill>
                  <a:srgbClr val="1A1A1A"/>
                </a:solidFill>
                <a:latin typeface="Abadi"/>
              </a:rPr>
              <a:t>Dexamethasone raises Bsep mRNA about 10-fold in rat hepatocytes; GR knockdown lowers Ntcp uptake in mice</a:t>
            </a:r>
          </a:p>
        </p:txBody>
      </p:sp>
      <p:sp>
        <p:nvSpPr>
          <p:cNvPr id="21" name="Isosceles Triangle 20"/>
          <p:cNvSpPr/>
          <p:nvPr/>
        </p:nvSpPr>
        <p:spPr>
          <a:xfrm rot="5400000">
            <a:off x="4884724" y="2811780"/>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76748" y="1783080"/>
            <a:ext cx="2035454"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8188"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3 · Canaliculus</a:t>
            </a:r>
          </a:p>
        </p:txBody>
      </p:sp>
      <p:sp>
        <p:nvSpPr>
          <p:cNvPr id="24" name="Rectangle 23"/>
          <p:cNvSpPr/>
          <p:nvPr/>
        </p:nvSpPr>
        <p:spPr>
          <a:xfrm>
            <a:off x="5076748" y="2112264"/>
            <a:ext cx="2035454" cy="1728216"/>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86476" y="2203704"/>
            <a:ext cx="1815998" cy="1600200"/>
          </a:xfrm>
          <a:prstGeom prst="rect">
            <a:avLst/>
          </a:prstGeom>
          <a:noFill/>
        </p:spPr>
        <p:txBody>
          <a:bodyPr wrap="square" lIns="36576" rIns="36576" tIns="18288" bIns="18288" anchor="t">
            <a:spAutoFit/>
          </a:bodyPr>
          <a:lstStyle/>
          <a:p>
            <a:pPr algn="l"/>
            <a:r>
              <a:rPr sz="1150" b="0" i="0">
                <a:solidFill>
                  <a:srgbClr val="1A1A1A"/>
                </a:solidFill>
                <a:latin typeface="Abadi"/>
              </a:rPr>
              <a:t>In human hypopituitarism BSEP and MDR3 staining is reduced, MRP2 in some: an acquired PFIC look</a:t>
            </a:r>
          </a:p>
        </p:txBody>
      </p:sp>
      <p:sp>
        <p:nvSpPr>
          <p:cNvPr id="26" name="Isosceles Triangle 25"/>
          <p:cNvSpPr/>
          <p:nvPr/>
        </p:nvSpPr>
        <p:spPr>
          <a:xfrm rot="5400000">
            <a:off x="7148779" y="2811780"/>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40803" y="1783080"/>
            <a:ext cx="2035454"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32243"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4 · Thyroid</a:t>
            </a:r>
          </a:p>
        </p:txBody>
      </p:sp>
      <p:sp>
        <p:nvSpPr>
          <p:cNvPr id="29" name="Rectangle 28"/>
          <p:cNvSpPr/>
          <p:nvPr/>
        </p:nvSpPr>
        <p:spPr>
          <a:xfrm>
            <a:off x="7340803" y="2112264"/>
            <a:ext cx="2035454" cy="1728216"/>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0531" y="2203704"/>
            <a:ext cx="1815998" cy="1600200"/>
          </a:xfrm>
          <a:prstGeom prst="rect">
            <a:avLst/>
          </a:prstGeom>
          <a:noFill/>
        </p:spPr>
        <p:txBody>
          <a:bodyPr wrap="square" lIns="36576" rIns="36576" tIns="18288" bIns="18288" anchor="t">
            <a:spAutoFit/>
          </a:bodyPr>
          <a:lstStyle/>
          <a:p>
            <a:pPr algn="l"/>
            <a:r>
              <a:rPr sz="1150" b="0" i="0">
                <a:solidFill>
                  <a:srgbClr val="1A1A1A"/>
                </a:solidFill>
                <a:latin typeface="Abadi"/>
              </a:rPr>
              <a:t>Hypothyroid rats lose about half of canalicular Na+/K+-ATPase; bile flow returns 2 days after T4</a:t>
            </a:r>
          </a:p>
        </p:txBody>
      </p:sp>
      <p:sp>
        <p:nvSpPr>
          <p:cNvPr id="31" name="Isosceles Triangle 30"/>
          <p:cNvSpPr/>
          <p:nvPr/>
        </p:nvSpPr>
        <p:spPr>
          <a:xfrm rot="5400000">
            <a:off x="9412833" y="2811780"/>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04857" y="1783080"/>
            <a:ext cx="2035454"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6297"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5 · Recovery</a:t>
            </a:r>
          </a:p>
        </p:txBody>
      </p:sp>
      <p:sp>
        <p:nvSpPr>
          <p:cNvPr id="34" name="Rectangle 33"/>
          <p:cNvSpPr/>
          <p:nvPr/>
        </p:nvSpPr>
        <p:spPr>
          <a:xfrm>
            <a:off x="9604857" y="2112264"/>
            <a:ext cx="2035454" cy="1728216"/>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14585" y="2203704"/>
            <a:ext cx="1815998" cy="1600200"/>
          </a:xfrm>
          <a:prstGeom prst="rect">
            <a:avLst/>
          </a:prstGeom>
          <a:noFill/>
        </p:spPr>
        <p:txBody>
          <a:bodyPr wrap="square" lIns="36576" rIns="36576" tIns="18288" bIns="18288" anchor="t">
            <a:spAutoFit/>
          </a:bodyPr>
          <a:lstStyle/>
          <a:p>
            <a:pPr algn="l"/>
            <a:r>
              <a:rPr sz="1150" b="0" i="0">
                <a:solidFill>
                  <a:srgbClr val="1A1A1A"/>
                </a:solidFill>
                <a:latin typeface="Abadi"/>
              </a:rPr>
              <a:t>Replacement restores transport; biochemistry normalises over weeks to months</a:t>
            </a:r>
          </a:p>
        </p:txBody>
      </p:sp>
      <p:sp>
        <p:nvSpPr>
          <p:cNvPr id="36" name="TextBox 35"/>
          <p:cNvSpPr txBox="1"/>
          <p:nvPr/>
        </p:nvSpPr>
        <p:spPr>
          <a:xfrm>
            <a:off x="548640" y="4023360"/>
            <a:ext cx="5394960" cy="1737360"/>
          </a:xfrm>
          <a:prstGeom prst="rect">
            <a:avLst/>
          </a:prstGeom>
          <a:noFill/>
        </p:spPr>
        <p:txBody>
          <a:bodyPr wrap="square" lIns="36576" rIns="36576" tIns="18288" bIns="18288" anchor="t">
            <a:spAutoFit/>
          </a:bodyPr>
          <a:lstStyle/>
          <a:p>
            <a:pPr algn="l"/>
            <a:r>
              <a:rPr sz="1200" b="1" i="0">
                <a:solidFill>
                  <a:srgbClr val="1B355E"/>
                </a:solidFill>
                <a:latin typeface="Abadi"/>
              </a:rPr>
              <a:t>Why GGT varies  </a:t>
            </a:r>
            <a:r>
              <a:rPr sz="1200" b="0" i="0">
                <a:solidFill>
                  <a:srgbClr val="1A1A1A"/>
                </a:solidFill>
                <a:latin typeface="Abadi"/>
              </a:rPr>
              <a:t>If BSEP is down, less bile acid reaches the canaliculus to release GGT from the membrane, so GGT can be normal. Where hepatitis and giant cells dominate, GGT rises. Both patterns occur in the same disease.</a:t>
            </a:r>
          </a:p>
        </p:txBody>
      </p:sp>
      <p:sp>
        <p:nvSpPr>
          <p:cNvPr id="37" name="TextBox 36"/>
          <p:cNvSpPr txBox="1"/>
          <p:nvPr/>
        </p:nvSpPr>
        <p:spPr>
          <a:xfrm>
            <a:off x="6153912" y="4023360"/>
            <a:ext cx="5486400" cy="1737360"/>
          </a:xfrm>
          <a:prstGeom prst="rect">
            <a:avLst/>
          </a:prstGeom>
          <a:noFill/>
        </p:spPr>
        <p:txBody>
          <a:bodyPr wrap="square" lIns="36576" rIns="36576" tIns="18288" bIns="18288" anchor="t">
            <a:spAutoFit/>
          </a:bodyPr>
          <a:lstStyle/>
          <a:p>
            <a:pPr algn="l"/>
            <a:r>
              <a:rPr sz="1200" b="1" i="0">
                <a:solidFill>
                  <a:srgbClr val="B22222"/>
                </a:solidFill>
                <a:latin typeface="Abadi"/>
              </a:rPr>
              <a:t>A myth to drop  </a:t>
            </a:r>
            <a:r>
              <a:rPr sz="1200" b="0" i="0">
                <a:solidFill>
                  <a:srgbClr val="1A1A1A"/>
                </a:solidFill>
                <a:latin typeface="Abadi"/>
              </a:rPr>
              <a:t>Hypothyroidism is often said to lower UGT1A1. In hypothyroid rats hepatic bilirubin UGT activity actually rose (Visser 1996). Prolonged unconjugated jaundice in hypothyroidism is better explained by slow gut transit and reduced hepatic uptake and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HOW OFTEN</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RARE IN LIVER CLINIC, COMMON IN PITUITARY</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Aetiology of conjugated hyperbilirubinaemia in 1,692 infants, systematic review, % of all cases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4</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Gottesman LE, Del Vecchio MT, Aronoff SC. BMC Pediatr 2015;15:192 · Sağ E, et al. J Acad Res Med 2021;11:90–6</a:t>
            </a:r>
          </a:p>
        </p:txBody>
      </p:sp>
      <p:sp>
        <p:nvSpPr>
          <p:cNvPr id="12" name="TextBox 11"/>
          <p:cNvSpPr txBox="1"/>
          <p:nvPr/>
        </p:nvSpPr>
        <p:spPr>
          <a:xfrm>
            <a:off x="548640" y="1783080"/>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Idiopathic neonatal hepatitis</a:t>
            </a:r>
          </a:p>
        </p:txBody>
      </p:sp>
      <p:sp>
        <p:nvSpPr>
          <p:cNvPr id="13" name="Rectangle 12"/>
          <p:cNvSpPr/>
          <p:nvPr/>
        </p:nvSpPr>
        <p:spPr>
          <a:xfrm>
            <a:off x="3429000" y="1851477"/>
            <a:ext cx="3017520" cy="2212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1783080"/>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26.0%</a:t>
            </a:r>
          </a:p>
        </p:txBody>
      </p:sp>
      <p:sp>
        <p:nvSpPr>
          <p:cNvPr id="15" name="TextBox 14"/>
          <p:cNvSpPr txBox="1"/>
          <p:nvPr/>
        </p:nvSpPr>
        <p:spPr>
          <a:xfrm>
            <a:off x="548640" y="2185416"/>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Biliary atresia</a:t>
            </a:r>
          </a:p>
        </p:txBody>
      </p:sp>
      <p:sp>
        <p:nvSpPr>
          <p:cNvPr id="16" name="Rectangle 15"/>
          <p:cNvSpPr/>
          <p:nvPr/>
        </p:nvSpPr>
        <p:spPr>
          <a:xfrm>
            <a:off x="3429000" y="2253813"/>
            <a:ext cx="3005914" cy="2212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8922" y="2185416"/>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25.9%</a:t>
            </a:r>
          </a:p>
        </p:txBody>
      </p:sp>
      <p:sp>
        <p:nvSpPr>
          <p:cNvPr id="18" name="TextBox 17"/>
          <p:cNvSpPr txBox="1"/>
          <p:nvPr/>
        </p:nvSpPr>
        <p:spPr>
          <a:xfrm>
            <a:off x="548640" y="2587752"/>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Infection</a:t>
            </a:r>
          </a:p>
        </p:txBody>
      </p:sp>
      <p:sp>
        <p:nvSpPr>
          <p:cNvPr id="19" name="Rectangle 18"/>
          <p:cNvSpPr/>
          <p:nvPr/>
        </p:nvSpPr>
        <p:spPr>
          <a:xfrm>
            <a:off x="3429000" y="2656149"/>
            <a:ext cx="1334672" cy="2212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27680" y="2587752"/>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11.5%</a:t>
            </a:r>
          </a:p>
        </p:txBody>
      </p:sp>
      <p:sp>
        <p:nvSpPr>
          <p:cNvPr id="21" name="TextBox 20"/>
          <p:cNvSpPr txBox="1"/>
          <p:nvPr/>
        </p:nvSpPr>
        <p:spPr>
          <a:xfrm>
            <a:off x="548640" y="2990088"/>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Parenteral nutrition</a:t>
            </a:r>
          </a:p>
        </p:txBody>
      </p:sp>
      <p:sp>
        <p:nvSpPr>
          <p:cNvPr id="22" name="Rectangle 21"/>
          <p:cNvSpPr/>
          <p:nvPr/>
        </p:nvSpPr>
        <p:spPr>
          <a:xfrm>
            <a:off x="3429000" y="3058485"/>
            <a:ext cx="742774" cy="2212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35782" y="2990088"/>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6.4%</a:t>
            </a:r>
          </a:p>
        </p:txBody>
      </p:sp>
      <p:sp>
        <p:nvSpPr>
          <p:cNvPr id="24" name="TextBox 23"/>
          <p:cNvSpPr txBox="1"/>
          <p:nvPr/>
        </p:nvSpPr>
        <p:spPr>
          <a:xfrm>
            <a:off x="548640" y="3392424"/>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Metabolic</a:t>
            </a:r>
          </a:p>
        </p:txBody>
      </p:sp>
      <p:sp>
        <p:nvSpPr>
          <p:cNvPr id="25" name="Rectangle 24"/>
          <p:cNvSpPr/>
          <p:nvPr/>
        </p:nvSpPr>
        <p:spPr>
          <a:xfrm>
            <a:off x="3429000" y="3460821"/>
            <a:ext cx="510657" cy="2212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3665" y="3392424"/>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4.4%</a:t>
            </a:r>
          </a:p>
        </p:txBody>
      </p:sp>
      <p:sp>
        <p:nvSpPr>
          <p:cNvPr id="27" name="TextBox 26"/>
          <p:cNvSpPr txBox="1"/>
          <p:nvPr/>
        </p:nvSpPr>
        <p:spPr>
          <a:xfrm>
            <a:off x="548640" y="3794760"/>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Alpha-1 antitrypsin</a:t>
            </a:r>
          </a:p>
        </p:txBody>
      </p:sp>
      <p:sp>
        <p:nvSpPr>
          <p:cNvPr id="28" name="Rectangle 27"/>
          <p:cNvSpPr/>
          <p:nvPr/>
        </p:nvSpPr>
        <p:spPr>
          <a:xfrm>
            <a:off x="3429000" y="3863157"/>
            <a:ext cx="475839" cy="2212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68847" y="3794760"/>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4.1%</a:t>
            </a:r>
          </a:p>
        </p:txBody>
      </p:sp>
      <p:sp>
        <p:nvSpPr>
          <p:cNvPr id="30" name="TextBox 29"/>
          <p:cNvSpPr txBox="1"/>
          <p:nvPr/>
        </p:nvSpPr>
        <p:spPr>
          <a:xfrm>
            <a:off x="548640" y="4197096"/>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Hypopituitarism / hypothyroidism</a:t>
            </a:r>
          </a:p>
        </p:txBody>
      </p:sp>
      <p:sp>
        <p:nvSpPr>
          <p:cNvPr id="31" name="Rectangle 30"/>
          <p:cNvSpPr/>
          <p:nvPr/>
        </p:nvSpPr>
        <p:spPr>
          <a:xfrm>
            <a:off x="3429000" y="4265493"/>
            <a:ext cx="226314" cy="2212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19322" y="4197096"/>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1.95%</a:t>
            </a:r>
          </a:p>
        </p:txBody>
      </p:sp>
      <p:sp>
        <p:nvSpPr>
          <p:cNvPr id="33" name="TextBox 32"/>
          <p:cNvSpPr txBox="1"/>
          <p:nvPr/>
        </p:nvSpPr>
        <p:spPr>
          <a:xfrm>
            <a:off x="548640" y="4599432"/>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PFIC</a:t>
            </a:r>
          </a:p>
        </p:txBody>
      </p:sp>
      <p:sp>
        <p:nvSpPr>
          <p:cNvPr id="34" name="Rectangle 33"/>
          <p:cNvSpPr/>
          <p:nvPr/>
        </p:nvSpPr>
        <p:spPr>
          <a:xfrm>
            <a:off x="3429000" y="4667829"/>
            <a:ext cx="116058" cy="2212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9066" y="4599432"/>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1.0%</a:t>
            </a:r>
          </a:p>
        </p:txBody>
      </p:sp>
      <p:sp>
        <p:nvSpPr>
          <p:cNvPr id="36" name="TextBox 35"/>
          <p:cNvSpPr txBox="1"/>
          <p:nvPr/>
        </p:nvSpPr>
        <p:spPr>
          <a:xfrm>
            <a:off x="548640" y="5001768"/>
            <a:ext cx="2743200" cy="341985"/>
          </a:xfrm>
          <a:prstGeom prst="rect">
            <a:avLst/>
          </a:prstGeom>
          <a:noFill/>
        </p:spPr>
        <p:txBody>
          <a:bodyPr wrap="square" lIns="36576" rIns="36576" tIns="18288" bIns="18288" anchor="ctr">
            <a:spAutoFit/>
          </a:bodyPr>
          <a:lstStyle/>
          <a:p>
            <a:pPr algn="r"/>
            <a:r>
              <a:rPr sz="1100" b="0" i="0">
                <a:solidFill>
                  <a:srgbClr val="1A1A1A"/>
                </a:solidFill>
                <a:latin typeface="Abadi"/>
              </a:rPr>
              <a:t>Alagille</a:t>
            </a:r>
          </a:p>
        </p:txBody>
      </p:sp>
      <p:sp>
        <p:nvSpPr>
          <p:cNvPr id="37" name="Rectangle 36"/>
          <p:cNvSpPr/>
          <p:nvPr/>
        </p:nvSpPr>
        <p:spPr>
          <a:xfrm>
            <a:off x="3429000" y="5070165"/>
            <a:ext cx="110255" cy="2212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03263" y="5001768"/>
            <a:ext cx="1188720" cy="341985"/>
          </a:xfrm>
          <a:prstGeom prst="rect">
            <a:avLst/>
          </a:prstGeom>
          <a:noFill/>
        </p:spPr>
        <p:txBody>
          <a:bodyPr wrap="square" lIns="36576" rIns="36576" tIns="18288" bIns="18288" anchor="ctr">
            <a:spAutoFit/>
          </a:bodyPr>
          <a:lstStyle/>
          <a:p>
            <a:pPr algn="l"/>
            <a:r>
              <a:rPr sz="1100" b="1" i="0">
                <a:solidFill>
                  <a:srgbClr val="1A1A1A"/>
                </a:solidFill>
                <a:latin typeface="Abadi"/>
              </a:rPr>
              <a:t>0.95%</a:t>
            </a:r>
          </a:p>
        </p:txBody>
      </p:sp>
      <p:sp>
        <p:nvSpPr>
          <p:cNvPr id="39" name="TextBox 38"/>
          <p:cNvSpPr txBox="1"/>
          <p:nvPr/>
        </p:nvSpPr>
        <p:spPr>
          <a:xfrm>
            <a:off x="7132320" y="1783080"/>
            <a:ext cx="4526280" cy="3931920"/>
          </a:xfrm>
          <a:prstGeom prst="rect">
            <a:avLst/>
          </a:prstGeom>
          <a:noFill/>
        </p:spPr>
        <p:txBody>
          <a:bodyPr wrap="square" lIns="36576" rIns="36576" tIns="18288" bIns="18288" anchor="t">
            <a:spAutoFit/>
          </a:bodyPr>
          <a:lstStyle/>
          <a:p>
            <a:pPr algn="l"/>
            <a:r>
              <a:rPr sz="1700" b="1" i="0">
                <a:solidFill>
                  <a:srgbClr val="1B355E"/>
                </a:solidFill>
                <a:latin typeface="Abadi"/>
              </a:rPr>
              <a:t>1.95%</a:t>
            </a:r>
          </a:p>
          <a:p>
            <a:pPr algn="l">
              <a:spcBef>
                <a:spcPts val="300"/>
              </a:spcBef>
            </a:pPr>
            <a:r>
              <a:rPr sz="1100" b="0" i="0">
                <a:solidFill>
                  <a:srgbClr val="1A1A1A"/>
                </a:solidFill>
                <a:latin typeface="Abadi"/>
              </a:rPr>
              <a:t>33 of 1,692 infants: the review pools hypopituitarism and hypothyroidism; adrenal causes are not counted separately.</a:t>
            </a:r>
          </a:p>
          <a:p>
            <a:pPr algn="l">
              <a:spcBef>
                <a:spcPts val="300"/>
              </a:spcBef>
            </a:pPr>
            <a:r>
              <a:rPr sz="1700" b="1" i="0">
                <a:solidFill>
                  <a:srgbClr val="1B355E"/>
                </a:solidFill>
                <a:latin typeface="Abadi"/>
              </a:rPr>
              <a:t>5.3%</a:t>
            </a:r>
          </a:p>
          <a:p>
            <a:pPr algn="l">
              <a:spcBef>
                <a:spcPts val="300"/>
              </a:spcBef>
            </a:pPr>
            <a:r>
              <a:rPr sz="1100" b="0" i="0">
                <a:solidFill>
                  <a:srgbClr val="1A1A1A"/>
                </a:solidFill>
                <a:latin typeface="Abadi"/>
              </a:rPr>
              <a:t>Endocrinopathy in a Turkish series of 131 cholestatic infants: 5 hypothyroid, 1 hypopituitary, 1 adrenal.</a:t>
            </a:r>
          </a:p>
          <a:p>
            <a:pPr algn="l">
              <a:spcBef>
                <a:spcPts val="300"/>
              </a:spcBef>
            </a:pPr>
            <a:r>
              <a:rPr sz="1700" b="1" i="0">
                <a:solidFill>
                  <a:srgbClr val="1B355E"/>
                </a:solidFill>
                <a:latin typeface="Abadi"/>
              </a:rPr>
              <a:t>Why it matters</a:t>
            </a:r>
          </a:p>
          <a:p>
            <a:pPr algn="l">
              <a:spcBef>
                <a:spcPts val="300"/>
              </a:spcBef>
            </a:pPr>
            <a:r>
              <a:rPr sz="1100" b="0" i="0">
                <a:solidFill>
                  <a:srgbClr val="1A1A1A"/>
                </a:solidFill>
                <a:latin typeface="Abadi"/>
              </a:rPr>
              <a:t>Prevalence is low, but the cause is fully reversible and the untreated adrenal axis can kill. A low prior probability is not a reason to skip a cheap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WITHIN THE PITUITARY COHORTS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A THIRD OF AFFECTED INFANTS ARE JAUNDICED</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Cholestasis among infants with congenital hypopituitarism and pituitary stalk interruption</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5</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Mauvais FX, et al. PLoS ONE 2016;11:e0147750 · Gagliano C, et al. Front Pediatr 2025;13:1562573 · Braslavsky D, et al. Arq Bras Endocrinol Metab 2011;55:622–7 · Karnsakul W, et al. Ann Hepatol 2007;6:97–103</a:t>
            </a:r>
          </a:p>
        </p:txBody>
      </p:sp>
      <p:sp>
        <p:nvSpPr>
          <p:cNvPr id="12" name="Rectangle 11"/>
          <p:cNvSpPr/>
          <p:nvPr/>
        </p:nvSpPr>
        <p:spPr>
          <a:xfrm>
            <a:off x="54864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097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5 of 16</a:t>
            </a:r>
          </a:p>
        </p:txBody>
      </p:sp>
      <p:sp>
        <p:nvSpPr>
          <p:cNvPr id="15" name="TextBox 14"/>
          <p:cNvSpPr txBox="1"/>
          <p:nvPr/>
        </p:nvSpPr>
        <p:spPr>
          <a:xfrm>
            <a:off x="73152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Infants with pituitary stalk interruption diagnosed before age 1 who had cholestasis (Mauvais 2016)</a:t>
            </a:r>
          </a:p>
        </p:txBody>
      </p:sp>
      <p:sp>
        <p:nvSpPr>
          <p:cNvPr id="16" name="Rectangle 15"/>
          <p:cNvSpPr/>
          <p:nvPr/>
        </p:nvSpPr>
        <p:spPr>
          <a:xfrm>
            <a:off x="338328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0972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6–42%</a:t>
            </a:r>
          </a:p>
        </p:txBody>
      </p:sp>
      <p:sp>
        <p:nvSpPr>
          <p:cNvPr id="19" name="TextBox 18"/>
          <p:cNvSpPr txBox="1"/>
          <p:nvPr/>
        </p:nvSpPr>
        <p:spPr>
          <a:xfrm>
            <a:off x="356616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Range of cholestasis across published stalk interruption series, pooled in a 2025 review</a:t>
            </a:r>
          </a:p>
        </p:txBody>
      </p:sp>
      <p:sp>
        <p:nvSpPr>
          <p:cNvPr id="20" name="Rectangle 19"/>
          <p:cNvSpPr/>
          <p:nvPr/>
        </p:nvSpPr>
        <p:spPr>
          <a:xfrm>
            <a:off x="621792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097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14 of 16</a:t>
            </a:r>
          </a:p>
        </p:txBody>
      </p:sp>
      <p:sp>
        <p:nvSpPr>
          <p:cNvPr id="23" name="TextBox 22"/>
          <p:cNvSpPr txBox="1"/>
          <p:nvPr/>
        </p:nvSpPr>
        <p:spPr>
          <a:xfrm>
            <a:off x="640080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Cholestatic hypopituitary infants who also had spontaneous hypoglycaemia (Braslavsky 2011)</a:t>
            </a:r>
          </a:p>
        </p:txBody>
      </p:sp>
      <p:sp>
        <p:nvSpPr>
          <p:cNvPr id="24" name="Rectangle 23"/>
          <p:cNvSpPr/>
          <p:nvPr/>
        </p:nvSpPr>
        <p:spPr>
          <a:xfrm>
            <a:off x="905256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0972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8 of 8</a:t>
            </a:r>
          </a:p>
        </p:txBody>
      </p:sp>
      <p:sp>
        <p:nvSpPr>
          <p:cNvPr id="27" name="TextBox 26"/>
          <p:cNvSpPr txBox="1"/>
          <p:nvPr/>
        </p:nvSpPr>
        <p:spPr>
          <a:xfrm>
            <a:off x="923544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Cortisol deficiency and hypoglycaemia in every infant in the Thai series, 5 with SOD (Karnsakul 2007)</a:t>
            </a:r>
          </a:p>
        </p:txBody>
      </p:sp>
      <p:sp>
        <p:nvSpPr>
          <p:cNvPr id="28" name="TextBox 27"/>
          <p:cNvSpPr txBox="1"/>
          <p:nvPr/>
        </p:nvSpPr>
        <p:spPr>
          <a:xfrm>
            <a:off x="548640" y="4069080"/>
            <a:ext cx="11091672" cy="1645920"/>
          </a:xfrm>
          <a:prstGeom prst="rect">
            <a:avLst/>
          </a:prstGeom>
          <a:noFill/>
        </p:spPr>
        <p:txBody>
          <a:bodyPr wrap="square" lIns="36576" rIns="36576" tIns="18288" bIns="18288" anchor="t">
            <a:spAutoFit/>
          </a:bodyPr>
          <a:lstStyle/>
          <a:p>
            <a:pPr algn="l"/>
            <a:r>
              <a:rPr sz="1250" b="1" i="0">
                <a:solidFill>
                  <a:srgbClr val="1B355E"/>
                </a:solidFill>
                <a:latin typeface="Abadi"/>
              </a:rPr>
              <a:t>Who becomes cholestatic.  </a:t>
            </a:r>
            <a:r>
              <a:rPr sz="1250" b="0" i="0">
                <a:solidFill>
                  <a:srgbClr val="1A1A1A"/>
                </a:solidFill>
                <a:latin typeface="Abadi"/>
              </a:rPr>
              <a:t>In the French cohort, cholestatic infants more often had eye malformations (5 of 5 versus 4 of 11) and a low Apgar score (3 of 5 versus 1 of 11), and had far lower cortisol: 12.4 versus 79.4 ng/mL.</a:t>
            </a:r>
          </a:p>
          <a:p>
            <a:pPr algn="l">
              <a:spcBef>
                <a:spcPts val="800"/>
              </a:spcBef>
            </a:pPr>
            <a:r>
              <a:rPr sz="1250" b="1" i="0">
                <a:solidFill>
                  <a:srgbClr val="1B355E"/>
                </a:solidFill>
                <a:latin typeface="Abadi"/>
              </a:rPr>
              <a:t>Reading the denominator.  </a:t>
            </a:r>
            <a:r>
              <a:rPr sz="1250" b="0" i="0">
                <a:solidFill>
                  <a:srgbClr val="1A1A1A"/>
                </a:solidFill>
                <a:latin typeface="Abadi"/>
              </a:rPr>
              <a:t>The cholestasis clinic sees one endocrine case in fifty; the endocrine clinic sees cholestasis in up to four of ten neonatal-onset cases. Both numbers are true.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THE PHENOTYPE</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THE CHOLESTATIC HYPOPITUITARY INFANT</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Buenos Aires series: 16 infants (11 multiple pituitary deficiency, 5 isolated central hypocortisolism)</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6</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Braslavsky D, Keselman A, Galoppo M, et al. Arq Bras Endocrinol Metab 2011;55:622–7</a:t>
            </a:r>
          </a:p>
        </p:txBody>
      </p:sp>
      <p:sp>
        <p:nvSpPr>
          <p:cNvPr id="12" name="Rectangle 11"/>
          <p:cNvSpPr/>
          <p:nvPr/>
        </p:nvSpPr>
        <p:spPr>
          <a:xfrm>
            <a:off x="54864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097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18 days</a:t>
            </a:r>
          </a:p>
        </p:txBody>
      </p:sp>
      <p:sp>
        <p:nvSpPr>
          <p:cNvPr id="15" name="TextBox 14"/>
          <p:cNvSpPr txBox="1"/>
          <p:nvPr/>
        </p:nvSpPr>
        <p:spPr>
          <a:xfrm>
            <a:off x="73152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Median age at onset of cholestasis (range 2–120 days)</a:t>
            </a:r>
          </a:p>
        </p:txBody>
      </p:sp>
      <p:sp>
        <p:nvSpPr>
          <p:cNvPr id="16" name="Rectangle 15"/>
          <p:cNvSpPr/>
          <p:nvPr/>
        </p:nvSpPr>
        <p:spPr>
          <a:xfrm>
            <a:off x="338328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097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4.85 mg/dL</a:t>
            </a:r>
          </a:p>
        </p:txBody>
      </p:sp>
      <p:sp>
        <p:nvSpPr>
          <p:cNvPr id="19" name="TextBox 18"/>
          <p:cNvSpPr txBox="1"/>
          <p:nvPr/>
        </p:nvSpPr>
        <p:spPr>
          <a:xfrm>
            <a:off x="356616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Median direct bilirubin (range 1.3–20.7)</a:t>
            </a:r>
          </a:p>
        </p:txBody>
      </p:sp>
      <p:sp>
        <p:nvSpPr>
          <p:cNvPr id="20" name="Rectangle 19"/>
          <p:cNvSpPr/>
          <p:nvPr/>
        </p:nvSpPr>
        <p:spPr>
          <a:xfrm>
            <a:off x="621792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0972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9 of 16</a:t>
            </a:r>
          </a:p>
        </p:txBody>
      </p:sp>
      <p:sp>
        <p:nvSpPr>
          <p:cNvPr id="23" name="TextBox 22"/>
          <p:cNvSpPr txBox="1"/>
          <p:nvPr/>
        </p:nvSpPr>
        <p:spPr>
          <a:xfrm>
            <a:off x="640080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Raised GGT; aminotransferases 2–10 × upper limit in 10 of 16</a:t>
            </a:r>
          </a:p>
        </p:txBody>
      </p:sp>
      <p:sp>
        <p:nvSpPr>
          <p:cNvPr id="24" name="Rectangle 23"/>
          <p:cNvSpPr/>
          <p:nvPr/>
        </p:nvSpPr>
        <p:spPr>
          <a:xfrm>
            <a:off x="905256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097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32 days</a:t>
            </a:r>
          </a:p>
        </p:txBody>
      </p:sp>
      <p:sp>
        <p:nvSpPr>
          <p:cNvPr id="27" name="TextBox 26"/>
          <p:cNvSpPr txBox="1"/>
          <p:nvPr/>
        </p:nvSpPr>
        <p:spPr>
          <a:xfrm>
            <a:off x="923544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Median delay before referral to endocrinology</a:t>
            </a:r>
          </a:p>
        </p:txBody>
      </p:sp>
      <p:sp>
        <p:nvSpPr>
          <p:cNvPr id="28" name="TextBox 27"/>
          <p:cNvSpPr txBox="1"/>
          <p:nvPr/>
        </p:nvSpPr>
        <p:spPr>
          <a:xfrm>
            <a:off x="548640" y="3931920"/>
            <a:ext cx="5394960" cy="1828800"/>
          </a:xfrm>
          <a:prstGeom prst="rect">
            <a:avLst/>
          </a:prstGeom>
          <a:noFill/>
        </p:spPr>
        <p:txBody>
          <a:bodyPr wrap="square" lIns="36576" rIns="36576" tIns="18288" bIns="18288" anchor="t">
            <a:spAutoFit/>
          </a:bodyPr>
          <a:lstStyle/>
          <a:p>
            <a:pPr algn="l"/>
            <a:r>
              <a:rPr sz="1400" b="1" i="0">
                <a:solidFill>
                  <a:srgbClr val="1B355E"/>
                </a:solidFill>
                <a:latin typeface="Abadi"/>
              </a:rPr>
              <a:t>Course after replacement</a:t>
            </a:r>
          </a:p>
          <a:p>
            <a:pPr algn="l">
              <a:spcBef>
                <a:spcPts val="400"/>
              </a:spcBef>
            </a:pPr>
            <a:r>
              <a:rPr sz="1250" b="0" i="0">
                <a:solidFill>
                  <a:srgbClr val="1A1A1A"/>
                </a:solidFill>
                <a:latin typeface="Abadi"/>
              </a:rPr>
              <a:t>Cholestasis remitted at a median of 65 days (24–167), faster with isolated hypocortisolism (p = 0.01). Enzymes normalised at a median of 90 days. No permanent liver dysfunction at a median follow-up of 3.9 years.</a:t>
            </a:r>
          </a:p>
        </p:txBody>
      </p:sp>
      <p:sp>
        <p:nvSpPr>
          <p:cNvPr id="29" name="TextBox 28"/>
          <p:cNvSpPr txBox="1"/>
          <p:nvPr/>
        </p:nvSpPr>
        <p:spPr>
          <a:xfrm>
            <a:off x="6153912" y="3931920"/>
            <a:ext cx="5486400" cy="1828800"/>
          </a:xfrm>
          <a:prstGeom prst="rect">
            <a:avLst/>
          </a:prstGeom>
          <a:noFill/>
        </p:spPr>
        <p:txBody>
          <a:bodyPr wrap="square" lIns="36576" rIns="36576" tIns="18288" bIns="18288" anchor="t">
            <a:spAutoFit/>
          </a:bodyPr>
          <a:lstStyle/>
          <a:p>
            <a:pPr algn="l"/>
            <a:r>
              <a:rPr sz="1400" b="1" i="0">
                <a:solidFill>
                  <a:srgbClr val="B22222"/>
                </a:solidFill>
                <a:latin typeface="Abadi"/>
              </a:rPr>
              <a:t>The lesson</a:t>
            </a:r>
          </a:p>
          <a:p>
            <a:pPr algn="l">
              <a:spcBef>
                <a:spcPts val="400"/>
              </a:spcBef>
            </a:pPr>
            <a:r>
              <a:rPr sz="1250" b="0" i="0">
                <a:solidFill>
                  <a:srgbClr val="1A1A1A"/>
                </a:solidFill>
                <a:latin typeface="Abadi"/>
              </a:rPr>
              <a:t>Fourteen of sixteen had spontaneous hypoglycaemia, the most consistent clue. The month lost before referral is the window in which an adrenal crisis can occur.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THE KING'S SERIES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A CHOLESTASIS THAT CAN LOOK LIKE PFIC</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King's College Hospital, 26 years: congenital hypopituitarism (n = 21) and septo-optic dysplasia (n = 18)</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7</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Grammatikopoulos T, Deheragoda M, Strautnieks S, et al. J Pediatr 2018;200:181–7</a:t>
            </a:r>
          </a:p>
        </p:txBody>
      </p:sp>
      <p:sp>
        <p:nvSpPr>
          <p:cNvPr id="12" name="Rectangle 11"/>
          <p:cNvSpPr/>
          <p:nvPr/>
        </p:nvSpPr>
        <p:spPr>
          <a:xfrm>
            <a:off x="54864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097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8 weeks</a:t>
            </a:r>
          </a:p>
        </p:txBody>
      </p:sp>
      <p:sp>
        <p:nvSpPr>
          <p:cNvPr id="15" name="TextBox 14"/>
          <p:cNvSpPr txBox="1"/>
          <p:nvPr/>
        </p:nvSpPr>
        <p:spPr>
          <a:xfrm>
            <a:off x="73152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Median age at presentation to the liver unit (3–20 weeks)</a:t>
            </a:r>
          </a:p>
        </p:txBody>
      </p:sp>
      <p:sp>
        <p:nvSpPr>
          <p:cNvPr id="16" name="Rectangle 15"/>
          <p:cNvSpPr/>
          <p:nvPr/>
        </p:nvSpPr>
        <p:spPr>
          <a:xfrm>
            <a:off x="338328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097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116 µmol/L</a:t>
            </a:r>
          </a:p>
        </p:txBody>
      </p:sp>
      <p:sp>
        <p:nvSpPr>
          <p:cNvPr id="19" name="TextBox 18"/>
          <p:cNvSpPr txBox="1"/>
          <p:nvPr/>
        </p:nvSpPr>
        <p:spPr>
          <a:xfrm>
            <a:off x="356616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Median total bilirubin, about 6.8 mg/dL</a:t>
            </a:r>
          </a:p>
        </p:txBody>
      </p:sp>
      <p:sp>
        <p:nvSpPr>
          <p:cNvPr id="20" name="Rectangle 19"/>
          <p:cNvSpPr/>
          <p:nvPr/>
        </p:nvSpPr>
        <p:spPr>
          <a:xfrm>
            <a:off x="621792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0972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95 IU/L</a:t>
            </a:r>
          </a:p>
        </p:txBody>
      </p:sp>
      <p:sp>
        <p:nvSpPr>
          <p:cNvPr id="23" name="TextBox 22"/>
          <p:cNvSpPr txBox="1"/>
          <p:nvPr/>
        </p:nvSpPr>
        <p:spPr>
          <a:xfrm>
            <a:off x="640080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Median GGT (25–707); normal GGT in 6 of 10 biopsied</a:t>
            </a:r>
          </a:p>
        </p:txBody>
      </p:sp>
      <p:sp>
        <p:nvSpPr>
          <p:cNvPr id="24" name="Rectangle 23"/>
          <p:cNvSpPr/>
          <p:nvPr/>
        </p:nvSpPr>
        <p:spPr>
          <a:xfrm>
            <a:off x="9052560" y="1783080"/>
            <a:ext cx="2587752" cy="1920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097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5.95 mU/L</a:t>
            </a:r>
          </a:p>
        </p:txBody>
      </p:sp>
      <p:sp>
        <p:nvSpPr>
          <p:cNvPr id="27" name="TextBox 26"/>
          <p:cNvSpPr txBox="1"/>
          <p:nvPr/>
        </p:nvSpPr>
        <p:spPr>
          <a:xfrm>
            <a:off x="9235440" y="2697480"/>
            <a:ext cx="2221992" cy="914400"/>
          </a:xfrm>
          <a:prstGeom prst="rect">
            <a:avLst/>
          </a:prstGeom>
          <a:noFill/>
        </p:spPr>
        <p:txBody>
          <a:bodyPr wrap="square" lIns="36576" rIns="36576" tIns="18288" bIns="18288" anchor="t">
            <a:spAutoFit/>
          </a:bodyPr>
          <a:lstStyle/>
          <a:p>
            <a:pPr algn="l"/>
            <a:r>
              <a:rPr sz="1150" b="0" i="0">
                <a:solidFill>
                  <a:srgbClr val="1A1A1A"/>
                </a:solidFill>
                <a:latin typeface="Abadi"/>
              </a:rPr>
              <a:t>Median TSH with median free T4 9.6 pmol/L: central, yet TSH not low</a:t>
            </a:r>
          </a:p>
        </p:txBody>
      </p:sp>
      <p:sp>
        <p:nvSpPr>
          <p:cNvPr id="28" name="Rectangle 27"/>
          <p:cNvSpPr/>
          <p:nvPr/>
        </p:nvSpPr>
        <p:spPr>
          <a:xfrm>
            <a:off x="548640" y="3840480"/>
            <a:ext cx="3532632" cy="187451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40480"/>
            <a:ext cx="353263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078224"/>
            <a:ext cx="3166872" cy="384048"/>
          </a:xfrm>
          <a:prstGeom prst="rect">
            <a:avLst/>
          </a:prstGeom>
          <a:noFill/>
        </p:spPr>
        <p:txBody>
          <a:bodyPr wrap="square" lIns="36576" rIns="36576" tIns="18288" bIns="18288" anchor="t">
            <a:spAutoFit/>
          </a:bodyPr>
          <a:lstStyle/>
          <a:p>
            <a:pPr algn="l"/>
            <a:r>
              <a:rPr sz="1400" b="1" i="0">
                <a:solidFill>
                  <a:srgbClr val="1A1A1A"/>
                </a:solidFill>
                <a:latin typeface="Abadi"/>
              </a:rPr>
              <a:t>Histology (n = 10)</a:t>
            </a:r>
          </a:p>
        </p:txBody>
      </p:sp>
      <p:sp>
        <p:nvSpPr>
          <p:cNvPr id="31" name="TextBox 30"/>
          <p:cNvSpPr txBox="1"/>
          <p:nvPr/>
        </p:nvSpPr>
        <p:spPr>
          <a:xfrm>
            <a:off x="731520" y="4553712"/>
            <a:ext cx="3166872" cy="1051560"/>
          </a:xfrm>
          <a:prstGeom prst="rect">
            <a:avLst/>
          </a:prstGeom>
          <a:noFill/>
        </p:spPr>
        <p:txBody>
          <a:bodyPr wrap="square" lIns="36576" rIns="36576" tIns="18288" bIns="18288" anchor="t">
            <a:spAutoFit/>
          </a:bodyPr>
          <a:lstStyle/>
          <a:p>
            <a:pPr algn="l"/>
            <a:r>
              <a:rPr sz="1150" b="0" i="0">
                <a:solidFill>
                  <a:srgbClr val="1A1A1A"/>
                </a:solidFill>
                <a:latin typeface="Abadi"/>
              </a:rPr>
              <a:t>▪  Intralobular cholestasis</a:t>
            </a:r>
          </a:p>
          <a:p>
            <a:pPr algn="l">
              <a:spcBef>
                <a:spcPts val="500"/>
              </a:spcBef>
            </a:pPr>
            <a:r>
              <a:rPr sz="1150" b="0" i="0">
                <a:solidFill>
                  <a:srgbClr val="1A1A1A"/>
                </a:solidFill>
                <a:latin typeface="Abadi"/>
              </a:rPr>
              <a:t>▪  Giant-cell transformation, non-specific hepatitis</a:t>
            </a:r>
          </a:p>
          <a:p>
            <a:pPr algn="l">
              <a:spcBef>
                <a:spcPts val="500"/>
              </a:spcBef>
            </a:pPr>
            <a:r>
              <a:rPr sz="1150" b="0" i="0">
                <a:solidFill>
                  <a:srgbClr val="1A1A1A"/>
                </a:solidFill>
                <a:latin typeface="Abadi"/>
              </a:rPr>
              <a:t>▪  Fibrosis in some</a:t>
            </a:r>
          </a:p>
        </p:txBody>
      </p:sp>
      <p:sp>
        <p:nvSpPr>
          <p:cNvPr id="32" name="Rectangle 31"/>
          <p:cNvSpPr/>
          <p:nvPr/>
        </p:nvSpPr>
        <p:spPr>
          <a:xfrm>
            <a:off x="4328159" y="3840480"/>
            <a:ext cx="3532632" cy="187451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28159" y="3840480"/>
            <a:ext cx="353263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11039" y="4078224"/>
            <a:ext cx="3166872" cy="384048"/>
          </a:xfrm>
          <a:prstGeom prst="rect">
            <a:avLst/>
          </a:prstGeom>
          <a:noFill/>
        </p:spPr>
        <p:txBody>
          <a:bodyPr wrap="square" lIns="36576" rIns="36576" tIns="18288" bIns="18288" anchor="t">
            <a:spAutoFit/>
          </a:bodyPr>
          <a:lstStyle/>
          <a:p>
            <a:pPr algn="l"/>
            <a:r>
              <a:rPr sz="1400" b="1" i="0">
                <a:solidFill>
                  <a:srgbClr val="1A1A1A"/>
                </a:solidFill>
                <a:latin typeface="Abadi"/>
              </a:rPr>
              <a:t>Immunostaining</a:t>
            </a:r>
          </a:p>
        </p:txBody>
      </p:sp>
      <p:sp>
        <p:nvSpPr>
          <p:cNvPr id="35" name="TextBox 34"/>
          <p:cNvSpPr txBox="1"/>
          <p:nvPr/>
        </p:nvSpPr>
        <p:spPr>
          <a:xfrm>
            <a:off x="4511039" y="4553712"/>
            <a:ext cx="3166872" cy="1051560"/>
          </a:xfrm>
          <a:prstGeom prst="rect">
            <a:avLst/>
          </a:prstGeom>
          <a:noFill/>
        </p:spPr>
        <p:txBody>
          <a:bodyPr wrap="square" lIns="36576" rIns="36576" tIns="18288" bIns="18288" anchor="t">
            <a:spAutoFit/>
          </a:bodyPr>
          <a:lstStyle/>
          <a:p>
            <a:pPr algn="l"/>
            <a:r>
              <a:rPr sz="1150" b="0" i="0">
                <a:solidFill>
                  <a:srgbClr val="1A1A1A"/>
                </a:solidFill>
                <a:latin typeface="Abadi"/>
              </a:rPr>
              <a:t>▪  Reduced canalicular BSEP and MDR3</a:t>
            </a:r>
          </a:p>
          <a:p>
            <a:pPr algn="l">
              <a:spcBef>
                <a:spcPts val="500"/>
              </a:spcBef>
            </a:pPr>
            <a:r>
              <a:rPr sz="1150" b="0" i="0">
                <a:solidFill>
                  <a:srgbClr val="1A1A1A"/>
                </a:solidFill>
                <a:latin typeface="Abadi"/>
              </a:rPr>
              <a:t>▪  Reduced MRP2 in two</a:t>
            </a:r>
          </a:p>
          <a:p>
            <a:pPr algn="l">
              <a:spcBef>
                <a:spcPts val="500"/>
              </a:spcBef>
            </a:pPr>
            <a:r>
              <a:rPr sz="1150" b="0" i="0">
                <a:solidFill>
                  <a:srgbClr val="1A1A1A"/>
                </a:solidFill>
                <a:latin typeface="Abadi"/>
              </a:rPr>
              <a:t>▪  No ABCB11 or ATP8B1 variant in six sequenced</a:t>
            </a:r>
          </a:p>
        </p:txBody>
      </p:sp>
      <p:sp>
        <p:nvSpPr>
          <p:cNvPr id="36" name="Rectangle 35"/>
          <p:cNvSpPr/>
          <p:nvPr/>
        </p:nvSpPr>
        <p:spPr>
          <a:xfrm>
            <a:off x="8107679" y="3840480"/>
            <a:ext cx="3532632" cy="187451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07679" y="3840480"/>
            <a:ext cx="353263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90559" y="4078224"/>
            <a:ext cx="3166872" cy="384048"/>
          </a:xfrm>
          <a:prstGeom prst="rect">
            <a:avLst/>
          </a:prstGeom>
          <a:noFill/>
        </p:spPr>
        <p:txBody>
          <a:bodyPr wrap="square" lIns="36576" rIns="36576" tIns="18288" bIns="18288" anchor="t">
            <a:spAutoFit/>
          </a:bodyPr>
          <a:lstStyle/>
          <a:p>
            <a:pPr algn="l"/>
            <a:r>
              <a:rPr sz="1400" b="1" i="0">
                <a:solidFill>
                  <a:srgbClr val="1A1A1A"/>
                </a:solidFill>
                <a:latin typeface="Abadi"/>
              </a:rPr>
              <a:t>Outcome</a:t>
            </a:r>
          </a:p>
        </p:txBody>
      </p:sp>
      <p:sp>
        <p:nvSpPr>
          <p:cNvPr id="39" name="TextBox 38"/>
          <p:cNvSpPr txBox="1"/>
          <p:nvPr/>
        </p:nvSpPr>
        <p:spPr>
          <a:xfrm>
            <a:off x="8290559" y="4553712"/>
            <a:ext cx="3166872" cy="1051560"/>
          </a:xfrm>
          <a:prstGeom prst="rect">
            <a:avLst/>
          </a:prstGeom>
          <a:noFill/>
        </p:spPr>
        <p:txBody>
          <a:bodyPr wrap="square" lIns="36576" rIns="36576" tIns="18288" bIns="18288" anchor="t">
            <a:spAutoFit/>
          </a:bodyPr>
          <a:lstStyle/>
          <a:p>
            <a:pPr algn="l"/>
            <a:r>
              <a:rPr sz="1150" b="0" i="0">
                <a:solidFill>
                  <a:srgbClr val="1A1A1A"/>
                </a:solidFill>
                <a:latin typeface="Abadi"/>
              </a:rPr>
              <a:t>▪  Normalisation at median 6 months (3–9)</a:t>
            </a:r>
          </a:p>
          <a:p>
            <a:pPr algn="l">
              <a:spcBef>
                <a:spcPts val="500"/>
              </a:spcBef>
            </a:pPr>
            <a:r>
              <a:rPr sz="1150" b="0" i="0">
                <a:solidFill>
                  <a:srgbClr val="1A1A1A"/>
                </a:solidFill>
                <a:latin typeface="Abadi"/>
              </a:rPr>
              <a:t>▪  Good prognosis once replaced</a:t>
            </a:r>
          </a:p>
          <a:p>
            <a:pPr algn="l">
              <a:spcBef>
                <a:spcPts val="500"/>
              </a:spcBef>
            </a:pPr>
            <a:r>
              <a:rPr sz="1150" b="0" i="0">
                <a:solidFill>
                  <a:srgbClr val="1A1A1A"/>
                </a:solidFill>
                <a:latin typeface="Abadi"/>
              </a:rPr>
              <a:t>▪  Recovered on replacement alone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THE GGT TRAP</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GGT CANNOT EXCLUDE AN ENDOCRINE CAUSE</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Share of cholestatic hypopituitary infants with a normal GGT, by series,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8</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Braslavsky 2011 · Grammatikopoulos 2018 · Gagliano C, et al. Front Pediatr 2025;13:1562573 · Liao X, et al. Transl Pediatr 2026;15:202</a:t>
            </a:r>
          </a:p>
        </p:txBody>
      </p:sp>
      <p:sp>
        <p:nvSpPr>
          <p:cNvPr id="12" name="Rectangle 11"/>
          <p:cNvSpPr/>
          <p:nvPr/>
        </p:nvSpPr>
        <p:spPr>
          <a:xfrm>
            <a:off x="548640" y="1874520"/>
            <a:ext cx="137160" cy="1371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10512"/>
            <a:ext cx="2377440" cy="256032"/>
          </a:xfrm>
          <a:prstGeom prst="rect">
            <a:avLst/>
          </a:prstGeom>
          <a:noFill/>
        </p:spPr>
        <p:txBody>
          <a:bodyPr wrap="square" lIns="36576" rIns="36576" tIns="18288" bIns="18288" anchor="t">
            <a:spAutoFit/>
          </a:bodyPr>
          <a:lstStyle/>
          <a:p>
            <a:pPr algn="l"/>
            <a:r>
              <a:rPr sz="950" b="0" i="0">
                <a:solidFill>
                  <a:srgbClr val="1A1A1A"/>
                </a:solidFill>
                <a:latin typeface="Abadi"/>
              </a:rPr>
              <a:t>Normal GGT</a:t>
            </a:r>
          </a:p>
        </p:txBody>
      </p:sp>
      <p:sp>
        <p:nvSpPr>
          <p:cNvPr id="14" name="Rectangle 13"/>
          <p:cNvSpPr/>
          <p:nvPr/>
        </p:nvSpPr>
        <p:spPr>
          <a:xfrm>
            <a:off x="548640" y="5120640"/>
            <a:ext cx="603504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87551" y="3425081"/>
            <a:ext cx="630936" cy="169555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39" y="3150761"/>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44%</a:t>
            </a:r>
          </a:p>
        </p:txBody>
      </p:sp>
      <p:sp>
        <p:nvSpPr>
          <p:cNvPr id="17" name="TextBox 16"/>
          <p:cNvSpPr txBox="1"/>
          <p:nvPr/>
        </p:nvSpPr>
        <p:spPr>
          <a:xfrm>
            <a:off x="548640" y="5166359"/>
            <a:ext cx="1508760" cy="411480"/>
          </a:xfrm>
          <a:prstGeom prst="rect">
            <a:avLst/>
          </a:prstGeom>
          <a:noFill/>
        </p:spPr>
        <p:txBody>
          <a:bodyPr wrap="square" lIns="36576" rIns="36576" tIns="18288" bIns="18288" anchor="t">
            <a:spAutoFit/>
          </a:bodyPr>
          <a:lstStyle/>
          <a:p>
            <a:pPr algn="ctr"/>
            <a:r>
              <a:rPr sz="950" b="0" i="0">
                <a:solidFill>
                  <a:srgbClr val="1A1A1A"/>
                </a:solidFill>
                <a:latin typeface="Abadi"/>
              </a:rPr>
              <a:t>Braslavsky, n = 16</a:t>
            </a:r>
          </a:p>
        </p:txBody>
      </p:sp>
      <p:sp>
        <p:nvSpPr>
          <p:cNvPr id="18" name="Rectangle 17"/>
          <p:cNvSpPr/>
          <p:nvPr/>
        </p:nvSpPr>
        <p:spPr>
          <a:xfrm>
            <a:off x="2496312" y="2808514"/>
            <a:ext cx="630936" cy="2312125"/>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0" y="2534194"/>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60%</a:t>
            </a:r>
          </a:p>
        </p:txBody>
      </p:sp>
      <p:sp>
        <p:nvSpPr>
          <p:cNvPr id="20" name="TextBox 19"/>
          <p:cNvSpPr txBox="1"/>
          <p:nvPr/>
        </p:nvSpPr>
        <p:spPr>
          <a:xfrm>
            <a:off x="2057400" y="5166359"/>
            <a:ext cx="1508760" cy="411480"/>
          </a:xfrm>
          <a:prstGeom prst="rect">
            <a:avLst/>
          </a:prstGeom>
          <a:noFill/>
        </p:spPr>
        <p:txBody>
          <a:bodyPr wrap="square" lIns="36576" rIns="36576" tIns="18288" bIns="18288" anchor="t">
            <a:spAutoFit/>
          </a:bodyPr>
          <a:lstStyle/>
          <a:p>
            <a:pPr algn="ctr"/>
            <a:r>
              <a:rPr sz="950" b="0" i="0">
                <a:solidFill>
                  <a:srgbClr val="1A1A1A"/>
                </a:solidFill>
                <a:latin typeface="Abadi"/>
              </a:rPr>
              <a:t>King's biopsied, n = 10</a:t>
            </a:r>
          </a:p>
        </p:txBody>
      </p:sp>
      <p:sp>
        <p:nvSpPr>
          <p:cNvPr id="21" name="Rectangle 20"/>
          <p:cNvSpPr/>
          <p:nvPr/>
        </p:nvSpPr>
        <p:spPr>
          <a:xfrm>
            <a:off x="4005072" y="3463616"/>
            <a:ext cx="630936" cy="1657023"/>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94759" y="3189296"/>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43%</a:t>
            </a:r>
          </a:p>
        </p:txBody>
      </p:sp>
      <p:sp>
        <p:nvSpPr>
          <p:cNvPr id="23" name="TextBox 22"/>
          <p:cNvSpPr txBox="1"/>
          <p:nvPr/>
        </p:nvSpPr>
        <p:spPr>
          <a:xfrm>
            <a:off x="3566160" y="5166359"/>
            <a:ext cx="1508760" cy="411480"/>
          </a:xfrm>
          <a:prstGeom prst="rect">
            <a:avLst/>
          </a:prstGeom>
          <a:noFill/>
        </p:spPr>
        <p:txBody>
          <a:bodyPr wrap="square" lIns="36576" rIns="36576" tIns="18288" bIns="18288" anchor="t">
            <a:spAutoFit/>
          </a:bodyPr>
          <a:lstStyle/>
          <a:p>
            <a:pPr algn="ctr"/>
            <a:r>
              <a:rPr sz="950" b="0" i="0">
                <a:solidFill>
                  <a:srgbClr val="1A1A1A"/>
                </a:solidFill>
                <a:latin typeface="Abadi"/>
              </a:rPr>
              <a:t>Pooled, low end</a:t>
            </a:r>
          </a:p>
        </p:txBody>
      </p:sp>
      <p:sp>
        <p:nvSpPr>
          <p:cNvPr id="24" name="Rectangle 23"/>
          <p:cNvSpPr/>
          <p:nvPr/>
        </p:nvSpPr>
        <p:spPr>
          <a:xfrm>
            <a:off x="5513831" y="2924120"/>
            <a:ext cx="630936" cy="2196519"/>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19" y="2649800"/>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57%</a:t>
            </a:r>
          </a:p>
        </p:txBody>
      </p:sp>
      <p:sp>
        <p:nvSpPr>
          <p:cNvPr id="26" name="TextBox 25"/>
          <p:cNvSpPr txBox="1"/>
          <p:nvPr/>
        </p:nvSpPr>
        <p:spPr>
          <a:xfrm>
            <a:off x="5074919" y="5166359"/>
            <a:ext cx="1508760" cy="411480"/>
          </a:xfrm>
          <a:prstGeom prst="rect">
            <a:avLst/>
          </a:prstGeom>
          <a:noFill/>
        </p:spPr>
        <p:txBody>
          <a:bodyPr wrap="square" lIns="36576" rIns="36576" tIns="18288" bIns="18288" anchor="t">
            <a:spAutoFit/>
          </a:bodyPr>
          <a:lstStyle/>
          <a:p>
            <a:pPr algn="ctr"/>
            <a:r>
              <a:rPr sz="950" b="0" i="0">
                <a:solidFill>
                  <a:srgbClr val="1A1A1A"/>
                </a:solidFill>
                <a:latin typeface="Abadi"/>
              </a:rPr>
              <a:t>Pooled, high end</a:t>
            </a:r>
          </a:p>
        </p:txBody>
      </p:sp>
      <p:sp>
        <p:nvSpPr>
          <p:cNvPr id="27" name="TextBox 26"/>
          <p:cNvSpPr txBox="1"/>
          <p:nvPr/>
        </p:nvSpPr>
        <p:spPr>
          <a:xfrm>
            <a:off x="7132320" y="1783080"/>
            <a:ext cx="4526280" cy="3931920"/>
          </a:xfrm>
          <a:prstGeom prst="rect">
            <a:avLst/>
          </a:prstGeom>
          <a:noFill/>
        </p:spPr>
        <p:txBody>
          <a:bodyPr wrap="square" lIns="36576" rIns="36576" tIns="18288" bIns="18288" anchor="t">
            <a:spAutoFit/>
          </a:bodyPr>
          <a:lstStyle/>
          <a:p>
            <a:pPr algn="l"/>
            <a:r>
              <a:rPr sz="1700" b="1" i="0">
                <a:solidFill>
                  <a:srgbClr val="1B355E"/>
                </a:solidFill>
                <a:latin typeface="Abadi"/>
              </a:rPr>
              <a:t>About half</a:t>
            </a:r>
          </a:p>
          <a:p>
            <a:pPr algn="l">
              <a:spcBef>
                <a:spcPts val="300"/>
              </a:spcBef>
            </a:pPr>
            <a:r>
              <a:rPr sz="1100" b="0" i="0">
                <a:solidFill>
                  <a:srgbClr val="1A1A1A"/>
                </a:solidFill>
                <a:latin typeface="Abadi"/>
              </a:rPr>
              <a:t>Normal or low GGT in roughly half of cases across series; raised GGT in the other half (mean 411 U/L in the Thai series).</a:t>
            </a:r>
          </a:p>
          <a:p>
            <a:pPr algn="l">
              <a:spcBef>
                <a:spcPts val="300"/>
              </a:spcBef>
            </a:pPr>
            <a:r>
              <a:rPr sz="1700" b="1" i="0">
                <a:solidFill>
                  <a:srgbClr val="1B355E"/>
                </a:solidFill>
                <a:latin typeface="Abadi"/>
              </a:rPr>
              <a:t>Low-GGT differential</a:t>
            </a:r>
          </a:p>
          <a:p>
            <a:pPr algn="l">
              <a:spcBef>
                <a:spcPts val="300"/>
              </a:spcBef>
            </a:pPr>
            <a:r>
              <a:rPr sz="1100" b="0" i="0">
                <a:solidFill>
                  <a:srgbClr val="1A1A1A"/>
                </a:solidFill>
                <a:latin typeface="Abadi"/>
              </a:rPr>
              <a:t>PFIC 1, 2 and others, bile acid synthesis defects, ARC syndrome, and endocrine cholestasis. Add free T4, TSH and cortisol before genetic panels return.</a:t>
            </a:r>
          </a:p>
          <a:p>
            <a:pPr algn="l">
              <a:spcBef>
                <a:spcPts val="300"/>
              </a:spcBef>
            </a:pPr>
            <a:r>
              <a:rPr sz="1700" b="1" i="0">
                <a:solidFill>
                  <a:srgbClr val="1B355E"/>
                </a:solidFill>
                <a:latin typeface="Abadi"/>
              </a:rPr>
              <a:t>High-GGT differential</a:t>
            </a:r>
          </a:p>
          <a:p>
            <a:pPr algn="l">
              <a:spcBef>
                <a:spcPts val="300"/>
              </a:spcBef>
            </a:pPr>
            <a:r>
              <a:rPr sz="1100" b="0" i="0">
                <a:solidFill>
                  <a:srgbClr val="1A1A1A"/>
                </a:solidFill>
                <a:latin typeface="Abadi"/>
              </a:rPr>
              <a:t>Endocrine cholestasis can also sit in the atresia range. A pale stool still mandates the atresia pathway on schedule.</a:t>
            </a:r>
          </a:p>
          <a:p>
            <a:pPr algn="l">
              <a:spcBef>
                <a:spcPts val="300"/>
              </a:spcBef>
            </a:pPr>
            <a:r>
              <a:rPr sz="1700" b="1" i="0">
                <a:solidFill>
                  <a:srgbClr val="1B355E"/>
                </a:solidFill>
                <a:latin typeface="Abadi"/>
              </a:rPr>
              <a:t>A twist</a:t>
            </a:r>
          </a:p>
          <a:p>
            <a:pPr algn="l">
              <a:spcBef>
                <a:spcPts val="300"/>
              </a:spcBef>
            </a:pPr>
            <a:r>
              <a:rPr sz="1100" b="0" i="0">
                <a:solidFill>
                  <a:srgbClr val="1A1A1A"/>
                </a:solidFill>
                <a:latin typeface="Abadi"/>
              </a:rPr>
              <a:t>In one case GGT rose from 20 to 131 U/L five days after hydrocortisone, as transport recovered.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CORTISOL IS THE DRIVER</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THE DEEPER THE CORTISOL, THE MORE THE JAUNDICE</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Plasma cortisol in infants with stalk interruption, cholestatic versus not, ng/mL (median and mean as reported)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9</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Mauvais FX, et al. PLoS ONE 2016;11:e0147750 · Braslavsky 2011 · Al-Hussaini A, et al. Saudi J Gastroenterol 2012;18:339–41</a:t>
            </a:r>
          </a:p>
        </p:txBody>
      </p:sp>
      <p:sp>
        <p:nvSpPr>
          <p:cNvPr id="12" name="Rectangle 11"/>
          <p:cNvSpPr/>
          <p:nvPr/>
        </p:nvSpPr>
        <p:spPr>
          <a:xfrm>
            <a:off x="548640" y="1874520"/>
            <a:ext cx="137160" cy="1371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10512"/>
            <a:ext cx="2377440" cy="256032"/>
          </a:xfrm>
          <a:prstGeom prst="rect">
            <a:avLst/>
          </a:prstGeom>
          <a:noFill/>
        </p:spPr>
        <p:txBody>
          <a:bodyPr wrap="square" lIns="36576" rIns="36576" tIns="18288" bIns="18288" anchor="t">
            <a:spAutoFit/>
          </a:bodyPr>
          <a:lstStyle/>
          <a:p>
            <a:pPr algn="l"/>
            <a:r>
              <a:rPr sz="950" b="0" i="0">
                <a:solidFill>
                  <a:srgbClr val="1A1A1A"/>
                </a:solidFill>
                <a:latin typeface="Abadi"/>
              </a:rPr>
              <a:t>Plasma cortisol</a:t>
            </a:r>
          </a:p>
        </p:txBody>
      </p:sp>
      <p:sp>
        <p:nvSpPr>
          <p:cNvPr id="14" name="Rectangle 13"/>
          <p:cNvSpPr/>
          <p:nvPr/>
        </p:nvSpPr>
        <p:spPr>
          <a:xfrm>
            <a:off x="548640" y="5120640"/>
            <a:ext cx="475488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21892" y="4748987"/>
            <a:ext cx="630936" cy="3716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11580" y="4474667"/>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12.4 ng/mL</a:t>
            </a:r>
          </a:p>
        </p:txBody>
      </p:sp>
      <p:sp>
        <p:nvSpPr>
          <p:cNvPr id="17" name="TextBox 16"/>
          <p:cNvSpPr txBox="1"/>
          <p:nvPr/>
        </p:nvSpPr>
        <p:spPr>
          <a:xfrm>
            <a:off x="548640" y="5166359"/>
            <a:ext cx="2377440" cy="411480"/>
          </a:xfrm>
          <a:prstGeom prst="rect">
            <a:avLst/>
          </a:prstGeom>
          <a:noFill/>
        </p:spPr>
        <p:txBody>
          <a:bodyPr wrap="square" lIns="36576" rIns="36576" tIns="18288" bIns="18288" anchor="t">
            <a:spAutoFit/>
          </a:bodyPr>
          <a:lstStyle/>
          <a:p>
            <a:pPr algn="ctr"/>
            <a:r>
              <a:rPr sz="950" b="0" i="0">
                <a:solidFill>
                  <a:srgbClr val="1A1A1A"/>
                </a:solidFill>
                <a:latin typeface="Abadi"/>
              </a:rPr>
              <a:t>Cholestatic, n = 5</a:t>
            </a:r>
          </a:p>
        </p:txBody>
      </p:sp>
      <p:sp>
        <p:nvSpPr>
          <p:cNvPr id="18" name="Rectangle 17"/>
          <p:cNvSpPr/>
          <p:nvPr/>
        </p:nvSpPr>
        <p:spPr>
          <a:xfrm>
            <a:off x="3799332" y="2740863"/>
            <a:ext cx="630936" cy="237977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89020" y="2466543"/>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79.4 ng/mL</a:t>
            </a:r>
          </a:p>
        </p:txBody>
      </p:sp>
      <p:sp>
        <p:nvSpPr>
          <p:cNvPr id="20" name="TextBox 19"/>
          <p:cNvSpPr txBox="1"/>
          <p:nvPr/>
        </p:nvSpPr>
        <p:spPr>
          <a:xfrm>
            <a:off x="2926080" y="5166359"/>
            <a:ext cx="2377440" cy="411480"/>
          </a:xfrm>
          <a:prstGeom prst="rect">
            <a:avLst/>
          </a:prstGeom>
          <a:noFill/>
        </p:spPr>
        <p:txBody>
          <a:bodyPr wrap="square" lIns="36576" rIns="36576" tIns="18288" bIns="18288" anchor="t">
            <a:spAutoFit/>
          </a:bodyPr>
          <a:lstStyle/>
          <a:p>
            <a:pPr algn="ctr"/>
            <a:r>
              <a:rPr sz="950" b="0" i="0">
                <a:solidFill>
                  <a:srgbClr val="1A1A1A"/>
                </a:solidFill>
                <a:latin typeface="Abadi"/>
              </a:rPr>
              <a:t>Not cholestatic, n = 11</a:t>
            </a:r>
          </a:p>
        </p:txBody>
      </p:sp>
      <p:sp>
        <p:nvSpPr>
          <p:cNvPr id="21" name="TextBox 20"/>
          <p:cNvSpPr txBox="1"/>
          <p:nvPr/>
        </p:nvSpPr>
        <p:spPr>
          <a:xfrm>
            <a:off x="6035040" y="1783080"/>
            <a:ext cx="5577840" cy="3931920"/>
          </a:xfrm>
          <a:prstGeom prst="rect">
            <a:avLst/>
          </a:prstGeom>
          <a:noFill/>
        </p:spPr>
        <p:txBody>
          <a:bodyPr wrap="square" lIns="36576" rIns="36576" tIns="18288" bIns="18288" anchor="t">
            <a:spAutoFit/>
          </a:bodyPr>
          <a:lstStyle/>
          <a:p>
            <a:pPr algn="l"/>
            <a:r>
              <a:rPr sz="1700" b="1" i="0">
                <a:solidFill>
                  <a:srgbClr val="1B355E"/>
                </a:solidFill>
                <a:latin typeface="Abadi"/>
              </a:rPr>
              <a:t>p = 0.04</a:t>
            </a:r>
          </a:p>
          <a:p>
            <a:pPr algn="l">
              <a:spcBef>
                <a:spcPts val="300"/>
              </a:spcBef>
            </a:pPr>
            <a:r>
              <a:rPr sz="1100" b="0" i="0">
                <a:solidFill>
                  <a:srgbClr val="1A1A1A"/>
                </a:solidFill>
                <a:latin typeface="Abadi"/>
              </a:rPr>
              <a:t>Cortisol 12.4 ng/mL (8–15) in cholestatic infants versus 79.4 ng/mL (10–210) in those without cholestasis.</a:t>
            </a:r>
          </a:p>
          <a:p>
            <a:pPr algn="l">
              <a:spcBef>
                <a:spcPts val="300"/>
              </a:spcBef>
            </a:pPr>
            <a:r>
              <a:rPr sz="1700" b="1" i="0">
                <a:solidFill>
                  <a:srgbClr val="1B355E"/>
                </a:solidFill>
                <a:latin typeface="Abadi"/>
              </a:rPr>
              <a:t>Isolated cortisol deficiency is enough</a:t>
            </a:r>
          </a:p>
          <a:p>
            <a:pPr algn="l">
              <a:spcBef>
                <a:spcPts val="300"/>
              </a:spcBef>
            </a:pPr>
            <a:r>
              <a:rPr sz="1100" b="0" i="0">
                <a:solidFill>
                  <a:srgbClr val="1A1A1A"/>
                </a:solidFill>
                <a:latin typeface="Abadi"/>
              </a:rPr>
              <a:t>Four infants with isolated ACTH or cortisol deficiency became cholestatic and cleared in about 3 months on hydrocortisone alone.</a:t>
            </a:r>
          </a:p>
          <a:p>
            <a:pPr algn="l">
              <a:spcBef>
                <a:spcPts val="300"/>
              </a:spcBef>
            </a:pPr>
            <a:r>
              <a:rPr sz="1700" b="1" i="0">
                <a:solidFill>
                  <a:srgbClr val="1B355E"/>
                </a:solidFill>
                <a:latin typeface="Abadi"/>
              </a:rPr>
              <a:t>Faster without the other axes</a:t>
            </a:r>
          </a:p>
          <a:p>
            <a:pPr algn="l">
              <a:spcBef>
                <a:spcPts val="300"/>
              </a:spcBef>
            </a:pPr>
            <a:r>
              <a:rPr sz="1100" b="0" i="0">
                <a:solidFill>
                  <a:srgbClr val="1A1A1A"/>
                </a:solidFill>
                <a:latin typeface="Abadi"/>
              </a:rPr>
              <a:t>In Buenos Aires, isolated hypocortisolism remitted faster than multiple deficiency (p = 0.01).</a:t>
            </a:r>
          </a:p>
          <a:p>
            <a:pPr algn="l">
              <a:spcBef>
                <a:spcPts val="300"/>
              </a:spcBef>
            </a:pPr>
            <a:r>
              <a:rPr sz="1700" b="1" i="0">
                <a:solidFill>
                  <a:srgbClr val="1B355E"/>
                </a:solidFill>
                <a:latin typeface="Abadi"/>
              </a:rPr>
              <a:t>GH: supporting, not leading</a:t>
            </a:r>
          </a:p>
          <a:p>
            <a:pPr algn="l">
              <a:spcBef>
                <a:spcPts val="300"/>
              </a:spcBef>
            </a:pPr>
            <a:r>
              <a:rPr sz="1100" b="0" i="0">
                <a:solidFill>
                  <a:srgbClr val="1A1A1A"/>
                </a:solidFill>
                <a:latin typeface="Abadi"/>
              </a:rPr>
              <a:t>GR and STAT5 interact in the hepatocyte; evidence for GH alone causing neonatal cholestasis is indirect.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BEDSIDE CLUES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LOOK AT THE SUGAR, THE GENITALS AND THE EYES</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Findings that should move endocrine testing to the first day of a cholestasis workup</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10</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Kurtoğlu S, et al. J Clin Res Pediatr Endocrinol 2019;11:4–12 · Braslavsky 2011 · Karnsakul 2007 · Webb EA, Dattani MT. Eur J Hum Genet 2010;18:393–7</a:t>
            </a:r>
          </a:p>
        </p:txBody>
      </p:sp>
      <p:sp>
        <p:nvSpPr>
          <p:cNvPr id="12" name="Rectangle 11"/>
          <p:cNvSpPr/>
          <p:nvPr/>
        </p:nvSpPr>
        <p:spPr>
          <a:xfrm>
            <a:off x="548640" y="1783080"/>
            <a:ext cx="2587752" cy="23774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Glucose</a:t>
            </a:r>
          </a:p>
        </p:txBody>
      </p:sp>
      <p:sp>
        <p:nvSpPr>
          <p:cNvPr id="15" name="TextBox 14"/>
          <p:cNvSpPr txBox="1"/>
          <p:nvPr/>
        </p:nvSpPr>
        <p:spPr>
          <a:xfrm>
            <a:off x="731520" y="2496312"/>
            <a:ext cx="2221992" cy="1554480"/>
          </a:xfrm>
          <a:prstGeom prst="rect">
            <a:avLst/>
          </a:prstGeom>
          <a:noFill/>
        </p:spPr>
        <p:txBody>
          <a:bodyPr wrap="square" lIns="36576" rIns="36576" tIns="18288" bIns="18288" anchor="t">
            <a:spAutoFit/>
          </a:bodyPr>
          <a:lstStyle/>
          <a:p>
            <a:pPr algn="l"/>
            <a:r>
              <a:rPr sz="1250" b="0" i="0">
                <a:solidFill>
                  <a:srgbClr val="1A1A1A"/>
                </a:solidFill>
                <a:latin typeface="Abadi"/>
              </a:rPr>
              <a:t>▪  Hypoglycaemia called "transitional"</a:t>
            </a:r>
          </a:p>
          <a:p>
            <a:pPr algn="l">
              <a:spcBef>
                <a:spcPts val="500"/>
              </a:spcBef>
            </a:pPr>
            <a:r>
              <a:rPr sz="1250" b="0" i="0">
                <a:solidFill>
                  <a:srgbClr val="1A1A1A"/>
                </a:solidFill>
                <a:latin typeface="Abadi"/>
              </a:rPr>
              <a:t>▪  Recurrent lows with feeds</a:t>
            </a:r>
          </a:p>
          <a:p>
            <a:pPr algn="l">
              <a:spcBef>
                <a:spcPts val="500"/>
              </a:spcBef>
            </a:pPr>
            <a:r>
              <a:rPr sz="1250" b="0" i="0">
                <a:solidFill>
                  <a:srgbClr val="1A1A1A"/>
                </a:solidFill>
                <a:latin typeface="Abadi"/>
              </a:rPr>
              <a:t>▪  High glucose requirement</a:t>
            </a:r>
          </a:p>
        </p:txBody>
      </p:sp>
      <p:sp>
        <p:nvSpPr>
          <p:cNvPr id="16" name="Rectangle 15"/>
          <p:cNvSpPr/>
          <p:nvPr/>
        </p:nvSpPr>
        <p:spPr>
          <a:xfrm>
            <a:off x="3383280" y="1783080"/>
            <a:ext cx="2587752" cy="23774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Genitals</a:t>
            </a:r>
          </a:p>
        </p:txBody>
      </p:sp>
      <p:sp>
        <p:nvSpPr>
          <p:cNvPr id="19" name="TextBox 18"/>
          <p:cNvSpPr txBox="1"/>
          <p:nvPr/>
        </p:nvSpPr>
        <p:spPr>
          <a:xfrm>
            <a:off x="3566160" y="2496312"/>
            <a:ext cx="2221992" cy="1554480"/>
          </a:xfrm>
          <a:prstGeom prst="rect">
            <a:avLst/>
          </a:prstGeom>
          <a:noFill/>
        </p:spPr>
        <p:txBody>
          <a:bodyPr wrap="square" lIns="36576" rIns="36576" tIns="18288" bIns="18288" anchor="t">
            <a:spAutoFit/>
          </a:bodyPr>
          <a:lstStyle/>
          <a:p>
            <a:pPr algn="l"/>
            <a:r>
              <a:rPr sz="1250" b="0" i="0">
                <a:solidFill>
                  <a:srgbClr val="1A1A1A"/>
                </a:solidFill>
                <a:latin typeface="Abadi"/>
              </a:rPr>
              <a:t>▪  Micropenis: stretched length under 2.5 cm at term</a:t>
            </a:r>
          </a:p>
          <a:p>
            <a:pPr algn="l">
              <a:spcBef>
                <a:spcPts val="500"/>
              </a:spcBef>
            </a:pPr>
            <a:r>
              <a:rPr sz="1250" b="0" i="0">
                <a:solidFill>
                  <a:srgbClr val="1A1A1A"/>
                </a:solidFill>
                <a:latin typeface="Abadi"/>
              </a:rPr>
              <a:t>▪  Undescended testes</a:t>
            </a:r>
          </a:p>
          <a:p>
            <a:pPr algn="l">
              <a:spcBef>
                <a:spcPts val="500"/>
              </a:spcBef>
            </a:pPr>
            <a:r>
              <a:rPr sz="1250" b="0" i="0">
                <a:solidFill>
                  <a:srgbClr val="1A1A1A"/>
                </a:solidFill>
                <a:latin typeface="Abadi"/>
              </a:rPr>
              <a:t>▪  Low LH and testosterone in mini-puberty</a:t>
            </a:r>
          </a:p>
        </p:txBody>
      </p:sp>
      <p:sp>
        <p:nvSpPr>
          <p:cNvPr id="20" name="Rectangle 19"/>
          <p:cNvSpPr/>
          <p:nvPr/>
        </p:nvSpPr>
        <p:spPr>
          <a:xfrm>
            <a:off x="6217920" y="1783080"/>
            <a:ext cx="2587752" cy="23774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Eyes and midline</a:t>
            </a:r>
          </a:p>
        </p:txBody>
      </p:sp>
      <p:sp>
        <p:nvSpPr>
          <p:cNvPr id="23" name="TextBox 22"/>
          <p:cNvSpPr txBox="1"/>
          <p:nvPr/>
        </p:nvSpPr>
        <p:spPr>
          <a:xfrm>
            <a:off x="6400800" y="2496312"/>
            <a:ext cx="2221992" cy="1554480"/>
          </a:xfrm>
          <a:prstGeom prst="rect">
            <a:avLst/>
          </a:prstGeom>
          <a:noFill/>
        </p:spPr>
        <p:txBody>
          <a:bodyPr wrap="square" lIns="36576" rIns="36576" tIns="18288" bIns="18288" anchor="t">
            <a:spAutoFit/>
          </a:bodyPr>
          <a:lstStyle/>
          <a:p>
            <a:pPr algn="l"/>
            <a:r>
              <a:rPr sz="1250" b="0" i="0">
                <a:solidFill>
                  <a:srgbClr val="1A1A1A"/>
                </a:solidFill>
                <a:latin typeface="Abadi"/>
              </a:rPr>
              <a:t>▪  Roving nystagmus, poor fixing</a:t>
            </a:r>
          </a:p>
          <a:p>
            <a:pPr algn="l">
              <a:spcBef>
                <a:spcPts val="500"/>
              </a:spcBef>
            </a:pPr>
            <a:r>
              <a:rPr sz="1250" b="0" i="0">
                <a:solidFill>
                  <a:srgbClr val="1A1A1A"/>
                </a:solidFill>
                <a:latin typeface="Abadi"/>
              </a:rPr>
              <a:t>▪  Optic nerve hypoplasia</a:t>
            </a:r>
          </a:p>
          <a:p>
            <a:pPr algn="l">
              <a:spcBef>
                <a:spcPts val="500"/>
              </a:spcBef>
            </a:pPr>
            <a:r>
              <a:rPr sz="1250" b="0" i="0">
                <a:solidFill>
                  <a:srgbClr val="1A1A1A"/>
                </a:solidFill>
                <a:latin typeface="Abadi"/>
              </a:rPr>
              <a:t>▪  Absent septum pellucidum, cleft, single incisor</a:t>
            </a:r>
          </a:p>
        </p:txBody>
      </p:sp>
      <p:sp>
        <p:nvSpPr>
          <p:cNvPr id="24" name="Rectangle 23"/>
          <p:cNvSpPr/>
          <p:nvPr/>
        </p:nvSpPr>
        <p:spPr>
          <a:xfrm>
            <a:off x="9052560" y="1783080"/>
            <a:ext cx="2587752" cy="23774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Systemic</a:t>
            </a:r>
          </a:p>
        </p:txBody>
      </p:sp>
      <p:sp>
        <p:nvSpPr>
          <p:cNvPr id="27" name="TextBox 26"/>
          <p:cNvSpPr txBox="1"/>
          <p:nvPr/>
        </p:nvSpPr>
        <p:spPr>
          <a:xfrm>
            <a:off x="9235440" y="2496312"/>
            <a:ext cx="2221992" cy="1554480"/>
          </a:xfrm>
          <a:prstGeom prst="rect">
            <a:avLst/>
          </a:prstGeom>
          <a:noFill/>
        </p:spPr>
        <p:txBody>
          <a:bodyPr wrap="square" lIns="36576" rIns="36576" tIns="18288" bIns="18288" anchor="t">
            <a:spAutoFit/>
          </a:bodyPr>
          <a:lstStyle/>
          <a:p>
            <a:pPr algn="l"/>
            <a:r>
              <a:rPr sz="1250" b="0" i="0">
                <a:solidFill>
                  <a:srgbClr val="1A1A1A"/>
                </a:solidFill>
                <a:latin typeface="Abadi"/>
              </a:rPr>
              <a:t>▪  Low Apgar, breech birth</a:t>
            </a:r>
          </a:p>
          <a:p>
            <a:pPr algn="l">
              <a:spcBef>
                <a:spcPts val="500"/>
              </a:spcBef>
            </a:pPr>
            <a:r>
              <a:rPr sz="1250" b="0" i="0">
                <a:solidFill>
                  <a:srgbClr val="1A1A1A"/>
                </a:solidFill>
                <a:latin typeface="Abadi"/>
              </a:rPr>
              <a:t>▪  Sepsis-like collapse, hyponatraemia</a:t>
            </a:r>
          </a:p>
          <a:p>
            <a:pPr algn="l">
              <a:spcBef>
                <a:spcPts val="500"/>
              </a:spcBef>
            </a:pPr>
            <a:r>
              <a:rPr sz="1250" b="0" i="0">
                <a:solidFill>
                  <a:srgbClr val="1A1A1A"/>
                </a:solidFill>
                <a:latin typeface="Abadi"/>
              </a:rPr>
              <a:t>▪  Prolonged jaundice, poor feeding</a:t>
            </a:r>
          </a:p>
        </p:txBody>
      </p:sp>
      <p:sp>
        <p:nvSpPr>
          <p:cNvPr id="28" name="TextBox 27"/>
          <p:cNvSpPr txBox="1"/>
          <p:nvPr/>
        </p:nvSpPr>
        <p:spPr>
          <a:xfrm>
            <a:off x="548640" y="4389120"/>
            <a:ext cx="11091672" cy="1280160"/>
          </a:xfrm>
          <a:prstGeom prst="rect">
            <a:avLst/>
          </a:prstGeom>
          <a:noFill/>
        </p:spPr>
        <p:txBody>
          <a:bodyPr wrap="square" lIns="36576" rIns="36576" tIns="18288" bIns="18288" anchor="t">
            <a:spAutoFit/>
          </a:bodyPr>
          <a:lstStyle/>
          <a:p>
            <a:pPr algn="l"/>
            <a:r>
              <a:rPr sz="1250" b="1" i="0">
                <a:solidFill>
                  <a:srgbClr val="1B355E"/>
                </a:solidFill>
                <a:latin typeface="Abadi"/>
              </a:rPr>
              <a:t>Prevalence.  </a:t>
            </a:r>
            <a:r>
              <a:rPr sz="1250" b="0" i="0">
                <a:solidFill>
                  <a:srgbClr val="1A1A1A"/>
                </a:solidFill>
                <a:latin typeface="Abadi"/>
              </a:rPr>
              <a:t>Septo-optic dysplasia is quoted at about 1 in 10,000; the EUROCAT registry counted 1.9–2.5 per 100,000 births. Girls are not spared: no genital clue, so the sugar and the eyes carry the diagnosis.</a:t>
            </a:r>
          </a:p>
          <a:p>
            <a:pPr algn="l">
              <a:spcBef>
                <a:spcPts val="800"/>
              </a:spcBef>
            </a:pPr>
            <a:r>
              <a:rPr sz="1250" b="1" i="0">
                <a:solidFill>
                  <a:srgbClr val="1B355E"/>
                </a:solidFill>
                <a:latin typeface="Abadi"/>
              </a:rPr>
              <a:t>Exam habit.  </a:t>
            </a:r>
            <a:r>
              <a:rPr sz="1250" b="0" i="0">
                <a:solidFill>
                  <a:srgbClr val="1A1A1A"/>
                </a:solidFill>
                <a:latin typeface="Abadi"/>
              </a:rPr>
              <a:t>In every cholestatic infant: measure the stretched penile length, look for fixing and following, and read the glucose chart.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THE NEWBORN-SCREEN BLIND SPOT</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A NORMAL SCREEN DOES NOT CLEAR THE THYROID</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Netherlands T4–TSH–TBG screening: what a TSH-only programme would miss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11</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van Tijn DA, et al. J Clin Endocrinol Metab 2005;90:3350–9 · Lauffer P, et al. Front Endocrinol 2021;12:686317</a:t>
            </a:r>
          </a:p>
        </p:txBody>
      </p:sp>
      <p:sp>
        <p:nvSpPr>
          <p:cNvPr id="12" name="Rectangle 11"/>
          <p:cNvSpPr/>
          <p:nvPr/>
        </p:nvSpPr>
        <p:spPr>
          <a:xfrm>
            <a:off x="54864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097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1 in 16,404</a:t>
            </a:r>
          </a:p>
        </p:txBody>
      </p:sp>
      <p:sp>
        <p:nvSpPr>
          <p:cNvPr id="15" name="TextBox 14"/>
          <p:cNvSpPr txBox="1"/>
          <p:nvPr/>
        </p:nvSpPr>
        <p:spPr>
          <a:xfrm>
            <a:off x="73152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Central congenital hypothyroidism detected by T4-based screening (Dutch estimate)</a:t>
            </a:r>
          </a:p>
        </p:txBody>
      </p:sp>
      <p:sp>
        <p:nvSpPr>
          <p:cNvPr id="16" name="Rectangle 15"/>
          <p:cNvSpPr/>
          <p:nvPr/>
        </p:nvSpPr>
        <p:spPr>
          <a:xfrm>
            <a:off x="338328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0972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1 in 13,000</a:t>
            </a:r>
          </a:p>
        </p:txBody>
      </p:sp>
      <p:sp>
        <p:nvSpPr>
          <p:cNvPr id="19" name="TextBox 18"/>
          <p:cNvSpPr txBox="1"/>
          <p:nvPr/>
        </p:nvSpPr>
        <p:spPr>
          <a:xfrm>
            <a:off x="356616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True incidence once missed cases with multiple deficiency are added</a:t>
            </a:r>
          </a:p>
        </p:txBody>
      </p:sp>
      <p:sp>
        <p:nvSpPr>
          <p:cNvPr id="20" name="Rectangle 19"/>
          <p:cNvSpPr/>
          <p:nvPr/>
        </p:nvSpPr>
        <p:spPr>
          <a:xfrm>
            <a:off x="621792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0972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61–78%</a:t>
            </a:r>
          </a:p>
        </p:txBody>
      </p:sp>
      <p:sp>
        <p:nvSpPr>
          <p:cNvPr id="23" name="TextBox 22"/>
          <p:cNvSpPr txBox="1"/>
          <p:nvPr/>
        </p:nvSpPr>
        <p:spPr>
          <a:xfrm>
            <a:off x="640080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Screen-detected central hypothyroidism that is part of multiple pituitary deficiency</a:t>
            </a:r>
          </a:p>
        </p:txBody>
      </p:sp>
      <p:sp>
        <p:nvSpPr>
          <p:cNvPr id="24" name="Rectangle 23"/>
          <p:cNvSpPr/>
          <p:nvPr/>
        </p:nvSpPr>
        <p:spPr>
          <a:xfrm>
            <a:off x="9052560" y="1783080"/>
            <a:ext cx="2587752" cy="2057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0972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57400"/>
            <a:ext cx="2221992" cy="548640"/>
          </a:xfrm>
          <a:prstGeom prst="rect">
            <a:avLst/>
          </a:prstGeom>
          <a:noFill/>
        </p:spPr>
        <p:txBody>
          <a:bodyPr wrap="square" lIns="36576" rIns="36576" tIns="18288" bIns="18288" anchor="t">
            <a:spAutoFit/>
          </a:bodyPr>
          <a:lstStyle/>
          <a:p>
            <a:pPr algn="l"/>
            <a:r>
              <a:rPr sz="2600" b="1" i="0">
                <a:solidFill>
                  <a:srgbClr val="1B355E"/>
                </a:solidFill>
                <a:latin typeface="Abadi"/>
              </a:rPr>
              <a:t>Up to 14%</a:t>
            </a:r>
          </a:p>
        </p:txBody>
      </p:sp>
      <p:sp>
        <p:nvSpPr>
          <p:cNvPr id="27" name="TextBox 26"/>
          <p:cNvSpPr txBox="1"/>
          <p:nvPr/>
        </p:nvSpPr>
        <p:spPr>
          <a:xfrm>
            <a:off x="9235440" y="2697480"/>
            <a:ext cx="2221992" cy="1051560"/>
          </a:xfrm>
          <a:prstGeom prst="rect">
            <a:avLst/>
          </a:prstGeom>
          <a:noFill/>
        </p:spPr>
        <p:txBody>
          <a:bodyPr wrap="square" lIns="36576" rIns="36576" tIns="18288" bIns="18288" anchor="t">
            <a:spAutoFit/>
          </a:bodyPr>
          <a:lstStyle/>
          <a:p>
            <a:pPr algn="l"/>
            <a:r>
              <a:rPr sz="1150" b="0" i="0">
                <a:solidFill>
                  <a:srgbClr val="1A1A1A"/>
                </a:solidFill>
                <a:latin typeface="Abadi"/>
              </a:rPr>
              <a:t>Mortality reported when detection was late</a:t>
            </a:r>
          </a:p>
        </p:txBody>
      </p:sp>
      <p:sp>
        <p:nvSpPr>
          <p:cNvPr id="28" name="TextBox 27"/>
          <p:cNvSpPr txBox="1"/>
          <p:nvPr/>
        </p:nvSpPr>
        <p:spPr>
          <a:xfrm>
            <a:off x="548640" y="4069080"/>
            <a:ext cx="11091672" cy="1645920"/>
          </a:xfrm>
          <a:prstGeom prst="rect">
            <a:avLst/>
          </a:prstGeom>
          <a:noFill/>
        </p:spPr>
        <p:txBody>
          <a:bodyPr wrap="square" lIns="36576" rIns="36576" tIns="18288" bIns="18288" anchor="t">
            <a:spAutoFit/>
          </a:bodyPr>
          <a:lstStyle/>
          <a:p>
            <a:pPr algn="l"/>
            <a:r>
              <a:rPr sz="1250" b="1" i="0">
                <a:solidFill>
                  <a:srgbClr val="1B355E"/>
                </a:solidFill>
                <a:latin typeface="Abadi"/>
              </a:rPr>
              <a:t>Why TSH screens miss it.  </a:t>
            </a:r>
            <a:r>
              <a:rPr sz="1250" b="0" i="0">
                <a:solidFill>
                  <a:srgbClr val="1A1A1A"/>
                </a:solidFill>
                <a:latin typeface="Abadi"/>
              </a:rPr>
              <a:t>The pituitary cannot raise TSH, so TSH sits normal or only mildly raised while free T4 is low. Most US states and the UK screen on TSH; even the Dutch programme screens preterm infants on TSH alone.</a:t>
            </a:r>
          </a:p>
          <a:p>
            <a:pPr algn="l">
              <a:spcBef>
                <a:spcPts val="800"/>
              </a:spcBef>
            </a:pPr>
            <a:r>
              <a:rPr sz="1250" b="1" i="0">
                <a:solidFill>
                  <a:srgbClr val="1B355E"/>
                </a:solidFill>
                <a:latin typeface="Abadi"/>
              </a:rPr>
              <a:t>Consequence for the hepatologist.  </a:t>
            </a:r>
            <a:r>
              <a:rPr sz="1250" b="0" i="0">
                <a:solidFill>
                  <a:srgbClr val="1A1A1A"/>
                </a:solidFill>
                <a:latin typeface="Abadi"/>
              </a:rPr>
              <a:t>The 2017 guideline line "verify the newborn screen" is necessary but not sufficient. Measure free T4 and TSH together in every cholestatic infant.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READING THYROID TESTS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FREE T4 FIRST, TSH SECOND</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Interpreting thyroid tests in the cholestatic infant; neonatal reference limits run higher for the first 2–3 weeks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12</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van Trotsenburg P, et al. Thyroid 2021;31:387–419 (ESPE/ENDO-ERN) · Lauffer 2021 · Grammatikopoulos 2018</a:t>
            </a:r>
          </a:p>
        </p:txBody>
      </p:sp>
      <p:graphicFrame>
        <p:nvGraphicFramePr>
          <p:cNvPr id="12" name="Table 11"/>
          <p:cNvGraphicFramePr>
            <a:graphicFrameLocks noGrp="1"/>
          </p:cNvGraphicFramePr>
          <p:nvPr/>
        </p:nvGraphicFramePr>
        <p:xfrm>
          <a:off x="548640" y="1783080"/>
          <a:ext cx="11091672" cy="3401568"/>
        </p:xfrm>
        <a:graphic>
          <a:graphicData uri="http://schemas.openxmlformats.org/drawingml/2006/table">
            <a:tbl>
              <a:tblPr firstRow="1" bandRow="1">
                <a:tableStyleId>{5C22544A-7EE6-4342-B048-85BDC9FD1C3A}</a:tableStyleId>
              </a:tblPr>
              <a:tblGrid>
                <a:gridCol w="2194560"/>
                <a:gridCol w="1097280"/>
                <a:gridCol w="1828800"/>
                <a:gridCol w="3291840"/>
                <a:gridCol w="2679192"/>
              </a:tblGrid>
              <a:tr h="566928">
                <a:tc>
                  <a:txBody>
                    <a:bodyPr wrap="square"/>
                    <a:lstStyle/>
                    <a:p>
                      <a:r>
                        <a:rPr sz="1050" b="1">
                          <a:solidFill>
                            <a:srgbClr val="FFFFFF"/>
                          </a:solidFill>
                          <a:latin typeface="Abadi"/>
                        </a:rPr>
                        <a:t>Pattern</a:t>
                      </a:r>
                    </a:p>
                  </a:txBody>
                  <a:tcPr marL="73152" marR="73152" marT="27432" marB="27432" anchor="ctr">
                    <a:solidFill>
                      <a:srgbClr val="1B355E"/>
                    </a:solidFill>
                  </a:tcPr>
                </a:tc>
                <a:tc>
                  <a:txBody>
                    <a:bodyPr wrap="square"/>
                    <a:lstStyle/>
                    <a:p>
                      <a:r>
                        <a:rPr sz="1050" b="1">
                          <a:solidFill>
                            <a:srgbClr val="FFFFFF"/>
                          </a:solidFill>
                          <a:latin typeface="Abadi"/>
                        </a:rPr>
                        <a:t>Free T4</a:t>
                      </a:r>
                    </a:p>
                  </a:txBody>
                  <a:tcPr marL="73152" marR="73152" marT="27432" marB="27432" anchor="ctr">
                    <a:solidFill>
                      <a:srgbClr val="1B355E"/>
                    </a:solidFill>
                  </a:tcPr>
                </a:tc>
                <a:tc>
                  <a:txBody>
                    <a:bodyPr wrap="square"/>
                    <a:lstStyle/>
                    <a:p>
                      <a:r>
                        <a:rPr sz="1050" b="1">
                          <a:solidFill>
                            <a:srgbClr val="FFFFFF"/>
                          </a:solidFill>
                          <a:latin typeface="Abadi"/>
                        </a:rPr>
                        <a:t>TSH</a:t>
                      </a:r>
                    </a:p>
                  </a:txBody>
                  <a:tcPr marL="73152" marR="73152" marT="27432" marB="27432" anchor="ctr">
                    <a:solidFill>
                      <a:srgbClr val="1B355E"/>
                    </a:solidFill>
                  </a:tcPr>
                </a:tc>
                <a:tc>
                  <a:txBody>
                    <a:bodyPr wrap="square"/>
                    <a:lstStyle/>
                    <a:p>
                      <a:r>
                        <a:rPr sz="1050" b="1">
                          <a:solidFill>
                            <a:srgbClr val="FFFFFF"/>
                          </a:solidFill>
                          <a:latin typeface="Abadi"/>
                        </a:rPr>
                        <a:t>Meaning</a:t>
                      </a:r>
                    </a:p>
                  </a:txBody>
                  <a:tcPr marL="73152" marR="73152" marT="27432" marB="27432" anchor="ctr">
                    <a:solidFill>
                      <a:srgbClr val="1B355E"/>
                    </a:solidFill>
                  </a:tcPr>
                </a:tc>
                <a:tc>
                  <a:txBody>
                    <a:bodyPr wrap="square"/>
                    <a:lstStyle/>
                    <a:p>
                      <a:r>
                        <a:rPr sz="1050" b="1">
                          <a:solidFill>
                            <a:srgbClr val="FFFFFF"/>
                          </a:solidFill>
                          <a:latin typeface="Abadi"/>
                        </a:rPr>
                        <a:t>Next step</a:t>
                      </a:r>
                    </a:p>
                  </a:txBody>
                  <a:tcPr marL="73152" marR="73152" marT="27432" marB="27432" anchor="ctr">
                    <a:solidFill>
                      <a:srgbClr val="1B355E"/>
                    </a:solidFill>
                  </a:tcPr>
                </a:tc>
              </a:tr>
              <a:tr h="566928">
                <a:tc>
                  <a:txBody>
                    <a:bodyPr wrap="square"/>
                    <a:lstStyle/>
                    <a:p>
                      <a:r>
                        <a:rPr sz="1050" b="1">
                          <a:solidFill>
                            <a:srgbClr val="1A1A1A"/>
                          </a:solidFill>
                          <a:latin typeface="Abadi"/>
                        </a:rPr>
                        <a:t>Primary hypothyroidism</a:t>
                      </a:r>
                    </a:p>
                  </a:txBody>
                  <a:tcPr marL="73152" marR="73152" marT="27432" marB="27432" anchor="ctr">
                    <a:solidFill>
                      <a:srgbClr val="F2F2F2"/>
                    </a:solidFill>
                  </a:tcPr>
                </a:tc>
                <a:tc>
                  <a:txBody>
                    <a:bodyPr wrap="square"/>
                    <a:lstStyle/>
                    <a:p>
                      <a:r>
                        <a:rPr sz="1050" b="0">
                          <a:solidFill>
                            <a:srgbClr val="1A1A1A"/>
                          </a:solidFill>
                          <a:latin typeface="Abadi"/>
                        </a:rPr>
                        <a:t>Low</a:t>
                      </a:r>
                    </a:p>
                  </a:txBody>
                  <a:tcPr marL="73152" marR="73152" marT="27432" marB="27432" anchor="ctr">
                    <a:solidFill>
                      <a:srgbClr val="F2F2F2"/>
                    </a:solidFill>
                  </a:tcPr>
                </a:tc>
                <a:tc>
                  <a:txBody>
                    <a:bodyPr wrap="square"/>
                    <a:lstStyle/>
                    <a:p>
                      <a:r>
                        <a:rPr sz="1050" b="0">
                          <a:solidFill>
                            <a:srgbClr val="1A1A1A"/>
                          </a:solidFill>
                          <a:latin typeface="Abadi"/>
                        </a:rPr>
                        <a:t>High</a:t>
                      </a:r>
                    </a:p>
                  </a:txBody>
                  <a:tcPr marL="73152" marR="73152" marT="27432" marB="27432" anchor="ctr">
                    <a:solidFill>
                      <a:srgbClr val="F2F2F2"/>
                    </a:solidFill>
                  </a:tcPr>
                </a:tc>
                <a:tc>
                  <a:txBody>
                    <a:bodyPr wrap="square"/>
                    <a:lstStyle/>
                    <a:p>
                      <a:r>
                        <a:rPr sz="1050" b="0">
                          <a:solidFill>
                            <a:srgbClr val="1A1A1A"/>
                          </a:solidFill>
                          <a:latin typeface="Abadi"/>
                        </a:rPr>
                        <a:t>Thyroid gland failure; jaundice mostly unconjugated</a:t>
                      </a:r>
                    </a:p>
                  </a:txBody>
                  <a:tcPr marL="73152" marR="73152" marT="27432" marB="27432" anchor="ctr">
                    <a:solidFill>
                      <a:srgbClr val="F2F2F2"/>
                    </a:solidFill>
                  </a:tcPr>
                </a:tc>
                <a:tc>
                  <a:txBody>
                    <a:bodyPr wrap="square"/>
                    <a:lstStyle/>
                    <a:p>
                      <a:r>
                        <a:rPr sz="1050" b="0">
                          <a:solidFill>
                            <a:srgbClr val="1A1A1A"/>
                          </a:solidFill>
                          <a:latin typeface="Abadi"/>
                        </a:rPr>
                        <a:t>Levothyroxine 10–15 µg/kg/day</a:t>
                      </a:r>
                    </a:p>
                  </a:txBody>
                  <a:tcPr marL="73152" marR="73152" marT="27432" marB="27432" anchor="ctr">
                    <a:solidFill>
                      <a:srgbClr val="F2F2F2"/>
                    </a:solidFill>
                  </a:tcPr>
                </a:tc>
              </a:tr>
              <a:tr h="566928">
                <a:tc>
                  <a:txBody>
                    <a:bodyPr wrap="square"/>
                    <a:lstStyle/>
                    <a:p>
                      <a:r>
                        <a:rPr sz="1050" b="1">
                          <a:solidFill>
                            <a:srgbClr val="1A1A1A"/>
                          </a:solidFill>
                          <a:latin typeface="Abadi"/>
                        </a:rPr>
                        <a:t>Central hypothyroidism</a:t>
                      </a:r>
                    </a:p>
                  </a:txBody>
                  <a:tcPr marL="73152" marR="73152" marT="27432" marB="27432" anchor="ctr">
                    <a:solidFill>
                      <a:srgbClr val="FFFFFF"/>
                    </a:solidFill>
                  </a:tcPr>
                </a:tc>
                <a:tc>
                  <a:txBody>
                    <a:bodyPr wrap="square"/>
                    <a:lstStyle/>
                    <a:p>
                      <a:r>
                        <a:rPr sz="1050" b="0">
                          <a:solidFill>
                            <a:srgbClr val="1A1A1A"/>
                          </a:solidFill>
                          <a:latin typeface="Abadi"/>
                        </a:rPr>
                        <a:t>Low</a:t>
                      </a:r>
                    </a:p>
                  </a:txBody>
                  <a:tcPr marL="73152" marR="73152" marT="27432" marB="27432" anchor="ctr">
                    <a:solidFill>
                      <a:srgbClr val="FFFFFF"/>
                    </a:solidFill>
                  </a:tcPr>
                </a:tc>
                <a:tc>
                  <a:txBody>
                    <a:bodyPr wrap="square"/>
                    <a:lstStyle/>
                    <a:p>
                      <a:r>
                        <a:rPr sz="1050" b="0">
                          <a:solidFill>
                            <a:srgbClr val="1A1A1A"/>
                          </a:solidFill>
                          <a:latin typeface="Abadi"/>
                        </a:rPr>
                        <a:t>Low, normal or mildly high</a:t>
                      </a:r>
                    </a:p>
                  </a:txBody>
                  <a:tcPr marL="73152" marR="73152" marT="27432" marB="27432" anchor="ctr">
                    <a:solidFill>
                      <a:srgbClr val="FFFFFF"/>
                    </a:solidFill>
                  </a:tcPr>
                </a:tc>
                <a:tc>
                  <a:txBody>
                    <a:bodyPr wrap="square"/>
                    <a:lstStyle/>
                    <a:p>
                      <a:r>
                        <a:rPr sz="1050" b="0">
                          <a:solidFill>
                            <a:srgbClr val="1A1A1A"/>
                          </a:solidFill>
                          <a:latin typeface="Abadi"/>
                        </a:rPr>
                        <a:t>Pituitary or hypothalamic failure; look for other axes</a:t>
                      </a:r>
                    </a:p>
                  </a:txBody>
                  <a:tcPr marL="73152" marR="73152" marT="27432" marB="27432" anchor="ctr">
                    <a:solidFill>
                      <a:srgbClr val="FFFFFF"/>
                    </a:solidFill>
                  </a:tcPr>
                </a:tc>
                <a:tc>
                  <a:txBody>
                    <a:bodyPr wrap="square"/>
                    <a:lstStyle/>
                    <a:p>
                      <a:r>
                        <a:rPr sz="1050" b="0">
                          <a:solidFill>
                            <a:srgbClr val="1A1A1A"/>
                          </a:solidFill>
                          <a:latin typeface="Abadi"/>
                        </a:rPr>
                        <a:t>Cortisol and ACTH test before levothyroxine; pituitary MRI</a:t>
                      </a:r>
                    </a:p>
                  </a:txBody>
                  <a:tcPr marL="73152" marR="73152" marT="27432" marB="27432" anchor="ctr">
                    <a:solidFill>
                      <a:srgbClr val="FFFFFF"/>
                    </a:solidFill>
                  </a:tcPr>
                </a:tc>
              </a:tr>
              <a:tr h="566928">
                <a:tc>
                  <a:txBody>
                    <a:bodyPr wrap="square"/>
                    <a:lstStyle/>
                    <a:p>
                      <a:r>
                        <a:rPr sz="1050" b="1">
                          <a:solidFill>
                            <a:srgbClr val="1A1A1A"/>
                          </a:solidFill>
                          <a:latin typeface="Abadi"/>
                        </a:rPr>
                        <a:t>Sick euthyroid</a:t>
                      </a:r>
                    </a:p>
                  </a:txBody>
                  <a:tcPr marL="73152" marR="73152" marT="27432" marB="27432" anchor="ctr">
                    <a:solidFill>
                      <a:srgbClr val="F2F2F2"/>
                    </a:solidFill>
                  </a:tcPr>
                </a:tc>
                <a:tc>
                  <a:txBody>
                    <a:bodyPr wrap="square"/>
                    <a:lstStyle/>
                    <a:p>
                      <a:r>
                        <a:rPr sz="1050" b="0">
                          <a:solidFill>
                            <a:srgbClr val="1A1A1A"/>
                          </a:solidFill>
                          <a:latin typeface="Abadi"/>
                        </a:rPr>
                        <a:t>Low-normal</a:t>
                      </a:r>
                    </a:p>
                  </a:txBody>
                  <a:tcPr marL="73152" marR="73152" marT="27432" marB="27432" anchor="ctr">
                    <a:solidFill>
                      <a:srgbClr val="F2F2F2"/>
                    </a:solidFill>
                  </a:tcPr>
                </a:tc>
                <a:tc>
                  <a:txBody>
                    <a:bodyPr wrap="square"/>
                    <a:lstStyle/>
                    <a:p>
                      <a:r>
                        <a:rPr sz="1050" b="0">
                          <a:solidFill>
                            <a:srgbClr val="1A1A1A"/>
                          </a:solidFill>
                          <a:latin typeface="Abadi"/>
                        </a:rPr>
                        <a:t>Normal or low</a:t>
                      </a:r>
                    </a:p>
                  </a:txBody>
                  <a:tcPr marL="73152" marR="73152" marT="27432" marB="27432" anchor="ctr">
                    <a:solidFill>
                      <a:srgbClr val="F2F2F2"/>
                    </a:solidFill>
                  </a:tcPr>
                </a:tc>
                <a:tc>
                  <a:txBody>
                    <a:bodyPr wrap="square"/>
                    <a:lstStyle/>
                    <a:p>
                      <a:r>
                        <a:rPr sz="1050" b="0">
                          <a:solidFill>
                            <a:srgbClr val="1A1A1A"/>
                          </a:solidFill>
                          <a:latin typeface="Abadi"/>
                        </a:rPr>
                        <a:t>Acute illness, sepsis, PN</a:t>
                      </a:r>
                    </a:p>
                  </a:txBody>
                  <a:tcPr marL="73152" marR="73152" marT="27432" marB="27432" anchor="ctr">
                    <a:solidFill>
                      <a:srgbClr val="F2F2F2"/>
                    </a:solidFill>
                  </a:tcPr>
                </a:tc>
                <a:tc>
                  <a:txBody>
                    <a:bodyPr wrap="square"/>
                    <a:lstStyle/>
                    <a:p>
                      <a:r>
                        <a:rPr sz="1050" b="0">
                          <a:solidFill>
                            <a:srgbClr val="1A1A1A"/>
                          </a:solidFill>
                          <a:latin typeface="Abadi"/>
                        </a:rPr>
                        <a:t>Repeat when well; do not miss central disease</a:t>
                      </a:r>
                    </a:p>
                  </a:txBody>
                  <a:tcPr marL="73152" marR="73152" marT="27432" marB="27432" anchor="ctr">
                    <a:solidFill>
                      <a:srgbClr val="F2F2F2"/>
                    </a:solidFill>
                  </a:tcPr>
                </a:tc>
              </a:tr>
              <a:tr h="566928">
                <a:tc>
                  <a:txBody>
                    <a:bodyPr wrap="square"/>
                    <a:lstStyle/>
                    <a:p>
                      <a:r>
                        <a:rPr sz="1050" b="1">
                          <a:solidFill>
                            <a:srgbClr val="1A1A1A"/>
                          </a:solidFill>
                          <a:latin typeface="Abadi"/>
                        </a:rPr>
                        <a:t>TBG deficiency</a:t>
                      </a:r>
                    </a:p>
                  </a:txBody>
                  <a:tcPr marL="73152" marR="73152" marT="27432" marB="27432" anchor="ctr">
                    <a:solidFill>
                      <a:srgbClr val="FFFFFF"/>
                    </a:solidFill>
                  </a:tcPr>
                </a:tc>
                <a:tc>
                  <a:txBody>
                    <a:bodyPr wrap="square"/>
                    <a:lstStyle/>
                    <a:p>
                      <a:r>
                        <a:rPr sz="1050" b="0">
                          <a:solidFill>
                            <a:srgbClr val="1A1A1A"/>
                          </a:solidFill>
                          <a:latin typeface="Abadi"/>
                        </a:rPr>
                        <a:t>Normal</a:t>
                      </a:r>
                    </a:p>
                  </a:txBody>
                  <a:tcPr marL="73152" marR="73152" marT="27432" marB="27432" anchor="ctr">
                    <a:solidFill>
                      <a:srgbClr val="FFFFFF"/>
                    </a:solidFill>
                  </a:tcPr>
                </a:tc>
                <a:tc>
                  <a:txBody>
                    <a:bodyPr wrap="square"/>
                    <a:lstStyle/>
                    <a:p>
                      <a:r>
                        <a:rPr sz="1050" b="0">
                          <a:solidFill>
                            <a:srgbClr val="1A1A1A"/>
                          </a:solidFill>
                          <a:latin typeface="Abadi"/>
                        </a:rPr>
                        <a:t>Normal</a:t>
                      </a:r>
                    </a:p>
                  </a:txBody>
                  <a:tcPr marL="73152" marR="73152" marT="27432" marB="27432" anchor="ctr">
                    <a:solidFill>
                      <a:srgbClr val="FFFFFF"/>
                    </a:solidFill>
                  </a:tcPr>
                </a:tc>
                <a:tc>
                  <a:txBody>
                    <a:bodyPr wrap="square"/>
                    <a:lstStyle/>
                    <a:p>
                      <a:r>
                        <a:rPr sz="1050" b="0">
                          <a:solidFill>
                            <a:srgbClr val="1A1A1A"/>
                          </a:solidFill>
                          <a:latin typeface="Abadi"/>
                        </a:rPr>
                        <a:t>Low total T4 only; benign</a:t>
                      </a:r>
                    </a:p>
                  </a:txBody>
                  <a:tcPr marL="73152" marR="73152" marT="27432" marB="27432" anchor="ctr">
                    <a:solidFill>
                      <a:srgbClr val="FFFFFF"/>
                    </a:solidFill>
                  </a:tcPr>
                </a:tc>
                <a:tc>
                  <a:txBody>
                    <a:bodyPr wrap="square"/>
                    <a:lstStyle/>
                    <a:p>
                      <a:r>
                        <a:rPr sz="1050" b="0">
                          <a:solidFill>
                            <a:srgbClr val="1A1A1A"/>
                          </a:solidFill>
                          <a:latin typeface="Abadi"/>
                        </a:rPr>
                        <a:t>No treatment</a:t>
                      </a:r>
                    </a:p>
                  </a:txBody>
                  <a:tcPr marL="73152" marR="73152" marT="27432" marB="27432" anchor="ctr">
                    <a:solidFill>
                      <a:srgbClr val="FFFFFF"/>
                    </a:solidFill>
                  </a:tcPr>
                </a:tc>
              </a:tr>
              <a:tr h="566928">
                <a:tc>
                  <a:txBody>
                    <a:bodyPr wrap="square"/>
                    <a:lstStyle/>
                    <a:p>
                      <a:r>
                        <a:rPr sz="1050" b="1">
                          <a:solidFill>
                            <a:srgbClr val="1A1A1A"/>
                          </a:solidFill>
                          <a:latin typeface="Abadi"/>
                        </a:rPr>
                        <a:t>Euthyroid</a:t>
                      </a:r>
                    </a:p>
                  </a:txBody>
                  <a:tcPr marL="73152" marR="73152" marT="27432" marB="27432" anchor="ctr">
                    <a:solidFill>
                      <a:srgbClr val="F2F2F2"/>
                    </a:solidFill>
                  </a:tcPr>
                </a:tc>
                <a:tc>
                  <a:txBody>
                    <a:bodyPr wrap="square"/>
                    <a:lstStyle/>
                    <a:p>
                      <a:r>
                        <a:rPr sz="1050" b="0">
                          <a:solidFill>
                            <a:srgbClr val="1A1A1A"/>
                          </a:solidFill>
                          <a:latin typeface="Abadi"/>
                        </a:rPr>
                        <a:t>Normal</a:t>
                      </a:r>
                    </a:p>
                  </a:txBody>
                  <a:tcPr marL="73152" marR="73152" marT="27432" marB="27432" anchor="ctr">
                    <a:solidFill>
                      <a:srgbClr val="F2F2F2"/>
                    </a:solidFill>
                  </a:tcPr>
                </a:tc>
                <a:tc>
                  <a:txBody>
                    <a:bodyPr wrap="square"/>
                    <a:lstStyle/>
                    <a:p>
                      <a:r>
                        <a:rPr sz="1050" b="0">
                          <a:solidFill>
                            <a:srgbClr val="1A1A1A"/>
                          </a:solidFill>
                          <a:latin typeface="Abadi"/>
                        </a:rPr>
                        <a:t>Normal</a:t>
                      </a:r>
                    </a:p>
                  </a:txBody>
                  <a:tcPr marL="73152" marR="73152" marT="27432" marB="27432" anchor="ctr">
                    <a:solidFill>
                      <a:srgbClr val="F2F2F2"/>
                    </a:solidFill>
                  </a:tcPr>
                </a:tc>
                <a:tc>
                  <a:txBody>
                    <a:bodyPr wrap="square"/>
                    <a:lstStyle/>
                    <a:p>
                      <a:r>
                        <a:rPr sz="1050" b="0">
                          <a:solidFill>
                            <a:srgbClr val="1A1A1A"/>
                          </a:solidFill>
                          <a:latin typeface="Abadi"/>
                        </a:rPr>
                        <a:t>Thyroid excluded</a:t>
                      </a:r>
                    </a:p>
                  </a:txBody>
                  <a:tcPr marL="73152" marR="73152" marT="27432" marB="27432" anchor="ctr">
                    <a:solidFill>
                      <a:srgbClr val="F2F2F2"/>
                    </a:solidFill>
                  </a:tcPr>
                </a:tc>
                <a:tc>
                  <a:txBody>
                    <a:bodyPr wrap="square"/>
                    <a:lstStyle/>
                    <a:p>
                      <a:r>
                        <a:rPr sz="1050" b="0">
                          <a:solidFill>
                            <a:srgbClr val="1A1A1A"/>
                          </a:solidFill>
                          <a:latin typeface="Abadi"/>
                        </a:rPr>
                        <a:t>Still check cortisol if hypoglycaemic</a:t>
                      </a:r>
                    </a:p>
                  </a:txBody>
                  <a:tcPr marL="73152" marR="73152" marT="27432" marB="27432" anchor="ctr">
                    <a:solidFill>
                      <a:srgbClr val="F2F2F2"/>
                    </a:solidFill>
                  </a:tcPr>
                </a:tc>
              </a:tr>
            </a:tbl>
          </a:graphicData>
        </a:graphic>
      </p:graphicFrame>
      <p:sp>
        <p:nvSpPr>
          <p:cNvPr id="13" name="TextBox 12"/>
          <p:cNvSpPr txBox="1"/>
          <p:nvPr/>
        </p:nvSpPr>
        <p:spPr>
          <a:xfrm>
            <a:off x="548640" y="5349240"/>
            <a:ext cx="11091672" cy="457200"/>
          </a:xfrm>
          <a:prstGeom prst="rect">
            <a:avLst/>
          </a:prstGeom>
          <a:noFill/>
        </p:spPr>
        <p:txBody>
          <a:bodyPr wrap="square" lIns="36576" rIns="36576" tIns="18288" bIns="18288" anchor="t">
            <a:spAutoFit/>
          </a:bodyPr>
          <a:lstStyle/>
          <a:p>
            <a:pPr algn="l"/>
            <a:r>
              <a:rPr sz="1200" b="1" i="1">
                <a:solidFill>
                  <a:srgbClr val="B22222"/>
                </a:solidFill>
                <a:latin typeface="Abadi"/>
              </a:rPr>
              <a:t>A TSH of 5–9 mU/L with a low free T4 is central until proven otherwise; monitor treatment by free T4, never by TSH.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CORTISOL TESTING</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A LOW CORTISOL RULES IN, NOT OUT</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Random cortisol below 5.6 µg/dL in term infants under 30 days for central adrenal insufficiency, %</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13</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Bulan A, et al. Clin Endocrinol 2023;98:779–87 · Kurtoğlu S, et al. J Clin Res Pediatr Endocrinol 2019;11:4–12 · Fawaz 2017</a:t>
            </a:r>
          </a:p>
        </p:txBody>
      </p:sp>
      <p:sp>
        <p:nvSpPr>
          <p:cNvPr id="12" name="Rectangle 11"/>
          <p:cNvSpPr/>
          <p:nvPr/>
        </p:nvSpPr>
        <p:spPr>
          <a:xfrm>
            <a:off x="548640" y="1874520"/>
            <a:ext cx="137160" cy="1371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810512"/>
            <a:ext cx="2377440" cy="256032"/>
          </a:xfrm>
          <a:prstGeom prst="rect">
            <a:avLst/>
          </a:prstGeom>
          <a:noFill/>
        </p:spPr>
        <p:txBody>
          <a:bodyPr wrap="square" lIns="36576" rIns="36576" tIns="18288" bIns="18288" anchor="t">
            <a:spAutoFit/>
          </a:bodyPr>
          <a:lstStyle/>
          <a:p>
            <a:pPr algn="l"/>
            <a:r>
              <a:rPr sz="950" b="0" i="0">
                <a:solidFill>
                  <a:srgbClr val="1A1A1A"/>
                </a:solidFill>
                <a:latin typeface="Abadi"/>
              </a:rPr>
              <a:t>Random cortisol &lt; 5.6 µg/dL</a:t>
            </a:r>
          </a:p>
        </p:txBody>
      </p:sp>
      <p:sp>
        <p:nvSpPr>
          <p:cNvPr id="14" name="Rectangle 13"/>
          <p:cNvSpPr/>
          <p:nvPr/>
        </p:nvSpPr>
        <p:spPr>
          <a:xfrm>
            <a:off x="548640" y="5120640"/>
            <a:ext cx="4754880"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421892" y="4075979"/>
            <a:ext cx="630936" cy="10446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11580" y="3801659"/>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42.6%</a:t>
            </a:r>
          </a:p>
        </p:txBody>
      </p:sp>
      <p:sp>
        <p:nvSpPr>
          <p:cNvPr id="17" name="TextBox 16"/>
          <p:cNvSpPr txBox="1"/>
          <p:nvPr/>
        </p:nvSpPr>
        <p:spPr>
          <a:xfrm>
            <a:off x="548640" y="5166359"/>
            <a:ext cx="2377440" cy="411480"/>
          </a:xfrm>
          <a:prstGeom prst="rect">
            <a:avLst/>
          </a:prstGeom>
          <a:noFill/>
        </p:spPr>
        <p:txBody>
          <a:bodyPr wrap="square" lIns="36576" rIns="36576" tIns="18288" bIns="18288" anchor="t">
            <a:spAutoFit/>
          </a:bodyPr>
          <a:lstStyle/>
          <a:p>
            <a:pPr algn="ctr"/>
            <a:r>
              <a:rPr sz="950" b="0" i="0">
                <a:solidFill>
                  <a:srgbClr val="1A1A1A"/>
                </a:solidFill>
                <a:latin typeface="Abadi"/>
              </a:rPr>
              <a:t>Sensitivity</a:t>
            </a:r>
          </a:p>
        </p:txBody>
      </p:sp>
      <p:sp>
        <p:nvSpPr>
          <p:cNvPr id="18" name="Rectangle 17"/>
          <p:cNvSpPr/>
          <p:nvPr/>
        </p:nvSpPr>
        <p:spPr>
          <a:xfrm>
            <a:off x="3799332" y="2668385"/>
            <a:ext cx="630936" cy="245225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89020" y="2394065"/>
            <a:ext cx="1051560" cy="256032"/>
          </a:xfrm>
          <a:prstGeom prst="rect">
            <a:avLst/>
          </a:prstGeom>
          <a:noFill/>
        </p:spPr>
        <p:txBody>
          <a:bodyPr wrap="square" lIns="36576" rIns="36576" tIns="18288" bIns="18288" anchor="t">
            <a:spAutoFit/>
          </a:bodyPr>
          <a:lstStyle/>
          <a:p>
            <a:pPr algn="ctr"/>
            <a:r>
              <a:rPr sz="1000" b="1" i="0">
                <a:solidFill>
                  <a:srgbClr val="1B355E"/>
                </a:solidFill>
                <a:latin typeface="Abadi"/>
              </a:rPr>
              <a:t>100%</a:t>
            </a:r>
          </a:p>
        </p:txBody>
      </p:sp>
      <p:sp>
        <p:nvSpPr>
          <p:cNvPr id="20" name="TextBox 19"/>
          <p:cNvSpPr txBox="1"/>
          <p:nvPr/>
        </p:nvSpPr>
        <p:spPr>
          <a:xfrm>
            <a:off x="2926080" y="5166359"/>
            <a:ext cx="2377440" cy="411480"/>
          </a:xfrm>
          <a:prstGeom prst="rect">
            <a:avLst/>
          </a:prstGeom>
          <a:noFill/>
        </p:spPr>
        <p:txBody>
          <a:bodyPr wrap="square" lIns="36576" rIns="36576" tIns="18288" bIns="18288" anchor="t">
            <a:spAutoFit/>
          </a:bodyPr>
          <a:lstStyle/>
          <a:p>
            <a:pPr algn="ctr"/>
            <a:r>
              <a:rPr sz="950" b="0" i="0">
                <a:solidFill>
                  <a:srgbClr val="1A1A1A"/>
                </a:solidFill>
                <a:latin typeface="Abadi"/>
              </a:rPr>
              <a:t>Specificity</a:t>
            </a:r>
          </a:p>
        </p:txBody>
      </p:sp>
      <p:sp>
        <p:nvSpPr>
          <p:cNvPr id="21" name="TextBox 20"/>
          <p:cNvSpPr txBox="1"/>
          <p:nvPr/>
        </p:nvSpPr>
        <p:spPr>
          <a:xfrm>
            <a:off x="6035040" y="1783080"/>
            <a:ext cx="5577840" cy="3931920"/>
          </a:xfrm>
          <a:prstGeom prst="rect">
            <a:avLst/>
          </a:prstGeom>
          <a:noFill/>
        </p:spPr>
        <p:txBody>
          <a:bodyPr wrap="square" lIns="36576" rIns="36576" tIns="18288" bIns="18288" anchor="t">
            <a:spAutoFit/>
          </a:bodyPr>
          <a:lstStyle/>
          <a:p>
            <a:pPr algn="l"/>
            <a:r>
              <a:rPr sz="1700" b="1" i="0">
                <a:solidFill>
                  <a:srgbClr val="1B355E"/>
                </a:solidFill>
                <a:latin typeface="Abadi"/>
              </a:rPr>
              <a:t>No diurnal rhythm</a:t>
            </a:r>
          </a:p>
          <a:p>
            <a:pPr algn="l">
              <a:spcBef>
                <a:spcPts val="300"/>
              </a:spcBef>
            </a:pPr>
            <a:r>
              <a:rPr sz="1100" b="0" i="0">
                <a:solidFill>
                  <a:srgbClr val="1A1A1A"/>
                </a:solidFill>
                <a:latin typeface="Abadi"/>
              </a:rPr>
              <a:t>The neonatal axis has no mature circadian rhythm until about 6 months, so "8 am" values mean little.</a:t>
            </a:r>
          </a:p>
          <a:p>
            <a:pPr algn="l">
              <a:spcBef>
                <a:spcPts val="300"/>
              </a:spcBef>
            </a:pPr>
            <a:r>
              <a:rPr sz="1700" b="1" i="0">
                <a:solidFill>
                  <a:srgbClr val="1B355E"/>
                </a:solidFill>
                <a:latin typeface="Abadi"/>
              </a:rPr>
              <a:t>Critical sample</a:t>
            </a:r>
          </a:p>
          <a:p>
            <a:pPr algn="l">
              <a:spcBef>
                <a:spcPts val="300"/>
              </a:spcBef>
            </a:pPr>
            <a:r>
              <a:rPr sz="1100" b="0" i="0">
                <a:solidFill>
                  <a:srgbClr val="1A1A1A"/>
                </a:solidFill>
                <a:latin typeface="Abadi"/>
              </a:rPr>
              <a:t>At the moment of hypoglycaemia take cortisol, GH, insulin, beta-hydroxybutyrate and free fatty acids before glucose is given.</a:t>
            </a:r>
          </a:p>
          <a:p>
            <a:pPr algn="l">
              <a:spcBef>
                <a:spcPts val="300"/>
              </a:spcBef>
            </a:pPr>
            <a:r>
              <a:rPr sz="1700" b="1" i="0">
                <a:solidFill>
                  <a:srgbClr val="1B355E"/>
                </a:solidFill>
                <a:latin typeface="Abadi"/>
              </a:rPr>
              <a:t>Dynamic test</a:t>
            </a:r>
          </a:p>
          <a:p>
            <a:pPr algn="l">
              <a:spcBef>
                <a:spcPts val="300"/>
              </a:spcBef>
            </a:pPr>
            <a:r>
              <a:rPr sz="1100" b="0" i="0">
                <a:solidFill>
                  <a:srgbClr val="1A1A1A"/>
                </a:solidFill>
                <a:latin typeface="Abadi"/>
              </a:rPr>
              <a:t>Low-dose (1 µg) ACTH stimulation for central insufficiency; the standard test has about 80% sensitivity.</a:t>
            </a:r>
          </a:p>
          <a:p>
            <a:pPr algn="l">
              <a:spcBef>
                <a:spcPts val="300"/>
              </a:spcBef>
            </a:pPr>
            <a:r>
              <a:rPr sz="1700" b="1" i="0">
                <a:solidFill>
                  <a:srgbClr val="1B355E"/>
                </a:solidFill>
                <a:latin typeface="Abadi"/>
              </a:rPr>
              <a:t>Units</a:t>
            </a:r>
          </a:p>
          <a:p>
            <a:pPr algn="l">
              <a:spcBef>
                <a:spcPts val="300"/>
              </a:spcBef>
            </a:pPr>
            <a:r>
              <a:rPr sz="1100" b="0" i="0">
                <a:solidFill>
                  <a:srgbClr val="1A1A1A"/>
                </a:solidFill>
                <a:latin typeface="Abadi"/>
              </a:rPr>
              <a:t>5.6 µg/dL is about 155 nmol/L.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TREATMENT ORDER</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HYDROCORTISONE BEFORE LEVOTHYROXINE</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Starting thyroxine first raises cortisol clearance and can precipitate an adrenal crisis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14</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van Trotsenburg P, et al. Thyroid 2021;31:387–419 · Braslavsky 2011 · Kurtoğlu 2019</a:t>
            </a:r>
          </a:p>
        </p:txBody>
      </p:sp>
      <p:sp>
        <p:nvSpPr>
          <p:cNvPr id="12" name="Rectangle 11"/>
          <p:cNvSpPr/>
          <p:nvPr/>
        </p:nvSpPr>
        <p:spPr>
          <a:xfrm>
            <a:off x="548640" y="1783080"/>
            <a:ext cx="2035454"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1 · Sample</a:t>
            </a:r>
          </a:p>
        </p:txBody>
      </p:sp>
      <p:sp>
        <p:nvSpPr>
          <p:cNvPr id="14" name="Rectangle 13"/>
          <p:cNvSpPr/>
          <p:nvPr/>
        </p:nvSpPr>
        <p:spPr>
          <a:xfrm>
            <a:off x="548640" y="2112264"/>
            <a:ext cx="2035454" cy="1773936"/>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203704"/>
            <a:ext cx="1815998" cy="1645919"/>
          </a:xfrm>
          <a:prstGeom prst="rect">
            <a:avLst/>
          </a:prstGeom>
          <a:noFill/>
        </p:spPr>
        <p:txBody>
          <a:bodyPr wrap="square" lIns="36576" rIns="36576" tIns="18288" bIns="18288" anchor="t">
            <a:spAutoFit/>
          </a:bodyPr>
          <a:lstStyle/>
          <a:p>
            <a:pPr algn="l"/>
            <a:r>
              <a:rPr sz="1150" b="0" i="0">
                <a:solidFill>
                  <a:srgbClr val="1A1A1A"/>
                </a:solidFill>
                <a:latin typeface="Abadi"/>
              </a:rPr>
              <a:t>Cortisol, free T4, TSH, glucose; ACTH test if stable</a:t>
            </a:r>
          </a:p>
        </p:txBody>
      </p:sp>
      <p:sp>
        <p:nvSpPr>
          <p:cNvPr id="16" name="Isosceles Triangle 15"/>
          <p:cNvSpPr/>
          <p:nvPr/>
        </p:nvSpPr>
        <p:spPr>
          <a:xfrm rot="5400000">
            <a:off x="2620670" y="2834639"/>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2694" y="1783080"/>
            <a:ext cx="2035454"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4134"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2 · Hydrocortisone</a:t>
            </a:r>
          </a:p>
        </p:txBody>
      </p:sp>
      <p:sp>
        <p:nvSpPr>
          <p:cNvPr id="19" name="Rectangle 18"/>
          <p:cNvSpPr/>
          <p:nvPr/>
        </p:nvSpPr>
        <p:spPr>
          <a:xfrm>
            <a:off x="2812694" y="2112264"/>
            <a:ext cx="2035454" cy="1773936"/>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2422" y="2203704"/>
            <a:ext cx="1815998" cy="1645919"/>
          </a:xfrm>
          <a:prstGeom prst="rect">
            <a:avLst/>
          </a:prstGeom>
          <a:noFill/>
        </p:spPr>
        <p:txBody>
          <a:bodyPr wrap="square" lIns="36576" rIns="36576" tIns="18288" bIns="18288" anchor="t">
            <a:spAutoFit/>
          </a:bodyPr>
          <a:lstStyle/>
          <a:p>
            <a:pPr algn="l"/>
            <a:r>
              <a:rPr sz="1150" b="0" i="0">
                <a:solidFill>
                  <a:srgbClr val="1A1A1A"/>
                </a:solidFill>
                <a:latin typeface="Abadi"/>
              </a:rPr>
              <a:t>Physiological replacement (17 mg/m²/day in the Buenos Aires series); stress-dose plan</a:t>
            </a:r>
          </a:p>
        </p:txBody>
      </p:sp>
      <p:sp>
        <p:nvSpPr>
          <p:cNvPr id="21" name="Isosceles Triangle 20"/>
          <p:cNvSpPr/>
          <p:nvPr/>
        </p:nvSpPr>
        <p:spPr>
          <a:xfrm rot="5400000">
            <a:off x="4884724" y="2834639"/>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76748" y="1783080"/>
            <a:ext cx="2035454"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8188"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3 · Levothyroxine</a:t>
            </a:r>
          </a:p>
        </p:txBody>
      </p:sp>
      <p:sp>
        <p:nvSpPr>
          <p:cNvPr id="24" name="Rectangle 23"/>
          <p:cNvSpPr/>
          <p:nvPr/>
        </p:nvSpPr>
        <p:spPr>
          <a:xfrm>
            <a:off x="5076748" y="2112264"/>
            <a:ext cx="2035454" cy="1773936"/>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86476" y="2203704"/>
            <a:ext cx="1815998" cy="1645919"/>
          </a:xfrm>
          <a:prstGeom prst="rect">
            <a:avLst/>
          </a:prstGeom>
          <a:noFill/>
        </p:spPr>
        <p:txBody>
          <a:bodyPr wrap="square" lIns="36576" rIns="36576" tIns="18288" bIns="18288" anchor="t">
            <a:spAutoFit/>
          </a:bodyPr>
          <a:lstStyle/>
          <a:p>
            <a:pPr algn="l"/>
            <a:r>
              <a:rPr sz="1150" b="0" i="0">
                <a:solidFill>
                  <a:srgbClr val="1A1A1A"/>
                </a:solidFill>
                <a:latin typeface="Abadi"/>
              </a:rPr>
              <a:t>After cortisol cover: 10 µg/kg/day if free T4 below 5 pmol/L, else 5–10</a:t>
            </a:r>
          </a:p>
        </p:txBody>
      </p:sp>
      <p:sp>
        <p:nvSpPr>
          <p:cNvPr id="26" name="Isosceles Triangle 25"/>
          <p:cNvSpPr/>
          <p:nvPr/>
        </p:nvSpPr>
        <p:spPr>
          <a:xfrm rot="5400000">
            <a:off x="7148779" y="2834639"/>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40803" y="1783080"/>
            <a:ext cx="2035454"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32243"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4 · Growth hormone</a:t>
            </a:r>
          </a:p>
        </p:txBody>
      </p:sp>
      <p:sp>
        <p:nvSpPr>
          <p:cNvPr id="29" name="Rectangle 28"/>
          <p:cNvSpPr/>
          <p:nvPr/>
        </p:nvSpPr>
        <p:spPr>
          <a:xfrm>
            <a:off x="7340803" y="2112264"/>
            <a:ext cx="2035454" cy="1773936"/>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0531" y="2203704"/>
            <a:ext cx="1815998" cy="1645919"/>
          </a:xfrm>
          <a:prstGeom prst="rect">
            <a:avLst/>
          </a:prstGeom>
          <a:noFill/>
        </p:spPr>
        <p:txBody>
          <a:bodyPr wrap="square" lIns="36576" rIns="36576" tIns="18288" bIns="18288" anchor="t">
            <a:spAutoFit/>
          </a:bodyPr>
          <a:lstStyle/>
          <a:p>
            <a:pPr algn="l"/>
            <a:r>
              <a:rPr sz="1150" b="0" i="0">
                <a:solidFill>
                  <a:srgbClr val="1A1A1A"/>
                </a:solidFill>
                <a:latin typeface="Abadi"/>
              </a:rPr>
              <a:t>For persistent hypoglycaemia or confirmed GH deficiency</a:t>
            </a:r>
          </a:p>
        </p:txBody>
      </p:sp>
      <p:sp>
        <p:nvSpPr>
          <p:cNvPr id="31" name="Isosceles Triangle 30"/>
          <p:cNvSpPr/>
          <p:nvPr/>
        </p:nvSpPr>
        <p:spPr>
          <a:xfrm rot="5400000">
            <a:off x="9412833" y="2834639"/>
            <a:ext cx="155448" cy="182880"/>
          </a:xfrm>
          <a:prstGeom prst="triangl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04857" y="1783080"/>
            <a:ext cx="2035454"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6297" y="1783080"/>
            <a:ext cx="1852574" cy="329184"/>
          </a:xfrm>
          <a:prstGeom prst="rect">
            <a:avLst/>
          </a:prstGeom>
          <a:noFill/>
        </p:spPr>
        <p:txBody>
          <a:bodyPr wrap="square" lIns="36576" rIns="36576" tIns="18288" bIns="18288" anchor="ctr">
            <a:spAutoFit/>
          </a:bodyPr>
          <a:lstStyle/>
          <a:p>
            <a:pPr algn="l"/>
            <a:r>
              <a:rPr sz="1200" b="1" i="0">
                <a:solidFill>
                  <a:srgbClr val="FFFFFF"/>
                </a:solidFill>
                <a:latin typeface="Abadi"/>
              </a:rPr>
              <a:t>5 · Follow</a:t>
            </a:r>
          </a:p>
        </p:txBody>
      </p:sp>
      <p:sp>
        <p:nvSpPr>
          <p:cNvPr id="34" name="Rectangle 33"/>
          <p:cNvSpPr/>
          <p:nvPr/>
        </p:nvSpPr>
        <p:spPr>
          <a:xfrm>
            <a:off x="9604857" y="2112264"/>
            <a:ext cx="2035454" cy="1773936"/>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14585" y="2203704"/>
            <a:ext cx="1815998" cy="1645919"/>
          </a:xfrm>
          <a:prstGeom prst="rect">
            <a:avLst/>
          </a:prstGeom>
          <a:noFill/>
        </p:spPr>
        <p:txBody>
          <a:bodyPr wrap="square" lIns="36576" rIns="36576" tIns="18288" bIns="18288" anchor="t">
            <a:spAutoFit/>
          </a:bodyPr>
          <a:lstStyle/>
          <a:p>
            <a:pPr algn="l"/>
            <a:r>
              <a:rPr sz="1150" b="0" i="0">
                <a:solidFill>
                  <a:srgbClr val="1A1A1A"/>
                </a:solidFill>
                <a:latin typeface="Abadi"/>
              </a:rPr>
              <a:t>Free T4 targets; liver tests monthly; MRI and ophthalmology</a:t>
            </a:r>
          </a:p>
        </p:txBody>
      </p:sp>
      <p:sp>
        <p:nvSpPr>
          <p:cNvPr id="36" name="TextBox 35"/>
          <p:cNvSpPr txBox="1"/>
          <p:nvPr/>
        </p:nvSpPr>
        <p:spPr>
          <a:xfrm>
            <a:off x="548640" y="4114800"/>
            <a:ext cx="11091672" cy="1645920"/>
          </a:xfrm>
          <a:prstGeom prst="rect">
            <a:avLst/>
          </a:prstGeom>
          <a:noFill/>
        </p:spPr>
        <p:txBody>
          <a:bodyPr wrap="square" lIns="36576" rIns="36576" tIns="18288" bIns="18288" anchor="t">
            <a:spAutoFit/>
          </a:bodyPr>
          <a:lstStyle/>
          <a:p>
            <a:pPr algn="l"/>
            <a:r>
              <a:rPr sz="1250" b="1" i="0">
                <a:solidFill>
                  <a:srgbClr val="1B355E"/>
                </a:solidFill>
                <a:latin typeface="Abadi"/>
              </a:rPr>
              <a:t>Malabsorption.  </a:t>
            </a:r>
            <a:r>
              <a:rPr sz="1250" b="0" i="0">
                <a:solidFill>
                  <a:srgbClr val="1A1A1A"/>
                </a:solidFill>
                <a:latin typeface="Abadi"/>
              </a:rPr>
              <a:t>Cholestatic infants may need higher oral hydrocortisone and levothyroxine doses because fat and drug absorption are impaired.</a:t>
            </a:r>
          </a:p>
          <a:p>
            <a:pPr algn="l">
              <a:spcBef>
                <a:spcPts val="800"/>
              </a:spcBef>
            </a:pPr>
            <a:r>
              <a:rPr sz="1250" b="1" i="0">
                <a:solidFill>
                  <a:srgbClr val="1B355E"/>
                </a:solidFill>
                <a:latin typeface="Abadi"/>
              </a:rPr>
              <a:t>Families.  </a:t>
            </a:r>
            <a:r>
              <a:rPr sz="1250" b="0" i="0">
                <a:solidFill>
                  <a:srgbClr val="1A1A1A"/>
                </a:solidFill>
                <a:latin typeface="Abadi"/>
              </a:rPr>
              <a:t>Teach sick-day rules and give an emergency injection kit before discharge; adrenal crisis, not the liver, explains the sudden deaths reported in septo-optic dysplasia.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OUTCOMES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THE LIVER RECOVERS ON REPLACEMENT</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Time to resolution of cholestasis after hormone replacement, days (median or mean as reported)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15</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Braslavsky 2011 · Karnsakul 2007 · Binder G, et al. J Pediatr Endocrinol Metab 2007;20:695–702 · Grammatikopoulos 2018 · Brodsky MC, et al. Arch Ophthalmol 1997;115:66–70</a:t>
            </a:r>
          </a:p>
        </p:txBody>
      </p:sp>
      <p:sp>
        <p:nvSpPr>
          <p:cNvPr id="12" name="TextBox 11"/>
          <p:cNvSpPr txBox="1"/>
          <p:nvPr/>
        </p:nvSpPr>
        <p:spPr>
          <a:xfrm>
            <a:off x="548640" y="1783080"/>
            <a:ext cx="3291840" cy="481888"/>
          </a:xfrm>
          <a:prstGeom prst="rect">
            <a:avLst/>
          </a:prstGeom>
          <a:noFill/>
        </p:spPr>
        <p:txBody>
          <a:bodyPr wrap="square" lIns="36576" rIns="36576" tIns="18288" bIns="18288" anchor="ctr">
            <a:spAutoFit/>
          </a:bodyPr>
          <a:lstStyle/>
          <a:p>
            <a:pPr algn="r"/>
            <a:r>
              <a:rPr sz="1100" b="0" i="0">
                <a:solidFill>
                  <a:srgbClr val="1A1A1A"/>
                </a:solidFill>
                <a:latin typeface="Abadi"/>
              </a:rPr>
              <a:t>Braslavsky 2011, median</a:t>
            </a:r>
          </a:p>
        </p:txBody>
      </p:sp>
      <p:sp>
        <p:nvSpPr>
          <p:cNvPr id="13" name="Rectangle 12"/>
          <p:cNvSpPr/>
          <p:nvPr/>
        </p:nvSpPr>
        <p:spPr>
          <a:xfrm>
            <a:off x="3977640" y="1879457"/>
            <a:ext cx="858520" cy="31181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00168" y="1783080"/>
            <a:ext cx="1188720" cy="481888"/>
          </a:xfrm>
          <a:prstGeom prst="rect">
            <a:avLst/>
          </a:prstGeom>
          <a:noFill/>
        </p:spPr>
        <p:txBody>
          <a:bodyPr wrap="square" lIns="36576" rIns="36576" tIns="18288" bIns="18288" anchor="ctr">
            <a:spAutoFit/>
          </a:bodyPr>
          <a:lstStyle/>
          <a:p>
            <a:pPr algn="l"/>
            <a:r>
              <a:rPr sz="1100" b="1" i="0">
                <a:solidFill>
                  <a:srgbClr val="1A1A1A"/>
                </a:solidFill>
                <a:latin typeface="Abadi"/>
              </a:rPr>
              <a:t>65 days</a:t>
            </a:r>
          </a:p>
        </p:txBody>
      </p:sp>
      <p:sp>
        <p:nvSpPr>
          <p:cNvPr id="15" name="TextBox 14"/>
          <p:cNvSpPr txBox="1"/>
          <p:nvPr/>
        </p:nvSpPr>
        <p:spPr>
          <a:xfrm>
            <a:off x="548640" y="2350008"/>
            <a:ext cx="3291840" cy="481888"/>
          </a:xfrm>
          <a:prstGeom prst="rect">
            <a:avLst/>
          </a:prstGeom>
          <a:noFill/>
        </p:spPr>
        <p:txBody>
          <a:bodyPr wrap="square" lIns="36576" rIns="36576" tIns="18288" bIns="18288" anchor="ctr">
            <a:spAutoFit/>
          </a:bodyPr>
          <a:lstStyle/>
          <a:p>
            <a:pPr algn="r"/>
            <a:r>
              <a:rPr sz="1100" b="0" i="0">
                <a:solidFill>
                  <a:srgbClr val="1A1A1A"/>
                </a:solidFill>
                <a:latin typeface="Abadi"/>
              </a:rPr>
              <a:t>Karnsakul 2007, mean 9.7 weeks</a:t>
            </a:r>
          </a:p>
        </p:txBody>
      </p:sp>
      <p:sp>
        <p:nvSpPr>
          <p:cNvPr id="16" name="Rectangle 15"/>
          <p:cNvSpPr/>
          <p:nvPr/>
        </p:nvSpPr>
        <p:spPr>
          <a:xfrm>
            <a:off x="3977640" y="2446385"/>
            <a:ext cx="898144" cy="31181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9792" y="2350008"/>
            <a:ext cx="1188720" cy="481888"/>
          </a:xfrm>
          <a:prstGeom prst="rect">
            <a:avLst/>
          </a:prstGeom>
          <a:noFill/>
        </p:spPr>
        <p:txBody>
          <a:bodyPr wrap="square" lIns="36576" rIns="36576" tIns="18288" bIns="18288" anchor="ctr">
            <a:spAutoFit/>
          </a:bodyPr>
          <a:lstStyle/>
          <a:p>
            <a:pPr algn="l"/>
            <a:r>
              <a:rPr sz="1100" b="1" i="0">
                <a:solidFill>
                  <a:srgbClr val="1A1A1A"/>
                </a:solidFill>
                <a:latin typeface="Abadi"/>
              </a:rPr>
              <a:t>68 days</a:t>
            </a:r>
          </a:p>
        </p:txBody>
      </p:sp>
      <p:sp>
        <p:nvSpPr>
          <p:cNvPr id="18" name="TextBox 17"/>
          <p:cNvSpPr txBox="1"/>
          <p:nvPr/>
        </p:nvSpPr>
        <p:spPr>
          <a:xfrm>
            <a:off x="548640" y="2916936"/>
            <a:ext cx="3291840" cy="481888"/>
          </a:xfrm>
          <a:prstGeom prst="rect">
            <a:avLst/>
          </a:prstGeom>
          <a:noFill/>
        </p:spPr>
        <p:txBody>
          <a:bodyPr wrap="square" lIns="36576" rIns="36576" tIns="18288" bIns="18288" anchor="ctr">
            <a:spAutoFit/>
          </a:bodyPr>
          <a:lstStyle/>
          <a:p>
            <a:pPr algn="r"/>
            <a:r>
              <a:rPr sz="1100" b="0" i="0">
                <a:solidFill>
                  <a:srgbClr val="1A1A1A"/>
                </a:solidFill>
                <a:latin typeface="Abadi"/>
              </a:rPr>
              <a:t>Binder 2007, as cited</a:t>
            </a:r>
          </a:p>
        </p:txBody>
      </p:sp>
      <p:sp>
        <p:nvSpPr>
          <p:cNvPr id="19" name="Rectangle 18"/>
          <p:cNvSpPr/>
          <p:nvPr/>
        </p:nvSpPr>
        <p:spPr>
          <a:xfrm>
            <a:off x="3977640" y="3013313"/>
            <a:ext cx="1162304" cy="311810"/>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03952" y="2916936"/>
            <a:ext cx="1188720" cy="481888"/>
          </a:xfrm>
          <a:prstGeom prst="rect">
            <a:avLst/>
          </a:prstGeom>
          <a:noFill/>
        </p:spPr>
        <p:txBody>
          <a:bodyPr wrap="square" lIns="36576" rIns="36576" tIns="18288" bIns="18288" anchor="ctr">
            <a:spAutoFit/>
          </a:bodyPr>
          <a:lstStyle/>
          <a:p>
            <a:pPr algn="l"/>
            <a:r>
              <a:rPr sz="1100" b="1" i="0">
                <a:solidFill>
                  <a:srgbClr val="1A1A1A"/>
                </a:solidFill>
                <a:latin typeface="Abadi"/>
              </a:rPr>
              <a:t>88 days</a:t>
            </a:r>
          </a:p>
        </p:txBody>
      </p:sp>
      <p:sp>
        <p:nvSpPr>
          <p:cNvPr id="21" name="TextBox 20"/>
          <p:cNvSpPr txBox="1"/>
          <p:nvPr/>
        </p:nvSpPr>
        <p:spPr>
          <a:xfrm>
            <a:off x="548640" y="3483863"/>
            <a:ext cx="3291840" cy="481888"/>
          </a:xfrm>
          <a:prstGeom prst="rect">
            <a:avLst/>
          </a:prstGeom>
          <a:noFill/>
        </p:spPr>
        <p:txBody>
          <a:bodyPr wrap="square" lIns="36576" rIns="36576" tIns="18288" bIns="18288" anchor="ctr">
            <a:spAutoFit/>
          </a:bodyPr>
          <a:lstStyle/>
          <a:p>
            <a:pPr algn="r"/>
            <a:r>
              <a:rPr sz="1100" b="0" i="0">
                <a:solidFill>
                  <a:srgbClr val="1A1A1A"/>
                </a:solidFill>
                <a:latin typeface="Abadi"/>
              </a:rPr>
              <a:t>Grammatikopoulos 2018, median 6 months</a:t>
            </a:r>
          </a:p>
        </p:txBody>
      </p:sp>
      <p:sp>
        <p:nvSpPr>
          <p:cNvPr id="22" name="Rectangle 21"/>
          <p:cNvSpPr/>
          <p:nvPr/>
        </p:nvSpPr>
        <p:spPr>
          <a:xfrm>
            <a:off x="3977640" y="3580241"/>
            <a:ext cx="2377440" cy="31181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3483863"/>
            <a:ext cx="1188720" cy="481888"/>
          </a:xfrm>
          <a:prstGeom prst="rect">
            <a:avLst/>
          </a:prstGeom>
          <a:noFill/>
        </p:spPr>
        <p:txBody>
          <a:bodyPr wrap="square" lIns="36576" rIns="36576" tIns="18288" bIns="18288" anchor="ctr">
            <a:spAutoFit/>
          </a:bodyPr>
          <a:lstStyle/>
          <a:p>
            <a:pPr algn="l"/>
            <a:r>
              <a:rPr sz="1100" b="1" i="0">
                <a:solidFill>
                  <a:srgbClr val="1A1A1A"/>
                </a:solidFill>
                <a:latin typeface="Abadi"/>
              </a:rPr>
              <a:t>180 days</a:t>
            </a:r>
          </a:p>
        </p:txBody>
      </p:sp>
      <p:sp>
        <p:nvSpPr>
          <p:cNvPr id="24" name="TextBox 23"/>
          <p:cNvSpPr txBox="1"/>
          <p:nvPr/>
        </p:nvSpPr>
        <p:spPr>
          <a:xfrm>
            <a:off x="7132320" y="1783080"/>
            <a:ext cx="4526280" cy="3931920"/>
          </a:xfrm>
          <a:prstGeom prst="rect">
            <a:avLst/>
          </a:prstGeom>
          <a:noFill/>
        </p:spPr>
        <p:txBody>
          <a:bodyPr wrap="square" lIns="36576" rIns="36576" tIns="18288" bIns="18288" anchor="t">
            <a:spAutoFit/>
          </a:bodyPr>
          <a:lstStyle/>
          <a:p>
            <a:pPr algn="l"/>
            <a:r>
              <a:rPr sz="1700" b="1" i="0">
                <a:solidFill>
                  <a:srgbClr val="1B355E"/>
                </a:solidFill>
                <a:latin typeface="Abadi"/>
              </a:rPr>
              <a:t>Weeks to months</a:t>
            </a:r>
          </a:p>
          <a:p>
            <a:pPr algn="l">
              <a:spcBef>
                <a:spcPts val="300"/>
              </a:spcBef>
            </a:pPr>
            <a:r>
              <a:rPr sz="1100" b="0" i="0">
                <a:solidFill>
                  <a:srgbClr val="1A1A1A"/>
                </a:solidFill>
                <a:latin typeface="Abadi"/>
              </a:rPr>
              <a:t>Every series reports full biochemical recovery; histology normalised on repeat biopsy in a Japanese report.</a:t>
            </a:r>
          </a:p>
          <a:p>
            <a:pPr algn="l">
              <a:spcBef>
                <a:spcPts val="300"/>
              </a:spcBef>
            </a:pPr>
            <a:r>
              <a:rPr sz="1700" b="1" i="0">
                <a:solidFill>
                  <a:srgbClr val="1B355E"/>
                </a:solidFill>
                <a:latin typeface="Abadi"/>
              </a:rPr>
              <a:t>Residual signals</a:t>
            </a:r>
          </a:p>
          <a:p>
            <a:pPr algn="l">
              <a:spcBef>
                <a:spcPts val="300"/>
              </a:spcBef>
            </a:pPr>
            <a:r>
              <a:rPr sz="1100" b="0" i="0">
                <a:solidFill>
                  <a:srgbClr val="1A1A1A"/>
                </a:solidFill>
                <a:latin typeface="Abadi"/>
              </a:rPr>
              <a:t>Aminotransferases can lag and fibrosis was described in a few historical cases; no verified transplant for endocrine cholestasis alone.</a:t>
            </a:r>
          </a:p>
          <a:p>
            <a:pPr algn="l">
              <a:spcBef>
                <a:spcPts val="300"/>
              </a:spcBef>
            </a:pPr>
            <a:r>
              <a:rPr sz="1700" b="1" i="0">
                <a:solidFill>
                  <a:srgbClr val="1B355E"/>
                </a:solidFill>
                <a:latin typeface="Abadi"/>
              </a:rPr>
              <a:t>The real danger</a:t>
            </a:r>
          </a:p>
          <a:p>
            <a:pPr algn="l">
              <a:spcBef>
                <a:spcPts val="300"/>
              </a:spcBef>
            </a:pPr>
            <a:r>
              <a:rPr sz="1100" b="0" i="0">
                <a:solidFill>
                  <a:srgbClr val="1A1A1A"/>
                </a:solidFill>
                <a:latin typeface="Abadi"/>
              </a:rPr>
              <a:t>Sudden death in five patients with septo-optic dysplasia (Brodsky 1997), attributed to adrenal crisis.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PRIMARY HYPOTHYROIDISM</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MOSTLY AN UNCONJUGATED STORY</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Where primary congenital hypothyroidism fits in the jaundiced infant</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16</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Ogundele MO, Waterson M. Arch Dis Child 2010;95:151–2 · Grant DB, et al. Arch Dis Child 1992;67:87–90 · Layden &amp; Boyer 1976 · Visser TJ, et al. Endocrine 1996;4:79–85</a:t>
            </a:r>
          </a:p>
        </p:txBody>
      </p:sp>
      <p:sp>
        <p:nvSpPr>
          <p:cNvPr id="12" name="Rectangle 11"/>
          <p:cNvSpPr/>
          <p:nvPr/>
        </p:nvSpPr>
        <p:spPr>
          <a:xfrm>
            <a:off x="548640" y="1783080"/>
            <a:ext cx="3532632"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353263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20824"/>
            <a:ext cx="3166872" cy="384048"/>
          </a:xfrm>
          <a:prstGeom prst="rect">
            <a:avLst/>
          </a:prstGeom>
          <a:noFill/>
        </p:spPr>
        <p:txBody>
          <a:bodyPr wrap="square" lIns="36576" rIns="36576" tIns="18288" bIns="18288" anchor="t">
            <a:spAutoFit/>
          </a:bodyPr>
          <a:lstStyle/>
          <a:p>
            <a:pPr algn="l"/>
            <a:r>
              <a:rPr sz="1600" b="1" i="0">
                <a:solidFill>
                  <a:srgbClr val="1A1A1A"/>
                </a:solidFill>
                <a:latin typeface="Abadi"/>
              </a:rPr>
              <a:t>Typical picture</a:t>
            </a:r>
          </a:p>
        </p:txBody>
      </p:sp>
      <p:sp>
        <p:nvSpPr>
          <p:cNvPr id="15" name="TextBox 14"/>
          <p:cNvSpPr txBox="1"/>
          <p:nvPr/>
        </p:nvSpPr>
        <p:spPr>
          <a:xfrm>
            <a:off x="731520" y="2496312"/>
            <a:ext cx="3166872" cy="1508760"/>
          </a:xfrm>
          <a:prstGeom prst="rect">
            <a:avLst/>
          </a:prstGeom>
          <a:noFill/>
        </p:spPr>
        <p:txBody>
          <a:bodyPr wrap="square" lIns="36576" rIns="36576" tIns="18288" bIns="18288" anchor="t">
            <a:spAutoFit/>
          </a:bodyPr>
          <a:lstStyle/>
          <a:p>
            <a:pPr algn="l"/>
            <a:r>
              <a:rPr sz="1250" b="0" i="0">
                <a:solidFill>
                  <a:srgbClr val="1A1A1A"/>
                </a:solidFill>
                <a:latin typeface="Abadi"/>
              </a:rPr>
              <a:t>▪  Prolonged unconjugated jaundice</a:t>
            </a:r>
          </a:p>
          <a:p>
            <a:pPr algn="l">
              <a:spcBef>
                <a:spcPts val="500"/>
              </a:spcBef>
            </a:pPr>
            <a:r>
              <a:rPr sz="1250" b="0" i="0">
                <a:solidFill>
                  <a:srgbClr val="1A1A1A"/>
                </a:solidFill>
                <a:latin typeface="Abadi"/>
              </a:rPr>
              <a:t>▪  More frequent with very low T4</a:t>
            </a:r>
          </a:p>
          <a:p>
            <a:pPr algn="l">
              <a:spcBef>
                <a:spcPts val="500"/>
              </a:spcBef>
            </a:pPr>
            <a:r>
              <a:rPr sz="1250" b="0" i="0">
                <a:solidFill>
                  <a:srgbClr val="1A1A1A"/>
                </a:solidFill>
                <a:latin typeface="Abadi"/>
              </a:rPr>
              <a:t>▪  Constipation, large tongue, hernia</a:t>
            </a:r>
          </a:p>
        </p:txBody>
      </p:sp>
      <p:sp>
        <p:nvSpPr>
          <p:cNvPr id="16" name="Rectangle 15"/>
          <p:cNvSpPr/>
          <p:nvPr/>
        </p:nvSpPr>
        <p:spPr>
          <a:xfrm>
            <a:off x="4328159" y="1783080"/>
            <a:ext cx="3532632"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8159" y="1783080"/>
            <a:ext cx="353263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1039" y="2020824"/>
            <a:ext cx="3166872" cy="384048"/>
          </a:xfrm>
          <a:prstGeom prst="rect">
            <a:avLst/>
          </a:prstGeom>
          <a:noFill/>
        </p:spPr>
        <p:txBody>
          <a:bodyPr wrap="square" lIns="36576" rIns="36576" tIns="18288" bIns="18288" anchor="t">
            <a:spAutoFit/>
          </a:bodyPr>
          <a:lstStyle/>
          <a:p>
            <a:pPr algn="l"/>
            <a:r>
              <a:rPr sz="1600" b="1" i="0">
                <a:solidFill>
                  <a:srgbClr val="1A1A1A"/>
                </a:solidFill>
                <a:latin typeface="Abadi"/>
              </a:rPr>
              <a:t>Conjugated? rarely</a:t>
            </a:r>
          </a:p>
        </p:txBody>
      </p:sp>
      <p:sp>
        <p:nvSpPr>
          <p:cNvPr id="19" name="TextBox 18"/>
          <p:cNvSpPr txBox="1"/>
          <p:nvPr/>
        </p:nvSpPr>
        <p:spPr>
          <a:xfrm>
            <a:off x="4511039" y="2496312"/>
            <a:ext cx="3166872" cy="1508760"/>
          </a:xfrm>
          <a:prstGeom prst="rect">
            <a:avLst/>
          </a:prstGeom>
          <a:noFill/>
        </p:spPr>
        <p:txBody>
          <a:bodyPr wrap="square" lIns="36576" rIns="36576" tIns="18288" bIns="18288" anchor="t">
            <a:spAutoFit/>
          </a:bodyPr>
          <a:lstStyle/>
          <a:p>
            <a:pPr algn="l"/>
            <a:r>
              <a:rPr sz="1250" b="0" i="0">
                <a:solidFill>
                  <a:srgbClr val="1A1A1A"/>
                </a:solidFill>
                <a:latin typeface="Abadi"/>
              </a:rPr>
              <a:t>▪  Case reports with GGT in the hundreds</a:t>
            </a:r>
          </a:p>
          <a:p>
            <a:pPr algn="l">
              <a:spcBef>
                <a:spcPts val="500"/>
              </a:spcBef>
            </a:pPr>
            <a:r>
              <a:rPr sz="1250" b="0" i="0">
                <a:solidFill>
                  <a:srgbClr val="1A1A1A"/>
                </a:solidFill>
                <a:latin typeface="Abadi"/>
              </a:rPr>
              <a:t>▪  Clears within weeks on levothyroxine</a:t>
            </a:r>
          </a:p>
          <a:p>
            <a:pPr algn="l">
              <a:spcBef>
                <a:spcPts val="500"/>
              </a:spcBef>
            </a:pPr>
            <a:r>
              <a:rPr sz="1250" b="0" i="0">
                <a:solidFill>
                  <a:srgbClr val="1A1A1A"/>
                </a:solidFill>
                <a:latin typeface="Abadi"/>
              </a:rPr>
              <a:t>▪  Look for a second cause</a:t>
            </a:r>
          </a:p>
        </p:txBody>
      </p:sp>
      <p:sp>
        <p:nvSpPr>
          <p:cNvPr id="20" name="Rectangle 19"/>
          <p:cNvSpPr/>
          <p:nvPr/>
        </p:nvSpPr>
        <p:spPr>
          <a:xfrm>
            <a:off x="8107679" y="1783080"/>
            <a:ext cx="3532632"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7679" y="1783080"/>
            <a:ext cx="353263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59" y="2020824"/>
            <a:ext cx="3166872" cy="384048"/>
          </a:xfrm>
          <a:prstGeom prst="rect">
            <a:avLst/>
          </a:prstGeom>
          <a:noFill/>
        </p:spPr>
        <p:txBody>
          <a:bodyPr wrap="square" lIns="36576" rIns="36576" tIns="18288" bIns="18288" anchor="t">
            <a:spAutoFit/>
          </a:bodyPr>
          <a:lstStyle/>
          <a:p>
            <a:pPr algn="l"/>
            <a:r>
              <a:rPr sz="1600" b="1" i="0">
                <a:solidFill>
                  <a:srgbClr val="1A1A1A"/>
                </a:solidFill>
                <a:latin typeface="Abadi"/>
              </a:rPr>
              <a:t>Yield when screened</a:t>
            </a:r>
          </a:p>
        </p:txBody>
      </p:sp>
      <p:sp>
        <p:nvSpPr>
          <p:cNvPr id="23" name="TextBox 22"/>
          <p:cNvSpPr txBox="1"/>
          <p:nvPr/>
        </p:nvSpPr>
        <p:spPr>
          <a:xfrm>
            <a:off x="8290559" y="2496312"/>
            <a:ext cx="3166872" cy="1508760"/>
          </a:xfrm>
          <a:prstGeom prst="rect">
            <a:avLst/>
          </a:prstGeom>
          <a:noFill/>
        </p:spPr>
        <p:txBody>
          <a:bodyPr wrap="square" lIns="36576" rIns="36576" tIns="18288" bIns="18288" anchor="t">
            <a:spAutoFit/>
          </a:bodyPr>
          <a:lstStyle/>
          <a:p>
            <a:pPr algn="l"/>
            <a:r>
              <a:rPr sz="1250" b="0" i="0">
                <a:solidFill>
                  <a:srgbClr val="1A1A1A"/>
                </a:solidFill>
                <a:latin typeface="Abadi"/>
              </a:rPr>
              <a:t>▪  639 thyroid tests in one UK unit</a:t>
            </a:r>
          </a:p>
          <a:p>
            <a:pPr algn="l">
              <a:spcBef>
                <a:spcPts val="500"/>
              </a:spcBef>
            </a:pPr>
            <a:r>
              <a:rPr sz="1250" b="0" i="0">
                <a:solidFill>
                  <a:srgbClr val="1A1A1A"/>
                </a:solidFill>
                <a:latin typeface="Abadi"/>
              </a:rPr>
              <a:t>▪  Most done for prolonged jaundice</a:t>
            </a:r>
          </a:p>
          <a:p>
            <a:pPr algn="l">
              <a:spcBef>
                <a:spcPts val="500"/>
              </a:spcBef>
            </a:pPr>
            <a:r>
              <a:rPr sz="1250" b="0" i="0">
                <a:solidFill>
                  <a:srgbClr val="1A1A1A"/>
                </a:solidFill>
                <a:latin typeface="Abadi"/>
              </a:rPr>
              <a:t>▪  No thyroid diagnosis found</a:t>
            </a:r>
          </a:p>
        </p:txBody>
      </p:sp>
      <p:sp>
        <p:nvSpPr>
          <p:cNvPr id="24" name="TextBox 23"/>
          <p:cNvSpPr txBox="1"/>
          <p:nvPr/>
        </p:nvSpPr>
        <p:spPr>
          <a:xfrm>
            <a:off x="548640" y="4343400"/>
            <a:ext cx="11091672" cy="1280160"/>
          </a:xfrm>
          <a:prstGeom prst="rect">
            <a:avLst/>
          </a:prstGeom>
          <a:noFill/>
        </p:spPr>
        <p:txBody>
          <a:bodyPr wrap="square" lIns="36576" rIns="36576" tIns="18288" bIns="18288" anchor="t">
            <a:spAutoFit/>
          </a:bodyPr>
          <a:lstStyle/>
          <a:p>
            <a:pPr algn="l"/>
            <a:r>
              <a:rPr sz="1250" b="1" i="0">
                <a:solidFill>
                  <a:srgbClr val="1B355E"/>
                </a:solidFill>
                <a:latin typeface="Abadi"/>
              </a:rPr>
              <a:t>Practical reading.  </a:t>
            </a:r>
            <a:r>
              <a:rPr sz="1250" b="0" i="0">
                <a:solidFill>
                  <a:srgbClr val="1A1A1A"/>
                </a:solidFill>
                <a:latin typeface="Abadi"/>
              </a:rPr>
              <a:t>When the screen is reliable and the jaundice is unconjugated, a repeat thyroid test rarely adds anything. When the jaundice is conjugated, the target is no longer the thyroid gland: it is the pituitary, so free T4 with TSH and a cortisol are the tests that matter.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GUIDELINES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WHAT THE DOCUMENTS SAY</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North America versus Europe; AASLD and EASL have no neonatal cholestasis guideline</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17</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Fawaz 2017 · NICE CG98 (2010, updated) · van Trotsenburg 2021 (ESPE/ENDO-ERN) · Moyer V, et al. JPGN 2004;39:115–28</a:t>
            </a:r>
          </a:p>
        </p:txBody>
      </p:sp>
      <p:graphicFrame>
        <p:nvGraphicFramePr>
          <p:cNvPr id="12" name="Table 11"/>
          <p:cNvGraphicFramePr>
            <a:graphicFrameLocks noGrp="1"/>
          </p:cNvGraphicFramePr>
          <p:nvPr/>
        </p:nvGraphicFramePr>
        <p:xfrm>
          <a:off x="548640" y="1783080"/>
          <a:ext cx="11091672" cy="3328416"/>
        </p:xfrm>
        <a:graphic>
          <a:graphicData uri="http://schemas.openxmlformats.org/drawingml/2006/table">
            <a:tbl>
              <a:tblPr firstRow="1" bandRow="1">
                <a:tableStyleId>{5C22544A-7EE6-4342-B048-85BDC9FD1C3A}</a:tableStyleId>
              </a:tblPr>
              <a:tblGrid>
                <a:gridCol w="2377440"/>
                <a:gridCol w="3566160"/>
                <a:gridCol w="3867912"/>
                <a:gridCol w="1280160"/>
              </a:tblGrid>
              <a:tr h="475488">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North America (NASPGHAN 2017 joint, AAP)</a:t>
                      </a:r>
                    </a:p>
                  </a:txBody>
                  <a:tcPr marL="73152" marR="73152" marT="27432" marB="27432" anchor="ctr">
                    <a:solidFill>
                      <a:srgbClr val="1B355E"/>
                    </a:solidFill>
                  </a:tcPr>
                </a:tc>
                <a:tc>
                  <a:txBody>
                    <a:bodyPr wrap="square"/>
                    <a:lstStyle/>
                    <a:p>
                      <a:r>
                        <a:rPr sz="1050" b="1">
                          <a:solidFill>
                            <a:srgbClr val="FFFFFF"/>
                          </a:solidFill>
                          <a:latin typeface="Abadi"/>
                        </a:rPr>
                        <a:t>Europe (ESPGHAN 2017 joint, NICE, ESPE/ENDO-ERN)</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75488">
                <a:tc>
                  <a:txBody>
                    <a:bodyPr wrap="square"/>
                    <a:lstStyle/>
                    <a:p>
                      <a:r>
                        <a:rPr sz="1000" b="1">
                          <a:solidFill>
                            <a:srgbClr val="1A1A1A"/>
                          </a:solidFill>
                          <a:latin typeface="Abadi"/>
                        </a:rPr>
                        <a:t>Thyroid tests</a:t>
                      </a:r>
                    </a:p>
                  </a:txBody>
                  <a:tcPr marL="73152" marR="73152" marT="27432" marB="27432" anchor="ctr">
                    <a:solidFill>
                      <a:srgbClr val="F2F2F2"/>
                    </a:solidFill>
                  </a:tcPr>
                </a:tc>
                <a:tc>
                  <a:txBody>
                    <a:bodyPr wrap="square"/>
                    <a:lstStyle/>
                    <a:p>
                      <a:r>
                        <a:rPr sz="1000" b="0">
                          <a:solidFill>
                            <a:srgbClr val="1A1A1A"/>
                          </a:solidFill>
                          <a:latin typeface="Abadi"/>
                        </a:rPr>
                        <a:t>Tier 1: TSH and T4 if screen not available; tier 2: TSH, T4</a:t>
                      </a:r>
                    </a:p>
                  </a:txBody>
                  <a:tcPr marL="73152" marR="73152" marT="27432" marB="27432" anchor="ctr">
                    <a:solidFill>
                      <a:srgbClr val="F2F2F2"/>
                    </a:solidFill>
                  </a:tcPr>
                </a:tc>
                <a:tc>
                  <a:txBody>
                    <a:bodyPr wrap="square"/>
                    <a:lstStyle/>
                    <a:p>
                      <a:r>
                        <a:rPr sz="1000" b="0">
                          <a:solidFill>
                            <a:srgbClr val="1A1A1A"/>
                          </a:solidFill>
                          <a:latin typeface="Abadi"/>
                        </a:rPr>
                        <a:t>Same joint guideline; NICE: confirm screen only</a:t>
                      </a:r>
                    </a:p>
                  </a:txBody>
                  <a:tcPr marL="73152" marR="73152" marT="27432" marB="27432" anchor="ctr">
                    <a:solidFill>
                      <a:srgbClr val="F2F2F2"/>
                    </a:solidFill>
                  </a:tcPr>
                </a:tc>
                <a:tc>
                  <a:txBody>
                    <a:bodyPr wrap="square"/>
                    <a:lstStyle/>
                    <a:p>
                      <a:pPr algn="ctr"/>
                      <a:r>
                        <a:rPr sz="1000" b="1">
                          <a:solidFill>
                            <a:srgbClr val="FFFFFF"/>
                          </a:solidFill>
                          <a:latin typeface="Abadi"/>
                        </a:rPr>
                        <a:t>ALIGNED</a:t>
                      </a:r>
                    </a:p>
                  </a:txBody>
                  <a:tcPr marL="73152" marR="73152" marT="27432" marB="27432" anchor="ctr">
                    <a:solidFill>
                      <a:srgbClr val="1E7A33"/>
                    </a:solidFill>
                  </a:tcPr>
                </a:tc>
              </a:tr>
              <a:tr h="475488">
                <a:tc>
                  <a:txBody>
                    <a:bodyPr wrap="square"/>
                    <a:lstStyle/>
                    <a:p>
                      <a:r>
                        <a:rPr sz="1000" b="1">
                          <a:solidFill>
                            <a:srgbClr val="1A1A1A"/>
                          </a:solidFill>
                          <a:latin typeface="Abadi"/>
                        </a:rPr>
                        <a:t>Cortisol</a:t>
                      </a:r>
                    </a:p>
                  </a:txBody>
                  <a:tcPr marL="73152" marR="73152" marT="27432" marB="27432" anchor="ctr">
                    <a:solidFill>
                      <a:srgbClr val="FFFFFF"/>
                    </a:solidFill>
                  </a:tcPr>
                </a:tc>
                <a:tc>
                  <a:txBody>
                    <a:bodyPr wrap="square"/>
                    <a:lstStyle/>
                    <a:p>
                      <a:r>
                        <a:rPr sz="1000" b="0">
                          <a:solidFill>
                            <a:srgbClr val="1A1A1A"/>
                          </a:solidFill>
                          <a:latin typeface="Abadi"/>
                        </a:rPr>
                        <a:t>Tier 2 test</a:t>
                      </a:r>
                    </a:p>
                  </a:txBody>
                  <a:tcPr marL="73152" marR="73152" marT="27432" marB="27432" anchor="ctr">
                    <a:solidFill>
                      <a:srgbClr val="FFFFFF"/>
                    </a:solidFill>
                  </a:tcPr>
                </a:tc>
                <a:tc>
                  <a:txBody>
                    <a:bodyPr wrap="square"/>
                    <a:lstStyle/>
                    <a:p>
                      <a:r>
                        <a:rPr sz="1000" b="0">
                          <a:solidFill>
                            <a:srgbClr val="1A1A1A"/>
                          </a:solidFill>
                          <a:latin typeface="Abadi"/>
                        </a:rPr>
                        <a:t>Tier 2 (joint); NICE prolonged jaundice: not listed</a:t>
                      </a:r>
                    </a:p>
                  </a:txBody>
                  <a:tcPr marL="73152" marR="73152" marT="27432" marB="27432" anchor="ctr">
                    <a:solidFill>
                      <a:srgbClr val="FFFFFF"/>
                    </a:solidFill>
                  </a:tcPr>
                </a:tc>
                <a:tc>
                  <a:txBody>
                    <a:bodyPr wrap="square"/>
                    <a:lstStyle/>
                    <a:p>
                      <a:pPr algn="ctr"/>
                      <a:r>
                        <a:rPr sz="1000" b="1">
                          <a:solidFill>
                            <a:srgbClr val="FFFFFF"/>
                          </a:solidFill>
                          <a:latin typeface="Abadi"/>
                        </a:rPr>
                        <a:t>ALIGNED</a:t>
                      </a:r>
                    </a:p>
                  </a:txBody>
                  <a:tcPr marL="73152" marR="73152" marT="27432" marB="27432" anchor="ctr">
                    <a:solidFill>
                      <a:srgbClr val="1E7A33"/>
                    </a:solidFill>
                  </a:tcPr>
                </a:tc>
              </a:tr>
              <a:tr h="475488">
                <a:tc>
                  <a:txBody>
                    <a:bodyPr wrap="square"/>
                    <a:lstStyle/>
                    <a:p>
                      <a:r>
                        <a:rPr sz="1000" b="1">
                          <a:solidFill>
                            <a:srgbClr val="1A1A1A"/>
                          </a:solidFill>
                          <a:latin typeface="Abadi"/>
                        </a:rPr>
                        <a:t>Central hypothyroidism</a:t>
                      </a:r>
                    </a:p>
                  </a:txBody>
                  <a:tcPr marL="73152" marR="73152" marT="27432" marB="27432" anchor="ctr">
                    <a:solidFill>
                      <a:srgbClr val="F2F2F2"/>
                    </a:solidFill>
                  </a:tcPr>
                </a:tc>
                <a:tc>
                  <a:txBody>
                    <a:bodyPr wrap="square"/>
                    <a:lstStyle/>
                    <a:p>
                      <a:r>
                        <a:rPr sz="1000" b="0">
                          <a:solidFill>
                            <a:srgbClr val="1A1A1A"/>
                          </a:solidFill>
                          <a:latin typeface="Abadi"/>
                        </a:rPr>
                        <a:t>Most states screen by TSH: missed</a:t>
                      </a:r>
                    </a:p>
                  </a:txBody>
                  <a:tcPr marL="73152" marR="73152" marT="27432" marB="27432" anchor="ctr">
                    <a:solidFill>
                      <a:srgbClr val="F2F2F2"/>
                    </a:solidFill>
                  </a:tcPr>
                </a:tc>
                <a:tc>
                  <a:txBody>
                    <a:bodyPr wrap="square"/>
                    <a:lstStyle/>
                    <a:p>
                      <a:r>
                        <a:rPr sz="1000" b="0">
                          <a:solidFill>
                            <a:srgbClr val="1A1A1A"/>
                          </a:solidFill>
                          <a:latin typeface="Abadi"/>
                        </a:rPr>
                        <a:t>Dutch T4-based screen detects it; ESPE stresses clinical suspicion</a:t>
                      </a:r>
                    </a:p>
                  </a:txBody>
                  <a:tcPr marL="73152" marR="73152" marT="27432" marB="27432" anchor="ctr">
                    <a:solidFill>
                      <a:srgbClr val="F2F2F2"/>
                    </a:solidFill>
                  </a:tcPr>
                </a:tc>
                <a:tc>
                  <a:txBody>
                    <a:bodyPr wrap="square"/>
                    <a:lstStyle/>
                    <a:p>
                      <a:pPr algn="ctr"/>
                      <a:r>
                        <a:rPr sz="1000" b="1">
                          <a:solidFill>
                            <a:srgbClr val="FFFFFF"/>
                          </a:solidFill>
                          <a:latin typeface="Abadi"/>
                        </a:rPr>
                        <a:t>DIFFERS</a:t>
                      </a:r>
                    </a:p>
                  </a:txBody>
                  <a:tcPr marL="73152" marR="73152" marT="27432" marB="27432" anchor="ctr">
                    <a:solidFill>
                      <a:srgbClr val="D97A0B"/>
                    </a:solidFill>
                  </a:tcPr>
                </a:tc>
              </a:tr>
              <a:tr h="475488">
                <a:tc>
                  <a:txBody>
                    <a:bodyPr wrap="square"/>
                    <a:lstStyle/>
                    <a:p>
                      <a:r>
                        <a:rPr sz="1000" b="1">
                          <a:solidFill>
                            <a:srgbClr val="1A1A1A"/>
                          </a:solidFill>
                          <a:latin typeface="Abadi"/>
                        </a:rPr>
                        <a:t>Hydrocortisone before T4</a:t>
                      </a:r>
                    </a:p>
                  </a:txBody>
                  <a:tcPr marL="73152" marR="73152" marT="27432" marB="27432" anchor="ctr">
                    <a:solidFill>
                      <a:srgbClr val="FFFFFF"/>
                    </a:solidFill>
                  </a:tcPr>
                </a:tc>
                <a:tc>
                  <a:txBody>
                    <a:bodyPr wrap="square"/>
                    <a:lstStyle/>
                    <a:p>
                      <a:r>
                        <a:rPr sz="1000" b="0">
                          <a:solidFill>
                            <a:srgbClr val="1A1A1A"/>
                          </a:solidFill>
                          <a:latin typeface="Abadi"/>
                        </a:rPr>
                        <a:t>Endocrine practice, not in the hepatology guideline</a:t>
                      </a:r>
                    </a:p>
                  </a:txBody>
                  <a:tcPr marL="73152" marR="73152" marT="27432" marB="27432" anchor="ctr">
                    <a:solidFill>
                      <a:srgbClr val="FFFFFF"/>
                    </a:solidFill>
                  </a:tcPr>
                </a:tc>
                <a:tc>
                  <a:txBody>
                    <a:bodyPr wrap="square"/>
                    <a:lstStyle/>
                    <a:p>
                      <a:r>
                        <a:rPr sz="1000" b="0">
                          <a:solidFill>
                            <a:srgbClr val="1A1A1A"/>
                          </a:solidFill>
                          <a:latin typeface="Abadi"/>
                        </a:rPr>
                        <a:t>Explicit in the 2021 ESPE/ENDO-ERN consensus</a:t>
                      </a:r>
                    </a:p>
                  </a:txBody>
                  <a:tcPr marL="73152" marR="73152" marT="27432" marB="27432" anchor="ctr">
                    <a:solidFill>
                      <a:srgbClr val="FFFFFF"/>
                    </a:solidFill>
                  </a:tcPr>
                </a:tc>
                <a:tc>
                  <a:txBody>
                    <a:bodyPr wrap="square"/>
                    <a:lstStyle/>
                    <a:p>
                      <a:pPr algn="ctr"/>
                      <a:r>
                        <a:rPr sz="1000" b="1">
                          <a:solidFill>
                            <a:srgbClr val="FFFFFF"/>
                          </a:solidFill>
                          <a:latin typeface="Abadi"/>
                        </a:rPr>
                        <a:t>DIFFERS</a:t>
                      </a:r>
                    </a:p>
                  </a:txBody>
                  <a:tcPr marL="73152" marR="73152" marT="27432" marB="27432" anchor="ctr">
                    <a:solidFill>
                      <a:srgbClr val="D97A0B"/>
                    </a:solidFill>
                  </a:tcPr>
                </a:tc>
              </a:tr>
              <a:tr h="475488">
                <a:tc>
                  <a:txBody>
                    <a:bodyPr wrap="square"/>
                    <a:lstStyle/>
                    <a:p>
                      <a:r>
                        <a:rPr sz="1000" b="1">
                          <a:solidFill>
                            <a:srgbClr val="1A1A1A"/>
                          </a:solidFill>
                          <a:latin typeface="Abadi"/>
                        </a:rPr>
                        <a:t>Hypoglycaemic cholestatic infant</a:t>
                      </a:r>
                    </a:p>
                  </a:txBody>
                  <a:tcPr marL="73152" marR="73152" marT="27432" marB="27432" anchor="ctr">
                    <a:solidFill>
                      <a:srgbClr val="F2F2F2"/>
                    </a:solidFill>
                  </a:tcPr>
                </a:tc>
                <a:tc>
                  <a:txBody>
                    <a:bodyPr wrap="square"/>
                    <a:lstStyle/>
                    <a:p>
                      <a:r>
                        <a:rPr sz="1000" b="0">
                          <a:solidFill>
                            <a:srgbClr val="1A1A1A"/>
                          </a:solidFill>
                          <a:latin typeface="Abadi"/>
                        </a:rPr>
                        <a:t>No explicit pathway</a:t>
                      </a:r>
                    </a:p>
                  </a:txBody>
                  <a:tcPr marL="73152" marR="73152" marT="27432" marB="27432" anchor="ctr">
                    <a:solidFill>
                      <a:srgbClr val="F2F2F2"/>
                    </a:solidFill>
                  </a:tcPr>
                </a:tc>
                <a:tc>
                  <a:txBody>
                    <a:bodyPr wrap="square"/>
                    <a:lstStyle/>
                    <a:p>
                      <a:r>
                        <a:rPr sz="1000" b="0">
                          <a:solidFill>
                            <a:srgbClr val="1A1A1A"/>
                          </a:solidFill>
                          <a:latin typeface="Abadi"/>
                        </a:rPr>
                        <a:t>No explicit pathway</a:t>
                      </a:r>
                    </a:p>
                  </a:txBody>
                  <a:tcPr marL="73152" marR="73152" marT="27432" marB="27432" anchor="ctr">
                    <a:solidFill>
                      <a:srgbClr val="F2F2F2"/>
                    </a:solidFill>
                  </a:tcPr>
                </a:tc>
                <a:tc>
                  <a:txBody>
                    <a:bodyPr wrap="square"/>
                    <a:lstStyle/>
                    <a:p>
                      <a:pPr algn="ctr"/>
                      <a:r>
                        <a:rPr sz="1000" b="1">
                          <a:solidFill>
                            <a:srgbClr val="FFFFFF"/>
                          </a:solidFill>
                          <a:latin typeface="Abadi"/>
                        </a:rPr>
                        <a:t>MATERIAL</a:t>
                      </a:r>
                    </a:p>
                  </a:txBody>
                  <a:tcPr marL="73152" marR="73152" marT="27432" marB="27432" anchor="ctr">
                    <a:solidFill>
                      <a:srgbClr val="B22222"/>
                    </a:solidFill>
                  </a:tcPr>
                </a:tc>
              </a:tr>
              <a:tr h="475488">
                <a:tc>
                  <a:txBody>
                    <a:bodyPr wrap="square"/>
                    <a:lstStyle/>
                    <a:p>
                      <a:r>
                        <a:rPr sz="1000" b="1">
                          <a:solidFill>
                            <a:srgbClr val="1A1A1A"/>
                          </a:solidFill>
                          <a:latin typeface="Abadi"/>
                        </a:rPr>
                        <a:t>Adult societies</a:t>
                      </a:r>
                    </a:p>
                  </a:txBody>
                  <a:tcPr marL="73152" marR="73152" marT="27432" marB="27432" anchor="ctr">
                    <a:solidFill>
                      <a:srgbClr val="FFFFFF"/>
                    </a:solidFill>
                  </a:tcPr>
                </a:tc>
                <a:tc>
                  <a:txBody>
                    <a:bodyPr wrap="square"/>
                    <a:lstStyle/>
                    <a:p>
                      <a:r>
                        <a:rPr sz="1000" b="0">
                          <a:solidFill>
                            <a:srgbClr val="1A1A1A"/>
                          </a:solidFill>
                          <a:latin typeface="Abadi"/>
                        </a:rPr>
                        <a:t>AASLD: no neonatal guideline</a:t>
                      </a:r>
                    </a:p>
                  </a:txBody>
                  <a:tcPr marL="73152" marR="73152" marT="27432" marB="27432" anchor="ctr">
                    <a:solidFill>
                      <a:srgbClr val="FFFFFF"/>
                    </a:solidFill>
                  </a:tcPr>
                </a:tc>
                <a:tc>
                  <a:txBody>
                    <a:bodyPr wrap="square"/>
                    <a:lstStyle/>
                    <a:p>
                      <a:r>
                        <a:rPr sz="1000" b="0">
                          <a:solidFill>
                            <a:srgbClr val="1A1A1A"/>
                          </a:solidFill>
                          <a:latin typeface="Abadi"/>
                        </a:rPr>
                        <a:t>EASL: no neonatal guideline</a:t>
                      </a:r>
                    </a:p>
                  </a:txBody>
                  <a:tcPr marL="73152" marR="73152" marT="27432" marB="27432" anchor="ctr">
                    <a:solidFill>
                      <a:srgbClr val="FFFFFF"/>
                    </a:solidFill>
                  </a:tcPr>
                </a:tc>
                <a:tc>
                  <a:txBody>
                    <a:bodyPr wrap="square"/>
                    <a:lstStyle/>
                    <a:p>
                      <a:pPr algn="ctr"/>
                      <a:r>
                        <a:rPr sz="100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5349240"/>
            <a:ext cx="11091672" cy="365760"/>
          </a:xfrm>
          <a:prstGeom prst="rect">
            <a:avLst/>
          </a:prstGeom>
          <a:noFill/>
        </p:spPr>
        <p:txBody>
          <a:bodyPr wrap="square" lIns="36576" rIns="36576" tIns="18288" bIns="18288" anchor="t">
            <a:spAutoFit/>
          </a:bodyPr>
          <a:lstStyle/>
          <a:p>
            <a:pPr algn="l"/>
            <a:r>
              <a:rPr sz="1200" b="1" i="1">
                <a:solidFill>
                  <a:srgbClr val="B22222"/>
                </a:solidFill>
                <a:latin typeface="Abadi"/>
              </a:rPr>
              <a:t>Material gap: no hepatology document links hypoglycaemia plus cholestasis to a same-day cortisol.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TRAPS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WHERE ENDOCRINE CHOLESTASIS IS MISSED</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Common reasons for a late diagnosis</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18</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Braslavsky 2011 · Grammatikopoulos 2018 · Lauffer 2021 · van Trotsenburg 2021</a:t>
            </a:r>
          </a:p>
        </p:txBody>
      </p:sp>
      <p:sp>
        <p:nvSpPr>
          <p:cNvPr id="12" name="Rectangle 11"/>
          <p:cNvSpPr/>
          <p:nvPr/>
        </p:nvSpPr>
        <p:spPr>
          <a:xfrm>
            <a:off x="548640" y="1783080"/>
            <a:ext cx="2587752" cy="25146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"Normal screen"</a:t>
            </a:r>
          </a:p>
        </p:txBody>
      </p:sp>
      <p:sp>
        <p:nvSpPr>
          <p:cNvPr id="15" name="TextBox 14"/>
          <p:cNvSpPr txBox="1"/>
          <p:nvPr/>
        </p:nvSpPr>
        <p:spPr>
          <a:xfrm>
            <a:off x="731520" y="2496312"/>
            <a:ext cx="2221992" cy="1691640"/>
          </a:xfrm>
          <a:prstGeom prst="rect">
            <a:avLst/>
          </a:prstGeom>
          <a:noFill/>
        </p:spPr>
        <p:txBody>
          <a:bodyPr wrap="square" lIns="36576" rIns="36576" tIns="18288" bIns="18288" anchor="t">
            <a:spAutoFit/>
          </a:bodyPr>
          <a:lstStyle/>
          <a:p>
            <a:pPr algn="l"/>
            <a:r>
              <a:rPr sz="1250" b="0" i="0">
                <a:solidFill>
                  <a:srgbClr val="1A1A1A"/>
                </a:solidFill>
                <a:latin typeface="Abadi"/>
              </a:rPr>
              <a:t>▪  TSH-based screens miss central disease</a:t>
            </a:r>
          </a:p>
          <a:p>
            <a:pPr algn="l">
              <a:spcBef>
                <a:spcPts val="500"/>
              </a:spcBef>
            </a:pPr>
            <a:r>
              <a:rPr sz="1250" b="0" i="0">
                <a:solidFill>
                  <a:srgbClr val="1A1A1A"/>
                </a:solidFill>
                <a:latin typeface="Abadi"/>
              </a:rPr>
              <a:t>▪  Preterms screened by TSH alone</a:t>
            </a:r>
          </a:p>
          <a:p>
            <a:pPr algn="l">
              <a:spcBef>
                <a:spcPts val="500"/>
              </a:spcBef>
            </a:pPr>
            <a:r>
              <a:rPr sz="1250" b="0" i="0">
                <a:solidFill>
                  <a:srgbClr val="1A1A1A"/>
                </a:solidFill>
                <a:latin typeface="Abadi"/>
              </a:rPr>
              <a:t>▪  Free T4 never measured</a:t>
            </a:r>
          </a:p>
        </p:txBody>
      </p:sp>
      <p:sp>
        <p:nvSpPr>
          <p:cNvPr id="16" name="Rectangle 15"/>
          <p:cNvSpPr/>
          <p:nvPr/>
        </p:nvSpPr>
        <p:spPr>
          <a:xfrm>
            <a:off x="3383280" y="1783080"/>
            <a:ext cx="2587752" cy="25146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"Low GGT = PFIC"</a:t>
            </a:r>
          </a:p>
        </p:txBody>
      </p:sp>
      <p:sp>
        <p:nvSpPr>
          <p:cNvPr id="19" name="TextBox 18"/>
          <p:cNvSpPr txBox="1"/>
          <p:nvPr/>
        </p:nvSpPr>
        <p:spPr>
          <a:xfrm>
            <a:off x="3566160" y="2496312"/>
            <a:ext cx="2221992" cy="1691640"/>
          </a:xfrm>
          <a:prstGeom prst="rect">
            <a:avLst/>
          </a:prstGeom>
          <a:noFill/>
        </p:spPr>
        <p:txBody>
          <a:bodyPr wrap="square" lIns="36576" rIns="36576" tIns="18288" bIns="18288" anchor="t">
            <a:spAutoFit/>
          </a:bodyPr>
          <a:lstStyle/>
          <a:p>
            <a:pPr algn="l"/>
            <a:r>
              <a:rPr sz="1250" b="0" i="0">
                <a:solidFill>
                  <a:srgbClr val="1A1A1A"/>
                </a:solidFill>
                <a:latin typeface="Abadi"/>
              </a:rPr>
              <a:t>▪  Endocrine cholestasis reduces BSEP</a:t>
            </a:r>
          </a:p>
          <a:p>
            <a:pPr algn="l">
              <a:spcBef>
                <a:spcPts val="500"/>
              </a:spcBef>
            </a:pPr>
            <a:r>
              <a:rPr sz="1250" b="0" i="0">
                <a:solidFill>
                  <a:srgbClr val="1A1A1A"/>
                </a:solidFill>
                <a:latin typeface="Abadi"/>
              </a:rPr>
              <a:t>▪  Genetic panel ordered, cortisol not</a:t>
            </a:r>
          </a:p>
          <a:p>
            <a:pPr algn="l">
              <a:spcBef>
                <a:spcPts val="500"/>
              </a:spcBef>
            </a:pPr>
            <a:r>
              <a:rPr sz="1250" b="0" i="0">
                <a:solidFill>
                  <a:srgbClr val="1A1A1A"/>
                </a:solidFill>
                <a:latin typeface="Abadi"/>
              </a:rPr>
              <a:t>▪  Weeks lost waiting</a:t>
            </a:r>
          </a:p>
        </p:txBody>
      </p:sp>
      <p:sp>
        <p:nvSpPr>
          <p:cNvPr id="20" name="Rectangle 19"/>
          <p:cNvSpPr/>
          <p:nvPr/>
        </p:nvSpPr>
        <p:spPr>
          <a:xfrm>
            <a:off x="6217920" y="1783080"/>
            <a:ext cx="2587752" cy="25146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"Transitional sugar"</a:t>
            </a:r>
          </a:p>
        </p:txBody>
      </p:sp>
      <p:sp>
        <p:nvSpPr>
          <p:cNvPr id="23" name="TextBox 22"/>
          <p:cNvSpPr txBox="1"/>
          <p:nvPr/>
        </p:nvSpPr>
        <p:spPr>
          <a:xfrm>
            <a:off x="6400800" y="2496312"/>
            <a:ext cx="2221992" cy="1691640"/>
          </a:xfrm>
          <a:prstGeom prst="rect">
            <a:avLst/>
          </a:prstGeom>
          <a:noFill/>
        </p:spPr>
        <p:txBody>
          <a:bodyPr wrap="square" lIns="36576" rIns="36576" tIns="18288" bIns="18288" anchor="t">
            <a:spAutoFit/>
          </a:bodyPr>
          <a:lstStyle/>
          <a:p>
            <a:pPr algn="l"/>
            <a:r>
              <a:rPr sz="1250" b="0" i="0">
                <a:solidFill>
                  <a:srgbClr val="1A1A1A"/>
                </a:solidFill>
                <a:latin typeface="Abadi"/>
              </a:rPr>
              <a:t>▪  Day-2 hypoglycaemia forgotten by week 4</a:t>
            </a:r>
          </a:p>
          <a:p>
            <a:pPr algn="l">
              <a:spcBef>
                <a:spcPts val="500"/>
              </a:spcBef>
            </a:pPr>
            <a:r>
              <a:rPr sz="1250" b="0" i="0">
                <a:solidFill>
                  <a:srgbClr val="1A1A1A"/>
                </a:solidFill>
                <a:latin typeface="Abadi"/>
              </a:rPr>
              <a:t>▪  No critical sample taken</a:t>
            </a:r>
          </a:p>
          <a:p>
            <a:pPr algn="l">
              <a:spcBef>
                <a:spcPts val="500"/>
              </a:spcBef>
            </a:pPr>
            <a:r>
              <a:rPr sz="1250" b="0" i="0">
                <a:solidFill>
                  <a:srgbClr val="1A1A1A"/>
                </a:solidFill>
                <a:latin typeface="Abadi"/>
              </a:rPr>
              <a:t>▪  Glucose chart never re-read</a:t>
            </a:r>
          </a:p>
        </p:txBody>
      </p:sp>
      <p:sp>
        <p:nvSpPr>
          <p:cNvPr id="24" name="Rectangle 23"/>
          <p:cNvSpPr/>
          <p:nvPr/>
        </p:nvSpPr>
        <p:spPr>
          <a:xfrm>
            <a:off x="9052560" y="1783080"/>
            <a:ext cx="2587752" cy="25146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20824"/>
            <a:ext cx="2221992" cy="384048"/>
          </a:xfrm>
          <a:prstGeom prst="rect">
            <a:avLst/>
          </a:prstGeom>
          <a:noFill/>
        </p:spPr>
        <p:txBody>
          <a:bodyPr wrap="square" lIns="36576" rIns="36576" tIns="18288" bIns="18288" anchor="t">
            <a:spAutoFit/>
          </a:bodyPr>
          <a:lstStyle/>
          <a:p>
            <a:pPr algn="l"/>
            <a:r>
              <a:rPr sz="1600" b="1" i="0">
                <a:solidFill>
                  <a:srgbClr val="1A1A1A"/>
                </a:solidFill>
                <a:latin typeface="Abadi"/>
              </a:rPr>
              <a:t>Wrong order</a:t>
            </a:r>
          </a:p>
        </p:txBody>
      </p:sp>
      <p:sp>
        <p:nvSpPr>
          <p:cNvPr id="27" name="TextBox 26"/>
          <p:cNvSpPr txBox="1"/>
          <p:nvPr/>
        </p:nvSpPr>
        <p:spPr>
          <a:xfrm>
            <a:off x="9235440" y="2496312"/>
            <a:ext cx="2221992" cy="1691640"/>
          </a:xfrm>
          <a:prstGeom prst="rect">
            <a:avLst/>
          </a:prstGeom>
          <a:noFill/>
        </p:spPr>
        <p:txBody>
          <a:bodyPr wrap="square" lIns="36576" rIns="36576" tIns="18288" bIns="18288" anchor="t">
            <a:spAutoFit/>
          </a:bodyPr>
          <a:lstStyle/>
          <a:p>
            <a:pPr algn="l"/>
            <a:r>
              <a:rPr sz="1250" b="0" i="0">
                <a:solidFill>
                  <a:srgbClr val="1A1A1A"/>
                </a:solidFill>
                <a:latin typeface="Abadi"/>
              </a:rPr>
              <a:t>▪  Levothyroxine started first</a:t>
            </a:r>
          </a:p>
          <a:p>
            <a:pPr algn="l">
              <a:spcBef>
                <a:spcPts val="500"/>
              </a:spcBef>
            </a:pPr>
            <a:r>
              <a:rPr sz="1250" b="0" i="0">
                <a:solidFill>
                  <a:srgbClr val="1A1A1A"/>
                </a:solidFill>
                <a:latin typeface="Abadi"/>
              </a:rPr>
              <a:t>▪  Adrenal crisis follows</a:t>
            </a:r>
          </a:p>
          <a:p>
            <a:pPr algn="l">
              <a:spcBef>
                <a:spcPts val="500"/>
              </a:spcBef>
            </a:pPr>
            <a:r>
              <a:rPr sz="1250" b="0" i="0">
                <a:solidFill>
                  <a:srgbClr val="1A1A1A"/>
                </a:solidFill>
                <a:latin typeface="Abadi"/>
              </a:rPr>
              <a:t>▪  Steroid cover missing at surgery or biopsy</a:t>
            </a:r>
          </a:p>
        </p:txBody>
      </p:sp>
      <p:sp>
        <p:nvSpPr>
          <p:cNvPr id="28" name="TextBox 27"/>
          <p:cNvSpPr txBox="1"/>
          <p:nvPr/>
        </p:nvSpPr>
        <p:spPr>
          <a:xfrm>
            <a:off x="548640" y="4526280"/>
            <a:ext cx="11091672" cy="1097280"/>
          </a:xfrm>
          <a:prstGeom prst="rect">
            <a:avLst/>
          </a:prstGeom>
          <a:noFill/>
        </p:spPr>
        <p:txBody>
          <a:bodyPr wrap="square" lIns="36576" rIns="36576" tIns="18288" bIns="18288" anchor="t">
            <a:spAutoFit/>
          </a:bodyPr>
          <a:lstStyle/>
          <a:p>
            <a:pPr algn="l"/>
            <a:r>
              <a:rPr sz="1250" b="1" i="1">
                <a:solidFill>
                  <a:srgbClr val="1B355E"/>
                </a:solidFill>
                <a:latin typeface="Abadi"/>
              </a:rPr>
              <a:t>An endocrine answer never closes the atresia question: if stools are pale or the GGT is high and rising, finish the hepatology workup on schedule while hormones are replaced.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PEARLS</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EIGHT THINGS TO REMEMBER</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The numbers worth carrying into clinic</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19</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Gottesman 2015 · Mauvais 2016 · Braslavsky 2011 · Grammatikopoulos 2018 · van Tijn 2005 · Bulan 2023 · van Trotsenburg 2021</a:t>
            </a:r>
          </a:p>
        </p:txBody>
      </p:sp>
      <p:sp>
        <p:nvSpPr>
          <p:cNvPr id="12" name="TextBox 11"/>
          <p:cNvSpPr txBox="1"/>
          <p:nvPr/>
        </p:nvSpPr>
        <p:spPr>
          <a:xfrm>
            <a:off x="548640" y="1828800"/>
            <a:ext cx="11091672" cy="3931920"/>
          </a:xfrm>
          <a:prstGeom prst="rect">
            <a:avLst/>
          </a:prstGeom>
          <a:noFill/>
        </p:spPr>
        <p:txBody>
          <a:bodyPr wrap="square" lIns="36576" rIns="36576" tIns="18288" bIns="18288" anchor="t">
            <a:spAutoFit/>
          </a:bodyPr>
          <a:lstStyle/>
          <a:p>
            <a:pPr algn="l"/>
            <a:r>
              <a:rPr sz="1500" b="0" i="0">
                <a:solidFill>
                  <a:srgbClr val="1A1A1A"/>
                </a:solidFill>
                <a:latin typeface="Abadi"/>
              </a:rPr>
              <a:t>▪  Endocrine disease explains about 2% of infant cholestasis, but up to four in ten neonatal hypopituitary infants are cholestatic.</a:t>
            </a:r>
          </a:p>
          <a:p>
            <a:pPr algn="l">
              <a:spcBef>
                <a:spcPts val="1200"/>
              </a:spcBef>
            </a:pPr>
            <a:r>
              <a:rPr sz="1500" b="0" i="0">
                <a:solidFill>
                  <a:srgbClr val="1A1A1A"/>
                </a:solidFill>
                <a:latin typeface="Abadi"/>
              </a:rPr>
              <a:t>▪  Cortisol deficiency is the driver: lower cortisol, more jaundice; isolated cortisol deficiency is enough.</a:t>
            </a:r>
          </a:p>
          <a:p>
            <a:pPr algn="l">
              <a:spcBef>
                <a:spcPts val="1200"/>
              </a:spcBef>
            </a:pPr>
            <a:r>
              <a:rPr sz="1500" b="0" i="0">
                <a:solidFill>
                  <a:srgbClr val="1A1A1A"/>
                </a:solidFill>
                <a:latin typeface="Abadi"/>
              </a:rPr>
              <a:t>▪  Hypoglycaemia was present in 14 of 16 and in 8 of 8: the single best bedside clue.</a:t>
            </a:r>
          </a:p>
          <a:p>
            <a:pPr algn="l">
              <a:spcBef>
                <a:spcPts val="1200"/>
              </a:spcBef>
            </a:pPr>
            <a:r>
              <a:rPr sz="1500" b="0" i="0">
                <a:solidFill>
                  <a:srgbClr val="1A1A1A"/>
                </a:solidFill>
                <a:latin typeface="Abadi"/>
              </a:rPr>
              <a:t>▪  GGT is normal in about half: endocrine cholestasis mimics PFIC, and in the other half sits in the atresia range.</a:t>
            </a:r>
          </a:p>
          <a:p>
            <a:pPr algn="l">
              <a:spcBef>
                <a:spcPts val="1200"/>
              </a:spcBef>
            </a:pPr>
            <a:r>
              <a:rPr sz="1500" b="0" i="0">
                <a:solidFill>
                  <a:srgbClr val="1A1A1A"/>
                </a:solidFill>
                <a:latin typeface="Abadi"/>
              </a:rPr>
              <a:t>▪  A normal TSH-based newborn screen does not exclude central hypothyroidism; measure free T4 with TSH.</a:t>
            </a:r>
          </a:p>
          <a:p>
            <a:pPr algn="l">
              <a:spcBef>
                <a:spcPts val="1200"/>
              </a:spcBef>
            </a:pPr>
            <a:r>
              <a:rPr sz="1500" b="0" i="0">
                <a:solidFill>
                  <a:srgbClr val="1A1A1A"/>
                </a:solidFill>
                <a:latin typeface="Abadi"/>
              </a:rPr>
              <a:t>▪  Random cortisol below 5.6 µg/dL is 100% specific but only 43% sensitive; a normal value excludes nothing.</a:t>
            </a:r>
          </a:p>
          <a:p>
            <a:pPr algn="l">
              <a:spcBef>
                <a:spcPts val="1200"/>
              </a:spcBef>
            </a:pPr>
            <a:r>
              <a:rPr sz="1500" b="0" i="0">
                <a:solidFill>
                  <a:srgbClr val="1A1A1A"/>
                </a:solidFill>
                <a:latin typeface="Abadi"/>
              </a:rPr>
              <a:t>▪  Hydrocortisone first, levothyroxine second; monitor free T4, not TSH.</a:t>
            </a:r>
          </a:p>
          <a:p>
            <a:pPr algn="l">
              <a:spcBef>
                <a:spcPts val="1200"/>
              </a:spcBef>
            </a:pPr>
            <a:r>
              <a:rPr sz="1500" b="0" i="0">
                <a:solidFill>
                  <a:srgbClr val="1A1A1A"/>
                </a:solidFill>
                <a:latin typeface="Abadi"/>
              </a:rPr>
              <a:t>▪  Cholestasis resolves in about 2–6 months on replacement; the risk to life is adrenal crisis.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36576" rIns="36576"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41280" cy="347472"/>
          </a:xfrm>
          <a:prstGeom prst="rect">
            <a:avLst/>
          </a:prstGeom>
          <a:noFill/>
        </p:spPr>
        <p:txBody>
          <a:bodyPr wrap="square" lIns="36576" rIns="36576" tIns="18288" bIns="18288" anchor="ctr">
            <a:spAutoFit/>
          </a:bodyPr>
          <a:lstStyle/>
          <a:p>
            <a:pPr algn="l"/>
            <a:r>
              <a:rPr sz="1200" b="1" i="0">
                <a:solidFill>
                  <a:srgbClr val="2E5A88"/>
                </a:solidFill>
                <a:latin typeface="Abadi"/>
              </a:rPr>
              <a:t>SYNTHESIS — SCENARIO TO PLAN</a:t>
            </a:r>
          </a:p>
        </p:txBody>
      </p:sp>
      <p:sp>
        <p:nvSpPr>
          <p:cNvPr id="5" name="TextBox 4"/>
          <p:cNvSpPr txBox="1"/>
          <p:nvPr/>
        </p:nvSpPr>
        <p:spPr>
          <a:xfrm>
            <a:off x="548640" y="758952"/>
            <a:ext cx="11091672" cy="548640"/>
          </a:xfrm>
          <a:prstGeom prst="rect">
            <a:avLst/>
          </a:prstGeom>
          <a:noFill/>
        </p:spPr>
        <p:txBody>
          <a:bodyPr wrap="square" lIns="36576" rIns="36576" tIns="18288" bIns="18288" anchor="ctr">
            <a:spAutoFit/>
          </a:bodyPr>
          <a:lstStyle/>
          <a:p>
            <a:pPr algn="l"/>
            <a:r>
              <a:rPr sz="3000" b="1" i="0">
                <a:solidFill>
                  <a:srgbClr val="1B355E"/>
                </a:solidFill>
                <a:latin typeface="Abadi"/>
              </a:rPr>
              <a:t>FROM SCENARIO TO DECISION</a:t>
            </a:r>
          </a:p>
        </p:txBody>
      </p:sp>
      <p:sp>
        <p:nvSpPr>
          <p:cNvPr id="6" name="TextBox 5"/>
          <p:cNvSpPr txBox="1"/>
          <p:nvPr/>
        </p:nvSpPr>
        <p:spPr>
          <a:xfrm>
            <a:off x="548640" y="1316736"/>
            <a:ext cx="11091672" cy="274320"/>
          </a:xfrm>
          <a:prstGeom prst="rect">
            <a:avLst/>
          </a:prstGeom>
          <a:noFill/>
        </p:spPr>
        <p:txBody>
          <a:bodyPr wrap="square" lIns="36576" rIns="36576" tIns="18288" bIns="18288" anchor="t">
            <a:spAutoFit/>
          </a:bodyPr>
          <a:lstStyle/>
          <a:p>
            <a:pPr algn="l"/>
            <a:r>
              <a:rPr sz="1300" b="0" i="1">
                <a:solidFill>
                  <a:srgbClr val="555555"/>
                </a:solidFill>
                <a:latin typeface="Abadi"/>
              </a:rPr>
              <a:t>Applying the endocrine logic on the ward</a:t>
            </a:r>
          </a:p>
        </p:txBody>
      </p:sp>
      <p:sp>
        <p:nvSpPr>
          <p:cNvPr id="7" name="Rectangle 6"/>
          <p:cNvSpPr/>
          <p:nvPr/>
        </p:nvSpPr>
        <p:spPr>
          <a:xfrm>
            <a:off x="548640" y="1600200"/>
            <a:ext cx="11091672"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36576" rIns="36576" tIns="18288" bIns="18288" anchor="t">
            <a:spAutoFit/>
          </a:bodyPr>
          <a:lstStyle/>
          <a:p>
            <a:pPr algn="r"/>
            <a:r>
              <a:rPr sz="1200" b="1" i="0">
                <a:solidFill>
                  <a:srgbClr val="1B355E"/>
                </a:solidFill>
                <a:latin typeface="Abadi"/>
              </a:rPr>
              <a:t>20</a:t>
            </a:r>
          </a:p>
        </p:txBody>
      </p:sp>
      <p:sp>
        <p:nvSpPr>
          <p:cNvPr id="11" name="TextBox 10"/>
          <p:cNvSpPr txBox="1"/>
          <p:nvPr/>
        </p:nvSpPr>
        <p:spPr>
          <a:xfrm>
            <a:off x="548640" y="5971032"/>
            <a:ext cx="10296144" cy="329184"/>
          </a:xfrm>
          <a:prstGeom prst="rect">
            <a:avLst/>
          </a:prstGeom>
          <a:noFill/>
        </p:spPr>
        <p:txBody>
          <a:bodyPr wrap="square" lIns="36576" rIns="36576" tIns="18288" bIns="18288" anchor="t">
            <a:spAutoFit/>
          </a:bodyPr>
          <a:lstStyle/>
          <a:p>
            <a:pPr algn="l"/>
            <a:r>
              <a:rPr sz="1000" b="0" i="1">
                <a:solidFill>
                  <a:srgbClr val="555555"/>
                </a:solidFill>
                <a:latin typeface="Abadi"/>
              </a:rPr>
              <a:t>Fawaz 2017 · van Trotsenburg 2021 · Braslavsky 2011 · Grammatikopoulos 2018</a:t>
            </a:r>
          </a:p>
        </p:txBody>
      </p:sp>
      <p:graphicFrame>
        <p:nvGraphicFramePr>
          <p:cNvPr id="12" name="Table 11"/>
          <p:cNvGraphicFramePr>
            <a:graphicFrameLocks noGrp="1"/>
          </p:cNvGraphicFramePr>
          <p:nvPr/>
        </p:nvGraphicFramePr>
        <p:xfrm>
          <a:off x="548640" y="1783080"/>
          <a:ext cx="11091672" cy="3950208"/>
        </p:xfrm>
        <a:graphic>
          <a:graphicData uri="http://schemas.openxmlformats.org/drawingml/2006/table">
            <a:tbl>
              <a:tblPr firstRow="1" bandRow="1">
                <a:tableStyleId>{5C22544A-7EE6-4342-B048-85BDC9FD1C3A}</a:tableStyleId>
              </a:tblPr>
              <a:tblGrid>
                <a:gridCol w="4206240"/>
                <a:gridCol w="3017520"/>
                <a:gridCol w="3867912"/>
              </a:tblGrid>
              <a:tr h="658368">
                <a:tc>
                  <a:txBody>
                    <a:bodyPr wrap="square"/>
                    <a:lstStyle/>
                    <a:p>
                      <a:r>
                        <a:rPr sz="1050" b="1">
                          <a:solidFill>
                            <a:srgbClr val="FFFFFF"/>
                          </a:solidFill>
                          <a:latin typeface="Abadi"/>
                        </a:rPr>
                        <a:t>Scenario</a:t>
                      </a:r>
                    </a:p>
                  </a:txBody>
                  <a:tcPr marL="73152" marR="73152" marT="27432" marB="27432" anchor="ctr">
                    <a:solidFill>
                      <a:srgbClr val="1B355E"/>
                    </a:solidFill>
                  </a:tcPr>
                </a:tc>
                <a:tc>
                  <a:txBody>
                    <a:bodyPr wrap="square"/>
                    <a:lstStyle/>
                    <a:p>
                      <a:r>
                        <a:rPr sz="1050" b="1">
                          <a:solidFill>
                            <a:srgbClr val="FFFFFF"/>
                          </a:solidFill>
                          <a:latin typeface="Abadi"/>
                        </a:rPr>
                        <a:t>Think</a:t>
                      </a:r>
                    </a:p>
                  </a:txBody>
                  <a:tcPr marL="73152" marR="73152" marT="27432" marB="27432" anchor="ctr">
                    <a:solidFill>
                      <a:srgbClr val="1B355E"/>
                    </a:solidFill>
                  </a:tcPr>
                </a:tc>
                <a:tc>
                  <a:txBody>
                    <a:bodyPr wrap="square"/>
                    <a:lstStyle/>
                    <a:p>
                      <a:r>
                        <a:rPr sz="1050" b="1">
                          <a:solidFill>
                            <a:srgbClr val="FFFFFF"/>
                          </a:solidFill>
                          <a:latin typeface="Abadi"/>
                        </a:rPr>
                        <a:t>Do now</a:t>
                      </a:r>
                    </a:p>
                  </a:txBody>
                  <a:tcPr marL="73152" marR="73152" marT="27432" marB="27432" anchor="ctr">
                    <a:solidFill>
                      <a:srgbClr val="1B355E"/>
                    </a:solidFill>
                  </a:tcPr>
                </a:tc>
              </a:tr>
              <a:tr h="658368">
                <a:tc>
                  <a:txBody>
                    <a:bodyPr wrap="square"/>
                    <a:lstStyle/>
                    <a:p>
                      <a:r>
                        <a:rPr sz="1000" b="1">
                          <a:solidFill>
                            <a:srgbClr val="1A1A1A"/>
                          </a:solidFill>
                          <a:latin typeface="Abadi"/>
                        </a:rPr>
                        <a:t>3-week-old boy, direct bilirubin 5 mg/dL, GGT 60, micropenis, roving eyes, day-2 hypoglycaemia</a:t>
                      </a:r>
                    </a:p>
                  </a:txBody>
                  <a:tcPr marL="73152" marR="73152" marT="27432" marB="27432" anchor="ctr">
                    <a:solidFill>
                      <a:srgbClr val="F2F2F2"/>
                    </a:solidFill>
                  </a:tcPr>
                </a:tc>
                <a:tc>
                  <a:txBody>
                    <a:bodyPr wrap="square"/>
                    <a:lstStyle/>
                    <a:p>
                      <a:r>
                        <a:rPr sz="1000" b="0">
                          <a:solidFill>
                            <a:srgbClr val="1A1A1A"/>
                          </a:solidFill>
                          <a:latin typeface="Abadi"/>
                        </a:rPr>
                        <a:t>Septo-optic dysplasia with multiple pituitary deficiency</a:t>
                      </a:r>
                    </a:p>
                  </a:txBody>
                  <a:tcPr marL="73152" marR="73152" marT="27432" marB="27432" anchor="ctr">
                    <a:solidFill>
                      <a:srgbClr val="F2F2F2"/>
                    </a:solidFill>
                  </a:tcPr>
                </a:tc>
                <a:tc>
                  <a:txBody>
                    <a:bodyPr wrap="square"/>
                    <a:lstStyle/>
                    <a:p>
                      <a:r>
                        <a:rPr sz="1000" b="0">
                          <a:solidFill>
                            <a:srgbClr val="1A1A1A"/>
                          </a:solidFill>
                          <a:latin typeface="Abadi"/>
                        </a:rPr>
                        <a:t>Cortisol, free T4, TSH; hydrocortisone then levothyroxine; MRI, ophthalmology</a:t>
                      </a:r>
                    </a:p>
                  </a:txBody>
                  <a:tcPr marL="73152" marR="73152" marT="27432" marB="27432" anchor="ctr">
                    <a:solidFill>
                      <a:srgbClr val="F2F2F2"/>
                    </a:solidFill>
                  </a:tcPr>
                </a:tc>
              </a:tr>
              <a:tr h="658368">
                <a:tc>
                  <a:txBody>
                    <a:bodyPr wrap="square"/>
                    <a:lstStyle/>
                    <a:p>
                      <a:r>
                        <a:rPr sz="1000" b="1">
                          <a:solidFill>
                            <a:srgbClr val="1A1A1A"/>
                          </a:solidFill>
                          <a:latin typeface="Abadi"/>
                        </a:rPr>
                        <a:t>7-week-old girl, pale-looking stools, recurrent hypoglycaemia, GGT normal</a:t>
                      </a:r>
                    </a:p>
                  </a:txBody>
                  <a:tcPr marL="73152" marR="73152" marT="27432" marB="27432" anchor="ctr">
                    <a:solidFill>
                      <a:srgbClr val="FFFFFF"/>
                    </a:solidFill>
                  </a:tcPr>
                </a:tc>
                <a:tc>
                  <a:txBody>
                    <a:bodyPr wrap="square"/>
                    <a:lstStyle/>
                    <a:p>
                      <a:r>
                        <a:rPr sz="1000" b="0">
                          <a:solidFill>
                            <a:srgbClr val="1A1A1A"/>
                          </a:solidFill>
                          <a:latin typeface="Abadi"/>
                        </a:rPr>
                        <a:t>Isolated cortisol deficiency versus PFIC; atresia still possible</a:t>
                      </a:r>
                    </a:p>
                  </a:txBody>
                  <a:tcPr marL="73152" marR="73152" marT="27432" marB="27432" anchor="ctr">
                    <a:solidFill>
                      <a:srgbClr val="FFFFFF"/>
                    </a:solidFill>
                  </a:tcPr>
                </a:tc>
                <a:tc>
                  <a:txBody>
                    <a:bodyPr wrap="square"/>
                    <a:lstStyle/>
                    <a:p>
                      <a:r>
                        <a:rPr sz="1000" b="0">
                          <a:solidFill>
                            <a:srgbClr val="1A1A1A"/>
                          </a:solidFill>
                          <a:latin typeface="Abadi"/>
                        </a:rPr>
                        <a:t>Critical sample, cortisol; keep atresia pathway on time; avoid biopsy without steroid cover</a:t>
                      </a:r>
                    </a:p>
                  </a:txBody>
                  <a:tcPr marL="73152" marR="73152" marT="27432" marB="27432" anchor="ctr">
                    <a:solidFill>
                      <a:srgbClr val="FFFFFF"/>
                    </a:solidFill>
                  </a:tcPr>
                </a:tc>
              </a:tr>
              <a:tr h="658368">
                <a:tc>
                  <a:txBody>
                    <a:bodyPr wrap="square"/>
                    <a:lstStyle/>
                    <a:p>
                      <a:r>
                        <a:rPr sz="1000" b="1">
                          <a:solidFill>
                            <a:srgbClr val="1A1A1A"/>
                          </a:solidFill>
                          <a:latin typeface="Abadi"/>
                        </a:rPr>
                        <a:t>Free T4 8 pmol/L, TSH 6 mU/L, normal TSH screen</a:t>
                      </a:r>
                    </a:p>
                  </a:txBody>
                  <a:tcPr marL="73152" marR="73152" marT="27432" marB="27432" anchor="ctr">
                    <a:solidFill>
                      <a:srgbClr val="F2F2F2"/>
                    </a:solidFill>
                  </a:tcPr>
                </a:tc>
                <a:tc>
                  <a:txBody>
                    <a:bodyPr wrap="square"/>
                    <a:lstStyle/>
                    <a:p>
                      <a:r>
                        <a:rPr sz="1000" b="0">
                          <a:solidFill>
                            <a:srgbClr val="1A1A1A"/>
                          </a:solidFill>
                          <a:latin typeface="Abadi"/>
                        </a:rPr>
                        <a:t>Central hypothyroidism</a:t>
                      </a:r>
                    </a:p>
                  </a:txBody>
                  <a:tcPr marL="73152" marR="73152" marT="27432" marB="27432" anchor="ctr">
                    <a:solidFill>
                      <a:srgbClr val="F2F2F2"/>
                    </a:solidFill>
                  </a:tcPr>
                </a:tc>
                <a:tc>
                  <a:txBody>
                    <a:bodyPr wrap="square"/>
                    <a:lstStyle/>
                    <a:p>
                      <a:r>
                        <a:rPr sz="1000" b="0">
                          <a:solidFill>
                            <a:srgbClr val="1A1A1A"/>
                          </a:solidFill>
                          <a:latin typeface="Abadi"/>
                        </a:rPr>
                        <a:t>ACTH test or cover with hydrocortisone before levothyroxine</a:t>
                      </a:r>
                    </a:p>
                  </a:txBody>
                  <a:tcPr marL="73152" marR="73152" marT="27432" marB="27432" anchor="ctr">
                    <a:solidFill>
                      <a:srgbClr val="F2F2F2"/>
                    </a:solidFill>
                  </a:tcPr>
                </a:tc>
              </a:tr>
              <a:tr h="658368">
                <a:tc>
                  <a:txBody>
                    <a:bodyPr wrap="square"/>
                    <a:lstStyle/>
                    <a:p>
                      <a:r>
                        <a:rPr sz="1000" b="1">
                          <a:solidFill>
                            <a:srgbClr val="1A1A1A"/>
                          </a:solidFill>
                          <a:latin typeface="Abadi"/>
                        </a:rPr>
                        <a:t>Term infant, 3 weeks, unconjugated jaundice, screen normal, thriving</a:t>
                      </a:r>
                    </a:p>
                  </a:txBody>
                  <a:tcPr marL="73152" marR="73152" marT="27432" marB="27432" anchor="ctr">
                    <a:solidFill>
                      <a:srgbClr val="FFFFFF"/>
                    </a:solidFill>
                  </a:tcPr>
                </a:tc>
                <a:tc>
                  <a:txBody>
                    <a:bodyPr wrap="square"/>
                    <a:lstStyle/>
                    <a:p>
                      <a:r>
                        <a:rPr sz="1000" b="0">
                          <a:solidFill>
                            <a:srgbClr val="1A1A1A"/>
                          </a:solidFill>
                          <a:latin typeface="Abadi"/>
                        </a:rPr>
                        <a:t>Breast-milk jaundice; not thyroid</a:t>
                      </a:r>
                    </a:p>
                  </a:txBody>
                  <a:tcPr marL="73152" marR="73152" marT="27432" marB="27432" anchor="ctr">
                    <a:solidFill>
                      <a:srgbClr val="FFFFFF"/>
                    </a:solidFill>
                  </a:tcPr>
                </a:tc>
                <a:tc>
                  <a:txBody>
                    <a:bodyPr wrap="square"/>
                    <a:lstStyle/>
                    <a:p>
                      <a:r>
                        <a:rPr sz="1000" b="0">
                          <a:solidFill>
                            <a:srgbClr val="1A1A1A"/>
                          </a:solidFill>
                          <a:latin typeface="Abadi"/>
                        </a:rPr>
                        <a:t>Conjugated bilirubin; reassure if normal</a:t>
                      </a:r>
                    </a:p>
                  </a:txBody>
                  <a:tcPr marL="73152" marR="73152" marT="27432" marB="27432" anchor="ctr">
                    <a:solidFill>
                      <a:srgbClr val="FFFFFF"/>
                    </a:solidFill>
                  </a:tcPr>
                </a:tc>
              </a:tr>
              <a:tr h="658368">
                <a:tc>
                  <a:txBody>
                    <a:bodyPr wrap="square"/>
                    <a:lstStyle/>
                    <a:p>
                      <a:r>
                        <a:rPr sz="1000" b="1">
                          <a:solidFill>
                            <a:srgbClr val="1A1A1A"/>
                          </a:solidFill>
                          <a:latin typeface="Abadi"/>
                        </a:rPr>
                        <a:t>Known hypopituitarism, cholestasis 8 weeks into replacement</a:t>
                      </a:r>
                    </a:p>
                  </a:txBody>
                  <a:tcPr marL="73152" marR="73152" marT="27432" marB="27432" anchor="ctr">
                    <a:solidFill>
                      <a:srgbClr val="F2F2F2"/>
                    </a:solidFill>
                  </a:tcPr>
                </a:tc>
                <a:tc>
                  <a:txBody>
                    <a:bodyPr wrap="square"/>
                    <a:lstStyle/>
                    <a:p>
                      <a:r>
                        <a:rPr sz="1000" b="0">
                          <a:solidFill>
                            <a:srgbClr val="1A1A1A"/>
                          </a:solidFill>
                          <a:latin typeface="Abadi"/>
                        </a:rPr>
                        <a:t>Expected slow recovery</a:t>
                      </a:r>
                    </a:p>
                  </a:txBody>
                  <a:tcPr marL="73152" marR="73152" marT="27432" marB="27432" anchor="ctr">
                    <a:solidFill>
                      <a:srgbClr val="F2F2F2"/>
                    </a:solidFill>
                  </a:tcPr>
                </a:tc>
                <a:tc>
                  <a:txBody>
                    <a:bodyPr wrap="square"/>
                    <a:lstStyle/>
                    <a:p>
                      <a:r>
                        <a:rPr sz="1000" b="0">
                          <a:solidFill>
                            <a:srgbClr val="1A1A1A"/>
                          </a:solidFill>
                          <a:latin typeface="Abadi"/>
                        </a:rPr>
                        <a:t>Check doses for malabsorption; liver tests monthly; recovery by 3–9 months</a:t>
                      </a:r>
                    </a:p>
                  </a:txBody>
                  <a:tcPr marL="73152" marR="73152" marT="27432" marB="27432" anchor="ctr">
                    <a:solidFill>
                      <a:srgbClr val="F2F2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03120"/>
            <a:ext cx="11091672" cy="1463040"/>
          </a:xfrm>
          <a:prstGeom prst="rect">
            <a:avLst/>
          </a:prstGeom>
          <a:noFill/>
        </p:spPr>
        <p:txBody>
          <a:bodyPr wrap="square" lIns="36576" rIns="36576" tIns="18288" bIns="18288" anchor="b">
            <a:spAutoFit/>
          </a:bodyPr>
          <a:lstStyle/>
          <a:p>
            <a:pPr algn="ctr"/>
            <a:r>
              <a:rPr sz="3600" b="1" i="0">
                <a:solidFill>
                  <a:srgbClr val="FFFFFF"/>
                </a:solidFill>
                <a:latin typeface="Abadi"/>
              </a:rPr>
              <a:t>Endocrine Cholestasis: Septo-Optic Dysplasia, Hypopituitarism, Hypothyroidism and Cortisol Deficiency</a:t>
            </a:r>
          </a:p>
        </p:txBody>
      </p:sp>
      <p:sp>
        <p:nvSpPr>
          <p:cNvPr id="4" name="Rectangle 3"/>
          <p:cNvSpPr/>
          <p:nvPr/>
        </p:nvSpPr>
        <p:spPr>
          <a:xfrm>
            <a:off x="5184648" y="3794760"/>
            <a:ext cx="1828800" cy="18288"/>
          </a:xfrm>
          <a:prstGeom prst="rect">
            <a:avLst/>
          </a:prstGeom>
          <a:solidFill>
            <a:srgbClr val="F2C4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023360"/>
            <a:ext cx="11091672" cy="365760"/>
          </a:xfrm>
          <a:prstGeom prst="rect">
            <a:avLst/>
          </a:prstGeom>
          <a:noFill/>
        </p:spPr>
        <p:txBody>
          <a:bodyPr wrap="square" lIns="36576" rIns="36576" tIns="18288" bIns="18288"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