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Liver Biopsy in Children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INDICATIONS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WHEN THE DIAGNOSIS IS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ESPGHAN 2015: genes, enzymes and imaging have taken over questions biopsy used to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947131"/>
              </p:ext>
            </p:extLst>
          </p:nvPr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only tissue adds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now makes the biopsy optional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Biopsy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Diagnostic in 96% of adequate cores; clinical findings alone 80–90%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Nothing, if it delays Kasai; the cholangiogram is definitive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ESSENTIAL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Normal-GGT PFIC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BSEP and ectoenzyme stains, EM; cirrhosis status before biliary diversion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Gene panel for diagnosis — not for the cirrhosis question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SELECTIVE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Alagille syndrome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Ductopenia is documented only histologically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JAG1 / NOTCH2 plus clinical criteria; paucity absent in 25% even after age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SELECTIVE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A1AT deficiency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Prognosis: bridging, severe fibrosis, ductular reaction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Phenotype or SERPINA1 — 'LB is not required'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NOT NEEDED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LAL-D · CDG · typical CHF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Staging for portal hypertension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Enzyme assay, glycosylation screen, renal phenotype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NOT NEEDED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Acute liver failure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Aetiology occasionally (AIH, Wilson) by transjugular route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Histology does not raise yield or change immediate management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RARELY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A, et al. J Pediatr Gastroenterol Nutr 2015;60:408–20 · Fawaz R, et al. J Pediatr Gastroenterol Nutr 2017;64:154–68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INDICATIONS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WHEN THE DIAGNOSIS IS 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biopsy now answers 'how bad' and 'is it working' more often than 'what is it'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366723"/>
              </p:ext>
            </p:extLst>
          </p:nvPr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Disease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Why biopsy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Biopsy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Autoimmune hepatitis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Confirm, grade, stage; exclude overlap with sclerosing cholangitis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All patients at presentation; again before withdrawal after ≥ 1 year of remission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ESSENTIAL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Wilson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Quantitative copper &gt; 250 µg/g dry weight; histology is ancillary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When the diagnosis is uncertain; debatable with two ATP7B variants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SELECTIVE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Paediatric MASLD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Diagnose MASH, stage fibrosis, exclude AIH or DILI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Uncertainty, ALT ≥ 2× ULN, concern for fibrosis, positive autoantibodies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SELECTIVE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Hepatitis B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Necroinflammation and fibrosis guide treatment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Immune-active disease; HBRN: 98% adequate, 1.4% serious events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SELECTIVE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Liver transplant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Rejection, recurrence, de novo AIH,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For cause; protocol biopsy still debated, more used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ESSENTIAL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Liver mass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Hepatoblastoma histology drives risk group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HCC only if imaging cannot diagnose — track seeding 1.6–5%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SELECTIVE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A, et al. J Pediatr Gastroenterol Nutr 2015;60:408–20 · Xanthakos SA, et al. Hepatology 2025;82:1352–94 · Ghany MG, et al. Hepatol Commun 2023;7:e0139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SIX WAYS INTO A CHILD'S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route is chosen by haemostasis, anatomy and the question — not by habit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933249"/>
              </p:ext>
            </p:extLst>
          </p:nvPr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Route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Choose it when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Yield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Abadi"/>
                        </a:rPr>
                        <a:t>Paediatric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 safety signal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Blind percussion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Diffuse disease, normal anatomy on a prior ultrasound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 cores may raise yield; &gt; 3 passes add minor events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RCT, 102 children: more serious events than US-assisted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US-assisted or guided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Default; mandatory after a segmental graft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99.3% diagnostic (513 biopsies)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Major 1%; none needed surgery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Plugged percutaneous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Coagulopathy, ascites, infants &lt; 10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100% adequate in 67 infants &lt; 10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 event in 67; 3.3% vs 2.6% for TJ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Transjugular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INR or platelets out of range, ascites, need for HVPG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97.5% adequate (pooled), but fewer tracts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Neck bleed, SVT; needs GA and an IR suite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Laparoscopic or open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Failed percutaneous, mass, large tissue for enzymes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Subcapsular wedge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overstages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fibrosis; cautery artefact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Hepatoblastoma: transfused 36% open, 24% lap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EUS-guided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Already at endoscopy; both lobes; obesity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Median 24 portal tracts; 93% AASLD-adequate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5% mild events, no bleeding (83)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Mogahed EA, et al. Arab J Gastroenterol 2016;17:168–75 · Matos H, et al. Pediatr Radiol 2012;42:1322–5 · Lungren MP, et al. J Pediatr Gastroenterol Nutr 2016;63:e147–51 · Smayra K, et al. Dig Dis Sci 2023;68:3846–56 · Weldon CB, et al. J Pediatr Surg 2020;55:655–9 · Schwartz TS, et al. J Pediatr Gastroenterol Nutr 2025;80:920–5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TRANSJUGULAR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SAFER ROUTE, THINNER TISSUE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Meta-analysis (Smayra 2023) and the largest head-to-head paediatric series (Lucknow, 12% needed TJ)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99.1%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Technical success, 374 paediatric transjugular biopsies (8 studies, pooled)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Histologically adequate — but 'adequate' is defined by each centre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 vs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complete portal tracts, transjugular vs percutaneous (540 biopsies)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84 vs 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Adequate for reporting, transjugular vs percutaneous, same centre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Cirrhosis and the transjugular route predicted a core with &lt; 6 portal tracts; in 7,649 TJ biopsies, complications rose in children.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BSG 2020 (strong, high-quality evidence): take at least two transjugular cores.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Smayra K, et al. Dig Dis Sci 2023;68:3846–56 · Srivastava A, et al. J Pediatr Gastroenterol Nutr 2020;70:417–22 · Kalambokis G, et al. J Hepatol 2007;47:284–94 · Neuberger J, et al. Gut 2020;69:1382–403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ADEQUACY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CHILDREN'S CORES CONTAIN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Complete portal tracts per procedure in paediatric series; red = below the AASLD staging threshold of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Transjugular · Lucknow (median)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8640" y="1996814"/>
            <a:ext cx="888418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47058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Percutaneous · Lucknow (median)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8640" y="2401099"/>
            <a:ext cx="1110523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9163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Blind, age &gt; 5 y · Mississippi (mean)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8640" y="2805384"/>
            <a:ext cx="2176625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5265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9.8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18 G US-assisted · Athens (mean)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8640" y="3209669"/>
            <a:ext cx="2443150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01790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18 G graft · Beijing RCT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8640" y="3613954"/>
            <a:ext cx="3997883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56523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16 G graft · Beijing RCT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68640" y="4018239"/>
            <a:ext cx="4442092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0732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39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EUS, both lobes · Cincinnati (median)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8640" y="4422524"/>
            <a:ext cx="5330510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89150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AASLD: ≥ 2 cm and ≥ 11 complete portal tracts. RCPath minimum: 10 mm and 6 tracts. ESPGHAN: 20 mm × 1.8 mm; biliary atresia ≥ 10 tracts.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Six tracts can name a disease; eleven are needed to stage it. Most paediatric cores are 1.0–1.1 cm.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Srivastava A, et al. J Pediatr Gastroenterol Nutr 2020;70:417–22, Harwood J, et al. J Clin Gastroenterol 2010;44:e253–5, Rogalidou M, et al. Ann Gastroenterol 2026;39:581–7, Jing H, et al. Abdom Radiol 2024;49:604–10, Schwartz TS, et al. J Pediatr Gastroenterol Nutr 2025;80:920–5. Figure redrawn.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SAMPLING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WHEN THE CORE MISLEADS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Sampling error is predictable: it clusters in young infants, patchy disease and the capsule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763845"/>
              </p:ext>
            </p:extLst>
          </p:nvPr>
        </p:nvGraphicFramePr>
        <p:xfrm>
          <a:off x="548640" y="1770000"/>
          <a:ext cx="11094720" cy="411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Setting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Why the biopsy can mislead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to 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Typical features may be missing before 4–6 weeks; TPN, A1AT ZZ and CF mimic 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Repeat an equivocal early biopsy; ≥ 10 portal tracts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Alagille syndrome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Paucity absent in young infants and in 25% of biopsies after age 1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CK7 to separate ducts from ductules; genetics first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A1AT deficiency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PAS-D globules not apparent in early infancy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Phenotype or genotype, not histology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Acute liver failure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Necrosis and regeneration are patchy; acute vs chronic hard to separate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Biopsy only if AIH or Wilson would change treatment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Fibrosis staging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Right and left lobes differ by ≥ 1 stage in 33%; subcapsular wedges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overstage</a:t>
                      </a:r>
                      <a:endParaRPr sz="1200" b="0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Deep needle core, not capsule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Segmental graft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Landmarks unreliable after left-lobe or lateral-segment grafts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Image guidance every time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Focal lesion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Needle-track seeding of HCC 1.6–5%; background liver not sampled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Core through normal liver; sample both lesion and background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A, et al. J Pediatr Gastroenterol Nutr 2015;60:408–20 · Regev A, et al. Am J Gastroenterol 2002;97:2614–8 · Scheimann AO, et al. J Pediatr Gastroenterol Nutr 2000;31:536–9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COMPLICATIONS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HOW OFTEN CHILDREN BLEED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Major complication, bleeding or transfusion after percutaneous biopsy in paediatric series, % — definitions differ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US-guided, mixed · Coimbra (513)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8640" y="1996814"/>
            <a:ext cx="342170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0810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US-guided, native + graft · Oslo (275)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8640" y="2401099"/>
            <a:ext cx="376387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5027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Percutaneous · Houston (249)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8640" y="2805384"/>
            <a:ext cx="821208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79848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Percutaneous, bleeding · Cohen (469)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8640" y="3209669"/>
            <a:ext cx="958075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16715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Percutaneous, transfused · Los Angeles (328)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8640" y="3613954"/>
            <a:ext cx="1129161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7801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US-guided, infants &lt; 1 y · Toronto (65)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8640" y="4018239"/>
            <a:ext cx="1573981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2621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42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Oncology, any bleeding · Hoffer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8640" y="4422524"/>
            <a:ext cx="5132550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91190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Deaths: 3 of 469 in Cohen 1992 (all malignancy or haematological disease), 1 of 249 (Houston), 1 of 213 children (Los Angeles), 0 in Oslo.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The risk belongs less to the needle than to the child: infant, cancer, failing liver.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Matos H, et al. Pediatr Radiol 2012;42:1322–5, Westheim BH, et al. J Pediatr Gastroenterol Nutr 2012;55:82–7, Scheimann AO, et al. J Pediatr Gastroenterol Nutr 2000;31:536–9, Cohen MB, et al. Gastroenterology 1992;102:629–32, Short SS, et al. J Pediatr Gastroenterol Nutr 2013;57:644–8, Amaral JG, et al. AJR 2006;187:W644–9, Hoffer FA. Pediatr Radiol 2000;30:481–8. Figure redrawn.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RISK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BLEEDS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808568"/>
              </p:ext>
            </p:extLst>
          </p:nvPr>
        </p:nvGraphicFramePr>
        <p:xfrm>
          <a:off x="548640" y="1500000"/>
          <a:ext cx="11094720" cy="4389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Signal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Acute liver failure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OR 26.1 for major complications (95% CI 3.3–205)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Westheim 2012, 275 biopsies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Focal lesion · LMWH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Independent risk factors for bleeding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Westheim 2012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Infant &lt; 3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18% complications, 7 of 12 from sedation; 10% vs 2.6% sedation events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Azzam 2005 · ESPGHAN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1A1A1A"/>
                          </a:solidFill>
                          <a:latin typeface="Abadi"/>
                        </a:rPr>
                        <a:t>Haem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-oncology, HSCT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All 3 deaths in 469; 4 of 5 complications after TJ in HSCT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Cohen 1992 · Oshrine 2011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Open tumour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Transfusion 36% open vs 0% percutaneous (hepatoblastoma)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COG AHEP0731, 121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Biopsy + other procedure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Complications 3.19% vs 0.49% after LT (1,122 biopsies)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Sanada 2021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Biliary stricture after 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Cholangitis: 5 of 9 severe events in 451 biopsies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Perito 2019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Alagille · ARC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Bleeding tendency; platelet dysfunction in ARC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ESPGHAN 2015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Low-dose aspirin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excess bleeding: OR 0.96 (0.37–2.26)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Westheim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2012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Westheim BH, et al. J Pediatr Gastroenterol Nutr 2012;55:82–7 · Azzam RK, et al. J Pediatr Gastroenterol Nutr 2005;41:639–43 · Weldon CB, et al. J Pediatr Surg 2020;55:655–9 · Sanada Y, et al. Pediatr Transplant 2021;25:e13997 · Perito ER, et al. Am J Transplant 2019;19:1545–51 · Oshrine B, et al. J Pediatr Hematol Oncol 2011;33:e92–7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WHEN COMPLICATIONS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observation window, not the overnight bed, is what makes a day-case biopsy safe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complications within 2 hours of biopsy (adult series)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Within 24 hours; fatal events within 6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All complications recognised by 8 hours, 626 paediatric biopsies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Unsuspected bleeding on routine next-day ultrasound — none treated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ESPGHAN: bed rest ≥ 1 hour, observation ≥ 6 hours, no contact sport for a week. BSG: ≥ 3 hours. Melbourne: 8 hours would save 60 beds a year.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In an infant, pain presents as irritability; in an older child, as right shoulder pain.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A, et al. J Pediatr Gastroenterol Nutr 2015;60:408–20 · Bolia R, et al. J Pediatr Gastroenterol Nutr 2017;65:86–8 · Westheim BH, et al. J Pediatr Gastroenterol Nutr 2012;55:82–7 · Neuberger J, et al. Gut 2020;69:1382–403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HAEMOSTASIS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NUMBERS BEFORE THE NEEDLE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0272"/>
              </p:ext>
            </p:extLst>
          </p:nvPr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ESPGHAN 2015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BSG 2020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AASLD 2020 · EASL 2022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INR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&gt; 1.5: FFP 12–15 mL/kg or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rFVIIa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, or TJ / laparoscopic route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1.4: transvenous for non-lesional biopsy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Do not correct the INR before procedures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Plasma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Immediately before biopsy if INR stays high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FFP to correct an INR ≤ 2.0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prophylactic plasma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Platelets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≤ 60 × 10⁹/L: transfuse immediately before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&lt; 50: transvenous; transfusion or TPO-RA can be considered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AASLD: no routine correction, no TPO-RA. EASL: &lt; 50, case by case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Fibrinogen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Supplement if &lt; 1.0 g/L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&lt; 0.6 g/L with platelets &lt; 30 or aPTT &gt; 100 s: very high risk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routine pre-procedure correction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Bleeding-risk class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classified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Individual assessment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Percutaneous biopsy: AASLD high risk, EASL low risk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Vitamin K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Parenteral, ≥ 6 hours before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Correct depletion (strong)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biopsy-specific statement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Low-dose aspirin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Continue after transplant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Stop 3 days if time allows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specific to biopsy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A, et al. J Pediatr Gastroenterol Nutr 2015;60:408–20 · Neuberger J, et al. Gut 2020;69:1382–403 · Northup PG, et al. Hepatology 2021;73:366–413 · Villa E, et al. J Hepatol 2022;76:1151–84 · Davis JPE, et al. Hepatol Int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CORRECTING THE INR DOES NOT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Age, haematocrit and indication predict paediatric bleeding better than the INR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dirty="0">
                <a:solidFill>
                  <a:srgbClr val="1B355E"/>
                </a:solidFill>
                <a:latin typeface="Abadi"/>
              </a:rPr>
              <a:t>1.8 vs 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age in months, children who bled vs did not; coagulopathy did not 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No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Bleeding unrelated to INR in 626 paediatric biopsies (Melbourne)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300" b="1" dirty="0">
                <a:solidFill>
                  <a:srgbClr val="1B355E"/>
                </a:solidFill>
                <a:latin typeface="Abadi"/>
              </a:rPr>
              <a:t>76 vs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transfused with ROTEM vs standard care; bleeding no different (RCT)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 dirty="0">
                <a:solidFill>
                  <a:srgbClr val="1B355E"/>
                </a:solidFill>
                <a:latin typeface="Abadi"/>
              </a:rPr>
              <a:t>19 vs 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Adults with cirrhosis: bleeding with vs without prophylactic transfusion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Delhi RCT biopsied children with decompensated cirrhosis at an INR of 2.0–2.5; ROTEM cut exposure, not volume or bleeding, and cost more.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ESPGHAN itself: 'No data on a safe INR threshold are published.'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Short SS, et al. J Pediatr Gastroenterol Nutr 2013;57:644–8 · Bolia R, et al. J Pediatr Gastroenterol Nutr 2017;65:86–8 · Verma S, et al. J Pediatr Gastroenterol Nutr 2026;83:474–82 · Davis JPE, et al. Hepatol Int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PAEDIATRIC BIOPSY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ESPGHAN 2015 protocol — the core is divided at the bedside, once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Ultrasound: ascites, dilated ducts, haemangioma.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FBC, INR within 24 h.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IV vitamin K ≥ 6 h before.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Glucose drip if hypoglycaemic.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Bupivacaine to the tract.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Real-time ultrasound.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16 G if the child allows.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≤ 3 passes.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Formalin for histology.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Snap-freeze at −80 °C.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Glutaraldehyde for EM.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Unfixed core for copper.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Firm pressure; bed rest ≥ 1 h.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Observe ≥ 6 h.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Antibiotics with a Roux loop.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contact sport for 1 week.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Infants under 3 months: many centres use local anaesthesia alone, because sedation is the main risk.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A, et al. J Pediatr Gastroenterol Nutr 2015;60:408–20 · Neuberger J, et al. Gut 2020;69:1382–403 · Perito ER, et al. Am J Transplant 2019;19:1545–51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57128"/>
              </p:ext>
            </p:extLst>
          </p:nvPr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ESPGHAN 2015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AASLD · NASPGHAN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BSG 2020 · EASL 2022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Core 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20 mm × 1.8 mm; biliary atresia ≥ 2 cm or ≥ 10 tracts; wedge ≥ 6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≥ 2 cm, 16 G, ≥ 11 complete portal tracts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≥ 20 mm, 16 G;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RCPath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minimum 10 mm and 6 tracts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Image guidance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US reduces complications; mandatory after segmental LT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MASLD 2025: percutaneous, EUS-guided or transjugular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US where possible; otherwise imaging within 3 months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Coagulopathy route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INR &gt; 1.5: factors, or TJ / laparoscopic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Percutaneous biopsy is high bleeding risk; no INR correction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INR &gt; 1.4 or platelets &lt; 50: transvenous. EASL: low risk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Antibiotics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Cholangiopathy after LT, valve disease,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bacteraemia</a:t>
                      </a:r>
                      <a:endParaRPr sz="1200" b="0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Biliary-enteric anastomosis, prior infection, biliary sepsis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Panel: ≥ 20 supervised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AASLD ≥ 40 supervised; NASPGHAN 20, half &lt; 3 years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UK curriculum: 50 procedures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Acute liver failure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Limited and questionable; TJ only if AIH or Wilson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Avoid in decompensation or AKI; TJ if essential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Sedation risk &lt; 3 months; local anaesthesia common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Out of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JPGN 2015 · Rockey Hepatology 2009 · Northup Hepatology 2021 · Xanthakos Hepatology 2025 · Neuberger Gut 2020 · Villa J Hepatol 2022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EXPERT KNOWS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points that change what happens at the bedside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Tracts, not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6 tracts diagnose; 11 stage.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TJ cores: median 4.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Ask the lab about fragments.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Infants differ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Sedation is the main risk.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Globules and paucity come late.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Plug the tract &lt; 10 kg.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INR misleads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safe INR is published.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Age predicts bleeding better.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ROTEM cuts exposure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Context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ALF: rarely changes care.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Mass: percutaneous, not open.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Roux loop: antibiotics.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Before the needle: which question, which route, how many tracts, and where each piece of core goes.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Kalambokis G, et al. J Hepatol 2007;47:284–94 · Srivastava A, et al. J Pediatr Gastroenterol Nutr 2020;70:417–22 · Azzam RK, et al. J Pediatr Gastroenterol Nutr 2005;41:639–43 · Short SS, et al. J Pediatr Gastroenterol Nutr 2013;57:644–8 · Weldon CB, et al. J Pediatr Surg 2020;55:655–9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ROUTE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325406"/>
              </p:ext>
            </p:extLst>
          </p:nvPr>
        </p:nvGraphicFramePr>
        <p:xfrm>
          <a:off x="548640" y="930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Route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Sample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Watch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Cholestatic infant, BA possible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US-guided percutaneous; weigh sedation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≥ 10 portal tracts; repeat if early and equivocal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Never delay the Kasai for it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Normal-GGT cholestasis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Percutaneous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BSEP stain; glutaraldehyde for EM; frozen piece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Stage cirrhosis before biliary diversion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Suspected AIH or ASC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Percutaneous; TJ if coagulopathic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≥ 11 tracts; CK7; MRCP alongside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Biopsy again before withdrawal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Possible Wilson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Percutaneous or TJ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Separate unfixed core for copper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Cholestasis also raises copper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MASLD, uncertain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US-guided or EUS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2 cm; zonal pattern reported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Obesity did not lower yield in blind series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ALF or decompensated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TJ, only if the result changes treatment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≥ 2 cores; HVPG at the same sitting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OR 26 for major complications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Graft dysfunction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Image-guided percutaneous; TJ for small grafts with ascites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Rejection needs fewer tracts than staging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Roux loop or stricture: antibiotics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Liver mass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Percutaneous core through normal liver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Lesion plus background liver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Open biopsy: 36% transfused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2015 · Srivastava 2020 · Westheim 2012 · Harwood 2010 · Perito 2019 · Weldon 2020 · Neuberger 2020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Liver Biopsy in Children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3145</Words>
  <Application>Microsoft Macintosh PowerPoint</Application>
  <PresentationFormat>Widescreen</PresentationFormat>
  <Paragraphs>441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Abadi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2</cp:revision>
  <dcterms:created xsi:type="dcterms:W3CDTF">2013-01-27T09:14:16Z</dcterms:created>
  <dcterms:modified xsi:type="dcterms:W3CDTF">2026-09-29T16:12:18Z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2026-09-29T16:12:18Z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3f62b051-e178-4801-9bc9-a91e33d130b0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