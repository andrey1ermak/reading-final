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7" r:id="rId11"/>
    <p:sldId id="268" r:id="rId12"/>
    <p:sldId id="270" r:id="rId13"/>
    <p:sldId id="271" r:id="rId14"/>
    <p:sldId id="272" r:id="rId15"/>
    <p:sldId id="273" r:id="rId16"/>
    <p:sldId id="274" r:id="rId17"/>
    <p:sldId id="275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43"/>
  </p:normalViewPr>
  <p:slideViewPr>
    <p:cSldViewPr snapToGrid="0" snapToObjects="1">
      <p:cViewPr varScale="1">
        <p:scale>
          <a:sx n="113" d="100"/>
          <a:sy n="113" d="100"/>
        </p:scale>
        <p:origin x="192" y="21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D4430E8-491C-274D-895F-27A63165CA55}" type="datetimeFigureOut">
              <a:rPr lang="en-US" smtClean="0"/>
              <a:t>9/25/26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8ABD2B-214C-6440-A540-7E1D73BCA9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37319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8ABD2B-214C-6440-A540-7E1D73BCA923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9281906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100000"/>
            <a:ext cx="11094720" cy="13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4200" b="1" i="0">
                <a:solidFill>
                  <a:srgbClr val="FFFFFF"/>
                </a:solidFill>
                <a:latin typeface="Abadi"/>
              </a:rPr>
              <a:t>Bilirubin, Read Correctly</a:t>
            </a:r>
          </a:p>
        </p:txBody>
      </p:sp>
      <p:sp>
        <p:nvSpPr>
          <p:cNvPr id="4" name="Rectangle 3"/>
          <p:cNvSpPr/>
          <p:nvPr/>
        </p:nvSpPr>
        <p:spPr>
          <a:xfrm>
            <a:off x="5196000" y="3720000"/>
            <a:ext cx="1800000" cy="19050"/>
          </a:xfrm>
          <a:prstGeom prst="rect">
            <a:avLst/>
          </a:prstGeom>
          <a:solidFill>
            <a:srgbClr val="F2C4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4000000"/>
            <a:ext cx="11094720" cy="2616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Abadi"/>
              </a:rPr>
              <a:t>Andrey Ermak, MD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300000"/>
            <a:ext cx="640000" cy="352000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00000"/>
            <a:ext cx="640000" cy="35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8640" y="300000"/>
            <a:ext cx="10254720" cy="35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 i="0">
                <a:solidFill>
                  <a:srgbClr val="2E5A88"/>
                </a:solidFill>
                <a:latin typeface="Abadi"/>
              </a:rPr>
              <a:t>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60000"/>
            <a:ext cx="11094720" cy="5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B355E"/>
                </a:solidFill>
                <a:latin typeface="Abadi"/>
              </a:rPr>
              <a:t>FIVE STEPS, FIVE DISEASES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0000"/>
            <a:ext cx="11094720" cy="3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0" i="1">
                <a:solidFill>
                  <a:srgbClr val="555555"/>
                </a:solidFill>
                <a:latin typeface="Abadi"/>
              </a:rPr>
              <a:t>Bilirubin is handled in series, so the failing step names itself on the panel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000"/>
            <a:ext cx="11094720" cy="254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1650800"/>
            <a:ext cx="11094720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9651525"/>
              </p:ext>
            </p:extLst>
          </p:nvPr>
        </p:nvGraphicFramePr>
        <p:xfrm>
          <a:off x="548640" y="1770000"/>
          <a:ext cx="11094720" cy="412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5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44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0000">
                <a:tc>
                  <a:txBody>
                    <a:bodyPr/>
                    <a:lstStyle/>
                    <a:p>
                      <a:r>
                        <a:rPr sz="1400" b="1" dirty="0">
                          <a:solidFill>
                            <a:srgbClr val="FFFFFF"/>
                          </a:solidFill>
                          <a:latin typeface="Abadi"/>
                        </a:rPr>
                        <a:t>Step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dirty="0">
                          <a:solidFill>
                            <a:srgbClr val="FFFFFF"/>
                          </a:solidFill>
                          <a:latin typeface="Abadi"/>
                        </a:rPr>
                        <a:t>Molecule and machinery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dirty="0">
                          <a:solidFill>
                            <a:srgbClr val="FFFFFF"/>
                          </a:solidFill>
                          <a:latin typeface="Abadi"/>
                        </a:rPr>
                        <a:t>When it fails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dirty="0">
                          <a:solidFill>
                            <a:srgbClr val="FFFFFF"/>
                          </a:solidFill>
                          <a:latin typeface="Abadi"/>
                        </a:rPr>
                        <a:t>The number on the panel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0000">
                <a:tc>
                  <a:txBody>
                    <a:bodyPr/>
                    <a:lstStyle/>
                    <a:p>
                      <a:r>
                        <a:rPr sz="1200" b="1" dirty="0">
                          <a:solidFill>
                            <a:srgbClr val="1A1A1A"/>
                          </a:solidFill>
                          <a:latin typeface="Abadi"/>
                        </a:rPr>
                        <a:t>Production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 err="1">
                          <a:solidFill>
                            <a:srgbClr val="1A1A1A"/>
                          </a:solidFill>
                          <a:latin typeface="Abadi"/>
                        </a:rPr>
                        <a:t>Haem</a:t>
                      </a:r>
                      <a:r>
                        <a:rPr sz="1200" b="0" dirty="0">
                          <a:solidFill>
                            <a:srgbClr val="1A1A1A"/>
                          </a:solidFill>
                          <a:latin typeface="Abadi"/>
                        </a:rPr>
                        <a:t> → biliverdin → bilirubin IXα (</a:t>
                      </a:r>
                      <a:r>
                        <a:rPr sz="1200" b="0" dirty="0" err="1">
                          <a:solidFill>
                            <a:srgbClr val="1A1A1A"/>
                          </a:solidFill>
                          <a:latin typeface="Abadi"/>
                        </a:rPr>
                        <a:t>haem</a:t>
                      </a:r>
                      <a:r>
                        <a:rPr sz="1200" b="0" dirty="0">
                          <a:solidFill>
                            <a:srgbClr val="1A1A1A"/>
                          </a:solidFill>
                          <a:latin typeface="Abadi"/>
                        </a:rPr>
                        <a:t> oxygenase, biliverdin reductase)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Haemolysis, ineffective erythropoiesis, resorbing haematoma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Unconjugated rises; reticulocytes, LDH, haptoglobin move with it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00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Abadi"/>
                        </a:rPr>
                        <a:t>Transport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1A1A1A"/>
                          </a:solidFill>
                          <a:latin typeface="Abadi"/>
                        </a:rPr>
                        <a:t>Bound to albumin, one high-affinity site, ~9 mg bilirubin per g albumin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Hypoalbuminaemia, displacing drugs (sulfonamides, ceftriaxone)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Total may be unchanged while free bilirubin — the toxic species — rises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00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Abadi"/>
                        </a:rPr>
                        <a:t>Uptake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Sinusoidal OATP1B1 / OATP1B3 (SLCO1B1, SLCO1B3)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1A1A1A"/>
                          </a:solidFill>
                          <a:latin typeface="Abadi"/>
                        </a:rPr>
                        <a:t>Rotor syndrome: no reuptake of conjugate returned to blood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Conjugated rises with normal enzymes and no pigment in the liver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400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Abadi"/>
                        </a:rPr>
                        <a:t>Conjugation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UGT1A1 adds one or two glucuronides; only enzyme that matters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1A1A1A"/>
                          </a:solidFill>
                          <a:latin typeface="Abadi"/>
                        </a:rPr>
                        <a:t>Gilbert, Crigler–Najjar I and II, neonatal immaturity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1A1A1A"/>
                          </a:solidFill>
                          <a:latin typeface="Abadi"/>
                        </a:rPr>
                        <a:t>Unconjugated rises; direct fraction stays low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400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Abadi"/>
                        </a:rPr>
                        <a:t>Excretion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Canalicular MRP2 (ABCC2) into bile; MRP3 back into blood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Dubin–Johnson; any cholestasis, intra- or extrahepatic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1A1A1A"/>
                          </a:solidFill>
                          <a:latin typeface="Abadi"/>
                        </a:rPr>
                        <a:t>Conjugated rises — the only fraction that means hepatobiliary disease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548640" y="5900000"/>
            <a:ext cx="11094720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943360" y="5975000"/>
            <a:ext cx="70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975000"/>
            <a:ext cx="10294720" cy="3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000" b="0" i="1">
                <a:solidFill>
                  <a:srgbClr val="555555"/>
                </a:solidFill>
                <a:latin typeface="Abadi"/>
              </a:rPr>
              <a:t>Thakkar B, Wu GY. J Clin Transl Hepatol 2026;14:565–72 · van de Steeg E, et al. J Clin Invest 2012;122:519–28 · Strauss KA, et al. Hepatology 2020;71:1923–39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300000"/>
            <a:ext cx="640000" cy="352000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00000"/>
            <a:ext cx="640000" cy="35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8640" y="300000"/>
            <a:ext cx="10254720" cy="35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 i="0">
                <a:solidFill>
                  <a:srgbClr val="2E5A88"/>
                </a:solidFill>
                <a:latin typeface="Abadi"/>
              </a:rPr>
              <a:t>PRODUCTION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60000"/>
            <a:ext cx="11094720" cy="5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B355E"/>
                </a:solidFill>
                <a:latin typeface="Abadi"/>
              </a:rPr>
              <a:t>THE NEWBORN'S LOAD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0000"/>
            <a:ext cx="11094720" cy="3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0" i="1">
                <a:solidFill>
                  <a:srgbClr val="555555"/>
                </a:solidFill>
                <a:latin typeface="Abadi"/>
              </a:rPr>
              <a:t>Twice the adult load delivered to a liver whose conjugating enzyme is barely switched on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000"/>
            <a:ext cx="11094720" cy="254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1650800"/>
            <a:ext cx="11094720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48640" y="2150000"/>
            <a:ext cx="2567940" cy="190000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48640" y="2150000"/>
            <a:ext cx="2567940" cy="130000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88640" y="2470000"/>
            <a:ext cx="2287940" cy="7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300" b="1" i="0">
                <a:solidFill>
                  <a:srgbClr val="1B355E"/>
                </a:solidFill>
                <a:latin typeface="Abadi"/>
              </a:rPr>
              <a:t>6–8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8640" y="3320000"/>
            <a:ext cx="2287940" cy="6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1A1A1A"/>
                </a:solidFill>
                <a:latin typeface="Abadi"/>
              </a:rPr>
              <a:t>Bilirubin production, mg/kg per day, in a term newborn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90900" y="2150000"/>
            <a:ext cx="2567940" cy="190000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390900" y="2150000"/>
            <a:ext cx="2567940" cy="130000"/>
          </a:xfrm>
          <a:prstGeom prst="rect">
            <a:avLst/>
          </a:prstGeom>
          <a:solidFill>
            <a:srgbClr val="2E5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530900" y="2470000"/>
            <a:ext cx="2287940" cy="7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300" b="1" i="0">
                <a:solidFill>
                  <a:srgbClr val="1B355E"/>
                </a:solidFill>
                <a:latin typeface="Abadi"/>
              </a:rPr>
              <a:t>3.8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30900" y="3320000"/>
            <a:ext cx="2287940" cy="6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1A1A1A"/>
                </a:solidFill>
                <a:latin typeface="Abadi"/>
              </a:rPr>
              <a:t>Adult production rate, mg/kg per day (SD 0.6)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33160" y="2150000"/>
            <a:ext cx="2567940" cy="190000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233160" y="2150000"/>
            <a:ext cx="2567940" cy="130000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373160" y="2470000"/>
            <a:ext cx="2287940" cy="7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300" b="1" i="0">
                <a:solidFill>
                  <a:srgbClr val="1B355E"/>
                </a:solidFill>
                <a:latin typeface="Abadi"/>
              </a:rPr>
              <a:t>0.1–1%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73160" y="3320000"/>
            <a:ext cx="2287940" cy="6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1A1A1A"/>
                </a:solidFill>
                <a:latin typeface="Abadi"/>
              </a:rPr>
              <a:t>Of adult hepatic UGT1A1 activity in late fetal life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75420" y="2150000"/>
            <a:ext cx="2567940" cy="190000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9075420" y="2150000"/>
            <a:ext cx="2567940" cy="130000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215420" y="2470000"/>
            <a:ext cx="2287940" cy="7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300" b="1" i="0">
                <a:solidFill>
                  <a:srgbClr val="1B355E"/>
                </a:solidFill>
                <a:latin typeface="Abadi"/>
              </a:rPr>
              <a:t>1–100%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15420" y="3320000"/>
            <a:ext cx="2287940" cy="6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1A1A1A"/>
                </a:solidFill>
                <a:latin typeface="Abadi"/>
              </a:rPr>
              <a:t>Range across the neonatal and early infantile phase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4380000"/>
            <a:ext cx="11094720" cy="9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Aft>
                <a:spcPts val="1102"/>
              </a:spcAft>
            </a:pPr>
            <a:r>
              <a:rPr sz="1250" b="0" i="0">
                <a:solidFill>
                  <a:srgbClr val="1A1A1A"/>
                </a:solidFill>
                <a:latin typeface="Abadi"/>
              </a:rPr>
              <a:t>UGT1A1 activity rises through four developmental phases and reaches adult values (1,320 ± 514 µg/h per g liver) only in infancy.</a:t>
            </a:r>
          </a:p>
          <a:p>
            <a:pPr>
              <a:lnSpc>
                <a:spcPct val="115000"/>
              </a:lnSpc>
              <a:spcAft>
                <a:spcPts val="1102"/>
              </a:spcAft>
            </a:pPr>
            <a:r>
              <a:rPr sz="1250" b="1" i="1">
                <a:solidFill>
                  <a:srgbClr val="1A1A1A"/>
                </a:solidFill>
                <a:latin typeface="Abadi"/>
              </a:rPr>
              <a:t>— Physiological jaundice is a kinetic mismatch, not a disease. Anything conjugated is not part of it.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5900000"/>
            <a:ext cx="11094720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943360" y="5975000"/>
            <a:ext cx="70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5975000"/>
            <a:ext cx="10294720" cy="3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000" b="0" i="1">
                <a:solidFill>
                  <a:srgbClr val="555555"/>
                </a:solidFill>
                <a:latin typeface="Abadi"/>
              </a:rPr>
              <a:t>Kawade N, Onishi S. Biochem J 1981;196:257–60 · Strauss KA, et al. Hepatology 2020;71:1923–39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300000"/>
            <a:ext cx="640000" cy="352000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00000"/>
            <a:ext cx="640000" cy="35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8640" y="300000"/>
            <a:ext cx="10254720" cy="35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 i="0">
                <a:solidFill>
                  <a:srgbClr val="2E5A88"/>
                </a:solidFill>
                <a:latin typeface="Abadi"/>
              </a:rPr>
              <a:t>THE ASSAY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60000"/>
            <a:ext cx="11094720" cy="5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B355E"/>
                </a:solidFill>
                <a:latin typeface="Abadi"/>
              </a:rPr>
              <a:t>THREE DIFFERENT NUMBERS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0000"/>
            <a:ext cx="11094720" cy="3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0" i="1">
                <a:solidFill>
                  <a:srgbClr val="555555"/>
                </a:solidFill>
                <a:latin typeface="Abadi"/>
              </a:rPr>
              <a:t>Guidelines use “direct” and “conjugated” interchangeably; the laboratory does not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000"/>
            <a:ext cx="11094720" cy="254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1650800"/>
            <a:ext cx="11094720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48640" y="1770000"/>
            <a:ext cx="3515360" cy="3100000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48640" y="1770000"/>
            <a:ext cx="3515360" cy="130000"/>
          </a:xfrm>
          <a:prstGeom prst="rect">
            <a:avLst/>
          </a:prstGeom>
          <a:solidFill>
            <a:srgbClr val="2E5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68640" y="2070000"/>
            <a:ext cx="3075360" cy="3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600" b="1" i="0">
                <a:solidFill>
                  <a:srgbClr val="1A1A1A"/>
                </a:solidFill>
                <a:latin typeface="Abadi"/>
              </a:rPr>
              <a:t>Conjugated (Cb)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640" y="2590000"/>
            <a:ext cx="3075360" cy="21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Mono- and diglucuronide only.</a:t>
            </a:r>
          </a:p>
          <a:p>
            <a:pPr>
              <a:spcAft>
                <a:spcPts val="10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Measured by direct spectrophotometry, BuBc slide.</a:t>
            </a:r>
          </a:p>
          <a:p>
            <a:pPr>
              <a:spcAft>
                <a:spcPts val="10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99th centile in term newborns: 0.5 mg/dL.</a:t>
            </a:r>
          </a:p>
          <a:p>
            <a:pPr>
              <a:spcAft>
                <a:spcPts val="10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73.8% of healthy newborns read as zero.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38320" y="1770000"/>
            <a:ext cx="3515360" cy="3100000"/>
          </a:xfrm>
          <a:prstGeom prst="rect">
            <a:avLst/>
          </a:prstGeom>
          <a:solidFill>
            <a:srgbClr val="CDE7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338320" y="1770000"/>
            <a:ext cx="3515360" cy="130000"/>
          </a:xfrm>
          <a:prstGeom prst="rect">
            <a:avLst/>
          </a:prstGeom>
          <a:solidFill>
            <a:srgbClr val="1E7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58320" y="2070000"/>
            <a:ext cx="3075360" cy="3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600" b="1" i="0">
                <a:solidFill>
                  <a:srgbClr val="1A1A1A"/>
                </a:solidFill>
                <a:latin typeface="Abadi"/>
              </a:rPr>
              <a:t>Direct-reacting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58320" y="2590000"/>
            <a:ext cx="3075360" cy="21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What reacts with diazo without an accelerant.</a:t>
            </a:r>
          </a:p>
          <a:p>
            <a:pPr>
              <a:spcAft>
                <a:spcPts val="10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Conjugated + delta + some unconjugated at high totals.</a:t>
            </a:r>
          </a:p>
          <a:p>
            <a:pPr>
              <a:spcAft>
                <a:spcPts val="10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99th centile in term newborns: 2.1 mg/dL.</a:t>
            </a:r>
          </a:p>
          <a:p>
            <a:pPr>
              <a:spcAft>
                <a:spcPts val="10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Overestimates Cb, and falls with haemolysis.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28000" y="1770000"/>
            <a:ext cx="3515360" cy="3100000"/>
          </a:xfrm>
          <a:prstGeom prst="rect">
            <a:avLst/>
          </a:prstGeom>
          <a:solidFill>
            <a:srgbClr val="FBEF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128000" y="1770000"/>
            <a:ext cx="3515360" cy="130000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348000" y="2070000"/>
            <a:ext cx="3075360" cy="3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600" b="1" i="0">
                <a:solidFill>
                  <a:srgbClr val="1A1A1A"/>
                </a:solidFill>
                <a:latin typeface="Abadi"/>
              </a:rPr>
              <a:t>Delta (biliprotein)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48000" y="2590000"/>
            <a:ext cx="3075360" cy="21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Conjugated bilirubin covalently bound to albumin.</a:t>
            </a:r>
          </a:p>
          <a:p>
            <a:pPr>
              <a:spcAft>
                <a:spcPts val="10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Shares albumin's half-life of about 3 weeks.</a:t>
            </a:r>
          </a:p>
          <a:p>
            <a:pPr>
              <a:spcAft>
                <a:spcPts val="10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8–90% of total in hepatocellular and cholestatic jaundice.</a:t>
            </a:r>
          </a:p>
          <a:p>
            <a:pPr>
              <a:spcAft>
                <a:spcPts val="10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Absent in Gilbert, haemolysis, physiological jaundice.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5070000"/>
            <a:ext cx="11094720" cy="5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50" b="1" i="1">
                <a:solidFill>
                  <a:srgbClr val="1A1A1A"/>
                </a:solidFill>
                <a:latin typeface="Abadi"/>
              </a:rPr>
              <a:t>Read the laboratory's method before the number: the same infant has two different “direct” bilirubins.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5900000"/>
            <a:ext cx="11094720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943360" y="5975000"/>
            <a:ext cx="70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5975000"/>
            <a:ext cx="10294720" cy="3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000" b="0" i="1">
                <a:solidFill>
                  <a:srgbClr val="555555"/>
                </a:solidFill>
                <a:latin typeface="Abadi"/>
              </a:rPr>
              <a:t>Davis AR, et al. J Pediatr 2011;158:562–5 · Weiss JS, et al. N Engl J Med 1983;309:147–50 · Sundberg MW, et al. Clin Chem 1984;30:1314–7 · Greene DN, et al. Clin Chim Acta 2014;429:194–7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300000"/>
            <a:ext cx="640000" cy="352000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00000"/>
            <a:ext cx="640000" cy="35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8640" y="300000"/>
            <a:ext cx="10254720" cy="35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 i="0">
                <a:solidFill>
                  <a:srgbClr val="2E5A88"/>
                </a:solidFill>
                <a:latin typeface="Abadi"/>
              </a:rPr>
              <a:t>THE ASSAY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60000"/>
            <a:ext cx="11094720" cy="5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B355E"/>
                </a:solidFill>
                <a:latin typeface="Abadi"/>
              </a:rPr>
              <a:t>NOT INTERCHANGEABLE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0000"/>
            <a:ext cx="11094720" cy="3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0" i="1">
                <a:solidFill>
                  <a:srgbClr val="555555"/>
                </a:solidFill>
                <a:latin typeface="Abadi"/>
              </a:rPr>
              <a:t>A single-network audit of paired measurements, 2015–2024, infants under 3 months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000"/>
            <a:ext cx="11094720" cy="254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1650800"/>
            <a:ext cx="11094720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48640" y="2150000"/>
            <a:ext cx="2567940" cy="190000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48640" y="2150000"/>
            <a:ext cx="2567940" cy="130000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88640" y="2470000"/>
            <a:ext cx="2287940" cy="7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 i="0">
                <a:solidFill>
                  <a:srgbClr val="1B355E"/>
                </a:solidFill>
                <a:latin typeface="Abadi"/>
              </a:rPr>
              <a:t>32 vs 8.9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8640" y="3320000"/>
            <a:ext cx="2287940" cy="6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1A1A1A"/>
                </a:solidFill>
                <a:latin typeface="Abadi"/>
              </a:rPr>
              <a:t>Mean direct vs conjugated bilirubin, µmol/L, in 121 paired neonatal samples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90900" y="2150000"/>
            <a:ext cx="2567940" cy="190000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390900" y="2150000"/>
            <a:ext cx="2567940" cy="130000"/>
          </a:xfrm>
          <a:prstGeom prst="rect">
            <a:avLst/>
          </a:prstGeom>
          <a:solidFill>
            <a:srgbClr val="2E5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530900" y="2470000"/>
            <a:ext cx="2287940" cy="7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300" b="1" i="0">
                <a:solidFill>
                  <a:srgbClr val="1B355E"/>
                </a:solidFill>
                <a:latin typeface="Abadi"/>
              </a:rPr>
              <a:t>34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30900" y="3320000"/>
            <a:ext cx="2287940" cy="6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1A1A1A"/>
                </a:solidFill>
                <a:latin typeface="Abadi"/>
              </a:rPr>
              <a:t>Lowest direct bilirubin (µmol/L) seen when conjugated reached the 17 µmol/L trigger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33160" y="2150000"/>
            <a:ext cx="2567940" cy="190000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233160" y="2150000"/>
            <a:ext cx="2567940" cy="130000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373160" y="2470000"/>
            <a:ext cx="2287940" cy="7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300" b="1" i="0">
                <a:solidFill>
                  <a:srgbClr val="1B355E"/>
                </a:solidFill>
                <a:latin typeface="Abadi"/>
              </a:rPr>
              <a:t>&lt; 22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73160" y="3320000"/>
            <a:ext cx="2287940" cy="6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1A1A1A"/>
                </a:solidFill>
                <a:latin typeface="Abadi"/>
              </a:rPr>
              <a:t>Direct bilirubin (µmol/L) below which conjugated almost never exceeds 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75420" y="2150000"/>
            <a:ext cx="2567940" cy="190000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9075420" y="2150000"/>
            <a:ext cx="2567940" cy="130000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215420" y="2470000"/>
            <a:ext cx="2287940" cy="7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 i="0">
                <a:solidFill>
                  <a:srgbClr val="1B355E"/>
                </a:solidFill>
                <a:latin typeface="Abadi"/>
              </a:rPr>
              <a:t>0.3 mg/dL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15420" y="3320000"/>
            <a:ext cx="2287940" cy="6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1A1A1A"/>
                </a:solidFill>
                <a:latin typeface="Abadi"/>
              </a:rPr>
              <a:t>Conjugated cut-off in use where 1.0 mg/dL is the direct cut-off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4380000"/>
            <a:ext cx="11094720" cy="9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Aft>
                <a:spcPts val="1102"/>
              </a:spcAft>
            </a:pPr>
            <a:r>
              <a:rPr sz="1250" b="0" i="0">
                <a:solidFill>
                  <a:srgbClr val="1A1A1A"/>
                </a:solidFill>
                <a:latin typeface="Abadi"/>
              </a:rPr>
              <a:t>Applying a conjugated-bilirubin threshold to a direct result over-refers; applying a direct threshold to a conjugated result under-refers.</a:t>
            </a:r>
          </a:p>
          <a:p>
            <a:pPr>
              <a:lnSpc>
                <a:spcPct val="115000"/>
              </a:lnSpc>
              <a:spcAft>
                <a:spcPts val="1102"/>
              </a:spcAft>
            </a:pPr>
            <a:r>
              <a:rPr sz="1250" b="1" i="1">
                <a:solidFill>
                  <a:srgbClr val="1A1A1A"/>
                </a:solidFill>
                <a:latin typeface="Abadi"/>
              </a:rPr>
              <a:t>— Know which assay your laboratory runs, and quote the matching threshold.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5900000"/>
            <a:ext cx="11094720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943360" y="5975000"/>
            <a:ext cx="70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5975000"/>
            <a:ext cx="10294720" cy="3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000" b="0" i="1">
                <a:solidFill>
                  <a:srgbClr val="555555"/>
                </a:solidFill>
                <a:latin typeface="Abadi"/>
              </a:rPr>
              <a:t>Bassi K, et al. J Can Assoc Gastroenterol 2025;8(Suppl 1):A234 · Davis AR, et al. J Pediatr 2011;158:562–5 · Kemper AR, et al. Pediatrics 2022;150:e2022058859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300000"/>
            <a:ext cx="640000" cy="352000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00000"/>
            <a:ext cx="640000" cy="35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8640" y="300000"/>
            <a:ext cx="10254720" cy="35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 i="0">
                <a:solidFill>
                  <a:srgbClr val="2E5A88"/>
                </a:solidFill>
                <a:latin typeface="Abadi"/>
              </a:rPr>
              <a:t>WHAT THE NUMBER IS WORTH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60000"/>
            <a:ext cx="11094720" cy="5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B355E"/>
                </a:solidFill>
                <a:latin typeface="Abadi"/>
              </a:rPr>
              <a:t>LIKELIHOOD OF LIVER DISEASE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0000"/>
            <a:ext cx="11094720" cy="3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0" i="1">
                <a:solidFill>
                  <a:srgbClr val="555555"/>
                </a:solidFill>
                <a:latin typeface="Abadi"/>
              </a:rPr>
              <a:t>Likelihood ratio for hepatobiliary disease, 271,186 term newborns, Northern California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000"/>
            <a:ext cx="11094720" cy="254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1650800"/>
            <a:ext cx="11094720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1976814"/>
            <a:ext cx="3900000" cy="290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0" i="0">
                <a:solidFill>
                  <a:srgbClr val="1A1A1A"/>
                </a:solidFill>
                <a:latin typeface="Abadi"/>
              </a:rPr>
              <a:t>Conjugated 0 mg/dL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68640" y="1996814"/>
            <a:ext cx="20000" cy="250656"/>
          </a:xfrm>
          <a:prstGeom prst="rect">
            <a:avLst/>
          </a:prstGeom>
          <a:solidFill>
            <a:srgbClr val="8A93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78640" y="1996814"/>
            <a:ext cx="1250000" cy="250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400" b="1" i="0">
                <a:solidFill>
                  <a:srgbClr val="1B355E"/>
                </a:solidFill>
                <a:latin typeface="Abadi"/>
              </a:rPr>
              <a:t>0.36×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381099"/>
            <a:ext cx="3900000" cy="290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0" i="0">
                <a:solidFill>
                  <a:srgbClr val="1A1A1A"/>
                </a:solidFill>
                <a:latin typeface="Abadi"/>
              </a:rPr>
              <a:t>Conjugated 0.1–0.5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68640" y="2401099"/>
            <a:ext cx="20000" cy="250656"/>
          </a:xfrm>
          <a:prstGeom prst="rect">
            <a:avLst/>
          </a:prstGeom>
          <a:solidFill>
            <a:srgbClr val="8A93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678640" y="2401099"/>
            <a:ext cx="1250000" cy="250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400" b="1" i="0">
                <a:solidFill>
                  <a:srgbClr val="1B355E"/>
                </a:solidFill>
                <a:latin typeface="Abadi"/>
              </a:rPr>
              <a:t>1.07×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2785384"/>
            <a:ext cx="3900000" cy="290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0" i="0">
                <a:solidFill>
                  <a:srgbClr val="1A1A1A"/>
                </a:solidFill>
                <a:latin typeface="Abadi"/>
              </a:rPr>
              <a:t>Conjugated 0.5–1.9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68640" y="2805384"/>
            <a:ext cx="32665" cy="250656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691305" y="2805384"/>
            <a:ext cx="1250000" cy="250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400" b="1" i="0">
                <a:solidFill>
                  <a:srgbClr val="1B355E"/>
                </a:solidFill>
                <a:latin typeface="Abadi"/>
              </a:rPr>
              <a:t>2.8×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189669"/>
            <a:ext cx="3900000" cy="290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0" i="0">
                <a:solidFill>
                  <a:srgbClr val="1A1A1A"/>
                </a:solidFill>
                <a:latin typeface="Abadi"/>
              </a:rPr>
              <a:t>Conjugated 2.0–4.9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68640" y="3209669"/>
            <a:ext cx="940287" cy="250656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598927" y="3209669"/>
            <a:ext cx="1250000" cy="250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400" b="1" i="0">
                <a:solidFill>
                  <a:srgbClr val="1B355E"/>
                </a:solidFill>
                <a:latin typeface="Abadi"/>
              </a:rPr>
              <a:t>80.6×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3593954"/>
            <a:ext cx="3900000" cy="290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0" i="0">
                <a:solidFill>
                  <a:srgbClr val="1A1A1A"/>
                </a:solidFill>
                <a:latin typeface="Abadi"/>
              </a:rPr>
              <a:t>Conjugated ≥ 5.0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68640" y="3613954"/>
            <a:ext cx="5774720" cy="250656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433360" y="3613954"/>
            <a:ext cx="1250000" cy="250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400" b="1" i="0">
                <a:solidFill>
                  <a:srgbClr val="1B355E"/>
                </a:solidFill>
                <a:latin typeface="Abadi"/>
              </a:rPr>
              <a:t>495×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3998239"/>
            <a:ext cx="3900000" cy="290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0" i="0">
                <a:solidFill>
                  <a:srgbClr val="1A1A1A"/>
                </a:solidFill>
                <a:latin typeface="Abadi"/>
              </a:rPr>
              <a:t>Direct 2.0–4.9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68640" y="4018239"/>
            <a:ext cx="205323" cy="250656"/>
          </a:xfrm>
          <a:prstGeom prst="rect">
            <a:avLst/>
          </a:prstGeom>
          <a:solidFill>
            <a:srgbClr val="2E5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863963" y="4018239"/>
            <a:ext cx="1250000" cy="250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400" b="1" i="0">
                <a:solidFill>
                  <a:srgbClr val="1B355E"/>
                </a:solidFill>
                <a:latin typeface="Abadi"/>
              </a:rPr>
              <a:t>17.6×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4402524"/>
            <a:ext cx="3900000" cy="290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0" i="0">
                <a:solidFill>
                  <a:srgbClr val="1A1A1A"/>
                </a:solidFill>
                <a:latin typeface="Abadi"/>
              </a:rPr>
              <a:t>Direct ≥ 5.0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68640" y="4422524"/>
            <a:ext cx="2601540" cy="250656"/>
          </a:xfrm>
          <a:prstGeom prst="rect">
            <a:avLst/>
          </a:prstGeom>
          <a:solidFill>
            <a:srgbClr val="2E5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260180" y="4422524"/>
            <a:ext cx="1250000" cy="250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400" b="1" i="0">
                <a:solidFill>
                  <a:srgbClr val="1B355E"/>
                </a:solidFill>
                <a:latin typeface="Abadi"/>
              </a:rPr>
              <a:t>223×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68640" y="1870000"/>
            <a:ext cx="9525" cy="2880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48640" y="4950000"/>
            <a:ext cx="11094720" cy="9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2000"/>
              </a:lnSpc>
              <a:spcAft>
                <a:spcPts val="944"/>
              </a:spcAft>
            </a:pPr>
            <a:r>
              <a:rPr sz="1250" b="0" i="0">
                <a:solidFill>
                  <a:srgbClr val="1A1A1A"/>
                </a:solidFill>
                <a:latin typeface="Abadi"/>
              </a:rPr>
              <a:t>At conjugated 0.5–1.9 mg/dL, 96% had no cholestatic diagnosis but 2% had severe bacterial infection. At ≥ 5 mg/dL, 47% had biliary and 42% liver disease.</a:t>
            </a:r>
          </a:p>
          <a:p>
            <a:pPr>
              <a:lnSpc>
                <a:spcPct val="112000"/>
              </a:lnSpc>
              <a:spcAft>
                <a:spcPts val="944"/>
              </a:spcAft>
            </a:pPr>
            <a:r>
              <a:rPr sz="1250" b="1" i="1">
                <a:solidFill>
                  <a:srgbClr val="1A1A1A"/>
                </a:solidFill>
                <a:latin typeface="Abadi"/>
              </a:rPr>
              <a:t>— A mildly raised conjugated bilirubin is a reason to culture and repeat, not yet to image.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5900000"/>
            <a:ext cx="11094720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0943360" y="5975000"/>
            <a:ext cx="70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5975000"/>
            <a:ext cx="10294720" cy="3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000" b="0" i="1">
                <a:solidFill>
                  <a:srgbClr val="555555"/>
                </a:solidFill>
                <a:latin typeface="Abadi"/>
              </a:rPr>
              <a:t>Davis AR, et al. J Pediatr 2011;158:562–5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300000"/>
            <a:ext cx="640000" cy="352000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00000"/>
            <a:ext cx="640000" cy="35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8640" y="300000"/>
            <a:ext cx="10254720" cy="35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 i="0">
                <a:solidFill>
                  <a:srgbClr val="2E5A88"/>
                </a:solidFill>
                <a:latin typeface="Abadi"/>
              </a:rPr>
              <a:t>THE THRESHOLD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60000"/>
            <a:ext cx="11094720" cy="5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B355E"/>
                </a:solidFill>
                <a:latin typeface="Abadi"/>
              </a:rPr>
              <a:t>WHO SAYS WHAT IS ABNORMAL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0000"/>
            <a:ext cx="11094720" cy="3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0" i="1">
                <a:solidFill>
                  <a:srgbClr val="555555"/>
                </a:solidFill>
                <a:latin typeface="Abadi"/>
              </a:rPr>
              <a:t>Same disease, four fractions, four numbers, and two different ages at which to look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000"/>
            <a:ext cx="11094720" cy="254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1650800"/>
            <a:ext cx="11094720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4921625"/>
              </p:ext>
            </p:extLst>
          </p:nvPr>
        </p:nvGraphicFramePr>
        <p:xfrm>
          <a:off x="548640" y="1770000"/>
          <a:ext cx="11094720" cy="412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5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5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947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20000">
                <a:tc>
                  <a:txBody>
                    <a:bodyPr/>
                    <a:lstStyle/>
                    <a:p>
                      <a:r>
                        <a:rPr sz="1400" b="1" dirty="0">
                          <a:solidFill>
                            <a:srgbClr val="FFFFFF"/>
                          </a:solidFill>
                          <a:latin typeface="Abadi"/>
                        </a:rPr>
                        <a:t>Document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dirty="0">
                          <a:solidFill>
                            <a:srgbClr val="FFFFFF"/>
                          </a:solidFill>
                          <a:latin typeface="Abadi"/>
                        </a:rPr>
                        <a:t>Fraction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dirty="0">
                          <a:solidFill>
                            <a:srgbClr val="FFFFFF"/>
                          </a:solidFill>
                          <a:latin typeface="Abadi"/>
                        </a:rPr>
                        <a:t>Abnormal above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dirty="0">
                          <a:solidFill>
                            <a:srgbClr val="FFFFFF"/>
                          </a:solidFill>
                          <a:latin typeface="Abadi"/>
                        </a:rPr>
                        <a:t>When to measure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dirty="0">
                          <a:solidFill>
                            <a:srgbClr val="FFFFFF"/>
                          </a:solidFill>
                          <a:latin typeface="Abadi"/>
                        </a:rPr>
                        <a:t>Verdict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0000">
                <a:tc>
                  <a:txBody>
                    <a:bodyPr/>
                    <a:lstStyle/>
                    <a:p>
                      <a:r>
                        <a:rPr sz="1200" b="1" dirty="0">
                          <a:solidFill>
                            <a:srgbClr val="1A1A1A"/>
                          </a:solidFill>
                          <a:latin typeface="Abadi"/>
                        </a:rPr>
                        <a:t>NASPGHAN/ESPGHAN 2017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1A1A1A"/>
                          </a:solidFill>
                          <a:latin typeface="Abadi"/>
                        </a:rPr>
                        <a:t>Direct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1.0 mg/dL (17 µmol/L)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Any infant jaundiced after 2 weeks of age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badi"/>
                        </a:rPr>
                        <a:t>ALIGNED</a:t>
                      </a:r>
                    </a:p>
                  </a:txBody>
                  <a:tcPr marL="73152" marR="73152" marT="27432" marB="27432" anchor="ctr">
                    <a:solidFill>
                      <a:srgbClr val="1E7A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00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Abadi"/>
                        </a:rPr>
                        <a:t>AAP 2022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1A1A1A"/>
                          </a:solidFill>
                          <a:latin typeface="Abadi"/>
                        </a:rPr>
                        <a:t>Total + direct or conjugated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1A1A1A"/>
                          </a:solidFill>
                          <a:latin typeface="Abadi"/>
                        </a:rPr>
                        <a:t>Direct 1.0 · conjugated 0.3 mg/dL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Breastfed at 3–4 weeks; formula-fed at 2 weeks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A1A1A"/>
                          </a:solidFill>
                          <a:latin typeface="Abadi"/>
                        </a:rPr>
                        <a:t>DIFFERS</a:t>
                      </a:r>
                    </a:p>
                  </a:txBody>
                  <a:tcPr marL="73152" marR="73152" marT="27432" marB="27432" anchor="ctr">
                    <a:solidFill>
                      <a:srgbClr val="F2C40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00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Abadi"/>
                        </a:rPr>
                        <a:t>NICE CG98 (UK)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Conjugated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1A1A1A"/>
                          </a:solidFill>
                          <a:latin typeface="Abadi"/>
                        </a:rPr>
                        <a:t>25 µmol/L (≈ 1.5 mg/dL)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1A1A1A"/>
                          </a:solidFill>
                          <a:latin typeface="Abadi"/>
                        </a:rPr>
                        <a:t>Prolonged jaundice: &gt; 14 days term, &gt; 21 days preterm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badi"/>
                        </a:rPr>
                        <a:t>UK ONLY</a:t>
                      </a:r>
                    </a:p>
                  </a:txBody>
                  <a:tcPr marL="73152" marR="73152" marT="27432" marB="27432" anchor="ctr">
                    <a:solidFill>
                      <a:srgbClr val="2E5A8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400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Abadi"/>
                        </a:rPr>
                        <a:t>SIGENP 2021 (Italy)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Conjugated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1.0 mg/dL, or &gt; 20% if total &gt; 5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1A1A1A"/>
                          </a:solidFill>
                          <a:latin typeface="Abadi"/>
                        </a:rPr>
                        <a:t>Any infant under 1 year with jaundice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A1A1A"/>
                          </a:solidFill>
                          <a:latin typeface="Abadi"/>
                        </a:rPr>
                        <a:t>DIFFERS</a:t>
                      </a:r>
                    </a:p>
                  </a:txBody>
                  <a:tcPr marL="73152" marR="73152" marT="27432" marB="27432" anchor="ctr">
                    <a:solidFill>
                      <a:srgbClr val="F2C40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400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Abadi"/>
                        </a:rPr>
                        <a:t>FISPGHAN 2025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Direct or conjugated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1.0 mg/dL, plus newborn screening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1A1A1A"/>
                          </a:solidFill>
                          <a:latin typeface="Abadi"/>
                        </a:rPr>
                        <a:t>Universal screening by stool </a:t>
                      </a:r>
                      <a:r>
                        <a:rPr sz="1200" b="0" dirty="0" err="1">
                          <a:solidFill>
                            <a:srgbClr val="1A1A1A"/>
                          </a:solidFill>
                          <a:latin typeface="Abadi"/>
                        </a:rPr>
                        <a:t>colour</a:t>
                      </a:r>
                      <a:r>
                        <a:rPr sz="1200" b="0" dirty="0">
                          <a:solidFill>
                            <a:srgbClr val="1A1A1A"/>
                          </a:solidFill>
                          <a:latin typeface="Abadi"/>
                        </a:rPr>
                        <a:t> card or bilirubin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FFFFFF"/>
                          </a:solidFill>
                          <a:latin typeface="Abadi"/>
                        </a:rPr>
                        <a:t>MATERIAL</a:t>
                      </a:r>
                    </a:p>
                  </a:txBody>
                  <a:tcPr marL="73152" marR="73152" marT="27432" marB="27432" anchor="ctr">
                    <a:solidFill>
                      <a:srgbClr val="D97A0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548640" y="5900000"/>
            <a:ext cx="11094720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943360" y="5975000"/>
            <a:ext cx="70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975000"/>
            <a:ext cx="10294720" cy="3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000" b="0" i="1">
                <a:solidFill>
                  <a:srgbClr val="555555"/>
                </a:solidFill>
                <a:latin typeface="Abadi"/>
              </a:rPr>
              <a:t>Fawaz R, et al. J Pediatr Gastroenterol Nutr 2017;64:154–68 · Kemper AR, et al. Pediatrics 2022;150:e2022058859 · NICE CG98, Jaundice in babies under 28 days (2010, updated 2016) · Ranucci G, et al. Dig Liver Dis 2022;54:40–53 (SIGENP) · Chen HL, et al. J Pediatr Gastroenterol Nutr 2025;81:1360–77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300000"/>
            <a:ext cx="640000" cy="352000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00000"/>
            <a:ext cx="640000" cy="35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8640" y="300000"/>
            <a:ext cx="10254720" cy="35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 i="0">
                <a:solidFill>
                  <a:srgbClr val="2E5A88"/>
                </a:solidFill>
                <a:latin typeface="Abadi"/>
              </a:rPr>
              <a:t>THE 20% RULE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60000"/>
            <a:ext cx="11094720" cy="5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B355E"/>
                </a:solidFill>
                <a:latin typeface="Abadi"/>
              </a:rPr>
              <a:t>WHY THE RATIO FAILS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0000"/>
            <a:ext cx="11094720" cy="3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0" i="1">
                <a:solidFill>
                  <a:srgbClr val="555555"/>
                </a:solidFill>
                <a:latin typeface="Abadi"/>
              </a:rPr>
              <a:t>The single most common reason a cholestatic newborn is sent home reassured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000"/>
            <a:ext cx="11094720" cy="254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1650800"/>
            <a:ext cx="11094720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48640" y="1770000"/>
            <a:ext cx="2567940" cy="3100000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48640" y="1770000"/>
            <a:ext cx="2567940" cy="130000"/>
          </a:xfrm>
          <a:prstGeom prst="rect">
            <a:avLst/>
          </a:prstGeom>
          <a:solidFill>
            <a:srgbClr val="2E5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68640" y="2070000"/>
            <a:ext cx="2127940" cy="3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600" b="1" i="0">
                <a:solidFill>
                  <a:srgbClr val="1A1A1A"/>
                </a:solidFill>
                <a:latin typeface="Abadi"/>
              </a:rPr>
              <a:t>What it says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640" y="2590000"/>
            <a:ext cx="2127940" cy="21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Cholestasis if direct &gt; 20% of total.</a:t>
            </a:r>
          </a:p>
          <a:p>
            <a:pPr>
              <a:spcAft>
                <a:spcPts val="10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Still printed in most textbooks and order sets.</a:t>
            </a:r>
          </a:p>
          <a:p>
            <a:pPr>
              <a:spcAft>
                <a:spcPts val="10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Designed for an era of high-total physiological jaundice.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90900" y="1770000"/>
            <a:ext cx="2567940" cy="3100000"/>
          </a:xfrm>
          <a:prstGeom prst="rect">
            <a:avLst/>
          </a:prstGeom>
          <a:solidFill>
            <a:srgbClr val="CDE7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390900" y="1770000"/>
            <a:ext cx="2567940" cy="130000"/>
          </a:xfrm>
          <a:prstGeom prst="rect">
            <a:avLst/>
          </a:prstGeom>
          <a:solidFill>
            <a:srgbClr val="1E7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610900" y="2070000"/>
            <a:ext cx="2127940" cy="3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600" b="1" i="0">
                <a:solidFill>
                  <a:srgbClr val="1A1A1A"/>
                </a:solidFill>
                <a:latin typeface="Abadi"/>
              </a:rPr>
              <a:t>Why it fails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10900" y="2590000"/>
            <a:ext cx="2127940" cy="21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79% of newborns with biliary atresia had a direct : total ratio ≤ 0.2.</a:t>
            </a:r>
          </a:p>
          <a:p>
            <a:pPr>
              <a:spcAft>
                <a:spcPts val="10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A large unconjugated total hides a pathological direct fraction.</a:t>
            </a:r>
          </a:p>
          <a:p>
            <a:pPr>
              <a:spcAft>
                <a:spcPts val="10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The denominator moves with phototherapy and feeding.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33160" y="1770000"/>
            <a:ext cx="2567940" cy="3100000"/>
          </a:xfrm>
          <a:prstGeom prst="rect">
            <a:avLst/>
          </a:prstGeom>
          <a:solidFill>
            <a:srgbClr val="FBEF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233160" y="1770000"/>
            <a:ext cx="2567940" cy="130000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53160" y="2070000"/>
            <a:ext cx="2127940" cy="3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600" b="1" i="0">
                <a:solidFill>
                  <a:srgbClr val="1A1A1A"/>
                </a:solidFill>
                <a:latin typeface="Abadi"/>
              </a:rPr>
              <a:t>What replaced 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53160" y="2590000"/>
            <a:ext cx="2127940" cy="21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An absolute direct or conjugated value, independent of total.</a:t>
            </a:r>
          </a:p>
          <a:p>
            <a:pPr>
              <a:spcAft>
                <a:spcPts val="10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1.0 mg/dL direct, 0.3–0.5 mg/dL conjugated.</a:t>
            </a:r>
          </a:p>
          <a:p>
            <a:pPr>
              <a:spcAft>
                <a:spcPts val="10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SIGENP keeps 20% only as a second rule above a total of 5.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75420" y="1770000"/>
            <a:ext cx="2567940" cy="3100000"/>
          </a:xfrm>
          <a:prstGeom prst="rect">
            <a:avLst/>
          </a:prstGeom>
          <a:solidFill>
            <a:srgbClr val="F6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9075420" y="1770000"/>
            <a:ext cx="2567940" cy="130000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295420" y="2070000"/>
            <a:ext cx="2127940" cy="3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600" b="1" i="0">
                <a:solidFill>
                  <a:srgbClr val="1A1A1A"/>
                </a:solidFill>
                <a:latin typeface="Abadi"/>
              </a:rPr>
              <a:t>At the bedside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95420" y="2590000"/>
            <a:ext cx="2127940" cy="21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Never divide. Read the direct value itself.</a:t>
            </a:r>
          </a:p>
          <a:p>
            <a:pPr>
              <a:spcAft>
                <a:spcPts val="10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If the direct is raised and the ratio is low, the ratio is wrong.</a:t>
            </a:r>
          </a:p>
          <a:p>
            <a:pPr>
              <a:spcAft>
                <a:spcPts val="10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Repeat within days to two weeks to raise the predictive value.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5070000"/>
            <a:ext cx="11094720" cy="5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50" b="1" i="1">
                <a:solidFill>
                  <a:srgbClr val="1A1A1A"/>
                </a:solidFill>
                <a:latin typeface="Abadi"/>
              </a:rPr>
              <a:t>A direct bilirubin of 1.4 mg/dL on a total of 12 is a ratio of 0.12 — and is biliary atresia until proved otherwise.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5900000"/>
            <a:ext cx="11094720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943360" y="5975000"/>
            <a:ext cx="70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5975000"/>
            <a:ext cx="10294720" cy="3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000" b="0" i="1">
                <a:solidFill>
                  <a:srgbClr val="555555"/>
                </a:solidFill>
                <a:latin typeface="Abadi"/>
              </a:rPr>
              <a:t>Harpavat S, et al. Pediatrics 2011;128:e1428–33 · Fawaz R, et al. J Pediatr Gastroenterol Nutr 2017;64:154–68 · Ranucci G, et al. Dig Liver Dis 2022;54:40–53 (SIGENP) · Kemper AR, et al. Pediatrics 2022;150:e2022058859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300000"/>
            <a:ext cx="640000" cy="352000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00000"/>
            <a:ext cx="640000" cy="35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8640" y="300000"/>
            <a:ext cx="10254720" cy="35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 i="0">
                <a:solidFill>
                  <a:srgbClr val="2E5A88"/>
                </a:solidFill>
                <a:latin typeface="Abadi"/>
              </a:rPr>
              <a:t>UNCONJUGATED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60000"/>
            <a:ext cx="11094720" cy="5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B355E"/>
                </a:solidFill>
                <a:latin typeface="Abadi"/>
              </a:rPr>
              <a:t>ONE GENE, FOUR PHENOTYPES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0000"/>
            <a:ext cx="11094720" cy="3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0" i="1">
                <a:solidFill>
                  <a:srgbClr val="555555"/>
                </a:solidFill>
                <a:latin typeface="Abadi"/>
              </a:rPr>
              <a:t>The three syndromes are one continuum of UGT1A1 dosage, not three diseases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000"/>
            <a:ext cx="11094720" cy="254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1650800"/>
            <a:ext cx="11094720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0134147"/>
              </p:ext>
            </p:extLst>
          </p:nvPr>
        </p:nvGraphicFramePr>
        <p:xfrm>
          <a:off x="548640" y="1770000"/>
          <a:ext cx="11094720" cy="411999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5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44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0000">
                <a:tc>
                  <a:txBody>
                    <a:bodyPr/>
                    <a:lstStyle/>
                    <a:p>
                      <a:endParaRPr sz="2000" dirty="0"/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dirty="0">
                          <a:solidFill>
                            <a:srgbClr val="FFFFFF"/>
                          </a:solidFill>
                          <a:latin typeface="Abadi"/>
                        </a:rPr>
                        <a:t>Gilbert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dirty="0">
                          <a:solidFill>
                            <a:srgbClr val="FFFFFF"/>
                          </a:solidFill>
                          <a:latin typeface="Abadi"/>
                        </a:rPr>
                        <a:t>Crigler–Najjar II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dirty="0">
                          <a:solidFill>
                            <a:srgbClr val="FFFFFF"/>
                          </a:solidFill>
                          <a:latin typeface="Abadi"/>
                        </a:rPr>
                        <a:t>Crigler–Najjar I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6666">
                <a:tc>
                  <a:txBody>
                    <a:bodyPr/>
                    <a:lstStyle/>
                    <a:p>
                      <a:r>
                        <a:rPr sz="1200" b="1" dirty="0">
                          <a:solidFill>
                            <a:srgbClr val="1A1A1A"/>
                          </a:solidFill>
                          <a:latin typeface="Abadi"/>
                        </a:rPr>
                        <a:t>UGT1A1 activity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About 30% of normal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Reduced, inducible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Absent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6666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Abadi"/>
                        </a:rPr>
                        <a:t>Typical genotype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1A1A1A"/>
                          </a:solidFill>
                          <a:latin typeface="Abadi"/>
                        </a:rPr>
                        <a:t>Homozygous A(TA)7TAA promoter (*28), or *6 in East Asia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Promoter variant plus a missense allele; p.[G71R:Y486D] in Japan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Biallelic null, e.g. c.222C&gt;A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6666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Abadi"/>
                        </a:rPr>
                        <a:t>Serum bilirubin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1A1A1A"/>
                          </a:solidFill>
                          <a:latin typeface="Abadi"/>
                        </a:rPr>
                        <a:t>2.8 ± 1.1 mg/dL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12.9 ± 5.1 mg/dL (intermediate group 5.2 ± 2.2)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Rises 4.3 mg/dL per day from birth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6666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Abadi"/>
                        </a:rPr>
                        <a:t>Phenobarbital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Not needed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1A1A1A"/>
                          </a:solidFill>
                          <a:latin typeface="Abadi"/>
                        </a:rPr>
                        <a:t>Falls by &gt; 30% — the classic test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No response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16666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Abadi"/>
                        </a:rPr>
                        <a:t>Risk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None; drug handling only (irinotecan, atazanavir)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1A1A1A"/>
                          </a:solidFill>
                          <a:latin typeface="Abadi"/>
                        </a:rPr>
                        <a:t>Kernicterus during intercurrent illness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Kernicterus in the first weeks of life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16666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Abadi"/>
                        </a:rPr>
                        <a:t>Treatment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Reassure, and stop testing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1A1A1A"/>
                          </a:solidFill>
                          <a:latin typeface="Abadi"/>
                        </a:rPr>
                        <a:t>Phenobarbital, avoid fasting and displacing drugs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1A1A1A"/>
                          </a:solidFill>
                          <a:latin typeface="Abadi"/>
                        </a:rPr>
                        <a:t>Phototherapy from day 1; transplantation; gene therapy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548640" y="5900000"/>
            <a:ext cx="11094720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943360" y="5975000"/>
            <a:ext cx="70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975000"/>
            <a:ext cx="10294720" cy="3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000" b="0" i="1">
                <a:solidFill>
                  <a:srgbClr val="555555"/>
                </a:solidFill>
                <a:latin typeface="Abadi"/>
              </a:rPr>
              <a:t>Maruo Y, et al. J Gastroenterol Hepatol 2016;31:403–8 · Abuduxikuer K, et al. Medicine (Baltimore) 2018;97:e13576 · Strauss KA, et al. Hepatology 2020;71:1923–39 · Bosma PJ, et al. N Engl J Med 1995;333:1171–5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300000"/>
            <a:ext cx="640000" cy="352000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00000"/>
            <a:ext cx="640000" cy="35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8640" y="300000"/>
            <a:ext cx="10254720" cy="35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 i="0">
                <a:solidFill>
                  <a:srgbClr val="2E5A88"/>
                </a:solidFill>
                <a:latin typeface="Abadi"/>
              </a:rPr>
              <a:t>GILBERT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60000"/>
            <a:ext cx="11094720" cy="5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B355E"/>
                </a:solidFill>
                <a:latin typeface="Abadi"/>
              </a:rPr>
              <a:t>THE COMMONEST VARIANT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0000"/>
            <a:ext cx="11094720" cy="3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0" i="1">
                <a:solidFill>
                  <a:srgbClr val="555555"/>
                </a:solidFill>
                <a:latin typeface="Abadi"/>
              </a:rPr>
              <a:t>A polymorphism, not a disease — until a second insult is added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000"/>
            <a:ext cx="11094720" cy="254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1650800"/>
            <a:ext cx="11094720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48640" y="2150000"/>
            <a:ext cx="2567940" cy="190000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48640" y="2150000"/>
            <a:ext cx="2567940" cy="130000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88640" y="2470000"/>
            <a:ext cx="2287940" cy="7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300" b="1" i="0">
                <a:solidFill>
                  <a:srgbClr val="1B355E"/>
                </a:solidFill>
                <a:latin typeface="Abadi"/>
              </a:rPr>
              <a:t>40%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8640" y="3320000"/>
            <a:ext cx="2287940" cy="6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1A1A1A"/>
                </a:solidFill>
                <a:latin typeface="Abadi"/>
              </a:rPr>
              <a:t>Frequency of the A(TA)7TAA allele among healthy controls (Amsterdam)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90900" y="2150000"/>
            <a:ext cx="2567940" cy="190000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390900" y="2150000"/>
            <a:ext cx="2567940" cy="130000"/>
          </a:xfrm>
          <a:prstGeom prst="rect">
            <a:avLst/>
          </a:prstGeom>
          <a:solidFill>
            <a:srgbClr val="2E5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530900" y="2470000"/>
            <a:ext cx="2287940" cy="7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300" b="1" i="0">
                <a:solidFill>
                  <a:srgbClr val="1B355E"/>
                </a:solidFill>
                <a:latin typeface="Abadi"/>
              </a:rPr>
              <a:t>5–8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30900" y="3320000"/>
            <a:ext cx="2287940" cy="6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1A1A1A"/>
                </a:solidFill>
                <a:latin typeface="Abadi"/>
              </a:rPr>
              <a:t>TA repeats seen across ancestries; promoter activity falls as repeats rise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33160" y="2150000"/>
            <a:ext cx="2567940" cy="190000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233160" y="2150000"/>
            <a:ext cx="2567940" cy="130000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373160" y="2470000"/>
            <a:ext cx="2287940" cy="7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300" b="1" i="0">
                <a:solidFill>
                  <a:srgbClr val="1B355E"/>
                </a:solidFill>
                <a:latin typeface="Abadi"/>
              </a:rPr>
              <a:t>31.6%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73160" y="3320000"/>
            <a:ext cx="2287940" cy="6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1A1A1A"/>
                </a:solidFill>
                <a:latin typeface="Abadi"/>
              </a:rPr>
              <a:t>Hyperbilirubinaemia in G6PD-deficient neonates heterozygous for *28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75420" y="2150000"/>
            <a:ext cx="2567940" cy="190000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9075420" y="2150000"/>
            <a:ext cx="2567940" cy="130000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215420" y="2470000"/>
            <a:ext cx="2287940" cy="7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300" b="1" i="0">
                <a:solidFill>
                  <a:srgbClr val="1B355E"/>
                </a:solidFill>
                <a:latin typeface="Abadi"/>
              </a:rPr>
              <a:t>9.7%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15420" y="3320000"/>
            <a:ext cx="2287940" cy="6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1A1A1A"/>
                </a:solidFill>
                <a:latin typeface="Abadi"/>
              </a:rPr>
              <a:t>In G6PD-deficient neonates with the wild-type promoter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4380000"/>
            <a:ext cx="11094720" cy="9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Aft>
                <a:spcPts val="1102"/>
              </a:spcAft>
            </a:pPr>
            <a:r>
              <a:rPr sz="1250" b="0" i="0" dirty="0">
                <a:solidFill>
                  <a:srgbClr val="1A1A1A"/>
                </a:solidFill>
                <a:latin typeface="Abadi"/>
              </a:rPr>
              <a:t>Neither G6PD deficiency nor the variant promoter alone raised the rate of neonatal </a:t>
            </a:r>
            <a:r>
              <a:rPr sz="1250" b="0" i="0" dirty="0" err="1">
                <a:solidFill>
                  <a:srgbClr val="1A1A1A"/>
                </a:solidFill>
                <a:latin typeface="Abadi"/>
              </a:rPr>
              <a:t>hyperbilirubinaemia</a:t>
            </a:r>
            <a:r>
              <a:rPr sz="1250" b="0" i="0" dirty="0">
                <a:solidFill>
                  <a:srgbClr val="1A1A1A"/>
                </a:solidFill>
                <a:latin typeface="Abadi"/>
              </a:rPr>
              <a:t>; together they did (50% in variant homozygotes).</a:t>
            </a:r>
          </a:p>
          <a:p>
            <a:pPr>
              <a:lnSpc>
                <a:spcPct val="115000"/>
              </a:lnSpc>
              <a:spcAft>
                <a:spcPts val="1102"/>
              </a:spcAft>
            </a:pPr>
            <a:r>
              <a:rPr sz="1250" b="1" i="1" dirty="0">
                <a:solidFill>
                  <a:srgbClr val="1A1A1A"/>
                </a:solidFill>
                <a:latin typeface="Abadi"/>
              </a:rPr>
              <a:t>— In East Asian children the relevant allele is often *6 (p.G71R), which the TA-repeat assay will miss.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5900000"/>
            <a:ext cx="11094720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943360" y="5975000"/>
            <a:ext cx="70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12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5975000"/>
            <a:ext cx="10294720" cy="3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000" b="0" i="1">
                <a:solidFill>
                  <a:srgbClr val="555555"/>
                </a:solidFill>
                <a:latin typeface="Abadi"/>
              </a:rPr>
              <a:t>Bosma PJ, et al. N Engl J Med 1995;333:1171–5 · Beutler E, et al. Proc Natl Acad Sci USA 1998;95:8170–4 · Kaplan M, et al. Proc Natl Acad Sci USA 1997;94:12128–32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300000"/>
            <a:ext cx="640000" cy="352000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00000"/>
            <a:ext cx="640000" cy="35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8640" y="300000"/>
            <a:ext cx="10254720" cy="35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 i="0">
                <a:solidFill>
                  <a:srgbClr val="2E5A88"/>
                </a:solidFill>
                <a:latin typeface="Abadi"/>
              </a:rPr>
              <a:t>CRIGLER–NAJJAR 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60000"/>
            <a:ext cx="11094720" cy="5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B355E"/>
                </a:solidFill>
                <a:latin typeface="Abadi"/>
              </a:rPr>
              <a:t>WHAT UNTREATED LOOKS LIKE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0000"/>
            <a:ext cx="11094720" cy="3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0" i="1">
                <a:solidFill>
                  <a:srgbClr val="555555"/>
                </a:solidFill>
                <a:latin typeface="Abadi"/>
              </a:rPr>
              <a:t>28 UGT1A1 c.222C&gt;A homozygotes, 520 aggregate patient-years, Clinic for Special Children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000"/>
            <a:ext cx="11094720" cy="254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1650800"/>
            <a:ext cx="11094720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48640" y="2150000"/>
            <a:ext cx="2567940" cy="190000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48640" y="2150000"/>
            <a:ext cx="2567940" cy="130000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88640" y="2470000"/>
            <a:ext cx="2287940" cy="7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300" b="1" i="0">
                <a:solidFill>
                  <a:srgbClr val="1B355E"/>
                </a:solidFill>
                <a:latin typeface="Abadi"/>
              </a:rPr>
              <a:t>4.3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8640" y="3320000"/>
            <a:ext cx="2287940" cy="6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1A1A1A"/>
                </a:solidFill>
                <a:latin typeface="Abadi"/>
              </a:rPr>
              <a:t>Rise in total bilirubin, mg/dL per day, in phototherapy-naive newborns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90900" y="2150000"/>
            <a:ext cx="2567940" cy="190000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390900" y="2150000"/>
            <a:ext cx="2567940" cy="130000"/>
          </a:xfrm>
          <a:prstGeom prst="rect">
            <a:avLst/>
          </a:prstGeom>
          <a:solidFill>
            <a:srgbClr val="2E5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530900" y="2470000"/>
            <a:ext cx="2287940" cy="7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300" b="1" i="0">
                <a:solidFill>
                  <a:srgbClr val="1B355E"/>
                </a:solidFill>
                <a:latin typeface="Abadi"/>
              </a:rPr>
              <a:t>14%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30900" y="3320000"/>
            <a:ext cx="2287940" cy="6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1A1A1A"/>
                </a:solidFill>
                <a:latin typeface="Abadi"/>
              </a:rPr>
              <a:t>Developed kernicterus, between 14 and 45 days of age (4 of 28)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33160" y="2150000"/>
            <a:ext cx="2567940" cy="190000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233160" y="2150000"/>
            <a:ext cx="2567940" cy="130000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373160" y="2470000"/>
            <a:ext cx="2287940" cy="7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300" b="1" i="0">
                <a:solidFill>
                  <a:srgbClr val="1B355E"/>
                </a:solidFill>
                <a:latin typeface="Abadi"/>
              </a:rPr>
              <a:t>≥ 1.0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73160" y="3320000"/>
            <a:ext cx="2287940" cy="6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1A1A1A"/>
                </a:solidFill>
                <a:latin typeface="Abadi"/>
              </a:rPr>
              <a:t>Bilirubin : albumin molar ratio predicting brain injury (or total ≥ 30 mg/dL)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75420" y="2150000"/>
            <a:ext cx="2567940" cy="190000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9075420" y="2150000"/>
            <a:ext cx="2567940" cy="130000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215420" y="2470000"/>
            <a:ext cx="2287940" cy="7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300" b="1" i="0">
                <a:solidFill>
                  <a:srgbClr val="1B355E"/>
                </a:solidFill>
                <a:latin typeface="Abadi"/>
              </a:rPr>
              <a:t>3.5×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15420" y="3320000"/>
            <a:ext cx="2287940" cy="6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1A1A1A"/>
                </a:solidFill>
                <a:latin typeface="Abadi"/>
              </a:rPr>
              <a:t>Risk of brain injury if phototherapy starts after day 13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4380000"/>
            <a:ext cx="11094720" cy="9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Aft>
                <a:spcPts val="1102"/>
              </a:spcAft>
            </a:pPr>
            <a:r>
              <a:rPr sz="1250" b="0" i="0">
                <a:solidFill>
                  <a:srgbClr val="1A1A1A"/>
                </a:solidFill>
                <a:latin typeface="Abadi"/>
              </a:rPr>
              <a:t>Maintenance needed 9.2 ± 1.1 hours of phototherapy daily at 33–103 µW/cm² per nm; 17 of 28 were transplanted at a median age of 16.2 years.</a:t>
            </a:r>
          </a:p>
          <a:p>
            <a:pPr>
              <a:lnSpc>
                <a:spcPct val="115000"/>
              </a:lnSpc>
              <a:spcAft>
                <a:spcPts val="1102"/>
              </a:spcAft>
            </a:pPr>
            <a:r>
              <a:rPr sz="1250" b="1" i="1">
                <a:solidFill>
                  <a:srgbClr val="1A1A1A"/>
                </a:solidFill>
                <a:latin typeface="Abadi"/>
              </a:rPr>
              <a:t>— Bilirubin rose 0.46 mg/dL per year despite good light: adolescence, not infancy, is when phototherapy fails.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5900000"/>
            <a:ext cx="11094720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943360" y="5975000"/>
            <a:ext cx="70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13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5975000"/>
            <a:ext cx="10294720" cy="3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000" b="0" i="1">
                <a:solidFill>
                  <a:srgbClr val="555555"/>
                </a:solidFill>
                <a:latin typeface="Abadi"/>
              </a:rPr>
              <a:t>Strauss KA, et al. Hepatology 2020;71:1923–39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300000"/>
            <a:ext cx="640000" cy="352000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00000"/>
            <a:ext cx="640000" cy="35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8640" y="300000"/>
            <a:ext cx="10254720" cy="35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 i="0">
                <a:solidFill>
                  <a:srgbClr val="2E5A88"/>
                </a:solidFill>
                <a:latin typeface="Abadi"/>
              </a:rPr>
              <a:t>CRIGLER–NAJJAR 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60000"/>
            <a:ext cx="11094720" cy="5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B355E"/>
                </a:solidFill>
                <a:latin typeface="Abadi"/>
              </a:rPr>
              <a:t>GENE THERAPY, 2023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0000"/>
            <a:ext cx="11094720" cy="3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0" i="1">
                <a:solidFill>
                  <a:srgbClr val="555555"/>
                </a:solidFill>
                <a:latin typeface="Abadi"/>
              </a:rPr>
              <a:t>AAV8 vector encoding UGT1A1, dose-escalation portion; efficacy defined as bilirubin ≤ 300 µmol/L off light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000"/>
            <a:ext cx="11094720" cy="254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1650800"/>
            <a:ext cx="11094720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48640" y="2150000"/>
            <a:ext cx="2567940" cy="190000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48640" y="2150000"/>
            <a:ext cx="2567940" cy="130000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88640" y="2470000"/>
            <a:ext cx="2287940" cy="7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300" b="1" i="0">
                <a:solidFill>
                  <a:srgbClr val="1B355E"/>
                </a:solidFill>
                <a:latin typeface="Abadi"/>
              </a:rPr>
              <a:t>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8640" y="3320000"/>
            <a:ext cx="2287940" cy="6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1A1A1A"/>
                </a:solidFill>
                <a:latin typeface="Abadi"/>
              </a:rPr>
              <a:t>Patients given a single AAV8-UGT1A1 infusion (GNT0003), phase 1–2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90900" y="2150000"/>
            <a:ext cx="2567940" cy="190000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390900" y="2150000"/>
            <a:ext cx="2567940" cy="130000"/>
          </a:xfrm>
          <a:prstGeom prst="rect">
            <a:avLst/>
          </a:prstGeom>
          <a:solidFill>
            <a:srgbClr val="2E5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530900" y="2470000"/>
            <a:ext cx="2287940" cy="7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 i="0">
                <a:solidFill>
                  <a:srgbClr val="1B355E"/>
                </a:solidFill>
                <a:latin typeface="Abadi"/>
              </a:rPr>
              <a:t>351 → 149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30900" y="3320000"/>
            <a:ext cx="2287940" cy="6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1A1A1A"/>
                </a:solidFill>
                <a:latin typeface="Abadi"/>
              </a:rPr>
              <a:t>Mean bilirubin, µmol/L, at baseline and final follow-up, higher dose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33160" y="2150000"/>
            <a:ext cx="2567940" cy="190000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233160" y="2150000"/>
            <a:ext cx="2567940" cy="130000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373160" y="2470000"/>
            <a:ext cx="2287940" cy="7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300" b="1" i="0">
                <a:solidFill>
                  <a:srgbClr val="1B355E"/>
                </a:solidFill>
                <a:latin typeface="Abadi"/>
              </a:rPr>
              <a:t>≥ 78 wk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73160" y="3320000"/>
            <a:ext cx="2287940" cy="6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1A1A1A"/>
                </a:solidFill>
                <a:latin typeface="Abadi"/>
              </a:rPr>
              <a:t>Off phototherapy at last follow-up, higher-dose group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75420" y="2150000"/>
            <a:ext cx="2567940" cy="190000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9075420" y="2150000"/>
            <a:ext cx="2567940" cy="130000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215420" y="2470000"/>
            <a:ext cx="2287940" cy="7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300" b="1" i="0">
                <a:solidFill>
                  <a:srgbClr val="1B355E"/>
                </a:solidFill>
                <a:latin typeface="Abadi"/>
              </a:rPr>
              <a:t>4 of 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15420" y="3320000"/>
            <a:ext cx="2287940" cy="6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1A1A1A"/>
                </a:solidFill>
                <a:latin typeface="Abadi"/>
              </a:rPr>
              <a:t>Had an ALT rise treated with glucocorticoids; no serious adverse events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4380000"/>
            <a:ext cx="11094720" cy="9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Aft>
                <a:spcPts val="1102"/>
              </a:spcAft>
            </a:pPr>
            <a:r>
              <a:rPr sz="1250" b="0" i="0">
                <a:solidFill>
                  <a:srgbClr val="1A1A1A"/>
                </a:solidFill>
                <a:latin typeface="Abadi"/>
              </a:rPr>
              <a:t>The lower dose (2×10¹² vg/kg) failed by week 16; only 5×10¹² vg/kg worked. Liver growth dilutes a non-integrating transgene, so durability in infants is unresolved.</a:t>
            </a:r>
          </a:p>
          <a:p>
            <a:pPr>
              <a:lnSpc>
                <a:spcPct val="115000"/>
              </a:lnSpc>
              <a:spcAft>
                <a:spcPts val="1102"/>
              </a:spcAft>
            </a:pPr>
            <a:r>
              <a:rPr sz="1250" b="1" i="1">
                <a:solidFill>
                  <a:srgbClr val="1A1A1A"/>
                </a:solidFill>
                <a:latin typeface="Abadi"/>
              </a:rPr>
              <a:t>— Transplantation still cures; gene therapy is not yet an alternative for a newborn.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5900000"/>
            <a:ext cx="11094720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943360" y="5975000"/>
            <a:ext cx="70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15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5975000"/>
            <a:ext cx="10294720" cy="3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000" b="0" i="1">
                <a:solidFill>
                  <a:srgbClr val="555555"/>
                </a:solidFill>
                <a:latin typeface="Abadi"/>
              </a:rPr>
              <a:t>D'Antiga L, et al. N Engl J Med 2023;389:620–31 · Strauss KA, et al. Hepatology 2020;71:1923–39 · Aronson SJ, et al. Liver Int 2022;42:1593–604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300000"/>
            <a:ext cx="640000" cy="352000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00000"/>
            <a:ext cx="640000" cy="35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VI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8640" y="300000"/>
            <a:ext cx="10254720" cy="35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 i="0">
                <a:solidFill>
                  <a:srgbClr val="2E5A88"/>
                </a:solidFill>
                <a:latin typeface="Abadi"/>
              </a:rPr>
              <a:t>ISOLATED CONJUGATED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60000"/>
            <a:ext cx="11094720" cy="5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B355E"/>
                </a:solidFill>
                <a:latin typeface="Abadi"/>
              </a:rPr>
              <a:t>DUBIN–JOHNSON VS ROTOR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30000"/>
            <a:ext cx="11094720" cy="254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48640" y="1380800"/>
            <a:ext cx="11094720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6546357"/>
              </p:ext>
            </p:extLst>
          </p:nvPr>
        </p:nvGraphicFramePr>
        <p:xfrm>
          <a:off x="548640" y="1500000"/>
          <a:ext cx="11094720" cy="438999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5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44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0000">
                <a:tc>
                  <a:txBody>
                    <a:bodyPr/>
                    <a:lstStyle/>
                    <a:p>
                      <a:endParaRPr sz="2000" dirty="0"/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dirty="0">
                          <a:solidFill>
                            <a:srgbClr val="FFFFFF"/>
                          </a:solidFill>
                          <a:latin typeface="Abadi"/>
                        </a:rPr>
                        <a:t>Dubin–Johnson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dirty="0">
                          <a:solidFill>
                            <a:srgbClr val="FFFFFF"/>
                          </a:solidFill>
                          <a:latin typeface="Abadi"/>
                        </a:rPr>
                        <a:t>Rotor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dirty="0">
                          <a:solidFill>
                            <a:srgbClr val="FFFFFF"/>
                          </a:solidFill>
                          <a:latin typeface="Abadi"/>
                        </a:rPr>
                        <a:t>Verdict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7142">
                <a:tc>
                  <a:txBody>
                    <a:bodyPr/>
                    <a:lstStyle/>
                    <a:p>
                      <a:r>
                        <a:rPr sz="1200" b="1" dirty="0">
                          <a:solidFill>
                            <a:srgbClr val="1A1A1A"/>
                          </a:solidFill>
                          <a:latin typeface="Abadi"/>
                        </a:rPr>
                        <a:t>Gene and protein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1A1A1A"/>
                          </a:solidFill>
                          <a:latin typeface="Abadi"/>
                        </a:rPr>
                        <a:t>ABCC2 — canalicular MRP2</a:t>
                      </a:r>
                    </a:p>
                  </a:txBody>
                  <a:tcPr marL="73152" marR="73152" marT="27432" marB="27432" anchor="ctr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SLCO1B1 and SLCO1B3 — sinusoidal OATP1B1/1B3</a:t>
                      </a:r>
                    </a:p>
                  </a:txBody>
                  <a:tcPr marL="73152" marR="73152" marT="27432" marB="27432" anchor="ctr">
                    <a:solidFill>
                      <a:srgbClr val="CDE7C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A1A1A"/>
                          </a:solidFill>
                          <a:latin typeface="Abadi"/>
                        </a:rPr>
                        <a:t>DIFFERS</a:t>
                      </a:r>
                    </a:p>
                  </a:txBody>
                  <a:tcPr marL="73152" marR="73152" marT="27432" marB="27432" anchor="ctr">
                    <a:solidFill>
                      <a:srgbClr val="F2C40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714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Abadi"/>
                        </a:rPr>
                        <a:t>Defect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1A1A1A"/>
                          </a:solidFill>
                          <a:latin typeface="Abadi"/>
                        </a:rPr>
                        <a:t>Conjugate cannot leave the hepatocyte into bile</a:t>
                      </a:r>
                    </a:p>
                  </a:txBody>
                  <a:tcPr marL="73152" marR="73152" marT="27432" marB="27432" anchor="ctr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Conjugate re-enters blood via MRP3 and is not taken back up</a:t>
                      </a:r>
                    </a:p>
                  </a:txBody>
                  <a:tcPr marL="73152" marR="73152" marT="27432" marB="27432" anchor="ctr">
                    <a:solidFill>
                      <a:srgbClr val="CDE7C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A1A1A"/>
                          </a:solidFill>
                          <a:latin typeface="Abadi"/>
                        </a:rPr>
                        <a:t>DIFFERS</a:t>
                      </a:r>
                    </a:p>
                  </a:txBody>
                  <a:tcPr marL="73152" marR="73152" marT="27432" marB="27432" anchor="ctr">
                    <a:solidFill>
                      <a:srgbClr val="F2C40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714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Abadi"/>
                        </a:rPr>
                        <a:t>Liver appearance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Black liver; coarse lysosomal pigment</a:t>
                      </a:r>
                    </a:p>
                  </a:txBody>
                  <a:tcPr marL="73152" marR="73152" marT="27432" marB="27432" anchor="ctr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1A1A1A"/>
                          </a:solidFill>
                          <a:latin typeface="Abadi"/>
                        </a:rPr>
                        <a:t>Normal, no pigment</a:t>
                      </a:r>
                    </a:p>
                  </a:txBody>
                  <a:tcPr marL="73152" marR="73152" marT="27432" marB="27432" anchor="ctr">
                    <a:solidFill>
                      <a:srgbClr val="CDE7C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A1A1A"/>
                          </a:solidFill>
                          <a:latin typeface="Abadi"/>
                        </a:rPr>
                        <a:t>DIFFERS</a:t>
                      </a:r>
                    </a:p>
                  </a:txBody>
                  <a:tcPr marL="73152" marR="73152" marT="27432" marB="27432" anchor="ctr">
                    <a:solidFill>
                      <a:srgbClr val="F2C40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714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Abadi"/>
                        </a:rPr>
                        <a:t>Urinary coproporphyrin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Total normal, isomer I &gt; 80%</a:t>
                      </a:r>
                    </a:p>
                  </a:txBody>
                  <a:tcPr marL="73152" marR="73152" marT="27432" marB="27432" anchor="ctr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1A1A1A"/>
                          </a:solidFill>
                          <a:latin typeface="Abadi"/>
                        </a:rPr>
                        <a:t>Total raised 2–5 fold, isomer I about 65%</a:t>
                      </a:r>
                    </a:p>
                  </a:txBody>
                  <a:tcPr marL="73152" marR="73152" marT="27432" marB="27432" anchor="ctr">
                    <a:solidFill>
                      <a:srgbClr val="CDE7C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badi"/>
                        </a:rPr>
                        <a:t>MATERIAL</a:t>
                      </a:r>
                    </a:p>
                  </a:txBody>
                  <a:tcPr marL="73152" marR="73152" marT="27432" marB="27432" anchor="ctr">
                    <a:solidFill>
                      <a:srgbClr val="D97A0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714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Abadi"/>
                        </a:rPr>
                        <a:t>Liver enzymes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Normal ALT in 92% of neonatal cases</a:t>
                      </a:r>
                    </a:p>
                  </a:txBody>
                  <a:tcPr marL="73152" marR="73152" marT="27432" marB="27432" anchor="ctr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1A1A1A"/>
                          </a:solidFill>
                          <a:latin typeface="Abadi"/>
                        </a:rPr>
                        <a:t>Normal</a:t>
                      </a:r>
                    </a:p>
                  </a:txBody>
                  <a:tcPr marL="73152" marR="73152" marT="27432" marB="27432" anchor="ctr">
                    <a:solidFill>
                      <a:srgbClr val="CDE7C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badi"/>
                        </a:rPr>
                        <a:t>ALIGNED</a:t>
                      </a:r>
                    </a:p>
                  </a:txBody>
                  <a:tcPr marL="73152" marR="73152" marT="27432" marB="27432" anchor="ctr">
                    <a:solidFill>
                      <a:srgbClr val="1E7A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714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Abadi"/>
                        </a:rPr>
                        <a:t>Prognosis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Benign, non-progressive</a:t>
                      </a:r>
                    </a:p>
                  </a:txBody>
                  <a:tcPr marL="73152" marR="73152" marT="27432" marB="27432" anchor="ctr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1A1A1A"/>
                          </a:solidFill>
                          <a:latin typeface="Abadi"/>
                        </a:rPr>
                        <a:t>Benign, non-progressive</a:t>
                      </a:r>
                    </a:p>
                  </a:txBody>
                  <a:tcPr marL="73152" marR="73152" marT="27432" marB="27432" anchor="ctr">
                    <a:solidFill>
                      <a:srgbClr val="CDE7C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badi"/>
                        </a:rPr>
                        <a:t>ALIGNED</a:t>
                      </a:r>
                    </a:p>
                  </a:txBody>
                  <a:tcPr marL="73152" marR="73152" marT="27432" marB="27432" anchor="ctr">
                    <a:solidFill>
                      <a:srgbClr val="1E7A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6714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Abadi"/>
                        </a:rPr>
                        <a:t>What it changes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Avoid biopsy and cholangiography</a:t>
                      </a:r>
                    </a:p>
                  </a:txBody>
                  <a:tcPr marL="73152" marR="73152" marT="27432" marB="27432" anchor="ctr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Altered handling of statins, methotrexate, many conjugates</a:t>
                      </a:r>
                    </a:p>
                  </a:txBody>
                  <a:tcPr marL="73152" marR="73152" marT="27432" marB="27432" anchor="ctr">
                    <a:solidFill>
                      <a:srgbClr val="CDE7C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FFFFFF"/>
                          </a:solidFill>
                          <a:latin typeface="Abadi"/>
                        </a:rPr>
                        <a:t>PAEDS ADDS</a:t>
                      </a:r>
                    </a:p>
                  </a:txBody>
                  <a:tcPr marL="73152" marR="73152" marT="27432" marB="27432" anchor="ctr">
                    <a:solidFill>
                      <a:srgbClr val="2E5A8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548640" y="5900000"/>
            <a:ext cx="11094720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943360" y="5975000"/>
            <a:ext cx="70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16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5000"/>
            <a:ext cx="10294720" cy="3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000" b="0" i="1">
                <a:solidFill>
                  <a:srgbClr val="555555"/>
                </a:solidFill>
                <a:latin typeface="Abadi"/>
              </a:rPr>
              <a:t>Thakkar B, Wu GY. J Clin Transl Hepatol 2026;14:565–72 · van de Steeg E, et al. J Clin Invest 2012;122:519–28 · Al-Hussaini A, et al. Saudi J Gastroenterol 2023;29:183–90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300000"/>
            <a:ext cx="640000" cy="352000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00000"/>
            <a:ext cx="640000" cy="35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VI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8640" y="300000"/>
            <a:ext cx="10254720" cy="35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 i="0">
                <a:solidFill>
                  <a:srgbClr val="2E5A88"/>
                </a:solidFill>
                <a:latin typeface="Abadi"/>
              </a:rPr>
              <a:t>ISOLATED CONJUGATED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60000"/>
            <a:ext cx="11094720" cy="5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B355E"/>
                </a:solidFill>
                <a:latin typeface="Abadi"/>
              </a:rPr>
              <a:t>DUBIN–JOHNSON AS A NEONATE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0000"/>
            <a:ext cx="11094720" cy="3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0" i="1">
                <a:solidFill>
                  <a:srgbClr val="555555"/>
                </a:solidFill>
                <a:latin typeface="Abadi"/>
              </a:rPr>
              <a:t>The cholestatic infant whose transaminases and GGT stay normal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000"/>
            <a:ext cx="11094720" cy="254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1650800"/>
            <a:ext cx="11094720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48640" y="2150000"/>
            <a:ext cx="2567940" cy="190000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48640" y="2150000"/>
            <a:ext cx="2567940" cy="130000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88640" y="2470000"/>
            <a:ext cx="2287940" cy="7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300" b="1" i="0">
                <a:solidFill>
                  <a:srgbClr val="1B355E"/>
                </a:solidFill>
                <a:latin typeface="Abadi"/>
              </a:rPr>
              <a:t>28 / 533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8640" y="3320000"/>
            <a:ext cx="2287940" cy="6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1A1A1A"/>
                </a:solidFill>
                <a:latin typeface="Abadi"/>
              </a:rPr>
              <a:t>Cases of neonatal cholestasis with a disease-causing ABCC2 variant, Riyadh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90900" y="2150000"/>
            <a:ext cx="2567940" cy="190000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390900" y="2150000"/>
            <a:ext cx="2567940" cy="130000"/>
          </a:xfrm>
          <a:prstGeom prst="rect">
            <a:avLst/>
          </a:prstGeom>
          <a:solidFill>
            <a:srgbClr val="2E5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530900" y="2470000"/>
            <a:ext cx="2287940" cy="7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300" b="1" i="0">
                <a:solidFill>
                  <a:srgbClr val="1B355E"/>
                </a:solidFill>
                <a:latin typeface="Abadi"/>
              </a:rPr>
              <a:t>92%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30900" y="3320000"/>
            <a:ext cx="2287940" cy="6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1A1A1A"/>
                </a:solidFill>
                <a:latin typeface="Abadi"/>
              </a:rPr>
              <a:t>Had a normal ALT; normal ALT predicted DJS with 93% sensitivity, NPV 99.5%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33160" y="2150000"/>
            <a:ext cx="2567940" cy="190000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233160" y="2150000"/>
            <a:ext cx="2567940" cy="130000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373160" y="2470000"/>
            <a:ext cx="2287940" cy="7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300" b="1" i="0">
                <a:solidFill>
                  <a:srgbClr val="1B355E"/>
                </a:solidFill>
                <a:latin typeface="Abadi"/>
              </a:rPr>
              <a:t>&gt; 80%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73160" y="3320000"/>
            <a:ext cx="2287940" cy="6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1A1A1A"/>
                </a:solidFill>
                <a:latin typeface="Abadi"/>
              </a:rPr>
              <a:t>Urinary coproporphyrin I fraction: sensitivity and specificity 100%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75420" y="2150000"/>
            <a:ext cx="2567940" cy="190000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9075420" y="2150000"/>
            <a:ext cx="2567940" cy="130000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215420" y="2470000"/>
            <a:ext cx="2287940" cy="7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300" b="1" i="0">
                <a:solidFill>
                  <a:srgbClr val="1B355E"/>
                </a:solidFill>
                <a:latin typeface="Abadi"/>
              </a:rPr>
              <a:t>88 vs 67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15420" y="3320000"/>
            <a:ext cx="2287940" cy="6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1A1A1A"/>
                </a:solidFill>
                <a:latin typeface="Abadi"/>
              </a:rPr>
              <a:t>Median coproporphyrin I %, DJS vs other neonatal cholestasis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4380000"/>
            <a:ext cx="11094720" cy="9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Aft>
                <a:spcPts val="1102"/>
              </a:spcAft>
            </a:pPr>
            <a:r>
              <a:rPr sz="1250" b="0" i="0">
                <a:solidFill>
                  <a:srgbClr val="1A1A1A"/>
                </a:solidFill>
                <a:latin typeface="Abadi"/>
              </a:rPr>
              <a:t>In Hannover, DJS infants had significantly lower AST, ALT and GGT than biliary atresia infants, but stool colour, bile acids and total bilirubin did not separate them.</a:t>
            </a:r>
          </a:p>
          <a:p>
            <a:pPr>
              <a:lnSpc>
                <a:spcPct val="115000"/>
              </a:lnSpc>
              <a:spcAft>
                <a:spcPts val="1102"/>
              </a:spcAft>
            </a:pPr>
            <a:r>
              <a:rPr sz="1250" b="1" i="1">
                <a:solidFill>
                  <a:srgbClr val="1A1A1A"/>
                </a:solidFill>
                <a:latin typeface="Abadi"/>
              </a:rPr>
              <a:t>— Cholestasis with normal enzymes: send urinary coproporphyrins before the biopsy.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5900000"/>
            <a:ext cx="11094720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943360" y="5975000"/>
            <a:ext cx="70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17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5975000"/>
            <a:ext cx="10294720" cy="3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000" b="0" i="1">
                <a:solidFill>
                  <a:srgbClr val="555555"/>
                </a:solidFill>
                <a:latin typeface="Abadi"/>
              </a:rPr>
              <a:t>Al-Hussaini A, et al. Saudi J Gastroenterol 2023;29:183–90 · Junge N, et al. J Pediatr Gastroenterol Nutr 2021;72:e105–11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300000"/>
            <a:ext cx="640000" cy="352000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00000"/>
            <a:ext cx="640000" cy="35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VI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8640" y="300000"/>
            <a:ext cx="10254720" cy="35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 i="0">
                <a:solidFill>
                  <a:srgbClr val="2E5A88"/>
                </a:solidFill>
                <a:latin typeface="Abadi"/>
              </a:rPr>
              <a:t>PEARLS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60000"/>
            <a:ext cx="11094720" cy="5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B355E"/>
                </a:solidFill>
                <a:latin typeface="Abadi"/>
              </a:rPr>
              <a:t>WHAT THE EXPERT SEES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0000"/>
            <a:ext cx="11094720" cy="3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0" i="1">
                <a:solidFill>
                  <a:srgbClr val="555555"/>
                </a:solidFill>
                <a:latin typeface="Abadi"/>
              </a:rPr>
              <a:t>Four readings that separate the consultant from the report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000"/>
            <a:ext cx="11094720" cy="254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1650800"/>
            <a:ext cx="11094720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48640" y="1770000"/>
            <a:ext cx="2567940" cy="3100000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48640" y="1770000"/>
            <a:ext cx="2567940" cy="130000"/>
          </a:xfrm>
          <a:prstGeom prst="rect">
            <a:avLst/>
          </a:prstGeom>
          <a:solidFill>
            <a:srgbClr val="2E5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68640" y="2070000"/>
            <a:ext cx="2127940" cy="3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600" b="1" i="0">
                <a:solidFill>
                  <a:srgbClr val="1A1A1A"/>
                </a:solidFill>
                <a:latin typeface="Abadi"/>
              </a:rPr>
              <a:t>Delta bilirubin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640" y="2590000"/>
            <a:ext cx="2127940" cy="21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Jaundice outlasts the disease: albumin's 3-week half-life.</a:t>
            </a:r>
          </a:p>
          <a:p>
            <a:pPr>
              <a:spcAft>
                <a:spcPts val="10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The child looks worse than the liver is.</a:t>
            </a:r>
          </a:p>
          <a:p>
            <a:pPr>
              <a:spcAft>
                <a:spcPts val="10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Bilirubin has already gone from the urine.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90900" y="1770000"/>
            <a:ext cx="2567940" cy="3100000"/>
          </a:xfrm>
          <a:prstGeom prst="rect">
            <a:avLst/>
          </a:prstGeom>
          <a:solidFill>
            <a:srgbClr val="CDE7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390900" y="1770000"/>
            <a:ext cx="2567940" cy="130000"/>
          </a:xfrm>
          <a:prstGeom prst="rect">
            <a:avLst/>
          </a:prstGeom>
          <a:solidFill>
            <a:srgbClr val="1E7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610900" y="2070000"/>
            <a:ext cx="2127940" cy="3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600" b="1" i="0">
                <a:solidFill>
                  <a:srgbClr val="1A1A1A"/>
                </a:solidFill>
                <a:latin typeface="Abadi"/>
              </a:rPr>
              <a:t>Haemolysed sample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10900" y="2590000"/>
            <a:ext cx="2127940" cy="21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Haemolysis lowers the measured direct bilirubin.</a:t>
            </a:r>
          </a:p>
          <a:p>
            <a:pPr>
              <a:spcAft>
                <a:spcPts val="10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A haemolysed specimen can hide cholestasis.</a:t>
            </a:r>
          </a:p>
          <a:p>
            <a:pPr>
              <a:spcAft>
                <a:spcPts val="10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Redraw rather than reassure.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33160" y="1770000"/>
            <a:ext cx="2567940" cy="3100000"/>
          </a:xfrm>
          <a:prstGeom prst="rect">
            <a:avLst/>
          </a:prstGeom>
          <a:solidFill>
            <a:srgbClr val="FBEF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233160" y="1770000"/>
            <a:ext cx="2567940" cy="130000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53160" y="2070000"/>
            <a:ext cx="2127940" cy="3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600" b="1" i="0">
                <a:solidFill>
                  <a:srgbClr val="1A1A1A"/>
                </a:solidFill>
                <a:latin typeface="Abadi"/>
              </a:rPr>
              <a:t>Fasting and illness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53160" y="2590000"/>
            <a:ext cx="2127940" cy="21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Gilbert bilirubin doubles with fasting, fever or exercise.</a:t>
            </a:r>
          </a:p>
          <a:p>
            <a:pPr>
              <a:spcAft>
                <a:spcPts val="10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So does a post-operative or ICU bilirubin.</a:t>
            </a:r>
          </a:p>
          <a:p>
            <a:pPr>
              <a:spcAft>
                <a:spcPts val="10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Repeat when well before labelling anything.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75420" y="1770000"/>
            <a:ext cx="2567940" cy="3100000"/>
          </a:xfrm>
          <a:prstGeom prst="rect">
            <a:avLst/>
          </a:prstGeom>
          <a:solidFill>
            <a:srgbClr val="F6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9075420" y="1770000"/>
            <a:ext cx="2567940" cy="130000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295420" y="2070000"/>
            <a:ext cx="2127940" cy="3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600" b="1" i="0">
                <a:solidFill>
                  <a:srgbClr val="1A1A1A"/>
                </a:solidFill>
                <a:latin typeface="Abadi"/>
              </a:rPr>
              <a:t>Pharmacogenetics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95420" y="2590000"/>
            <a:ext cx="2127940" cy="21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UGT1A1 *28/*28: reduce the irinotecan starting dose.</a:t>
            </a:r>
          </a:p>
          <a:p>
            <a:pPr>
              <a:spcAft>
                <a:spcPts val="10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Atazanavir causes visible jaundice in the same children.</a:t>
            </a:r>
          </a:p>
          <a:p>
            <a:pPr>
              <a:spcAft>
                <a:spcPts val="10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Rotor variants alter statin and methotrexate exposure.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5070000"/>
            <a:ext cx="11094720" cy="5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50" b="1" i="1">
                <a:solidFill>
                  <a:srgbClr val="1A1A1A"/>
                </a:solidFill>
                <a:latin typeface="Abadi"/>
              </a:rPr>
              <a:t>Fraction first, then magnitude, then trajectory — and always with the albumin beside it.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5900000"/>
            <a:ext cx="11094720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943360" y="5975000"/>
            <a:ext cx="70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18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5975000"/>
            <a:ext cx="10294720" cy="3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000" b="0" i="1">
                <a:solidFill>
                  <a:srgbClr val="555555"/>
                </a:solidFill>
                <a:latin typeface="Abadi"/>
              </a:rPr>
              <a:t>Bosma PJ, et al. N Engl J Med 1995;333:1171–5 · Greene DN, et al. Clin Chim Acta 2014;429:194–7 · Weiss JS, et al. N Engl J Med 1983;309:147–50 · van de Steeg E, et al. J Clin Invest 2012;122:519–28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300000"/>
            <a:ext cx="640000" cy="352000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00000"/>
            <a:ext cx="640000" cy="35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VI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8640" y="300000"/>
            <a:ext cx="10254720" cy="35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 i="0">
                <a:solidFill>
                  <a:srgbClr val="2E5A88"/>
                </a:solidFill>
                <a:latin typeface="Abadi"/>
              </a:rPr>
              <a:t>SYNTHESIS — FIVE DOCUMENTS, ONE FRACTION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6101110"/>
              </p:ext>
            </p:extLst>
          </p:nvPr>
        </p:nvGraphicFramePr>
        <p:xfrm>
          <a:off x="548640" y="930000"/>
          <a:ext cx="11094720" cy="496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0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947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20000">
                <a:tc>
                  <a:txBody>
                    <a:bodyPr/>
                    <a:lstStyle/>
                    <a:p>
                      <a:endParaRPr sz="1400" dirty="0"/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dirty="0">
                          <a:solidFill>
                            <a:srgbClr val="FFFFFF"/>
                          </a:solidFill>
                          <a:latin typeface="Abadi"/>
                        </a:rPr>
                        <a:t>NASPGHAN/ESPGHAN 2017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dirty="0">
                          <a:solidFill>
                            <a:srgbClr val="FFFFFF"/>
                          </a:solidFill>
                          <a:latin typeface="Abadi"/>
                        </a:rPr>
                        <a:t>AAP 2022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dirty="0">
                          <a:solidFill>
                            <a:srgbClr val="FFFFFF"/>
                          </a:solidFill>
                          <a:latin typeface="Abadi"/>
                        </a:rPr>
                        <a:t>NICE · SIGENP · FISPGHAN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dirty="0">
                          <a:solidFill>
                            <a:srgbClr val="FFFFFF"/>
                          </a:solidFill>
                          <a:latin typeface="Abadi"/>
                        </a:rPr>
                        <a:t>Verdict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7500">
                <a:tc>
                  <a:txBody>
                    <a:bodyPr/>
                    <a:lstStyle/>
                    <a:p>
                      <a:r>
                        <a:rPr sz="1200" b="1" dirty="0">
                          <a:solidFill>
                            <a:srgbClr val="1A1A1A"/>
                          </a:solidFill>
                          <a:latin typeface="Abadi"/>
                        </a:rPr>
                        <a:t>Which fraction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Direct</a:t>
                      </a:r>
                    </a:p>
                  </a:txBody>
                  <a:tcPr marL="73152" marR="73152" marT="27432" marB="27432" anchor="ctr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1A1A1A"/>
                          </a:solidFill>
                          <a:latin typeface="Abadi"/>
                        </a:rPr>
                        <a:t>Total plus direct or conjugated</a:t>
                      </a:r>
                    </a:p>
                  </a:txBody>
                  <a:tcPr marL="73152" marR="73152" marT="27432" marB="27432" anchor="ctr">
                    <a:solidFill>
                      <a:srgbClr val="CDE7C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1A1A1A"/>
                          </a:solidFill>
                          <a:latin typeface="Abadi"/>
                        </a:rPr>
                        <a:t>Conjugated (NICE, SIGENP)</a:t>
                      </a:r>
                    </a:p>
                  </a:txBody>
                  <a:tcPr marL="73152" marR="73152" marT="27432" marB="27432" anchor="ctr">
                    <a:solidFill>
                      <a:srgbClr val="FBEFB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A1A1A"/>
                          </a:solidFill>
                          <a:latin typeface="Abadi"/>
                        </a:rPr>
                        <a:t>DIFFERS</a:t>
                      </a:r>
                    </a:p>
                  </a:txBody>
                  <a:tcPr marL="73152" marR="73152" marT="27432" marB="27432" anchor="ctr">
                    <a:solidFill>
                      <a:srgbClr val="F2C40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75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Abadi"/>
                        </a:rPr>
                        <a:t>Abnormal above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1A1A1A"/>
                          </a:solidFill>
                          <a:latin typeface="Abadi"/>
                        </a:rPr>
                        <a:t>1.0 mg/dL</a:t>
                      </a:r>
                    </a:p>
                  </a:txBody>
                  <a:tcPr marL="73152" marR="73152" marT="27432" marB="27432" anchor="ctr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Direct 1.0 · conjugated 0.3</a:t>
                      </a:r>
                    </a:p>
                  </a:txBody>
                  <a:tcPr marL="73152" marR="73152" marT="27432" marB="27432" anchor="ctr">
                    <a:solidFill>
                      <a:srgbClr val="CDE7C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25 µmol/L · 1.0 mg/dL · 1.0 mg/dL</a:t>
                      </a:r>
                    </a:p>
                  </a:txBody>
                  <a:tcPr marL="73152" marR="73152" marT="27432" marB="27432" anchor="ctr">
                    <a:solidFill>
                      <a:srgbClr val="FBEFB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badi"/>
                        </a:rPr>
                        <a:t>MATERIAL</a:t>
                      </a:r>
                    </a:p>
                  </a:txBody>
                  <a:tcPr marL="73152" marR="73152" marT="27432" marB="27432" anchor="ctr">
                    <a:solidFill>
                      <a:srgbClr val="D97A0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75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Abadi"/>
                        </a:rPr>
                        <a:t>Age to test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1A1A1A"/>
                          </a:solidFill>
                          <a:latin typeface="Abadi"/>
                        </a:rPr>
                        <a:t>Jaundiced after 2 weeks</a:t>
                      </a:r>
                    </a:p>
                  </a:txBody>
                  <a:tcPr marL="73152" marR="73152" marT="27432" marB="27432" anchor="ctr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Breastfed 3–4 weeks · formula-fed 2 weeks</a:t>
                      </a:r>
                    </a:p>
                  </a:txBody>
                  <a:tcPr marL="73152" marR="73152" marT="27432" marB="27432" anchor="ctr">
                    <a:solidFill>
                      <a:srgbClr val="CDE7C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&gt; 14 d term, &gt; 21 d preterm (NICE)</a:t>
                      </a:r>
                    </a:p>
                  </a:txBody>
                  <a:tcPr marL="73152" marR="73152" marT="27432" marB="27432" anchor="ctr">
                    <a:solidFill>
                      <a:srgbClr val="FBEFB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badi"/>
                        </a:rPr>
                        <a:t>CONTRADICT</a:t>
                      </a:r>
                    </a:p>
                  </a:txBody>
                  <a:tcPr marL="73152" marR="73152" marT="27432" marB="27432" anchor="ctr">
                    <a:solidFill>
                      <a:srgbClr val="B222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75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Abadi"/>
                        </a:rPr>
                        <a:t>The 20% rule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1A1A1A"/>
                          </a:solidFill>
                          <a:latin typeface="Abadi"/>
                        </a:rPr>
                        <a:t>Abandoned</a:t>
                      </a:r>
                    </a:p>
                  </a:txBody>
                  <a:tcPr marL="73152" marR="73152" marT="27432" marB="27432" anchor="ctr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1A1A1A"/>
                          </a:solidFill>
                          <a:latin typeface="Abadi"/>
                        </a:rPr>
                        <a:t>Not used</a:t>
                      </a:r>
                    </a:p>
                  </a:txBody>
                  <a:tcPr marL="73152" marR="73152" marT="27432" marB="27432" anchor="ctr">
                    <a:solidFill>
                      <a:srgbClr val="CDE7C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Second rule above a total of 5 (SIGENP)</a:t>
                      </a:r>
                    </a:p>
                  </a:txBody>
                  <a:tcPr marL="73152" marR="73152" marT="27432" marB="27432" anchor="ctr">
                    <a:solidFill>
                      <a:srgbClr val="FBEFB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A1A1A"/>
                          </a:solidFill>
                          <a:latin typeface="Abadi"/>
                        </a:rPr>
                        <a:t>DIFFERS</a:t>
                      </a:r>
                    </a:p>
                  </a:txBody>
                  <a:tcPr marL="73152" marR="73152" marT="27432" marB="27432" anchor="ctr">
                    <a:solidFill>
                      <a:srgbClr val="F2C40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75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Abadi"/>
                        </a:rPr>
                        <a:t>Newborn screening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Not recommended</a:t>
                      </a:r>
                    </a:p>
                  </a:txBody>
                  <a:tcPr marL="73152" marR="73152" marT="27432" marB="27432" anchor="ctr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1A1A1A"/>
                          </a:solidFill>
                          <a:latin typeface="Abadi"/>
                        </a:rPr>
                        <a:t>Not addressed</a:t>
                      </a:r>
                    </a:p>
                  </a:txBody>
                  <a:tcPr marL="73152" marR="73152" marT="27432" marB="27432" anchor="ctr">
                    <a:solidFill>
                      <a:srgbClr val="CDE7C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1A1A1A"/>
                          </a:solidFill>
                          <a:latin typeface="Abadi"/>
                        </a:rPr>
                        <a:t>Endorsed: stool card or bilirubin (FISPGHAN)</a:t>
                      </a:r>
                    </a:p>
                  </a:txBody>
                  <a:tcPr marL="73152" marR="73152" marT="27432" marB="27432" anchor="ctr">
                    <a:solidFill>
                      <a:srgbClr val="FBEFB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badi"/>
                        </a:rPr>
                        <a:t>MATERIAL</a:t>
                      </a:r>
                    </a:p>
                  </a:txBody>
                  <a:tcPr marL="73152" marR="73152" marT="27432" marB="27432" anchor="ctr">
                    <a:solidFill>
                      <a:srgbClr val="D97A0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75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Abadi"/>
                        </a:rPr>
                        <a:t>Repeat testing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Refer, do not simply repeat</a:t>
                      </a:r>
                    </a:p>
                  </a:txBody>
                  <a:tcPr marL="73152" marR="73152" marT="27432" marB="27432" anchor="ctr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1A1A1A"/>
                          </a:solidFill>
                          <a:latin typeface="Abadi"/>
                        </a:rPr>
                        <a:t>Repeat within days to 2 weeks raises PPV</a:t>
                      </a:r>
                    </a:p>
                  </a:txBody>
                  <a:tcPr marL="73152" marR="73152" marT="27432" marB="27432" anchor="ctr">
                    <a:solidFill>
                      <a:srgbClr val="CDE7C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1A1A1A"/>
                          </a:solidFill>
                          <a:latin typeface="Abadi"/>
                        </a:rPr>
                        <a:t>Stage 2 by the 2-week visit</a:t>
                      </a:r>
                    </a:p>
                  </a:txBody>
                  <a:tcPr marL="73152" marR="73152" marT="27432" marB="27432" anchor="ctr">
                    <a:solidFill>
                      <a:srgbClr val="FBEFB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badi"/>
                        </a:rPr>
                        <a:t>ALIGNED</a:t>
                      </a:r>
                    </a:p>
                  </a:txBody>
                  <a:tcPr marL="73152" marR="73152" marT="27432" marB="27432" anchor="ctr">
                    <a:solidFill>
                      <a:srgbClr val="1E7A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675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Abadi"/>
                        </a:rPr>
                        <a:t>Who to refer to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Paediatric hepatology, timely</a:t>
                      </a:r>
                    </a:p>
                  </a:txBody>
                  <a:tcPr marL="73152" marR="73152" marT="27432" marB="27432" anchor="ctr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1A1A1A"/>
                          </a:solidFill>
                          <a:latin typeface="Abadi"/>
                        </a:rPr>
                        <a:t>Gastroenterology or other expert</a:t>
                      </a:r>
                    </a:p>
                  </a:txBody>
                  <a:tcPr marL="73152" marR="73152" marT="27432" marB="27432" anchor="ctr">
                    <a:solidFill>
                      <a:srgbClr val="CDE7C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1A1A1A"/>
                          </a:solidFill>
                          <a:latin typeface="Abadi"/>
                        </a:rPr>
                        <a:t>Expert investigation (NICE)</a:t>
                      </a:r>
                    </a:p>
                  </a:txBody>
                  <a:tcPr marL="73152" marR="73152" marT="27432" marB="27432" anchor="ctr">
                    <a:solidFill>
                      <a:srgbClr val="FBEFB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FFFFFF"/>
                          </a:solidFill>
                          <a:latin typeface="Abadi"/>
                        </a:rPr>
                        <a:t>ALIGNED</a:t>
                      </a:r>
                    </a:p>
                  </a:txBody>
                  <a:tcPr marL="73152" marR="73152" marT="27432" marB="27432" anchor="ctr">
                    <a:solidFill>
                      <a:srgbClr val="1E7A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675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Abadi"/>
                        </a:rPr>
                        <a:t>Unconjugated work-up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Outside scope</a:t>
                      </a:r>
                    </a:p>
                  </a:txBody>
                  <a:tcPr marL="73152" marR="73152" marT="27432" marB="27432" anchor="ctr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1A1A1A"/>
                          </a:solidFill>
                          <a:latin typeface="Abadi"/>
                        </a:rPr>
                        <a:t>G6PD, blood group, DAT, UGT1A1 if prolonged</a:t>
                      </a:r>
                    </a:p>
                  </a:txBody>
                  <a:tcPr marL="73152" marR="73152" marT="27432" marB="27432" anchor="ctr">
                    <a:solidFill>
                      <a:srgbClr val="CDE7C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1A1A1A"/>
                          </a:solidFill>
                          <a:latin typeface="Abadi"/>
                        </a:rPr>
                        <a:t>Outside scope</a:t>
                      </a:r>
                    </a:p>
                  </a:txBody>
                  <a:tcPr marL="73152" marR="73152" marT="27432" marB="27432" anchor="ctr">
                    <a:solidFill>
                      <a:srgbClr val="FBEFB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FFFFFF"/>
                          </a:solidFill>
                          <a:latin typeface="Abadi"/>
                        </a:rPr>
                        <a:t>PAEDS ADDS</a:t>
                      </a:r>
                    </a:p>
                  </a:txBody>
                  <a:tcPr marL="73152" marR="73152" marT="27432" marB="27432" anchor="ctr">
                    <a:solidFill>
                      <a:srgbClr val="2E5A8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48640" y="5900000"/>
            <a:ext cx="11094720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943360" y="5975000"/>
            <a:ext cx="70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975000"/>
            <a:ext cx="10294720" cy="3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000" b="0" i="1">
                <a:solidFill>
                  <a:srgbClr val="555555"/>
                </a:solidFill>
                <a:latin typeface="Abadi"/>
              </a:rPr>
              <a:t>Fawaz R, et al. J Pediatr Gastroenterol Nutr 2017;64:154–68 · Kemper AR, et al. Pediatrics 2022;150:e2022058859 · NICE CG98, Jaundice in babies under 28 days (2010, updated 2016) · Ranucci G, et al. Dig Liver Dis 2022;54:40–53 (SIGENP) · Chen HL, et al. J Pediatr Gastroenterol Nutr 2025;81:1360–77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100000"/>
            <a:ext cx="11094720" cy="13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4200" b="1" i="0">
                <a:solidFill>
                  <a:srgbClr val="FFFFFF"/>
                </a:solidFill>
                <a:latin typeface="Abadi"/>
              </a:rPr>
              <a:t>Bilirubin, Read Correctly</a:t>
            </a:r>
          </a:p>
        </p:txBody>
      </p:sp>
      <p:sp>
        <p:nvSpPr>
          <p:cNvPr id="4" name="Rectangle 3"/>
          <p:cNvSpPr/>
          <p:nvPr/>
        </p:nvSpPr>
        <p:spPr>
          <a:xfrm>
            <a:off x="5196000" y="3720000"/>
            <a:ext cx="1800000" cy="19050"/>
          </a:xfrm>
          <a:prstGeom prst="rect">
            <a:avLst/>
          </a:prstGeom>
          <a:solidFill>
            <a:srgbClr val="F2C4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4000000"/>
            <a:ext cx="11094720" cy="2616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Abadi"/>
              </a:rPr>
              <a:t>Andrey Ermak, 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2792</Words>
  <Application>Microsoft Macintosh PowerPoint</Application>
  <PresentationFormat>Widescreen</PresentationFormat>
  <Paragraphs>374</Paragraphs>
  <Slides>17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Abadi</vt:lpstr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Ermak, Andrey</cp:lastModifiedBy>
  <cp:revision>2</cp:revision>
  <dcterms:created xsi:type="dcterms:W3CDTF">2013-01-27T09:14:16Z</dcterms:created>
  <dcterms:modified xsi:type="dcterms:W3CDTF">2026-09-25T17:24:42Z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5e4b1be8-281e-475d-98b0-21c3457e5a46_Enabled">
    <vt:lpwstr>true</vt:lpwstr>
  </property>
  <property fmtid="{D5CDD505-2E9C-101B-9397-08002B2CF9AE}" pid="3" name="MSIP_Label_5e4b1be8-281e-475d-98b0-21c3457e5a46_SetDate">
    <vt:lpwstr>2026-09-25T17:24:42Z</vt:lpwstr>
  </property>
  <property fmtid="{D5CDD505-2E9C-101B-9397-08002B2CF9AE}" pid="4" name="MSIP_Label_5e4b1be8-281e-475d-98b0-21c3457e5a46_Method">
    <vt:lpwstr>Standard</vt:lpwstr>
  </property>
  <property fmtid="{D5CDD505-2E9C-101B-9397-08002B2CF9AE}" pid="5" name="MSIP_Label_5e4b1be8-281e-475d-98b0-21c3457e5a46_Name">
    <vt:lpwstr>Public</vt:lpwstr>
  </property>
  <property fmtid="{D5CDD505-2E9C-101B-9397-08002B2CF9AE}" pid="6" name="MSIP_Label_5e4b1be8-281e-475d-98b0-21c3457e5a46_SiteId">
    <vt:lpwstr>8b3dd73e-4e72-4679-b191-56da1588712b</vt:lpwstr>
  </property>
  <property fmtid="{D5CDD505-2E9C-101B-9397-08002B2CF9AE}" pid="7" name="MSIP_Label_5e4b1be8-281e-475d-98b0-21c3457e5a46_ActionId">
    <vt:lpwstr>1fd01f1a-0698-40a1-8a27-dae616359f18</vt:lpwstr>
  </property>
  <property fmtid="{D5CDD505-2E9C-101B-9397-08002B2CF9AE}" pid="8" name="MSIP_Label_5e4b1be8-281e-475d-98b0-21c3457e5a46_ContentBits">
    <vt:lpwstr>0</vt:lpwstr>
  </property>
  <property fmtid="{D5CDD505-2E9C-101B-9397-08002B2CF9AE}" pid="9" name="MSIP_Label_5e4b1be8-281e-475d-98b0-21c3457e5a46_Tag">
    <vt:lpwstr>50, 3, 0, 1</vt:lpwstr>
  </property>
</Properties>
</file>