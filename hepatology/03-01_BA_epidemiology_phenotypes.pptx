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45720" rIns="45720" tIns="27432" bIns="27432" anchor="b">
            <a:spAutoFit/>
          </a:bodyPr>
          <a:lstStyle/>
          <a:p>
            <a:pPr algn="ctr"/>
            <a:r>
              <a:rPr sz="4000" b="1" i="0">
                <a:solidFill>
                  <a:srgbClr val="FFFFFF"/>
                </a:solidFill>
                <a:latin typeface="Abadi"/>
              </a:rPr>
              <a:t>Biliary Atresia I: Epidemiology and Phenotypes — Isolated, Splenic Malformation, CMV-Associated and Cystic</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45720" rIns="45720" tIns="27432" bIns="27432" anchor="t">
            <a:spAutoFit/>
          </a:bodyPr>
          <a:lstStyle/>
          <a:p>
            <a:pPr algn="ctr"/>
            <a:r>
              <a:rPr sz="1100" b="0" i="0">
                <a:solidFill>
                  <a:srgbClr val="D9DEE7"/>
                </a:solidFill>
                <a:latin typeface="Abadi"/>
              </a:rPr>
              <a:t>Fawaz 2017 (NASPGHAN/ESPGHAN) · Davenport 2006, 2021, 2025 · Livesey 2009 · Hopkins 2017 · Cavallo 2022 · Fischler 2002 · Tseng 2011 · Okubo 2025 (Japanese BA registry) · Frontiers CMV meta-analysis 2021</a:t>
            </a:r>
          </a:p>
        </p:txBody>
      </p:sp>
      <p:sp>
        <p:nvSpPr>
          <p:cNvPr id="7" name="TextBox 6"/>
          <p:cNvSpPr txBox="1"/>
          <p:nvPr/>
        </p:nvSpPr>
        <p:spPr>
          <a:xfrm>
            <a:off x="548640" y="5193792"/>
            <a:ext cx="11082528" cy="548640"/>
          </a:xfrm>
          <a:prstGeom prst="rect">
            <a:avLst/>
          </a:prstGeom>
          <a:noFill/>
        </p:spPr>
        <p:txBody>
          <a:bodyPr wrap="square" lIns="45720" rIns="45720" tIns="27432" bIns="27432" anchor="t">
            <a:spAutoFit/>
          </a:bodyPr>
          <a:lstStyle/>
          <a:p>
            <a:pPr algn="ctr"/>
            <a:r>
              <a:rPr sz="1100" b="0" i="1">
                <a:solidFill>
                  <a:srgbClr val="D9DEE7"/>
                </a:solidFill>
                <a:latin typeface="Abadi"/>
              </a:rPr>
              <a:t>one name, several diseases · the map is not flat · the season that wasn't · the spleen tells the timing · CMV changes the odds · a cyst is a gift of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ONE NAME, SEVERAL DISEASES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How common is biliary atresia, where, in whom, and does it matter which kind the infant has?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Fawaz R, et al. JPGN 2017;64:154–68 · Davenport M, et al. J Clin Med 2021;10:5675 · Davenport M. World J Pediatr Surg 2025;8:e001040</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1741017" cy="457200"/>
          </a:xfrm>
          <a:prstGeom prst="rect">
            <a:avLst/>
          </a:prstGeom>
          <a:noFill/>
        </p:spPr>
        <p:txBody>
          <a:bodyPr wrap="square" lIns="45720" rIns="45720" tIns="27432" bIns="27432" anchor="t">
            <a:spAutoFit/>
          </a:bodyPr>
          <a:lstStyle/>
          <a:p>
            <a:pPr algn="l"/>
            <a:r>
              <a:rPr sz="1500" b="1" i="0">
                <a:solidFill>
                  <a:srgbClr val="1B355E"/>
                </a:solidFill>
                <a:latin typeface="Abadi"/>
              </a:rPr>
              <a:t>Isolated</a:t>
            </a:r>
          </a:p>
        </p:txBody>
      </p:sp>
      <p:sp>
        <p:nvSpPr>
          <p:cNvPr id="15" name="TextBox 14"/>
          <p:cNvSpPr txBox="1"/>
          <p:nvPr/>
        </p:nvSpPr>
        <p:spPr>
          <a:xfrm>
            <a:off x="713232"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Most infants</a:t>
            </a:r>
          </a:p>
          <a:p>
            <a:pPr algn="l">
              <a:spcAft>
                <a:spcPts val="300"/>
              </a:spcAft>
            </a:pPr>
            <a:r>
              <a:rPr sz="1150" b="0" i="0">
                <a:solidFill>
                  <a:srgbClr val="1A1A1A"/>
                </a:solidFill>
                <a:latin typeface="Abadi"/>
              </a:rPr>
              <a:t>▪  No other anomaly</a:t>
            </a:r>
          </a:p>
          <a:p>
            <a:pPr algn="l">
              <a:spcAft>
                <a:spcPts val="300"/>
              </a:spcAft>
            </a:pPr>
            <a:r>
              <a:rPr sz="1150" b="0" i="0">
                <a:solidFill>
                  <a:srgbClr val="1A1A1A"/>
                </a:solidFill>
                <a:latin typeface="Abadi"/>
              </a:rPr>
              <a:t>▪  Timing unresolved</a:t>
            </a:r>
          </a:p>
        </p:txBody>
      </p:sp>
      <p:sp>
        <p:nvSpPr>
          <p:cNvPr id="16" name="Rectangle 15"/>
          <p:cNvSpPr/>
          <p:nvPr/>
        </p:nvSpPr>
        <p:spPr>
          <a:xfrm>
            <a:off x="2801721"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6313" y="1984248"/>
            <a:ext cx="1741017" cy="731520"/>
          </a:xfrm>
          <a:prstGeom prst="rect">
            <a:avLst/>
          </a:prstGeom>
          <a:noFill/>
        </p:spPr>
        <p:txBody>
          <a:bodyPr wrap="square" lIns="45720" rIns="45720" tIns="27432" bIns="27432" anchor="t">
            <a:spAutoFit/>
          </a:bodyPr>
          <a:lstStyle/>
          <a:p>
            <a:pPr algn="l"/>
            <a:r>
              <a:rPr sz="1500" b="1" i="0">
                <a:solidFill>
                  <a:srgbClr val="B22222"/>
                </a:solidFill>
                <a:latin typeface="Abadi"/>
              </a:rPr>
              <a:t>Splenic malformation</a:t>
            </a:r>
          </a:p>
        </p:txBody>
      </p:sp>
      <p:sp>
        <p:nvSpPr>
          <p:cNvPr id="19" name="TextBox 18"/>
          <p:cNvSpPr txBox="1"/>
          <p:nvPr/>
        </p:nvSpPr>
        <p:spPr>
          <a:xfrm>
            <a:off x="2966313" y="2798064"/>
            <a:ext cx="1741017" cy="1033271"/>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About 10% in the West</a:t>
            </a:r>
          </a:p>
          <a:p>
            <a:pPr algn="l">
              <a:spcAft>
                <a:spcPts val="300"/>
              </a:spcAft>
            </a:pPr>
            <a:r>
              <a:rPr sz="1150" b="0" i="0">
                <a:solidFill>
                  <a:srgbClr val="1A1A1A"/>
                </a:solidFill>
                <a:latin typeface="Abadi"/>
              </a:rPr>
              <a:t>▪  Laterality, heart, veins</a:t>
            </a:r>
          </a:p>
          <a:p>
            <a:pPr algn="l">
              <a:spcAft>
                <a:spcPts val="300"/>
              </a:spcAft>
            </a:pPr>
            <a:r>
              <a:rPr sz="1150" b="0" i="0">
                <a:solidFill>
                  <a:srgbClr val="1A1A1A"/>
                </a:solidFill>
                <a:latin typeface="Abadi"/>
              </a:rPr>
              <a:t>▪  Embryonic onset</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9395" y="1984248"/>
            <a:ext cx="1741017" cy="457200"/>
          </a:xfrm>
          <a:prstGeom prst="rect">
            <a:avLst/>
          </a:prstGeom>
          <a:noFill/>
        </p:spPr>
        <p:txBody>
          <a:bodyPr wrap="square" lIns="45720" rIns="45720" tIns="27432" bIns="27432" anchor="t">
            <a:spAutoFit/>
          </a:bodyPr>
          <a:lstStyle/>
          <a:p>
            <a:pPr algn="l"/>
            <a:r>
              <a:rPr sz="1500" b="1" i="0">
                <a:solidFill>
                  <a:srgbClr val="D97A0B"/>
                </a:solidFill>
                <a:latin typeface="Abadi"/>
              </a:rPr>
              <a:t>CMV IgM-positive</a:t>
            </a:r>
          </a:p>
        </p:txBody>
      </p:sp>
      <p:sp>
        <p:nvSpPr>
          <p:cNvPr id="23" name="TextBox 22"/>
          <p:cNvSpPr txBox="1"/>
          <p:nvPr/>
        </p:nvSpPr>
        <p:spPr>
          <a:xfrm>
            <a:off x="5219395"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About 10% in the UK</a:t>
            </a:r>
          </a:p>
          <a:p>
            <a:pPr algn="l">
              <a:spcAft>
                <a:spcPts val="300"/>
              </a:spcAft>
            </a:pPr>
            <a:r>
              <a:rPr sz="1150" b="0" i="0">
                <a:solidFill>
                  <a:srgbClr val="1A1A1A"/>
                </a:solidFill>
                <a:latin typeface="Abadi"/>
              </a:rPr>
              <a:t>▪  Older, bigger spleen</a:t>
            </a:r>
          </a:p>
          <a:p>
            <a:pPr algn="l">
              <a:spcAft>
                <a:spcPts val="300"/>
              </a:spcAft>
            </a:pPr>
            <a:r>
              <a:rPr sz="1150" b="0" i="0">
                <a:solidFill>
                  <a:srgbClr val="1A1A1A"/>
                </a:solidFill>
                <a:latin typeface="Abadi"/>
              </a:rPr>
              <a:t>▪  Worse clearance</a:t>
            </a:r>
          </a:p>
        </p:txBody>
      </p:sp>
      <p:sp>
        <p:nvSpPr>
          <p:cNvPr id="24" name="Rectangle 23"/>
          <p:cNvSpPr/>
          <p:nvPr/>
        </p:nvSpPr>
        <p:spPr>
          <a:xfrm>
            <a:off x="7307884"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2476" y="1984248"/>
            <a:ext cx="1741017" cy="457200"/>
          </a:xfrm>
          <a:prstGeom prst="rect">
            <a:avLst/>
          </a:prstGeom>
          <a:noFill/>
        </p:spPr>
        <p:txBody>
          <a:bodyPr wrap="square" lIns="45720" rIns="45720" tIns="27432" bIns="27432" anchor="t">
            <a:spAutoFit/>
          </a:bodyPr>
          <a:lstStyle/>
          <a:p>
            <a:pPr algn="l"/>
            <a:r>
              <a:rPr sz="1500" b="1" i="0">
                <a:solidFill>
                  <a:srgbClr val="1E7A33"/>
                </a:solidFill>
                <a:latin typeface="Abadi"/>
              </a:rPr>
              <a:t>Cystic</a:t>
            </a:r>
          </a:p>
        </p:txBody>
      </p:sp>
      <p:sp>
        <p:nvSpPr>
          <p:cNvPr id="27" name="TextBox 26"/>
          <p:cNvSpPr txBox="1"/>
          <p:nvPr/>
        </p:nvSpPr>
        <p:spPr>
          <a:xfrm>
            <a:off x="7472476"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Seen before birth</a:t>
            </a:r>
          </a:p>
          <a:p>
            <a:pPr algn="l">
              <a:spcAft>
                <a:spcPts val="300"/>
              </a:spcAft>
            </a:pPr>
            <a:r>
              <a:rPr sz="1150" b="0" i="0">
                <a:solidFill>
                  <a:srgbClr val="1A1A1A"/>
                </a:solidFill>
                <a:latin typeface="Abadi"/>
              </a:rPr>
              <a:t>▪  Operate early</a:t>
            </a:r>
          </a:p>
          <a:p>
            <a:pPr algn="l">
              <a:spcAft>
                <a:spcPts val="300"/>
              </a:spcAft>
            </a:pPr>
            <a:r>
              <a:rPr sz="1150" b="0" i="0">
                <a:solidFill>
                  <a:srgbClr val="1A1A1A"/>
                </a:solidFill>
                <a:latin typeface="Abadi"/>
              </a:rPr>
              <a:t>▪  Best clearance</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5558" y="1984248"/>
            <a:ext cx="1741017" cy="457200"/>
          </a:xfrm>
          <a:prstGeom prst="rect">
            <a:avLst/>
          </a:prstGeom>
          <a:noFill/>
        </p:spPr>
        <p:txBody>
          <a:bodyPr wrap="square" lIns="45720" rIns="45720" tIns="27432" bIns="27432" anchor="t">
            <a:spAutoFit/>
          </a:bodyPr>
          <a:lstStyle/>
          <a:p>
            <a:pPr algn="l"/>
            <a:r>
              <a:rPr sz="1500" b="1" i="0">
                <a:solidFill>
                  <a:srgbClr val="7F7F7F"/>
                </a:solidFill>
                <a:latin typeface="Abadi"/>
              </a:rPr>
              <a:t>Other syndromic</a:t>
            </a:r>
          </a:p>
        </p:txBody>
      </p:sp>
      <p:sp>
        <p:nvSpPr>
          <p:cNvPr id="31" name="TextBox 30"/>
          <p:cNvSpPr txBox="1"/>
          <p:nvPr/>
        </p:nvSpPr>
        <p:spPr>
          <a:xfrm>
            <a:off x="9725558"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Cat-eye, cardiac, duodenal</a:t>
            </a:r>
          </a:p>
          <a:p>
            <a:pPr algn="l">
              <a:spcAft>
                <a:spcPts val="300"/>
              </a:spcAft>
            </a:pPr>
            <a:r>
              <a:rPr sz="1150" b="0" i="0">
                <a:solidFill>
                  <a:srgbClr val="1A1A1A"/>
                </a:solidFill>
                <a:latin typeface="Abadi"/>
              </a:rPr>
              <a:t>▪  No laterality defect</a:t>
            </a:r>
          </a:p>
          <a:p>
            <a:pPr algn="l">
              <a:spcAft>
                <a:spcPts val="300"/>
              </a:spcAft>
            </a:pPr>
            <a:r>
              <a:rPr sz="1150" b="0" i="0">
                <a:solidFill>
                  <a:srgbClr val="1A1A1A"/>
                </a:solidFill>
                <a:latin typeface="Abadi"/>
              </a:rPr>
              <a:t>▪  Outcome set by the heart</a:t>
            </a:r>
          </a:p>
        </p:txBody>
      </p:sp>
      <p:sp>
        <p:nvSpPr>
          <p:cNvPr id="32" name="TextBox 31"/>
          <p:cNvSpPr txBox="1"/>
          <p:nvPr/>
        </p:nvSpPr>
        <p:spPr>
          <a:xfrm>
            <a:off x="548640" y="4114800"/>
            <a:ext cx="11082528" cy="169164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The main idea.  </a:t>
            </a:r>
            <a:r>
              <a:rPr sz="1300" b="0" i="0">
                <a:solidFill>
                  <a:srgbClr val="1A1A1A"/>
                </a:solidFill>
                <a:latin typeface="Abadi"/>
              </a:rPr>
              <a:t>Biliary atresia is a final common pathway, a fibro-obliterative cholangiopathy of the extrahepatic ducts, reached by different routes at different times. Incidence varies more than tenfold across the world, and the phenotype tells you when the injury began and how the Kasai is likely to go.</a:t>
            </a:r>
          </a:p>
          <a:p>
            <a:pPr algn="l">
              <a:spcAft>
                <a:spcPts val="600"/>
              </a:spcAft>
            </a:pPr>
            <a:r>
              <a:rPr sz="1300" b="1" i="0">
                <a:solidFill>
                  <a:srgbClr val="B22222"/>
                </a:solidFill>
                <a:latin typeface="Abadi"/>
              </a:rPr>
              <a:t>The clinical stake.  </a:t>
            </a:r>
            <a:r>
              <a:rPr sz="1300" b="0" i="0">
                <a:solidFill>
                  <a:srgbClr val="1A1A1A"/>
                </a:solidFill>
                <a:latin typeface="Abadi"/>
              </a:rPr>
              <a:t>In a nine-study meta-analysis, CMV-positive infants had less than half the odds of clearing jaundice (OR 0.47); in the King's series, 5-year native-liver survival in splenic malformation was 46%, and 32% at 10 years.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TWO CLOCKS: EMBRYO AND NEWBORN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When the extrahepatic duct forms, and where each phenotype enters the timeline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Davenport M, et al. J Clin Med 2021;10:5675 · Harpavat S, et al. Pediatrics 2011;128:e1428–33 · Fawaz R, et al. JPGN 2017;64:154–68</a:t>
            </a:r>
          </a:p>
        </p:txBody>
      </p:sp>
      <p:sp>
        <p:nvSpPr>
          <p:cNvPr id="12" name="Rectangle 11"/>
          <p:cNvSpPr/>
          <p:nvPr/>
        </p:nvSpPr>
        <p:spPr>
          <a:xfrm>
            <a:off x="548640" y="1773936"/>
            <a:ext cx="2011680" cy="20574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Weeks 4–6</a:t>
            </a:r>
          </a:p>
        </p:txBody>
      </p:sp>
      <p:sp>
        <p:nvSpPr>
          <p:cNvPr id="15" name="TextBox 14"/>
          <p:cNvSpPr txBox="1"/>
          <p:nvPr/>
        </p:nvSpPr>
        <p:spPr>
          <a:xfrm>
            <a:off x="658368" y="2157984"/>
            <a:ext cx="1792224" cy="1600200"/>
          </a:xfrm>
          <a:prstGeom prst="rect">
            <a:avLst/>
          </a:prstGeom>
          <a:noFill/>
        </p:spPr>
        <p:txBody>
          <a:bodyPr wrap="square" lIns="45720" rIns="45720" tIns="27432" bIns="27432" anchor="t">
            <a:spAutoFit/>
          </a:bodyPr>
          <a:lstStyle/>
          <a:p>
            <a:pPr algn="l"/>
            <a:r>
              <a:rPr sz="1050" b="0" i="0">
                <a:solidFill>
                  <a:srgbClr val="1A1A1A"/>
                </a:solidFill>
                <a:latin typeface="Abadi"/>
              </a:rPr>
              <a:t>Extrahepatic duct forms (Carnegie 11–17) while the body sets left and right. A hit here gives splenic malformation and laterality defects.</a:t>
            </a:r>
          </a:p>
        </p:txBody>
      </p:sp>
      <p:sp>
        <p:nvSpPr>
          <p:cNvPr id="16" name="Isosceles Triangle 15"/>
          <p:cNvSpPr/>
          <p:nvPr/>
        </p:nvSpPr>
        <p:spPr>
          <a:xfrm rot="5400000">
            <a:off x="2624328" y="272034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20574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About week 12</a:t>
            </a:r>
          </a:p>
        </p:txBody>
      </p:sp>
      <p:sp>
        <p:nvSpPr>
          <p:cNvPr id="20" name="TextBox 19"/>
          <p:cNvSpPr txBox="1"/>
          <p:nvPr/>
        </p:nvSpPr>
        <p:spPr>
          <a:xfrm>
            <a:off x="2926080" y="2157984"/>
            <a:ext cx="1792224" cy="1600200"/>
          </a:xfrm>
          <a:prstGeom prst="rect">
            <a:avLst/>
          </a:prstGeom>
          <a:noFill/>
        </p:spPr>
        <p:txBody>
          <a:bodyPr wrap="square" lIns="45720" rIns="45720" tIns="27432" bIns="27432" anchor="t">
            <a:spAutoFit/>
          </a:bodyPr>
          <a:lstStyle/>
          <a:p>
            <a:pPr algn="l"/>
            <a:r>
              <a:rPr sz="1050" b="0" i="0">
                <a:solidFill>
                  <a:srgbClr val="1A1A1A"/>
                </a:solidFill>
                <a:latin typeface="Abadi"/>
              </a:rPr>
              <a:t>The extrahepatic duct joins the intrahepatic network at the hilum. Later injury spares laterality.</a:t>
            </a:r>
          </a:p>
        </p:txBody>
      </p:sp>
      <p:sp>
        <p:nvSpPr>
          <p:cNvPr id="21" name="Isosceles Triangle 20"/>
          <p:cNvSpPr/>
          <p:nvPr/>
        </p:nvSpPr>
        <p:spPr>
          <a:xfrm rot="5400000">
            <a:off x="4892040" y="272034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20574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Weeks 16–20</a:t>
            </a:r>
          </a:p>
        </p:txBody>
      </p:sp>
      <p:sp>
        <p:nvSpPr>
          <p:cNvPr id="25" name="TextBox 24"/>
          <p:cNvSpPr txBox="1"/>
          <p:nvPr/>
        </p:nvSpPr>
        <p:spPr>
          <a:xfrm>
            <a:off x="5193792" y="2157984"/>
            <a:ext cx="1792224" cy="1600200"/>
          </a:xfrm>
          <a:prstGeom prst="rect">
            <a:avLst/>
          </a:prstGeom>
          <a:noFill/>
        </p:spPr>
        <p:txBody>
          <a:bodyPr wrap="square" lIns="45720" rIns="45720" tIns="27432" bIns="27432" anchor="t">
            <a:spAutoFit/>
          </a:bodyPr>
          <a:lstStyle/>
          <a:p>
            <a:pPr algn="l"/>
            <a:r>
              <a:rPr sz="1050" b="0" i="0">
                <a:solidFill>
                  <a:srgbClr val="1A1A1A"/>
                </a:solidFill>
                <a:latin typeface="Abadi"/>
              </a:rPr>
              <a:t>Cystic biliary atresia becomes visible on the anomaly scan: the remnant dilates above an obliterated segment.</a:t>
            </a:r>
          </a:p>
        </p:txBody>
      </p:sp>
      <p:sp>
        <p:nvSpPr>
          <p:cNvPr id="26" name="Isosceles Triangle 25"/>
          <p:cNvSpPr/>
          <p:nvPr/>
        </p:nvSpPr>
        <p:spPr>
          <a:xfrm rot="5400000">
            <a:off x="7159752" y="272034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20574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Days 1–2</a:t>
            </a:r>
          </a:p>
        </p:txBody>
      </p:sp>
      <p:sp>
        <p:nvSpPr>
          <p:cNvPr id="30" name="TextBox 29"/>
          <p:cNvSpPr txBox="1"/>
          <p:nvPr/>
        </p:nvSpPr>
        <p:spPr>
          <a:xfrm>
            <a:off x="7461504" y="2157984"/>
            <a:ext cx="1792224" cy="1600200"/>
          </a:xfrm>
          <a:prstGeom prst="rect">
            <a:avLst/>
          </a:prstGeom>
          <a:noFill/>
        </p:spPr>
        <p:txBody>
          <a:bodyPr wrap="square" lIns="45720" rIns="45720" tIns="27432" bIns="27432" anchor="t">
            <a:spAutoFit/>
          </a:bodyPr>
          <a:lstStyle/>
          <a:p>
            <a:pPr algn="l"/>
            <a:r>
              <a:rPr sz="1050" b="0" i="0">
                <a:solidFill>
                  <a:srgbClr val="1A1A1A"/>
                </a:solidFill>
                <a:latin typeface="Abadi"/>
              </a:rPr>
              <a:t>Conjugated bilirubin is already raised in infants later diagnosed with atresia: the disease is present at birth.</a:t>
            </a:r>
          </a:p>
        </p:txBody>
      </p:sp>
      <p:sp>
        <p:nvSpPr>
          <p:cNvPr id="31" name="Isosceles Triangle 30"/>
          <p:cNvSpPr/>
          <p:nvPr/>
        </p:nvSpPr>
        <p:spPr>
          <a:xfrm rot="5400000">
            <a:off x="9427464" y="272034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20574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Weeks 2–8</a:t>
            </a:r>
          </a:p>
        </p:txBody>
      </p:sp>
      <p:sp>
        <p:nvSpPr>
          <p:cNvPr id="35" name="TextBox 34"/>
          <p:cNvSpPr txBox="1"/>
          <p:nvPr/>
        </p:nvSpPr>
        <p:spPr>
          <a:xfrm>
            <a:off x="9729216" y="2157984"/>
            <a:ext cx="1792224" cy="1600200"/>
          </a:xfrm>
          <a:prstGeom prst="rect">
            <a:avLst/>
          </a:prstGeom>
          <a:noFill/>
        </p:spPr>
        <p:txBody>
          <a:bodyPr wrap="square" lIns="45720" rIns="45720" tIns="27432" bIns="27432" anchor="t">
            <a:spAutoFit/>
          </a:bodyPr>
          <a:lstStyle/>
          <a:p>
            <a:pPr algn="l"/>
            <a:r>
              <a:rPr sz="1050" b="0" i="0">
                <a:solidFill>
                  <a:srgbClr val="1A1A1A"/>
                </a:solidFill>
                <a:latin typeface="Abadi"/>
              </a:rPr>
              <a:t>Perinatal trigger in some (CMV), progressive obliteration, acholic stools and the Kasai window.</a:t>
            </a:r>
          </a:p>
        </p:txBody>
      </p:sp>
      <p:sp>
        <p:nvSpPr>
          <p:cNvPr id="36" name="TextBox 35"/>
          <p:cNvSpPr txBox="1"/>
          <p:nvPr/>
        </p:nvSpPr>
        <p:spPr>
          <a:xfrm>
            <a:off x="548640" y="4069080"/>
            <a:ext cx="11082528" cy="173736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Reading the clocks.  </a:t>
            </a:r>
            <a:r>
              <a:rPr sz="1300" b="0" i="0">
                <a:solidFill>
                  <a:srgbClr val="1A1A1A"/>
                </a:solidFill>
                <a:latin typeface="Abadi"/>
              </a:rPr>
              <a:t>Splenic malformation is the clearest embryonic form; its anomalies share the 4- to 6-week window. Cystic disease is thought to start after week 12. Isolated disease may be antenatal or perinatal; the raised bilirubin in the first 48 hours argues that most cases are already established at birth.</a:t>
            </a:r>
          </a:p>
          <a:p>
            <a:pPr algn="l">
              <a:spcAft>
                <a:spcPts val="600"/>
              </a:spcAft>
            </a:pPr>
            <a:r>
              <a:rPr sz="1300" b="1" i="0">
                <a:solidFill>
                  <a:srgbClr val="B22222"/>
                </a:solidFill>
                <a:latin typeface="Abadi"/>
              </a:rPr>
              <a:t>Why it matters.  </a:t>
            </a:r>
            <a:r>
              <a:rPr sz="1300" b="0" i="0">
                <a:solidFill>
                  <a:srgbClr val="1A1A1A"/>
                </a:solidFill>
                <a:latin typeface="Abadi"/>
              </a:rPr>
              <a:t>The earlier the onset, the less any perinatal adjuvant (steroid, antiviral) can change the course, and the more the outcome depends on the timing of the Kasai and on associated anomalies.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INCIDENCE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MAP IS NOT FLAT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Biliary atresia per 10,000 live births, population and registry studies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Chardot C. Orphanet J Rare Dis 2006;1:28 (Vic 1994, Houwen 1988, Chardot 1999) · Davenport 2021 (Evans 2018) · Tseng JJ, et al. Pediatrics 2011;128:e1209–15 · Fischler B, J Pediatr 2002 · Cavallo L, J Pediatr 2022 · Livesey E, ADC F&amp;N 2009 · Hopkins PC, J Pediatr 2017 · Al-Hussaini A, Front Pediatr 2022</a:t>
            </a:r>
          </a:p>
        </p:txBody>
      </p:sp>
      <p:sp>
        <p:nvSpPr>
          <p:cNvPr id="12" name="TextBox 11"/>
          <p:cNvSpPr txBox="1"/>
          <p:nvPr/>
        </p:nvSpPr>
        <p:spPr>
          <a:xfrm>
            <a:off x="548640" y="1810512"/>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French Polynesia</a:t>
            </a:r>
          </a:p>
        </p:txBody>
      </p:sp>
      <p:sp>
        <p:nvSpPr>
          <p:cNvPr id="13" name="Rectangle 12"/>
          <p:cNvSpPr/>
          <p:nvPr/>
        </p:nvSpPr>
        <p:spPr>
          <a:xfrm>
            <a:off x="2971800" y="1887321"/>
            <a:ext cx="3291840" cy="2304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810512"/>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3.2  (≈ 1 in 3,100)</a:t>
            </a:r>
          </a:p>
        </p:txBody>
      </p:sp>
      <p:sp>
        <p:nvSpPr>
          <p:cNvPr id="15" name="TextBox 14"/>
          <p:cNvSpPr txBox="1"/>
          <p:nvPr/>
        </p:nvSpPr>
        <p:spPr>
          <a:xfrm>
            <a:off x="548640" y="2194560"/>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New Zealand, Māori</a:t>
            </a:r>
          </a:p>
        </p:txBody>
      </p:sp>
      <p:sp>
        <p:nvSpPr>
          <p:cNvPr id="16" name="Rectangle 15"/>
          <p:cNvSpPr/>
          <p:nvPr/>
        </p:nvSpPr>
        <p:spPr>
          <a:xfrm>
            <a:off x="2971800" y="2271369"/>
            <a:ext cx="1944242" cy="2304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9195" y="2194560"/>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1.9  (1 in 5,285)</a:t>
            </a:r>
          </a:p>
        </p:txBody>
      </p:sp>
      <p:sp>
        <p:nvSpPr>
          <p:cNvPr id="18" name="TextBox 17"/>
          <p:cNvSpPr txBox="1"/>
          <p:nvPr/>
        </p:nvSpPr>
        <p:spPr>
          <a:xfrm>
            <a:off x="548640" y="2578608"/>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Taiwan, 1996–2008</a:t>
            </a:r>
          </a:p>
        </p:txBody>
      </p:sp>
      <p:sp>
        <p:nvSpPr>
          <p:cNvPr id="19" name="Rectangle 18"/>
          <p:cNvSpPr/>
          <p:nvPr/>
        </p:nvSpPr>
        <p:spPr>
          <a:xfrm>
            <a:off x="2971800" y="2655417"/>
            <a:ext cx="1522476" cy="2304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7428" y="2578608"/>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1.5  (≈ 1 in 6,800)</a:t>
            </a:r>
          </a:p>
        </p:txBody>
      </p:sp>
      <p:sp>
        <p:nvSpPr>
          <p:cNvPr id="21" name="TextBox 20"/>
          <p:cNvSpPr txBox="1"/>
          <p:nvPr/>
        </p:nvSpPr>
        <p:spPr>
          <a:xfrm>
            <a:off x="548640" y="2962656"/>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Sweden, 1987–97</a:t>
            </a:r>
          </a:p>
        </p:txBody>
      </p:sp>
      <p:sp>
        <p:nvSpPr>
          <p:cNvPr id="22" name="Rectangle 21"/>
          <p:cNvSpPr/>
          <p:nvPr/>
        </p:nvSpPr>
        <p:spPr>
          <a:xfrm>
            <a:off x="2971800" y="3039465"/>
            <a:ext cx="730377" cy="2304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75329" y="2962656"/>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0.7  (1 in 14,000)</a:t>
            </a:r>
          </a:p>
        </p:txBody>
      </p:sp>
      <p:sp>
        <p:nvSpPr>
          <p:cNvPr id="24" name="TextBox 23"/>
          <p:cNvSpPr txBox="1"/>
          <p:nvPr/>
        </p:nvSpPr>
        <p:spPr>
          <a:xfrm>
            <a:off x="548640" y="3346704"/>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Texas, 1999–2014</a:t>
            </a:r>
          </a:p>
        </p:txBody>
      </p:sp>
      <p:sp>
        <p:nvSpPr>
          <p:cNvPr id="25" name="Rectangle 24"/>
          <p:cNvSpPr/>
          <p:nvPr/>
        </p:nvSpPr>
        <p:spPr>
          <a:xfrm>
            <a:off x="2971800" y="3423513"/>
            <a:ext cx="668655" cy="2304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13607" y="3346704"/>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0.65</a:t>
            </a:r>
          </a:p>
        </p:txBody>
      </p:sp>
      <p:sp>
        <p:nvSpPr>
          <p:cNvPr id="27" name="TextBox 26"/>
          <p:cNvSpPr txBox="1"/>
          <p:nvPr/>
        </p:nvSpPr>
        <p:spPr>
          <a:xfrm>
            <a:off x="548640" y="3730752"/>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England and Wales</a:t>
            </a:r>
          </a:p>
        </p:txBody>
      </p:sp>
      <p:sp>
        <p:nvSpPr>
          <p:cNvPr id="28" name="Rectangle 27"/>
          <p:cNvSpPr/>
          <p:nvPr/>
        </p:nvSpPr>
        <p:spPr>
          <a:xfrm>
            <a:off x="2971800" y="3807561"/>
            <a:ext cx="596646" cy="2304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41598" y="3730752"/>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0.58  (1 in 17,049)</a:t>
            </a:r>
          </a:p>
        </p:txBody>
      </p:sp>
      <p:sp>
        <p:nvSpPr>
          <p:cNvPr id="30" name="TextBox 29"/>
          <p:cNvSpPr txBox="1"/>
          <p:nvPr/>
        </p:nvSpPr>
        <p:spPr>
          <a:xfrm>
            <a:off x="548640" y="4114800"/>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France</a:t>
            </a:r>
          </a:p>
        </p:txBody>
      </p:sp>
      <p:sp>
        <p:nvSpPr>
          <p:cNvPr id="31" name="Rectangle 30"/>
          <p:cNvSpPr/>
          <p:nvPr/>
        </p:nvSpPr>
        <p:spPr>
          <a:xfrm>
            <a:off x="2971800" y="4191609"/>
            <a:ext cx="524637" cy="2304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9589" y="4114800"/>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0.51</a:t>
            </a:r>
          </a:p>
        </p:txBody>
      </p:sp>
      <p:sp>
        <p:nvSpPr>
          <p:cNvPr id="33" name="TextBox 32"/>
          <p:cNvSpPr txBox="1"/>
          <p:nvPr/>
        </p:nvSpPr>
        <p:spPr>
          <a:xfrm>
            <a:off x="548640" y="4498848"/>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Netherlands</a:t>
            </a:r>
          </a:p>
        </p:txBody>
      </p:sp>
      <p:sp>
        <p:nvSpPr>
          <p:cNvPr id="34" name="Rectangle 33"/>
          <p:cNvSpPr/>
          <p:nvPr/>
        </p:nvSpPr>
        <p:spPr>
          <a:xfrm>
            <a:off x="2971800" y="4575657"/>
            <a:ext cx="514350" cy="2304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59302" y="4498848"/>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0.50</a:t>
            </a:r>
          </a:p>
        </p:txBody>
      </p:sp>
      <p:sp>
        <p:nvSpPr>
          <p:cNvPr id="36" name="TextBox 35"/>
          <p:cNvSpPr txBox="1"/>
          <p:nvPr/>
        </p:nvSpPr>
        <p:spPr>
          <a:xfrm>
            <a:off x="548640" y="4882896"/>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USA, national billing data</a:t>
            </a:r>
          </a:p>
        </p:txBody>
      </p:sp>
      <p:sp>
        <p:nvSpPr>
          <p:cNvPr id="37" name="Rectangle 36"/>
          <p:cNvSpPr/>
          <p:nvPr/>
        </p:nvSpPr>
        <p:spPr>
          <a:xfrm>
            <a:off x="2971800" y="4959705"/>
            <a:ext cx="462915" cy="23042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7867" y="4882896"/>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0.45  (1 in 22,371)</a:t>
            </a:r>
          </a:p>
        </p:txBody>
      </p:sp>
      <p:sp>
        <p:nvSpPr>
          <p:cNvPr id="39" name="TextBox 38"/>
          <p:cNvSpPr txBox="1"/>
          <p:nvPr/>
        </p:nvSpPr>
        <p:spPr>
          <a:xfrm>
            <a:off x="548640" y="5266944"/>
            <a:ext cx="2331720" cy="384048"/>
          </a:xfrm>
          <a:prstGeom prst="rect">
            <a:avLst/>
          </a:prstGeom>
          <a:noFill/>
        </p:spPr>
        <p:txBody>
          <a:bodyPr wrap="square" lIns="45720" rIns="45720" tIns="27432" bIns="27432" anchor="ctr">
            <a:spAutoFit/>
          </a:bodyPr>
          <a:lstStyle/>
          <a:p>
            <a:pPr algn="l"/>
            <a:r>
              <a:rPr sz="1050" b="0" i="0">
                <a:solidFill>
                  <a:srgbClr val="1A1A1A"/>
                </a:solidFill>
                <a:latin typeface="Abadi"/>
              </a:rPr>
              <a:t>Saudi Arabia, 2000–18</a:t>
            </a:r>
          </a:p>
        </p:txBody>
      </p:sp>
      <p:sp>
        <p:nvSpPr>
          <p:cNvPr id="40" name="Rectangle 39"/>
          <p:cNvSpPr/>
          <p:nvPr/>
        </p:nvSpPr>
        <p:spPr>
          <a:xfrm>
            <a:off x="2971800" y="5343753"/>
            <a:ext cx="236600" cy="23042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81553" y="5266944"/>
            <a:ext cx="1737360" cy="384048"/>
          </a:xfrm>
          <a:prstGeom prst="rect">
            <a:avLst/>
          </a:prstGeom>
          <a:noFill/>
        </p:spPr>
        <p:txBody>
          <a:bodyPr wrap="square" lIns="45720" rIns="45720" tIns="27432" bIns="27432" anchor="ctr">
            <a:spAutoFit/>
          </a:bodyPr>
          <a:lstStyle/>
          <a:p>
            <a:pPr algn="l"/>
            <a:r>
              <a:rPr sz="1050" b="1" i="0">
                <a:solidFill>
                  <a:srgbClr val="1A1A1A"/>
                </a:solidFill>
                <a:latin typeface="Abadi"/>
              </a:rPr>
              <a:t>0.23  (1 in 44,365)</a:t>
            </a:r>
          </a:p>
        </p:txBody>
      </p:sp>
      <p:sp>
        <p:nvSpPr>
          <p:cNvPr id="42" name="TextBox 41"/>
          <p:cNvSpPr txBox="1"/>
          <p:nvPr/>
        </p:nvSpPr>
        <p:spPr>
          <a:xfrm>
            <a:off x="8092440" y="1773936"/>
            <a:ext cx="3538728" cy="4023360"/>
          </a:xfrm>
          <a:prstGeom prst="rect">
            <a:avLst/>
          </a:prstGeom>
          <a:noFill/>
        </p:spPr>
        <p:txBody>
          <a:bodyPr wrap="square" lIns="45720" rIns="45720" tIns="27432" bIns="27432" anchor="t">
            <a:spAutoFit/>
          </a:bodyPr>
          <a:lstStyle/>
          <a:p>
            <a:pPr algn="l"/>
            <a:r>
              <a:rPr sz="1700" b="1" i="0">
                <a:solidFill>
                  <a:srgbClr val="1B355E"/>
                </a:solidFill>
                <a:latin typeface="Abadi"/>
              </a:rPr>
              <a:t>About 14-fold</a:t>
            </a:r>
          </a:p>
          <a:p>
            <a:pPr algn="l">
              <a:spcAft>
                <a:spcPts val="900"/>
              </a:spcAft>
            </a:pPr>
            <a:r>
              <a:rPr sz="1000" b="0" i="0">
                <a:solidFill>
                  <a:srgbClr val="555555"/>
                </a:solidFill>
                <a:latin typeface="Abadi"/>
              </a:rPr>
              <a:t>Range from Saudi Arabia to French Polynesia; Asia and the Pacific sit highest.</a:t>
            </a:r>
          </a:p>
          <a:p>
            <a:pPr algn="l"/>
            <a:r>
              <a:rPr sz="1700" b="1" i="0">
                <a:solidFill>
                  <a:srgbClr val="1B355E"/>
                </a:solidFill>
                <a:latin typeface="Abadi"/>
              </a:rPr>
              <a:t>Female &gt; male</a:t>
            </a:r>
          </a:p>
          <a:p>
            <a:pPr algn="l">
              <a:spcAft>
                <a:spcPts val="900"/>
              </a:spcAft>
            </a:pPr>
            <a:r>
              <a:rPr sz="1000" b="0" i="0">
                <a:solidFill>
                  <a:srgbClr val="555555"/>
                </a:solidFill>
                <a:latin typeface="Abadi"/>
              </a:rPr>
              <a:t>About 1.4 to 1.7 times more girls in US data; two-thirds female in Japan.</a:t>
            </a:r>
          </a:p>
          <a:p>
            <a:pPr algn="l"/>
            <a:r>
              <a:rPr sz="1700" b="1" i="0">
                <a:solidFill>
                  <a:srgbClr val="1B355E"/>
                </a:solidFill>
                <a:latin typeface="Abadi"/>
              </a:rPr>
              <a:t>Method matters</a:t>
            </a:r>
          </a:p>
          <a:p>
            <a:pPr algn="l">
              <a:spcAft>
                <a:spcPts val="900"/>
              </a:spcAft>
            </a:pPr>
            <a:r>
              <a:rPr sz="1000" b="0" i="0">
                <a:solidFill>
                  <a:srgbClr val="555555"/>
                </a:solidFill>
                <a:latin typeface="Abadi"/>
              </a:rPr>
              <a:t>Billing data (USA, 1 in 22,371) run lower than registries (Texas, 0.65 per 10,000).</a:t>
            </a:r>
          </a:p>
          <a:p>
            <a:pPr algn="l"/>
            <a:r>
              <a:rPr sz="1700" b="1" i="0">
                <a:solidFill>
                  <a:srgbClr val="1B355E"/>
                </a:solidFill>
                <a:latin typeface="Abadi"/>
              </a:rPr>
              <a:t>Cholestasis overall</a:t>
            </a:r>
          </a:p>
          <a:p>
            <a:pPr algn="l">
              <a:spcAft>
                <a:spcPts val="900"/>
              </a:spcAft>
            </a:pPr>
            <a:r>
              <a:rPr sz="1000" b="0" i="0">
                <a:solidFill>
                  <a:srgbClr val="555555"/>
                </a:solidFill>
                <a:latin typeface="Abadi"/>
              </a:rPr>
              <a:t>About 1 in 2,500 term infants; atresia is 25–40% of it (Fawaz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ETHNICITY AND PLACE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INSIDE ONE COUNTRY, THE RISK IS NOT EVEN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Relative risk of biliary atresia by ancestry, region and sex; 1 = reference group</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Hopkins PC, et al. J Pediatr 2017;187:253–7 · Cavallo L, et al. J Pediatr 2022;246:89–94 · Livesey E, et al. ADC F&amp;N 2009;94:F451–5 · Davenport M, et al. J Clin Med 2021;10:5675 (Evans 2018)</a:t>
            </a:r>
          </a:p>
        </p:txBody>
      </p:sp>
      <p:sp>
        <p:nvSpPr>
          <p:cNvPr id="12" name="TextBox 11"/>
          <p:cNvSpPr txBox="1"/>
          <p:nvPr/>
        </p:nvSpPr>
        <p:spPr>
          <a:xfrm>
            <a:off x="548640" y="1874519"/>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New Zealand: Māori vs European ancestry</a:t>
            </a:r>
          </a:p>
        </p:txBody>
      </p:sp>
      <p:sp>
        <p:nvSpPr>
          <p:cNvPr id="13" name="Rectangle 12"/>
          <p:cNvSpPr/>
          <p:nvPr/>
        </p:nvSpPr>
        <p:spPr>
          <a:xfrm>
            <a:off x="3886199" y="1965960"/>
            <a:ext cx="2949382" cy="27432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8734" y="1874519"/>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 3.0</a:t>
            </a:r>
          </a:p>
        </p:txBody>
      </p:sp>
      <p:sp>
        <p:nvSpPr>
          <p:cNvPr id="15" name="TextBox 14"/>
          <p:cNvSpPr txBox="1"/>
          <p:nvPr/>
        </p:nvSpPr>
        <p:spPr>
          <a:xfrm>
            <a:off x="548640" y="2331720"/>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England: south-east vs north-west</a:t>
            </a:r>
          </a:p>
        </p:txBody>
      </p:sp>
      <p:sp>
        <p:nvSpPr>
          <p:cNvPr id="16" name="Rectangle 15"/>
          <p:cNvSpPr/>
          <p:nvPr/>
        </p:nvSpPr>
        <p:spPr>
          <a:xfrm>
            <a:off x="3886199" y="2423160"/>
            <a:ext cx="1995456" cy="27432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54808" y="2331720"/>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OR 2.05</a:t>
            </a:r>
          </a:p>
        </p:txBody>
      </p:sp>
      <p:sp>
        <p:nvSpPr>
          <p:cNvPr id="18" name="TextBox 17"/>
          <p:cNvSpPr txBox="1"/>
          <p:nvPr/>
        </p:nvSpPr>
        <p:spPr>
          <a:xfrm>
            <a:off x="548640" y="2788920"/>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USA: Asian / Pacific Islander</a:t>
            </a:r>
          </a:p>
        </p:txBody>
      </p:sp>
      <p:sp>
        <p:nvSpPr>
          <p:cNvPr id="19" name="Rectangle 18"/>
          <p:cNvSpPr/>
          <p:nvPr/>
        </p:nvSpPr>
        <p:spPr>
          <a:xfrm>
            <a:off x="3886199" y="2880360"/>
            <a:ext cx="1839713" cy="27432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99065" y="2788920"/>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RR 1.89</a:t>
            </a:r>
          </a:p>
        </p:txBody>
      </p:sp>
      <p:sp>
        <p:nvSpPr>
          <p:cNvPr id="21" name="TextBox 20"/>
          <p:cNvSpPr txBox="1"/>
          <p:nvPr/>
        </p:nvSpPr>
        <p:spPr>
          <a:xfrm>
            <a:off x="548640" y="3246120"/>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Texas: female sex</a:t>
            </a:r>
          </a:p>
        </p:txBody>
      </p:sp>
      <p:sp>
        <p:nvSpPr>
          <p:cNvPr id="22" name="Rectangle 21"/>
          <p:cNvSpPr/>
          <p:nvPr/>
        </p:nvSpPr>
        <p:spPr>
          <a:xfrm>
            <a:off x="3886199" y="3337560"/>
            <a:ext cx="1635301" cy="27432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94653" y="3246120"/>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aPR 1.68</a:t>
            </a:r>
          </a:p>
        </p:txBody>
      </p:sp>
      <p:sp>
        <p:nvSpPr>
          <p:cNvPr id="24" name="TextBox 23"/>
          <p:cNvSpPr txBox="1"/>
          <p:nvPr/>
        </p:nvSpPr>
        <p:spPr>
          <a:xfrm>
            <a:off x="548640" y="3703320"/>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Texas: Black vs White mothers</a:t>
            </a:r>
          </a:p>
        </p:txBody>
      </p:sp>
      <p:sp>
        <p:nvSpPr>
          <p:cNvPr id="25" name="Rectangle 24"/>
          <p:cNvSpPr/>
          <p:nvPr/>
        </p:nvSpPr>
        <p:spPr>
          <a:xfrm>
            <a:off x="3886199" y="3794759"/>
            <a:ext cx="1499026" cy="27432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58378" y="3703320"/>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aPR 1.54</a:t>
            </a:r>
          </a:p>
        </p:txBody>
      </p:sp>
      <p:sp>
        <p:nvSpPr>
          <p:cNvPr id="27" name="TextBox 26"/>
          <p:cNvSpPr txBox="1"/>
          <p:nvPr/>
        </p:nvSpPr>
        <p:spPr>
          <a:xfrm>
            <a:off x="548640" y="4160520"/>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USA: female sex</a:t>
            </a:r>
          </a:p>
        </p:txBody>
      </p:sp>
      <p:sp>
        <p:nvSpPr>
          <p:cNvPr id="28" name="Rectangle 27"/>
          <p:cNvSpPr/>
          <p:nvPr/>
        </p:nvSpPr>
        <p:spPr>
          <a:xfrm>
            <a:off x="3886199" y="4251959"/>
            <a:ext cx="1391952" cy="27432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51304" y="4160520"/>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RR 1.43</a:t>
            </a:r>
          </a:p>
        </p:txBody>
      </p:sp>
      <p:sp>
        <p:nvSpPr>
          <p:cNvPr id="30" name="TextBox 29"/>
          <p:cNvSpPr txBox="1"/>
          <p:nvPr/>
        </p:nvSpPr>
        <p:spPr>
          <a:xfrm>
            <a:off x="548640" y="4617720"/>
            <a:ext cx="3246120" cy="457200"/>
          </a:xfrm>
          <a:prstGeom prst="rect">
            <a:avLst/>
          </a:prstGeom>
          <a:noFill/>
        </p:spPr>
        <p:txBody>
          <a:bodyPr wrap="square" lIns="45720" rIns="45720" tIns="27432" bIns="27432" anchor="ctr">
            <a:spAutoFit/>
          </a:bodyPr>
          <a:lstStyle/>
          <a:p>
            <a:pPr algn="l"/>
            <a:r>
              <a:rPr sz="1100" b="0" i="0">
                <a:solidFill>
                  <a:srgbClr val="1A1A1A"/>
                </a:solidFill>
                <a:latin typeface="Abadi"/>
              </a:rPr>
              <a:t>USA: Black infants</a:t>
            </a:r>
          </a:p>
        </p:txBody>
      </p:sp>
      <p:sp>
        <p:nvSpPr>
          <p:cNvPr id="31" name="Rectangle 30"/>
          <p:cNvSpPr/>
          <p:nvPr/>
        </p:nvSpPr>
        <p:spPr>
          <a:xfrm>
            <a:off x="3886199" y="4709159"/>
            <a:ext cx="1265411" cy="27432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24763" y="4617720"/>
            <a:ext cx="1463040" cy="457200"/>
          </a:xfrm>
          <a:prstGeom prst="rect">
            <a:avLst/>
          </a:prstGeom>
          <a:noFill/>
        </p:spPr>
        <p:txBody>
          <a:bodyPr wrap="square" lIns="45720" rIns="45720" tIns="27432" bIns="27432" anchor="ctr">
            <a:spAutoFit/>
          </a:bodyPr>
          <a:lstStyle/>
          <a:p>
            <a:pPr algn="l"/>
            <a:r>
              <a:rPr sz="1100" b="1" i="0">
                <a:solidFill>
                  <a:srgbClr val="1A1A1A"/>
                </a:solidFill>
                <a:latin typeface="Abadi"/>
              </a:rPr>
              <a:t>RR 1.30</a:t>
            </a:r>
          </a:p>
        </p:txBody>
      </p:sp>
      <p:sp>
        <p:nvSpPr>
          <p:cNvPr id="33" name="TextBox 32"/>
          <p:cNvSpPr txBox="1"/>
          <p:nvPr/>
        </p:nvSpPr>
        <p:spPr>
          <a:xfrm>
            <a:off x="8092440" y="1773936"/>
            <a:ext cx="3538728" cy="4023360"/>
          </a:xfrm>
          <a:prstGeom prst="rect">
            <a:avLst/>
          </a:prstGeom>
          <a:noFill/>
        </p:spPr>
        <p:txBody>
          <a:bodyPr wrap="square" lIns="45720" rIns="45720" tIns="27432" bIns="27432" anchor="t">
            <a:spAutoFit/>
          </a:bodyPr>
          <a:lstStyle/>
          <a:p>
            <a:pPr algn="l"/>
            <a:r>
              <a:rPr sz="1700" b="1" i="0">
                <a:solidFill>
                  <a:srgbClr val="1B355E"/>
                </a:solidFill>
                <a:latin typeface="Abadi"/>
              </a:rPr>
              <a:t>1 in 14,000 vs 1 in 22,700</a:t>
            </a:r>
          </a:p>
          <a:p>
            <a:pPr algn="l">
              <a:spcAft>
                <a:spcPts val="900"/>
              </a:spcAft>
            </a:pPr>
            <a:r>
              <a:rPr sz="1000" b="0" i="0">
                <a:solidFill>
                  <a:srgbClr val="555555"/>
                </a:solidFill>
                <a:latin typeface="Abadi"/>
              </a:rPr>
              <a:t>London (40% non-white births) versus north-west England (15% non-white).</a:t>
            </a:r>
          </a:p>
          <a:p>
            <a:pPr algn="l"/>
            <a:r>
              <a:rPr sz="1700" b="1" i="0">
                <a:solidFill>
                  <a:srgbClr val="1B355E"/>
                </a:solidFill>
                <a:latin typeface="Abadi"/>
              </a:rPr>
              <a:t>Later surgery</a:t>
            </a:r>
          </a:p>
          <a:p>
            <a:pPr algn="l">
              <a:spcAft>
                <a:spcPts val="900"/>
              </a:spcAft>
            </a:pPr>
            <a:r>
              <a:rPr sz="1000" b="0" i="0">
                <a:solidFill>
                  <a:srgbClr val="555555"/>
                </a:solidFill>
                <a:latin typeface="Abadi"/>
              </a:rPr>
              <a:t>South Asian infants in England reached the Kasai at a median of 59 vs 52 days.</a:t>
            </a:r>
          </a:p>
          <a:p>
            <a:pPr algn="l"/>
            <a:r>
              <a:rPr sz="1700" b="1" i="0">
                <a:solidFill>
                  <a:srgbClr val="1B355E"/>
                </a:solidFill>
                <a:latin typeface="Abadi"/>
              </a:rPr>
              <a:t>Genes add little</a:t>
            </a:r>
          </a:p>
          <a:p>
            <a:pPr algn="l">
              <a:spcAft>
                <a:spcPts val="900"/>
              </a:spcAft>
            </a:pPr>
            <a:r>
              <a:rPr sz="1000" b="0" i="0">
                <a:solidFill>
                  <a:srgbClr val="555555"/>
                </a:solidFill>
                <a:latin typeface="Abadi"/>
              </a:rPr>
              <a:t>Ciliary gene variants imply only about a two-fold risk: environment and development dominate.</a:t>
            </a:r>
          </a:p>
        </p:txBody>
      </p:sp>
      <p:sp>
        <p:nvSpPr>
          <p:cNvPr id="34" name="TextBox 33"/>
          <p:cNvSpPr txBox="1"/>
          <p:nvPr/>
        </p:nvSpPr>
        <p:spPr>
          <a:xfrm>
            <a:off x="548640" y="5212080"/>
            <a:ext cx="7315200" cy="594360"/>
          </a:xfrm>
          <a:prstGeom prst="rect">
            <a:avLst/>
          </a:prstGeom>
          <a:noFill/>
        </p:spPr>
        <p:txBody>
          <a:bodyPr wrap="square" lIns="45720" rIns="45720" tIns="27432" bIns="27432" anchor="t">
            <a:spAutoFit/>
          </a:bodyPr>
          <a:lstStyle/>
          <a:p>
            <a:pPr algn="l">
              <a:spcAft>
                <a:spcPts val="600"/>
              </a:spcAft>
            </a:pPr>
            <a:r>
              <a:rPr sz="1200" b="1" i="0">
                <a:solidFill>
                  <a:srgbClr val="B22222"/>
                </a:solidFill>
                <a:latin typeface="Abadi"/>
              </a:rPr>
              <a:t>Read it as.  </a:t>
            </a:r>
            <a:r>
              <a:rPr sz="1200" b="0" i="0">
                <a:solidFill>
                  <a:srgbClr val="1A1A1A"/>
                </a:solidFill>
                <a:latin typeface="Abadi"/>
              </a:rPr>
              <a:t>Ancestry shifts the prior; it never removes atresia from the differential of a pale stool.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RISK FACTORS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DIABETES, PREMATURITY AND THE IN-UTERO STORY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Texas Birth Defects Registry, 305 cases among 4.69 million births: adjusted prevalence ratio, 95% CI (log scale)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Cavallo L, et al. J Pediatr 2022;246:89–94 · Fischler B, et al. J Pediatr 2002;141:217–22 · Davenport M. World J Pediatr Surg 2025;8:e001040</a:t>
            </a:r>
          </a:p>
        </p:txBody>
      </p:sp>
      <p:sp>
        <p:nvSpPr>
          <p:cNvPr id="12" name="Rectangle 11"/>
          <p:cNvSpPr/>
          <p:nvPr/>
        </p:nvSpPr>
        <p:spPr>
          <a:xfrm>
            <a:off x="3063240" y="4983480"/>
            <a:ext cx="365760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1920240"/>
            <a:ext cx="13716" cy="306324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501091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0.25</a:t>
            </a:r>
          </a:p>
        </p:txBody>
      </p:sp>
      <p:sp>
        <p:nvSpPr>
          <p:cNvPr id="15" name="TextBox 14"/>
          <p:cNvSpPr txBox="1"/>
          <p:nvPr/>
        </p:nvSpPr>
        <p:spPr>
          <a:xfrm>
            <a:off x="3520440" y="501091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0.5</a:t>
            </a:r>
          </a:p>
        </p:txBody>
      </p:sp>
      <p:sp>
        <p:nvSpPr>
          <p:cNvPr id="16" name="TextBox 15"/>
          <p:cNvSpPr txBox="1"/>
          <p:nvPr/>
        </p:nvSpPr>
        <p:spPr>
          <a:xfrm>
            <a:off x="4251960" y="501091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1</a:t>
            </a:r>
          </a:p>
        </p:txBody>
      </p:sp>
      <p:sp>
        <p:nvSpPr>
          <p:cNvPr id="17" name="TextBox 16"/>
          <p:cNvSpPr txBox="1"/>
          <p:nvPr/>
        </p:nvSpPr>
        <p:spPr>
          <a:xfrm>
            <a:off x="4983480" y="501091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2</a:t>
            </a:r>
          </a:p>
        </p:txBody>
      </p:sp>
      <p:sp>
        <p:nvSpPr>
          <p:cNvPr id="18" name="TextBox 17"/>
          <p:cNvSpPr txBox="1"/>
          <p:nvPr/>
        </p:nvSpPr>
        <p:spPr>
          <a:xfrm>
            <a:off x="5715000" y="501091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4</a:t>
            </a:r>
          </a:p>
        </p:txBody>
      </p:sp>
      <p:sp>
        <p:nvSpPr>
          <p:cNvPr id="19" name="TextBox 18"/>
          <p:cNvSpPr txBox="1"/>
          <p:nvPr/>
        </p:nvSpPr>
        <p:spPr>
          <a:xfrm>
            <a:off x="6446520" y="501091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8</a:t>
            </a:r>
          </a:p>
        </p:txBody>
      </p:sp>
      <p:sp>
        <p:nvSpPr>
          <p:cNvPr id="20" name="TextBox 19"/>
          <p:cNvSpPr txBox="1"/>
          <p:nvPr/>
        </p:nvSpPr>
        <p:spPr>
          <a:xfrm>
            <a:off x="548640" y="1965960"/>
            <a:ext cx="2423160" cy="502920"/>
          </a:xfrm>
          <a:prstGeom prst="rect">
            <a:avLst/>
          </a:prstGeom>
          <a:noFill/>
        </p:spPr>
        <p:txBody>
          <a:bodyPr wrap="square" lIns="45720" rIns="45720" tIns="27432" bIns="27432" anchor="ctr">
            <a:spAutoFit/>
          </a:bodyPr>
          <a:lstStyle/>
          <a:p>
            <a:pPr algn="l"/>
            <a:r>
              <a:rPr sz="1050" b="0" i="0">
                <a:solidFill>
                  <a:srgbClr val="1A1A1A"/>
                </a:solidFill>
                <a:latin typeface="Abadi"/>
              </a:rPr>
              <a:t>Preterm &lt; 32 weeks</a:t>
            </a:r>
          </a:p>
        </p:txBody>
      </p:sp>
      <p:sp>
        <p:nvSpPr>
          <p:cNvPr id="21" name="Rectangle 20"/>
          <p:cNvSpPr/>
          <p:nvPr/>
        </p:nvSpPr>
        <p:spPr>
          <a:xfrm>
            <a:off x="5441383" y="2208276"/>
            <a:ext cx="1013852" cy="22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iamond 21"/>
          <p:cNvSpPr/>
          <p:nvPr/>
        </p:nvSpPr>
        <p:spPr>
          <a:xfrm>
            <a:off x="5875830" y="2144268"/>
            <a:ext cx="146304" cy="146304"/>
          </a:xfrm>
          <a:prstGeom prst="diamond">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79" y="1965960"/>
            <a:ext cx="2011680" cy="502920"/>
          </a:xfrm>
          <a:prstGeom prst="rect">
            <a:avLst/>
          </a:prstGeom>
          <a:noFill/>
        </p:spPr>
        <p:txBody>
          <a:bodyPr wrap="square" lIns="45720" rIns="45720" tIns="27432" bIns="27432" anchor="ctr">
            <a:spAutoFit/>
          </a:bodyPr>
          <a:lstStyle/>
          <a:p>
            <a:pPr algn="l"/>
            <a:r>
              <a:rPr sz="1000" b="1" i="0">
                <a:solidFill>
                  <a:srgbClr val="1A1A1A"/>
                </a:solidFill>
                <a:latin typeface="Abadi"/>
              </a:rPr>
              <a:t>3.85 (2.38–6.22)</a:t>
            </a:r>
          </a:p>
        </p:txBody>
      </p:sp>
      <p:sp>
        <p:nvSpPr>
          <p:cNvPr id="24" name="TextBox 23"/>
          <p:cNvSpPr txBox="1"/>
          <p:nvPr/>
        </p:nvSpPr>
        <p:spPr>
          <a:xfrm>
            <a:off x="548640" y="2468880"/>
            <a:ext cx="2423160" cy="502920"/>
          </a:xfrm>
          <a:prstGeom prst="rect">
            <a:avLst/>
          </a:prstGeom>
          <a:noFill/>
        </p:spPr>
        <p:txBody>
          <a:bodyPr wrap="square" lIns="45720" rIns="45720" tIns="27432" bIns="27432" anchor="ctr">
            <a:spAutoFit/>
          </a:bodyPr>
          <a:lstStyle/>
          <a:p>
            <a:pPr algn="l"/>
            <a:r>
              <a:rPr sz="1050" b="0" i="0">
                <a:solidFill>
                  <a:srgbClr val="1A1A1A"/>
                </a:solidFill>
                <a:latin typeface="Abadi"/>
              </a:rPr>
              <a:t>Maternal diabetes</a:t>
            </a:r>
          </a:p>
        </p:txBody>
      </p:sp>
      <p:sp>
        <p:nvSpPr>
          <p:cNvPr id="25" name="Rectangle 24"/>
          <p:cNvSpPr/>
          <p:nvPr/>
        </p:nvSpPr>
        <p:spPr>
          <a:xfrm>
            <a:off x="5002327" y="2711196"/>
            <a:ext cx="840021" cy="22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iamond 25"/>
          <p:cNvSpPr/>
          <p:nvPr/>
        </p:nvSpPr>
        <p:spPr>
          <a:xfrm>
            <a:off x="5350343" y="2647188"/>
            <a:ext cx="146304" cy="146304"/>
          </a:xfrm>
          <a:prstGeom prst="diamond">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79" y="2468880"/>
            <a:ext cx="2011680" cy="502920"/>
          </a:xfrm>
          <a:prstGeom prst="rect">
            <a:avLst/>
          </a:prstGeom>
          <a:noFill/>
        </p:spPr>
        <p:txBody>
          <a:bodyPr wrap="square" lIns="45720" rIns="45720" tIns="27432" bIns="27432" anchor="ctr">
            <a:spAutoFit/>
          </a:bodyPr>
          <a:lstStyle/>
          <a:p>
            <a:pPr algn="l"/>
            <a:r>
              <a:rPr sz="1000" b="1" i="0">
                <a:solidFill>
                  <a:srgbClr val="1A1A1A"/>
                </a:solidFill>
                <a:latin typeface="Abadi"/>
              </a:rPr>
              <a:t>2.34 (1.57–3.48)</a:t>
            </a:r>
          </a:p>
        </p:txBody>
      </p:sp>
      <p:sp>
        <p:nvSpPr>
          <p:cNvPr id="28" name="TextBox 27"/>
          <p:cNvSpPr txBox="1"/>
          <p:nvPr/>
        </p:nvSpPr>
        <p:spPr>
          <a:xfrm>
            <a:off x="548640" y="2971800"/>
            <a:ext cx="2423160" cy="502920"/>
          </a:xfrm>
          <a:prstGeom prst="rect">
            <a:avLst/>
          </a:prstGeom>
          <a:noFill/>
        </p:spPr>
        <p:txBody>
          <a:bodyPr wrap="square" lIns="45720" rIns="45720" tIns="27432" bIns="27432" anchor="ctr">
            <a:spAutoFit/>
          </a:bodyPr>
          <a:lstStyle/>
          <a:p>
            <a:pPr algn="l"/>
            <a:r>
              <a:rPr sz="1050" b="0" i="0">
                <a:solidFill>
                  <a:srgbClr val="1A1A1A"/>
                </a:solidFill>
                <a:latin typeface="Abadi"/>
              </a:rPr>
              <a:t>Female sex</a:t>
            </a:r>
          </a:p>
        </p:txBody>
      </p:sp>
      <p:sp>
        <p:nvSpPr>
          <p:cNvPr id="29" name="Rectangle 28"/>
          <p:cNvSpPr/>
          <p:nvPr/>
        </p:nvSpPr>
        <p:spPr>
          <a:xfrm>
            <a:off x="4827246" y="3214116"/>
            <a:ext cx="492048" cy="228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mond 29"/>
          <p:cNvSpPr/>
          <p:nvPr/>
        </p:nvSpPr>
        <p:spPr>
          <a:xfrm>
            <a:off x="5000642" y="3150108"/>
            <a:ext cx="146304" cy="146304"/>
          </a:xfrm>
          <a:prstGeom prst="diamond">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79" y="2971800"/>
            <a:ext cx="2011680" cy="502920"/>
          </a:xfrm>
          <a:prstGeom prst="rect">
            <a:avLst/>
          </a:prstGeom>
          <a:noFill/>
        </p:spPr>
        <p:txBody>
          <a:bodyPr wrap="square" lIns="45720" rIns="45720" tIns="27432" bIns="27432" anchor="ctr">
            <a:spAutoFit/>
          </a:bodyPr>
          <a:lstStyle/>
          <a:p>
            <a:pPr algn="l"/>
            <a:r>
              <a:rPr sz="1000" b="1" i="0">
                <a:solidFill>
                  <a:srgbClr val="1A1A1A"/>
                </a:solidFill>
                <a:latin typeface="Abadi"/>
              </a:rPr>
              <a:t>1.68 (1.33–2.12)</a:t>
            </a:r>
          </a:p>
        </p:txBody>
      </p:sp>
      <p:sp>
        <p:nvSpPr>
          <p:cNvPr id="32" name="TextBox 31"/>
          <p:cNvSpPr txBox="1"/>
          <p:nvPr/>
        </p:nvSpPr>
        <p:spPr>
          <a:xfrm>
            <a:off x="548640" y="3474720"/>
            <a:ext cx="2423160" cy="502920"/>
          </a:xfrm>
          <a:prstGeom prst="rect">
            <a:avLst/>
          </a:prstGeom>
          <a:noFill/>
        </p:spPr>
        <p:txBody>
          <a:bodyPr wrap="square" lIns="45720" rIns="45720" tIns="27432" bIns="27432" anchor="ctr">
            <a:spAutoFit/>
          </a:bodyPr>
          <a:lstStyle/>
          <a:p>
            <a:pPr algn="l"/>
            <a:r>
              <a:rPr sz="1050" b="0" i="0">
                <a:solidFill>
                  <a:srgbClr val="1A1A1A"/>
                </a:solidFill>
                <a:latin typeface="Abadi"/>
              </a:rPr>
              <a:t>Preterm 32–37 weeks</a:t>
            </a:r>
          </a:p>
        </p:txBody>
      </p:sp>
      <p:sp>
        <p:nvSpPr>
          <p:cNvPr id="33" name="Rectangle 32"/>
          <p:cNvSpPr/>
          <p:nvPr/>
        </p:nvSpPr>
        <p:spPr>
          <a:xfrm>
            <a:off x="4700957" y="3717036"/>
            <a:ext cx="699743" cy="228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iamond 33"/>
          <p:cNvSpPr/>
          <p:nvPr/>
        </p:nvSpPr>
        <p:spPr>
          <a:xfrm>
            <a:off x="4975210" y="3653028"/>
            <a:ext cx="146304" cy="146304"/>
          </a:xfrm>
          <a:prstGeom prst="diamond">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12279" y="3474720"/>
            <a:ext cx="2011680" cy="502920"/>
          </a:xfrm>
          <a:prstGeom prst="rect">
            <a:avLst/>
          </a:prstGeom>
          <a:noFill/>
        </p:spPr>
        <p:txBody>
          <a:bodyPr wrap="square" lIns="45720" rIns="45720" tIns="27432" bIns="27432" anchor="ctr">
            <a:spAutoFit/>
          </a:bodyPr>
          <a:lstStyle/>
          <a:p>
            <a:pPr algn="l"/>
            <a:r>
              <a:rPr sz="1000" b="1" i="0">
                <a:solidFill>
                  <a:srgbClr val="1A1A1A"/>
                </a:solidFill>
                <a:latin typeface="Abadi"/>
              </a:rPr>
              <a:t>1.64 (1.18–2.29)</a:t>
            </a:r>
          </a:p>
        </p:txBody>
      </p:sp>
      <p:sp>
        <p:nvSpPr>
          <p:cNvPr id="36" name="TextBox 35"/>
          <p:cNvSpPr txBox="1"/>
          <p:nvPr/>
        </p:nvSpPr>
        <p:spPr>
          <a:xfrm>
            <a:off x="548640" y="3977639"/>
            <a:ext cx="2423160" cy="502920"/>
          </a:xfrm>
          <a:prstGeom prst="rect">
            <a:avLst/>
          </a:prstGeom>
          <a:noFill/>
        </p:spPr>
        <p:txBody>
          <a:bodyPr wrap="square" lIns="45720" rIns="45720" tIns="27432" bIns="27432" anchor="ctr">
            <a:spAutoFit/>
          </a:bodyPr>
          <a:lstStyle/>
          <a:p>
            <a:pPr algn="l"/>
            <a:r>
              <a:rPr sz="1050" b="0" i="0">
                <a:solidFill>
                  <a:srgbClr val="1A1A1A"/>
                </a:solidFill>
                <a:latin typeface="Abadi"/>
              </a:rPr>
              <a:t>Black vs White mother</a:t>
            </a:r>
          </a:p>
        </p:txBody>
      </p:sp>
      <p:sp>
        <p:nvSpPr>
          <p:cNvPr id="37" name="Rectangle 36"/>
          <p:cNvSpPr/>
          <p:nvPr/>
        </p:nvSpPr>
        <p:spPr>
          <a:xfrm>
            <a:off x="4587774" y="4219956"/>
            <a:ext cx="789627" cy="22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iamond 37"/>
          <p:cNvSpPr/>
          <p:nvPr/>
        </p:nvSpPr>
        <p:spPr>
          <a:xfrm>
            <a:off x="4908814" y="4155948"/>
            <a:ext cx="146304" cy="146304"/>
          </a:xfrm>
          <a:prstGeom prst="diamond">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12279" y="3977639"/>
            <a:ext cx="2011680" cy="502920"/>
          </a:xfrm>
          <a:prstGeom prst="rect">
            <a:avLst/>
          </a:prstGeom>
          <a:noFill/>
        </p:spPr>
        <p:txBody>
          <a:bodyPr wrap="square" lIns="45720" rIns="45720" tIns="27432" bIns="27432" anchor="ctr">
            <a:spAutoFit/>
          </a:bodyPr>
          <a:lstStyle/>
          <a:p>
            <a:pPr algn="l"/>
            <a:r>
              <a:rPr sz="1000" b="1" i="0">
                <a:solidFill>
                  <a:srgbClr val="1A1A1A"/>
                </a:solidFill>
                <a:latin typeface="Abadi"/>
              </a:rPr>
              <a:t>1.54 (1.06–2.24)</a:t>
            </a:r>
          </a:p>
        </p:txBody>
      </p:sp>
      <p:sp>
        <p:nvSpPr>
          <p:cNvPr id="40" name="TextBox 39"/>
          <p:cNvSpPr txBox="1"/>
          <p:nvPr/>
        </p:nvSpPr>
        <p:spPr>
          <a:xfrm>
            <a:off x="548640" y="4480560"/>
            <a:ext cx="2423160" cy="502920"/>
          </a:xfrm>
          <a:prstGeom prst="rect">
            <a:avLst/>
          </a:prstGeom>
          <a:noFill/>
        </p:spPr>
        <p:txBody>
          <a:bodyPr wrap="square" lIns="45720" rIns="45720" tIns="27432" bIns="27432" anchor="ctr">
            <a:spAutoFit/>
          </a:bodyPr>
          <a:lstStyle/>
          <a:p>
            <a:pPr algn="l"/>
            <a:r>
              <a:rPr sz="1050" b="0" i="0">
                <a:solidFill>
                  <a:srgbClr val="1A1A1A"/>
                </a:solidFill>
                <a:latin typeface="Abadi"/>
              </a:rPr>
              <a:t>Autumn vs spring conception</a:t>
            </a:r>
          </a:p>
        </p:txBody>
      </p:sp>
      <p:sp>
        <p:nvSpPr>
          <p:cNvPr id="41" name="Rectangle 40"/>
          <p:cNvSpPr/>
          <p:nvPr/>
        </p:nvSpPr>
        <p:spPr>
          <a:xfrm>
            <a:off x="3683566" y="4722876"/>
            <a:ext cx="683540" cy="228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mond 41"/>
          <p:cNvSpPr/>
          <p:nvPr/>
        </p:nvSpPr>
        <p:spPr>
          <a:xfrm>
            <a:off x="3948628" y="4658868"/>
            <a:ext cx="146304" cy="146304"/>
          </a:xfrm>
          <a:prstGeom prst="diamond">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12279" y="4480560"/>
            <a:ext cx="2011680" cy="502920"/>
          </a:xfrm>
          <a:prstGeom prst="rect">
            <a:avLst/>
          </a:prstGeom>
          <a:noFill/>
        </p:spPr>
        <p:txBody>
          <a:bodyPr wrap="square" lIns="45720" rIns="45720" tIns="27432" bIns="27432" anchor="ctr">
            <a:spAutoFit/>
          </a:bodyPr>
          <a:lstStyle/>
          <a:p>
            <a:pPr algn="l"/>
            <a:r>
              <a:rPr sz="1000" b="1" i="0">
                <a:solidFill>
                  <a:srgbClr val="1A1A1A"/>
                </a:solidFill>
                <a:latin typeface="Abadi"/>
              </a:rPr>
              <a:t>0.62 (0.45–0.86)</a:t>
            </a:r>
          </a:p>
        </p:txBody>
      </p:sp>
      <p:sp>
        <p:nvSpPr>
          <p:cNvPr id="44" name="TextBox 43"/>
          <p:cNvSpPr txBox="1"/>
          <p:nvPr/>
        </p:nvSpPr>
        <p:spPr>
          <a:xfrm>
            <a:off x="8915400" y="1773936"/>
            <a:ext cx="2715768" cy="4023360"/>
          </a:xfrm>
          <a:prstGeom prst="rect">
            <a:avLst/>
          </a:prstGeom>
          <a:noFill/>
        </p:spPr>
        <p:txBody>
          <a:bodyPr wrap="square" lIns="45720" rIns="45720" tIns="27432" bIns="27432" anchor="t">
            <a:spAutoFit/>
          </a:bodyPr>
          <a:lstStyle/>
          <a:p>
            <a:pPr algn="l"/>
            <a:r>
              <a:rPr sz="1700" b="1" i="0">
                <a:solidFill>
                  <a:srgbClr val="1B355E"/>
                </a:solidFill>
                <a:latin typeface="Abadi"/>
              </a:rPr>
              <a:t>Sweden, 85 cases</a:t>
            </a:r>
          </a:p>
          <a:p>
            <a:pPr algn="l">
              <a:spcAft>
                <a:spcPts val="900"/>
              </a:spcAft>
            </a:pPr>
            <a:r>
              <a:rPr sz="1000" b="0" i="0">
                <a:solidFill>
                  <a:srgbClr val="555555"/>
                </a:solidFill>
                <a:latin typeface="Abadi"/>
              </a:rPr>
              <a:t>Maternal age OR 3.0, parity ≥ 4 OR 2.2, prematurity OR 2.9, small for dates OR 4.7.</a:t>
            </a:r>
          </a:p>
          <a:p>
            <a:pPr algn="l"/>
            <a:r>
              <a:rPr sz="1700" b="1" i="0">
                <a:solidFill>
                  <a:srgbClr val="1B355E"/>
                </a:solidFill>
                <a:latin typeface="Abadi"/>
              </a:rPr>
              <a:t>Laterality: OR 26</a:t>
            </a:r>
          </a:p>
          <a:p>
            <a:pPr algn="l">
              <a:spcAft>
                <a:spcPts val="900"/>
              </a:spcAft>
            </a:pPr>
            <a:r>
              <a:rPr sz="1000" b="0" i="0">
                <a:solidFill>
                  <a:srgbClr val="555555"/>
                </a:solidFill>
                <a:latin typeface="Abadi"/>
              </a:rPr>
              <a:t>Pregestational diabetes in infants with laterality defects, Texas registry.</a:t>
            </a:r>
          </a:p>
          <a:p>
            <a:pPr algn="l"/>
            <a:r>
              <a:rPr sz="1700" b="1" i="0">
                <a:solidFill>
                  <a:srgbClr val="1B355E"/>
                </a:solidFill>
                <a:latin typeface="Abadi"/>
              </a:rPr>
              <a:t>Held in isolated BA</a:t>
            </a:r>
          </a:p>
          <a:p>
            <a:pPr algn="l">
              <a:spcAft>
                <a:spcPts val="900"/>
              </a:spcAft>
            </a:pPr>
            <a:r>
              <a:rPr sz="1000" b="0" i="0">
                <a:solidFill>
                  <a:srgbClr val="555555"/>
                </a:solidFill>
                <a:latin typeface="Abadi"/>
              </a:rPr>
              <a:t>Diabetes, female sex and prematurity also applied without other defects.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SEASONALITY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SEASON THAT WASN'T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Studies that looked for clustering of births or conceptions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Strickland AD, Shannon K. J Pediatr 1982 · Yoon PW, et al. Pediatrics 1997 · Ayas MF, et al. J Clin Gastroenterol 1996;22:292–4 · Fischler 2002 · Livesey 2009 · Al-Hussaini 2022 · Cavallo 2022 · Chardot 2006</a:t>
            </a:r>
          </a:p>
        </p:txBody>
      </p:sp>
      <p:graphicFrame>
        <p:nvGraphicFramePr>
          <p:cNvPr id="12" name="Table 11"/>
          <p:cNvGraphicFramePr>
            <a:graphicFrameLocks noGrp="1"/>
          </p:cNvGraphicFramePr>
          <p:nvPr/>
        </p:nvGraphicFramePr>
        <p:xfrm>
          <a:off x="548640" y="1773936"/>
          <a:ext cx="11082528" cy="3200400"/>
        </p:xfrm>
        <a:graphic>
          <a:graphicData uri="http://schemas.openxmlformats.org/drawingml/2006/table">
            <a:tbl>
              <a:tblPr firstRow="0" bandRow="0">
                <a:tableStyleId>{5C22544A-7EE6-4342-B048-85BDC9FD1C3A}</a:tableStyleId>
              </a:tblPr>
              <a:tblGrid>
                <a:gridCol w="2377440"/>
                <a:gridCol w="3108960"/>
                <a:gridCol w="4206240"/>
                <a:gridCol w="1389888"/>
              </a:tblGrid>
              <a:tr h="457200">
                <a:tc>
                  <a:txBody>
                    <a:bodyPr wrap="square"/>
                    <a:lstStyle/>
                    <a:p>
                      <a:pPr algn="l"/>
                      <a:r>
                        <a:rPr sz="1050" b="1">
                          <a:solidFill>
                            <a:srgbClr val="FFFFFF"/>
                          </a:solidFill>
                          <a:latin typeface="Abadi"/>
                        </a:rPr>
                        <a:t>Study</a:t>
                      </a:r>
                    </a:p>
                  </a:txBody>
                  <a:tcPr marL="73152" marR="73152" marT="27432" marB="27432" anchor="ctr">
                    <a:solidFill>
                      <a:srgbClr val="1B355E"/>
                    </a:solidFill>
                  </a:tcPr>
                </a:tc>
                <a:tc>
                  <a:txBody>
                    <a:bodyPr wrap="square"/>
                    <a:lstStyle/>
                    <a:p>
                      <a:pPr algn="l"/>
                      <a:r>
                        <a:rPr sz="1050" b="1">
                          <a:solidFill>
                            <a:srgbClr val="FFFFFF"/>
                          </a:solidFill>
                          <a:latin typeface="Abadi"/>
                        </a:rPr>
                        <a:t>Setting and size</a:t>
                      </a:r>
                    </a:p>
                  </a:txBody>
                  <a:tcPr marL="73152" marR="73152" marT="27432" marB="27432" anchor="ctr">
                    <a:solidFill>
                      <a:srgbClr val="1B355E"/>
                    </a:solidFill>
                  </a:tcPr>
                </a:tc>
                <a:tc>
                  <a:txBody>
                    <a:bodyPr wrap="square"/>
                    <a:lstStyle/>
                    <a:p>
                      <a:pPr algn="l"/>
                      <a:r>
                        <a:rPr sz="1050" b="1">
                          <a:solidFill>
                            <a:srgbClr val="FFFFFF"/>
                          </a:solidFill>
                          <a:latin typeface="Abadi"/>
                        </a:rPr>
                        <a:t>What it found</a:t>
                      </a:r>
                    </a:p>
                  </a:txBody>
                  <a:tcPr marL="73152" marR="73152" marT="27432" marB="27432" anchor="ctr">
                    <a:solidFill>
                      <a:srgbClr val="1B355E"/>
                    </a:solidFill>
                  </a:tcPr>
                </a:tc>
                <a:tc>
                  <a:txBody>
                    <a:bodyPr wrap="square"/>
                    <a:lstStyle/>
                    <a:p>
                      <a:pPr algn="l"/>
                      <a:r>
                        <a:rPr sz="1050" b="1">
                          <a:solidFill>
                            <a:srgbClr val="FFFFFF"/>
                          </a:solidFill>
                          <a:latin typeface="Abadi"/>
                        </a:rPr>
                        <a:t>Signal</a:t>
                      </a:r>
                    </a:p>
                  </a:txBody>
                  <a:tcPr marL="73152" marR="73152" marT="27432" marB="27432" anchor="ctr">
                    <a:solidFill>
                      <a:srgbClr val="1B355E"/>
                    </a:solidFill>
                  </a:tcPr>
                </a:tc>
              </a:tr>
              <a:tr h="457200">
                <a:tc>
                  <a:txBody>
                    <a:bodyPr wrap="square"/>
                    <a:lstStyle/>
                    <a:p>
                      <a:pPr algn="l"/>
                      <a:r>
                        <a:rPr sz="1050" b="1">
                          <a:solidFill>
                            <a:srgbClr val="1A1A1A"/>
                          </a:solidFill>
                          <a:latin typeface="Abadi"/>
                        </a:rPr>
                        <a:t>Strickland 1982; Yoon 1997</a:t>
                      </a:r>
                    </a:p>
                  </a:txBody>
                  <a:tcPr marL="73152" marR="73152" marT="27432" marB="27432" anchor="ctr">
                    <a:solidFill>
                      <a:srgbClr val="FFFFFF"/>
                    </a:solidFill>
                  </a:tcPr>
                </a:tc>
                <a:tc>
                  <a:txBody>
                    <a:bodyPr wrap="square"/>
                    <a:lstStyle/>
                    <a:p>
                      <a:pPr algn="l"/>
                      <a:r>
                        <a:rPr sz="1050" b="0">
                          <a:solidFill>
                            <a:srgbClr val="1A1A1A"/>
                          </a:solidFill>
                          <a:latin typeface="Abadi"/>
                        </a:rPr>
                        <a:t>Texas and Atlanta, small regional series</a:t>
                      </a:r>
                    </a:p>
                  </a:txBody>
                  <a:tcPr marL="73152" marR="73152" marT="27432" marB="27432" anchor="ctr">
                    <a:solidFill>
                      <a:srgbClr val="FFFFFF"/>
                    </a:solidFill>
                  </a:tcPr>
                </a:tc>
                <a:tc>
                  <a:txBody>
                    <a:bodyPr wrap="square"/>
                    <a:lstStyle/>
                    <a:p>
                      <a:pPr algn="l"/>
                      <a:r>
                        <a:rPr sz="1050" b="0">
                          <a:solidFill>
                            <a:srgbClr val="1A1A1A"/>
                          </a:solidFill>
                          <a:latin typeface="Abadi"/>
                        </a:rPr>
                        <a:t>Clustering reported (autumn in one, winter in another)</a:t>
                      </a:r>
                    </a:p>
                  </a:txBody>
                  <a:tcPr marL="73152" marR="73152" marT="27432" marB="27432" anchor="ctr">
                    <a:solidFill>
                      <a:srgbClr val="FFFFFF"/>
                    </a:solidFill>
                  </a:tcPr>
                </a:tc>
                <a:tc>
                  <a:txBody>
                    <a:bodyPr wrap="square"/>
                    <a:lstStyle/>
                    <a:p>
                      <a:pPr algn="l"/>
                      <a:r>
                        <a:rPr sz="1050" b="0">
                          <a:solidFill>
                            <a:srgbClr val="1A1A1A"/>
                          </a:solidFill>
                          <a:latin typeface="Abadi"/>
                        </a:rPr>
                        <a:t>Positive</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Ayas 1996</a:t>
                      </a:r>
                    </a:p>
                  </a:txBody>
                  <a:tcPr marL="73152" marR="73152" marT="27432" marB="27432" anchor="ctr">
                    <a:solidFill>
                      <a:srgbClr val="F2F2F2"/>
                    </a:solidFill>
                  </a:tcPr>
                </a:tc>
                <a:tc>
                  <a:txBody>
                    <a:bodyPr wrap="square"/>
                    <a:lstStyle/>
                    <a:p>
                      <a:pPr algn="l"/>
                      <a:r>
                        <a:rPr sz="1050" b="0">
                          <a:solidFill>
                            <a:srgbClr val="1A1A1A"/>
                          </a:solidFill>
                          <a:latin typeface="Abadi"/>
                        </a:rPr>
                        <a:t>Michigan, 65 infants, power for a 30% swing</a:t>
                      </a:r>
                    </a:p>
                  </a:txBody>
                  <a:tcPr marL="73152" marR="73152" marT="27432" marB="27432" anchor="ctr">
                    <a:solidFill>
                      <a:srgbClr val="F2F2F2"/>
                    </a:solidFill>
                  </a:tcPr>
                </a:tc>
                <a:tc>
                  <a:txBody>
                    <a:bodyPr wrap="square"/>
                    <a:lstStyle/>
                    <a:p>
                      <a:pPr algn="l"/>
                      <a:r>
                        <a:rPr sz="1050" b="0">
                          <a:solidFill>
                            <a:srgbClr val="1A1A1A"/>
                          </a:solidFill>
                          <a:latin typeface="Abadi"/>
                        </a:rPr>
                        <a:t>No monthly or seasonal variation in birth or conception</a:t>
                      </a:r>
                    </a:p>
                  </a:txBody>
                  <a:tcPr marL="73152" marR="73152" marT="27432" marB="27432" anchor="ctr">
                    <a:solidFill>
                      <a:srgbClr val="F2F2F2"/>
                    </a:solidFill>
                  </a:tcPr>
                </a:tc>
                <a:tc>
                  <a:txBody>
                    <a:bodyPr wrap="square"/>
                    <a:lstStyle/>
                    <a:p>
                      <a:pPr algn="l"/>
                      <a:r>
                        <a:rPr sz="1050" b="0">
                          <a:solidFill>
                            <a:srgbClr val="1A1A1A"/>
                          </a:solidFill>
                          <a:latin typeface="Abadi"/>
                        </a:rPr>
                        <a:t>None</a:t>
                      </a:r>
                    </a:p>
                  </a:txBody>
                  <a:tcPr marL="73152" marR="73152" marT="27432" marB="27432" anchor="ctr">
                    <a:solidFill>
                      <a:srgbClr val="F2F2F2"/>
                    </a:solidFill>
                  </a:tcPr>
                </a:tc>
              </a:tr>
              <a:tr h="457200">
                <a:tc>
                  <a:txBody>
                    <a:bodyPr wrap="square"/>
                    <a:lstStyle/>
                    <a:p>
                      <a:pPr algn="l"/>
                      <a:r>
                        <a:rPr sz="1050" b="1">
                          <a:solidFill>
                            <a:srgbClr val="1A1A1A"/>
                          </a:solidFill>
                          <a:latin typeface="Abadi"/>
                        </a:rPr>
                        <a:t>Fischler 2002</a:t>
                      </a:r>
                    </a:p>
                  </a:txBody>
                  <a:tcPr marL="73152" marR="73152" marT="27432" marB="27432" anchor="ctr">
                    <a:solidFill>
                      <a:srgbClr val="FFFFFF"/>
                    </a:solidFill>
                  </a:tcPr>
                </a:tc>
                <a:tc>
                  <a:txBody>
                    <a:bodyPr wrap="square"/>
                    <a:lstStyle/>
                    <a:p>
                      <a:pPr algn="l"/>
                      <a:r>
                        <a:rPr sz="1050" b="0">
                          <a:solidFill>
                            <a:srgbClr val="1A1A1A"/>
                          </a:solidFill>
                          <a:latin typeface="Abadi"/>
                        </a:rPr>
                        <a:t>Sweden, 85 cases in 1.2 million births</a:t>
                      </a:r>
                    </a:p>
                  </a:txBody>
                  <a:tcPr marL="73152" marR="73152" marT="27432" marB="27432" anchor="ctr">
                    <a:solidFill>
                      <a:srgbClr val="FFFFFF"/>
                    </a:solidFill>
                  </a:tcPr>
                </a:tc>
                <a:tc>
                  <a:txBody>
                    <a:bodyPr wrap="square"/>
                    <a:lstStyle/>
                    <a:p>
                      <a:pPr algn="l"/>
                      <a:r>
                        <a:rPr sz="1050" b="0">
                          <a:solidFill>
                            <a:srgbClr val="1A1A1A"/>
                          </a:solidFill>
                          <a:latin typeface="Abadi"/>
                        </a:rPr>
                        <a:t>No difference in birth month</a:t>
                      </a:r>
                    </a:p>
                  </a:txBody>
                  <a:tcPr marL="73152" marR="73152" marT="27432" marB="27432" anchor="ctr">
                    <a:solidFill>
                      <a:srgbClr val="FFFFFF"/>
                    </a:solidFill>
                  </a:tcPr>
                </a:tc>
                <a:tc>
                  <a:txBody>
                    <a:bodyPr wrap="square"/>
                    <a:lstStyle/>
                    <a:p>
                      <a:pPr algn="l"/>
                      <a:r>
                        <a:rPr sz="1050" b="0">
                          <a:solidFill>
                            <a:srgbClr val="1A1A1A"/>
                          </a:solidFill>
                          <a:latin typeface="Abadi"/>
                        </a:rPr>
                        <a:t>None</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Livesey 2009</a:t>
                      </a:r>
                    </a:p>
                  </a:txBody>
                  <a:tcPr marL="73152" marR="73152" marT="27432" marB="27432" anchor="ctr">
                    <a:solidFill>
                      <a:srgbClr val="F2F2F2"/>
                    </a:solidFill>
                  </a:tcPr>
                </a:tc>
                <a:tc>
                  <a:txBody>
                    <a:bodyPr wrap="square"/>
                    <a:lstStyle/>
                    <a:p>
                      <a:pPr algn="l"/>
                      <a:r>
                        <a:rPr sz="1050" b="0">
                          <a:solidFill>
                            <a:srgbClr val="1A1A1A"/>
                          </a:solidFill>
                          <a:latin typeface="Abadi"/>
                        </a:rPr>
                        <a:t>England and Wales, 302 infants</a:t>
                      </a:r>
                    </a:p>
                  </a:txBody>
                  <a:tcPr marL="73152" marR="73152" marT="27432" marB="27432" anchor="ctr">
                    <a:solidFill>
                      <a:srgbClr val="F2F2F2"/>
                    </a:solidFill>
                  </a:tcPr>
                </a:tc>
                <a:tc>
                  <a:txBody>
                    <a:bodyPr wrap="square"/>
                    <a:lstStyle/>
                    <a:p>
                      <a:pPr algn="l"/>
                      <a:r>
                        <a:rPr sz="1050" b="0">
                          <a:solidFill>
                            <a:srgbClr val="1A1A1A"/>
                          </a:solidFill>
                          <a:latin typeface="Abadi"/>
                        </a:rPr>
                        <a:t>September commonest, December rarest; p = 0.2</a:t>
                      </a:r>
                    </a:p>
                  </a:txBody>
                  <a:tcPr marL="73152" marR="73152" marT="27432" marB="27432" anchor="ctr">
                    <a:solidFill>
                      <a:srgbClr val="F2F2F2"/>
                    </a:solidFill>
                  </a:tcPr>
                </a:tc>
                <a:tc>
                  <a:txBody>
                    <a:bodyPr wrap="square"/>
                    <a:lstStyle/>
                    <a:p>
                      <a:pPr algn="l"/>
                      <a:r>
                        <a:rPr sz="1050" b="0">
                          <a:solidFill>
                            <a:srgbClr val="1A1A1A"/>
                          </a:solidFill>
                          <a:latin typeface="Abadi"/>
                        </a:rPr>
                        <a:t>None</a:t>
                      </a:r>
                    </a:p>
                  </a:txBody>
                  <a:tcPr marL="73152" marR="73152" marT="27432" marB="27432" anchor="ctr">
                    <a:solidFill>
                      <a:srgbClr val="F2F2F2"/>
                    </a:solidFill>
                  </a:tcPr>
                </a:tc>
              </a:tr>
              <a:tr h="457200">
                <a:tc>
                  <a:txBody>
                    <a:bodyPr wrap="square"/>
                    <a:lstStyle/>
                    <a:p>
                      <a:pPr algn="l"/>
                      <a:r>
                        <a:rPr sz="1050" b="1">
                          <a:solidFill>
                            <a:srgbClr val="1A1A1A"/>
                          </a:solidFill>
                          <a:latin typeface="Abadi"/>
                        </a:rPr>
                        <a:t>Al-Hussaini 2022</a:t>
                      </a:r>
                    </a:p>
                  </a:txBody>
                  <a:tcPr marL="73152" marR="73152" marT="27432" marB="27432" anchor="ctr">
                    <a:solidFill>
                      <a:srgbClr val="FFFFFF"/>
                    </a:solidFill>
                  </a:tcPr>
                </a:tc>
                <a:tc>
                  <a:txBody>
                    <a:bodyPr wrap="square"/>
                    <a:lstStyle/>
                    <a:p>
                      <a:pPr algn="l"/>
                      <a:r>
                        <a:rPr sz="1050" b="0">
                          <a:solidFill>
                            <a:srgbClr val="1A1A1A"/>
                          </a:solidFill>
                          <a:latin typeface="Abadi"/>
                        </a:rPr>
                        <a:t>Saudi Arabia, 204 infants, 2000–18</a:t>
                      </a:r>
                    </a:p>
                  </a:txBody>
                  <a:tcPr marL="73152" marR="73152" marT="27432" marB="27432" anchor="ctr">
                    <a:solidFill>
                      <a:srgbClr val="FFFFFF"/>
                    </a:solidFill>
                  </a:tcPr>
                </a:tc>
                <a:tc>
                  <a:txBody>
                    <a:bodyPr wrap="square"/>
                    <a:lstStyle/>
                    <a:p>
                      <a:pPr algn="l"/>
                      <a:r>
                        <a:rPr sz="1050" b="0">
                          <a:solidFill>
                            <a:srgbClr val="1A1A1A"/>
                          </a:solidFill>
                          <a:latin typeface="Abadi"/>
                        </a:rPr>
                        <a:t>No seasonal or time clustering; peaks in 3 years</a:t>
                      </a:r>
                    </a:p>
                  </a:txBody>
                  <a:tcPr marL="73152" marR="73152" marT="27432" marB="27432" anchor="ctr">
                    <a:solidFill>
                      <a:srgbClr val="FFFFFF"/>
                    </a:solidFill>
                  </a:tcPr>
                </a:tc>
                <a:tc>
                  <a:txBody>
                    <a:bodyPr wrap="square"/>
                    <a:lstStyle/>
                    <a:p>
                      <a:pPr algn="l"/>
                      <a:r>
                        <a:rPr sz="1050" b="0">
                          <a:solidFill>
                            <a:srgbClr val="1A1A1A"/>
                          </a:solidFill>
                          <a:latin typeface="Abadi"/>
                        </a:rPr>
                        <a:t>None</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Cavallo 2022</a:t>
                      </a:r>
                    </a:p>
                  </a:txBody>
                  <a:tcPr marL="73152" marR="73152" marT="27432" marB="27432" anchor="ctr">
                    <a:solidFill>
                      <a:srgbClr val="F2F2F2"/>
                    </a:solidFill>
                  </a:tcPr>
                </a:tc>
                <a:tc>
                  <a:txBody>
                    <a:bodyPr wrap="square"/>
                    <a:lstStyle/>
                    <a:p>
                      <a:pPr algn="l"/>
                      <a:r>
                        <a:rPr sz="1050" b="0">
                          <a:solidFill>
                            <a:srgbClr val="1A1A1A"/>
                          </a:solidFill>
                          <a:latin typeface="Abadi"/>
                        </a:rPr>
                        <a:t>Texas registry, 305 cases</a:t>
                      </a:r>
                    </a:p>
                  </a:txBody>
                  <a:tcPr marL="73152" marR="73152" marT="27432" marB="27432" anchor="ctr">
                    <a:solidFill>
                      <a:srgbClr val="F2F2F2"/>
                    </a:solidFill>
                  </a:tcPr>
                </a:tc>
                <a:tc>
                  <a:txBody>
                    <a:bodyPr wrap="square"/>
                    <a:lstStyle/>
                    <a:p>
                      <a:pPr algn="l"/>
                      <a:r>
                        <a:rPr sz="1050" b="0">
                          <a:solidFill>
                            <a:srgbClr val="1A1A1A"/>
                          </a:solidFill>
                          <a:latin typeface="Abadi"/>
                        </a:rPr>
                        <a:t>Autumn conception less likely than spring, aPR 0.62</a:t>
                      </a:r>
                    </a:p>
                  </a:txBody>
                  <a:tcPr marL="73152" marR="73152" marT="27432" marB="27432" anchor="ctr">
                    <a:solidFill>
                      <a:srgbClr val="F2F2F2"/>
                    </a:solidFill>
                  </a:tcPr>
                </a:tc>
                <a:tc>
                  <a:txBody>
                    <a:bodyPr wrap="square"/>
                    <a:lstStyle/>
                    <a:p>
                      <a:pPr algn="l"/>
                      <a:r>
                        <a:rPr sz="1050" b="0">
                          <a:solidFill>
                            <a:srgbClr val="1A1A1A"/>
                          </a:solidFill>
                          <a:latin typeface="Abadi"/>
                        </a:rPr>
                        <a:t>Weak</a:t>
                      </a:r>
                    </a:p>
                  </a:txBody>
                  <a:tcPr marL="73152" marR="73152" marT="27432" marB="27432" anchor="ctr">
                    <a:solidFill>
                      <a:srgbClr val="F2F2F2"/>
                    </a:solidFill>
                  </a:tcPr>
                </a:tc>
              </a:tr>
            </a:tbl>
          </a:graphicData>
        </a:graphic>
      </p:graphicFrame>
      <p:sp>
        <p:nvSpPr>
          <p:cNvPr id="13" name="TextBox 12"/>
          <p:cNvSpPr txBox="1"/>
          <p:nvPr/>
        </p:nvSpPr>
        <p:spPr>
          <a:xfrm>
            <a:off x="548640" y="5138928"/>
            <a:ext cx="11082528" cy="685800"/>
          </a:xfrm>
          <a:prstGeom prst="rect">
            <a:avLst/>
          </a:prstGeom>
          <a:noFill/>
        </p:spPr>
        <p:txBody>
          <a:bodyPr wrap="square" lIns="45720" rIns="45720" tIns="27432" bIns="27432" anchor="t">
            <a:spAutoFit/>
          </a:bodyPr>
          <a:lstStyle/>
          <a:p>
            <a:pPr algn="l">
              <a:spcAft>
                <a:spcPts val="600"/>
              </a:spcAft>
            </a:pPr>
            <a:r>
              <a:rPr sz="1200" b="1" i="0">
                <a:solidFill>
                  <a:srgbClr val="1B355E"/>
                </a:solidFill>
                <a:latin typeface="Abadi"/>
              </a:rPr>
              <a:t>Verdict.  </a:t>
            </a:r>
            <a:r>
              <a:rPr sz="1200" b="0" i="0">
                <a:solidFill>
                  <a:srgbClr val="1A1A1A"/>
                </a:solidFill>
                <a:latin typeface="Abadi"/>
              </a:rPr>
              <a:t>The early clusters came from small series; large national datasets do not reproduce a season. A viral trigger may still act in a subgroup (CMV), but seasonality is not a clinical tool.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CLASSIFICATION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THREE GROUPS IN THE GUIDELINE, FIVE IN THE CLINIC</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The NASPGHAN/ESPGHAN split by associated anomalies, and the phenotypes used by the King's College group</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Fawaz R, et al. JPGN 2017;64:154–68 · Davenport M, et al. J Clin Med 2021;10:5675 · He L, et al. Int J Mol Sci 2022;23:4841</a:t>
            </a:r>
          </a:p>
        </p:txBody>
      </p:sp>
      <p:sp>
        <p:nvSpPr>
          <p:cNvPr id="12" name="Rectangle 11"/>
          <p:cNvSpPr/>
          <p:nvPr/>
        </p:nvSpPr>
        <p:spPr>
          <a:xfrm>
            <a:off x="548640" y="1773936"/>
            <a:ext cx="1889759" cy="19659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889759"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1560576" cy="502920"/>
          </a:xfrm>
          <a:prstGeom prst="rect">
            <a:avLst/>
          </a:prstGeom>
          <a:noFill/>
        </p:spPr>
        <p:txBody>
          <a:bodyPr wrap="square" lIns="45720" rIns="45720" tIns="27432" bIns="27432" anchor="t">
            <a:spAutoFit/>
          </a:bodyPr>
          <a:lstStyle/>
          <a:p>
            <a:pPr algn="l"/>
            <a:r>
              <a:rPr sz="2600" b="1" i="0">
                <a:solidFill>
                  <a:srgbClr val="1B355E"/>
                </a:solidFill>
                <a:latin typeface="Abadi"/>
              </a:rPr>
              <a:t>84%</a:t>
            </a:r>
          </a:p>
        </p:txBody>
      </p:sp>
      <p:sp>
        <p:nvSpPr>
          <p:cNvPr id="15" name="TextBox 14"/>
          <p:cNvSpPr txBox="1"/>
          <p:nvPr/>
        </p:nvSpPr>
        <p:spPr>
          <a:xfrm>
            <a:off x="713232" y="2578608"/>
            <a:ext cx="1560576" cy="1069848"/>
          </a:xfrm>
          <a:prstGeom prst="rect">
            <a:avLst/>
          </a:prstGeom>
          <a:noFill/>
        </p:spPr>
        <p:txBody>
          <a:bodyPr wrap="square" lIns="45720" rIns="45720" tIns="27432" bIns="27432" anchor="t">
            <a:spAutoFit/>
          </a:bodyPr>
          <a:lstStyle/>
          <a:p>
            <a:pPr algn="l"/>
            <a:r>
              <a:rPr sz="1100" b="0" i="0">
                <a:solidFill>
                  <a:srgbClr val="1A1A1A"/>
                </a:solidFill>
                <a:latin typeface="Abadi"/>
              </a:rPr>
              <a:t>Non-syndromic: biliary atresia as the only anomaly (Fawaz 2017).</a:t>
            </a:r>
          </a:p>
        </p:txBody>
      </p:sp>
      <p:sp>
        <p:nvSpPr>
          <p:cNvPr id="16" name="Rectangle 15"/>
          <p:cNvSpPr/>
          <p:nvPr/>
        </p:nvSpPr>
        <p:spPr>
          <a:xfrm>
            <a:off x="2621280" y="1773936"/>
            <a:ext cx="1889759" cy="196596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21280" y="1773936"/>
            <a:ext cx="1889759"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5872" y="2002536"/>
            <a:ext cx="1560576" cy="502920"/>
          </a:xfrm>
          <a:prstGeom prst="rect">
            <a:avLst/>
          </a:prstGeom>
          <a:noFill/>
        </p:spPr>
        <p:txBody>
          <a:bodyPr wrap="square" lIns="45720" rIns="45720" tIns="27432" bIns="27432" anchor="t">
            <a:spAutoFit/>
          </a:bodyPr>
          <a:lstStyle/>
          <a:p>
            <a:pPr algn="l"/>
            <a:r>
              <a:rPr sz="2600" b="1" i="0">
                <a:solidFill>
                  <a:srgbClr val="7F7F7F"/>
                </a:solidFill>
                <a:latin typeface="Abadi"/>
              </a:rPr>
              <a:t>6%</a:t>
            </a:r>
          </a:p>
        </p:txBody>
      </p:sp>
      <p:sp>
        <p:nvSpPr>
          <p:cNvPr id="19" name="TextBox 18"/>
          <p:cNvSpPr txBox="1"/>
          <p:nvPr/>
        </p:nvSpPr>
        <p:spPr>
          <a:xfrm>
            <a:off x="2785872" y="2578608"/>
            <a:ext cx="1560576" cy="1069848"/>
          </a:xfrm>
          <a:prstGeom prst="rect">
            <a:avLst/>
          </a:prstGeom>
          <a:noFill/>
        </p:spPr>
        <p:txBody>
          <a:bodyPr wrap="square" lIns="45720" rIns="45720" tIns="27432" bIns="27432" anchor="t">
            <a:spAutoFit/>
          </a:bodyPr>
          <a:lstStyle/>
          <a:p>
            <a:pPr algn="l"/>
            <a:r>
              <a:rPr sz="1100" b="0" i="0">
                <a:solidFill>
                  <a:srgbClr val="1A1A1A"/>
                </a:solidFill>
                <a:latin typeface="Abadi"/>
              </a:rPr>
              <a:t>At least one other malformation, no laterality defect.</a:t>
            </a:r>
          </a:p>
        </p:txBody>
      </p:sp>
      <p:sp>
        <p:nvSpPr>
          <p:cNvPr id="20" name="Rectangle 19"/>
          <p:cNvSpPr/>
          <p:nvPr/>
        </p:nvSpPr>
        <p:spPr>
          <a:xfrm>
            <a:off x="4693920" y="1773936"/>
            <a:ext cx="1889759" cy="19659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93920" y="1773936"/>
            <a:ext cx="1889759"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58511" y="2002536"/>
            <a:ext cx="1560576" cy="502920"/>
          </a:xfrm>
          <a:prstGeom prst="rect">
            <a:avLst/>
          </a:prstGeom>
          <a:noFill/>
        </p:spPr>
        <p:txBody>
          <a:bodyPr wrap="square" lIns="45720" rIns="45720" tIns="27432" bIns="27432" anchor="t">
            <a:spAutoFit/>
          </a:bodyPr>
          <a:lstStyle/>
          <a:p>
            <a:pPr algn="l"/>
            <a:r>
              <a:rPr sz="2600" b="1" i="0">
                <a:solidFill>
                  <a:srgbClr val="B22222"/>
                </a:solidFill>
                <a:latin typeface="Abadi"/>
              </a:rPr>
              <a:t>10%</a:t>
            </a:r>
          </a:p>
        </p:txBody>
      </p:sp>
      <p:sp>
        <p:nvSpPr>
          <p:cNvPr id="23" name="TextBox 22"/>
          <p:cNvSpPr txBox="1"/>
          <p:nvPr/>
        </p:nvSpPr>
        <p:spPr>
          <a:xfrm>
            <a:off x="4858511" y="2578608"/>
            <a:ext cx="1560576" cy="1069848"/>
          </a:xfrm>
          <a:prstGeom prst="rect">
            <a:avLst/>
          </a:prstGeom>
          <a:noFill/>
        </p:spPr>
        <p:txBody>
          <a:bodyPr wrap="square" lIns="45720" rIns="45720" tIns="27432" bIns="27432" anchor="t">
            <a:spAutoFit/>
          </a:bodyPr>
          <a:lstStyle/>
          <a:p>
            <a:pPr algn="l"/>
            <a:r>
              <a:rPr sz="1100" b="0" i="0">
                <a:solidFill>
                  <a:srgbClr val="1A1A1A"/>
                </a:solidFill>
                <a:latin typeface="Abadi"/>
              </a:rPr>
              <a:t>Laterality defects, usually with splenic anomalies: the splenic malformation group.</a:t>
            </a:r>
          </a:p>
        </p:txBody>
      </p:sp>
      <p:sp>
        <p:nvSpPr>
          <p:cNvPr id="24" name="TextBox 23"/>
          <p:cNvSpPr txBox="1"/>
          <p:nvPr/>
        </p:nvSpPr>
        <p:spPr>
          <a:xfrm>
            <a:off x="6858000" y="1773936"/>
            <a:ext cx="4773168" cy="320040"/>
          </a:xfrm>
          <a:prstGeom prst="rect">
            <a:avLst/>
          </a:prstGeom>
          <a:noFill/>
        </p:spPr>
        <p:txBody>
          <a:bodyPr wrap="square" lIns="45720" rIns="45720" tIns="27432" bIns="27432" anchor="t">
            <a:spAutoFit/>
          </a:bodyPr>
          <a:lstStyle/>
          <a:p>
            <a:pPr algn="l"/>
            <a:r>
              <a:rPr sz="1500" b="1" i="0">
                <a:solidFill>
                  <a:srgbClr val="1B355E"/>
                </a:solidFill>
                <a:latin typeface="Abadi"/>
              </a:rPr>
              <a:t>The clinical phenotypes</a:t>
            </a:r>
          </a:p>
        </p:txBody>
      </p:sp>
      <p:sp>
        <p:nvSpPr>
          <p:cNvPr id="25" name="TextBox 24"/>
          <p:cNvSpPr txBox="1"/>
          <p:nvPr/>
        </p:nvSpPr>
        <p:spPr>
          <a:xfrm>
            <a:off x="6858000" y="2157984"/>
            <a:ext cx="4773168" cy="2194560"/>
          </a:xfrm>
          <a:prstGeom prst="rect">
            <a:avLst/>
          </a:prstGeom>
          <a:noFill/>
        </p:spPr>
        <p:txBody>
          <a:bodyPr wrap="square" lIns="45720" rIns="45720" tIns="27432" bIns="27432" anchor="t">
            <a:spAutoFit/>
          </a:bodyPr>
          <a:lstStyle/>
          <a:p>
            <a:pPr algn="l">
              <a:spcAft>
                <a:spcPts val="500"/>
              </a:spcAft>
            </a:pPr>
            <a:r>
              <a:rPr sz="1200" b="0" i="0">
                <a:solidFill>
                  <a:srgbClr val="1A1A1A"/>
                </a:solidFill>
                <a:latin typeface="Abadi"/>
              </a:rPr>
              <a:t>▪  Isolated: 67–89% of series</a:t>
            </a:r>
          </a:p>
          <a:p>
            <a:pPr algn="l">
              <a:spcAft>
                <a:spcPts val="500"/>
              </a:spcAft>
            </a:pPr>
            <a:r>
              <a:rPr sz="1200" b="0" i="0">
                <a:solidFill>
                  <a:srgbClr val="1A1A1A"/>
                </a:solidFill>
                <a:latin typeface="Abadi"/>
              </a:rPr>
              <a:t>▪  Splenic malformation (BASM): 10–15% West, &lt; 3% Japan, &lt; 1% China</a:t>
            </a:r>
          </a:p>
          <a:p>
            <a:pPr algn="l">
              <a:spcAft>
                <a:spcPts val="500"/>
              </a:spcAft>
            </a:pPr>
            <a:r>
              <a:rPr sz="1200" b="0" i="0">
                <a:solidFill>
                  <a:srgbClr val="1A1A1A"/>
                </a:solidFill>
                <a:latin typeface="Abadi"/>
              </a:rPr>
              <a:t>▪  Cystic: 5–22% depending on definition</a:t>
            </a:r>
          </a:p>
          <a:p>
            <a:pPr algn="l">
              <a:spcAft>
                <a:spcPts val="500"/>
              </a:spcAft>
            </a:pPr>
            <a:r>
              <a:rPr sz="1200" b="0" i="0">
                <a:solidFill>
                  <a:srgbClr val="1A1A1A"/>
                </a:solidFill>
                <a:latin typeface="Abadi"/>
              </a:rPr>
              <a:t>▪  CMV IgM-positive: 5–10% in Europe, more in China</a:t>
            </a:r>
          </a:p>
          <a:p>
            <a:pPr algn="l">
              <a:spcAft>
                <a:spcPts val="500"/>
              </a:spcAft>
            </a:pPr>
            <a:r>
              <a:rPr sz="1200" b="0" i="0">
                <a:solidFill>
                  <a:srgbClr val="1A1A1A"/>
                </a:solidFill>
                <a:latin typeface="Abadi"/>
              </a:rPr>
              <a:t>▪  Other syndromic: cat-eye, cardiac-associated, duodenal atresia</a:t>
            </a:r>
          </a:p>
        </p:txBody>
      </p:sp>
      <p:sp>
        <p:nvSpPr>
          <p:cNvPr id="26" name="TextBox 25"/>
          <p:cNvSpPr txBox="1"/>
          <p:nvPr/>
        </p:nvSpPr>
        <p:spPr>
          <a:xfrm>
            <a:off x="548640" y="4480560"/>
            <a:ext cx="11082528" cy="1325880"/>
          </a:xfrm>
          <a:prstGeom prst="rect">
            <a:avLst/>
          </a:prstGeom>
          <a:noFill/>
        </p:spPr>
        <p:txBody>
          <a:bodyPr wrap="square" lIns="45720" rIns="45720" tIns="27432" bIns="27432" anchor="t">
            <a:spAutoFit/>
          </a:bodyPr>
          <a:lstStyle/>
          <a:p>
            <a:pPr algn="l">
              <a:spcAft>
                <a:spcPts val="600"/>
              </a:spcAft>
            </a:pPr>
            <a:r>
              <a:rPr sz="1250" b="1" i="0">
                <a:solidFill>
                  <a:srgbClr val="1B355E"/>
                </a:solidFill>
                <a:latin typeface="Abadi"/>
              </a:rPr>
              <a:t>Not interchangeable.  </a:t>
            </a:r>
            <a:r>
              <a:rPr sz="1250" b="0" i="0">
                <a:solidFill>
                  <a:srgbClr val="1A1A1A"/>
                </a:solidFill>
                <a:latin typeface="Abadi"/>
              </a:rPr>
              <a:t>The guideline groups by anatomy at surgery; the phenotypes add timing and aetiology. CMV and cystic disease are not classes in Fawaz 2017, yet they carry the strongest prognostic signals.</a:t>
            </a:r>
          </a:p>
          <a:p>
            <a:pPr algn="l">
              <a:spcAft>
                <a:spcPts val="600"/>
              </a:spcAft>
            </a:pPr>
            <a:r>
              <a:rPr sz="1250" b="1" i="0">
                <a:solidFill>
                  <a:srgbClr val="B22222"/>
                </a:solidFill>
                <a:latin typeface="Abadi"/>
              </a:rPr>
              <a:t>In practice.  </a:t>
            </a:r>
            <a:r>
              <a:rPr sz="1250" b="0" i="0">
                <a:solidFill>
                  <a:srgbClr val="1A1A1A"/>
                </a:solidFill>
                <a:latin typeface="Abadi"/>
              </a:rPr>
              <a:t>Record the phenotype in the operative note and the registry. It changes counselling and is how outcome benchmarks are compared between centres.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ANATOMY AT SURGERY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WHERE THE DUCT IS BLOCKED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Surgical type, share of cases and clearance of jaundice after Kasai in the Japanese registry (3,911 typed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Okubo R, Nio M, et al. World J Pediatr Surg 2025;8:e001024 · Davenport M, et al. J Clin Med 2021;10:5675</a:t>
            </a:r>
          </a:p>
        </p:txBody>
      </p:sp>
      <p:graphicFrame>
        <p:nvGraphicFramePr>
          <p:cNvPr id="12" name="Table 11"/>
          <p:cNvGraphicFramePr>
            <a:graphicFrameLocks noGrp="1"/>
          </p:cNvGraphicFramePr>
          <p:nvPr/>
        </p:nvGraphicFramePr>
        <p:xfrm>
          <a:off x="548640" y="1773936"/>
          <a:ext cx="11082528" cy="2514600"/>
        </p:xfrm>
        <a:graphic>
          <a:graphicData uri="http://schemas.openxmlformats.org/drawingml/2006/table">
            <a:tbl>
              <a:tblPr firstRow="0" bandRow="0">
                <a:tableStyleId>{5C22544A-7EE6-4342-B048-85BDC9FD1C3A}</a:tableStyleId>
              </a:tblPr>
              <a:tblGrid>
                <a:gridCol w="1280160"/>
                <a:gridCol w="4206240"/>
                <a:gridCol w="1828800"/>
                <a:gridCol w="1828800"/>
                <a:gridCol w="1938528"/>
              </a:tblGrid>
              <a:tr h="502920">
                <a:tc>
                  <a:txBody>
                    <a:bodyPr wrap="square"/>
                    <a:lstStyle/>
                    <a:p>
                      <a:pPr algn="l"/>
                      <a:r>
                        <a:rPr sz="1100" b="1">
                          <a:solidFill>
                            <a:srgbClr val="FFFFFF"/>
                          </a:solidFill>
                          <a:latin typeface="Abadi"/>
                        </a:rPr>
                        <a:t>Type</a:t>
                      </a:r>
                    </a:p>
                  </a:txBody>
                  <a:tcPr marL="73152" marR="73152" marT="27432" marB="27432" anchor="ctr">
                    <a:solidFill>
                      <a:srgbClr val="1B355E"/>
                    </a:solidFill>
                  </a:tcPr>
                </a:tc>
                <a:tc>
                  <a:txBody>
                    <a:bodyPr wrap="square"/>
                    <a:lstStyle/>
                    <a:p>
                      <a:pPr algn="l"/>
                      <a:r>
                        <a:rPr sz="1100" b="1">
                          <a:solidFill>
                            <a:srgbClr val="FFFFFF"/>
                          </a:solidFill>
                          <a:latin typeface="Abadi"/>
                        </a:rPr>
                        <a:t>Level of obstruction</a:t>
                      </a:r>
                    </a:p>
                  </a:txBody>
                  <a:tcPr marL="73152" marR="73152" marT="27432" marB="27432" anchor="ctr">
                    <a:solidFill>
                      <a:srgbClr val="1B355E"/>
                    </a:solidFill>
                  </a:tcPr>
                </a:tc>
                <a:tc>
                  <a:txBody>
                    <a:bodyPr wrap="square"/>
                    <a:lstStyle/>
                    <a:p>
                      <a:pPr algn="l"/>
                      <a:r>
                        <a:rPr sz="1100" b="1">
                          <a:solidFill>
                            <a:srgbClr val="FFFFFF"/>
                          </a:solidFill>
                          <a:latin typeface="Abadi"/>
                        </a:rPr>
                        <a:t>Share, literature</a:t>
                      </a:r>
                    </a:p>
                  </a:txBody>
                  <a:tcPr marL="73152" marR="73152" marT="27432" marB="27432" anchor="ctr">
                    <a:solidFill>
                      <a:srgbClr val="1B355E"/>
                    </a:solidFill>
                  </a:tcPr>
                </a:tc>
                <a:tc>
                  <a:txBody>
                    <a:bodyPr wrap="square"/>
                    <a:lstStyle/>
                    <a:p>
                      <a:pPr algn="l"/>
                      <a:r>
                        <a:rPr sz="1100" b="1">
                          <a:solidFill>
                            <a:srgbClr val="FFFFFF"/>
                          </a:solidFill>
                          <a:latin typeface="Abadi"/>
                        </a:rPr>
                        <a:t>Share, Japan</a:t>
                      </a:r>
                    </a:p>
                  </a:txBody>
                  <a:tcPr marL="73152" marR="73152" marT="27432" marB="27432" anchor="ctr">
                    <a:solidFill>
                      <a:srgbClr val="1B355E"/>
                    </a:solidFill>
                  </a:tcPr>
                </a:tc>
                <a:tc>
                  <a:txBody>
                    <a:bodyPr wrap="square"/>
                    <a:lstStyle/>
                    <a:p>
                      <a:pPr algn="l"/>
                      <a:r>
                        <a:rPr sz="1100" b="1">
                          <a:solidFill>
                            <a:srgbClr val="FFFFFF"/>
                          </a:solidFill>
                          <a:latin typeface="Abadi"/>
                        </a:rPr>
                        <a:t>Clearance, Japan</a:t>
                      </a:r>
                    </a:p>
                  </a:txBody>
                  <a:tcPr marL="73152" marR="73152" marT="27432" marB="27432" anchor="ctr">
                    <a:solidFill>
                      <a:srgbClr val="1B355E"/>
                    </a:solidFill>
                  </a:tcPr>
                </a:tc>
              </a:tr>
              <a:tr h="502920">
                <a:tc>
                  <a:txBody>
                    <a:bodyPr wrap="square"/>
                    <a:lstStyle/>
                    <a:p>
                      <a:pPr algn="l"/>
                      <a:r>
                        <a:rPr sz="1100" b="1">
                          <a:solidFill>
                            <a:srgbClr val="1A1A1A"/>
                          </a:solidFill>
                          <a:latin typeface="Abadi"/>
                        </a:rPr>
                        <a:t>I</a:t>
                      </a:r>
                    </a:p>
                  </a:txBody>
                  <a:tcPr marL="73152" marR="73152" marT="27432" marB="27432" anchor="ctr">
                    <a:solidFill>
                      <a:srgbClr val="FFFFFF"/>
                    </a:solidFill>
                  </a:tcPr>
                </a:tc>
                <a:tc>
                  <a:txBody>
                    <a:bodyPr wrap="square"/>
                    <a:lstStyle/>
                    <a:p>
                      <a:pPr algn="l"/>
                      <a:r>
                        <a:rPr sz="1100" b="0">
                          <a:solidFill>
                            <a:srgbClr val="1A1A1A"/>
                          </a:solidFill>
                          <a:latin typeface="Abadi"/>
                        </a:rPr>
                        <a:t>Common bile duct; proximal ducts patent</a:t>
                      </a:r>
                    </a:p>
                  </a:txBody>
                  <a:tcPr marL="73152" marR="73152" marT="27432" marB="27432" anchor="ctr">
                    <a:solidFill>
                      <a:srgbClr val="FFFFFF"/>
                    </a:solidFill>
                  </a:tcPr>
                </a:tc>
                <a:tc>
                  <a:txBody>
                    <a:bodyPr wrap="square"/>
                    <a:lstStyle/>
                    <a:p>
                      <a:pPr algn="l"/>
                      <a:r>
                        <a:rPr sz="1100" b="0">
                          <a:solidFill>
                            <a:srgbClr val="1A1A1A"/>
                          </a:solidFill>
                          <a:latin typeface="Abadi"/>
                        </a:rPr>
                        <a:t>5–10%</a:t>
                      </a:r>
                    </a:p>
                  </a:txBody>
                  <a:tcPr marL="73152" marR="73152" marT="27432" marB="27432" anchor="ctr">
                    <a:solidFill>
                      <a:srgbClr val="FFFFFF"/>
                    </a:solidFill>
                  </a:tcPr>
                </a:tc>
                <a:tc>
                  <a:txBody>
                    <a:bodyPr wrap="square"/>
                    <a:lstStyle/>
                    <a:p>
                      <a:pPr algn="l"/>
                      <a:r>
                        <a:rPr sz="1100" b="0">
                          <a:solidFill>
                            <a:srgbClr val="1A1A1A"/>
                          </a:solidFill>
                          <a:latin typeface="Abadi"/>
                        </a:rPr>
                        <a:t>3.2%</a:t>
                      </a:r>
                    </a:p>
                  </a:txBody>
                  <a:tcPr marL="73152" marR="73152" marT="27432" marB="27432" anchor="ctr">
                    <a:solidFill>
                      <a:srgbClr val="FFFFFF"/>
                    </a:solidFill>
                  </a:tcPr>
                </a:tc>
                <a:tc>
                  <a:txBody>
                    <a:bodyPr wrap="square"/>
                    <a:lstStyle/>
                    <a:p>
                      <a:pPr algn="l"/>
                      <a:r>
                        <a:rPr sz="1100" b="0">
                          <a:solidFill>
                            <a:srgbClr val="1A1A1A"/>
                          </a:solidFill>
                          <a:latin typeface="Abadi"/>
                        </a:rPr>
                        <a:t>70%</a:t>
                      </a:r>
                    </a:p>
                  </a:txBody>
                  <a:tcPr marL="73152" marR="73152" marT="27432" marB="27432" anchor="ctr">
                    <a:solidFill>
                      <a:srgbClr val="FFFFFF"/>
                    </a:solidFill>
                  </a:tcPr>
                </a:tc>
              </a:tr>
              <a:tr h="502920">
                <a:tc>
                  <a:txBody>
                    <a:bodyPr wrap="square"/>
                    <a:lstStyle/>
                    <a:p>
                      <a:pPr algn="l"/>
                      <a:r>
                        <a:rPr sz="1100" b="1">
                          <a:solidFill>
                            <a:srgbClr val="1A1A1A"/>
                          </a:solidFill>
                          <a:latin typeface="Abadi"/>
                        </a:rPr>
                        <a:t>I cyst</a:t>
                      </a:r>
                    </a:p>
                  </a:txBody>
                  <a:tcPr marL="73152" marR="73152" marT="27432" marB="27432" anchor="ctr">
                    <a:solidFill>
                      <a:srgbClr val="F2F2F2"/>
                    </a:solidFill>
                  </a:tcPr>
                </a:tc>
                <a:tc>
                  <a:txBody>
                    <a:bodyPr wrap="square"/>
                    <a:lstStyle/>
                    <a:p>
                      <a:pPr algn="l"/>
                      <a:r>
                        <a:rPr sz="1100" b="0">
                          <a:solidFill>
                            <a:srgbClr val="1A1A1A"/>
                          </a:solidFill>
                          <a:latin typeface="Abadi"/>
                        </a:rPr>
                        <a:t>Common bile duct with a cyst in the remnant</a:t>
                      </a:r>
                    </a:p>
                  </a:txBody>
                  <a:tcPr marL="73152" marR="73152" marT="27432" marB="27432" anchor="ctr">
                    <a:solidFill>
                      <a:srgbClr val="F2F2F2"/>
                    </a:solidFill>
                  </a:tcPr>
                </a:tc>
                <a:tc>
                  <a:txBody>
                    <a:bodyPr wrap="square"/>
                    <a:lstStyle/>
                    <a:p>
                      <a:pPr algn="l"/>
                      <a:r>
                        <a:rPr sz="1100" b="0">
                          <a:solidFill>
                            <a:srgbClr val="1A1A1A"/>
                          </a:solidFill>
                          <a:latin typeface="Abadi"/>
                        </a:rPr>
                        <a:t>Part of type I</a:t>
                      </a:r>
                    </a:p>
                  </a:txBody>
                  <a:tcPr marL="73152" marR="73152" marT="27432" marB="27432" anchor="ctr">
                    <a:solidFill>
                      <a:srgbClr val="F2F2F2"/>
                    </a:solidFill>
                  </a:tcPr>
                </a:tc>
                <a:tc>
                  <a:txBody>
                    <a:bodyPr wrap="square"/>
                    <a:lstStyle/>
                    <a:p>
                      <a:pPr algn="l"/>
                      <a:r>
                        <a:rPr sz="1100" b="0">
                          <a:solidFill>
                            <a:srgbClr val="1A1A1A"/>
                          </a:solidFill>
                          <a:latin typeface="Abadi"/>
                        </a:rPr>
                        <a:t>8.3% (326)</a:t>
                      </a:r>
                    </a:p>
                  </a:txBody>
                  <a:tcPr marL="73152" marR="73152" marT="27432" marB="27432" anchor="ctr">
                    <a:solidFill>
                      <a:srgbClr val="F2F2F2"/>
                    </a:solidFill>
                  </a:tcPr>
                </a:tc>
                <a:tc>
                  <a:txBody>
                    <a:bodyPr wrap="square"/>
                    <a:lstStyle/>
                    <a:p>
                      <a:pPr algn="l"/>
                      <a:r>
                        <a:rPr sz="1100" b="0">
                          <a:solidFill>
                            <a:srgbClr val="1A1A1A"/>
                          </a:solidFill>
                          <a:latin typeface="Abadi"/>
                        </a:rPr>
                        <a:t>79%</a:t>
                      </a:r>
                    </a:p>
                  </a:txBody>
                  <a:tcPr marL="73152" marR="73152" marT="27432" marB="27432" anchor="ctr">
                    <a:solidFill>
                      <a:srgbClr val="F2F2F2"/>
                    </a:solidFill>
                  </a:tcPr>
                </a:tc>
              </a:tr>
              <a:tr h="502920">
                <a:tc>
                  <a:txBody>
                    <a:bodyPr wrap="square"/>
                    <a:lstStyle/>
                    <a:p>
                      <a:pPr algn="l"/>
                      <a:r>
                        <a:rPr sz="1100" b="1">
                          <a:solidFill>
                            <a:srgbClr val="1A1A1A"/>
                          </a:solidFill>
                          <a:latin typeface="Abadi"/>
                        </a:rPr>
                        <a:t>II</a:t>
                      </a:r>
                    </a:p>
                  </a:txBody>
                  <a:tcPr marL="73152" marR="73152" marT="27432" marB="27432" anchor="ctr">
                    <a:solidFill>
                      <a:srgbClr val="FFFFFF"/>
                    </a:solidFill>
                  </a:tcPr>
                </a:tc>
                <a:tc>
                  <a:txBody>
                    <a:bodyPr wrap="square"/>
                    <a:lstStyle/>
                    <a:p>
                      <a:pPr algn="l"/>
                      <a:r>
                        <a:rPr sz="1100" b="0">
                          <a:solidFill>
                            <a:srgbClr val="1A1A1A"/>
                          </a:solidFill>
                          <a:latin typeface="Abadi"/>
                        </a:rPr>
                        <a:t>Common hepatic duct</a:t>
                      </a:r>
                    </a:p>
                  </a:txBody>
                  <a:tcPr marL="73152" marR="73152" marT="27432" marB="27432" anchor="ctr">
                    <a:solidFill>
                      <a:srgbClr val="FFFFFF"/>
                    </a:solidFill>
                  </a:tcPr>
                </a:tc>
                <a:tc>
                  <a:txBody>
                    <a:bodyPr wrap="square"/>
                    <a:lstStyle/>
                    <a:p>
                      <a:pPr algn="l"/>
                      <a:r>
                        <a:rPr sz="1100" b="0">
                          <a:solidFill>
                            <a:srgbClr val="1A1A1A"/>
                          </a:solidFill>
                          <a:latin typeface="Abadi"/>
                        </a:rPr>
                        <a:t>1–2%</a:t>
                      </a:r>
                    </a:p>
                  </a:txBody>
                  <a:tcPr marL="73152" marR="73152" marT="27432" marB="27432" anchor="ctr">
                    <a:solidFill>
                      <a:srgbClr val="FFFFFF"/>
                    </a:solidFill>
                  </a:tcPr>
                </a:tc>
                <a:tc>
                  <a:txBody>
                    <a:bodyPr wrap="square"/>
                    <a:lstStyle/>
                    <a:p>
                      <a:pPr algn="l"/>
                      <a:r>
                        <a:rPr sz="1100" b="0">
                          <a:solidFill>
                            <a:srgbClr val="1A1A1A"/>
                          </a:solidFill>
                          <a:latin typeface="Abadi"/>
                        </a:rPr>
                        <a:t>1.7%</a:t>
                      </a:r>
                    </a:p>
                  </a:txBody>
                  <a:tcPr marL="73152" marR="73152" marT="27432" marB="27432" anchor="ctr">
                    <a:solidFill>
                      <a:srgbClr val="FFFFFF"/>
                    </a:solidFill>
                  </a:tcPr>
                </a:tc>
                <a:tc>
                  <a:txBody>
                    <a:bodyPr wrap="square"/>
                    <a:lstStyle/>
                    <a:p>
                      <a:pPr algn="l"/>
                      <a:r>
                        <a:rPr sz="1100" b="0">
                          <a:solidFill>
                            <a:srgbClr val="1A1A1A"/>
                          </a:solidFill>
                          <a:latin typeface="Abadi"/>
                        </a:rPr>
                        <a:t>72%</a:t>
                      </a:r>
                    </a:p>
                  </a:txBody>
                  <a:tcPr marL="73152" marR="73152" marT="27432" marB="27432" anchor="ctr">
                    <a:solidFill>
                      <a:srgbClr val="FFFFFF"/>
                    </a:solidFill>
                  </a:tcPr>
                </a:tc>
              </a:tr>
              <a:tr h="502920">
                <a:tc>
                  <a:txBody>
                    <a:bodyPr wrap="square"/>
                    <a:lstStyle/>
                    <a:p>
                      <a:pPr algn="l"/>
                      <a:r>
                        <a:rPr sz="1100" b="1">
                          <a:solidFill>
                            <a:srgbClr val="1A1A1A"/>
                          </a:solidFill>
                          <a:latin typeface="Abadi"/>
                        </a:rPr>
                        <a:t>III</a:t>
                      </a:r>
                    </a:p>
                  </a:txBody>
                  <a:tcPr marL="73152" marR="73152" marT="27432" marB="27432" anchor="ctr">
                    <a:solidFill>
                      <a:srgbClr val="F2F2F2"/>
                    </a:solidFill>
                  </a:tcPr>
                </a:tc>
                <a:tc>
                  <a:txBody>
                    <a:bodyPr wrap="square"/>
                    <a:lstStyle/>
                    <a:p>
                      <a:pPr algn="l"/>
                      <a:r>
                        <a:rPr sz="1100" b="0">
                          <a:solidFill>
                            <a:srgbClr val="1A1A1A"/>
                          </a:solidFill>
                          <a:latin typeface="Abadi"/>
                        </a:rPr>
                        <a:t>Porta hepatis: no patent proximal duct</a:t>
                      </a:r>
                    </a:p>
                  </a:txBody>
                  <a:tcPr marL="73152" marR="73152" marT="27432" marB="27432" anchor="ctr">
                    <a:solidFill>
                      <a:srgbClr val="F2F2F2"/>
                    </a:solidFill>
                  </a:tcPr>
                </a:tc>
                <a:tc>
                  <a:txBody>
                    <a:bodyPr wrap="square"/>
                    <a:lstStyle/>
                    <a:p>
                      <a:pPr algn="l"/>
                      <a:r>
                        <a:rPr sz="1100" b="0">
                          <a:solidFill>
                            <a:srgbClr val="1A1A1A"/>
                          </a:solidFill>
                          <a:latin typeface="Abadi"/>
                        </a:rPr>
                        <a:t>&gt; 90%</a:t>
                      </a:r>
                    </a:p>
                  </a:txBody>
                  <a:tcPr marL="73152" marR="73152" marT="27432" marB="27432" anchor="ctr">
                    <a:solidFill>
                      <a:srgbClr val="F2F2F2"/>
                    </a:solidFill>
                  </a:tcPr>
                </a:tc>
                <a:tc>
                  <a:txBody>
                    <a:bodyPr wrap="square"/>
                    <a:lstStyle/>
                    <a:p>
                      <a:pPr algn="l"/>
                      <a:r>
                        <a:rPr sz="1100" b="0">
                          <a:solidFill>
                            <a:srgbClr val="1A1A1A"/>
                          </a:solidFill>
                          <a:latin typeface="Abadi"/>
                        </a:rPr>
                        <a:t>86.8%</a:t>
                      </a:r>
                    </a:p>
                  </a:txBody>
                  <a:tcPr marL="73152" marR="73152" marT="27432" marB="27432" anchor="ctr">
                    <a:solidFill>
                      <a:srgbClr val="F2F2F2"/>
                    </a:solidFill>
                  </a:tcPr>
                </a:tc>
                <a:tc>
                  <a:txBody>
                    <a:bodyPr wrap="square"/>
                    <a:lstStyle/>
                    <a:p>
                      <a:pPr algn="l"/>
                      <a:r>
                        <a:rPr sz="1100" b="0">
                          <a:solidFill>
                            <a:srgbClr val="1A1A1A"/>
                          </a:solidFill>
                          <a:latin typeface="Abadi"/>
                        </a:rPr>
                        <a:t>60%</a:t>
                      </a:r>
                    </a:p>
                  </a:txBody>
                  <a:tcPr marL="73152" marR="73152" marT="27432" marB="27432" anchor="ctr">
                    <a:solidFill>
                      <a:srgbClr val="F2F2F2"/>
                    </a:solidFill>
                  </a:tcPr>
                </a:tc>
              </a:tr>
            </a:tbl>
          </a:graphicData>
        </a:graphic>
      </p:graphicFrame>
      <p:sp>
        <p:nvSpPr>
          <p:cNvPr id="13" name="Rectangle 12"/>
          <p:cNvSpPr/>
          <p:nvPr/>
        </p:nvSpPr>
        <p:spPr>
          <a:xfrm>
            <a:off x="548640" y="4434840"/>
            <a:ext cx="3572255" cy="1325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434840"/>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663440"/>
            <a:ext cx="3243072" cy="502920"/>
          </a:xfrm>
          <a:prstGeom prst="rect">
            <a:avLst/>
          </a:prstGeom>
          <a:noFill/>
        </p:spPr>
        <p:txBody>
          <a:bodyPr wrap="square" lIns="45720" rIns="45720" tIns="27432" bIns="27432" anchor="t">
            <a:spAutoFit/>
          </a:bodyPr>
          <a:lstStyle/>
          <a:p>
            <a:pPr algn="l"/>
            <a:r>
              <a:rPr sz="2000" b="1" i="0">
                <a:solidFill>
                  <a:srgbClr val="1B355E"/>
                </a:solidFill>
                <a:latin typeface="Abadi"/>
              </a:rPr>
              <a:t>65.2 days</a:t>
            </a:r>
          </a:p>
        </p:txBody>
      </p:sp>
      <p:sp>
        <p:nvSpPr>
          <p:cNvPr id="16" name="TextBox 15"/>
          <p:cNvSpPr txBox="1"/>
          <p:nvPr/>
        </p:nvSpPr>
        <p:spPr>
          <a:xfrm>
            <a:off x="713232" y="5239512"/>
            <a:ext cx="3243072" cy="429768"/>
          </a:xfrm>
          <a:prstGeom prst="rect">
            <a:avLst/>
          </a:prstGeom>
          <a:noFill/>
        </p:spPr>
        <p:txBody>
          <a:bodyPr wrap="square" lIns="45720" rIns="45720" tIns="27432" bIns="27432" anchor="t">
            <a:spAutoFit/>
          </a:bodyPr>
          <a:lstStyle/>
          <a:p>
            <a:pPr algn="l"/>
            <a:r>
              <a:rPr sz="1100" b="0" i="0">
                <a:solidFill>
                  <a:srgbClr val="1A1A1A"/>
                </a:solidFill>
                <a:latin typeface="Abadi"/>
              </a:rPr>
              <a:t>Mean age at Kasai in Japan, falling from 70.6 (2011) to 60.6 days (2023).</a:t>
            </a:r>
          </a:p>
        </p:txBody>
      </p:sp>
      <p:sp>
        <p:nvSpPr>
          <p:cNvPr id="17" name="Rectangle 16"/>
          <p:cNvSpPr/>
          <p:nvPr/>
        </p:nvSpPr>
        <p:spPr>
          <a:xfrm>
            <a:off x="4303775" y="4434840"/>
            <a:ext cx="3572255" cy="13258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03775" y="4434840"/>
            <a:ext cx="357225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68367" y="4663440"/>
            <a:ext cx="3243072" cy="502920"/>
          </a:xfrm>
          <a:prstGeom prst="rect">
            <a:avLst/>
          </a:prstGeom>
          <a:noFill/>
        </p:spPr>
        <p:txBody>
          <a:bodyPr wrap="square" lIns="45720" rIns="45720" tIns="27432" bIns="27432" anchor="t">
            <a:spAutoFit/>
          </a:bodyPr>
          <a:lstStyle/>
          <a:p>
            <a:pPr algn="l"/>
            <a:r>
              <a:rPr sz="2000" b="1" i="0">
                <a:solidFill>
                  <a:srgbClr val="1E7A33"/>
                </a:solidFill>
                <a:latin typeface="Abadi"/>
              </a:rPr>
              <a:t>64.2%</a:t>
            </a:r>
          </a:p>
        </p:txBody>
      </p:sp>
      <p:sp>
        <p:nvSpPr>
          <p:cNvPr id="20" name="TextBox 19"/>
          <p:cNvSpPr txBox="1"/>
          <p:nvPr/>
        </p:nvSpPr>
        <p:spPr>
          <a:xfrm>
            <a:off x="4468367" y="5239512"/>
            <a:ext cx="3243072" cy="429768"/>
          </a:xfrm>
          <a:prstGeom prst="rect">
            <a:avLst/>
          </a:prstGeom>
          <a:noFill/>
        </p:spPr>
        <p:txBody>
          <a:bodyPr wrap="square" lIns="45720" rIns="45720" tIns="27432" bIns="27432" anchor="t">
            <a:spAutoFit/>
          </a:bodyPr>
          <a:lstStyle/>
          <a:p>
            <a:pPr algn="l"/>
            <a:r>
              <a:rPr sz="1100" b="0" i="0">
                <a:solidFill>
                  <a:srgbClr val="1A1A1A"/>
                </a:solidFill>
                <a:latin typeface="Abadi"/>
              </a:rPr>
              <a:t>Overall clearance of jaundice in 2023, up from 57.8% in 2011.</a:t>
            </a:r>
          </a:p>
        </p:txBody>
      </p:sp>
      <p:sp>
        <p:nvSpPr>
          <p:cNvPr id="21" name="Rectangle 20"/>
          <p:cNvSpPr/>
          <p:nvPr/>
        </p:nvSpPr>
        <p:spPr>
          <a:xfrm>
            <a:off x="8058911" y="4434840"/>
            <a:ext cx="3572255" cy="13258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8911" y="4434840"/>
            <a:ext cx="357225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3503" y="4663440"/>
            <a:ext cx="3243072" cy="502920"/>
          </a:xfrm>
          <a:prstGeom prst="rect">
            <a:avLst/>
          </a:prstGeom>
          <a:noFill/>
        </p:spPr>
        <p:txBody>
          <a:bodyPr wrap="square" lIns="45720" rIns="45720" tIns="27432" bIns="27432" anchor="t">
            <a:spAutoFit/>
          </a:bodyPr>
          <a:lstStyle/>
          <a:p>
            <a:pPr algn="l"/>
            <a:r>
              <a:rPr sz="2000" b="1" i="0">
                <a:solidFill>
                  <a:srgbClr val="D97A0B"/>
                </a:solidFill>
                <a:latin typeface="Abadi"/>
              </a:rPr>
              <a:t>8.8%</a:t>
            </a:r>
          </a:p>
        </p:txBody>
      </p:sp>
      <p:sp>
        <p:nvSpPr>
          <p:cNvPr id="24" name="TextBox 23"/>
          <p:cNvSpPr txBox="1"/>
          <p:nvPr/>
        </p:nvSpPr>
        <p:spPr>
          <a:xfrm>
            <a:off x="8223503" y="5239512"/>
            <a:ext cx="3243072" cy="429768"/>
          </a:xfrm>
          <a:prstGeom prst="rect">
            <a:avLst/>
          </a:prstGeom>
          <a:noFill/>
        </p:spPr>
        <p:txBody>
          <a:bodyPr wrap="square" lIns="45720" rIns="45720" tIns="27432" bIns="27432" anchor="t">
            <a:spAutoFit/>
          </a:bodyPr>
          <a:lstStyle/>
          <a:p>
            <a:pPr algn="l"/>
            <a:r>
              <a:rPr sz="1100" b="0" i="0">
                <a:solidFill>
                  <a:srgbClr val="1A1A1A"/>
                </a:solidFill>
                <a:latin typeface="Abadi"/>
              </a:rPr>
              <a:t>Vitamin K deficiency bleeding before the Kasai (335 of 3,809).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SPLENIC MALFORMATION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SPLEEN TELLS THE TIMING</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Biliary atresia splenic malformation (BASM): King's College Hospital, 548 infants, 1977–2004</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Davenport M, et al. J Pediatr 2006;149:393–400 · Davenport M. World J Pediatr Surg 2025;8:e001040</a:t>
            </a:r>
          </a:p>
        </p:txBody>
      </p:sp>
      <p:sp>
        <p:nvSpPr>
          <p:cNvPr id="12" name="Rectangle 11"/>
          <p:cNvSpPr/>
          <p:nvPr/>
        </p:nvSpPr>
        <p:spPr>
          <a:xfrm>
            <a:off x="548640" y="1773936"/>
            <a:ext cx="2633472" cy="15087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4288" cy="502920"/>
          </a:xfrm>
          <a:prstGeom prst="rect">
            <a:avLst/>
          </a:prstGeom>
          <a:noFill/>
        </p:spPr>
        <p:txBody>
          <a:bodyPr wrap="square" lIns="45720" rIns="45720" tIns="27432" bIns="27432" anchor="t">
            <a:spAutoFit/>
          </a:bodyPr>
          <a:lstStyle/>
          <a:p>
            <a:pPr algn="l"/>
            <a:r>
              <a:rPr sz="2000" b="1" i="0">
                <a:solidFill>
                  <a:srgbClr val="B22222"/>
                </a:solidFill>
                <a:latin typeface="Abadi"/>
              </a:rPr>
              <a:t>56 of 548</a:t>
            </a:r>
          </a:p>
        </p:txBody>
      </p:sp>
      <p:sp>
        <p:nvSpPr>
          <p:cNvPr id="15" name="TextBox 14"/>
          <p:cNvSpPr txBox="1"/>
          <p:nvPr/>
        </p:nvSpPr>
        <p:spPr>
          <a:xfrm>
            <a:off x="713232" y="2578608"/>
            <a:ext cx="2304288" cy="612647"/>
          </a:xfrm>
          <a:prstGeom prst="rect">
            <a:avLst/>
          </a:prstGeom>
          <a:noFill/>
        </p:spPr>
        <p:txBody>
          <a:bodyPr wrap="square" lIns="45720" rIns="45720" tIns="27432" bIns="27432" anchor="t">
            <a:spAutoFit/>
          </a:bodyPr>
          <a:lstStyle/>
          <a:p>
            <a:pPr algn="l"/>
            <a:r>
              <a:rPr sz="1100" b="0" i="0">
                <a:solidFill>
                  <a:srgbClr val="1A1A1A"/>
                </a:solidFill>
                <a:latin typeface="Abadi"/>
              </a:rPr>
              <a:t>Infants with BASM: 10.2% of the series; more often female (P = .04).</a:t>
            </a:r>
          </a:p>
        </p:txBody>
      </p:sp>
      <p:sp>
        <p:nvSpPr>
          <p:cNvPr id="16" name="Rectangle 15"/>
          <p:cNvSpPr/>
          <p:nvPr/>
        </p:nvSpPr>
        <p:spPr>
          <a:xfrm>
            <a:off x="3364992" y="1773936"/>
            <a:ext cx="2633472" cy="15087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2002536"/>
            <a:ext cx="2304288" cy="502920"/>
          </a:xfrm>
          <a:prstGeom prst="rect">
            <a:avLst/>
          </a:prstGeom>
          <a:noFill/>
        </p:spPr>
        <p:txBody>
          <a:bodyPr wrap="square" lIns="45720" rIns="45720" tIns="27432" bIns="27432" anchor="t">
            <a:spAutoFit/>
          </a:bodyPr>
          <a:lstStyle/>
          <a:p>
            <a:pPr algn="l"/>
            <a:r>
              <a:rPr sz="2000" b="1" i="0">
                <a:solidFill>
                  <a:srgbClr val="1B355E"/>
                </a:solidFill>
                <a:latin typeface="Abadi"/>
              </a:rPr>
              <a:t>37%</a:t>
            </a:r>
          </a:p>
        </p:txBody>
      </p:sp>
      <p:sp>
        <p:nvSpPr>
          <p:cNvPr id="19" name="TextBox 18"/>
          <p:cNvSpPr txBox="1"/>
          <p:nvPr/>
        </p:nvSpPr>
        <p:spPr>
          <a:xfrm>
            <a:off x="3529584" y="2578608"/>
            <a:ext cx="2304288" cy="612647"/>
          </a:xfrm>
          <a:prstGeom prst="rect">
            <a:avLst/>
          </a:prstGeom>
          <a:noFill/>
        </p:spPr>
        <p:txBody>
          <a:bodyPr wrap="square" lIns="45720" rIns="45720" tIns="27432" bIns="27432" anchor="t">
            <a:spAutoFit/>
          </a:bodyPr>
          <a:lstStyle/>
          <a:p>
            <a:pPr algn="l"/>
            <a:r>
              <a:rPr sz="1100" b="0" i="0">
                <a:solidFill>
                  <a:srgbClr val="1A1A1A"/>
                </a:solidFill>
                <a:latin typeface="Abadi"/>
              </a:rPr>
              <a:t>Situs inversus (21 infants).</a:t>
            </a:r>
          </a:p>
        </p:txBody>
      </p:sp>
      <p:sp>
        <p:nvSpPr>
          <p:cNvPr id="20" name="Rectangle 19"/>
          <p:cNvSpPr/>
          <p:nvPr/>
        </p:nvSpPr>
        <p:spPr>
          <a:xfrm>
            <a:off x="6181344" y="1773936"/>
            <a:ext cx="2633472" cy="15087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2002536"/>
            <a:ext cx="2304288" cy="502920"/>
          </a:xfrm>
          <a:prstGeom prst="rect">
            <a:avLst/>
          </a:prstGeom>
          <a:noFill/>
        </p:spPr>
        <p:txBody>
          <a:bodyPr wrap="square" lIns="45720" rIns="45720" tIns="27432" bIns="27432" anchor="t">
            <a:spAutoFit/>
          </a:bodyPr>
          <a:lstStyle/>
          <a:p>
            <a:pPr algn="l"/>
            <a:r>
              <a:rPr sz="2000" b="1" i="0">
                <a:solidFill>
                  <a:srgbClr val="D97A0B"/>
                </a:solidFill>
                <a:latin typeface="Abadi"/>
              </a:rPr>
              <a:t>45%</a:t>
            </a:r>
          </a:p>
        </p:txBody>
      </p:sp>
      <p:sp>
        <p:nvSpPr>
          <p:cNvPr id="23" name="TextBox 22"/>
          <p:cNvSpPr txBox="1"/>
          <p:nvPr/>
        </p:nvSpPr>
        <p:spPr>
          <a:xfrm>
            <a:off x="6345936" y="2578608"/>
            <a:ext cx="2304288" cy="612647"/>
          </a:xfrm>
          <a:prstGeom prst="rect">
            <a:avLst/>
          </a:prstGeom>
          <a:noFill/>
        </p:spPr>
        <p:txBody>
          <a:bodyPr wrap="square" lIns="45720" rIns="45720" tIns="27432" bIns="27432" anchor="t">
            <a:spAutoFit/>
          </a:bodyPr>
          <a:lstStyle/>
          <a:p>
            <a:pPr algn="l"/>
            <a:r>
              <a:rPr sz="1100" b="0" i="0">
                <a:solidFill>
                  <a:srgbClr val="1A1A1A"/>
                </a:solidFill>
                <a:latin typeface="Abadi"/>
              </a:rPr>
              <a:t>Cardiac anomalies (25 infants).</a:t>
            </a:r>
          </a:p>
        </p:txBody>
      </p:sp>
      <p:sp>
        <p:nvSpPr>
          <p:cNvPr id="24" name="Rectangle 23"/>
          <p:cNvSpPr/>
          <p:nvPr/>
        </p:nvSpPr>
        <p:spPr>
          <a:xfrm>
            <a:off x="8997696" y="1773936"/>
            <a:ext cx="2633472" cy="150876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2002536"/>
            <a:ext cx="2304288" cy="502920"/>
          </a:xfrm>
          <a:prstGeom prst="rect">
            <a:avLst/>
          </a:prstGeom>
          <a:noFill/>
        </p:spPr>
        <p:txBody>
          <a:bodyPr wrap="square" lIns="45720" rIns="45720" tIns="27432" bIns="27432" anchor="t">
            <a:spAutoFit/>
          </a:bodyPr>
          <a:lstStyle/>
          <a:p>
            <a:pPr algn="l"/>
            <a:r>
              <a:rPr sz="2000" b="1" i="0">
                <a:solidFill>
                  <a:srgbClr val="7F7F7F"/>
                </a:solidFill>
                <a:latin typeface="Abadi"/>
              </a:rPr>
              <a:t>12.5% vs 1.2%</a:t>
            </a:r>
          </a:p>
        </p:txBody>
      </p:sp>
      <p:sp>
        <p:nvSpPr>
          <p:cNvPr id="27" name="TextBox 26"/>
          <p:cNvSpPr txBox="1"/>
          <p:nvPr/>
        </p:nvSpPr>
        <p:spPr>
          <a:xfrm>
            <a:off x="9162288" y="2578608"/>
            <a:ext cx="2304288" cy="612647"/>
          </a:xfrm>
          <a:prstGeom prst="rect">
            <a:avLst/>
          </a:prstGeom>
          <a:noFill/>
        </p:spPr>
        <p:txBody>
          <a:bodyPr wrap="square" lIns="45720" rIns="45720" tIns="27432" bIns="27432" anchor="t">
            <a:spAutoFit/>
          </a:bodyPr>
          <a:lstStyle/>
          <a:p>
            <a:pPr algn="l"/>
            <a:r>
              <a:rPr sz="1100" b="0" i="0">
                <a:solidFill>
                  <a:srgbClr val="1A1A1A"/>
                </a:solidFill>
                <a:latin typeface="Abadi"/>
              </a:rPr>
              <a:t>Maternal diabetes in BASM versus other infants (P &lt; .0001).</a:t>
            </a:r>
          </a:p>
        </p:txBody>
      </p:sp>
      <p:sp>
        <p:nvSpPr>
          <p:cNvPr id="28" name="Rectangle 27"/>
          <p:cNvSpPr/>
          <p:nvPr/>
        </p:nvSpPr>
        <p:spPr>
          <a:xfrm>
            <a:off x="548640" y="3474720"/>
            <a:ext cx="3291840" cy="22860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474720"/>
            <a:ext cx="3291840"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685032"/>
            <a:ext cx="2962656" cy="457200"/>
          </a:xfrm>
          <a:prstGeom prst="rect">
            <a:avLst/>
          </a:prstGeom>
          <a:noFill/>
        </p:spPr>
        <p:txBody>
          <a:bodyPr wrap="square" lIns="45720" rIns="45720" tIns="27432" bIns="27432" anchor="t">
            <a:spAutoFit/>
          </a:bodyPr>
          <a:lstStyle/>
          <a:p>
            <a:pPr algn="l"/>
            <a:r>
              <a:rPr sz="1500" b="1" i="0">
                <a:solidFill>
                  <a:srgbClr val="1B355E"/>
                </a:solidFill>
                <a:latin typeface="Abadi"/>
              </a:rPr>
              <a:t>Look for</a:t>
            </a:r>
          </a:p>
        </p:txBody>
      </p:sp>
      <p:sp>
        <p:nvSpPr>
          <p:cNvPr id="31" name="TextBox 30"/>
          <p:cNvSpPr txBox="1"/>
          <p:nvPr/>
        </p:nvSpPr>
        <p:spPr>
          <a:xfrm>
            <a:off x="713232" y="4224528"/>
            <a:ext cx="2962656" cy="144475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Polysplenia or asplenia</a:t>
            </a:r>
          </a:p>
          <a:p>
            <a:pPr algn="l">
              <a:spcAft>
                <a:spcPts val="300"/>
              </a:spcAft>
            </a:pPr>
            <a:r>
              <a:rPr sz="1150" b="0" i="0">
                <a:solidFill>
                  <a:srgbClr val="1A1A1A"/>
                </a:solidFill>
                <a:latin typeface="Abadi"/>
              </a:rPr>
              <a:t>▪  Preduodenal portal vein</a:t>
            </a:r>
          </a:p>
          <a:p>
            <a:pPr algn="l">
              <a:spcAft>
                <a:spcPts val="300"/>
              </a:spcAft>
            </a:pPr>
            <a:r>
              <a:rPr sz="1150" b="0" i="0">
                <a:solidFill>
                  <a:srgbClr val="1A1A1A"/>
                </a:solidFill>
                <a:latin typeface="Abadi"/>
              </a:rPr>
              <a:t>▪  Absent intrahepatic IVC</a:t>
            </a:r>
          </a:p>
          <a:p>
            <a:pPr algn="l">
              <a:spcAft>
                <a:spcPts val="300"/>
              </a:spcAft>
            </a:pPr>
            <a:r>
              <a:rPr sz="1150" b="0" i="0">
                <a:solidFill>
                  <a:srgbClr val="1A1A1A"/>
                </a:solidFill>
                <a:latin typeface="Abadi"/>
              </a:rPr>
              <a:t>▪  Malrotation, situs inversus</a:t>
            </a:r>
          </a:p>
        </p:txBody>
      </p:sp>
      <p:sp>
        <p:nvSpPr>
          <p:cNvPr id="32" name="Rectangle 31"/>
          <p:cNvSpPr/>
          <p:nvPr/>
        </p:nvSpPr>
        <p:spPr>
          <a:xfrm>
            <a:off x="4023360" y="3474720"/>
            <a:ext cx="3291840"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23360" y="3474720"/>
            <a:ext cx="3291840"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87952" y="3685032"/>
            <a:ext cx="2962656" cy="457200"/>
          </a:xfrm>
          <a:prstGeom prst="rect">
            <a:avLst/>
          </a:prstGeom>
          <a:noFill/>
        </p:spPr>
        <p:txBody>
          <a:bodyPr wrap="square" lIns="45720" rIns="45720" tIns="27432" bIns="27432" anchor="t">
            <a:spAutoFit/>
          </a:bodyPr>
          <a:lstStyle/>
          <a:p>
            <a:pPr algn="l"/>
            <a:r>
              <a:rPr sz="1500" b="1" i="0">
                <a:solidFill>
                  <a:srgbClr val="B22222"/>
                </a:solidFill>
                <a:latin typeface="Abadi"/>
              </a:rPr>
              <a:t>Why it matters</a:t>
            </a:r>
          </a:p>
        </p:txBody>
      </p:sp>
      <p:sp>
        <p:nvSpPr>
          <p:cNvPr id="35" name="TextBox 34"/>
          <p:cNvSpPr txBox="1"/>
          <p:nvPr/>
        </p:nvSpPr>
        <p:spPr>
          <a:xfrm>
            <a:off x="4187952" y="4224528"/>
            <a:ext cx="2962656" cy="144475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Embryonic onset</a:t>
            </a:r>
          </a:p>
          <a:p>
            <a:pPr algn="l">
              <a:spcAft>
                <a:spcPts val="300"/>
              </a:spcAft>
            </a:pPr>
            <a:r>
              <a:rPr sz="1150" b="0" i="0">
                <a:solidFill>
                  <a:srgbClr val="1A1A1A"/>
                </a:solidFill>
                <a:latin typeface="Abadi"/>
              </a:rPr>
              <a:t>▪  Surgery is harder</a:t>
            </a:r>
          </a:p>
          <a:p>
            <a:pPr algn="l">
              <a:spcAft>
                <a:spcPts val="300"/>
              </a:spcAft>
            </a:pPr>
            <a:r>
              <a:rPr sz="1150" b="0" i="0">
                <a:solidFill>
                  <a:srgbClr val="1A1A1A"/>
                </a:solidFill>
                <a:latin typeface="Abadi"/>
              </a:rPr>
              <a:t>▪  Cardiac lesion may lead</a:t>
            </a:r>
          </a:p>
          <a:p>
            <a:pPr algn="l">
              <a:spcAft>
                <a:spcPts val="300"/>
              </a:spcAft>
            </a:pPr>
            <a:r>
              <a:rPr sz="1150" b="0" i="0">
                <a:solidFill>
                  <a:srgbClr val="1A1A1A"/>
                </a:solidFill>
                <a:latin typeface="Abadi"/>
              </a:rPr>
              <a:t>▪  Transplant anatomy changes</a:t>
            </a:r>
          </a:p>
        </p:txBody>
      </p:sp>
      <p:sp>
        <p:nvSpPr>
          <p:cNvPr id="36" name="TextBox 35"/>
          <p:cNvSpPr txBox="1"/>
          <p:nvPr/>
        </p:nvSpPr>
        <p:spPr>
          <a:xfrm>
            <a:off x="7589520" y="3474720"/>
            <a:ext cx="4041648" cy="2331720"/>
          </a:xfrm>
          <a:prstGeom prst="rect">
            <a:avLst/>
          </a:prstGeom>
          <a:noFill/>
        </p:spPr>
        <p:txBody>
          <a:bodyPr wrap="square" lIns="45720" rIns="45720" tIns="27432" bIns="27432" anchor="t">
            <a:spAutoFit/>
          </a:bodyPr>
          <a:lstStyle/>
          <a:p>
            <a:pPr algn="l"/>
            <a:r>
              <a:rPr sz="1700" b="1" i="0">
                <a:solidFill>
                  <a:srgbClr val="1B355E"/>
                </a:solidFill>
                <a:latin typeface="Abadi"/>
              </a:rPr>
              <a:t>46% → 32%</a:t>
            </a:r>
          </a:p>
          <a:p>
            <a:pPr algn="l">
              <a:spcAft>
                <a:spcPts val="900"/>
              </a:spcAft>
            </a:pPr>
            <a:r>
              <a:rPr sz="1000" b="0" i="0">
                <a:solidFill>
                  <a:srgbClr val="555555"/>
                </a:solidFill>
                <a:latin typeface="Abadi"/>
              </a:rPr>
              <a:t>Native-liver survival at 5 and 10 years in the King's BASM cohort.</a:t>
            </a:r>
          </a:p>
          <a:p>
            <a:pPr algn="l"/>
            <a:r>
              <a:rPr sz="1700" b="1" i="0">
                <a:solidFill>
                  <a:srgbClr val="1B355E"/>
                </a:solidFill>
                <a:latin typeface="Abadi"/>
              </a:rPr>
              <a:t>No histology difference</a:t>
            </a:r>
          </a:p>
          <a:p>
            <a:pPr algn="l">
              <a:spcAft>
                <a:spcPts val="900"/>
              </a:spcAft>
            </a:pPr>
            <a:r>
              <a:rPr sz="1000" b="0" i="0">
                <a:solidFill>
                  <a:srgbClr val="555555"/>
                </a:solidFill>
                <a:latin typeface="Abadi"/>
              </a:rPr>
              <a:t>Fibrosis and HLA type did not distinguish BASM from other infants.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GEOGRAPHY OF BASM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WESTERN PHENOTYPE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Share of biliary atresia with splenic malformation by series,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Davenport 2006 · Lilly 1991 (Denver) · Al-Hussaini 2022 · Okubo 2025 (Japan) · Zhan 2017 (China), as summarised in Davenport M. World J Pediatr Surg 2025;8:e001040 and J Clin Med 2021;10:5675</a:t>
            </a:r>
          </a:p>
        </p:txBody>
      </p:sp>
      <p:sp>
        <p:nvSpPr>
          <p:cNvPr id="12" name="TextBox 11"/>
          <p:cNvSpPr txBox="1"/>
          <p:nvPr/>
        </p:nvSpPr>
        <p:spPr>
          <a:xfrm>
            <a:off x="640080" y="1810512"/>
            <a:ext cx="2560320" cy="228600"/>
          </a:xfrm>
          <a:prstGeom prst="rect">
            <a:avLst/>
          </a:prstGeom>
          <a:noFill/>
        </p:spPr>
        <p:txBody>
          <a:bodyPr wrap="square" lIns="45720" rIns="45720" tIns="27432" bIns="27432" anchor="t">
            <a:spAutoFit/>
          </a:bodyPr>
          <a:lstStyle/>
          <a:p>
            <a:pPr algn="l"/>
            <a:r>
              <a:rPr sz="1000" b="0" i="1">
                <a:solidFill>
                  <a:srgbClr val="7F7F7F"/>
                </a:solidFill>
                <a:latin typeface="Abadi"/>
              </a:rPr>
              <a:t>Per cent of all biliary atresia</a:t>
            </a:r>
          </a:p>
        </p:txBody>
      </p:sp>
      <p:sp>
        <p:nvSpPr>
          <p:cNvPr id="13" name="Rectangle 12"/>
          <p:cNvSpPr/>
          <p:nvPr/>
        </p:nvSpPr>
        <p:spPr>
          <a:xfrm>
            <a:off x="640080" y="5084064"/>
            <a:ext cx="658368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6345" y="3024975"/>
            <a:ext cx="724204" cy="20590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750655"/>
            <a:ext cx="1316736" cy="237744"/>
          </a:xfrm>
          <a:prstGeom prst="rect">
            <a:avLst/>
          </a:prstGeom>
          <a:noFill/>
        </p:spPr>
        <p:txBody>
          <a:bodyPr wrap="square" lIns="45720" rIns="45720" tIns="27432" bIns="27432" anchor="t">
            <a:spAutoFit/>
          </a:bodyPr>
          <a:lstStyle/>
          <a:p>
            <a:pPr algn="ctr"/>
            <a:r>
              <a:rPr sz="1100" b="1" i="0">
                <a:solidFill>
                  <a:srgbClr val="1A1A1A"/>
                </a:solidFill>
                <a:latin typeface="Abadi"/>
              </a:rPr>
              <a:t>10.2</a:t>
            </a:r>
          </a:p>
        </p:txBody>
      </p:sp>
      <p:sp>
        <p:nvSpPr>
          <p:cNvPr id="16" name="TextBox 15"/>
          <p:cNvSpPr txBox="1"/>
          <p:nvPr/>
        </p:nvSpPr>
        <p:spPr>
          <a:xfrm>
            <a:off x="658368" y="5138927"/>
            <a:ext cx="1280160" cy="566928"/>
          </a:xfrm>
          <a:prstGeom prst="rect">
            <a:avLst/>
          </a:prstGeom>
          <a:noFill/>
        </p:spPr>
        <p:txBody>
          <a:bodyPr wrap="square" lIns="45720" rIns="45720" tIns="27432" bIns="27432" anchor="t">
            <a:spAutoFit/>
          </a:bodyPr>
          <a:lstStyle/>
          <a:p>
            <a:pPr algn="ctr"/>
            <a:r>
              <a:rPr sz="1000" b="0" i="0">
                <a:solidFill>
                  <a:srgbClr val="555555"/>
                </a:solidFill>
                <a:latin typeface="Abadi"/>
              </a:rPr>
              <a:t>London, King's 1977–2004</a:t>
            </a:r>
          </a:p>
        </p:txBody>
      </p:sp>
      <p:sp>
        <p:nvSpPr>
          <p:cNvPr id="17" name="Rectangle 16"/>
          <p:cNvSpPr/>
          <p:nvPr/>
        </p:nvSpPr>
        <p:spPr>
          <a:xfrm>
            <a:off x="2253081" y="2621233"/>
            <a:ext cx="724204" cy="246283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56815" y="2346913"/>
            <a:ext cx="1316736" cy="237744"/>
          </a:xfrm>
          <a:prstGeom prst="rect">
            <a:avLst/>
          </a:prstGeom>
          <a:noFill/>
        </p:spPr>
        <p:txBody>
          <a:bodyPr wrap="square" lIns="45720" rIns="45720" tIns="27432" bIns="27432" anchor="t">
            <a:spAutoFit/>
          </a:bodyPr>
          <a:lstStyle/>
          <a:p>
            <a:pPr algn="ctr"/>
            <a:r>
              <a:rPr sz="1100" b="1" i="0">
                <a:solidFill>
                  <a:srgbClr val="1A1A1A"/>
                </a:solidFill>
                <a:latin typeface="Abadi"/>
              </a:rPr>
              <a:t>12.2</a:t>
            </a:r>
          </a:p>
        </p:txBody>
      </p:sp>
      <p:sp>
        <p:nvSpPr>
          <p:cNvPr id="19" name="TextBox 18"/>
          <p:cNvSpPr txBox="1"/>
          <p:nvPr/>
        </p:nvSpPr>
        <p:spPr>
          <a:xfrm>
            <a:off x="1975103" y="5138927"/>
            <a:ext cx="1280160" cy="566928"/>
          </a:xfrm>
          <a:prstGeom prst="rect">
            <a:avLst/>
          </a:prstGeom>
          <a:noFill/>
        </p:spPr>
        <p:txBody>
          <a:bodyPr wrap="square" lIns="45720" rIns="45720" tIns="27432" bIns="27432" anchor="t">
            <a:spAutoFit/>
          </a:bodyPr>
          <a:lstStyle/>
          <a:p>
            <a:pPr algn="ctr"/>
            <a:r>
              <a:rPr sz="1000" b="0" i="0">
                <a:solidFill>
                  <a:srgbClr val="555555"/>
                </a:solidFill>
                <a:latin typeface="Abadi"/>
              </a:rPr>
              <a:t>Denver 1991</a:t>
            </a:r>
          </a:p>
        </p:txBody>
      </p:sp>
      <p:sp>
        <p:nvSpPr>
          <p:cNvPr id="20" name="Rectangle 19"/>
          <p:cNvSpPr/>
          <p:nvPr/>
        </p:nvSpPr>
        <p:spPr>
          <a:xfrm>
            <a:off x="3569817" y="2903853"/>
            <a:ext cx="724204" cy="218021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73552" y="2629533"/>
            <a:ext cx="1316736" cy="237744"/>
          </a:xfrm>
          <a:prstGeom prst="rect">
            <a:avLst/>
          </a:prstGeom>
          <a:noFill/>
        </p:spPr>
        <p:txBody>
          <a:bodyPr wrap="square" lIns="45720" rIns="45720" tIns="27432" bIns="27432" anchor="t">
            <a:spAutoFit/>
          </a:bodyPr>
          <a:lstStyle/>
          <a:p>
            <a:pPr algn="ctr"/>
            <a:r>
              <a:rPr sz="1100" b="1" i="0">
                <a:solidFill>
                  <a:srgbClr val="1A1A1A"/>
                </a:solidFill>
                <a:latin typeface="Abadi"/>
              </a:rPr>
              <a:t>10.8</a:t>
            </a:r>
          </a:p>
        </p:txBody>
      </p:sp>
      <p:sp>
        <p:nvSpPr>
          <p:cNvPr id="22" name="TextBox 21"/>
          <p:cNvSpPr txBox="1"/>
          <p:nvPr/>
        </p:nvSpPr>
        <p:spPr>
          <a:xfrm>
            <a:off x="3291840" y="5138927"/>
            <a:ext cx="1280160" cy="566928"/>
          </a:xfrm>
          <a:prstGeom prst="rect">
            <a:avLst/>
          </a:prstGeom>
          <a:noFill/>
        </p:spPr>
        <p:txBody>
          <a:bodyPr wrap="square" lIns="45720" rIns="45720" tIns="27432" bIns="27432" anchor="t">
            <a:spAutoFit/>
          </a:bodyPr>
          <a:lstStyle/>
          <a:p>
            <a:pPr algn="ctr"/>
            <a:r>
              <a:rPr sz="1000" b="0" i="0">
                <a:solidFill>
                  <a:srgbClr val="555555"/>
                </a:solidFill>
                <a:latin typeface="Abadi"/>
              </a:rPr>
              <a:t>Saudi Arabia 2000–18</a:t>
            </a:r>
          </a:p>
        </p:txBody>
      </p:sp>
      <p:sp>
        <p:nvSpPr>
          <p:cNvPr id="23" name="Rectangle 22"/>
          <p:cNvSpPr/>
          <p:nvPr/>
        </p:nvSpPr>
        <p:spPr>
          <a:xfrm>
            <a:off x="4886553" y="4639946"/>
            <a:ext cx="724204" cy="444117"/>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0288" y="4365626"/>
            <a:ext cx="1316736" cy="237744"/>
          </a:xfrm>
          <a:prstGeom prst="rect">
            <a:avLst/>
          </a:prstGeom>
          <a:noFill/>
        </p:spPr>
        <p:txBody>
          <a:bodyPr wrap="square" lIns="45720" rIns="45720" tIns="27432" bIns="27432" anchor="t">
            <a:spAutoFit/>
          </a:bodyPr>
          <a:lstStyle/>
          <a:p>
            <a:pPr algn="ctr"/>
            <a:r>
              <a:rPr sz="1100" b="1" i="0">
                <a:solidFill>
                  <a:srgbClr val="1A1A1A"/>
                </a:solidFill>
                <a:latin typeface="Abadi"/>
              </a:rPr>
              <a:t>2.2</a:t>
            </a:r>
          </a:p>
        </p:txBody>
      </p:sp>
      <p:sp>
        <p:nvSpPr>
          <p:cNvPr id="25" name="TextBox 24"/>
          <p:cNvSpPr txBox="1"/>
          <p:nvPr/>
        </p:nvSpPr>
        <p:spPr>
          <a:xfrm>
            <a:off x="4608576" y="5138927"/>
            <a:ext cx="1280160" cy="566928"/>
          </a:xfrm>
          <a:prstGeom prst="rect">
            <a:avLst/>
          </a:prstGeom>
          <a:noFill/>
        </p:spPr>
        <p:txBody>
          <a:bodyPr wrap="square" lIns="45720" rIns="45720" tIns="27432" bIns="27432" anchor="t">
            <a:spAutoFit/>
          </a:bodyPr>
          <a:lstStyle/>
          <a:p>
            <a:pPr algn="ctr"/>
            <a:r>
              <a:rPr sz="1000" b="0" i="0">
                <a:solidFill>
                  <a:srgbClr val="555555"/>
                </a:solidFill>
                <a:latin typeface="Abadi"/>
              </a:rPr>
              <a:t>Japan registry</a:t>
            </a:r>
          </a:p>
        </p:txBody>
      </p:sp>
      <p:sp>
        <p:nvSpPr>
          <p:cNvPr id="26" name="Rectangle 25"/>
          <p:cNvSpPr/>
          <p:nvPr/>
        </p:nvSpPr>
        <p:spPr>
          <a:xfrm>
            <a:off x="6203289" y="4983128"/>
            <a:ext cx="724204" cy="100935"/>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07024" y="4708808"/>
            <a:ext cx="1316736" cy="237744"/>
          </a:xfrm>
          <a:prstGeom prst="rect">
            <a:avLst/>
          </a:prstGeom>
          <a:noFill/>
        </p:spPr>
        <p:txBody>
          <a:bodyPr wrap="square" lIns="45720" rIns="45720" tIns="27432" bIns="27432" anchor="t">
            <a:spAutoFit/>
          </a:bodyPr>
          <a:lstStyle/>
          <a:p>
            <a:pPr algn="ctr"/>
            <a:r>
              <a:rPr sz="1100" b="1" i="0">
                <a:solidFill>
                  <a:srgbClr val="1A1A1A"/>
                </a:solidFill>
                <a:latin typeface="Abadi"/>
              </a:rPr>
              <a:t>0.5</a:t>
            </a:r>
          </a:p>
        </p:txBody>
      </p:sp>
      <p:sp>
        <p:nvSpPr>
          <p:cNvPr id="28" name="TextBox 27"/>
          <p:cNvSpPr txBox="1"/>
          <p:nvPr/>
        </p:nvSpPr>
        <p:spPr>
          <a:xfrm>
            <a:off x="5925312" y="5138927"/>
            <a:ext cx="1280160" cy="566928"/>
          </a:xfrm>
          <a:prstGeom prst="rect">
            <a:avLst/>
          </a:prstGeom>
          <a:noFill/>
        </p:spPr>
        <p:txBody>
          <a:bodyPr wrap="square" lIns="45720" rIns="45720" tIns="27432" bIns="27432" anchor="t">
            <a:spAutoFit/>
          </a:bodyPr>
          <a:lstStyle/>
          <a:p>
            <a:pPr algn="ctr"/>
            <a:r>
              <a:rPr sz="1000" b="0" i="0">
                <a:solidFill>
                  <a:srgbClr val="555555"/>
                </a:solidFill>
                <a:latin typeface="Abadi"/>
              </a:rPr>
              <a:t>China, 851 cases</a:t>
            </a:r>
          </a:p>
        </p:txBody>
      </p:sp>
      <p:sp>
        <p:nvSpPr>
          <p:cNvPr id="29" name="TextBox 28"/>
          <p:cNvSpPr txBox="1"/>
          <p:nvPr/>
        </p:nvSpPr>
        <p:spPr>
          <a:xfrm>
            <a:off x="7635240" y="1773936"/>
            <a:ext cx="3995928" cy="4023360"/>
          </a:xfrm>
          <a:prstGeom prst="rect">
            <a:avLst/>
          </a:prstGeom>
          <a:noFill/>
        </p:spPr>
        <p:txBody>
          <a:bodyPr wrap="square" lIns="45720" rIns="45720" tIns="27432" bIns="27432" anchor="t">
            <a:spAutoFit/>
          </a:bodyPr>
          <a:lstStyle/>
          <a:p>
            <a:pPr algn="l"/>
            <a:r>
              <a:rPr sz="1700" b="1" i="0">
                <a:solidFill>
                  <a:srgbClr val="1B355E"/>
                </a:solidFill>
                <a:latin typeface="Abadi"/>
              </a:rPr>
              <a:t>≈ 5- to 20-fold</a:t>
            </a:r>
          </a:p>
          <a:p>
            <a:pPr algn="l">
              <a:spcAft>
                <a:spcPts val="900"/>
              </a:spcAft>
            </a:pPr>
            <a:r>
              <a:rPr sz="1000" b="0" i="0">
                <a:solidFill>
                  <a:srgbClr val="555555"/>
                </a:solidFill>
                <a:latin typeface="Abadi"/>
              </a:rPr>
              <a:t>Difference in the BASM share between Western and East Asian series.</a:t>
            </a:r>
          </a:p>
          <a:p>
            <a:pPr algn="l"/>
            <a:r>
              <a:rPr sz="1700" b="1" i="0">
                <a:solidFill>
                  <a:srgbClr val="1B355E"/>
                </a:solidFill>
                <a:latin typeface="Abadi"/>
              </a:rPr>
              <a:t>Same absolute rate?</a:t>
            </a:r>
          </a:p>
          <a:p>
            <a:pPr algn="l">
              <a:spcAft>
                <a:spcPts val="900"/>
              </a:spcAft>
            </a:pPr>
            <a:r>
              <a:rPr sz="1000" b="0" i="0">
                <a:solidFill>
                  <a:srgbClr val="555555"/>
                </a:solidFill>
                <a:latin typeface="Abadi"/>
              </a:rPr>
              <a:t>BASM per 10,000 births: 0.023 in Japan versus 0.029–0.081 in Europe and the USA.</a:t>
            </a:r>
          </a:p>
          <a:p>
            <a:pPr algn="l"/>
            <a:r>
              <a:rPr sz="1700" b="1" i="0">
                <a:solidFill>
                  <a:srgbClr val="1B355E"/>
                </a:solidFill>
                <a:latin typeface="Abadi"/>
              </a:rPr>
              <a:t>Isolated drives Asia</a:t>
            </a:r>
          </a:p>
          <a:p>
            <a:pPr algn="l">
              <a:spcAft>
                <a:spcPts val="900"/>
              </a:spcAft>
            </a:pPr>
            <a:r>
              <a:rPr sz="1000" b="0" i="0">
                <a:solidFill>
                  <a:srgbClr val="555555"/>
                </a:solidFill>
                <a:latin typeface="Abadi"/>
              </a:rPr>
              <a:t>High Asian incidence is excess isolated disease, not more embryonic BASM.</a:t>
            </a:r>
          </a:p>
          <a:p>
            <a:pPr algn="l"/>
            <a:r>
              <a:rPr sz="1700" b="1" i="0">
                <a:solidFill>
                  <a:srgbClr val="1B355E"/>
                </a:solidFill>
                <a:latin typeface="Abadi"/>
              </a:rPr>
              <a:t>PKD1L1</a:t>
            </a:r>
          </a:p>
          <a:p>
            <a:pPr algn="l">
              <a:spcAft>
                <a:spcPts val="900"/>
              </a:spcAft>
            </a:pPr>
            <a:r>
              <a:rPr sz="1000" b="0" i="0">
                <a:solidFill>
                  <a:srgbClr val="555555"/>
                </a:solidFill>
                <a:latin typeface="Abadi"/>
              </a:rPr>
              <a:t>Biallelic variants in 5 of 67 sequenced infants; only 60% had a splenic malformation.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CMV-ASSOCIATED ATRESIA</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VIRUS AT THE SCENE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CMV IgM-positive biliary atresia as an aetiological and prognostic subgroup</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Zani A, et al. J Pediatr Surg 2015;50:1739–45 · Brindley SM, et al. Hepatology 2012 · Parolini F, et al. J Pediatr Surg 2019 · Fawaz R, et al. JPGN 2017;64:154–68 · Davenport M, et al. J Clin Med 2021;10:5675</a:t>
            </a:r>
          </a:p>
        </p:txBody>
      </p:sp>
      <p:sp>
        <p:nvSpPr>
          <p:cNvPr id="12" name="Rectangle 11"/>
          <p:cNvSpPr/>
          <p:nvPr/>
        </p:nvSpPr>
        <p:spPr>
          <a:xfrm>
            <a:off x="548640" y="1773936"/>
            <a:ext cx="2633472"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4288" cy="457200"/>
          </a:xfrm>
          <a:prstGeom prst="rect">
            <a:avLst/>
          </a:prstGeom>
          <a:noFill/>
        </p:spPr>
        <p:txBody>
          <a:bodyPr wrap="square" lIns="45720" rIns="45720" tIns="27432" bIns="27432" anchor="t">
            <a:spAutoFit/>
          </a:bodyPr>
          <a:lstStyle/>
          <a:p>
            <a:pPr algn="l"/>
            <a:r>
              <a:rPr sz="1500" b="1" i="0">
                <a:solidFill>
                  <a:srgbClr val="D97A0B"/>
                </a:solidFill>
                <a:latin typeface="Abadi"/>
              </a:rPr>
              <a:t>How common</a:t>
            </a:r>
          </a:p>
        </p:txBody>
      </p:sp>
      <p:sp>
        <p:nvSpPr>
          <p:cNvPr id="15" name="TextBox 14"/>
          <p:cNvSpPr txBox="1"/>
          <p:nvPr/>
        </p:nvSpPr>
        <p:spPr>
          <a:xfrm>
            <a:off x="713232" y="2523744"/>
            <a:ext cx="2304288" cy="14904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About 10% in a UK series</a:t>
            </a:r>
          </a:p>
          <a:p>
            <a:pPr algn="l">
              <a:spcAft>
                <a:spcPts val="300"/>
              </a:spcAft>
            </a:pPr>
            <a:r>
              <a:rPr sz="1150" b="0" i="0">
                <a:solidFill>
                  <a:srgbClr val="1A1A1A"/>
                </a:solidFill>
                <a:latin typeface="Abadi"/>
              </a:rPr>
              <a:t>▪  Up to 30% in Chinese series</a:t>
            </a:r>
          </a:p>
          <a:p>
            <a:pPr algn="l">
              <a:spcAft>
                <a:spcPts val="300"/>
              </a:spcAft>
            </a:pPr>
            <a:r>
              <a:rPr sz="1150" b="0" i="0">
                <a:solidFill>
                  <a:srgbClr val="1A1A1A"/>
                </a:solidFill>
                <a:latin typeface="Abadi"/>
              </a:rPr>
              <a:t>▪  CMV T-cell responses in 55% (Denver)</a:t>
            </a:r>
          </a:p>
        </p:txBody>
      </p:sp>
      <p:sp>
        <p:nvSpPr>
          <p:cNvPr id="16" name="Rectangle 15"/>
          <p:cNvSpPr/>
          <p:nvPr/>
        </p:nvSpPr>
        <p:spPr>
          <a:xfrm>
            <a:off x="3364992" y="1773936"/>
            <a:ext cx="2633472"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84248"/>
            <a:ext cx="2304288" cy="457200"/>
          </a:xfrm>
          <a:prstGeom prst="rect">
            <a:avLst/>
          </a:prstGeom>
          <a:noFill/>
        </p:spPr>
        <p:txBody>
          <a:bodyPr wrap="square" lIns="45720" rIns="45720" tIns="27432" bIns="27432" anchor="t">
            <a:spAutoFit/>
          </a:bodyPr>
          <a:lstStyle/>
          <a:p>
            <a:pPr algn="l"/>
            <a:r>
              <a:rPr sz="1500" b="1" i="0">
                <a:solidFill>
                  <a:srgbClr val="B22222"/>
                </a:solidFill>
                <a:latin typeface="Abadi"/>
              </a:rPr>
              <a:t>How it looks</a:t>
            </a:r>
          </a:p>
        </p:txBody>
      </p:sp>
      <p:sp>
        <p:nvSpPr>
          <p:cNvPr id="19" name="TextBox 18"/>
          <p:cNvSpPr txBox="1"/>
          <p:nvPr/>
        </p:nvSpPr>
        <p:spPr>
          <a:xfrm>
            <a:off x="3529584" y="2523744"/>
            <a:ext cx="2304288" cy="14904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Older at diagnosis</a:t>
            </a:r>
          </a:p>
          <a:p>
            <a:pPr algn="l">
              <a:spcAft>
                <a:spcPts val="300"/>
              </a:spcAft>
            </a:pPr>
            <a:r>
              <a:rPr sz="1150" b="0" i="0">
                <a:solidFill>
                  <a:srgbClr val="1A1A1A"/>
                </a:solidFill>
                <a:latin typeface="Abadi"/>
              </a:rPr>
              <a:t>▪  Larger spleen</a:t>
            </a:r>
          </a:p>
          <a:p>
            <a:pPr algn="l">
              <a:spcAft>
                <a:spcPts val="300"/>
              </a:spcAft>
            </a:pPr>
            <a:r>
              <a:rPr sz="1150" b="0" i="0">
                <a:solidFill>
                  <a:srgbClr val="1A1A1A"/>
                </a:solidFill>
                <a:latin typeface="Abadi"/>
              </a:rPr>
              <a:t>▪  More inflammation and fibrosis</a:t>
            </a:r>
          </a:p>
        </p:txBody>
      </p:sp>
      <p:sp>
        <p:nvSpPr>
          <p:cNvPr id="20" name="Rectangle 19"/>
          <p:cNvSpPr/>
          <p:nvPr/>
        </p:nvSpPr>
        <p:spPr>
          <a:xfrm>
            <a:off x="6181344" y="1773936"/>
            <a:ext cx="2633472"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2304288" cy="457200"/>
          </a:xfrm>
          <a:prstGeom prst="rect">
            <a:avLst/>
          </a:prstGeom>
          <a:noFill/>
        </p:spPr>
        <p:txBody>
          <a:bodyPr wrap="square" lIns="45720" rIns="45720" tIns="27432" bIns="27432" anchor="t">
            <a:spAutoFit/>
          </a:bodyPr>
          <a:lstStyle/>
          <a:p>
            <a:pPr algn="l"/>
            <a:r>
              <a:rPr sz="1500" b="1" i="0">
                <a:solidFill>
                  <a:srgbClr val="1B355E"/>
                </a:solidFill>
                <a:latin typeface="Abadi"/>
              </a:rPr>
              <a:t>Guideline view</a:t>
            </a:r>
          </a:p>
        </p:txBody>
      </p:sp>
      <p:sp>
        <p:nvSpPr>
          <p:cNvPr id="23" name="TextBox 22"/>
          <p:cNvSpPr txBox="1"/>
          <p:nvPr/>
        </p:nvSpPr>
        <p:spPr>
          <a:xfrm>
            <a:off x="6345936" y="2523744"/>
            <a:ext cx="2304288" cy="14904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Causal role unproven</a:t>
            </a:r>
          </a:p>
          <a:p>
            <a:pPr algn="l">
              <a:spcAft>
                <a:spcPts val="300"/>
              </a:spcAft>
            </a:pPr>
            <a:r>
              <a:rPr sz="1150" b="0" i="0">
                <a:solidFill>
                  <a:srgbClr val="1A1A1A"/>
                </a:solidFill>
                <a:latin typeface="Abadi"/>
              </a:rPr>
              <a:t>▪  Urine PCR to diagnose CMV</a:t>
            </a:r>
          </a:p>
          <a:p>
            <a:pPr algn="l">
              <a:spcAft>
                <a:spcPts val="300"/>
              </a:spcAft>
            </a:pPr>
            <a:r>
              <a:rPr sz="1150" b="0" i="0">
                <a:solidFill>
                  <a:srgbClr val="1A1A1A"/>
                </a:solidFill>
                <a:latin typeface="Abadi"/>
              </a:rPr>
              <a:t>▪  IgM of limited value</a:t>
            </a:r>
          </a:p>
        </p:txBody>
      </p:sp>
      <p:sp>
        <p:nvSpPr>
          <p:cNvPr id="24" name="Rectangle 23"/>
          <p:cNvSpPr/>
          <p:nvPr/>
        </p:nvSpPr>
        <p:spPr>
          <a:xfrm>
            <a:off x="8997696" y="1773936"/>
            <a:ext cx="2633472"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84248"/>
            <a:ext cx="2304288" cy="457200"/>
          </a:xfrm>
          <a:prstGeom prst="rect">
            <a:avLst/>
          </a:prstGeom>
          <a:noFill/>
        </p:spPr>
        <p:txBody>
          <a:bodyPr wrap="square" lIns="45720" rIns="45720" tIns="27432" bIns="27432" anchor="t">
            <a:spAutoFit/>
          </a:bodyPr>
          <a:lstStyle/>
          <a:p>
            <a:pPr algn="l"/>
            <a:r>
              <a:rPr sz="1500" b="1" i="0">
                <a:solidFill>
                  <a:srgbClr val="7F7F7F"/>
                </a:solidFill>
                <a:latin typeface="Abadi"/>
              </a:rPr>
              <a:t>Treatment</a:t>
            </a:r>
          </a:p>
        </p:txBody>
      </p:sp>
      <p:sp>
        <p:nvSpPr>
          <p:cNvPr id="27" name="TextBox 26"/>
          <p:cNvSpPr txBox="1"/>
          <p:nvPr/>
        </p:nvSpPr>
        <p:spPr>
          <a:xfrm>
            <a:off x="9162288" y="2523744"/>
            <a:ext cx="2304288" cy="14904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Ganciclovir or valganciclovir after Kasai</a:t>
            </a:r>
          </a:p>
          <a:p>
            <a:pPr algn="l">
              <a:spcAft>
                <a:spcPts val="300"/>
              </a:spcAft>
            </a:pPr>
            <a:r>
              <a:rPr sz="1150" b="0" i="0">
                <a:solidFill>
                  <a:srgbClr val="1A1A1A"/>
                </a:solidFill>
                <a:latin typeface="Abadi"/>
              </a:rPr>
              <a:t>▪  Single-centre, non-randomised</a:t>
            </a:r>
          </a:p>
          <a:p>
            <a:pPr algn="l">
              <a:spcAft>
                <a:spcPts val="300"/>
              </a:spcAft>
            </a:pPr>
            <a:r>
              <a:rPr sz="1150" b="0" i="0">
                <a:solidFill>
                  <a:srgbClr val="1A1A1A"/>
                </a:solidFill>
                <a:latin typeface="Abadi"/>
              </a:rPr>
              <a:t>▪  No guideline position</a:t>
            </a:r>
          </a:p>
        </p:txBody>
      </p:sp>
      <p:sp>
        <p:nvSpPr>
          <p:cNvPr id="28" name="TextBox 27"/>
          <p:cNvSpPr txBox="1"/>
          <p:nvPr/>
        </p:nvSpPr>
        <p:spPr>
          <a:xfrm>
            <a:off x="548640" y="4297680"/>
            <a:ext cx="11082528" cy="1508760"/>
          </a:xfrm>
          <a:prstGeom prst="rect">
            <a:avLst/>
          </a:prstGeom>
          <a:noFill/>
        </p:spPr>
        <p:txBody>
          <a:bodyPr wrap="square" lIns="45720" rIns="45720" tIns="27432" bIns="27432" anchor="t">
            <a:spAutoFit/>
          </a:bodyPr>
          <a:lstStyle/>
          <a:p>
            <a:pPr algn="l">
              <a:spcAft>
                <a:spcPts val="600"/>
              </a:spcAft>
            </a:pPr>
            <a:r>
              <a:rPr sz="1250" b="1" i="0">
                <a:solidFill>
                  <a:srgbClr val="1B355E"/>
                </a:solidFill>
                <a:latin typeface="Abadi"/>
              </a:rPr>
              <a:t>The definition problem.  </a:t>
            </a:r>
            <a:r>
              <a:rPr sz="1250" b="0" i="0">
                <a:solidFill>
                  <a:srgbClr val="1A1A1A"/>
                </a:solidFill>
                <a:latin typeface="Abadi"/>
              </a:rPr>
              <a:t>The prognostic subgroup is defined by serum CMV IgM at diagnosis, the test the joint guideline calls insensitive. Urine PCR in the first weeks cannot separate congenital from postnatal infection, and up to 2% of all newborns carry CMV.</a:t>
            </a:r>
          </a:p>
          <a:p>
            <a:pPr algn="l">
              <a:spcAft>
                <a:spcPts val="600"/>
              </a:spcAft>
            </a:pPr>
            <a:r>
              <a:rPr sz="1250" b="1" i="0">
                <a:solidFill>
                  <a:srgbClr val="B22222"/>
                </a:solidFill>
                <a:latin typeface="Abadi"/>
              </a:rPr>
              <a:t>Practical stance.  </a:t>
            </a:r>
            <a:r>
              <a:rPr sz="1250" b="0" i="0">
                <a:solidFill>
                  <a:srgbClr val="1A1A1A"/>
                </a:solidFill>
                <a:latin typeface="Abadi"/>
              </a:rPr>
              <a:t>Send serum CMV IgM and blood or urine PCR at presentation, record the result, and discuss antivirals only within a protocol.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EVIDENCE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CMV HALVES THE ODDS OF CLEARING JAUNDICE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Meta-analysis of 9 studies, 694 infants (294 CMV-positive): CMV-positive versus CMV-negative, 95% CI, log scale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Prognosis of biliary atresia associated with cytomegalovirus: a meta-analysis. Front Pediatr 2021;9:710450</a:t>
            </a:r>
          </a:p>
        </p:txBody>
      </p:sp>
      <p:sp>
        <p:nvSpPr>
          <p:cNvPr id="12" name="Rectangle 11"/>
          <p:cNvSpPr/>
          <p:nvPr/>
        </p:nvSpPr>
        <p:spPr>
          <a:xfrm>
            <a:off x="3291840" y="4846320"/>
            <a:ext cx="365760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59382" y="1965960"/>
            <a:ext cx="13716" cy="288036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0.125</a:t>
            </a:r>
          </a:p>
        </p:txBody>
      </p:sp>
      <p:sp>
        <p:nvSpPr>
          <p:cNvPr id="15" name="TextBox 14"/>
          <p:cNvSpPr txBox="1"/>
          <p:nvPr/>
        </p:nvSpPr>
        <p:spPr>
          <a:xfrm>
            <a:off x="3540034"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0.25</a:t>
            </a:r>
          </a:p>
        </p:txBody>
      </p:sp>
      <p:sp>
        <p:nvSpPr>
          <p:cNvPr id="16" name="TextBox 15"/>
          <p:cNvSpPr txBox="1"/>
          <p:nvPr/>
        </p:nvSpPr>
        <p:spPr>
          <a:xfrm>
            <a:off x="4062548"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0.5</a:t>
            </a:r>
          </a:p>
        </p:txBody>
      </p:sp>
      <p:sp>
        <p:nvSpPr>
          <p:cNvPr id="17" name="TextBox 16"/>
          <p:cNvSpPr txBox="1"/>
          <p:nvPr/>
        </p:nvSpPr>
        <p:spPr>
          <a:xfrm>
            <a:off x="4585062"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1</a:t>
            </a:r>
          </a:p>
        </p:txBody>
      </p:sp>
      <p:sp>
        <p:nvSpPr>
          <p:cNvPr id="18" name="TextBox 17"/>
          <p:cNvSpPr txBox="1"/>
          <p:nvPr/>
        </p:nvSpPr>
        <p:spPr>
          <a:xfrm>
            <a:off x="5107577"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2</a:t>
            </a:r>
          </a:p>
        </p:txBody>
      </p:sp>
      <p:sp>
        <p:nvSpPr>
          <p:cNvPr id="19" name="TextBox 18"/>
          <p:cNvSpPr txBox="1"/>
          <p:nvPr/>
        </p:nvSpPr>
        <p:spPr>
          <a:xfrm>
            <a:off x="5630091"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4</a:t>
            </a:r>
          </a:p>
        </p:txBody>
      </p:sp>
      <p:sp>
        <p:nvSpPr>
          <p:cNvPr id="20" name="TextBox 19"/>
          <p:cNvSpPr txBox="1"/>
          <p:nvPr/>
        </p:nvSpPr>
        <p:spPr>
          <a:xfrm>
            <a:off x="6152605"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8</a:t>
            </a:r>
          </a:p>
        </p:txBody>
      </p:sp>
      <p:sp>
        <p:nvSpPr>
          <p:cNvPr id="21" name="TextBox 20"/>
          <p:cNvSpPr txBox="1"/>
          <p:nvPr/>
        </p:nvSpPr>
        <p:spPr>
          <a:xfrm>
            <a:off x="6675120" y="4873752"/>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16</a:t>
            </a:r>
          </a:p>
        </p:txBody>
      </p:sp>
      <p:sp>
        <p:nvSpPr>
          <p:cNvPr id="22" name="TextBox 21"/>
          <p:cNvSpPr txBox="1"/>
          <p:nvPr/>
        </p:nvSpPr>
        <p:spPr>
          <a:xfrm>
            <a:off x="548640" y="2011680"/>
            <a:ext cx="2651760" cy="566928"/>
          </a:xfrm>
          <a:prstGeom prst="rect">
            <a:avLst/>
          </a:prstGeom>
          <a:noFill/>
        </p:spPr>
        <p:txBody>
          <a:bodyPr wrap="square" lIns="45720" rIns="45720" tIns="27432" bIns="27432" anchor="ctr">
            <a:spAutoFit/>
          </a:bodyPr>
          <a:lstStyle/>
          <a:p>
            <a:pPr algn="l"/>
            <a:r>
              <a:rPr sz="1050" b="0" i="0">
                <a:solidFill>
                  <a:srgbClr val="1A1A1A"/>
                </a:solidFill>
                <a:latin typeface="Abadi"/>
              </a:rPr>
              <a:t>Jaundice clearance, overall (8 studies)</a:t>
            </a:r>
          </a:p>
        </p:txBody>
      </p:sp>
      <p:sp>
        <p:nvSpPr>
          <p:cNvPr id="23" name="Rectangle 22"/>
          <p:cNvSpPr/>
          <p:nvPr/>
        </p:nvSpPr>
        <p:spPr>
          <a:xfrm>
            <a:off x="4000444" y="2286000"/>
            <a:ext cx="579219" cy="22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mond 23"/>
          <p:cNvSpPr/>
          <p:nvPr/>
        </p:nvSpPr>
        <p:spPr>
          <a:xfrm>
            <a:off x="4217073" y="2221992"/>
            <a:ext cx="146304" cy="146304"/>
          </a:xfrm>
          <a:prstGeom prst="diamond">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79" y="2011680"/>
            <a:ext cx="2011680" cy="566928"/>
          </a:xfrm>
          <a:prstGeom prst="rect">
            <a:avLst/>
          </a:prstGeom>
          <a:noFill/>
        </p:spPr>
        <p:txBody>
          <a:bodyPr wrap="square" lIns="45720" rIns="45720" tIns="27432" bIns="27432" anchor="ctr">
            <a:spAutoFit/>
          </a:bodyPr>
          <a:lstStyle/>
          <a:p>
            <a:pPr algn="l"/>
            <a:r>
              <a:rPr sz="1000" b="1" i="0">
                <a:solidFill>
                  <a:srgbClr val="1A1A1A"/>
                </a:solidFill>
                <a:latin typeface="Abadi"/>
              </a:rPr>
              <a:t>OR 0.47 (0.32–0.69)</a:t>
            </a:r>
          </a:p>
        </p:txBody>
      </p:sp>
      <p:sp>
        <p:nvSpPr>
          <p:cNvPr id="26" name="TextBox 25"/>
          <p:cNvSpPr txBox="1"/>
          <p:nvPr/>
        </p:nvSpPr>
        <p:spPr>
          <a:xfrm>
            <a:off x="548640" y="2578608"/>
            <a:ext cx="2651760" cy="566928"/>
          </a:xfrm>
          <a:prstGeom prst="rect">
            <a:avLst/>
          </a:prstGeom>
          <a:noFill/>
        </p:spPr>
        <p:txBody>
          <a:bodyPr wrap="square" lIns="45720" rIns="45720" tIns="27432" bIns="27432" anchor="ctr">
            <a:spAutoFit/>
          </a:bodyPr>
          <a:lstStyle/>
          <a:p>
            <a:pPr algn="l"/>
            <a:r>
              <a:rPr sz="1050" b="0" i="0">
                <a:solidFill>
                  <a:srgbClr val="1A1A1A"/>
                </a:solidFill>
                <a:latin typeface="Abadi"/>
              </a:rPr>
              <a:t>Clearance within 6 months</a:t>
            </a:r>
          </a:p>
        </p:txBody>
      </p:sp>
      <p:sp>
        <p:nvSpPr>
          <p:cNvPr id="27" name="Rectangle 26"/>
          <p:cNvSpPr/>
          <p:nvPr/>
        </p:nvSpPr>
        <p:spPr>
          <a:xfrm>
            <a:off x="3566718" y="2852928"/>
            <a:ext cx="814074" cy="22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mond 27"/>
          <p:cNvSpPr/>
          <p:nvPr/>
        </p:nvSpPr>
        <p:spPr>
          <a:xfrm>
            <a:off x="3903359" y="2788920"/>
            <a:ext cx="146304" cy="146304"/>
          </a:xfrm>
          <a:prstGeom prst="diamond">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79" y="2578608"/>
            <a:ext cx="2011680" cy="566928"/>
          </a:xfrm>
          <a:prstGeom prst="rect">
            <a:avLst/>
          </a:prstGeom>
          <a:noFill/>
        </p:spPr>
        <p:txBody>
          <a:bodyPr wrap="square" lIns="45720" rIns="45720" tIns="27432" bIns="27432" anchor="ctr">
            <a:spAutoFit/>
          </a:bodyPr>
          <a:lstStyle/>
          <a:p>
            <a:pPr algn="l"/>
            <a:r>
              <a:rPr sz="1000" b="1" i="0">
                <a:solidFill>
                  <a:srgbClr val="1A1A1A"/>
                </a:solidFill>
                <a:latin typeface="Abadi"/>
              </a:rPr>
              <a:t>OR 0.31 (0.18–0.53)</a:t>
            </a:r>
          </a:p>
        </p:txBody>
      </p:sp>
      <p:sp>
        <p:nvSpPr>
          <p:cNvPr id="30" name="TextBox 29"/>
          <p:cNvSpPr txBox="1"/>
          <p:nvPr/>
        </p:nvSpPr>
        <p:spPr>
          <a:xfrm>
            <a:off x="548640" y="3145536"/>
            <a:ext cx="2651760" cy="566928"/>
          </a:xfrm>
          <a:prstGeom prst="rect">
            <a:avLst/>
          </a:prstGeom>
          <a:noFill/>
        </p:spPr>
        <p:txBody>
          <a:bodyPr wrap="square" lIns="45720" rIns="45720" tIns="27432" bIns="27432" anchor="ctr">
            <a:spAutoFit/>
          </a:bodyPr>
          <a:lstStyle/>
          <a:p>
            <a:pPr algn="l"/>
            <a:r>
              <a:rPr sz="1050" b="0" i="0">
                <a:solidFill>
                  <a:srgbClr val="1A1A1A"/>
                </a:solidFill>
                <a:latin typeface="Abadi"/>
              </a:rPr>
              <a:t>Clearance within 3 months</a:t>
            </a:r>
          </a:p>
        </p:txBody>
      </p:sp>
      <p:sp>
        <p:nvSpPr>
          <p:cNvPr id="31" name="Rectangle 30"/>
          <p:cNvSpPr/>
          <p:nvPr/>
        </p:nvSpPr>
        <p:spPr>
          <a:xfrm>
            <a:off x="4067996" y="3419856"/>
            <a:ext cx="1006362" cy="228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iamond 31"/>
          <p:cNvSpPr/>
          <p:nvPr/>
        </p:nvSpPr>
        <p:spPr>
          <a:xfrm>
            <a:off x="4495507" y="3355848"/>
            <a:ext cx="146304" cy="146304"/>
          </a:xfrm>
          <a:prstGeom prst="diamond">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79" y="3145536"/>
            <a:ext cx="2011680" cy="566928"/>
          </a:xfrm>
          <a:prstGeom prst="rect">
            <a:avLst/>
          </a:prstGeom>
          <a:noFill/>
        </p:spPr>
        <p:txBody>
          <a:bodyPr wrap="square" lIns="45720" rIns="45720" tIns="27432" bIns="27432" anchor="ctr">
            <a:spAutoFit/>
          </a:bodyPr>
          <a:lstStyle/>
          <a:p>
            <a:pPr algn="l"/>
            <a:r>
              <a:rPr sz="1000" b="1" i="0">
                <a:solidFill>
                  <a:srgbClr val="1A1A1A"/>
                </a:solidFill>
                <a:latin typeface="Abadi"/>
              </a:rPr>
              <a:t>OR 0.68 (0.35–1.33)</a:t>
            </a:r>
          </a:p>
        </p:txBody>
      </p:sp>
      <p:sp>
        <p:nvSpPr>
          <p:cNvPr id="34" name="TextBox 33"/>
          <p:cNvSpPr txBox="1"/>
          <p:nvPr/>
        </p:nvSpPr>
        <p:spPr>
          <a:xfrm>
            <a:off x="548640" y="3712464"/>
            <a:ext cx="2651760" cy="566928"/>
          </a:xfrm>
          <a:prstGeom prst="rect">
            <a:avLst/>
          </a:prstGeom>
          <a:noFill/>
        </p:spPr>
        <p:txBody>
          <a:bodyPr wrap="square" lIns="45720" rIns="45720" tIns="27432" bIns="27432" anchor="ctr">
            <a:spAutoFit/>
          </a:bodyPr>
          <a:lstStyle/>
          <a:p>
            <a:pPr algn="l"/>
            <a:r>
              <a:rPr sz="1050" b="0" i="0">
                <a:solidFill>
                  <a:srgbClr val="1A1A1A"/>
                </a:solidFill>
                <a:latin typeface="Abadi"/>
              </a:rPr>
              <a:t>Native-liver loss at 2 years</a:t>
            </a:r>
          </a:p>
        </p:txBody>
      </p:sp>
      <p:sp>
        <p:nvSpPr>
          <p:cNvPr id="35" name="Rectangle 34"/>
          <p:cNvSpPr/>
          <p:nvPr/>
        </p:nvSpPr>
        <p:spPr>
          <a:xfrm>
            <a:off x="4546155" y="3986784"/>
            <a:ext cx="1321570" cy="228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mond 35"/>
          <p:cNvSpPr/>
          <p:nvPr/>
        </p:nvSpPr>
        <p:spPr>
          <a:xfrm>
            <a:off x="5135806" y="3922776"/>
            <a:ext cx="146304" cy="146304"/>
          </a:xfrm>
          <a:prstGeom prst="diamond">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79" y="3712464"/>
            <a:ext cx="2011680" cy="566928"/>
          </a:xfrm>
          <a:prstGeom prst="rect">
            <a:avLst/>
          </a:prstGeom>
          <a:noFill/>
        </p:spPr>
        <p:txBody>
          <a:bodyPr wrap="square" lIns="45720" rIns="45720" tIns="27432" bIns="27432" anchor="ctr">
            <a:spAutoFit/>
          </a:bodyPr>
          <a:lstStyle/>
          <a:p>
            <a:pPr algn="l"/>
            <a:r>
              <a:rPr sz="1000" b="1" i="0">
                <a:solidFill>
                  <a:srgbClr val="1A1A1A"/>
                </a:solidFill>
                <a:latin typeface="Abadi"/>
              </a:rPr>
              <a:t>HR 1.59 (0.66–3.81)</a:t>
            </a:r>
          </a:p>
        </p:txBody>
      </p:sp>
      <p:sp>
        <p:nvSpPr>
          <p:cNvPr id="38" name="TextBox 37"/>
          <p:cNvSpPr txBox="1"/>
          <p:nvPr/>
        </p:nvSpPr>
        <p:spPr>
          <a:xfrm>
            <a:off x="548640" y="4279392"/>
            <a:ext cx="2651760" cy="566928"/>
          </a:xfrm>
          <a:prstGeom prst="rect">
            <a:avLst/>
          </a:prstGeom>
          <a:noFill/>
        </p:spPr>
        <p:txBody>
          <a:bodyPr wrap="square" lIns="45720" rIns="45720" tIns="27432" bIns="27432" anchor="ctr">
            <a:spAutoFit/>
          </a:bodyPr>
          <a:lstStyle/>
          <a:p>
            <a:pPr algn="l"/>
            <a:r>
              <a:rPr sz="1050" b="0" i="0">
                <a:solidFill>
                  <a:srgbClr val="1A1A1A"/>
                </a:solidFill>
                <a:latin typeface="Abadi"/>
              </a:rPr>
              <a:t>Cholangitis (2 studies)</a:t>
            </a:r>
          </a:p>
        </p:txBody>
      </p:sp>
      <p:sp>
        <p:nvSpPr>
          <p:cNvPr id="39" name="Rectangle 38"/>
          <p:cNvSpPr/>
          <p:nvPr/>
        </p:nvSpPr>
        <p:spPr>
          <a:xfrm>
            <a:off x="4435641" y="4553712"/>
            <a:ext cx="2382926" cy="228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iamond 39"/>
          <p:cNvSpPr/>
          <p:nvPr/>
        </p:nvSpPr>
        <p:spPr>
          <a:xfrm>
            <a:off x="5551540" y="4489703"/>
            <a:ext cx="146304" cy="146304"/>
          </a:xfrm>
          <a:prstGeom prst="diamond">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79" y="4279392"/>
            <a:ext cx="2011680" cy="566928"/>
          </a:xfrm>
          <a:prstGeom prst="rect">
            <a:avLst/>
          </a:prstGeom>
          <a:noFill/>
        </p:spPr>
        <p:txBody>
          <a:bodyPr wrap="square" lIns="45720" rIns="45720" tIns="27432" bIns="27432" anchor="ctr">
            <a:spAutoFit/>
          </a:bodyPr>
          <a:lstStyle/>
          <a:p>
            <a:pPr algn="l"/>
            <a:r>
              <a:rPr sz="1000" b="1" i="0">
                <a:solidFill>
                  <a:srgbClr val="1A1A1A"/>
                </a:solidFill>
                <a:latin typeface="Abadi"/>
              </a:rPr>
              <a:t>OR 2.76 (0.57–13.5)</a:t>
            </a:r>
          </a:p>
        </p:txBody>
      </p:sp>
      <p:sp>
        <p:nvSpPr>
          <p:cNvPr id="42" name="TextBox 41"/>
          <p:cNvSpPr txBox="1"/>
          <p:nvPr/>
        </p:nvSpPr>
        <p:spPr>
          <a:xfrm>
            <a:off x="9098280" y="1773936"/>
            <a:ext cx="2532888" cy="4023360"/>
          </a:xfrm>
          <a:prstGeom prst="rect">
            <a:avLst/>
          </a:prstGeom>
          <a:noFill/>
        </p:spPr>
        <p:txBody>
          <a:bodyPr wrap="square" lIns="45720" rIns="45720" tIns="27432" bIns="27432" anchor="t">
            <a:spAutoFit/>
          </a:bodyPr>
          <a:lstStyle/>
          <a:p>
            <a:pPr algn="l"/>
            <a:r>
              <a:rPr sz="1700" b="1" i="0">
                <a:solidFill>
                  <a:srgbClr val="1B355E"/>
                </a:solidFill>
                <a:latin typeface="Abadi"/>
              </a:rPr>
              <a:t>OR 0.47</a:t>
            </a:r>
          </a:p>
          <a:p>
            <a:pPr algn="l">
              <a:spcAft>
                <a:spcPts val="900"/>
              </a:spcAft>
            </a:pPr>
            <a:r>
              <a:rPr sz="1000" b="0" i="0">
                <a:solidFill>
                  <a:srgbClr val="555555"/>
                </a:solidFill>
                <a:latin typeface="Abadi"/>
              </a:rPr>
              <a:t>Clearance consistent across studies, I² 18%.</a:t>
            </a:r>
          </a:p>
          <a:p>
            <a:pPr algn="l"/>
            <a:r>
              <a:rPr sz="1700" b="1" i="0">
                <a:solidFill>
                  <a:srgbClr val="1B355E"/>
                </a:solidFill>
                <a:latin typeface="Abadi"/>
              </a:rPr>
              <a:t>Survival: not proven</a:t>
            </a:r>
          </a:p>
          <a:p>
            <a:pPr algn="l">
              <a:spcAft>
                <a:spcPts val="900"/>
              </a:spcAft>
            </a:pPr>
            <a:r>
              <a:rPr sz="1000" b="0" i="0">
                <a:solidFill>
                  <a:srgbClr val="555555"/>
                </a:solidFill>
                <a:latin typeface="Abadi"/>
              </a:rPr>
              <a:t>Native-liver survival and cholangitis did not reach significance; wide intervals.</a:t>
            </a:r>
          </a:p>
          <a:p>
            <a:pPr algn="l"/>
            <a:r>
              <a:rPr sz="1700" b="1" i="0">
                <a:solidFill>
                  <a:srgbClr val="1B355E"/>
                </a:solidFill>
                <a:latin typeface="Abadi"/>
              </a:rPr>
              <a:t>42% CMV-positive</a:t>
            </a:r>
          </a:p>
          <a:p>
            <a:pPr algn="l">
              <a:spcAft>
                <a:spcPts val="900"/>
              </a:spcAft>
            </a:pPr>
            <a:r>
              <a:rPr sz="1000" b="0" i="0">
                <a:solidFill>
                  <a:srgbClr val="555555"/>
                </a:solidFill>
                <a:latin typeface="Abadi"/>
              </a:rPr>
              <a:t>Far above population rates: selection and definitions vary.</a:t>
            </a:r>
          </a:p>
        </p:txBody>
      </p:sp>
      <p:sp>
        <p:nvSpPr>
          <p:cNvPr id="43" name="TextBox 42"/>
          <p:cNvSpPr txBox="1"/>
          <p:nvPr/>
        </p:nvSpPr>
        <p:spPr>
          <a:xfrm>
            <a:off x="548640" y="5257800"/>
            <a:ext cx="8412480" cy="548640"/>
          </a:xfrm>
          <a:prstGeom prst="rect">
            <a:avLst/>
          </a:prstGeom>
          <a:noFill/>
        </p:spPr>
        <p:txBody>
          <a:bodyPr wrap="square" lIns="45720" rIns="45720" tIns="27432" bIns="27432" anchor="t">
            <a:spAutoFit/>
          </a:bodyPr>
          <a:lstStyle/>
          <a:p>
            <a:pPr algn="l">
              <a:spcAft>
                <a:spcPts val="600"/>
              </a:spcAft>
            </a:pPr>
            <a:r>
              <a:rPr sz="1200" b="1" i="0">
                <a:solidFill>
                  <a:srgbClr val="B22222"/>
                </a:solidFill>
                <a:latin typeface="Abadi"/>
              </a:rPr>
              <a:t>Read it as.  </a:t>
            </a:r>
            <a:r>
              <a:rPr sz="1200" b="0" i="0">
                <a:solidFill>
                  <a:srgbClr val="1A1A1A"/>
                </a:solidFill>
                <a:latin typeface="Abadi"/>
              </a:rPr>
              <a:t>Odds ratio below 1 means fewer CMV-positive infants cleared jaundice; the effect appears by 6 months.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CYSTIC BILIARY ATRESIA</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CYST IS A GIFT OF TIME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Antenatally visible, surgically favourable, and easily mistaken for a choledochal cyst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Davenport M, et al. J Clin Med 2021;10:5675 · Okubo R, et al. World J Pediatr Surg 2025;8:e001024 · Fawaz R, et al. JPGN 2017;64:154–68</a:t>
            </a:r>
          </a:p>
        </p:txBody>
      </p:sp>
      <p:sp>
        <p:nvSpPr>
          <p:cNvPr id="12" name="Rectangle 11"/>
          <p:cNvSpPr/>
          <p:nvPr/>
        </p:nvSpPr>
        <p:spPr>
          <a:xfrm>
            <a:off x="548640" y="1773936"/>
            <a:ext cx="2578608" cy="19659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78608"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Seen before birth</a:t>
            </a:r>
          </a:p>
        </p:txBody>
      </p:sp>
      <p:sp>
        <p:nvSpPr>
          <p:cNvPr id="15" name="TextBox 14"/>
          <p:cNvSpPr txBox="1"/>
          <p:nvPr/>
        </p:nvSpPr>
        <p:spPr>
          <a:xfrm>
            <a:off x="658368" y="2157984"/>
            <a:ext cx="2359152" cy="1508760"/>
          </a:xfrm>
          <a:prstGeom prst="rect">
            <a:avLst/>
          </a:prstGeom>
          <a:noFill/>
        </p:spPr>
        <p:txBody>
          <a:bodyPr wrap="square" lIns="45720" rIns="45720" tIns="27432" bIns="27432" anchor="t">
            <a:spAutoFit/>
          </a:bodyPr>
          <a:lstStyle/>
          <a:p>
            <a:pPr algn="l"/>
            <a:r>
              <a:rPr sz="1050" b="0" i="0">
                <a:solidFill>
                  <a:srgbClr val="1A1A1A"/>
                </a:solidFill>
                <a:latin typeface="Abadi"/>
              </a:rPr>
              <a:t>Hilar cyst on the 18–20 week scan; prenatal diagnosis in 5.5% of the Japanese registry.</a:t>
            </a:r>
          </a:p>
        </p:txBody>
      </p:sp>
      <p:sp>
        <p:nvSpPr>
          <p:cNvPr id="16" name="Isosceles Triangle 15"/>
          <p:cNvSpPr/>
          <p:nvPr/>
        </p:nvSpPr>
        <p:spPr>
          <a:xfrm rot="5400000">
            <a:off x="3191256"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79" y="1773936"/>
            <a:ext cx="2578608" cy="19659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3279" y="1773936"/>
            <a:ext cx="2578608"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Small cyst, sick ducts</a:t>
            </a:r>
          </a:p>
        </p:txBody>
      </p:sp>
      <p:sp>
        <p:nvSpPr>
          <p:cNvPr id="20" name="TextBox 19"/>
          <p:cNvSpPr txBox="1"/>
          <p:nvPr/>
        </p:nvSpPr>
        <p:spPr>
          <a:xfrm>
            <a:off x="3493008" y="2157984"/>
            <a:ext cx="2359152" cy="1508760"/>
          </a:xfrm>
          <a:prstGeom prst="rect">
            <a:avLst/>
          </a:prstGeom>
          <a:noFill/>
        </p:spPr>
        <p:txBody>
          <a:bodyPr wrap="square" lIns="45720" rIns="45720" tIns="27432" bIns="27432" anchor="t">
            <a:spAutoFit/>
          </a:bodyPr>
          <a:lstStyle/>
          <a:p>
            <a:pPr algn="l"/>
            <a:r>
              <a:rPr sz="1050" b="0" i="0">
                <a:solidFill>
                  <a:srgbClr val="1A1A1A"/>
                </a:solidFill>
                <a:latin typeface="Abadi"/>
              </a:rPr>
              <a:t>Usually smaller than a choledochal cyst, with a small or irregular gallbladder and no dilated intrahepatic ducts.</a:t>
            </a:r>
          </a:p>
        </p:txBody>
      </p:sp>
      <p:sp>
        <p:nvSpPr>
          <p:cNvPr id="21" name="Isosceles Triangle 20"/>
          <p:cNvSpPr/>
          <p:nvPr/>
        </p:nvSpPr>
        <p:spPr>
          <a:xfrm rot="5400000">
            <a:off x="6025895"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19" y="1773936"/>
            <a:ext cx="2578608" cy="19659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19" y="1773936"/>
            <a:ext cx="2578608"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Pale stool, high GGT</a:t>
            </a:r>
          </a:p>
        </p:txBody>
      </p:sp>
      <p:sp>
        <p:nvSpPr>
          <p:cNvPr id="25" name="TextBox 24"/>
          <p:cNvSpPr txBox="1"/>
          <p:nvPr/>
        </p:nvSpPr>
        <p:spPr>
          <a:xfrm>
            <a:off x="6327647" y="2157984"/>
            <a:ext cx="2359152" cy="1508760"/>
          </a:xfrm>
          <a:prstGeom prst="rect">
            <a:avLst/>
          </a:prstGeom>
          <a:noFill/>
        </p:spPr>
        <p:txBody>
          <a:bodyPr wrap="square" lIns="45720" rIns="45720" tIns="27432" bIns="27432" anchor="t">
            <a:spAutoFit/>
          </a:bodyPr>
          <a:lstStyle/>
          <a:p>
            <a:pPr algn="l"/>
            <a:r>
              <a:rPr sz="1050" b="0" i="0">
                <a:solidFill>
                  <a:srgbClr val="1A1A1A"/>
                </a:solidFill>
                <a:latin typeface="Abadi"/>
              </a:rPr>
              <a:t>Conjugated bilirubin and stool colour decide, not the cyst. A cholangiogram shows the atretic tree.</a:t>
            </a:r>
          </a:p>
        </p:txBody>
      </p:sp>
      <p:sp>
        <p:nvSpPr>
          <p:cNvPr id="26" name="Isosceles Triangle 25"/>
          <p:cNvSpPr/>
          <p:nvPr/>
        </p:nvSpPr>
        <p:spPr>
          <a:xfrm rot="5400000">
            <a:off x="8860536"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2559" y="1773936"/>
            <a:ext cx="2578608" cy="19659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59" y="1773936"/>
            <a:ext cx="2578608"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3999"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Operate early</a:t>
            </a:r>
          </a:p>
        </p:txBody>
      </p:sp>
      <p:sp>
        <p:nvSpPr>
          <p:cNvPr id="30" name="TextBox 29"/>
          <p:cNvSpPr txBox="1"/>
          <p:nvPr/>
        </p:nvSpPr>
        <p:spPr>
          <a:xfrm>
            <a:off x="9162287" y="2157984"/>
            <a:ext cx="2359152" cy="1508760"/>
          </a:xfrm>
          <a:prstGeom prst="rect">
            <a:avLst/>
          </a:prstGeom>
          <a:noFill/>
        </p:spPr>
        <p:txBody>
          <a:bodyPr wrap="square" lIns="45720" rIns="45720" tIns="27432" bIns="27432" anchor="t">
            <a:spAutoFit/>
          </a:bodyPr>
          <a:lstStyle/>
          <a:p>
            <a:pPr algn="l"/>
            <a:r>
              <a:rPr sz="1050" b="0" i="0">
                <a:solidFill>
                  <a:srgbClr val="1A1A1A"/>
                </a:solidFill>
                <a:latin typeface="Abadi"/>
              </a:rPr>
              <a:t>Outcome is tied to age at surgery: do not wait for jaundice to declare itself.</a:t>
            </a:r>
          </a:p>
        </p:txBody>
      </p:sp>
      <p:sp>
        <p:nvSpPr>
          <p:cNvPr id="31" name="Rectangle 30"/>
          <p:cNvSpPr/>
          <p:nvPr/>
        </p:nvSpPr>
        <p:spPr>
          <a:xfrm>
            <a:off x="548640" y="3977639"/>
            <a:ext cx="3572255"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977639"/>
            <a:ext cx="357225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4206240"/>
            <a:ext cx="3243072" cy="502920"/>
          </a:xfrm>
          <a:prstGeom prst="rect">
            <a:avLst/>
          </a:prstGeom>
          <a:noFill/>
        </p:spPr>
        <p:txBody>
          <a:bodyPr wrap="square" lIns="45720" rIns="45720" tIns="27432" bIns="27432" anchor="t">
            <a:spAutoFit/>
          </a:bodyPr>
          <a:lstStyle/>
          <a:p>
            <a:pPr algn="l"/>
            <a:r>
              <a:rPr sz="2000" b="1" i="0">
                <a:solidFill>
                  <a:srgbClr val="1E7A33"/>
                </a:solidFill>
                <a:latin typeface="Abadi"/>
              </a:rPr>
              <a:t>&gt; 75%</a:t>
            </a:r>
          </a:p>
        </p:txBody>
      </p:sp>
      <p:sp>
        <p:nvSpPr>
          <p:cNvPr id="34" name="TextBox 33"/>
          <p:cNvSpPr txBox="1"/>
          <p:nvPr/>
        </p:nvSpPr>
        <p:spPr>
          <a:xfrm>
            <a:off x="713232" y="4782312"/>
            <a:ext cx="3243072" cy="886968"/>
          </a:xfrm>
          <a:prstGeom prst="rect">
            <a:avLst/>
          </a:prstGeom>
          <a:noFill/>
        </p:spPr>
        <p:txBody>
          <a:bodyPr wrap="square" lIns="45720" rIns="45720" tIns="27432" bIns="27432" anchor="t">
            <a:spAutoFit/>
          </a:bodyPr>
          <a:lstStyle/>
          <a:p>
            <a:pPr algn="l"/>
            <a:r>
              <a:rPr sz="1100" b="0" i="0">
                <a:solidFill>
                  <a:srgbClr val="1A1A1A"/>
                </a:solidFill>
                <a:latin typeface="Abadi"/>
              </a:rPr>
              <a:t>Clearance and native-liver preservation reported after early surgery in cystic atresia.</a:t>
            </a:r>
          </a:p>
        </p:txBody>
      </p:sp>
      <p:sp>
        <p:nvSpPr>
          <p:cNvPr id="35" name="Rectangle 34"/>
          <p:cNvSpPr/>
          <p:nvPr/>
        </p:nvSpPr>
        <p:spPr>
          <a:xfrm>
            <a:off x="4303775" y="3977639"/>
            <a:ext cx="3572255"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03775" y="3977639"/>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68367" y="4206240"/>
            <a:ext cx="3243072" cy="502920"/>
          </a:xfrm>
          <a:prstGeom prst="rect">
            <a:avLst/>
          </a:prstGeom>
          <a:noFill/>
        </p:spPr>
        <p:txBody>
          <a:bodyPr wrap="square" lIns="45720" rIns="45720" tIns="27432" bIns="27432" anchor="t">
            <a:spAutoFit/>
          </a:bodyPr>
          <a:lstStyle/>
          <a:p>
            <a:pPr algn="l"/>
            <a:r>
              <a:rPr sz="2000" b="1" i="0">
                <a:solidFill>
                  <a:srgbClr val="1B355E"/>
                </a:solidFill>
                <a:latin typeface="Abadi"/>
              </a:rPr>
              <a:t>79% vs 60%</a:t>
            </a:r>
          </a:p>
        </p:txBody>
      </p:sp>
      <p:sp>
        <p:nvSpPr>
          <p:cNvPr id="38" name="TextBox 37"/>
          <p:cNvSpPr txBox="1"/>
          <p:nvPr/>
        </p:nvSpPr>
        <p:spPr>
          <a:xfrm>
            <a:off x="4468367" y="4782312"/>
            <a:ext cx="3243072" cy="886968"/>
          </a:xfrm>
          <a:prstGeom prst="rect">
            <a:avLst/>
          </a:prstGeom>
          <a:noFill/>
        </p:spPr>
        <p:txBody>
          <a:bodyPr wrap="square" lIns="45720" rIns="45720" tIns="27432" bIns="27432" anchor="t">
            <a:spAutoFit/>
          </a:bodyPr>
          <a:lstStyle/>
          <a:p>
            <a:pPr algn="l"/>
            <a:r>
              <a:rPr sz="1100" b="0" i="0">
                <a:solidFill>
                  <a:srgbClr val="1A1A1A"/>
                </a:solidFill>
                <a:latin typeface="Abadi"/>
              </a:rPr>
              <a:t>Clearance in type I cyst versus type III in the Japanese registry.</a:t>
            </a:r>
          </a:p>
        </p:txBody>
      </p:sp>
      <p:sp>
        <p:nvSpPr>
          <p:cNvPr id="39" name="Rectangle 38"/>
          <p:cNvSpPr/>
          <p:nvPr/>
        </p:nvSpPr>
        <p:spPr>
          <a:xfrm>
            <a:off x="8058911" y="3977639"/>
            <a:ext cx="3572255"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8911" y="3977639"/>
            <a:ext cx="357225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3503" y="4206240"/>
            <a:ext cx="3243072" cy="502920"/>
          </a:xfrm>
          <a:prstGeom prst="rect">
            <a:avLst/>
          </a:prstGeom>
          <a:noFill/>
        </p:spPr>
        <p:txBody>
          <a:bodyPr wrap="square" lIns="45720" rIns="45720" tIns="27432" bIns="27432" anchor="t">
            <a:spAutoFit/>
          </a:bodyPr>
          <a:lstStyle/>
          <a:p>
            <a:pPr algn="l"/>
            <a:r>
              <a:rPr sz="2000" b="1" i="0">
                <a:solidFill>
                  <a:srgbClr val="D97A0B"/>
                </a:solidFill>
                <a:latin typeface="Abadi"/>
              </a:rPr>
              <a:t>Adulthood</a:t>
            </a:r>
          </a:p>
        </p:txBody>
      </p:sp>
      <p:sp>
        <p:nvSpPr>
          <p:cNvPr id="42" name="TextBox 41"/>
          <p:cNvSpPr txBox="1"/>
          <p:nvPr/>
        </p:nvSpPr>
        <p:spPr>
          <a:xfrm>
            <a:off x="8223503" y="4782312"/>
            <a:ext cx="3243072" cy="886968"/>
          </a:xfrm>
          <a:prstGeom prst="rect">
            <a:avLst/>
          </a:prstGeom>
          <a:noFill/>
        </p:spPr>
        <p:txBody>
          <a:bodyPr wrap="square" lIns="45720" rIns="45720" tIns="27432" bIns="27432" anchor="t">
            <a:spAutoFit/>
          </a:bodyPr>
          <a:lstStyle/>
          <a:p>
            <a:pPr algn="l"/>
            <a:r>
              <a:rPr sz="1100" b="0" i="0">
                <a:solidFill>
                  <a:srgbClr val="1A1A1A"/>
                </a:solidFill>
                <a:latin typeface="Abadi"/>
              </a:rPr>
              <a:t>Some decompensate late: follow for life, like every Kasai survivor.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OTHER ASSOCIATIONS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WHEN THE HEART SETS THE OUTCOME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Cardiac, duodenal and chromosomal associations, with and without splenic malformation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Fawaz R, et al. JPGN 2017;64:154–68 · Aldeiri B, et al. 2020 (cardiac-associated BA) · Allotey J, et al. 2008 (cat-eye) · Davenport M. World J Pediatr Surg 2025;8:e001040</a:t>
            </a:r>
          </a:p>
        </p:txBody>
      </p:sp>
      <p:sp>
        <p:nvSpPr>
          <p:cNvPr id="12" name="Rectangle 11"/>
          <p:cNvSpPr/>
          <p:nvPr/>
        </p:nvSpPr>
        <p:spPr>
          <a:xfrm>
            <a:off x="548640" y="1773936"/>
            <a:ext cx="2633472" cy="16916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4288" cy="502920"/>
          </a:xfrm>
          <a:prstGeom prst="rect">
            <a:avLst/>
          </a:prstGeom>
          <a:noFill/>
        </p:spPr>
        <p:txBody>
          <a:bodyPr wrap="square" lIns="45720" rIns="45720" tIns="27432" bIns="27432" anchor="t">
            <a:spAutoFit/>
          </a:bodyPr>
          <a:lstStyle/>
          <a:p>
            <a:pPr algn="l"/>
            <a:r>
              <a:rPr sz="2000" b="1" i="0">
                <a:solidFill>
                  <a:srgbClr val="B22222"/>
                </a:solidFill>
                <a:latin typeface="Abadi"/>
              </a:rPr>
              <a:t>7%</a:t>
            </a:r>
          </a:p>
        </p:txBody>
      </p:sp>
      <p:sp>
        <p:nvSpPr>
          <p:cNvPr id="15" name="TextBox 14"/>
          <p:cNvSpPr txBox="1"/>
          <p:nvPr/>
        </p:nvSpPr>
        <p:spPr>
          <a:xfrm>
            <a:off x="713232"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Cardiac-associated atresia (37 infants); 48% of them had BASM features, 11% cat-eye syndrome.</a:t>
            </a:r>
          </a:p>
        </p:txBody>
      </p:sp>
      <p:sp>
        <p:nvSpPr>
          <p:cNvPr id="16" name="Rectangle 15"/>
          <p:cNvSpPr/>
          <p:nvPr/>
        </p:nvSpPr>
        <p:spPr>
          <a:xfrm>
            <a:off x="3364992" y="1773936"/>
            <a:ext cx="2633472" cy="16916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2002536"/>
            <a:ext cx="2304288" cy="502920"/>
          </a:xfrm>
          <a:prstGeom prst="rect">
            <a:avLst/>
          </a:prstGeom>
          <a:noFill/>
        </p:spPr>
        <p:txBody>
          <a:bodyPr wrap="square" lIns="45720" rIns="45720" tIns="27432" bIns="27432" anchor="t">
            <a:spAutoFit/>
          </a:bodyPr>
          <a:lstStyle/>
          <a:p>
            <a:pPr algn="l"/>
            <a:r>
              <a:rPr sz="2000" b="1" i="0">
                <a:solidFill>
                  <a:srgbClr val="D97A0B"/>
                </a:solidFill>
                <a:latin typeface="Abadi"/>
              </a:rPr>
              <a:t>40% vs 4%</a:t>
            </a:r>
          </a:p>
        </p:txBody>
      </p:sp>
      <p:sp>
        <p:nvSpPr>
          <p:cNvPr id="19" name="TextBox 18"/>
          <p:cNvSpPr txBox="1"/>
          <p:nvPr/>
        </p:nvSpPr>
        <p:spPr>
          <a:xfrm>
            <a:off x="3529584"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Overall mortality, cardiac-associated versus contemporaneous controls.</a:t>
            </a:r>
          </a:p>
        </p:txBody>
      </p:sp>
      <p:sp>
        <p:nvSpPr>
          <p:cNvPr id="20" name="Rectangle 19"/>
          <p:cNvSpPr/>
          <p:nvPr/>
        </p:nvSpPr>
        <p:spPr>
          <a:xfrm>
            <a:off x="6181344" y="1773936"/>
            <a:ext cx="2633472" cy="16916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2002536"/>
            <a:ext cx="2304288" cy="502920"/>
          </a:xfrm>
          <a:prstGeom prst="rect">
            <a:avLst/>
          </a:prstGeom>
          <a:noFill/>
        </p:spPr>
        <p:txBody>
          <a:bodyPr wrap="square" lIns="45720" rIns="45720" tIns="27432" bIns="27432" anchor="t">
            <a:spAutoFit/>
          </a:bodyPr>
          <a:lstStyle/>
          <a:p>
            <a:pPr algn="l"/>
            <a:r>
              <a:rPr sz="2000" b="1" i="0">
                <a:solidFill>
                  <a:srgbClr val="1B355E"/>
                </a:solidFill>
                <a:latin typeface="Abadi"/>
              </a:rPr>
              <a:t>54% vs 65%</a:t>
            </a:r>
          </a:p>
        </p:txBody>
      </p:sp>
      <p:sp>
        <p:nvSpPr>
          <p:cNvPr id="23" name="TextBox 22"/>
          <p:cNvSpPr txBox="1"/>
          <p:nvPr/>
        </p:nvSpPr>
        <p:spPr>
          <a:xfrm>
            <a:off x="6345936"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Native-liver survival at 5 years, cardiac-associated versus controls.</a:t>
            </a:r>
          </a:p>
        </p:txBody>
      </p:sp>
      <p:sp>
        <p:nvSpPr>
          <p:cNvPr id="24" name="Rectangle 23"/>
          <p:cNvSpPr/>
          <p:nvPr/>
        </p:nvSpPr>
        <p:spPr>
          <a:xfrm>
            <a:off x="8997696" y="1773936"/>
            <a:ext cx="2633472" cy="16916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2002536"/>
            <a:ext cx="2304288" cy="502920"/>
          </a:xfrm>
          <a:prstGeom prst="rect">
            <a:avLst/>
          </a:prstGeom>
          <a:noFill/>
        </p:spPr>
        <p:txBody>
          <a:bodyPr wrap="square" lIns="45720" rIns="45720" tIns="27432" bIns="27432" anchor="t">
            <a:spAutoFit/>
          </a:bodyPr>
          <a:lstStyle/>
          <a:p>
            <a:pPr algn="l"/>
            <a:r>
              <a:rPr sz="2000" b="1" i="0">
                <a:solidFill>
                  <a:srgbClr val="7F7F7F"/>
                </a:solidFill>
                <a:latin typeface="Abadi"/>
              </a:rPr>
              <a:t>10 of 13</a:t>
            </a:r>
          </a:p>
        </p:txBody>
      </p:sp>
      <p:sp>
        <p:nvSpPr>
          <p:cNvPr id="27" name="TextBox 26"/>
          <p:cNvSpPr txBox="1"/>
          <p:nvPr/>
        </p:nvSpPr>
        <p:spPr>
          <a:xfrm>
            <a:off x="9162288"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Infants with duodenal atresia and biliary atresia who also had BASM.</a:t>
            </a:r>
          </a:p>
        </p:txBody>
      </p:sp>
      <p:sp>
        <p:nvSpPr>
          <p:cNvPr id="28" name="Rectangle 27"/>
          <p:cNvSpPr/>
          <p:nvPr/>
        </p:nvSpPr>
        <p:spPr>
          <a:xfrm>
            <a:off x="548640" y="3657600"/>
            <a:ext cx="3572255" cy="21031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657600"/>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867912"/>
            <a:ext cx="3243072" cy="457200"/>
          </a:xfrm>
          <a:prstGeom prst="rect">
            <a:avLst/>
          </a:prstGeom>
          <a:noFill/>
        </p:spPr>
        <p:txBody>
          <a:bodyPr wrap="square" lIns="45720" rIns="45720" tIns="27432" bIns="27432" anchor="t">
            <a:spAutoFit/>
          </a:bodyPr>
          <a:lstStyle/>
          <a:p>
            <a:pPr algn="l"/>
            <a:r>
              <a:rPr sz="1500" b="1" i="0">
                <a:solidFill>
                  <a:srgbClr val="1B355E"/>
                </a:solidFill>
                <a:latin typeface="Abadi"/>
              </a:rPr>
              <a:t>Chromosomal</a:t>
            </a:r>
          </a:p>
        </p:txBody>
      </p:sp>
      <p:sp>
        <p:nvSpPr>
          <p:cNvPr id="31" name="TextBox 30"/>
          <p:cNvSpPr txBox="1"/>
          <p:nvPr/>
        </p:nvSpPr>
        <p:spPr>
          <a:xfrm>
            <a:off x="713232" y="4407408"/>
            <a:ext cx="3243072" cy="12618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Cat-eye syndrome (22q11): 4 of 5 infants had atresia</a:t>
            </a:r>
          </a:p>
          <a:p>
            <a:pPr algn="l">
              <a:spcAft>
                <a:spcPts val="300"/>
              </a:spcAft>
            </a:pPr>
            <a:r>
              <a:rPr sz="1150" b="0" i="0">
                <a:solidFill>
                  <a:srgbClr val="1A1A1A"/>
                </a:solidFill>
                <a:latin typeface="Abadi"/>
              </a:rPr>
              <a:t>▪  Ask for karyotype or microarray when dysmorphic</a:t>
            </a:r>
          </a:p>
        </p:txBody>
      </p:sp>
      <p:sp>
        <p:nvSpPr>
          <p:cNvPr id="32" name="Rectangle 31"/>
          <p:cNvSpPr/>
          <p:nvPr/>
        </p:nvSpPr>
        <p:spPr>
          <a:xfrm>
            <a:off x="4303775" y="3657600"/>
            <a:ext cx="3572255" cy="21031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03775" y="3657600"/>
            <a:ext cx="3572255"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8367" y="3867912"/>
            <a:ext cx="3243072" cy="457200"/>
          </a:xfrm>
          <a:prstGeom prst="rect">
            <a:avLst/>
          </a:prstGeom>
          <a:noFill/>
        </p:spPr>
        <p:txBody>
          <a:bodyPr wrap="square" lIns="45720" rIns="45720" tIns="27432" bIns="27432" anchor="t">
            <a:spAutoFit/>
          </a:bodyPr>
          <a:lstStyle/>
          <a:p>
            <a:pPr algn="l"/>
            <a:r>
              <a:rPr sz="1500" b="1" i="0">
                <a:solidFill>
                  <a:srgbClr val="7F7F7F"/>
                </a:solidFill>
                <a:latin typeface="Abadi"/>
              </a:rPr>
              <a:t>Reported rarely</a:t>
            </a:r>
          </a:p>
        </p:txBody>
      </p:sp>
      <p:sp>
        <p:nvSpPr>
          <p:cNvPr id="35" name="TextBox 34"/>
          <p:cNvSpPr txBox="1"/>
          <p:nvPr/>
        </p:nvSpPr>
        <p:spPr>
          <a:xfrm>
            <a:off x="4468367" y="4407408"/>
            <a:ext cx="3243072" cy="12618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Kabuki, Zimmermann–Laband</a:t>
            </a:r>
          </a:p>
          <a:p>
            <a:pPr algn="l">
              <a:spcAft>
                <a:spcPts val="300"/>
              </a:spcAft>
            </a:pPr>
            <a:r>
              <a:rPr sz="1150" b="0" i="0">
                <a:solidFill>
                  <a:srgbClr val="1A1A1A"/>
                </a:solidFill>
                <a:latin typeface="Abadi"/>
              </a:rPr>
              <a:t>▪  Kartagener, Hirschsprung</a:t>
            </a:r>
          </a:p>
          <a:p>
            <a:pPr algn="l">
              <a:spcAft>
                <a:spcPts val="300"/>
              </a:spcAft>
            </a:pPr>
            <a:r>
              <a:rPr sz="1150" b="0" i="0">
                <a:solidFill>
                  <a:srgbClr val="1A1A1A"/>
                </a:solidFill>
                <a:latin typeface="Abadi"/>
              </a:rPr>
              <a:t>▪  Oesophageal atresia</a:t>
            </a:r>
          </a:p>
        </p:txBody>
      </p:sp>
      <p:sp>
        <p:nvSpPr>
          <p:cNvPr id="36" name="Rectangle 35"/>
          <p:cNvSpPr/>
          <p:nvPr/>
        </p:nvSpPr>
        <p:spPr>
          <a:xfrm>
            <a:off x="8058911" y="3657600"/>
            <a:ext cx="3572255" cy="21031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1" y="3657600"/>
            <a:ext cx="357225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3503" y="3867912"/>
            <a:ext cx="3243072" cy="457200"/>
          </a:xfrm>
          <a:prstGeom prst="rect">
            <a:avLst/>
          </a:prstGeom>
          <a:noFill/>
        </p:spPr>
        <p:txBody>
          <a:bodyPr wrap="square" lIns="45720" rIns="45720" tIns="27432" bIns="27432" anchor="t">
            <a:spAutoFit/>
          </a:bodyPr>
          <a:lstStyle/>
          <a:p>
            <a:pPr algn="l"/>
            <a:r>
              <a:rPr sz="1500" b="1" i="0">
                <a:solidFill>
                  <a:srgbClr val="B22222"/>
                </a:solidFill>
                <a:latin typeface="Abadi"/>
              </a:rPr>
              <a:t>Before the Kasai</a:t>
            </a:r>
          </a:p>
        </p:txBody>
      </p:sp>
      <p:sp>
        <p:nvSpPr>
          <p:cNvPr id="39" name="TextBox 38"/>
          <p:cNvSpPr txBox="1"/>
          <p:nvPr/>
        </p:nvSpPr>
        <p:spPr>
          <a:xfrm>
            <a:off x="8223503" y="4407408"/>
            <a:ext cx="3243072" cy="126187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Echocardiogram in every infant</a:t>
            </a:r>
          </a:p>
          <a:p>
            <a:pPr algn="l">
              <a:spcAft>
                <a:spcPts val="300"/>
              </a:spcAft>
            </a:pPr>
            <a:r>
              <a:rPr sz="1150" b="0" i="0">
                <a:solidFill>
                  <a:srgbClr val="1A1A1A"/>
                </a:solidFill>
                <a:latin typeface="Abadi"/>
              </a:rPr>
              <a:t>▪  Abdominal veins on ultrasound</a:t>
            </a:r>
          </a:p>
          <a:p>
            <a:pPr algn="l">
              <a:spcAft>
                <a:spcPts val="300"/>
              </a:spcAft>
            </a:pPr>
            <a:r>
              <a:rPr sz="1150" b="0" i="0">
                <a:solidFill>
                  <a:srgbClr val="1A1A1A"/>
                </a:solidFill>
                <a:latin typeface="Abadi"/>
              </a:rPr>
              <a:t>▪  Plan anaesthesia for the heart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PROGNOSIS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PHENOTYPE PREDICTS THE COURSE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Clearance of jaundice after Kasai by surgical type, Japanese registry,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Okubo R, et al. World J Pediatr Surg 2025;8:e001024 · Davenport 2006 · Front Pediatr 2021;9:710450 · Aldeiri 2020</a:t>
            </a:r>
          </a:p>
        </p:txBody>
      </p:sp>
      <p:sp>
        <p:nvSpPr>
          <p:cNvPr id="12" name="TextBox 11"/>
          <p:cNvSpPr txBox="1"/>
          <p:nvPr/>
        </p:nvSpPr>
        <p:spPr>
          <a:xfrm>
            <a:off x="640080" y="1810512"/>
            <a:ext cx="2560320" cy="228600"/>
          </a:xfrm>
          <a:prstGeom prst="rect">
            <a:avLst/>
          </a:prstGeom>
          <a:noFill/>
        </p:spPr>
        <p:txBody>
          <a:bodyPr wrap="square" lIns="45720" rIns="45720" tIns="27432" bIns="27432" anchor="t">
            <a:spAutoFit/>
          </a:bodyPr>
          <a:lstStyle/>
          <a:p>
            <a:pPr algn="l"/>
            <a:r>
              <a:rPr sz="1000" b="0" i="1">
                <a:solidFill>
                  <a:srgbClr val="7F7F7F"/>
                </a:solidFill>
                <a:latin typeface="Abadi"/>
              </a:rPr>
              <a:t>Per cent clearing jaundice</a:t>
            </a:r>
          </a:p>
        </p:txBody>
      </p:sp>
      <p:sp>
        <p:nvSpPr>
          <p:cNvPr id="13" name="Rectangle 12"/>
          <p:cNvSpPr/>
          <p:nvPr/>
        </p:nvSpPr>
        <p:spPr>
          <a:xfrm>
            <a:off x="640080" y="5084064"/>
            <a:ext cx="603504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79551" y="3042919"/>
            <a:ext cx="829818" cy="204114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768600"/>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70</a:t>
            </a:r>
          </a:p>
        </p:txBody>
      </p:sp>
      <p:sp>
        <p:nvSpPr>
          <p:cNvPr id="16" name="TextBox 15"/>
          <p:cNvSpPr txBox="1"/>
          <p:nvPr/>
        </p:nvSpPr>
        <p:spPr>
          <a:xfrm>
            <a:off x="658368"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Type I</a:t>
            </a:r>
          </a:p>
        </p:txBody>
      </p:sp>
      <p:sp>
        <p:nvSpPr>
          <p:cNvPr id="17" name="Rectangle 16"/>
          <p:cNvSpPr/>
          <p:nvPr/>
        </p:nvSpPr>
        <p:spPr>
          <a:xfrm>
            <a:off x="2488311" y="2780487"/>
            <a:ext cx="829818" cy="230357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48839" y="2506167"/>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79</a:t>
            </a:r>
          </a:p>
        </p:txBody>
      </p:sp>
      <p:sp>
        <p:nvSpPr>
          <p:cNvPr id="19" name="TextBox 18"/>
          <p:cNvSpPr txBox="1"/>
          <p:nvPr/>
        </p:nvSpPr>
        <p:spPr>
          <a:xfrm>
            <a:off x="2167127"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Type I cyst</a:t>
            </a:r>
          </a:p>
        </p:txBody>
      </p:sp>
      <p:sp>
        <p:nvSpPr>
          <p:cNvPr id="20" name="Rectangle 19"/>
          <p:cNvSpPr/>
          <p:nvPr/>
        </p:nvSpPr>
        <p:spPr>
          <a:xfrm>
            <a:off x="3997071" y="2984601"/>
            <a:ext cx="829818" cy="209946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0" y="2710281"/>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72</a:t>
            </a:r>
          </a:p>
        </p:txBody>
      </p:sp>
      <p:sp>
        <p:nvSpPr>
          <p:cNvPr id="22" name="TextBox 21"/>
          <p:cNvSpPr txBox="1"/>
          <p:nvPr/>
        </p:nvSpPr>
        <p:spPr>
          <a:xfrm>
            <a:off x="3675887"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Type II</a:t>
            </a:r>
          </a:p>
        </p:txBody>
      </p:sp>
      <p:sp>
        <p:nvSpPr>
          <p:cNvPr id="23" name="Rectangle 22"/>
          <p:cNvSpPr/>
          <p:nvPr/>
        </p:nvSpPr>
        <p:spPr>
          <a:xfrm>
            <a:off x="5505830" y="3334512"/>
            <a:ext cx="829818" cy="1749551"/>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59" y="3060192"/>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60</a:t>
            </a:r>
          </a:p>
        </p:txBody>
      </p:sp>
      <p:sp>
        <p:nvSpPr>
          <p:cNvPr id="25" name="TextBox 24"/>
          <p:cNvSpPr txBox="1"/>
          <p:nvPr/>
        </p:nvSpPr>
        <p:spPr>
          <a:xfrm>
            <a:off x="5184647"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Type III</a:t>
            </a:r>
          </a:p>
        </p:txBody>
      </p:sp>
      <p:sp>
        <p:nvSpPr>
          <p:cNvPr id="26" name="TextBox 25"/>
          <p:cNvSpPr txBox="1"/>
          <p:nvPr/>
        </p:nvSpPr>
        <p:spPr>
          <a:xfrm>
            <a:off x="7178040" y="1773936"/>
            <a:ext cx="4453128" cy="4023360"/>
          </a:xfrm>
          <a:prstGeom prst="rect">
            <a:avLst/>
          </a:prstGeom>
          <a:noFill/>
        </p:spPr>
        <p:txBody>
          <a:bodyPr wrap="square" lIns="45720" rIns="45720" tIns="27432" bIns="27432" anchor="t">
            <a:spAutoFit/>
          </a:bodyPr>
          <a:lstStyle/>
          <a:p>
            <a:pPr algn="l"/>
            <a:r>
              <a:rPr sz="1700" b="1" i="0">
                <a:solidFill>
                  <a:srgbClr val="1B355E"/>
                </a:solidFill>
                <a:latin typeface="Abadi"/>
              </a:rPr>
              <a:t>50.5% → 44.4%</a:t>
            </a:r>
          </a:p>
          <a:p>
            <a:pPr algn="l">
              <a:spcAft>
                <a:spcPts val="900"/>
              </a:spcAft>
            </a:pPr>
            <a:r>
              <a:rPr sz="1000" b="0" i="0">
                <a:solidFill>
                  <a:srgbClr val="555555"/>
                </a:solidFill>
                <a:latin typeface="Abadi"/>
              </a:rPr>
              <a:t>Japanese native-liver survival at 10 and 20 years; overall survival 88.9% and 87.6%.</a:t>
            </a:r>
          </a:p>
          <a:p>
            <a:pPr algn="l"/>
            <a:r>
              <a:rPr sz="1700" b="1" i="0">
                <a:solidFill>
                  <a:srgbClr val="1B355E"/>
                </a:solidFill>
                <a:latin typeface="Abadi"/>
              </a:rPr>
              <a:t>BASM: 46% at 5 years</a:t>
            </a:r>
          </a:p>
          <a:p>
            <a:pPr algn="l">
              <a:spcAft>
                <a:spcPts val="900"/>
              </a:spcAft>
            </a:pPr>
            <a:r>
              <a:rPr sz="1000" b="0" i="0">
                <a:solidFill>
                  <a:srgbClr val="555555"/>
                </a:solidFill>
                <a:latin typeface="Abadi"/>
              </a:rPr>
              <a:t>Native-liver survival, falling to 32% at 10 years (King's).</a:t>
            </a:r>
          </a:p>
          <a:p>
            <a:pPr algn="l"/>
            <a:r>
              <a:rPr sz="1700" b="1" i="0">
                <a:solidFill>
                  <a:srgbClr val="1B355E"/>
                </a:solidFill>
                <a:latin typeface="Abadi"/>
              </a:rPr>
              <a:t>CMV: OR 0.47</a:t>
            </a:r>
          </a:p>
          <a:p>
            <a:pPr algn="l">
              <a:spcAft>
                <a:spcPts val="900"/>
              </a:spcAft>
            </a:pPr>
            <a:r>
              <a:rPr sz="1000" b="0" i="0">
                <a:solidFill>
                  <a:srgbClr val="555555"/>
                </a:solidFill>
                <a:latin typeface="Abadi"/>
              </a:rPr>
              <a:t>For clearing jaundice; survival effect unproven.</a:t>
            </a:r>
          </a:p>
          <a:p>
            <a:pPr algn="l"/>
            <a:r>
              <a:rPr sz="1700" b="1" i="0">
                <a:solidFill>
                  <a:srgbClr val="1B355E"/>
                </a:solidFill>
                <a:latin typeface="Abadi"/>
              </a:rPr>
              <a:t>Cardiac: 40% mortality</a:t>
            </a:r>
          </a:p>
          <a:p>
            <a:pPr algn="l">
              <a:spcAft>
                <a:spcPts val="900"/>
              </a:spcAft>
            </a:pPr>
            <a:r>
              <a:rPr sz="1000" b="0" i="0">
                <a:solidFill>
                  <a:srgbClr val="555555"/>
                </a:solidFill>
                <a:latin typeface="Abadi"/>
              </a:rPr>
              <a:t>Versus 4% in controls; the heart, not the liver, decides.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The joint NASPGHAN/ESPGHAN guideline versus the UK phenotype literature; no AASLD or EASL document covers atresia epidemiology</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Fawaz R, et al. JPGN 2017;64:154–68 · Davenport M, et al. J Clin Med 2021;10:5675 · Davenport M. World J Pediatr Surg 2025;8:e001040 · Hopkins 2017</a:t>
            </a:r>
          </a:p>
        </p:txBody>
      </p:sp>
      <p:graphicFrame>
        <p:nvGraphicFramePr>
          <p:cNvPr id="12" name="Table 11"/>
          <p:cNvGraphicFramePr>
            <a:graphicFrameLocks noGrp="1"/>
          </p:cNvGraphicFramePr>
          <p:nvPr/>
        </p:nvGraphicFramePr>
        <p:xfrm>
          <a:off x="548640" y="1737360"/>
          <a:ext cx="11082528" cy="3621024"/>
        </p:xfrm>
        <a:graphic>
          <a:graphicData uri="http://schemas.openxmlformats.org/drawingml/2006/table">
            <a:tbl>
              <a:tblPr firstRow="0" bandRow="0">
                <a:tableStyleId>{5C22544A-7EE6-4342-B048-85BDC9FD1C3A}</a:tableStyleId>
              </a:tblPr>
              <a:tblGrid>
                <a:gridCol w="1920240"/>
                <a:gridCol w="3931920"/>
                <a:gridCol w="3931920"/>
                <a:gridCol w="1298448"/>
              </a:tblGrid>
              <a:tr h="402336">
                <a:tc>
                  <a:txBody>
                    <a:bodyPr wrap="square"/>
                    <a:lstStyle/>
                    <a:p>
                      <a:pPr algn="l"/>
                      <a:r>
                        <a:rPr sz="1000" b="1">
                          <a:solidFill>
                            <a:srgbClr val="FFFFFF"/>
                          </a:solidFill>
                          <a:latin typeface="Abadi"/>
                        </a:rPr>
                        <a:t>Question</a:t>
                      </a:r>
                    </a:p>
                  </a:txBody>
                  <a:tcPr marL="73152" marR="73152" marT="27432" marB="27432" anchor="ctr">
                    <a:solidFill>
                      <a:srgbClr val="1B355E"/>
                    </a:solidFill>
                  </a:tcPr>
                </a:tc>
                <a:tc>
                  <a:txBody>
                    <a:bodyPr wrap="square"/>
                    <a:lstStyle/>
                    <a:p>
                      <a:pPr algn="l"/>
                      <a:r>
                        <a:rPr sz="1000" b="1">
                          <a:solidFill>
                            <a:srgbClr val="FFFFFF"/>
                          </a:solidFill>
                          <a:latin typeface="Abadi"/>
                        </a:rPr>
                        <a:t>NASPGHAN/ESPGHAN 2017</a:t>
                      </a:r>
                    </a:p>
                  </a:txBody>
                  <a:tcPr marL="73152" marR="73152" marT="27432" marB="27432" anchor="ctr">
                    <a:solidFill>
                      <a:srgbClr val="1B355E"/>
                    </a:solidFill>
                  </a:tcPr>
                </a:tc>
                <a:tc>
                  <a:txBody>
                    <a:bodyPr wrap="square"/>
                    <a:lstStyle/>
                    <a:p>
                      <a:pPr algn="l"/>
                      <a:r>
                        <a:rPr sz="1000" b="1">
                          <a:solidFill>
                            <a:srgbClr val="FFFFFF"/>
                          </a:solidFill>
                          <a:latin typeface="Abadi"/>
                        </a:rPr>
                        <a:t>UK phenotype literature</a:t>
                      </a:r>
                    </a:p>
                  </a:txBody>
                  <a:tcPr marL="73152" marR="73152" marT="27432" marB="27432" anchor="ctr">
                    <a:solidFill>
                      <a:srgbClr val="1B355E"/>
                    </a:solidFill>
                  </a:tcPr>
                </a:tc>
                <a:tc>
                  <a:txBody>
                    <a:bodyPr wrap="square"/>
                    <a:lstStyle/>
                    <a:p>
                      <a:pPr algn="l"/>
                      <a:r>
                        <a:rPr sz="1000" b="1">
                          <a:solidFill>
                            <a:srgbClr val="FFFFFF"/>
                          </a:solidFill>
                          <a:latin typeface="Abadi"/>
                        </a:rPr>
                        <a:t>Verdict</a:t>
                      </a:r>
                    </a:p>
                  </a:txBody>
                  <a:tcPr marL="73152" marR="73152" marT="27432" marB="27432" anchor="ctr">
                    <a:solidFill>
                      <a:srgbClr val="1B355E"/>
                    </a:solidFill>
                  </a:tcPr>
                </a:tc>
              </a:tr>
              <a:tr h="402336">
                <a:tc>
                  <a:txBody>
                    <a:bodyPr wrap="square"/>
                    <a:lstStyle/>
                    <a:p>
                      <a:pPr algn="l"/>
                      <a:r>
                        <a:rPr sz="1000" b="1">
                          <a:solidFill>
                            <a:srgbClr val="1A1A1A"/>
                          </a:solidFill>
                          <a:latin typeface="Abadi"/>
                        </a:rPr>
                        <a:t>Incidence</a:t>
                      </a:r>
                    </a:p>
                  </a:txBody>
                  <a:tcPr marL="73152" marR="73152" marT="27432" marB="27432" anchor="ctr">
                    <a:solidFill>
                      <a:srgbClr val="FFFFFF"/>
                    </a:solidFill>
                  </a:tcPr>
                </a:tc>
                <a:tc>
                  <a:txBody>
                    <a:bodyPr wrap="square"/>
                    <a:lstStyle/>
                    <a:p>
                      <a:pPr algn="l"/>
                      <a:r>
                        <a:rPr sz="1000" b="0">
                          <a:solidFill>
                            <a:srgbClr val="1A1A1A"/>
                          </a:solidFill>
                          <a:latin typeface="Abadi"/>
                        </a:rPr>
                        <a:t>Taiwan 1:6,000; USA 1:12,000; Canada 1:19,000; Europe 1:18,000</a:t>
                      </a:r>
                    </a:p>
                  </a:txBody>
                  <a:tcPr marL="73152" marR="73152" marT="27432" marB="27432" anchor="ctr">
                    <a:solidFill>
                      <a:srgbClr val="FFFFFF"/>
                    </a:solidFill>
                  </a:tcPr>
                </a:tc>
                <a:tc>
                  <a:txBody>
                    <a:bodyPr wrap="square"/>
                    <a:lstStyle/>
                    <a:p>
                      <a:pPr algn="l"/>
                      <a:r>
                        <a:rPr sz="1000" b="0">
                          <a:solidFill>
                            <a:srgbClr val="1A1A1A"/>
                          </a:solidFill>
                          <a:latin typeface="Abadi"/>
                        </a:rPr>
                        <a:t>USA billing 1:22,371; Texas registry 0.65 per 10,000</a:t>
                      </a:r>
                    </a:p>
                  </a:txBody>
                  <a:tcPr marL="73152" marR="73152" marT="27432" marB="27432" anchor="ctr">
                    <a:solidFill>
                      <a:srgbClr val="FFFFFF"/>
                    </a:solidFill>
                  </a:tcPr>
                </a:tc>
                <a:tc>
                  <a:txBody>
                    <a:bodyPr wrap="square"/>
                    <a:lstStyle/>
                    <a:p>
                      <a:pPr algn="ctr"/>
                      <a:r>
                        <a:rPr sz="800" b="1">
                          <a:solidFill>
                            <a:srgbClr val="FFFFFF"/>
                          </a:solidFill>
                          <a:latin typeface="Abadi"/>
                        </a:rPr>
                        <a:t>DIFFERS</a:t>
                      </a:r>
                    </a:p>
                  </a:txBody>
                  <a:tcPr marL="73152" marR="73152" marT="27432" marB="27432" anchor="ctr">
                    <a:solidFill>
                      <a:srgbClr val="D97A0B"/>
                    </a:solidFill>
                  </a:tcPr>
                </a:tc>
              </a:tr>
              <a:tr h="402336">
                <a:tc>
                  <a:txBody>
                    <a:bodyPr wrap="square"/>
                    <a:lstStyle/>
                    <a:p>
                      <a:pPr algn="l"/>
                      <a:r>
                        <a:rPr sz="1000" b="1">
                          <a:solidFill>
                            <a:srgbClr val="1A1A1A"/>
                          </a:solidFill>
                          <a:latin typeface="Abadi"/>
                        </a:rPr>
                        <a:t>Classification</a:t>
                      </a:r>
                    </a:p>
                  </a:txBody>
                  <a:tcPr marL="73152" marR="73152" marT="27432" marB="27432" anchor="ctr">
                    <a:solidFill>
                      <a:srgbClr val="F2F2F2"/>
                    </a:solidFill>
                  </a:tcPr>
                </a:tc>
                <a:tc>
                  <a:txBody>
                    <a:bodyPr wrap="square"/>
                    <a:lstStyle/>
                    <a:p>
                      <a:pPr algn="l"/>
                      <a:r>
                        <a:rPr sz="1000" b="0">
                          <a:solidFill>
                            <a:srgbClr val="1A1A1A"/>
                          </a:solidFill>
                          <a:latin typeface="Abadi"/>
                        </a:rPr>
                        <a:t>Non-syndromic 84%, other malformation 6%, laterality 10%</a:t>
                      </a:r>
                    </a:p>
                  </a:txBody>
                  <a:tcPr marL="73152" marR="73152" marT="27432" marB="27432" anchor="ctr">
                    <a:solidFill>
                      <a:srgbClr val="F2F2F2"/>
                    </a:solidFill>
                  </a:tcPr>
                </a:tc>
                <a:tc>
                  <a:txBody>
                    <a:bodyPr wrap="square"/>
                    <a:lstStyle/>
                    <a:p>
                      <a:pPr algn="l"/>
                      <a:r>
                        <a:rPr sz="1000" b="0">
                          <a:solidFill>
                            <a:srgbClr val="1A1A1A"/>
                          </a:solidFill>
                          <a:latin typeface="Abadi"/>
                        </a:rPr>
                        <a:t>Isolated, BASM, cystic, CMV IgM+, other syndromic</a:t>
                      </a:r>
                    </a:p>
                  </a:txBody>
                  <a:tcPr marL="73152" marR="73152" marT="27432" marB="27432" anchor="ctr">
                    <a:solidFill>
                      <a:srgbClr val="F2F2F2"/>
                    </a:solidFill>
                  </a:tcPr>
                </a:tc>
                <a:tc>
                  <a:txBody>
                    <a:bodyPr wrap="square"/>
                    <a:lstStyle/>
                    <a:p>
                      <a:pPr algn="ctr"/>
                      <a:r>
                        <a:rPr sz="800" b="1">
                          <a:solidFill>
                            <a:srgbClr val="FFFFFF"/>
                          </a:solidFill>
                          <a:latin typeface="Abadi"/>
                        </a:rPr>
                        <a:t>DIFFERS</a:t>
                      </a:r>
                    </a:p>
                  </a:txBody>
                  <a:tcPr marL="73152" marR="73152" marT="27432" marB="27432" anchor="ctr">
                    <a:solidFill>
                      <a:srgbClr val="D97A0B"/>
                    </a:solidFill>
                  </a:tcPr>
                </a:tc>
              </a:tr>
              <a:tr h="402336">
                <a:tc>
                  <a:txBody>
                    <a:bodyPr wrap="square"/>
                    <a:lstStyle/>
                    <a:p>
                      <a:pPr algn="l"/>
                      <a:r>
                        <a:rPr sz="1000" b="1">
                          <a:solidFill>
                            <a:srgbClr val="1A1A1A"/>
                          </a:solidFill>
                          <a:latin typeface="Abadi"/>
                        </a:rPr>
                        <a:t>BASM clues</a:t>
                      </a:r>
                    </a:p>
                  </a:txBody>
                  <a:tcPr marL="73152" marR="73152" marT="27432" marB="27432" anchor="ctr">
                    <a:solidFill>
                      <a:srgbClr val="FFFFFF"/>
                    </a:solidFill>
                  </a:tcPr>
                </a:tc>
                <a:tc>
                  <a:txBody>
                    <a:bodyPr wrap="square"/>
                    <a:lstStyle/>
                    <a:p>
                      <a:pPr algn="l"/>
                      <a:r>
                        <a:rPr sz="1000" b="0">
                          <a:solidFill>
                            <a:srgbClr val="1A1A1A"/>
                          </a:solidFill>
                          <a:latin typeface="Abadi"/>
                        </a:rPr>
                        <a:t>Heterotaxy, polysplenia, preduodenal portal vein, heart</a:t>
                      </a:r>
                    </a:p>
                  </a:txBody>
                  <a:tcPr marL="73152" marR="73152" marT="27432" marB="27432" anchor="ctr">
                    <a:solidFill>
                      <a:srgbClr val="FFFFFF"/>
                    </a:solidFill>
                  </a:tcPr>
                </a:tc>
                <a:tc>
                  <a:txBody>
                    <a:bodyPr wrap="square"/>
                    <a:lstStyle/>
                    <a:p>
                      <a:pPr algn="l"/>
                      <a:r>
                        <a:rPr sz="1000" b="0">
                          <a:solidFill>
                            <a:srgbClr val="1A1A1A"/>
                          </a:solidFill>
                          <a:latin typeface="Abadi"/>
                        </a:rPr>
                        <a:t>Same, plus maternal diabetes and PKD1L1</a:t>
                      </a:r>
                    </a:p>
                  </a:txBody>
                  <a:tcPr marL="73152" marR="73152" marT="27432" marB="27432" anchor="ctr">
                    <a:solidFill>
                      <a:srgbClr val="FFFFFF"/>
                    </a:solidFill>
                  </a:tcPr>
                </a:tc>
                <a:tc>
                  <a:txBody>
                    <a:bodyPr wrap="square"/>
                    <a:lstStyle/>
                    <a:p>
                      <a:pPr algn="ctr"/>
                      <a:r>
                        <a:rPr sz="800" b="1">
                          <a:solidFill>
                            <a:srgbClr val="FFFFFF"/>
                          </a:solidFill>
                          <a:latin typeface="Abadi"/>
                        </a:rPr>
                        <a:t>ALIGNED</a:t>
                      </a:r>
                    </a:p>
                  </a:txBody>
                  <a:tcPr marL="73152" marR="73152" marT="27432" marB="27432" anchor="ctr">
                    <a:solidFill>
                      <a:srgbClr val="1E7A33"/>
                    </a:solidFill>
                  </a:tcPr>
                </a:tc>
              </a:tr>
              <a:tr h="402336">
                <a:tc>
                  <a:txBody>
                    <a:bodyPr wrap="square"/>
                    <a:lstStyle/>
                    <a:p>
                      <a:pPr algn="l"/>
                      <a:r>
                        <a:rPr sz="1000" b="1">
                          <a:solidFill>
                            <a:srgbClr val="1A1A1A"/>
                          </a:solidFill>
                          <a:latin typeface="Abadi"/>
                        </a:rPr>
                        <a:t>Role of CMV</a:t>
                      </a:r>
                    </a:p>
                  </a:txBody>
                  <a:tcPr marL="73152" marR="73152" marT="27432" marB="27432" anchor="ctr">
                    <a:solidFill>
                      <a:srgbClr val="F2F2F2"/>
                    </a:solidFill>
                  </a:tcPr>
                </a:tc>
                <a:tc>
                  <a:txBody>
                    <a:bodyPr wrap="square"/>
                    <a:lstStyle/>
                    <a:p>
                      <a:pPr algn="l"/>
                      <a:r>
                        <a:rPr sz="1000" b="0">
                          <a:solidFill>
                            <a:srgbClr val="1A1A1A"/>
                          </a:solidFill>
                          <a:latin typeface="Abadi"/>
                        </a:rPr>
                        <a:t>Causal role unproven</a:t>
                      </a:r>
                    </a:p>
                  </a:txBody>
                  <a:tcPr marL="73152" marR="73152" marT="27432" marB="27432" anchor="ctr">
                    <a:solidFill>
                      <a:srgbClr val="F2F2F2"/>
                    </a:solidFill>
                  </a:tcPr>
                </a:tc>
                <a:tc>
                  <a:txBody>
                    <a:bodyPr wrap="square"/>
                    <a:lstStyle/>
                    <a:p>
                      <a:pPr algn="l"/>
                      <a:r>
                        <a:rPr sz="1000" b="0">
                          <a:solidFill>
                            <a:srgbClr val="1A1A1A"/>
                          </a:solidFill>
                          <a:latin typeface="Abadi"/>
                        </a:rPr>
                        <a:t>Distinct aetiological and prognostic subgroup</a:t>
                      </a:r>
                    </a:p>
                  </a:txBody>
                  <a:tcPr marL="73152" marR="73152" marT="27432" marB="27432" anchor="ctr">
                    <a:solidFill>
                      <a:srgbClr val="F2F2F2"/>
                    </a:solidFill>
                  </a:tcPr>
                </a:tc>
                <a:tc>
                  <a:txBody>
                    <a:bodyPr wrap="square"/>
                    <a:lstStyle/>
                    <a:p>
                      <a:pPr algn="ctr"/>
                      <a:r>
                        <a:rPr sz="800" b="1">
                          <a:solidFill>
                            <a:srgbClr val="FFFFFF"/>
                          </a:solidFill>
                          <a:latin typeface="Abadi"/>
                        </a:rPr>
                        <a:t>MATERIAL</a:t>
                      </a:r>
                    </a:p>
                  </a:txBody>
                  <a:tcPr marL="73152" marR="73152" marT="27432" marB="27432" anchor="ctr">
                    <a:solidFill>
                      <a:srgbClr val="B22222"/>
                    </a:solidFill>
                  </a:tcPr>
                </a:tc>
              </a:tr>
              <a:tr h="402336">
                <a:tc>
                  <a:txBody>
                    <a:bodyPr wrap="square"/>
                    <a:lstStyle/>
                    <a:p>
                      <a:pPr algn="l"/>
                      <a:r>
                        <a:rPr sz="1000" b="1">
                          <a:solidFill>
                            <a:srgbClr val="1A1A1A"/>
                          </a:solidFill>
                          <a:latin typeface="Abadi"/>
                        </a:rPr>
                        <a:t>CMV test</a:t>
                      </a:r>
                    </a:p>
                  </a:txBody>
                  <a:tcPr marL="73152" marR="73152" marT="27432" marB="27432" anchor="ctr">
                    <a:solidFill>
                      <a:srgbClr val="FFFFFF"/>
                    </a:solidFill>
                  </a:tcPr>
                </a:tc>
                <a:tc>
                  <a:txBody>
                    <a:bodyPr wrap="square"/>
                    <a:lstStyle/>
                    <a:p>
                      <a:pPr algn="l"/>
                      <a:r>
                        <a:rPr sz="1000" b="0">
                          <a:solidFill>
                            <a:srgbClr val="1A1A1A"/>
                          </a:solidFill>
                          <a:latin typeface="Abadi"/>
                        </a:rPr>
                        <a:t>Urine PCR; IgM of limited value</a:t>
                      </a:r>
                    </a:p>
                  </a:txBody>
                  <a:tcPr marL="73152" marR="73152" marT="27432" marB="27432" anchor="ctr">
                    <a:solidFill>
                      <a:srgbClr val="FFFFFF"/>
                    </a:solidFill>
                  </a:tcPr>
                </a:tc>
                <a:tc>
                  <a:txBody>
                    <a:bodyPr wrap="square"/>
                    <a:lstStyle/>
                    <a:p>
                      <a:pPr algn="l"/>
                      <a:r>
                        <a:rPr sz="1000" b="0">
                          <a:solidFill>
                            <a:srgbClr val="1A1A1A"/>
                          </a:solidFill>
                          <a:latin typeface="Abadi"/>
                        </a:rPr>
                        <a:t>Subgroup defined by serum IgM</a:t>
                      </a:r>
                    </a:p>
                  </a:txBody>
                  <a:tcPr marL="73152" marR="73152" marT="27432" marB="27432" anchor="ctr">
                    <a:solidFill>
                      <a:srgbClr val="FFFFFF"/>
                    </a:solidFill>
                  </a:tcPr>
                </a:tc>
                <a:tc>
                  <a:txBody>
                    <a:bodyPr wrap="square"/>
                    <a:lstStyle/>
                    <a:p>
                      <a:pPr algn="ctr"/>
                      <a:r>
                        <a:rPr sz="800" b="1">
                          <a:solidFill>
                            <a:srgbClr val="FFFFFF"/>
                          </a:solidFill>
                          <a:latin typeface="Abadi"/>
                        </a:rPr>
                        <a:t>DIFFERS</a:t>
                      </a:r>
                    </a:p>
                  </a:txBody>
                  <a:tcPr marL="73152" marR="73152" marT="27432" marB="27432" anchor="ctr">
                    <a:solidFill>
                      <a:srgbClr val="D97A0B"/>
                    </a:solidFill>
                  </a:tcPr>
                </a:tc>
              </a:tr>
              <a:tr h="402336">
                <a:tc>
                  <a:txBody>
                    <a:bodyPr wrap="square"/>
                    <a:lstStyle/>
                    <a:p>
                      <a:pPr algn="l"/>
                      <a:r>
                        <a:rPr sz="1000" b="1">
                          <a:solidFill>
                            <a:srgbClr val="1A1A1A"/>
                          </a:solidFill>
                          <a:latin typeface="Abadi"/>
                        </a:rPr>
                        <a:t>Cystic atresia</a:t>
                      </a:r>
                    </a:p>
                  </a:txBody>
                  <a:tcPr marL="73152" marR="73152" marT="27432" marB="27432" anchor="ctr">
                    <a:solidFill>
                      <a:srgbClr val="F2F2F2"/>
                    </a:solidFill>
                  </a:tcPr>
                </a:tc>
                <a:tc>
                  <a:txBody>
                    <a:bodyPr wrap="square"/>
                    <a:lstStyle/>
                    <a:p>
                      <a:pPr algn="l"/>
                      <a:r>
                        <a:rPr sz="1000" b="0">
                          <a:solidFill>
                            <a:srgbClr val="1A1A1A"/>
                          </a:solidFill>
                          <a:latin typeface="Abadi"/>
                        </a:rPr>
                        <a:t>Type 1 with cystic dilation; may coexist with a choledochal cyst</a:t>
                      </a:r>
                    </a:p>
                  </a:txBody>
                  <a:tcPr marL="73152" marR="73152" marT="27432" marB="27432" anchor="ctr">
                    <a:solidFill>
                      <a:srgbClr val="F2F2F2"/>
                    </a:solidFill>
                  </a:tcPr>
                </a:tc>
                <a:tc>
                  <a:txBody>
                    <a:bodyPr wrap="square"/>
                    <a:lstStyle/>
                    <a:p>
                      <a:pPr algn="l"/>
                      <a:r>
                        <a:rPr sz="1000" b="0">
                          <a:solidFill>
                            <a:srgbClr val="1A1A1A"/>
                          </a:solidFill>
                          <a:latin typeface="Abadi"/>
                        </a:rPr>
                        <a:t>Antenatal cyst; operate early</a:t>
                      </a:r>
                    </a:p>
                  </a:txBody>
                  <a:tcPr marL="73152" marR="73152" marT="27432" marB="27432" anchor="ctr">
                    <a:solidFill>
                      <a:srgbClr val="F2F2F2"/>
                    </a:solidFill>
                  </a:tcPr>
                </a:tc>
                <a:tc>
                  <a:txBody>
                    <a:bodyPr wrap="square"/>
                    <a:lstStyle/>
                    <a:p>
                      <a:pPr algn="ctr"/>
                      <a:r>
                        <a:rPr sz="800" b="1">
                          <a:solidFill>
                            <a:srgbClr val="FFFFFF"/>
                          </a:solidFill>
                          <a:latin typeface="Abadi"/>
                        </a:rPr>
                        <a:t>ALIGNED</a:t>
                      </a:r>
                    </a:p>
                  </a:txBody>
                  <a:tcPr marL="73152" marR="73152" marT="27432" marB="27432" anchor="ctr">
                    <a:solidFill>
                      <a:srgbClr val="1E7A33"/>
                    </a:solidFill>
                  </a:tcPr>
                </a:tc>
              </a:tr>
              <a:tr h="402336">
                <a:tc>
                  <a:txBody>
                    <a:bodyPr wrap="square"/>
                    <a:lstStyle/>
                    <a:p>
                      <a:pPr algn="l"/>
                      <a:r>
                        <a:rPr sz="1000" b="1">
                          <a:solidFill>
                            <a:srgbClr val="1A1A1A"/>
                          </a:solidFill>
                          <a:latin typeface="Abadi"/>
                        </a:rPr>
                        <a:t>Antivirals</a:t>
                      </a:r>
                    </a:p>
                  </a:txBody>
                  <a:tcPr marL="73152" marR="73152" marT="27432" marB="27432" anchor="ctr">
                    <a:solidFill>
                      <a:srgbClr val="FFFFFF"/>
                    </a:solidFill>
                  </a:tcPr>
                </a:tc>
                <a:tc>
                  <a:txBody>
                    <a:bodyPr wrap="square"/>
                    <a:lstStyle/>
                    <a:p>
                      <a:pPr algn="l"/>
                      <a:r>
                        <a:rPr sz="1000" b="0">
                          <a:solidFill>
                            <a:srgbClr val="1A1A1A"/>
                          </a:solidFill>
                          <a:latin typeface="Abadi"/>
                        </a:rPr>
                        <a:t>Not addressed</a:t>
                      </a:r>
                    </a:p>
                  </a:txBody>
                  <a:tcPr marL="73152" marR="73152" marT="27432" marB="27432" anchor="ctr">
                    <a:solidFill>
                      <a:srgbClr val="FFFFFF"/>
                    </a:solidFill>
                  </a:tcPr>
                </a:tc>
                <a:tc>
                  <a:txBody>
                    <a:bodyPr wrap="square"/>
                    <a:lstStyle/>
                    <a:p>
                      <a:pPr algn="l"/>
                      <a:r>
                        <a:rPr sz="1000" b="0">
                          <a:solidFill>
                            <a:srgbClr val="1A1A1A"/>
                          </a:solidFill>
                          <a:latin typeface="Abadi"/>
                        </a:rPr>
                        <a:t>Single-centre signal only</a:t>
                      </a:r>
                    </a:p>
                  </a:txBody>
                  <a:tcPr marL="73152" marR="73152" marT="27432" marB="27432" anchor="ctr">
                    <a:solidFill>
                      <a:srgbClr val="FFFFFF"/>
                    </a:solidFill>
                  </a:tcPr>
                </a:tc>
                <a:tc>
                  <a:txBody>
                    <a:bodyPr wrap="square"/>
                    <a:lstStyle/>
                    <a:p>
                      <a:pPr algn="ctr"/>
                      <a:r>
                        <a:rPr sz="800" b="1">
                          <a:solidFill>
                            <a:srgbClr val="FFFFFF"/>
                          </a:solidFill>
                          <a:latin typeface="Abadi"/>
                        </a:rPr>
                        <a:t>GAP</a:t>
                      </a:r>
                    </a:p>
                  </a:txBody>
                  <a:tcPr marL="73152" marR="73152" marT="27432" marB="27432" anchor="ctr">
                    <a:solidFill>
                      <a:srgbClr val="8A939B"/>
                    </a:solidFill>
                  </a:tcPr>
                </a:tc>
              </a:tr>
              <a:tr h="402336">
                <a:tc>
                  <a:txBody>
                    <a:bodyPr wrap="square"/>
                    <a:lstStyle/>
                    <a:p>
                      <a:pPr algn="l"/>
                      <a:r>
                        <a:rPr sz="1000" b="1">
                          <a:solidFill>
                            <a:srgbClr val="1A1A1A"/>
                          </a:solidFill>
                          <a:latin typeface="Abadi"/>
                        </a:rPr>
                        <a:t>Ethnicity and season</a:t>
                      </a:r>
                    </a:p>
                  </a:txBody>
                  <a:tcPr marL="73152" marR="73152" marT="27432" marB="27432" anchor="ctr">
                    <a:solidFill>
                      <a:srgbClr val="F2F2F2"/>
                    </a:solidFill>
                  </a:tcPr>
                </a:tc>
                <a:tc>
                  <a:txBody>
                    <a:bodyPr wrap="square"/>
                    <a:lstStyle/>
                    <a:p>
                      <a:pPr algn="l"/>
                      <a:r>
                        <a:rPr sz="1000" b="0">
                          <a:solidFill>
                            <a:srgbClr val="1A1A1A"/>
                          </a:solidFill>
                          <a:latin typeface="Abadi"/>
                        </a:rPr>
                        <a:t>Not addressed</a:t>
                      </a:r>
                    </a:p>
                  </a:txBody>
                  <a:tcPr marL="73152" marR="73152" marT="27432" marB="27432" anchor="ctr">
                    <a:solidFill>
                      <a:srgbClr val="F2F2F2"/>
                    </a:solidFill>
                  </a:tcPr>
                </a:tc>
                <a:tc>
                  <a:txBody>
                    <a:bodyPr wrap="square"/>
                    <a:lstStyle/>
                    <a:p>
                      <a:pPr algn="l"/>
                      <a:r>
                        <a:rPr sz="1000" b="0">
                          <a:solidFill>
                            <a:srgbClr val="1A1A1A"/>
                          </a:solidFill>
                          <a:latin typeface="Abadi"/>
                        </a:rPr>
                        <a:t>Regional and ethnic gradients; no reproducible season</a:t>
                      </a:r>
                    </a:p>
                  </a:txBody>
                  <a:tcPr marL="73152" marR="73152" marT="27432" marB="27432" anchor="ctr">
                    <a:solidFill>
                      <a:srgbClr val="F2F2F2"/>
                    </a:solidFill>
                  </a:tcPr>
                </a:tc>
                <a:tc>
                  <a:txBody>
                    <a:bodyPr wrap="square"/>
                    <a:lstStyle/>
                    <a:p>
                      <a:pPr algn="ctr"/>
                      <a:r>
                        <a:rPr sz="80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5440680"/>
            <a:ext cx="11082528" cy="411480"/>
          </a:xfrm>
          <a:prstGeom prst="rect">
            <a:avLst/>
          </a:prstGeom>
          <a:noFill/>
        </p:spPr>
        <p:txBody>
          <a:bodyPr wrap="square" lIns="45720" rIns="45720" tIns="27432" bIns="27432" anchor="t">
            <a:spAutoFit/>
          </a:bodyPr>
          <a:lstStyle/>
          <a:p>
            <a:pPr algn="l">
              <a:spcAft>
                <a:spcPts val="600"/>
              </a:spcAft>
            </a:pPr>
            <a:r>
              <a:rPr sz="1200" b="1" i="0">
                <a:solidFill>
                  <a:srgbClr val="B22222"/>
                </a:solidFill>
                <a:latin typeface="Abadi"/>
              </a:rPr>
              <a:t>Material gap.  </a:t>
            </a:r>
            <a:r>
              <a:rPr sz="1200" b="0" i="0">
                <a:solidFill>
                  <a:srgbClr val="1A1A1A"/>
                </a:solidFill>
                <a:latin typeface="Abadi"/>
              </a:rPr>
              <a:t>No guideline tells us how to define, test for or treat CMV-associated atresia.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WHERE EPIDEMIOLOGY MISLEADS AT THE COT SIDE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Common reasoning errors with a jaundiced infant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Fawaz 2017 · Davenport 2006, 2021 · Livesey 2009 · Hopkins 2017 · Okubo 2025 · Front Pediatr 2021</a:t>
            </a:r>
          </a:p>
        </p:txBody>
      </p:sp>
      <p:sp>
        <p:nvSpPr>
          <p:cNvPr id="12" name="Rectangle 11"/>
          <p:cNvSpPr/>
          <p:nvPr/>
        </p:nvSpPr>
        <p:spPr>
          <a:xfrm>
            <a:off x="548640" y="1773936"/>
            <a:ext cx="2633472"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4288" cy="457200"/>
          </a:xfrm>
          <a:prstGeom prst="rect">
            <a:avLst/>
          </a:prstGeom>
          <a:noFill/>
        </p:spPr>
        <p:txBody>
          <a:bodyPr wrap="square" lIns="45720" rIns="45720" tIns="27432" bIns="27432" anchor="t">
            <a:spAutoFit/>
          </a:bodyPr>
          <a:lstStyle/>
          <a:p>
            <a:pPr algn="l"/>
            <a:r>
              <a:rPr sz="1500" b="1" i="0">
                <a:solidFill>
                  <a:srgbClr val="B22222"/>
                </a:solidFill>
                <a:latin typeface="Abadi"/>
              </a:rPr>
              <a:t>'It is rare here'</a:t>
            </a:r>
          </a:p>
        </p:txBody>
      </p:sp>
      <p:sp>
        <p:nvSpPr>
          <p:cNvPr id="15" name="TextBox 14"/>
          <p:cNvSpPr txBox="1"/>
          <p:nvPr/>
        </p:nvSpPr>
        <p:spPr>
          <a:xfrm>
            <a:off x="713232"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1 in 17,000 is 40 a year in the UK</a:t>
            </a:r>
          </a:p>
          <a:p>
            <a:pPr algn="l">
              <a:spcAft>
                <a:spcPts val="300"/>
              </a:spcAft>
            </a:pPr>
            <a:r>
              <a:rPr sz="1150" b="0" i="0">
                <a:solidFill>
                  <a:srgbClr val="1A1A1A"/>
                </a:solidFill>
                <a:latin typeface="Abadi"/>
              </a:rPr>
              <a:t>▪  Ancestry shifts, never excludes</a:t>
            </a:r>
          </a:p>
          <a:p>
            <a:pPr algn="l">
              <a:spcAft>
                <a:spcPts val="300"/>
              </a:spcAft>
            </a:pPr>
            <a:r>
              <a:rPr sz="1150" b="0" i="0">
                <a:solidFill>
                  <a:srgbClr val="1A1A1A"/>
                </a:solidFill>
                <a:latin typeface="Abadi"/>
              </a:rPr>
              <a:t>▪  Stool colour decides</a:t>
            </a:r>
          </a:p>
        </p:txBody>
      </p:sp>
      <p:sp>
        <p:nvSpPr>
          <p:cNvPr id="16" name="Rectangle 15"/>
          <p:cNvSpPr/>
          <p:nvPr/>
        </p:nvSpPr>
        <p:spPr>
          <a:xfrm>
            <a:off x="3364992" y="1773936"/>
            <a:ext cx="2633472"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84248"/>
            <a:ext cx="2304288" cy="731520"/>
          </a:xfrm>
          <a:prstGeom prst="rect">
            <a:avLst/>
          </a:prstGeom>
          <a:noFill/>
        </p:spPr>
        <p:txBody>
          <a:bodyPr wrap="square" lIns="45720" rIns="45720" tIns="27432" bIns="27432" anchor="t">
            <a:spAutoFit/>
          </a:bodyPr>
          <a:lstStyle/>
          <a:p>
            <a:pPr algn="l"/>
            <a:r>
              <a:rPr sz="1500" b="1" i="0">
                <a:solidFill>
                  <a:srgbClr val="D97A0B"/>
                </a:solidFill>
                <a:latin typeface="Abadi"/>
              </a:rPr>
              <a:t>'Choledochal cyst, elective'</a:t>
            </a:r>
          </a:p>
        </p:txBody>
      </p:sp>
      <p:sp>
        <p:nvSpPr>
          <p:cNvPr id="19" name="TextBox 18"/>
          <p:cNvSpPr txBox="1"/>
          <p:nvPr/>
        </p:nvSpPr>
        <p:spPr>
          <a:xfrm>
            <a:off x="3529584" y="2798064"/>
            <a:ext cx="2304288" cy="1033271"/>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Small hilar cyst plus pale stool</a:t>
            </a:r>
          </a:p>
          <a:p>
            <a:pPr algn="l">
              <a:spcAft>
                <a:spcPts val="300"/>
              </a:spcAft>
            </a:pPr>
            <a:r>
              <a:rPr sz="1150" b="0" i="0">
                <a:solidFill>
                  <a:srgbClr val="1A1A1A"/>
                </a:solidFill>
                <a:latin typeface="Abadi"/>
              </a:rPr>
              <a:t>▪  Think cystic atresia</a:t>
            </a:r>
          </a:p>
          <a:p>
            <a:pPr algn="l">
              <a:spcAft>
                <a:spcPts val="300"/>
              </a:spcAft>
            </a:pPr>
            <a:r>
              <a:rPr sz="1150" b="0" i="0">
                <a:solidFill>
                  <a:srgbClr val="1A1A1A"/>
                </a:solidFill>
                <a:latin typeface="Abadi"/>
              </a:rPr>
              <a:t>▪  Same Kasai clock</a:t>
            </a:r>
          </a:p>
        </p:txBody>
      </p:sp>
      <p:sp>
        <p:nvSpPr>
          <p:cNvPr id="20" name="Rectangle 19"/>
          <p:cNvSpPr/>
          <p:nvPr/>
        </p:nvSpPr>
        <p:spPr>
          <a:xfrm>
            <a:off x="6181344" y="1773936"/>
            <a:ext cx="2633472"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2304288" cy="731520"/>
          </a:xfrm>
          <a:prstGeom prst="rect">
            <a:avLst/>
          </a:prstGeom>
          <a:noFill/>
        </p:spPr>
        <p:txBody>
          <a:bodyPr wrap="square" lIns="45720" rIns="45720" tIns="27432" bIns="27432" anchor="t">
            <a:spAutoFit/>
          </a:bodyPr>
          <a:lstStyle/>
          <a:p>
            <a:pPr algn="l"/>
            <a:r>
              <a:rPr sz="1500" b="1" i="0">
                <a:solidFill>
                  <a:srgbClr val="1B355E"/>
                </a:solidFill>
                <a:latin typeface="Abadi"/>
              </a:rPr>
              <a:t>'CMV positive, so hepatitis'</a:t>
            </a:r>
          </a:p>
        </p:txBody>
      </p:sp>
      <p:sp>
        <p:nvSpPr>
          <p:cNvPr id="23" name="TextBox 22"/>
          <p:cNvSpPr txBox="1"/>
          <p:nvPr/>
        </p:nvSpPr>
        <p:spPr>
          <a:xfrm>
            <a:off x="6345936" y="2798064"/>
            <a:ext cx="2304288" cy="1033271"/>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CMV can coexist with atresia</a:t>
            </a:r>
          </a:p>
          <a:p>
            <a:pPr algn="l">
              <a:spcAft>
                <a:spcPts val="300"/>
              </a:spcAft>
            </a:pPr>
            <a:r>
              <a:rPr sz="1150" b="0" i="0">
                <a:solidFill>
                  <a:srgbClr val="1A1A1A"/>
                </a:solidFill>
                <a:latin typeface="Abadi"/>
              </a:rPr>
              <a:t>▪  Infection does not exclude it</a:t>
            </a:r>
          </a:p>
          <a:p>
            <a:pPr algn="l">
              <a:spcAft>
                <a:spcPts val="300"/>
              </a:spcAft>
            </a:pPr>
            <a:r>
              <a:rPr sz="1150" b="0" i="0">
                <a:solidFill>
                  <a:srgbClr val="1A1A1A"/>
                </a:solidFill>
                <a:latin typeface="Abadi"/>
              </a:rPr>
              <a:t>▪  Cholangiogram if stools pale</a:t>
            </a:r>
          </a:p>
        </p:txBody>
      </p:sp>
      <p:sp>
        <p:nvSpPr>
          <p:cNvPr id="24" name="Rectangle 23"/>
          <p:cNvSpPr/>
          <p:nvPr/>
        </p:nvSpPr>
        <p:spPr>
          <a:xfrm>
            <a:off x="8997696" y="1773936"/>
            <a:ext cx="2633472"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84248"/>
            <a:ext cx="2304288" cy="457200"/>
          </a:xfrm>
          <a:prstGeom prst="rect">
            <a:avLst/>
          </a:prstGeom>
          <a:noFill/>
        </p:spPr>
        <p:txBody>
          <a:bodyPr wrap="square" lIns="45720" rIns="45720" tIns="27432" bIns="27432" anchor="t">
            <a:spAutoFit/>
          </a:bodyPr>
          <a:lstStyle/>
          <a:p>
            <a:pPr algn="l"/>
            <a:r>
              <a:rPr sz="1500" b="1" i="0">
                <a:solidFill>
                  <a:srgbClr val="7F7F7F"/>
                </a:solidFill>
                <a:latin typeface="Abadi"/>
              </a:rPr>
              <a:t>'Normal heart sounds'</a:t>
            </a:r>
          </a:p>
        </p:txBody>
      </p:sp>
      <p:sp>
        <p:nvSpPr>
          <p:cNvPr id="27" name="TextBox 26"/>
          <p:cNvSpPr txBox="1"/>
          <p:nvPr/>
        </p:nvSpPr>
        <p:spPr>
          <a:xfrm>
            <a:off x="9162288"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Echo in every atresia</a:t>
            </a:r>
          </a:p>
          <a:p>
            <a:pPr algn="l">
              <a:spcAft>
                <a:spcPts val="300"/>
              </a:spcAft>
            </a:pPr>
            <a:r>
              <a:rPr sz="1150" b="0" i="0">
                <a:solidFill>
                  <a:srgbClr val="1A1A1A"/>
                </a:solidFill>
                <a:latin typeface="Abadi"/>
              </a:rPr>
              <a:t>▪  Look for BASM anatomy</a:t>
            </a:r>
          </a:p>
          <a:p>
            <a:pPr algn="l">
              <a:spcAft>
                <a:spcPts val="300"/>
              </a:spcAft>
            </a:pPr>
            <a:r>
              <a:rPr sz="1150" b="0" i="0">
                <a:solidFill>
                  <a:srgbClr val="1A1A1A"/>
                </a:solidFill>
                <a:latin typeface="Abadi"/>
              </a:rPr>
              <a:t>▪  Anaesthesia and transplant change</a:t>
            </a:r>
          </a:p>
        </p:txBody>
      </p:sp>
      <p:sp>
        <p:nvSpPr>
          <p:cNvPr id="28" name="TextBox 27"/>
          <p:cNvSpPr txBox="1"/>
          <p:nvPr/>
        </p:nvSpPr>
        <p:spPr>
          <a:xfrm>
            <a:off x="548640" y="4160520"/>
            <a:ext cx="11082528" cy="91440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And two more.  </a:t>
            </a:r>
            <a:r>
              <a:rPr sz="1300" b="0" i="0">
                <a:solidFill>
                  <a:srgbClr val="1A1A1A"/>
                </a:solidFill>
                <a:latin typeface="Abadi"/>
              </a:rPr>
              <a:t>Using seasonal clustering to time a diagnosis, and comparing your centre's clearance rate with a benchmark that has a different phenotype mix.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Fawaz 2017 · Davenport 2006, 2021, 2025 · Livesey 2009 · Hopkins 2017 · Cavallo 2022 · Fischler 2002 · Tseng 2011 · Okubo 2025 · Front Pediatr 2021</a:t>
            </a:r>
          </a:p>
        </p:txBody>
      </p:sp>
      <p:sp>
        <p:nvSpPr>
          <p:cNvPr id="12" name="TextBox 11"/>
          <p:cNvSpPr txBox="1"/>
          <p:nvPr/>
        </p:nvSpPr>
        <p:spPr>
          <a:xfrm>
            <a:off x="548640" y="1810512"/>
            <a:ext cx="11082528" cy="3977639"/>
          </a:xfrm>
          <a:prstGeom prst="rect">
            <a:avLst/>
          </a:prstGeom>
          <a:noFill/>
        </p:spPr>
        <p:txBody>
          <a:bodyPr wrap="square" lIns="45720" rIns="45720" tIns="27432" bIns="27432" anchor="t">
            <a:spAutoFit/>
          </a:bodyPr>
          <a:lstStyle/>
          <a:p>
            <a:pPr algn="l">
              <a:spcAft>
                <a:spcPts val="600"/>
              </a:spcAft>
            </a:pPr>
            <a:r>
              <a:rPr sz="1400" b="0" i="0">
                <a:solidFill>
                  <a:srgbClr val="1A1A1A"/>
                </a:solidFill>
                <a:latin typeface="Abadi"/>
              </a:rPr>
              <a:t>▪  Cholestasis affects about 1 in 2,500 term infants; biliary atresia is 25–40% of it.</a:t>
            </a:r>
          </a:p>
          <a:p>
            <a:pPr algn="l">
              <a:spcAft>
                <a:spcPts val="600"/>
              </a:spcAft>
            </a:pPr>
            <a:r>
              <a:rPr sz="1400" b="0" i="0">
                <a:solidFill>
                  <a:srgbClr val="1A1A1A"/>
                </a:solidFill>
                <a:latin typeface="Abadi"/>
              </a:rPr>
              <a:t>▪  Incidence: about 1 in 5,000–10,000 in East Asia, 1 in 14,000–19,000 in Europe, 1 in 3,100 in French Polynesia.</a:t>
            </a:r>
          </a:p>
          <a:p>
            <a:pPr algn="l">
              <a:spcAft>
                <a:spcPts val="600"/>
              </a:spcAft>
            </a:pPr>
            <a:r>
              <a:rPr sz="1400" b="0" i="0">
                <a:solidFill>
                  <a:srgbClr val="1A1A1A"/>
                </a:solidFill>
                <a:latin typeface="Abadi"/>
              </a:rPr>
              <a:t>▪  Girls are affected more often: RR 1.43 in US data, aPR 1.68 in Texas, two-thirds female in Japan.</a:t>
            </a:r>
          </a:p>
          <a:p>
            <a:pPr algn="l">
              <a:spcAft>
                <a:spcPts val="600"/>
              </a:spcAft>
            </a:pPr>
            <a:r>
              <a:rPr sz="1400" b="0" i="0">
                <a:solidFill>
                  <a:srgbClr val="1A1A1A"/>
                </a:solidFill>
                <a:latin typeface="Abadi"/>
              </a:rPr>
              <a:t>▪  Maternal diabetes (aPR 2.34) and prematurity below 32 weeks (aPR 3.85) raise risk; season does not reliably.</a:t>
            </a:r>
          </a:p>
          <a:p>
            <a:pPr algn="l">
              <a:spcAft>
                <a:spcPts val="600"/>
              </a:spcAft>
            </a:pPr>
            <a:r>
              <a:rPr sz="1400" b="0" i="0">
                <a:solidFill>
                  <a:srgbClr val="1A1A1A"/>
                </a:solidFill>
                <a:latin typeface="Abadi"/>
              </a:rPr>
              <a:t>▪  Guideline split: non-syndromic 84%, other malformation 6%, laterality defects 10%.</a:t>
            </a:r>
          </a:p>
          <a:p>
            <a:pPr algn="l">
              <a:spcAft>
                <a:spcPts val="600"/>
              </a:spcAft>
            </a:pPr>
            <a:r>
              <a:rPr sz="1400" b="0" i="0">
                <a:solidFill>
                  <a:srgbClr val="1A1A1A"/>
                </a:solidFill>
                <a:latin typeface="Abadi"/>
              </a:rPr>
              <a:t>▪  BASM: about 10% in the West, 2.2% in Japan, under 1% in China; situs inversus 37%, heart 45%.</a:t>
            </a:r>
          </a:p>
          <a:p>
            <a:pPr algn="l">
              <a:spcAft>
                <a:spcPts val="600"/>
              </a:spcAft>
            </a:pPr>
            <a:r>
              <a:rPr sz="1400" b="0" i="0">
                <a:solidFill>
                  <a:srgbClr val="1A1A1A"/>
                </a:solidFill>
                <a:latin typeface="Abadi"/>
              </a:rPr>
              <a:t>▪  BASM native-liver survival 46% at 5 years and 32% at 10 years; maternal diabetes 12.5% vs 1.2%.</a:t>
            </a:r>
          </a:p>
          <a:p>
            <a:pPr algn="l">
              <a:spcAft>
                <a:spcPts val="600"/>
              </a:spcAft>
            </a:pPr>
            <a:r>
              <a:rPr sz="1400" b="0" i="0">
                <a:solidFill>
                  <a:srgbClr val="1A1A1A"/>
                </a:solidFill>
                <a:latin typeface="Abadi"/>
              </a:rPr>
              <a:t>▪  CMV-positive atresia: clearance OR 0.47; survival effect unproven; antivirals only in protocols.</a:t>
            </a:r>
          </a:p>
          <a:p>
            <a:pPr algn="l">
              <a:spcAft>
                <a:spcPts val="600"/>
              </a:spcAft>
            </a:pPr>
            <a:r>
              <a:rPr sz="1400" b="0" i="0">
                <a:solidFill>
                  <a:srgbClr val="1A1A1A"/>
                </a:solidFill>
                <a:latin typeface="Abadi"/>
              </a:rPr>
              <a:t>▪  Cystic atresia: antenatal cyst, operate early, clearance 79% versus 60% for type III.</a:t>
            </a:r>
          </a:p>
          <a:p>
            <a:pPr algn="l">
              <a:spcAft>
                <a:spcPts val="600"/>
              </a:spcAft>
            </a:pPr>
            <a:r>
              <a:rPr sz="1400" b="0" i="0">
                <a:solidFill>
                  <a:srgbClr val="1A1A1A"/>
                </a:solidFill>
                <a:latin typeface="Abadi"/>
              </a:rPr>
              <a:t>▪  Conjugated bilirubin is raised in the first 48 hours: atresia is present at birth.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Applying the phenotype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73936"/>
          <a:ext cx="11082528" cy="3968496"/>
        </p:xfrm>
        <a:graphic>
          <a:graphicData uri="http://schemas.openxmlformats.org/drawingml/2006/table">
            <a:tbl>
              <a:tblPr firstRow="0" bandRow="0">
                <a:tableStyleId>{5C22544A-7EE6-4342-B048-85BDC9FD1C3A}</a:tableStyleId>
              </a:tblPr>
              <a:tblGrid>
                <a:gridCol w="5120640"/>
                <a:gridCol w="5961888"/>
              </a:tblGrid>
              <a:tr h="566928">
                <a:tc>
                  <a:txBody>
                    <a:bodyPr wrap="square"/>
                    <a:lstStyle/>
                    <a:p>
                      <a:pPr algn="l"/>
                      <a:r>
                        <a:rPr sz="1050" b="1">
                          <a:solidFill>
                            <a:srgbClr val="FFFFFF"/>
                          </a:solidFill>
                          <a:latin typeface="Abadi"/>
                        </a:rPr>
                        <a:t>Scenario</a:t>
                      </a:r>
                    </a:p>
                  </a:txBody>
                  <a:tcPr marL="73152" marR="73152" marT="27432" marB="27432" anchor="ctr">
                    <a:solidFill>
                      <a:srgbClr val="1B355E"/>
                    </a:solidFill>
                  </a:tcPr>
                </a:tc>
                <a:tc>
                  <a:txBody>
                    <a:bodyPr wrap="square"/>
                    <a:lstStyle/>
                    <a:p>
                      <a:pPr algn="l"/>
                      <a:r>
                        <a:rPr sz="1050" b="1">
                          <a:solidFill>
                            <a:srgbClr val="FFFFFF"/>
                          </a:solidFill>
                          <a:latin typeface="Abadi"/>
                        </a:rPr>
                        <a:t>Decision</a:t>
                      </a:r>
                    </a:p>
                  </a:txBody>
                  <a:tcPr marL="73152" marR="73152" marT="27432" marB="27432" anchor="ctr">
                    <a:solidFill>
                      <a:srgbClr val="1B355E"/>
                    </a:solidFill>
                  </a:tcPr>
                </a:tc>
              </a:tr>
              <a:tr h="566928">
                <a:tc>
                  <a:txBody>
                    <a:bodyPr wrap="square"/>
                    <a:lstStyle/>
                    <a:p>
                      <a:pPr algn="l"/>
                      <a:r>
                        <a:rPr sz="1050" b="1">
                          <a:solidFill>
                            <a:srgbClr val="1A1A1A"/>
                          </a:solidFill>
                          <a:latin typeface="Abadi"/>
                        </a:rPr>
                        <a:t>Antenatal 1.5 cm hilar cyst; at 2 weeks pale stools, conjugated bilirubin 2.4 mg/dL</a:t>
                      </a:r>
                    </a:p>
                  </a:txBody>
                  <a:tcPr marL="73152" marR="73152" marT="27432" marB="27432" anchor="ctr">
                    <a:solidFill>
                      <a:srgbClr val="FFFFFF"/>
                    </a:solidFill>
                  </a:tcPr>
                </a:tc>
                <a:tc>
                  <a:txBody>
                    <a:bodyPr wrap="square"/>
                    <a:lstStyle/>
                    <a:p>
                      <a:pPr algn="l"/>
                      <a:r>
                        <a:rPr sz="1050" b="0">
                          <a:solidFill>
                            <a:srgbClr val="1A1A1A"/>
                          </a:solidFill>
                          <a:latin typeface="Abadi"/>
                        </a:rPr>
                        <a:t>Treat as cystic atresia: urgent cholangiogram and Kasai, not elective cyst surgery</a:t>
                      </a:r>
                    </a:p>
                  </a:txBody>
                  <a:tcPr marL="73152" marR="73152" marT="27432" marB="27432" anchor="ctr">
                    <a:solidFill>
                      <a:srgbClr val="FFFFFF"/>
                    </a:solidFill>
                  </a:tcPr>
                </a:tc>
              </a:tr>
              <a:tr h="566928">
                <a:tc>
                  <a:txBody>
                    <a:bodyPr wrap="square"/>
                    <a:lstStyle/>
                    <a:p>
                      <a:pPr algn="l"/>
                      <a:r>
                        <a:rPr sz="1050" b="1">
                          <a:solidFill>
                            <a:srgbClr val="1A1A1A"/>
                          </a:solidFill>
                          <a:latin typeface="Abadi"/>
                        </a:rPr>
                        <a:t>Jaundiced 5-week-old with dextrocardia and a midline liver</a:t>
                      </a:r>
                    </a:p>
                  </a:txBody>
                  <a:tcPr marL="73152" marR="73152" marT="27432" marB="27432" anchor="ctr">
                    <a:solidFill>
                      <a:srgbClr val="F2F2F2"/>
                    </a:solidFill>
                  </a:tcPr>
                </a:tc>
                <a:tc>
                  <a:txBody>
                    <a:bodyPr wrap="square"/>
                    <a:lstStyle/>
                    <a:p>
                      <a:pPr algn="l"/>
                      <a:r>
                        <a:rPr sz="1050" b="0">
                          <a:solidFill>
                            <a:srgbClr val="1A1A1A"/>
                          </a:solidFill>
                          <a:latin typeface="Abadi"/>
                        </a:rPr>
                        <a:t>Suspect BASM: echocardiogram, map portal vein and IVC, plan surgery with cardiology</a:t>
                      </a:r>
                    </a:p>
                  </a:txBody>
                  <a:tcPr marL="73152" marR="73152" marT="27432" marB="27432" anchor="ctr">
                    <a:solidFill>
                      <a:srgbClr val="F2F2F2"/>
                    </a:solidFill>
                  </a:tcPr>
                </a:tc>
              </a:tr>
              <a:tr h="566928">
                <a:tc>
                  <a:txBody>
                    <a:bodyPr wrap="square"/>
                    <a:lstStyle/>
                    <a:p>
                      <a:pPr algn="l"/>
                      <a:r>
                        <a:rPr sz="1050" b="1">
                          <a:solidFill>
                            <a:srgbClr val="1A1A1A"/>
                          </a:solidFill>
                          <a:latin typeface="Abadi"/>
                        </a:rPr>
                        <a:t>7-week-old, pale stools, serum CMV IgM positive, spleen 4 cm</a:t>
                      </a:r>
                    </a:p>
                  </a:txBody>
                  <a:tcPr marL="73152" marR="73152" marT="27432" marB="27432" anchor="ctr">
                    <a:solidFill>
                      <a:srgbClr val="FFFFFF"/>
                    </a:solidFill>
                  </a:tcPr>
                </a:tc>
                <a:tc>
                  <a:txBody>
                    <a:bodyPr wrap="square"/>
                    <a:lstStyle/>
                    <a:p>
                      <a:pPr algn="l"/>
                      <a:r>
                        <a:rPr sz="1050" b="0">
                          <a:solidFill>
                            <a:srgbClr val="1A1A1A"/>
                          </a:solidFill>
                          <a:latin typeface="Abadi"/>
                        </a:rPr>
                        <a:t>Do not stop at CMV hepatitis: cholangiogram; record as CMV-associated; antiviral only in protocol</a:t>
                      </a:r>
                    </a:p>
                  </a:txBody>
                  <a:tcPr marL="73152" marR="73152" marT="27432" marB="27432" anchor="ctr">
                    <a:solidFill>
                      <a:srgbClr val="FFFFFF"/>
                    </a:solidFill>
                  </a:tcPr>
                </a:tc>
              </a:tr>
              <a:tr h="566928">
                <a:tc>
                  <a:txBody>
                    <a:bodyPr wrap="square"/>
                    <a:lstStyle/>
                    <a:p>
                      <a:pPr algn="l"/>
                      <a:r>
                        <a:rPr sz="1050" b="1">
                          <a:solidFill>
                            <a:srgbClr val="1A1A1A"/>
                          </a:solidFill>
                          <a:latin typeface="Abadi"/>
                        </a:rPr>
                        <a:t>Mother asks if her diabetes caused it</a:t>
                      </a:r>
                    </a:p>
                  </a:txBody>
                  <a:tcPr marL="73152" marR="73152" marT="27432" marB="27432" anchor="ctr">
                    <a:solidFill>
                      <a:srgbClr val="F2F2F2"/>
                    </a:solidFill>
                  </a:tcPr>
                </a:tc>
                <a:tc>
                  <a:txBody>
                    <a:bodyPr wrap="square"/>
                    <a:lstStyle/>
                    <a:p>
                      <a:pPr algn="l"/>
                      <a:r>
                        <a:rPr sz="1050" b="0">
                          <a:solidFill>
                            <a:srgbClr val="1A1A1A"/>
                          </a:solidFill>
                          <a:latin typeface="Abadi"/>
                        </a:rPr>
                        <a:t>Associated (aPR 2.34; 12.5% vs 1.2% in BASM), not proven causal; no recurrence data to frighten</a:t>
                      </a:r>
                    </a:p>
                  </a:txBody>
                  <a:tcPr marL="73152" marR="73152" marT="27432" marB="27432" anchor="ctr">
                    <a:solidFill>
                      <a:srgbClr val="F2F2F2"/>
                    </a:solidFill>
                  </a:tcPr>
                </a:tc>
              </a:tr>
              <a:tr h="566928">
                <a:tc>
                  <a:txBody>
                    <a:bodyPr wrap="square"/>
                    <a:lstStyle/>
                    <a:p>
                      <a:pPr algn="l"/>
                      <a:r>
                        <a:rPr sz="1050" b="1">
                          <a:solidFill>
                            <a:srgbClr val="1A1A1A"/>
                          </a:solidFill>
                          <a:latin typeface="Abadi"/>
                        </a:rPr>
                        <a:t>Centre clearance 48% versus a published 60%</a:t>
                      </a:r>
                    </a:p>
                  </a:txBody>
                  <a:tcPr marL="73152" marR="73152" marT="27432" marB="27432" anchor="ctr">
                    <a:solidFill>
                      <a:srgbClr val="FFFFFF"/>
                    </a:solidFill>
                  </a:tcPr>
                </a:tc>
                <a:tc>
                  <a:txBody>
                    <a:bodyPr wrap="square"/>
                    <a:lstStyle/>
                    <a:p>
                      <a:pPr algn="l"/>
                      <a:r>
                        <a:rPr sz="1050" b="0">
                          <a:solidFill>
                            <a:srgbClr val="1A1A1A"/>
                          </a:solidFill>
                          <a:latin typeface="Abadi"/>
                        </a:rPr>
                        <a:t>Compare like with like: adjust for phenotype mix and age at Kasai before judging</a:t>
                      </a:r>
                    </a:p>
                  </a:txBody>
                  <a:tcPr marL="73152" marR="73152" marT="27432" marB="27432" anchor="ctr">
                    <a:solidFill>
                      <a:srgbClr val="FFFFFF"/>
                    </a:solidFill>
                  </a:tcPr>
                </a:tc>
              </a:tr>
              <a:tr h="566928">
                <a:tc>
                  <a:txBody>
                    <a:bodyPr wrap="square"/>
                    <a:lstStyle/>
                    <a:p>
                      <a:pPr algn="l"/>
                      <a:r>
                        <a:rPr sz="1050" b="1">
                          <a:solidFill>
                            <a:srgbClr val="1A1A1A"/>
                          </a:solidFill>
                          <a:latin typeface="Abadi"/>
                        </a:rPr>
                        <a:t>South Asian infant referred at day 70</a:t>
                      </a:r>
                    </a:p>
                  </a:txBody>
                  <a:tcPr marL="73152" marR="73152" marT="27432" marB="27432" anchor="ctr">
                    <a:solidFill>
                      <a:srgbClr val="F2F2F2"/>
                    </a:solidFill>
                  </a:tcPr>
                </a:tc>
                <a:tc>
                  <a:txBody>
                    <a:bodyPr wrap="square"/>
                    <a:lstStyle/>
                    <a:p>
                      <a:pPr algn="l"/>
                      <a:r>
                        <a:rPr sz="1050" b="0">
                          <a:solidFill>
                            <a:srgbClr val="1A1A1A"/>
                          </a:solidFill>
                          <a:latin typeface="Abadi"/>
                        </a:rPr>
                        <a:t>Later presentation is documented in this group: reinforce stool-colour education in the community</a:t>
                      </a:r>
                    </a:p>
                  </a:txBody>
                  <a:tcPr marL="73152" marR="73152" marT="27432" marB="27432" anchor="ctr">
                    <a:solidFill>
                      <a:srgbClr val="F2F2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82528" cy="2194560"/>
          </a:xfrm>
          <a:prstGeom prst="rect">
            <a:avLst/>
          </a:prstGeom>
          <a:noFill/>
        </p:spPr>
        <p:txBody>
          <a:bodyPr wrap="square" lIns="45720" rIns="45720" tIns="27432" bIns="27432" anchor="ctr">
            <a:spAutoFit/>
          </a:bodyPr>
          <a:lstStyle/>
          <a:p>
            <a:pPr algn="ctr"/>
            <a:r>
              <a:rPr sz="4000" b="1" i="0">
                <a:solidFill>
                  <a:srgbClr val="FFFFFF"/>
                </a:solidFill>
                <a:latin typeface="Abadi"/>
              </a:rPr>
              <a:t>Biliary Atresia I: Epidemiology and Phenotypes — Isolated, Splenic Malformation, CMV-Associated and Cystic</a:t>
            </a:r>
          </a:p>
        </p:txBody>
      </p:sp>
      <p:sp>
        <p:nvSpPr>
          <p:cNvPr id="4" name="TextBox 3"/>
          <p:cNvSpPr txBox="1"/>
          <p:nvPr/>
        </p:nvSpPr>
        <p:spPr>
          <a:xfrm>
            <a:off x="548640" y="4434840"/>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