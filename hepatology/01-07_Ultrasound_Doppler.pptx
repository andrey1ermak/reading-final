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Ultrasound and Doppler of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REPORT MUST CONTAIN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682206"/>
              </p:ext>
            </p:extLst>
          </p:nvPr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Structure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 reference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Gallbladder (≥ 4 h fast)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Length, wall, mucosa, contour; contraction after feed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≥ 1.9 cm, smooth echogenic mucosa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Ghost triad = biliary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Porta hepatis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Echogenic wall anterior to right portal vein; cyst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Triangular cord ≤ 4 mm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Atresia; cystic atresia vs choledochal cyst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Hepatic artery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Right HA diameter; RI; subcapsular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&lt; 1.5 mm; RI 0.60 ± 0.11; RI falls with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Large HA and subcapsular flow in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Portal vein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Diameter, direction, velocity, pulsatility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Hepatopetal; Vmax &gt; 16 cm/s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Portal hypertension; hypoplastic vein before LT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Hepatic veins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Waveform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Triphasic in only 42% of healthy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Compare with the child's own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Spleen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Coronal length through the hilum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6.0 cm at 3 mo → 13 cm (boys ≥ 15 y)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Portal hypertension;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polysplenia</a:t>
                      </a:r>
                      <a:endParaRPr sz="12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Situs and collaterals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Heterotaxy, preduodenal PV, IVC; umbilical vein, splenorenal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Normally absent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Splenic malformation syndrome; portal hypertension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Tan Kendrick AP, et al. Pediatr Radiol 2003;33:311–5 · Lee HJ, et al. Radiology 2003;229:395–400 · Kim WS, et al. Radiology 2007;245:549–55 · Westra SJ, et al. AJR 1995;165:167–72 · Kardorff R, et al. J Pediatr Gastroenterol Nutr 1999;28:411–7 · Jequier S, et al. AJR 2000;175:85–90 · Rosenberg HK, et al. AJR 1991;157:119–21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SEVEN SIGNS, ONE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Meta-analytic or best single-study accuracy in infants with conjugated hyperbilirubinaemia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93159"/>
              </p:ext>
            </p:extLst>
          </p:nvPr>
        </p:nvGraphicFramePr>
        <p:xfrm>
          <a:off x="548640" y="1770000"/>
          <a:ext cx="11094720" cy="41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Sign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Sens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Spec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Triangular cord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Echogenic plate &gt; 4 mm anterior to right PV, longitudinal scan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Zhou 2016 · 20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Gallbladder abnormal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Length &lt; 1.9 cm, irregular contour, indistinct wall or mucosa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85%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Zhou 2016 · 19 studies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Gallbladder absent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seen after a 4-hour fast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99%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Zhou 2016 · 10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Subcapsular flow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Colour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flow along the liver surface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86%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Lee 2009 · n = 64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Hepatic artery &gt; 1.5 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Right HA diameter at the porta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87%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Kim 2007 · n = 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Common duct not seen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CBD on high-frequency linear probe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93%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Humphrey 2007 · n = 90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Porta hepatis cyst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Cyst at the hilum with an abnormal gallbladder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Yang 2025 · meta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Zhou L, et al. AJR 2016;206:W73–82 · Lee MS, et al. Radiology 2009;252:282–9 · Kim WS, et al. Radiology 2007;245:549–55 · Humphrey TM, Stringer MD. Radiology 2007;244:845–51 · Yang Q, et al. Pediatr Surg Int 2025;41:251 · Tan Kendrick AP, et al. Pediatr Radiol 2003;33:311–5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TRIANGULAR 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SPECIFIC EVERYWHERE, SENSITIVE NOWHERE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Sensitivity of the triangular cord sign for biliary atresia; navy = pooled estimates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721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Yoon 2017 · meta, 17 studies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1987212"/>
            <a:ext cx="5163512" cy="2193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2152" y="198721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2096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Lee 2003 · Daegu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2340962"/>
            <a:ext cx="4859776" cy="21932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18416" y="234096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7471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Tan Kendrick 2003 · Singapore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2694712"/>
            <a:ext cx="4677534" cy="21932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6174" y="269471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2846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Zhou 2016 · meta, 20 studies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8640" y="3048462"/>
            <a:ext cx="4495292" cy="2193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53932" y="304846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221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Humphrey 2007 · Leeds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8640" y="3402212"/>
            <a:ext cx="4434545" cy="21932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93185" y="340221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3596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Lee 2009 · Seoul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8640" y="3755962"/>
            <a:ext cx="3766326" cy="21932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4966" y="375596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8971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Zhang 2024 · network meta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8640" y="4109712"/>
            <a:ext cx="3523337" cy="2193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1977" y="410971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43462"/>
            <a:ext cx="3600000" cy="25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Mittal 2011 · Chandigarh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8640" y="4463462"/>
            <a:ext cx="1397185" cy="21932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55825" y="4463462"/>
            <a:ext cx="1250000" cy="219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Specificity was 97–100% in every series except the network meta-analysis (93%). A 3 mm vs 4 mm cut-off explained much of the spread.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A positive cord is actionable. A negative cord changes nothing.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Yoon HM, et al. J Ultrasound Med 2017;36:2027–38, Lee HJ, et al. Radiology 2003;229:395–400, Tan Kendrick AP, et al. Pediatr Radiol 2003;33:311–5, Zhou L, et al. AJR 2016;206:W73–82, Humphrey TM, Stringer MD. Radiology 2007;244:845–51, Lee MS, et al. Radiology 2009;252:282–9, Zhang Y, et al. Pediatr Surg Int 2024;40:146, Mittal V, et al. AJR 2011;196:W438–45. Figure redrawn.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GALLBLADDER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GHOST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Length &lt; 1.9 cm + no smooth echogenic mucosal lining + irregular or lobular contour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30 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Atresia infants with the ghost triad; no false positives among 186 others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Negative predictive value of a normal gallbladder shape and wall (n = 346)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Specificity of an absent gallbladder after fasting (10 studies)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 → 8 wk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The one missed case: a normal gallbladder that became a ghost two weeks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Wall thickening was seen in 46 non-atresia infants and in no atresia — a thick wall argues for hepatitis, not atresia.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If the first scan is normal and stools stay pale, scan again: the gallbladder can lag the disease.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Tan Kendrick AP, et al. Pediatr Radiol 2003;33:311–5 · Farrant P, et al. Br J Radiol 2000;73:1154–8 · Zhou L, et al. AJR 2016;206:W73–82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WHICH SIGN RULES IN, WHICH RULES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Pooled (Zhou) or best single-centre estimates,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8200" y="2627000"/>
            <a:ext cx="420000" cy="1853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200" y="2397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8200" y="2474400"/>
            <a:ext cx="420000" cy="2005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68200" y="2244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dirty="0">
                <a:solidFill>
                  <a:srgbClr val="1A1A1A"/>
                </a:solidFill>
                <a:latin typeface="Abadi"/>
              </a:rPr>
              <a:t>Gallbladder abnormal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7320" y="2866800"/>
            <a:ext cx="420000" cy="16132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7320" y="26368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320" y="2365400"/>
            <a:ext cx="420000" cy="2114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17320" y="2135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776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Triangular 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440" y="2409000"/>
            <a:ext cx="420000" cy="2071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6440" y="2179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440" y="2539800"/>
            <a:ext cx="420000" cy="19402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6440" y="23098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688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Cord + gallbladder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5560" y="2300000"/>
            <a:ext cx="420000" cy="218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5560" y="2070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5560" y="2605200"/>
            <a:ext cx="420000" cy="18748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5560" y="23752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Subcapsular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4680" y="2474400"/>
            <a:ext cx="420000" cy="2005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4680" y="2244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4680" y="2583400"/>
            <a:ext cx="420000" cy="1896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64680" y="2353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512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HA &gt; 1.5 mm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3800" y="2452600"/>
            <a:ext cx="420000" cy="2027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63800" y="2222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33800" y="2474400"/>
            <a:ext cx="420000" cy="2005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13800" y="2244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424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CBD not seen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Combining the cord with gallbladder morphology lifts sensitivity to 95% at the cost of specificity — the right trade for a screening scan.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Doppler signs (subcapsular flow, large artery) are the most sensitive; use them to look harder, not to decide.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Zhou L, et al. AJR 2016;206:W73–82, Lee MS, et al. Radiology 2009;252:282–9, Kim WS, et al. Radiology 2007;245:549–55, Humphrey TM, Stringer MD. Radiology 2007;244:845–51. Figure redrawn.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 NORMAL SCAN IS NOT A NORMAL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Where false negatives come from and what the guideline expects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351536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351536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Biology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Type I and cystic atresia keep a gallbladder.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cord needs a fibrotic hilar plate — often absent early.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Sensitivity of the cord was 23% in Chandigarh infants &lt; 90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770000"/>
            <a:ext cx="351536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320" y="1770000"/>
            <a:ext cx="351536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832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832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fed infant's contracted gallbladder mimics a ghost.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cord and the hilar duct need a 12–15 MHz linear probe.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3 vs 4 mm cord cut-offs drive heterogeneity.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1770000"/>
            <a:ext cx="351536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8000" y="1770000"/>
            <a:ext cx="351536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00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00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NASPGHAN / ESPGHAN 2017 (1A): a normal US does not rule out atresia.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Pale stools or rising GGT: proceed to biopsy or cholangiogram.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Hypopituitary infant: scan non-fasting — hypoglycaemia.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Look for the malformation syndrome too: polysplenia, preduodenal portal vein, interrupted IVC, midline liver.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Mittal V, et al. AJR 2011;196:W438–45 · Yoon HM, et al. J Ultrasound Med 2017;36:2027–38 · Humphrey TM, Stringer MD. Radiology 2007;244:845–51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DOPPLER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ADULT RULES IN CHILDREN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028123"/>
              </p:ext>
            </p:extLst>
          </p:nvPr>
        </p:nvGraphicFramePr>
        <p:xfrm>
          <a:off x="548640" y="1443555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Adult rule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the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 data show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HA RI 0.55–0.80 is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RI 0.60 ± 0.11 in healthy children; RI falls with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Loss of triphasic HV flow = stiff liver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Only 42 of 100 healthy children triphasic in all three veins; no neonate was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Pulsatile PV = right-heart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 children with </a:t>
                      </a:r>
                      <a:r>
                        <a:rPr lang="en-US"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ESLD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, PV pulsatility was 94% sensitive, 90% specific for portal hypertension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Spleen &gt; 13 cm = splenomegaly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Upper limit 6.0 cm at 3 months, 9.0 cm at 4 years; use age norms or z-scores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After LT: HA RI &lt; 0.5 = stenosis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5th percentile 0.43 on day 0 in uncomplicated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grafts; 0.53 by 1 year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After LT: PV PSV &gt; 125 cm/s = stenosis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95th percentile 171 cm/s on day 0 but 60 cm/s at 1 year — too strict early, too lax late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After LT: HA PSV &gt; 200 cm/s = stenosis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95th percentile 94–142 cm/s at every time point to 2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Westra SJ, et al. AJR 1995;165:167–72 · Jequier S, et al. AJR 2000;175:85–90 · Verhagen MV, et al. Ultrasound 2023;31:112–8 · Verhagen MV, et al. Eur Radiol 2023;33:6404–13 · Rosenberg HK, et al. AJR 1991;157:119–21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HEPATOFUGAL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THE PORTAL VEIN REVERSES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Reversal marks advanced disease — Child C 15.4% vs Child A 2.7%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Adults with cirrhosis and spontaneous reversed portal flow (n = 228)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 /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Variceal bleeds with hepatofugal flow vs 9 / 29 with hepatopetal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with atresia &lt; 3 y with hepatofugal flow before LT (n = 128)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≤ 4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PV diameter predicting early PVT after LT: sens 89%, spec 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Reversed flow decompresses varices but carries more encephalopathy (21% vs 7%) and, in children, a small, slow vein that thromboses after transplant.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Before LT in atresia: report PV diameter and direction; the surgeon plans the portal reconstruction from them.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Gaiani S, et al. Gastroenterology 1991;100:160–7 · Kondo T, et al. World J Gastroenterol 2015;21:8894–902 · Gu LH, et al. Hepatobiliary Pancreat Dis Int 2015;14:380–5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HEPATIC ARTERY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RESISTANCE AS A PROGNOSTIC 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As the portal supply fails, the artery constricts downstream — diastolic flow disappears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Hepatic artery RI in healthy children and acute hepatitis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RI in children with end-stage liver disease awaiting 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52 vs 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Two-year survival in atresia with RI ≥ 1.0 vs RI &lt; 1.0 (n = 64)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Accuracy of portal and hepatic vein Doppler for 2-year outcome in atresia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King's (Broide 1997): RI ≥ 1.0 → early listing; Doppler every 2–3 months on the list. Hannover (Kardorff 1999): PV Vmax &lt; 16 cm/s, flat HV, RI ≥ 0.8.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Neither threshold has been validated beyond its centre; neither enters PELD.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Westra SJ, et al. AJR 1995;165:167–72 · Broide E, et al. Liver Transpl Surg 1997;3:604–10 · Kardorff R, et al. J Pediatr Gastroenterol Nutr 1999;28:411–7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SPLEEN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UPPER LIMITS 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Coronal length, dome to tip through the hilum, quiet breathing (230 children, 0–20 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2945" y="3545715"/>
            <a:ext cx="420000" cy="93428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945" y="331571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3 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555" y="3467858"/>
            <a:ext cx="420000" cy="101214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1555" y="3237858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725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6 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0165" y="3390000"/>
            <a:ext cx="420000" cy="109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0165" y="3160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586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12 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68775" y="3234286"/>
            <a:ext cx="420000" cy="124571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8775" y="3004286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447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2 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7385" y="3078572"/>
            <a:ext cx="420000" cy="14014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7385" y="2848572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308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4 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5995" y="3000715"/>
            <a:ext cx="420000" cy="147928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5995" y="277071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169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6 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605" y="2922858"/>
            <a:ext cx="420000" cy="155714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74605" y="2692858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30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8 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3215" y="2767143"/>
            <a:ext cx="420000" cy="171285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83215" y="2537143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891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10 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1825" y="2689286"/>
            <a:ext cx="420000" cy="179071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91825" y="2459286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752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12 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0435" y="2611429"/>
            <a:ext cx="420000" cy="186857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00435" y="2381429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613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≥ 15 y 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29045" y="2455715"/>
            <a:ext cx="420000" cy="202428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9045" y="222571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4740" y="4540000"/>
            <a:ext cx="10086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≥ 15 y 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Megremis (512 children) gives height- and weight-based 90% limits — better for a short child with chronic disease.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 9 cm spleen is normal at 10 years and massive at 3 months.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Rosenberg HK, et al. AJR 1991;157:119–21; Megremis SD, et al. Radiology 2004;231:129–34. Figure redrawn.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VARICES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SPLEEN PLUS PLATELETS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AUROC for any oesophageal varices, 108 children at 8 centres, endoscopy blinded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56666"/>
            <a:ext cx="36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Platelets : spleen z-score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2176666"/>
            <a:ext cx="5102764" cy="4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61404" y="2176666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9999"/>
            <a:ext cx="36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Clinical prediction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3119999"/>
            <a:ext cx="4859776" cy="4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18416" y="3119999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43332"/>
            <a:ext cx="36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Platelet count alone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4063332"/>
            <a:ext cx="4799028" cy="4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7668" y="4063332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Positive predictive value 0.86–0.87, negative 0.63–0.64, in a cohort where 69% had varices.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Good enough to prioritise endoscopy, not to skip it. Spleen length only works as an age-adjusted z-score.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Gana JC, et al. Gastroenterology 2011;141:2009–16. Figure redrawn.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PORTAL HYPERTENSION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THREE PATTERNS ON ONE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Intrahepatic, prehepatic and congenital — each has its own Doppler signature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351536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351536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Cirrhosis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Nodular surface, caudate enlargement.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Recanalised umbilical vein, splenorenal collaterals.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Slow, pulsatile or hepatofugal portal flow.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Baveno VII: collaterals on imaging = CSPH (adults).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770000"/>
            <a:ext cx="351536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320" y="1770000"/>
            <a:ext cx="351536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832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dirty="0">
                <a:solidFill>
                  <a:srgbClr val="1A1A1A"/>
                </a:solidFill>
                <a:latin typeface="Abadi"/>
              </a:rPr>
              <a:t>EHPVO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832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Cavernoma replaces the portal vein.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liver, big spleen.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Is the left portal vein in the Rex recess patent?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Baveno VI Paediatric: offer MesoRex if anatomy allows.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1770000"/>
            <a:ext cx="351536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8000" y="1770000"/>
            <a:ext cx="351536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00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Shunt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00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intrahepatic portal flow; vein drains to IVC.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Encephalopathy 28% by 30 years.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Nodules, adenomas, pulmonary hypertension.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Echo for PaHT; consider closure.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EHPVO is the child's disease: the Rex recess measurement on the first scan decides between a bypass and lifelong surveillance.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 Franchis R, et al. J Hepatol 2022;76:959–74 · Shneider BL, et al. Hepatology 2016;63:1368–80 · Baiges A, et al. Hepatology 2020;71:658–69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AFTER TRANSPLANT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DAY-SPECIFIC NORMAL RANGES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95th percentile of peak systolic velocity in uncomplicated paediatric grafts (Groningen, 123 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7060" y="2760223"/>
            <a:ext cx="420000" cy="171977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060" y="2530223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7060" y="2409000"/>
            <a:ext cx="420000" cy="2071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7060" y="2179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Day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3900" y="2820778"/>
            <a:ext cx="420000" cy="165922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73900" y="259077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3900" y="2711778"/>
            <a:ext cx="420000" cy="176822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23900" y="248177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548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Day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0740" y="3050889"/>
            <a:ext cx="420000" cy="142911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0740" y="2820889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30740" y="3026667"/>
            <a:ext cx="420000" cy="1453333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0740" y="2796667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232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Day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580" y="3135667"/>
            <a:ext cx="420000" cy="13443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7580" y="2905667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580" y="3208334"/>
            <a:ext cx="420000" cy="127166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97580" y="2978334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Day 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4420" y="2966112"/>
            <a:ext cx="420000" cy="1513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4420" y="2736112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04420" y="3135667"/>
            <a:ext cx="420000" cy="1344333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420" y="2905667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Month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41260" y="3438445"/>
            <a:ext cx="420000" cy="104155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1260" y="3208445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1260" y="3486889"/>
            <a:ext cx="420000" cy="993111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71260" y="3256889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284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Month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28100" y="3377889"/>
            <a:ext cx="420000" cy="110211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08100" y="3147889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91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78100" y="3753334"/>
            <a:ext cx="420000" cy="72666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58100" y="3523334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Year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4940" y="3341556"/>
            <a:ext cx="420000" cy="113844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94940" y="311155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64940" y="3838112"/>
            <a:ext cx="420000" cy="64188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44940" y="3608112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6520" y="4540000"/>
            <a:ext cx="13868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Year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Hepatic artery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Portal vein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cm/s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Adult cut-offs are HA &gt; 200 cm/s and PV &gt; 125 cm/s. The artery never reaches 200 in a normal child; the vein exceeds 125 in week 1.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Read every graft Doppler against its own post-operative day.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Verhagen MV, et al. Eur Radiol 2023;33:6404–13. Figure redrawn.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VASCULAR COMPLICATIONS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DOPPLER IS HUNTING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Technical variant grafts had fewer HATs than whole grafts (OR 0.59)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HAT within 90 days in 3,801 SPLIT recipients; half lost the graft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PPV of tardus parvus (RI &lt; 0.5, SAT &gt; 80 ms) for HA stenosis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PPV once HA PSV ≤ 48 cm/s is added to tardus parvus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3.5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PV anastomosis diameter: sens 100%, spec 92% for stenosis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Tardus parvus data are adult (Seoul, 361 LT); the paediatric PV criteria come from left-lobe grafts, where a dilated umbilical portion &gt; 1.5 cm flags a hidden stenosis.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Daily Doppler in week 1, and again whenever the enzymes rise.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Ebel NH, et al. J Pediatr 2020;226:195–201 · Park YS, et al. Radiology 2011;260:884–91 · Suzuki L, et al. Pediatr Radiol 2008;38:403–8 · Hsu HW, et al. Transplant Proc 2016;48:1162–5 · Kutluturk K, et al. Transplant Proc 2019;51:1162–8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63314"/>
              </p:ext>
            </p:extLst>
          </p:nvPr>
        </p:nvGraphicFramePr>
        <p:xfrm>
          <a:off x="548640" y="1420977"/>
          <a:ext cx="11094720" cy="43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badi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A1A1A"/>
                          </a:solidFill>
                          <a:latin typeface="Abadi"/>
                        </a:rPr>
                        <a:t>First imaging, 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NASPGHAN / ESPGHAN 2017: fasting US; excludes cyst and stones (1A)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Same joint document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Normal US, suspected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Does not rule out non-syndromic atresia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Same joint document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Atresia sign cut-offs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Signs listed as suggestive; no thresholds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thresholds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CEUS, focal lesion in a child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FDA: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Lumason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 labelled for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 liver lesions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EMA: SonoVue liver use in adults only; EFSUMB 2017 endorses off-label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LABELS SPLIT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Suspected portal vein thrombosis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AASLD 2020: Doppler US first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EASL 2016: Doppler US first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EHPVO in a child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Baveno VI Paediatric 2016: offer MesoRex if anatomy allows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Same international consensus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CSPH from imaging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AASLD 2024 adopts collaterals as CSPH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Baveno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 VII: collaterals suffice in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cACLD</a:t>
                      </a:r>
                      <a:endParaRPr sz="11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Graft Doppler thresholds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paediatric cut-offs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Single-centre reference ranges (Groningen 2023)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2017 · Lumason USPI 2025 · SonoVue SmPC · Sidhu 2017 · Northup 2021 · EASL 2016 · Shneider 2016 · de Franchis 2022 · Verhagen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20000"/>
            <a:ext cx="11094720" cy="4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Scan fasting for 4 hours — except the hypoglycaemic, hypopituitary infant.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Triangular cord: specificity ≈ 97–100%, sensitivity 23–85%. Act on a positive; ignore a negative.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Ghost triad = length &lt; 1.9 cm + no echogenic mucosa + irregular contour. A normal gallbladder at 6 weeks can be a ghost at 8.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Subcapsular flow and a hepatic artery &gt; 1.5 mm are sensitive Doppler adjuncts — reasons to look harder.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Hepatofugal flow: advanced disease, fewer bleeds, more encephalopathy; before LT, a small reversed vein predicts PVT.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HA RI ≥ 1.0 in atresia: 2-year survival 52% — expedite listing.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Spleen length only by age, height or z-score; platelets : spleen z-score triages endoscopy.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After LT, use day-specific paediatric ranges; tardus parvus is a screen, not a diagnosis.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Tan Kendrick AP, et al. Pediatr Radiol 2003;33:311–5 · Zhou L, et al. AJR 2016;206:W73–82 · Broide E, et al. Liver Transpl Surg 1997;3:604–10 · Gana JC, et al. Gastroenterology 2011;141:2009–16 · Verhagen MV, et al. Eur Radiol 2023;33:6404–13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QUESTION TO FINDING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98799"/>
              </p:ext>
            </p:extLst>
          </p:nvPr>
        </p:nvGraphicFramePr>
        <p:xfrm>
          <a:off x="548640" y="839688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Look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Then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Is it biliary atresia?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Ghost triad, cord, subcapsular flow, HA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Cord &gt; 4 mm; GB &lt; 1.9 cm; HA &gt; 1.5 mm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Positive → cholangiogram; negative excludes nothing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Cyst at the hilum?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Cyst size, intrahepatic dilatation, gallbladder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Small cyst + abnormal GB = cystic atresia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Surgery either way; timing differs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Splenic malformation?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Polysplenia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, preduodenal PV, absent IVC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Echo; tell the surgeon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Portal hypertension?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Spleen, collaterals, PV flow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Age limit; platelets : spleen z-score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Triage endoscopy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EHPVO?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Cavernoma; Rex recess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Patent left portal vein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MesoRex referral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Atresia worsening?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HA RI, PV velocity, HV waveform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RI ≥ 1.0; PV Vmax &lt; 16 cm/s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Expedite listing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Atresia before 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PV diameter and direction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4 mm or hepatofugal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Plan PV reconstruction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Graft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HA waveform, PV anastomosis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Day-specific 95th pct; PV &lt; 3.5 mm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CTA or angiography if LFTs agree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2017 · Tan Kendrick 2003 · Lee 2003 · Kim 2007 · Gana 2011 · Shneider 2016 · Broide 1997 · Gu 2015 · Verhagen 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Ultrasound and Doppler of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3105</Words>
  <Application>Microsoft Macintosh PowerPoint</Application>
  <PresentationFormat>Widescreen</PresentationFormat>
  <Paragraphs>448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2</cp:revision>
  <dcterms:created xsi:type="dcterms:W3CDTF">2013-01-27T09:14:16Z</dcterms:created>
  <dcterms:modified xsi:type="dcterms:W3CDTF">2026-09-30T15:10:06Z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2026-09-30T15:10:06Z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ccd637b0-36e9-4c5a-b2b8-006c0fcc3c3c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