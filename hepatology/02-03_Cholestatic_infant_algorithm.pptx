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The Cholestatic Infant: the NASPGHAN/ESPGHAN 2017 Algorithm and the Day-One Exclusions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Fawaz 2017 (NASPGHAN/ESPGHAN) · Moyer 2004 · Gottesman 2015 · Serinet 2009 · Kemper 2022 (AAP) · Harpavat 2025 (AAP) · SIGENP 2022 · NICE CG98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Definition · order of steps · sepsis, galactosemia, hypothyroidism, hypopituitarism, vitamin K · imaging and biopsy · the clock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STEP FIRST, AND WHAT CANNOT WAIT?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jobs in the first visit of a jaundiced infant at two to eight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Harpavat S, et al. Pediatrics 2025;155:e2024070077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Direct or conjugated bilirubin &gt;1.0 mg/dL (17 µmol/L)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Regardless of total bilirubin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Formula-fed: test at 2 weeks; well breastfed: 3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Exclude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Sepsis and urinary infection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Galactosemia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Hypothyroidism, hypopituitarism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Coagulopathy: give parenteral vitamin 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Find atresia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Stool colour, fasting ultrasound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Hepatologist the same week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Biopsy, then cholangiogram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Keep the clock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Kasai outcomes fall with every two weeks of delay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AAP 2025: refer before 30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2017 joint guideline is mostly about finding biliary atresia fast. Its second, quieter message is that a few causes kill or harm in days and are fully treatable, and those infants usually look sick.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Treatable systemic disease first, atresia the same week, everything else after.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THREE CLOCKS IN THE SAME INFANT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the order of steps matters: each group of causes runs on a different time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Serinet MO, et al. Pediatrics 2009;123:1280–6 · Levy HL, et al. NEJM 1977;297:823–5 · Sutor AH, et al. Klin Padiatr 1995;207:89–97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840480"/>
                <a:gridCol w="3291840"/>
                <a:gridCol w="1581912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Clock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Examples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runs out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Time scale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Systemic and treatable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Sepsis, urinary infection, galactosemia, tyrosinemia, adrenal and pituitary failure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Life, brain (hypoglycaemia, bleeding), liver synthetic 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Hours to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Obstructive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Biliary atresia, choledochal cyst, obstructing stones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Bile flow through the porta; fibrosis advances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Weeks: each 15 days counts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Hepatocellular and genetic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Alpha-1 antitrypsin, Alagille, PFIC, bile acid synthesis defects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Nutrition, growth, fat-soluble vitamins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Weeks to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Vitamin K deficiency in any cholestasis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Intracranial haemorrhage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Can occur at any visit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548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Conjugated hyperbilirubinaemia is a sign shared by all four groups. The workup is ordered by which clock runs fastest, not by which disease is most common.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sick-looking infant is the emergency; the well-looking one is the atresia.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MILLIGRAM, REGARDLESS OF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changed between the 2004 NASPGHAN guideline and the 2017 joint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Moyer V, et al. JPGN 2004;39:115–28 · Fawaz 2017 · Kemper AR, et al. Pediatrics 2022;150:e2022058859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&gt;1.0 mg/dL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Direct or conjugated bilirubin is abnormal at any total bilirubin (17 µmol/L)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20%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Dropped in 2017; in 2004 a fraction over 20% counted when total was above 5 mg/dL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2 · 3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Formula-fed infants tested at 2 weeks; well breastfed infants may wait to 3 weeks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1 in 2,500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Term infants with cholestatic jaundice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Jaundice becomes visible at a total bilirubin of about 2.5–3 mg/dL, and eye estimates are unreliable, so the guideline asks for fractionation in every infant jaundiced beyond these ages. The AAP 2022 hyperbilirubinaemia guideline uses the same 2- and 3–4-week triggers.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direct bilirubin of 1.2 with a total of 12 is cholestasis, not breast milk jaundice.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GUIDELINE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RECOMMENDATIONS, ONE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NASPGHAN/ESPGHAN 2017, recommendations with the grades as printed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Baumann U, Ekong U, et al. JPGN 2017;64:154–68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9262872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Recommendation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Grade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Fractionate bilirubin in formula-fed infants jaundiced at 2 weeks; well breastfed infants may be observed to 3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2–3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Always fractionate; conjugated bilirubin &gt;1.0 mg/dL is pathological and needs evaluation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4–5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Examine for hepatomegaly, splenomegaly and ill appearance; look at the stool yourself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Ultrasound excludes cyst and stones; absent or abnormal gallbladder suggests but does not prove atresia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HIDA scan has limited specificity; excretion helps exclude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MRCP, ERCP and percutaneous cholangiography have limited value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 well-timed biopsy read by an expert is the most supportive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Intraoperative cholangiogram with remnant histology is the gold standard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Nine of ten recommendations are about atresia; the day-one exclusions sit in the text and the first-tier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FIVE STEPS FROM THE FIRST VISIT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2–8-week-old infant, reconstructed from the guideline text and its table of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2017, text and Table 4 · Harpavat 2025 (AAP clinical report)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2035454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1 · Trigger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85415"/>
            <a:ext cx="2035454" cy="1792223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76856"/>
            <a:ext cx="18159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Jaundice at 2 weeks (formula) or 3 weeks (breastfed), pale stool at any age, or a prior raised direct value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874519"/>
            <a:ext cx="2035454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2 · Fractionate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85415"/>
            <a:ext cx="2035454" cy="1792223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76856"/>
            <a:ext cx="18159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Total and direct or conjugated bilirubin the same day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874519"/>
            <a:ext cx="2035454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3 · Look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85415"/>
            <a:ext cx="2035454" cy="1792223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76856"/>
            <a:ext cx="18159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History, examination, stool colour, newborn screen results, does the infant look ill?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874519"/>
            <a:ext cx="2035454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4 · Tier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85415"/>
            <a:ext cx="2035454" cy="1792223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76856"/>
            <a:ext cx="18159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Blood, urine and cultures for treatable disease; vitamin K; fasting ultrasound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874519"/>
            <a:ext cx="2035454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5 · Hepatology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85415"/>
            <a:ext cx="2035454" cy="1792223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76856"/>
            <a:ext cx="18159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Same-week review: tier 2 tests, biopsy, cholangiogram, genetic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AAP 2025 report adds a primary-care rule: a direct bilirubin of 1 mg/dL or more is an urgent call to a paediatric gastroenterologist, and further tests or an ultrasound should not delay that call, because a normal result can falsely reassure.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Tier 1 is started by whoever finds the number; it is not a reason to wait for the referral.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TIER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TO SEND ON THE FIRST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First-tier tests in the guideline, grouped by the question each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2017, Table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Liver and blood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Total and direct bilirubin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AST, ALT, ALP, GGT, albumin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INR and full blood count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Glucose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Infection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Urinalysis and urine culture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Blood culture if unwell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threshold for full sepsis screen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Metabolic, endocrine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Urine reducing substances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Newborn screen review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TSH and T4 if screen not 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Structure and genes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Fasting abdominal ultrasound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Alpha-1 antitrypsin level and phenotype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Tier 2, with the hepatologist, adds serum bile acids, cortisol, ammonia, lactate, red-cell GALT, urine succinylacetone and organic acids, viral PCR, sweat chloride, spine film, echocardiogram, eye review and a gene panel.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Glucose, INR, urine culture and reducing substances are the four results that change management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WORKUP IS LOOKING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Final diagnoses in 1,692 infants with conjugated hyperbilirubinaemia, systematic review,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Gottesman LE, Del Vecchio MT, Aronoff SC. BMC Pediatr 2015;15:192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Idiopathic neonatal hepatitis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901952"/>
            <a:ext cx="2530928" cy="2560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1680" y="18288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359152"/>
            <a:ext cx="2521194" cy="2560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1946" y="22860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25.9%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Infection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16352"/>
            <a:ext cx="1119449" cy="25603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0201" y="27432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11.5%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Parenteral nutrition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273552"/>
            <a:ext cx="622997" cy="2560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3749" y="32004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Metabolic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30752"/>
            <a:ext cx="428310" cy="25603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9062" y="36576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Alpha-1 antitrypsin deficiency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187952"/>
            <a:ext cx="399107" cy="2560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29859" y="41148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Perinatal hypoxia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645152"/>
            <a:ext cx="360170" cy="2560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0922" y="45720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3.7%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292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Hypopituitarism or hypothyroidism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5102352"/>
            <a:ext cx="194686" cy="25603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5438" y="50292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355E"/>
                </a:solidFill>
                <a:latin typeface="Abadi"/>
              </a:rPr>
              <a:t>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828800"/>
            <a:ext cx="39319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About 18%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Infection, metabolic and endocrine causes together: the treatable group in red.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26%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Idiopathic hepatitis shrinks as genetic testing expands; the monogenic share is now estimated at about a quarter.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Within infection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Cytomegalovirus about one third, bacterial sepsis about a quarter, E. coli urinary infection about one tenth.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SEPSIS AND URINARY INFECTION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QUIET INFECTION BEHIND THE YELLOW SKIN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Bacteriuria in afebrile jaundiced infants, and what infection adds to cholestasis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Chen LJ, et al. J Chin Med Assoc 2022;85:514–8 · Garcia FJ, Nager AL. Pediatrics 2002;109:846–51 · Gottesman 2015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14.3%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615 afebrile, otherwise well jaundiced infants under 1 month had significant bacteriuria (Taiwan, 2022)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45.5%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those isolates were E. coli; only 22.5% of E. coli were ampicillin-sensitive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 fever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Jaundice can be the first and only sign of urinary infection in early infancy (Garcia and Nager, 2002)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Cytokines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Endotoxin and TNF suppress bile salt and bilirubin export at the canaliculus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Most of these cohorts had unconjugated or mixed jaundice, so they overstate the rate in true cholestasis. The point is the asymmetry: a urine culture is cheap, and a missed E. coli infection may be galactosemia announcing itself.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Send urine for culture and reducing substances on the first day, febrile or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GALACTOSEMIA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E. COLI SEPSIS IS A METABOLIC CLUE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Classical galactosemia (GALT deficiency) in the cholestatic infant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Levy HL, et al. NEJM 1977;297:823–5 · Welling L, et al. J Inherit Metab Dis 2017;40:171–6 · Cerone J, Rios A. Pediatr Rev 2019;40 Suppl 1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Starts with milk feeds: vomiting, poor feeding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Jaundice, hepatomegaly, coagulopathy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Cataracts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Gram-negative, classically E. coli, sepsis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Why the screen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Results can take up to 7 days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Transfused red cells give a false-normal GALT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every programme screens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Bedside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Urine reducing substances while on lactose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Red-cell GALT activity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Negative if not feeding or on IV fluids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Act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Stop lactose on suspicion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Soy-based or elemental formula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Confirm later; do not wait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Levy and colleagues showed in 1977 that neonates with galactosemia are prone to E. coli sepsis, often fatal. Incidence is about 1 in 40,000–60,000. The international GalNet guideline (2017) treats the diet change as an emergency measure.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Breast milk is lactose: the breastfed infant with galactosemia is the most exposed, not the least.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ENDOCRINE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PITUITARY IS THE LIVER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Congenital hypothyroidism and combined pituitary hormone deficiency, including septo-optic dysplasia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Karnsakul W, et al. Ann Hepatol 2007;6:97–103 · Ellaway CJ, et al. J Paediatr Child Health 1995;31:51–3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Hypoglycaemia, often recurrent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Micropenis, undescended testes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Roving eyes, nystagmus, midline defects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Normal genitalia do not exclude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TSH with free T4: TSH screens miss central hypothyroidism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Early-morning cortisol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Brain MRI, eye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Danger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Adrenal crisis under stress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A fasting ultrasound can cause severe hypoglycaemia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Scan this infant non-fasting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Cholestasis resolves on cortisol and thyroxine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Mean 9.7 weeks to resolution in one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Karnsakul's series of eight infants, cholestasis began at a mean of 1.7 weeks but hypopituitarism was diagnosed at 7.6 weeks, and all were cortisol-deficient. In Ellaway's series, 7 of 20 children with congenital hypopituitarism presented with cholestatic jaundice.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normal newborn TSH does not clear the pituitary; glucose plus free T4 plus cortisol does.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COAGULATION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VITAMIN K BEFORE THE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Late vitamin K deficiency bleeding in Germany, 108 cases, 1980–1990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Sutor AH, Dagres N, Niederhoff H. Klin Padiatr 1995;207:89–97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≥ 37%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late vitamin K deficiency bleeds had underlying cholestasis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Presented with intracranial haemorrhage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14× vs 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Risk reduction with parenteral versus oral prophylaxis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Fat malabsorption makes oral vitamin K unreliable once bile flow falls. The guideline uses the INR response to parenteral vitamin K as a diagnostic step: an INR that does not correct, or is out of proportion to the liver tests, points to gestational alloimmune liver disease, a metabolic disease or sepsis.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Check the INR, give parenteral vitamin K, and recheck it: the second INR is a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SUGGESTIVE, NEVER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Pooled sensitivity and specificity for biliary atresia,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Ultrasound meta-analysis, 23 studies, AJR 2016 · HIDA meta-analysis cited in Fawaz 2017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3100" y="1828800"/>
            <a:ext cx="137160" cy="13716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4268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102" y="3482671"/>
            <a:ext cx="505206" cy="19122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350" y="3226639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74%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6172" y="2888311"/>
            <a:ext cx="505206" cy="250664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" y="2632279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Triangular 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6302" y="3198412"/>
            <a:ext cx="505206" cy="219654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14550" y="2942380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85%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6372" y="3017520"/>
            <a:ext cx="505206" cy="237744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4620" y="2761487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440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Gallbladder abnormal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6502" y="2939994"/>
            <a:ext cx="505206" cy="245496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4750" y="2683962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6572" y="3095045"/>
            <a:ext cx="505206" cy="229991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4820" y="2839013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89%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440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Ultrasound combined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6702" y="2844380"/>
            <a:ext cx="505206" cy="255057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14950" y="2588348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98.7%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6772" y="3575701"/>
            <a:ext cx="505206" cy="181925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5020" y="3319669"/>
            <a:ext cx="1108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70.4%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440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HIDA, no excretion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94960"/>
            <a:ext cx="640080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182880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Fasting scan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Excludes choledochal cyst and stones; a normal ultrasound does not exclude atresia.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HIDA excretion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Helps exclude atresia; non-excretion is seen in hepatitis, paucity, prematurity and parenteral nutrition.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Phenobarbital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Five days of priming can delay the Kasai.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TISSUE AND CHOLANGIOGRAM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BIOPSY DECIDES WHO GOES TO THEATRE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Accuracy and limits of the tests that confirm or exclude atresia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Yang L, et al. Hepatology 2018;68:2069–77 (MMP-7)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90–95%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Correct diagnosis on biopsy read by an experienced paediatric pathologist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20–50%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atresia biopsies show giant cells, the feature that mimics neonatal hepatitis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Up to 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cholangiograms mislead: hypoplastic tree in Alagille syndrome or cystic fibrosis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MMP-7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Serum MMP-7 at 52.85 ng/mL: sensitivity 98.7%, specificity 95% in one cohort; not in the 2017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Alpha-1 antitrypsin deficiency, cystic fibrosis and parenteral nutrition can all produce ductular proliferation, and a biopsy taken too early can look falsely benign. Complications occurred in about 1.7% overall and 4.6% of infants in one cited series.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When biopsy and clinical picture disagree, go to the cholangiogram, not to a second week of waiting.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THE ALGORITHM IS IN A HURRY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Native-liver survival after Kasai, French national cohort, 695 operated children,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Serinet MO, et al. Pediatrics 2009;123:1280–6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Native-liver survival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3132429"/>
            <a:ext cx="585215" cy="226253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76397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57.1%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2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3893210"/>
            <a:ext cx="585215" cy="150174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637178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37.9%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440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5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13632" y="4111142"/>
            <a:ext cx="585215" cy="128381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855110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32.4%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440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10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76672" y="4265676"/>
            <a:ext cx="585215" cy="11292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009644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28.5%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40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15 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585216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60 days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Median age at Kasai in France, unchanged across 1986–2002; survival fell step by step with each 15-day band.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5.7%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Of French paediatric liver transplants each year would be avoided if every Kasai were done before 46 days.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61 days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Mean age at Kasai in the United States, with 44% after 60 days (guideline data).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B355E"/>
                </a:solidFill>
                <a:latin typeface="Abadi"/>
              </a:rPr>
              <a:t>~70% vs &lt;25%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Bile drainage before 60 days versus after 90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Europe; AASLD and EASL have no neonatal cholestasis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Kemper 2022 · Harpavat 2025 · Ranucci G, et al. Dig Liver Dis 2022;54:40–53 (SIGENP) · NICE CG98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3840480"/>
                <a:gridCol w="4114800"/>
                <a:gridCol w="13990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North America (NASPGHAN/ESPGHAN 2017 · AAP 2022 · AAP 2025)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Europe (SIGENP 2022 · NICE CG98)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Direct &gt;1.0 mg/dL at any 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SIGENP keeps the 20% rule; NICE: conjugated &gt;25 µmol/L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When to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2 weeks formula, 3 weeks breastfed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NICE: jaundice &gt;14 days term, &gt;21 days preterm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Day-one exclusions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Urine culture, reducing substances, TSH/T4, glucose, INR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SIGENP tier 1 adds cortisol and bile acids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HIDA scan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Limited specificity; excretion helps exclude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SIGENP: no longer part of standard workup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Genetic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Tier 2, low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SIGENP: early, in parallel, once atresia excluded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Target 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AAP 2025: referral before 30 days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age target; Serinet's 46 days often quoted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AASLD / EASL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neonatal cholestasis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neonatal cholestasis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material difference is urgency: North America now names a 30-day target; European documents ask for speed without a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ALGORITHM FAILS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a cholestatic infant is diagnosed 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Harpavat 2025 · Karnsakul 2007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False reassurance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Breastfed, so it is breast milk jaundice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Yellow stools at 3 weeks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ultrasound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Screen blind spots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TSH screen misses central disease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GALT after transfusion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Screen result not yet 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Test delays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Phenobarbital-primed HIDA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Waiting for tier 2 before referral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 repeated instead of cholangiogram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Missed basics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glucose check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vitamin 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Fasting the hypopituitary infant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Each trap delays a diagnosis by days to weeks, and the infants most often missed are the ones who look well.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failure is almost never a missing test; it is a test sent without a deadline.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Gottesman 2015 · Chen 2022 · Sutor 1995 · Karnsakul 2007 · Serinet 2009 · Harpavat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981944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Conjugated bilirubin above 1.0 mg/dL is abnormal at any total; the 20% rule is gone in North America.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Test at 2 weeks if formula-fed, 3 weeks if breastfed and well; pale stool at any age means test now.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Day one: glucose, INR, urine culture, urine reducing substances, newborn screen, TSH with free T4.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Give parenteral vitamin K; a non-correcting INR is a diagnosis to pursue.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E. coli sepsis or urinary infection in a cholestatic infant: stop lactose until galactosemia is excluded.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Hypoglycaemia plus cholestasis: think hypopituitarism, check cortisol, scan non-fasting.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Ultrasound and HIDA suggest; biopsy and cholangiogram decide.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Infection, metabolic and endocrine causes are about one in six cholestatic infants; atresia is one in four.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first-day logic in the clinic and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Harpavat 2025 · Levy 1977 · Karnsakul 2007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2926080"/>
                <a:gridCol w="45079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3-week breastfed, well, direct 1.4 mg/dL, yellow stools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Cholestasis until proven otherwise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Same-day tier 1, vitamin K, hepatology this week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2-week, vomiting, E. coli in urine, INR 2.8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Galactosemia until excluded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Stop lactose, reducing substances, GALT, antibiotics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10-day, glucose 1.8 mmol/L, micropenis, direct 3 mg/dL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Hypopituitarism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Cortisol, free T4, MRI; non-fasting ultrasound; hydrocortisone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5-week, acholic stools, no gallbladder on ultrasound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Hepatology and surgery now; skip HIDA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4-week, INR 4 not correcting after vitamin 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Liver failure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GALD, metabolic, viral workup; transplant centre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6-week preterm on parenteral nutrition, direct 2.5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PN-associated, atresia still possible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Stool colour, ultrasound, low threshold for biopsy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Sick infant: treat the systemic cause today. Well infant: assume atresia until it is excluded.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The Cholestatic Infant: the NASPGHAN/ESPGHAN 2017 Algorithm and the Day-One Exclusions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