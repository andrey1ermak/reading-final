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Elastography in the Child's 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0000"/>
            <a:ext cx="1109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CFD8E6"/>
                </a:solidFill>
                <a:latin typeface="Abadi"/>
              </a:rPr>
              <a:t>WFUMB 2024 · AASLD 2024 imaging NILDA · SRU 2020 · EASL 2021 · Baveno VII · AASLD 2025 · ESPGHAN 2026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CFD8E6"/>
                </a:solidFill>
                <a:latin typeface="Abadi"/>
              </a:rPr>
              <a:t>TE · pSWE · 2D-SWE · MRE · CAP · paediatric norms · false stiffness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FOUR WAYS TO MEASURE STIFFNESS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0000"/>
                <a:gridCol w="2350000"/>
                <a:gridCol w="2500000"/>
                <a:gridCol w="2200000"/>
                <a:gridCol w="23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Method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How the shear wave is made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is sampled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Reported as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Paediatric catch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VCTE (FibroScan)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Mechanical punch from the probe tip; no B-mode image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 blind cylinder ≈ 1 × 4 cm, 25–65 mm deep (M probe)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kPa (Young's modulus); CAP in dB/m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Probe by thorax: S1 &lt; 45 cm, S2 45–75 cm, M &gt; 75 cm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pSWE (ARFI)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Acoustic push at one point, under B-mode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One small ROI 15–20 mm below the capsule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m/s or kPa, vendor-specific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Short breath-hold needed; few child norms per vendor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2D-SWE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Repeated pushes building a colour map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ROI ≥ 10 mm chosen on the live image; 3–5 readings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kPa or m/s, vendor-specific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Works in neonates; long cine-loop in free breathing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MR elastography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60 Hz passive driver on the abdomen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Large slices of the whole liver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kPa of shear stiffness (≈ one-third of the US scale)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Needs a still child — sedation below school age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CAP (on VCTE)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Attenuation of the same ultrasound signal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The VCTE cylinder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dB/m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validated against histology in most paediatric cohorts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Sterling RK, et al. Hepatology 2025;81:672–724 · Ferraioli G, et al. Ultrasound Med Biol 2024;50:1071–87 · Engelmann G, et al. Eur J Pediatr 2012;171:353–60 · Barr RG, et al. Radiology 2020;296:263–74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MAKES A READING VALID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Every adult acquisition rule bends in a child; some break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0000"/>
                <a:gridCol w="6300000"/>
                <a:gridCol w="14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 rule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happens in children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61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Fast 4 h; rest 10 min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Infants cannot fast — scan just before the next feed; stiffness rises for ~60 min after a meal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61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Breath-hold in neutral expiration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Free breathing reads 11.1% lower than breath-hold on 2D-SWE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61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≥ 10 valid VCTE shots, IQR/M ≤ 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Same rule; invalid exams cluster in younger children (mean 5.8 vs 9.7 y)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61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No sedation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Sedation independently raises stiffness in the paediatric IPD meta-analysis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PAEDS ONLY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1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M or XL probe by skin–capsule distance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S1/S2 probe below 75 cm thorax; S-probe use raised stiffness in the IPD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PAEDS ONLY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1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Change &gt; 10% is real (WFUMB, same machine)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Inter-observer limits of agreement in children: ± 31.8% of the mean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Ferraioli G, et al. Ultrasound Med Biol 2024;50:1071–87 · Mederacke I, et al. Liver Int 2009;29:1500–6 · Yoon HM, et al. Eur J Radiol 2017;97:53–8 · Engelmann G, et al. Eur J Pediatr 2012;171:353–60 · Li DK, et al. Liver Int 2020;40:2602–11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NORMAL RISES WITH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Transient elastography in healthy children, kPa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2760" y="3351530"/>
            <a:ext cx="420000" cy="112847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760" y="312153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2760" y="2951436"/>
            <a:ext cx="420000" cy="152856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2760" y="2721436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760" y="3608000"/>
            <a:ext cx="420000" cy="872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2760" y="3378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2760" y="3300236"/>
            <a:ext cx="420000" cy="117976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2760" y="3070236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0–5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1000" y="3266895"/>
            <a:ext cx="420000" cy="121310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1000" y="3036895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1000" y="2774471"/>
            <a:ext cx="420000" cy="1705529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1000" y="2544471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1000" y="3505412"/>
            <a:ext cx="420000" cy="9745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1000" y="3275412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1000" y="2915530"/>
            <a:ext cx="420000" cy="156447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1000" y="268553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688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6–11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9240" y="3172000"/>
            <a:ext cx="420000" cy="130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89240" y="2942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5.1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59240" y="2730871"/>
            <a:ext cx="420000" cy="1749129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9240" y="2500871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9240" y="3428471"/>
            <a:ext cx="420000" cy="1051529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9240" y="3198471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59240" y="2453883"/>
            <a:ext cx="420000" cy="2026117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9240" y="2223883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4512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12–18 years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Median, Heidelberg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43360" y="1830000"/>
            <a:ext cx="200000" cy="15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ULN, Heidelberg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Median, Osaka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95th pct, Osaka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kPa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IPD meta-analysis, 652 healthy children: reference range 2.45–5.56 kPa.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Age, sedation, S-probe use and steatosis on ultrasound all push the value up.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Engelmann G, et al. Eur J Pediatr 2012;171:353–60 · Tokuhara D, et al. PLoS One 2016;11:e0166683 · Li DK, et al. Liver Int 2020;40:2602–11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NORMAL DEPENDS ON THE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same healthy liver gives a different number on each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5.56 kPa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Upper limit of normal VCTE across 10 studies, 652 children (IPD)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3.3 vs 4.1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kPa, 2D-SWE vs pSWE and VCTE, same 4–17-year-olds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6.0 kPa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Newborn median on Canon 2D-SWE — falls towards 5.3 by adolescence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2.45 kPa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MRE mean in healthy 8–17-year-olds; 95th centile 3.19, above adults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paediatric report must name the method, the probe and the vendor.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Up to 26% of carefully screened healthy children had an MRE value suggesting fibrosis by published thresholds.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Li DK, et al. Liver Int 2020;40:2602–11 · Mjelle AB, et al. JPGN 2019;68:706–12 · Charlier C, et al. Arch Pediatr 2025;32:322–8 · Sawh MC, et al. J Magn Reson Imaging 2020;51:919–27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FALSE STIFFNESS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STIFF IS NOT ALWAYS SCARRED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/>
                <a:gridCol w="5300000"/>
                <a:gridCol w="34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Confounder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Evidence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Where it bites in children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Necro-inflammation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At the ALT peak every one of 18 adults with acute hepatitis read above cirrhosis cut-offs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AIH at onset, acute Wilson, viral hepatitis, rejection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Extrahepatic cholestasis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Biliary drainage: 15.2 → 7.1 kPa in 3–12 days; pig bile-duct ligation 4.6 → 8.8 kPa in 2 h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Biliary atresia, choledochal malformation, stones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Venous congestion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Clamped IVC: 3.1 → 27.8 kPa; reversed within 5 min of release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Fontan, right-heart failure, restrictive cardiomyopathy, SOS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Food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Rise for up to 60 min; 39% of normal livers crossed 6 kPa after breakfast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Infants fed on demand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Infiltration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Amyloid, tumour or storage cells stiffen the parenchyma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HLH, storage disease, leukaemic infiltration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Steatosis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Moderate-to-severe fat makes VCTE overestimate fibrosis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Adolescent MASLD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Ascites, obesity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Cause failure more than false values; VCTE worst, MRE least affected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Decompensated cirrhosis, severe obesity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Arena U, et al. Hepatology 2008;47:380–4 · Millonig G, et al. Hepatology 2008;48:1718–23 · Millonig G, et al. J Hepatol 2010;52:206–10 · Mederacke I, et al. Liver Int 2009;29:1500–6 · Sterling RK, et al. Hepatology 2025;81:672–724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FALSE STIFFNESS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HOW HIGH WITHOUT CIRRHOSIS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Liver stiffness, kPa (VCTE); red = before, amber = after the cause was removed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721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Decompensated heart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8640" y="1987212"/>
            <a:ext cx="5886692" cy="219325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5332" y="198721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40.7 kPa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2096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…same patients, recompensated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8640" y="2340962"/>
            <a:ext cx="2574524" cy="219325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3164" y="234096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17.8 kPa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7471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Pig, inferior vena cava clamped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8640" y="2694712"/>
            <a:ext cx="4020886" cy="219325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9526" y="269471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27.8 kPa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2846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Pig,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8640" y="3048462"/>
            <a:ext cx="448372" cy="21932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7012" y="304846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3.1 kPa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221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Fontan children, median 13.7 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8640" y="3402212"/>
            <a:ext cx="2690233" cy="219325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873" y="340221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18.6 kPa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3596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Matched healthy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8640" y="3755962"/>
            <a:ext cx="679790" cy="21932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8430" y="375596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4.7 kPa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8971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Malignant biliary obstruction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8640" y="4109712"/>
            <a:ext cx="2198470" cy="219325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7110" y="410971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15.2 kPa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43462"/>
            <a:ext cx="3600000" cy="25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…3–12 days after drainage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8640" y="4463462"/>
            <a:ext cx="1026916" cy="219325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85556" y="4463462"/>
            <a:ext cx="1250000" cy="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7.1 kPa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Every red bar sits above the 15 kPa that rules in advanced disease.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Measure after drainage, decongestion or the ALT has settled — or do not interpret.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Millonig G, et al. J Hepatol 2010;52:206–10 · Chen B, et al. Can J Gastroenterol Hepatol 2016;2016:7125193 · Millonig G, et al. Hepatology 2008;48:1718–23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FALSE STIFFNESS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ALT AND THE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Inflammation inflates the low end, where most children 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18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Adults with acute viral hepatitis above cirrhosis cut-offs at the ALT peak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and young adults with VCTE within 1 year of biopsy (Boston)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F0–F2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High ALT pushed LSM above 8.6 kPa — into the advanced-fibrosis range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F3–F4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 association between ALT and LSM once fibrosis was advanced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Repeat once ALT is below 2 × ULN before calling fibrosis in a mild case.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very high value in a known cirrhotic is still cirrhosis; a high value in a child with ALT 600 is not yet anything.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Arena U, et al. Hepatology 2008;47:380–4 · Raizner A, et al. JPGN 2017;64:512–7 · Ferraioli G, et al. Ultrasound Med Biol 2024;50:1071–87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CUT-OFFS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ADULT RULES OF FOUR AND FIVE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WFUMB 2024: the rule of four "cannot be applied to the paediatric population"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0000"/>
          <a:ext cx="11094720" cy="411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0000"/>
                <a:gridCol w="3100000"/>
                <a:gridCol w="3100000"/>
                <a:gridCol w="15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Meaning in adults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VCTE — rule of 5 (Baveno VII)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ARFI-SWE — rule of 4 (SRU)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In a child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Normal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5 kPa (AASLD 2024)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≤ 5 kPa (1.3 m/s)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Rules out compensated advanced CLD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10 kPa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9 kPa (1.7 m/s)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anchor="ctr" marL="73152" marR="73152" marT="27432" marB="27432">
                    <a:solidFill>
                      <a:srgbClr val="8A939B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Suggestive; needs confirmation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10–15 kPa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9–13 kPa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anchor="ctr" marL="73152" marR="73152" marT="27432" marB="27432">
                    <a:solidFill>
                      <a:srgbClr val="8A939B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Rules in compensated advanced CLD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15 kPa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13 kPa (2.1 m/s)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Suggests CSPH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15–20 kPa with platelets &lt; 110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17 kPa (2.4 m/s)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anchor="ctr" marL="73152" marR="73152" marT="27432" marB="27432">
                    <a:solidFill>
                      <a:srgbClr val="8A939B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Rules in CSPH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25 kPa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21 kPa (2.6 m/s)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anchor="ctr" marL="73152" marR="73152" marT="27432" marB="27432">
                    <a:solidFill>
                      <a:srgbClr val="8A939B"/>
                    </a:solidFill>
                  </a:tcPr>
                </a:tc>
              </a:tr>
              <a:tr h="52857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Skip screening endoscopy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20 kPa and platelets ≥ 150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Ferraioli G, et al. Ultrasound Med Biol 2024;50:1071–87 · Barr RG, et al. Radiology 2020;296:263–74 · Ling YC, et al. JPGN 2024;79:222–8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/>
                <a:gridCol w="3700000"/>
                <a:gridCol w="4000000"/>
                <a:gridCol w="14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AASLD 2024 imaging NILDA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WFUMB 2024 (with SRU 2020)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cut-offs?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Disease-specific thresholds differ from adults; none endorsed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None can be recommended (LoE 2a, GoR B) — but ≤ 5 kPa rules out, ≥ 15 kPa rules in, except BA, CFLD, Fontan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Which method in a child?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Insufficient evidence to prefer one (ungraded)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SWE helpful for diagnosis and follow-up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Confounders named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Oedema, extrahepatic cholestasis, venous congestion; fasting and sedation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Congestion, obstructive cholestasis, inflammation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Follow-up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 standalone test of regression or progression (ungraded)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Same machine and probe; change &gt; 10% is meaningful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Profound extrahepatic cholestasis lessens accuracy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Useful to separate BA from other cholestasis (AUC 0.91)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Fontan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Congestion raises LSM independent of fibrosis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thresholds; follow the trend from the child's own baseline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Sterling RK, et al. Hepatology 2025;81:672–724 · Ferraioli G, et al. Ultrasound Med Biol 2024;50:1071–87 · Barr RG, et al. Radiology 2020;296:263–74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STIFFNESS BEFORE KASAI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It ranks the risk; it does not replace the cholangiogram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83 / 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Pooled sensitivity / specificity for BA, 11 studies, 1,307 infants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&gt; 1.84 m/s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2D-SWE: 92% sensitive, 79% specific in 41 prospective infants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13.0 kPa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2D-SWE cut-off for ≥ F3 in 216 infants; NPV 96%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17.5 kPa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Pre-Kasai F3–F4 in 33 infants: 64% sensitive, 86% specific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One in five non-BA infants reads as stiff: cholestasis itself raises the number.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Use it to move an infant up the queue, never to delay biopsy or intraoperative cholangiography.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Wagner ES, et al. World J Gastroenterol 2022;28:4726–40 · Dillman JR, et al. J Pediatr 2019;212:60–5 · Chen H, et al. Korean J Radiol 2021;22:959–69 · Yoon H, et al. Korean J Radiol 2023;24:465–75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VARICES AFTER KASAI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Detection of oesophageal or gastric varices by VCTE,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00480" y="2648800"/>
            <a:ext cx="420000" cy="18312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480" y="24188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50480" y="2801400"/>
            <a:ext cx="420000" cy="1678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0480" y="2571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277368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Liver ≥ 12.7 kPa (n = 73)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160" y="2736000"/>
            <a:ext cx="420000" cy="1744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4160" y="2506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4160" y="2954000"/>
            <a:ext cx="420000" cy="1526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4160" y="2724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2320" y="4540000"/>
            <a:ext cx="277368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Liver ≥ 12.5 kPa (n = 51)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7840" y="2845000"/>
            <a:ext cx="420000" cy="1635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7840" y="2615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7840" y="2583400"/>
            <a:ext cx="420000" cy="1896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7840" y="2353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4540000"/>
            <a:ext cx="277368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Spleen ≥ 28.9 kPa (n = 51)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1520" y="2627000"/>
            <a:ext cx="420000" cy="1853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520" y="2397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71520" y="2823200"/>
            <a:ext cx="420000" cy="16568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51520" y="25932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540000"/>
            <a:ext cx="277368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Pooled liver (9 studies)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Baveno VII missed no varix needing treatment in 48 BA children (Taiwan); spleen stiffness ≥ 27.6 kPa predicted CSV in 150 Indian children.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No child bled with spleen stiffness below 60 kPa in Hannover — the spleen beats the liver here.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Chongsrisawat V, et al. BMC Gastroenterol 2011;11:41 · Sintusek P, et al. JPGN 2019;69:411–5 · Wagner ES, et al. World J Gastroenterol 2022;28:4726–40 · Ling YC, et al. JPGN 2024;79:222–8 · Goldschmidt I, et al. JPGN 2014;59:197–203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BY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WHERE IT WORKS, WHERE IT MISLEADS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3300000"/>
                <a:gridCol w="4200000"/>
                <a:gridCol w="14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Disease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Best paediatric evidence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Number to remember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Cystic fibrosis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160 children, dual-pass biopsy; LSM r = 0.67 with stage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5.55 kPa flags CFLD (AUROC 0.82); 8.7 kPa F3–F4 (spec 100%); with APRI PPV 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USE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Biliary atresia, post-Kasai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Pooled 9 studies; F4 vs F0–F3 DOR 70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Sensitivity 96%, specificity 89% for cirrhosis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USE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After liver transplant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94 recipients, Boston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AUROC 0.71 for ≥ F2 at 6.5 kPa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WEAK</a:t>
                      </a:r>
                    </a:p>
                  </a:txBody>
                  <a:tcPr anchor="ctr" marL="73152" marR="73152" marT="27432" marB="27432">
                    <a:solidFill>
                      <a:srgbClr val="D97A0B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Fontan circulation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Fibrosis is universal by adolescence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VCTE 18.6 vs 4.7 kPa in controls; MRE mean 4.4 kPa in 206 patients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TREND ONLY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Treated AIH, PSC, storage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Adult and mixed data; no obstruction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≈ 8 kPa suggests advanced disease (WFUMB, GoR C)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TREND ONLY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MASLD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Meta-analysis vs prospective NASH CRN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AUROC 0.96 vs 0.67 for advanced fibrosis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Lewindon PJ, et al. Clin Gastroenterol Hepatol 2019;17:2561–9 · Lam S, et al. J Can Assoc Gastroenterol 2019;2:71–80 · Wagner ES, et al. World J Gastroenterol 2022;28:4726–40 · Lee CK, et al. Pediatr Transplant 2020;24:e13736 · Chen B, et al. Can J Gastroenterol Hepatol 2016;2016:7125193 · Razavi J, et al. Pediatr Radiol 2025;55:2601–10 · Nichols LB, et al. JPGN 2026;82:741–50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MASLD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META-ANALYSIS VS NASH CRN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VCTE for advanced fibrosis (F3–F4) in paediatric MASLD,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2760" y="2539800"/>
            <a:ext cx="420000" cy="19402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2760" y="23098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2760" y="3019400"/>
            <a:ext cx="420000" cy="1460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2760" y="2789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1000" y="2452600"/>
            <a:ext cx="420000" cy="20274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000" y="22226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1000" y="2823200"/>
            <a:ext cx="420000" cy="16568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00" y="25932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88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9240" y="2387200"/>
            <a:ext cx="420000" cy="20928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9240" y="21572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96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9240" y="3019400"/>
            <a:ext cx="420000" cy="1460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9240" y="2789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12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AUROC × 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Dong 2022 — 7 studies, 436 children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Nichols 2026 — NASH CRN, 92 children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Prospective, multicentre, biopsy within 6 months: PPV 40%, NPV 90% — a rule-out test at best.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ESPGHAN 2026: &lt; 5.5 kPa excludes, &gt; 10 kPa suggests advanced disease; AASLD 2025: adult thresholds not validated.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Dong B, et al. J Paediatr Child Health 2022;58:481–90 · Nichols LB, et al. JPGN 2026;82:741–50 · Xanthakos SA, et al. Hepatology 2025;82:1352–94 · Mann JP, et al. JPGN 2026;83:555–76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STEATOSIS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CAP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It separates fat from no fat; it cannot grade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198 vs 290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CAP dB/m, no steatosis vs steatosis on biopsy (n = 69)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0.80 vs 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AUROC, CAP vs scored B-mode US for ≥ S1 in severe obesity — 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310–325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CAP dB/m across steatosis grades 1–3 in NASH CRN: flat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183 dB/m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CAP in healthy children 1–18 y; not age-dependent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AASLD 2025: do not use CAP diagnostically. ESPGHAN 2026: adjunct, &gt; 280 dB/m. AASLD 2024 adult threshold: 275.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MRI-PDFF remains the only paediatric fat measure with histological grading behind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Desai NK, et al. J Pediatr 2016;173:160–4 · Runge JH, et al. Eur Radiol 2021;31:1588–96 · Nichols LB, et al. JPGN 2026;82:741–50 · Tokuhara D, et al. PLoS One 2016;11:e0166683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MR ELASTOGRAPHY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MOST ACCURATE, THE HARDEST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Shear stiffness of the whole liver — at the price of a scanner and often sedation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2.45 kPa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Healthy 8–17-year-olds; higher than healthy adults (2.10)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Accuracy for advanced fibrosis, 90 children with MASLD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72.2%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Accuracy for any fibrosis — early stages still blur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R2* &gt; 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s⁻¹ at 1.5 T: iron overload makes GRE-MRE 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MRE kPa is shear stiffness; ultrasound kPa is Young's modulus — never compare across platforms.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Use it when you already need an MRI, or when ultrasound fails: obesity, ascites, a narrow intercostal window.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Sawh MC, et al. J Magn Reson Imaging 2020;51:919–27 · Schwimmer JB, et al. Hepatology 2017;66:1474–85 · Sterling RK, et al. Hepatology 2025;81:672–724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NORTH AMERICA VS EUROPE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/>
                <a:gridCol w="3600000"/>
                <a:gridCol w="3600000"/>
                <a:gridCol w="14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Topic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fibrosis thresholds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AASLD 2024: none; no preferred method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WFUMB 2024: none — yet ≤ 5 / ≥ 15 kPa offered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MASLD — VCTE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AASLD 2025: adult thresholds not validated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ESPGHAN 2026: &lt; 5.5 excludes, &gt; 10 suggests advanced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anchor="ctr" marL="73152" marR="73152" marT="27432" marB="27432">
                    <a:solidFill>
                      <a:srgbClr val="D97A0B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MASLD — CAP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AASLD 2025: not a diagnostic tool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ESPGHAN 2026: adjunct, &gt; 280 dB/m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MASLD — MRE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Most validated for advanced fibrosis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Useful; cut-offs need validation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Confounders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Congestion, cholestasis, oedema, ALT, food, sedation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Congestion, cholestasis, inflammation, food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Serial measurements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standalone for regression or progression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&gt; 10% change on the same machine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anchor="ctr" marL="73152" marR="73152" marT="27432" marB="27432">
                    <a:solidFill>
                      <a:srgbClr val="F2C40C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Varices in children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Baveno VII is adult; no paediatric rule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paediatric rule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anchor="ctr" marL="73152" marR="73152" marT="27432" marB="27432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Sterling 2025 · Xanthakos 2025 · Ferraioli 2024 · Mann 2026 · Barr 2020 · Ling 2024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20000"/>
            <a:ext cx="11094720" cy="4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Normal VCTE in a child is below about 5.5 kPa; it rises with age, sedation, S-probe use and fat.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Each platform has its own normal — 2D-SWE reads lower than pSWE and VCTE in the same child.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Inflammation, cholestasis and congestion each push a non-cirrhotic liver past 15 kPa.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In BA, stiffness ranks the infant; the cholangiogram decides.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After Kasai, spleen stiffness predicts varices better than liver stiffness.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In Fontan, read the trend from the child's own baseline, never the absolute number.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Paediatric MASLD: VCTE is a rule-out test (NPV 90%, PPV 40%); CAP cannot grade fat.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MRE kPa and ultrasound kPa live on different scales; never compare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Li DK, et al. Liver Int 2020;40:2602–11 · Mjelle AB, et al. JPGN 2019;68:706–12 · Millonig G, et al. J Hepatol 2010;52:206–10 · Wagner ES, et al. World J Gastroenterol 2022;28:4726–40 · Sintusek P, et al. JPGN 2019;69:411–5 · Nichols LB, et al. JPGN 2026;82:741–50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READING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930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/>
                <a:gridCol w="2800000"/>
                <a:gridCol w="2800000"/>
                <a:gridCol w="27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to do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How to read it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not to do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Cholestatic infant, possible BA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2D-SWE with the fasting US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High value raises urgency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Delay the cholangiogram on a low value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AIH or hepatitis at onset, ALT in hundreds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Wait for ALT &lt; 2 × ULN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Then stage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Call cirrhosis at presentation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BA after Kasai, surveillance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VCTE plus spleen stiffness yearly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Rising trend, spleen &gt; 28 kPa → endoscopy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 adult rule of five alone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Fontan teenager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Same machine every visit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Change from own baseline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Stage from one value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Obese teen, raised ALT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VCTE after ALT confirmed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&lt; 5.5 kPa reassures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Grade fat with CAP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Child with CF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VCTE plus APRI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≥ 5.5–6 kPa with APRI → CFLD likely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Rely on LSM alone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Graft check after LT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VCTE with ALT and Doppler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Low value reassures weakly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Skip the protocol biopsy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Ultrasound fails or MRI needed anyway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MRE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Shear-stiffness scale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Compare with ultrasound kPa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Ferraioli 2024 · Sterling 2025 · Raizner 2017 · Wagner 2022 · Sintusek 2019 · Lewindon 2019 · Lee 2020 · Nichols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Elastography in the Child's 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