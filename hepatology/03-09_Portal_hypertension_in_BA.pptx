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11082528" cy="2286000"/>
          </a:xfrm>
          <a:prstGeom prst="rect">
            <a:avLst/>
          </a:prstGeom>
          <a:noFill/>
        </p:spPr>
        <p:txBody>
          <a:bodyPr wrap="square" lIns="45720" rIns="45720" tIns="27432" bIns="27432" anchor="b">
            <a:spAutoFit/>
          </a:bodyPr>
          <a:lstStyle/>
          <a:p>
            <a:pPr algn="ctr"/>
            <a:r>
              <a:rPr sz="3000" b="1" i="0">
                <a:solidFill>
                  <a:srgbClr val="FFFFFF"/>
                </a:solidFill>
                <a:latin typeface="Abadi"/>
              </a:rPr>
              <a:t>Biliary Atresia IX: Portal Hypertension after the Kasai — Varices in Infants, the Primary-Prophylaxis Debate and Hypersplenism</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45720" rIns="45720" tIns="27432" bIns="27432" anchor="t">
            <a:spAutoFit/>
          </a:bodyPr>
          <a:lstStyle/>
          <a:p>
            <a:pPr algn="ctr"/>
            <a:r>
              <a:rPr sz="1100" b="0" i="0">
                <a:solidFill>
                  <a:srgbClr val="D5DDE8"/>
                </a:solidFill>
                <a:latin typeface="Abadi"/>
              </a:rPr>
              <a:t>Shneider 2012 (ChiLDReN) · Duché 2010, 2013, 2017 · Gana 2010, 2011 · Chongsrisawat 2011 · Shneider 2016 (Baveno VI Paediatric) · Colli 2017 · Cifuentes 2021 (Cochrane) · Bass 2022 (ChiLDReN) · de Franchis 2022 (Baveno VII) · Kaplan 2024 (AASLD) · Okubo 2025 · Ackermann 2026 · APSPGHAN 2026</a:t>
            </a:r>
          </a:p>
        </p:txBody>
      </p:sp>
      <p:sp>
        <p:nvSpPr>
          <p:cNvPr id="7" name="TextBox 6"/>
          <p:cNvSpPr txBox="1"/>
          <p:nvPr/>
        </p:nvSpPr>
        <p:spPr>
          <a:xfrm>
            <a:off x="548640" y="5193792"/>
            <a:ext cx="11082528" cy="548640"/>
          </a:xfrm>
          <a:prstGeom prst="rect">
            <a:avLst/>
          </a:prstGeom>
          <a:noFill/>
        </p:spPr>
        <p:txBody>
          <a:bodyPr wrap="square" lIns="45720" rIns="45720" tIns="27432" bIns="27432" anchor="t">
            <a:spAutoFit/>
          </a:bodyPr>
          <a:lstStyle/>
          <a:p>
            <a:pPr algn="ctr"/>
            <a:r>
              <a:rPr sz="1100" b="0" i="1">
                <a:solidFill>
                  <a:srgbClr val="D5DDE8"/>
                </a:solidFill>
                <a:latin typeface="Abadi"/>
              </a:rPr>
              <a:t>half of native-liver survivors have portal hypertension · the first bleed is uncommon and rarely fatal · infants with high-risk varices often have normal platelets · no paediatric trial settles primary prophylaxis · bleeding is a transplant signal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SPLEEN AT ELEVEN MONTHS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Kasai at 48 days, jaundice cleared. At 11 months: spleen 3 cm below the costal margin, platelets 168 ×10⁹/L. Scope now? Band if varices?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Shneider BL, et al. JPGN 2012;55:567–73 · Bass LM, et al. Hepatology 2022;76:712–26 · Duché M, et al. Gastroenterology 2010;139:1952–60 · Ackermann O, et al. Gastroenterology 2026;170:188–98</a:t>
            </a:r>
          </a:p>
        </p:txBody>
      </p:sp>
      <p:sp>
        <p:nvSpPr>
          <p:cNvPr id="12" name="Rectangle 11"/>
          <p:cNvSpPr/>
          <p:nvPr/>
        </p:nvSpPr>
        <p:spPr>
          <a:xfrm>
            <a:off x="54864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Common</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Definite PHT in 49% of ChiLDReN native-liver survivors</a:t>
            </a:r>
          </a:p>
          <a:p>
            <a:pPr algn="l">
              <a:spcAft>
                <a:spcPts val="400"/>
              </a:spcAft>
            </a:pPr>
            <a:r>
              <a:rPr sz="1100" b="0" i="0">
                <a:solidFill>
                  <a:srgbClr val="1A1A1A"/>
                </a:solidFill>
                <a:latin typeface="Abadi"/>
              </a:rPr>
              <a:t>▪  Japan: 46% ever</a:t>
            </a:r>
          </a:p>
        </p:txBody>
      </p:sp>
      <p:sp>
        <p:nvSpPr>
          <p:cNvPr id="16" name="Rectangle 15"/>
          <p:cNvSpPr/>
          <p:nvPr/>
        </p:nvSpPr>
        <p:spPr>
          <a:xfrm>
            <a:off x="278770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Early</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Varices in 70% of scoped French infants</a:t>
            </a:r>
          </a:p>
          <a:p>
            <a:pPr algn="l">
              <a:spcAft>
                <a:spcPts val="400"/>
              </a:spcAft>
            </a:pPr>
            <a:r>
              <a:rPr sz="1100" b="0" i="0">
                <a:solidFill>
                  <a:srgbClr val="1A1A1A"/>
                </a:solidFill>
                <a:latin typeface="Abadi"/>
              </a:rPr>
              <a:t>▪  75% of bleeds before age 2.5 y</a:t>
            </a:r>
          </a:p>
        </p:txBody>
      </p:sp>
      <p:sp>
        <p:nvSpPr>
          <p:cNvPr id="20" name="Rectangle 19"/>
          <p:cNvSpPr/>
          <p:nvPr/>
        </p:nvSpPr>
        <p:spPr>
          <a:xfrm>
            <a:off x="502676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Rarely fatal</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5-y first-bleed incidence ~9%</a:t>
            </a:r>
          </a:p>
          <a:p>
            <a:pPr algn="l">
              <a:spcAft>
                <a:spcPts val="400"/>
              </a:spcAft>
            </a:pPr>
            <a:r>
              <a:rPr sz="1100" b="0" i="0">
                <a:solidFill>
                  <a:srgbClr val="1A1A1A"/>
                </a:solidFill>
                <a:latin typeface="Abadi"/>
              </a:rPr>
              <a:t>▪  2.5% died after a bleed</a:t>
            </a:r>
          </a:p>
        </p:txBody>
      </p:sp>
      <p:sp>
        <p:nvSpPr>
          <p:cNvPr id="24" name="Rectangle 23"/>
          <p:cNvSpPr/>
          <p:nvPr/>
        </p:nvSpPr>
        <p:spPr>
          <a:xfrm>
            <a:off x="726582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Hidden</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62% of infants &lt; 12 mo with high-risk varices had platelets ≥ 150</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Unsettled</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No paediatric RCT of beta-blockers</a:t>
            </a:r>
          </a:p>
          <a:p>
            <a:pPr algn="l">
              <a:spcAft>
                <a:spcPts val="400"/>
              </a:spcAft>
            </a:pPr>
            <a:r>
              <a:rPr sz="1100" b="0" i="0">
                <a:solidFill>
                  <a:srgbClr val="1A1A1A"/>
                </a:solidFill>
                <a:latin typeface="Abadi"/>
              </a:rPr>
              <a:t>▪  Baveno VI: no consensus</a:t>
            </a:r>
          </a:p>
        </p:txBody>
      </p:sp>
      <p:sp>
        <p:nvSpPr>
          <p:cNvPr id="32" name="TextBox 31"/>
          <p:cNvSpPr txBox="1"/>
          <p:nvPr/>
        </p:nvSpPr>
        <p:spPr>
          <a:xfrm>
            <a:off x="548640" y="4114800"/>
            <a:ext cx="11082528" cy="1600000"/>
          </a:xfrm>
          <a:prstGeom prst="rect">
            <a:avLst/>
          </a:prstGeom>
          <a:noFill/>
        </p:spPr>
        <p:txBody>
          <a:bodyPr wrap="square" lIns="45720" rIns="45720" tIns="27432" bIns="27432" anchor="t">
            <a:spAutoFit/>
          </a:bodyPr>
          <a:lstStyle/>
          <a:p>
            <a:pPr algn="l"/>
            <a:r>
              <a:rPr sz="1250" b="1" i="0">
                <a:solidFill>
                  <a:srgbClr val="1B355E"/>
                </a:solidFill>
                <a:latin typeface="Abadi"/>
              </a:rPr>
              <a:t>The main idea.   </a:t>
            </a:r>
            <a:r>
              <a:rPr sz="1250" b="0" i="0">
                <a:solidFill>
                  <a:srgbClr val="1B355E"/>
                </a:solidFill>
                <a:latin typeface="Abadi"/>
              </a:rPr>
              <a:t>Portal hypertension is the main long-term threat to a drained native liver. Varices appear early, sometimes in the first year, and in infants they can hide behind a normal platelet count. A first bleed is uncommon and rarely fatal in modern series, so the argument for prophylaxis rests on morbidity, not mortality. Experienced centres scope children with signs of portal hypertension and treat high-risk varices endoscopically when transplant is not imminent; the evidence for that is observational. A bleed is also a prognostic event: it should start a transplant conversation.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WHY A DRAINED LIVER STILL RAISES PORTAL PRESSURE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Portal hypertension in biliary atresia is sinusoidal and presinusoidal, driven by ongoing biliary fibrosis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Shneider BL, et al. Hepatology 2016;63:1368–80 · Okubo R, Nio M, et al. Pediatr Surg Int 2025;41:324 · de Franchis R, et al. J Hepatol 2022;76:959–74</a:t>
            </a:r>
          </a:p>
        </p:txBody>
      </p:sp>
      <p:sp>
        <p:nvSpPr>
          <p:cNvPr id="12" name="Rectangle 11"/>
          <p:cNvSpPr/>
          <p:nvPr/>
        </p:nvSpPr>
        <p:spPr>
          <a:xfrm>
            <a:off x="548640" y="1773936"/>
            <a:ext cx="2011680"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Biliary fibrosis</a:t>
            </a:r>
          </a:p>
        </p:txBody>
      </p:sp>
      <p:sp>
        <p:nvSpPr>
          <p:cNvPr id="15" name="TextBox 14"/>
          <p:cNvSpPr txBox="1"/>
          <p:nvPr/>
        </p:nvSpPr>
        <p:spPr>
          <a:xfrm>
            <a:off x="658368"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Intrahepatic cholangiopathy and cholangitis continue after the Kasai, even in anicteric children.</a:t>
            </a:r>
          </a:p>
        </p:txBody>
      </p:sp>
      <p:sp>
        <p:nvSpPr>
          <p:cNvPr id="16" name="TextBox 15"/>
          <p:cNvSpPr txBox="1"/>
          <p:nvPr/>
        </p:nvSpPr>
        <p:spPr>
          <a:xfrm>
            <a:off x="2560320"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7830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Resistance</a:t>
            </a:r>
          </a:p>
        </p:txBody>
      </p:sp>
      <p:sp>
        <p:nvSpPr>
          <p:cNvPr id="20" name="TextBox 19"/>
          <p:cNvSpPr txBox="1"/>
          <p:nvPr/>
        </p:nvSpPr>
        <p:spPr>
          <a:xfrm>
            <a:off x="2926080"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Portal-tract fibrosis and regenerative nodules raise intrahepatic resistance; splanchnic inflow rises.</a:t>
            </a:r>
          </a:p>
        </p:txBody>
      </p:sp>
      <p:sp>
        <p:nvSpPr>
          <p:cNvPr id="21" name="TextBox 20"/>
          <p:cNvSpPr txBox="1"/>
          <p:nvPr/>
        </p:nvSpPr>
        <p:spPr>
          <a:xfrm>
            <a:off x="4828032"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783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Spleen</a:t>
            </a:r>
          </a:p>
        </p:txBody>
      </p:sp>
      <p:sp>
        <p:nvSpPr>
          <p:cNvPr id="25" name="TextBox 24"/>
          <p:cNvSpPr txBox="1"/>
          <p:nvPr/>
        </p:nvSpPr>
        <p:spPr>
          <a:xfrm>
            <a:off x="5193792"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Congestive splenomegaly sequesters platelets and white cells: hypersplenism.</a:t>
            </a:r>
          </a:p>
        </p:txBody>
      </p:sp>
      <p:sp>
        <p:nvSpPr>
          <p:cNvPr id="26" name="TextBox 25"/>
          <p:cNvSpPr txBox="1"/>
          <p:nvPr/>
        </p:nvSpPr>
        <p:spPr>
          <a:xfrm>
            <a:off x="7095744"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783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Collaterals</a:t>
            </a:r>
          </a:p>
        </p:txBody>
      </p:sp>
      <p:sp>
        <p:nvSpPr>
          <p:cNvPr id="30" name="TextBox 29"/>
          <p:cNvSpPr txBox="1"/>
          <p:nvPr/>
        </p:nvSpPr>
        <p:spPr>
          <a:xfrm>
            <a:off x="7461504"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Oesophageal and gastric varices, and varices at the Roux loop, decompress the portal bed.</a:t>
            </a:r>
          </a:p>
        </p:txBody>
      </p:sp>
      <p:sp>
        <p:nvSpPr>
          <p:cNvPr id="31" name="TextBox 30"/>
          <p:cNvSpPr txBox="1"/>
          <p:nvPr/>
        </p:nvSpPr>
        <p:spPr>
          <a:xfrm>
            <a:off x="9363456"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7830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Events</a:t>
            </a:r>
          </a:p>
        </p:txBody>
      </p:sp>
      <p:sp>
        <p:nvSpPr>
          <p:cNvPr id="35" name="TextBox 34"/>
          <p:cNvSpPr txBox="1"/>
          <p:nvPr/>
        </p:nvSpPr>
        <p:spPr>
          <a:xfrm>
            <a:off x="9729216" y="2231136"/>
            <a:ext cx="1792224" cy="1263080"/>
          </a:xfrm>
          <a:prstGeom prst="rect">
            <a:avLst/>
          </a:prstGeom>
          <a:noFill/>
        </p:spPr>
        <p:txBody>
          <a:bodyPr wrap="square" lIns="45720" rIns="45720" tIns="27432" bIns="27432" anchor="t">
            <a:spAutoFit/>
          </a:bodyPr>
          <a:lstStyle/>
          <a:p>
            <a:pPr algn="l"/>
            <a:r>
              <a:rPr sz="1100" b="0" i="0">
                <a:solidFill>
                  <a:srgbClr val="1A1A1A"/>
                </a:solidFill>
                <a:latin typeface="Abadi"/>
              </a:rPr>
              <a:t>Variceal bleeding, ascites, HPS or POPH; each worsens native-liver prognosis.</a:t>
            </a:r>
          </a:p>
        </p:txBody>
      </p:sp>
      <p:sp>
        <p:nvSpPr>
          <p:cNvPr id="36" name="TextBox 35"/>
          <p:cNvSpPr txBox="1"/>
          <p:nvPr/>
        </p:nvSpPr>
        <p:spPr>
          <a:xfrm>
            <a:off x="548640" y="3840480"/>
            <a:ext cx="11082528" cy="1700000"/>
          </a:xfrm>
          <a:prstGeom prst="rect">
            <a:avLst/>
          </a:prstGeom>
          <a:noFill/>
        </p:spPr>
        <p:txBody>
          <a:bodyPr wrap="square" lIns="45720" rIns="45720" tIns="27432" bIns="27432" anchor="t">
            <a:spAutoFit/>
          </a:bodyPr>
          <a:lstStyle/>
          <a:p>
            <a:pPr algn="l"/>
            <a:r>
              <a:rPr sz="1250" b="1" i="0">
                <a:solidFill>
                  <a:srgbClr val="1B355E"/>
                </a:solidFill>
                <a:latin typeface="Abadi"/>
              </a:rPr>
              <a:t>Two features unique to infants.   </a:t>
            </a:r>
            <a:r>
              <a:rPr sz="1250" b="0" i="0">
                <a:solidFill>
                  <a:srgbClr val="1B355E"/>
                </a:solidFill>
                <a:latin typeface="Abadi"/>
              </a:rPr>
              <a:t>First, the timing: fibrosis is often advanced at the time of the Kasai, so portal hypertension can be established within months, when the child weighs under 10 kg and the oesophagus is small. Second, the markers: an infant's spleen is small and platelet counts are physiologically high, so the classic adult proxies for portal hypertension, a platelet count below 150 and a palpable spleen, appear late. Pressure cannot be measured routinely in children; there is no paediatric equivalent of the hepatic venous pressure gradient in daily 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DEFINITIONS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WHAT WE MEAN BY PORTAL HYPERTENSION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Clinical definitions replace pressure measurement in children; endoscopic risk grading drives treatment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Shneider 2012 (ChiLDReN definition) · Duché M, et al. J Hepatol 2017;66:320–7 · Ackermann 2026 · Kaplan DE, et al. Hepatology 2024;79:1180–211</a:t>
            </a:r>
          </a:p>
        </p:txBody>
      </p:sp>
      <p:graphicFrame>
        <p:nvGraphicFramePr>
          <p:cNvPr id="12" name="Table 11"/>
          <p:cNvGraphicFramePr>
            <a:graphicFrameLocks noGrp="1"/>
          </p:cNvGraphicFramePr>
          <p:nvPr/>
        </p:nvGraphicFramePr>
        <p:xfrm>
          <a:off x="548640" y="1783080"/>
          <a:ext cx="11082528" cy="2900000"/>
        </p:xfrm>
        <a:graphic>
          <a:graphicData uri="http://schemas.openxmlformats.org/drawingml/2006/table">
            <a:tbl>
              <a:tblPr firstRow="1" bandRow="1">
                <a:tableStyleId>{5C22544A-7EE6-4342-B048-85BDC9FD1C3A}</a:tableStyleId>
              </a:tblPr>
              <a:tblGrid>
                <a:gridCol w="1847088"/>
                <a:gridCol w="4617720"/>
                <a:gridCol w="1847088"/>
                <a:gridCol w="2770632"/>
              </a:tblGrid>
              <a:tr h="380000">
                <a:tc>
                  <a:txBody>
                    <a:bodyPr wrap="square"/>
                    <a:lstStyle/>
                    <a:p>
                      <a:r>
                        <a:rPr sz="1000" b="1" i="0">
                          <a:solidFill>
                            <a:srgbClr val="FFFFFF"/>
                          </a:solidFill>
                          <a:latin typeface="Abadi"/>
                        </a:rPr>
                        <a:t>Term</a:t>
                      </a:r>
                    </a:p>
                  </a:txBody>
                  <a:tcPr marL="64008" marR="64008" marT="27432" marB="27432" anchor="ctr">
                    <a:solidFill>
                      <a:srgbClr val="1B355E"/>
                    </a:solidFill>
                  </a:tcPr>
                </a:tc>
                <a:tc>
                  <a:txBody>
                    <a:bodyPr wrap="square"/>
                    <a:lstStyle/>
                    <a:p>
                      <a:r>
                        <a:rPr sz="1000" b="1" i="0">
                          <a:solidFill>
                            <a:srgbClr val="FFFFFF"/>
                          </a:solidFill>
                          <a:latin typeface="Abadi"/>
                        </a:rPr>
                        <a:t>Definition</a:t>
                      </a:r>
                    </a:p>
                  </a:txBody>
                  <a:tcPr marL="64008" marR="64008" marT="27432" marB="27432" anchor="ctr">
                    <a:solidFill>
                      <a:srgbClr val="1B355E"/>
                    </a:solidFill>
                  </a:tcPr>
                </a:tc>
                <a:tc>
                  <a:txBody>
                    <a:bodyPr wrap="square"/>
                    <a:lstStyle/>
                    <a:p>
                      <a:r>
                        <a:rPr sz="1000" b="1" i="0">
                          <a:solidFill>
                            <a:srgbClr val="FFFFFF"/>
                          </a:solidFill>
                          <a:latin typeface="Abadi"/>
                        </a:rPr>
                        <a:t>Source</a:t>
                      </a:r>
                    </a:p>
                  </a:txBody>
                  <a:tcPr marL="64008" marR="64008" marT="27432" marB="27432" anchor="ctr">
                    <a:solidFill>
                      <a:srgbClr val="1B355E"/>
                    </a:solidFill>
                  </a:tcPr>
                </a:tc>
                <a:tc>
                  <a:txBody>
                    <a:bodyPr wrap="square"/>
                    <a:lstStyle/>
                    <a:p>
                      <a:r>
                        <a:rPr sz="1000" b="1" i="0">
                          <a:solidFill>
                            <a:srgbClr val="FFFFFF"/>
                          </a:solidFill>
                          <a:latin typeface="Abadi"/>
                        </a:rPr>
                        <a:t>Comment</a:t>
                      </a:r>
                    </a:p>
                  </a:txBody>
                  <a:tcPr marL="64008" marR="64008" marT="27432" marB="27432" anchor="ctr">
                    <a:solidFill>
                      <a:srgbClr val="1B355E"/>
                    </a:solidFill>
                  </a:tcPr>
                </a:tc>
              </a:tr>
              <a:tr h="420000">
                <a:tc>
                  <a:txBody>
                    <a:bodyPr wrap="square"/>
                    <a:lstStyle/>
                    <a:p>
                      <a:r>
                        <a:rPr sz="1000" b="1" i="0">
                          <a:solidFill>
                            <a:srgbClr val="1A1A1A"/>
                          </a:solidFill>
                          <a:latin typeface="Abadi"/>
                        </a:rPr>
                        <a:t>Definite PHT</a:t>
                      </a:r>
                    </a:p>
                  </a:txBody>
                  <a:tcPr marL="64008" marR="64008" marT="27432" marB="27432" anchor="ctr">
                    <a:solidFill>
                      <a:srgbClr val="FFFFFF"/>
                    </a:solidFill>
                  </a:tcPr>
                </a:tc>
                <a:tc>
                  <a:txBody>
                    <a:bodyPr wrap="square"/>
                    <a:lstStyle/>
                    <a:p>
                      <a:r>
                        <a:rPr sz="1000" b="0" i="0">
                          <a:solidFill>
                            <a:srgbClr val="1A1A1A"/>
                          </a:solidFill>
                          <a:latin typeface="Abadi"/>
                        </a:rPr>
                        <a:t>Past PHT complication, OR spleen &gt; 2 cm below costal margin plus platelets &lt; 150 ×10⁹/L</a:t>
                      </a:r>
                    </a:p>
                  </a:txBody>
                  <a:tcPr marL="64008" marR="64008" marT="27432" marB="27432" anchor="ctr">
                    <a:solidFill>
                      <a:srgbClr val="FFFFFF"/>
                    </a:solidFill>
                  </a:tcPr>
                </a:tc>
                <a:tc>
                  <a:txBody>
                    <a:bodyPr wrap="square"/>
                    <a:lstStyle/>
                    <a:p>
                      <a:r>
                        <a:rPr sz="1000" b="0" i="0">
                          <a:solidFill>
                            <a:srgbClr val="1A1A1A"/>
                          </a:solidFill>
                          <a:latin typeface="Abadi"/>
                        </a:rPr>
                        <a:t>ChiLDReN 2012</a:t>
                      </a:r>
                    </a:p>
                  </a:txBody>
                  <a:tcPr marL="64008" marR="64008" marT="27432" marB="27432" anchor="ctr">
                    <a:solidFill>
                      <a:srgbClr val="FFFFFF"/>
                    </a:solidFill>
                  </a:tcPr>
                </a:tc>
                <a:tc>
                  <a:txBody>
                    <a:bodyPr wrap="square"/>
                    <a:lstStyle/>
                    <a:p>
                      <a:r>
                        <a:rPr sz="1000" b="0" i="0">
                          <a:solidFill>
                            <a:srgbClr val="1A1A1A"/>
                          </a:solidFill>
                          <a:latin typeface="Abadi"/>
                        </a:rPr>
                        <a:t>Research definition; insensitive in infants</a:t>
                      </a:r>
                    </a:p>
                  </a:txBody>
                  <a:tcPr marL="64008" marR="64008" marT="27432" marB="27432" anchor="ctr">
                    <a:solidFill>
                      <a:srgbClr val="FFFFFF"/>
                    </a:solidFill>
                  </a:tcPr>
                </a:tc>
              </a:tr>
              <a:tr h="420000">
                <a:tc>
                  <a:txBody>
                    <a:bodyPr wrap="square"/>
                    <a:lstStyle/>
                    <a:p>
                      <a:r>
                        <a:rPr sz="1000" b="1" i="0">
                          <a:solidFill>
                            <a:srgbClr val="1A1A1A"/>
                          </a:solidFill>
                          <a:latin typeface="Abadi"/>
                        </a:rPr>
                        <a:t>Possible PHT</a:t>
                      </a:r>
                    </a:p>
                  </a:txBody>
                  <a:tcPr marL="64008" marR="64008" marT="27432" marB="27432" anchor="ctr">
                    <a:solidFill>
                      <a:srgbClr val="F3F5F8"/>
                    </a:solidFill>
                  </a:tcPr>
                </a:tc>
                <a:tc>
                  <a:txBody>
                    <a:bodyPr wrap="square"/>
                    <a:lstStyle/>
                    <a:p>
                      <a:r>
                        <a:rPr sz="1000" b="0" i="0">
                          <a:solidFill>
                            <a:srgbClr val="1A1A1A"/>
                          </a:solidFill>
                          <a:latin typeface="Abadi"/>
                        </a:rPr>
                        <a:t>Only one of splenomegaly or thrombocytopenia</a:t>
                      </a:r>
                    </a:p>
                  </a:txBody>
                  <a:tcPr marL="64008" marR="64008" marT="27432" marB="27432" anchor="ctr">
                    <a:solidFill>
                      <a:srgbClr val="F3F5F8"/>
                    </a:solidFill>
                  </a:tcPr>
                </a:tc>
                <a:tc>
                  <a:txBody>
                    <a:bodyPr wrap="square"/>
                    <a:lstStyle/>
                    <a:p>
                      <a:r>
                        <a:rPr sz="1000" b="0" i="0">
                          <a:solidFill>
                            <a:srgbClr val="1A1A1A"/>
                          </a:solidFill>
                          <a:latin typeface="Abadi"/>
                        </a:rPr>
                        <a:t>ChiLDReN 2012</a:t>
                      </a:r>
                    </a:p>
                  </a:txBody>
                  <a:tcPr marL="64008" marR="64008" marT="27432" marB="27432" anchor="ctr">
                    <a:solidFill>
                      <a:srgbClr val="F3F5F8"/>
                    </a:solidFill>
                  </a:tcPr>
                </a:tc>
                <a:tc>
                  <a:txBody>
                    <a:bodyPr wrap="square"/>
                    <a:lstStyle/>
                    <a:p>
                      <a:r>
                        <a:rPr sz="1000" b="0" i="0">
                          <a:solidFill>
                            <a:srgbClr val="1A1A1A"/>
                          </a:solidFill>
                          <a:latin typeface="Abadi"/>
                        </a:rPr>
                        <a:t>17% of native-liver survivors</a:t>
                      </a:r>
                    </a:p>
                  </a:txBody>
                  <a:tcPr marL="64008" marR="64008" marT="27432" marB="27432" anchor="ctr">
                    <a:solidFill>
                      <a:srgbClr val="F3F5F8"/>
                    </a:solidFill>
                  </a:tcPr>
                </a:tc>
              </a:tr>
              <a:tr h="420000">
                <a:tc>
                  <a:txBody>
                    <a:bodyPr wrap="square"/>
                    <a:lstStyle/>
                    <a:p>
                      <a:r>
                        <a:rPr sz="1000" b="1" i="0">
                          <a:solidFill>
                            <a:srgbClr val="1A1A1A"/>
                          </a:solidFill>
                          <a:latin typeface="Abadi"/>
                        </a:rPr>
                        <a:t>High-risk varices</a:t>
                      </a:r>
                    </a:p>
                  </a:txBody>
                  <a:tcPr marL="64008" marR="64008" marT="27432" marB="27432" anchor="ctr">
                    <a:solidFill>
                      <a:srgbClr val="FFFFFF"/>
                    </a:solidFill>
                  </a:tcPr>
                </a:tc>
                <a:tc>
                  <a:txBody>
                    <a:bodyPr wrap="square"/>
                    <a:lstStyle/>
                    <a:p>
                      <a:r>
                        <a:rPr sz="1000" b="0" i="0">
                          <a:solidFill>
                            <a:srgbClr val="1A1A1A"/>
                          </a:solidFill>
                          <a:latin typeface="Abadi"/>
                        </a:rPr>
                        <a:t>Grade 3 oesophageal varices; or grade 2 with red signs; and/or gastric varices along the cardia</a:t>
                      </a:r>
                    </a:p>
                  </a:txBody>
                  <a:tcPr marL="64008" marR="64008" marT="27432" marB="27432" anchor="ctr">
                    <a:solidFill>
                      <a:srgbClr val="FFFFFF"/>
                    </a:solidFill>
                  </a:tcPr>
                </a:tc>
                <a:tc>
                  <a:txBody>
                    <a:bodyPr wrap="square"/>
                    <a:lstStyle/>
                    <a:p>
                      <a:r>
                        <a:rPr sz="1000" b="0" i="0">
                          <a:solidFill>
                            <a:srgbClr val="1A1A1A"/>
                          </a:solidFill>
                          <a:latin typeface="Abadi"/>
                        </a:rPr>
                        <a:t>Duché 2017</a:t>
                      </a:r>
                    </a:p>
                  </a:txBody>
                  <a:tcPr marL="64008" marR="64008" marT="27432" marB="27432" anchor="ctr">
                    <a:solidFill>
                      <a:srgbClr val="FFFFFF"/>
                    </a:solidFill>
                  </a:tcPr>
                </a:tc>
                <a:tc>
                  <a:txBody>
                    <a:bodyPr wrap="square"/>
                    <a:lstStyle/>
                    <a:p>
                      <a:r>
                        <a:rPr sz="1000" b="0" i="0">
                          <a:solidFill>
                            <a:srgbClr val="1A1A1A"/>
                          </a:solidFill>
                          <a:latin typeface="Abadi"/>
                        </a:rPr>
                        <a:t>Present in 96% of children who bled</a:t>
                      </a:r>
                    </a:p>
                  </a:txBody>
                  <a:tcPr marL="64008" marR="64008" marT="27432" marB="27432" anchor="ctr">
                    <a:solidFill>
                      <a:srgbClr val="FFFFFF"/>
                    </a:solidFill>
                  </a:tcPr>
                </a:tc>
              </a:tr>
              <a:tr h="420000">
                <a:tc>
                  <a:txBody>
                    <a:bodyPr wrap="square"/>
                    <a:lstStyle/>
                    <a:p>
                      <a:r>
                        <a:rPr sz="1000" b="1" i="0">
                          <a:solidFill>
                            <a:srgbClr val="1A1A1A"/>
                          </a:solidFill>
                          <a:latin typeface="Abadi"/>
                        </a:rPr>
                        <a:t>HRV score</a:t>
                      </a:r>
                    </a:p>
                  </a:txBody>
                  <a:tcPr marL="64008" marR="64008" marT="27432" marB="27432" anchor="ctr">
                    <a:solidFill>
                      <a:srgbClr val="F3F5F8"/>
                    </a:solidFill>
                  </a:tcPr>
                </a:tc>
                <a:tc>
                  <a:txBody>
                    <a:bodyPr wrap="square"/>
                    <a:lstStyle/>
                    <a:p>
                      <a:r>
                        <a:rPr sz="1000" b="0" i="0">
                          <a:solidFill>
                            <a:srgbClr val="1A1A1A"/>
                          </a:solidFill>
                          <a:latin typeface="Abadi"/>
                        </a:rPr>
                        <a:t>Score 0–5; high-risk when 3–5</a:t>
                      </a:r>
                    </a:p>
                  </a:txBody>
                  <a:tcPr marL="64008" marR="64008" marT="27432" marB="27432" anchor="ctr">
                    <a:solidFill>
                      <a:srgbClr val="F3F5F8"/>
                    </a:solidFill>
                  </a:tcPr>
                </a:tc>
                <a:tc>
                  <a:txBody>
                    <a:bodyPr wrap="square"/>
                    <a:lstStyle/>
                    <a:p>
                      <a:r>
                        <a:rPr sz="1000" b="0" i="0">
                          <a:solidFill>
                            <a:srgbClr val="1A1A1A"/>
                          </a:solidFill>
                          <a:latin typeface="Abadi"/>
                        </a:rPr>
                        <a:t>Ackermann 2026</a:t>
                      </a:r>
                    </a:p>
                  </a:txBody>
                  <a:tcPr marL="64008" marR="64008" marT="27432" marB="27432" anchor="ctr">
                    <a:solidFill>
                      <a:srgbClr val="F3F5F8"/>
                    </a:solidFill>
                  </a:tcPr>
                </a:tc>
                <a:tc>
                  <a:txBody>
                    <a:bodyPr wrap="square"/>
                    <a:lstStyle/>
                    <a:p>
                      <a:r>
                        <a:rPr sz="1000" b="0" i="0">
                          <a:solidFill>
                            <a:srgbClr val="1A1A1A"/>
                          </a:solidFill>
                          <a:latin typeface="Abadi"/>
                        </a:rPr>
                        <a:t>Refines the Paris criteria</a:t>
                      </a:r>
                    </a:p>
                  </a:txBody>
                  <a:tcPr marL="64008" marR="64008" marT="27432" marB="27432" anchor="ctr">
                    <a:solidFill>
                      <a:srgbClr val="F3F5F8"/>
                    </a:solidFill>
                  </a:tcPr>
                </a:tc>
              </a:tr>
              <a:tr h="420000">
                <a:tc>
                  <a:txBody>
                    <a:bodyPr wrap="square"/>
                    <a:lstStyle/>
                    <a:p>
                      <a:r>
                        <a:rPr sz="1000" b="1" i="0">
                          <a:solidFill>
                            <a:srgbClr val="1A1A1A"/>
                          </a:solidFill>
                          <a:latin typeface="Abadi"/>
                        </a:rPr>
                        <a:t>Hypersplenism</a:t>
                      </a:r>
                    </a:p>
                  </a:txBody>
                  <a:tcPr marL="64008" marR="64008" marT="27432" marB="27432" anchor="ctr">
                    <a:solidFill>
                      <a:srgbClr val="FFFFFF"/>
                    </a:solidFill>
                  </a:tcPr>
                </a:tc>
                <a:tc>
                  <a:txBody>
                    <a:bodyPr wrap="square"/>
                    <a:lstStyle/>
                    <a:p>
                      <a:r>
                        <a:rPr sz="1000" b="0" i="0">
                          <a:solidFill>
                            <a:srgbClr val="1A1A1A"/>
                          </a:solidFill>
                          <a:latin typeface="Abadi"/>
                        </a:rPr>
                        <a:t>Splenomegaly with thrombocytopenia (± leukopenia)</a:t>
                      </a:r>
                    </a:p>
                  </a:txBody>
                  <a:tcPr marL="64008" marR="64008" marT="27432" marB="27432" anchor="ctr">
                    <a:solidFill>
                      <a:srgbClr val="FFFFFF"/>
                    </a:solidFill>
                  </a:tcPr>
                </a:tc>
                <a:tc>
                  <a:txBody>
                    <a:bodyPr wrap="square"/>
                    <a:lstStyle/>
                    <a:p>
                      <a:r>
                        <a:rPr sz="1000" b="0" i="0">
                          <a:solidFill>
                            <a:srgbClr val="1A1A1A"/>
                          </a:solidFill>
                          <a:latin typeface="Abadi"/>
                        </a:rPr>
                        <a:t>Okubo 2025</a:t>
                      </a:r>
                    </a:p>
                  </a:txBody>
                  <a:tcPr marL="64008" marR="64008" marT="27432" marB="27432" anchor="ctr">
                    <a:solidFill>
                      <a:srgbClr val="FFFFFF"/>
                    </a:solidFill>
                  </a:tcPr>
                </a:tc>
                <a:tc>
                  <a:txBody>
                    <a:bodyPr wrap="square"/>
                    <a:lstStyle/>
                    <a:p>
                      <a:r>
                        <a:rPr sz="1000" b="0" i="0">
                          <a:solidFill>
                            <a:srgbClr val="1A1A1A"/>
                          </a:solidFill>
                          <a:latin typeface="Abadi"/>
                        </a:rPr>
                        <a:t>36.8% in the Japanese registry</a:t>
                      </a:r>
                    </a:p>
                  </a:txBody>
                  <a:tcPr marL="64008" marR="64008" marT="27432" marB="27432" anchor="ctr">
                    <a:solidFill>
                      <a:srgbClr val="FFFFFF"/>
                    </a:solidFill>
                  </a:tcPr>
                </a:tc>
              </a:tr>
              <a:tr h="420000">
                <a:tc>
                  <a:txBody>
                    <a:bodyPr wrap="square"/>
                    <a:lstStyle/>
                    <a:p>
                      <a:r>
                        <a:rPr sz="1000" b="1" i="0">
                          <a:solidFill>
                            <a:srgbClr val="1A1A1A"/>
                          </a:solidFill>
                          <a:latin typeface="Abadi"/>
                        </a:rPr>
                        <a:t>CSPH (adults)</a:t>
                      </a:r>
                    </a:p>
                  </a:txBody>
                  <a:tcPr marL="64008" marR="64008" marT="27432" marB="27432" anchor="ctr">
                    <a:solidFill>
                      <a:srgbClr val="F3F5F8"/>
                    </a:solidFill>
                  </a:tcPr>
                </a:tc>
                <a:tc>
                  <a:txBody>
                    <a:bodyPr wrap="square"/>
                    <a:lstStyle/>
                    <a:p>
                      <a:r>
                        <a:rPr sz="1000" b="0" i="0">
                          <a:solidFill>
                            <a:srgbClr val="1A1A1A"/>
                          </a:solidFill>
                          <a:latin typeface="Abadi"/>
                        </a:rPr>
                        <a:t>HVPG ≥ 10 mmHg, or LSM ≥ 25 kPa</a:t>
                      </a:r>
                    </a:p>
                  </a:txBody>
                  <a:tcPr marL="64008" marR="64008" marT="27432" marB="27432" anchor="ctr">
                    <a:solidFill>
                      <a:srgbClr val="F3F5F8"/>
                    </a:solidFill>
                  </a:tcPr>
                </a:tc>
                <a:tc>
                  <a:txBody>
                    <a:bodyPr wrap="square"/>
                    <a:lstStyle/>
                    <a:p>
                      <a:r>
                        <a:rPr sz="1000" b="0" i="0">
                          <a:solidFill>
                            <a:srgbClr val="1A1A1A"/>
                          </a:solidFill>
                          <a:latin typeface="Abadi"/>
                        </a:rPr>
                        <a:t>Baveno VII · AASLD 2024</a:t>
                      </a:r>
                    </a:p>
                  </a:txBody>
                  <a:tcPr marL="64008" marR="64008" marT="27432" marB="27432" anchor="ctr">
                    <a:solidFill>
                      <a:srgbClr val="F3F5F8"/>
                    </a:solidFill>
                  </a:tcPr>
                </a:tc>
                <a:tc>
                  <a:txBody>
                    <a:bodyPr wrap="square"/>
                    <a:lstStyle/>
                    <a:p>
                      <a:r>
                        <a:rPr sz="1000" b="0" i="0">
                          <a:solidFill>
                            <a:srgbClr val="1A1A1A"/>
                          </a:solidFill>
                          <a:latin typeface="Abadi"/>
                        </a:rPr>
                        <a:t>Not validated in children</a:t>
                      </a:r>
                    </a:p>
                  </a:txBody>
                  <a:tcPr marL="64008" marR="64008" marT="27432" marB="27432" anchor="ctr">
                    <a:solidFill>
                      <a:srgbClr val="F3F5F8"/>
                    </a:solidFill>
                  </a:tcPr>
                </a:tc>
              </a:tr>
            </a:tbl>
          </a:graphicData>
        </a:graphic>
      </p:graphicFrame>
      <p:sp>
        <p:nvSpPr>
          <p:cNvPr id="13" name="TextBox 12"/>
          <p:cNvSpPr txBox="1"/>
          <p:nvPr/>
        </p:nvSpPr>
        <p:spPr>
          <a:xfrm>
            <a:off x="548640" y="4846320"/>
            <a:ext cx="11082528" cy="900000"/>
          </a:xfrm>
          <a:prstGeom prst="rect">
            <a:avLst/>
          </a:prstGeom>
          <a:noFill/>
        </p:spPr>
        <p:txBody>
          <a:bodyPr wrap="square" lIns="45720" rIns="45720" tIns="27432" bIns="27432" anchor="t">
            <a:spAutoFit/>
          </a:bodyPr>
          <a:lstStyle/>
          <a:p>
            <a:pPr algn="l"/>
            <a:r>
              <a:rPr sz="1250" b="1" i="0">
                <a:solidFill>
                  <a:srgbClr val="1B355E"/>
                </a:solidFill>
                <a:latin typeface="Abadi"/>
              </a:rPr>
              <a:t>Practical point.   </a:t>
            </a:r>
            <a:r>
              <a:rPr sz="1250" b="0" i="0">
                <a:solidFill>
                  <a:srgbClr val="1B355E"/>
                </a:solidFill>
                <a:latin typeface="Abadi"/>
              </a:rPr>
              <a:t>When you read a paediatric series, check whether 'portal hypertension' means a clinical sign, an endoscopic finding or an event. The three are not interchangeable, and they give very different prevalences.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HOW COMMON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HALF OF NATIVE-LIVER SURVIVORS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Prevalence of portal hypertension and its features in two large cohorts,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Shneider BL, et al. JPGN 2012;55:567–73 (n = 163, mean age 9.2 y) · Okubo R, Nio M, et al. Pediatr Surg Int 2025;41:324 (n = 3,777, 1989–2021)</a:t>
            </a:r>
          </a:p>
        </p:txBody>
      </p:sp>
      <p:sp>
        <p:nvSpPr>
          <p:cNvPr id="12" name="TextBox 11"/>
          <p:cNvSpPr txBox="1"/>
          <p:nvPr/>
        </p:nvSpPr>
        <p:spPr>
          <a:xfrm>
            <a:off x="548640" y="181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ChiLDReN · definite PHT</a:t>
            </a:r>
          </a:p>
        </p:txBody>
      </p:sp>
      <p:sp>
        <p:nvSpPr>
          <p:cNvPr id="13" name="Rectangle 12"/>
          <p:cNvSpPr/>
          <p:nvPr/>
        </p:nvSpPr>
        <p:spPr>
          <a:xfrm>
            <a:off x="3931920" y="1833612"/>
            <a:ext cx="3136392" cy="283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14032" y="181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49%</a:t>
            </a:r>
          </a:p>
        </p:txBody>
      </p:sp>
      <p:sp>
        <p:nvSpPr>
          <p:cNvPr id="15" name="TextBox 14"/>
          <p:cNvSpPr txBox="1"/>
          <p:nvPr/>
        </p:nvSpPr>
        <p:spPr>
          <a:xfrm>
            <a:off x="548640" y="214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ChiLDReN · possible PHT</a:t>
            </a:r>
          </a:p>
        </p:txBody>
      </p:sp>
      <p:sp>
        <p:nvSpPr>
          <p:cNvPr id="16" name="Rectangle 15"/>
          <p:cNvSpPr/>
          <p:nvPr/>
        </p:nvSpPr>
        <p:spPr>
          <a:xfrm>
            <a:off x="3931920" y="2163612"/>
            <a:ext cx="1088136" cy="28380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65776" y="214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17%</a:t>
            </a:r>
          </a:p>
        </p:txBody>
      </p:sp>
      <p:sp>
        <p:nvSpPr>
          <p:cNvPr id="18" name="TextBox 17"/>
          <p:cNvSpPr txBox="1"/>
          <p:nvPr/>
        </p:nvSpPr>
        <p:spPr>
          <a:xfrm>
            <a:off x="548640" y="247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ChiLDReN · no PHT</a:t>
            </a:r>
          </a:p>
        </p:txBody>
      </p:sp>
      <p:sp>
        <p:nvSpPr>
          <p:cNvPr id="19" name="Rectangle 18"/>
          <p:cNvSpPr/>
          <p:nvPr/>
        </p:nvSpPr>
        <p:spPr>
          <a:xfrm>
            <a:off x="3931920" y="2493612"/>
            <a:ext cx="2176272" cy="2838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53912" y="247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34%</a:t>
            </a:r>
          </a:p>
        </p:txBody>
      </p:sp>
      <p:sp>
        <p:nvSpPr>
          <p:cNvPr id="21" name="TextBox 20"/>
          <p:cNvSpPr txBox="1"/>
          <p:nvPr/>
        </p:nvSpPr>
        <p:spPr>
          <a:xfrm>
            <a:off x="548640" y="280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ChiLDReN · variceal bleed ever</a:t>
            </a:r>
          </a:p>
        </p:txBody>
      </p:sp>
      <p:sp>
        <p:nvSpPr>
          <p:cNvPr id="22" name="Rectangle 21"/>
          <p:cNvSpPr/>
          <p:nvPr/>
        </p:nvSpPr>
        <p:spPr>
          <a:xfrm>
            <a:off x="3931920" y="2823612"/>
            <a:ext cx="1280160" cy="283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280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20%</a:t>
            </a:r>
          </a:p>
        </p:txBody>
      </p:sp>
      <p:sp>
        <p:nvSpPr>
          <p:cNvPr id="24" name="TextBox 23"/>
          <p:cNvSpPr txBox="1"/>
          <p:nvPr/>
        </p:nvSpPr>
        <p:spPr>
          <a:xfrm>
            <a:off x="548640" y="313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Japan · portal hypertension</a:t>
            </a:r>
          </a:p>
        </p:txBody>
      </p:sp>
      <p:sp>
        <p:nvSpPr>
          <p:cNvPr id="25" name="Rectangle 24"/>
          <p:cNvSpPr/>
          <p:nvPr/>
        </p:nvSpPr>
        <p:spPr>
          <a:xfrm>
            <a:off x="3931920" y="3153612"/>
            <a:ext cx="2969971" cy="283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7611" y="313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46.4%</a:t>
            </a:r>
          </a:p>
        </p:txBody>
      </p:sp>
      <p:sp>
        <p:nvSpPr>
          <p:cNvPr id="27" name="TextBox 26"/>
          <p:cNvSpPr txBox="1"/>
          <p:nvPr/>
        </p:nvSpPr>
        <p:spPr>
          <a:xfrm>
            <a:off x="548640" y="346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Japan · hypersplenism</a:t>
            </a:r>
          </a:p>
        </p:txBody>
      </p:sp>
      <p:sp>
        <p:nvSpPr>
          <p:cNvPr id="28" name="Rectangle 27"/>
          <p:cNvSpPr/>
          <p:nvPr/>
        </p:nvSpPr>
        <p:spPr>
          <a:xfrm>
            <a:off x="3931920" y="3483612"/>
            <a:ext cx="2355494" cy="283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33134" y="346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36.8%</a:t>
            </a:r>
          </a:p>
        </p:txBody>
      </p:sp>
      <p:sp>
        <p:nvSpPr>
          <p:cNvPr id="30" name="TextBox 29"/>
          <p:cNvSpPr txBox="1"/>
          <p:nvPr/>
        </p:nvSpPr>
        <p:spPr>
          <a:xfrm>
            <a:off x="548640" y="379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Japan · gastro-oesophageal varices</a:t>
            </a:r>
          </a:p>
        </p:txBody>
      </p:sp>
      <p:sp>
        <p:nvSpPr>
          <p:cNvPr id="31" name="Rectangle 30"/>
          <p:cNvSpPr/>
          <p:nvPr/>
        </p:nvSpPr>
        <p:spPr>
          <a:xfrm>
            <a:off x="3931920" y="3813612"/>
            <a:ext cx="2246680" cy="283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4320" y="379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35.1%</a:t>
            </a:r>
          </a:p>
        </p:txBody>
      </p:sp>
      <p:sp>
        <p:nvSpPr>
          <p:cNvPr id="33" name="TextBox 32"/>
          <p:cNvSpPr txBox="1"/>
          <p:nvPr/>
        </p:nvSpPr>
        <p:spPr>
          <a:xfrm>
            <a:off x="548640" y="412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Japan · varices treated</a:t>
            </a:r>
          </a:p>
        </p:txBody>
      </p:sp>
      <p:sp>
        <p:nvSpPr>
          <p:cNvPr id="34" name="Rectangle 33"/>
          <p:cNvSpPr/>
          <p:nvPr/>
        </p:nvSpPr>
        <p:spPr>
          <a:xfrm>
            <a:off x="3931920" y="4143612"/>
            <a:ext cx="928116" cy="283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5756" y="412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14.5%</a:t>
            </a:r>
          </a:p>
        </p:txBody>
      </p:sp>
      <p:sp>
        <p:nvSpPr>
          <p:cNvPr id="36" name="TextBox 35"/>
          <p:cNvSpPr txBox="1"/>
          <p:nvPr/>
        </p:nvSpPr>
        <p:spPr>
          <a:xfrm>
            <a:off x="548640" y="4450512"/>
            <a:ext cx="3291840" cy="330000"/>
          </a:xfrm>
          <a:prstGeom prst="rect">
            <a:avLst/>
          </a:prstGeom>
          <a:noFill/>
        </p:spPr>
        <p:txBody>
          <a:bodyPr wrap="square" lIns="45720" rIns="45720" tIns="27432" bIns="27432" anchor="ctr">
            <a:spAutoFit/>
          </a:bodyPr>
          <a:lstStyle/>
          <a:p>
            <a:pPr algn="l"/>
            <a:r>
              <a:rPr sz="1000" b="0" i="0">
                <a:solidFill>
                  <a:srgbClr val="1A1A1A"/>
                </a:solidFill>
                <a:latin typeface="Abadi"/>
              </a:rPr>
              <a:t>Japan · hypersplenism treated</a:t>
            </a:r>
          </a:p>
        </p:txBody>
      </p:sp>
      <p:sp>
        <p:nvSpPr>
          <p:cNvPr id="37" name="Rectangle 36"/>
          <p:cNvSpPr/>
          <p:nvPr/>
        </p:nvSpPr>
        <p:spPr>
          <a:xfrm>
            <a:off x="3931920" y="4473612"/>
            <a:ext cx="377647" cy="283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55287" y="4450512"/>
            <a:ext cx="1463040" cy="330000"/>
          </a:xfrm>
          <a:prstGeom prst="rect">
            <a:avLst/>
          </a:prstGeom>
          <a:noFill/>
        </p:spPr>
        <p:txBody>
          <a:bodyPr wrap="square" lIns="45720" rIns="45720" tIns="27432" bIns="27432" anchor="ctr">
            <a:spAutoFit/>
          </a:bodyPr>
          <a:lstStyle/>
          <a:p>
            <a:pPr algn="l"/>
            <a:r>
              <a:rPr sz="1000" b="1" i="0">
                <a:solidFill>
                  <a:srgbClr val="1A1A1A"/>
                </a:solidFill>
                <a:latin typeface="Abadi"/>
              </a:rPr>
              <a:t>5.9%</a:t>
            </a:r>
          </a:p>
        </p:txBody>
      </p:sp>
      <p:sp>
        <p:nvSpPr>
          <p:cNvPr id="39" name="TextBox 38"/>
          <p:cNvSpPr txBox="1"/>
          <p:nvPr/>
        </p:nvSpPr>
        <p:spPr>
          <a:xfrm>
            <a:off x="548640" y="482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ChiLDReN: cross-sectional, children living with their native liver. Japan: registry, ever recorded during follow-up.</a:t>
            </a:r>
          </a:p>
        </p:txBody>
      </p:sp>
      <p:sp>
        <p:nvSpPr>
          <p:cNvPr id="40" name="TextBox 39"/>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49.8%</a:t>
            </a:r>
          </a:p>
        </p:txBody>
      </p:sp>
      <p:sp>
        <p:nvSpPr>
          <p:cNvPr id="41" name="TextBox 40"/>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of Japanese 20-year native-liver survivors had PHT, mostly diagnosed in years 2–15.</a:t>
            </a:r>
          </a:p>
        </p:txBody>
      </p:sp>
      <p:sp>
        <p:nvSpPr>
          <p:cNvPr id="42" name="TextBox 41"/>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8 of 163</a:t>
            </a:r>
          </a:p>
        </p:txBody>
      </p:sp>
      <p:sp>
        <p:nvSpPr>
          <p:cNvPr id="43" name="TextBox 42"/>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ChiLDReN children were on beta-blockers.</a:t>
            </a:r>
          </a:p>
        </p:txBody>
      </p:sp>
      <p:sp>
        <p:nvSpPr>
          <p:cNvPr id="44" name="TextBox 43"/>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34%</a:t>
            </a:r>
          </a:p>
        </p:txBody>
      </p:sp>
      <p:sp>
        <p:nvSpPr>
          <p:cNvPr id="45" name="TextBox 44"/>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with definite PHT also had PT &gt; 15 s or albumin &lt; 3 g/dL.</a:t>
            </a:r>
          </a:p>
        </p:txBody>
      </p:sp>
      <p:sp>
        <p:nvSpPr>
          <p:cNvPr id="46" name="TextBox 45"/>
          <p:cNvSpPr txBox="1"/>
          <p:nvPr/>
        </p:nvSpPr>
        <p:spPr>
          <a:xfrm>
            <a:off x="548640" y="5120640"/>
            <a:ext cx="7955279" cy="56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Portal hypertension is the rule, not the exception, in long-term native-liver survivors; treatment is needed in a minority.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NATURAL HISTORY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FIRST BLEED IS UNCOMMON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ChiLDReN longitudinal cohorts, n = 869: five-year cumulative incidence of a first variceal bleed and what followed,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Bass LM, Ye W, Hawthorne K, et al. Hepatology 2022;76:712–26 (PMID 35271743)</a:t>
            </a:r>
          </a:p>
        </p:txBody>
      </p:sp>
      <p:sp>
        <p:nvSpPr>
          <p:cNvPr id="12" name="TextBox 11"/>
          <p:cNvSpPr txBox="1"/>
          <p:nvPr/>
        </p:nvSpPr>
        <p:spPr>
          <a:xfrm>
            <a:off x="548640" y="181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PROBE (from Kasai) · first bleed by 5 y</a:t>
            </a:r>
          </a:p>
        </p:txBody>
      </p:sp>
      <p:sp>
        <p:nvSpPr>
          <p:cNvPr id="13" name="Rectangle 12"/>
          <p:cNvSpPr/>
          <p:nvPr/>
        </p:nvSpPr>
        <p:spPr>
          <a:xfrm>
            <a:off x="3931920" y="1840612"/>
            <a:ext cx="401116"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8756" y="181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9.4%</a:t>
            </a:r>
          </a:p>
        </p:txBody>
      </p:sp>
      <p:sp>
        <p:nvSpPr>
          <p:cNvPr id="15" name="TextBox 14"/>
          <p:cNvSpPr txBox="1"/>
          <p:nvPr/>
        </p:nvSpPr>
        <p:spPr>
          <a:xfrm>
            <a:off x="548640" y="224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BASIC (enrolled &gt; 3 y) · first bleed by 5 y</a:t>
            </a:r>
          </a:p>
        </p:txBody>
      </p:sp>
      <p:sp>
        <p:nvSpPr>
          <p:cNvPr id="16" name="Rectangle 15"/>
          <p:cNvSpPr/>
          <p:nvPr/>
        </p:nvSpPr>
        <p:spPr>
          <a:xfrm>
            <a:off x="3931920" y="2270612"/>
            <a:ext cx="341376"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9016" y="224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8.0%</a:t>
            </a:r>
          </a:p>
        </p:txBody>
      </p:sp>
      <p:sp>
        <p:nvSpPr>
          <p:cNvPr id="18" name="TextBox 17"/>
          <p:cNvSpPr txBox="1"/>
          <p:nvPr/>
        </p:nvSpPr>
        <p:spPr>
          <a:xfrm>
            <a:off x="548640" y="267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After a bleed · died ≤ 6 weeks</a:t>
            </a:r>
          </a:p>
        </p:txBody>
      </p:sp>
      <p:sp>
        <p:nvSpPr>
          <p:cNvPr id="19" name="Rectangle 18"/>
          <p:cNvSpPr/>
          <p:nvPr/>
        </p:nvSpPr>
        <p:spPr>
          <a:xfrm>
            <a:off x="3931920" y="2700612"/>
            <a:ext cx="106680" cy="369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84320" y="267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2.5%</a:t>
            </a:r>
          </a:p>
        </p:txBody>
      </p:sp>
      <p:sp>
        <p:nvSpPr>
          <p:cNvPr id="21" name="TextBox 20"/>
          <p:cNvSpPr txBox="1"/>
          <p:nvPr/>
        </p:nvSpPr>
        <p:spPr>
          <a:xfrm>
            <a:off x="548640" y="310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After a bleed · transplanted ≤ 6 weeks</a:t>
            </a:r>
          </a:p>
        </p:txBody>
      </p:sp>
      <p:sp>
        <p:nvSpPr>
          <p:cNvPr id="22" name="Rectangle 21"/>
          <p:cNvSpPr/>
          <p:nvPr/>
        </p:nvSpPr>
        <p:spPr>
          <a:xfrm>
            <a:off x="3931920" y="3130612"/>
            <a:ext cx="533400"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11040" y="310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12.5%</a:t>
            </a:r>
          </a:p>
        </p:txBody>
      </p:sp>
      <p:sp>
        <p:nvSpPr>
          <p:cNvPr id="24" name="TextBox 23"/>
          <p:cNvSpPr txBox="1"/>
          <p:nvPr/>
        </p:nvSpPr>
        <p:spPr>
          <a:xfrm>
            <a:off x="548640" y="353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PROBE · 5-y transplant-free survival</a:t>
            </a:r>
          </a:p>
        </p:txBody>
      </p:sp>
      <p:sp>
        <p:nvSpPr>
          <p:cNvPr id="25" name="Rectangle 24"/>
          <p:cNvSpPr/>
          <p:nvPr/>
        </p:nvSpPr>
        <p:spPr>
          <a:xfrm>
            <a:off x="3931920" y="3560612"/>
            <a:ext cx="1924507" cy="3698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02147" y="353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45.1%</a:t>
            </a:r>
          </a:p>
        </p:txBody>
      </p:sp>
      <p:sp>
        <p:nvSpPr>
          <p:cNvPr id="27" name="TextBox 26"/>
          <p:cNvSpPr txBox="1"/>
          <p:nvPr/>
        </p:nvSpPr>
        <p:spPr>
          <a:xfrm>
            <a:off x="548640" y="396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BASIC · 5-y transplant-free survival</a:t>
            </a:r>
          </a:p>
        </p:txBody>
      </p:sp>
      <p:sp>
        <p:nvSpPr>
          <p:cNvPr id="28" name="Rectangle 27"/>
          <p:cNvSpPr/>
          <p:nvPr/>
        </p:nvSpPr>
        <p:spPr>
          <a:xfrm>
            <a:off x="3931920" y="3990612"/>
            <a:ext cx="3379622" cy="3698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57262" y="396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79.2%</a:t>
            </a:r>
          </a:p>
        </p:txBody>
      </p:sp>
      <p:sp>
        <p:nvSpPr>
          <p:cNvPr id="30" name="TextBox 29"/>
          <p:cNvSpPr txBox="1"/>
          <p:nvPr/>
        </p:nvSpPr>
        <p:spPr>
          <a:xfrm>
            <a:off x="548640" y="443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PROBE: 521 infants enrolled 1.5–4.5 months after the Kasai. BASIC: 348 children enrolled after age 3. Bleeds analysed: 80.</a:t>
            </a:r>
          </a:p>
        </p:txBody>
      </p:sp>
      <p:sp>
        <p:nvSpPr>
          <p:cNvPr id="31" name="TextBox 30"/>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9.4%</a:t>
            </a:r>
          </a:p>
        </p:txBody>
      </p:sp>
      <p:sp>
        <p:nvSpPr>
          <p:cNvPr id="32" name="TextBox 31"/>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First-bleed incidence by five years in the incident cohort (95% CI 7.0–12.4).</a:t>
            </a:r>
          </a:p>
        </p:txBody>
      </p:sp>
      <p:sp>
        <p:nvSpPr>
          <p:cNvPr id="33" name="TextBox 32"/>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Predictors</a:t>
            </a:r>
          </a:p>
        </p:txBody>
      </p:sp>
      <p:sp>
        <p:nvSpPr>
          <p:cNvPr id="34" name="TextBox 33"/>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Features of PHT, platelets, bilirubin, AST, albumin and APRI at baseline.</a:t>
            </a:r>
          </a:p>
        </p:txBody>
      </p:sp>
      <p:sp>
        <p:nvSpPr>
          <p:cNvPr id="35" name="TextBox 34"/>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Authors</a:t>
            </a:r>
          </a:p>
        </p:txBody>
      </p:sp>
      <p:sp>
        <p:nvSpPr>
          <p:cNvPr id="36" name="TextBox 35"/>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Low risk and low mortality should inform screening and prophylaxis decisions.</a:t>
            </a:r>
          </a:p>
        </p:txBody>
      </p:sp>
      <p:sp>
        <p:nvSpPr>
          <p:cNvPr id="37" name="TextBox 36"/>
          <p:cNvSpPr txBox="1"/>
          <p:nvPr/>
        </p:nvSpPr>
        <p:spPr>
          <a:xfrm>
            <a:off x="548640" y="5029200"/>
            <a:ext cx="7955279" cy="8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Most children never bleed, and few die when they do. That is the strongest argument against universal endoscopic surveillance.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INFANT PROBLEM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VARICES COME EARLY IN BILIARY ATRESIA</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Paris cohort, 139 children after Kasai: five-year risk of bleeding by finding at first endoscopy,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Duché M, Ducot B, Tournay E, et al. Gastroenterology 2010;139:1952–60 (PMID 20637201) · Duché M, et al. Gastroenterology 2013;145:801–7</a:t>
            </a:r>
          </a:p>
        </p:txBody>
      </p:sp>
      <p:sp>
        <p:nvSpPr>
          <p:cNvPr id="12" name="TextBox 11"/>
          <p:cNvSpPr txBox="1"/>
          <p:nvPr/>
        </p:nvSpPr>
        <p:spPr>
          <a:xfrm>
            <a:off x="548640" y="1810512"/>
            <a:ext cx="3291840" cy="560000"/>
          </a:xfrm>
          <a:prstGeom prst="rect">
            <a:avLst/>
          </a:prstGeom>
          <a:noFill/>
        </p:spPr>
        <p:txBody>
          <a:bodyPr wrap="square" lIns="45720" rIns="45720" tIns="27432" bIns="27432" anchor="ctr">
            <a:spAutoFit/>
          </a:bodyPr>
          <a:lstStyle/>
          <a:p>
            <a:pPr algn="l"/>
            <a:r>
              <a:rPr sz="1100" b="0" i="0">
                <a:solidFill>
                  <a:srgbClr val="1A1A1A"/>
                </a:solidFill>
                <a:latin typeface="Abadi"/>
              </a:rPr>
              <a:t>Grade 3 varices at first endoscopy</a:t>
            </a:r>
          </a:p>
        </p:txBody>
      </p:sp>
      <p:sp>
        <p:nvSpPr>
          <p:cNvPr id="13" name="Rectangle 12"/>
          <p:cNvSpPr/>
          <p:nvPr/>
        </p:nvSpPr>
        <p:spPr>
          <a:xfrm>
            <a:off x="3931920" y="1849712"/>
            <a:ext cx="3236976" cy="4816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14616" y="1810512"/>
            <a:ext cx="1463040" cy="560000"/>
          </a:xfrm>
          <a:prstGeom prst="rect">
            <a:avLst/>
          </a:prstGeom>
          <a:noFill/>
        </p:spPr>
        <p:txBody>
          <a:bodyPr wrap="square" lIns="45720" rIns="45720" tIns="27432" bIns="27432" anchor="ctr">
            <a:spAutoFit/>
          </a:bodyPr>
          <a:lstStyle/>
          <a:p>
            <a:pPr algn="l"/>
            <a:r>
              <a:rPr sz="1100" b="1" i="0">
                <a:solidFill>
                  <a:srgbClr val="1A1A1A"/>
                </a:solidFill>
                <a:latin typeface="Abadi"/>
              </a:rPr>
              <a:t>59%</a:t>
            </a:r>
          </a:p>
        </p:txBody>
      </p:sp>
      <p:sp>
        <p:nvSpPr>
          <p:cNvPr id="15" name="TextBox 14"/>
          <p:cNvSpPr txBox="1"/>
          <p:nvPr/>
        </p:nvSpPr>
        <p:spPr>
          <a:xfrm>
            <a:off x="548640" y="2370512"/>
            <a:ext cx="3291840" cy="560000"/>
          </a:xfrm>
          <a:prstGeom prst="rect">
            <a:avLst/>
          </a:prstGeom>
          <a:noFill/>
        </p:spPr>
        <p:txBody>
          <a:bodyPr wrap="square" lIns="45720" rIns="45720" tIns="27432" bIns="27432" anchor="ctr">
            <a:spAutoFit/>
          </a:bodyPr>
          <a:lstStyle/>
          <a:p>
            <a:pPr algn="l"/>
            <a:r>
              <a:rPr sz="1100" b="0" i="0">
                <a:solidFill>
                  <a:srgbClr val="1A1A1A"/>
                </a:solidFill>
                <a:latin typeface="Abadi"/>
              </a:rPr>
              <a:t>Grade 2 varices</a:t>
            </a:r>
          </a:p>
        </p:txBody>
      </p:sp>
      <p:sp>
        <p:nvSpPr>
          <p:cNvPr id="16" name="Rectangle 15"/>
          <p:cNvSpPr/>
          <p:nvPr/>
        </p:nvSpPr>
        <p:spPr>
          <a:xfrm>
            <a:off x="3931920" y="2409712"/>
            <a:ext cx="932688" cy="4816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0328" y="2370512"/>
            <a:ext cx="1463040" cy="560000"/>
          </a:xfrm>
          <a:prstGeom prst="rect">
            <a:avLst/>
          </a:prstGeom>
          <a:noFill/>
        </p:spPr>
        <p:txBody>
          <a:bodyPr wrap="square" lIns="45720" rIns="45720" tIns="27432" bIns="27432" anchor="ctr">
            <a:spAutoFit/>
          </a:bodyPr>
          <a:lstStyle/>
          <a:p>
            <a:pPr algn="l"/>
            <a:r>
              <a:rPr sz="1100" b="1" i="0">
                <a:solidFill>
                  <a:srgbClr val="1A1A1A"/>
                </a:solidFill>
                <a:latin typeface="Abadi"/>
              </a:rPr>
              <a:t>17%</a:t>
            </a:r>
          </a:p>
        </p:txBody>
      </p:sp>
      <p:sp>
        <p:nvSpPr>
          <p:cNvPr id="18" name="TextBox 17"/>
          <p:cNvSpPr txBox="1"/>
          <p:nvPr/>
        </p:nvSpPr>
        <p:spPr>
          <a:xfrm>
            <a:off x="548640" y="2930512"/>
            <a:ext cx="3291840" cy="560000"/>
          </a:xfrm>
          <a:prstGeom prst="rect">
            <a:avLst/>
          </a:prstGeom>
          <a:noFill/>
        </p:spPr>
        <p:txBody>
          <a:bodyPr wrap="square" lIns="45720" rIns="45720" tIns="27432" bIns="27432" anchor="ctr">
            <a:spAutoFit/>
          </a:bodyPr>
          <a:lstStyle/>
          <a:p>
            <a:pPr algn="l"/>
            <a:r>
              <a:rPr sz="1100" b="0" i="0">
                <a:solidFill>
                  <a:srgbClr val="1A1A1A"/>
                </a:solidFill>
                <a:latin typeface="Abadi"/>
              </a:rPr>
              <a:t>No varices</a:t>
            </a:r>
          </a:p>
        </p:txBody>
      </p:sp>
      <p:sp>
        <p:nvSpPr>
          <p:cNvPr id="19" name="Rectangle 18"/>
          <p:cNvSpPr/>
          <p:nvPr/>
        </p:nvSpPr>
        <p:spPr>
          <a:xfrm>
            <a:off x="3931920" y="2969712"/>
            <a:ext cx="658368" cy="48160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008" y="2930512"/>
            <a:ext cx="1463040" cy="560000"/>
          </a:xfrm>
          <a:prstGeom prst="rect">
            <a:avLst/>
          </a:prstGeom>
          <a:noFill/>
        </p:spPr>
        <p:txBody>
          <a:bodyPr wrap="square" lIns="45720" rIns="45720" tIns="27432" bIns="27432" anchor="ctr">
            <a:spAutoFit/>
          </a:bodyPr>
          <a:lstStyle/>
          <a:p>
            <a:pPr algn="l"/>
            <a:r>
              <a:rPr sz="1100" b="1" i="0">
                <a:solidFill>
                  <a:srgbClr val="1A1A1A"/>
                </a:solidFill>
                <a:latin typeface="Abadi"/>
              </a:rPr>
              <a:t>12%</a:t>
            </a:r>
          </a:p>
        </p:txBody>
      </p:sp>
      <p:sp>
        <p:nvSpPr>
          <p:cNvPr id="21" name="TextBox 20"/>
          <p:cNvSpPr txBox="1"/>
          <p:nvPr/>
        </p:nvSpPr>
        <p:spPr>
          <a:xfrm>
            <a:off x="548640" y="353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Risk was also higher with gastric varices, red wale signs and portal hypertensive gastropathy.</a:t>
            </a:r>
          </a:p>
        </p:txBody>
      </p:sp>
      <p:sp>
        <p:nvSpPr>
          <p:cNvPr id="22" name="TextBox 21"/>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70%</a:t>
            </a:r>
          </a:p>
        </p:txBody>
      </p:sp>
      <p:sp>
        <p:nvSpPr>
          <p:cNvPr id="23" name="TextBox 22"/>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88 of 125 children with signs of PHT had varices; median age at endoscopy 13 months.</a:t>
            </a:r>
          </a:p>
        </p:txBody>
      </p:sp>
      <p:sp>
        <p:nvSpPr>
          <p:cNvPr id="24" name="TextBox 23"/>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17 months</a:t>
            </a:r>
          </a:p>
        </p:txBody>
      </p:sp>
      <p:sp>
        <p:nvSpPr>
          <p:cNvPr id="25" name="TextBox 24"/>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Median age at bleeding in the 20% who bled; 75% of bleeds before age 2.5 y.</a:t>
            </a:r>
          </a:p>
        </p:txBody>
      </p:sp>
      <p:sp>
        <p:nvSpPr>
          <p:cNvPr id="26" name="TextBox 25"/>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97%</a:t>
            </a:r>
          </a:p>
        </p:txBody>
      </p:sp>
      <p:sp>
        <p:nvSpPr>
          <p:cNvPr id="27" name="TextBox 26"/>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Three-year survival with endoscopic primary prophylaxis, no breakthrough bleed (2013, n = 36).</a:t>
            </a:r>
          </a:p>
        </p:txBody>
      </p:sp>
      <p:sp>
        <p:nvSpPr>
          <p:cNvPr id="28" name="TextBox 27"/>
          <p:cNvSpPr txBox="1"/>
          <p:nvPr/>
        </p:nvSpPr>
        <p:spPr>
          <a:xfrm>
            <a:off x="548640" y="4206240"/>
            <a:ext cx="7955279" cy="15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In biliary atresia, the window for high-risk varices opens in the first two years, when endoscopy is technically hardest. The French data come from a single expert centre with a policy of early surveillance; they show what endoscopy finds, not that finding it improves survival.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NATURAL HISTORY OF VARICES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NORMAL PLATELETS DO NOT EXCLUDE DANGER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Paris, 1,586 children with portal hypertension (590 with serial endoscopy, 403 with biliary atresia),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Ackermann O, et al. The natural history of gastroesophageal varices in children with portal hypertension. Gastroenterology 2026;170:188–98</a:t>
            </a:r>
          </a:p>
        </p:txBody>
      </p:sp>
      <p:sp>
        <p:nvSpPr>
          <p:cNvPr id="12" name="TextBox 11"/>
          <p:cNvSpPr txBox="1"/>
          <p:nvPr/>
        </p:nvSpPr>
        <p:spPr>
          <a:xfrm>
            <a:off x="548640" y="181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HRV emerging by 5 y (none at start)</a:t>
            </a:r>
          </a:p>
        </p:txBody>
      </p:sp>
      <p:sp>
        <p:nvSpPr>
          <p:cNvPr id="13" name="Rectangle 12"/>
          <p:cNvSpPr/>
          <p:nvPr/>
        </p:nvSpPr>
        <p:spPr>
          <a:xfrm>
            <a:off x="3931920" y="1840612"/>
            <a:ext cx="1536192"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13832" y="181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36%</a:t>
            </a:r>
          </a:p>
        </p:txBody>
      </p:sp>
      <p:sp>
        <p:nvSpPr>
          <p:cNvPr id="15" name="TextBox 14"/>
          <p:cNvSpPr txBox="1"/>
          <p:nvPr/>
        </p:nvSpPr>
        <p:spPr>
          <a:xfrm>
            <a:off x="548640" y="224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HRV emerging by 10 y</a:t>
            </a:r>
          </a:p>
        </p:txBody>
      </p:sp>
      <p:sp>
        <p:nvSpPr>
          <p:cNvPr id="16" name="Rectangle 15"/>
          <p:cNvSpPr/>
          <p:nvPr/>
        </p:nvSpPr>
        <p:spPr>
          <a:xfrm>
            <a:off x="3931920" y="2270612"/>
            <a:ext cx="2304288"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81928" y="224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54%</a:t>
            </a:r>
          </a:p>
        </p:txBody>
      </p:sp>
      <p:sp>
        <p:nvSpPr>
          <p:cNvPr id="18" name="TextBox 17"/>
          <p:cNvSpPr txBox="1"/>
          <p:nvPr/>
        </p:nvSpPr>
        <p:spPr>
          <a:xfrm>
            <a:off x="548640" y="267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Bleeding · no HRV at last endoscopy</a:t>
            </a:r>
          </a:p>
        </p:txBody>
      </p:sp>
      <p:sp>
        <p:nvSpPr>
          <p:cNvPr id="19" name="Rectangle 18"/>
          <p:cNvSpPr/>
          <p:nvPr/>
        </p:nvSpPr>
        <p:spPr>
          <a:xfrm>
            <a:off x="3931920" y="2700612"/>
            <a:ext cx="162153" cy="3698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39793" y="267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3.8%</a:t>
            </a:r>
          </a:p>
        </p:txBody>
      </p:sp>
      <p:sp>
        <p:nvSpPr>
          <p:cNvPr id="21" name="TextBox 20"/>
          <p:cNvSpPr txBox="1"/>
          <p:nvPr/>
        </p:nvSpPr>
        <p:spPr>
          <a:xfrm>
            <a:off x="548640" y="310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Bleeding · untreated HRV</a:t>
            </a:r>
          </a:p>
        </p:txBody>
      </p:sp>
      <p:sp>
        <p:nvSpPr>
          <p:cNvPr id="22" name="Rectangle 21"/>
          <p:cNvSpPr/>
          <p:nvPr/>
        </p:nvSpPr>
        <p:spPr>
          <a:xfrm>
            <a:off x="3931920" y="3130612"/>
            <a:ext cx="3200400"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310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75%</a:t>
            </a:r>
          </a:p>
        </p:txBody>
      </p:sp>
      <p:sp>
        <p:nvSpPr>
          <p:cNvPr id="24" name="TextBox 23"/>
          <p:cNvSpPr txBox="1"/>
          <p:nvPr/>
        </p:nvSpPr>
        <p:spPr>
          <a:xfrm>
            <a:off x="548640" y="353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Platelets ≥ 150 with HRV · age &lt; 12 mo</a:t>
            </a:r>
          </a:p>
        </p:txBody>
      </p:sp>
      <p:sp>
        <p:nvSpPr>
          <p:cNvPr id="25" name="Rectangle 24"/>
          <p:cNvSpPr/>
          <p:nvPr/>
        </p:nvSpPr>
        <p:spPr>
          <a:xfrm>
            <a:off x="3931920" y="3560612"/>
            <a:ext cx="2645664" cy="369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3304" y="353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62%</a:t>
            </a:r>
          </a:p>
        </p:txBody>
      </p:sp>
      <p:sp>
        <p:nvSpPr>
          <p:cNvPr id="27" name="TextBox 26"/>
          <p:cNvSpPr txBox="1"/>
          <p:nvPr/>
        </p:nvSpPr>
        <p:spPr>
          <a:xfrm>
            <a:off x="548640" y="396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Platelets ≥ 150 with HRV · age &gt; 10 y</a:t>
            </a:r>
          </a:p>
        </p:txBody>
      </p:sp>
      <p:sp>
        <p:nvSpPr>
          <p:cNvPr id="28" name="Rectangle 27"/>
          <p:cNvSpPr/>
          <p:nvPr/>
        </p:nvSpPr>
        <p:spPr>
          <a:xfrm>
            <a:off x="3931920" y="3990612"/>
            <a:ext cx="85344" cy="3698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62984" y="396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2%</a:t>
            </a:r>
          </a:p>
        </p:txBody>
      </p:sp>
      <p:sp>
        <p:nvSpPr>
          <p:cNvPr id="30" name="TextBox 29"/>
          <p:cNvSpPr txBox="1"/>
          <p:nvPr/>
        </p:nvSpPr>
        <p:spPr>
          <a:xfrm>
            <a:off x="548640" y="443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HRV, high-risk varices (HRV score 3–5). Bleeding: 36 of 947 without HRV versus 270 of 359 with untreated HRV.</a:t>
            </a:r>
          </a:p>
        </p:txBody>
      </p:sp>
      <p:sp>
        <p:nvSpPr>
          <p:cNvPr id="31" name="TextBox 30"/>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58%</a:t>
            </a:r>
          </a:p>
        </p:txBody>
      </p:sp>
      <p:sp>
        <p:nvSpPr>
          <p:cNvPr id="32" name="TextBox 31"/>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Endoscopic pattern worsened over a mean of four years.</a:t>
            </a:r>
          </a:p>
        </p:txBody>
      </p:sp>
      <p:sp>
        <p:nvSpPr>
          <p:cNvPr id="33" name="TextBox 32"/>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32%</a:t>
            </a:r>
          </a:p>
        </p:txBody>
      </p:sp>
      <p:sp>
        <p:nvSpPr>
          <p:cNvPr id="34" name="TextBox 33"/>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of all 629 children with HRV had platelets ≥ 150 ×10⁹/L.</a:t>
            </a:r>
          </a:p>
        </p:txBody>
      </p:sp>
      <p:sp>
        <p:nvSpPr>
          <p:cNvPr id="35" name="TextBox 34"/>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Proposal</a:t>
            </a:r>
          </a:p>
        </p:txBody>
      </p:sp>
      <p:sp>
        <p:nvSpPr>
          <p:cNvPr id="36" name="TextBox 35"/>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In BA under 12 months, treat grade 2 varices or GOV1 prophylactically.</a:t>
            </a:r>
          </a:p>
        </p:txBody>
      </p:sp>
      <p:sp>
        <p:nvSpPr>
          <p:cNvPr id="37" name="TextBox 36"/>
          <p:cNvSpPr txBox="1"/>
          <p:nvPr/>
        </p:nvSpPr>
        <p:spPr>
          <a:xfrm>
            <a:off x="548640" y="5029200"/>
            <a:ext cx="7955279" cy="8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Platelet-based rules that work in adults and older children fail in infants. A normal count at 10 months is not reassurance.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WHO BLEEDS, AND WHEN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BLEEDING IS SPREAD ACROSS CHILDHOOD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ChiLDReN cross-sectional cohort: age at first variceal bleed among the 32 children who had bled, number of children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Shneider BL, Abel B, Haber B, et al. J Pediatr Gastroenterol Nutr 2012;55:567–73 · Jain V, et al. J Hepatol 2019;71:71–7</a:t>
            </a:r>
          </a:p>
        </p:txBody>
      </p:sp>
      <p:sp>
        <p:nvSpPr>
          <p:cNvPr id="12" name="TextBox 11"/>
          <p:cNvSpPr txBox="1"/>
          <p:nvPr/>
        </p:nvSpPr>
        <p:spPr>
          <a:xfrm>
            <a:off x="548640" y="1810512"/>
            <a:ext cx="3291840" cy="560000"/>
          </a:xfrm>
          <a:prstGeom prst="rect">
            <a:avLst/>
          </a:prstGeom>
          <a:noFill/>
        </p:spPr>
        <p:txBody>
          <a:bodyPr wrap="square" lIns="45720" rIns="45720" tIns="27432" bIns="27432" anchor="ctr">
            <a:spAutoFit/>
          </a:bodyPr>
          <a:lstStyle/>
          <a:p>
            <a:pPr algn="l"/>
            <a:r>
              <a:rPr sz="1100" b="0" i="0">
                <a:solidFill>
                  <a:srgbClr val="1A1A1A"/>
                </a:solidFill>
                <a:latin typeface="Abadi"/>
              </a:rPr>
              <a:t>0–2 years</a:t>
            </a:r>
          </a:p>
        </p:txBody>
      </p:sp>
      <p:sp>
        <p:nvSpPr>
          <p:cNvPr id="13" name="Rectangle 12"/>
          <p:cNvSpPr/>
          <p:nvPr/>
        </p:nvSpPr>
        <p:spPr>
          <a:xfrm>
            <a:off x="3931920" y="1849712"/>
            <a:ext cx="1920240" cy="4816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1810512"/>
            <a:ext cx="1463040" cy="560000"/>
          </a:xfrm>
          <a:prstGeom prst="rect">
            <a:avLst/>
          </a:prstGeom>
          <a:noFill/>
        </p:spPr>
        <p:txBody>
          <a:bodyPr wrap="square" lIns="45720" rIns="45720" tIns="27432" bIns="27432" anchor="ctr">
            <a:spAutoFit/>
          </a:bodyPr>
          <a:lstStyle/>
          <a:p>
            <a:pPr algn="l"/>
            <a:r>
              <a:rPr sz="1100" b="1" i="0">
                <a:solidFill>
                  <a:srgbClr val="1A1A1A"/>
                </a:solidFill>
                <a:latin typeface="Abadi"/>
              </a:rPr>
              <a:t>7 children</a:t>
            </a:r>
          </a:p>
        </p:txBody>
      </p:sp>
      <p:sp>
        <p:nvSpPr>
          <p:cNvPr id="15" name="TextBox 14"/>
          <p:cNvSpPr txBox="1"/>
          <p:nvPr/>
        </p:nvSpPr>
        <p:spPr>
          <a:xfrm>
            <a:off x="548640" y="2370512"/>
            <a:ext cx="3291840" cy="560000"/>
          </a:xfrm>
          <a:prstGeom prst="rect">
            <a:avLst/>
          </a:prstGeom>
          <a:noFill/>
        </p:spPr>
        <p:txBody>
          <a:bodyPr wrap="square" lIns="45720" rIns="45720" tIns="27432" bIns="27432" anchor="ctr">
            <a:spAutoFit/>
          </a:bodyPr>
          <a:lstStyle/>
          <a:p>
            <a:pPr algn="l"/>
            <a:r>
              <a:rPr sz="1100" b="0" i="0">
                <a:solidFill>
                  <a:srgbClr val="1A1A1A"/>
                </a:solidFill>
                <a:latin typeface="Abadi"/>
              </a:rPr>
              <a:t>2–5 years</a:t>
            </a:r>
          </a:p>
        </p:txBody>
      </p:sp>
      <p:sp>
        <p:nvSpPr>
          <p:cNvPr id="16" name="Rectangle 15"/>
          <p:cNvSpPr/>
          <p:nvPr/>
        </p:nvSpPr>
        <p:spPr>
          <a:xfrm>
            <a:off x="3931920" y="2409712"/>
            <a:ext cx="1920240" cy="4816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7880" y="2370512"/>
            <a:ext cx="1463040" cy="560000"/>
          </a:xfrm>
          <a:prstGeom prst="rect">
            <a:avLst/>
          </a:prstGeom>
          <a:noFill/>
        </p:spPr>
        <p:txBody>
          <a:bodyPr wrap="square" lIns="45720" rIns="45720" tIns="27432" bIns="27432" anchor="ctr">
            <a:spAutoFit/>
          </a:bodyPr>
          <a:lstStyle/>
          <a:p>
            <a:pPr algn="l"/>
            <a:r>
              <a:rPr sz="1100" b="1" i="0">
                <a:solidFill>
                  <a:srgbClr val="1A1A1A"/>
                </a:solidFill>
                <a:latin typeface="Abadi"/>
              </a:rPr>
              <a:t>7 children</a:t>
            </a:r>
          </a:p>
        </p:txBody>
      </p:sp>
      <p:sp>
        <p:nvSpPr>
          <p:cNvPr id="18" name="TextBox 17"/>
          <p:cNvSpPr txBox="1"/>
          <p:nvPr/>
        </p:nvSpPr>
        <p:spPr>
          <a:xfrm>
            <a:off x="548640" y="2930512"/>
            <a:ext cx="3291840" cy="560000"/>
          </a:xfrm>
          <a:prstGeom prst="rect">
            <a:avLst/>
          </a:prstGeom>
          <a:noFill/>
        </p:spPr>
        <p:txBody>
          <a:bodyPr wrap="square" lIns="45720" rIns="45720" tIns="27432" bIns="27432" anchor="ctr">
            <a:spAutoFit/>
          </a:bodyPr>
          <a:lstStyle/>
          <a:p>
            <a:pPr algn="l"/>
            <a:r>
              <a:rPr sz="1100" b="0" i="0">
                <a:solidFill>
                  <a:srgbClr val="1A1A1A"/>
                </a:solidFill>
                <a:latin typeface="Abadi"/>
              </a:rPr>
              <a:t>6–10 years</a:t>
            </a:r>
          </a:p>
        </p:txBody>
      </p:sp>
      <p:sp>
        <p:nvSpPr>
          <p:cNvPr id="19" name="Rectangle 18"/>
          <p:cNvSpPr/>
          <p:nvPr/>
        </p:nvSpPr>
        <p:spPr>
          <a:xfrm>
            <a:off x="3931920" y="2969712"/>
            <a:ext cx="3017520" cy="4816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2930512"/>
            <a:ext cx="1463040" cy="560000"/>
          </a:xfrm>
          <a:prstGeom prst="rect">
            <a:avLst/>
          </a:prstGeom>
          <a:noFill/>
        </p:spPr>
        <p:txBody>
          <a:bodyPr wrap="square" lIns="45720" rIns="45720" tIns="27432" bIns="27432" anchor="ctr">
            <a:spAutoFit/>
          </a:bodyPr>
          <a:lstStyle/>
          <a:p>
            <a:pPr algn="l"/>
            <a:r>
              <a:rPr sz="1100" b="1" i="0">
                <a:solidFill>
                  <a:srgbClr val="1A1A1A"/>
                </a:solidFill>
                <a:latin typeface="Abadi"/>
              </a:rPr>
              <a:t>11 children</a:t>
            </a:r>
          </a:p>
        </p:txBody>
      </p:sp>
      <p:sp>
        <p:nvSpPr>
          <p:cNvPr id="21" name="TextBox 20"/>
          <p:cNvSpPr txBox="1"/>
          <p:nvPr/>
        </p:nvSpPr>
        <p:spPr>
          <a:xfrm>
            <a:off x="548640" y="3490512"/>
            <a:ext cx="3291840" cy="560000"/>
          </a:xfrm>
          <a:prstGeom prst="rect">
            <a:avLst/>
          </a:prstGeom>
          <a:noFill/>
        </p:spPr>
        <p:txBody>
          <a:bodyPr wrap="square" lIns="45720" rIns="45720" tIns="27432" bIns="27432" anchor="ctr">
            <a:spAutoFit/>
          </a:bodyPr>
          <a:lstStyle/>
          <a:p>
            <a:pPr algn="l"/>
            <a:r>
              <a:rPr sz="1100" b="0" i="0">
                <a:solidFill>
                  <a:srgbClr val="1A1A1A"/>
                </a:solidFill>
                <a:latin typeface="Abadi"/>
              </a:rPr>
              <a:t>Over 10 years</a:t>
            </a:r>
          </a:p>
        </p:txBody>
      </p:sp>
      <p:sp>
        <p:nvSpPr>
          <p:cNvPr id="22" name="Rectangle 21"/>
          <p:cNvSpPr/>
          <p:nvPr/>
        </p:nvSpPr>
        <p:spPr>
          <a:xfrm>
            <a:off x="3931920" y="3529712"/>
            <a:ext cx="1920240" cy="4816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97880" y="3490512"/>
            <a:ext cx="1463040" cy="560000"/>
          </a:xfrm>
          <a:prstGeom prst="rect">
            <a:avLst/>
          </a:prstGeom>
          <a:noFill/>
        </p:spPr>
        <p:txBody>
          <a:bodyPr wrap="square" lIns="45720" rIns="45720" tIns="27432" bIns="27432" anchor="ctr">
            <a:spAutoFit/>
          </a:bodyPr>
          <a:lstStyle/>
          <a:p>
            <a:pPr algn="l"/>
            <a:r>
              <a:rPr sz="1100" b="1" i="0">
                <a:solidFill>
                  <a:srgbClr val="1A1A1A"/>
                </a:solidFill>
                <a:latin typeface="Abadi"/>
              </a:rPr>
              <a:t>7 children</a:t>
            </a:r>
          </a:p>
        </p:txBody>
      </p:sp>
      <p:sp>
        <p:nvSpPr>
          <p:cNvPr id="24" name="TextBox 23"/>
          <p:cNvSpPr txBox="1"/>
          <p:nvPr/>
        </p:nvSpPr>
        <p:spPr>
          <a:xfrm>
            <a:off x="548640" y="409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Survivor cohort: children who bled and died or were transplanted early are under-represented.</a:t>
            </a:r>
          </a:p>
        </p:txBody>
      </p:sp>
      <p:sp>
        <p:nvSpPr>
          <p:cNvPr id="25" name="TextBox 24"/>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HR 8.6</a:t>
            </a:r>
          </a:p>
        </p:txBody>
      </p:sp>
      <p:sp>
        <p:nvSpPr>
          <p:cNvPr id="26" name="TextBox 25"/>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Varices by age 16 predicted transplant in adulthood (King's; 95% CI 3.3–22.5).</a:t>
            </a:r>
          </a:p>
        </p:txBody>
      </p:sp>
      <p:sp>
        <p:nvSpPr>
          <p:cNvPr id="27" name="TextBox 26"/>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HR 7.05</a:t>
            </a:r>
          </a:p>
        </p:txBody>
      </p:sp>
      <p:sp>
        <p:nvSpPr>
          <p:cNvPr id="28" name="TextBox 27"/>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Portal hypertension by age 16 predicted adult transplant.</a:t>
            </a:r>
          </a:p>
        </p:txBody>
      </p:sp>
      <p:sp>
        <p:nvSpPr>
          <p:cNvPr id="29" name="TextBox 28"/>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Lesson</a:t>
            </a:r>
          </a:p>
        </p:txBody>
      </p:sp>
      <p:sp>
        <p:nvSpPr>
          <p:cNvPr id="30" name="TextBox 29"/>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Surveillance is lifelong, not an infant-only task.</a:t>
            </a:r>
          </a:p>
        </p:txBody>
      </p:sp>
      <p:sp>
        <p:nvSpPr>
          <p:cNvPr id="31" name="TextBox 30"/>
          <p:cNvSpPr txBox="1"/>
          <p:nvPr/>
        </p:nvSpPr>
        <p:spPr>
          <a:xfrm>
            <a:off x="548640" y="4389120"/>
            <a:ext cx="7955279" cy="13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Early-onset varices are a feature of the infants with the worst fibrosis; late bleeds come from slowly progressive fibrosis in children who looked well for years. The same child needs a different question at 1, 6 and 16 years of 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NON-INVASIVE PREDICTION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CAN WE AVOID THE SCOPE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Triage tools for varices in children; none is accurate enough to replace endoscopy for high-risk varices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Gana JC, et al. JPGN 2010;50:188–93 · Gana JC, et al. Gastroenterology 2011 · Colli A, Gana JC, et al. Cochrane 2017;CD008759 · Chongsrisawat V, et al. BMC Gastroenterol 2011;11:41 · Yoon H, et al. WJG 2019;25:367–77</a:t>
            </a:r>
          </a:p>
        </p:txBody>
      </p:sp>
      <p:sp>
        <p:nvSpPr>
          <p:cNvPr id="12" name="Rectangle 11"/>
          <p:cNvSpPr/>
          <p:nvPr/>
        </p:nvSpPr>
        <p:spPr>
          <a:xfrm>
            <a:off x="54864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Platelets</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Cochrane: sens 0.71, spec 0.83</a:t>
            </a:r>
          </a:p>
          <a:p>
            <a:pPr algn="l">
              <a:spcAft>
                <a:spcPts val="400"/>
              </a:spcAft>
            </a:pPr>
            <a:r>
              <a:rPr sz="1050" b="0" i="0">
                <a:solidFill>
                  <a:srgbClr val="1A1A1A"/>
                </a:solidFill>
                <a:latin typeface="Abadi"/>
              </a:rPr>
              <a:t>▪  4 studies, 277 children</a:t>
            </a:r>
          </a:p>
          <a:p>
            <a:pPr algn="l">
              <a:spcAft>
                <a:spcPts val="400"/>
              </a:spcAft>
            </a:pPr>
            <a:r>
              <a:rPr sz="1050" b="0" i="0">
                <a:solidFill>
                  <a:srgbClr val="1A1A1A"/>
                </a:solidFill>
                <a:latin typeface="Abadi"/>
              </a:rPr>
              <a:t>▪  Fails in infants</a:t>
            </a:r>
          </a:p>
        </p:txBody>
      </p:sp>
      <p:sp>
        <p:nvSpPr>
          <p:cNvPr id="16" name="Rectangle 15"/>
          <p:cNvSpPr/>
          <p:nvPr/>
        </p:nvSpPr>
        <p:spPr>
          <a:xfrm>
            <a:off x="278770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Platelet / spleen z</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AUC 0.84 (n = 108, 8 centres)</a:t>
            </a:r>
          </a:p>
          <a:p>
            <a:pPr algn="l">
              <a:spcAft>
                <a:spcPts val="400"/>
              </a:spcAft>
            </a:pPr>
            <a:r>
              <a:rPr sz="1050" b="0" i="0">
                <a:solidFill>
                  <a:srgbClr val="1A1A1A"/>
                </a:solidFill>
                <a:latin typeface="Abadi"/>
              </a:rPr>
              <a:t>▪  Sens 0.74, spec 0.64 (Cochrane)</a:t>
            </a:r>
          </a:p>
        </p:txBody>
      </p:sp>
      <p:sp>
        <p:nvSpPr>
          <p:cNvPr id="20" name="Rectangle 19"/>
          <p:cNvSpPr/>
          <p:nvPr/>
        </p:nvSpPr>
        <p:spPr>
          <a:xfrm>
            <a:off x="502676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Prediction rule</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Platelets, spleen z, albumin</a:t>
            </a:r>
          </a:p>
          <a:p>
            <a:pPr algn="l">
              <a:spcAft>
                <a:spcPts val="400"/>
              </a:spcAft>
            </a:pPr>
            <a:r>
              <a:rPr sz="1050" b="0" i="0">
                <a:solidFill>
                  <a:srgbClr val="1A1A1A"/>
                </a:solidFill>
                <a:latin typeface="Abadi"/>
              </a:rPr>
              <a:t>▪  Derivation AUC 0.93</a:t>
            </a:r>
          </a:p>
          <a:p>
            <a:pPr algn="l">
              <a:spcAft>
                <a:spcPts val="400"/>
              </a:spcAft>
            </a:pPr>
            <a:r>
              <a:rPr sz="1050" b="0" i="0">
                <a:solidFill>
                  <a:srgbClr val="1A1A1A"/>
                </a:solidFill>
                <a:latin typeface="Abadi"/>
              </a:rPr>
              <a:t>▪  Validation AUC 0.80</a:t>
            </a:r>
          </a:p>
        </p:txBody>
      </p:sp>
      <p:sp>
        <p:nvSpPr>
          <p:cNvPr id="24" name="Rectangle 23"/>
          <p:cNvSpPr/>
          <p:nvPr/>
        </p:nvSpPr>
        <p:spPr>
          <a:xfrm>
            <a:off x="726582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Liver stiffness</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BA: 12.7 kPa, AUC 0.89</a:t>
            </a:r>
          </a:p>
          <a:p>
            <a:pPr algn="l">
              <a:spcAft>
                <a:spcPts val="400"/>
              </a:spcAft>
            </a:pPr>
            <a:r>
              <a:rPr sz="1050" b="0" i="0">
                <a:solidFill>
                  <a:srgbClr val="1A1A1A"/>
                </a:solidFill>
                <a:latin typeface="Abadi"/>
              </a:rPr>
              <a:t>▪  Sens 84%, spec 77%</a:t>
            </a:r>
          </a:p>
          <a:p>
            <a:pPr algn="l">
              <a:spcAft>
                <a:spcPts val="400"/>
              </a:spcAft>
            </a:pPr>
            <a:r>
              <a:rPr sz="1050" b="0" i="0">
                <a:solidFill>
                  <a:srgbClr val="1A1A1A"/>
                </a:solidFill>
                <a:latin typeface="Abadi"/>
              </a:rPr>
              <a:t>▪  APRI 1.92: AUC 0.87</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Spleen stiffness</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MR elastography 9.9 kPa, AUC 0.84 (n = 22)</a:t>
            </a:r>
          </a:p>
          <a:p>
            <a:pPr algn="l">
              <a:spcAft>
                <a:spcPts val="400"/>
              </a:spcAft>
            </a:pPr>
            <a:r>
              <a:rPr sz="1050" b="0" i="0">
                <a:solidFill>
                  <a:srgbClr val="1A1A1A"/>
                </a:solidFill>
                <a:latin typeface="Abadi"/>
              </a:rPr>
              <a:t>▪  Promising, small</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Synthesis.   </a:t>
            </a:r>
            <a:r>
              <a:rPr sz="1250" b="0" i="0">
                <a:solidFill>
                  <a:srgbClr val="1B355E"/>
                </a:solidFill>
                <a:latin typeface="Abadi"/>
              </a:rPr>
              <a:t>Non-invasive tests are good at saying that a child probably has varices of some size; they are poor at excluding high-risk varices, which is the question that matters for prophylaxis. The adult Baveno rule (stiffness under 20 kPa and platelets above 150 to skip endoscopy) has not been validated in infants, and small BA cohorts suggest high negative predictive value only in older children. Use them to decide who should be scoped sooner, not who can be left alone.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PROGNOSTIC WEIGHT</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PORTAL HYPERTENSION STRATIFIES THE LONG RUN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Japanese registry, 596 jaundice-free survivors: native-liver survival at 10 and 30 years by portal-hypertension status,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Okubo R, Nio M, Sasaki H, et al. Pediatr Surg Int 2025;41:324 · Bass 2022</a:t>
            </a:r>
          </a:p>
        </p:txBody>
      </p:sp>
      <p:sp>
        <p:nvSpPr>
          <p:cNvPr id="12" name="TextBox 11"/>
          <p:cNvSpPr txBox="1"/>
          <p:nvPr/>
        </p:nvSpPr>
        <p:spPr>
          <a:xfrm>
            <a:off x="548640" y="181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No PHT · 10 y</a:t>
            </a:r>
          </a:p>
        </p:txBody>
      </p:sp>
      <p:sp>
        <p:nvSpPr>
          <p:cNvPr id="13" name="Rectangle 12"/>
          <p:cNvSpPr/>
          <p:nvPr/>
        </p:nvSpPr>
        <p:spPr>
          <a:xfrm>
            <a:off x="3931920" y="1840612"/>
            <a:ext cx="3467953" cy="3698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45593" y="181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90.3%</a:t>
            </a:r>
          </a:p>
        </p:txBody>
      </p:sp>
      <p:sp>
        <p:nvSpPr>
          <p:cNvPr id="15" name="TextBox 14"/>
          <p:cNvSpPr txBox="1"/>
          <p:nvPr/>
        </p:nvSpPr>
        <p:spPr>
          <a:xfrm>
            <a:off x="548640" y="224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No PHT · 30 y</a:t>
            </a:r>
          </a:p>
        </p:txBody>
      </p:sp>
      <p:sp>
        <p:nvSpPr>
          <p:cNvPr id="16" name="Rectangle 15"/>
          <p:cNvSpPr/>
          <p:nvPr/>
        </p:nvSpPr>
        <p:spPr>
          <a:xfrm>
            <a:off x="3931920" y="2270612"/>
            <a:ext cx="3394984" cy="36980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2624" y="224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88.4%</a:t>
            </a:r>
          </a:p>
        </p:txBody>
      </p:sp>
      <p:sp>
        <p:nvSpPr>
          <p:cNvPr id="18" name="TextBox 17"/>
          <p:cNvSpPr txBox="1"/>
          <p:nvPr/>
        </p:nvSpPr>
        <p:spPr>
          <a:xfrm>
            <a:off x="548640" y="267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Untreated PHT · 10 y</a:t>
            </a:r>
          </a:p>
        </p:txBody>
      </p:sp>
      <p:sp>
        <p:nvSpPr>
          <p:cNvPr id="19" name="Rectangle 18"/>
          <p:cNvSpPr/>
          <p:nvPr/>
        </p:nvSpPr>
        <p:spPr>
          <a:xfrm>
            <a:off x="3931920" y="2700612"/>
            <a:ext cx="3103107"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80747" y="267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80.8%</a:t>
            </a:r>
          </a:p>
        </p:txBody>
      </p:sp>
      <p:sp>
        <p:nvSpPr>
          <p:cNvPr id="21" name="TextBox 20"/>
          <p:cNvSpPr txBox="1"/>
          <p:nvPr/>
        </p:nvSpPr>
        <p:spPr>
          <a:xfrm>
            <a:off x="548640" y="310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Untreated PHT · 30 y</a:t>
            </a:r>
          </a:p>
        </p:txBody>
      </p:sp>
      <p:sp>
        <p:nvSpPr>
          <p:cNvPr id="22" name="Rectangle 21"/>
          <p:cNvSpPr/>
          <p:nvPr/>
        </p:nvSpPr>
        <p:spPr>
          <a:xfrm>
            <a:off x="3931920" y="3130612"/>
            <a:ext cx="2619207" cy="3698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6847" y="310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68.2%</a:t>
            </a:r>
          </a:p>
        </p:txBody>
      </p:sp>
      <p:sp>
        <p:nvSpPr>
          <p:cNvPr id="24" name="TextBox 23"/>
          <p:cNvSpPr txBox="1"/>
          <p:nvPr/>
        </p:nvSpPr>
        <p:spPr>
          <a:xfrm>
            <a:off x="548640" y="353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Treated PHT · 10 y</a:t>
            </a:r>
          </a:p>
        </p:txBody>
      </p:sp>
      <p:sp>
        <p:nvSpPr>
          <p:cNvPr id="25" name="Rectangle 24"/>
          <p:cNvSpPr/>
          <p:nvPr/>
        </p:nvSpPr>
        <p:spPr>
          <a:xfrm>
            <a:off x="3931920" y="3560612"/>
            <a:ext cx="2384938"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2578" y="353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62.1%</a:t>
            </a:r>
          </a:p>
        </p:txBody>
      </p:sp>
      <p:sp>
        <p:nvSpPr>
          <p:cNvPr id="27" name="TextBox 26"/>
          <p:cNvSpPr txBox="1"/>
          <p:nvPr/>
        </p:nvSpPr>
        <p:spPr>
          <a:xfrm>
            <a:off x="548640" y="3960512"/>
            <a:ext cx="3291840" cy="430000"/>
          </a:xfrm>
          <a:prstGeom prst="rect">
            <a:avLst/>
          </a:prstGeom>
          <a:noFill/>
        </p:spPr>
        <p:txBody>
          <a:bodyPr wrap="square" lIns="45720" rIns="45720" tIns="27432" bIns="27432" anchor="ctr">
            <a:spAutoFit/>
          </a:bodyPr>
          <a:lstStyle/>
          <a:p>
            <a:pPr algn="l"/>
            <a:r>
              <a:rPr sz="1000" b="0" i="0">
                <a:solidFill>
                  <a:srgbClr val="1A1A1A"/>
                </a:solidFill>
                <a:latin typeface="Abadi"/>
              </a:rPr>
              <a:t>Treated PHT · 30 y</a:t>
            </a:r>
          </a:p>
        </p:txBody>
      </p:sp>
      <p:sp>
        <p:nvSpPr>
          <p:cNvPr id="28" name="Rectangle 27"/>
          <p:cNvSpPr/>
          <p:nvPr/>
        </p:nvSpPr>
        <p:spPr>
          <a:xfrm>
            <a:off x="3931920" y="3990612"/>
            <a:ext cx="1762780" cy="369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40420" y="3960512"/>
            <a:ext cx="1463040" cy="430000"/>
          </a:xfrm>
          <a:prstGeom prst="rect">
            <a:avLst/>
          </a:prstGeom>
          <a:noFill/>
        </p:spPr>
        <p:txBody>
          <a:bodyPr wrap="square" lIns="45720" rIns="45720" tIns="27432" bIns="27432" anchor="ctr">
            <a:spAutoFit/>
          </a:bodyPr>
          <a:lstStyle/>
          <a:p>
            <a:pPr algn="l"/>
            <a:r>
              <a:rPr sz="1000" b="1" i="0">
                <a:solidFill>
                  <a:srgbClr val="1A1A1A"/>
                </a:solidFill>
                <a:latin typeface="Abadi"/>
              </a:rPr>
              <a:t>45.9%</a:t>
            </a:r>
          </a:p>
        </p:txBody>
      </p:sp>
      <p:sp>
        <p:nvSpPr>
          <p:cNvPr id="30" name="TextBox 29"/>
          <p:cNvSpPr txBox="1"/>
          <p:nvPr/>
        </p:nvSpPr>
        <p:spPr>
          <a:xfrm>
            <a:off x="548640" y="4436232"/>
            <a:ext cx="7863840" cy="274320"/>
          </a:xfrm>
          <a:prstGeom prst="rect">
            <a:avLst/>
          </a:prstGeom>
          <a:noFill/>
        </p:spPr>
        <p:txBody>
          <a:bodyPr wrap="square" lIns="45720" rIns="45720" tIns="27432" bIns="27432" anchor="t">
            <a:spAutoFit/>
          </a:bodyPr>
          <a:lstStyle/>
          <a:p>
            <a:pPr algn="l"/>
            <a:r>
              <a:rPr sz="950" b="0" i="0">
                <a:solidFill>
                  <a:srgbClr val="8A939B"/>
                </a:solidFill>
                <a:latin typeface="Abadi"/>
              </a:rPr>
              <a:t>'Treated' means portal hypertension that needed intervention (varices or hypersplenism). Log-rank P &lt; 0.0001.</a:t>
            </a:r>
          </a:p>
        </p:txBody>
      </p:sp>
      <p:sp>
        <p:nvSpPr>
          <p:cNvPr id="31" name="TextBox 30"/>
          <p:cNvSpPr txBox="1"/>
          <p:nvPr/>
        </p:nvSpPr>
        <p:spPr>
          <a:xfrm>
            <a:off x="8778240" y="17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88.4%</a:t>
            </a:r>
          </a:p>
        </p:txBody>
      </p:sp>
      <p:sp>
        <p:nvSpPr>
          <p:cNvPr id="32" name="TextBox 31"/>
          <p:cNvSpPr txBox="1"/>
          <p:nvPr/>
        </p:nvSpPr>
        <p:spPr>
          <a:xfrm>
            <a:off x="8778240" y="20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30-year native-liver survival without PHT in jaundice-free children.</a:t>
            </a:r>
          </a:p>
        </p:txBody>
      </p:sp>
      <p:sp>
        <p:nvSpPr>
          <p:cNvPr id="33" name="TextBox 32"/>
          <p:cNvSpPr txBox="1"/>
          <p:nvPr/>
        </p:nvSpPr>
        <p:spPr>
          <a:xfrm>
            <a:off x="8778240" y="26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45.9%</a:t>
            </a:r>
          </a:p>
        </p:txBody>
      </p:sp>
      <p:sp>
        <p:nvSpPr>
          <p:cNvPr id="34" name="TextBox 33"/>
          <p:cNvSpPr txBox="1"/>
          <p:nvPr/>
        </p:nvSpPr>
        <p:spPr>
          <a:xfrm>
            <a:off x="8778240" y="29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With PHT that needed treatment.</a:t>
            </a:r>
          </a:p>
        </p:txBody>
      </p:sp>
      <p:sp>
        <p:nvSpPr>
          <p:cNvPr id="35" name="TextBox 34"/>
          <p:cNvSpPr txBox="1"/>
          <p:nvPr/>
        </p:nvSpPr>
        <p:spPr>
          <a:xfrm>
            <a:off x="8778240" y="3583080"/>
            <a:ext cx="2834640" cy="320000"/>
          </a:xfrm>
          <a:prstGeom prst="rect">
            <a:avLst/>
          </a:prstGeom>
          <a:noFill/>
        </p:spPr>
        <p:txBody>
          <a:bodyPr wrap="square" lIns="45720" rIns="45720" tIns="27432" bIns="27432" anchor="t">
            <a:spAutoFit/>
          </a:bodyPr>
          <a:lstStyle/>
          <a:p>
            <a:pPr algn="l"/>
            <a:r>
              <a:rPr sz="1500" b="1" i="0">
                <a:solidFill>
                  <a:srgbClr val="1B355E"/>
                </a:solidFill>
                <a:latin typeface="Abadi"/>
              </a:rPr>
              <a:t>Meaning</a:t>
            </a:r>
          </a:p>
        </p:txBody>
      </p:sp>
      <p:sp>
        <p:nvSpPr>
          <p:cNvPr id="36" name="TextBox 35"/>
          <p:cNvSpPr txBox="1"/>
          <p:nvPr/>
        </p:nvSpPr>
        <p:spPr>
          <a:xfrm>
            <a:off x="8778240" y="3883080"/>
            <a:ext cx="2834640" cy="560000"/>
          </a:xfrm>
          <a:prstGeom prst="rect">
            <a:avLst/>
          </a:prstGeom>
          <a:noFill/>
        </p:spPr>
        <p:txBody>
          <a:bodyPr wrap="square" lIns="45720" rIns="45720" tIns="27432" bIns="27432" anchor="t">
            <a:spAutoFit/>
          </a:bodyPr>
          <a:lstStyle/>
          <a:p>
            <a:pPr algn="l"/>
            <a:r>
              <a:rPr sz="1000" b="0" i="0">
                <a:solidFill>
                  <a:srgbClr val="1A1A1A"/>
                </a:solidFill>
                <a:latin typeface="Abadi"/>
              </a:rPr>
              <a:t>Needing variceal therapy marks a liver that will probably need replacing.</a:t>
            </a:r>
          </a:p>
        </p:txBody>
      </p:sp>
      <p:sp>
        <p:nvSpPr>
          <p:cNvPr id="37" name="TextBox 36"/>
          <p:cNvSpPr txBox="1"/>
          <p:nvPr/>
        </p:nvSpPr>
        <p:spPr>
          <a:xfrm>
            <a:off x="548640" y="5029200"/>
            <a:ext cx="7955279" cy="800000"/>
          </a:xfrm>
          <a:prstGeom prst="rect">
            <a:avLst/>
          </a:prstGeom>
          <a:noFill/>
        </p:spPr>
        <p:txBody>
          <a:bodyPr wrap="square" lIns="45720" rIns="45720" tIns="27432" bIns="27432" anchor="t">
            <a:spAutoFit/>
          </a:bodyPr>
          <a:lstStyle/>
          <a:p>
            <a:pPr algn="l"/>
            <a:r>
              <a:rPr sz="1250" b="1" i="0">
                <a:solidFill>
                  <a:srgbClr val="1B355E"/>
                </a:solidFill>
                <a:latin typeface="Abadi"/>
              </a:rPr>
              <a:t>Read it as.   </a:t>
            </a:r>
            <a:r>
              <a:rPr sz="1250" b="0" i="0">
                <a:solidFill>
                  <a:srgbClr val="1B355E"/>
                </a:solidFill>
                <a:latin typeface="Abadi"/>
              </a:rPr>
              <a:t>Treating varices does not cure the liver; it buys time. Plan transplant assessment alongside endoscopic therapy.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DEBATE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PRIMARY PROPHYLAXIS: FOR AND AGAINST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The arguments that experienced centres weigh, with the data behind each</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Duché 2013, 2017 · Ackermann 2026 · Bass 2022 · Shneider BL, et al. Hepatology 2016;63:1368–80 · Cifuentes LI, et al. Cochrane 2021;CD011561</a:t>
            </a:r>
          </a:p>
        </p:txBody>
      </p:sp>
      <p:sp>
        <p:nvSpPr>
          <p:cNvPr id="12" name="Rectangle 11"/>
          <p:cNvSpPr/>
          <p:nvPr/>
        </p:nvSpPr>
        <p:spPr>
          <a:xfrm>
            <a:off x="54864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For</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HRV in 96% of bleeders vs 11% of never-bleeders</a:t>
            </a:r>
          </a:p>
          <a:p>
            <a:pPr algn="l">
              <a:spcAft>
                <a:spcPts val="400"/>
              </a:spcAft>
            </a:pPr>
            <a:r>
              <a:rPr sz="1050" b="0" i="0">
                <a:solidFill>
                  <a:srgbClr val="1A1A1A"/>
                </a:solidFill>
                <a:latin typeface="Abadi"/>
              </a:rPr>
              <a:t>▪  75% bleed with untreated HRV</a:t>
            </a:r>
          </a:p>
          <a:p>
            <a:pPr algn="l">
              <a:spcAft>
                <a:spcPts val="400"/>
              </a:spcAft>
            </a:pPr>
            <a:r>
              <a:rPr sz="1050" b="0" i="0">
                <a:solidFill>
                  <a:srgbClr val="1A1A1A"/>
                </a:solidFill>
                <a:latin typeface="Abadi"/>
              </a:rPr>
              <a:t>▪  No breakthrough bleed in 36 treated</a:t>
            </a:r>
          </a:p>
        </p:txBody>
      </p:sp>
      <p:sp>
        <p:nvSpPr>
          <p:cNvPr id="16" name="Rectangle 15"/>
          <p:cNvSpPr/>
          <p:nvPr/>
        </p:nvSpPr>
        <p:spPr>
          <a:xfrm>
            <a:off x="278770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Morbidity</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Bleed in a toddler: transfusion, ICU, decompensation</a:t>
            </a:r>
          </a:p>
          <a:p>
            <a:pPr algn="l">
              <a:spcAft>
                <a:spcPts val="400"/>
              </a:spcAft>
            </a:pPr>
            <a:r>
              <a:rPr sz="1050" b="0" i="0">
                <a:solidFill>
                  <a:srgbClr val="1A1A1A"/>
                </a:solidFill>
                <a:latin typeface="Abadi"/>
              </a:rPr>
              <a:t>▪  12.5% transplanted ≤ 6 weeks</a:t>
            </a:r>
          </a:p>
        </p:txBody>
      </p:sp>
      <p:sp>
        <p:nvSpPr>
          <p:cNvPr id="20" name="Rectangle 19"/>
          <p:cNvSpPr/>
          <p:nvPr/>
        </p:nvSpPr>
        <p:spPr>
          <a:xfrm>
            <a:off x="502676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Against</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5-y bleed incidence ~9%</a:t>
            </a:r>
          </a:p>
          <a:p>
            <a:pPr algn="l">
              <a:spcAft>
                <a:spcPts val="400"/>
              </a:spcAft>
            </a:pPr>
            <a:r>
              <a:rPr sz="1050" b="0" i="0">
                <a:solidFill>
                  <a:srgbClr val="1A1A1A"/>
                </a:solidFill>
                <a:latin typeface="Abadi"/>
              </a:rPr>
              <a:t>▪  Bleed mortality 2.5%</a:t>
            </a:r>
          </a:p>
          <a:p>
            <a:pPr algn="l">
              <a:spcAft>
                <a:spcPts val="400"/>
              </a:spcAft>
            </a:pPr>
            <a:r>
              <a:rPr sz="1050" b="0" i="0">
                <a:solidFill>
                  <a:srgbClr val="1A1A1A"/>
                </a:solidFill>
                <a:latin typeface="Abadi"/>
              </a:rPr>
              <a:t>▪  Baveno VI: no consensus</a:t>
            </a:r>
          </a:p>
        </p:txBody>
      </p:sp>
      <p:sp>
        <p:nvSpPr>
          <p:cNvPr id="24" name="Rectangle 23"/>
          <p:cNvSpPr/>
          <p:nvPr/>
        </p:nvSpPr>
        <p:spPr>
          <a:xfrm>
            <a:off x="726582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Costs</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Mean 4.2 sessions to eradicate</a:t>
            </a:r>
          </a:p>
          <a:p>
            <a:pPr algn="l">
              <a:spcAft>
                <a:spcPts val="400"/>
              </a:spcAft>
            </a:pPr>
            <a:r>
              <a:rPr sz="1050" b="0" i="0">
                <a:solidFill>
                  <a:srgbClr val="1A1A1A"/>
                </a:solidFill>
                <a:latin typeface="Abadi"/>
              </a:rPr>
              <a:t>▪  Recurrence 37%</a:t>
            </a:r>
          </a:p>
          <a:p>
            <a:pPr algn="l">
              <a:spcAft>
                <a:spcPts val="400"/>
              </a:spcAft>
            </a:pPr>
            <a:r>
              <a:rPr sz="1050" b="0" i="0">
                <a:solidFill>
                  <a:srgbClr val="1A1A1A"/>
                </a:solidFill>
                <a:latin typeface="Abadi"/>
              </a:rPr>
              <a:t>▪  Anaesthesia, ulcers, strictures</a:t>
            </a:r>
          </a:p>
        </p:txBody>
      </p:sp>
      <p:sp>
        <p:nvSpPr>
          <p:cNvPr id="28" name="Rectangle 27"/>
          <p:cNvSpPr/>
          <p:nvPr/>
        </p:nvSpPr>
        <p:spPr>
          <a:xfrm>
            <a:off x="950488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Evidence</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One feasibility RCT, n = 22</a:t>
            </a:r>
          </a:p>
          <a:p>
            <a:pPr algn="l">
              <a:spcAft>
                <a:spcPts val="400"/>
              </a:spcAft>
            </a:pPr>
            <a:r>
              <a:rPr sz="1050" b="0" i="0">
                <a:solidFill>
                  <a:srgbClr val="1A1A1A"/>
                </a:solidFill>
                <a:latin typeface="Abadi"/>
              </a:rPr>
              <a:t>▪  No paediatric beta-blocker RCT</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Where the line sits.   </a:t>
            </a:r>
            <a:r>
              <a:rPr sz="1250" b="0" i="0">
                <a:solidFill>
                  <a:srgbClr val="1B355E"/>
                </a:solidFill>
                <a:latin typeface="Abadi"/>
              </a:rPr>
              <a:t>The disagreement is smaller than it looks. Almost nobody bands small varices, and almost everybody treats high-risk varices when transplant is far away. The real questions are whether to scope at all without clinical signs, and what to do for a high-risk infant under 10 kg. The French school answers with early endoscopy and treatment of high-risk varices; ChiLDReN data argue that low event rates do not justify universal surveillance.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EVIDENCE BASE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WHAT THE TRIALS CAN TELL US</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Cochrane reviews of primary prophylaxis of variceal bleeding in children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Cifuentes LI, Gattini D, Torres-Robles R, Gana JC. Cochrane 2021;CD011561 and CD011973 · Gana JC, et al. Cochrane 2019;CD010546 · Colli 2017</a:t>
            </a:r>
          </a:p>
        </p:txBody>
      </p:sp>
      <p:graphicFrame>
        <p:nvGraphicFramePr>
          <p:cNvPr id="12" name="Table 11"/>
          <p:cNvGraphicFramePr>
            <a:graphicFrameLocks noGrp="1"/>
          </p:cNvGraphicFramePr>
          <p:nvPr/>
        </p:nvGraphicFramePr>
        <p:xfrm>
          <a:off x="548640" y="1783080"/>
          <a:ext cx="11082526" cy="2580000"/>
        </p:xfrm>
        <a:graphic>
          <a:graphicData uri="http://schemas.openxmlformats.org/drawingml/2006/table">
            <a:tbl>
              <a:tblPr firstRow="1" bandRow="1">
                <a:tableStyleId>{5C22544A-7EE6-4342-B048-85BDC9FD1C3A}</a:tableStyleId>
              </a:tblPr>
              <a:tblGrid>
                <a:gridCol w="2557506"/>
                <a:gridCol w="2557506"/>
                <a:gridCol w="4262510"/>
                <a:gridCol w="1705004"/>
              </a:tblGrid>
              <a:tr h="380000">
                <a:tc>
                  <a:txBody>
                    <a:bodyPr wrap="square"/>
                    <a:lstStyle/>
                    <a:p>
                      <a:r>
                        <a:rPr sz="1050" b="1" i="0">
                          <a:solidFill>
                            <a:srgbClr val="FFFFFF"/>
                          </a:solidFill>
                          <a:latin typeface="Abadi"/>
                        </a:rPr>
                        <a:t>Comparison</a:t>
                      </a:r>
                    </a:p>
                  </a:txBody>
                  <a:tcPr marL="64008" marR="64008" marT="27432" marB="27432" anchor="ctr">
                    <a:solidFill>
                      <a:srgbClr val="1B355E"/>
                    </a:solidFill>
                  </a:tcPr>
                </a:tc>
                <a:tc>
                  <a:txBody>
                    <a:bodyPr wrap="square"/>
                    <a:lstStyle/>
                    <a:p>
                      <a:r>
                        <a:rPr sz="1050" b="1" i="0">
                          <a:solidFill>
                            <a:srgbClr val="FFFFFF"/>
                          </a:solidFill>
                          <a:latin typeface="Abadi"/>
                        </a:rPr>
                        <a:t>Trials</a:t>
                      </a:r>
                    </a:p>
                  </a:txBody>
                  <a:tcPr marL="64008" marR="64008" marT="27432" marB="27432" anchor="ctr">
                    <a:solidFill>
                      <a:srgbClr val="1B355E"/>
                    </a:solidFill>
                  </a:tcPr>
                </a:tc>
                <a:tc>
                  <a:txBody>
                    <a:bodyPr wrap="square"/>
                    <a:lstStyle/>
                    <a:p>
                      <a:r>
                        <a:rPr sz="1050" b="1" i="0">
                          <a:solidFill>
                            <a:srgbClr val="FFFFFF"/>
                          </a:solidFill>
                          <a:latin typeface="Abadi"/>
                        </a:rPr>
                        <a:t>Result</a:t>
                      </a:r>
                    </a:p>
                  </a:txBody>
                  <a:tcPr marL="64008" marR="64008" marT="27432" marB="27432" anchor="ctr">
                    <a:solidFill>
                      <a:srgbClr val="1B355E"/>
                    </a:solidFill>
                  </a:tcPr>
                </a:tc>
                <a:tc>
                  <a:txBody>
                    <a:bodyPr wrap="square"/>
                    <a:lstStyle/>
                    <a:p>
                      <a:r>
                        <a:rPr sz="1050" b="1" i="0">
                          <a:solidFill>
                            <a:srgbClr val="FFFFFF"/>
                          </a:solidFill>
                          <a:latin typeface="Abadi"/>
                        </a:rPr>
                        <a:t>Certainty</a:t>
                      </a:r>
                    </a:p>
                  </a:txBody>
                  <a:tcPr marL="64008" marR="64008" marT="27432" marB="27432" anchor="ctr">
                    <a:solidFill>
                      <a:srgbClr val="1B355E"/>
                    </a:solidFill>
                  </a:tcPr>
                </a:tc>
              </a:tr>
              <a:tr h="440000">
                <a:tc>
                  <a:txBody>
                    <a:bodyPr wrap="square"/>
                    <a:lstStyle/>
                    <a:p>
                      <a:r>
                        <a:rPr sz="1050" b="1" i="0">
                          <a:solidFill>
                            <a:srgbClr val="1A1A1A"/>
                          </a:solidFill>
                          <a:latin typeface="Abadi"/>
                        </a:rPr>
                        <a:t>Band ligation vs sham</a:t>
                      </a:r>
                    </a:p>
                  </a:txBody>
                  <a:tcPr marL="64008" marR="64008" marT="27432" marB="27432" anchor="ctr">
                    <a:solidFill>
                      <a:srgbClr val="FFFFFF"/>
                    </a:solidFill>
                  </a:tcPr>
                </a:tc>
                <a:tc>
                  <a:txBody>
                    <a:bodyPr wrap="square"/>
                    <a:lstStyle/>
                    <a:p>
                      <a:r>
                        <a:rPr sz="1050" b="0" i="0">
                          <a:solidFill>
                            <a:srgbClr val="1A1A1A"/>
                          </a:solidFill>
                          <a:latin typeface="Abadi"/>
                        </a:rPr>
                        <a:t>1 feasibility RCT, n = 22</a:t>
                      </a:r>
                    </a:p>
                  </a:txBody>
                  <a:tcPr marL="64008" marR="64008" marT="27432" marB="27432" anchor="ctr">
                    <a:solidFill>
                      <a:srgbClr val="FFFFFF"/>
                    </a:solidFill>
                  </a:tcPr>
                </a:tc>
                <a:tc>
                  <a:txBody>
                    <a:bodyPr wrap="square"/>
                    <a:lstStyle/>
                    <a:p>
                      <a:r>
                        <a:rPr sz="1050" b="0" i="0">
                          <a:solidFill>
                            <a:srgbClr val="1A1A1A"/>
                          </a:solidFill>
                          <a:latin typeface="Abadi"/>
                        </a:rPr>
                        <a:t>Bleeding 1/12 vs 3/10; RR 0.28 (95% CI 0.03–2.27)</a:t>
                      </a:r>
                    </a:p>
                  </a:txBody>
                  <a:tcPr marL="64008" marR="64008" marT="27432" marB="27432" anchor="ctr">
                    <a:solidFill>
                      <a:srgbClr val="FFFFFF"/>
                    </a:solidFill>
                  </a:tcPr>
                </a:tc>
                <a:tc>
                  <a:txBody>
                    <a:bodyPr wrap="square"/>
                    <a:lstStyle/>
                    <a:p>
                      <a:r>
                        <a:rPr sz="1050" b="0" i="0">
                          <a:solidFill>
                            <a:srgbClr val="1A1A1A"/>
                          </a:solidFill>
                          <a:latin typeface="Abadi"/>
                        </a:rPr>
                        <a:t>Very low</a:t>
                      </a:r>
                    </a:p>
                  </a:txBody>
                  <a:tcPr marL="64008" marR="64008" marT="27432" marB="27432" anchor="ctr">
                    <a:solidFill>
                      <a:srgbClr val="FFFFFF"/>
                    </a:solidFill>
                  </a:tcPr>
                </a:tc>
              </a:tr>
              <a:tr h="440000">
                <a:tc>
                  <a:txBody>
                    <a:bodyPr wrap="square"/>
                    <a:lstStyle/>
                    <a:p>
                      <a:r>
                        <a:rPr sz="1050" b="1" i="0">
                          <a:solidFill>
                            <a:srgbClr val="1A1A1A"/>
                          </a:solidFill>
                          <a:latin typeface="Abadi"/>
                        </a:rPr>
                        <a:t>Beta-blocker vs placebo</a:t>
                      </a:r>
                    </a:p>
                  </a:txBody>
                  <a:tcPr marL="64008" marR="64008" marT="27432" marB="27432" anchor="ctr">
                    <a:solidFill>
                      <a:srgbClr val="F3F5F8"/>
                    </a:solidFill>
                  </a:tcPr>
                </a:tc>
                <a:tc>
                  <a:txBody>
                    <a:bodyPr wrap="square"/>
                    <a:lstStyle/>
                    <a:p>
                      <a:r>
                        <a:rPr sz="1050" b="0" i="0">
                          <a:solidFill>
                            <a:srgbClr val="1A1A1A"/>
                          </a:solidFill>
                          <a:latin typeface="Abadi"/>
                        </a:rPr>
                        <a:t>No RCTs</a:t>
                      </a:r>
                    </a:p>
                  </a:txBody>
                  <a:tcPr marL="64008" marR="64008" marT="27432" marB="27432" anchor="ctr">
                    <a:solidFill>
                      <a:srgbClr val="F3F5F8"/>
                    </a:solidFill>
                  </a:tcPr>
                </a:tc>
                <a:tc>
                  <a:txBody>
                    <a:bodyPr wrap="square"/>
                    <a:lstStyle/>
                    <a:p>
                      <a:r>
                        <a:rPr sz="1050" b="0" i="0">
                          <a:solidFill>
                            <a:srgbClr val="1A1A1A"/>
                          </a:solidFill>
                          <a:latin typeface="Abadi"/>
                        </a:rPr>
                        <a:t>—</a:t>
                      </a:r>
                    </a:p>
                  </a:txBody>
                  <a:tcPr marL="64008" marR="64008" marT="27432" marB="27432" anchor="ctr">
                    <a:solidFill>
                      <a:srgbClr val="F3F5F8"/>
                    </a:solidFill>
                  </a:tcPr>
                </a:tc>
                <a:tc>
                  <a:txBody>
                    <a:bodyPr wrap="square"/>
                    <a:lstStyle/>
                    <a:p>
                      <a:r>
                        <a:rPr sz="1050" b="0" i="0">
                          <a:solidFill>
                            <a:srgbClr val="1A1A1A"/>
                          </a:solidFill>
                          <a:latin typeface="Abadi"/>
                        </a:rPr>
                        <a:t>No evidence</a:t>
                      </a:r>
                    </a:p>
                  </a:txBody>
                  <a:tcPr marL="64008" marR="64008" marT="27432" marB="27432" anchor="ctr">
                    <a:solidFill>
                      <a:srgbClr val="F3F5F8"/>
                    </a:solidFill>
                  </a:tcPr>
                </a:tc>
              </a:tr>
              <a:tr h="440000">
                <a:tc>
                  <a:txBody>
                    <a:bodyPr wrap="square"/>
                    <a:lstStyle/>
                    <a:p>
                      <a:r>
                        <a:rPr sz="1050" b="1" i="0">
                          <a:solidFill>
                            <a:srgbClr val="1A1A1A"/>
                          </a:solidFill>
                          <a:latin typeface="Abadi"/>
                        </a:rPr>
                        <a:t>Band ligation vs beta-blocker</a:t>
                      </a:r>
                    </a:p>
                  </a:txBody>
                  <a:tcPr marL="64008" marR="64008" marT="27432" marB="27432" anchor="ctr">
                    <a:solidFill>
                      <a:srgbClr val="FFFFFF"/>
                    </a:solidFill>
                  </a:tcPr>
                </a:tc>
                <a:tc>
                  <a:txBody>
                    <a:bodyPr wrap="square"/>
                    <a:lstStyle/>
                    <a:p>
                      <a:r>
                        <a:rPr sz="1050" b="0" i="0">
                          <a:solidFill>
                            <a:srgbClr val="1A1A1A"/>
                          </a:solidFill>
                          <a:latin typeface="Abadi"/>
                        </a:rPr>
                        <a:t>No RCTs</a:t>
                      </a:r>
                    </a:p>
                  </a:txBody>
                  <a:tcPr marL="64008" marR="64008" marT="27432" marB="27432" anchor="ctr">
                    <a:solidFill>
                      <a:srgbClr val="FFFFFF"/>
                    </a:solidFill>
                  </a:tcPr>
                </a:tc>
                <a:tc>
                  <a:txBody>
                    <a:bodyPr wrap="square"/>
                    <a:lstStyle/>
                    <a:p>
                      <a:r>
                        <a:rPr sz="1050" b="0" i="0">
                          <a:solidFill>
                            <a:srgbClr val="1A1A1A"/>
                          </a:solidFill>
                          <a:latin typeface="Abadi"/>
                        </a:rPr>
                        <a:t>—</a:t>
                      </a:r>
                    </a:p>
                  </a:txBody>
                  <a:tcPr marL="64008" marR="64008" marT="27432" marB="27432" anchor="ctr">
                    <a:solidFill>
                      <a:srgbClr val="FFFFFF"/>
                    </a:solidFill>
                  </a:tcPr>
                </a:tc>
                <a:tc>
                  <a:txBody>
                    <a:bodyPr wrap="square"/>
                    <a:lstStyle/>
                    <a:p>
                      <a:r>
                        <a:rPr sz="1050" b="0" i="0">
                          <a:solidFill>
                            <a:srgbClr val="1A1A1A"/>
                          </a:solidFill>
                          <a:latin typeface="Abadi"/>
                        </a:rPr>
                        <a:t>No evidence</a:t>
                      </a:r>
                    </a:p>
                  </a:txBody>
                  <a:tcPr marL="64008" marR="64008" marT="27432" marB="27432" anchor="ctr">
                    <a:solidFill>
                      <a:srgbClr val="FFFFFF"/>
                    </a:solidFill>
                  </a:tcPr>
                </a:tc>
              </a:tr>
              <a:tr h="440000">
                <a:tc>
                  <a:txBody>
                    <a:bodyPr wrap="square"/>
                    <a:lstStyle/>
                    <a:p>
                      <a:r>
                        <a:rPr sz="1050" b="1" i="0">
                          <a:solidFill>
                            <a:srgbClr val="1A1A1A"/>
                          </a:solidFill>
                          <a:latin typeface="Abadi"/>
                        </a:rPr>
                        <a:t>Sclerotherapy vs sham</a:t>
                      </a:r>
                    </a:p>
                  </a:txBody>
                  <a:tcPr marL="64008" marR="64008" marT="27432" marB="27432" anchor="ctr">
                    <a:solidFill>
                      <a:srgbClr val="F3F5F8"/>
                    </a:solidFill>
                  </a:tcPr>
                </a:tc>
                <a:tc>
                  <a:txBody>
                    <a:bodyPr wrap="square"/>
                    <a:lstStyle/>
                    <a:p>
                      <a:r>
                        <a:rPr sz="1050" b="0" i="0">
                          <a:solidFill>
                            <a:srgbClr val="1A1A1A"/>
                          </a:solidFill>
                          <a:latin typeface="Abadi"/>
                        </a:rPr>
                        <a:t>Protocol stage</a:t>
                      </a:r>
                    </a:p>
                  </a:txBody>
                  <a:tcPr marL="64008" marR="64008" marT="27432" marB="27432" anchor="ctr">
                    <a:solidFill>
                      <a:srgbClr val="F3F5F8"/>
                    </a:solidFill>
                  </a:tcPr>
                </a:tc>
                <a:tc>
                  <a:txBody>
                    <a:bodyPr wrap="square"/>
                    <a:lstStyle/>
                    <a:p>
                      <a:r>
                        <a:rPr sz="1050" b="0" i="0">
                          <a:solidFill>
                            <a:srgbClr val="1A1A1A"/>
                          </a:solidFill>
                          <a:latin typeface="Abadi"/>
                        </a:rPr>
                        <a:t>—</a:t>
                      </a:r>
                    </a:p>
                  </a:txBody>
                  <a:tcPr marL="64008" marR="64008" marT="27432" marB="27432" anchor="ctr">
                    <a:solidFill>
                      <a:srgbClr val="F3F5F8"/>
                    </a:solidFill>
                  </a:tcPr>
                </a:tc>
                <a:tc>
                  <a:txBody>
                    <a:bodyPr wrap="square"/>
                    <a:lstStyle/>
                    <a:p>
                      <a:r>
                        <a:rPr sz="1050" b="0" i="0">
                          <a:solidFill>
                            <a:srgbClr val="1A1A1A"/>
                          </a:solidFill>
                          <a:latin typeface="Abadi"/>
                        </a:rPr>
                        <a:t>No evidence</a:t>
                      </a:r>
                    </a:p>
                  </a:txBody>
                  <a:tcPr marL="64008" marR="64008" marT="27432" marB="27432" anchor="ctr">
                    <a:solidFill>
                      <a:srgbClr val="F3F5F8"/>
                    </a:solidFill>
                  </a:tcPr>
                </a:tc>
              </a:tr>
              <a:tr h="440000">
                <a:tc>
                  <a:txBody>
                    <a:bodyPr wrap="square"/>
                    <a:lstStyle/>
                    <a:p>
                      <a:r>
                        <a:rPr sz="1050" b="1" i="0">
                          <a:solidFill>
                            <a:srgbClr val="1A1A1A"/>
                          </a:solidFill>
                          <a:latin typeface="Abadi"/>
                        </a:rPr>
                        <a:t>Non-invasive tests for varices</a:t>
                      </a:r>
                    </a:p>
                  </a:txBody>
                  <a:tcPr marL="64008" marR="64008" marT="27432" marB="27432" anchor="ctr">
                    <a:solidFill>
                      <a:srgbClr val="FFFFFF"/>
                    </a:solidFill>
                  </a:tcPr>
                </a:tc>
                <a:tc>
                  <a:txBody>
                    <a:bodyPr wrap="square"/>
                    <a:lstStyle/>
                    <a:p>
                      <a:r>
                        <a:rPr sz="1050" b="0" i="0">
                          <a:solidFill>
                            <a:srgbClr val="1A1A1A"/>
                          </a:solidFill>
                          <a:latin typeface="Abadi"/>
                        </a:rPr>
                        <a:t>DTA review</a:t>
                      </a:r>
                    </a:p>
                  </a:txBody>
                  <a:tcPr marL="64008" marR="64008" marT="27432" marB="27432" anchor="ctr">
                    <a:solidFill>
                      <a:srgbClr val="FFFFFF"/>
                    </a:solidFill>
                  </a:tcPr>
                </a:tc>
                <a:tc>
                  <a:txBody>
                    <a:bodyPr wrap="square"/>
                    <a:lstStyle/>
                    <a:p>
                      <a:r>
                        <a:rPr sz="1050" b="0" i="0">
                          <a:solidFill>
                            <a:srgbClr val="1A1A1A"/>
                          </a:solidFill>
                          <a:latin typeface="Abadi"/>
                        </a:rPr>
                        <a:t>Platelets sens 0.71 / spec 0.83 in children</a:t>
                      </a:r>
                    </a:p>
                  </a:txBody>
                  <a:tcPr marL="64008" marR="64008" marT="27432" marB="27432" anchor="ctr">
                    <a:solidFill>
                      <a:srgbClr val="FFFFFF"/>
                    </a:solidFill>
                  </a:tcPr>
                </a:tc>
                <a:tc>
                  <a:txBody>
                    <a:bodyPr wrap="square"/>
                    <a:lstStyle/>
                    <a:p>
                      <a:r>
                        <a:rPr sz="1050" b="0" i="0">
                          <a:solidFill>
                            <a:srgbClr val="1A1A1A"/>
                          </a:solidFill>
                          <a:latin typeface="Abadi"/>
                        </a:rPr>
                        <a:t>Low</a:t>
                      </a:r>
                    </a:p>
                  </a:txBody>
                  <a:tcPr marL="64008" marR="64008" marT="27432" marB="27432" anchor="ctr">
                    <a:solidFill>
                      <a:srgbClr val="FFFFFF"/>
                    </a:solidFill>
                  </a:tcPr>
                </a:tc>
              </a:tr>
            </a:tbl>
          </a:graphicData>
        </a:graphic>
      </p:graphicFrame>
      <p:sp>
        <p:nvSpPr>
          <p:cNvPr id="13" name="TextBox 12"/>
          <p:cNvSpPr txBox="1"/>
          <p:nvPr/>
        </p:nvSpPr>
        <p:spPr>
          <a:xfrm>
            <a:off x="548640" y="4572000"/>
            <a:ext cx="11082528" cy="1200000"/>
          </a:xfrm>
          <a:prstGeom prst="rect">
            <a:avLst/>
          </a:prstGeom>
          <a:noFill/>
        </p:spPr>
        <p:txBody>
          <a:bodyPr wrap="square" lIns="45720" rIns="45720" tIns="27432" bIns="27432" anchor="t">
            <a:spAutoFit/>
          </a:bodyPr>
          <a:lstStyle/>
          <a:p>
            <a:pPr algn="l"/>
            <a:r>
              <a:rPr sz="1250" b="1" i="0">
                <a:solidFill>
                  <a:srgbClr val="1B355E"/>
                </a:solidFill>
                <a:latin typeface="Abadi"/>
              </a:rPr>
              <a:t>Material gap.   </a:t>
            </a:r>
            <a:r>
              <a:rPr sz="1250" b="0" i="0">
                <a:solidFill>
                  <a:srgbClr val="1B355E"/>
                </a:solidFill>
                <a:latin typeface="Abadi"/>
              </a:rPr>
              <a:t>Every recommendation on primary prophylaxis in children is extrapolated from adults or from observational paediatric cohorts. Adult beta-blocker data, now dominated by carvedilol, rest on a haemodynamic response that cannot be measured in a toddler and on heart-rate targets that are harder to interpret.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TOOLS IN SMALL CHILDREN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BAND, INJECT OR BLOCK</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Practical options when a child under two has high-risk varices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APSPGHAN. Pediatr Gastroenterol Hepatol Nutr 2026;29:1–21 (PMID 41567251) · Sansotta N, et al. Children 2025;12:940 · Duché 2013 · Mileti E, Rosenthal P. Curr Gastroenterol Rep 2011;13:10–6</a:t>
            </a:r>
          </a:p>
        </p:txBody>
      </p:sp>
      <p:sp>
        <p:nvSpPr>
          <p:cNvPr id="12" name="Rectangle 11"/>
          <p:cNvSpPr/>
          <p:nvPr/>
        </p:nvSpPr>
        <p:spPr>
          <a:xfrm>
            <a:off x="548640" y="1773936"/>
            <a:ext cx="2011680"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Band ligation</a:t>
            </a:r>
          </a:p>
        </p:txBody>
      </p:sp>
      <p:sp>
        <p:nvSpPr>
          <p:cNvPr id="15" name="TextBox 14"/>
          <p:cNvSpPr txBox="1"/>
          <p:nvPr/>
        </p:nvSpPr>
        <p:spPr>
          <a:xfrm>
            <a:off x="658368"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Preferred from about 10 kg (APSPGHAN 2026). Ligators need an adult-diameter scope.</a:t>
            </a:r>
          </a:p>
        </p:txBody>
      </p:sp>
      <p:sp>
        <p:nvSpPr>
          <p:cNvPr id="16" name="TextBox 15"/>
          <p:cNvSpPr txBox="1"/>
          <p:nvPr/>
        </p:nvSpPr>
        <p:spPr>
          <a:xfrm>
            <a:off x="2560320"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783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Sclerotherapy</a:t>
            </a:r>
          </a:p>
        </p:txBody>
      </p:sp>
      <p:sp>
        <p:nvSpPr>
          <p:cNvPr id="20" name="TextBox 19"/>
          <p:cNvSpPr txBox="1"/>
          <p:nvPr/>
        </p:nvSpPr>
        <p:spPr>
          <a:xfrm>
            <a:off x="2926080"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Under 10 kg: used by 63% of Italian centres. More ulcers and strictures than banding.</a:t>
            </a:r>
          </a:p>
        </p:txBody>
      </p:sp>
      <p:sp>
        <p:nvSpPr>
          <p:cNvPr id="21" name="TextBox 20"/>
          <p:cNvSpPr txBox="1"/>
          <p:nvPr/>
        </p:nvSpPr>
        <p:spPr>
          <a:xfrm>
            <a:off x="4828032"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7830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Beta-blocker</a:t>
            </a:r>
          </a:p>
        </p:txBody>
      </p:sp>
      <p:sp>
        <p:nvSpPr>
          <p:cNvPr id="25" name="TextBox 24"/>
          <p:cNvSpPr txBox="1"/>
          <p:nvPr/>
        </p:nvSpPr>
        <p:spPr>
          <a:xfrm>
            <a:off x="5193792"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Propranolol: the choice in all Italian centres, dose titrated to heart rate. No RCT.</a:t>
            </a:r>
          </a:p>
        </p:txBody>
      </p:sp>
      <p:sp>
        <p:nvSpPr>
          <p:cNvPr id="26" name="TextBox 25"/>
          <p:cNvSpPr txBox="1"/>
          <p:nvPr/>
        </p:nvSpPr>
        <p:spPr>
          <a:xfrm>
            <a:off x="7095744"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783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Gastric varices</a:t>
            </a:r>
          </a:p>
        </p:txBody>
      </p:sp>
      <p:sp>
        <p:nvSpPr>
          <p:cNvPr id="30" name="TextBox 29"/>
          <p:cNvSpPr txBox="1"/>
          <p:nvPr/>
        </p:nvSpPr>
        <p:spPr>
          <a:xfrm>
            <a:off x="7461504"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Cyanoacrylate for GOV2 and isolated gastric varices, in expert hands.</a:t>
            </a:r>
          </a:p>
        </p:txBody>
      </p:sp>
      <p:sp>
        <p:nvSpPr>
          <p:cNvPr id="31" name="TextBox 30"/>
          <p:cNvSpPr txBox="1"/>
          <p:nvPr/>
        </p:nvSpPr>
        <p:spPr>
          <a:xfrm>
            <a:off x="9363456"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7830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Transplant</a:t>
            </a:r>
          </a:p>
        </p:txBody>
      </p:sp>
      <p:sp>
        <p:nvSpPr>
          <p:cNvPr id="35" name="TextBox 34"/>
          <p:cNvSpPr txBox="1"/>
          <p:nvPr/>
        </p:nvSpPr>
        <p:spPr>
          <a:xfrm>
            <a:off x="9729216"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When HRV cannot be eradicated or liver function is failing.</a:t>
            </a:r>
          </a:p>
        </p:txBody>
      </p:sp>
      <p:sp>
        <p:nvSpPr>
          <p:cNvPr id="36" name="TextBox 35"/>
          <p:cNvSpPr txBox="1"/>
          <p:nvPr/>
        </p:nvSpPr>
        <p:spPr>
          <a:xfrm>
            <a:off x="548640" y="3840480"/>
            <a:ext cx="11082528" cy="1700000"/>
          </a:xfrm>
          <a:prstGeom prst="rect">
            <a:avLst/>
          </a:prstGeom>
          <a:noFill/>
        </p:spPr>
        <p:txBody>
          <a:bodyPr wrap="square" lIns="45720" rIns="45720" tIns="27432" bIns="27432" anchor="t">
            <a:spAutoFit/>
          </a:bodyPr>
          <a:lstStyle/>
          <a:p>
            <a:pPr algn="l"/>
            <a:r>
              <a:rPr sz="1250" b="1" i="0">
                <a:solidFill>
                  <a:srgbClr val="1B355E"/>
                </a:solidFill>
                <a:latin typeface="Abadi"/>
              </a:rPr>
              <a:t>Pearl.   </a:t>
            </a:r>
            <a:r>
              <a:rPr sz="1250" b="0" i="0">
                <a:solidFill>
                  <a:srgbClr val="1B355E"/>
                </a:solidFill>
                <a:latin typeface="Abadi"/>
              </a:rPr>
              <a:t>A beta-blocker in a toddler blunts the tachycardia that would signal a bleed and can mask hypoglycaemia; families need a clear action plan. In the Duché 2017 cirrhotic cohort, 110 of 120 children with high-risk varices had endoscopic therapy: eradication in 76, relapse in 20; of 34 not eradicated, 29 were transplanted. Endoscopic prophylaxis is a bridge, and the bridge often leads to transplant.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ACUTE VARICEAL BLEEDING</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FIRST HOUR AND THE FIRST DAY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Paediatric expert guidance on an acute bleed in a child with biliary atresia</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APSPGHAN 2026 · de Franchis R, et al. J Hepatol 2022;76:959–74 (Baveno VII) · Kaplan DE, et al. Hepatology 2024;79:1180–211 · Bass 2022</a:t>
            </a:r>
          </a:p>
        </p:txBody>
      </p:sp>
      <p:sp>
        <p:nvSpPr>
          <p:cNvPr id="12" name="Rectangle 11"/>
          <p:cNvSpPr/>
          <p:nvPr/>
        </p:nvSpPr>
        <p:spPr>
          <a:xfrm>
            <a:off x="548640" y="1773936"/>
            <a:ext cx="2011680" cy="1783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Resuscitate</a:t>
            </a:r>
          </a:p>
        </p:txBody>
      </p:sp>
      <p:sp>
        <p:nvSpPr>
          <p:cNvPr id="15" name="TextBox 14"/>
          <p:cNvSpPr txBox="1"/>
          <p:nvPr/>
        </p:nvSpPr>
        <p:spPr>
          <a:xfrm>
            <a:off x="658368"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Restrictive transfusion: transfuse below Hb 7, target 7–9 g/dL. No routine plasma.</a:t>
            </a:r>
          </a:p>
        </p:txBody>
      </p:sp>
      <p:sp>
        <p:nvSpPr>
          <p:cNvPr id="16" name="TextBox 15"/>
          <p:cNvSpPr txBox="1"/>
          <p:nvPr/>
        </p:nvSpPr>
        <p:spPr>
          <a:xfrm>
            <a:off x="2560320"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783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Vasoactive</a:t>
            </a:r>
          </a:p>
        </p:txBody>
      </p:sp>
      <p:sp>
        <p:nvSpPr>
          <p:cNvPr id="20" name="TextBox 19"/>
          <p:cNvSpPr txBox="1"/>
          <p:nvPr/>
        </p:nvSpPr>
        <p:spPr>
          <a:xfrm>
            <a:off x="2926080"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Octreotide 1 µg/kg bolus (max 50 µg), then 1–2 µg/kg/h for 2–5 days.</a:t>
            </a:r>
          </a:p>
        </p:txBody>
      </p:sp>
      <p:sp>
        <p:nvSpPr>
          <p:cNvPr id="21" name="TextBox 20"/>
          <p:cNvSpPr txBox="1"/>
          <p:nvPr/>
        </p:nvSpPr>
        <p:spPr>
          <a:xfrm>
            <a:off x="4828032"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Antibiotics</a:t>
            </a:r>
          </a:p>
        </p:txBody>
      </p:sp>
      <p:sp>
        <p:nvSpPr>
          <p:cNvPr id="25" name="TextBox 24"/>
          <p:cNvSpPr txBox="1"/>
          <p:nvPr/>
        </p:nvSpPr>
        <p:spPr>
          <a:xfrm>
            <a:off x="5193792"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A third-generation cephalosporin for 5–7 days.</a:t>
            </a:r>
          </a:p>
        </p:txBody>
      </p:sp>
      <p:sp>
        <p:nvSpPr>
          <p:cNvPr id="26" name="TextBox 25"/>
          <p:cNvSpPr txBox="1"/>
          <p:nvPr/>
        </p:nvSpPr>
        <p:spPr>
          <a:xfrm>
            <a:off x="7095744"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7830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Endoscopy</a:t>
            </a:r>
          </a:p>
        </p:txBody>
      </p:sp>
      <p:sp>
        <p:nvSpPr>
          <p:cNvPr id="30" name="TextBox 29"/>
          <p:cNvSpPr txBox="1"/>
          <p:nvPr/>
        </p:nvSpPr>
        <p:spPr>
          <a:xfrm>
            <a:off x="7461504"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Within 24 h after resuscitation (≤ 12 h in adults). Banding preferred.</a:t>
            </a:r>
          </a:p>
        </p:txBody>
      </p:sp>
      <p:sp>
        <p:nvSpPr>
          <p:cNvPr id="31" name="TextBox 30"/>
          <p:cNvSpPr txBox="1"/>
          <p:nvPr/>
        </p:nvSpPr>
        <p:spPr>
          <a:xfrm>
            <a:off x="9363456" y="2528316"/>
            <a:ext cx="256032" cy="274320"/>
          </a:xfrm>
          <a:prstGeom prst="rect">
            <a:avLst/>
          </a:prstGeom>
          <a:noFill/>
        </p:spPr>
        <p:txBody>
          <a:bodyPr wrap="square" lIns="45720" rIns="45720" tIns="27432" bIns="27432"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7830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45720" rIns="45720" tIns="27432" bIns="27432" anchor="ctr">
            <a:spAutoFit/>
          </a:bodyPr>
          <a:lstStyle/>
          <a:p>
            <a:pPr algn="l"/>
            <a:r>
              <a:rPr sz="1150" b="1" i="0">
                <a:solidFill>
                  <a:srgbClr val="FFFFFF"/>
                </a:solidFill>
                <a:latin typeface="Abadi"/>
              </a:rPr>
              <a:t>After</a:t>
            </a:r>
          </a:p>
        </p:txBody>
      </p:sp>
      <p:sp>
        <p:nvSpPr>
          <p:cNvPr id="35" name="TextBox 34"/>
          <p:cNvSpPr txBox="1"/>
          <p:nvPr/>
        </p:nvSpPr>
        <p:spPr>
          <a:xfrm>
            <a:off x="9729216" y="2231136"/>
            <a:ext cx="1792224" cy="1263080"/>
          </a:xfrm>
          <a:prstGeom prst="rect">
            <a:avLst/>
          </a:prstGeom>
          <a:noFill/>
        </p:spPr>
        <p:txBody>
          <a:bodyPr wrap="square" lIns="45720" rIns="45720" tIns="27432" bIns="27432" anchor="t">
            <a:spAutoFit/>
          </a:bodyPr>
          <a:lstStyle/>
          <a:p>
            <a:pPr algn="l"/>
            <a:r>
              <a:rPr sz="1050" b="0" i="0">
                <a:solidFill>
                  <a:srgbClr val="1A1A1A"/>
                </a:solidFill>
                <a:latin typeface="Abadi"/>
              </a:rPr>
              <a:t>Secondary prophylaxis by banding every 2–4 weeks; start transplant assessment.</a:t>
            </a:r>
          </a:p>
        </p:txBody>
      </p:sp>
      <p:sp>
        <p:nvSpPr>
          <p:cNvPr id="36" name="TextBox 35"/>
          <p:cNvSpPr txBox="1"/>
          <p:nvPr/>
        </p:nvSpPr>
        <p:spPr>
          <a:xfrm>
            <a:off x="548640" y="3840480"/>
            <a:ext cx="11082528" cy="1700000"/>
          </a:xfrm>
          <a:prstGeom prst="rect">
            <a:avLst/>
          </a:prstGeom>
          <a:noFill/>
        </p:spPr>
        <p:txBody>
          <a:bodyPr wrap="square" lIns="45720" rIns="45720" tIns="27432" bIns="27432" anchor="t">
            <a:spAutoFit/>
          </a:bodyPr>
          <a:lstStyle/>
          <a:p>
            <a:pPr algn="l"/>
            <a:r>
              <a:rPr sz="1250" b="1" i="0">
                <a:solidFill>
                  <a:srgbClr val="1B355E"/>
                </a:solidFill>
                <a:latin typeface="Abadi"/>
              </a:rPr>
              <a:t>Why it differs from adults.   </a:t>
            </a:r>
            <a:r>
              <a:rPr sz="1250" b="0" i="0">
                <a:solidFill>
                  <a:srgbClr val="1B355E"/>
                </a:solidFill>
                <a:latin typeface="Abadi"/>
              </a:rPr>
              <a:t>Pre-emptive TIPS, standard for high-risk adults in Baveno VII, is rarely available or appropriate in a small child with a hypoplastic portal vein. Over-transfusion raises portal pressure and rebleeding; children are no exception. In ChiLDReN, 2.5% died and 12.5% were transplanted within six weeks of a bleed: a bleed is the moment to recalculate prognosis, not only to stop bleeding.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HYPERSPLENISM AND OTHER BLEEDING SITES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SPLEEN AND THE ROUX LOOP</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Usually a marker, rarely a target; and a bleeding source that endoscopy can miss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Salinas-Castro KJ, et al. Front Radiol 2026;6:1731300 · Tainaka T, et al. Nagoya J Med Sci 2021;83:765–71 · Raissi D, et al. J Clin Imaging Sci 2023;13:18 · Jeon 2024, J Pediatr Surg Open</a:t>
            </a:r>
          </a:p>
        </p:txBody>
      </p:sp>
      <p:sp>
        <p:nvSpPr>
          <p:cNvPr id="12" name="Rectangle 11"/>
          <p:cNvSpPr/>
          <p:nvPr/>
        </p:nvSpPr>
        <p:spPr>
          <a:xfrm>
            <a:off x="54864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Hypersplenism</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36.8% in Japan; treated in 5.9%</a:t>
            </a:r>
          </a:p>
          <a:p>
            <a:pPr algn="l">
              <a:spcAft>
                <a:spcPts val="400"/>
              </a:spcAft>
            </a:pPr>
            <a:r>
              <a:rPr sz="1050" b="0" i="0">
                <a:solidFill>
                  <a:srgbClr val="1A1A1A"/>
                </a:solidFill>
                <a:latin typeface="Abadi"/>
              </a:rPr>
              <a:t>▪  Treat for bleeding or sport risk, not a number</a:t>
            </a:r>
          </a:p>
        </p:txBody>
      </p:sp>
      <p:sp>
        <p:nvSpPr>
          <p:cNvPr id="16" name="Rectangle 15"/>
          <p:cNvSpPr/>
          <p:nvPr/>
        </p:nvSpPr>
        <p:spPr>
          <a:xfrm>
            <a:off x="278770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Partial embolisation</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n = 12: platelets 58 → +235 ×10⁹/L</a:t>
            </a:r>
          </a:p>
          <a:p>
            <a:pPr algn="l">
              <a:spcAft>
                <a:spcPts val="400"/>
              </a:spcAft>
            </a:pPr>
            <a:r>
              <a:rPr sz="1050" b="0" i="0">
                <a:solidFill>
                  <a:srgbClr val="1A1A1A"/>
                </a:solidFill>
                <a:latin typeface="Abadi"/>
              </a:rPr>
              <a:t>▪  Pain 33%, fever 17%</a:t>
            </a:r>
          </a:p>
        </p:txBody>
      </p:sp>
      <p:sp>
        <p:nvSpPr>
          <p:cNvPr id="20" name="Rectangle 19"/>
          <p:cNvSpPr/>
          <p:nvPr/>
        </p:nvSpPr>
        <p:spPr>
          <a:xfrm>
            <a:off x="502676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Partial splenectomy</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BA, n = 15: higher platelets at 3 y</a:t>
            </a:r>
          </a:p>
          <a:p>
            <a:pPr algn="l">
              <a:spcAft>
                <a:spcPts val="400"/>
              </a:spcAft>
            </a:pPr>
            <a:r>
              <a:rPr sz="1050" b="0" i="0">
                <a:solidFill>
                  <a:srgbClr val="1A1A1A"/>
                </a:solidFill>
                <a:latin typeface="Abadi"/>
              </a:rPr>
              <a:t>▪  27% later needed LDLT</a:t>
            </a:r>
          </a:p>
        </p:txBody>
      </p:sp>
      <p:sp>
        <p:nvSpPr>
          <p:cNvPr id="24" name="Rectangle 23"/>
          <p:cNvSpPr/>
          <p:nvPr/>
        </p:nvSpPr>
        <p:spPr>
          <a:xfrm>
            <a:off x="726582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TIPS</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Meta-analysis, n = 198: success 94%</a:t>
            </a:r>
          </a:p>
          <a:p>
            <a:pPr algn="l">
              <a:spcAft>
                <a:spcPts val="400"/>
              </a:spcAft>
            </a:pPr>
            <a:r>
              <a:rPr sz="1050" b="0" i="0">
                <a:solidFill>
                  <a:srgbClr val="1A1A1A"/>
                </a:solidFill>
                <a:latin typeface="Abadi"/>
              </a:rPr>
              <a:t>▪  Dysfunction 27%, HE 10.6%</a:t>
            </a:r>
          </a:p>
        </p:txBody>
      </p:sp>
      <p:sp>
        <p:nvSpPr>
          <p:cNvPr id="28" name="Rectangle 27"/>
          <p:cNvSpPr/>
          <p:nvPr/>
        </p:nvSpPr>
        <p:spPr>
          <a:xfrm>
            <a:off x="950488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Roux-loop varices</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050" b="0" i="0">
                <a:solidFill>
                  <a:srgbClr val="1A1A1A"/>
                </a:solidFill>
                <a:latin typeface="Abadi"/>
              </a:rPr>
              <a:t>▪  PH enteropathy in 15.2% scoped</a:t>
            </a:r>
          </a:p>
          <a:p>
            <a:pPr algn="l">
              <a:spcAft>
                <a:spcPts val="400"/>
              </a:spcAft>
            </a:pPr>
            <a:r>
              <a:rPr sz="1050" b="0" i="0">
                <a:solidFill>
                  <a:srgbClr val="1A1A1A"/>
                </a:solidFill>
                <a:latin typeface="Abadi"/>
              </a:rPr>
              <a:t>▪  Sole bleed source in 29.8%</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Pearls.   </a:t>
            </a:r>
            <a:r>
              <a:rPr sz="1250" b="0" i="0">
                <a:solidFill>
                  <a:srgbClr val="1B355E"/>
                </a:solidFill>
                <a:latin typeface="Abadi"/>
              </a:rPr>
              <a:t>Avoid total splenectomy: infection risk and loss of a portosystemic outlet, and it complicates later transplant. Thrombocytopenia alone is rarely a reason to intervene. If a child with biliary atresia has melaena with a clean oesophagus and stomach, think of varices at the hepaticojejunostomy or in the Roux loop; capsule, enteroscopy or angiography may be needed.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Adult guidance versus paediatric expert statements; no ESPGHAN or NASPGHAN guideline on portal hypertension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Kaplan 2024 (AASLD) · de Franchis 2022 (Baveno VII; EASL-endorsed framework) · Shneider 2016 (Baveno VI Paediatric) · APSPGHAN 2026</a:t>
            </a:r>
          </a:p>
        </p:txBody>
      </p:sp>
      <p:graphicFrame>
        <p:nvGraphicFramePr>
          <p:cNvPr id="12" name="Table 11"/>
          <p:cNvGraphicFramePr>
            <a:graphicFrameLocks noGrp="1"/>
          </p:cNvGraphicFramePr>
          <p:nvPr/>
        </p:nvGraphicFramePr>
        <p:xfrm>
          <a:off x="548640" y="1783080"/>
          <a:ext cx="11082525" cy="2960000"/>
        </p:xfrm>
        <a:graphic>
          <a:graphicData uri="http://schemas.openxmlformats.org/drawingml/2006/table">
            <a:tbl>
              <a:tblPr firstRow="1" bandRow="1">
                <a:tableStyleId>{5C22544A-7EE6-4342-B048-85BDC9FD1C3A}</a:tableStyleId>
              </a:tblPr>
              <a:tblGrid>
                <a:gridCol w="1861187"/>
                <a:gridCol w="2537983"/>
                <a:gridCol w="2537983"/>
                <a:gridCol w="3045580"/>
                <a:gridCol w="1099792"/>
              </a:tblGrid>
              <a:tr h="380000">
                <a:tc>
                  <a:txBody>
                    <a:bodyPr wrap="square"/>
                    <a:lstStyle/>
                    <a:p>
                      <a:r>
                        <a:rPr sz="950" b="1" i="0">
                          <a:solidFill>
                            <a:srgbClr val="FFFFFF"/>
                          </a:solidFill>
                          <a:latin typeface="Abadi"/>
                        </a:rPr>
                        <a:t>Question</a:t>
                      </a:r>
                    </a:p>
                  </a:txBody>
                  <a:tcPr marL="64008" marR="64008" marT="27432" marB="27432" anchor="ctr">
                    <a:solidFill>
                      <a:srgbClr val="1B355E"/>
                    </a:solidFill>
                  </a:tcPr>
                </a:tc>
                <a:tc>
                  <a:txBody>
                    <a:bodyPr wrap="square"/>
                    <a:lstStyle/>
                    <a:p>
                      <a:r>
                        <a:rPr sz="950" b="1" i="0">
                          <a:solidFill>
                            <a:srgbClr val="FFFFFF"/>
                          </a:solidFill>
                          <a:latin typeface="Abadi"/>
                        </a:rPr>
                        <a:t>AASLD 2024 (adult)</a:t>
                      </a:r>
                    </a:p>
                  </a:txBody>
                  <a:tcPr marL="64008" marR="64008" marT="27432" marB="27432" anchor="ctr">
                    <a:solidFill>
                      <a:srgbClr val="1B355E"/>
                    </a:solidFill>
                  </a:tcPr>
                </a:tc>
                <a:tc>
                  <a:txBody>
                    <a:bodyPr wrap="square"/>
                    <a:lstStyle/>
                    <a:p>
                      <a:r>
                        <a:rPr sz="950" b="1" i="0">
                          <a:solidFill>
                            <a:srgbClr val="FFFFFF"/>
                          </a:solidFill>
                          <a:latin typeface="Abadi"/>
                        </a:rPr>
                        <a:t>Baveno VII / EASL (adult)</a:t>
                      </a:r>
                    </a:p>
                  </a:txBody>
                  <a:tcPr marL="64008" marR="64008" marT="27432" marB="27432" anchor="ctr">
                    <a:solidFill>
                      <a:srgbClr val="1B355E"/>
                    </a:solidFill>
                  </a:tcPr>
                </a:tc>
                <a:tc>
                  <a:txBody>
                    <a:bodyPr wrap="square"/>
                    <a:lstStyle/>
                    <a:p>
                      <a:r>
                        <a:rPr sz="950" b="1" i="0">
                          <a:solidFill>
                            <a:srgbClr val="FFFFFF"/>
                          </a:solidFill>
                          <a:latin typeface="Abadi"/>
                        </a:rPr>
                        <a:t>Paediatric (Baveno VI Peds · APSPGHAN)</a:t>
                      </a:r>
                    </a:p>
                  </a:txBody>
                  <a:tcPr marL="64008" marR="64008" marT="27432" marB="27432" anchor="ctr">
                    <a:solidFill>
                      <a:srgbClr val="1B355E"/>
                    </a:solidFill>
                  </a:tcPr>
                </a:tc>
                <a:tc>
                  <a:txBody>
                    <a:bodyPr wrap="square"/>
                    <a:lstStyle/>
                    <a:p>
                      <a:r>
                        <a:rPr sz="950" b="1" i="0">
                          <a:solidFill>
                            <a:srgbClr val="FFFFFF"/>
                          </a:solidFill>
                          <a:latin typeface="Abadi"/>
                        </a:rPr>
                        <a:t>Verdict</a:t>
                      </a:r>
                    </a:p>
                  </a:txBody>
                  <a:tcPr marL="64008" marR="64008" marT="27432" marB="27432" anchor="ctr">
                    <a:solidFill>
                      <a:srgbClr val="1B355E"/>
                    </a:solidFill>
                  </a:tcPr>
                </a:tc>
              </a:tr>
              <a:tr h="430000">
                <a:tc>
                  <a:txBody>
                    <a:bodyPr wrap="square"/>
                    <a:lstStyle/>
                    <a:p>
                      <a:r>
                        <a:rPr sz="950" b="1" i="0">
                          <a:solidFill>
                            <a:srgbClr val="1A1A1A"/>
                          </a:solidFill>
                          <a:latin typeface="Abadi"/>
                        </a:rPr>
                        <a:t>Screening endoscopy</a:t>
                      </a:r>
                    </a:p>
                  </a:txBody>
                  <a:tcPr marL="64008" marR="64008" marT="27432" marB="27432" anchor="ctr">
                    <a:solidFill>
                      <a:srgbClr val="FFFFFF"/>
                    </a:solidFill>
                  </a:tcPr>
                </a:tc>
                <a:tc>
                  <a:txBody>
                    <a:bodyPr wrap="square"/>
                    <a:lstStyle/>
                    <a:p>
                      <a:r>
                        <a:rPr sz="950" b="0" i="0">
                          <a:solidFill>
                            <a:srgbClr val="1A1A1A"/>
                          </a:solidFill>
                          <a:latin typeface="Abadi"/>
                        </a:rPr>
                        <a:t>Avoid if LSM and platelets favourable</a:t>
                      </a:r>
                    </a:p>
                  </a:txBody>
                  <a:tcPr marL="64008" marR="64008" marT="27432" marB="27432" anchor="ctr">
                    <a:solidFill>
                      <a:srgbClr val="FFFFFF"/>
                    </a:solidFill>
                  </a:tcPr>
                </a:tc>
                <a:tc>
                  <a:txBody>
                    <a:bodyPr wrap="square"/>
                    <a:lstStyle/>
                    <a:p>
                      <a:r>
                        <a:rPr sz="950" b="0" i="0">
                          <a:solidFill>
                            <a:srgbClr val="1A1A1A"/>
                          </a:solidFill>
                          <a:latin typeface="Abadi"/>
                        </a:rPr>
                        <a:t>LSM &lt; 20 kPa + platelets &gt; 150: skip</a:t>
                      </a:r>
                    </a:p>
                  </a:txBody>
                  <a:tcPr marL="64008" marR="64008" marT="27432" marB="27432" anchor="ctr">
                    <a:solidFill>
                      <a:srgbClr val="FFFFFF"/>
                    </a:solidFill>
                  </a:tcPr>
                </a:tc>
                <a:tc>
                  <a:txBody>
                    <a:bodyPr wrap="square"/>
                    <a:lstStyle/>
                    <a:p>
                      <a:r>
                        <a:rPr sz="950" b="0" i="0">
                          <a:solidFill>
                            <a:srgbClr val="1A1A1A"/>
                          </a:solidFill>
                          <a:latin typeface="Abadi"/>
                        </a:rPr>
                        <a:t>Non-invasive tests cannot replace endoscopy</a:t>
                      </a:r>
                    </a:p>
                  </a:txBody>
                  <a:tcPr marL="64008" marR="64008" marT="27432" marB="27432" anchor="ctr">
                    <a:solidFill>
                      <a:srgbClr val="FFFFFF"/>
                    </a:solidFill>
                  </a:tcPr>
                </a:tc>
                <a:tc>
                  <a:txBody>
                    <a:bodyPr wrap="square"/>
                    <a:lstStyle/>
                    <a:p>
                      <a:pPr algn="ctr"/>
                      <a:r>
                        <a:rPr sz="950" b="1" i="0">
                          <a:solidFill>
                            <a:srgbClr val="FFFFFF"/>
                          </a:solidFill>
                          <a:latin typeface="Abadi"/>
                        </a:rPr>
                        <a:t>MATERIAL</a:t>
                      </a:r>
                    </a:p>
                  </a:txBody>
                  <a:tcPr marL="64008" marR="64008" marT="27432" marB="27432" anchor="ctr">
                    <a:solidFill>
                      <a:srgbClr val="B22222"/>
                    </a:solidFill>
                  </a:tcPr>
                </a:tc>
              </a:tr>
              <a:tr h="430000">
                <a:tc>
                  <a:txBody>
                    <a:bodyPr wrap="square"/>
                    <a:lstStyle/>
                    <a:p>
                      <a:r>
                        <a:rPr sz="950" b="1" i="0">
                          <a:solidFill>
                            <a:srgbClr val="1A1A1A"/>
                          </a:solidFill>
                          <a:latin typeface="Abadi"/>
                        </a:rPr>
                        <a:t>Primary prophylaxis</a:t>
                      </a:r>
                    </a:p>
                  </a:txBody>
                  <a:tcPr marL="64008" marR="64008" marT="27432" marB="27432" anchor="ctr">
                    <a:solidFill>
                      <a:srgbClr val="F3F5F8"/>
                    </a:solidFill>
                  </a:tcPr>
                </a:tc>
                <a:tc>
                  <a:txBody>
                    <a:bodyPr wrap="square"/>
                    <a:lstStyle/>
                    <a:p>
                      <a:r>
                        <a:rPr sz="950" b="0" i="0">
                          <a:solidFill>
                            <a:srgbClr val="1A1A1A"/>
                          </a:solidFill>
                          <a:latin typeface="Abadi"/>
                        </a:rPr>
                        <a:t>NSBB (carvedilol) or banding</a:t>
                      </a:r>
                    </a:p>
                  </a:txBody>
                  <a:tcPr marL="64008" marR="64008" marT="27432" marB="27432" anchor="ctr">
                    <a:solidFill>
                      <a:srgbClr val="F3F5F8"/>
                    </a:solidFill>
                  </a:tcPr>
                </a:tc>
                <a:tc>
                  <a:txBody>
                    <a:bodyPr wrap="square"/>
                    <a:lstStyle/>
                    <a:p>
                      <a:r>
                        <a:rPr sz="950" b="0" i="0">
                          <a:solidFill>
                            <a:srgbClr val="1A1A1A"/>
                          </a:solidFill>
                          <a:latin typeface="Abadi"/>
                        </a:rPr>
                        <a:t>NSBB to prevent decompensation</a:t>
                      </a:r>
                    </a:p>
                  </a:txBody>
                  <a:tcPr marL="64008" marR="64008" marT="27432" marB="27432" anchor="ctr">
                    <a:solidFill>
                      <a:srgbClr val="F3F5F8"/>
                    </a:solidFill>
                  </a:tcPr>
                </a:tc>
                <a:tc>
                  <a:txBody>
                    <a:bodyPr wrap="square"/>
                    <a:lstStyle/>
                    <a:p>
                      <a:r>
                        <a:rPr sz="950" b="0" i="0">
                          <a:solidFill>
                            <a:srgbClr val="1A1A1A"/>
                          </a:solidFill>
                          <a:latin typeface="Abadi"/>
                        </a:rPr>
                        <a:t>No consensus; banding ≥ 10 kg if treating</a:t>
                      </a:r>
                    </a:p>
                  </a:txBody>
                  <a:tcPr marL="64008" marR="64008" marT="27432" marB="27432" anchor="ctr">
                    <a:solidFill>
                      <a:srgbClr val="F3F5F8"/>
                    </a:solidFill>
                  </a:tcPr>
                </a:tc>
                <a:tc>
                  <a:txBody>
                    <a:bodyPr wrap="square"/>
                    <a:lstStyle/>
                    <a:p>
                      <a:pPr algn="ctr"/>
                      <a:r>
                        <a:rPr sz="950" b="1" i="0">
                          <a:solidFill>
                            <a:srgbClr val="FFFFFF"/>
                          </a:solidFill>
                          <a:latin typeface="Abadi"/>
                        </a:rPr>
                        <a:t>MATERIAL</a:t>
                      </a:r>
                    </a:p>
                  </a:txBody>
                  <a:tcPr marL="64008" marR="64008" marT="27432" marB="27432" anchor="ctr">
                    <a:solidFill>
                      <a:srgbClr val="B22222"/>
                    </a:solidFill>
                  </a:tcPr>
                </a:tc>
              </a:tr>
              <a:tr h="430000">
                <a:tc>
                  <a:txBody>
                    <a:bodyPr wrap="square"/>
                    <a:lstStyle/>
                    <a:p>
                      <a:r>
                        <a:rPr sz="950" b="1" i="0">
                          <a:solidFill>
                            <a:srgbClr val="1A1A1A"/>
                          </a:solidFill>
                          <a:latin typeface="Abadi"/>
                        </a:rPr>
                        <a:t>Secondary prophylaxis</a:t>
                      </a:r>
                    </a:p>
                  </a:txBody>
                  <a:tcPr marL="64008" marR="64008" marT="27432" marB="27432" anchor="ctr">
                    <a:solidFill>
                      <a:srgbClr val="FFFFFF"/>
                    </a:solidFill>
                  </a:tcPr>
                </a:tc>
                <a:tc>
                  <a:txBody>
                    <a:bodyPr wrap="square"/>
                    <a:lstStyle/>
                    <a:p>
                      <a:r>
                        <a:rPr sz="950" b="0" i="0">
                          <a:solidFill>
                            <a:srgbClr val="1A1A1A"/>
                          </a:solidFill>
                          <a:latin typeface="Abadi"/>
                        </a:rPr>
                        <a:t>NSBB plus banding</a:t>
                      </a:r>
                    </a:p>
                  </a:txBody>
                  <a:tcPr marL="64008" marR="64008" marT="27432" marB="27432" anchor="ctr">
                    <a:solidFill>
                      <a:srgbClr val="FFFFFF"/>
                    </a:solidFill>
                  </a:tcPr>
                </a:tc>
                <a:tc>
                  <a:txBody>
                    <a:bodyPr wrap="square"/>
                    <a:lstStyle/>
                    <a:p>
                      <a:r>
                        <a:rPr sz="950" b="0" i="0">
                          <a:solidFill>
                            <a:srgbClr val="1A1A1A"/>
                          </a:solidFill>
                          <a:latin typeface="Abadi"/>
                        </a:rPr>
                        <a:t>NSBB plus banding</a:t>
                      </a:r>
                    </a:p>
                  </a:txBody>
                  <a:tcPr marL="64008" marR="64008" marT="27432" marB="27432" anchor="ctr">
                    <a:solidFill>
                      <a:srgbClr val="FFFFFF"/>
                    </a:solidFill>
                  </a:tcPr>
                </a:tc>
                <a:tc>
                  <a:txBody>
                    <a:bodyPr wrap="square"/>
                    <a:lstStyle/>
                    <a:p>
                      <a:r>
                        <a:rPr sz="950" b="0" i="0">
                          <a:solidFill>
                            <a:srgbClr val="1A1A1A"/>
                          </a:solidFill>
                          <a:latin typeface="Abadi"/>
                        </a:rPr>
                        <a:t>Banding; NSBB evidence lacking</a:t>
                      </a:r>
                    </a:p>
                  </a:txBody>
                  <a:tcPr marL="64008" marR="64008" marT="27432" marB="27432" anchor="ctr">
                    <a:solidFill>
                      <a:srgbClr val="FFFFFF"/>
                    </a:solidFill>
                  </a:tcPr>
                </a:tc>
                <a:tc>
                  <a:txBody>
                    <a:bodyPr wrap="square"/>
                    <a:lstStyle/>
                    <a:p>
                      <a:pPr algn="ctr"/>
                      <a:r>
                        <a:rPr sz="950" b="1" i="0">
                          <a:solidFill>
                            <a:srgbClr val="FFFFFF"/>
                          </a:solidFill>
                          <a:latin typeface="Abadi"/>
                        </a:rPr>
                        <a:t>DIFFERS</a:t>
                      </a:r>
                    </a:p>
                  </a:txBody>
                  <a:tcPr marL="64008" marR="64008" marT="27432" marB="27432" anchor="ctr">
                    <a:solidFill>
                      <a:srgbClr val="D97A0B"/>
                    </a:solidFill>
                  </a:tcPr>
                </a:tc>
              </a:tr>
              <a:tr h="430000">
                <a:tc>
                  <a:txBody>
                    <a:bodyPr wrap="square"/>
                    <a:lstStyle/>
                    <a:p>
                      <a:r>
                        <a:rPr sz="950" b="1" i="0">
                          <a:solidFill>
                            <a:srgbClr val="1A1A1A"/>
                          </a:solidFill>
                          <a:latin typeface="Abadi"/>
                        </a:rPr>
                        <a:t>Acute bleed</a:t>
                      </a:r>
                    </a:p>
                  </a:txBody>
                  <a:tcPr marL="64008" marR="64008" marT="27432" marB="27432" anchor="ctr">
                    <a:solidFill>
                      <a:srgbClr val="F3F5F8"/>
                    </a:solidFill>
                  </a:tcPr>
                </a:tc>
                <a:tc>
                  <a:txBody>
                    <a:bodyPr wrap="square"/>
                    <a:lstStyle/>
                    <a:p>
                      <a:r>
                        <a:rPr sz="950" b="0" i="0">
                          <a:solidFill>
                            <a:srgbClr val="1A1A1A"/>
                          </a:solidFill>
                          <a:latin typeface="Abadi"/>
                        </a:rPr>
                        <a:t>Vasoactive, antibiotics, Hb 7, scope ≤ 12 h</a:t>
                      </a:r>
                    </a:p>
                  </a:txBody>
                  <a:tcPr marL="64008" marR="64008" marT="27432" marB="27432" anchor="ctr">
                    <a:solidFill>
                      <a:srgbClr val="F3F5F8"/>
                    </a:solidFill>
                  </a:tcPr>
                </a:tc>
                <a:tc>
                  <a:txBody>
                    <a:bodyPr wrap="square"/>
                    <a:lstStyle/>
                    <a:p>
                      <a:r>
                        <a:rPr sz="950" b="0" i="0">
                          <a:solidFill>
                            <a:srgbClr val="1A1A1A"/>
                          </a:solidFill>
                          <a:latin typeface="Abadi"/>
                        </a:rPr>
                        <a:t>Same; pre-emptive TIPS</a:t>
                      </a:r>
                    </a:p>
                  </a:txBody>
                  <a:tcPr marL="64008" marR="64008" marT="27432" marB="27432" anchor="ctr">
                    <a:solidFill>
                      <a:srgbClr val="F3F5F8"/>
                    </a:solidFill>
                  </a:tcPr>
                </a:tc>
                <a:tc>
                  <a:txBody>
                    <a:bodyPr wrap="square"/>
                    <a:lstStyle/>
                    <a:p>
                      <a:r>
                        <a:rPr sz="950" b="0" i="0">
                          <a:solidFill>
                            <a:srgbClr val="1A1A1A"/>
                          </a:solidFill>
                          <a:latin typeface="Abadi"/>
                        </a:rPr>
                        <a:t>Octreotide, antibiotics, Hb 7–9, scope ≤ 24 h</a:t>
                      </a:r>
                    </a:p>
                  </a:txBody>
                  <a:tcPr marL="64008" marR="64008" marT="27432" marB="27432" anchor="ctr">
                    <a:solidFill>
                      <a:srgbClr val="F3F5F8"/>
                    </a:solidFill>
                  </a:tcPr>
                </a:tc>
                <a:tc>
                  <a:txBody>
                    <a:bodyPr wrap="square"/>
                    <a:lstStyle/>
                    <a:p>
                      <a:pPr algn="ctr"/>
                      <a:r>
                        <a:rPr sz="950" b="1" i="0">
                          <a:solidFill>
                            <a:srgbClr val="FFFFFF"/>
                          </a:solidFill>
                          <a:latin typeface="Abadi"/>
                        </a:rPr>
                        <a:t>DIFFERS</a:t>
                      </a:r>
                    </a:p>
                  </a:txBody>
                  <a:tcPr marL="64008" marR="64008" marT="27432" marB="27432" anchor="ctr">
                    <a:solidFill>
                      <a:srgbClr val="D97A0B"/>
                    </a:solidFill>
                  </a:tcPr>
                </a:tc>
              </a:tr>
              <a:tr h="430000">
                <a:tc>
                  <a:txBody>
                    <a:bodyPr wrap="square"/>
                    <a:lstStyle/>
                    <a:p>
                      <a:r>
                        <a:rPr sz="950" b="1" i="0">
                          <a:solidFill>
                            <a:srgbClr val="1A1A1A"/>
                          </a:solidFill>
                          <a:latin typeface="Abadi"/>
                        </a:rPr>
                        <a:t>Restrictive transfusion</a:t>
                      </a:r>
                    </a:p>
                  </a:txBody>
                  <a:tcPr marL="64008" marR="64008" marT="27432" marB="27432" anchor="ctr">
                    <a:solidFill>
                      <a:srgbClr val="FFFFFF"/>
                    </a:solidFill>
                  </a:tcPr>
                </a:tc>
                <a:tc>
                  <a:txBody>
                    <a:bodyPr wrap="square"/>
                    <a:lstStyle/>
                    <a:p>
                      <a:r>
                        <a:rPr sz="950" b="0" i="0">
                          <a:solidFill>
                            <a:srgbClr val="1A1A1A"/>
                          </a:solidFill>
                          <a:latin typeface="Abadi"/>
                        </a:rPr>
                        <a:t>Yes</a:t>
                      </a:r>
                    </a:p>
                  </a:txBody>
                  <a:tcPr marL="64008" marR="64008" marT="27432" marB="27432" anchor="ctr">
                    <a:solidFill>
                      <a:srgbClr val="FFFFFF"/>
                    </a:solidFill>
                  </a:tcPr>
                </a:tc>
                <a:tc>
                  <a:txBody>
                    <a:bodyPr wrap="square"/>
                    <a:lstStyle/>
                    <a:p>
                      <a:r>
                        <a:rPr sz="950" b="0" i="0">
                          <a:solidFill>
                            <a:srgbClr val="1A1A1A"/>
                          </a:solidFill>
                          <a:latin typeface="Abadi"/>
                        </a:rPr>
                        <a:t>Yes</a:t>
                      </a:r>
                    </a:p>
                  </a:txBody>
                  <a:tcPr marL="64008" marR="64008" marT="27432" marB="27432" anchor="ctr">
                    <a:solidFill>
                      <a:srgbClr val="FFFFFF"/>
                    </a:solidFill>
                  </a:tcPr>
                </a:tc>
                <a:tc>
                  <a:txBody>
                    <a:bodyPr wrap="square"/>
                    <a:lstStyle/>
                    <a:p>
                      <a:r>
                        <a:rPr sz="950" b="0" i="0">
                          <a:solidFill>
                            <a:srgbClr val="1A1A1A"/>
                          </a:solidFill>
                          <a:latin typeface="Abadi"/>
                        </a:rPr>
                        <a:t>Yes</a:t>
                      </a:r>
                    </a:p>
                  </a:txBody>
                  <a:tcPr marL="64008" marR="64008" marT="27432" marB="27432" anchor="ctr">
                    <a:solidFill>
                      <a:srgbClr val="FFFFFF"/>
                    </a:solidFill>
                  </a:tcPr>
                </a:tc>
                <a:tc>
                  <a:txBody>
                    <a:bodyPr wrap="square"/>
                    <a:lstStyle/>
                    <a:p>
                      <a:pPr algn="ctr"/>
                      <a:r>
                        <a:rPr sz="950" b="1" i="0">
                          <a:solidFill>
                            <a:srgbClr val="FFFFFF"/>
                          </a:solidFill>
                          <a:latin typeface="Abadi"/>
                        </a:rPr>
                        <a:t>ALIGNED</a:t>
                      </a:r>
                    </a:p>
                  </a:txBody>
                  <a:tcPr marL="64008" marR="64008" marT="27432" marB="27432" anchor="ctr">
                    <a:solidFill>
                      <a:srgbClr val="1E7A33"/>
                    </a:solidFill>
                  </a:tcPr>
                </a:tc>
              </a:tr>
              <a:tr h="430000">
                <a:tc>
                  <a:txBody>
                    <a:bodyPr wrap="square"/>
                    <a:lstStyle/>
                    <a:p>
                      <a:r>
                        <a:rPr sz="950" b="1" i="0">
                          <a:solidFill>
                            <a:srgbClr val="1A1A1A"/>
                          </a:solidFill>
                          <a:latin typeface="Abadi"/>
                        </a:rPr>
                        <a:t>Hypersplenism</a:t>
                      </a:r>
                    </a:p>
                  </a:txBody>
                  <a:tcPr marL="64008" marR="64008" marT="27432" marB="27432" anchor="ctr">
                    <a:solidFill>
                      <a:srgbClr val="F3F5F8"/>
                    </a:solidFill>
                  </a:tcPr>
                </a:tc>
                <a:tc>
                  <a:txBody>
                    <a:bodyPr wrap="square"/>
                    <a:lstStyle/>
                    <a:p>
                      <a:r>
                        <a:rPr sz="950" b="0" i="0">
                          <a:solidFill>
                            <a:srgbClr val="1A1A1A"/>
                          </a:solidFill>
                          <a:latin typeface="Abadi"/>
                        </a:rPr>
                        <a:t>Not addressed</a:t>
                      </a:r>
                    </a:p>
                  </a:txBody>
                  <a:tcPr marL="64008" marR="64008" marT="27432" marB="27432" anchor="ctr">
                    <a:solidFill>
                      <a:srgbClr val="F3F5F8"/>
                    </a:solidFill>
                  </a:tcPr>
                </a:tc>
                <a:tc>
                  <a:txBody>
                    <a:bodyPr wrap="square"/>
                    <a:lstStyle/>
                    <a:p>
                      <a:r>
                        <a:rPr sz="950" b="0" i="0">
                          <a:solidFill>
                            <a:srgbClr val="1A1A1A"/>
                          </a:solidFill>
                          <a:latin typeface="Abadi"/>
                        </a:rPr>
                        <a:t>Not addressed</a:t>
                      </a:r>
                    </a:p>
                  </a:txBody>
                  <a:tcPr marL="64008" marR="64008" marT="27432" marB="27432" anchor="ctr">
                    <a:solidFill>
                      <a:srgbClr val="F3F5F8"/>
                    </a:solidFill>
                  </a:tcPr>
                </a:tc>
                <a:tc>
                  <a:txBody>
                    <a:bodyPr wrap="square"/>
                    <a:lstStyle/>
                    <a:p>
                      <a:r>
                        <a:rPr sz="950" b="0" i="0">
                          <a:solidFill>
                            <a:srgbClr val="1A1A1A"/>
                          </a:solidFill>
                          <a:latin typeface="Abadi"/>
                        </a:rPr>
                        <a:t>Case by case (PSE, partial splenectomy)</a:t>
                      </a:r>
                    </a:p>
                  </a:txBody>
                  <a:tcPr marL="64008" marR="64008" marT="27432" marB="27432" anchor="ctr">
                    <a:solidFill>
                      <a:srgbClr val="F3F5F8"/>
                    </a:solidFill>
                  </a:tcPr>
                </a:tc>
                <a:tc>
                  <a:txBody>
                    <a:bodyPr wrap="square"/>
                    <a:lstStyle/>
                    <a:p>
                      <a:pPr algn="ctr"/>
                      <a:r>
                        <a:rPr sz="950" b="1" i="0">
                          <a:solidFill>
                            <a:srgbClr val="FFFFFF"/>
                          </a:solidFill>
                          <a:latin typeface="Abadi"/>
                        </a:rPr>
                        <a:t>GAP</a:t>
                      </a:r>
                    </a:p>
                  </a:txBody>
                  <a:tcPr marL="64008" marR="64008" marT="27432" marB="27432" anchor="ctr">
                    <a:solidFill>
                      <a:srgbClr val="8A939B"/>
                    </a:solidFill>
                  </a:tcPr>
                </a:tc>
              </a:tr>
            </a:tbl>
          </a:graphicData>
        </a:graphic>
      </p:graphicFrame>
      <p:sp>
        <p:nvSpPr>
          <p:cNvPr id="13" name="TextBox 12"/>
          <p:cNvSpPr txBox="1"/>
          <p:nvPr/>
        </p:nvSpPr>
        <p:spPr>
          <a:xfrm>
            <a:off x="548640" y="4937760"/>
            <a:ext cx="11082528" cy="860000"/>
          </a:xfrm>
          <a:prstGeom prst="rect">
            <a:avLst/>
          </a:prstGeom>
          <a:noFill/>
        </p:spPr>
        <p:txBody>
          <a:bodyPr wrap="square" lIns="45720" rIns="45720" tIns="27432" bIns="27432" anchor="t">
            <a:spAutoFit/>
          </a:bodyPr>
          <a:lstStyle/>
          <a:p>
            <a:pPr algn="l"/>
            <a:r>
              <a:rPr sz="1250" b="1" i="0">
                <a:solidFill>
                  <a:srgbClr val="1B355E"/>
                </a:solidFill>
                <a:latin typeface="Abadi"/>
              </a:rPr>
              <a:t>Material gap.   </a:t>
            </a:r>
            <a:r>
              <a:rPr sz="1250" b="0" i="0">
                <a:solidFill>
                  <a:srgbClr val="1B355E"/>
                </a:solidFill>
                <a:latin typeface="Abadi"/>
              </a:rPr>
              <a:t>AASLD 2024 states it covers adults only. The adult shift to carvedilol and to elastography-guided screening cannot be transferred to infants, whose platelets and stiffness thresholds behave differently.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FOLLOW-UP</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SURVEILLANCE FRAME AFTER THE KASAI</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A pragmatic schedule combining paediatric expert guidance with registry data; adapt to local endoscopy expertise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APSPGHAN 2026 · Shneider 2016 · Ackermann 2026 · Bass 2022 · Okubo 2025</a:t>
            </a:r>
          </a:p>
        </p:txBody>
      </p:sp>
      <p:graphicFrame>
        <p:nvGraphicFramePr>
          <p:cNvPr id="12" name="Table 11"/>
          <p:cNvGraphicFramePr>
            <a:graphicFrameLocks noGrp="1"/>
          </p:cNvGraphicFramePr>
          <p:nvPr/>
        </p:nvGraphicFramePr>
        <p:xfrm>
          <a:off x="548640" y="1783080"/>
          <a:ext cx="11082528" cy="2730000"/>
        </p:xfrm>
        <a:graphic>
          <a:graphicData uri="http://schemas.openxmlformats.org/drawingml/2006/table">
            <a:tbl>
              <a:tblPr firstRow="1" bandRow="1">
                <a:tableStyleId>{5C22544A-7EE6-4342-B048-85BDC9FD1C3A}</a:tableStyleId>
              </a:tblPr>
              <a:tblGrid>
                <a:gridCol w="1847088"/>
                <a:gridCol w="5541264"/>
                <a:gridCol w="3694176"/>
              </a:tblGrid>
              <a:tr h="380000">
                <a:tc>
                  <a:txBody>
                    <a:bodyPr wrap="square"/>
                    <a:lstStyle/>
                    <a:p>
                      <a:r>
                        <a:rPr sz="1000" b="1" i="0">
                          <a:solidFill>
                            <a:srgbClr val="FFFFFF"/>
                          </a:solidFill>
                          <a:latin typeface="Abadi"/>
                        </a:rPr>
                        <a:t>When</a:t>
                      </a:r>
                    </a:p>
                  </a:txBody>
                  <a:tcPr marL="64008" marR="64008" marT="27432" marB="27432" anchor="ctr">
                    <a:solidFill>
                      <a:srgbClr val="1B355E"/>
                    </a:solidFill>
                  </a:tcPr>
                </a:tc>
                <a:tc>
                  <a:txBody>
                    <a:bodyPr wrap="square"/>
                    <a:lstStyle/>
                    <a:p>
                      <a:r>
                        <a:rPr sz="1000" b="1" i="0">
                          <a:solidFill>
                            <a:srgbClr val="FFFFFF"/>
                          </a:solidFill>
                          <a:latin typeface="Abadi"/>
                        </a:rPr>
                        <a:t>What</a:t>
                      </a:r>
                    </a:p>
                  </a:txBody>
                  <a:tcPr marL="64008" marR="64008" marT="27432" marB="27432" anchor="ctr">
                    <a:solidFill>
                      <a:srgbClr val="1B355E"/>
                    </a:solidFill>
                  </a:tcPr>
                </a:tc>
                <a:tc>
                  <a:txBody>
                    <a:bodyPr wrap="square"/>
                    <a:lstStyle/>
                    <a:p>
                      <a:r>
                        <a:rPr sz="1000" b="1" i="0">
                          <a:solidFill>
                            <a:srgbClr val="FFFFFF"/>
                          </a:solidFill>
                          <a:latin typeface="Abadi"/>
                        </a:rPr>
                        <a:t>Act on</a:t>
                      </a:r>
                    </a:p>
                  </a:txBody>
                  <a:tcPr marL="64008" marR="64008" marT="27432" marB="27432" anchor="ctr">
                    <a:solidFill>
                      <a:srgbClr val="1B355E"/>
                    </a:solidFill>
                  </a:tcPr>
                </a:tc>
              </a:tr>
              <a:tr h="470000">
                <a:tc>
                  <a:txBody>
                    <a:bodyPr wrap="square"/>
                    <a:lstStyle/>
                    <a:p>
                      <a:r>
                        <a:rPr sz="1000" b="1" i="0">
                          <a:solidFill>
                            <a:srgbClr val="1A1A1A"/>
                          </a:solidFill>
                          <a:latin typeface="Abadi"/>
                        </a:rPr>
                        <a:t>Every visit</a:t>
                      </a:r>
                    </a:p>
                  </a:txBody>
                  <a:tcPr marL="64008" marR="64008" marT="27432" marB="27432" anchor="ctr">
                    <a:solidFill>
                      <a:srgbClr val="FFFFFF"/>
                    </a:solidFill>
                  </a:tcPr>
                </a:tc>
                <a:tc>
                  <a:txBody>
                    <a:bodyPr wrap="square"/>
                    <a:lstStyle/>
                    <a:p>
                      <a:r>
                        <a:rPr sz="1000" b="0" i="0">
                          <a:solidFill>
                            <a:srgbClr val="1A1A1A"/>
                          </a:solidFill>
                          <a:latin typeface="Abadi"/>
                        </a:rPr>
                        <a:t>Spleen size (cm below costal margin, ultrasound z-score), platelets, albumin, bilirubin</a:t>
                      </a:r>
                    </a:p>
                  </a:txBody>
                  <a:tcPr marL="64008" marR="64008" marT="27432" marB="27432" anchor="ctr">
                    <a:solidFill>
                      <a:srgbClr val="FFFFFF"/>
                    </a:solidFill>
                  </a:tcPr>
                </a:tc>
                <a:tc>
                  <a:txBody>
                    <a:bodyPr wrap="square"/>
                    <a:lstStyle/>
                    <a:p>
                      <a:r>
                        <a:rPr sz="1000" b="0" i="0">
                          <a:solidFill>
                            <a:srgbClr val="1A1A1A"/>
                          </a:solidFill>
                          <a:latin typeface="Abadi"/>
                        </a:rPr>
                        <a:t>New splenomegaly, falling platelets or albumin</a:t>
                      </a:r>
                    </a:p>
                  </a:txBody>
                  <a:tcPr marL="64008" marR="64008" marT="27432" marB="27432" anchor="ctr">
                    <a:solidFill>
                      <a:srgbClr val="FFFFFF"/>
                    </a:solidFill>
                  </a:tcPr>
                </a:tc>
              </a:tr>
              <a:tr h="470000">
                <a:tc>
                  <a:txBody>
                    <a:bodyPr wrap="square"/>
                    <a:lstStyle/>
                    <a:p>
                      <a:r>
                        <a:rPr sz="1000" b="1" i="0">
                          <a:solidFill>
                            <a:srgbClr val="1A1A1A"/>
                          </a:solidFill>
                          <a:latin typeface="Abadi"/>
                        </a:rPr>
                        <a:t>First year</a:t>
                      </a:r>
                    </a:p>
                  </a:txBody>
                  <a:tcPr marL="64008" marR="64008" marT="27432" marB="27432" anchor="ctr">
                    <a:solidFill>
                      <a:srgbClr val="F3F5F8"/>
                    </a:solidFill>
                  </a:tcPr>
                </a:tc>
                <a:tc>
                  <a:txBody>
                    <a:bodyPr wrap="square"/>
                    <a:lstStyle/>
                    <a:p>
                      <a:r>
                        <a:rPr sz="1000" b="0" i="0">
                          <a:solidFill>
                            <a:srgbClr val="1A1A1A"/>
                          </a:solidFill>
                          <a:latin typeface="Abadi"/>
                        </a:rPr>
                        <a:t>Endoscopy if signs of PHT or poor drainage; consider at 9–12 months even with normal platelets</a:t>
                      </a:r>
                    </a:p>
                  </a:txBody>
                  <a:tcPr marL="64008" marR="64008" marT="27432" marB="27432" anchor="ctr">
                    <a:solidFill>
                      <a:srgbClr val="F3F5F8"/>
                    </a:solidFill>
                  </a:tcPr>
                </a:tc>
                <a:tc>
                  <a:txBody>
                    <a:bodyPr wrap="square"/>
                    <a:lstStyle/>
                    <a:p>
                      <a:r>
                        <a:rPr sz="1000" b="0" i="0">
                          <a:solidFill>
                            <a:srgbClr val="1A1A1A"/>
                          </a:solidFill>
                          <a:latin typeface="Abadi"/>
                        </a:rPr>
                        <a:t>HRV: endoscopic prophylaxis if transplant not imminent</a:t>
                      </a:r>
                    </a:p>
                  </a:txBody>
                  <a:tcPr marL="64008" marR="64008" marT="27432" marB="27432" anchor="ctr">
                    <a:solidFill>
                      <a:srgbClr val="F3F5F8"/>
                    </a:solidFill>
                  </a:tcPr>
                </a:tc>
              </a:tr>
              <a:tr h="470000">
                <a:tc>
                  <a:txBody>
                    <a:bodyPr wrap="square"/>
                    <a:lstStyle/>
                    <a:p>
                      <a:r>
                        <a:rPr sz="1000" b="1" i="0">
                          <a:solidFill>
                            <a:srgbClr val="1A1A1A"/>
                          </a:solidFill>
                          <a:latin typeface="Abadi"/>
                        </a:rPr>
                        <a:t>Yearly</a:t>
                      </a:r>
                    </a:p>
                  </a:txBody>
                  <a:tcPr marL="64008" marR="64008" marT="27432" marB="27432" anchor="ctr">
                    <a:solidFill>
                      <a:srgbClr val="FFFFFF"/>
                    </a:solidFill>
                  </a:tcPr>
                </a:tc>
                <a:tc>
                  <a:txBody>
                    <a:bodyPr wrap="square"/>
                    <a:lstStyle/>
                    <a:p>
                      <a:r>
                        <a:rPr sz="1000" b="0" i="0">
                          <a:solidFill>
                            <a:srgbClr val="1A1A1A"/>
                          </a:solidFill>
                          <a:latin typeface="Abadi"/>
                        </a:rPr>
                        <a:t>Elastography and spleen stiffness where available; repeat endoscopy if varices or rising stiffness</a:t>
                      </a:r>
                    </a:p>
                  </a:txBody>
                  <a:tcPr marL="64008" marR="64008" marT="27432" marB="27432" anchor="ctr">
                    <a:solidFill>
                      <a:srgbClr val="FFFFFF"/>
                    </a:solidFill>
                  </a:tcPr>
                </a:tc>
                <a:tc>
                  <a:txBody>
                    <a:bodyPr wrap="square"/>
                    <a:lstStyle/>
                    <a:p>
                      <a:r>
                        <a:rPr sz="1000" b="0" i="0">
                          <a:solidFill>
                            <a:srgbClr val="1A1A1A"/>
                          </a:solidFill>
                          <a:latin typeface="Abadi"/>
                        </a:rPr>
                        <a:t>Progression to high-risk features</a:t>
                      </a:r>
                    </a:p>
                  </a:txBody>
                  <a:tcPr marL="64008" marR="64008" marT="27432" marB="27432" anchor="ctr">
                    <a:solidFill>
                      <a:srgbClr val="FFFFFF"/>
                    </a:solidFill>
                  </a:tcPr>
                </a:tc>
              </a:tr>
              <a:tr h="470000">
                <a:tc>
                  <a:txBody>
                    <a:bodyPr wrap="square"/>
                    <a:lstStyle/>
                    <a:p>
                      <a:r>
                        <a:rPr sz="1000" b="1" i="0">
                          <a:solidFill>
                            <a:srgbClr val="1A1A1A"/>
                          </a:solidFill>
                          <a:latin typeface="Abadi"/>
                        </a:rPr>
                        <a:t>After any bleed</a:t>
                      </a:r>
                    </a:p>
                  </a:txBody>
                  <a:tcPr marL="64008" marR="64008" marT="27432" marB="27432" anchor="ctr">
                    <a:solidFill>
                      <a:srgbClr val="F3F5F8"/>
                    </a:solidFill>
                  </a:tcPr>
                </a:tc>
                <a:tc>
                  <a:txBody>
                    <a:bodyPr wrap="square"/>
                    <a:lstStyle/>
                    <a:p>
                      <a:r>
                        <a:rPr sz="1000" b="0" i="0">
                          <a:solidFill>
                            <a:srgbClr val="1A1A1A"/>
                          </a:solidFill>
                          <a:latin typeface="Abadi"/>
                        </a:rPr>
                        <a:t>Banding programme; transplant assessment; HPS and POPH screen</a:t>
                      </a:r>
                    </a:p>
                  </a:txBody>
                  <a:tcPr marL="64008" marR="64008" marT="27432" marB="27432" anchor="ctr">
                    <a:solidFill>
                      <a:srgbClr val="F3F5F8"/>
                    </a:solidFill>
                  </a:tcPr>
                </a:tc>
                <a:tc>
                  <a:txBody>
                    <a:bodyPr wrap="square"/>
                    <a:lstStyle/>
                    <a:p>
                      <a:r>
                        <a:rPr sz="1000" b="0" i="0">
                          <a:solidFill>
                            <a:srgbClr val="1A1A1A"/>
                          </a:solidFill>
                          <a:latin typeface="Abadi"/>
                        </a:rPr>
                        <a:t>Rebleeding, decompensation</a:t>
                      </a:r>
                    </a:p>
                  </a:txBody>
                  <a:tcPr marL="64008" marR="64008" marT="27432" marB="27432" anchor="ctr">
                    <a:solidFill>
                      <a:srgbClr val="F3F5F8"/>
                    </a:solidFill>
                  </a:tcPr>
                </a:tc>
              </a:tr>
              <a:tr h="470000">
                <a:tc>
                  <a:txBody>
                    <a:bodyPr wrap="square"/>
                    <a:lstStyle/>
                    <a:p>
                      <a:r>
                        <a:rPr sz="1000" b="1" i="0">
                          <a:solidFill>
                            <a:srgbClr val="1A1A1A"/>
                          </a:solidFill>
                          <a:latin typeface="Abadi"/>
                        </a:rPr>
                        <a:t>Adolescence</a:t>
                      </a:r>
                    </a:p>
                  </a:txBody>
                  <a:tcPr marL="64008" marR="64008" marT="27432" marB="27432" anchor="ctr">
                    <a:solidFill>
                      <a:srgbClr val="FFFFFF"/>
                    </a:solidFill>
                  </a:tcPr>
                </a:tc>
                <a:tc>
                  <a:txBody>
                    <a:bodyPr wrap="square"/>
                    <a:lstStyle/>
                    <a:p>
                      <a:r>
                        <a:rPr sz="1000" b="0" i="0">
                          <a:solidFill>
                            <a:srgbClr val="1A1A1A"/>
                          </a:solidFill>
                          <a:latin typeface="Abadi"/>
                        </a:rPr>
                        <a:t>Continue surveillance; plan transition</a:t>
                      </a:r>
                    </a:p>
                  </a:txBody>
                  <a:tcPr marL="64008" marR="64008" marT="27432" marB="27432" anchor="ctr">
                    <a:solidFill>
                      <a:srgbClr val="FFFFFF"/>
                    </a:solidFill>
                  </a:tcPr>
                </a:tc>
                <a:tc>
                  <a:txBody>
                    <a:bodyPr wrap="square"/>
                    <a:lstStyle/>
                    <a:p>
                      <a:r>
                        <a:rPr sz="1000" b="0" i="0">
                          <a:solidFill>
                            <a:srgbClr val="1A1A1A"/>
                          </a:solidFill>
                          <a:latin typeface="Abadi"/>
                        </a:rPr>
                        <a:t>Varices by 16 predict adult transplant</a:t>
                      </a:r>
                    </a:p>
                  </a:txBody>
                  <a:tcPr marL="64008" marR="64008" marT="27432" marB="27432" anchor="ctr">
                    <a:solidFill>
                      <a:srgbClr val="FFFFFF"/>
                    </a:solidFill>
                  </a:tcPr>
                </a:tc>
              </a:tr>
            </a:tbl>
          </a:graphicData>
        </a:graphic>
      </p:graphicFrame>
      <p:sp>
        <p:nvSpPr>
          <p:cNvPr id="13" name="TextBox 12"/>
          <p:cNvSpPr txBox="1"/>
          <p:nvPr/>
        </p:nvSpPr>
        <p:spPr>
          <a:xfrm>
            <a:off x="548640" y="4846320"/>
            <a:ext cx="11082528" cy="900000"/>
          </a:xfrm>
          <a:prstGeom prst="rect">
            <a:avLst/>
          </a:prstGeom>
          <a:noFill/>
        </p:spPr>
        <p:txBody>
          <a:bodyPr wrap="square" lIns="45720" rIns="45720" tIns="27432" bIns="27432" anchor="t">
            <a:spAutoFit/>
          </a:bodyPr>
          <a:lstStyle/>
          <a:p>
            <a:pPr algn="l"/>
            <a:r>
              <a:rPr sz="1250" b="1" i="0">
                <a:solidFill>
                  <a:srgbClr val="1B355E"/>
                </a:solidFill>
                <a:latin typeface="Abadi"/>
              </a:rPr>
              <a:t>Practical point.   </a:t>
            </a:r>
            <a:r>
              <a:rPr sz="1250" b="0" i="0">
                <a:solidFill>
                  <a:srgbClr val="1B355E"/>
                </a:solidFill>
                <a:latin typeface="Abadi"/>
              </a:rPr>
              <a:t>Write the family a bleeding plan: black stools or vomiting blood means the nearest emergency department, with a letter naming the diagnosis and the transplant centre.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HOW PORTAL HYPERTENSION IS MISJUDGED</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Errors seen in practice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Ackermann 2026 · Bass 2022 · Kaplan 2024 · APSPGHAN 2026</a:t>
            </a:r>
          </a:p>
        </p:txBody>
      </p:sp>
      <p:sp>
        <p:nvSpPr>
          <p:cNvPr id="12" name="Rectangle 11"/>
          <p:cNvSpPr/>
          <p:nvPr/>
        </p:nvSpPr>
        <p:spPr>
          <a:xfrm>
            <a:off x="548640" y="1773936"/>
            <a:ext cx="2126284"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26284"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833676" cy="502920"/>
          </a:xfrm>
          <a:prstGeom prst="rect">
            <a:avLst/>
          </a:prstGeom>
          <a:noFill/>
        </p:spPr>
        <p:txBody>
          <a:bodyPr wrap="square" lIns="45720" rIns="45720" tIns="27432" bIns="27432" anchor="t">
            <a:spAutoFit/>
          </a:bodyPr>
          <a:lstStyle/>
          <a:p>
            <a:pPr algn="l"/>
            <a:r>
              <a:rPr sz="1500" b="1" i="0">
                <a:solidFill>
                  <a:srgbClr val="B22222"/>
                </a:solidFill>
                <a:latin typeface="Abadi"/>
              </a:rPr>
              <a:t>Normal platelets</a:t>
            </a:r>
          </a:p>
        </p:txBody>
      </p:sp>
      <p:sp>
        <p:nvSpPr>
          <p:cNvPr id="15" name="TextBox 14"/>
          <p:cNvSpPr txBox="1"/>
          <p:nvPr/>
        </p:nvSpPr>
        <p:spPr>
          <a:xfrm>
            <a:off x="69494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Infants with HRV often have counts ≥ 150</a:t>
            </a:r>
          </a:p>
          <a:p>
            <a:pPr algn="l">
              <a:spcAft>
                <a:spcPts val="400"/>
              </a:spcAft>
            </a:pPr>
            <a:r>
              <a:rPr sz="1100" b="0" i="0">
                <a:solidFill>
                  <a:srgbClr val="1A1A1A"/>
                </a:solidFill>
                <a:latin typeface="Abadi"/>
              </a:rPr>
              <a:t>▪  Scope on clinical grounds</a:t>
            </a:r>
          </a:p>
        </p:txBody>
      </p:sp>
      <p:sp>
        <p:nvSpPr>
          <p:cNvPr id="16" name="Rectangle 15"/>
          <p:cNvSpPr/>
          <p:nvPr/>
        </p:nvSpPr>
        <p:spPr>
          <a:xfrm>
            <a:off x="2787700" y="1773936"/>
            <a:ext cx="2126284"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87700" y="1773936"/>
            <a:ext cx="2126284"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4004" y="1956816"/>
            <a:ext cx="1833676" cy="502920"/>
          </a:xfrm>
          <a:prstGeom prst="rect">
            <a:avLst/>
          </a:prstGeom>
          <a:noFill/>
        </p:spPr>
        <p:txBody>
          <a:bodyPr wrap="square" lIns="45720" rIns="45720" tIns="27432" bIns="27432" anchor="t">
            <a:spAutoFit/>
          </a:bodyPr>
          <a:lstStyle/>
          <a:p>
            <a:pPr algn="l"/>
            <a:r>
              <a:rPr sz="1500" b="1" i="0">
                <a:solidFill>
                  <a:srgbClr val="D97A0B"/>
                </a:solidFill>
                <a:latin typeface="Abadi"/>
              </a:rPr>
              <a:t>Adult rules</a:t>
            </a:r>
          </a:p>
        </p:txBody>
      </p:sp>
      <p:sp>
        <p:nvSpPr>
          <p:cNvPr id="19" name="TextBox 18"/>
          <p:cNvSpPr txBox="1"/>
          <p:nvPr/>
        </p:nvSpPr>
        <p:spPr>
          <a:xfrm>
            <a:off x="293400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Baveno elastography cut-offs not valid in infants</a:t>
            </a:r>
          </a:p>
          <a:p>
            <a:pPr algn="l">
              <a:spcAft>
                <a:spcPts val="400"/>
              </a:spcAft>
            </a:pPr>
            <a:r>
              <a:rPr sz="1100" b="0" i="0">
                <a:solidFill>
                  <a:srgbClr val="1A1A1A"/>
                </a:solidFill>
                <a:latin typeface="Abadi"/>
              </a:rPr>
              <a:t>▪  Carvedilol untested</a:t>
            </a:r>
          </a:p>
        </p:txBody>
      </p:sp>
      <p:sp>
        <p:nvSpPr>
          <p:cNvPr id="20" name="Rectangle 19"/>
          <p:cNvSpPr/>
          <p:nvPr/>
        </p:nvSpPr>
        <p:spPr>
          <a:xfrm>
            <a:off x="5026760" y="1773936"/>
            <a:ext cx="2126284"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6760" y="1773936"/>
            <a:ext cx="2126284"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3064" y="1956816"/>
            <a:ext cx="1833676" cy="502920"/>
          </a:xfrm>
          <a:prstGeom prst="rect">
            <a:avLst/>
          </a:prstGeom>
          <a:noFill/>
        </p:spPr>
        <p:txBody>
          <a:bodyPr wrap="square" lIns="45720" rIns="45720" tIns="27432" bIns="27432" anchor="t">
            <a:spAutoFit/>
          </a:bodyPr>
          <a:lstStyle/>
          <a:p>
            <a:pPr algn="l"/>
            <a:r>
              <a:rPr sz="1500" b="1" i="0">
                <a:solidFill>
                  <a:srgbClr val="1B355E"/>
                </a:solidFill>
                <a:latin typeface="Abadi"/>
              </a:rPr>
              <a:t>Over-transfusion</a:t>
            </a:r>
          </a:p>
        </p:txBody>
      </p:sp>
      <p:sp>
        <p:nvSpPr>
          <p:cNvPr id="23" name="TextBox 22"/>
          <p:cNvSpPr txBox="1"/>
          <p:nvPr/>
        </p:nvSpPr>
        <p:spPr>
          <a:xfrm>
            <a:off x="517306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Hb above 9 raises portal pressure</a:t>
            </a:r>
          </a:p>
          <a:p>
            <a:pPr algn="l">
              <a:spcAft>
                <a:spcPts val="400"/>
              </a:spcAft>
            </a:pPr>
            <a:r>
              <a:rPr sz="1100" b="0" i="0">
                <a:solidFill>
                  <a:srgbClr val="1A1A1A"/>
                </a:solidFill>
                <a:latin typeface="Abadi"/>
              </a:rPr>
              <a:t>▪  No routine plasma</a:t>
            </a:r>
          </a:p>
        </p:txBody>
      </p:sp>
      <p:sp>
        <p:nvSpPr>
          <p:cNvPr id="24" name="Rectangle 23"/>
          <p:cNvSpPr/>
          <p:nvPr/>
        </p:nvSpPr>
        <p:spPr>
          <a:xfrm>
            <a:off x="7265820" y="1773936"/>
            <a:ext cx="2126284"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5820" y="1773936"/>
            <a:ext cx="2126284"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2124" y="1956816"/>
            <a:ext cx="1833676" cy="502920"/>
          </a:xfrm>
          <a:prstGeom prst="rect">
            <a:avLst/>
          </a:prstGeom>
          <a:noFill/>
        </p:spPr>
        <p:txBody>
          <a:bodyPr wrap="square" lIns="45720" rIns="45720" tIns="27432" bIns="27432" anchor="t">
            <a:spAutoFit/>
          </a:bodyPr>
          <a:lstStyle/>
          <a:p>
            <a:pPr algn="l"/>
            <a:r>
              <a:rPr sz="1500" b="1" i="0">
                <a:solidFill>
                  <a:srgbClr val="1E7A33"/>
                </a:solidFill>
                <a:latin typeface="Abadi"/>
              </a:rPr>
              <a:t>Treating the count</a:t>
            </a:r>
          </a:p>
        </p:txBody>
      </p:sp>
      <p:sp>
        <p:nvSpPr>
          <p:cNvPr id="27" name="TextBox 26"/>
          <p:cNvSpPr txBox="1"/>
          <p:nvPr/>
        </p:nvSpPr>
        <p:spPr>
          <a:xfrm>
            <a:off x="741212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Splenectomy for platelets alone</a:t>
            </a:r>
          </a:p>
          <a:p>
            <a:pPr algn="l">
              <a:spcAft>
                <a:spcPts val="400"/>
              </a:spcAft>
            </a:pPr>
            <a:r>
              <a:rPr sz="1100" b="0" i="0">
                <a:solidFill>
                  <a:srgbClr val="1A1A1A"/>
                </a:solidFill>
                <a:latin typeface="Abadi"/>
              </a:rPr>
              <a:t>▪  Loses a natural shunt</a:t>
            </a:r>
          </a:p>
        </p:txBody>
      </p:sp>
      <p:sp>
        <p:nvSpPr>
          <p:cNvPr id="28" name="Rectangle 27"/>
          <p:cNvSpPr/>
          <p:nvPr/>
        </p:nvSpPr>
        <p:spPr>
          <a:xfrm>
            <a:off x="9504880" y="1773936"/>
            <a:ext cx="2126284"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4880" y="1773936"/>
            <a:ext cx="2126284"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1184" y="1956816"/>
            <a:ext cx="1833676" cy="502920"/>
          </a:xfrm>
          <a:prstGeom prst="rect">
            <a:avLst/>
          </a:prstGeom>
          <a:noFill/>
        </p:spPr>
        <p:txBody>
          <a:bodyPr wrap="square" lIns="45720" rIns="45720" tIns="27432" bIns="27432" anchor="t">
            <a:spAutoFit/>
          </a:bodyPr>
          <a:lstStyle/>
          <a:p>
            <a:pPr algn="l"/>
            <a:r>
              <a:rPr sz="1500" b="1" i="0">
                <a:solidFill>
                  <a:srgbClr val="8A939B"/>
                </a:solidFill>
                <a:latin typeface="Abadi"/>
              </a:rPr>
              <a:t>Missing the loop</a:t>
            </a:r>
          </a:p>
        </p:txBody>
      </p:sp>
      <p:sp>
        <p:nvSpPr>
          <p:cNvPr id="31" name="TextBox 30"/>
          <p:cNvSpPr txBox="1"/>
          <p:nvPr/>
        </p:nvSpPr>
        <p:spPr>
          <a:xfrm>
            <a:off x="9651184" y="2487168"/>
            <a:ext cx="1833676" cy="1348840"/>
          </a:xfrm>
          <a:prstGeom prst="rect">
            <a:avLst/>
          </a:prstGeom>
          <a:noFill/>
        </p:spPr>
        <p:txBody>
          <a:bodyPr wrap="square" lIns="45720" rIns="45720" tIns="27432" bIns="27432" anchor="t">
            <a:spAutoFit/>
          </a:bodyPr>
          <a:lstStyle/>
          <a:p>
            <a:pPr algn="l">
              <a:spcAft>
                <a:spcPts val="400"/>
              </a:spcAft>
            </a:pPr>
            <a:r>
              <a:rPr sz="1100" b="0" i="0">
                <a:solidFill>
                  <a:srgbClr val="1A1A1A"/>
                </a:solidFill>
                <a:latin typeface="Abadi"/>
              </a:rPr>
              <a:t>▪  Melaena, clean scope: Roux-loop varices</a:t>
            </a:r>
          </a:p>
          <a:p>
            <a:pPr algn="l">
              <a:spcAft>
                <a:spcPts val="400"/>
              </a:spcAft>
            </a:pPr>
            <a:r>
              <a:rPr sz="1100" b="0" i="0">
                <a:solidFill>
                  <a:srgbClr val="1A1A1A"/>
                </a:solidFill>
                <a:latin typeface="Abadi"/>
              </a:rPr>
              <a:t>▪  Consider enteroscopy</a:t>
            </a:r>
          </a:p>
        </p:txBody>
      </p:sp>
      <p:sp>
        <p:nvSpPr>
          <p:cNvPr id="32" name="TextBox 31"/>
          <p:cNvSpPr txBox="1"/>
          <p:nvPr/>
        </p:nvSpPr>
        <p:spPr>
          <a:xfrm>
            <a:off x="548640" y="4114800"/>
            <a:ext cx="11082528" cy="1500000"/>
          </a:xfrm>
          <a:prstGeom prst="rect">
            <a:avLst/>
          </a:prstGeom>
          <a:noFill/>
        </p:spPr>
        <p:txBody>
          <a:bodyPr wrap="square" lIns="45720" rIns="45720" tIns="27432" bIns="27432" anchor="t">
            <a:spAutoFit/>
          </a:bodyPr>
          <a:lstStyle/>
          <a:p>
            <a:pPr algn="l"/>
            <a:r>
              <a:rPr sz="1250" b="1" i="0">
                <a:solidFill>
                  <a:srgbClr val="1B355E"/>
                </a:solidFill>
                <a:latin typeface="Abadi"/>
              </a:rPr>
              <a:t>And the biggest one.   </a:t>
            </a:r>
            <a:r>
              <a:rPr sz="1250" b="0" i="0">
                <a:solidFill>
                  <a:srgbClr val="1B355E"/>
                </a:solidFill>
                <a:latin typeface="Abadi"/>
              </a:rPr>
              <a:t>Treating varices as a local problem. A child who needs repeated banding has a failing native liver more often than not; in Japan, only 46% of jaundice-free children with treated portal hypertension kept their liver to 30 years. Each endoscopy should come with the question: is it time to list?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Shneider 2012 · Bass 2022 · Duché 2010, 2013, 2017 · Ackermann 2026 · Okubo 2025 · Cifuentes 2021 · Gana 2011 · APSPGHAN 2026</a:t>
            </a:r>
          </a:p>
        </p:txBody>
      </p:sp>
      <p:sp>
        <p:nvSpPr>
          <p:cNvPr id="12" name="TextBox 11"/>
          <p:cNvSpPr txBox="1"/>
          <p:nvPr/>
        </p:nvSpPr>
        <p:spPr>
          <a:xfrm>
            <a:off x="548640" y="1783080"/>
            <a:ext cx="11082528" cy="3900000"/>
          </a:xfrm>
          <a:prstGeom prst="rect">
            <a:avLst/>
          </a:prstGeom>
          <a:noFill/>
        </p:spPr>
        <p:txBody>
          <a:bodyPr wrap="square" lIns="45720" rIns="45720" tIns="27432" bIns="27432" anchor="t">
            <a:spAutoFit/>
          </a:bodyPr>
          <a:lstStyle/>
          <a:p>
            <a:pPr algn="l">
              <a:spcAft>
                <a:spcPts val="700"/>
              </a:spcAft>
            </a:pPr>
            <a:r>
              <a:rPr sz="1350" b="0" i="0">
                <a:solidFill>
                  <a:srgbClr val="1A1A1A"/>
                </a:solidFill>
                <a:latin typeface="Abadi"/>
              </a:rPr>
              <a:t>▪  Definite PHT in 49% of ChiLDReN native-liver survivors (mean age 9); 46% ever in Japan.</a:t>
            </a:r>
          </a:p>
          <a:p>
            <a:pPr algn="l">
              <a:spcAft>
                <a:spcPts val="700"/>
              </a:spcAft>
            </a:pPr>
            <a:r>
              <a:rPr sz="1350" b="0" i="0">
                <a:solidFill>
                  <a:srgbClr val="1A1A1A"/>
                </a:solidFill>
                <a:latin typeface="Abadi"/>
              </a:rPr>
              <a:t>▪  ChiLDReN definition: spleen &gt; 2 cm plus platelets &lt; 150, or any PHT complication.</a:t>
            </a:r>
          </a:p>
          <a:p>
            <a:pPr algn="l">
              <a:spcAft>
                <a:spcPts val="700"/>
              </a:spcAft>
            </a:pPr>
            <a:r>
              <a:rPr sz="1350" b="0" i="0">
                <a:solidFill>
                  <a:srgbClr val="1A1A1A"/>
                </a:solidFill>
                <a:latin typeface="Abadi"/>
              </a:rPr>
              <a:t>▪  First variceal bleed: ~9% by five years from the Kasai; 2.5% died, 12.5% transplanted within six weeks.</a:t>
            </a:r>
          </a:p>
          <a:p>
            <a:pPr algn="l">
              <a:spcAft>
                <a:spcPts val="700"/>
              </a:spcAft>
            </a:pPr>
            <a:r>
              <a:rPr sz="1350" b="0" i="0">
                <a:solidFill>
                  <a:srgbClr val="1A1A1A"/>
                </a:solidFill>
                <a:latin typeface="Abadi"/>
              </a:rPr>
              <a:t>▪  Paris: varices in 70% scoped at median 13 months; 5-y bleeding 59% with grade 3 varices, 12% without varices.</a:t>
            </a:r>
          </a:p>
          <a:p>
            <a:pPr algn="l">
              <a:spcAft>
                <a:spcPts val="700"/>
              </a:spcAft>
            </a:pPr>
            <a:r>
              <a:rPr sz="1350" b="0" i="0">
                <a:solidFill>
                  <a:srgbClr val="1A1A1A"/>
                </a:solidFill>
                <a:latin typeface="Abadi"/>
              </a:rPr>
              <a:t>▪  High-risk varices: grade 3, or grade 2 with red signs, or gastric varices; present in 96% of children who bled.</a:t>
            </a:r>
          </a:p>
          <a:p>
            <a:pPr algn="l">
              <a:spcAft>
                <a:spcPts val="700"/>
              </a:spcAft>
            </a:pPr>
            <a:r>
              <a:rPr sz="1350" b="0" i="0">
                <a:solidFill>
                  <a:srgbClr val="1A1A1A"/>
                </a:solidFill>
                <a:latin typeface="Abadi"/>
              </a:rPr>
              <a:t>▪  62% of infants under 12 months with high-risk varices had platelets ≥ 150.</a:t>
            </a:r>
          </a:p>
          <a:p>
            <a:pPr algn="l">
              <a:spcAft>
                <a:spcPts val="700"/>
              </a:spcAft>
            </a:pPr>
            <a:r>
              <a:rPr sz="1350" b="0" i="0">
                <a:solidFill>
                  <a:srgbClr val="1A1A1A"/>
                </a:solidFill>
                <a:latin typeface="Abadi"/>
              </a:rPr>
              <a:t>▪  One paediatric RCT of banding (n = 22); none of beta-blockers. Baveno VI: no consensus.</a:t>
            </a:r>
          </a:p>
          <a:p>
            <a:pPr algn="l">
              <a:spcAft>
                <a:spcPts val="700"/>
              </a:spcAft>
            </a:pPr>
            <a:r>
              <a:rPr sz="1350" b="0" i="0">
                <a:solidFill>
                  <a:srgbClr val="1A1A1A"/>
                </a:solidFill>
                <a:latin typeface="Abadi"/>
              </a:rPr>
              <a:t>▪  Band from ~10 kg; sclerotherapy or a beta-blocker below that, case by case.</a:t>
            </a:r>
          </a:p>
          <a:p>
            <a:pPr algn="l">
              <a:spcAft>
                <a:spcPts val="700"/>
              </a:spcAft>
            </a:pPr>
            <a:r>
              <a:rPr sz="1350" b="0" i="0">
                <a:solidFill>
                  <a:srgbClr val="1A1A1A"/>
                </a:solidFill>
                <a:latin typeface="Abadi"/>
              </a:rPr>
              <a:t>▪  Acute bleed: transfuse below Hb 7, octreotide, antibiotics, endoscopy within 24 h.</a:t>
            </a:r>
          </a:p>
          <a:p>
            <a:pPr algn="l">
              <a:spcAft>
                <a:spcPts val="700"/>
              </a:spcAft>
            </a:pPr>
            <a:r>
              <a:rPr sz="1350" b="0" i="0">
                <a:solidFill>
                  <a:srgbClr val="1A1A1A"/>
                </a:solidFill>
                <a:latin typeface="Abadi"/>
              </a:rPr>
              <a:t>▪  Treated PHT: 30-year native-liver survival 46% vs 88% without PHT. Varices are a transplant signal.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0">
                <a:solidFill>
                  <a:srgbClr val="555555"/>
                </a:solidFill>
                <a:latin typeface="Abadi"/>
              </a:rPr>
              <a:t>Five common situations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0">
                <a:solidFill>
                  <a:srgbClr val="8A939B"/>
                </a:solidFill>
                <a:latin typeface="Abadi"/>
              </a:rPr>
              <a:t>Synthesis of the sources in this deck</a:t>
            </a:r>
          </a:p>
        </p:txBody>
      </p:sp>
      <p:graphicFrame>
        <p:nvGraphicFramePr>
          <p:cNvPr id="12" name="Table 11"/>
          <p:cNvGraphicFramePr>
            <a:graphicFrameLocks noGrp="1"/>
          </p:cNvGraphicFramePr>
          <p:nvPr/>
        </p:nvGraphicFramePr>
        <p:xfrm>
          <a:off x="548640" y="1783080"/>
          <a:ext cx="11082528" cy="2980000"/>
        </p:xfrm>
        <a:graphic>
          <a:graphicData uri="http://schemas.openxmlformats.org/drawingml/2006/table">
            <a:tbl>
              <a:tblPr firstRow="1" bandRow="1">
                <a:tableStyleId>{5C22544A-7EE6-4342-B048-85BDC9FD1C3A}</a:tableStyleId>
              </a:tblPr>
              <a:tblGrid>
                <a:gridCol w="3694176"/>
                <a:gridCol w="4155948"/>
                <a:gridCol w="3232404"/>
              </a:tblGrid>
              <a:tr h="380000">
                <a:tc>
                  <a:txBody>
                    <a:bodyPr wrap="square"/>
                    <a:lstStyle/>
                    <a:p>
                      <a:r>
                        <a:rPr sz="1000" b="1" i="0">
                          <a:solidFill>
                            <a:srgbClr val="FFFFFF"/>
                          </a:solidFill>
                          <a:latin typeface="Abadi"/>
                        </a:rPr>
                        <a:t>Scenario</a:t>
                      </a:r>
                    </a:p>
                  </a:txBody>
                  <a:tcPr marL="64008" marR="64008" marT="27432" marB="27432" anchor="ctr">
                    <a:solidFill>
                      <a:srgbClr val="1B355E"/>
                    </a:solidFill>
                  </a:tcPr>
                </a:tc>
                <a:tc>
                  <a:txBody>
                    <a:bodyPr wrap="square"/>
                    <a:lstStyle/>
                    <a:p>
                      <a:r>
                        <a:rPr sz="1000" b="1" i="0">
                          <a:solidFill>
                            <a:srgbClr val="FFFFFF"/>
                          </a:solidFill>
                          <a:latin typeface="Abadi"/>
                        </a:rPr>
                        <a:t>Decision</a:t>
                      </a:r>
                    </a:p>
                  </a:txBody>
                  <a:tcPr marL="64008" marR="64008" marT="27432" marB="27432" anchor="ctr">
                    <a:solidFill>
                      <a:srgbClr val="1B355E"/>
                    </a:solidFill>
                  </a:tcPr>
                </a:tc>
                <a:tc>
                  <a:txBody>
                    <a:bodyPr wrap="square"/>
                    <a:lstStyle/>
                    <a:p>
                      <a:r>
                        <a:rPr sz="1000" b="1" i="0">
                          <a:solidFill>
                            <a:srgbClr val="FFFFFF"/>
                          </a:solidFill>
                          <a:latin typeface="Abadi"/>
                        </a:rPr>
                        <a:t>Why</a:t>
                      </a:r>
                    </a:p>
                  </a:txBody>
                  <a:tcPr marL="64008" marR="64008" marT="27432" marB="27432" anchor="ctr">
                    <a:solidFill>
                      <a:srgbClr val="1B355E"/>
                    </a:solidFill>
                  </a:tcPr>
                </a:tc>
              </a:tr>
              <a:tr h="520000">
                <a:tc>
                  <a:txBody>
                    <a:bodyPr wrap="square"/>
                    <a:lstStyle/>
                    <a:p>
                      <a:r>
                        <a:rPr sz="1000" b="1" i="0">
                          <a:solidFill>
                            <a:srgbClr val="1A1A1A"/>
                          </a:solidFill>
                          <a:latin typeface="Abadi"/>
                        </a:rPr>
                        <a:t>11 mo, cleared jaundice, spleen 3 cm, platelets 168</a:t>
                      </a:r>
                    </a:p>
                  </a:txBody>
                  <a:tcPr marL="64008" marR="64008" marT="27432" marB="27432" anchor="ctr">
                    <a:solidFill>
                      <a:srgbClr val="FFFFFF"/>
                    </a:solidFill>
                  </a:tcPr>
                </a:tc>
                <a:tc>
                  <a:txBody>
                    <a:bodyPr wrap="square"/>
                    <a:lstStyle/>
                    <a:p>
                      <a:r>
                        <a:rPr sz="1000" b="0" i="0">
                          <a:solidFill>
                            <a:srgbClr val="1A1A1A"/>
                          </a:solidFill>
                          <a:latin typeface="Abadi"/>
                        </a:rPr>
                        <a:t>Endoscopy at 9–12 months in an experienced unit</a:t>
                      </a:r>
                    </a:p>
                  </a:txBody>
                  <a:tcPr marL="64008" marR="64008" marT="27432" marB="27432" anchor="ctr">
                    <a:solidFill>
                      <a:srgbClr val="FFFFFF"/>
                    </a:solidFill>
                  </a:tcPr>
                </a:tc>
                <a:tc>
                  <a:txBody>
                    <a:bodyPr wrap="square"/>
                    <a:lstStyle/>
                    <a:p>
                      <a:r>
                        <a:rPr sz="1000" b="0" i="0">
                          <a:solidFill>
                            <a:srgbClr val="1A1A1A"/>
                          </a:solidFill>
                          <a:latin typeface="Abadi"/>
                        </a:rPr>
                        <a:t>Platelets mislead in infants; HRV emerge early</a:t>
                      </a:r>
                    </a:p>
                  </a:txBody>
                  <a:tcPr marL="64008" marR="64008" marT="27432" marB="27432" anchor="ctr">
                    <a:solidFill>
                      <a:srgbClr val="FFFFFF"/>
                    </a:solidFill>
                  </a:tcPr>
                </a:tc>
              </a:tr>
              <a:tr h="520000">
                <a:tc>
                  <a:txBody>
                    <a:bodyPr wrap="square"/>
                    <a:lstStyle/>
                    <a:p>
                      <a:r>
                        <a:rPr sz="1000" b="1" i="0">
                          <a:solidFill>
                            <a:srgbClr val="1A1A1A"/>
                          </a:solidFill>
                          <a:latin typeface="Abadi"/>
                        </a:rPr>
                        <a:t>8 kg infant, grade 3 varices with red signs, bilirubin 1 mg/dL</a:t>
                      </a:r>
                    </a:p>
                  </a:txBody>
                  <a:tcPr marL="64008" marR="64008" marT="27432" marB="27432" anchor="ctr">
                    <a:solidFill>
                      <a:srgbClr val="F3F5F8"/>
                    </a:solidFill>
                  </a:tcPr>
                </a:tc>
                <a:tc>
                  <a:txBody>
                    <a:bodyPr wrap="square"/>
                    <a:lstStyle/>
                    <a:p>
                      <a:r>
                        <a:rPr sz="1000" b="0" i="0">
                          <a:solidFill>
                            <a:srgbClr val="1A1A1A"/>
                          </a:solidFill>
                          <a:latin typeface="Abadi"/>
                        </a:rPr>
                        <a:t>Sclerotherapy or beta-blocker; band when ≥ 10 kg</a:t>
                      </a:r>
                    </a:p>
                  </a:txBody>
                  <a:tcPr marL="64008" marR="64008" marT="27432" marB="27432" anchor="ctr">
                    <a:solidFill>
                      <a:srgbClr val="F3F5F8"/>
                    </a:solidFill>
                  </a:tcPr>
                </a:tc>
                <a:tc>
                  <a:txBody>
                    <a:bodyPr wrap="square"/>
                    <a:lstStyle/>
                    <a:p>
                      <a:r>
                        <a:rPr sz="1000" b="0" i="0">
                          <a:solidFill>
                            <a:srgbClr val="1A1A1A"/>
                          </a:solidFill>
                          <a:latin typeface="Abadi"/>
                        </a:rPr>
                        <a:t>Transplant not imminent; HRV bleed in up to 75%</a:t>
                      </a:r>
                    </a:p>
                  </a:txBody>
                  <a:tcPr marL="64008" marR="64008" marT="27432" marB="27432" anchor="ctr">
                    <a:solidFill>
                      <a:srgbClr val="F3F5F8"/>
                    </a:solidFill>
                  </a:tcPr>
                </a:tc>
              </a:tr>
              <a:tr h="520000">
                <a:tc>
                  <a:txBody>
                    <a:bodyPr wrap="square"/>
                    <a:lstStyle/>
                    <a:p>
                      <a:r>
                        <a:rPr sz="1000" b="1" i="0">
                          <a:solidFill>
                            <a:srgbClr val="1A1A1A"/>
                          </a:solidFill>
                          <a:latin typeface="Abadi"/>
                        </a:rPr>
                        <a:t>Toddler, small grade 1 varices, good synthesis</a:t>
                      </a:r>
                    </a:p>
                  </a:txBody>
                  <a:tcPr marL="64008" marR="64008" marT="27432" marB="27432" anchor="ctr">
                    <a:solidFill>
                      <a:srgbClr val="FFFFFF"/>
                    </a:solidFill>
                  </a:tcPr>
                </a:tc>
                <a:tc>
                  <a:txBody>
                    <a:bodyPr wrap="square"/>
                    <a:lstStyle/>
                    <a:p>
                      <a:r>
                        <a:rPr sz="1000" b="0" i="0">
                          <a:solidFill>
                            <a:srgbClr val="1A1A1A"/>
                          </a:solidFill>
                          <a:latin typeface="Abadi"/>
                        </a:rPr>
                        <a:t>No prophylaxis; repeat endoscopy in 1–2 years</a:t>
                      </a:r>
                    </a:p>
                  </a:txBody>
                  <a:tcPr marL="64008" marR="64008" marT="27432" marB="27432" anchor="ctr">
                    <a:solidFill>
                      <a:srgbClr val="FFFFFF"/>
                    </a:solidFill>
                  </a:tcPr>
                </a:tc>
                <a:tc>
                  <a:txBody>
                    <a:bodyPr wrap="square"/>
                    <a:lstStyle/>
                    <a:p>
                      <a:r>
                        <a:rPr sz="1000" b="0" i="0">
                          <a:solidFill>
                            <a:srgbClr val="1A1A1A"/>
                          </a:solidFill>
                          <a:latin typeface="Abadi"/>
                        </a:rPr>
                        <a:t>Low bleeding risk</a:t>
                      </a:r>
                    </a:p>
                  </a:txBody>
                  <a:tcPr marL="64008" marR="64008" marT="27432" marB="27432" anchor="ctr">
                    <a:solidFill>
                      <a:srgbClr val="FFFFFF"/>
                    </a:solidFill>
                  </a:tcPr>
                </a:tc>
              </a:tr>
              <a:tr h="520000">
                <a:tc>
                  <a:txBody>
                    <a:bodyPr wrap="square"/>
                    <a:lstStyle/>
                    <a:p>
                      <a:r>
                        <a:rPr sz="1000" b="1" i="0">
                          <a:solidFill>
                            <a:srgbClr val="1A1A1A"/>
                          </a:solidFill>
                          <a:latin typeface="Abadi"/>
                        </a:rPr>
                        <a:t>First bleed at 2 y, albumin 30 g/L</a:t>
                      </a:r>
                    </a:p>
                  </a:txBody>
                  <a:tcPr marL="64008" marR="64008" marT="27432" marB="27432" anchor="ctr">
                    <a:solidFill>
                      <a:srgbClr val="F3F5F8"/>
                    </a:solidFill>
                  </a:tcPr>
                </a:tc>
                <a:tc>
                  <a:txBody>
                    <a:bodyPr wrap="square"/>
                    <a:lstStyle/>
                    <a:p>
                      <a:r>
                        <a:rPr sz="1000" b="0" i="0">
                          <a:solidFill>
                            <a:srgbClr val="1A1A1A"/>
                          </a:solidFill>
                          <a:latin typeface="Abadi"/>
                        </a:rPr>
                        <a:t>Octreotide, antibiotics, Hb 7–9, banding; transplant assessment</a:t>
                      </a:r>
                    </a:p>
                  </a:txBody>
                  <a:tcPr marL="64008" marR="64008" marT="27432" marB="27432" anchor="ctr">
                    <a:solidFill>
                      <a:srgbClr val="F3F5F8"/>
                    </a:solidFill>
                  </a:tcPr>
                </a:tc>
                <a:tc>
                  <a:txBody>
                    <a:bodyPr wrap="square"/>
                    <a:lstStyle/>
                    <a:p>
                      <a:r>
                        <a:rPr sz="1000" b="0" i="0">
                          <a:solidFill>
                            <a:srgbClr val="1A1A1A"/>
                          </a:solidFill>
                          <a:latin typeface="Abadi"/>
                        </a:rPr>
                        <a:t>12.5% transplanted within six weeks</a:t>
                      </a:r>
                    </a:p>
                  </a:txBody>
                  <a:tcPr marL="64008" marR="64008" marT="27432" marB="27432" anchor="ctr">
                    <a:solidFill>
                      <a:srgbClr val="F3F5F8"/>
                    </a:solidFill>
                  </a:tcPr>
                </a:tc>
              </a:tr>
              <a:tr h="520000">
                <a:tc>
                  <a:txBody>
                    <a:bodyPr wrap="square"/>
                    <a:lstStyle/>
                    <a:p>
                      <a:r>
                        <a:rPr sz="1000" b="1" i="0">
                          <a:solidFill>
                            <a:srgbClr val="1A1A1A"/>
                          </a:solidFill>
                          <a:latin typeface="Abadi"/>
                        </a:rPr>
                        <a:t>Teenager, platelets 60, no varices, sport</a:t>
                      </a:r>
                    </a:p>
                  </a:txBody>
                  <a:tcPr marL="64008" marR="64008" marT="27432" marB="27432" anchor="ctr">
                    <a:solidFill>
                      <a:srgbClr val="FFFFFF"/>
                    </a:solidFill>
                  </a:tcPr>
                </a:tc>
                <a:tc>
                  <a:txBody>
                    <a:bodyPr wrap="square"/>
                    <a:lstStyle/>
                    <a:p>
                      <a:r>
                        <a:rPr sz="1000" b="0" i="0">
                          <a:solidFill>
                            <a:srgbClr val="1A1A1A"/>
                          </a:solidFill>
                          <a:latin typeface="Abadi"/>
                        </a:rPr>
                        <a:t>Spleen guard, no splenectomy; PSE only for a clear reason</a:t>
                      </a:r>
                    </a:p>
                  </a:txBody>
                  <a:tcPr marL="64008" marR="64008" marT="27432" marB="27432" anchor="ctr">
                    <a:solidFill>
                      <a:srgbClr val="FFFFFF"/>
                    </a:solidFill>
                  </a:tcPr>
                </a:tc>
                <a:tc>
                  <a:txBody>
                    <a:bodyPr wrap="square"/>
                    <a:lstStyle/>
                    <a:p>
                      <a:r>
                        <a:rPr sz="1000" b="0" i="0">
                          <a:solidFill>
                            <a:srgbClr val="1A1A1A"/>
                          </a:solidFill>
                          <a:latin typeface="Abadi"/>
                        </a:rPr>
                        <a:t>Hypersplenism is a marker, not a target</a:t>
                      </a:r>
                    </a:p>
                  </a:txBody>
                  <a:tcPr marL="64008" marR="64008"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00200"/>
            <a:ext cx="11082528" cy="2286000"/>
          </a:xfrm>
          <a:prstGeom prst="rect">
            <a:avLst/>
          </a:prstGeom>
          <a:noFill/>
        </p:spPr>
        <p:txBody>
          <a:bodyPr wrap="square" lIns="45720" rIns="45720" tIns="27432" bIns="27432" anchor="b">
            <a:spAutoFit/>
          </a:bodyPr>
          <a:lstStyle/>
          <a:p>
            <a:pPr algn="ctr"/>
            <a:r>
              <a:rPr sz="3000" b="1" i="0">
                <a:solidFill>
                  <a:srgbClr val="FFFFFF"/>
                </a:solidFill>
                <a:latin typeface="Abadi"/>
              </a:rPr>
              <a:t>Biliary Atresia IX: Portal Hypertension after the Kasai — Varices in Infants, the Primary-Prophylaxis Debate and Hypersplenism</a:t>
            </a:r>
          </a:p>
        </p:txBody>
      </p:sp>
      <p:sp>
        <p:nvSpPr>
          <p:cNvPr id="4" name="TextBox 3"/>
          <p:cNvSpPr txBox="1"/>
          <p:nvPr/>
        </p:nvSpPr>
        <p:spPr>
          <a:xfrm>
            <a:off x="548640" y="3977639"/>
            <a:ext cx="11082528" cy="365760"/>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