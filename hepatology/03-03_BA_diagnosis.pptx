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Biliary Atresia III: Diagnosis — GGT, MMP-7 Thresholds, Ultrasound, Biopsy and the Intraoperative Cholangiogram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Ge 2025 (Chinese BA guideline) · Pandurangi 2024 (ChiLDReN) · Yang 2018 · Wu 2019 · He 2021 · Wang 2025 · Zhou 2016 · Lee 2009 · Wagner 2022 · Shen 2020 · Kianifar 2013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no single test makes the diagnosis · MMP-7 rules out better than it rules in · the cut-off belongs to the assay · a normal ultrasound reassures no one · the cholangiogram ends the debate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TEST ENDS THE DEBATE, AND WHEN?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Five tools for one decision: does this cholestatic infant need a cholangiogram and a Kasai this week?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Ge L, et al. Hepatobiliary Surg Nutr 2025 · Pandurangi S, et al. Hepatology 2024;80:152–62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1488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GGT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 in most atresia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Overlaps with Alagille, A1AT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GGT argues against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1488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MMP-7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Released by injured cholangiocytes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Best single serum test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Cut-off is assay-specific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1488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Ultrasound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Gallbladder, triangular cord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Subcapsular flow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scan does not exclude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1488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Biopsy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Ductular reaction, plugs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Accurate if well timed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Expert pathologist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1488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Cholangiogram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Gold standard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Same anaesthetic as Kasai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Mimics: hypoplastic 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11082528" cy="1691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Every pre-operative test estimates probability; only the cholangiogram with remnant histology proves atresia. The modern job is to move infants with a high probability to the operating room fast, and to stop the low-probability ones from going there at all.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Each week of delay lowers the chance of clearing jaundice with the native liver. Sequential, slow testing (primed scintigraphy, a repeat biopsy) is the commonest preventable cause of a late Kasai.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EACH TEST READS A DIFFERENT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From duct obstruction to tissue response: what each investigation actually measures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Lertudomphonwanit C, et al. Sci Transl Med 2017;9:eaan8462 · Lee MS, et al. Radiology 2009;252:282–9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982419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982419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Bile flow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Conjugated bilirubin rises from birth; stools turn pale. Read by fractionated bilirubin and stool colour.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1059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3667" y="1773936"/>
            <a:ext cx="1982419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23667" y="1773936"/>
            <a:ext cx="1982419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5107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Epithelium injured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3395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Cholangiocytes release MMP-7 and GGT into blood. Read by serum biomarkers.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6086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8694" y="1773936"/>
            <a:ext cx="1982419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8694" y="1773936"/>
            <a:ext cx="1982419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0134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Anatomy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8422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Gallbladder small or irregular, fibrous cone at the porta, hepatic artery enlarges. Read by ultrasound.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1113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3721" y="1773936"/>
            <a:ext cx="1982419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3721" y="1773936"/>
            <a:ext cx="1982419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5161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Liver responds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3449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Ductular reaction, bile plugs, portal oedema and fibrosis. Read by biopsy.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6140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8748" y="1773936"/>
            <a:ext cx="1982419" cy="19202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8748" y="1773936"/>
            <a:ext cx="1982419" cy="3108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0188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Lumen is 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8476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Contrast does not reach the hepatic ducts. Read by the cholangiogram.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1082528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Reading the chain.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Upstream tests (bilirubin, stool) are sensitive but cannot name the cause; downstream tests (biopsy, cholangiogram) are specific but invasive. Biomarkers and ultrasound sit in the middle and decide who goes downstream.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Why timing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Tissue findings mature with age: a biopsy at three weeks may show only hepatitis, and MMP-7 is lower in the first month. A negative early test is a reason to repeat or escalate, not to stop.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GAMMA-GLUTAMYL TRANSFERASE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GGT: HIGH, BUT NOT HIGH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GGT is raised in most atresia but separates it poorly from other high-GGT cholestasis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Yang L, et al. Hepatology 2018;68:2069–77 · Pandurangi S, et al. Hepatology 2024;80:152–62 · He L, et al. Sci Rep 2021;11:11692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874519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AUC 0.72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2304288" cy="10972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Yang 2018, China: GGT cut-off 314 U/L gave sensitivity 64% and specificity 72% (MMP-7 AUC 0.99 in the same infants).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874519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56816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AUC 0.81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487168"/>
            <a:ext cx="2304288" cy="10972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Pandurangi 2024, ChiLDReN: GGT cut-off 267.5 U/L, sensitivity 86.6%, specificity 77.4%.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87451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56816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80% / 79%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2304288" cy="10972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He 2021 meta-analysis: pooled GGT sensitivity and specificity (three studies).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874519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56816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Low GGT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487168"/>
            <a:ext cx="2304288" cy="10972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PFIC1, PFIC2, bile acid synthesis defects and TJP2: a low GGT points away from atresia.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1082528" cy="1920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Interpretation.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GGT is a sign of cholangiocyte injury, not of obstruction. Alagille syndrome, alpha-1 antitrypsin deficiency, PFIC3 and neonatal sclerosing cholangitis (often above 800 IU/L) all raise it, so a high value narrows the field but does not decide it.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Useful in reverse.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normal or low GGT in a cholestatic infant should prompt a search for intrahepatic disorders. Atresia with low GGT exists but is uncommon, and GGT is physiologically higher in neonates, so interpret against 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GGT BY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CUT-OFF CLIMBS WITH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Age-specific GGT thresholds for atresia, 282 jaundiced infants under 120 days, Beijing Children's Hospital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Shen Q, et al. BMC Pediatr 2020;20:276 · Ge L, et al. Hepatobiliary Surg Nutr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3464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60 days or younger (74 BA, 50 non-BA)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84831"/>
            <a:ext cx="2331110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0694" y="1965960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191 U/L · 89% / 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283464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61 to 90 days (54 BA, 70 non-BA)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51760"/>
            <a:ext cx="259933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8918" y="2532888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213 U/L · 85% / 81%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5"/>
            <a:ext cx="283464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91 to 120 days (7 BA, 27 non-BA)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18687"/>
            <a:ext cx="3432048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1632" y="3099815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282 U/L · 100% / 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66744"/>
            <a:ext cx="283464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All ages, single cut-off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785615"/>
            <a:ext cx="2346960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6544" y="3666744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193 U/L · 89% / 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78638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Bars: GGT cut-off in U/L; labels give cut-off, sensitivity / specificity.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7863840" cy="1143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 it as.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Thresholds near 200 U/L work in the first two months; older infants need higher values. The oldest group had only seven atresia cases, so its 100% is imprecise.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Add stiffness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GGT or liver stiffness positive (9.5 kPa): sensitivity 96.3%, specificity 58.8%, a screening rule, not a diagnosis.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Chinese 2025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Consider atresia above 100 U/L; above 300 U/L is high suspicion (sensitivity 81.5%, specificity 72.1%).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Caveat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Single centre, retrospective; local laboratory ranges differ.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MATRIX METALLOPROTEINASE-7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MMP-7: THE SENTINEL IN SERUM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Median serum MMP-7 in healthy infants, other cholestasis and atresia, Chinese validation cohort, ng/mL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Lertudomphonwanit C, et al. Sci Transl Med 2017;9:eaan8462 · Yang L, et al. Hepatology 2018;68:2069–77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1"/>
            <a:ext cx="69494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Median MMP-7, ng/mL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694944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32559" y="5146177"/>
            <a:ext cx="914400" cy="6590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799" y="4871857"/>
            <a:ext cx="16459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2.9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5248656"/>
            <a:ext cx="23164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Healthy controls</a:t>
            </a:r>
          </a:p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(n = 72)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947778"/>
            <a:ext cx="914400" cy="264301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4673458"/>
            <a:ext cx="16459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11.5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999" y="5248656"/>
            <a:ext cx="23164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Other cholestasis</a:t>
            </a:r>
          </a:p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(n = 60)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520" y="2421587"/>
            <a:ext cx="914400" cy="279049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9759" y="2147267"/>
            <a:ext cx="16459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121.1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4480" y="5248656"/>
            <a:ext cx="23164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Biliary atresia</a:t>
            </a:r>
          </a:p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(n = 75)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783080"/>
            <a:ext cx="347472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Discovery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Proteomic screen in Cincinnati (2017) found MMP-7 made by injured cholangiocytes; it promotes duct injury in the mouse model.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52.85 ng/mL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Yang 2018 cut-off: sensitivity 98.7% (74 of 75), specificity 95.0%, AUC 0.99.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Ten-fold gap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Atresia median sits about ten times above other cholestasis, the widest gap of any marker.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Same biology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Rises early because it reads epithelial injury, step two of the cascade.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CUT-OFF BELONGS TO THE ASSAY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Published MMP-7 thresholds are not interchangeable: kit, platform and cohort move the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Yang 2018 · Pandurangi S, et al. Hepatology 2024;80:152–62 · Wu JF, et al. J Pediatr 2019;208:30–7 · Aleiri A, et al. JPGN 2023;77:97–102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  <a:gridCol w="2743200"/>
                <a:gridCol w="2011680"/>
                <a:gridCol w="1938528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Assay and cut-off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Sensitivity / specificity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Lesson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Yang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135 cholestatic infants, China; 75 BA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ELISA; 52.85 ng/mL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98.7% / 95.0%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The original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Pandurangi 2024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399 infants, North America; 201 BA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Single-plex 52.8 ng/mL; TR-FRET 18.2 ng/mL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94.0% / 77.8%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Two platforms, two numbers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Wu 2019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100 infants, Taiwan; 36 BA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Different ELISA kit; 1.43 ng/mL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High; one non-BA overlap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Kits differ by orders of magnitude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Aleiri 2023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32 BA, 27 controls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69 ng/mL; stored samples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68% / 93%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Storage lowers sensitivity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Ge 2025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Pooled evidence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cut-off endorsed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91.5% / 84.3% (AUC 0.968)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Grade 2C: promising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74920"/>
            <a:ext cx="11082528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Practical rule.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Use only the threshold validated for your laboratory's platform, ask the lab which assay it runs, and never transplant a number from a paper onto a different kit.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NORTH AMERICAN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BETTER THAN EVERY OTHER SINGLE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Area under the ROC curve for atresia, 399 cholestatic infants in the ChiLDReN prospective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Pandurangi S, et al. Hepatology 2024;80:152–62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6517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Serum MMP-7 (single-plex)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84831"/>
            <a:ext cx="3785615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965960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26517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Liver biopsy (pathology)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651760"/>
            <a:ext cx="3533241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9945" y="2532888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5"/>
            <a:ext cx="26517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Serum GGT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218687"/>
            <a:ext cx="34070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3758" y="3099815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66744"/>
            <a:ext cx="26517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Stool colour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785615"/>
            <a:ext cx="2860243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6947" y="3666744"/>
            <a:ext cx="173736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786384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 it as.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At 52.8 ng/mL: sensitivity 94.0%, specificity 77.8%, positive predictive value 64.5%, negative predictive value 96.8%. Six per cent of atresia fell below the cut-off; 22% of non-atresia infants were above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False positives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Choledochal cyst 7 of 8, alpha-1 antitrypsin deficiency 8 of 17, indeterminate cholestasis 13 of 98.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Why lower than Asia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Older, more varied controls and a real-world mix of intrahepatic disease.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Use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 strong rule-out test; a positive result still needs ultrasound and cholangiography.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POOLED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HIGH SENSITIVITY, FALLING 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Pooled sensitivity and specificity of MMP-7 and GGT in meta-analyses, with the largest single cohort,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He L, et al. Sci Rep 2021;11:11692 · Wang H, et al. Front Pharmacol 2025;16:1581053 · Pandurangi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MMP-7, He 2021 (4 studies)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869948"/>
            <a:ext cx="3686860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7884" y="1828800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57984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199132"/>
            <a:ext cx="3494836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5860" y="2157984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87168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MMP-7, Wang 2025 (17 studies, 2,836)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528315"/>
            <a:ext cx="3571646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2670" y="2487168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16352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857500"/>
            <a:ext cx="3264408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1" y="2816352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45536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MMP-7, Pandurangi 2024 (399)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186684"/>
            <a:ext cx="3610051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1075" y="3145536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3515868"/>
            <a:ext cx="2995574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6598" y="3474720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03904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GGT, He 2021 (3 studies)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845052"/>
            <a:ext cx="3072384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7" y="3803904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33087"/>
            <a:ext cx="29260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174235"/>
            <a:ext cx="3033979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5003" y="4133087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79%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7955279" cy="1143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 it as.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Sensitivity holds in the low-to-mid 90s everywhere; specificity drops as studies get larger, newer and more Western. Heterogeneity was high (I² 78.6%) and came mainly from studies published from 2023 onward.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Likelihood ratios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Wang 2025: positive 7.7, negative 0.08. A negative result moves a 30% pre-test probability to about 3%.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He 2021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MMP-7 diagnostic odds ratio 313 versus 15 for GGT.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Navy = sensitivity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Orange = specificity.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YOUNG INFANT AND THE LOW READER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Where MMP-7 misleads, and how to use it so that it shortens the pathway rather than lengthening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Wu JF, et al. J Pediatr 2019;208:30–7 · Pandurangi 2024 · Aleiri 2023 · Fawaz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Under 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2340864" cy="1417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Levels lower in early atresia (Wu 2019: 14 vs 22 infants)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Overlap with neonatal hepatitis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Repeat if suspicion stays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Mimics above cut-off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505456"/>
            <a:ext cx="2340864" cy="1417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Choledochal cyst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Alpha-1 antitrypsin deficiency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Some indeterminate cholestasis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Below cut-off atresia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05456"/>
            <a:ext cx="2340864" cy="1417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About 6% in ChiLDReN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Stored or haemolysed samples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Do not override pale stools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2402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Turnaround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505456"/>
            <a:ext cx="2340864" cy="1417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Send-out test: days, not hours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Run in parallel, not in series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Never wait to book ultrasound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82528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Bottom line.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MMP-7 is best at removing atresia from the differential when it is clearly low after the first month, sparing a biopsy or a laparotomy. A high value raises probability but must be paired with anatomy, because cysts and alpha-1 antitrypsin deficiency also light it up.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Also a prognostic signal.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Wu 2019 found higher MMP-7 six months after Kasai in children who later needed transplant; this is not yet a validated monitoring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ULTRASOUND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PROBE CAN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Pooled accuracy of ultrasound signs for atresia, meta-analysis of 23 studies,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Zhou L, et al. AJR 2016;206:W73–82 · Lee MS, et al. Radiology 2009;252:282–9 · Hepatic subcapsular flow meta-analysis, Dis Markers 2020:5262565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Triangular cord 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869948"/>
            <a:ext cx="3112617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6441" y="1828800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57984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199132"/>
            <a:ext cx="4080052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3876" y="2157984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87168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Gallbladder abnormality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528315"/>
            <a:ext cx="3575303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7" y="2487168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16352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57500"/>
            <a:ext cx="3869740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33564" y="2816352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45536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Both signs combined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186684"/>
            <a:ext cx="3995927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1" y="3145536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515868"/>
            <a:ext cx="3743553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7377" y="3474720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89%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03904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Hepatic subcapsular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845052"/>
            <a:ext cx="3995927" cy="246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1" y="3803904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sens 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33087"/>
            <a:ext cx="2468879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4174235"/>
            <a:ext cx="3869740" cy="2468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3564" y="4133087"/>
            <a:ext cx="17373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spec 92%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7955279" cy="1143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 it as.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triangular cord is specific but missed in a quarter; gallbladder morphology is more sensitive. Combining signs trades a little specificity for sensitivity.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Subcapsular flow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Lee 2009: colour Doppler flow under the liver capsule in all 29 atresia infants, specificity 86%; nine studies pooled: 95% / 92%.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Guideline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Ultrasound is first line to exclude cyst and stones; a normal scan does not rule out atresia (Fawaz, 1A).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Navy = sensitivity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Orange = specificity.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ULTRASOUND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SIGNS, AND THE TRAPS IN READING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fasting, high-frequency scan by an operator who looks for atresia on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Zhou 2016 · Lee 2009 · Tan Kendrick AP, et al. Pediatr Radiol 2003;33:311–5 · Ge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Gallbladder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508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Absent, small or irregular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"Ghost" triad: short, no mucosal lining, lobulated wall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No contraction after a feed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Triangular 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508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Echogenic cone above the portal bifurcation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Specific, often absent early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Operator dependent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Vessels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508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Subcapsular arterial flow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Enlarged hepatic artery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Next best after cord and gallbladder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Porta cyst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508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Cystic atresia vs choledochal cyst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Non-dilated intrahepatic ducts suggest atresia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Prenatal cysts need early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3317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Splenic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508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Polysplenia, situs anomaly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Preduodenal portal vein, absent IVC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Tell the surgeon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11082528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Do not skip.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Scan fasting (three to four hours) or the gallbladder looks small in every infant; a feed afterwards tests contraction. A normal-sized, contracting gallbladder lowers but does not abolish the probability.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Do not repeat.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second ultrasound a week later rarely changes management; escalate to biomarkers, biopsy or cholangiography instead.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OTHER 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SENSITIVE TESTS THAT CANNOT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Elastography, scintigraphy and cholangiography by other routes: accuracy and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Wagner ES, et al. World J Gastroenterol 2022;28:4726–40 · Shen 2020 · Kianifar HR, et al. Pediatr Radiol 2013 (via Fawaz 2017) · Fawaz 2017 · Ge 2025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371600"/>
                <a:gridCol w="1371600"/>
                <a:gridCol w="4590288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Sensitivity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Specificity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Shear wave elastography (11 studies, 1,307 infants)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83%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79%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Adjunct; stiffness also stages fibrosis before Kasai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Hepatobiliary scintigraphy, non-drainage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98.7%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70.4%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Excretion into bowel argues against atresia; never a stand-alone test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Phenobarbital-primed scintigraphy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better proven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Five days of priming delays the Kasai; avoid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MRCP (3D)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99%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Limited; small ducts not seen in infants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86–100%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87–94%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Expert centres only; general anaesthesia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Percutaneous cholecystocholangiography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87%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Bedside alternative where expertise exists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29200"/>
            <a:ext cx="1108252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Material point.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High sensitivity with low specificity means these tests are useful only when negative; a non-draining scan or a non-visualised duct still needs a definitive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LIVER BIOPSY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BIOPSY READS OBSTRUCTION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Histological features that separate atresia from intrahepatic cholestasis, and their limits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Russo P, et al. Am J Surg Pathol 2016;40:1601–15 · Pandurangi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3572255" cy="21488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3572255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3279648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Obstructive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3279648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Ductular proliferation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Bile plugs in ductules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oedema and fibrosis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Lobular architecture preserved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3775" y="1773936"/>
            <a:ext cx="3572255" cy="21488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3775" y="1773936"/>
            <a:ext cx="3572255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0080" y="1956816"/>
            <a:ext cx="3279648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Hepatitic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0080" y="2505456"/>
            <a:ext cx="3279648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Lobular disarray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Prominent giant cells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inflammation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Little ductular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8911" y="1773936"/>
            <a:ext cx="3572255" cy="21488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8911" y="1773936"/>
            <a:ext cx="3572255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5215" y="1956816"/>
            <a:ext cx="3279648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5215" y="2505456"/>
            <a:ext cx="3279648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Giant cells in 20–50% of atresia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A1AT, Alagille, PFIC3, CF, parenteral nutrition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Early atresia looks hepatitic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2633472" cy="16916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51960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90–95%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782312"/>
            <a:ext cx="2304288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Correct diagnosis by experienced paediatric pathologists (Fawaz).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4992" y="4069080"/>
            <a:ext cx="2633472" cy="16916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64992" y="4069080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4251960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B22222"/>
                </a:solidFill>
                <a:latin typeface="Abadi"/>
              </a:rPr>
              <a:t>79–98%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9584" y="4782312"/>
            <a:ext cx="2304288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Range of obstruction calls in proven atresia among consortium pathologists; positive predictive value 90.7%.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1344" y="4069080"/>
            <a:ext cx="2633472" cy="16916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4069080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4251960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97A0B"/>
                </a:solidFill>
                <a:latin typeface="Abadi"/>
              </a:rPr>
              <a:t>AUC 0.84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4782312"/>
            <a:ext cx="2304288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Pathology in ChiLDReN, below MMP-7 at 0.90.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97696" y="4069080"/>
            <a:ext cx="2633472" cy="16916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7696" y="4069080"/>
            <a:ext cx="2633472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62288" y="4251960"/>
            <a:ext cx="2304288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7F7F7F"/>
                </a:solidFill>
                <a:latin typeface="Abadi"/>
              </a:rPr>
              <a:t>1.7%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4782312"/>
            <a:ext cx="2304288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Complication rate in a large paediatric series; higher in small infants.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CHOLANGIOGRAPHY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GOLD STANDARD STILL NEEDS A SURGEON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Intraoperative cholangiogram with remnant histology confirms atresia and leads directly to the Kasai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(recommendation 10, grade 1A) · Ge L, et al. Hepatobiliary Surg Nutr 2025 (recommendation 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51176" cy="1737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51176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92224"/>
            <a:ext cx="236829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85416"/>
            <a:ext cx="233172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Atrophic gallbladder with white bile or none, fibrous porta: atresia is likely.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45973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2424" y="1773936"/>
            <a:ext cx="2551176" cy="1737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2424" y="1773936"/>
            <a:ext cx="2551176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3864" y="1792224"/>
            <a:ext cx="236829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Inject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185416"/>
            <a:ext cx="233172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Contrast through the gallbladder. Bowel and hepatic ducts fill: not atresia.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45973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1773936"/>
            <a:ext cx="2551176" cy="1737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7" y="1773936"/>
            <a:ext cx="2551176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7" y="1792224"/>
            <a:ext cx="236829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Interpret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185416"/>
            <a:ext cx="233172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Distal fill without proximal ducts, or no lumen: atresia; cystic type at the porta.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245973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9992" y="1773936"/>
            <a:ext cx="2551176" cy="1737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9992" y="1773936"/>
            <a:ext cx="2551176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1792224"/>
            <a:ext cx="236829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185416"/>
            <a:ext cx="233172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Proceed to portoenterostomy under the same anaesthetic; send the remnant.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49039"/>
            <a:ext cx="7223760" cy="2057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Traps.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hypoplastic but patent tree in Alagille syndrome, cystic fibrosis or severe intrahepatic cholestasis can fail to fill and mimic atresia. Check alpha-1 antitrypsin phenotype, a sweat test or CFTR genetics and Alagille features before surgery.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Approach.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Laparoscopic cholangiography avoids a laparotomy when the probability is moderate; percutaneous cholecystocholangiography is an option where available.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03320"/>
            <a:ext cx="3474720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Grade 1A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Both the 2017 joint guideline and the 2025 Chinese guideline name it the definitive test.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One trip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Plan the cholangiogram as the start of a Kasai, with consent for both.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Cystic atresia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Bile-free cyst with abnormal intrahepatic ducts is atresia, not a choledochal cyst.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AN INTEGRATED PATHWAY IN DAYS, NOT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Combining the 2017 joint guideline with current biomarker data; steps two to four run in parallel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Pandurangi 2024 · Shen 2020 · Zhou 2016 · Ge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982419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982419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1 · Suspect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85416"/>
            <a:ext cx="1762963" cy="18745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Direct bilirubin &gt;1.0 mg/dL at any age, pale stools, check stool card. Exclude sepsis, galactosaemia, hypothyroidism, hypopituitarism.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1059" y="275691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3667" y="1773936"/>
            <a:ext cx="1982419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23667" y="1773936"/>
            <a:ext cx="1982419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5107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2 ·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3395" y="2185416"/>
            <a:ext cx="1762963" cy="18745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GGT, A1AT level and phenotype, coagulation, MMP-7 on a validated platform.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6086" y="275691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8694" y="1773936"/>
            <a:ext cx="1982419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8694" y="1773936"/>
            <a:ext cx="1982419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0134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3 · Ultrasound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8422" y="2185416"/>
            <a:ext cx="1762963" cy="18745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Fasting scan for gallbladder, cord, subcapsular flow, cyst, splenic malformation.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1113" y="275691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3721" y="1773936"/>
            <a:ext cx="1982419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3721" y="1773936"/>
            <a:ext cx="1982419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5161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4 ·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3449" y="2185416"/>
            <a:ext cx="1762963" cy="18745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High probability: cholangiogram. Intermediate: expert biopsy. Low MMP-7 with bile flow: other work-up.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6140" y="2756915"/>
            <a:ext cx="292608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8748" y="1773936"/>
            <a:ext cx="1982419" cy="23317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8748" y="1773936"/>
            <a:ext cx="1982419" cy="3108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0188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5 · Operate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8476" y="2185416"/>
            <a:ext cx="1762963" cy="18745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Cholangiogram and Kasai in one session; genetics in parallel.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11082528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Do not skip.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Vitamin K before any invasive step; coagulopathy is common and bleeding from biopsy is avoidable.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Do not serialise.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Ordering ultrasound, biomarkers and biopsy one after another, each waiting for the last, is how a 40-day infant becomes a 70-day Kasai.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NASPGHAN/ESPGHAN 2017 versus the 2025 Chinese guideline and current evidence; AASLD and EASL have no atresia diagnosis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Ge L, et al. Hepatobiliary Surg Nutr 2025 · Pandurangi 2024 · Wang 2025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297680"/>
                <a:gridCol w="120700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Chinese 2025 / current evidence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Bilirubin trigger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Direct &gt;1.0 mg/dL is pathological (1A)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Direct ≥1.0 mg/dL and &gt;20% of 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GGT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Often high; low GGT suggests other disease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Consider &gt;100 U/L; &gt;300 U/L high suspicion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MMP-7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Grade 2C; validated in North America (AUC 0.90)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Ultrasound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First line; suggestive, not diagnostic (1A)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Test of choice (1A)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Scintigraphy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stand-alone (1B)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central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Elastography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Useful (2B)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Most supportive test (1B)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Might help (2B)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Cholangiogram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Gold standard (1A)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Confirms atresia (1A)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257800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Material gap.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2017 guideline predates MMP-7, the best-validated serum test; an update should define assay-specific thresholds and its place before biopsy.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DIAGNOSIS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Reasoning errors that delay the Kasai or send the wrong infant to theatre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Pandurangi 2024 · Wu 2019 · Zhou 2016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"Normal ultrasound, so not atresia"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34056"/>
            <a:ext cx="2340864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Gallbladder present in some atresia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Triangular cord missed in a quarter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Stool colour outranks the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"MMP-7 is high, book the Kasai"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734056"/>
            <a:ext cx="2340864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Choledochal cyst, A1AT also high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Check anatomy and phenotype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Cholangiogram decides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"Biopsy at 3 weeks was hepatitis"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734056"/>
            <a:ext cx="2340864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Early atresia looks hepatitic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Repeat or proceed if stools pale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Giant cells do not exclude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3774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40864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"Let us prime and scan"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34056"/>
            <a:ext cx="2340864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Five days of phenobarbital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Specificity about 70%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Delay with no decision gained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82528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And one more.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Using a published MMP-7 cut-off with a different laboratory kit can turn a clear result into a false one in either direction; Wu's 1.43 and Yang's 52.85 ng/mL are both correct for their own assays.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onto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Yang 2018 · Pandurangi 2024 · He 2021 · Wang 2025 · Zhou 2016 · Lee 2009 · Shen 2020 · Wagner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11082528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No pre-operative test proves atresia; the cholangiogram with remnant histology does (grade 1A).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GGT: AUC 0.72–0.81; useful thresholds near 190–270 U/L, higher in older infants; low GGT points elsewhere.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MMP-7 in atresia is about ten times higher than in other cholestasis (median 121 vs 11.5 ng/mL, Yang 2018).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ChiLDReN 2024: MMP-7 AUC 0.90, sensitivity 94%, specificity 78%, negative predictive value 97%.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Cut-offs are assay-specific: 52.8 ng/mL single-plex, 18.2 ng/mL TR-FRET, 1.43 ng/mL with another kit.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MMP-7 is lower in infants under 30 days and high in choledochal cyst and A1AT deficiency.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Ultrasound: triangular cord 74% / 97%, gallbladder 85% / 92%, subcapsular flow 95% / 92%; normal does not exclude.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Scintigraphy is sensitive (98.7%) but non-specific (70%); phenobarbital priming only delays.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Biopsy is right in 90–95% in expert hands; early biopsy can look like neonatal hepatitis.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Run tests in parallel; plan the cholangiogram as the start of the Kasai.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diagnostic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230368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6-week-old, pale stools, GGT 410 U/L, MMP-7 150 ng/mL, absent gallbladder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Vitamin K, cholangiogram and Kasai this week; no biopsy needed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5-week-old, GGT 90 U/L, normal gallbladder, MMP-7 below cut-off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Atresia unlikely; work up PFIC, bile acid synthesis, genetics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3-week-old, direct bilirubin 2.1 mg/dL, MMP-7 borderline, biopsy hepatitic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 not close the case; repeat MMP-7 or biopsy within 1–2 weeks, watch stools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8-week-old, high MMP-7, porta cyst with dilated intrahepatic ducts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Choledochal cyst more likely; MRCP or cholangiogram, not a Kasai by default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MMP-7 high, PiZZ phenotype, pigmented stools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Alpha-1 antitrypsin deficiency; avoid laparotomy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Polysplenia and situs inversus on scan, rising direct bilirubin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Atresia (splenic malformation type) likely; cholangiogram; warn about vascular anatomy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Biliary Atresia III: Diagnosis — GGT, MMP-7 Thresholds, Ultrasound, Biopsy and the Intraoperative Cholangiogram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