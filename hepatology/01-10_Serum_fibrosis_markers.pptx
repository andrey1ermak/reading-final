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3" d="100"/>
          <a:sy n="113" d="100"/>
        </p:scale>
        <p:origin x="184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Serum Fibrosis Markers in Children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EACH MARKER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31385"/>
              </p:ext>
            </p:extLst>
          </p:nvPr>
        </p:nvGraphicFramePr>
        <p:xfrm>
          <a:off x="548640" y="1454844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Marker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Formula or components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Built in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it really sees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Abadi"/>
                        </a:rPr>
                        <a:t>Paediatric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 catch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APRI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(AST / AST ULN) ÷ platelets × 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Adult HCV, 2003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Hepatocyte injury plus portal hypertension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Depends on which AST ULN the lab uses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FIB-4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Age × AST ÷ (platelets × √ALT)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Adult HIV/HCV, 2006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The same, multiplied by age in years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Age term collapses the score in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GPR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(GGT / GGT ULN) ÷ platelets × 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Adult HBV, West Africa, 2016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Biliary injury plus portal hypertension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Physiological GGT surge in infancy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PNFS · PNFI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ALT, ALP, GGT, platelets · age, waist, TG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MASLD, 2009–14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Metabolic and growth signals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ALP rises with bone growth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ELF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Hyaluronic acid, PIIINP, TIMP-1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Mixed adult CLD, 2004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Matrix turnover, directly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Growth turns over collagen too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MMP-7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Single serum protease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Infant cholestasis, 2010s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Biliary epithelial injury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Assay and cut-off not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standardised</a:t>
                      </a:r>
                      <a:endParaRPr sz="1200" b="0" dirty="0">
                        <a:solidFill>
                          <a:srgbClr val="1A1A1A"/>
                        </a:solidFill>
                        <a:latin typeface="Abadi"/>
                      </a:endParaRP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Sterling RK, et al. Hepatology 2025;81:321–57 · Wai CT, et al. Hepatology 2003;38:518–26 · Sterling RK, et al. Hepatology 2006;43:1317–25 · Lemoine M, et al. Gut 2016;65:1369–76 · Thusing I, et al. JPGN 2022;74:186–91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THE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BUILT IN ADULTS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APRI, FIB-4 and GPR were all derived in adults with viral hepatitis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Adults with hepatitis C behind APRI; AUROC 0.89 for cirrhosis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HIV/HCV adults behind FIB-4; &lt; 1.45 NPV 90%, &gt; 3.25 specificity 97%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Gambian adults with HBV behind GPR; in France no better than APRI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FIB-4 AUROC for advanced NAFLD fibrosis in adults aged 35 or younger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Even in adults, FIB-4 fails below age 35 and needs a cut-off of 2.0 above 65.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 score that bends with adult age cannot be expected to survive childhood.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Wai CT, et al. Hepatology 2003;38:518–26 · Sterling RK, et al. Hepatology 2006;43:1317–25 · Lemoine M, et al. Gut 2016;65:1369–76 · McPherson S, et al. Am J Gastroenterol 2017;112:740–51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FIB-4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FIB-4 DOES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Poor at staging; occasionally useful when platelets fall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0.611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 for F ≥ 3 in 457 European children with MASLD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 dirty="0">
                <a:solidFill>
                  <a:srgbClr val="1B355E"/>
                </a:solidFill>
                <a:latin typeface="Abadi"/>
              </a:rPr>
              <a:t>0.07/0.10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Infant BA cut-offs for ≥ F2 / ≥ F3 — a tenth of adult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 dirty="0">
                <a:solidFill>
                  <a:srgbClr val="1B355E"/>
                </a:solidFill>
                <a:latin typeface="Abadi"/>
              </a:rP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 for detecting CF liver disease (APRI 0.75)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 for portal hypertension at CFLD diagnosis — its one 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AASLD 2024: FIB-4 performs worse in children, "particularly very young children".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Any score containing age — FIB-4, NFS, King's, ELF's original version — needs paediatric cut-offs or none.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Kalveram L, et al. JPGN 2024;78:27–35 · Li B, et al. BMC Pediatr 2025;26:84 · Leung DH, et al. Hepatology 2015;62:1576–83 · Sterling RK, et al. Hepatology 2025;81:321–57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APRI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MOVES APRI IN A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Two numbers, each with its own non-hepatic biology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2567940" cy="345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AST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212794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Muscle, haemolysis and macro-AST raise it without liver injury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An AIH flare or acute hepatitis inflates it — the elastography trap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1770000"/>
            <a:ext cx="2567940" cy="345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1770000"/>
            <a:ext cx="256794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090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Platelet 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900" y="2590000"/>
            <a:ext cx="212794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Reactive thrombocytosis in inflamed infants pulls APRI down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Hypersplenism pulls it up — APRI then reads portal hypertension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Chemotherapy, sepsis, ITP: uninterpretable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1770000"/>
            <a:ext cx="2567940" cy="345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177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316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The ULN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60" y="2590000"/>
            <a:ext cx="212794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APRI divides by the lab's AST ULN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ULN 30 vs 40 U/L shifts APRI by one-third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CFF 2024 recalculated CF cut-offs at ULN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1770000"/>
            <a:ext cx="2567940" cy="3450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1770000"/>
            <a:ext cx="2567940" cy="130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5420" y="2070000"/>
            <a:ext cx="212794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What it tracks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5420" y="2590000"/>
            <a:ext cx="2127940" cy="2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At Kasai: ductular reaction, not fibrosis (R = 0.16)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After Kasai: METAVIR stage (R = 0.46)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Predicts transplant better than it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Sellers ZM, et al. Hepatology 2024;79:1220–38 · Nordenheim N, et al. JPGN 2026;82:929–38 · Sterling RK, et al. Hepatology 2025;81:321–57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BILIARY ATRESIA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INFANT MARKER IS MMP-7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Serum tests for biliary atresia versus other infant cholestasis,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00480" y="2452600"/>
            <a:ext cx="420000" cy="2027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80480" y="2222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50480" y="2518000"/>
            <a:ext cx="420000" cy="196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30480" y="2288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2773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MMP-7 · 17 studies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4160" y="2409000"/>
            <a:ext cx="420000" cy="2071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54160" y="2179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4160" y="2452600"/>
            <a:ext cx="420000" cy="20274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4160" y="2222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2320" y="4540000"/>
            <a:ext cx="2773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MMP-7 · Shanghai (n = 288)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7840" y="2736000"/>
            <a:ext cx="420000" cy="1744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27840" y="2506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7840" y="2757800"/>
            <a:ext cx="420000" cy="17222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7840" y="25278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4540000"/>
            <a:ext cx="2773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GGT · pooled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1520" y="2801400"/>
            <a:ext cx="420000" cy="167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01520" y="2571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71520" y="2627000"/>
            <a:ext cx="420000" cy="1853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51520" y="23970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540000"/>
            <a:ext cx="2773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IL-33 · pooled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360" y="1790000"/>
            <a:ext cx="14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 dirty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03360" y="1790000"/>
            <a:ext cx="140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MMP-7 also tracks fibrosis: R = 0.47 with biopsy stage; biliary MMP-7 vs METAVIR r = 0.61 after Kasai.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Accuracy is higher below 60 days and in Eastern cohorts (DOR 150 vs 51) — local validation matters.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Ma JN, et al. Int J Surg 2025 (online) · Jiang J, et al. Pediatrics 2019;144:e20190902 · He L, et al. Sci Rep 2021;11:11692 · Kerola A, et al. J Pathol Clin Res 2016;2:187–98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BUILT FOR AFRICA, TRIED IN 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biliary twin of APRI — GGT replaces 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AUC for CF liver disease in 237 children; cut-off 0.20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AUC for F2–F4 in 54 biopsied CFLD children; cut-off 0.32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&gt; 0.84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GPR at CFLD diagnosis predicting portal hypertension (AUC 0.81)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AUC for ≥ S3 fibrosis in 52 children with AIH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CFF 2024: GPR may detect early biliary disease before hepatocyte injury.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Meaningless in the first months of life, when GGT is physiologically several-fold the adult ULN.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Calvopina DA, et al. J Cyst Fibros 2022;21:236–42 · Lemoine M, et al. Gut 2016;65:1369–76 · Stockdale AJ, et al. Gut 2016;65:882–4 · Zhao F, et al. Zhonghua Er Ke Za Zhi 2026;64:532–8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MASLD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SCORES IN PAEDIATRIC MASLD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AUROC for advanced fibrosis (F ≥ 3); navy = direct matrix markers, single centre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PIIINP alone · Rome, n = 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8640" y="1996814"/>
            <a:ext cx="5634996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93636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0.993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ELF · Rome, n = 112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8640" y="2401099"/>
            <a:ext cx="5617972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76612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APRI · ESPGHAN SIG, n = 457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8640" y="2805384"/>
            <a:ext cx="4307112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65752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0.759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PNFS · derivation, n = 242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8640" y="3209669"/>
            <a:ext cx="4199292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57932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0.740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PNFS · ESPGHAN SIG, n = 457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8640" y="3613954"/>
            <a:ext cx="4040400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99040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0.712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FIB-4 · ESPGHAN SIG, n = 457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8640" y="4018239"/>
            <a:ext cx="3467253" cy="2506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5893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0.611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40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PNFI · ESPGHAN SIG, n = 457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8640" y="4422524"/>
            <a:ext cx="2956529" cy="2506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15169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0.521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Single-centre direct markers look near-perfect; the 10-centre cohort shows what survives.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No score beat a plain ALT &gt; 50 IU/L in the ESPGHAN cohort; APRI caught any fibrosis at AUC 0.80 in Mansoor.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Mosca A, et al. Liver Int 2019;39:2317–29 · Nobili V, et al. Gastroenterology 2009;136:160–7 · Kalveram L, et al. JPGN 2024;78:27–35 · Alkhouri N, et al. PLoS One 2014;9:e104558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GROWTH LOOKS LIKE SCAR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Hyaluronic acid and PIIINP peak at puberty, with or without liver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ELF in 343 healthy children aged 6–17 years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Healthy children inside the adult reference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10.51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Rome cut-off for F ≥ 3 (AUROC 0.99) — adopted by NICE for children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Normal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ELF in children with ARPKD and possible or proven liver fibrosis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NICE NG49 diagnoses advanced fibrosis at ELF ≥ 10.51 in children and retests every 2 years — on one study.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AASLD 2025 and ESPGHAN 2026: ELF not validated in children.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Thusing I, et al. JPGN 2022;74:186–91 · Nobili V, et al. Gastroenterology 2009;136:160–7 · Alkhouri N, et al. Clin Gastroenterol Hepatol 2011;9:150–5 · NICE NG49 (2016, updated July 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CYSTIC FIBROSIS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WHERE APRI EARNS ITS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The best-validated paediatric use of a serum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APRI AUROC for CFLD in 67 biopsied vs 104 CF controls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&gt; 0.264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APRI flags CFLD: 73% sensitive, 70%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APRI AUROC for F3–F4 on dual-pass biopsy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LSM plus APRI for F3–F4 vs F1–F2; specificity 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CFF 2024 (M2, 21/22 votes): calculate at least one fibrosis index and follow it at least yearly.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Falling platelets signal portal hypertension regardless of the absolute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Leung DH, et al. Hepatology 2015;62:1576–83 · Lewindon PJ, et al. Clin Gastroenterol Hepatol 2019;17:2561–9 · Sellers ZM, et al. Hepatology 2024;79:1220–38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BY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WHERE IT WORKS, WHERE IT MISLEADS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824978"/>
              </p:ext>
            </p:extLst>
          </p:nvPr>
        </p:nvGraphicFramePr>
        <p:xfrm>
          <a:off x="548640" y="1500000"/>
          <a:ext cx="11094720" cy="4389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Disease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Best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Abadi"/>
                        </a:rPr>
                        <a:t>paediatric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 evidence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Number to remember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Cystic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Two biopsy cohorts (Brisbane/Houston); CFF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APRI AUROC 0.75 for CFLD; GPR 0.81; with LSM 0.92 for F3–F4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USE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BA after Kasai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Pooled post-Kasai studies; Helsinki histology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Cirrhosis AUC 0.87; correlates with stage only after Kasai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TREND ONLY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BA at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reflects ductular reaction, not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MMP-7 (93/90%) is the serum test for the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AVOID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Fontan circulation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106 adolescents with biopsy; 19 children in a mixed cohort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and FIB-4 AUC 0.69; no discrimination in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WEAK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Chronic hepatitis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71 Polish and 116 Chinese children with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&gt; 0.59 AUROC 0.75; FIB-4 0.60 for ≥ F2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WEAK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Hepatitis C, AIH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48 Egyptian HCV; 52 Chinese AIH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AUROC 0.49 for ≥ F2 in HCV; APRI and FIB-4 non-discriminant in AIH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WEAK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MASLD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457 children, 10 European centres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APRI 0.76, FIB-4 0.61 for F ≥ 3; none beat ALT &gt; 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AVOID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Leung 2015 · Calvopina 2022 · Lewindon 2019 · He 2021 · Nordenheim 2026 · Ma 2025 · Emamaullee 2021 · Jarasvaraparn 2024 · AASLD 2024 · Zhang 2021 · Zhao 2026 · Kalveram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183873"/>
              </p:ext>
            </p:extLst>
          </p:nvPr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Document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Position on serum markers in children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Stance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AASLD 2024 blood-based NILDA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All paediatric chronic liver disease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Suggests APRI or FIB-4 for F3–F4 (ungraded, low evidence); not for monitoring; insufficient for MASH and A1AT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SUGGESTS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AASLD 2025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Paediatric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MASLD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Adult scores perform poorly; their cut-offs should not be applied; ELF not validated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AGAINST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ESPGHAN 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Paediatric MASLD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FIB-4, APRI, PNFI, PNFS not recommended (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LoE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2, 100% agreement); ELF insufficient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AGAINST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NICE NG49, updated 2026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MASLD, adults and children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ELF ≥ 10.51 diagnoses advanced fibrosis; retest every 2 years in children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UK ONLY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CFF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Cystic fibrosis, all ages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At least one index (APRI, GPR, FIB-4) yearly; no accepted CF threshold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SUGGESTS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WHO 2024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HBV, adults and adolescents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APRI &gt; 0.5 = significant fibrosis, &gt; 1.0 = cirrhosis; meta-analysis excluded child-only studies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EXTRAPOLATED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Sterling RK, et al. Hepatology 2025;81:321–57 · Xanthakos SA, et al. Hepatology 2025;82:1352–94 · Mann JP, et al. JPGN 2026;83:555–76 · NICE NG49 (2016, updated July 2026) · Sellers ZM, et al. Hepatology 2024;79:1220–38 · Liguori A, et al. Lancet Gastroenterol Hepatol 2025;10:332–49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MARKER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184094"/>
              </p:ext>
            </p:extLst>
          </p:nvPr>
        </p:nvGraphicFramePr>
        <p:xfrm>
          <a:off x="548640" y="796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to order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How to read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not to 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Cholestatic infant, possible BA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GGT, MMP-7 where validated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High MMP-7 raises urgency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Use APRI or FIB-4 to diagnose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BA at Kasai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with the operative findings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1.22 suggests cirrhosis; &lt; 0.43 best outlook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Read it as a fibrosis stage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BA after Kasai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APRI, platelets, spleen yearly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Rising APRI, falling platelets → endoscopy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Call regression from one value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Child with CF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or GPR yearly, with LSM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APRI &gt; 0.26, GPR &gt; 0.20 → look harder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Rely on FIB-4 for detection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Teen with MASLD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ALT, VCTE or MRE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score; ALT &gt; 50 is as good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Reassure with FIB-4 &lt; 1.30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Adolescent HBV, no elastography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APRI per WHO 2024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&gt; 0.5 flags treatment eligibility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Extend to young children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Fontan adolescent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Platelets and APRI trend, imaging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Falling platelets over years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Exclude bridging fibrosis on one APRI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AIH or hepatitis at onset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Wait for remission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Then score with elastography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Score during the flare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Ma 2025 · Grieve 2013 · Nordenheim 2026 · Leung 2015 · Calvopina 2022 · Kalveram 2024 · WHO 2024 · Emamaullee 2021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Serum Fibrosis Markers in Children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2048</Words>
  <Application>Microsoft Macintosh PowerPoint</Application>
  <PresentationFormat>Widescreen</PresentationFormat>
  <Paragraphs>300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Abadi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2</cp:revision>
  <dcterms:created xsi:type="dcterms:W3CDTF">2013-01-27T09:14:16Z</dcterms:created>
  <dcterms:modified xsi:type="dcterms:W3CDTF">2026-10-05T14:58:20Z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2026-10-05T14:58:20Z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e1789829-cf49-4db8-9ff4-521a4efbf6f2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