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91640"/>
            <a:ext cx="11091672" cy="1783080"/>
          </a:xfrm>
          <a:prstGeom prst="rect">
            <a:avLst/>
          </a:prstGeom>
          <a:noFill/>
        </p:spPr>
        <p:txBody>
          <a:bodyPr wrap="square" lIns="0" rIns="0" tIns="18288" bIns="18288" anchor="b">
            <a:spAutoFit/>
          </a:bodyPr>
          <a:lstStyle/>
          <a:p>
            <a:pPr algn="ctr"/>
            <a:r>
              <a:rPr sz="4000" b="1" i="0">
                <a:solidFill>
                  <a:srgbClr val="FFFFFF"/>
                </a:solidFill>
                <a:latin typeface="Abadi"/>
              </a:rPr>
              <a:t>Metabolic Cholestasis II: Citrin Deficiency and Inborn Errors of Bile Acid Synthesis</a:t>
            </a:r>
          </a:p>
        </p:txBody>
      </p:sp>
      <p:sp>
        <p:nvSpPr>
          <p:cNvPr id="4" name="Rectangle 3"/>
          <p:cNvSpPr/>
          <p:nvPr/>
        </p:nvSpPr>
        <p:spPr>
          <a:xfrm>
            <a:off x="5184648" y="3611880"/>
            <a:ext cx="1828800" cy="1828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40480"/>
            <a:ext cx="11091672" cy="301752"/>
          </a:xfrm>
          <a:prstGeom prst="rect">
            <a:avLst/>
          </a:prstGeom>
          <a:noFill/>
        </p:spPr>
        <p:txBody>
          <a:bodyPr wrap="square" lIns="0" rIns="0" tIns="18288" bIns="18288" anchor="t">
            <a:spAutoFit/>
          </a:bodyPr>
          <a:lstStyle/>
          <a:p>
            <a:pPr algn="ctr"/>
            <a:r>
              <a:rPr sz="1700" b="1" i="0">
                <a:solidFill>
                  <a:srgbClr val="FFFFFF"/>
                </a:solidFill>
                <a:latin typeface="Abadi"/>
              </a:rPr>
              <a:t>Andrey Ermak, MD</a:t>
            </a:r>
          </a:p>
        </p:txBody>
      </p:sp>
      <p:sp>
        <p:nvSpPr>
          <p:cNvPr id="6" name="TextBox 5"/>
          <p:cNvSpPr txBox="1"/>
          <p:nvPr/>
        </p:nvSpPr>
        <p:spPr>
          <a:xfrm>
            <a:off x="548640" y="4343400"/>
            <a:ext cx="11091672" cy="685800"/>
          </a:xfrm>
          <a:prstGeom prst="rect">
            <a:avLst/>
          </a:prstGeom>
          <a:noFill/>
        </p:spPr>
        <p:txBody>
          <a:bodyPr wrap="square" lIns="0" rIns="0" tIns="18288" bIns="18288" anchor="t">
            <a:spAutoFit/>
          </a:bodyPr>
          <a:lstStyle/>
          <a:p>
            <a:pPr algn="ctr"/>
            <a:r>
              <a:rPr sz="1100" b="0" i="0">
                <a:solidFill>
                  <a:srgbClr val="D9DEE7"/>
                </a:solidFill>
                <a:latin typeface="Abadi"/>
              </a:rPr>
              <a:t>Fawaz 2017 (NASPGHAN/ESPGHAN) · Ohura 2007 · Kido 2022 · Lu 2005 · Hayasaka 2018 · Makris 2024 · Li 2025 · Heubi 2007 and 2017 · Gonzales 2009 and 2018 · Zhao 2021 · Cholbam label (FDA 2015) · Orphacol EPAR (EMA 2013)</a:t>
            </a:r>
          </a:p>
        </p:txBody>
      </p:sp>
      <p:sp>
        <p:nvSpPr>
          <p:cNvPr id="7" name="TextBox 6"/>
          <p:cNvSpPr txBox="1"/>
          <p:nvPr/>
        </p:nvSpPr>
        <p:spPr>
          <a:xfrm>
            <a:off x="548640" y="5074920"/>
            <a:ext cx="11091672" cy="365760"/>
          </a:xfrm>
          <a:prstGeom prst="rect">
            <a:avLst/>
          </a:prstGeom>
          <a:noFill/>
        </p:spPr>
        <p:txBody>
          <a:bodyPr wrap="square" lIns="0" rIns="0" tIns="18288" bIns="18288" anchor="t">
            <a:spAutoFit/>
          </a:bodyPr>
          <a:lstStyle/>
          <a:p>
            <a:pPr algn="ctr"/>
            <a:r>
              <a:rPr sz="1100" b="0" i="1">
                <a:solidFill>
                  <a:srgbClr val="D9DEE7"/>
                </a:solidFill>
                <a:latin typeface="Abadi"/>
              </a:rPr>
              <a:t>NICCD · high citrulline and galactose · the sugar trap · normal GGT with low bile acids · urine before UDCA · cholic acid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a:t>
            </a:r>
          </a:p>
        </p:txBody>
      </p:sp>
      <p:sp>
        <p:nvSpPr>
          <p:cNvPr id="4" name="TextBox 3"/>
          <p:cNvSpPr txBox="1"/>
          <p:nvPr/>
        </p:nvSpPr>
        <p:spPr>
          <a:xfrm>
            <a:off x="1389888" y="301752"/>
            <a:ext cx="10241280" cy="347472"/>
          </a:xfrm>
          <a:prstGeom prst="rect">
            <a:avLst/>
          </a:prstGeom>
          <a:noFill/>
        </p:spPr>
        <p:txBody>
          <a:bodyPr wrap="square" lIns="0" rIns="0" tIns="18288" bIns="18288" anchor="ctr">
            <a:spAutoFit/>
          </a:bodyPr>
          <a:lstStyle/>
          <a:p>
            <a:pPr algn="l"/>
            <a:r>
              <a:rPr sz="1200" b="1" i="0">
                <a:solidFill>
                  <a:srgbClr val="2E5A88"/>
                </a:solidFill>
                <a:latin typeface="Abadi"/>
              </a:rPr>
              <a:t>THE QUESTION OF THE DAY</a:t>
            </a:r>
          </a:p>
        </p:txBody>
      </p:sp>
      <p:sp>
        <p:nvSpPr>
          <p:cNvPr id="5" name="TextBox 4"/>
          <p:cNvSpPr txBox="1"/>
          <p:nvPr/>
        </p:nvSpPr>
        <p:spPr>
          <a:xfrm>
            <a:off x="548640" y="731520"/>
            <a:ext cx="11091672" cy="548640"/>
          </a:xfrm>
          <a:prstGeom prst="rect">
            <a:avLst/>
          </a:prstGeom>
          <a:noFill/>
        </p:spPr>
        <p:txBody>
          <a:bodyPr wrap="square" lIns="0" rIns="0" tIns="18288" bIns="18288" anchor="t">
            <a:spAutoFit/>
          </a:bodyPr>
          <a:lstStyle/>
          <a:p>
            <a:pPr algn="l"/>
            <a:r>
              <a:rPr sz="3000" b="1" i="0">
                <a:solidFill>
                  <a:srgbClr val="1B355E"/>
                </a:solidFill>
                <a:latin typeface="Abadi"/>
              </a:rPr>
              <a:t>TWO CHOLESTASES A ROUTINE PANEL CAN MISS</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One is a mitochondrial transporter defect, the other a missing step in making bile acids; both respond to what you prescribe or feed</a:t>
            </a:r>
          </a:p>
        </p:txBody>
      </p:sp>
      <p:sp>
        <p:nvSpPr>
          <p:cNvPr id="7" name="Rectangle 6"/>
          <p:cNvSpPr/>
          <p:nvPr/>
        </p:nvSpPr>
        <p:spPr>
          <a:xfrm>
            <a:off x="548640" y="1600200"/>
            <a:ext cx="11091672" cy="2743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2</a:t>
            </a:r>
          </a:p>
        </p:txBody>
      </p:sp>
      <p:sp>
        <p:nvSpPr>
          <p:cNvPr id="11" name="TextBox 10"/>
          <p:cNvSpPr txBox="1"/>
          <p:nvPr/>
        </p:nvSpPr>
        <p:spPr>
          <a:xfrm>
            <a:off x="548640" y="5971032"/>
            <a:ext cx="10296144" cy="457200"/>
          </a:xfrm>
          <a:prstGeom prst="rect">
            <a:avLst/>
          </a:prstGeom>
          <a:noFill/>
        </p:spPr>
        <p:txBody>
          <a:bodyPr wrap="square" lIns="0" rIns="0" tIns="18288" bIns="18288" anchor="t">
            <a:spAutoFit/>
          </a:bodyPr>
          <a:lstStyle/>
          <a:p>
            <a:pPr algn="l"/>
            <a:r>
              <a:rPr sz="1000" b="0" i="1">
                <a:solidFill>
                  <a:srgbClr val="555555"/>
                </a:solidFill>
                <a:latin typeface="Abadi"/>
              </a:rPr>
              <a:t>Fawaz R, et al. JPGN 2017;64:154–68 · Ohura T, et al. J Inherit Metab Dis 2007;30:139–44 · Heubi JE, et al. Semin Liver Dis 2007;27:282–94</a:t>
            </a:r>
          </a:p>
        </p:txBody>
      </p:sp>
      <p:sp>
        <p:nvSpPr>
          <p:cNvPr id="12" name="Rectangle 11"/>
          <p:cNvSpPr/>
          <p:nvPr/>
        </p:nvSpPr>
        <p:spPr>
          <a:xfrm>
            <a:off x="548640" y="1783080"/>
            <a:ext cx="2587752" cy="2606040"/>
          </a:xfrm>
          <a:prstGeom prst="rect">
            <a:avLst/>
          </a:prstGeom>
          <a:solidFill>
            <a:srgbClr val="FBEFBE"/>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83080"/>
            <a:ext cx="2587752"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002536"/>
            <a:ext cx="2221992" cy="685800"/>
          </a:xfrm>
          <a:prstGeom prst="rect">
            <a:avLst/>
          </a:prstGeom>
          <a:noFill/>
        </p:spPr>
        <p:txBody>
          <a:bodyPr wrap="square" lIns="0" rIns="0" tIns="18288" bIns="18288" anchor="t">
            <a:spAutoFit/>
          </a:bodyPr>
          <a:lstStyle/>
          <a:p>
            <a:pPr algn="l"/>
            <a:r>
              <a:rPr sz="1600" b="1" i="0">
                <a:solidFill>
                  <a:srgbClr val="1A1A1A"/>
                </a:solidFill>
                <a:latin typeface="Abadi"/>
              </a:rPr>
              <a:t>Citrin deficiency (NICCD)</a:t>
            </a:r>
          </a:p>
        </p:txBody>
      </p:sp>
      <p:sp>
        <p:nvSpPr>
          <p:cNvPr id="15" name="TextBox 14"/>
          <p:cNvSpPr txBox="1"/>
          <p:nvPr/>
        </p:nvSpPr>
        <p:spPr>
          <a:xfrm>
            <a:off x="731520" y="2752344"/>
            <a:ext cx="2221992" cy="1545336"/>
          </a:xfrm>
          <a:prstGeom prst="rect">
            <a:avLst/>
          </a:prstGeom>
          <a:noFill/>
        </p:spPr>
        <p:txBody>
          <a:bodyPr wrap="square" lIns="0" rIns="0" tIns="18288" bIns="18288" anchor="t">
            <a:spAutoFit/>
          </a:bodyPr>
          <a:lstStyle/>
          <a:p>
            <a:pPr algn="l">
              <a:spcAft>
                <a:spcPts val="500"/>
              </a:spcAft>
            </a:pPr>
            <a:r>
              <a:rPr sz="1200" b="0" i="0">
                <a:solidFill>
                  <a:srgbClr val="1A1A1A"/>
                </a:solidFill>
                <a:latin typeface="Abadi"/>
              </a:rPr>
              <a:t>▪  SLC25A13, common in East Asia</a:t>
            </a:r>
          </a:p>
          <a:p>
            <a:pPr algn="l">
              <a:spcAft>
                <a:spcPts val="500"/>
              </a:spcAft>
            </a:pPr>
            <a:r>
              <a:rPr sz="1200" b="0" i="0">
                <a:solidFill>
                  <a:srgbClr val="1A1A1A"/>
                </a:solidFill>
                <a:latin typeface="Abadi"/>
              </a:rPr>
              <a:t>▪  Cholestasis, hypoproteinaemia, galactose and citrulline up</a:t>
            </a:r>
          </a:p>
          <a:p>
            <a:pPr algn="l">
              <a:spcAft>
                <a:spcPts val="500"/>
              </a:spcAft>
            </a:pPr>
            <a:r>
              <a:rPr sz="1200" b="0" i="0">
                <a:solidFill>
                  <a:srgbClr val="1A1A1A"/>
                </a:solidFill>
                <a:latin typeface="Abadi"/>
              </a:rPr>
              <a:t>▪  Lactose-free, MCT formula; most recover by 12 months</a:t>
            </a:r>
          </a:p>
        </p:txBody>
      </p:sp>
      <p:sp>
        <p:nvSpPr>
          <p:cNvPr id="16" name="Rectangle 15"/>
          <p:cNvSpPr/>
          <p:nvPr/>
        </p:nvSpPr>
        <p:spPr>
          <a:xfrm>
            <a:off x="3383280" y="1783080"/>
            <a:ext cx="2587752" cy="2606040"/>
          </a:xfrm>
          <a:prstGeom prst="rect">
            <a:avLst/>
          </a:prstGeom>
          <a:solidFill>
            <a:srgbClr val="F6D2D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83280" y="1783080"/>
            <a:ext cx="2587752"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0" y="2002536"/>
            <a:ext cx="2221992" cy="411480"/>
          </a:xfrm>
          <a:prstGeom prst="rect">
            <a:avLst/>
          </a:prstGeom>
          <a:noFill/>
        </p:spPr>
        <p:txBody>
          <a:bodyPr wrap="square" lIns="0" rIns="0" tIns="18288" bIns="18288" anchor="t">
            <a:spAutoFit/>
          </a:bodyPr>
          <a:lstStyle/>
          <a:p>
            <a:pPr algn="l"/>
            <a:r>
              <a:rPr sz="1600" b="1" i="0">
                <a:solidFill>
                  <a:srgbClr val="1A1A1A"/>
                </a:solidFill>
                <a:latin typeface="Abadi"/>
              </a:rPr>
              <a:t>3β-HSD deficiency</a:t>
            </a:r>
          </a:p>
        </p:txBody>
      </p:sp>
      <p:sp>
        <p:nvSpPr>
          <p:cNvPr id="19" name="TextBox 18"/>
          <p:cNvSpPr txBox="1"/>
          <p:nvPr/>
        </p:nvSpPr>
        <p:spPr>
          <a:xfrm>
            <a:off x="3566160" y="2478024"/>
            <a:ext cx="2221992" cy="1819656"/>
          </a:xfrm>
          <a:prstGeom prst="rect">
            <a:avLst/>
          </a:prstGeom>
          <a:noFill/>
        </p:spPr>
        <p:txBody>
          <a:bodyPr wrap="square" lIns="0" rIns="0" tIns="18288" bIns="18288" anchor="t">
            <a:spAutoFit/>
          </a:bodyPr>
          <a:lstStyle/>
          <a:p>
            <a:pPr algn="l">
              <a:spcAft>
                <a:spcPts val="500"/>
              </a:spcAft>
            </a:pPr>
            <a:r>
              <a:rPr sz="1200" b="0" i="0">
                <a:solidFill>
                  <a:srgbClr val="1A1A1A"/>
                </a:solidFill>
                <a:latin typeface="Abadi"/>
              </a:rPr>
              <a:t>▪  HSD3B7, the commonest synthesis defect</a:t>
            </a:r>
          </a:p>
          <a:p>
            <a:pPr algn="l">
              <a:spcAft>
                <a:spcPts val="500"/>
              </a:spcAft>
            </a:pPr>
            <a:r>
              <a:rPr sz="1200" b="0" i="0">
                <a:solidFill>
                  <a:srgbClr val="1A1A1A"/>
                </a:solidFill>
                <a:latin typeface="Abadi"/>
              </a:rPr>
              <a:t>▪  Conjugated jaundice with normal GGT, no itch</a:t>
            </a:r>
          </a:p>
          <a:p>
            <a:pPr algn="l">
              <a:spcAft>
                <a:spcPts val="500"/>
              </a:spcAft>
            </a:pPr>
            <a:r>
              <a:rPr sz="1200" b="0" i="0">
                <a:solidFill>
                  <a:srgbClr val="1A1A1A"/>
                </a:solidFill>
                <a:latin typeface="Abadi"/>
              </a:rPr>
              <a:t>▪  Oral cholic acid is close to curative</a:t>
            </a:r>
          </a:p>
        </p:txBody>
      </p:sp>
      <p:sp>
        <p:nvSpPr>
          <p:cNvPr id="20" name="Rectangle 19"/>
          <p:cNvSpPr/>
          <p:nvPr/>
        </p:nvSpPr>
        <p:spPr>
          <a:xfrm>
            <a:off x="6217920" y="1783080"/>
            <a:ext cx="2587752" cy="2606040"/>
          </a:xfrm>
          <a:prstGeom prst="rect">
            <a:avLst/>
          </a:prstGeom>
          <a:solidFill>
            <a:srgbClr val="DCE6F1"/>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783080"/>
            <a:ext cx="2587752"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2002536"/>
            <a:ext cx="2221992" cy="685800"/>
          </a:xfrm>
          <a:prstGeom prst="rect">
            <a:avLst/>
          </a:prstGeom>
          <a:noFill/>
        </p:spPr>
        <p:txBody>
          <a:bodyPr wrap="square" lIns="0" rIns="0" tIns="18288" bIns="18288" anchor="t">
            <a:spAutoFit/>
          </a:bodyPr>
          <a:lstStyle/>
          <a:p>
            <a:pPr algn="l"/>
            <a:r>
              <a:rPr sz="1600" b="1" i="0">
                <a:solidFill>
                  <a:srgbClr val="1B355E"/>
                </a:solidFill>
                <a:latin typeface="Abadi"/>
              </a:rPr>
              <a:t>Δ4-3-oxo-5β-reductase</a:t>
            </a:r>
          </a:p>
        </p:txBody>
      </p:sp>
      <p:sp>
        <p:nvSpPr>
          <p:cNvPr id="23" name="TextBox 22"/>
          <p:cNvSpPr txBox="1"/>
          <p:nvPr/>
        </p:nvSpPr>
        <p:spPr>
          <a:xfrm>
            <a:off x="6400800" y="2752344"/>
            <a:ext cx="2221992" cy="1545336"/>
          </a:xfrm>
          <a:prstGeom prst="rect">
            <a:avLst/>
          </a:prstGeom>
          <a:noFill/>
        </p:spPr>
        <p:txBody>
          <a:bodyPr wrap="square" lIns="0" rIns="0" tIns="18288" bIns="18288" anchor="t">
            <a:spAutoFit/>
          </a:bodyPr>
          <a:lstStyle/>
          <a:p>
            <a:pPr algn="l">
              <a:spcAft>
                <a:spcPts val="500"/>
              </a:spcAft>
            </a:pPr>
            <a:r>
              <a:rPr sz="1200" b="0" i="0">
                <a:solidFill>
                  <a:srgbClr val="1A1A1A"/>
                </a:solidFill>
                <a:latin typeface="Abadi"/>
              </a:rPr>
              <a:t>▪  AKR1D1, rarer and more severe</a:t>
            </a:r>
          </a:p>
          <a:p>
            <a:pPr algn="l">
              <a:spcAft>
                <a:spcPts val="500"/>
              </a:spcAft>
            </a:pPr>
            <a:r>
              <a:rPr sz="1200" b="0" i="0">
                <a:solidFill>
                  <a:srgbClr val="1A1A1A"/>
                </a:solidFill>
                <a:latin typeface="Abadi"/>
              </a:rPr>
              <a:t>▪  Coagulopathy, rapid progression; GGT can be high</a:t>
            </a:r>
          </a:p>
          <a:p>
            <a:pPr algn="l">
              <a:spcAft>
                <a:spcPts val="500"/>
              </a:spcAft>
            </a:pPr>
            <a:r>
              <a:rPr sz="1200" b="0" i="0">
                <a:solidFill>
                  <a:srgbClr val="1A1A1A"/>
                </a:solidFill>
                <a:latin typeface="Abadi"/>
              </a:rPr>
              <a:t>▪  Δ4 bile acids in urine; repeat to exclude a secondary pattern</a:t>
            </a:r>
          </a:p>
        </p:txBody>
      </p:sp>
      <p:sp>
        <p:nvSpPr>
          <p:cNvPr id="24" name="Rectangle 23"/>
          <p:cNvSpPr/>
          <p:nvPr/>
        </p:nvSpPr>
        <p:spPr>
          <a:xfrm>
            <a:off x="9052560" y="1783080"/>
            <a:ext cx="2587752" cy="2606040"/>
          </a:xfrm>
          <a:prstGeom prst="rect">
            <a:avLst/>
          </a:prstGeom>
          <a:solidFill>
            <a:srgbClr val="CDE7C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52560" y="1783080"/>
            <a:ext cx="2587752"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0" y="2002536"/>
            <a:ext cx="2221992" cy="411480"/>
          </a:xfrm>
          <a:prstGeom prst="rect">
            <a:avLst/>
          </a:prstGeom>
          <a:noFill/>
        </p:spPr>
        <p:txBody>
          <a:bodyPr wrap="square" lIns="0" rIns="0" tIns="18288" bIns="18288" anchor="t">
            <a:spAutoFit/>
          </a:bodyPr>
          <a:lstStyle/>
          <a:p>
            <a:pPr algn="l"/>
            <a:r>
              <a:rPr sz="1600" b="1" i="0">
                <a:solidFill>
                  <a:srgbClr val="1A1A1A"/>
                </a:solidFill>
                <a:latin typeface="Abadi"/>
              </a:rPr>
              <a:t>The bedside task</a:t>
            </a:r>
          </a:p>
        </p:txBody>
      </p:sp>
      <p:sp>
        <p:nvSpPr>
          <p:cNvPr id="27" name="TextBox 26"/>
          <p:cNvSpPr txBox="1"/>
          <p:nvPr/>
        </p:nvSpPr>
        <p:spPr>
          <a:xfrm>
            <a:off x="9235440" y="2478024"/>
            <a:ext cx="2221992" cy="1819656"/>
          </a:xfrm>
          <a:prstGeom prst="rect">
            <a:avLst/>
          </a:prstGeom>
          <a:noFill/>
        </p:spPr>
        <p:txBody>
          <a:bodyPr wrap="square" lIns="0" rIns="0" tIns="18288" bIns="18288" anchor="t">
            <a:spAutoFit/>
          </a:bodyPr>
          <a:lstStyle/>
          <a:p>
            <a:pPr algn="l">
              <a:spcAft>
                <a:spcPts val="500"/>
              </a:spcAft>
            </a:pPr>
            <a:r>
              <a:rPr sz="1200" b="0" i="0">
                <a:solidFill>
                  <a:srgbClr val="1A1A1A"/>
                </a:solidFill>
                <a:latin typeface="Abadi"/>
              </a:rPr>
              <a:t>▪  Look at GGT and serum bile acids together</a:t>
            </a:r>
          </a:p>
          <a:p>
            <a:pPr algn="l">
              <a:spcAft>
                <a:spcPts val="500"/>
              </a:spcAft>
            </a:pPr>
            <a:r>
              <a:rPr sz="1200" b="0" i="0">
                <a:solidFill>
                  <a:srgbClr val="1A1A1A"/>
                </a:solidFill>
                <a:latin typeface="Abadi"/>
              </a:rPr>
              <a:t>▪  Send urine bile acids before UDCA</a:t>
            </a:r>
          </a:p>
          <a:p>
            <a:pPr algn="l">
              <a:spcAft>
                <a:spcPts val="500"/>
              </a:spcAft>
            </a:pPr>
            <a:r>
              <a:rPr sz="1200" b="0" i="0">
                <a:solidFill>
                  <a:srgbClr val="1A1A1A"/>
                </a:solidFill>
                <a:latin typeface="Abadi"/>
              </a:rPr>
              <a:t>▪  Amino acids, galactose and SLC25A13 in East Asian ancestry</a:t>
            </a:r>
          </a:p>
        </p:txBody>
      </p:sp>
      <p:sp>
        <p:nvSpPr>
          <p:cNvPr id="28" name="TextBox 27"/>
          <p:cNvSpPr txBox="1"/>
          <p:nvPr/>
        </p:nvSpPr>
        <p:spPr>
          <a:xfrm>
            <a:off x="548640" y="4526280"/>
            <a:ext cx="11091672" cy="1325880"/>
          </a:xfrm>
          <a:prstGeom prst="rect">
            <a:avLst/>
          </a:prstGeom>
          <a:noFill/>
        </p:spPr>
        <p:txBody>
          <a:bodyPr wrap="square" lIns="0" rIns="0" tIns="18288" bIns="18288" anchor="t">
            <a:spAutoFit/>
          </a:bodyPr>
          <a:lstStyle/>
          <a:p>
            <a:pPr algn="l">
              <a:spcAft>
                <a:spcPts val="800"/>
              </a:spcAft>
            </a:pPr>
            <a:r>
              <a:rPr sz="1250" b="1" i="0">
                <a:solidFill>
                  <a:srgbClr val="1B355E"/>
                </a:solidFill>
                <a:latin typeface="Abadi"/>
              </a:rPr>
              <a:t>The main idea.  </a:t>
            </a:r>
            <a:r>
              <a:rPr sz="1250" b="0" i="0">
                <a:solidFill>
                  <a:srgbClr val="1A1A1A"/>
                </a:solidFill>
                <a:latin typeface="Abadi"/>
              </a:rPr>
              <a:t>Both disorders sit inside the cholestatic infant work-up, but each has a laboratory signature that a GGT and bilirubin alone will not reveal. Citrin deficiency looks like neonatal hepatitis with a metabolic tail; bile acid synthesis defects look like a low-GGT cholestasis without itch.</a:t>
            </a:r>
          </a:p>
          <a:p>
            <a:pPr algn="l">
              <a:spcAft>
                <a:spcPts val="800"/>
              </a:spcAft>
            </a:pPr>
            <a:r>
              <a:rPr sz="1250" b="1" i="0">
                <a:solidFill>
                  <a:srgbClr val="B22222"/>
                </a:solidFill>
                <a:latin typeface="Abadi"/>
              </a:rPr>
              <a:t>The clinical stake.  </a:t>
            </a:r>
            <a:r>
              <a:rPr sz="1250" b="0" i="0">
                <a:solidFill>
                  <a:srgbClr val="1A1A1A"/>
                </a:solidFill>
                <a:latin typeface="Abadi"/>
              </a:rPr>
              <a:t>Missing a synthesis defect means progression to cirrhosis on a treatable disease; missing citrin deficiency means a sugar-rich infusion years later can precipitate encephalopathy.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a:t>
            </a:r>
          </a:p>
        </p:txBody>
      </p:sp>
      <p:sp>
        <p:nvSpPr>
          <p:cNvPr id="4" name="TextBox 3"/>
          <p:cNvSpPr txBox="1"/>
          <p:nvPr/>
        </p:nvSpPr>
        <p:spPr>
          <a:xfrm>
            <a:off x="1389888" y="301752"/>
            <a:ext cx="10241280" cy="347472"/>
          </a:xfrm>
          <a:prstGeom prst="rect">
            <a:avLst/>
          </a:prstGeom>
          <a:noFill/>
        </p:spPr>
        <p:txBody>
          <a:bodyPr wrap="square" lIns="0" rIns="0" tIns="18288" bIns="18288" anchor="ctr">
            <a:spAutoFit/>
          </a:bodyPr>
          <a:lstStyle/>
          <a:p>
            <a:pPr algn="l"/>
            <a:r>
              <a:rPr sz="1200" b="1" i="0">
                <a:solidFill>
                  <a:srgbClr val="2E5A88"/>
                </a:solidFill>
                <a:latin typeface="Abadi"/>
              </a:rPr>
              <a:t>MECHANISM: CITRIN</a:t>
            </a:r>
          </a:p>
        </p:txBody>
      </p:sp>
      <p:sp>
        <p:nvSpPr>
          <p:cNvPr id="5" name="TextBox 4"/>
          <p:cNvSpPr txBox="1"/>
          <p:nvPr/>
        </p:nvSpPr>
        <p:spPr>
          <a:xfrm>
            <a:off x="548640" y="731520"/>
            <a:ext cx="11091672" cy="548640"/>
          </a:xfrm>
          <a:prstGeom prst="rect">
            <a:avLst/>
          </a:prstGeom>
          <a:noFill/>
        </p:spPr>
        <p:txBody>
          <a:bodyPr wrap="square" lIns="0" rIns="0" tIns="18288" bIns="18288" anchor="t">
            <a:spAutoFit/>
          </a:bodyPr>
          <a:lstStyle/>
          <a:p>
            <a:pPr algn="l"/>
            <a:r>
              <a:rPr sz="3000" b="1" i="0">
                <a:solidFill>
                  <a:srgbClr val="1B355E"/>
                </a:solidFill>
                <a:latin typeface="Abadi"/>
              </a:rPr>
              <a:t>ONE CARRIER, THREE CONSEQUENCES</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Citrin is the liver mitochondrial aspartate–glutamate carrier and part of the malate–aspartate NADH shuttle</a:t>
            </a:r>
          </a:p>
        </p:txBody>
      </p:sp>
      <p:sp>
        <p:nvSpPr>
          <p:cNvPr id="7" name="Rectangle 6"/>
          <p:cNvSpPr/>
          <p:nvPr/>
        </p:nvSpPr>
        <p:spPr>
          <a:xfrm>
            <a:off x="548640" y="1600200"/>
            <a:ext cx="11091672" cy="2743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3</a:t>
            </a:r>
          </a:p>
        </p:txBody>
      </p:sp>
      <p:sp>
        <p:nvSpPr>
          <p:cNvPr id="11" name="TextBox 10"/>
          <p:cNvSpPr txBox="1"/>
          <p:nvPr/>
        </p:nvSpPr>
        <p:spPr>
          <a:xfrm>
            <a:off x="548640" y="5971032"/>
            <a:ext cx="10296144" cy="457200"/>
          </a:xfrm>
          <a:prstGeom prst="rect">
            <a:avLst/>
          </a:prstGeom>
          <a:noFill/>
        </p:spPr>
        <p:txBody>
          <a:bodyPr wrap="square" lIns="0" rIns="0" tIns="18288" bIns="18288" anchor="t">
            <a:spAutoFit/>
          </a:bodyPr>
          <a:lstStyle/>
          <a:p>
            <a:pPr algn="l"/>
            <a:r>
              <a:rPr sz="1000" b="0" i="1">
                <a:solidFill>
                  <a:srgbClr val="555555"/>
                </a:solidFill>
                <a:latin typeface="Abadi"/>
              </a:rPr>
              <a:t>Hayasaka K, Numakura C. Appl Clin Genet 2018;11:163–70 · Makris G, et al. J Inherit Metab Dis 2024;47:1144–56 · GeneReviews: Citrin deficiency (NBK1181)</a:t>
            </a:r>
          </a:p>
        </p:txBody>
      </p:sp>
      <p:sp>
        <p:nvSpPr>
          <p:cNvPr id="12" name="Rectangle 11"/>
          <p:cNvSpPr/>
          <p:nvPr/>
        </p:nvSpPr>
        <p:spPr>
          <a:xfrm>
            <a:off x="548640" y="1783080"/>
            <a:ext cx="2020824" cy="2148840"/>
          </a:xfrm>
          <a:prstGeom prst="rect">
            <a:avLst/>
          </a:prstGeom>
          <a:solidFill>
            <a:srgbClr val="DCE6F1"/>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83080"/>
            <a:ext cx="2020824" cy="34747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1783080"/>
            <a:ext cx="1837943" cy="347472"/>
          </a:xfrm>
          <a:prstGeom prst="rect">
            <a:avLst/>
          </a:prstGeom>
          <a:noFill/>
        </p:spPr>
        <p:txBody>
          <a:bodyPr wrap="square" lIns="0" rIns="0" tIns="18288" bIns="18288" anchor="ctr">
            <a:spAutoFit/>
          </a:bodyPr>
          <a:lstStyle/>
          <a:p>
            <a:pPr algn="l"/>
            <a:r>
              <a:rPr sz="1200" b="1" i="0">
                <a:solidFill>
                  <a:srgbClr val="FFFFFF"/>
                </a:solidFill>
                <a:latin typeface="Abadi"/>
              </a:rPr>
              <a:t>1 · Carrier lost</a:t>
            </a:r>
          </a:p>
        </p:txBody>
      </p:sp>
      <p:sp>
        <p:nvSpPr>
          <p:cNvPr id="15" name="TextBox 14"/>
          <p:cNvSpPr txBox="1"/>
          <p:nvPr/>
        </p:nvSpPr>
        <p:spPr>
          <a:xfrm>
            <a:off x="685800" y="2240280"/>
            <a:ext cx="1746504" cy="1600200"/>
          </a:xfrm>
          <a:prstGeom prst="rect">
            <a:avLst/>
          </a:prstGeom>
          <a:noFill/>
        </p:spPr>
        <p:txBody>
          <a:bodyPr wrap="square" lIns="0" rIns="0" tIns="18288" bIns="18288" anchor="t">
            <a:spAutoFit/>
          </a:bodyPr>
          <a:lstStyle/>
          <a:p>
            <a:pPr algn="l"/>
            <a:r>
              <a:rPr sz="1150" b="0" i="0">
                <a:solidFill>
                  <a:srgbClr val="1A1A1A"/>
                </a:solidFill>
                <a:latin typeface="Abadi"/>
              </a:rPr>
              <a:t>SLC25A13 variants on both alleles; aspartate no longer exported from mitochondria in exchange for glutamate</a:t>
            </a:r>
          </a:p>
        </p:txBody>
      </p:sp>
      <p:sp>
        <p:nvSpPr>
          <p:cNvPr id="16" name="Isosceles Triangle 15"/>
          <p:cNvSpPr/>
          <p:nvPr/>
        </p:nvSpPr>
        <p:spPr>
          <a:xfrm rot="5400000">
            <a:off x="2596896" y="2766060"/>
            <a:ext cx="182880" cy="182880"/>
          </a:xfrm>
          <a:prstGeom prst="triangle">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16352" y="1783080"/>
            <a:ext cx="2020824" cy="2148840"/>
          </a:xfrm>
          <a:prstGeom prst="rect">
            <a:avLst/>
          </a:prstGeom>
          <a:solidFill>
            <a:srgbClr val="FBEFBE"/>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16352" y="1783080"/>
            <a:ext cx="2020824" cy="34747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80" y="1783080"/>
            <a:ext cx="1837943" cy="347472"/>
          </a:xfrm>
          <a:prstGeom prst="rect">
            <a:avLst/>
          </a:prstGeom>
          <a:noFill/>
        </p:spPr>
        <p:txBody>
          <a:bodyPr wrap="square" lIns="0" rIns="0" tIns="18288" bIns="18288" anchor="ctr">
            <a:spAutoFit/>
          </a:bodyPr>
          <a:lstStyle/>
          <a:p>
            <a:pPr algn="l"/>
            <a:r>
              <a:rPr sz="1200" b="1" i="0">
                <a:solidFill>
                  <a:srgbClr val="FFFFFF"/>
                </a:solidFill>
                <a:latin typeface="Abadi"/>
              </a:rPr>
              <a:t>2 · NADH trapped</a:t>
            </a:r>
          </a:p>
        </p:txBody>
      </p:sp>
      <p:sp>
        <p:nvSpPr>
          <p:cNvPr id="20" name="TextBox 19"/>
          <p:cNvSpPr txBox="1"/>
          <p:nvPr/>
        </p:nvSpPr>
        <p:spPr>
          <a:xfrm>
            <a:off x="2953512" y="2240280"/>
            <a:ext cx="1746504" cy="1600200"/>
          </a:xfrm>
          <a:prstGeom prst="rect">
            <a:avLst/>
          </a:prstGeom>
          <a:noFill/>
        </p:spPr>
        <p:txBody>
          <a:bodyPr wrap="square" lIns="0" rIns="0" tIns="18288" bIns="18288" anchor="t">
            <a:spAutoFit/>
          </a:bodyPr>
          <a:lstStyle/>
          <a:p>
            <a:pPr algn="l"/>
            <a:r>
              <a:rPr sz="1150" b="0" i="0">
                <a:solidFill>
                  <a:srgbClr val="1A1A1A"/>
                </a:solidFill>
                <a:latin typeface="Abadi"/>
              </a:rPr>
              <a:t>The malate–aspartate shuttle fails, so cytosolic NADH accumulates and glycolysis stalls</a:t>
            </a:r>
          </a:p>
        </p:txBody>
      </p:sp>
      <p:sp>
        <p:nvSpPr>
          <p:cNvPr id="21" name="Isosceles Triangle 20"/>
          <p:cNvSpPr/>
          <p:nvPr/>
        </p:nvSpPr>
        <p:spPr>
          <a:xfrm rot="5400000">
            <a:off x="4864608" y="2766060"/>
            <a:ext cx="182880" cy="182880"/>
          </a:xfrm>
          <a:prstGeom prst="triangle">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4064" y="1783080"/>
            <a:ext cx="2020824" cy="2148840"/>
          </a:xfrm>
          <a:prstGeom prst="rect">
            <a:avLst/>
          </a:prstGeom>
          <a:solidFill>
            <a:srgbClr val="F6D2D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4064" y="1783080"/>
            <a:ext cx="2020824"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3792" y="1783080"/>
            <a:ext cx="1837943" cy="347472"/>
          </a:xfrm>
          <a:prstGeom prst="rect">
            <a:avLst/>
          </a:prstGeom>
          <a:noFill/>
        </p:spPr>
        <p:txBody>
          <a:bodyPr wrap="square" lIns="0" rIns="0" tIns="18288" bIns="18288" anchor="ctr">
            <a:spAutoFit/>
          </a:bodyPr>
          <a:lstStyle/>
          <a:p>
            <a:pPr algn="l"/>
            <a:r>
              <a:rPr sz="1200" b="1" i="0">
                <a:solidFill>
                  <a:srgbClr val="FFFFFF"/>
                </a:solidFill>
                <a:latin typeface="Abadi"/>
              </a:rPr>
              <a:t>3 · Urea cycle</a:t>
            </a:r>
          </a:p>
        </p:txBody>
      </p:sp>
      <p:sp>
        <p:nvSpPr>
          <p:cNvPr id="25" name="TextBox 24"/>
          <p:cNvSpPr txBox="1"/>
          <p:nvPr/>
        </p:nvSpPr>
        <p:spPr>
          <a:xfrm>
            <a:off x="5221224" y="2240280"/>
            <a:ext cx="1746504" cy="1600200"/>
          </a:xfrm>
          <a:prstGeom prst="rect">
            <a:avLst/>
          </a:prstGeom>
          <a:noFill/>
        </p:spPr>
        <p:txBody>
          <a:bodyPr wrap="square" lIns="0" rIns="0" tIns="18288" bIns="18288" anchor="t">
            <a:spAutoFit/>
          </a:bodyPr>
          <a:lstStyle/>
          <a:p>
            <a:pPr algn="l"/>
            <a:r>
              <a:rPr sz="1150" b="0" i="0">
                <a:solidFill>
                  <a:srgbClr val="1A1A1A"/>
                </a:solidFill>
                <a:latin typeface="Abadi"/>
              </a:rPr>
              <a:t>Argininosuccinate synthetase needs aspartate and its protein falls: citrulline and ammonia rise</a:t>
            </a:r>
          </a:p>
        </p:txBody>
      </p:sp>
      <p:sp>
        <p:nvSpPr>
          <p:cNvPr id="26" name="Isosceles Triangle 25"/>
          <p:cNvSpPr/>
          <p:nvPr/>
        </p:nvSpPr>
        <p:spPr>
          <a:xfrm rot="5400000">
            <a:off x="7132320" y="2766060"/>
            <a:ext cx="182880" cy="182880"/>
          </a:xfrm>
          <a:prstGeom prst="triangle">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5" y="1783080"/>
            <a:ext cx="2020824" cy="2148840"/>
          </a:xfrm>
          <a:prstGeom prst="rect">
            <a:avLst/>
          </a:prstGeom>
          <a:solidFill>
            <a:srgbClr val="F6D2D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51775" y="1783080"/>
            <a:ext cx="2020824"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61503" y="1783080"/>
            <a:ext cx="1837943" cy="347472"/>
          </a:xfrm>
          <a:prstGeom prst="rect">
            <a:avLst/>
          </a:prstGeom>
          <a:noFill/>
        </p:spPr>
        <p:txBody>
          <a:bodyPr wrap="square" lIns="0" rIns="0" tIns="18288" bIns="18288" anchor="ctr">
            <a:spAutoFit/>
          </a:bodyPr>
          <a:lstStyle/>
          <a:p>
            <a:pPr algn="l"/>
            <a:r>
              <a:rPr sz="1200" b="1" i="0">
                <a:solidFill>
                  <a:srgbClr val="FFFFFF"/>
                </a:solidFill>
                <a:latin typeface="Abadi"/>
              </a:rPr>
              <a:t>4 · Sugar toxic</a:t>
            </a:r>
          </a:p>
        </p:txBody>
      </p:sp>
      <p:sp>
        <p:nvSpPr>
          <p:cNvPr id="30" name="TextBox 29"/>
          <p:cNvSpPr txBox="1"/>
          <p:nvPr/>
        </p:nvSpPr>
        <p:spPr>
          <a:xfrm>
            <a:off x="7488936" y="2240280"/>
            <a:ext cx="1746504" cy="1600200"/>
          </a:xfrm>
          <a:prstGeom prst="rect">
            <a:avLst/>
          </a:prstGeom>
          <a:noFill/>
        </p:spPr>
        <p:txBody>
          <a:bodyPr wrap="square" lIns="0" rIns="0" tIns="18288" bIns="18288" anchor="t">
            <a:spAutoFit/>
          </a:bodyPr>
          <a:lstStyle/>
          <a:p>
            <a:pPr algn="l"/>
            <a:r>
              <a:rPr sz="1150" b="0" i="0">
                <a:solidFill>
                  <a:srgbClr val="1A1A1A"/>
                </a:solidFill>
                <a:latin typeface="Abadi"/>
              </a:rPr>
              <a:t>Galactose, fructose and glycerol add cytosolic NADH and drain ATP; galactosaemia on newborn screen</a:t>
            </a:r>
          </a:p>
        </p:txBody>
      </p:sp>
      <p:sp>
        <p:nvSpPr>
          <p:cNvPr id="31" name="Isosceles Triangle 30"/>
          <p:cNvSpPr/>
          <p:nvPr/>
        </p:nvSpPr>
        <p:spPr>
          <a:xfrm rot="5400000">
            <a:off x="9400032" y="2766060"/>
            <a:ext cx="182880" cy="182880"/>
          </a:xfrm>
          <a:prstGeom prst="triangle">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19488" y="1783080"/>
            <a:ext cx="2020824" cy="2148840"/>
          </a:xfrm>
          <a:prstGeom prst="rect">
            <a:avLst/>
          </a:prstGeom>
          <a:solidFill>
            <a:srgbClr val="CDE7C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19488" y="1783080"/>
            <a:ext cx="2020824" cy="347472"/>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29215" y="1783080"/>
            <a:ext cx="1837943" cy="347472"/>
          </a:xfrm>
          <a:prstGeom prst="rect">
            <a:avLst/>
          </a:prstGeom>
          <a:noFill/>
        </p:spPr>
        <p:txBody>
          <a:bodyPr wrap="square" lIns="0" rIns="0" tIns="18288" bIns="18288" anchor="ctr">
            <a:spAutoFit/>
          </a:bodyPr>
          <a:lstStyle/>
          <a:p>
            <a:pPr algn="l"/>
            <a:r>
              <a:rPr sz="1200" b="1" i="0">
                <a:solidFill>
                  <a:srgbClr val="FFFFFF"/>
                </a:solidFill>
                <a:latin typeface="Abadi"/>
              </a:rPr>
              <a:t>5 · Fat helps</a:t>
            </a:r>
          </a:p>
        </p:txBody>
      </p:sp>
      <p:sp>
        <p:nvSpPr>
          <p:cNvPr id="35" name="TextBox 34"/>
          <p:cNvSpPr txBox="1"/>
          <p:nvPr/>
        </p:nvSpPr>
        <p:spPr>
          <a:xfrm>
            <a:off x="9756648" y="2240280"/>
            <a:ext cx="1746504" cy="1600200"/>
          </a:xfrm>
          <a:prstGeom prst="rect">
            <a:avLst/>
          </a:prstGeom>
          <a:noFill/>
        </p:spPr>
        <p:txBody>
          <a:bodyPr wrap="square" lIns="0" rIns="0" tIns="18288" bIns="18288" anchor="t">
            <a:spAutoFit/>
          </a:bodyPr>
          <a:lstStyle/>
          <a:p>
            <a:pPr algn="l"/>
            <a:r>
              <a:rPr sz="1150" b="0" i="0">
                <a:solidFill>
                  <a:srgbClr val="1A1A1A"/>
                </a:solidFill>
                <a:latin typeface="Abadi"/>
              </a:rPr>
              <a:t>MCT is oxidised to acetyl-CoA, raising ATP and NAD+ and lowering ammonia</a:t>
            </a:r>
          </a:p>
        </p:txBody>
      </p:sp>
      <p:sp>
        <p:nvSpPr>
          <p:cNvPr id="36" name="TextBox 35"/>
          <p:cNvSpPr txBox="1"/>
          <p:nvPr/>
        </p:nvSpPr>
        <p:spPr>
          <a:xfrm>
            <a:off x="548640" y="4160520"/>
            <a:ext cx="11091672" cy="1645920"/>
          </a:xfrm>
          <a:prstGeom prst="rect">
            <a:avLst/>
          </a:prstGeom>
          <a:noFill/>
        </p:spPr>
        <p:txBody>
          <a:bodyPr wrap="square" lIns="0" rIns="0" tIns="18288" bIns="18288" anchor="t">
            <a:spAutoFit/>
          </a:bodyPr>
          <a:lstStyle/>
          <a:p>
            <a:pPr algn="l">
              <a:spcAft>
                <a:spcPts val="800"/>
              </a:spcAft>
            </a:pPr>
            <a:r>
              <a:rPr sz="1300" b="1" i="0">
                <a:solidFill>
                  <a:srgbClr val="1B355E"/>
                </a:solidFill>
                <a:latin typeface="Abadi"/>
              </a:rPr>
              <a:t>Why the child prefers protein and fat.  </a:t>
            </a:r>
            <a:r>
              <a:rPr sz="1300" b="0" i="0">
                <a:solidFill>
                  <a:srgbClr val="1A1A1A"/>
                </a:solidFill>
                <a:latin typeface="Abadi"/>
              </a:rPr>
              <a:t>Older patients eat about 15–25% protein, 40–50% fat and 30–40% carbohydrate, against 10–15%, 25–35% and 50–60% in healthy Japanese controls; the aversion to sugar is self-protective.</a:t>
            </a:r>
          </a:p>
          <a:p>
            <a:pPr algn="l">
              <a:spcAft>
                <a:spcPts val="800"/>
              </a:spcAft>
            </a:pPr>
            <a:r>
              <a:rPr sz="1300" b="1" i="0">
                <a:solidFill>
                  <a:srgbClr val="B22222"/>
                </a:solidFill>
                <a:latin typeface="Abadi"/>
              </a:rPr>
              <a:t>Three phenotypes, one disease.  </a:t>
            </a:r>
            <a:r>
              <a:rPr sz="1300" b="0" i="0">
                <a:solidFill>
                  <a:srgbClr val="1A1A1A"/>
                </a:solidFill>
                <a:latin typeface="Abadi"/>
              </a:rPr>
              <a:t>Neonatal intrahepatic cholestasis (NICCD), then failure to thrive and dyslipidaemia (FTTDCD), then adult-onset type II citrullinaemia (CTLN2), which is potentially fatal.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II</a:t>
            </a:r>
          </a:p>
        </p:txBody>
      </p:sp>
      <p:sp>
        <p:nvSpPr>
          <p:cNvPr id="4" name="TextBox 3"/>
          <p:cNvSpPr txBox="1"/>
          <p:nvPr/>
        </p:nvSpPr>
        <p:spPr>
          <a:xfrm>
            <a:off x="1389888" y="301752"/>
            <a:ext cx="10241280" cy="347472"/>
          </a:xfrm>
          <a:prstGeom prst="rect">
            <a:avLst/>
          </a:prstGeom>
          <a:noFill/>
        </p:spPr>
        <p:txBody>
          <a:bodyPr wrap="square" lIns="0" rIns="0" tIns="18288" bIns="18288" anchor="ctr">
            <a:spAutoFit/>
          </a:bodyPr>
          <a:lstStyle/>
          <a:p>
            <a:pPr algn="l"/>
            <a:r>
              <a:rPr sz="1200" b="1" i="0">
                <a:solidFill>
                  <a:srgbClr val="2E5A88"/>
                </a:solidFill>
                <a:latin typeface="Abadi"/>
              </a:rPr>
              <a:t>HOW COMMON</a:t>
            </a:r>
          </a:p>
        </p:txBody>
      </p:sp>
      <p:sp>
        <p:nvSpPr>
          <p:cNvPr id="5" name="TextBox 4"/>
          <p:cNvSpPr txBox="1"/>
          <p:nvPr/>
        </p:nvSpPr>
        <p:spPr>
          <a:xfrm>
            <a:off x="548640" y="731520"/>
            <a:ext cx="11091672" cy="548640"/>
          </a:xfrm>
          <a:prstGeom prst="rect">
            <a:avLst/>
          </a:prstGeom>
          <a:noFill/>
        </p:spPr>
        <p:txBody>
          <a:bodyPr wrap="square" lIns="0" rIns="0" tIns="18288" bIns="18288" anchor="t">
            <a:spAutoFit/>
          </a:bodyPr>
          <a:lstStyle/>
          <a:p>
            <a:pPr algn="l"/>
            <a:r>
              <a:rPr sz="3000" b="1" i="0">
                <a:solidFill>
                  <a:srgbClr val="1B355E"/>
                </a:solidFill>
                <a:latin typeface="Abadi"/>
              </a:rPr>
              <a:t>A FOUNDER DISEASE OF EAST ASIA</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SLC25A13 carrier frequency, screening for 12 Japanese variants (Lu 2005), carriers per 100 people</a:t>
            </a:r>
          </a:p>
        </p:txBody>
      </p:sp>
      <p:sp>
        <p:nvSpPr>
          <p:cNvPr id="7" name="Rectangle 6"/>
          <p:cNvSpPr/>
          <p:nvPr/>
        </p:nvSpPr>
        <p:spPr>
          <a:xfrm>
            <a:off x="548640" y="1600200"/>
            <a:ext cx="11091672" cy="2743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4</a:t>
            </a:r>
          </a:p>
        </p:txBody>
      </p:sp>
      <p:sp>
        <p:nvSpPr>
          <p:cNvPr id="11" name="TextBox 10"/>
          <p:cNvSpPr txBox="1"/>
          <p:nvPr/>
        </p:nvSpPr>
        <p:spPr>
          <a:xfrm>
            <a:off x="548640" y="5971032"/>
            <a:ext cx="10296144" cy="457200"/>
          </a:xfrm>
          <a:prstGeom prst="rect">
            <a:avLst/>
          </a:prstGeom>
          <a:noFill/>
        </p:spPr>
        <p:txBody>
          <a:bodyPr wrap="square" lIns="0" rIns="0" tIns="18288" bIns="18288" anchor="t">
            <a:spAutoFit/>
          </a:bodyPr>
          <a:lstStyle/>
          <a:p>
            <a:pPr algn="l"/>
            <a:r>
              <a:rPr sz="1000" b="0" i="1">
                <a:solidFill>
                  <a:srgbClr val="555555"/>
                </a:solidFill>
                <a:latin typeface="Abadi"/>
              </a:rPr>
              <a:t>Lu YB, et al. J Hum Genet 2005;50:338–46 · Hayasaka K, Numakura C. Appl Clin Genet 2018;11:163–70 (citing Kikuchi 2012) · Makris G, et al. J Inherit Metab Dis 2024</a:t>
            </a:r>
          </a:p>
        </p:txBody>
      </p:sp>
      <p:sp>
        <p:nvSpPr>
          <p:cNvPr id="12" name="TextBox 11"/>
          <p:cNvSpPr txBox="1"/>
          <p:nvPr/>
        </p:nvSpPr>
        <p:spPr>
          <a:xfrm>
            <a:off x="548640" y="1965960"/>
            <a:ext cx="1874520" cy="658368"/>
          </a:xfrm>
          <a:prstGeom prst="rect">
            <a:avLst/>
          </a:prstGeom>
          <a:noFill/>
        </p:spPr>
        <p:txBody>
          <a:bodyPr wrap="square" lIns="0" rIns="0" tIns="18288" bIns="18288" anchor="ctr">
            <a:spAutoFit/>
          </a:bodyPr>
          <a:lstStyle/>
          <a:p>
            <a:pPr algn="r"/>
            <a:r>
              <a:rPr sz="1300" b="0" i="0">
                <a:solidFill>
                  <a:srgbClr val="1A1A1A"/>
                </a:solidFill>
                <a:latin typeface="Abadi"/>
              </a:rPr>
              <a:t>South China</a:t>
            </a:r>
          </a:p>
        </p:txBody>
      </p:sp>
      <p:sp>
        <p:nvSpPr>
          <p:cNvPr id="13" name="Rectangle 12"/>
          <p:cNvSpPr/>
          <p:nvPr/>
        </p:nvSpPr>
        <p:spPr>
          <a:xfrm>
            <a:off x="2560320" y="2130552"/>
            <a:ext cx="3285189"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18661" y="1965960"/>
            <a:ext cx="1097280" cy="658368"/>
          </a:xfrm>
          <a:prstGeom prst="rect">
            <a:avLst/>
          </a:prstGeom>
          <a:noFill/>
        </p:spPr>
        <p:txBody>
          <a:bodyPr wrap="square" lIns="0" rIns="0" tIns="18288" bIns="18288" anchor="ctr">
            <a:spAutoFit/>
          </a:bodyPr>
          <a:lstStyle/>
          <a:p>
            <a:pPr algn="l"/>
            <a:r>
              <a:rPr sz="1300" b="1" i="0">
                <a:solidFill>
                  <a:srgbClr val="1A1A1A"/>
                </a:solidFill>
                <a:latin typeface="Abadi"/>
              </a:rPr>
              <a:t>1 in 48</a:t>
            </a:r>
          </a:p>
        </p:txBody>
      </p:sp>
      <p:sp>
        <p:nvSpPr>
          <p:cNvPr id="15" name="TextBox 14"/>
          <p:cNvSpPr txBox="1"/>
          <p:nvPr/>
        </p:nvSpPr>
        <p:spPr>
          <a:xfrm>
            <a:off x="548640" y="2624328"/>
            <a:ext cx="1874520" cy="658368"/>
          </a:xfrm>
          <a:prstGeom prst="rect">
            <a:avLst/>
          </a:prstGeom>
          <a:noFill/>
        </p:spPr>
        <p:txBody>
          <a:bodyPr wrap="square" lIns="0" rIns="0" tIns="18288" bIns="18288" anchor="ctr">
            <a:spAutoFit/>
          </a:bodyPr>
          <a:lstStyle/>
          <a:p>
            <a:pPr algn="r"/>
            <a:r>
              <a:rPr sz="1300" b="0" i="0">
                <a:solidFill>
                  <a:srgbClr val="1A1A1A"/>
                </a:solidFill>
                <a:latin typeface="Abadi"/>
              </a:rPr>
              <a:t>Chinese overall</a:t>
            </a:r>
          </a:p>
        </p:txBody>
      </p:sp>
      <p:sp>
        <p:nvSpPr>
          <p:cNvPr id="16" name="Rectangle 15"/>
          <p:cNvSpPr/>
          <p:nvPr/>
        </p:nvSpPr>
        <p:spPr>
          <a:xfrm>
            <a:off x="2560320" y="2788920"/>
            <a:ext cx="2432303"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65776" y="2624328"/>
            <a:ext cx="1097280" cy="658368"/>
          </a:xfrm>
          <a:prstGeom prst="rect">
            <a:avLst/>
          </a:prstGeom>
          <a:noFill/>
        </p:spPr>
        <p:txBody>
          <a:bodyPr wrap="square" lIns="0" rIns="0" tIns="18288" bIns="18288" anchor="ctr">
            <a:spAutoFit/>
          </a:bodyPr>
          <a:lstStyle/>
          <a:p>
            <a:pPr algn="l"/>
            <a:r>
              <a:rPr sz="1300" b="1" i="0">
                <a:solidFill>
                  <a:srgbClr val="1A1A1A"/>
                </a:solidFill>
                <a:latin typeface="Abadi"/>
              </a:rPr>
              <a:t>1 in 65</a:t>
            </a:r>
          </a:p>
        </p:txBody>
      </p:sp>
      <p:sp>
        <p:nvSpPr>
          <p:cNvPr id="18" name="TextBox 17"/>
          <p:cNvSpPr txBox="1"/>
          <p:nvPr/>
        </p:nvSpPr>
        <p:spPr>
          <a:xfrm>
            <a:off x="548640" y="3282696"/>
            <a:ext cx="1874520" cy="658368"/>
          </a:xfrm>
          <a:prstGeom prst="rect">
            <a:avLst/>
          </a:prstGeom>
          <a:noFill/>
        </p:spPr>
        <p:txBody>
          <a:bodyPr wrap="square" lIns="0" rIns="0" tIns="18288" bIns="18288" anchor="ctr">
            <a:spAutoFit/>
          </a:bodyPr>
          <a:lstStyle/>
          <a:p>
            <a:pPr algn="r"/>
            <a:r>
              <a:rPr sz="1300" b="0" i="0">
                <a:solidFill>
                  <a:srgbClr val="1A1A1A"/>
                </a:solidFill>
                <a:latin typeface="Abadi"/>
              </a:rPr>
              <a:t>Japan</a:t>
            </a:r>
          </a:p>
        </p:txBody>
      </p:sp>
      <p:sp>
        <p:nvSpPr>
          <p:cNvPr id="19" name="Rectangle 18"/>
          <p:cNvSpPr/>
          <p:nvPr/>
        </p:nvSpPr>
        <p:spPr>
          <a:xfrm>
            <a:off x="2560320" y="3447288"/>
            <a:ext cx="2290156"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23628" y="3282696"/>
            <a:ext cx="1097280" cy="658368"/>
          </a:xfrm>
          <a:prstGeom prst="rect">
            <a:avLst/>
          </a:prstGeom>
          <a:noFill/>
        </p:spPr>
        <p:txBody>
          <a:bodyPr wrap="square" lIns="0" rIns="0" tIns="18288" bIns="18288" anchor="ctr">
            <a:spAutoFit/>
          </a:bodyPr>
          <a:lstStyle/>
          <a:p>
            <a:pPr algn="l"/>
            <a:r>
              <a:rPr sz="1300" b="1" i="0">
                <a:solidFill>
                  <a:srgbClr val="1A1A1A"/>
                </a:solidFill>
                <a:latin typeface="Abadi"/>
              </a:rPr>
              <a:t>1 in 69</a:t>
            </a:r>
          </a:p>
        </p:txBody>
      </p:sp>
      <p:sp>
        <p:nvSpPr>
          <p:cNvPr id="21" name="TextBox 20"/>
          <p:cNvSpPr txBox="1"/>
          <p:nvPr/>
        </p:nvSpPr>
        <p:spPr>
          <a:xfrm>
            <a:off x="548640" y="3941064"/>
            <a:ext cx="1874520" cy="658368"/>
          </a:xfrm>
          <a:prstGeom prst="rect">
            <a:avLst/>
          </a:prstGeom>
          <a:noFill/>
        </p:spPr>
        <p:txBody>
          <a:bodyPr wrap="square" lIns="0" rIns="0" tIns="18288" bIns="18288" anchor="ctr">
            <a:spAutoFit/>
          </a:bodyPr>
          <a:lstStyle/>
          <a:p>
            <a:pPr algn="r"/>
            <a:r>
              <a:rPr sz="1300" b="0" i="0">
                <a:solidFill>
                  <a:srgbClr val="1A1A1A"/>
                </a:solidFill>
                <a:latin typeface="Abadi"/>
              </a:rPr>
              <a:t>Korea</a:t>
            </a:r>
          </a:p>
        </p:txBody>
      </p:sp>
      <p:sp>
        <p:nvSpPr>
          <p:cNvPr id="22" name="Rectangle 21"/>
          <p:cNvSpPr/>
          <p:nvPr/>
        </p:nvSpPr>
        <p:spPr>
          <a:xfrm>
            <a:off x="2560320" y="4105656"/>
            <a:ext cx="1405682"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39154" y="3941064"/>
            <a:ext cx="1097280" cy="658368"/>
          </a:xfrm>
          <a:prstGeom prst="rect">
            <a:avLst/>
          </a:prstGeom>
          <a:noFill/>
        </p:spPr>
        <p:txBody>
          <a:bodyPr wrap="square" lIns="0" rIns="0" tIns="18288" bIns="18288" anchor="ctr">
            <a:spAutoFit/>
          </a:bodyPr>
          <a:lstStyle/>
          <a:p>
            <a:pPr algn="l"/>
            <a:r>
              <a:rPr sz="1300" b="1" i="0">
                <a:solidFill>
                  <a:srgbClr val="1A1A1A"/>
                </a:solidFill>
                <a:latin typeface="Abadi"/>
              </a:rPr>
              <a:t>1 in 112</a:t>
            </a:r>
          </a:p>
        </p:txBody>
      </p:sp>
      <p:sp>
        <p:nvSpPr>
          <p:cNvPr id="24" name="TextBox 23"/>
          <p:cNvSpPr txBox="1"/>
          <p:nvPr/>
        </p:nvSpPr>
        <p:spPr>
          <a:xfrm>
            <a:off x="548640" y="4599431"/>
            <a:ext cx="1874520" cy="658368"/>
          </a:xfrm>
          <a:prstGeom prst="rect">
            <a:avLst/>
          </a:prstGeom>
          <a:noFill/>
        </p:spPr>
        <p:txBody>
          <a:bodyPr wrap="square" lIns="0" rIns="0" tIns="18288" bIns="18288" anchor="ctr">
            <a:spAutoFit/>
          </a:bodyPr>
          <a:lstStyle/>
          <a:p>
            <a:pPr algn="r"/>
            <a:r>
              <a:rPr sz="1300" b="0" i="0">
                <a:solidFill>
                  <a:srgbClr val="1A1A1A"/>
                </a:solidFill>
                <a:latin typeface="Abadi"/>
              </a:rPr>
              <a:t>North China</a:t>
            </a:r>
          </a:p>
        </p:txBody>
      </p:sp>
      <p:sp>
        <p:nvSpPr>
          <p:cNvPr id="25" name="Rectangle 24"/>
          <p:cNvSpPr/>
          <p:nvPr/>
        </p:nvSpPr>
        <p:spPr>
          <a:xfrm>
            <a:off x="2560320" y="4764023"/>
            <a:ext cx="173735"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07208" y="4599431"/>
            <a:ext cx="1097280" cy="658368"/>
          </a:xfrm>
          <a:prstGeom prst="rect">
            <a:avLst/>
          </a:prstGeom>
          <a:noFill/>
        </p:spPr>
        <p:txBody>
          <a:bodyPr wrap="square" lIns="0" rIns="0" tIns="18288" bIns="18288" anchor="ctr">
            <a:spAutoFit/>
          </a:bodyPr>
          <a:lstStyle/>
          <a:p>
            <a:pPr algn="l"/>
            <a:r>
              <a:rPr sz="1300" b="1" i="0">
                <a:solidFill>
                  <a:srgbClr val="1A1A1A"/>
                </a:solidFill>
                <a:latin typeface="Abadi"/>
              </a:rPr>
              <a:t>1 in 940</a:t>
            </a:r>
          </a:p>
        </p:txBody>
      </p:sp>
      <p:sp>
        <p:nvSpPr>
          <p:cNvPr id="27" name="TextBox 26"/>
          <p:cNvSpPr txBox="1"/>
          <p:nvPr/>
        </p:nvSpPr>
        <p:spPr>
          <a:xfrm>
            <a:off x="7406640" y="1828800"/>
            <a:ext cx="4206240" cy="3931920"/>
          </a:xfrm>
          <a:prstGeom prst="rect">
            <a:avLst/>
          </a:prstGeom>
          <a:noFill/>
        </p:spPr>
        <p:txBody>
          <a:bodyPr wrap="square" lIns="0" rIns="0" tIns="18288" bIns="18288" anchor="t">
            <a:spAutoFit/>
          </a:bodyPr>
          <a:lstStyle/>
          <a:p>
            <a:pPr algn="l">
              <a:spcAft>
                <a:spcPts val="300"/>
              </a:spcAft>
            </a:pPr>
            <a:r>
              <a:rPr sz="1800" b="1" i="0">
                <a:solidFill>
                  <a:srgbClr val="1B355E"/>
                </a:solidFill>
                <a:latin typeface="Abadi"/>
              </a:rPr>
              <a:t>&gt;80,000</a:t>
            </a:r>
          </a:p>
          <a:p>
            <a:pPr algn="l">
              <a:spcAft>
                <a:spcPts val="300"/>
              </a:spcAft>
            </a:pPr>
            <a:r>
              <a:rPr sz="1150" b="0" i="0">
                <a:solidFill>
                  <a:srgbClr val="1A1A1A"/>
                </a:solidFill>
                <a:latin typeface="Abadi"/>
              </a:rPr>
              <a:t>Estimated homozygotes across East Asia (Lu 2005).</a:t>
            </a:r>
          </a:p>
          <a:p>
            <a:pPr algn="l">
              <a:spcAft>
                <a:spcPts val="300"/>
              </a:spcAft>
            </a:pPr>
            <a:r>
              <a:rPr sz="1800" b="1" i="0">
                <a:solidFill>
                  <a:srgbClr val="1B355E"/>
                </a:solidFill>
                <a:latin typeface="Abadi"/>
              </a:rPr>
              <a:t>1 in 42</a:t>
            </a:r>
          </a:p>
          <a:p>
            <a:pPr algn="l">
              <a:spcAft>
                <a:spcPts val="300"/>
              </a:spcAft>
            </a:pPr>
            <a:r>
              <a:rPr sz="1150" b="0" i="0">
                <a:solidFill>
                  <a:srgbClr val="1A1A1A"/>
                </a:solidFill>
                <a:latin typeface="Abadi"/>
              </a:rPr>
              <a:t>A later Japanese carrier estimate; about 1 in 7,100 people affected (Kikuchi 2012, cited by Hayasaka).</a:t>
            </a:r>
          </a:p>
          <a:p>
            <a:pPr algn="l">
              <a:spcAft>
                <a:spcPts val="300"/>
              </a:spcAft>
            </a:pPr>
            <a:r>
              <a:rPr sz="1800" b="1" i="0">
                <a:solidFill>
                  <a:srgbClr val="1B355E"/>
                </a:solidFill>
                <a:latin typeface="Abadi"/>
              </a:rPr>
              <a:t>Two shared variants</a:t>
            </a:r>
          </a:p>
          <a:p>
            <a:pPr algn="l">
              <a:spcAft>
                <a:spcPts val="300"/>
              </a:spcAft>
            </a:pPr>
            <a:r>
              <a:rPr sz="1150" b="0" i="0">
                <a:solidFill>
                  <a:srgbClr val="1A1A1A"/>
                </a:solidFill>
                <a:latin typeface="Abadi"/>
              </a:rPr>
              <a:t>851–854del and 1638–1660dup were found in every population tested; others are country-specific.</a:t>
            </a:r>
          </a:p>
          <a:p>
            <a:pPr algn="l">
              <a:spcAft>
                <a:spcPts val="300"/>
              </a:spcAft>
            </a:pPr>
            <a:r>
              <a:rPr sz="1800" b="1" i="0">
                <a:solidFill>
                  <a:srgbClr val="1B355E"/>
                </a:solidFill>
                <a:latin typeface="Abadi"/>
              </a:rPr>
              <a:t>Beyond Asia</a:t>
            </a:r>
          </a:p>
          <a:p>
            <a:pPr algn="l">
              <a:spcAft>
                <a:spcPts val="300"/>
              </a:spcAft>
            </a:pPr>
            <a:r>
              <a:rPr sz="1150" b="0" i="0">
                <a:solidFill>
                  <a:srgbClr val="1A1A1A"/>
                </a:solidFill>
                <a:latin typeface="Abadi"/>
              </a:rPr>
              <a:t>Cases are reported worldwide; ancestry raises suspicion but should not gate testing.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II</a:t>
            </a:r>
          </a:p>
        </p:txBody>
      </p:sp>
      <p:sp>
        <p:nvSpPr>
          <p:cNvPr id="4" name="TextBox 3"/>
          <p:cNvSpPr txBox="1"/>
          <p:nvPr/>
        </p:nvSpPr>
        <p:spPr>
          <a:xfrm>
            <a:off x="1389888" y="301752"/>
            <a:ext cx="10241280" cy="347472"/>
          </a:xfrm>
          <a:prstGeom prst="rect">
            <a:avLst/>
          </a:prstGeom>
          <a:noFill/>
        </p:spPr>
        <p:txBody>
          <a:bodyPr wrap="square" lIns="0" rIns="0" tIns="18288" bIns="18288" anchor="ctr">
            <a:spAutoFit/>
          </a:bodyPr>
          <a:lstStyle/>
          <a:p>
            <a:pPr algn="l"/>
            <a:r>
              <a:rPr sz="1200" b="1" i="0">
                <a:solidFill>
                  <a:srgbClr val="2E5A88"/>
                </a:solidFill>
                <a:latin typeface="Abadi"/>
              </a:rPr>
              <a:t>NICCD: THE PICTURE</a:t>
            </a:r>
          </a:p>
        </p:txBody>
      </p:sp>
      <p:sp>
        <p:nvSpPr>
          <p:cNvPr id="5" name="TextBox 4"/>
          <p:cNvSpPr txBox="1"/>
          <p:nvPr/>
        </p:nvSpPr>
        <p:spPr>
          <a:xfrm>
            <a:off x="548640" y="731520"/>
            <a:ext cx="11091672" cy="548640"/>
          </a:xfrm>
          <a:prstGeom prst="rect">
            <a:avLst/>
          </a:prstGeom>
          <a:noFill/>
        </p:spPr>
        <p:txBody>
          <a:bodyPr wrap="square" lIns="0" rIns="0" tIns="18288" bIns="18288" anchor="t">
            <a:spAutoFit/>
          </a:bodyPr>
          <a:lstStyle/>
          <a:p>
            <a:pPr algn="l"/>
            <a:r>
              <a:rPr sz="3000" b="1" i="0">
                <a:solidFill>
                  <a:srgbClr val="1B355E"/>
                </a:solidFill>
                <a:latin typeface="Abadi"/>
              </a:rPr>
              <a:t>NEONATAL HEPATITIS WITH A METABOLIC TAIL</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Features of NICCD in the Japanese national cohort, 192 patients, 2000–2019, % of patients</a:t>
            </a:r>
          </a:p>
        </p:txBody>
      </p:sp>
      <p:sp>
        <p:nvSpPr>
          <p:cNvPr id="7" name="Rectangle 6"/>
          <p:cNvSpPr/>
          <p:nvPr/>
        </p:nvSpPr>
        <p:spPr>
          <a:xfrm>
            <a:off x="548640" y="1600200"/>
            <a:ext cx="11091672" cy="2743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5</a:t>
            </a:r>
          </a:p>
        </p:txBody>
      </p:sp>
      <p:sp>
        <p:nvSpPr>
          <p:cNvPr id="11" name="TextBox 10"/>
          <p:cNvSpPr txBox="1"/>
          <p:nvPr/>
        </p:nvSpPr>
        <p:spPr>
          <a:xfrm>
            <a:off x="548640" y="5971032"/>
            <a:ext cx="10296144" cy="457200"/>
          </a:xfrm>
          <a:prstGeom prst="rect">
            <a:avLst/>
          </a:prstGeom>
          <a:noFill/>
        </p:spPr>
        <p:txBody>
          <a:bodyPr wrap="square" lIns="0" rIns="0" tIns="18288" bIns="18288" anchor="t">
            <a:spAutoFit/>
          </a:bodyPr>
          <a:lstStyle/>
          <a:p>
            <a:pPr algn="l"/>
            <a:r>
              <a:rPr sz="1000" b="0" i="1">
                <a:solidFill>
                  <a:srgbClr val="555555"/>
                </a:solidFill>
                <a:latin typeface="Abadi"/>
              </a:rPr>
              <a:t>Kido J, et al. J Inherit Metab Dis 2022;45:431–44 · Ohura T, et al. J Inherit Metab Dis 2007;30:139–44</a:t>
            </a:r>
          </a:p>
        </p:txBody>
      </p:sp>
      <p:sp>
        <p:nvSpPr>
          <p:cNvPr id="12" name="TextBox 11"/>
          <p:cNvSpPr txBox="1"/>
          <p:nvPr/>
        </p:nvSpPr>
        <p:spPr>
          <a:xfrm>
            <a:off x="548640" y="1874519"/>
            <a:ext cx="2148840" cy="480060"/>
          </a:xfrm>
          <a:prstGeom prst="rect">
            <a:avLst/>
          </a:prstGeom>
          <a:noFill/>
        </p:spPr>
        <p:txBody>
          <a:bodyPr wrap="square" lIns="0" rIns="0" tIns="18288" bIns="18288" anchor="ctr">
            <a:spAutoFit/>
          </a:bodyPr>
          <a:lstStyle/>
          <a:p>
            <a:pPr algn="r"/>
            <a:r>
              <a:rPr sz="1200" b="0" i="0">
                <a:solidFill>
                  <a:srgbClr val="1A1A1A"/>
                </a:solidFill>
                <a:latin typeface="Abadi"/>
              </a:rPr>
              <a:t>Cholestasis</a:t>
            </a:r>
          </a:p>
        </p:txBody>
      </p:sp>
      <p:sp>
        <p:nvSpPr>
          <p:cNvPr id="13" name="Rectangle 12"/>
          <p:cNvSpPr/>
          <p:nvPr/>
        </p:nvSpPr>
        <p:spPr>
          <a:xfrm>
            <a:off x="2834640" y="1994535"/>
            <a:ext cx="3144460" cy="24003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52252" y="1874519"/>
            <a:ext cx="1097280" cy="480060"/>
          </a:xfrm>
          <a:prstGeom prst="rect">
            <a:avLst/>
          </a:prstGeom>
          <a:noFill/>
        </p:spPr>
        <p:txBody>
          <a:bodyPr wrap="square" lIns="0" rIns="0" tIns="18288" bIns="18288" anchor="ctr">
            <a:spAutoFit/>
          </a:bodyPr>
          <a:lstStyle/>
          <a:p>
            <a:pPr algn="l"/>
            <a:r>
              <a:rPr sz="1200" b="1" i="0">
                <a:solidFill>
                  <a:srgbClr val="1A1A1A"/>
                </a:solidFill>
                <a:latin typeface="Abadi"/>
              </a:rPr>
              <a:t>79%</a:t>
            </a:r>
          </a:p>
        </p:txBody>
      </p:sp>
      <p:sp>
        <p:nvSpPr>
          <p:cNvPr id="15" name="TextBox 14"/>
          <p:cNvSpPr txBox="1"/>
          <p:nvPr/>
        </p:nvSpPr>
        <p:spPr>
          <a:xfrm>
            <a:off x="548640" y="2354579"/>
            <a:ext cx="2148840" cy="480060"/>
          </a:xfrm>
          <a:prstGeom prst="rect">
            <a:avLst/>
          </a:prstGeom>
          <a:noFill/>
        </p:spPr>
        <p:txBody>
          <a:bodyPr wrap="square" lIns="0" rIns="0" tIns="18288" bIns="18288" anchor="ctr">
            <a:spAutoFit/>
          </a:bodyPr>
          <a:lstStyle/>
          <a:p>
            <a:pPr algn="r"/>
            <a:r>
              <a:rPr sz="1200" b="0" i="0">
                <a:solidFill>
                  <a:srgbClr val="1A1A1A"/>
                </a:solidFill>
                <a:latin typeface="Abadi"/>
              </a:rPr>
              <a:t>Transaminases &gt;100</a:t>
            </a:r>
          </a:p>
        </p:txBody>
      </p:sp>
      <p:sp>
        <p:nvSpPr>
          <p:cNvPr id="16" name="Rectangle 15"/>
          <p:cNvSpPr/>
          <p:nvPr/>
        </p:nvSpPr>
        <p:spPr>
          <a:xfrm>
            <a:off x="2834640" y="2474595"/>
            <a:ext cx="2826033" cy="24003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33825" y="2354579"/>
            <a:ext cx="1097280" cy="480060"/>
          </a:xfrm>
          <a:prstGeom prst="rect">
            <a:avLst/>
          </a:prstGeom>
          <a:noFill/>
        </p:spPr>
        <p:txBody>
          <a:bodyPr wrap="square" lIns="0" rIns="0" tIns="18288" bIns="18288" anchor="ctr">
            <a:spAutoFit/>
          </a:bodyPr>
          <a:lstStyle/>
          <a:p>
            <a:pPr algn="l"/>
            <a:r>
              <a:rPr sz="1200" b="1" i="0">
                <a:solidFill>
                  <a:srgbClr val="1A1A1A"/>
                </a:solidFill>
                <a:latin typeface="Abadi"/>
              </a:rPr>
              <a:t>71%</a:t>
            </a:r>
          </a:p>
        </p:txBody>
      </p:sp>
      <p:sp>
        <p:nvSpPr>
          <p:cNvPr id="18" name="TextBox 17"/>
          <p:cNvSpPr txBox="1"/>
          <p:nvPr/>
        </p:nvSpPr>
        <p:spPr>
          <a:xfrm>
            <a:off x="548640" y="2834639"/>
            <a:ext cx="2148840" cy="480060"/>
          </a:xfrm>
          <a:prstGeom prst="rect">
            <a:avLst/>
          </a:prstGeom>
          <a:noFill/>
        </p:spPr>
        <p:txBody>
          <a:bodyPr wrap="square" lIns="0" rIns="0" tIns="18288" bIns="18288" anchor="ctr">
            <a:spAutoFit/>
          </a:bodyPr>
          <a:lstStyle/>
          <a:p>
            <a:pPr algn="r"/>
            <a:r>
              <a:rPr sz="1200" b="0" i="0">
                <a:solidFill>
                  <a:srgbClr val="1A1A1A"/>
                </a:solidFill>
                <a:latin typeface="Abadi"/>
              </a:rPr>
              <a:t>Hypoproteinaemia</a:t>
            </a:r>
          </a:p>
        </p:txBody>
      </p:sp>
      <p:sp>
        <p:nvSpPr>
          <p:cNvPr id="19" name="Rectangle 18"/>
          <p:cNvSpPr/>
          <p:nvPr/>
        </p:nvSpPr>
        <p:spPr>
          <a:xfrm>
            <a:off x="2834640" y="2954654"/>
            <a:ext cx="1552328" cy="24003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60120" y="2834639"/>
            <a:ext cx="1097280" cy="480060"/>
          </a:xfrm>
          <a:prstGeom prst="rect">
            <a:avLst/>
          </a:prstGeom>
          <a:noFill/>
        </p:spPr>
        <p:txBody>
          <a:bodyPr wrap="square" lIns="0" rIns="0" tIns="18288" bIns="18288" anchor="ctr">
            <a:spAutoFit/>
          </a:bodyPr>
          <a:lstStyle/>
          <a:p>
            <a:pPr algn="l"/>
            <a:r>
              <a:rPr sz="1200" b="1" i="0">
                <a:solidFill>
                  <a:srgbClr val="1A1A1A"/>
                </a:solidFill>
                <a:latin typeface="Abadi"/>
              </a:rPr>
              <a:t>39%</a:t>
            </a:r>
          </a:p>
        </p:txBody>
      </p:sp>
      <p:sp>
        <p:nvSpPr>
          <p:cNvPr id="21" name="TextBox 20"/>
          <p:cNvSpPr txBox="1"/>
          <p:nvPr/>
        </p:nvSpPr>
        <p:spPr>
          <a:xfrm>
            <a:off x="548640" y="3314700"/>
            <a:ext cx="2148840" cy="480060"/>
          </a:xfrm>
          <a:prstGeom prst="rect">
            <a:avLst/>
          </a:prstGeom>
          <a:noFill/>
        </p:spPr>
        <p:txBody>
          <a:bodyPr wrap="square" lIns="0" rIns="0" tIns="18288" bIns="18288" anchor="ctr">
            <a:spAutoFit/>
          </a:bodyPr>
          <a:lstStyle/>
          <a:p>
            <a:pPr algn="r"/>
            <a:r>
              <a:rPr sz="1200" b="0" i="0">
                <a:solidFill>
                  <a:srgbClr val="1A1A1A"/>
                </a:solidFill>
                <a:latin typeface="Abadi"/>
              </a:rPr>
              <a:t>Prolonged PT</a:t>
            </a:r>
          </a:p>
        </p:txBody>
      </p:sp>
      <p:sp>
        <p:nvSpPr>
          <p:cNvPr id="22" name="Rectangle 21"/>
          <p:cNvSpPr/>
          <p:nvPr/>
        </p:nvSpPr>
        <p:spPr>
          <a:xfrm>
            <a:off x="2834640" y="3434715"/>
            <a:ext cx="1353312" cy="24003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61104" y="3314700"/>
            <a:ext cx="1097280" cy="480060"/>
          </a:xfrm>
          <a:prstGeom prst="rect">
            <a:avLst/>
          </a:prstGeom>
          <a:noFill/>
        </p:spPr>
        <p:txBody>
          <a:bodyPr wrap="square" lIns="0" rIns="0" tIns="18288" bIns="18288" anchor="ctr">
            <a:spAutoFit/>
          </a:bodyPr>
          <a:lstStyle/>
          <a:p>
            <a:pPr algn="l"/>
            <a:r>
              <a:rPr sz="1200" b="1" i="0">
                <a:solidFill>
                  <a:srgbClr val="1A1A1A"/>
                </a:solidFill>
                <a:latin typeface="Abadi"/>
              </a:rPr>
              <a:t>34%</a:t>
            </a:r>
          </a:p>
        </p:txBody>
      </p:sp>
      <p:sp>
        <p:nvSpPr>
          <p:cNvPr id="24" name="TextBox 23"/>
          <p:cNvSpPr txBox="1"/>
          <p:nvPr/>
        </p:nvSpPr>
        <p:spPr>
          <a:xfrm>
            <a:off x="548640" y="3794760"/>
            <a:ext cx="2148840" cy="480060"/>
          </a:xfrm>
          <a:prstGeom prst="rect">
            <a:avLst/>
          </a:prstGeom>
          <a:noFill/>
        </p:spPr>
        <p:txBody>
          <a:bodyPr wrap="square" lIns="0" rIns="0" tIns="18288" bIns="18288" anchor="ctr">
            <a:spAutoFit/>
          </a:bodyPr>
          <a:lstStyle/>
          <a:p>
            <a:pPr algn="r"/>
            <a:r>
              <a:rPr sz="1200" b="0" i="0">
                <a:solidFill>
                  <a:srgbClr val="1A1A1A"/>
                </a:solidFill>
                <a:latin typeface="Abadi"/>
              </a:rPr>
              <a:t>Fatty liver</a:t>
            </a:r>
          </a:p>
        </p:txBody>
      </p:sp>
      <p:sp>
        <p:nvSpPr>
          <p:cNvPr id="25" name="Rectangle 24"/>
          <p:cNvSpPr/>
          <p:nvPr/>
        </p:nvSpPr>
        <p:spPr>
          <a:xfrm>
            <a:off x="2834640" y="3914775"/>
            <a:ext cx="1313508" cy="24003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21300" y="3794760"/>
            <a:ext cx="1097280" cy="480060"/>
          </a:xfrm>
          <a:prstGeom prst="rect">
            <a:avLst/>
          </a:prstGeom>
          <a:noFill/>
        </p:spPr>
        <p:txBody>
          <a:bodyPr wrap="square" lIns="0" rIns="0" tIns="18288" bIns="18288" anchor="ctr">
            <a:spAutoFit/>
          </a:bodyPr>
          <a:lstStyle/>
          <a:p>
            <a:pPr algn="l"/>
            <a:r>
              <a:rPr sz="1200" b="1" i="0">
                <a:solidFill>
                  <a:srgbClr val="1A1A1A"/>
                </a:solidFill>
                <a:latin typeface="Abadi"/>
              </a:rPr>
              <a:t>33%</a:t>
            </a:r>
          </a:p>
        </p:txBody>
      </p:sp>
      <p:sp>
        <p:nvSpPr>
          <p:cNvPr id="27" name="TextBox 26"/>
          <p:cNvSpPr txBox="1"/>
          <p:nvPr/>
        </p:nvSpPr>
        <p:spPr>
          <a:xfrm>
            <a:off x="548640" y="4274820"/>
            <a:ext cx="2148840" cy="480060"/>
          </a:xfrm>
          <a:prstGeom prst="rect">
            <a:avLst/>
          </a:prstGeom>
          <a:noFill/>
        </p:spPr>
        <p:txBody>
          <a:bodyPr wrap="square" lIns="0" rIns="0" tIns="18288" bIns="18288" anchor="ctr">
            <a:spAutoFit/>
          </a:bodyPr>
          <a:lstStyle/>
          <a:p>
            <a:pPr algn="r"/>
            <a:r>
              <a:rPr sz="1200" b="0" i="0">
                <a:solidFill>
                  <a:srgbClr val="1A1A1A"/>
                </a:solidFill>
                <a:latin typeface="Abadi"/>
              </a:rPr>
              <a:t>Poor weight gain</a:t>
            </a:r>
          </a:p>
        </p:txBody>
      </p:sp>
      <p:sp>
        <p:nvSpPr>
          <p:cNvPr id="28" name="Rectangle 27"/>
          <p:cNvSpPr/>
          <p:nvPr/>
        </p:nvSpPr>
        <p:spPr>
          <a:xfrm>
            <a:off x="2834640" y="4394834"/>
            <a:ext cx="1273705" cy="24003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81497" y="4274820"/>
            <a:ext cx="1097280" cy="480060"/>
          </a:xfrm>
          <a:prstGeom prst="rect">
            <a:avLst/>
          </a:prstGeom>
          <a:noFill/>
        </p:spPr>
        <p:txBody>
          <a:bodyPr wrap="square" lIns="0" rIns="0" tIns="18288" bIns="18288" anchor="ctr">
            <a:spAutoFit/>
          </a:bodyPr>
          <a:lstStyle/>
          <a:p>
            <a:pPr algn="l"/>
            <a:r>
              <a:rPr sz="1200" b="1" i="0">
                <a:solidFill>
                  <a:srgbClr val="1A1A1A"/>
                </a:solidFill>
                <a:latin typeface="Abadi"/>
              </a:rPr>
              <a:t>32%</a:t>
            </a:r>
          </a:p>
        </p:txBody>
      </p:sp>
      <p:sp>
        <p:nvSpPr>
          <p:cNvPr id="30" name="TextBox 29"/>
          <p:cNvSpPr txBox="1"/>
          <p:nvPr/>
        </p:nvSpPr>
        <p:spPr>
          <a:xfrm>
            <a:off x="548640" y="4754880"/>
            <a:ext cx="2148840" cy="480060"/>
          </a:xfrm>
          <a:prstGeom prst="rect">
            <a:avLst/>
          </a:prstGeom>
          <a:noFill/>
        </p:spPr>
        <p:txBody>
          <a:bodyPr wrap="square" lIns="0" rIns="0" tIns="18288" bIns="18288" anchor="ctr">
            <a:spAutoFit/>
          </a:bodyPr>
          <a:lstStyle/>
          <a:p>
            <a:pPr algn="r"/>
            <a:r>
              <a:rPr sz="1200" b="0" i="0">
                <a:solidFill>
                  <a:srgbClr val="1A1A1A"/>
                </a:solidFill>
                <a:latin typeface="Abadi"/>
              </a:rPr>
              <a:t>Hypoglycaemia</a:t>
            </a:r>
          </a:p>
        </p:txBody>
      </p:sp>
      <p:sp>
        <p:nvSpPr>
          <p:cNvPr id="31" name="Rectangle 30"/>
          <p:cNvSpPr/>
          <p:nvPr/>
        </p:nvSpPr>
        <p:spPr>
          <a:xfrm>
            <a:off x="2834640" y="4874895"/>
            <a:ext cx="1194098" cy="24003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01890" y="4754880"/>
            <a:ext cx="1097280" cy="480060"/>
          </a:xfrm>
          <a:prstGeom prst="rect">
            <a:avLst/>
          </a:prstGeom>
          <a:noFill/>
        </p:spPr>
        <p:txBody>
          <a:bodyPr wrap="square" lIns="0" rIns="0" tIns="18288" bIns="18288" anchor="ctr">
            <a:spAutoFit/>
          </a:bodyPr>
          <a:lstStyle/>
          <a:p>
            <a:pPr algn="l"/>
            <a:r>
              <a:rPr sz="1200" b="1" i="0">
                <a:solidFill>
                  <a:srgbClr val="1A1A1A"/>
                </a:solidFill>
                <a:latin typeface="Abadi"/>
              </a:rPr>
              <a:t>30%</a:t>
            </a:r>
          </a:p>
        </p:txBody>
      </p:sp>
      <p:sp>
        <p:nvSpPr>
          <p:cNvPr id="33" name="TextBox 32"/>
          <p:cNvSpPr txBox="1"/>
          <p:nvPr/>
        </p:nvSpPr>
        <p:spPr>
          <a:xfrm>
            <a:off x="548640" y="5234940"/>
            <a:ext cx="2148840" cy="480060"/>
          </a:xfrm>
          <a:prstGeom prst="rect">
            <a:avLst/>
          </a:prstGeom>
          <a:noFill/>
        </p:spPr>
        <p:txBody>
          <a:bodyPr wrap="square" lIns="0" rIns="0" tIns="18288" bIns="18288" anchor="ctr">
            <a:spAutoFit/>
          </a:bodyPr>
          <a:lstStyle/>
          <a:p>
            <a:pPr algn="r"/>
            <a:r>
              <a:rPr sz="1200" b="0" i="0">
                <a:solidFill>
                  <a:srgbClr val="1A1A1A"/>
                </a:solidFill>
                <a:latin typeface="Abadi"/>
              </a:rPr>
              <a:t>Hyperammonaemia</a:t>
            </a:r>
          </a:p>
        </p:txBody>
      </p:sp>
      <p:sp>
        <p:nvSpPr>
          <p:cNvPr id="34" name="Rectangle 33"/>
          <p:cNvSpPr/>
          <p:nvPr/>
        </p:nvSpPr>
        <p:spPr>
          <a:xfrm>
            <a:off x="2834640" y="5354954"/>
            <a:ext cx="437836" cy="24003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345628" y="5234940"/>
            <a:ext cx="1097280" cy="480060"/>
          </a:xfrm>
          <a:prstGeom prst="rect">
            <a:avLst/>
          </a:prstGeom>
          <a:noFill/>
        </p:spPr>
        <p:txBody>
          <a:bodyPr wrap="square" lIns="0" rIns="0" tIns="18288" bIns="18288" anchor="ctr">
            <a:spAutoFit/>
          </a:bodyPr>
          <a:lstStyle/>
          <a:p>
            <a:pPr algn="l"/>
            <a:r>
              <a:rPr sz="1200" b="1" i="0">
                <a:solidFill>
                  <a:srgbClr val="1A1A1A"/>
                </a:solidFill>
                <a:latin typeface="Abadi"/>
              </a:rPr>
              <a:t>11%</a:t>
            </a:r>
          </a:p>
        </p:txBody>
      </p:sp>
      <p:sp>
        <p:nvSpPr>
          <p:cNvPr id="36" name="TextBox 35"/>
          <p:cNvSpPr txBox="1"/>
          <p:nvPr/>
        </p:nvSpPr>
        <p:spPr>
          <a:xfrm>
            <a:off x="7589520" y="1828800"/>
            <a:ext cx="4023360" cy="3931920"/>
          </a:xfrm>
          <a:prstGeom prst="rect">
            <a:avLst/>
          </a:prstGeom>
          <a:noFill/>
        </p:spPr>
        <p:txBody>
          <a:bodyPr wrap="square" lIns="0" rIns="0" tIns="18288" bIns="18288" anchor="t">
            <a:spAutoFit/>
          </a:bodyPr>
          <a:lstStyle/>
          <a:p>
            <a:pPr algn="l">
              <a:spcAft>
                <a:spcPts val="300"/>
              </a:spcAft>
            </a:pPr>
            <a:r>
              <a:rPr sz="1800" b="1" i="0">
                <a:solidFill>
                  <a:srgbClr val="1B355E"/>
                </a:solidFill>
                <a:latin typeface="Abadi"/>
              </a:rPr>
              <a:t>30 of 75</a:t>
            </a:r>
          </a:p>
          <a:p>
            <a:pPr algn="l">
              <a:spcAft>
                <a:spcPts val="300"/>
              </a:spcAft>
            </a:pPr>
            <a:r>
              <a:rPr sz="1150" b="0" i="0">
                <a:solidFill>
                  <a:srgbClr val="1A1A1A"/>
                </a:solidFill>
                <a:latin typeface="Abadi"/>
              </a:rPr>
              <a:t>Ohura cohort: referred before 1 month after a newborn screen positive for galactose, methionine or phenylalanine.</a:t>
            </a:r>
          </a:p>
          <a:p>
            <a:pPr algn="l">
              <a:spcAft>
                <a:spcPts val="300"/>
              </a:spcAft>
            </a:pPr>
            <a:r>
              <a:rPr sz="1800" b="1" i="0">
                <a:solidFill>
                  <a:srgbClr val="1B355E"/>
                </a:solidFill>
                <a:latin typeface="Abadi"/>
              </a:rPr>
              <a:t>45 of 75</a:t>
            </a:r>
          </a:p>
          <a:p>
            <a:pPr algn="l">
              <a:spcAft>
                <a:spcPts val="300"/>
              </a:spcAft>
            </a:pPr>
            <a:r>
              <a:rPr sz="1150" b="0" i="0">
                <a:solidFill>
                  <a:srgbClr val="1A1A1A"/>
                </a:solidFill>
                <a:latin typeface="Abadi"/>
              </a:rPr>
              <a:t>Presented with jaundice or pale stools that mimicked neonatal hepatitis or biliary atresia.</a:t>
            </a:r>
          </a:p>
          <a:p>
            <a:pPr algn="l">
              <a:spcAft>
                <a:spcPts val="300"/>
              </a:spcAft>
            </a:pPr>
            <a:r>
              <a:rPr sz="1800" b="1" i="0">
                <a:solidFill>
                  <a:srgbClr val="1B355E"/>
                </a:solidFill>
                <a:latin typeface="Abadi"/>
              </a:rPr>
              <a:t>Citrulline, methionine</a:t>
            </a:r>
          </a:p>
          <a:p>
            <a:pPr algn="l">
              <a:spcAft>
                <a:spcPts val="300"/>
              </a:spcAft>
            </a:pPr>
            <a:r>
              <a:rPr sz="1150" b="0" i="0">
                <a:solidFill>
                  <a:srgbClr val="1A1A1A"/>
                </a:solidFill>
                <a:latin typeface="Abadi"/>
              </a:rPr>
              <a:t>Significantly raised on plasma amino acids, with galactosaemia and low vitamin K-dependent factors.</a:t>
            </a:r>
          </a:p>
          <a:p>
            <a:pPr algn="l">
              <a:spcAft>
                <a:spcPts val="300"/>
              </a:spcAft>
            </a:pPr>
            <a:r>
              <a:rPr sz="1800" b="1" i="0">
                <a:solidFill>
                  <a:srgbClr val="1B355E"/>
                </a:solidFill>
                <a:latin typeface="Abadi"/>
              </a:rPr>
              <a:t>26%</a:t>
            </a:r>
          </a:p>
          <a:p>
            <a:pPr algn="l">
              <a:spcAft>
                <a:spcPts val="300"/>
              </a:spcAft>
            </a:pPr>
            <a:r>
              <a:rPr sz="1150" b="0" i="0">
                <a:solidFill>
                  <a:srgbClr val="1A1A1A"/>
                </a:solidFill>
                <a:latin typeface="Abadi"/>
              </a:rPr>
              <a:t>Share of NICCD found by newborn screening in the national cohort.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II</a:t>
            </a:r>
          </a:p>
        </p:txBody>
      </p:sp>
      <p:sp>
        <p:nvSpPr>
          <p:cNvPr id="4" name="TextBox 3"/>
          <p:cNvSpPr txBox="1"/>
          <p:nvPr/>
        </p:nvSpPr>
        <p:spPr>
          <a:xfrm>
            <a:off x="1389888" y="301752"/>
            <a:ext cx="10241280" cy="347472"/>
          </a:xfrm>
          <a:prstGeom prst="rect">
            <a:avLst/>
          </a:prstGeom>
          <a:noFill/>
        </p:spPr>
        <p:txBody>
          <a:bodyPr wrap="square" lIns="0" rIns="0" tIns="18288" bIns="18288" anchor="ctr">
            <a:spAutoFit/>
          </a:bodyPr>
          <a:lstStyle/>
          <a:p>
            <a:pPr algn="l"/>
            <a:r>
              <a:rPr sz="1200" b="1" i="0">
                <a:solidFill>
                  <a:srgbClr val="2E5A88"/>
                </a:solidFill>
                <a:latin typeface="Abadi"/>
              </a:rPr>
              <a:t>THE LABORATORY SIGNATURE</a:t>
            </a:r>
          </a:p>
        </p:txBody>
      </p:sp>
      <p:sp>
        <p:nvSpPr>
          <p:cNvPr id="5" name="TextBox 4"/>
          <p:cNvSpPr txBox="1"/>
          <p:nvPr/>
        </p:nvSpPr>
        <p:spPr>
          <a:xfrm>
            <a:off x="548640" y="731520"/>
            <a:ext cx="11091672" cy="548640"/>
          </a:xfrm>
          <a:prstGeom prst="rect">
            <a:avLst/>
          </a:prstGeom>
          <a:noFill/>
        </p:spPr>
        <p:txBody>
          <a:bodyPr wrap="square" lIns="0" rIns="0" tIns="18288" bIns="18288" anchor="t">
            <a:spAutoFit/>
          </a:bodyPr>
          <a:lstStyle/>
          <a:p>
            <a:pPr algn="l"/>
            <a:r>
              <a:rPr sz="3000" b="1" i="0">
                <a:solidFill>
                  <a:srgbClr val="1B355E"/>
                </a:solidFill>
                <a:latin typeface="Abadi"/>
              </a:rPr>
              <a:t>HIGH GGT, HIGH BILE ACIDS, VERY HIGH AFP</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NICCD (n = 55) versus idiopathic neonatal cholestasis (n = 27), Chinese single-centre comparison</a:t>
            </a:r>
          </a:p>
        </p:txBody>
      </p:sp>
      <p:sp>
        <p:nvSpPr>
          <p:cNvPr id="7" name="Rectangle 6"/>
          <p:cNvSpPr/>
          <p:nvPr/>
        </p:nvSpPr>
        <p:spPr>
          <a:xfrm>
            <a:off x="548640" y="1600200"/>
            <a:ext cx="11091672" cy="2743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6</a:t>
            </a:r>
          </a:p>
        </p:txBody>
      </p:sp>
      <p:sp>
        <p:nvSpPr>
          <p:cNvPr id="11" name="TextBox 10"/>
          <p:cNvSpPr txBox="1"/>
          <p:nvPr/>
        </p:nvSpPr>
        <p:spPr>
          <a:xfrm>
            <a:off x="548640" y="5971032"/>
            <a:ext cx="10296144" cy="457200"/>
          </a:xfrm>
          <a:prstGeom prst="rect">
            <a:avLst/>
          </a:prstGeom>
          <a:noFill/>
        </p:spPr>
        <p:txBody>
          <a:bodyPr wrap="square" lIns="0" rIns="0" tIns="18288" bIns="18288" anchor="t">
            <a:spAutoFit/>
          </a:bodyPr>
          <a:lstStyle/>
          <a:p>
            <a:pPr algn="l"/>
            <a:r>
              <a:rPr sz="1000" b="0" i="1">
                <a:solidFill>
                  <a:srgbClr val="555555"/>
                </a:solidFill>
                <a:latin typeface="Abadi"/>
              </a:rPr>
              <a:t>Li J, et al. Front Pediatr 2025;12:1293356 · Fawaz R, et al. JPGN 2017;64:154–68 (Table 1) · Kido J, et al. J Inherit Metab Dis 2022</a:t>
            </a:r>
          </a:p>
        </p:txBody>
      </p:sp>
      <p:sp>
        <p:nvSpPr>
          <p:cNvPr id="12" name="Rectangle 11"/>
          <p:cNvSpPr/>
          <p:nvPr/>
        </p:nvSpPr>
        <p:spPr>
          <a:xfrm>
            <a:off x="548640" y="1783080"/>
            <a:ext cx="2587752" cy="196596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83080"/>
            <a:ext cx="2587752" cy="7315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984248"/>
            <a:ext cx="2221992" cy="502920"/>
          </a:xfrm>
          <a:prstGeom prst="rect">
            <a:avLst/>
          </a:prstGeom>
          <a:noFill/>
        </p:spPr>
        <p:txBody>
          <a:bodyPr wrap="square" lIns="0" rIns="0" tIns="18288" bIns="18288" anchor="t">
            <a:spAutoFit/>
          </a:bodyPr>
          <a:lstStyle/>
          <a:p>
            <a:pPr algn="l"/>
            <a:r>
              <a:rPr sz="2100" b="1" i="0">
                <a:solidFill>
                  <a:srgbClr val="1B355E"/>
                </a:solidFill>
                <a:latin typeface="Abadi"/>
              </a:rPr>
              <a:t>188.5 vs 92</a:t>
            </a:r>
          </a:p>
        </p:txBody>
      </p:sp>
      <p:sp>
        <p:nvSpPr>
          <p:cNvPr id="15" name="TextBox 14"/>
          <p:cNvSpPr txBox="1"/>
          <p:nvPr/>
        </p:nvSpPr>
        <p:spPr>
          <a:xfrm>
            <a:off x="731520" y="2560320"/>
            <a:ext cx="2221992" cy="1097280"/>
          </a:xfrm>
          <a:prstGeom prst="rect">
            <a:avLst/>
          </a:prstGeom>
          <a:noFill/>
        </p:spPr>
        <p:txBody>
          <a:bodyPr wrap="square" lIns="0" rIns="0" tIns="18288" bIns="18288" anchor="t">
            <a:spAutoFit/>
          </a:bodyPr>
          <a:lstStyle/>
          <a:p>
            <a:pPr algn="l"/>
            <a:r>
              <a:rPr sz="1200" b="0" i="0">
                <a:solidFill>
                  <a:srgbClr val="1A1A1A"/>
                </a:solidFill>
                <a:latin typeface="Abadi"/>
              </a:rPr>
              <a:t>GGT, U/L, median: NICCD versus idiopathic neonatal cholestasis (P = 0.001)</a:t>
            </a:r>
          </a:p>
        </p:txBody>
      </p:sp>
      <p:sp>
        <p:nvSpPr>
          <p:cNvPr id="16" name="Rectangle 15"/>
          <p:cNvSpPr/>
          <p:nvPr/>
        </p:nvSpPr>
        <p:spPr>
          <a:xfrm>
            <a:off x="3383280" y="1783080"/>
            <a:ext cx="2587752" cy="196596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83280" y="1783080"/>
            <a:ext cx="2587752" cy="7315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0" y="1984248"/>
            <a:ext cx="2221992" cy="502920"/>
          </a:xfrm>
          <a:prstGeom prst="rect">
            <a:avLst/>
          </a:prstGeom>
          <a:noFill/>
        </p:spPr>
        <p:txBody>
          <a:bodyPr wrap="square" lIns="0" rIns="0" tIns="18288" bIns="18288" anchor="t">
            <a:spAutoFit/>
          </a:bodyPr>
          <a:lstStyle/>
          <a:p>
            <a:pPr algn="l"/>
            <a:r>
              <a:rPr sz="2100" b="1" i="0">
                <a:solidFill>
                  <a:srgbClr val="1B355E"/>
                </a:solidFill>
                <a:latin typeface="Abadi"/>
              </a:rPr>
              <a:t>247 vs 127</a:t>
            </a:r>
          </a:p>
        </p:txBody>
      </p:sp>
      <p:sp>
        <p:nvSpPr>
          <p:cNvPr id="19" name="TextBox 18"/>
          <p:cNvSpPr txBox="1"/>
          <p:nvPr/>
        </p:nvSpPr>
        <p:spPr>
          <a:xfrm>
            <a:off x="3566160" y="2560320"/>
            <a:ext cx="2221992" cy="1097280"/>
          </a:xfrm>
          <a:prstGeom prst="rect">
            <a:avLst/>
          </a:prstGeom>
          <a:noFill/>
        </p:spPr>
        <p:txBody>
          <a:bodyPr wrap="square" lIns="0" rIns="0" tIns="18288" bIns="18288" anchor="t">
            <a:spAutoFit/>
          </a:bodyPr>
          <a:lstStyle/>
          <a:p>
            <a:pPr algn="l"/>
            <a:r>
              <a:rPr sz="1200" b="0" i="0">
                <a:solidFill>
                  <a:srgbClr val="1A1A1A"/>
                </a:solidFill>
                <a:latin typeface="Abadi"/>
              </a:rPr>
              <a:t>Total serum bile acids, µmol/L, mean: high, unlike a bile acid synthesis defect</a:t>
            </a:r>
          </a:p>
        </p:txBody>
      </p:sp>
      <p:sp>
        <p:nvSpPr>
          <p:cNvPr id="20" name="Rectangle 19"/>
          <p:cNvSpPr/>
          <p:nvPr/>
        </p:nvSpPr>
        <p:spPr>
          <a:xfrm>
            <a:off x="6217920" y="1783080"/>
            <a:ext cx="2587752" cy="196596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783080"/>
            <a:ext cx="2587752" cy="7315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1984248"/>
            <a:ext cx="2221992" cy="502920"/>
          </a:xfrm>
          <a:prstGeom prst="rect">
            <a:avLst/>
          </a:prstGeom>
          <a:noFill/>
        </p:spPr>
        <p:txBody>
          <a:bodyPr wrap="square" lIns="0" rIns="0" tIns="18288" bIns="18288" anchor="t">
            <a:spAutoFit/>
          </a:bodyPr>
          <a:lstStyle/>
          <a:p>
            <a:pPr algn="l"/>
            <a:r>
              <a:rPr sz="2100" b="1" i="0">
                <a:solidFill>
                  <a:srgbClr val="1B355E"/>
                </a:solidFill>
                <a:latin typeface="Abadi"/>
              </a:rPr>
              <a:t>60,500 vs 4,210</a:t>
            </a:r>
          </a:p>
        </p:txBody>
      </p:sp>
      <p:sp>
        <p:nvSpPr>
          <p:cNvPr id="23" name="TextBox 22"/>
          <p:cNvSpPr txBox="1"/>
          <p:nvPr/>
        </p:nvSpPr>
        <p:spPr>
          <a:xfrm>
            <a:off x="6400800" y="2560320"/>
            <a:ext cx="2221992" cy="1097280"/>
          </a:xfrm>
          <a:prstGeom prst="rect">
            <a:avLst/>
          </a:prstGeom>
          <a:noFill/>
        </p:spPr>
        <p:txBody>
          <a:bodyPr wrap="square" lIns="0" rIns="0" tIns="18288" bIns="18288" anchor="t">
            <a:spAutoFit/>
          </a:bodyPr>
          <a:lstStyle/>
          <a:p>
            <a:pPr algn="l"/>
            <a:r>
              <a:rPr sz="1200" b="0" i="0">
                <a:solidFill>
                  <a:srgbClr val="1A1A1A"/>
                </a:solidFill>
                <a:latin typeface="Abadi"/>
              </a:rPr>
              <a:t>Alpha-fetoprotein, ng/mL, median: a striking AFP in a cholestatic infant</a:t>
            </a:r>
          </a:p>
        </p:txBody>
      </p:sp>
      <p:sp>
        <p:nvSpPr>
          <p:cNvPr id="24" name="Rectangle 23"/>
          <p:cNvSpPr/>
          <p:nvPr/>
        </p:nvSpPr>
        <p:spPr>
          <a:xfrm>
            <a:off x="9052560" y="1783080"/>
            <a:ext cx="2587752" cy="196596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52560" y="1783080"/>
            <a:ext cx="2587752" cy="73152"/>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0" y="1984248"/>
            <a:ext cx="2221992" cy="502920"/>
          </a:xfrm>
          <a:prstGeom prst="rect">
            <a:avLst/>
          </a:prstGeom>
          <a:noFill/>
        </p:spPr>
        <p:txBody>
          <a:bodyPr wrap="square" lIns="0" rIns="0" tIns="18288" bIns="18288" anchor="t">
            <a:spAutoFit/>
          </a:bodyPr>
          <a:lstStyle/>
          <a:p>
            <a:pPr algn="l"/>
            <a:r>
              <a:rPr sz="2100" b="1" i="0">
                <a:solidFill>
                  <a:srgbClr val="1B355E"/>
                </a:solidFill>
                <a:latin typeface="Abadi"/>
              </a:rPr>
              <a:t>12 months</a:t>
            </a:r>
          </a:p>
        </p:txBody>
      </p:sp>
      <p:sp>
        <p:nvSpPr>
          <p:cNvPr id="27" name="TextBox 26"/>
          <p:cNvSpPr txBox="1"/>
          <p:nvPr/>
        </p:nvSpPr>
        <p:spPr>
          <a:xfrm>
            <a:off x="9235440" y="2560320"/>
            <a:ext cx="2221992" cy="1097280"/>
          </a:xfrm>
          <a:prstGeom prst="rect">
            <a:avLst/>
          </a:prstGeom>
          <a:noFill/>
        </p:spPr>
        <p:txBody>
          <a:bodyPr wrap="square" lIns="0" rIns="0" tIns="18288" bIns="18288" anchor="t">
            <a:spAutoFit/>
          </a:bodyPr>
          <a:lstStyle/>
          <a:p>
            <a:pPr algn="l"/>
            <a:r>
              <a:rPr sz="1200" b="0" i="0">
                <a:solidFill>
                  <a:srgbClr val="1A1A1A"/>
                </a:solidFill>
                <a:latin typeface="Abadi"/>
              </a:rPr>
              <a:t>Labs mostly normal after a year of lactose-free, MCT-enriched formula</a:t>
            </a:r>
          </a:p>
        </p:txBody>
      </p:sp>
      <p:sp>
        <p:nvSpPr>
          <p:cNvPr id="28" name="TextBox 27"/>
          <p:cNvSpPr txBox="1"/>
          <p:nvPr/>
        </p:nvSpPr>
        <p:spPr>
          <a:xfrm>
            <a:off x="548640" y="4023360"/>
            <a:ext cx="11091672" cy="1783080"/>
          </a:xfrm>
          <a:prstGeom prst="rect">
            <a:avLst/>
          </a:prstGeom>
          <a:noFill/>
        </p:spPr>
        <p:txBody>
          <a:bodyPr wrap="square" lIns="0" rIns="0" tIns="18288" bIns="18288" anchor="t">
            <a:spAutoFit/>
          </a:bodyPr>
          <a:lstStyle/>
          <a:p>
            <a:pPr algn="l">
              <a:spcAft>
                <a:spcPts val="800"/>
              </a:spcAft>
            </a:pPr>
            <a:r>
              <a:rPr sz="1300" b="1" i="0">
                <a:solidFill>
                  <a:srgbClr val="B22222"/>
                </a:solidFill>
                <a:latin typeface="Abadi"/>
              </a:rPr>
              <a:t>Do not be reassured by a modest picture.  </a:t>
            </a:r>
            <a:r>
              <a:rPr sz="1300" b="0" i="0">
                <a:solidFill>
                  <a:srgbClr val="1A1A1A"/>
                </a:solidFill>
                <a:latin typeface="Abadi"/>
              </a:rPr>
              <a:t>The 2017 joint guideline lists citrin deficiency among causes with normal or slightly elevated liver enzymes, yet cohort data show GGT above other neonatal cholestasis and transaminases above 100 in 71%.</a:t>
            </a:r>
          </a:p>
          <a:p>
            <a:pPr algn="l">
              <a:spcAft>
                <a:spcPts val="800"/>
              </a:spcAft>
            </a:pPr>
            <a:r>
              <a:rPr sz="1300" b="1" i="0">
                <a:solidFill>
                  <a:srgbClr val="1B355E"/>
                </a:solidFill>
                <a:latin typeface="Abadi"/>
              </a:rPr>
              <a:t>What to send.  </a:t>
            </a:r>
            <a:r>
              <a:rPr sz="1300" b="0" i="0">
                <a:solidFill>
                  <a:srgbClr val="1A1A1A"/>
                </a:solidFill>
                <a:latin typeface="Abadi"/>
              </a:rPr>
              <a:t>Plasma amino acids (citrulline, methionine, threonine, tyrosine), blood galactose, AFP, ammonia, glucose, and SLC25A13 sequencing or a cholestasis panel that includes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III</a:t>
            </a:r>
          </a:p>
        </p:txBody>
      </p:sp>
      <p:sp>
        <p:nvSpPr>
          <p:cNvPr id="4" name="TextBox 3"/>
          <p:cNvSpPr txBox="1"/>
          <p:nvPr/>
        </p:nvSpPr>
        <p:spPr>
          <a:xfrm>
            <a:off x="1389888" y="301752"/>
            <a:ext cx="10241280" cy="347472"/>
          </a:xfrm>
          <a:prstGeom prst="rect">
            <a:avLst/>
          </a:prstGeom>
          <a:noFill/>
        </p:spPr>
        <p:txBody>
          <a:bodyPr wrap="square" lIns="0" rIns="0" tIns="18288" bIns="18288" anchor="ctr">
            <a:spAutoFit/>
          </a:bodyPr>
          <a:lstStyle/>
          <a:p>
            <a:pPr algn="l"/>
            <a:r>
              <a:rPr sz="1200" b="1" i="0">
                <a:solidFill>
                  <a:srgbClr val="2E5A88"/>
                </a:solidFill>
                <a:latin typeface="Abadi"/>
              </a:rPr>
              <a:t>TREATMENT</a:t>
            </a:r>
          </a:p>
        </p:txBody>
      </p:sp>
      <p:sp>
        <p:nvSpPr>
          <p:cNvPr id="5" name="TextBox 4"/>
          <p:cNvSpPr txBox="1"/>
          <p:nvPr/>
        </p:nvSpPr>
        <p:spPr>
          <a:xfrm>
            <a:off x="548640" y="731520"/>
            <a:ext cx="11091672" cy="548640"/>
          </a:xfrm>
          <a:prstGeom prst="rect">
            <a:avLst/>
          </a:prstGeom>
          <a:noFill/>
        </p:spPr>
        <p:txBody>
          <a:bodyPr wrap="square" lIns="0" rIns="0" tIns="18288" bIns="18288" anchor="t">
            <a:spAutoFit/>
          </a:bodyPr>
          <a:lstStyle/>
          <a:p>
            <a:pPr algn="l"/>
            <a:r>
              <a:rPr sz="3000" b="1" i="0">
                <a:solidFill>
                  <a:srgbClr val="1B355E"/>
                </a:solidFill>
                <a:latin typeface="Abadi"/>
              </a:rPr>
              <a:t>THE DIET IS THE DRUG</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Practical management of NICCD and what follows it</a:t>
            </a:r>
          </a:p>
        </p:txBody>
      </p:sp>
      <p:sp>
        <p:nvSpPr>
          <p:cNvPr id="7" name="Rectangle 6"/>
          <p:cNvSpPr/>
          <p:nvPr/>
        </p:nvSpPr>
        <p:spPr>
          <a:xfrm>
            <a:off x="548640" y="1600200"/>
            <a:ext cx="11091672" cy="2743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7</a:t>
            </a:r>
          </a:p>
        </p:txBody>
      </p:sp>
      <p:sp>
        <p:nvSpPr>
          <p:cNvPr id="11" name="TextBox 10"/>
          <p:cNvSpPr txBox="1"/>
          <p:nvPr/>
        </p:nvSpPr>
        <p:spPr>
          <a:xfrm>
            <a:off x="548640" y="5971032"/>
            <a:ext cx="10296144" cy="457200"/>
          </a:xfrm>
          <a:prstGeom prst="rect">
            <a:avLst/>
          </a:prstGeom>
          <a:noFill/>
        </p:spPr>
        <p:txBody>
          <a:bodyPr wrap="square" lIns="0" rIns="0" tIns="18288" bIns="18288" anchor="t">
            <a:spAutoFit/>
          </a:bodyPr>
          <a:lstStyle/>
          <a:p>
            <a:pPr algn="l"/>
            <a:r>
              <a:rPr sz="1000" b="0" i="1">
                <a:solidFill>
                  <a:srgbClr val="555555"/>
                </a:solidFill>
                <a:latin typeface="Abadi"/>
              </a:rPr>
              <a:t>Ohura T, et al. J Inherit Metab Dis 2007 · Kido J, et al. J Inherit Metab Dis 2022 · Hayasaka K, Numakura C. Appl Clin Genet 2018 · Makris G, et al. J Inherit Metab Dis 2024</a:t>
            </a:r>
          </a:p>
        </p:txBody>
      </p:sp>
      <p:sp>
        <p:nvSpPr>
          <p:cNvPr id="12" name="Rectangle 11"/>
          <p:cNvSpPr/>
          <p:nvPr/>
        </p:nvSpPr>
        <p:spPr>
          <a:xfrm>
            <a:off x="548640" y="1783080"/>
            <a:ext cx="2020824" cy="2103120"/>
          </a:xfrm>
          <a:prstGeom prst="rect">
            <a:avLst/>
          </a:prstGeom>
          <a:solidFill>
            <a:srgbClr val="FBEFBE"/>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83080"/>
            <a:ext cx="2020824" cy="34747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1783080"/>
            <a:ext cx="1837943" cy="347472"/>
          </a:xfrm>
          <a:prstGeom prst="rect">
            <a:avLst/>
          </a:prstGeom>
          <a:noFill/>
        </p:spPr>
        <p:txBody>
          <a:bodyPr wrap="square" lIns="0" rIns="0" tIns="18288" bIns="18288" anchor="ctr">
            <a:spAutoFit/>
          </a:bodyPr>
          <a:lstStyle/>
          <a:p>
            <a:pPr algn="l"/>
            <a:r>
              <a:rPr sz="1200" b="1" i="0">
                <a:solidFill>
                  <a:srgbClr val="FFFFFF"/>
                </a:solidFill>
                <a:latin typeface="Abadi"/>
              </a:rPr>
              <a:t>1 · Remove lactose</a:t>
            </a:r>
          </a:p>
        </p:txBody>
      </p:sp>
      <p:sp>
        <p:nvSpPr>
          <p:cNvPr id="15" name="TextBox 14"/>
          <p:cNvSpPr txBox="1"/>
          <p:nvPr/>
        </p:nvSpPr>
        <p:spPr>
          <a:xfrm>
            <a:off x="685800" y="2240280"/>
            <a:ext cx="1746504" cy="1554479"/>
          </a:xfrm>
          <a:prstGeom prst="rect">
            <a:avLst/>
          </a:prstGeom>
          <a:noFill/>
        </p:spPr>
        <p:txBody>
          <a:bodyPr wrap="square" lIns="0" rIns="0" tIns="18288" bIns="18288" anchor="t">
            <a:spAutoFit/>
          </a:bodyPr>
          <a:lstStyle/>
          <a:p>
            <a:pPr algn="l"/>
            <a:r>
              <a:rPr sz="1150" b="0" i="0">
                <a:solidFill>
                  <a:srgbClr val="1A1A1A"/>
                </a:solidFill>
                <a:latin typeface="Abadi"/>
              </a:rPr>
              <a:t>Lactose-free formula while galactosaemia persists; breast milk is often paused in practice</a:t>
            </a:r>
          </a:p>
        </p:txBody>
      </p:sp>
      <p:sp>
        <p:nvSpPr>
          <p:cNvPr id="16" name="Isosceles Triangle 15"/>
          <p:cNvSpPr/>
          <p:nvPr/>
        </p:nvSpPr>
        <p:spPr>
          <a:xfrm rot="5400000">
            <a:off x="2596896" y="2743199"/>
            <a:ext cx="182880" cy="182880"/>
          </a:xfrm>
          <a:prstGeom prst="triangle">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16352" y="1783080"/>
            <a:ext cx="2020824" cy="2103120"/>
          </a:xfrm>
          <a:prstGeom prst="rect">
            <a:avLst/>
          </a:prstGeom>
          <a:solidFill>
            <a:srgbClr val="CDE7C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16352" y="1783080"/>
            <a:ext cx="2020824" cy="347472"/>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80" y="1783080"/>
            <a:ext cx="1837943" cy="347472"/>
          </a:xfrm>
          <a:prstGeom prst="rect">
            <a:avLst/>
          </a:prstGeom>
          <a:noFill/>
        </p:spPr>
        <p:txBody>
          <a:bodyPr wrap="square" lIns="0" rIns="0" tIns="18288" bIns="18288" anchor="ctr">
            <a:spAutoFit/>
          </a:bodyPr>
          <a:lstStyle/>
          <a:p>
            <a:pPr algn="l"/>
            <a:r>
              <a:rPr sz="1200" b="1" i="0">
                <a:solidFill>
                  <a:srgbClr val="FFFFFF"/>
                </a:solidFill>
                <a:latin typeface="Abadi"/>
              </a:rPr>
              <a:t>2 · Add MCT</a:t>
            </a:r>
          </a:p>
        </p:txBody>
      </p:sp>
      <p:sp>
        <p:nvSpPr>
          <p:cNvPr id="20" name="TextBox 19"/>
          <p:cNvSpPr txBox="1"/>
          <p:nvPr/>
        </p:nvSpPr>
        <p:spPr>
          <a:xfrm>
            <a:off x="2953512" y="2240280"/>
            <a:ext cx="1746504" cy="1554479"/>
          </a:xfrm>
          <a:prstGeom prst="rect">
            <a:avLst/>
          </a:prstGeom>
          <a:noFill/>
        </p:spPr>
        <p:txBody>
          <a:bodyPr wrap="square" lIns="0" rIns="0" tIns="18288" bIns="18288" anchor="t">
            <a:spAutoFit/>
          </a:bodyPr>
          <a:lstStyle/>
          <a:p>
            <a:pPr algn="l"/>
            <a:r>
              <a:rPr sz="1150" b="0" i="0">
                <a:solidFill>
                  <a:srgbClr val="1A1A1A"/>
                </a:solidFill>
                <a:latin typeface="Abadi"/>
              </a:rPr>
              <a:t>MCT-enriched formula; 90% of children aged 0–3 in the national cohort received it</a:t>
            </a:r>
          </a:p>
        </p:txBody>
      </p:sp>
      <p:sp>
        <p:nvSpPr>
          <p:cNvPr id="21" name="Isosceles Triangle 20"/>
          <p:cNvSpPr/>
          <p:nvPr/>
        </p:nvSpPr>
        <p:spPr>
          <a:xfrm rot="5400000">
            <a:off x="4864608" y="2743199"/>
            <a:ext cx="182880" cy="182880"/>
          </a:xfrm>
          <a:prstGeom prst="triangle">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4064" y="1783080"/>
            <a:ext cx="2020824" cy="2103120"/>
          </a:xfrm>
          <a:prstGeom prst="rect">
            <a:avLst/>
          </a:prstGeom>
          <a:solidFill>
            <a:srgbClr val="DCE6F1"/>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4064" y="1783080"/>
            <a:ext cx="2020824" cy="34747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3792" y="1783080"/>
            <a:ext cx="1837943" cy="347472"/>
          </a:xfrm>
          <a:prstGeom prst="rect">
            <a:avLst/>
          </a:prstGeom>
          <a:noFill/>
        </p:spPr>
        <p:txBody>
          <a:bodyPr wrap="square" lIns="0" rIns="0" tIns="18288" bIns="18288" anchor="ctr">
            <a:spAutoFit/>
          </a:bodyPr>
          <a:lstStyle/>
          <a:p>
            <a:pPr algn="l"/>
            <a:r>
              <a:rPr sz="1200" b="1" i="0">
                <a:solidFill>
                  <a:srgbClr val="FFFFFF"/>
                </a:solidFill>
                <a:latin typeface="Abadi"/>
              </a:rPr>
              <a:t>3 · Vitamins</a:t>
            </a:r>
          </a:p>
        </p:txBody>
      </p:sp>
      <p:sp>
        <p:nvSpPr>
          <p:cNvPr id="25" name="TextBox 24"/>
          <p:cNvSpPr txBox="1"/>
          <p:nvPr/>
        </p:nvSpPr>
        <p:spPr>
          <a:xfrm>
            <a:off x="5221224" y="2240280"/>
            <a:ext cx="1746504" cy="1554479"/>
          </a:xfrm>
          <a:prstGeom prst="rect">
            <a:avLst/>
          </a:prstGeom>
          <a:noFill/>
        </p:spPr>
        <p:txBody>
          <a:bodyPr wrap="square" lIns="0" rIns="0" tIns="18288" bIns="18288" anchor="t">
            <a:spAutoFit/>
          </a:bodyPr>
          <a:lstStyle/>
          <a:p>
            <a:pPr algn="l"/>
            <a:r>
              <a:rPr sz="1150" b="0" i="0">
                <a:solidFill>
                  <a:srgbClr val="1A1A1A"/>
                </a:solidFill>
                <a:latin typeface="Abadi"/>
              </a:rPr>
              <a:t>Fat-soluble vitamins A, D, E and K; correct coagulopathy with vitamin K</a:t>
            </a:r>
          </a:p>
        </p:txBody>
      </p:sp>
      <p:sp>
        <p:nvSpPr>
          <p:cNvPr id="26" name="Isosceles Triangle 25"/>
          <p:cNvSpPr/>
          <p:nvPr/>
        </p:nvSpPr>
        <p:spPr>
          <a:xfrm rot="5400000">
            <a:off x="7132320" y="2743199"/>
            <a:ext cx="182880" cy="182880"/>
          </a:xfrm>
          <a:prstGeom prst="triangle">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5" y="1783080"/>
            <a:ext cx="2020824" cy="2103120"/>
          </a:xfrm>
          <a:prstGeom prst="rect">
            <a:avLst/>
          </a:prstGeom>
          <a:solidFill>
            <a:srgbClr val="DCE6F1"/>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51775" y="1783080"/>
            <a:ext cx="2020824" cy="34747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61503" y="1783080"/>
            <a:ext cx="1837943" cy="347472"/>
          </a:xfrm>
          <a:prstGeom prst="rect">
            <a:avLst/>
          </a:prstGeom>
          <a:noFill/>
        </p:spPr>
        <p:txBody>
          <a:bodyPr wrap="square" lIns="0" rIns="0" tIns="18288" bIns="18288" anchor="ctr">
            <a:spAutoFit/>
          </a:bodyPr>
          <a:lstStyle/>
          <a:p>
            <a:pPr algn="l"/>
            <a:r>
              <a:rPr sz="1200" b="1" i="0">
                <a:solidFill>
                  <a:srgbClr val="FFFFFF"/>
                </a:solidFill>
                <a:latin typeface="Abadi"/>
              </a:rPr>
              <a:t>4 · Watch it resolve</a:t>
            </a:r>
          </a:p>
        </p:txBody>
      </p:sp>
      <p:sp>
        <p:nvSpPr>
          <p:cNvPr id="30" name="TextBox 29"/>
          <p:cNvSpPr txBox="1"/>
          <p:nvPr/>
        </p:nvSpPr>
        <p:spPr>
          <a:xfrm>
            <a:off x="7488936" y="2240280"/>
            <a:ext cx="1746504" cy="1554479"/>
          </a:xfrm>
          <a:prstGeom prst="rect">
            <a:avLst/>
          </a:prstGeom>
          <a:noFill/>
        </p:spPr>
        <p:txBody>
          <a:bodyPr wrap="square" lIns="0" rIns="0" tIns="18288" bIns="18288" anchor="t">
            <a:spAutoFit/>
          </a:bodyPr>
          <a:lstStyle/>
          <a:p>
            <a:pPr algn="l"/>
            <a:r>
              <a:rPr sz="1150" b="0" i="0">
                <a:solidFill>
                  <a:srgbClr val="1A1A1A"/>
                </a:solidFill>
                <a:latin typeface="Abadi"/>
              </a:rPr>
              <a:t>Cholestasis settles in most by 12 months; recheck amino acids, lipids, growth</a:t>
            </a:r>
          </a:p>
        </p:txBody>
      </p:sp>
      <p:sp>
        <p:nvSpPr>
          <p:cNvPr id="31" name="Isosceles Triangle 30"/>
          <p:cNvSpPr/>
          <p:nvPr/>
        </p:nvSpPr>
        <p:spPr>
          <a:xfrm rot="5400000">
            <a:off x="9400032" y="2743199"/>
            <a:ext cx="182880" cy="182880"/>
          </a:xfrm>
          <a:prstGeom prst="triangle">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19488" y="1783080"/>
            <a:ext cx="2020824" cy="2103120"/>
          </a:xfrm>
          <a:prstGeom prst="rect">
            <a:avLst/>
          </a:prstGeom>
          <a:solidFill>
            <a:srgbClr val="F6D2D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19488" y="1783080"/>
            <a:ext cx="2020824"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29215" y="1783080"/>
            <a:ext cx="1837943" cy="347472"/>
          </a:xfrm>
          <a:prstGeom prst="rect">
            <a:avLst/>
          </a:prstGeom>
          <a:noFill/>
        </p:spPr>
        <p:txBody>
          <a:bodyPr wrap="square" lIns="0" rIns="0" tIns="18288" bIns="18288" anchor="ctr">
            <a:spAutoFit/>
          </a:bodyPr>
          <a:lstStyle/>
          <a:p>
            <a:pPr algn="l"/>
            <a:r>
              <a:rPr sz="1200" b="1" i="0">
                <a:solidFill>
                  <a:srgbClr val="FFFFFF"/>
                </a:solidFill>
                <a:latin typeface="Abadi"/>
              </a:rPr>
              <a:t>5 · Lifelong diet</a:t>
            </a:r>
          </a:p>
        </p:txBody>
      </p:sp>
      <p:sp>
        <p:nvSpPr>
          <p:cNvPr id="35" name="TextBox 34"/>
          <p:cNvSpPr txBox="1"/>
          <p:nvPr/>
        </p:nvSpPr>
        <p:spPr>
          <a:xfrm>
            <a:off x="9756648" y="2240280"/>
            <a:ext cx="1746504" cy="1554479"/>
          </a:xfrm>
          <a:prstGeom prst="rect">
            <a:avLst/>
          </a:prstGeom>
          <a:noFill/>
        </p:spPr>
        <p:txBody>
          <a:bodyPr wrap="square" lIns="0" rIns="0" tIns="18288" bIns="18288" anchor="t">
            <a:spAutoFit/>
          </a:bodyPr>
          <a:lstStyle/>
          <a:p>
            <a:pPr algn="l"/>
            <a:r>
              <a:rPr sz="1150" b="0" i="0">
                <a:solidFill>
                  <a:srgbClr val="1A1A1A"/>
                </a:solidFill>
                <a:latin typeface="Abadi"/>
              </a:rPr>
              <a:t>Low-carbohydrate, high-protein, high-fat diet with MCT to protect against CTLN2</a:t>
            </a:r>
          </a:p>
        </p:txBody>
      </p:sp>
      <p:sp>
        <p:nvSpPr>
          <p:cNvPr id="36" name="TextBox 35"/>
          <p:cNvSpPr txBox="1"/>
          <p:nvPr/>
        </p:nvSpPr>
        <p:spPr>
          <a:xfrm>
            <a:off x="548640" y="4160520"/>
            <a:ext cx="11091672" cy="1645920"/>
          </a:xfrm>
          <a:prstGeom prst="rect">
            <a:avLst/>
          </a:prstGeom>
          <a:noFill/>
        </p:spPr>
        <p:txBody>
          <a:bodyPr wrap="square" lIns="0" rIns="0" tIns="18288" bIns="18288" anchor="t">
            <a:spAutoFit/>
          </a:bodyPr>
          <a:lstStyle/>
          <a:p>
            <a:pPr algn="l">
              <a:spcAft>
                <a:spcPts val="800"/>
              </a:spcAft>
            </a:pPr>
            <a:r>
              <a:rPr sz="1300" b="1" i="0">
                <a:solidFill>
                  <a:srgbClr val="1E7A33"/>
                </a:solidFill>
                <a:latin typeface="Abadi"/>
              </a:rPr>
              <a:t>Let the child choose.  </a:t>
            </a:r>
            <a:r>
              <a:rPr sz="1300" b="0" i="0">
                <a:solidFill>
                  <a:srgbClr val="1A1A1A"/>
                </a:solidFill>
                <a:latin typeface="Abadi"/>
              </a:rPr>
              <a:t>Do not force sweet foods or a carbohydrate-heavy diet on a child who refuses them; the preference for protein and fat is protective.</a:t>
            </a:r>
          </a:p>
          <a:p>
            <a:pPr algn="l">
              <a:spcAft>
                <a:spcPts val="800"/>
              </a:spcAft>
            </a:pPr>
            <a:r>
              <a:rPr sz="1300" b="1" i="0">
                <a:solidFill>
                  <a:srgbClr val="B22222"/>
                </a:solidFill>
                <a:latin typeface="Abadi"/>
              </a:rPr>
              <a:t>Write it in the problem list.  </a:t>
            </a:r>
            <a:r>
              <a:rPr sz="1300" b="0" i="0">
                <a:solidFill>
                  <a:srgbClr val="1A1A1A"/>
                </a:solidFill>
                <a:latin typeface="Abadi"/>
              </a:rPr>
              <a:t>Glycerol or fructose-containing infusions for cerebral oedema have been described as fatal in CTLN2, and high-sugar infusions can be life-threatening.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III</a:t>
            </a:r>
          </a:p>
        </p:txBody>
      </p:sp>
      <p:sp>
        <p:nvSpPr>
          <p:cNvPr id="4" name="TextBox 3"/>
          <p:cNvSpPr txBox="1"/>
          <p:nvPr/>
        </p:nvSpPr>
        <p:spPr>
          <a:xfrm>
            <a:off x="1389888" y="301752"/>
            <a:ext cx="10241280" cy="347472"/>
          </a:xfrm>
          <a:prstGeom prst="rect">
            <a:avLst/>
          </a:prstGeom>
          <a:noFill/>
        </p:spPr>
        <p:txBody>
          <a:bodyPr wrap="square" lIns="0" rIns="0" tIns="18288" bIns="18288" anchor="ctr">
            <a:spAutoFit/>
          </a:bodyPr>
          <a:lstStyle/>
          <a:p>
            <a:pPr algn="l"/>
            <a:r>
              <a:rPr sz="1200" b="1" i="0">
                <a:solidFill>
                  <a:srgbClr val="2E5A88"/>
                </a:solidFill>
                <a:latin typeface="Abadi"/>
              </a:rPr>
              <a:t>OUTCOME</a:t>
            </a:r>
          </a:p>
        </p:txBody>
      </p:sp>
      <p:sp>
        <p:nvSpPr>
          <p:cNvPr id="5" name="TextBox 4"/>
          <p:cNvSpPr txBox="1"/>
          <p:nvPr/>
        </p:nvSpPr>
        <p:spPr>
          <a:xfrm>
            <a:off x="548640" y="731520"/>
            <a:ext cx="11091672" cy="548640"/>
          </a:xfrm>
          <a:prstGeom prst="rect">
            <a:avLst/>
          </a:prstGeom>
          <a:noFill/>
        </p:spPr>
        <p:txBody>
          <a:bodyPr wrap="square" lIns="0" rIns="0" tIns="18288" bIns="18288" anchor="t">
            <a:spAutoFit/>
          </a:bodyPr>
          <a:lstStyle/>
          <a:p>
            <a:pPr algn="l"/>
            <a:r>
              <a:rPr sz="3000" b="1" i="0">
                <a:solidFill>
                  <a:srgbClr val="1B355E"/>
                </a:solidFill>
                <a:latin typeface="Abadi"/>
              </a:rPr>
              <a:t>MOST RECOVER, A FEW NEED A LIVER</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Liver transplantation in NICCD cohorts, % of patients</a:t>
            </a:r>
          </a:p>
        </p:txBody>
      </p:sp>
      <p:sp>
        <p:nvSpPr>
          <p:cNvPr id="7" name="Rectangle 6"/>
          <p:cNvSpPr/>
          <p:nvPr/>
        </p:nvSpPr>
        <p:spPr>
          <a:xfrm>
            <a:off x="548640" y="1600200"/>
            <a:ext cx="11091672" cy="2743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8</a:t>
            </a:r>
          </a:p>
        </p:txBody>
      </p:sp>
      <p:sp>
        <p:nvSpPr>
          <p:cNvPr id="11" name="TextBox 10"/>
          <p:cNvSpPr txBox="1"/>
          <p:nvPr/>
        </p:nvSpPr>
        <p:spPr>
          <a:xfrm>
            <a:off x="548640" y="5971032"/>
            <a:ext cx="10296144" cy="457200"/>
          </a:xfrm>
          <a:prstGeom prst="rect">
            <a:avLst/>
          </a:prstGeom>
          <a:noFill/>
        </p:spPr>
        <p:txBody>
          <a:bodyPr wrap="square" lIns="0" rIns="0" tIns="18288" bIns="18288" anchor="t">
            <a:spAutoFit/>
          </a:bodyPr>
          <a:lstStyle/>
          <a:p>
            <a:pPr algn="l"/>
            <a:r>
              <a:rPr sz="1000" b="0" i="1">
                <a:solidFill>
                  <a:srgbClr val="555555"/>
                </a:solidFill>
                <a:latin typeface="Abadi"/>
              </a:rPr>
              <a:t>Ohura T, et al. J Inherit Metab Dis 2007;30:139–44 · Kido J, et al. J Inherit Metab Dis 2022;45:431–44 · Hayasaka K, Numakura C. Appl Clin Genet 2018;11:163–70</a:t>
            </a:r>
          </a:p>
        </p:txBody>
      </p:sp>
      <p:sp>
        <p:nvSpPr>
          <p:cNvPr id="12" name="Rectangle 11"/>
          <p:cNvSpPr/>
          <p:nvPr/>
        </p:nvSpPr>
        <p:spPr>
          <a:xfrm>
            <a:off x="822960" y="5166359"/>
            <a:ext cx="4754880" cy="10972"/>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668780" y="2736056"/>
            <a:ext cx="685800" cy="2430303"/>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443448"/>
            <a:ext cx="2377440" cy="274320"/>
          </a:xfrm>
          <a:prstGeom prst="rect">
            <a:avLst/>
          </a:prstGeom>
          <a:noFill/>
        </p:spPr>
        <p:txBody>
          <a:bodyPr wrap="square" lIns="0" rIns="0" tIns="18288" bIns="18288" anchor="t">
            <a:spAutoFit/>
          </a:bodyPr>
          <a:lstStyle/>
          <a:p>
            <a:pPr algn="ctr"/>
            <a:r>
              <a:rPr sz="1100" b="1" i="0">
                <a:solidFill>
                  <a:srgbClr val="1A1A1A"/>
                </a:solidFill>
                <a:latin typeface="Abadi"/>
              </a:rPr>
              <a:t>2.7%</a:t>
            </a:r>
          </a:p>
        </p:txBody>
      </p:sp>
      <p:sp>
        <p:nvSpPr>
          <p:cNvPr id="15" name="TextBox 14"/>
          <p:cNvSpPr txBox="1"/>
          <p:nvPr/>
        </p:nvSpPr>
        <p:spPr>
          <a:xfrm>
            <a:off x="822960" y="5212079"/>
            <a:ext cx="2377440" cy="457200"/>
          </a:xfrm>
          <a:prstGeom prst="rect">
            <a:avLst/>
          </a:prstGeom>
          <a:noFill/>
        </p:spPr>
        <p:txBody>
          <a:bodyPr wrap="square" lIns="0" rIns="0" tIns="18288" bIns="18288" anchor="t">
            <a:spAutoFit/>
          </a:bodyPr>
          <a:lstStyle/>
          <a:p>
            <a:pPr algn="ctr"/>
            <a:r>
              <a:rPr sz="1000" b="0" i="0">
                <a:solidFill>
                  <a:srgbClr val="1A1A1A"/>
                </a:solidFill>
                <a:latin typeface="Abadi"/>
              </a:rPr>
              <a:t>Ohura 2007</a:t>
            </a:r>
          </a:p>
          <a:p>
            <a:pPr algn="ctr"/>
            <a:r>
              <a:rPr sz="1000" b="0" i="0">
                <a:solidFill>
                  <a:srgbClr val="1A1A1A"/>
                </a:solidFill>
                <a:latin typeface="Abadi"/>
              </a:rPr>
              <a:t>(2 of 75)</a:t>
            </a:r>
          </a:p>
        </p:txBody>
      </p:sp>
      <p:sp>
        <p:nvSpPr>
          <p:cNvPr id="16" name="Rectangle 15"/>
          <p:cNvSpPr/>
          <p:nvPr/>
        </p:nvSpPr>
        <p:spPr>
          <a:xfrm>
            <a:off x="4046220" y="4716303"/>
            <a:ext cx="685800" cy="45005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0" y="4423695"/>
            <a:ext cx="2377440" cy="274320"/>
          </a:xfrm>
          <a:prstGeom prst="rect">
            <a:avLst/>
          </a:prstGeom>
          <a:noFill/>
        </p:spPr>
        <p:txBody>
          <a:bodyPr wrap="square" lIns="0" rIns="0" tIns="18288" bIns="18288" anchor="t">
            <a:spAutoFit/>
          </a:bodyPr>
          <a:lstStyle/>
          <a:p>
            <a:pPr algn="ctr"/>
            <a:r>
              <a:rPr sz="1100" b="1" i="0">
                <a:solidFill>
                  <a:srgbClr val="1A1A1A"/>
                </a:solidFill>
                <a:latin typeface="Abadi"/>
              </a:rPr>
              <a:t>0.5%</a:t>
            </a:r>
          </a:p>
        </p:txBody>
      </p:sp>
      <p:sp>
        <p:nvSpPr>
          <p:cNvPr id="18" name="TextBox 17"/>
          <p:cNvSpPr txBox="1"/>
          <p:nvPr/>
        </p:nvSpPr>
        <p:spPr>
          <a:xfrm>
            <a:off x="3200400" y="5212079"/>
            <a:ext cx="2377440" cy="457200"/>
          </a:xfrm>
          <a:prstGeom prst="rect">
            <a:avLst/>
          </a:prstGeom>
          <a:noFill/>
        </p:spPr>
        <p:txBody>
          <a:bodyPr wrap="square" lIns="0" rIns="0" tIns="18288" bIns="18288" anchor="t">
            <a:spAutoFit/>
          </a:bodyPr>
          <a:lstStyle/>
          <a:p>
            <a:pPr algn="ctr"/>
            <a:r>
              <a:rPr sz="1000" b="0" i="0">
                <a:solidFill>
                  <a:srgbClr val="1A1A1A"/>
                </a:solidFill>
                <a:latin typeface="Abadi"/>
              </a:rPr>
              <a:t>Kido 2022</a:t>
            </a:r>
          </a:p>
          <a:p>
            <a:pPr algn="ctr"/>
            <a:r>
              <a:rPr sz="1000" b="0" i="0">
                <a:solidFill>
                  <a:srgbClr val="1A1A1A"/>
                </a:solidFill>
                <a:latin typeface="Abadi"/>
              </a:rPr>
              <a:t>(1 of 192)</a:t>
            </a:r>
          </a:p>
        </p:txBody>
      </p:sp>
      <p:sp>
        <p:nvSpPr>
          <p:cNvPr id="19" name="TextBox 18"/>
          <p:cNvSpPr txBox="1"/>
          <p:nvPr/>
        </p:nvSpPr>
        <p:spPr>
          <a:xfrm>
            <a:off x="822960" y="1874520"/>
            <a:ext cx="4754880" cy="274320"/>
          </a:xfrm>
          <a:prstGeom prst="rect">
            <a:avLst/>
          </a:prstGeom>
          <a:noFill/>
        </p:spPr>
        <p:txBody>
          <a:bodyPr wrap="square" lIns="0" rIns="0" tIns="18288" bIns="18288" anchor="t">
            <a:spAutoFit/>
          </a:bodyPr>
          <a:lstStyle/>
          <a:p>
            <a:pPr algn="l"/>
            <a:r>
              <a:rPr sz="1000" b="0" i="1">
                <a:solidFill>
                  <a:srgbClr val="555555"/>
                </a:solidFill>
                <a:latin typeface="Abadi"/>
              </a:rPr>
              <a:t>Transplanted before age 1 for progressive liver failure</a:t>
            </a:r>
          </a:p>
        </p:txBody>
      </p:sp>
      <p:sp>
        <p:nvSpPr>
          <p:cNvPr id="20" name="TextBox 19"/>
          <p:cNvSpPr txBox="1"/>
          <p:nvPr/>
        </p:nvSpPr>
        <p:spPr>
          <a:xfrm>
            <a:off x="6309360" y="1828800"/>
            <a:ext cx="5303520" cy="3931920"/>
          </a:xfrm>
          <a:prstGeom prst="rect">
            <a:avLst/>
          </a:prstGeom>
          <a:noFill/>
        </p:spPr>
        <p:txBody>
          <a:bodyPr wrap="square" lIns="0" rIns="0" tIns="18288" bIns="18288" anchor="t">
            <a:spAutoFit/>
          </a:bodyPr>
          <a:lstStyle/>
          <a:p>
            <a:pPr algn="l">
              <a:spcAft>
                <a:spcPts val="300"/>
              </a:spcAft>
            </a:pPr>
            <a:r>
              <a:rPr sz="1800" b="1" i="0">
                <a:solidFill>
                  <a:srgbClr val="1B355E"/>
                </a:solidFill>
                <a:latin typeface="Abadi"/>
              </a:rPr>
              <a:t>73 of 75</a:t>
            </a:r>
          </a:p>
          <a:p>
            <a:pPr algn="l">
              <a:spcAft>
                <a:spcPts val="300"/>
              </a:spcAft>
            </a:pPr>
            <a:r>
              <a:rPr sz="1150" b="0" i="0">
                <a:solidFill>
                  <a:srgbClr val="1A1A1A"/>
                </a:solidFill>
                <a:latin typeface="Abadi"/>
              </a:rPr>
              <a:t>Ohura: symptoms resolved by 12 months in all but two infants on lactose-free or MCT formula.</a:t>
            </a:r>
          </a:p>
          <a:p>
            <a:pPr algn="l">
              <a:spcAft>
                <a:spcPts val="300"/>
              </a:spcAft>
            </a:pPr>
            <a:r>
              <a:rPr sz="1800" b="1" i="0">
                <a:solidFill>
                  <a:srgbClr val="1B355E"/>
                </a:solidFill>
                <a:latin typeface="Abadi"/>
              </a:rPr>
              <a:t>0 deaths</a:t>
            </a:r>
          </a:p>
          <a:p>
            <a:pPr algn="l">
              <a:spcAft>
                <a:spcPts val="300"/>
              </a:spcAft>
            </a:pPr>
            <a:r>
              <a:rPr sz="1150" b="0" i="0">
                <a:solidFill>
                  <a:srgbClr val="1A1A1A"/>
                </a:solidFill>
                <a:latin typeface="Abadi"/>
              </a:rPr>
              <a:t>Kido: no deaths from NICCD; all patients under 20 years were alive.</a:t>
            </a:r>
          </a:p>
          <a:p>
            <a:pPr algn="l">
              <a:spcAft>
                <a:spcPts val="300"/>
              </a:spcAft>
            </a:pPr>
            <a:r>
              <a:rPr sz="1800" b="1" i="0">
                <a:solidFill>
                  <a:srgbClr val="1B355E"/>
                </a:solidFill>
                <a:latin typeface="Abadi"/>
              </a:rPr>
              <a:t>Under 10%</a:t>
            </a:r>
          </a:p>
          <a:p>
            <a:pPr algn="l">
              <a:spcAft>
                <a:spcPts val="300"/>
              </a:spcAft>
            </a:pPr>
            <a:r>
              <a:rPr sz="1150" b="0" i="0">
                <a:solidFill>
                  <a:srgbClr val="1A1A1A"/>
                </a:solidFill>
                <a:latin typeface="Abadi"/>
              </a:rPr>
              <a:t>Develop CTLN2, at 20–70 years, male to female 2.4 to 1; over 90% have a body mass index below 20.</a:t>
            </a:r>
          </a:p>
          <a:p>
            <a:pPr algn="l">
              <a:spcAft>
                <a:spcPts val="300"/>
              </a:spcAft>
            </a:pPr>
            <a:r>
              <a:rPr sz="1800" b="1" i="0">
                <a:solidFill>
                  <a:srgbClr val="1B355E"/>
                </a:solidFill>
                <a:latin typeface="Abadi"/>
              </a:rPr>
              <a:t>Triggers</a:t>
            </a:r>
          </a:p>
          <a:p>
            <a:pPr algn="l">
              <a:spcAft>
                <a:spcPts val="300"/>
              </a:spcAft>
            </a:pPr>
            <a:r>
              <a:rPr sz="1150" b="0" i="0">
                <a:solidFill>
                  <a:srgbClr val="1A1A1A"/>
                </a:solidFill>
                <a:latin typeface="Abadi"/>
              </a:rPr>
              <a:t>Surgery, fasting, alcohol and drugs. MCT with a low-carbohydrate diet has replaced routine transplantation.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III</a:t>
            </a:r>
          </a:p>
        </p:txBody>
      </p:sp>
      <p:sp>
        <p:nvSpPr>
          <p:cNvPr id="4" name="TextBox 3"/>
          <p:cNvSpPr txBox="1"/>
          <p:nvPr/>
        </p:nvSpPr>
        <p:spPr>
          <a:xfrm>
            <a:off x="1389888" y="301752"/>
            <a:ext cx="10241280" cy="347472"/>
          </a:xfrm>
          <a:prstGeom prst="rect">
            <a:avLst/>
          </a:prstGeom>
          <a:noFill/>
        </p:spPr>
        <p:txBody>
          <a:bodyPr wrap="square" lIns="0" rIns="0" tIns="18288" bIns="18288" anchor="ctr">
            <a:spAutoFit/>
          </a:bodyPr>
          <a:lstStyle/>
          <a:p>
            <a:pPr algn="l"/>
            <a:r>
              <a:rPr sz="1200" b="1" i="0">
                <a:solidFill>
                  <a:srgbClr val="2E5A88"/>
                </a:solidFill>
                <a:latin typeface="Abadi"/>
              </a:rPr>
              <a:t>THE SUGAR TRAP</a:t>
            </a:r>
          </a:p>
        </p:txBody>
      </p:sp>
      <p:sp>
        <p:nvSpPr>
          <p:cNvPr id="5" name="TextBox 4"/>
          <p:cNvSpPr txBox="1"/>
          <p:nvPr/>
        </p:nvSpPr>
        <p:spPr>
          <a:xfrm>
            <a:off x="548640" y="731520"/>
            <a:ext cx="11091672" cy="548640"/>
          </a:xfrm>
          <a:prstGeom prst="rect">
            <a:avLst/>
          </a:prstGeom>
          <a:noFill/>
        </p:spPr>
        <p:txBody>
          <a:bodyPr wrap="square" lIns="0" rIns="0" tIns="18288" bIns="18288" anchor="t">
            <a:spAutoFit/>
          </a:bodyPr>
          <a:lstStyle/>
          <a:p>
            <a:pPr algn="l"/>
            <a:r>
              <a:rPr sz="3000" b="1" i="0">
                <a:solidFill>
                  <a:srgbClr val="1B355E"/>
                </a:solidFill>
                <a:latin typeface="Abadi"/>
              </a:rPr>
              <a:t>THE STANDARD INFUSION CAN BE THE WRONG ONE</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Where routine care harms the patient with citrin deficiency</a:t>
            </a:r>
          </a:p>
        </p:txBody>
      </p:sp>
      <p:sp>
        <p:nvSpPr>
          <p:cNvPr id="7" name="Rectangle 6"/>
          <p:cNvSpPr/>
          <p:nvPr/>
        </p:nvSpPr>
        <p:spPr>
          <a:xfrm>
            <a:off x="548640" y="1600200"/>
            <a:ext cx="11091672" cy="2743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9</a:t>
            </a:r>
          </a:p>
        </p:txBody>
      </p:sp>
      <p:sp>
        <p:nvSpPr>
          <p:cNvPr id="11" name="TextBox 10"/>
          <p:cNvSpPr txBox="1"/>
          <p:nvPr/>
        </p:nvSpPr>
        <p:spPr>
          <a:xfrm>
            <a:off x="548640" y="5971032"/>
            <a:ext cx="10296144" cy="457200"/>
          </a:xfrm>
          <a:prstGeom prst="rect">
            <a:avLst/>
          </a:prstGeom>
          <a:noFill/>
        </p:spPr>
        <p:txBody>
          <a:bodyPr wrap="square" lIns="0" rIns="0" tIns="18288" bIns="18288" anchor="t">
            <a:spAutoFit/>
          </a:bodyPr>
          <a:lstStyle/>
          <a:p>
            <a:pPr algn="l"/>
            <a:r>
              <a:rPr sz="1000" b="0" i="1">
                <a:solidFill>
                  <a:srgbClr val="555555"/>
                </a:solidFill>
                <a:latin typeface="Abadi"/>
              </a:rPr>
              <a:t>Hayasaka K, Numakura C. Appl Clin Genet 2018;11:163–70 · Makris G, et al. J Inherit Metab Dis 2024;47:1144–56 · Kido J, et al. J Inherit Metab Dis 2022</a:t>
            </a:r>
          </a:p>
        </p:txBody>
      </p:sp>
      <p:sp>
        <p:nvSpPr>
          <p:cNvPr id="12" name="Rectangle 11"/>
          <p:cNvSpPr/>
          <p:nvPr/>
        </p:nvSpPr>
        <p:spPr>
          <a:xfrm>
            <a:off x="548640" y="1783080"/>
            <a:ext cx="2587752" cy="2194560"/>
          </a:xfrm>
          <a:prstGeom prst="rect">
            <a:avLst/>
          </a:prstGeom>
          <a:solidFill>
            <a:srgbClr val="F6D2D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83080"/>
            <a:ext cx="2587752"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002536"/>
            <a:ext cx="2221992" cy="685800"/>
          </a:xfrm>
          <a:prstGeom prst="rect">
            <a:avLst/>
          </a:prstGeom>
          <a:noFill/>
        </p:spPr>
        <p:txBody>
          <a:bodyPr wrap="square" lIns="0" rIns="0" tIns="18288" bIns="18288" anchor="t">
            <a:spAutoFit/>
          </a:bodyPr>
          <a:lstStyle/>
          <a:p>
            <a:pPr algn="l"/>
            <a:r>
              <a:rPr sz="1600" b="1" i="0">
                <a:solidFill>
                  <a:srgbClr val="1A1A1A"/>
                </a:solidFill>
                <a:latin typeface="Abadi"/>
              </a:rPr>
              <a:t>High-sugar infusions</a:t>
            </a:r>
          </a:p>
        </p:txBody>
      </p:sp>
      <p:sp>
        <p:nvSpPr>
          <p:cNvPr id="15" name="TextBox 14"/>
          <p:cNvSpPr txBox="1"/>
          <p:nvPr/>
        </p:nvSpPr>
        <p:spPr>
          <a:xfrm>
            <a:off x="731520" y="2752344"/>
            <a:ext cx="2221992" cy="1133856"/>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Dextrose loads raise cytosolic NADH</a:t>
            </a:r>
          </a:p>
          <a:p>
            <a:pPr algn="l">
              <a:spcAft>
                <a:spcPts val="500"/>
              </a:spcAft>
            </a:pPr>
            <a:r>
              <a:rPr sz="1250" b="0" i="0">
                <a:solidFill>
                  <a:srgbClr val="1A1A1A"/>
                </a:solidFill>
                <a:latin typeface="Abadi"/>
              </a:rPr>
              <a:t>▪  Ammonia can climb, not fall</a:t>
            </a:r>
          </a:p>
          <a:p>
            <a:pPr algn="l">
              <a:spcAft>
                <a:spcPts val="500"/>
              </a:spcAft>
            </a:pPr>
            <a:r>
              <a:rPr sz="1250" b="0" i="0">
                <a:solidFill>
                  <a:srgbClr val="1A1A1A"/>
                </a:solidFill>
                <a:latin typeface="Abadi"/>
              </a:rPr>
              <a:t>▪  Use with caution; seek metabolic advice</a:t>
            </a:r>
          </a:p>
        </p:txBody>
      </p:sp>
      <p:sp>
        <p:nvSpPr>
          <p:cNvPr id="16" name="Rectangle 15"/>
          <p:cNvSpPr/>
          <p:nvPr/>
        </p:nvSpPr>
        <p:spPr>
          <a:xfrm>
            <a:off x="3383280" y="1783080"/>
            <a:ext cx="2587752" cy="2194560"/>
          </a:xfrm>
          <a:prstGeom prst="rect">
            <a:avLst/>
          </a:prstGeom>
          <a:solidFill>
            <a:srgbClr val="F6D2D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83280" y="1783080"/>
            <a:ext cx="2587752"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0" y="2002536"/>
            <a:ext cx="2221992" cy="685800"/>
          </a:xfrm>
          <a:prstGeom prst="rect">
            <a:avLst/>
          </a:prstGeom>
          <a:noFill/>
        </p:spPr>
        <p:txBody>
          <a:bodyPr wrap="square" lIns="0" rIns="0" tIns="18288" bIns="18288" anchor="t">
            <a:spAutoFit/>
          </a:bodyPr>
          <a:lstStyle/>
          <a:p>
            <a:pPr algn="l"/>
            <a:r>
              <a:rPr sz="1600" b="1" i="0">
                <a:solidFill>
                  <a:srgbClr val="1A1A1A"/>
                </a:solidFill>
                <a:latin typeface="Abadi"/>
              </a:rPr>
              <a:t>Glycerol and fructose</a:t>
            </a:r>
          </a:p>
        </p:txBody>
      </p:sp>
      <p:sp>
        <p:nvSpPr>
          <p:cNvPr id="19" name="TextBox 18"/>
          <p:cNvSpPr txBox="1"/>
          <p:nvPr/>
        </p:nvSpPr>
        <p:spPr>
          <a:xfrm>
            <a:off x="3566160" y="2752344"/>
            <a:ext cx="2221992" cy="1133856"/>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Used for cerebral oedema in some regions</a:t>
            </a:r>
          </a:p>
          <a:p>
            <a:pPr algn="l">
              <a:spcAft>
                <a:spcPts val="500"/>
              </a:spcAft>
            </a:pPr>
            <a:r>
              <a:rPr sz="1250" b="0" i="0">
                <a:solidFill>
                  <a:srgbClr val="1A1A1A"/>
                </a:solidFill>
                <a:latin typeface="Abadi"/>
              </a:rPr>
              <a:t>▪  Contraindicated in CTLN2</a:t>
            </a:r>
          </a:p>
          <a:p>
            <a:pPr algn="l">
              <a:spcAft>
                <a:spcPts val="500"/>
              </a:spcAft>
            </a:pPr>
            <a:r>
              <a:rPr sz="1250" b="0" i="0">
                <a:solidFill>
                  <a:srgbClr val="1A1A1A"/>
                </a:solidFill>
                <a:latin typeface="Abadi"/>
              </a:rPr>
              <a:t>▪  Fructose stalls at glycerol-3-phosphate</a:t>
            </a:r>
          </a:p>
        </p:txBody>
      </p:sp>
      <p:sp>
        <p:nvSpPr>
          <p:cNvPr id="20" name="Rectangle 19"/>
          <p:cNvSpPr/>
          <p:nvPr/>
        </p:nvSpPr>
        <p:spPr>
          <a:xfrm>
            <a:off x="6217920" y="1783080"/>
            <a:ext cx="2587752" cy="2194560"/>
          </a:xfrm>
          <a:prstGeom prst="rect">
            <a:avLst/>
          </a:prstGeom>
          <a:solidFill>
            <a:srgbClr val="FBEFBE"/>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783080"/>
            <a:ext cx="2587752"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2002536"/>
            <a:ext cx="2221992" cy="411480"/>
          </a:xfrm>
          <a:prstGeom prst="rect">
            <a:avLst/>
          </a:prstGeom>
          <a:noFill/>
        </p:spPr>
        <p:txBody>
          <a:bodyPr wrap="square" lIns="0" rIns="0" tIns="18288" bIns="18288" anchor="t">
            <a:spAutoFit/>
          </a:bodyPr>
          <a:lstStyle/>
          <a:p>
            <a:pPr algn="l"/>
            <a:r>
              <a:rPr sz="1600" b="1" i="0">
                <a:solidFill>
                  <a:srgbClr val="1A1A1A"/>
                </a:solidFill>
                <a:latin typeface="Abadi"/>
              </a:rPr>
              <a:t>Fasting and surgery</a:t>
            </a:r>
          </a:p>
        </p:txBody>
      </p:sp>
      <p:sp>
        <p:nvSpPr>
          <p:cNvPr id="23" name="TextBox 22"/>
          <p:cNvSpPr txBox="1"/>
          <p:nvPr/>
        </p:nvSpPr>
        <p:spPr>
          <a:xfrm>
            <a:off x="6400800" y="2478024"/>
            <a:ext cx="2221992" cy="1408176"/>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Triggers of CTLN2 crises</a:t>
            </a:r>
          </a:p>
          <a:p>
            <a:pPr algn="l">
              <a:spcAft>
                <a:spcPts val="500"/>
              </a:spcAft>
            </a:pPr>
            <a:r>
              <a:rPr sz="1250" b="0" i="0">
                <a:solidFill>
                  <a:srgbClr val="1A1A1A"/>
                </a:solidFill>
                <a:latin typeface="Abadi"/>
              </a:rPr>
              <a:t>▪  Plan peri-operative nutrition</a:t>
            </a:r>
          </a:p>
          <a:p>
            <a:pPr algn="l">
              <a:spcAft>
                <a:spcPts val="500"/>
              </a:spcAft>
            </a:pPr>
            <a:r>
              <a:rPr sz="1250" b="0" i="0">
                <a:solidFill>
                  <a:srgbClr val="1A1A1A"/>
                </a:solidFill>
                <a:latin typeface="Abadi"/>
              </a:rPr>
              <a:t>▪  Alcohol is a recognised trigger</a:t>
            </a:r>
          </a:p>
        </p:txBody>
      </p:sp>
      <p:sp>
        <p:nvSpPr>
          <p:cNvPr id="24" name="Rectangle 23"/>
          <p:cNvSpPr/>
          <p:nvPr/>
        </p:nvSpPr>
        <p:spPr>
          <a:xfrm>
            <a:off x="9052560" y="1783080"/>
            <a:ext cx="2587752" cy="2194560"/>
          </a:xfrm>
          <a:prstGeom prst="rect">
            <a:avLst/>
          </a:prstGeom>
          <a:solidFill>
            <a:srgbClr val="CDE7C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52560" y="1783080"/>
            <a:ext cx="2587752"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0" y="2002536"/>
            <a:ext cx="2221992" cy="411480"/>
          </a:xfrm>
          <a:prstGeom prst="rect">
            <a:avLst/>
          </a:prstGeom>
          <a:noFill/>
        </p:spPr>
        <p:txBody>
          <a:bodyPr wrap="square" lIns="0" rIns="0" tIns="18288" bIns="18288" anchor="t">
            <a:spAutoFit/>
          </a:bodyPr>
          <a:lstStyle/>
          <a:p>
            <a:pPr algn="l"/>
            <a:r>
              <a:rPr sz="1600" b="1" i="0">
                <a:solidFill>
                  <a:srgbClr val="1A1A1A"/>
                </a:solidFill>
                <a:latin typeface="Abadi"/>
              </a:rPr>
              <a:t>The diet record</a:t>
            </a:r>
          </a:p>
        </p:txBody>
      </p:sp>
      <p:sp>
        <p:nvSpPr>
          <p:cNvPr id="27" name="TextBox 26"/>
          <p:cNvSpPr txBox="1"/>
          <p:nvPr/>
        </p:nvSpPr>
        <p:spPr>
          <a:xfrm>
            <a:off x="9235440" y="2478024"/>
            <a:ext cx="2221992" cy="1408176"/>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Protein 15–25%, fat 40–50%</a:t>
            </a:r>
          </a:p>
          <a:p>
            <a:pPr algn="l">
              <a:spcAft>
                <a:spcPts val="500"/>
              </a:spcAft>
            </a:pPr>
            <a:r>
              <a:rPr sz="1250" b="0" i="0">
                <a:solidFill>
                  <a:srgbClr val="1A1A1A"/>
                </a:solidFill>
                <a:latin typeface="Abadi"/>
              </a:rPr>
              <a:t>▪  Carbohydrate only 30–40%</a:t>
            </a:r>
          </a:p>
          <a:p>
            <a:pPr algn="l">
              <a:spcAft>
                <a:spcPts val="500"/>
              </a:spcAft>
            </a:pPr>
            <a:r>
              <a:rPr sz="1250" b="0" i="0">
                <a:solidFill>
                  <a:srgbClr val="1A1A1A"/>
                </a:solidFill>
                <a:latin typeface="Abadi"/>
              </a:rPr>
              <a:t>▪  Respect the aversion to sweets</a:t>
            </a:r>
          </a:p>
        </p:txBody>
      </p:sp>
      <p:sp>
        <p:nvSpPr>
          <p:cNvPr id="28" name="TextBox 27"/>
          <p:cNvSpPr txBox="1"/>
          <p:nvPr/>
        </p:nvSpPr>
        <p:spPr>
          <a:xfrm>
            <a:off x="548640" y="4206240"/>
            <a:ext cx="11091672" cy="1600200"/>
          </a:xfrm>
          <a:prstGeom prst="rect">
            <a:avLst/>
          </a:prstGeom>
          <a:noFill/>
        </p:spPr>
        <p:txBody>
          <a:bodyPr wrap="square" lIns="0" rIns="0" tIns="18288" bIns="18288" anchor="t">
            <a:spAutoFit/>
          </a:bodyPr>
          <a:lstStyle/>
          <a:p>
            <a:pPr algn="l">
              <a:spcAft>
                <a:spcPts val="800"/>
              </a:spcAft>
            </a:pPr>
            <a:r>
              <a:rPr sz="1300" b="1" i="0">
                <a:solidFill>
                  <a:srgbClr val="1B355E"/>
                </a:solidFill>
                <a:latin typeface="Abadi"/>
              </a:rPr>
              <a:t>Contrast with other urea cycle disorders.  </a:t>
            </a:r>
            <a:r>
              <a:rPr sz="1300" b="0" i="0">
                <a:solidFill>
                  <a:srgbClr val="1A1A1A"/>
                </a:solidFill>
                <a:latin typeface="Abadi"/>
              </a:rPr>
              <a:t>Glucose infusion and protein restriction, the reflex for hyperammonaemia, is the opposite of what the citrin-deficient liver needs; high protein and fat are the treatment.</a:t>
            </a:r>
          </a:p>
          <a:p>
            <a:pPr algn="l">
              <a:spcAft>
                <a:spcPts val="800"/>
              </a:spcAft>
            </a:pPr>
            <a:r>
              <a:rPr sz="1300" b="1" i="0">
                <a:solidFill>
                  <a:srgbClr val="B22222"/>
                </a:solidFill>
                <a:latin typeface="Abadi"/>
              </a:rPr>
              <a:t>In clinic.  </a:t>
            </a:r>
            <a:r>
              <a:rPr sz="1300" b="0" i="0">
                <a:solidFill>
                  <a:srgbClr val="1A1A1A"/>
                </a:solidFill>
                <a:latin typeface="Abadi"/>
              </a:rPr>
              <a:t>Give the family a written emergency letter naming the diagnosis and the infusions to avoid, and flag it in the electronic record.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IV</a:t>
            </a:r>
          </a:p>
        </p:txBody>
      </p:sp>
      <p:sp>
        <p:nvSpPr>
          <p:cNvPr id="4" name="TextBox 3"/>
          <p:cNvSpPr txBox="1"/>
          <p:nvPr/>
        </p:nvSpPr>
        <p:spPr>
          <a:xfrm>
            <a:off x="1389888" y="301752"/>
            <a:ext cx="10241280" cy="347472"/>
          </a:xfrm>
          <a:prstGeom prst="rect">
            <a:avLst/>
          </a:prstGeom>
          <a:noFill/>
        </p:spPr>
        <p:txBody>
          <a:bodyPr wrap="square" lIns="0" rIns="0" tIns="18288" bIns="18288" anchor="ctr">
            <a:spAutoFit/>
          </a:bodyPr>
          <a:lstStyle/>
          <a:p>
            <a:pPr algn="l"/>
            <a:r>
              <a:rPr sz="1200" b="1" i="0">
                <a:solidFill>
                  <a:srgbClr val="2E5A88"/>
                </a:solidFill>
                <a:latin typeface="Abadi"/>
              </a:rPr>
              <a:t>MECHANISM: BILE ACID SYNTHESIS</a:t>
            </a:r>
          </a:p>
        </p:txBody>
      </p:sp>
      <p:sp>
        <p:nvSpPr>
          <p:cNvPr id="5" name="TextBox 4"/>
          <p:cNvSpPr txBox="1"/>
          <p:nvPr/>
        </p:nvSpPr>
        <p:spPr>
          <a:xfrm>
            <a:off x="548640" y="731520"/>
            <a:ext cx="11091672" cy="548640"/>
          </a:xfrm>
          <a:prstGeom prst="rect">
            <a:avLst/>
          </a:prstGeom>
          <a:noFill/>
        </p:spPr>
        <p:txBody>
          <a:bodyPr wrap="square" lIns="0" rIns="0" tIns="18288" bIns="18288" anchor="t">
            <a:spAutoFit/>
          </a:bodyPr>
          <a:lstStyle/>
          <a:p>
            <a:pPr algn="l"/>
            <a:r>
              <a:rPr sz="3000" b="1" i="0">
                <a:solidFill>
                  <a:srgbClr val="1B355E"/>
                </a:solidFill>
                <a:latin typeface="Abadi"/>
              </a:rPr>
              <a:t>NO PRIMARY BILE ACIDS, TOXIC PRECURSORS INSTEAD</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How a single-enzyme defect in the neutral pathway produces cholestasis</a:t>
            </a:r>
          </a:p>
        </p:txBody>
      </p:sp>
      <p:sp>
        <p:nvSpPr>
          <p:cNvPr id="7" name="Rectangle 6"/>
          <p:cNvSpPr/>
          <p:nvPr/>
        </p:nvSpPr>
        <p:spPr>
          <a:xfrm>
            <a:off x="548640" y="1600200"/>
            <a:ext cx="11091672" cy="2743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10</a:t>
            </a:r>
          </a:p>
        </p:txBody>
      </p:sp>
      <p:sp>
        <p:nvSpPr>
          <p:cNvPr id="11" name="TextBox 10"/>
          <p:cNvSpPr txBox="1"/>
          <p:nvPr/>
        </p:nvSpPr>
        <p:spPr>
          <a:xfrm>
            <a:off x="548640" y="5971032"/>
            <a:ext cx="10296144" cy="457200"/>
          </a:xfrm>
          <a:prstGeom prst="rect">
            <a:avLst/>
          </a:prstGeom>
          <a:noFill/>
        </p:spPr>
        <p:txBody>
          <a:bodyPr wrap="square" lIns="0" rIns="0" tIns="18288" bIns="18288" anchor="t">
            <a:spAutoFit/>
          </a:bodyPr>
          <a:lstStyle/>
          <a:p>
            <a:pPr algn="l"/>
            <a:r>
              <a:rPr sz="1000" b="0" i="1">
                <a:solidFill>
                  <a:srgbClr val="555555"/>
                </a:solidFill>
                <a:latin typeface="Abadi"/>
              </a:rPr>
              <a:t>Heubi JE, Setchell KDR, Bove KE. Semin Liver Dis 2007;27:282–94 · Fawaz R, et al. JPGN 2017;64:154–68 · Gonzales E, et al. Orphanet J Rare Dis 2018;13:190</a:t>
            </a:r>
          </a:p>
        </p:txBody>
      </p:sp>
      <p:sp>
        <p:nvSpPr>
          <p:cNvPr id="12" name="Rectangle 11"/>
          <p:cNvSpPr/>
          <p:nvPr/>
        </p:nvSpPr>
        <p:spPr>
          <a:xfrm>
            <a:off x="548640" y="1783080"/>
            <a:ext cx="2020824" cy="2148840"/>
          </a:xfrm>
          <a:prstGeom prst="rect">
            <a:avLst/>
          </a:prstGeom>
          <a:solidFill>
            <a:srgbClr val="DCE6F1"/>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83080"/>
            <a:ext cx="2020824" cy="34747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1783080"/>
            <a:ext cx="1837943" cy="347472"/>
          </a:xfrm>
          <a:prstGeom prst="rect">
            <a:avLst/>
          </a:prstGeom>
          <a:noFill/>
        </p:spPr>
        <p:txBody>
          <a:bodyPr wrap="square" lIns="0" rIns="0" tIns="18288" bIns="18288" anchor="ctr">
            <a:spAutoFit/>
          </a:bodyPr>
          <a:lstStyle/>
          <a:p>
            <a:pPr algn="l"/>
            <a:r>
              <a:rPr sz="1200" b="1" i="0">
                <a:solidFill>
                  <a:srgbClr val="FFFFFF"/>
                </a:solidFill>
                <a:latin typeface="Abadi"/>
              </a:rPr>
              <a:t>1 · Cholesterol</a:t>
            </a:r>
          </a:p>
        </p:txBody>
      </p:sp>
      <p:sp>
        <p:nvSpPr>
          <p:cNvPr id="15" name="TextBox 14"/>
          <p:cNvSpPr txBox="1"/>
          <p:nvPr/>
        </p:nvSpPr>
        <p:spPr>
          <a:xfrm>
            <a:off x="685800" y="2240280"/>
            <a:ext cx="1746504" cy="1600200"/>
          </a:xfrm>
          <a:prstGeom prst="rect">
            <a:avLst/>
          </a:prstGeom>
          <a:noFill/>
        </p:spPr>
        <p:txBody>
          <a:bodyPr wrap="square" lIns="0" rIns="0" tIns="18288" bIns="18288" anchor="t">
            <a:spAutoFit/>
          </a:bodyPr>
          <a:lstStyle/>
          <a:p>
            <a:pPr algn="l"/>
            <a:r>
              <a:rPr sz="1150" b="0" i="0">
                <a:solidFill>
                  <a:srgbClr val="1A1A1A"/>
                </a:solidFill>
                <a:latin typeface="Abadi"/>
              </a:rPr>
              <a:t>7α-hydroxylation starts the classic pathway to cholic and chenodeoxycholic acid</a:t>
            </a:r>
          </a:p>
        </p:txBody>
      </p:sp>
      <p:sp>
        <p:nvSpPr>
          <p:cNvPr id="16" name="Isosceles Triangle 15"/>
          <p:cNvSpPr/>
          <p:nvPr/>
        </p:nvSpPr>
        <p:spPr>
          <a:xfrm rot="5400000">
            <a:off x="2596896" y="2766060"/>
            <a:ext cx="182880" cy="182880"/>
          </a:xfrm>
          <a:prstGeom prst="triangle">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16352" y="1783080"/>
            <a:ext cx="2020824" cy="2148840"/>
          </a:xfrm>
          <a:prstGeom prst="rect">
            <a:avLst/>
          </a:prstGeom>
          <a:solidFill>
            <a:srgbClr val="F6D2D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16352" y="1783080"/>
            <a:ext cx="2020824"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80" y="1783080"/>
            <a:ext cx="1837943" cy="347472"/>
          </a:xfrm>
          <a:prstGeom prst="rect">
            <a:avLst/>
          </a:prstGeom>
          <a:noFill/>
        </p:spPr>
        <p:txBody>
          <a:bodyPr wrap="square" lIns="0" rIns="0" tIns="18288" bIns="18288" anchor="ctr">
            <a:spAutoFit/>
          </a:bodyPr>
          <a:lstStyle/>
          <a:p>
            <a:pPr algn="l"/>
            <a:r>
              <a:rPr sz="1200" b="1" i="0">
                <a:solidFill>
                  <a:srgbClr val="FFFFFF"/>
                </a:solidFill>
                <a:latin typeface="Abadi"/>
              </a:rPr>
              <a:t>2 · 3β-HSD block</a:t>
            </a:r>
          </a:p>
        </p:txBody>
      </p:sp>
      <p:sp>
        <p:nvSpPr>
          <p:cNvPr id="20" name="TextBox 19"/>
          <p:cNvSpPr txBox="1"/>
          <p:nvPr/>
        </p:nvSpPr>
        <p:spPr>
          <a:xfrm>
            <a:off x="2953512" y="2240280"/>
            <a:ext cx="1746504" cy="1600200"/>
          </a:xfrm>
          <a:prstGeom prst="rect">
            <a:avLst/>
          </a:prstGeom>
          <a:noFill/>
        </p:spPr>
        <p:txBody>
          <a:bodyPr wrap="square" lIns="0" rIns="0" tIns="18288" bIns="18288" anchor="t">
            <a:spAutoFit/>
          </a:bodyPr>
          <a:lstStyle/>
          <a:p>
            <a:pPr algn="l"/>
            <a:r>
              <a:rPr sz="1150" b="0" i="0">
                <a:solidFill>
                  <a:srgbClr val="1A1A1A"/>
                </a:solidFill>
                <a:latin typeface="Abadi"/>
              </a:rPr>
              <a:t>HSD3B7 cannot convert the 3β-hydroxy-Δ5 intermediate; the commonest defect</a:t>
            </a:r>
          </a:p>
        </p:txBody>
      </p:sp>
      <p:sp>
        <p:nvSpPr>
          <p:cNvPr id="21" name="Isosceles Triangle 20"/>
          <p:cNvSpPr/>
          <p:nvPr/>
        </p:nvSpPr>
        <p:spPr>
          <a:xfrm rot="5400000">
            <a:off x="4864608" y="2766060"/>
            <a:ext cx="182880" cy="182880"/>
          </a:xfrm>
          <a:prstGeom prst="triangle">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4064" y="1783080"/>
            <a:ext cx="2020824" cy="2148840"/>
          </a:xfrm>
          <a:prstGeom prst="rect">
            <a:avLst/>
          </a:prstGeom>
          <a:solidFill>
            <a:srgbClr val="F6D2D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4064" y="1783080"/>
            <a:ext cx="2020824"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3792" y="1783080"/>
            <a:ext cx="1837943" cy="347472"/>
          </a:xfrm>
          <a:prstGeom prst="rect">
            <a:avLst/>
          </a:prstGeom>
          <a:noFill/>
        </p:spPr>
        <p:txBody>
          <a:bodyPr wrap="square" lIns="0" rIns="0" tIns="18288" bIns="18288" anchor="ctr">
            <a:spAutoFit/>
          </a:bodyPr>
          <a:lstStyle/>
          <a:p>
            <a:pPr algn="l"/>
            <a:r>
              <a:rPr sz="1200" b="1" i="0">
                <a:solidFill>
                  <a:srgbClr val="FFFFFF"/>
                </a:solidFill>
                <a:latin typeface="Abadi"/>
              </a:rPr>
              <a:t>3 · Δ4 block</a:t>
            </a:r>
          </a:p>
        </p:txBody>
      </p:sp>
      <p:sp>
        <p:nvSpPr>
          <p:cNvPr id="25" name="TextBox 24"/>
          <p:cNvSpPr txBox="1"/>
          <p:nvPr/>
        </p:nvSpPr>
        <p:spPr>
          <a:xfrm>
            <a:off x="5221224" y="2240280"/>
            <a:ext cx="1746504" cy="1600200"/>
          </a:xfrm>
          <a:prstGeom prst="rect">
            <a:avLst/>
          </a:prstGeom>
          <a:noFill/>
        </p:spPr>
        <p:txBody>
          <a:bodyPr wrap="square" lIns="0" rIns="0" tIns="18288" bIns="18288" anchor="t">
            <a:spAutoFit/>
          </a:bodyPr>
          <a:lstStyle/>
          <a:p>
            <a:pPr algn="l"/>
            <a:r>
              <a:rPr sz="1150" b="0" i="0">
                <a:solidFill>
                  <a:srgbClr val="1A1A1A"/>
                </a:solidFill>
                <a:latin typeface="Abadi"/>
              </a:rPr>
              <a:t>AKR1D1 cannot reduce Δ4-3-oxo intermediates; rarer, often more severe</a:t>
            </a:r>
          </a:p>
        </p:txBody>
      </p:sp>
      <p:sp>
        <p:nvSpPr>
          <p:cNvPr id="26" name="Isosceles Triangle 25"/>
          <p:cNvSpPr/>
          <p:nvPr/>
        </p:nvSpPr>
        <p:spPr>
          <a:xfrm rot="5400000">
            <a:off x="7132320" y="2766060"/>
            <a:ext cx="182880" cy="182880"/>
          </a:xfrm>
          <a:prstGeom prst="triangle">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5" y="1783080"/>
            <a:ext cx="2020824" cy="2148840"/>
          </a:xfrm>
          <a:prstGeom prst="rect">
            <a:avLst/>
          </a:prstGeom>
          <a:solidFill>
            <a:srgbClr val="FBEFBE"/>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51775" y="1783080"/>
            <a:ext cx="2020824" cy="34747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61503" y="1783080"/>
            <a:ext cx="1837943" cy="347472"/>
          </a:xfrm>
          <a:prstGeom prst="rect">
            <a:avLst/>
          </a:prstGeom>
          <a:noFill/>
        </p:spPr>
        <p:txBody>
          <a:bodyPr wrap="square" lIns="0" rIns="0" tIns="18288" bIns="18288" anchor="ctr">
            <a:spAutoFit/>
          </a:bodyPr>
          <a:lstStyle/>
          <a:p>
            <a:pPr algn="l"/>
            <a:r>
              <a:rPr sz="1200" b="1" i="0">
                <a:solidFill>
                  <a:srgbClr val="FFFFFF"/>
                </a:solidFill>
                <a:latin typeface="Abadi"/>
              </a:rPr>
              <a:t>4 · Two harms</a:t>
            </a:r>
          </a:p>
        </p:txBody>
      </p:sp>
      <p:sp>
        <p:nvSpPr>
          <p:cNvPr id="30" name="TextBox 29"/>
          <p:cNvSpPr txBox="1"/>
          <p:nvPr/>
        </p:nvSpPr>
        <p:spPr>
          <a:xfrm>
            <a:off x="7488936" y="2240280"/>
            <a:ext cx="1746504" cy="1600200"/>
          </a:xfrm>
          <a:prstGeom prst="rect">
            <a:avLst/>
          </a:prstGeom>
          <a:noFill/>
        </p:spPr>
        <p:txBody>
          <a:bodyPr wrap="square" lIns="0" rIns="0" tIns="18288" bIns="18288" anchor="t">
            <a:spAutoFit/>
          </a:bodyPr>
          <a:lstStyle/>
          <a:p>
            <a:pPr algn="l"/>
            <a:r>
              <a:rPr sz="1150" b="0" i="0">
                <a:solidFill>
                  <a:srgbClr val="1A1A1A"/>
                </a:solidFill>
                <a:latin typeface="Abadi"/>
              </a:rPr>
              <a:t>No cholic acid to drive bile flow, and atypical precursors that injure hepatocytes</a:t>
            </a:r>
          </a:p>
        </p:txBody>
      </p:sp>
      <p:sp>
        <p:nvSpPr>
          <p:cNvPr id="31" name="Isosceles Triangle 30"/>
          <p:cNvSpPr/>
          <p:nvPr/>
        </p:nvSpPr>
        <p:spPr>
          <a:xfrm rot="5400000">
            <a:off x="9400032" y="2766060"/>
            <a:ext cx="182880" cy="182880"/>
          </a:xfrm>
          <a:prstGeom prst="triangle">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19488" y="1783080"/>
            <a:ext cx="2020824" cy="2148840"/>
          </a:xfrm>
          <a:prstGeom prst="rect">
            <a:avLst/>
          </a:prstGeom>
          <a:solidFill>
            <a:srgbClr val="CDE7C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19488" y="1783080"/>
            <a:ext cx="2020824" cy="347472"/>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29215" y="1783080"/>
            <a:ext cx="1837943" cy="347472"/>
          </a:xfrm>
          <a:prstGeom prst="rect">
            <a:avLst/>
          </a:prstGeom>
          <a:noFill/>
        </p:spPr>
        <p:txBody>
          <a:bodyPr wrap="square" lIns="0" rIns="0" tIns="18288" bIns="18288" anchor="ctr">
            <a:spAutoFit/>
          </a:bodyPr>
          <a:lstStyle/>
          <a:p>
            <a:pPr algn="l"/>
            <a:r>
              <a:rPr sz="1200" b="1" i="0">
                <a:solidFill>
                  <a:srgbClr val="FFFFFF"/>
                </a:solidFill>
                <a:latin typeface="Abadi"/>
              </a:rPr>
              <a:t>5 · Feedback</a:t>
            </a:r>
          </a:p>
        </p:txBody>
      </p:sp>
      <p:sp>
        <p:nvSpPr>
          <p:cNvPr id="35" name="TextBox 34"/>
          <p:cNvSpPr txBox="1"/>
          <p:nvPr/>
        </p:nvSpPr>
        <p:spPr>
          <a:xfrm>
            <a:off x="9756648" y="2240280"/>
            <a:ext cx="1746504" cy="1600200"/>
          </a:xfrm>
          <a:prstGeom prst="rect">
            <a:avLst/>
          </a:prstGeom>
          <a:noFill/>
        </p:spPr>
        <p:txBody>
          <a:bodyPr wrap="square" lIns="0" rIns="0" tIns="18288" bIns="18288" anchor="t">
            <a:spAutoFit/>
          </a:bodyPr>
          <a:lstStyle/>
          <a:p>
            <a:pPr algn="l"/>
            <a:r>
              <a:rPr sz="1150" b="0" i="0">
                <a:solidFill>
                  <a:srgbClr val="1A1A1A"/>
                </a:solidFill>
                <a:latin typeface="Abadi"/>
              </a:rPr>
              <a:t>Without bile acids there is no brake on synthesis; giving cholic acid restores it</a:t>
            </a:r>
          </a:p>
        </p:txBody>
      </p:sp>
      <p:sp>
        <p:nvSpPr>
          <p:cNvPr id="36" name="TextBox 35"/>
          <p:cNvSpPr txBox="1"/>
          <p:nvPr/>
        </p:nvSpPr>
        <p:spPr>
          <a:xfrm>
            <a:off x="548640" y="4160520"/>
            <a:ext cx="11091672" cy="1645920"/>
          </a:xfrm>
          <a:prstGeom prst="rect">
            <a:avLst/>
          </a:prstGeom>
          <a:noFill/>
        </p:spPr>
        <p:txBody>
          <a:bodyPr wrap="square" lIns="0" rIns="0" tIns="18288" bIns="18288" anchor="t">
            <a:spAutoFit/>
          </a:bodyPr>
          <a:lstStyle/>
          <a:p>
            <a:pPr algn="l">
              <a:spcAft>
                <a:spcPts val="800"/>
              </a:spcAft>
            </a:pPr>
            <a:r>
              <a:rPr sz="1300" b="1" i="0">
                <a:solidFill>
                  <a:srgbClr val="1B355E"/>
                </a:solidFill>
                <a:latin typeface="Abadi"/>
              </a:rPr>
              <a:t>Why GGT stays normal.  </a:t>
            </a:r>
            <a:r>
              <a:rPr sz="1300" b="0" i="0">
                <a:solidFill>
                  <a:srgbClr val="1A1A1A"/>
                </a:solidFill>
                <a:latin typeface="Abadi"/>
              </a:rPr>
              <a:t>The atypical bile acids are poor detergents, so they do not strip GGT from canalicular membranes the way high concentrations of normal bile acids do.</a:t>
            </a:r>
          </a:p>
          <a:p>
            <a:pPr algn="l">
              <a:spcAft>
                <a:spcPts val="800"/>
              </a:spcAft>
            </a:pPr>
            <a:r>
              <a:rPr sz="1300" b="1" i="0">
                <a:solidFill>
                  <a:srgbClr val="B22222"/>
                </a:solidFill>
                <a:latin typeface="Abadi"/>
              </a:rPr>
              <a:t>Why the child does not itch.  </a:t>
            </a:r>
            <a:r>
              <a:rPr sz="1300" b="0" i="0">
                <a:solidFill>
                  <a:srgbClr val="1A1A1A"/>
                </a:solidFill>
                <a:latin typeface="Abadi"/>
              </a:rPr>
              <a:t>Measured serum bile acids are low or normal because the routine assay detects normal bile acids; pruritus is usually absent and is a clue.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IV</a:t>
            </a:r>
          </a:p>
        </p:txBody>
      </p:sp>
      <p:sp>
        <p:nvSpPr>
          <p:cNvPr id="4" name="TextBox 3"/>
          <p:cNvSpPr txBox="1"/>
          <p:nvPr/>
        </p:nvSpPr>
        <p:spPr>
          <a:xfrm>
            <a:off x="1389888" y="301752"/>
            <a:ext cx="10241280" cy="347472"/>
          </a:xfrm>
          <a:prstGeom prst="rect">
            <a:avLst/>
          </a:prstGeom>
          <a:noFill/>
        </p:spPr>
        <p:txBody>
          <a:bodyPr wrap="square" lIns="0" rIns="0" tIns="18288" bIns="18288" anchor="ctr">
            <a:spAutoFit/>
          </a:bodyPr>
          <a:lstStyle/>
          <a:p>
            <a:pPr algn="l"/>
            <a:r>
              <a:rPr sz="1200" b="1" i="0">
                <a:solidFill>
                  <a:srgbClr val="2E5A88"/>
                </a:solidFill>
                <a:latin typeface="Abadi"/>
              </a:rPr>
              <a:t>LOW-GGT CHOLESTASIS</a:t>
            </a:r>
          </a:p>
        </p:txBody>
      </p:sp>
      <p:sp>
        <p:nvSpPr>
          <p:cNvPr id="5" name="TextBox 4"/>
          <p:cNvSpPr txBox="1"/>
          <p:nvPr/>
        </p:nvSpPr>
        <p:spPr>
          <a:xfrm>
            <a:off x="548640" y="731520"/>
            <a:ext cx="11091672" cy="548640"/>
          </a:xfrm>
          <a:prstGeom prst="rect">
            <a:avLst/>
          </a:prstGeom>
          <a:noFill/>
        </p:spPr>
        <p:txBody>
          <a:bodyPr wrap="square" lIns="0" rIns="0" tIns="18288" bIns="18288" anchor="t">
            <a:spAutoFit/>
          </a:bodyPr>
          <a:lstStyle/>
          <a:p>
            <a:pPr algn="l"/>
            <a:r>
              <a:rPr sz="3000" b="1" i="0">
                <a:solidFill>
                  <a:srgbClr val="1B355E"/>
                </a:solidFill>
                <a:latin typeface="Abadi"/>
              </a:rPr>
              <a:t>READ GGT AND SERUM BILE ACIDS TOGETHER</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Separating low-GGT cholestasis in the infant; citrin deficiency shown for contrast</a:t>
            </a:r>
          </a:p>
        </p:txBody>
      </p:sp>
      <p:sp>
        <p:nvSpPr>
          <p:cNvPr id="7" name="Rectangle 6"/>
          <p:cNvSpPr/>
          <p:nvPr/>
        </p:nvSpPr>
        <p:spPr>
          <a:xfrm>
            <a:off x="548640" y="1600200"/>
            <a:ext cx="11091672" cy="2743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11</a:t>
            </a:r>
          </a:p>
        </p:txBody>
      </p:sp>
      <p:sp>
        <p:nvSpPr>
          <p:cNvPr id="11" name="TextBox 10"/>
          <p:cNvSpPr txBox="1"/>
          <p:nvPr/>
        </p:nvSpPr>
        <p:spPr>
          <a:xfrm>
            <a:off x="548640" y="5971032"/>
            <a:ext cx="10296144" cy="457200"/>
          </a:xfrm>
          <a:prstGeom prst="rect">
            <a:avLst/>
          </a:prstGeom>
          <a:noFill/>
        </p:spPr>
        <p:txBody>
          <a:bodyPr wrap="square" lIns="0" rIns="0" tIns="18288" bIns="18288" anchor="t">
            <a:spAutoFit/>
          </a:bodyPr>
          <a:lstStyle/>
          <a:p>
            <a:pPr algn="l"/>
            <a:r>
              <a:rPr sz="1000" b="0" i="1">
                <a:solidFill>
                  <a:srgbClr val="555555"/>
                </a:solidFill>
                <a:latin typeface="Abadi"/>
              </a:rPr>
              <a:t>Fawaz R, et al. JPGN 2017;64:154–68 · Heubi JE, et al. Semin Liver Dis 2007 · Zhao J, et al. Orphanet J Rare Dis 2021;16:417 · Li J, et al. Front Pediatr 2025</a:t>
            </a:r>
          </a:p>
        </p:txBody>
      </p:sp>
      <p:graphicFrame>
        <p:nvGraphicFramePr>
          <p:cNvPr id="12" name="Table 11"/>
          <p:cNvGraphicFramePr>
            <a:graphicFrameLocks noGrp="1"/>
          </p:cNvGraphicFramePr>
          <p:nvPr/>
        </p:nvGraphicFramePr>
        <p:xfrm>
          <a:off x="548640" y="1810512"/>
          <a:ext cx="11091672" cy="3328416"/>
        </p:xfrm>
        <a:graphic>
          <a:graphicData uri="http://schemas.openxmlformats.org/drawingml/2006/table">
            <a:tbl>
              <a:tblPr firstRow="0" bandRow="0">
                <a:tableStyleId>{5C22544A-7EE6-4342-B048-85BDC9FD1C3A}</a:tableStyleId>
              </a:tblPr>
              <a:tblGrid>
                <a:gridCol w="2286000"/>
                <a:gridCol w="1508760"/>
                <a:gridCol w="1783080"/>
                <a:gridCol w="1508760"/>
                <a:gridCol w="4005072"/>
              </a:tblGrid>
              <a:tr h="475488">
                <a:tc>
                  <a:txBody>
                    <a:bodyPr wrap="square"/>
                    <a:lstStyle/>
                    <a:p>
                      <a:r>
                        <a:rPr sz="1150" b="1">
                          <a:solidFill>
                            <a:srgbClr val="FFFFFF"/>
                          </a:solidFill>
                          <a:latin typeface="Abadi"/>
                        </a:rPr>
                        <a:t>Disorder</a:t>
                      </a:r>
                    </a:p>
                  </a:txBody>
                  <a:tcPr marL="54864" marR="54864" marT="27432" marB="27432" anchor="ctr">
                    <a:solidFill>
                      <a:srgbClr val="1B355E"/>
                    </a:solidFill>
                  </a:tcPr>
                </a:tc>
                <a:tc>
                  <a:txBody>
                    <a:bodyPr wrap="square"/>
                    <a:lstStyle/>
                    <a:p>
                      <a:r>
                        <a:rPr sz="1150" b="1">
                          <a:solidFill>
                            <a:srgbClr val="FFFFFF"/>
                          </a:solidFill>
                          <a:latin typeface="Abadi"/>
                        </a:rPr>
                        <a:t>GGT</a:t>
                      </a:r>
                    </a:p>
                  </a:txBody>
                  <a:tcPr marL="54864" marR="54864" marT="27432" marB="27432" anchor="ctr">
                    <a:solidFill>
                      <a:srgbClr val="1B355E"/>
                    </a:solidFill>
                  </a:tcPr>
                </a:tc>
                <a:tc>
                  <a:txBody>
                    <a:bodyPr wrap="square"/>
                    <a:lstStyle/>
                    <a:p>
                      <a:r>
                        <a:rPr sz="1150" b="1">
                          <a:solidFill>
                            <a:srgbClr val="FFFFFF"/>
                          </a:solidFill>
                          <a:latin typeface="Abadi"/>
                        </a:rPr>
                        <a:t>Serum bile acids</a:t>
                      </a:r>
                    </a:p>
                  </a:txBody>
                  <a:tcPr marL="54864" marR="54864" marT="27432" marB="27432" anchor="ctr">
                    <a:solidFill>
                      <a:srgbClr val="1B355E"/>
                    </a:solidFill>
                  </a:tcPr>
                </a:tc>
                <a:tc>
                  <a:txBody>
                    <a:bodyPr wrap="square"/>
                    <a:lstStyle/>
                    <a:p>
                      <a:r>
                        <a:rPr sz="1150" b="1">
                          <a:solidFill>
                            <a:srgbClr val="FFFFFF"/>
                          </a:solidFill>
                          <a:latin typeface="Abadi"/>
                        </a:rPr>
                        <a:t>Pruritus</a:t>
                      </a:r>
                    </a:p>
                  </a:txBody>
                  <a:tcPr marL="54864" marR="54864" marT="27432" marB="27432" anchor="ctr">
                    <a:solidFill>
                      <a:srgbClr val="1B355E"/>
                    </a:solidFill>
                  </a:tcPr>
                </a:tc>
                <a:tc>
                  <a:txBody>
                    <a:bodyPr wrap="square"/>
                    <a:lstStyle/>
                    <a:p>
                      <a:r>
                        <a:rPr sz="1150" b="1">
                          <a:solidFill>
                            <a:srgbClr val="FFFFFF"/>
                          </a:solidFill>
                          <a:latin typeface="Abadi"/>
                        </a:rPr>
                        <a:t>Clue and test</a:t>
                      </a:r>
                    </a:p>
                  </a:txBody>
                  <a:tcPr marL="54864" marR="54864" marT="27432" marB="27432" anchor="ctr">
                    <a:solidFill>
                      <a:srgbClr val="1B355E"/>
                    </a:solidFill>
                  </a:tcPr>
                </a:tc>
              </a:tr>
              <a:tr h="475488">
                <a:tc>
                  <a:txBody>
                    <a:bodyPr wrap="square"/>
                    <a:lstStyle/>
                    <a:p>
                      <a:r>
                        <a:rPr sz="1150" b="1">
                          <a:solidFill>
                            <a:srgbClr val="1A1A1A"/>
                          </a:solidFill>
                          <a:latin typeface="Abadi"/>
                        </a:rPr>
                        <a:t>PFIC1 (ATP8B1)</a:t>
                      </a:r>
                    </a:p>
                  </a:txBody>
                  <a:tcPr marL="54864" marR="54864" marT="27432" marB="27432" anchor="ctr">
                    <a:solidFill>
                      <a:srgbClr val="FFFFFF"/>
                    </a:solidFill>
                  </a:tcPr>
                </a:tc>
                <a:tc>
                  <a:txBody>
                    <a:bodyPr wrap="square"/>
                    <a:lstStyle/>
                    <a:p>
                      <a:r>
                        <a:rPr sz="1150" b="0">
                          <a:solidFill>
                            <a:srgbClr val="1A1A1A"/>
                          </a:solidFill>
                          <a:latin typeface="Abadi"/>
                        </a:rPr>
                        <a:t>Normal or low</a:t>
                      </a:r>
                    </a:p>
                  </a:txBody>
                  <a:tcPr marL="54864" marR="54864" marT="27432" marB="27432" anchor="ctr">
                    <a:solidFill>
                      <a:srgbClr val="FFFFFF"/>
                    </a:solidFill>
                  </a:tcPr>
                </a:tc>
                <a:tc>
                  <a:txBody>
                    <a:bodyPr wrap="square"/>
                    <a:lstStyle/>
                    <a:p>
                      <a:r>
                        <a:rPr sz="1150" b="0">
                          <a:solidFill>
                            <a:srgbClr val="1A1A1A"/>
                          </a:solidFill>
                          <a:latin typeface="Abadi"/>
                        </a:rPr>
                        <a:t>High</a:t>
                      </a:r>
                    </a:p>
                  </a:txBody>
                  <a:tcPr marL="54864" marR="54864" marT="27432" marB="27432" anchor="ctr">
                    <a:solidFill>
                      <a:srgbClr val="FFFFFF"/>
                    </a:solidFill>
                  </a:tcPr>
                </a:tc>
                <a:tc>
                  <a:txBody>
                    <a:bodyPr wrap="square"/>
                    <a:lstStyle/>
                    <a:p>
                      <a:r>
                        <a:rPr sz="1150" b="0">
                          <a:solidFill>
                            <a:srgbClr val="1A1A1A"/>
                          </a:solidFill>
                          <a:latin typeface="Abadi"/>
                        </a:rPr>
                        <a:t>Severe</a:t>
                      </a:r>
                    </a:p>
                  </a:txBody>
                  <a:tcPr marL="54864" marR="54864" marT="27432" marB="27432" anchor="ctr">
                    <a:solidFill>
                      <a:srgbClr val="FFFFFF"/>
                    </a:solidFill>
                  </a:tcPr>
                </a:tc>
                <a:tc>
                  <a:txBody>
                    <a:bodyPr wrap="square"/>
                    <a:lstStyle/>
                    <a:p>
                      <a:r>
                        <a:rPr sz="1150" b="0">
                          <a:solidFill>
                            <a:srgbClr val="1A1A1A"/>
                          </a:solidFill>
                          <a:latin typeface="Abadi"/>
                        </a:rPr>
                        <a:t>Diarrhoea, pancreatitis, deafness; gene panel</a:t>
                      </a:r>
                    </a:p>
                  </a:txBody>
                  <a:tcPr marL="54864" marR="54864" marT="27432" marB="27432" anchor="ctr">
                    <a:solidFill>
                      <a:srgbClr val="FFFFFF"/>
                    </a:solidFill>
                  </a:tcPr>
                </a:tc>
              </a:tr>
              <a:tr h="475488">
                <a:tc>
                  <a:txBody>
                    <a:bodyPr wrap="square"/>
                    <a:lstStyle/>
                    <a:p>
                      <a:r>
                        <a:rPr sz="1150" b="1">
                          <a:solidFill>
                            <a:srgbClr val="1A1A1A"/>
                          </a:solidFill>
                          <a:latin typeface="Abadi"/>
                        </a:rPr>
                        <a:t>PFIC2 (ABCB11)</a:t>
                      </a:r>
                    </a:p>
                  </a:txBody>
                  <a:tcPr marL="54864" marR="54864" marT="27432" marB="27432" anchor="ctr">
                    <a:solidFill>
                      <a:srgbClr val="F2F2F2"/>
                    </a:solidFill>
                  </a:tcPr>
                </a:tc>
                <a:tc>
                  <a:txBody>
                    <a:bodyPr wrap="square"/>
                    <a:lstStyle/>
                    <a:p>
                      <a:r>
                        <a:rPr sz="1150" b="0">
                          <a:solidFill>
                            <a:srgbClr val="1A1A1A"/>
                          </a:solidFill>
                          <a:latin typeface="Abadi"/>
                        </a:rPr>
                        <a:t>Normal or low</a:t>
                      </a:r>
                    </a:p>
                  </a:txBody>
                  <a:tcPr marL="54864" marR="54864" marT="27432" marB="27432" anchor="ctr">
                    <a:solidFill>
                      <a:srgbClr val="F2F2F2"/>
                    </a:solidFill>
                  </a:tcPr>
                </a:tc>
                <a:tc>
                  <a:txBody>
                    <a:bodyPr wrap="square"/>
                    <a:lstStyle/>
                    <a:p>
                      <a:r>
                        <a:rPr sz="1150" b="0">
                          <a:solidFill>
                            <a:srgbClr val="1A1A1A"/>
                          </a:solidFill>
                          <a:latin typeface="Abadi"/>
                        </a:rPr>
                        <a:t>High</a:t>
                      </a:r>
                    </a:p>
                  </a:txBody>
                  <a:tcPr marL="54864" marR="54864" marT="27432" marB="27432" anchor="ctr">
                    <a:solidFill>
                      <a:srgbClr val="F2F2F2"/>
                    </a:solidFill>
                  </a:tcPr>
                </a:tc>
                <a:tc>
                  <a:txBody>
                    <a:bodyPr wrap="square"/>
                    <a:lstStyle/>
                    <a:p>
                      <a:r>
                        <a:rPr sz="1150" b="0">
                          <a:solidFill>
                            <a:srgbClr val="1A1A1A"/>
                          </a:solidFill>
                          <a:latin typeface="Abadi"/>
                        </a:rPr>
                        <a:t>Severe</a:t>
                      </a:r>
                    </a:p>
                  </a:txBody>
                  <a:tcPr marL="54864" marR="54864" marT="27432" marB="27432" anchor="ctr">
                    <a:solidFill>
                      <a:srgbClr val="F2F2F2"/>
                    </a:solidFill>
                  </a:tcPr>
                </a:tc>
                <a:tc>
                  <a:txBody>
                    <a:bodyPr wrap="square"/>
                    <a:lstStyle/>
                    <a:p>
                      <a:r>
                        <a:rPr sz="1150" b="0">
                          <a:solidFill>
                            <a:srgbClr val="1A1A1A"/>
                          </a:solidFill>
                          <a:latin typeface="Abadi"/>
                        </a:rPr>
                        <a:t>Giant-cell hepatitis; BSEP stain; gene panel</a:t>
                      </a:r>
                    </a:p>
                  </a:txBody>
                  <a:tcPr marL="54864" marR="54864" marT="27432" marB="27432" anchor="ctr">
                    <a:solidFill>
                      <a:srgbClr val="F2F2F2"/>
                    </a:solidFill>
                  </a:tcPr>
                </a:tc>
              </a:tr>
              <a:tr h="475488">
                <a:tc>
                  <a:txBody>
                    <a:bodyPr wrap="square"/>
                    <a:lstStyle/>
                    <a:p>
                      <a:r>
                        <a:rPr sz="1150" b="1">
                          <a:solidFill>
                            <a:srgbClr val="1A1A1A"/>
                          </a:solidFill>
                          <a:latin typeface="Abadi"/>
                        </a:rPr>
                        <a:t>TJP2 deficiency</a:t>
                      </a:r>
                    </a:p>
                  </a:txBody>
                  <a:tcPr marL="54864" marR="54864" marT="27432" marB="27432" anchor="ctr">
                    <a:solidFill>
                      <a:srgbClr val="FFFFFF"/>
                    </a:solidFill>
                  </a:tcPr>
                </a:tc>
                <a:tc>
                  <a:txBody>
                    <a:bodyPr wrap="square"/>
                    <a:lstStyle/>
                    <a:p>
                      <a:r>
                        <a:rPr sz="1150" b="0">
                          <a:solidFill>
                            <a:srgbClr val="1A1A1A"/>
                          </a:solidFill>
                          <a:latin typeface="Abadi"/>
                        </a:rPr>
                        <a:t>Normal or low</a:t>
                      </a:r>
                    </a:p>
                  </a:txBody>
                  <a:tcPr marL="54864" marR="54864" marT="27432" marB="27432" anchor="ctr">
                    <a:solidFill>
                      <a:srgbClr val="FFFFFF"/>
                    </a:solidFill>
                  </a:tcPr>
                </a:tc>
                <a:tc>
                  <a:txBody>
                    <a:bodyPr wrap="square"/>
                    <a:lstStyle/>
                    <a:p>
                      <a:r>
                        <a:rPr sz="1150" b="0">
                          <a:solidFill>
                            <a:srgbClr val="1A1A1A"/>
                          </a:solidFill>
                          <a:latin typeface="Abadi"/>
                        </a:rPr>
                        <a:t>High</a:t>
                      </a:r>
                    </a:p>
                  </a:txBody>
                  <a:tcPr marL="54864" marR="54864" marT="27432" marB="27432" anchor="ctr">
                    <a:solidFill>
                      <a:srgbClr val="FFFFFF"/>
                    </a:solidFill>
                  </a:tcPr>
                </a:tc>
                <a:tc>
                  <a:txBody>
                    <a:bodyPr wrap="square"/>
                    <a:lstStyle/>
                    <a:p>
                      <a:r>
                        <a:rPr sz="1150" b="0">
                          <a:solidFill>
                            <a:srgbClr val="1A1A1A"/>
                          </a:solidFill>
                          <a:latin typeface="Abadi"/>
                        </a:rPr>
                        <a:t>Present</a:t>
                      </a:r>
                    </a:p>
                  </a:txBody>
                  <a:tcPr marL="54864" marR="54864" marT="27432" marB="27432" anchor="ctr">
                    <a:solidFill>
                      <a:srgbClr val="FFFFFF"/>
                    </a:solidFill>
                  </a:tcPr>
                </a:tc>
                <a:tc>
                  <a:txBody>
                    <a:bodyPr wrap="square"/>
                    <a:lstStyle/>
                    <a:p>
                      <a:r>
                        <a:rPr sz="1150" b="0">
                          <a:solidFill>
                            <a:srgbClr val="1A1A1A"/>
                          </a:solidFill>
                          <a:latin typeface="Abadi"/>
                        </a:rPr>
                        <a:t>Gene panel</a:t>
                      </a:r>
                    </a:p>
                  </a:txBody>
                  <a:tcPr marL="54864" marR="54864" marT="27432" marB="27432" anchor="ctr">
                    <a:solidFill>
                      <a:srgbClr val="FFFFFF"/>
                    </a:solidFill>
                  </a:tcPr>
                </a:tc>
              </a:tr>
              <a:tr h="475488">
                <a:tc>
                  <a:txBody>
                    <a:bodyPr wrap="square"/>
                    <a:lstStyle/>
                    <a:p>
                      <a:r>
                        <a:rPr sz="1150" b="1">
                          <a:solidFill>
                            <a:srgbClr val="1A1A1A"/>
                          </a:solidFill>
                          <a:latin typeface="Abadi"/>
                        </a:rPr>
                        <a:t>3β-HSD (HSD3B7)</a:t>
                      </a:r>
                    </a:p>
                  </a:txBody>
                  <a:tcPr marL="54864" marR="54864" marT="27432" marB="27432" anchor="ctr">
                    <a:solidFill>
                      <a:srgbClr val="F2F2F2"/>
                    </a:solidFill>
                  </a:tcPr>
                </a:tc>
                <a:tc>
                  <a:txBody>
                    <a:bodyPr wrap="square"/>
                    <a:lstStyle/>
                    <a:p>
                      <a:r>
                        <a:rPr sz="1150" b="0">
                          <a:solidFill>
                            <a:srgbClr val="1A1A1A"/>
                          </a:solidFill>
                          <a:latin typeface="Abadi"/>
                        </a:rPr>
                        <a:t>Normal</a:t>
                      </a:r>
                    </a:p>
                  </a:txBody>
                  <a:tcPr marL="54864" marR="54864" marT="27432" marB="27432" anchor="ctr">
                    <a:solidFill>
                      <a:srgbClr val="F2F2F2"/>
                    </a:solidFill>
                  </a:tcPr>
                </a:tc>
                <a:tc>
                  <a:txBody>
                    <a:bodyPr wrap="square"/>
                    <a:lstStyle/>
                    <a:p>
                      <a:r>
                        <a:rPr sz="1150" b="0">
                          <a:solidFill>
                            <a:srgbClr val="1A1A1A"/>
                          </a:solidFill>
                          <a:latin typeface="Abadi"/>
                        </a:rPr>
                        <a:t>Low or normal</a:t>
                      </a:r>
                    </a:p>
                  </a:txBody>
                  <a:tcPr marL="54864" marR="54864" marT="27432" marB="27432" anchor="ctr">
                    <a:solidFill>
                      <a:srgbClr val="F2F2F2"/>
                    </a:solidFill>
                  </a:tcPr>
                </a:tc>
                <a:tc>
                  <a:txBody>
                    <a:bodyPr wrap="square"/>
                    <a:lstStyle/>
                    <a:p>
                      <a:r>
                        <a:rPr sz="1150" b="0">
                          <a:solidFill>
                            <a:srgbClr val="1A1A1A"/>
                          </a:solidFill>
                          <a:latin typeface="Abadi"/>
                        </a:rPr>
                        <a:t>Usually absent</a:t>
                      </a:r>
                    </a:p>
                  </a:txBody>
                  <a:tcPr marL="54864" marR="54864" marT="27432" marB="27432" anchor="ctr">
                    <a:solidFill>
                      <a:srgbClr val="F2F2F2"/>
                    </a:solidFill>
                  </a:tcPr>
                </a:tc>
                <a:tc>
                  <a:txBody>
                    <a:bodyPr wrap="square"/>
                    <a:lstStyle/>
                    <a:p>
                      <a:r>
                        <a:rPr sz="1150" b="0">
                          <a:solidFill>
                            <a:srgbClr val="1A1A1A"/>
                          </a:solidFill>
                          <a:latin typeface="Abadi"/>
                        </a:rPr>
                        <a:t>Urine bile acids; rickets, vitamin deficiency</a:t>
                      </a:r>
                    </a:p>
                  </a:txBody>
                  <a:tcPr marL="54864" marR="54864" marT="27432" marB="27432" anchor="ctr">
                    <a:solidFill>
                      <a:srgbClr val="F2F2F2"/>
                    </a:solidFill>
                  </a:tcPr>
                </a:tc>
              </a:tr>
              <a:tr h="475488">
                <a:tc>
                  <a:txBody>
                    <a:bodyPr wrap="square"/>
                    <a:lstStyle/>
                    <a:p>
                      <a:r>
                        <a:rPr sz="1150" b="1">
                          <a:solidFill>
                            <a:srgbClr val="1A1A1A"/>
                          </a:solidFill>
                          <a:latin typeface="Abadi"/>
                        </a:rPr>
                        <a:t>Δ4-reductase (AKR1D1)</a:t>
                      </a:r>
                    </a:p>
                  </a:txBody>
                  <a:tcPr marL="54864" marR="54864" marT="27432" marB="27432" anchor="ctr">
                    <a:solidFill>
                      <a:srgbClr val="FFFFFF"/>
                    </a:solidFill>
                  </a:tcPr>
                </a:tc>
                <a:tc>
                  <a:txBody>
                    <a:bodyPr wrap="square"/>
                    <a:lstStyle/>
                    <a:p>
                      <a:r>
                        <a:rPr sz="1150" b="0">
                          <a:solidFill>
                            <a:srgbClr val="1A1A1A"/>
                          </a:solidFill>
                          <a:latin typeface="Abadi"/>
                        </a:rPr>
                        <a:t>Normal or high</a:t>
                      </a:r>
                    </a:p>
                  </a:txBody>
                  <a:tcPr marL="54864" marR="54864" marT="27432" marB="27432" anchor="ctr">
                    <a:solidFill>
                      <a:srgbClr val="FFFFFF"/>
                    </a:solidFill>
                  </a:tcPr>
                </a:tc>
                <a:tc>
                  <a:txBody>
                    <a:bodyPr wrap="square"/>
                    <a:lstStyle/>
                    <a:p>
                      <a:r>
                        <a:rPr sz="1150" b="0">
                          <a:solidFill>
                            <a:srgbClr val="1A1A1A"/>
                          </a:solidFill>
                          <a:latin typeface="Abadi"/>
                        </a:rPr>
                        <a:t>Low or normal</a:t>
                      </a:r>
                    </a:p>
                  </a:txBody>
                  <a:tcPr marL="54864" marR="54864" marT="27432" marB="27432" anchor="ctr">
                    <a:solidFill>
                      <a:srgbClr val="FFFFFF"/>
                    </a:solidFill>
                  </a:tcPr>
                </a:tc>
                <a:tc>
                  <a:txBody>
                    <a:bodyPr wrap="square"/>
                    <a:lstStyle/>
                    <a:p>
                      <a:r>
                        <a:rPr sz="1150" b="0">
                          <a:solidFill>
                            <a:srgbClr val="1A1A1A"/>
                          </a:solidFill>
                          <a:latin typeface="Abadi"/>
                        </a:rPr>
                        <a:t>Usually absent</a:t>
                      </a:r>
                    </a:p>
                  </a:txBody>
                  <a:tcPr marL="54864" marR="54864" marT="27432" marB="27432" anchor="ctr">
                    <a:solidFill>
                      <a:srgbClr val="FFFFFF"/>
                    </a:solidFill>
                  </a:tcPr>
                </a:tc>
                <a:tc>
                  <a:txBody>
                    <a:bodyPr wrap="square"/>
                    <a:lstStyle/>
                    <a:p>
                      <a:r>
                        <a:rPr sz="1150" b="0">
                          <a:solidFill>
                            <a:srgbClr val="1A1A1A"/>
                          </a:solidFill>
                          <a:latin typeface="Abadi"/>
                        </a:rPr>
                        <a:t>Urine Δ4-3-oxo acids over 75%; repeat</a:t>
                      </a:r>
                    </a:p>
                  </a:txBody>
                  <a:tcPr marL="54864" marR="54864" marT="27432" marB="27432" anchor="ctr">
                    <a:solidFill>
                      <a:srgbClr val="FFFFFF"/>
                    </a:solidFill>
                  </a:tcPr>
                </a:tc>
              </a:tr>
              <a:tr h="475488">
                <a:tc>
                  <a:txBody>
                    <a:bodyPr wrap="square"/>
                    <a:lstStyle/>
                    <a:p>
                      <a:r>
                        <a:rPr sz="1150" b="1">
                          <a:solidFill>
                            <a:srgbClr val="1A1A1A"/>
                          </a:solidFill>
                          <a:latin typeface="Abadi"/>
                        </a:rPr>
                        <a:t>Citrin (SLC25A13)</a:t>
                      </a:r>
                    </a:p>
                  </a:txBody>
                  <a:tcPr marL="54864" marR="54864" marT="27432" marB="27432" anchor="ctr">
                    <a:solidFill>
                      <a:srgbClr val="F2F2F2"/>
                    </a:solidFill>
                  </a:tcPr>
                </a:tc>
                <a:tc>
                  <a:txBody>
                    <a:bodyPr wrap="square"/>
                    <a:lstStyle/>
                    <a:p>
                      <a:r>
                        <a:rPr sz="1150" b="0">
                          <a:solidFill>
                            <a:srgbClr val="1A1A1A"/>
                          </a:solidFill>
                          <a:latin typeface="Abadi"/>
                        </a:rPr>
                        <a:t>High</a:t>
                      </a:r>
                    </a:p>
                  </a:txBody>
                  <a:tcPr marL="54864" marR="54864" marT="27432" marB="27432" anchor="ctr">
                    <a:solidFill>
                      <a:srgbClr val="F2F2F2"/>
                    </a:solidFill>
                  </a:tcPr>
                </a:tc>
                <a:tc>
                  <a:txBody>
                    <a:bodyPr wrap="square"/>
                    <a:lstStyle/>
                    <a:p>
                      <a:r>
                        <a:rPr sz="1150" b="0">
                          <a:solidFill>
                            <a:srgbClr val="1A1A1A"/>
                          </a:solidFill>
                          <a:latin typeface="Abadi"/>
                        </a:rPr>
                        <a:t>High</a:t>
                      </a:r>
                    </a:p>
                  </a:txBody>
                  <a:tcPr marL="54864" marR="54864" marT="27432" marB="27432" anchor="ctr">
                    <a:solidFill>
                      <a:srgbClr val="F2F2F2"/>
                    </a:solidFill>
                  </a:tcPr>
                </a:tc>
                <a:tc>
                  <a:txBody>
                    <a:bodyPr wrap="square"/>
                    <a:lstStyle/>
                    <a:p>
                      <a:r>
                        <a:rPr sz="1150" b="0">
                          <a:solidFill>
                            <a:srgbClr val="1A1A1A"/>
                          </a:solidFill>
                          <a:latin typeface="Abadi"/>
                        </a:rPr>
                        <a:t>Variable</a:t>
                      </a:r>
                    </a:p>
                  </a:txBody>
                  <a:tcPr marL="54864" marR="54864" marT="27432" marB="27432" anchor="ctr">
                    <a:solidFill>
                      <a:srgbClr val="F2F2F2"/>
                    </a:solidFill>
                  </a:tcPr>
                </a:tc>
                <a:tc>
                  <a:txBody>
                    <a:bodyPr wrap="square"/>
                    <a:lstStyle/>
                    <a:p>
                      <a:r>
                        <a:rPr sz="1150" b="0">
                          <a:solidFill>
                            <a:srgbClr val="1A1A1A"/>
                          </a:solidFill>
                          <a:latin typeface="Abadi"/>
                        </a:rPr>
                        <a:t>Citrulline, galactose, AFP; SLC25A13</a:t>
                      </a:r>
                    </a:p>
                  </a:txBody>
                  <a:tcPr marL="54864" marR="54864" marT="27432" marB="27432" anchor="ctr">
                    <a:solidFill>
                      <a:srgbClr val="F2F2F2"/>
                    </a:solidFill>
                  </a:tcPr>
                </a:tc>
              </a:tr>
            </a:tbl>
          </a:graphicData>
        </a:graphic>
      </p:graphicFrame>
      <p:sp>
        <p:nvSpPr>
          <p:cNvPr id="13" name="TextBox 12"/>
          <p:cNvSpPr txBox="1"/>
          <p:nvPr/>
        </p:nvSpPr>
        <p:spPr>
          <a:xfrm>
            <a:off x="548640" y="5257800"/>
            <a:ext cx="11091672" cy="548640"/>
          </a:xfrm>
          <a:prstGeom prst="rect">
            <a:avLst/>
          </a:prstGeom>
          <a:noFill/>
        </p:spPr>
        <p:txBody>
          <a:bodyPr wrap="square" lIns="0" rIns="0" tIns="18288" bIns="18288" anchor="t">
            <a:spAutoFit/>
          </a:bodyPr>
          <a:lstStyle/>
          <a:p>
            <a:pPr algn="l"/>
            <a:r>
              <a:rPr sz="1250" b="1" i="0">
                <a:solidFill>
                  <a:srgbClr val="B22222"/>
                </a:solidFill>
                <a:latin typeface="Abadi"/>
              </a:rPr>
              <a:t>The pair that matters.  </a:t>
            </a:r>
            <a:r>
              <a:rPr sz="1250" b="0" i="0">
                <a:solidFill>
                  <a:srgbClr val="1A1A1A"/>
                </a:solidFill>
                <a:latin typeface="Abadi"/>
              </a:rPr>
              <a:t>Low GGT with high bile acids and itch points to PFIC; low GGT with low bile acids and no itch points to a synthesis defect. In the Chinese HSD3B7 cohort serum bile acids ranged 0.2–85.4 µmol/L, so 'low' is a tendency, not a rule.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IV</a:t>
            </a:r>
          </a:p>
        </p:txBody>
      </p:sp>
      <p:sp>
        <p:nvSpPr>
          <p:cNvPr id="4" name="TextBox 3"/>
          <p:cNvSpPr txBox="1"/>
          <p:nvPr/>
        </p:nvSpPr>
        <p:spPr>
          <a:xfrm>
            <a:off x="1389888" y="301752"/>
            <a:ext cx="10241280" cy="347472"/>
          </a:xfrm>
          <a:prstGeom prst="rect">
            <a:avLst/>
          </a:prstGeom>
          <a:noFill/>
        </p:spPr>
        <p:txBody>
          <a:bodyPr wrap="square" lIns="0" rIns="0" tIns="18288" bIns="18288" anchor="ctr">
            <a:spAutoFit/>
          </a:bodyPr>
          <a:lstStyle/>
          <a:p>
            <a:pPr algn="l"/>
            <a:r>
              <a:rPr sz="1200" b="1" i="0">
                <a:solidFill>
                  <a:srgbClr val="2E5A88"/>
                </a:solidFill>
                <a:latin typeface="Abadi"/>
              </a:rPr>
              <a:t>DIAGNOSIS</a:t>
            </a:r>
          </a:p>
        </p:txBody>
      </p:sp>
      <p:sp>
        <p:nvSpPr>
          <p:cNvPr id="5" name="TextBox 4"/>
          <p:cNvSpPr txBox="1"/>
          <p:nvPr/>
        </p:nvSpPr>
        <p:spPr>
          <a:xfrm>
            <a:off x="548640" y="731520"/>
            <a:ext cx="11091672" cy="548640"/>
          </a:xfrm>
          <a:prstGeom prst="rect">
            <a:avLst/>
          </a:prstGeom>
          <a:noFill/>
        </p:spPr>
        <p:txBody>
          <a:bodyPr wrap="square" lIns="0" rIns="0" tIns="18288" bIns="18288" anchor="t">
            <a:spAutoFit/>
          </a:bodyPr>
          <a:lstStyle/>
          <a:p>
            <a:pPr algn="l"/>
            <a:r>
              <a:rPr sz="3000" b="1" i="0">
                <a:solidFill>
                  <a:srgbClr val="1B355E"/>
                </a:solidFill>
                <a:latin typeface="Abadi"/>
              </a:rPr>
              <a:t>COLLECT THE URINE BEFORE THE FIRST DOSE OF UDCA</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Making the diagnosis of a bile acid synthesis disorder</a:t>
            </a:r>
          </a:p>
        </p:txBody>
      </p:sp>
      <p:sp>
        <p:nvSpPr>
          <p:cNvPr id="7" name="Rectangle 6"/>
          <p:cNvSpPr/>
          <p:nvPr/>
        </p:nvSpPr>
        <p:spPr>
          <a:xfrm>
            <a:off x="548640" y="1600200"/>
            <a:ext cx="11091672" cy="2743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12</a:t>
            </a:r>
          </a:p>
        </p:txBody>
      </p:sp>
      <p:sp>
        <p:nvSpPr>
          <p:cNvPr id="11" name="TextBox 10"/>
          <p:cNvSpPr txBox="1"/>
          <p:nvPr/>
        </p:nvSpPr>
        <p:spPr>
          <a:xfrm>
            <a:off x="548640" y="5971032"/>
            <a:ext cx="10296144" cy="457200"/>
          </a:xfrm>
          <a:prstGeom prst="rect">
            <a:avLst/>
          </a:prstGeom>
          <a:noFill/>
        </p:spPr>
        <p:txBody>
          <a:bodyPr wrap="square" lIns="0" rIns="0" tIns="18288" bIns="18288" anchor="t">
            <a:spAutoFit/>
          </a:bodyPr>
          <a:lstStyle/>
          <a:p>
            <a:pPr algn="l"/>
            <a:r>
              <a:rPr sz="1000" b="0" i="1">
                <a:solidFill>
                  <a:srgbClr val="555555"/>
                </a:solidFill>
                <a:latin typeface="Abadi"/>
              </a:rPr>
              <a:t>Heubi JE, Setchell KDR, Bove KE. Semin Liver Dis 2007;27:282–94 · Fawaz R, et al. JPGN 2017;64:154–68</a:t>
            </a:r>
          </a:p>
        </p:txBody>
      </p:sp>
      <p:sp>
        <p:nvSpPr>
          <p:cNvPr id="12" name="Rectangle 11"/>
          <p:cNvSpPr/>
          <p:nvPr/>
        </p:nvSpPr>
        <p:spPr>
          <a:xfrm>
            <a:off x="548640" y="1783080"/>
            <a:ext cx="2587752" cy="20116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83080"/>
            <a:ext cx="2587752" cy="7315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984248"/>
            <a:ext cx="2221992" cy="502920"/>
          </a:xfrm>
          <a:prstGeom prst="rect">
            <a:avLst/>
          </a:prstGeom>
          <a:noFill/>
        </p:spPr>
        <p:txBody>
          <a:bodyPr wrap="square" lIns="0" rIns="0" tIns="18288" bIns="18288" anchor="t">
            <a:spAutoFit/>
          </a:bodyPr>
          <a:lstStyle/>
          <a:p>
            <a:pPr algn="l"/>
            <a:r>
              <a:rPr sz="2400" b="1" i="0">
                <a:solidFill>
                  <a:srgbClr val="1B355E"/>
                </a:solidFill>
                <a:latin typeface="Abadi"/>
              </a:rPr>
              <a:t>1–2%</a:t>
            </a:r>
          </a:p>
        </p:txBody>
      </p:sp>
      <p:sp>
        <p:nvSpPr>
          <p:cNvPr id="15" name="TextBox 14"/>
          <p:cNvSpPr txBox="1"/>
          <p:nvPr/>
        </p:nvSpPr>
        <p:spPr>
          <a:xfrm>
            <a:off x="731520" y="2560320"/>
            <a:ext cx="2221992" cy="1143000"/>
          </a:xfrm>
          <a:prstGeom prst="rect">
            <a:avLst/>
          </a:prstGeom>
          <a:noFill/>
        </p:spPr>
        <p:txBody>
          <a:bodyPr wrap="square" lIns="0" rIns="0" tIns="18288" bIns="18288" anchor="t">
            <a:spAutoFit/>
          </a:bodyPr>
          <a:lstStyle/>
          <a:p>
            <a:pPr algn="l"/>
            <a:r>
              <a:rPr sz="1200" b="0" i="0">
                <a:solidFill>
                  <a:srgbClr val="1A1A1A"/>
                </a:solidFill>
                <a:latin typeface="Abadi"/>
              </a:rPr>
              <a:t>Estimated share of chronic liver disease in infants, children and adolescents due to bile acid synthesis defects</a:t>
            </a:r>
          </a:p>
        </p:txBody>
      </p:sp>
      <p:sp>
        <p:nvSpPr>
          <p:cNvPr id="16" name="Rectangle 15"/>
          <p:cNvSpPr/>
          <p:nvPr/>
        </p:nvSpPr>
        <p:spPr>
          <a:xfrm>
            <a:off x="3383280" y="1783080"/>
            <a:ext cx="2587752" cy="20116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83280" y="1783080"/>
            <a:ext cx="2587752" cy="7315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0" y="1984248"/>
            <a:ext cx="2221992" cy="502920"/>
          </a:xfrm>
          <a:prstGeom prst="rect">
            <a:avLst/>
          </a:prstGeom>
          <a:noFill/>
        </p:spPr>
        <p:txBody>
          <a:bodyPr wrap="square" lIns="0" rIns="0" tIns="18288" bIns="18288" anchor="t">
            <a:spAutoFit/>
          </a:bodyPr>
          <a:lstStyle/>
          <a:p>
            <a:pPr algn="l"/>
            <a:r>
              <a:rPr sz="2400" b="1" i="0">
                <a:solidFill>
                  <a:srgbClr val="1B355E"/>
                </a:solidFill>
                <a:latin typeface="Abadi"/>
              </a:rPr>
              <a:t>128 of ~7,000</a:t>
            </a:r>
          </a:p>
        </p:txBody>
      </p:sp>
      <p:sp>
        <p:nvSpPr>
          <p:cNvPr id="19" name="TextBox 18"/>
          <p:cNvSpPr txBox="1"/>
          <p:nvPr/>
        </p:nvSpPr>
        <p:spPr>
          <a:xfrm>
            <a:off x="3566160" y="2560320"/>
            <a:ext cx="2221992" cy="1143000"/>
          </a:xfrm>
          <a:prstGeom prst="rect">
            <a:avLst/>
          </a:prstGeom>
          <a:noFill/>
        </p:spPr>
        <p:txBody>
          <a:bodyPr wrap="square" lIns="0" rIns="0" tIns="18288" bIns="18288" anchor="t">
            <a:spAutoFit/>
          </a:bodyPr>
          <a:lstStyle/>
          <a:p>
            <a:pPr algn="l"/>
            <a:r>
              <a:rPr sz="1200" b="0" i="0">
                <a:solidFill>
                  <a:srgbClr val="1A1A1A"/>
                </a:solidFill>
                <a:latin typeface="Abadi"/>
              </a:rPr>
              <a:t>Defects found in about 7,000 urine samples over 20 years at the Cincinnati reference laboratory</a:t>
            </a:r>
          </a:p>
        </p:txBody>
      </p:sp>
      <p:sp>
        <p:nvSpPr>
          <p:cNvPr id="20" name="Rectangle 19"/>
          <p:cNvSpPr/>
          <p:nvPr/>
        </p:nvSpPr>
        <p:spPr>
          <a:xfrm>
            <a:off x="6217920" y="1783080"/>
            <a:ext cx="2587752" cy="20116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783080"/>
            <a:ext cx="2587752" cy="7315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1984248"/>
            <a:ext cx="2221992" cy="502920"/>
          </a:xfrm>
          <a:prstGeom prst="rect">
            <a:avLst/>
          </a:prstGeom>
          <a:noFill/>
        </p:spPr>
        <p:txBody>
          <a:bodyPr wrap="square" lIns="0" rIns="0" tIns="18288" bIns="18288" anchor="t">
            <a:spAutoFit/>
          </a:bodyPr>
          <a:lstStyle/>
          <a:p>
            <a:pPr algn="l"/>
            <a:r>
              <a:rPr sz="2400" b="1" i="0">
                <a:solidFill>
                  <a:srgbClr val="1B355E"/>
                </a:solidFill>
                <a:latin typeface="Abadi"/>
              </a:rPr>
              <a:t>Over 75%</a:t>
            </a:r>
          </a:p>
        </p:txBody>
      </p:sp>
      <p:sp>
        <p:nvSpPr>
          <p:cNvPr id="23" name="TextBox 22"/>
          <p:cNvSpPr txBox="1"/>
          <p:nvPr/>
        </p:nvSpPr>
        <p:spPr>
          <a:xfrm>
            <a:off x="6400800" y="2560320"/>
            <a:ext cx="2221992" cy="1143000"/>
          </a:xfrm>
          <a:prstGeom prst="rect">
            <a:avLst/>
          </a:prstGeom>
          <a:noFill/>
        </p:spPr>
        <p:txBody>
          <a:bodyPr wrap="square" lIns="0" rIns="0" tIns="18288" bIns="18288" anchor="t">
            <a:spAutoFit/>
          </a:bodyPr>
          <a:lstStyle/>
          <a:p>
            <a:pPr algn="l"/>
            <a:r>
              <a:rPr sz="1200" b="0" i="0">
                <a:solidFill>
                  <a:srgbClr val="1A1A1A"/>
                </a:solidFill>
                <a:latin typeface="Abadi"/>
              </a:rPr>
              <a:t>Share of urinary bile acids that are Δ4-3-oxo species in primary 5β-reductase deficiency</a:t>
            </a:r>
          </a:p>
        </p:txBody>
      </p:sp>
      <p:sp>
        <p:nvSpPr>
          <p:cNvPr id="24" name="Rectangle 23"/>
          <p:cNvSpPr/>
          <p:nvPr/>
        </p:nvSpPr>
        <p:spPr>
          <a:xfrm>
            <a:off x="9052560" y="1783080"/>
            <a:ext cx="2587752" cy="201168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52560" y="1783080"/>
            <a:ext cx="2587752" cy="73152"/>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0" y="1984248"/>
            <a:ext cx="2221992" cy="502920"/>
          </a:xfrm>
          <a:prstGeom prst="rect">
            <a:avLst/>
          </a:prstGeom>
          <a:noFill/>
        </p:spPr>
        <p:txBody>
          <a:bodyPr wrap="square" lIns="0" rIns="0" tIns="18288" bIns="18288" anchor="t">
            <a:spAutoFit/>
          </a:bodyPr>
          <a:lstStyle/>
          <a:p>
            <a:pPr algn="l"/>
            <a:r>
              <a:rPr sz="2400" b="1" i="0">
                <a:solidFill>
                  <a:srgbClr val="1B355E"/>
                </a:solidFill>
                <a:latin typeface="Abadi"/>
              </a:rPr>
              <a:t>7–10 days</a:t>
            </a:r>
          </a:p>
        </p:txBody>
      </p:sp>
      <p:sp>
        <p:nvSpPr>
          <p:cNvPr id="27" name="TextBox 26"/>
          <p:cNvSpPr txBox="1"/>
          <p:nvPr/>
        </p:nvSpPr>
        <p:spPr>
          <a:xfrm>
            <a:off x="9235440" y="2560320"/>
            <a:ext cx="2221992" cy="1143000"/>
          </a:xfrm>
          <a:prstGeom prst="rect">
            <a:avLst/>
          </a:prstGeom>
          <a:noFill/>
        </p:spPr>
        <p:txBody>
          <a:bodyPr wrap="square" lIns="0" rIns="0" tIns="18288" bIns="18288" anchor="t">
            <a:spAutoFit/>
          </a:bodyPr>
          <a:lstStyle/>
          <a:p>
            <a:pPr algn="l"/>
            <a:r>
              <a:rPr sz="1200" b="0" i="0">
                <a:solidFill>
                  <a:srgbClr val="1A1A1A"/>
                </a:solidFill>
                <a:latin typeface="Abadi"/>
              </a:rPr>
              <a:t>Stop ursodeoxycholic acid before the urine sample, or its metabolites obscure the profile</a:t>
            </a:r>
          </a:p>
        </p:txBody>
      </p:sp>
      <p:sp>
        <p:nvSpPr>
          <p:cNvPr id="28" name="TextBox 27"/>
          <p:cNvSpPr txBox="1"/>
          <p:nvPr/>
        </p:nvSpPr>
        <p:spPr>
          <a:xfrm>
            <a:off x="548640" y="4069080"/>
            <a:ext cx="11091672" cy="1737360"/>
          </a:xfrm>
          <a:prstGeom prst="rect">
            <a:avLst/>
          </a:prstGeom>
          <a:noFill/>
        </p:spPr>
        <p:txBody>
          <a:bodyPr wrap="square" lIns="0" rIns="0" tIns="18288" bIns="18288" anchor="t">
            <a:spAutoFit/>
          </a:bodyPr>
          <a:lstStyle/>
          <a:p>
            <a:pPr algn="l">
              <a:spcAft>
                <a:spcPts val="800"/>
              </a:spcAft>
            </a:pPr>
            <a:r>
              <a:rPr sz="1300" b="1" i="0">
                <a:solidFill>
                  <a:srgbClr val="1B355E"/>
                </a:solidFill>
                <a:latin typeface="Abadi"/>
              </a:rPr>
              <a:t>The method.  </a:t>
            </a:r>
            <a:r>
              <a:rPr sz="1300" b="0" i="0">
                <a:solidFill>
                  <a:srgbClr val="1A1A1A"/>
                </a:solidFill>
                <a:latin typeface="Abadi"/>
              </a:rPr>
              <a:t>Urine mass spectrometry (fast atom bombardment or liquid chromatography–tandem) identifies the atypical species; the 2017 joint guideline places it in tier 2 and suggests it before UDCA is started.</a:t>
            </a:r>
          </a:p>
          <a:p>
            <a:pPr algn="l">
              <a:spcAft>
                <a:spcPts val="800"/>
              </a:spcAft>
            </a:pPr>
            <a:r>
              <a:rPr sz="1300" b="1" i="0">
                <a:solidFill>
                  <a:srgbClr val="B22222"/>
                </a:solidFill>
                <a:latin typeface="Abadi"/>
              </a:rPr>
              <a:t>The trap.  </a:t>
            </a:r>
            <a:r>
              <a:rPr sz="1300" b="0" i="0">
                <a:solidFill>
                  <a:srgbClr val="1A1A1A"/>
                </a:solidFill>
                <a:latin typeface="Abadi"/>
              </a:rPr>
              <a:t>Δ4-3-oxo bile acids also appear secondarily in severe liver disease of any cause and in the first weeks of life; repeat the urine and confirm with AKR1D1 sequencing.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a:t>
            </a:r>
          </a:p>
        </p:txBody>
      </p:sp>
      <p:sp>
        <p:nvSpPr>
          <p:cNvPr id="4" name="TextBox 3"/>
          <p:cNvSpPr txBox="1"/>
          <p:nvPr/>
        </p:nvSpPr>
        <p:spPr>
          <a:xfrm>
            <a:off x="1389888" y="301752"/>
            <a:ext cx="10241280" cy="347472"/>
          </a:xfrm>
          <a:prstGeom prst="rect">
            <a:avLst/>
          </a:prstGeom>
          <a:noFill/>
        </p:spPr>
        <p:txBody>
          <a:bodyPr wrap="square" lIns="0" rIns="0" tIns="18288" bIns="18288" anchor="ctr">
            <a:spAutoFit/>
          </a:bodyPr>
          <a:lstStyle/>
          <a:p>
            <a:pPr algn="l"/>
            <a:r>
              <a:rPr sz="1200" b="1" i="0">
                <a:solidFill>
                  <a:srgbClr val="2E5A88"/>
                </a:solidFill>
                <a:latin typeface="Abadi"/>
              </a:rPr>
              <a:t>CHOLIC ACID: THE LONG VIEW</a:t>
            </a:r>
          </a:p>
        </p:txBody>
      </p:sp>
      <p:sp>
        <p:nvSpPr>
          <p:cNvPr id="5" name="TextBox 4"/>
          <p:cNvSpPr txBox="1"/>
          <p:nvPr/>
        </p:nvSpPr>
        <p:spPr>
          <a:xfrm>
            <a:off x="548640" y="731520"/>
            <a:ext cx="11091672" cy="548640"/>
          </a:xfrm>
          <a:prstGeom prst="rect">
            <a:avLst/>
          </a:prstGeom>
          <a:noFill/>
        </p:spPr>
        <p:txBody>
          <a:bodyPr wrap="square" lIns="0" rIns="0" tIns="18288" bIns="18288" anchor="t">
            <a:spAutoFit/>
          </a:bodyPr>
          <a:lstStyle/>
          <a:p>
            <a:pPr algn="l"/>
            <a:r>
              <a:rPr sz="3000" b="1" i="0">
                <a:solidFill>
                  <a:srgbClr val="1B355E"/>
                </a:solidFill>
                <a:latin typeface="Abadi"/>
              </a:rPr>
              <a:t>TWENTY YEARS ON CHOLIC ACID, FIFTEEN NATIVE LIVERS</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French cohort: 13 with 3β-HSD deficiency, 2 with Δ4-reductase deficiency, followed to a median age of 24 years</a:t>
            </a:r>
          </a:p>
        </p:txBody>
      </p:sp>
      <p:sp>
        <p:nvSpPr>
          <p:cNvPr id="7" name="Rectangle 6"/>
          <p:cNvSpPr/>
          <p:nvPr/>
        </p:nvSpPr>
        <p:spPr>
          <a:xfrm>
            <a:off x="548640" y="1600200"/>
            <a:ext cx="11091672" cy="2743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13</a:t>
            </a:r>
          </a:p>
        </p:txBody>
      </p:sp>
      <p:sp>
        <p:nvSpPr>
          <p:cNvPr id="11" name="TextBox 10"/>
          <p:cNvSpPr txBox="1"/>
          <p:nvPr/>
        </p:nvSpPr>
        <p:spPr>
          <a:xfrm>
            <a:off x="548640" y="5971032"/>
            <a:ext cx="10296144" cy="457200"/>
          </a:xfrm>
          <a:prstGeom prst="rect">
            <a:avLst/>
          </a:prstGeom>
          <a:noFill/>
        </p:spPr>
        <p:txBody>
          <a:bodyPr wrap="square" lIns="0" rIns="0" tIns="18288" bIns="18288" anchor="t">
            <a:spAutoFit/>
          </a:bodyPr>
          <a:lstStyle/>
          <a:p>
            <a:pPr algn="l"/>
            <a:r>
              <a:rPr sz="1000" b="0" i="1">
                <a:solidFill>
                  <a:srgbClr val="555555"/>
                </a:solidFill>
                <a:latin typeface="Abadi"/>
              </a:rPr>
              <a:t>Gonzales E, et al. Orphanet J Rare Dis 2018;13:190 · Gonzales E, et al. Gastroenterology 2009 · Heubi JE, et al. Semin Liver Dis 2007</a:t>
            </a:r>
          </a:p>
        </p:txBody>
      </p:sp>
      <p:sp>
        <p:nvSpPr>
          <p:cNvPr id="12" name="Rectangle 11"/>
          <p:cNvSpPr/>
          <p:nvPr/>
        </p:nvSpPr>
        <p:spPr>
          <a:xfrm>
            <a:off x="548640" y="1783080"/>
            <a:ext cx="2587752" cy="21031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83080"/>
            <a:ext cx="2587752" cy="73152"/>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984248"/>
            <a:ext cx="2221992" cy="502920"/>
          </a:xfrm>
          <a:prstGeom prst="rect">
            <a:avLst/>
          </a:prstGeom>
          <a:noFill/>
        </p:spPr>
        <p:txBody>
          <a:bodyPr wrap="square" lIns="0" rIns="0" tIns="18288" bIns="18288" anchor="t">
            <a:spAutoFit/>
          </a:bodyPr>
          <a:lstStyle/>
          <a:p>
            <a:pPr algn="l"/>
            <a:r>
              <a:rPr sz="2400" b="1" i="0">
                <a:solidFill>
                  <a:srgbClr val="1B355E"/>
                </a:solidFill>
                <a:latin typeface="Abadi"/>
              </a:rPr>
              <a:t>15 of 15</a:t>
            </a:r>
          </a:p>
        </p:txBody>
      </p:sp>
      <p:sp>
        <p:nvSpPr>
          <p:cNvPr id="15" name="TextBox 14"/>
          <p:cNvSpPr txBox="1"/>
          <p:nvPr/>
        </p:nvSpPr>
        <p:spPr>
          <a:xfrm>
            <a:off x="731520" y="2560320"/>
            <a:ext cx="2221992" cy="1234439"/>
          </a:xfrm>
          <a:prstGeom prst="rect">
            <a:avLst/>
          </a:prstGeom>
          <a:noFill/>
        </p:spPr>
        <p:txBody>
          <a:bodyPr wrap="square" lIns="0" rIns="0" tIns="18288" bIns="18288" anchor="t">
            <a:spAutoFit/>
          </a:bodyPr>
          <a:lstStyle/>
          <a:p>
            <a:pPr algn="l"/>
            <a:r>
              <a:rPr sz="1200" b="0" i="0">
                <a:solidFill>
                  <a:srgbClr val="1A1A1A"/>
                </a:solidFill>
                <a:latin typeface="Abadi"/>
              </a:rPr>
              <a:t>Alive with their native liver; liver tests, AFP, vitamins and growth normal at last follow-up</a:t>
            </a:r>
          </a:p>
        </p:txBody>
      </p:sp>
      <p:sp>
        <p:nvSpPr>
          <p:cNvPr id="16" name="Rectangle 15"/>
          <p:cNvSpPr/>
          <p:nvPr/>
        </p:nvSpPr>
        <p:spPr>
          <a:xfrm>
            <a:off x="3383280" y="1783080"/>
            <a:ext cx="2587752" cy="21031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83280" y="1783080"/>
            <a:ext cx="2587752" cy="7315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0" y="1984248"/>
            <a:ext cx="2221992" cy="502920"/>
          </a:xfrm>
          <a:prstGeom prst="rect">
            <a:avLst/>
          </a:prstGeom>
          <a:noFill/>
        </p:spPr>
        <p:txBody>
          <a:bodyPr wrap="square" lIns="0" rIns="0" tIns="18288" bIns="18288" anchor="t">
            <a:spAutoFit/>
          </a:bodyPr>
          <a:lstStyle/>
          <a:p>
            <a:pPr algn="l"/>
            <a:r>
              <a:rPr sz="2400" b="1" i="0">
                <a:solidFill>
                  <a:srgbClr val="1B355E"/>
                </a:solidFill>
                <a:latin typeface="Abadi"/>
              </a:rPr>
              <a:t>21.4 years</a:t>
            </a:r>
          </a:p>
        </p:txBody>
      </p:sp>
      <p:sp>
        <p:nvSpPr>
          <p:cNvPr id="19" name="TextBox 18"/>
          <p:cNvSpPr txBox="1"/>
          <p:nvPr/>
        </p:nvSpPr>
        <p:spPr>
          <a:xfrm>
            <a:off x="3566160" y="2560320"/>
            <a:ext cx="2221992" cy="1234439"/>
          </a:xfrm>
          <a:prstGeom prst="rect">
            <a:avLst/>
          </a:prstGeom>
          <a:noFill/>
        </p:spPr>
        <p:txBody>
          <a:bodyPr wrap="square" lIns="0" rIns="0" tIns="18288" bIns="18288" anchor="t">
            <a:spAutoFit/>
          </a:bodyPr>
          <a:lstStyle/>
          <a:p>
            <a:pPr algn="l"/>
            <a:r>
              <a:rPr sz="1200" b="0" i="0">
                <a:solidFill>
                  <a:srgbClr val="1A1A1A"/>
                </a:solidFill>
                <a:latin typeface="Abadi"/>
              </a:rPr>
              <a:t>Median duration of treatment, more than 300 patient-years without a serious adverse event</a:t>
            </a:r>
          </a:p>
        </p:txBody>
      </p:sp>
      <p:sp>
        <p:nvSpPr>
          <p:cNvPr id="20" name="Rectangle 19"/>
          <p:cNvSpPr/>
          <p:nvPr/>
        </p:nvSpPr>
        <p:spPr>
          <a:xfrm>
            <a:off x="6217920" y="1783080"/>
            <a:ext cx="2587752" cy="21031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783080"/>
            <a:ext cx="2587752" cy="7315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1984248"/>
            <a:ext cx="2221992" cy="502920"/>
          </a:xfrm>
          <a:prstGeom prst="rect">
            <a:avLst/>
          </a:prstGeom>
          <a:noFill/>
        </p:spPr>
        <p:txBody>
          <a:bodyPr wrap="square" lIns="0" rIns="0" tIns="18288" bIns="18288" anchor="t">
            <a:spAutoFit/>
          </a:bodyPr>
          <a:lstStyle/>
          <a:p>
            <a:pPr algn="l"/>
            <a:r>
              <a:rPr sz="2400" b="1" i="0">
                <a:solidFill>
                  <a:srgbClr val="1B355E"/>
                </a:solidFill>
                <a:latin typeface="Abadi"/>
              </a:rPr>
              <a:t>~300-fold</a:t>
            </a:r>
          </a:p>
        </p:txBody>
      </p:sp>
      <p:sp>
        <p:nvSpPr>
          <p:cNvPr id="23" name="TextBox 22"/>
          <p:cNvSpPr txBox="1"/>
          <p:nvPr/>
        </p:nvSpPr>
        <p:spPr>
          <a:xfrm>
            <a:off x="6400800" y="2560320"/>
            <a:ext cx="2221992" cy="1234439"/>
          </a:xfrm>
          <a:prstGeom prst="rect">
            <a:avLst/>
          </a:prstGeom>
          <a:noFill/>
        </p:spPr>
        <p:txBody>
          <a:bodyPr wrap="square" lIns="0" rIns="0" tIns="18288" bIns="18288" anchor="t">
            <a:spAutoFit/>
          </a:bodyPr>
          <a:lstStyle/>
          <a:p>
            <a:pPr algn="l"/>
            <a:r>
              <a:rPr sz="1200" b="0" i="0">
                <a:solidFill>
                  <a:srgbClr val="1A1A1A"/>
                </a:solidFill>
                <a:latin typeface="Abadi"/>
              </a:rPr>
              <a:t>Fall in atypical urinary bile acids in 3β-HSD deficiency; about 37-fold in Δ4 deficiency</a:t>
            </a:r>
          </a:p>
        </p:txBody>
      </p:sp>
      <p:sp>
        <p:nvSpPr>
          <p:cNvPr id="24" name="Rectangle 23"/>
          <p:cNvSpPr/>
          <p:nvPr/>
        </p:nvSpPr>
        <p:spPr>
          <a:xfrm>
            <a:off x="9052560" y="1783080"/>
            <a:ext cx="2587752" cy="2103120"/>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52560" y="1783080"/>
            <a:ext cx="2587752" cy="7315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0" y="1984248"/>
            <a:ext cx="2221992" cy="502920"/>
          </a:xfrm>
          <a:prstGeom prst="rect">
            <a:avLst/>
          </a:prstGeom>
          <a:noFill/>
        </p:spPr>
        <p:txBody>
          <a:bodyPr wrap="square" lIns="0" rIns="0" tIns="18288" bIns="18288" anchor="t">
            <a:spAutoFit/>
          </a:bodyPr>
          <a:lstStyle/>
          <a:p>
            <a:pPr algn="l"/>
            <a:r>
              <a:rPr sz="2400" b="1" i="0">
                <a:solidFill>
                  <a:srgbClr val="1B355E"/>
                </a:solidFill>
                <a:latin typeface="Abadi"/>
              </a:rPr>
              <a:t>3 and 10</a:t>
            </a:r>
          </a:p>
        </p:txBody>
      </p:sp>
      <p:sp>
        <p:nvSpPr>
          <p:cNvPr id="27" name="TextBox 26"/>
          <p:cNvSpPr txBox="1"/>
          <p:nvPr/>
        </p:nvSpPr>
        <p:spPr>
          <a:xfrm>
            <a:off x="9235440" y="2560320"/>
            <a:ext cx="2221992" cy="1234439"/>
          </a:xfrm>
          <a:prstGeom prst="rect">
            <a:avLst/>
          </a:prstGeom>
          <a:noFill/>
        </p:spPr>
        <p:txBody>
          <a:bodyPr wrap="square" lIns="0" rIns="0" tIns="18288" bIns="18288" anchor="t">
            <a:spAutoFit/>
          </a:bodyPr>
          <a:lstStyle/>
          <a:p>
            <a:pPr algn="l"/>
            <a:r>
              <a:rPr sz="1200" b="0" i="0">
                <a:solidFill>
                  <a:srgbClr val="1A1A1A"/>
                </a:solidFill>
                <a:latin typeface="Abadi"/>
              </a:rPr>
              <a:t>Cirrhosis regressed in three patients; ten pregnancies were uneventful</a:t>
            </a:r>
          </a:p>
        </p:txBody>
      </p:sp>
      <p:sp>
        <p:nvSpPr>
          <p:cNvPr id="28" name="TextBox 27"/>
          <p:cNvSpPr txBox="1"/>
          <p:nvPr/>
        </p:nvSpPr>
        <p:spPr>
          <a:xfrm>
            <a:off x="548640" y="4160520"/>
            <a:ext cx="11091672" cy="1645920"/>
          </a:xfrm>
          <a:prstGeom prst="rect">
            <a:avLst/>
          </a:prstGeom>
          <a:noFill/>
        </p:spPr>
        <p:txBody>
          <a:bodyPr wrap="square" lIns="0" rIns="0" tIns="18288" bIns="18288" anchor="t">
            <a:spAutoFit/>
          </a:bodyPr>
          <a:lstStyle/>
          <a:p>
            <a:pPr algn="l">
              <a:spcAft>
                <a:spcPts val="800"/>
              </a:spcAft>
            </a:pPr>
            <a:r>
              <a:rPr sz="1300" b="1" i="0">
                <a:solidFill>
                  <a:srgbClr val="1B355E"/>
                </a:solidFill>
                <a:latin typeface="Abadi"/>
              </a:rPr>
              <a:t>Dose.  </a:t>
            </a:r>
            <a:r>
              <a:rPr sz="1300" b="0" i="0">
                <a:solidFill>
                  <a:srgbClr val="1A1A1A"/>
                </a:solidFill>
                <a:latin typeface="Abadi"/>
              </a:rPr>
              <a:t>Mean maintenance dose in the cohort was about 6–7 mg/kg/day, capped at 500 mg/day; the licensed starting range is 10–15 mg/kg/day in the United States and 5–15 mg/kg/day in Europe.</a:t>
            </a:r>
          </a:p>
          <a:p>
            <a:pPr algn="l">
              <a:spcAft>
                <a:spcPts val="800"/>
              </a:spcAft>
            </a:pPr>
            <a:r>
              <a:rPr sz="1300" b="1" i="0">
                <a:solidFill>
                  <a:srgbClr val="B22222"/>
                </a:solidFill>
                <a:latin typeface="Abadi"/>
              </a:rPr>
              <a:t>Overdose has a signature.  </a:t>
            </a:r>
            <a:r>
              <a:rPr sz="1300" b="0" i="0">
                <a:solidFill>
                  <a:srgbClr val="1A1A1A"/>
                </a:solidFill>
                <a:latin typeface="Abadi"/>
              </a:rPr>
              <a:t>Diarrhoea, pruritus and a rise in both GGT and ALT appeared with excess cholic acid and reversed when the dose was reduced.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a:t>
            </a:r>
          </a:p>
        </p:txBody>
      </p:sp>
      <p:sp>
        <p:nvSpPr>
          <p:cNvPr id="4" name="TextBox 3"/>
          <p:cNvSpPr txBox="1"/>
          <p:nvPr/>
        </p:nvSpPr>
        <p:spPr>
          <a:xfrm>
            <a:off x="1389888" y="301752"/>
            <a:ext cx="10241280" cy="347472"/>
          </a:xfrm>
          <a:prstGeom prst="rect">
            <a:avLst/>
          </a:prstGeom>
          <a:noFill/>
        </p:spPr>
        <p:txBody>
          <a:bodyPr wrap="square" lIns="0" rIns="0" tIns="18288" bIns="18288" anchor="ctr">
            <a:spAutoFit/>
          </a:bodyPr>
          <a:lstStyle/>
          <a:p>
            <a:pPr algn="l"/>
            <a:r>
              <a:rPr sz="1200" b="1" i="0">
                <a:solidFill>
                  <a:srgbClr val="2E5A88"/>
                </a:solidFill>
                <a:latin typeface="Abadi"/>
              </a:rPr>
              <a:t>THE LICENSING DATA</a:t>
            </a:r>
          </a:p>
        </p:txBody>
      </p:sp>
      <p:sp>
        <p:nvSpPr>
          <p:cNvPr id="5" name="TextBox 4"/>
          <p:cNvSpPr txBox="1"/>
          <p:nvPr/>
        </p:nvSpPr>
        <p:spPr>
          <a:xfrm>
            <a:off x="548640" y="731520"/>
            <a:ext cx="11091672" cy="548640"/>
          </a:xfrm>
          <a:prstGeom prst="rect">
            <a:avLst/>
          </a:prstGeom>
          <a:noFill/>
        </p:spPr>
        <p:txBody>
          <a:bodyPr wrap="square" lIns="0" rIns="0" tIns="18288" bIns="18288" anchor="t">
            <a:spAutoFit/>
          </a:bodyPr>
          <a:lstStyle/>
          <a:p>
            <a:pPr algn="l"/>
            <a:r>
              <a:rPr sz="3000" b="1" i="0">
                <a:solidFill>
                  <a:srgbClr val="1B355E"/>
                </a:solidFill>
                <a:latin typeface="Abadi"/>
              </a:rPr>
              <a:t>RESPONSE DEPENDS ON THE DEFECT</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Cholbam label: responders by underlying defect, % (improved liver tests and weight)</a:t>
            </a:r>
          </a:p>
        </p:txBody>
      </p:sp>
      <p:sp>
        <p:nvSpPr>
          <p:cNvPr id="7" name="Rectangle 6"/>
          <p:cNvSpPr/>
          <p:nvPr/>
        </p:nvSpPr>
        <p:spPr>
          <a:xfrm>
            <a:off x="548640" y="1600200"/>
            <a:ext cx="11091672" cy="2743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14</a:t>
            </a:r>
          </a:p>
        </p:txBody>
      </p:sp>
      <p:sp>
        <p:nvSpPr>
          <p:cNvPr id="11" name="TextBox 10"/>
          <p:cNvSpPr txBox="1"/>
          <p:nvPr/>
        </p:nvSpPr>
        <p:spPr>
          <a:xfrm>
            <a:off x="548640" y="5971032"/>
            <a:ext cx="10296144" cy="457200"/>
          </a:xfrm>
          <a:prstGeom prst="rect">
            <a:avLst/>
          </a:prstGeom>
          <a:noFill/>
        </p:spPr>
        <p:txBody>
          <a:bodyPr wrap="square" lIns="0" rIns="0" tIns="18288" bIns="18288" anchor="t">
            <a:spAutoFit/>
          </a:bodyPr>
          <a:lstStyle/>
          <a:p>
            <a:pPr algn="l"/>
            <a:r>
              <a:rPr sz="1000" b="0" i="1">
                <a:solidFill>
                  <a:srgbClr val="555555"/>
                </a:solidFill>
                <a:latin typeface="Abadi"/>
              </a:rPr>
              <a:t>Cholbam (cholic acid) prescribing information, FDA 2015 · Heubi JE, Bove KE, Setchell KDR. JPGN 2017;65:321–6</a:t>
            </a:r>
          </a:p>
        </p:txBody>
      </p:sp>
      <p:sp>
        <p:nvSpPr>
          <p:cNvPr id="12" name="TextBox 11"/>
          <p:cNvSpPr txBox="1"/>
          <p:nvPr/>
        </p:nvSpPr>
        <p:spPr>
          <a:xfrm>
            <a:off x="548640" y="2011680"/>
            <a:ext cx="2240280" cy="777240"/>
          </a:xfrm>
          <a:prstGeom prst="rect">
            <a:avLst/>
          </a:prstGeom>
          <a:noFill/>
        </p:spPr>
        <p:txBody>
          <a:bodyPr wrap="square" lIns="0" rIns="0" tIns="18288" bIns="18288" anchor="ctr">
            <a:spAutoFit/>
          </a:bodyPr>
          <a:lstStyle/>
          <a:p>
            <a:pPr algn="r"/>
            <a:r>
              <a:rPr sz="1300" b="0" i="0">
                <a:solidFill>
                  <a:srgbClr val="1A1A1A"/>
                </a:solidFill>
                <a:latin typeface="Abadi"/>
              </a:rPr>
              <a:t>Single-enzyme defects</a:t>
            </a:r>
          </a:p>
        </p:txBody>
      </p:sp>
      <p:sp>
        <p:nvSpPr>
          <p:cNvPr id="13" name="Rectangle 12"/>
          <p:cNvSpPr/>
          <p:nvPr/>
        </p:nvSpPr>
        <p:spPr>
          <a:xfrm>
            <a:off x="2926080" y="2205990"/>
            <a:ext cx="2616259" cy="38862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15491" y="2011680"/>
            <a:ext cx="1097280" cy="777240"/>
          </a:xfrm>
          <a:prstGeom prst="rect">
            <a:avLst/>
          </a:prstGeom>
          <a:noFill/>
        </p:spPr>
        <p:txBody>
          <a:bodyPr wrap="square" lIns="0" rIns="0" tIns="18288" bIns="18288" anchor="ctr">
            <a:spAutoFit/>
          </a:bodyPr>
          <a:lstStyle/>
          <a:p>
            <a:pPr algn="l"/>
            <a:r>
              <a:rPr sz="1300" b="1" i="0">
                <a:solidFill>
                  <a:srgbClr val="1A1A1A"/>
                </a:solidFill>
                <a:latin typeface="Abadi"/>
              </a:rPr>
              <a:t>64% (28/44)</a:t>
            </a:r>
          </a:p>
        </p:txBody>
      </p:sp>
      <p:sp>
        <p:nvSpPr>
          <p:cNvPr id="15" name="TextBox 14"/>
          <p:cNvSpPr txBox="1"/>
          <p:nvPr/>
        </p:nvSpPr>
        <p:spPr>
          <a:xfrm>
            <a:off x="548640" y="2788920"/>
            <a:ext cx="2240280" cy="777240"/>
          </a:xfrm>
          <a:prstGeom prst="rect">
            <a:avLst/>
          </a:prstGeom>
          <a:noFill/>
        </p:spPr>
        <p:txBody>
          <a:bodyPr wrap="square" lIns="0" rIns="0" tIns="18288" bIns="18288" anchor="ctr">
            <a:spAutoFit/>
          </a:bodyPr>
          <a:lstStyle/>
          <a:p>
            <a:pPr algn="r"/>
            <a:r>
              <a:rPr sz="1300" b="0" i="0">
                <a:solidFill>
                  <a:srgbClr val="1A1A1A"/>
                </a:solidFill>
                <a:latin typeface="Abadi"/>
              </a:rPr>
              <a:t>3β-HSD</a:t>
            </a:r>
          </a:p>
        </p:txBody>
      </p:sp>
      <p:sp>
        <p:nvSpPr>
          <p:cNvPr id="16" name="Rectangle 15"/>
          <p:cNvSpPr/>
          <p:nvPr/>
        </p:nvSpPr>
        <p:spPr>
          <a:xfrm>
            <a:off x="2926080" y="2983230"/>
            <a:ext cx="2411864" cy="38862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11096" y="2788920"/>
            <a:ext cx="1097280" cy="777240"/>
          </a:xfrm>
          <a:prstGeom prst="rect">
            <a:avLst/>
          </a:prstGeom>
          <a:noFill/>
        </p:spPr>
        <p:txBody>
          <a:bodyPr wrap="square" lIns="0" rIns="0" tIns="18288" bIns="18288" anchor="ctr">
            <a:spAutoFit/>
          </a:bodyPr>
          <a:lstStyle/>
          <a:p>
            <a:pPr algn="l"/>
            <a:r>
              <a:rPr sz="1300" b="1" i="0">
                <a:solidFill>
                  <a:srgbClr val="1A1A1A"/>
                </a:solidFill>
                <a:latin typeface="Abadi"/>
              </a:rPr>
              <a:t>59% (22/37)</a:t>
            </a:r>
          </a:p>
        </p:txBody>
      </p:sp>
      <p:sp>
        <p:nvSpPr>
          <p:cNvPr id="18" name="TextBox 17"/>
          <p:cNvSpPr txBox="1"/>
          <p:nvPr/>
        </p:nvSpPr>
        <p:spPr>
          <a:xfrm>
            <a:off x="548640" y="3566160"/>
            <a:ext cx="2240280" cy="777240"/>
          </a:xfrm>
          <a:prstGeom prst="rect">
            <a:avLst/>
          </a:prstGeom>
          <a:noFill/>
        </p:spPr>
        <p:txBody>
          <a:bodyPr wrap="square" lIns="0" rIns="0" tIns="18288" bIns="18288" anchor="ctr">
            <a:spAutoFit/>
          </a:bodyPr>
          <a:lstStyle/>
          <a:p>
            <a:pPr algn="r"/>
            <a:r>
              <a:rPr sz="1300" b="0" i="0">
                <a:solidFill>
                  <a:srgbClr val="1A1A1A"/>
                </a:solidFill>
                <a:latin typeface="Abadi"/>
              </a:rPr>
              <a:t>AKR1D1</a:t>
            </a:r>
          </a:p>
        </p:txBody>
      </p:sp>
      <p:sp>
        <p:nvSpPr>
          <p:cNvPr id="19" name="Rectangle 18"/>
          <p:cNvSpPr/>
          <p:nvPr/>
        </p:nvSpPr>
        <p:spPr>
          <a:xfrm>
            <a:off x="2926080" y="3760470"/>
            <a:ext cx="3065929" cy="38862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65161" y="3566160"/>
            <a:ext cx="1097280" cy="777240"/>
          </a:xfrm>
          <a:prstGeom prst="rect">
            <a:avLst/>
          </a:prstGeom>
          <a:noFill/>
        </p:spPr>
        <p:txBody>
          <a:bodyPr wrap="square" lIns="0" rIns="0" tIns="18288" bIns="18288" anchor="ctr">
            <a:spAutoFit/>
          </a:bodyPr>
          <a:lstStyle/>
          <a:p>
            <a:pPr algn="l"/>
            <a:r>
              <a:rPr sz="1300" b="1" i="0">
                <a:solidFill>
                  <a:srgbClr val="1A1A1A"/>
                </a:solidFill>
                <a:latin typeface="Abadi"/>
              </a:rPr>
              <a:t>75% (3/4)</a:t>
            </a:r>
          </a:p>
        </p:txBody>
      </p:sp>
      <p:sp>
        <p:nvSpPr>
          <p:cNvPr id="21" name="TextBox 20"/>
          <p:cNvSpPr txBox="1"/>
          <p:nvPr/>
        </p:nvSpPr>
        <p:spPr>
          <a:xfrm>
            <a:off x="548640" y="4343400"/>
            <a:ext cx="2240280" cy="777240"/>
          </a:xfrm>
          <a:prstGeom prst="rect">
            <a:avLst/>
          </a:prstGeom>
          <a:noFill/>
        </p:spPr>
        <p:txBody>
          <a:bodyPr wrap="square" lIns="0" rIns="0" tIns="18288" bIns="18288" anchor="ctr">
            <a:spAutoFit/>
          </a:bodyPr>
          <a:lstStyle/>
          <a:p>
            <a:pPr algn="r"/>
            <a:r>
              <a:rPr sz="1300" b="0" i="0">
                <a:solidFill>
                  <a:srgbClr val="1A1A1A"/>
                </a:solidFill>
                <a:latin typeface="Abadi"/>
              </a:rPr>
              <a:t>Peroxisomal disorders</a:t>
            </a:r>
          </a:p>
        </p:txBody>
      </p:sp>
      <p:sp>
        <p:nvSpPr>
          <p:cNvPr id="22" name="Rectangle 21"/>
          <p:cNvSpPr/>
          <p:nvPr/>
        </p:nvSpPr>
        <p:spPr>
          <a:xfrm>
            <a:off x="2926080" y="4537710"/>
            <a:ext cx="1880436" cy="38862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79668" y="4343400"/>
            <a:ext cx="1097280" cy="777240"/>
          </a:xfrm>
          <a:prstGeom prst="rect">
            <a:avLst/>
          </a:prstGeom>
          <a:noFill/>
        </p:spPr>
        <p:txBody>
          <a:bodyPr wrap="square" lIns="0" rIns="0" tIns="18288" bIns="18288" anchor="ctr">
            <a:spAutoFit/>
          </a:bodyPr>
          <a:lstStyle/>
          <a:p>
            <a:pPr algn="l"/>
            <a:r>
              <a:rPr sz="1300" b="1" i="0">
                <a:solidFill>
                  <a:srgbClr val="1A1A1A"/>
                </a:solidFill>
                <a:latin typeface="Abadi"/>
              </a:rPr>
              <a:t>46% (11/24)</a:t>
            </a:r>
          </a:p>
        </p:txBody>
      </p:sp>
      <p:sp>
        <p:nvSpPr>
          <p:cNvPr id="24" name="TextBox 23"/>
          <p:cNvSpPr txBox="1"/>
          <p:nvPr/>
        </p:nvSpPr>
        <p:spPr>
          <a:xfrm>
            <a:off x="7680960" y="1828800"/>
            <a:ext cx="3931920" cy="3931920"/>
          </a:xfrm>
          <a:prstGeom prst="rect">
            <a:avLst/>
          </a:prstGeom>
          <a:noFill/>
        </p:spPr>
        <p:txBody>
          <a:bodyPr wrap="square" lIns="0" rIns="0" tIns="18288" bIns="18288" anchor="t">
            <a:spAutoFit/>
          </a:bodyPr>
          <a:lstStyle/>
          <a:p>
            <a:pPr algn="l">
              <a:spcAft>
                <a:spcPts val="300"/>
              </a:spcAft>
            </a:pPr>
            <a:r>
              <a:rPr sz="1800" b="1" i="0">
                <a:solidFill>
                  <a:srgbClr val="1B355E"/>
                </a:solidFill>
                <a:latin typeface="Abadi"/>
              </a:rPr>
              <a:t>18 years, 85 patients</a:t>
            </a:r>
          </a:p>
          <a:p>
            <a:pPr algn="l">
              <a:spcAft>
                <a:spcPts val="300"/>
              </a:spcAft>
            </a:pPr>
            <a:r>
              <a:rPr sz="1100" b="0" i="0">
                <a:solidFill>
                  <a:srgbClr val="1A1A1A"/>
                </a:solidFill>
                <a:latin typeface="Abadi"/>
              </a:rPr>
              <a:t>Phase 3 open-label trial; urine bile acids, AST and ALT improved (P &lt; 0.0001), no drug-related serious adverse events.</a:t>
            </a:r>
          </a:p>
          <a:p>
            <a:pPr algn="l">
              <a:spcAft>
                <a:spcPts val="300"/>
              </a:spcAft>
            </a:pPr>
            <a:r>
              <a:rPr sz="1800" b="1" i="0">
                <a:solidFill>
                  <a:srgbClr val="1B355E"/>
                </a:solidFill>
                <a:latin typeface="Abadi"/>
              </a:rPr>
              <a:t>Monitor</a:t>
            </a:r>
          </a:p>
          <a:p>
            <a:pPr algn="l">
              <a:spcAft>
                <a:spcPts val="300"/>
              </a:spcAft>
            </a:pPr>
            <a:r>
              <a:rPr sz="1100" b="0" i="0">
                <a:solidFill>
                  <a:srgbClr val="1A1A1A"/>
                </a:solidFill>
                <a:latin typeface="Abadi"/>
              </a:rPr>
              <a:t>Liver tests and INR monthly for 3 months, every 3 months to month 12, every 6 months for 3 years, then yearly.</a:t>
            </a:r>
          </a:p>
          <a:p>
            <a:pPr algn="l">
              <a:spcAft>
                <a:spcPts val="300"/>
              </a:spcAft>
            </a:pPr>
            <a:r>
              <a:rPr sz="1800" b="1" i="0">
                <a:solidFill>
                  <a:srgbClr val="1B355E"/>
                </a:solidFill>
                <a:latin typeface="Abadi"/>
              </a:rPr>
              <a:t>Stop rule</a:t>
            </a:r>
          </a:p>
          <a:p>
            <a:pPr algn="l">
              <a:spcAft>
                <a:spcPts val="300"/>
              </a:spcAft>
            </a:pPr>
            <a:r>
              <a:rPr sz="1100" b="0" i="0">
                <a:solidFill>
                  <a:srgbClr val="1A1A1A"/>
                </a:solidFill>
                <a:latin typeface="Abadi"/>
              </a:rPr>
              <a:t>Discontinue if liver function has not improved by 3 months.</a:t>
            </a:r>
          </a:p>
          <a:p>
            <a:pPr algn="l">
              <a:spcAft>
                <a:spcPts val="300"/>
              </a:spcAft>
            </a:pPr>
            <a:r>
              <a:rPr sz="1800" b="1" i="0">
                <a:solidFill>
                  <a:srgbClr val="1B355E"/>
                </a:solidFill>
                <a:latin typeface="Abadi"/>
              </a:rPr>
              <a:t>Survival over 3 years</a:t>
            </a:r>
          </a:p>
          <a:p>
            <a:pPr algn="l">
              <a:spcAft>
                <a:spcPts val="300"/>
              </a:spcAft>
            </a:pPr>
            <a:r>
              <a:rPr sz="1100" b="0" i="0">
                <a:solidFill>
                  <a:srgbClr val="1A1A1A"/>
                </a:solidFill>
                <a:latin typeface="Abadi"/>
              </a:rPr>
              <a:t>67% in single-enzyme defects, 42% in peroxisomal disorders.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a:t>
            </a:r>
          </a:p>
        </p:txBody>
      </p:sp>
      <p:sp>
        <p:nvSpPr>
          <p:cNvPr id="4" name="TextBox 3"/>
          <p:cNvSpPr txBox="1"/>
          <p:nvPr/>
        </p:nvSpPr>
        <p:spPr>
          <a:xfrm>
            <a:off x="1389888" y="301752"/>
            <a:ext cx="10241280" cy="347472"/>
          </a:xfrm>
          <a:prstGeom prst="rect">
            <a:avLst/>
          </a:prstGeom>
          <a:noFill/>
        </p:spPr>
        <p:txBody>
          <a:bodyPr wrap="square" lIns="0" rIns="0" tIns="18288" bIns="18288" anchor="ctr">
            <a:spAutoFit/>
          </a:bodyPr>
          <a:lstStyle/>
          <a:p>
            <a:pPr algn="l"/>
            <a:r>
              <a:rPr sz="1200" b="1" i="0">
                <a:solidFill>
                  <a:srgbClr val="2E5A88"/>
                </a:solidFill>
                <a:latin typeface="Abadi"/>
              </a:rPr>
              <a:t>ASIAN COHORT, CHENODEOXYCHOLIC ACID</a:t>
            </a:r>
          </a:p>
        </p:txBody>
      </p:sp>
      <p:sp>
        <p:nvSpPr>
          <p:cNvPr id="5" name="TextBox 4"/>
          <p:cNvSpPr txBox="1"/>
          <p:nvPr/>
        </p:nvSpPr>
        <p:spPr>
          <a:xfrm>
            <a:off x="548640" y="731520"/>
            <a:ext cx="11091672" cy="548640"/>
          </a:xfrm>
          <a:prstGeom prst="rect">
            <a:avLst/>
          </a:prstGeom>
          <a:noFill/>
        </p:spPr>
        <p:txBody>
          <a:bodyPr wrap="square" lIns="0" rIns="0" tIns="18288" bIns="18288" anchor="t">
            <a:spAutoFit/>
          </a:bodyPr>
          <a:lstStyle/>
          <a:p>
            <a:pPr algn="l"/>
            <a:r>
              <a:rPr sz="3000" b="1" i="0">
                <a:solidFill>
                  <a:srgbClr val="1B355E"/>
                </a:solidFill>
                <a:latin typeface="Abadi"/>
              </a:rPr>
              <a:t>TREATABLE, IF IT IS FOUND IN TIME</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HSD3B7 deficiency treated with chenodeoxycholic acid 3–10 mg/kg/day, 33 Chinese children, outcome %</a:t>
            </a:r>
          </a:p>
        </p:txBody>
      </p:sp>
      <p:sp>
        <p:nvSpPr>
          <p:cNvPr id="7" name="Rectangle 6"/>
          <p:cNvSpPr/>
          <p:nvPr/>
        </p:nvSpPr>
        <p:spPr>
          <a:xfrm>
            <a:off x="548640" y="1600200"/>
            <a:ext cx="11091672" cy="2743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15</a:t>
            </a:r>
          </a:p>
        </p:txBody>
      </p:sp>
      <p:sp>
        <p:nvSpPr>
          <p:cNvPr id="11" name="TextBox 10"/>
          <p:cNvSpPr txBox="1"/>
          <p:nvPr/>
        </p:nvSpPr>
        <p:spPr>
          <a:xfrm>
            <a:off x="548640" y="5971032"/>
            <a:ext cx="10296144" cy="457200"/>
          </a:xfrm>
          <a:prstGeom prst="rect">
            <a:avLst/>
          </a:prstGeom>
          <a:noFill/>
        </p:spPr>
        <p:txBody>
          <a:bodyPr wrap="square" lIns="0" rIns="0" tIns="18288" bIns="18288" anchor="t">
            <a:spAutoFit/>
          </a:bodyPr>
          <a:lstStyle/>
          <a:p>
            <a:pPr algn="l"/>
            <a:r>
              <a:rPr sz="1000" b="0" i="1">
                <a:solidFill>
                  <a:srgbClr val="555555"/>
                </a:solidFill>
                <a:latin typeface="Abadi"/>
              </a:rPr>
              <a:t>Zhao J, et al. Orphanet J Rare Dis 2021;16:417</a:t>
            </a:r>
          </a:p>
        </p:txBody>
      </p:sp>
      <p:sp>
        <p:nvSpPr>
          <p:cNvPr id="12" name="Rectangle 11"/>
          <p:cNvSpPr/>
          <p:nvPr/>
        </p:nvSpPr>
        <p:spPr>
          <a:xfrm>
            <a:off x="822960" y="5166359"/>
            <a:ext cx="6035040" cy="10972"/>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37869" y="2538031"/>
            <a:ext cx="678942" cy="2628328"/>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245423"/>
            <a:ext cx="1508760" cy="274320"/>
          </a:xfrm>
          <a:prstGeom prst="rect">
            <a:avLst/>
          </a:prstGeom>
          <a:noFill/>
        </p:spPr>
        <p:txBody>
          <a:bodyPr wrap="square" lIns="0" rIns="0" tIns="18288" bIns="18288" anchor="t">
            <a:spAutoFit/>
          </a:bodyPr>
          <a:lstStyle/>
          <a:p>
            <a:pPr algn="ctr"/>
            <a:r>
              <a:rPr sz="1100" b="1" i="0">
                <a:solidFill>
                  <a:srgbClr val="1A1A1A"/>
                </a:solidFill>
                <a:latin typeface="Abadi"/>
              </a:rPr>
              <a:t>73%</a:t>
            </a:r>
          </a:p>
        </p:txBody>
      </p:sp>
      <p:sp>
        <p:nvSpPr>
          <p:cNvPr id="15" name="TextBox 14"/>
          <p:cNvSpPr txBox="1"/>
          <p:nvPr/>
        </p:nvSpPr>
        <p:spPr>
          <a:xfrm>
            <a:off x="822960" y="5212079"/>
            <a:ext cx="1508760" cy="457200"/>
          </a:xfrm>
          <a:prstGeom prst="rect">
            <a:avLst/>
          </a:prstGeom>
          <a:noFill/>
        </p:spPr>
        <p:txBody>
          <a:bodyPr wrap="square" lIns="0" rIns="0" tIns="18288" bIns="18288" anchor="t">
            <a:spAutoFit/>
          </a:bodyPr>
          <a:lstStyle/>
          <a:p>
            <a:pPr algn="ctr"/>
            <a:r>
              <a:rPr sz="1000" b="0" i="0">
                <a:solidFill>
                  <a:srgbClr val="1A1A1A"/>
                </a:solidFill>
                <a:latin typeface="Abadi"/>
              </a:rPr>
              <a:t>Normalised</a:t>
            </a:r>
          </a:p>
        </p:txBody>
      </p:sp>
      <p:sp>
        <p:nvSpPr>
          <p:cNvPr id="16" name="Rectangle 15"/>
          <p:cNvSpPr/>
          <p:nvPr/>
        </p:nvSpPr>
        <p:spPr>
          <a:xfrm>
            <a:off x="2746628" y="4950332"/>
            <a:ext cx="678942" cy="216027"/>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31720" y="4657724"/>
            <a:ext cx="1508760" cy="274320"/>
          </a:xfrm>
          <a:prstGeom prst="rect">
            <a:avLst/>
          </a:prstGeom>
          <a:noFill/>
        </p:spPr>
        <p:txBody>
          <a:bodyPr wrap="square" lIns="0" rIns="0" tIns="18288" bIns="18288" anchor="t">
            <a:spAutoFit/>
          </a:bodyPr>
          <a:lstStyle/>
          <a:p>
            <a:pPr algn="ctr"/>
            <a:r>
              <a:rPr sz="1100" b="1" i="0">
                <a:solidFill>
                  <a:srgbClr val="1A1A1A"/>
                </a:solidFill>
                <a:latin typeface="Abadi"/>
              </a:rPr>
              <a:t>6%</a:t>
            </a:r>
          </a:p>
        </p:txBody>
      </p:sp>
      <p:sp>
        <p:nvSpPr>
          <p:cNvPr id="18" name="TextBox 17"/>
          <p:cNvSpPr txBox="1"/>
          <p:nvPr/>
        </p:nvSpPr>
        <p:spPr>
          <a:xfrm>
            <a:off x="2331720" y="5212079"/>
            <a:ext cx="1508760" cy="457200"/>
          </a:xfrm>
          <a:prstGeom prst="rect">
            <a:avLst/>
          </a:prstGeom>
          <a:noFill/>
        </p:spPr>
        <p:txBody>
          <a:bodyPr wrap="square" lIns="0" rIns="0" tIns="18288" bIns="18288" anchor="t">
            <a:spAutoFit/>
          </a:bodyPr>
          <a:lstStyle/>
          <a:p>
            <a:pPr algn="ctr"/>
            <a:r>
              <a:rPr sz="1000" b="0" i="0">
                <a:solidFill>
                  <a:srgbClr val="1A1A1A"/>
                </a:solidFill>
                <a:latin typeface="Abadi"/>
              </a:rPr>
              <a:t>Improved</a:t>
            </a:r>
          </a:p>
        </p:txBody>
      </p:sp>
      <p:sp>
        <p:nvSpPr>
          <p:cNvPr id="19" name="Rectangle 18"/>
          <p:cNvSpPr/>
          <p:nvPr/>
        </p:nvSpPr>
        <p:spPr>
          <a:xfrm>
            <a:off x="4255389" y="4626292"/>
            <a:ext cx="678942" cy="540067"/>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0" y="4333684"/>
            <a:ext cx="1508760" cy="274320"/>
          </a:xfrm>
          <a:prstGeom prst="rect">
            <a:avLst/>
          </a:prstGeom>
          <a:noFill/>
        </p:spPr>
        <p:txBody>
          <a:bodyPr wrap="square" lIns="0" rIns="0" tIns="18288" bIns="18288" anchor="t">
            <a:spAutoFit/>
          </a:bodyPr>
          <a:lstStyle/>
          <a:p>
            <a:pPr algn="ctr"/>
            <a:r>
              <a:rPr sz="1100" b="1" i="0">
                <a:solidFill>
                  <a:srgbClr val="1A1A1A"/>
                </a:solidFill>
                <a:latin typeface="Abadi"/>
              </a:rPr>
              <a:t>15%</a:t>
            </a:r>
          </a:p>
        </p:txBody>
      </p:sp>
      <p:sp>
        <p:nvSpPr>
          <p:cNvPr id="21" name="TextBox 20"/>
          <p:cNvSpPr txBox="1"/>
          <p:nvPr/>
        </p:nvSpPr>
        <p:spPr>
          <a:xfrm>
            <a:off x="3840480" y="5212079"/>
            <a:ext cx="1508760" cy="457200"/>
          </a:xfrm>
          <a:prstGeom prst="rect">
            <a:avLst/>
          </a:prstGeom>
          <a:noFill/>
        </p:spPr>
        <p:txBody>
          <a:bodyPr wrap="square" lIns="0" rIns="0" tIns="18288" bIns="18288" anchor="t">
            <a:spAutoFit/>
          </a:bodyPr>
          <a:lstStyle/>
          <a:p>
            <a:pPr algn="ctr"/>
            <a:r>
              <a:rPr sz="1000" b="0" i="0">
                <a:solidFill>
                  <a:srgbClr val="1A1A1A"/>
                </a:solidFill>
                <a:latin typeface="Abadi"/>
              </a:rPr>
              <a:t>Transplanted</a:t>
            </a:r>
          </a:p>
        </p:txBody>
      </p:sp>
      <p:sp>
        <p:nvSpPr>
          <p:cNvPr id="22" name="Rectangle 21"/>
          <p:cNvSpPr/>
          <p:nvPr/>
        </p:nvSpPr>
        <p:spPr>
          <a:xfrm>
            <a:off x="5764149" y="4950332"/>
            <a:ext cx="678942" cy="216027"/>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49240" y="4657724"/>
            <a:ext cx="1508760" cy="274320"/>
          </a:xfrm>
          <a:prstGeom prst="rect">
            <a:avLst/>
          </a:prstGeom>
          <a:noFill/>
        </p:spPr>
        <p:txBody>
          <a:bodyPr wrap="square" lIns="0" rIns="0" tIns="18288" bIns="18288" anchor="t">
            <a:spAutoFit/>
          </a:bodyPr>
          <a:lstStyle/>
          <a:p>
            <a:pPr algn="ctr"/>
            <a:r>
              <a:rPr sz="1100" b="1" i="0">
                <a:solidFill>
                  <a:srgbClr val="1A1A1A"/>
                </a:solidFill>
                <a:latin typeface="Abadi"/>
              </a:rPr>
              <a:t>6%</a:t>
            </a:r>
          </a:p>
        </p:txBody>
      </p:sp>
      <p:sp>
        <p:nvSpPr>
          <p:cNvPr id="24" name="TextBox 23"/>
          <p:cNvSpPr txBox="1"/>
          <p:nvPr/>
        </p:nvSpPr>
        <p:spPr>
          <a:xfrm>
            <a:off x="5349240" y="5212079"/>
            <a:ext cx="1508760" cy="457200"/>
          </a:xfrm>
          <a:prstGeom prst="rect">
            <a:avLst/>
          </a:prstGeom>
          <a:noFill/>
        </p:spPr>
        <p:txBody>
          <a:bodyPr wrap="square" lIns="0" rIns="0" tIns="18288" bIns="18288" anchor="t">
            <a:spAutoFit/>
          </a:bodyPr>
          <a:lstStyle/>
          <a:p>
            <a:pPr algn="ctr"/>
            <a:r>
              <a:rPr sz="1000" b="0" i="0">
                <a:solidFill>
                  <a:srgbClr val="1A1A1A"/>
                </a:solidFill>
                <a:latin typeface="Abadi"/>
              </a:rPr>
              <a:t>Died</a:t>
            </a:r>
          </a:p>
        </p:txBody>
      </p:sp>
      <p:sp>
        <p:nvSpPr>
          <p:cNvPr id="25" name="TextBox 24"/>
          <p:cNvSpPr txBox="1"/>
          <p:nvPr/>
        </p:nvSpPr>
        <p:spPr>
          <a:xfrm>
            <a:off x="822960" y="1874520"/>
            <a:ext cx="6035040" cy="274320"/>
          </a:xfrm>
          <a:prstGeom prst="rect">
            <a:avLst/>
          </a:prstGeom>
          <a:noFill/>
        </p:spPr>
        <p:txBody>
          <a:bodyPr wrap="square" lIns="0" rIns="0" tIns="18288" bIns="18288" anchor="t">
            <a:spAutoFit/>
          </a:bodyPr>
          <a:lstStyle/>
          <a:p>
            <a:pPr algn="l"/>
            <a:r>
              <a:rPr sz="1000" b="0" i="1">
                <a:solidFill>
                  <a:srgbClr val="555555"/>
                </a:solidFill>
                <a:latin typeface="Abadi"/>
              </a:rPr>
              <a:t>39 patients in the cohort; 33 treated</a:t>
            </a:r>
          </a:p>
        </p:txBody>
      </p:sp>
      <p:sp>
        <p:nvSpPr>
          <p:cNvPr id="26" name="TextBox 25"/>
          <p:cNvSpPr txBox="1"/>
          <p:nvPr/>
        </p:nvSpPr>
        <p:spPr>
          <a:xfrm>
            <a:off x="7315200" y="1828800"/>
            <a:ext cx="4297680" cy="3931920"/>
          </a:xfrm>
          <a:prstGeom prst="rect">
            <a:avLst/>
          </a:prstGeom>
          <a:noFill/>
        </p:spPr>
        <p:txBody>
          <a:bodyPr wrap="square" lIns="0" rIns="0" tIns="18288" bIns="18288" anchor="t">
            <a:spAutoFit/>
          </a:bodyPr>
          <a:lstStyle/>
          <a:p>
            <a:pPr algn="l">
              <a:spcAft>
                <a:spcPts val="300"/>
              </a:spcAft>
            </a:pPr>
            <a:r>
              <a:rPr sz="1800" b="1" i="0">
                <a:solidFill>
                  <a:srgbClr val="1B355E"/>
                </a:solidFill>
                <a:latin typeface="Abadi"/>
              </a:rPr>
              <a:t>10 days</a:t>
            </a:r>
          </a:p>
          <a:p>
            <a:pPr algn="l">
              <a:spcAft>
                <a:spcPts val="300"/>
              </a:spcAft>
            </a:pPr>
            <a:r>
              <a:rPr sz="1150" b="0" i="0">
                <a:solidFill>
                  <a:srgbClr val="1A1A1A"/>
                </a:solidFill>
                <a:latin typeface="Abadi"/>
              </a:rPr>
              <a:t>Median age at onset; 32 of 39 presented with neonatal cholestasis.</a:t>
            </a:r>
          </a:p>
          <a:p>
            <a:pPr algn="l">
              <a:spcAft>
                <a:spcPts val="300"/>
              </a:spcAft>
            </a:pPr>
            <a:r>
              <a:rPr sz="1800" b="1" i="0">
                <a:solidFill>
                  <a:srgbClr val="1B355E"/>
                </a:solidFill>
                <a:latin typeface="Abadi"/>
              </a:rPr>
              <a:t>GGT 8–70 U/L</a:t>
            </a:r>
          </a:p>
          <a:p>
            <a:pPr algn="l">
              <a:spcAft>
                <a:spcPts val="300"/>
              </a:spcAft>
            </a:pPr>
            <a:r>
              <a:rPr sz="1150" b="0" i="0">
                <a:solidFill>
                  <a:srgbClr val="1A1A1A"/>
                </a:solidFill>
                <a:latin typeface="Abadi"/>
              </a:rPr>
              <a:t>In children referred before 1 year: GGT never high.</a:t>
            </a:r>
          </a:p>
          <a:p>
            <a:pPr algn="l">
              <a:spcAft>
                <a:spcPts val="300"/>
              </a:spcAft>
            </a:pPr>
            <a:r>
              <a:rPr sz="1800" b="1" i="0">
                <a:solidFill>
                  <a:srgbClr val="1B355E"/>
                </a:solidFill>
                <a:latin typeface="Abadi"/>
              </a:rPr>
              <a:t>28.6%</a:t>
            </a:r>
          </a:p>
          <a:p>
            <a:pPr algn="l">
              <a:spcAft>
                <a:spcPts val="300"/>
              </a:spcAft>
            </a:pPr>
            <a:r>
              <a:rPr sz="1150" b="0" i="0">
                <a:solidFill>
                  <a:srgbClr val="1A1A1A"/>
                </a:solidFill>
                <a:latin typeface="Abadi"/>
              </a:rPr>
              <a:t>Had renal lesions before treatment, a feature easily attributed to something else.</a:t>
            </a:r>
          </a:p>
          <a:p>
            <a:pPr algn="l">
              <a:spcAft>
                <a:spcPts val="300"/>
              </a:spcAft>
            </a:pPr>
            <a:r>
              <a:rPr sz="1800" b="1" i="0">
                <a:solidFill>
                  <a:srgbClr val="1B355E"/>
                </a:solidFill>
                <a:latin typeface="Abadi"/>
              </a:rPr>
              <a:t>The lesson</a:t>
            </a:r>
          </a:p>
          <a:p>
            <a:pPr algn="l">
              <a:spcAft>
                <a:spcPts val="300"/>
              </a:spcAft>
            </a:pPr>
            <a:r>
              <a:rPr sz="1150" b="0" i="0">
                <a:solidFill>
                  <a:srgbClr val="1A1A1A"/>
                </a:solidFill>
                <a:latin typeface="Abadi"/>
              </a:rPr>
              <a:t>Late referral and established cirrhosis drove the transplants and deaths; urine bile acids should be sent early.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a:t>
            </a:r>
          </a:p>
        </p:txBody>
      </p:sp>
      <p:sp>
        <p:nvSpPr>
          <p:cNvPr id="4" name="TextBox 3"/>
          <p:cNvSpPr txBox="1"/>
          <p:nvPr/>
        </p:nvSpPr>
        <p:spPr>
          <a:xfrm>
            <a:off x="1389888" y="301752"/>
            <a:ext cx="10241280" cy="347472"/>
          </a:xfrm>
          <a:prstGeom prst="rect">
            <a:avLst/>
          </a:prstGeom>
          <a:noFill/>
        </p:spPr>
        <p:txBody>
          <a:bodyPr wrap="square" lIns="0" rIns="0" tIns="18288" bIns="18288" anchor="ctr">
            <a:spAutoFit/>
          </a:bodyPr>
          <a:lstStyle/>
          <a:p>
            <a:pPr algn="l"/>
            <a:r>
              <a:rPr sz="1200" b="1" i="0">
                <a:solidFill>
                  <a:srgbClr val="2E5A88"/>
                </a:solidFill>
                <a:latin typeface="Abadi"/>
              </a:rPr>
              <a:t>BEYOND CHOLIC ACID</a:t>
            </a:r>
          </a:p>
        </p:txBody>
      </p:sp>
      <p:sp>
        <p:nvSpPr>
          <p:cNvPr id="5" name="TextBox 4"/>
          <p:cNvSpPr txBox="1"/>
          <p:nvPr/>
        </p:nvSpPr>
        <p:spPr>
          <a:xfrm>
            <a:off x="548640" y="731520"/>
            <a:ext cx="11091672" cy="548640"/>
          </a:xfrm>
          <a:prstGeom prst="rect">
            <a:avLst/>
          </a:prstGeom>
          <a:noFill/>
        </p:spPr>
        <p:txBody>
          <a:bodyPr wrap="square" lIns="0" rIns="0" tIns="18288" bIns="18288" anchor="t">
            <a:spAutoFit/>
          </a:bodyPr>
          <a:lstStyle/>
          <a:p>
            <a:pPr algn="l"/>
            <a:r>
              <a:rPr sz="3000" b="1" i="0">
                <a:solidFill>
                  <a:srgbClr val="1B355E"/>
                </a:solidFill>
                <a:latin typeface="Abadi"/>
              </a:rPr>
              <a:t>WHICH BILE ACID, FOR WHICH DEFECT</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Drugs, the exceptions and the regulators</a:t>
            </a:r>
          </a:p>
        </p:txBody>
      </p:sp>
      <p:sp>
        <p:nvSpPr>
          <p:cNvPr id="7" name="Rectangle 6"/>
          <p:cNvSpPr/>
          <p:nvPr/>
        </p:nvSpPr>
        <p:spPr>
          <a:xfrm>
            <a:off x="548640" y="1600200"/>
            <a:ext cx="11091672" cy="2743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16</a:t>
            </a:r>
          </a:p>
        </p:txBody>
      </p:sp>
      <p:sp>
        <p:nvSpPr>
          <p:cNvPr id="11" name="TextBox 10"/>
          <p:cNvSpPr txBox="1"/>
          <p:nvPr/>
        </p:nvSpPr>
        <p:spPr>
          <a:xfrm>
            <a:off x="548640" y="5971032"/>
            <a:ext cx="10296144" cy="457200"/>
          </a:xfrm>
          <a:prstGeom prst="rect">
            <a:avLst/>
          </a:prstGeom>
          <a:noFill/>
        </p:spPr>
        <p:txBody>
          <a:bodyPr wrap="square" lIns="0" rIns="0" tIns="18288" bIns="18288" anchor="t">
            <a:spAutoFit/>
          </a:bodyPr>
          <a:lstStyle/>
          <a:p>
            <a:pPr algn="l"/>
            <a:r>
              <a:rPr sz="1000" b="0" i="1">
                <a:solidFill>
                  <a:srgbClr val="555555"/>
                </a:solidFill>
                <a:latin typeface="Abadi"/>
              </a:rPr>
              <a:t>Heubi JE, et al. Semin Liver Dis 2007 · Tang YP, et al. BMC Gastroenterol 2021;21:163 · Orphacol and Kolbam EPARs (EMA) · Cholbam label (FDA 2015)</a:t>
            </a:r>
          </a:p>
        </p:txBody>
      </p:sp>
      <p:sp>
        <p:nvSpPr>
          <p:cNvPr id="12" name="Rectangle 11"/>
          <p:cNvSpPr/>
          <p:nvPr/>
        </p:nvSpPr>
        <p:spPr>
          <a:xfrm>
            <a:off x="548640" y="1783080"/>
            <a:ext cx="2587752" cy="2377440"/>
          </a:xfrm>
          <a:prstGeom prst="rect">
            <a:avLst/>
          </a:prstGeom>
          <a:solidFill>
            <a:srgbClr val="F6D2D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83080"/>
            <a:ext cx="2587752"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002536"/>
            <a:ext cx="2221992" cy="411480"/>
          </a:xfrm>
          <a:prstGeom prst="rect">
            <a:avLst/>
          </a:prstGeom>
          <a:noFill/>
        </p:spPr>
        <p:txBody>
          <a:bodyPr wrap="square" lIns="0" rIns="0" tIns="18288" bIns="18288" anchor="t">
            <a:spAutoFit/>
          </a:bodyPr>
          <a:lstStyle/>
          <a:p>
            <a:pPr algn="l"/>
            <a:r>
              <a:rPr sz="1600" b="1" i="0">
                <a:solidFill>
                  <a:srgbClr val="1A1A1A"/>
                </a:solidFill>
                <a:latin typeface="Abadi"/>
              </a:rPr>
              <a:t>UDCA</a:t>
            </a:r>
          </a:p>
        </p:txBody>
      </p:sp>
      <p:sp>
        <p:nvSpPr>
          <p:cNvPr id="15" name="TextBox 14"/>
          <p:cNvSpPr txBox="1"/>
          <p:nvPr/>
        </p:nvSpPr>
        <p:spPr>
          <a:xfrm>
            <a:off x="731520" y="2478024"/>
            <a:ext cx="2221992" cy="1591056"/>
          </a:xfrm>
          <a:prstGeom prst="rect">
            <a:avLst/>
          </a:prstGeom>
          <a:noFill/>
        </p:spPr>
        <p:txBody>
          <a:bodyPr wrap="square" lIns="0" rIns="0" tIns="18288" bIns="18288" anchor="t">
            <a:spAutoFit/>
          </a:bodyPr>
          <a:lstStyle/>
          <a:p>
            <a:pPr algn="l">
              <a:spcAft>
                <a:spcPts val="500"/>
              </a:spcAft>
            </a:pPr>
            <a:r>
              <a:rPr sz="1200" b="0" i="0">
                <a:solidFill>
                  <a:srgbClr val="1A1A1A"/>
                </a:solidFill>
                <a:latin typeface="Abadi"/>
              </a:rPr>
              <a:t>▪  Lowers transaminases</a:t>
            </a:r>
          </a:p>
          <a:p>
            <a:pPr algn="l">
              <a:spcAft>
                <a:spcPts val="500"/>
              </a:spcAft>
            </a:pPr>
            <a:r>
              <a:rPr sz="1200" b="0" i="0">
                <a:solidFill>
                  <a:srgbClr val="1A1A1A"/>
                </a:solidFill>
                <a:latin typeface="Abadi"/>
              </a:rPr>
              <a:t>▪  Does not suppress atypical synthesis</a:t>
            </a:r>
          </a:p>
          <a:p>
            <a:pPr algn="l">
              <a:spcAft>
                <a:spcPts val="500"/>
              </a:spcAft>
            </a:pPr>
            <a:r>
              <a:rPr sz="1200" b="0" i="0">
                <a:solidFill>
                  <a:srgbClr val="1A1A1A"/>
                </a:solidFill>
                <a:latin typeface="Abadi"/>
              </a:rPr>
              <a:t>▪  Blunted cholic acid when combined; not the answer</a:t>
            </a:r>
          </a:p>
        </p:txBody>
      </p:sp>
      <p:sp>
        <p:nvSpPr>
          <p:cNvPr id="16" name="Rectangle 15"/>
          <p:cNvSpPr/>
          <p:nvPr/>
        </p:nvSpPr>
        <p:spPr>
          <a:xfrm>
            <a:off x="3383280" y="1783080"/>
            <a:ext cx="2587752" cy="2377440"/>
          </a:xfrm>
          <a:prstGeom prst="rect">
            <a:avLst/>
          </a:prstGeom>
          <a:solidFill>
            <a:srgbClr val="FBEFBE"/>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83280" y="1783080"/>
            <a:ext cx="2587752"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0" y="2002536"/>
            <a:ext cx="2221992" cy="411480"/>
          </a:xfrm>
          <a:prstGeom prst="rect">
            <a:avLst/>
          </a:prstGeom>
          <a:noFill/>
        </p:spPr>
        <p:txBody>
          <a:bodyPr wrap="square" lIns="0" rIns="0" tIns="18288" bIns="18288" anchor="t">
            <a:spAutoFit/>
          </a:bodyPr>
          <a:lstStyle/>
          <a:p>
            <a:pPr algn="l"/>
            <a:r>
              <a:rPr sz="1600" b="1" i="0">
                <a:solidFill>
                  <a:srgbClr val="1A1A1A"/>
                </a:solidFill>
                <a:latin typeface="Abadi"/>
              </a:rPr>
              <a:t>CDCA</a:t>
            </a:r>
          </a:p>
        </p:txBody>
      </p:sp>
      <p:sp>
        <p:nvSpPr>
          <p:cNvPr id="19" name="TextBox 18"/>
          <p:cNvSpPr txBox="1"/>
          <p:nvPr/>
        </p:nvSpPr>
        <p:spPr>
          <a:xfrm>
            <a:off x="3566160" y="2478024"/>
            <a:ext cx="2221992" cy="1591056"/>
          </a:xfrm>
          <a:prstGeom prst="rect">
            <a:avLst/>
          </a:prstGeom>
          <a:noFill/>
        </p:spPr>
        <p:txBody>
          <a:bodyPr wrap="square" lIns="0" rIns="0" tIns="18288" bIns="18288" anchor="t">
            <a:spAutoFit/>
          </a:bodyPr>
          <a:lstStyle/>
          <a:p>
            <a:pPr algn="l">
              <a:spcAft>
                <a:spcPts val="500"/>
              </a:spcAft>
            </a:pPr>
            <a:r>
              <a:rPr sz="1200" b="0" i="0">
                <a:solidFill>
                  <a:srgbClr val="1A1A1A"/>
                </a:solidFill>
                <a:latin typeface="Abadi"/>
              </a:rPr>
              <a:t>▪  Used where cholic acid is unavailable</a:t>
            </a:r>
          </a:p>
          <a:p>
            <a:pPr algn="l">
              <a:spcAft>
                <a:spcPts val="500"/>
              </a:spcAft>
            </a:pPr>
            <a:r>
              <a:rPr sz="1200" b="0" i="0">
                <a:solidFill>
                  <a:srgbClr val="1A1A1A"/>
                </a:solidFill>
                <a:latin typeface="Abadi"/>
              </a:rPr>
              <a:t>▪  Effective in the Chinese HSD3B7 series</a:t>
            </a:r>
          </a:p>
          <a:p>
            <a:pPr algn="l">
              <a:spcAft>
                <a:spcPts val="500"/>
              </a:spcAft>
            </a:pPr>
            <a:r>
              <a:rPr sz="1200" b="0" i="0">
                <a:solidFill>
                  <a:srgbClr val="1A1A1A"/>
                </a:solidFill>
                <a:latin typeface="Abadi"/>
              </a:rPr>
              <a:t>▪  Watch for hepatotoxicity at high dose</a:t>
            </a:r>
          </a:p>
        </p:txBody>
      </p:sp>
      <p:sp>
        <p:nvSpPr>
          <p:cNvPr id="20" name="Rectangle 19"/>
          <p:cNvSpPr/>
          <p:nvPr/>
        </p:nvSpPr>
        <p:spPr>
          <a:xfrm>
            <a:off x="6217920" y="1783080"/>
            <a:ext cx="2587752" cy="2377440"/>
          </a:xfrm>
          <a:prstGeom prst="rect">
            <a:avLst/>
          </a:prstGeom>
          <a:solidFill>
            <a:srgbClr val="DCE6F1"/>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783080"/>
            <a:ext cx="2587752"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2002536"/>
            <a:ext cx="2221992" cy="411480"/>
          </a:xfrm>
          <a:prstGeom prst="rect">
            <a:avLst/>
          </a:prstGeom>
          <a:noFill/>
        </p:spPr>
        <p:txBody>
          <a:bodyPr wrap="square" lIns="0" rIns="0" tIns="18288" bIns="18288" anchor="t">
            <a:spAutoFit/>
          </a:bodyPr>
          <a:lstStyle/>
          <a:p>
            <a:pPr algn="l"/>
            <a:r>
              <a:rPr sz="1600" b="1" i="0">
                <a:solidFill>
                  <a:srgbClr val="1B355E"/>
                </a:solidFill>
                <a:latin typeface="Abadi"/>
              </a:rPr>
              <a:t>CYP7B1 defect</a:t>
            </a:r>
          </a:p>
        </p:txBody>
      </p:sp>
      <p:sp>
        <p:nvSpPr>
          <p:cNvPr id="23" name="TextBox 22"/>
          <p:cNvSpPr txBox="1"/>
          <p:nvPr/>
        </p:nvSpPr>
        <p:spPr>
          <a:xfrm>
            <a:off x="6400800" y="2478024"/>
            <a:ext cx="2221992" cy="1591056"/>
          </a:xfrm>
          <a:prstGeom prst="rect">
            <a:avLst/>
          </a:prstGeom>
          <a:noFill/>
        </p:spPr>
        <p:txBody>
          <a:bodyPr wrap="square" lIns="0" rIns="0" tIns="18288" bIns="18288" anchor="t">
            <a:spAutoFit/>
          </a:bodyPr>
          <a:lstStyle/>
          <a:p>
            <a:pPr algn="l">
              <a:spcAft>
                <a:spcPts val="500"/>
              </a:spcAft>
            </a:pPr>
            <a:r>
              <a:rPr sz="1200" b="0" i="0">
                <a:solidFill>
                  <a:srgbClr val="1A1A1A"/>
                </a:solidFill>
                <a:latin typeface="Abadi"/>
              </a:rPr>
              <a:t>▪  Oxysterol 7α-hydroxylase</a:t>
            </a:r>
          </a:p>
          <a:p>
            <a:pPr algn="l">
              <a:spcAft>
                <a:spcPts val="500"/>
              </a:spcAft>
            </a:pPr>
            <a:r>
              <a:rPr sz="1200" b="0" i="0">
                <a:solidFill>
                  <a:srgbClr val="1A1A1A"/>
                </a:solidFill>
                <a:latin typeface="Abadi"/>
              </a:rPr>
              <a:t>▪  Neonatal liver failure; first case needed transplant</a:t>
            </a:r>
          </a:p>
          <a:p>
            <a:pPr algn="l">
              <a:spcAft>
                <a:spcPts val="500"/>
              </a:spcAft>
            </a:pPr>
            <a:r>
              <a:rPr sz="1200" b="0" i="0">
                <a:solidFill>
                  <a:srgbClr val="1A1A1A"/>
                </a:solidFill>
                <a:latin typeface="Abadi"/>
              </a:rPr>
              <a:t>▪  One infant responded to CDCA 6 mg/kg/day</a:t>
            </a:r>
          </a:p>
        </p:txBody>
      </p:sp>
      <p:sp>
        <p:nvSpPr>
          <p:cNvPr id="24" name="Rectangle 23"/>
          <p:cNvSpPr/>
          <p:nvPr/>
        </p:nvSpPr>
        <p:spPr>
          <a:xfrm>
            <a:off x="9052560" y="1783080"/>
            <a:ext cx="2587752" cy="2377440"/>
          </a:xfrm>
          <a:prstGeom prst="rect">
            <a:avLst/>
          </a:prstGeom>
          <a:solidFill>
            <a:srgbClr val="E6E8EA"/>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52560" y="1783080"/>
            <a:ext cx="2587752" cy="12801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0" y="2002536"/>
            <a:ext cx="2221992" cy="411480"/>
          </a:xfrm>
          <a:prstGeom prst="rect">
            <a:avLst/>
          </a:prstGeom>
          <a:noFill/>
        </p:spPr>
        <p:txBody>
          <a:bodyPr wrap="square" lIns="0" rIns="0" tIns="18288" bIns="18288" anchor="t">
            <a:spAutoFit/>
          </a:bodyPr>
          <a:lstStyle/>
          <a:p>
            <a:pPr algn="l"/>
            <a:r>
              <a:rPr sz="1600" b="1" i="0">
                <a:solidFill>
                  <a:srgbClr val="1A1A1A"/>
                </a:solidFill>
                <a:latin typeface="Abadi"/>
              </a:rPr>
              <a:t>Regulators</a:t>
            </a:r>
          </a:p>
        </p:txBody>
      </p:sp>
      <p:sp>
        <p:nvSpPr>
          <p:cNvPr id="27" name="TextBox 26"/>
          <p:cNvSpPr txBox="1"/>
          <p:nvPr/>
        </p:nvSpPr>
        <p:spPr>
          <a:xfrm>
            <a:off x="9235440" y="2478024"/>
            <a:ext cx="2221992" cy="1591056"/>
          </a:xfrm>
          <a:prstGeom prst="rect">
            <a:avLst/>
          </a:prstGeom>
          <a:noFill/>
        </p:spPr>
        <p:txBody>
          <a:bodyPr wrap="square" lIns="0" rIns="0" tIns="18288" bIns="18288" anchor="t">
            <a:spAutoFit/>
          </a:bodyPr>
          <a:lstStyle/>
          <a:p>
            <a:pPr algn="l">
              <a:spcAft>
                <a:spcPts val="500"/>
              </a:spcAft>
            </a:pPr>
            <a:r>
              <a:rPr sz="1200" b="0" i="0">
                <a:solidFill>
                  <a:srgbClr val="1A1A1A"/>
                </a:solidFill>
                <a:latin typeface="Abadi"/>
              </a:rPr>
              <a:t>▪  FDA 2015: Cholbam, incl. peroxisomal adjunct</a:t>
            </a:r>
          </a:p>
          <a:p>
            <a:pPr algn="l">
              <a:spcAft>
                <a:spcPts val="500"/>
              </a:spcAft>
            </a:pPr>
            <a:r>
              <a:rPr sz="1200" b="0" i="0">
                <a:solidFill>
                  <a:srgbClr val="1A1A1A"/>
                </a:solidFill>
                <a:latin typeface="Abadi"/>
              </a:rPr>
              <a:t>▪  EMA 2013: Orphacol for 3β-HSD and Δ4</a:t>
            </a:r>
          </a:p>
          <a:p>
            <a:pPr algn="l">
              <a:spcAft>
                <a:spcPts val="500"/>
              </a:spcAft>
            </a:pPr>
            <a:r>
              <a:rPr sz="1200" b="0" i="0">
                <a:solidFill>
                  <a:srgbClr val="1A1A1A"/>
                </a:solidFill>
                <a:latin typeface="Abadi"/>
              </a:rPr>
              <a:t>▪  Kolbam (EU 2014) withdrawn 2020</a:t>
            </a:r>
          </a:p>
        </p:txBody>
      </p:sp>
      <p:sp>
        <p:nvSpPr>
          <p:cNvPr id="28" name="TextBox 27"/>
          <p:cNvSpPr txBox="1"/>
          <p:nvPr/>
        </p:nvSpPr>
        <p:spPr>
          <a:xfrm>
            <a:off x="548640" y="4343400"/>
            <a:ext cx="11091672" cy="1463040"/>
          </a:xfrm>
          <a:prstGeom prst="rect">
            <a:avLst/>
          </a:prstGeom>
          <a:noFill/>
        </p:spPr>
        <p:txBody>
          <a:bodyPr wrap="square" lIns="0" rIns="0" tIns="18288" bIns="18288" anchor="t">
            <a:spAutoFit/>
          </a:bodyPr>
          <a:lstStyle/>
          <a:p>
            <a:pPr algn="l">
              <a:spcAft>
                <a:spcPts val="800"/>
              </a:spcAft>
            </a:pPr>
            <a:r>
              <a:rPr sz="1300" b="1" i="0">
                <a:solidFill>
                  <a:srgbClr val="1B355E"/>
                </a:solidFill>
                <a:latin typeface="Abadi"/>
              </a:rPr>
              <a:t>Why the choice matters.  </a:t>
            </a:r>
            <a:r>
              <a:rPr sz="1300" b="0" i="0">
                <a:solidFill>
                  <a:srgbClr val="1A1A1A"/>
                </a:solidFill>
                <a:latin typeface="Abadi"/>
              </a:rPr>
              <a:t>Cholic acid is a pure feedback signal and has low detergent toxicity; it switches off production of the toxic precursors. UDCA is hydrophilic but does not restore the feedback.</a:t>
            </a:r>
          </a:p>
          <a:p>
            <a:pPr algn="l">
              <a:spcAft>
                <a:spcPts val="800"/>
              </a:spcAft>
            </a:pPr>
            <a:r>
              <a:rPr sz="1300" b="1" i="0">
                <a:solidFill>
                  <a:srgbClr val="B22222"/>
                </a:solidFill>
                <a:latin typeface="Abadi"/>
              </a:rPr>
              <a:t>Peroxisomal disorders.  </a:t>
            </a:r>
            <a:r>
              <a:rPr sz="1300" b="0" i="0">
                <a:solidFill>
                  <a:srgbClr val="1A1A1A"/>
                </a:solidFill>
                <a:latin typeface="Abadi"/>
              </a:rPr>
              <a:t>Response in Zellweger spectrum is lower and survival poorer, because the liver is one organ of a multisystem disease.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VI</a:t>
            </a:r>
          </a:p>
        </p:txBody>
      </p:sp>
      <p:sp>
        <p:nvSpPr>
          <p:cNvPr id="4" name="TextBox 3"/>
          <p:cNvSpPr txBox="1"/>
          <p:nvPr/>
        </p:nvSpPr>
        <p:spPr>
          <a:xfrm>
            <a:off x="1389888" y="301752"/>
            <a:ext cx="10241280" cy="347472"/>
          </a:xfrm>
          <a:prstGeom prst="rect">
            <a:avLst/>
          </a:prstGeom>
          <a:noFill/>
        </p:spPr>
        <p:txBody>
          <a:bodyPr wrap="square" lIns="0" rIns="0" tIns="18288" bIns="18288" anchor="ctr">
            <a:spAutoFit/>
          </a:bodyPr>
          <a:lstStyle/>
          <a:p>
            <a:pPr algn="l"/>
            <a:r>
              <a:rPr sz="1200" b="1" i="0">
                <a:solidFill>
                  <a:srgbClr val="2E5A88"/>
                </a:solidFill>
                <a:latin typeface="Abadi"/>
              </a:rPr>
              <a:t>PATTERN RECOGNITION</a:t>
            </a:r>
          </a:p>
        </p:txBody>
      </p:sp>
      <p:sp>
        <p:nvSpPr>
          <p:cNvPr id="5" name="TextBox 4"/>
          <p:cNvSpPr txBox="1"/>
          <p:nvPr/>
        </p:nvSpPr>
        <p:spPr>
          <a:xfrm>
            <a:off x="548640" y="731520"/>
            <a:ext cx="11091672" cy="548640"/>
          </a:xfrm>
          <a:prstGeom prst="rect">
            <a:avLst/>
          </a:prstGeom>
          <a:noFill/>
        </p:spPr>
        <p:txBody>
          <a:bodyPr wrap="square" lIns="0" rIns="0" tIns="18288" bIns="18288" anchor="t">
            <a:spAutoFit/>
          </a:bodyPr>
          <a:lstStyle/>
          <a:p>
            <a:pPr algn="l"/>
            <a:r>
              <a:rPr sz="3000" b="1" i="0">
                <a:solidFill>
                  <a:srgbClr val="1B355E"/>
                </a:solidFill>
                <a:latin typeface="Abadi"/>
              </a:rPr>
              <a:t>TELLING THE THREE APART AT THE BEDSIDE</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Distinguishing features in the cholestatic infant</a:t>
            </a:r>
          </a:p>
        </p:txBody>
      </p:sp>
      <p:sp>
        <p:nvSpPr>
          <p:cNvPr id="7" name="Rectangle 6"/>
          <p:cNvSpPr/>
          <p:nvPr/>
        </p:nvSpPr>
        <p:spPr>
          <a:xfrm>
            <a:off x="548640" y="1600200"/>
            <a:ext cx="11091672" cy="2743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17</a:t>
            </a:r>
          </a:p>
        </p:txBody>
      </p:sp>
      <p:sp>
        <p:nvSpPr>
          <p:cNvPr id="11" name="TextBox 10"/>
          <p:cNvSpPr txBox="1"/>
          <p:nvPr/>
        </p:nvSpPr>
        <p:spPr>
          <a:xfrm>
            <a:off x="548640" y="5971032"/>
            <a:ext cx="10296144" cy="457200"/>
          </a:xfrm>
          <a:prstGeom prst="rect">
            <a:avLst/>
          </a:prstGeom>
          <a:noFill/>
        </p:spPr>
        <p:txBody>
          <a:bodyPr wrap="square" lIns="0" rIns="0" tIns="18288" bIns="18288" anchor="t">
            <a:spAutoFit/>
          </a:bodyPr>
          <a:lstStyle/>
          <a:p>
            <a:pPr algn="l"/>
            <a:r>
              <a:rPr sz="1000" b="0" i="1">
                <a:solidFill>
                  <a:srgbClr val="555555"/>
                </a:solidFill>
                <a:latin typeface="Abadi"/>
              </a:rPr>
              <a:t>Kido 2022 · Li 2025 · Ohura 2007 · Heubi 2007 · Gonzales 2018 · Zhao 2021 · Fawaz 2017</a:t>
            </a:r>
          </a:p>
        </p:txBody>
      </p:sp>
      <p:graphicFrame>
        <p:nvGraphicFramePr>
          <p:cNvPr id="12" name="Table 11"/>
          <p:cNvGraphicFramePr>
            <a:graphicFrameLocks noGrp="1"/>
          </p:cNvGraphicFramePr>
          <p:nvPr/>
        </p:nvGraphicFramePr>
        <p:xfrm>
          <a:off x="548640" y="1810512"/>
          <a:ext cx="11091672" cy="4114800"/>
        </p:xfrm>
        <a:graphic>
          <a:graphicData uri="http://schemas.openxmlformats.org/drawingml/2006/table">
            <a:tbl>
              <a:tblPr firstRow="0" bandRow="0">
                <a:tableStyleId>{5C22544A-7EE6-4342-B048-85BDC9FD1C3A}</a:tableStyleId>
              </a:tblPr>
              <a:tblGrid>
                <a:gridCol w="2194560"/>
                <a:gridCol w="2971800"/>
                <a:gridCol w="2971800"/>
                <a:gridCol w="2953512"/>
              </a:tblGrid>
              <a:tr h="457200">
                <a:tc>
                  <a:txBody>
                    <a:bodyPr wrap="square"/>
                    <a:lstStyle/>
                    <a:p>
                      <a:r>
                        <a:rPr sz="1150" b="1">
                          <a:solidFill>
                            <a:srgbClr val="FFFFFF"/>
                          </a:solidFill>
                          <a:latin typeface="Abadi"/>
                        </a:rPr>
                        <a:t>Feature</a:t>
                      </a:r>
                    </a:p>
                  </a:txBody>
                  <a:tcPr marL="54864" marR="54864" marT="27432" marB="27432" anchor="ctr">
                    <a:solidFill>
                      <a:srgbClr val="1B355E"/>
                    </a:solidFill>
                  </a:tcPr>
                </a:tc>
                <a:tc>
                  <a:txBody>
                    <a:bodyPr wrap="square"/>
                    <a:lstStyle/>
                    <a:p>
                      <a:r>
                        <a:rPr sz="1150" b="1">
                          <a:solidFill>
                            <a:srgbClr val="FFFFFF"/>
                          </a:solidFill>
                          <a:latin typeface="Abadi"/>
                        </a:rPr>
                        <a:t>NICCD</a:t>
                      </a:r>
                    </a:p>
                  </a:txBody>
                  <a:tcPr marL="54864" marR="54864" marT="27432" marB="27432" anchor="ctr">
                    <a:solidFill>
                      <a:srgbClr val="1B355E"/>
                    </a:solidFill>
                  </a:tcPr>
                </a:tc>
                <a:tc>
                  <a:txBody>
                    <a:bodyPr wrap="square"/>
                    <a:lstStyle/>
                    <a:p>
                      <a:r>
                        <a:rPr sz="1150" b="1">
                          <a:solidFill>
                            <a:srgbClr val="FFFFFF"/>
                          </a:solidFill>
                          <a:latin typeface="Abadi"/>
                        </a:rPr>
                        <a:t>3β-HSD deficiency</a:t>
                      </a:r>
                    </a:p>
                  </a:txBody>
                  <a:tcPr marL="54864" marR="54864" marT="27432" marB="27432" anchor="ctr">
                    <a:solidFill>
                      <a:srgbClr val="1B355E"/>
                    </a:solidFill>
                  </a:tcPr>
                </a:tc>
                <a:tc>
                  <a:txBody>
                    <a:bodyPr wrap="square"/>
                    <a:lstStyle/>
                    <a:p>
                      <a:r>
                        <a:rPr sz="1150" b="1">
                          <a:solidFill>
                            <a:srgbClr val="FFFFFF"/>
                          </a:solidFill>
                          <a:latin typeface="Abadi"/>
                        </a:rPr>
                        <a:t>Δ4-reductase deficiency</a:t>
                      </a:r>
                    </a:p>
                  </a:txBody>
                  <a:tcPr marL="54864" marR="54864" marT="27432" marB="27432" anchor="ctr">
                    <a:solidFill>
                      <a:srgbClr val="1B355E"/>
                    </a:solidFill>
                  </a:tcPr>
                </a:tc>
              </a:tr>
              <a:tr h="457200">
                <a:tc>
                  <a:txBody>
                    <a:bodyPr wrap="square"/>
                    <a:lstStyle/>
                    <a:p>
                      <a:r>
                        <a:rPr sz="1150" b="1">
                          <a:solidFill>
                            <a:srgbClr val="1A1A1A"/>
                          </a:solidFill>
                          <a:latin typeface="Abadi"/>
                        </a:rPr>
                        <a:t>Onset</a:t>
                      </a:r>
                    </a:p>
                  </a:txBody>
                  <a:tcPr marL="54864" marR="54864" marT="27432" marB="27432" anchor="ctr">
                    <a:solidFill>
                      <a:srgbClr val="FFFFFF"/>
                    </a:solidFill>
                  </a:tcPr>
                </a:tc>
                <a:tc>
                  <a:txBody>
                    <a:bodyPr wrap="square"/>
                    <a:lstStyle/>
                    <a:p>
                      <a:r>
                        <a:rPr sz="1150" b="0">
                          <a:solidFill>
                            <a:srgbClr val="1A1A1A"/>
                          </a:solidFill>
                          <a:latin typeface="Abadi"/>
                        </a:rPr>
                        <a:t>Weeks 1–8; often newborn screen</a:t>
                      </a:r>
                    </a:p>
                  </a:txBody>
                  <a:tcPr marL="54864" marR="54864" marT="27432" marB="27432" anchor="ctr">
                    <a:solidFill>
                      <a:srgbClr val="FFFFFF"/>
                    </a:solidFill>
                  </a:tcPr>
                </a:tc>
                <a:tc>
                  <a:txBody>
                    <a:bodyPr wrap="square"/>
                    <a:lstStyle/>
                    <a:p>
                      <a:r>
                        <a:rPr sz="1150" b="0">
                          <a:solidFill>
                            <a:srgbClr val="1A1A1A"/>
                          </a:solidFill>
                          <a:latin typeface="Abadi"/>
                        </a:rPr>
                        <a:t>Median 10 days; some late</a:t>
                      </a:r>
                    </a:p>
                  </a:txBody>
                  <a:tcPr marL="54864" marR="54864" marT="27432" marB="27432" anchor="ctr">
                    <a:solidFill>
                      <a:srgbClr val="FFFFFF"/>
                    </a:solidFill>
                  </a:tcPr>
                </a:tc>
                <a:tc>
                  <a:txBody>
                    <a:bodyPr wrap="square"/>
                    <a:lstStyle/>
                    <a:p>
                      <a:r>
                        <a:rPr sz="1150" b="0">
                          <a:solidFill>
                            <a:srgbClr val="1A1A1A"/>
                          </a:solidFill>
                          <a:latin typeface="Abadi"/>
                        </a:rPr>
                        <a:t>Early, severe</a:t>
                      </a:r>
                    </a:p>
                  </a:txBody>
                  <a:tcPr marL="54864" marR="54864" marT="27432" marB="27432" anchor="ctr">
                    <a:solidFill>
                      <a:srgbClr val="FFFFFF"/>
                    </a:solidFill>
                  </a:tcPr>
                </a:tc>
              </a:tr>
              <a:tr h="457200">
                <a:tc>
                  <a:txBody>
                    <a:bodyPr wrap="square"/>
                    <a:lstStyle/>
                    <a:p>
                      <a:r>
                        <a:rPr sz="1150" b="1">
                          <a:solidFill>
                            <a:srgbClr val="1A1A1A"/>
                          </a:solidFill>
                          <a:latin typeface="Abadi"/>
                        </a:rPr>
                        <a:t>GGT</a:t>
                      </a:r>
                    </a:p>
                  </a:txBody>
                  <a:tcPr marL="54864" marR="54864" marT="27432" marB="27432" anchor="ctr">
                    <a:solidFill>
                      <a:srgbClr val="F2F2F2"/>
                    </a:solidFill>
                  </a:tcPr>
                </a:tc>
                <a:tc>
                  <a:txBody>
                    <a:bodyPr wrap="square"/>
                    <a:lstStyle/>
                    <a:p>
                      <a:r>
                        <a:rPr sz="1150" b="0">
                          <a:solidFill>
                            <a:srgbClr val="1A1A1A"/>
                          </a:solidFill>
                          <a:latin typeface="Abadi"/>
                        </a:rPr>
                        <a:t>High</a:t>
                      </a:r>
                    </a:p>
                  </a:txBody>
                  <a:tcPr marL="54864" marR="54864" marT="27432" marB="27432" anchor="ctr">
                    <a:solidFill>
                      <a:srgbClr val="F2F2F2"/>
                    </a:solidFill>
                  </a:tcPr>
                </a:tc>
                <a:tc>
                  <a:txBody>
                    <a:bodyPr wrap="square"/>
                    <a:lstStyle/>
                    <a:p>
                      <a:r>
                        <a:rPr sz="1150" b="0">
                          <a:solidFill>
                            <a:srgbClr val="1A1A1A"/>
                          </a:solidFill>
                          <a:latin typeface="Abadi"/>
                        </a:rPr>
                        <a:t>Normal</a:t>
                      </a:r>
                    </a:p>
                  </a:txBody>
                  <a:tcPr marL="54864" marR="54864" marT="27432" marB="27432" anchor="ctr">
                    <a:solidFill>
                      <a:srgbClr val="F2F2F2"/>
                    </a:solidFill>
                  </a:tcPr>
                </a:tc>
                <a:tc>
                  <a:txBody>
                    <a:bodyPr wrap="square"/>
                    <a:lstStyle/>
                    <a:p>
                      <a:r>
                        <a:rPr sz="1150" b="0">
                          <a:solidFill>
                            <a:srgbClr val="1A1A1A"/>
                          </a:solidFill>
                          <a:latin typeface="Abadi"/>
                        </a:rPr>
                        <a:t>Normal or high</a:t>
                      </a:r>
                    </a:p>
                  </a:txBody>
                  <a:tcPr marL="54864" marR="54864" marT="27432" marB="27432" anchor="ctr">
                    <a:solidFill>
                      <a:srgbClr val="F2F2F2"/>
                    </a:solidFill>
                  </a:tcPr>
                </a:tc>
              </a:tr>
              <a:tr h="457200">
                <a:tc>
                  <a:txBody>
                    <a:bodyPr wrap="square"/>
                    <a:lstStyle/>
                    <a:p>
                      <a:r>
                        <a:rPr sz="1150" b="1">
                          <a:solidFill>
                            <a:srgbClr val="1A1A1A"/>
                          </a:solidFill>
                          <a:latin typeface="Abadi"/>
                        </a:rPr>
                        <a:t>Serum bile acids</a:t>
                      </a:r>
                    </a:p>
                  </a:txBody>
                  <a:tcPr marL="54864" marR="54864" marT="27432" marB="27432" anchor="ctr">
                    <a:solidFill>
                      <a:srgbClr val="FFFFFF"/>
                    </a:solidFill>
                  </a:tcPr>
                </a:tc>
                <a:tc>
                  <a:txBody>
                    <a:bodyPr wrap="square"/>
                    <a:lstStyle/>
                    <a:p>
                      <a:r>
                        <a:rPr sz="1150" b="0">
                          <a:solidFill>
                            <a:srgbClr val="1A1A1A"/>
                          </a:solidFill>
                          <a:latin typeface="Abadi"/>
                        </a:rPr>
                        <a:t>High</a:t>
                      </a:r>
                    </a:p>
                  </a:txBody>
                  <a:tcPr marL="54864" marR="54864" marT="27432" marB="27432" anchor="ctr">
                    <a:solidFill>
                      <a:srgbClr val="FFFFFF"/>
                    </a:solidFill>
                  </a:tcPr>
                </a:tc>
                <a:tc>
                  <a:txBody>
                    <a:bodyPr wrap="square"/>
                    <a:lstStyle/>
                    <a:p>
                      <a:r>
                        <a:rPr sz="1150" b="0">
                          <a:solidFill>
                            <a:srgbClr val="1A1A1A"/>
                          </a:solidFill>
                          <a:latin typeface="Abadi"/>
                        </a:rPr>
                        <a:t>Low or normal</a:t>
                      </a:r>
                    </a:p>
                  </a:txBody>
                  <a:tcPr marL="54864" marR="54864" marT="27432" marB="27432" anchor="ctr">
                    <a:solidFill>
                      <a:srgbClr val="FFFFFF"/>
                    </a:solidFill>
                  </a:tcPr>
                </a:tc>
                <a:tc>
                  <a:txBody>
                    <a:bodyPr wrap="square"/>
                    <a:lstStyle/>
                    <a:p>
                      <a:r>
                        <a:rPr sz="1150" b="0">
                          <a:solidFill>
                            <a:srgbClr val="1A1A1A"/>
                          </a:solidFill>
                          <a:latin typeface="Abadi"/>
                        </a:rPr>
                        <a:t>Low or normal</a:t>
                      </a:r>
                    </a:p>
                  </a:txBody>
                  <a:tcPr marL="54864" marR="54864" marT="27432" marB="27432" anchor="ctr">
                    <a:solidFill>
                      <a:srgbClr val="FFFFFF"/>
                    </a:solidFill>
                  </a:tcPr>
                </a:tc>
              </a:tr>
              <a:tr h="457200">
                <a:tc>
                  <a:txBody>
                    <a:bodyPr wrap="square"/>
                    <a:lstStyle/>
                    <a:p>
                      <a:r>
                        <a:rPr sz="1150" b="1">
                          <a:solidFill>
                            <a:srgbClr val="1A1A1A"/>
                          </a:solidFill>
                          <a:latin typeface="Abadi"/>
                        </a:rPr>
                        <a:t>Pruritus</a:t>
                      </a:r>
                    </a:p>
                  </a:txBody>
                  <a:tcPr marL="54864" marR="54864" marT="27432" marB="27432" anchor="ctr">
                    <a:solidFill>
                      <a:srgbClr val="F2F2F2"/>
                    </a:solidFill>
                  </a:tcPr>
                </a:tc>
                <a:tc>
                  <a:txBody>
                    <a:bodyPr wrap="square"/>
                    <a:lstStyle/>
                    <a:p>
                      <a:r>
                        <a:rPr sz="1150" b="0">
                          <a:solidFill>
                            <a:srgbClr val="1A1A1A"/>
                          </a:solidFill>
                          <a:latin typeface="Abadi"/>
                        </a:rPr>
                        <a:t>Variable</a:t>
                      </a:r>
                    </a:p>
                  </a:txBody>
                  <a:tcPr marL="54864" marR="54864" marT="27432" marB="27432" anchor="ctr">
                    <a:solidFill>
                      <a:srgbClr val="F2F2F2"/>
                    </a:solidFill>
                  </a:tcPr>
                </a:tc>
                <a:tc>
                  <a:txBody>
                    <a:bodyPr wrap="square"/>
                    <a:lstStyle/>
                    <a:p>
                      <a:r>
                        <a:rPr sz="1150" b="0">
                          <a:solidFill>
                            <a:srgbClr val="1A1A1A"/>
                          </a:solidFill>
                          <a:latin typeface="Abadi"/>
                        </a:rPr>
                        <a:t>Usually absent</a:t>
                      </a:r>
                    </a:p>
                  </a:txBody>
                  <a:tcPr marL="54864" marR="54864" marT="27432" marB="27432" anchor="ctr">
                    <a:solidFill>
                      <a:srgbClr val="F2F2F2"/>
                    </a:solidFill>
                  </a:tcPr>
                </a:tc>
                <a:tc>
                  <a:txBody>
                    <a:bodyPr wrap="square"/>
                    <a:lstStyle/>
                    <a:p>
                      <a:r>
                        <a:rPr sz="1150" b="0">
                          <a:solidFill>
                            <a:srgbClr val="1A1A1A"/>
                          </a:solidFill>
                          <a:latin typeface="Abadi"/>
                        </a:rPr>
                        <a:t>Usually absent</a:t>
                      </a:r>
                    </a:p>
                  </a:txBody>
                  <a:tcPr marL="54864" marR="54864" marT="27432" marB="27432" anchor="ctr">
                    <a:solidFill>
                      <a:srgbClr val="F2F2F2"/>
                    </a:solidFill>
                  </a:tcPr>
                </a:tc>
              </a:tr>
              <a:tr h="457200">
                <a:tc>
                  <a:txBody>
                    <a:bodyPr wrap="square"/>
                    <a:lstStyle/>
                    <a:p>
                      <a:r>
                        <a:rPr sz="1150" b="1">
                          <a:solidFill>
                            <a:srgbClr val="1A1A1A"/>
                          </a:solidFill>
                          <a:latin typeface="Abadi"/>
                        </a:rPr>
                        <a:t>Signature</a:t>
                      </a:r>
                    </a:p>
                  </a:txBody>
                  <a:tcPr marL="54864" marR="54864" marT="27432" marB="27432" anchor="ctr">
                    <a:solidFill>
                      <a:srgbClr val="FFFFFF"/>
                    </a:solidFill>
                  </a:tcPr>
                </a:tc>
                <a:tc>
                  <a:txBody>
                    <a:bodyPr wrap="square"/>
                    <a:lstStyle/>
                    <a:p>
                      <a:r>
                        <a:rPr sz="1150" b="0">
                          <a:solidFill>
                            <a:srgbClr val="1A1A1A"/>
                          </a:solidFill>
                          <a:latin typeface="Abadi"/>
                        </a:rPr>
                        <a:t>Citrulline, galactose, AFP very high</a:t>
                      </a:r>
                    </a:p>
                  </a:txBody>
                  <a:tcPr marL="54864" marR="54864" marT="27432" marB="27432" anchor="ctr">
                    <a:solidFill>
                      <a:srgbClr val="FFFFFF"/>
                    </a:solidFill>
                  </a:tcPr>
                </a:tc>
                <a:tc>
                  <a:txBody>
                    <a:bodyPr wrap="square"/>
                    <a:lstStyle/>
                    <a:p>
                      <a:r>
                        <a:rPr sz="1150" b="0">
                          <a:solidFill>
                            <a:srgbClr val="1A1A1A"/>
                          </a:solidFill>
                          <a:latin typeface="Abadi"/>
                        </a:rPr>
                        <a:t>Rickets, vitamin deficiency</a:t>
                      </a:r>
                    </a:p>
                  </a:txBody>
                  <a:tcPr marL="54864" marR="54864" marT="27432" marB="27432" anchor="ctr">
                    <a:solidFill>
                      <a:srgbClr val="FFFFFF"/>
                    </a:solidFill>
                  </a:tcPr>
                </a:tc>
                <a:tc>
                  <a:txBody>
                    <a:bodyPr wrap="square"/>
                    <a:lstStyle/>
                    <a:p>
                      <a:r>
                        <a:rPr sz="1150" b="0">
                          <a:solidFill>
                            <a:srgbClr val="1A1A1A"/>
                          </a:solidFill>
                          <a:latin typeface="Abadi"/>
                        </a:rPr>
                        <a:t>Coagulopathy, rapid fibrosis</a:t>
                      </a:r>
                    </a:p>
                  </a:txBody>
                  <a:tcPr marL="54864" marR="54864" marT="27432" marB="27432" anchor="ctr">
                    <a:solidFill>
                      <a:srgbClr val="FFFFFF"/>
                    </a:solidFill>
                  </a:tcPr>
                </a:tc>
              </a:tr>
              <a:tr h="457200">
                <a:tc>
                  <a:txBody>
                    <a:bodyPr wrap="square"/>
                    <a:lstStyle/>
                    <a:p>
                      <a:r>
                        <a:rPr sz="1150" b="1">
                          <a:solidFill>
                            <a:srgbClr val="1A1A1A"/>
                          </a:solidFill>
                          <a:latin typeface="Abadi"/>
                        </a:rPr>
                        <a:t>Key test</a:t>
                      </a:r>
                    </a:p>
                  </a:txBody>
                  <a:tcPr marL="54864" marR="54864" marT="27432" marB="27432" anchor="ctr">
                    <a:solidFill>
                      <a:srgbClr val="F2F2F2"/>
                    </a:solidFill>
                  </a:tcPr>
                </a:tc>
                <a:tc>
                  <a:txBody>
                    <a:bodyPr wrap="square"/>
                    <a:lstStyle/>
                    <a:p>
                      <a:r>
                        <a:rPr sz="1150" b="0">
                          <a:solidFill>
                            <a:srgbClr val="1A1A1A"/>
                          </a:solidFill>
                          <a:latin typeface="Abadi"/>
                        </a:rPr>
                        <a:t>Amino acids; SLC25A13</a:t>
                      </a:r>
                    </a:p>
                  </a:txBody>
                  <a:tcPr marL="54864" marR="54864" marT="27432" marB="27432" anchor="ctr">
                    <a:solidFill>
                      <a:srgbClr val="F2F2F2"/>
                    </a:solidFill>
                  </a:tcPr>
                </a:tc>
                <a:tc>
                  <a:txBody>
                    <a:bodyPr wrap="square"/>
                    <a:lstStyle/>
                    <a:p>
                      <a:r>
                        <a:rPr sz="1150" b="0">
                          <a:solidFill>
                            <a:srgbClr val="1A1A1A"/>
                          </a:solidFill>
                          <a:latin typeface="Abadi"/>
                        </a:rPr>
                        <a:t>Urine bile acids; HSD3B7</a:t>
                      </a:r>
                    </a:p>
                  </a:txBody>
                  <a:tcPr marL="54864" marR="54864" marT="27432" marB="27432" anchor="ctr">
                    <a:solidFill>
                      <a:srgbClr val="F2F2F2"/>
                    </a:solidFill>
                  </a:tcPr>
                </a:tc>
                <a:tc>
                  <a:txBody>
                    <a:bodyPr wrap="square"/>
                    <a:lstStyle/>
                    <a:p>
                      <a:r>
                        <a:rPr sz="1150" b="0">
                          <a:solidFill>
                            <a:srgbClr val="1A1A1A"/>
                          </a:solidFill>
                          <a:latin typeface="Abadi"/>
                        </a:rPr>
                        <a:t>Repeat urine; AKR1D1</a:t>
                      </a:r>
                    </a:p>
                  </a:txBody>
                  <a:tcPr marL="54864" marR="54864" marT="27432" marB="27432" anchor="ctr">
                    <a:solidFill>
                      <a:srgbClr val="F2F2F2"/>
                    </a:solidFill>
                  </a:tcPr>
                </a:tc>
              </a:tr>
              <a:tr h="457200">
                <a:tc>
                  <a:txBody>
                    <a:bodyPr wrap="square"/>
                    <a:lstStyle/>
                    <a:p>
                      <a:r>
                        <a:rPr sz="1150" b="1">
                          <a:solidFill>
                            <a:srgbClr val="1A1A1A"/>
                          </a:solidFill>
                          <a:latin typeface="Abadi"/>
                        </a:rPr>
                        <a:t>Treatment</a:t>
                      </a:r>
                    </a:p>
                  </a:txBody>
                  <a:tcPr marL="54864" marR="54864" marT="27432" marB="27432" anchor="ctr">
                    <a:solidFill>
                      <a:srgbClr val="FFFFFF"/>
                    </a:solidFill>
                  </a:tcPr>
                </a:tc>
                <a:tc>
                  <a:txBody>
                    <a:bodyPr wrap="square"/>
                    <a:lstStyle/>
                    <a:p>
                      <a:r>
                        <a:rPr sz="1150" b="0">
                          <a:solidFill>
                            <a:srgbClr val="1A1A1A"/>
                          </a:solidFill>
                          <a:latin typeface="Abadi"/>
                        </a:rPr>
                        <a:t>Lactose-free MCT formula</a:t>
                      </a:r>
                    </a:p>
                  </a:txBody>
                  <a:tcPr marL="54864" marR="54864" marT="27432" marB="27432" anchor="ctr">
                    <a:solidFill>
                      <a:srgbClr val="FFFFFF"/>
                    </a:solidFill>
                  </a:tcPr>
                </a:tc>
                <a:tc>
                  <a:txBody>
                    <a:bodyPr wrap="square"/>
                    <a:lstStyle/>
                    <a:p>
                      <a:r>
                        <a:rPr sz="1150" b="0">
                          <a:solidFill>
                            <a:srgbClr val="1A1A1A"/>
                          </a:solidFill>
                          <a:latin typeface="Abadi"/>
                        </a:rPr>
                        <a:t>Cholic acid</a:t>
                      </a:r>
                    </a:p>
                  </a:txBody>
                  <a:tcPr marL="54864" marR="54864" marT="27432" marB="27432" anchor="ctr">
                    <a:solidFill>
                      <a:srgbClr val="FFFFFF"/>
                    </a:solidFill>
                  </a:tcPr>
                </a:tc>
                <a:tc>
                  <a:txBody>
                    <a:bodyPr wrap="square"/>
                    <a:lstStyle/>
                    <a:p>
                      <a:r>
                        <a:rPr sz="1150" b="0">
                          <a:solidFill>
                            <a:srgbClr val="1A1A1A"/>
                          </a:solidFill>
                          <a:latin typeface="Abadi"/>
                        </a:rPr>
                        <a:t>Cholic acid</a:t>
                      </a:r>
                    </a:p>
                  </a:txBody>
                  <a:tcPr marL="54864" marR="54864" marT="27432" marB="27432" anchor="ctr">
                    <a:solidFill>
                      <a:srgbClr val="FFFFFF"/>
                    </a:solidFill>
                  </a:tcPr>
                </a:tc>
              </a:tr>
              <a:tr h="457200">
                <a:tc>
                  <a:txBody>
                    <a:bodyPr wrap="square"/>
                    <a:lstStyle/>
                    <a:p>
                      <a:r>
                        <a:rPr sz="1150" b="1">
                          <a:solidFill>
                            <a:srgbClr val="1A1A1A"/>
                          </a:solidFill>
                          <a:latin typeface="Abadi"/>
                        </a:rPr>
                        <a:t>Long term</a:t>
                      </a:r>
                    </a:p>
                  </a:txBody>
                  <a:tcPr marL="54864" marR="54864" marT="27432" marB="27432" anchor="ctr">
                    <a:solidFill>
                      <a:srgbClr val="F2F2F2"/>
                    </a:solidFill>
                  </a:tcPr>
                </a:tc>
                <a:tc>
                  <a:txBody>
                    <a:bodyPr wrap="square"/>
                    <a:lstStyle/>
                    <a:p>
                      <a:r>
                        <a:rPr sz="1150" b="0">
                          <a:solidFill>
                            <a:srgbClr val="1A1A1A"/>
                          </a:solidFill>
                          <a:latin typeface="Abadi"/>
                        </a:rPr>
                        <a:t>Resolves; CTLN2 risk</a:t>
                      </a:r>
                    </a:p>
                  </a:txBody>
                  <a:tcPr marL="54864" marR="54864" marT="27432" marB="27432" anchor="ctr">
                    <a:solidFill>
                      <a:srgbClr val="F2F2F2"/>
                    </a:solidFill>
                  </a:tcPr>
                </a:tc>
                <a:tc>
                  <a:txBody>
                    <a:bodyPr wrap="square"/>
                    <a:lstStyle/>
                    <a:p>
                      <a:r>
                        <a:rPr sz="1150" b="0">
                          <a:solidFill>
                            <a:srgbClr val="1A1A1A"/>
                          </a:solidFill>
                          <a:latin typeface="Abadi"/>
                        </a:rPr>
                        <a:t>Normal life on treatment</a:t>
                      </a:r>
                    </a:p>
                  </a:txBody>
                  <a:tcPr marL="54864" marR="54864" marT="27432" marB="27432" anchor="ctr">
                    <a:solidFill>
                      <a:srgbClr val="F2F2F2"/>
                    </a:solidFill>
                  </a:tcPr>
                </a:tc>
                <a:tc>
                  <a:txBody>
                    <a:bodyPr wrap="square"/>
                    <a:lstStyle/>
                    <a:p>
                      <a:r>
                        <a:rPr sz="1150" b="0">
                          <a:solidFill>
                            <a:srgbClr val="1A1A1A"/>
                          </a:solidFill>
                          <a:latin typeface="Abadi"/>
                        </a:rPr>
                        <a:t>Good if treated early</a:t>
                      </a:r>
                    </a:p>
                  </a:txBody>
                  <a:tcPr marL="54864" marR="54864" marT="27432" marB="27432" anchor="ctr">
                    <a:solidFill>
                      <a:srgbClr val="F2F2F2"/>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VII</a:t>
            </a:r>
          </a:p>
        </p:txBody>
      </p:sp>
      <p:sp>
        <p:nvSpPr>
          <p:cNvPr id="4" name="TextBox 3"/>
          <p:cNvSpPr txBox="1"/>
          <p:nvPr/>
        </p:nvSpPr>
        <p:spPr>
          <a:xfrm>
            <a:off x="1389888" y="301752"/>
            <a:ext cx="10241280" cy="347472"/>
          </a:xfrm>
          <a:prstGeom prst="rect">
            <a:avLst/>
          </a:prstGeom>
          <a:noFill/>
        </p:spPr>
        <p:txBody>
          <a:bodyPr wrap="square" lIns="0" rIns="0" tIns="18288" bIns="18288" anchor="ctr">
            <a:spAutoFit/>
          </a:bodyPr>
          <a:lstStyle/>
          <a:p>
            <a:pPr algn="l"/>
            <a:r>
              <a:rPr sz="1200" b="1" i="0">
                <a:solidFill>
                  <a:srgbClr val="2E5A88"/>
                </a:solidFill>
                <a:latin typeface="Abadi"/>
              </a:rPr>
              <a:t>GUIDELINES</a:t>
            </a:r>
          </a:p>
        </p:txBody>
      </p:sp>
      <p:sp>
        <p:nvSpPr>
          <p:cNvPr id="5" name="TextBox 4"/>
          <p:cNvSpPr txBox="1"/>
          <p:nvPr/>
        </p:nvSpPr>
        <p:spPr>
          <a:xfrm>
            <a:off x="548640" y="731520"/>
            <a:ext cx="11091672" cy="548640"/>
          </a:xfrm>
          <a:prstGeom prst="rect">
            <a:avLst/>
          </a:prstGeom>
          <a:noFill/>
        </p:spPr>
        <p:txBody>
          <a:bodyPr wrap="square" lIns="0" rIns="0" tIns="18288" bIns="18288" anchor="t">
            <a:spAutoFit/>
          </a:bodyPr>
          <a:lstStyle/>
          <a:p>
            <a:pPr algn="l"/>
            <a:r>
              <a:rPr sz="3000" b="1" i="0">
                <a:solidFill>
                  <a:srgbClr val="1B355E"/>
                </a:solidFill>
                <a:latin typeface="Abadi"/>
              </a:rPr>
              <a:t>WHAT THE DOCUMENTS SAY</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North America versus Europe; AASLD and EASL have no specific guidance for these disorders</a:t>
            </a:r>
          </a:p>
        </p:txBody>
      </p:sp>
      <p:sp>
        <p:nvSpPr>
          <p:cNvPr id="7" name="Rectangle 6"/>
          <p:cNvSpPr/>
          <p:nvPr/>
        </p:nvSpPr>
        <p:spPr>
          <a:xfrm>
            <a:off x="548640" y="1600200"/>
            <a:ext cx="11091672" cy="2743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18</a:t>
            </a:r>
          </a:p>
        </p:txBody>
      </p:sp>
      <p:sp>
        <p:nvSpPr>
          <p:cNvPr id="11" name="TextBox 10"/>
          <p:cNvSpPr txBox="1"/>
          <p:nvPr/>
        </p:nvSpPr>
        <p:spPr>
          <a:xfrm>
            <a:off x="548640" y="5971032"/>
            <a:ext cx="10296144" cy="457200"/>
          </a:xfrm>
          <a:prstGeom prst="rect">
            <a:avLst/>
          </a:prstGeom>
          <a:noFill/>
        </p:spPr>
        <p:txBody>
          <a:bodyPr wrap="square" lIns="0" rIns="0" tIns="18288" bIns="18288" anchor="t">
            <a:spAutoFit/>
          </a:bodyPr>
          <a:lstStyle/>
          <a:p>
            <a:pPr algn="l"/>
            <a:r>
              <a:rPr sz="1000" b="0" i="1">
                <a:solidFill>
                  <a:srgbClr val="555555"/>
                </a:solidFill>
                <a:latin typeface="Abadi"/>
              </a:rPr>
              <a:t>Fawaz 2017 (NASPGHAN/ESPGHAN joint) · Cholbam label (FDA 2015) · Orphacol EPAR (EMA 2013) · Makris 2024 · Hayasaka 2018</a:t>
            </a:r>
          </a:p>
        </p:txBody>
      </p:sp>
      <p:graphicFrame>
        <p:nvGraphicFramePr>
          <p:cNvPr id="12" name="Table 11"/>
          <p:cNvGraphicFramePr>
            <a:graphicFrameLocks noGrp="1"/>
          </p:cNvGraphicFramePr>
          <p:nvPr/>
        </p:nvGraphicFramePr>
        <p:xfrm>
          <a:off x="548640" y="1810512"/>
          <a:ext cx="11091672" cy="3364992"/>
        </p:xfrm>
        <a:graphic>
          <a:graphicData uri="http://schemas.openxmlformats.org/drawingml/2006/table">
            <a:tbl>
              <a:tblPr firstRow="0" bandRow="0">
                <a:tableStyleId>{5C22544A-7EE6-4342-B048-85BDC9FD1C3A}</a:tableStyleId>
              </a:tblPr>
              <a:tblGrid>
                <a:gridCol w="2514600"/>
                <a:gridCol w="3611880"/>
                <a:gridCol w="3611880"/>
                <a:gridCol w="1353312"/>
              </a:tblGrid>
              <a:tr h="420624">
                <a:tc>
                  <a:txBody>
                    <a:bodyPr wrap="square"/>
                    <a:lstStyle/>
                    <a:p>
                      <a:r>
                        <a:rPr sz="1100" b="1">
                          <a:solidFill>
                            <a:srgbClr val="FFFFFF"/>
                          </a:solidFill>
                          <a:latin typeface="Abadi"/>
                        </a:rPr>
                        <a:t>Question</a:t>
                      </a:r>
                    </a:p>
                  </a:txBody>
                  <a:tcPr marL="54864" marR="54864" marT="27432" marB="27432" anchor="ctr">
                    <a:solidFill>
                      <a:srgbClr val="1B355E"/>
                    </a:solidFill>
                  </a:tcPr>
                </a:tc>
                <a:tc>
                  <a:txBody>
                    <a:bodyPr wrap="square"/>
                    <a:lstStyle/>
                    <a:p>
                      <a:r>
                        <a:rPr sz="1100" b="1">
                          <a:solidFill>
                            <a:srgbClr val="FFFFFF"/>
                          </a:solidFill>
                          <a:latin typeface="Abadi"/>
                        </a:rPr>
                        <a:t>North America</a:t>
                      </a:r>
                    </a:p>
                  </a:txBody>
                  <a:tcPr marL="54864" marR="54864" marT="27432" marB="27432" anchor="ctr">
                    <a:solidFill>
                      <a:srgbClr val="1B355E"/>
                    </a:solidFill>
                  </a:tcPr>
                </a:tc>
                <a:tc>
                  <a:txBody>
                    <a:bodyPr wrap="square"/>
                    <a:lstStyle/>
                    <a:p>
                      <a:r>
                        <a:rPr sz="1100" b="1">
                          <a:solidFill>
                            <a:srgbClr val="FFFFFF"/>
                          </a:solidFill>
                          <a:latin typeface="Abadi"/>
                        </a:rPr>
                        <a:t>Europe</a:t>
                      </a:r>
                    </a:p>
                  </a:txBody>
                  <a:tcPr marL="54864" marR="54864" marT="27432" marB="27432" anchor="ctr">
                    <a:solidFill>
                      <a:srgbClr val="1B355E"/>
                    </a:solidFill>
                  </a:tcPr>
                </a:tc>
                <a:tc>
                  <a:txBody>
                    <a:bodyPr wrap="square"/>
                    <a:lstStyle/>
                    <a:p>
                      <a:r>
                        <a:rPr sz="1100" b="1">
                          <a:solidFill>
                            <a:srgbClr val="FFFFFF"/>
                          </a:solidFill>
                          <a:latin typeface="Abadi"/>
                        </a:rPr>
                        <a:t>Verdict</a:t>
                      </a:r>
                    </a:p>
                  </a:txBody>
                  <a:tcPr marL="54864" marR="54864" marT="27432" marB="27432" anchor="ctr">
                    <a:solidFill>
                      <a:srgbClr val="1B355E"/>
                    </a:solidFill>
                  </a:tcPr>
                </a:tc>
              </a:tr>
              <a:tr h="420624">
                <a:tc>
                  <a:txBody>
                    <a:bodyPr wrap="square"/>
                    <a:lstStyle/>
                    <a:p>
                      <a:r>
                        <a:rPr sz="1100" b="1">
                          <a:solidFill>
                            <a:srgbClr val="1A1A1A"/>
                          </a:solidFill>
                          <a:latin typeface="Abadi"/>
                        </a:rPr>
                        <a:t>Screen for synthesis defect</a:t>
                      </a:r>
                    </a:p>
                  </a:txBody>
                  <a:tcPr marL="54864" marR="54864" marT="27432" marB="27432" anchor="ctr">
                    <a:solidFill>
                      <a:srgbClr val="FFFFFF"/>
                    </a:solidFill>
                  </a:tcPr>
                </a:tc>
                <a:tc>
                  <a:txBody>
                    <a:bodyPr wrap="square"/>
                    <a:lstStyle/>
                    <a:p>
                      <a:r>
                        <a:rPr sz="1100" b="0">
                          <a:solidFill>
                            <a:srgbClr val="1A1A1A"/>
                          </a:solidFill>
                          <a:latin typeface="Abadi"/>
                        </a:rPr>
                        <a:t>Joint 2017: urine bile acids, tier 2, before UDCA</a:t>
                      </a:r>
                    </a:p>
                  </a:txBody>
                  <a:tcPr marL="54864" marR="54864" marT="27432" marB="27432" anchor="ctr">
                    <a:solidFill>
                      <a:srgbClr val="FFFFFF"/>
                    </a:solidFill>
                  </a:tcPr>
                </a:tc>
                <a:tc>
                  <a:txBody>
                    <a:bodyPr wrap="square"/>
                    <a:lstStyle/>
                    <a:p>
                      <a:r>
                        <a:rPr sz="1100" b="0">
                          <a:solidFill>
                            <a:srgbClr val="1A1A1A"/>
                          </a:solidFill>
                          <a:latin typeface="Abadi"/>
                        </a:rPr>
                        <a:t>Same joint guideline</a:t>
                      </a:r>
                    </a:p>
                  </a:txBody>
                  <a:tcPr marL="54864" marR="54864" marT="27432" marB="27432" anchor="ctr">
                    <a:solidFill>
                      <a:srgbClr val="FFFFFF"/>
                    </a:solidFill>
                  </a:tcPr>
                </a:tc>
                <a:tc>
                  <a:txBody>
                    <a:bodyPr wrap="square"/>
                    <a:lstStyle/>
                    <a:p>
                      <a:pPr algn="ctr"/>
                      <a:r>
                        <a:rPr sz="1000" b="1">
                          <a:solidFill>
                            <a:srgbClr val="FFFFFF"/>
                          </a:solidFill>
                          <a:latin typeface="Abadi"/>
                        </a:rPr>
                        <a:t>ALIGNED</a:t>
                      </a:r>
                    </a:p>
                  </a:txBody>
                  <a:tcPr marL="54864" marR="54864" marT="27432" marB="27432" anchor="ctr">
                    <a:solidFill>
                      <a:srgbClr val="1E7A33"/>
                    </a:solidFill>
                  </a:tcPr>
                </a:tc>
              </a:tr>
              <a:tr h="420624">
                <a:tc>
                  <a:txBody>
                    <a:bodyPr wrap="square"/>
                    <a:lstStyle/>
                    <a:p>
                      <a:r>
                        <a:rPr sz="1100" b="1">
                          <a:solidFill>
                            <a:srgbClr val="1A1A1A"/>
                          </a:solidFill>
                          <a:latin typeface="Abadi"/>
                        </a:rPr>
                        <a:t>Serum bile acids</a:t>
                      </a:r>
                    </a:p>
                  </a:txBody>
                  <a:tcPr marL="54864" marR="54864" marT="27432" marB="27432" anchor="ctr">
                    <a:solidFill>
                      <a:srgbClr val="F2F2F2"/>
                    </a:solidFill>
                  </a:tcPr>
                </a:tc>
                <a:tc>
                  <a:txBody>
                    <a:bodyPr wrap="square"/>
                    <a:lstStyle/>
                    <a:p>
                      <a:r>
                        <a:rPr sz="1100" b="0">
                          <a:solidFill>
                            <a:srgbClr val="1A1A1A"/>
                          </a:solidFill>
                          <a:latin typeface="Abadi"/>
                        </a:rPr>
                        <a:t>Joint 2017: usually low in BASD</a:t>
                      </a:r>
                    </a:p>
                  </a:txBody>
                  <a:tcPr marL="54864" marR="54864" marT="27432" marB="27432" anchor="ctr">
                    <a:solidFill>
                      <a:srgbClr val="F2F2F2"/>
                    </a:solidFill>
                  </a:tcPr>
                </a:tc>
                <a:tc>
                  <a:txBody>
                    <a:bodyPr wrap="square"/>
                    <a:lstStyle/>
                    <a:p>
                      <a:r>
                        <a:rPr sz="1100" b="0">
                          <a:solidFill>
                            <a:srgbClr val="1A1A1A"/>
                          </a:solidFill>
                          <a:latin typeface="Abadi"/>
                        </a:rPr>
                        <a:t>Same joint guideline</a:t>
                      </a:r>
                    </a:p>
                  </a:txBody>
                  <a:tcPr marL="54864" marR="54864" marT="27432" marB="27432" anchor="ctr">
                    <a:solidFill>
                      <a:srgbClr val="F2F2F2"/>
                    </a:solidFill>
                  </a:tcPr>
                </a:tc>
                <a:tc>
                  <a:txBody>
                    <a:bodyPr wrap="square"/>
                    <a:lstStyle/>
                    <a:p>
                      <a:pPr algn="ctr"/>
                      <a:r>
                        <a:rPr sz="1000" b="1">
                          <a:solidFill>
                            <a:srgbClr val="FFFFFF"/>
                          </a:solidFill>
                          <a:latin typeface="Abadi"/>
                        </a:rPr>
                        <a:t>ALIGNED</a:t>
                      </a:r>
                    </a:p>
                  </a:txBody>
                  <a:tcPr marL="54864" marR="54864" marT="27432" marB="27432" anchor="ctr">
                    <a:solidFill>
                      <a:srgbClr val="1E7A33"/>
                    </a:solidFill>
                  </a:tcPr>
                </a:tc>
              </a:tr>
              <a:tr h="420624">
                <a:tc>
                  <a:txBody>
                    <a:bodyPr wrap="square"/>
                    <a:lstStyle/>
                    <a:p>
                      <a:r>
                        <a:rPr sz="1100" b="1">
                          <a:solidFill>
                            <a:srgbClr val="1A1A1A"/>
                          </a:solidFill>
                          <a:latin typeface="Abadi"/>
                        </a:rPr>
                        <a:t>Licensed drug</a:t>
                      </a:r>
                    </a:p>
                  </a:txBody>
                  <a:tcPr marL="54864" marR="54864" marT="27432" marB="27432" anchor="ctr">
                    <a:solidFill>
                      <a:srgbClr val="FFFFFF"/>
                    </a:solidFill>
                  </a:tcPr>
                </a:tc>
                <a:tc>
                  <a:txBody>
                    <a:bodyPr wrap="square"/>
                    <a:lstStyle/>
                    <a:p>
                      <a:r>
                        <a:rPr sz="1100" b="0">
                          <a:solidFill>
                            <a:srgbClr val="1A1A1A"/>
                          </a:solidFill>
                          <a:latin typeface="Abadi"/>
                        </a:rPr>
                        <a:t>FDA: Cholbam 10–15 mg/kg/day</a:t>
                      </a:r>
                    </a:p>
                  </a:txBody>
                  <a:tcPr marL="54864" marR="54864" marT="27432" marB="27432" anchor="ctr">
                    <a:solidFill>
                      <a:srgbClr val="FFFFFF"/>
                    </a:solidFill>
                  </a:tcPr>
                </a:tc>
                <a:tc>
                  <a:txBody>
                    <a:bodyPr wrap="square"/>
                    <a:lstStyle/>
                    <a:p>
                      <a:r>
                        <a:rPr sz="1100" b="0">
                          <a:solidFill>
                            <a:srgbClr val="1A1A1A"/>
                          </a:solidFill>
                          <a:latin typeface="Abadi"/>
                        </a:rPr>
                        <a:t>EMA: Orphacol 5–15 mg/kg/day, from 1 month</a:t>
                      </a:r>
                    </a:p>
                  </a:txBody>
                  <a:tcPr marL="54864" marR="54864" marT="27432" marB="27432" anchor="ctr">
                    <a:solidFill>
                      <a:srgbClr val="FFFFFF"/>
                    </a:solidFill>
                  </a:tcPr>
                </a:tc>
                <a:tc>
                  <a:txBody>
                    <a:bodyPr wrap="square"/>
                    <a:lstStyle/>
                    <a:p>
                      <a:pPr algn="ctr"/>
                      <a:r>
                        <a:rPr sz="1000" b="1">
                          <a:solidFill>
                            <a:srgbClr val="FFFFFF"/>
                          </a:solidFill>
                          <a:latin typeface="Abadi"/>
                        </a:rPr>
                        <a:t>DIFFERS</a:t>
                      </a:r>
                    </a:p>
                  </a:txBody>
                  <a:tcPr marL="54864" marR="54864" marT="27432" marB="27432" anchor="ctr">
                    <a:solidFill>
                      <a:srgbClr val="D97A0B"/>
                    </a:solidFill>
                  </a:tcPr>
                </a:tc>
              </a:tr>
              <a:tr h="420624">
                <a:tc>
                  <a:txBody>
                    <a:bodyPr wrap="square"/>
                    <a:lstStyle/>
                    <a:p>
                      <a:r>
                        <a:rPr sz="1100" b="1">
                          <a:solidFill>
                            <a:srgbClr val="1A1A1A"/>
                          </a:solidFill>
                          <a:latin typeface="Abadi"/>
                        </a:rPr>
                        <a:t>Peroxisomal disorders</a:t>
                      </a:r>
                    </a:p>
                  </a:txBody>
                  <a:tcPr marL="54864" marR="54864" marT="27432" marB="27432" anchor="ctr">
                    <a:solidFill>
                      <a:srgbClr val="F2F2F2"/>
                    </a:solidFill>
                  </a:tcPr>
                </a:tc>
                <a:tc>
                  <a:txBody>
                    <a:bodyPr wrap="square"/>
                    <a:lstStyle/>
                    <a:p>
                      <a:r>
                        <a:rPr sz="1100" b="0">
                          <a:solidFill>
                            <a:srgbClr val="1A1A1A"/>
                          </a:solidFill>
                          <a:latin typeface="Abadi"/>
                        </a:rPr>
                        <a:t>FDA: adjunctive indication</a:t>
                      </a:r>
                    </a:p>
                  </a:txBody>
                  <a:tcPr marL="54864" marR="54864" marT="27432" marB="27432" anchor="ctr">
                    <a:solidFill>
                      <a:srgbClr val="F2F2F2"/>
                    </a:solidFill>
                  </a:tcPr>
                </a:tc>
                <a:tc>
                  <a:txBody>
                    <a:bodyPr wrap="square"/>
                    <a:lstStyle/>
                    <a:p>
                      <a:r>
                        <a:rPr sz="1100" b="0">
                          <a:solidFill>
                            <a:srgbClr val="1A1A1A"/>
                          </a:solidFill>
                          <a:latin typeface="Abadi"/>
                        </a:rPr>
                        <a:t>Orphacol: not indicated</a:t>
                      </a:r>
                    </a:p>
                  </a:txBody>
                  <a:tcPr marL="54864" marR="54864" marT="27432" marB="27432" anchor="ctr">
                    <a:solidFill>
                      <a:srgbClr val="F2F2F2"/>
                    </a:solidFill>
                  </a:tcPr>
                </a:tc>
                <a:tc>
                  <a:txBody>
                    <a:bodyPr wrap="square"/>
                    <a:lstStyle/>
                    <a:p>
                      <a:pPr algn="ctr"/>
                      <a:r>
                        <a:rPr sz="1000" b="1">
                          <a:solidFill>
                            <a:srgbClr val="FFFFFF"/>
                          </a:solidFill>
                          <a:latin typeface="Abadi"/>
                        </a:rPr>
                        <a:t>DIFFERS</a:t>
                      </a:r>
                    </a:p>
                  </a:txBody>
                  <a:tcPr marL="54864" marR="54864" marT="27432" marB="27432" anchor="ctr">
                    <a:solidFill>
                      <a:srgbClr val="D97A0B"/>
                    </a:solidFill>
                  </a:tcPr>
                </a:tc>
              </a:tr>
              <a:tr h="420624">
                <a:tc>
                  <a:txBody>
                    <a:bodyPr wrap="square"/>
                    <a:lstStyle/>
                    <a:p>
                      <a:r>
                        <a:rPr sz="1100" b="1">
                          <a:solidFill>
                            <a:srgbClr val="1A1A1A"/>
                          </a:solidFill>
                          <a:latin typeface="Abadi"/>
                        </a:rPr>
                        <a:t>Citrin lab pattern</a:t>
                      </a:r>
                    </a:p>
                  </a:txBody>
                  <a:tcPr marL="54864" marR="54864" marT="27432" marB="27432" anchor="ctr">
                    <a:solidFill>
                      <a:srgbClr val="FFFFFF"/>
                    </a:solidFill>
                  </a:tcPr>
                </a:tc>
                <a:tc>
                  <a:txBody>
                    <a:bodyPr wrap="square"/>
                    <a:lstStyle/>
                    <a:p>
                      <a:r>
                        <a:rPr sz="1100" b="0">
                          <a:solidFill>
                            <a:srgbClr val="1A1A1A"/>
                          </a:solidFill>
                          <a:latin typeface="Abadi"/>
                        </a:rPr>
                        <a:t>Joint 2017: normal or slightly raised enzymes</a:t>
                      </a:r>
                    </a:p>
                  </a:txBody>
                  <a:tcPr marL="54864" marR="54864" marT="27432" marB="27432" anchor="ctr">
                    <a:solidFill>
                      <a:srgbClr val="FFFFFF"/>
                    </a:solidFill>
                  </a:tcPr>
                </a:tc>
                <a:tc>
                  <a:txBody>
                    <a:bodyPr wrap="square"/>
                    <a:lstStyle/>
                    <a:p>
                      <a:r>
                        <a:rPr sz="1100" b="0">
                          <a:solidFill>
                            <a:srgbClr val="1A1A1A"/>
                          </a:solidFill>
                          <a:latin typeface="Abadi"/>
                        </a:rPr>
                        <a:t>Same joint guideline</a:t>
                      </a:r>
                    </a:p>
                  </a:txBody>
                  <a:tcPr marL="54864" marR="54864" marT="27432" marB="27432" anchor="ctr">
                    <a:solidFill>
                      <a:srgbClr val="FFFFFF"/>
                    </a:solidFill>
                  </a:tcPr>
                </a:tc>
                <a:tc>
                  <a:txBody>
                    <a:bodyPr wrap="square"/>
                    <a:lstStyle/>
                    <a:p>
                      <a:pPr algn="ctr"/>
                      <a:r>
                        <a:rPr sz="1000" b="1">
                          <a:solidFill>
                            <a:srgbClr val="FFFFFF"/>
                          </a:solidFill>
                          <a:latin typeface="Abadi"/>
                        </a:rPr>
                        <a:t>MATERIAL</a:t>
                      </a:r>
                    </a:p>
                  </a:txBody>
                  <a:tcPr marL="54864" marR="54864" marT="27432" marB="27432" anchor="ctr">
                    <a:solidFill>
                      <a:srgbClr val="B22222"/>
                    </a:solidFill>
                  </a:tcPr>
                </a:tc>
              </a:tr>
              <a:tr h="420624">
                <a:tc>
                  <a:txBody>
                    <a:bodyPr wrap="square"/>
                    <a:lstStyle/>
                    <a:p>
                      <a:r>
                        <a:rPr sz="1100" b="1">
                          <a:solidFill>
                            <a:srgbClr val="1A1A1A"/>
                          </a:solidFill>
                          <a:latin typeface="Abadi"/>
                        </a:rPr>
                        <a:t>Citrin management</a:t>
                      </a:r>
                    </a:p>
                  </a:txBody>
                  <a:tcPr marL="54864" marR="54864" marT="27432" marB="27432" anchor="ctr">
                    <a:solidFill>
                      <a:srgbClr val="F2F2F2"/>
                    </a:solidFill>
                  </a:tcPr>
                </a:tc>
                <a:tc>
                  <a:txBody>
                    <a:bodyPr wrap="square"/>
                    <a:lstStyle/>
                    <a:p>
                      <a:r>
                        <a:rPr sz="1100" b="0">
                          <a:solidFill>
                            <a:srgbClr val="1A1A1A"/>
                          </a:solidFill>
                          <a:latin typeface="Abadi"/>
                        </a:rPr>
                        <a:t>No society guideline</a:t>
                      </a:r>
                    </a:p>
                  </a:txBody>
                  <a:tcPr marL="54864" marR="54864" marT="27432" marB="27432" anchor="ctr">
                    <a:solidFill>
                      <a:srgbClr val="F2F2F2"/>
                    </a:solidFill>
                  </a:tcPr>
                </a:tc>
                <a:tc>
                  <a:txBody>
                    <a:bodyPr wrap="square"/>
                    <a:lstStyle/>
                    <a:p>
                      <a:r>
                        <a:rPr sz="1100" b="0">
                          <a:solidFill>
                            <a:srgbClr val="1A1A1A"/>
                          </a:solidFill>
                          <a:latin typeface="Abadi"/>
                        </a:rPr>
                        <a:t>No ESPGHAN or EASL guideline; expert reviews</a:t>
                      </a:r>
                    </a:p>
                  </a:txBody>
                  <a:tcPr marL="54864" marR="54864" marT="27432" marB="27432" anchor="ctr">
                    <a:solidFill>
                      <a:srgbClr val="F2F2F2"/>
                    </a:solidFill>
                  </a:tcPr>
                </a:tc>
                <a:tc>
                  <a:txBody>
                    <a:bodyPr wrap="square"/>
                    <a:lstStyle/>
                    <a:p>
                      <a:pPr algn="ctr"/>
                      <a:r>
                        <a:rPr sz="1000" b="1">
                          <a:solidFill>
                            <a:srgbClr val="FFFFFF"/>
                          </a:solidFill>
                          <a:latin typeface="Abadi"/>
                        </a:rPr>
                        <a:t>GAP</a:t>
                      </a:r>
                    </a:p>
                  </a:txBody>
                  <a:tcPr marL="54864" marR="54864" marT="27432" marB="27432" anchor="ctr">
                    <a:solidFill>
                      <a:srgbClr val="8A939B"/>
                    </a:solidFill>
                  </a:tcPr>
                </a:tc>
              </a:tr>
              <a:tr h="420624">
                <a:tc>
                  <a:txBody>
                    <a:bodyPr wrap="square"/>
                    <a:lstStyle/>
                    <a:p>
                      <a:r>
                        <a:rPr sz="1100" b="1">
                          <a:solidFill>
                            <a:srgbClr val="1A1A1A"/>
                          </a:solidFill>
                          <a:latin typeface="Abadi"/>
                        </a:rPr>
                        <a:t>AASLD / EASL</a:t>
                      </a:r>
                    </a:p>
                  </a:txBody>
                  <a:tcPr marL="54864" marR="54864" marT="27432" marB="27432" anchor="ctr">
                    <a:solidFill>
                      <a:srgbClr val="FFFFFF"/>
                    </a:solidFill>
                  </a:tcPr>
                </a:tc>
                <a:tc>
                  <a:txBody>
                    <a:bodyPr wrap="square"/>
                    <a:lstStyle/>
                    <a:p>
                      <a:r>
                        <a:rPr sz="1100" b="0">
                          <a:solidFill>
                            <a:srgbClr val="1A1A1A"/>
                          </a:solidFill>
                          <a:latin typeface="Abadi"/>
                        </a:rPr>
                        <a:t>None specific</a:t>
                      </a:r>
                    </a:p>
                  </a:txBody>
                  <a:tcPr marL="54864" marR="54864" marT="27432" marB="27432" anchor="ctr">
                    <a:solidFill>
                      <a:srgbClr val="FFFFFF"/>
                    </a:solidFill>
                  </a:tcPr>
                </a:tc>
                <a:tc>
                  <a:txBody>
                    <a:bodyPr wrap="square"/>
                    <a:lstStyle/>
                    <a:p>
                      <a:r>
                        <a:rPr sz="1100" b="0">
                          <a:solidFill>
                            <a:srgbClr val="1A1A1A"/>
                          </a:solidFill>
                          <a:latin typeface="Abadi"/>
                        </a:rPr>
                        <a:t>None specific</a:t>
                      </a:r>
                    </a:p>
                  </a:txBody>
                  <a:tcPr marL="54864" marR="54864" marT="27432" marB="27432" anchor="ctr">
                    <a:solidFill>
                      <a:srgbClr val="FFFFFF"/>
                    </a:solidFill>
                  </a:tcPr>
                </a:tc>
                <a:tc>
                  <a:txBody>
                    <a:bodyPr wrap="square"/>
                    <a:lstStyle/>
                    <a:p>
                      <a:pPr algn="ctr"/>
                      <a:r>
                        <a:rPr sz="1000" b="1">
                          <a:solidFill>
                            <a:srgbClr val="FFFFFF"/>
                          </a:solidFill>
                          <a:latin typeface="Abadi"/>
                        </a:rPr>
                        <a:t>GAP</a:t>
                      </a:r>
                    </a:p>
                  </a:txBody>
                  <a:tcPr marL="54864" marR="54864" marT="27432" marB="27432" anchor="ctr">
                    <a:solidFill>
                      <a:srgbClr val="8A939B"/>
                    </a:solidFill>
                  </a:tcPr>
                </a:tc>
              </a:tr>
            </a:tbl>
          </a:graphicData>
        </a:graphic>
      </p:graphicFrame>
      <p:sp>
        <p:nvSpPr>
          <p:cNvPr id="13" name="TextBox 12"/>
          <p:cNvSpPr txBox="1"/>
          <p:nvPr/>
        </p:nvSpPr>
        <p:spPr>
          <a:xfrm>
            <a:off x="548640" y="5120640"/>
            <a:ext cx="11091672" cy="365760"/>
          </a:xfrm>
          <a:prstGeom prst="rect">
            <a:avLst/>
          </a:prstGeom>
          <a:noFill/>
        </p:spPr>
        <p:txBody>
          <a:bodyPr wrap="square" lIns="0" rIns="0" tIns="18288" bIns="18288" anchor="t">
            <a:spAutoFit/>
          </a:bodyPr>
          <a:lstStyle/>
          <a:p>
            <a:pPr algn="l"/>
            <a:r>
              <a:rPr sz="1200" b="1" i="0">
                <a:solidFill>
                  <a:srgbClr val="B22222"/>
                </a:solidFill>
                <a:latin typeface="Abadi"/>
              </a:rPr>
              <a:t>Material gap: cohort data show high GGT and transaminases above 100 in most NICCD infants, not the mild pattern the 2017 table implies.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VIII</a:t>
            </a:r>
          </a:p>
        </p:txBody>
      </p:sp>
      <p:sp>
        <p:nvSpPr>
          <p:cNvPr id="4" name="TextBox 3"/>
          <p:cNvSpPr txBox="1"/>
          <p:nvPr/>
        </p:nvSpPr>
        <p:spPr>
          <a:xfrm>
            <a:off x="1389888" y="301752"/>
            <a:ext cx="10241280" cy="347472"/>
          </a:xfrm>
          <a:prstGeom prst="rect">
            <a:avLst/>
          </a:prstGeom>
          <a:noFill/>
        </p:spPr>
        <p:txBody>
          <a:bodyPr wrap="square" lIns="0" rIns="0" tIns="18288" bIns="18288" anchor="ctr">
            <a:spAutoFit/>
          </a:bodyPr>
          <a:lstStyle/>
          <a:p>
            <a:pPr algn="l"/>
            <a:r>
              <a:rPr sz="1200" b="1" i="0">
                <a:solidFill>
                  <a:srgbClr val="2E5A88"/>
                </a:solidFill>
                <a:latin typeface="Abadi"/>
              </a:rPr>
              <a:t>TRAPS</a:t>
            </a:r>
          </a:p>
        </p:txBody>
      </p:sp>
      <p:sp>
        <p:nvSpPr>
          <p:cNvPr id="5" name="TextBox 4"/>
          <p:cNvSpPr txBox="1"/>
          <p:nvPr/>
        </p:nvSpPr>
        <p:spPr>
          <a:xfrm>
            <a:off x="548640" y="731520"/>
            <a:ext cx="11091672" cy="548640"/>
          </a:xfrm>
          <a:prstGeom prst="rect">
            <a:avLst/>
          </a:prstGeom>
          <a:noFill/>
        </p:spPr>
        <p:txBody>
          <a:bodyPr wrap="square" lIns="0" rIns="0" tIns="18288" bIns="18288" anchor="t">
            <a:spAutoFit/>
          </a:bodyPr>
          <a:lstStyle/>
          <a:p>
            <a:pPr algn="l"/>
            <a:r>
              <a:rPr sz="3000" b="1" i="0">
                <a:solidFill>
                  <a:srgbClr val="1B355E"/>
                </a:solidFill>
                <a:latin typeface="Abadi"/>
              </a:rPr>
              <a:t>WHERE THESE DIAGNOSES ARE MISSED</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Common reasons for a late answer</a:t>
            </a:r>
          </a:p>
        </p:txBody>
      </p:sp>
      <p:sp>
        <p:nvSpPr>
          <p:cNvPr id="7" name="Rectangle 6"/>
          <p:cNvSpPr/>
          <p:nvPr/>
        </p:nvSpPr>
        <p:spPr>
          <a:xfrm>
            <a:off x="548640" y="1600200"/>
            <a:ext cx="11091672" cy="2743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19</a:t>
            </a:r>
          </a:p>
        </p:txBody>
      </p:sp>
      <p:sp>
        <p:nvSpPr>
          <p:cNvPr id="11" name="TextBox 10"/>
          <p:cNvSpPr txBox="1"/>
          <p:nvPr/>
        </p:nvSpPr>
        <p:spPr>
          <a:xfrm>
            <a:off x="548640" y="5971032"/>
            <a:ext cx="10296144" cy="457200"/>
          </a:xfrm>
          <a:prstGeom prst="rect">
            <a:avLst/>
          </a:prstGeom>
          <a:noFill/>
        </p:spPr>
        <p:txBody>
          <a:bodyPr wrap="square" lIns="0" rIns="0" tIns="18288" bIns="18288" anchor="t">
            <a:spAutoFit/>
          </a:bodyPr>
          <a:lstStyle/>
          <a:p>
            <a:pPr algn="l"/>
            <a:r>
              <a:rPr sz="1000" b="0" i="1">
                <a:solidFill>
                  <a:srgbClr val="555555"/>
                </a:solidFill>
                <a:latin typeface="Abadi"/>
              </a:rPr>
              <a:t>Fawaz 2017 · Heubi 2007 · Zhao 2021 · Hayasaka 2018 · Kido 2022</a:t>
            </a:r>
          </a:p>
        </p:txBody>
      </p:sp>
      <p:sp>
        <p:nvSpPr>
          <p:cNvPr id="12" name="Rectangle 11"/>
          <p:cNvSpPr/>
          <p:nvPr/>
        </p:nvSpPr>
        <p:spPr>
          <a:xfrm>
            <a:off x="548640" y="1783080"/>
            <a:ext cx="2587752" cy="2423160"/>
          </a:xfrm>
          <a:prstGeom prst="rect">
            <a:avLst/>
          </a:prstGeom>
          <a:solidFill>
            <a:srgbClr val="F6D2D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83080"/>
            <a:ext cx="2587752" cy="12801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002536"/>
            <a:ext cx="2221992" cy="685800"/>
          </a:xfrm>
          <a:prstGeom prst="rect">
            <a:avLst/>
          </a:prstGeom>
          <a:noFill/>
        </p:spPr>
        <p:txBody>
          <a:bodyPr wrap="square" lIns="0" rIns="0" tIns="18288" bIns="18288" anchor="t">
            <a:spAutoFit/>
          </a:bodyPr>
          <a:lstStyle/>
          <a:p>
            <a:pPr algn="l"/>
            <a:r>
              <a:rPr sz="1600" b="1" i="0">
                <a:solidFill>
                  <a:srgbClr val="1A1A1A"/>
                </a:solidFill>
                <a:latin typeface="Abadi"/>
              </a:rPr>
              <a:t>"Normal GGT, so mild"</a:t>
            </a:r>
          </a:p>
        </p:txBody>
      </p:sp>
      <p:sp>
        <p:nvSpPr>
          <p:cNvPr id="15" name="TextBox 14"/>
          <p:cNvSpPr txBox="1"/>
          <p:nvPr/>
        </p:nvSpPr>
        <p:spPr>
          <a:xfrm>
            <a:off x="731520" y="2752344"/>
            <a:ext cx="2221992" cy="1362456"/>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Low-GGT disease is often severe</a:t>
            </a:r>
          </a:p>
          <a:p>
            <a:pPr algn="l">
              <a:spcAft>
                <a:spcPts val="500"/>
              </a:spcAft>
            </a:pPr>
            <a:r>
              <a:rPr sz="1250" b="0" i="0">
                <a:solidFill>
                  <a:srgbClr val="1A1A1A"/>
                </a:solidFill>
                <a:latin typeface="Abadi"/>
              </a:rPr>
              <a:t>▪  PFIC or synthesis defect</a:t>
            </a:r>
          </a:p>
          <a:p>
            <a:pPr algn="l">
              <a:spcAft>
                <a:spcPts val="500"/>
              </a:spcAft>
            </a:pPr>
            <a:r>
              <a:rPr sz="1250" b="0" i="0">
                <a:solidFill>
                  <a:srgbClr val="1A1A1A"/>
                </a:solidFill>
                <a:latin typeface="Abadi"/>
              </a:rPr>
              <a:t>▪  Measure serum bile acids</a:t>
            </a:r>
          </a:p>
        </p:txBody>
      </p:sp>
      <p:sp>
        <p:nvSpPr>
          <p:cNvPr id="16" name="Rectangle 15"/>
          <p:cNvSpPr/>
          <p:nvPr/>
        </p:nvSpPr>
        <p:spPr>
          <a:xfrm>
            <a:off x="3383280" y="1783080"/>
            <a:ext cx="2587752" cy="2423160"/>
          </a:xfrm>
          <a:prstGeom prst="rect">
            <a:avLst/>
          </a:prstGeom>
          <a:solidFill>
            <a:srgbClr val="FBEFBE"/>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83280" y="1783080"/>
            <a:ext cx="2587752" cy="12801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0" y="2002536"/>
            <a:ext cx="2221992" cy="685800"/>
          </a:xfrm>
          <a:prstGeom prst="rect">
            <a:avLst/>
          </a:prstGeom>
          <a:noFill/>
        </p:spPr>
        <p:txBody>
          <a:bodyPr wrap="square" lIns="0" rIns="0" tIns="18288" bIns="18288" anchor="t">
            <a:spAutoFit/>
          </a:bodyPr>
          <a:lstStyle/>
          <a:p>
            <a:pPr algn="l"/>
            <a:r>
              <a:rPr sz="1600" b="1" i="0">
                <a:solidFill>
                  <a:srgbClr val="1A1A1A"/>
                </a:solidFill>
                <a:latin typeface="Abadi"/>
              </a:rPr>
              <a:t>"Started UDCA first"</a:t>
            </a:r>
          </a:p>
        </p:txBody>
      </p:sp>
      <p:sp>
        <p:nvSpPr>
          <p:cNvPr id="19" name="TextBox 18"/>
          <p:cNvSpPr txBox="1"/>
          <p:nvPr/>
        </p:nvSpPr>
        <p:spPr>
          <a:xfrm>
            <a:off x="3566160" y="2752344"/>
            <a:ext cx="2221992" cy="1362456"/>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Profile is now uninterpretable</a:t>
            </a:r>
          </a:p>
          <a:p>
            <a:pPr algn="l">
              <a:spcAft>
                <a:spcPts val="500"/>
              </a:spcAft>
            </a:pPr>
            <a:r>
              <a:rPr sz="1250" b="0" i="0">
                <a:solidFill>
                  <a:srgbClr val="1A1A1A"/>
                </a:solidFill>
                <a:latin typeface="Abadi"/>
              </a:rPr>
              <a:t>▪  Stop 7–10 days, repeat urine</a:t>
            </a:r>
          </a:p>
          <a:p>
            <a:pPr algn="l">
              <a:spcAft>
                <a:spcPts val="500"/>
              </a:spcAft>
            </a:pPr>
            <a:r>
              <a:rPr sz="1250" b="0" i="0">
                <a:solidFill>
                  <a:srgbClr val="1A1A1A"/>
                </a:solidFill>
                <a:latin typeface="Abadi"/>
              </a:rPr>
              <a:t>▪  Send urine before first dose</a:t>
            </a:r>
          </a:p>
        </p:txBody>
      </p:sp>
      <p:sp>
        <p:nvSpPr>
          <p:cNvPr id="20" name="Rectangle 19"/>
          <p:cNvSpPr/>
          <p:nvPr/>
        </p:nvSpPr>
        <p:spPr>
          <a:xfrm>
            <a:off x="6217920" y="1783080"/>
            <a:ext cx="2587752" cy="2423160"/>
          </a:xfrm>
          <a:prstGeom prst="rect">
            <a:avLst/>
          </a:prstGeom>
          <a:solidFill>
            <a:srgbClr val="DCE6F1"/>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783080"/>
            <a:ext cx="2587752" cy="12801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2002536"/>
            <a:ext cx="2221992" cy="411480"/>
          </a:xfrm>
          <a:prstGeom prst="rect">
            <a:avLst/>
          </a:prstGeom>
          <a:noFill/>
        </p:spPr>
        <p:txBody>
          <a:bodyPr wrap="square" lIns="0" rIns="0" tIns="18288" bIns="18288" anchor="t">
            <a:spAutoFit/>
          </a:bodyPr>
          <a:lstStyle/>
          <a:p>
            <a:pPr algn="l"/>
            <a:r>
              <a:rPr sz="1600" b="1" i="0">
                <a:solidFill>
                  <a:srgbClr val="1B355E"/>
                </a:solidFill>
                <a:latin typeface="Abadi"/>
              </a:rPr>
              <a:t>"Δ4 on one sample"</a:t>
            </a:r>
          </a:p>
        </p:txBody>
      </p:sp>
      <p:sp>
        <p:nvSpPr>
          <p:cNvPr id="23" name="TextBox 22"/>
          <p:cNvSpPr txBox="1"/>
          <p:nvPr/>
        </p:nvSpPr>
        <p:spPr>
          <a:xfrm>
            <a:off x="6400800" y="2478024"/>
            <a:ext cx="2221992" cy="1636776"/>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Secondary in liver failure</a:t>
            </a:r>
          </a:p>
          <a:p>
            <a:pPr algn="l">
              <a:spcAft>
                <a:spcPts val="500"/>
              </a:spcAft>
            </a:pPr>
            <a:r>
              <a:rPr sz="1250" b="0" i="0">
                <a:solidFill>
                  <a:srgbClr val="1A1A1A"/>
                </a:solidFill>
                <a:latin typeface="Abadi"/>
              </a:rPr>
              <a:t>▪  Also in the first weeks</a:t>
            </a:r>
          </a:p>
          <a:p>
            <a:pPr algn="l">
              <a:spcAft>
                <a:spcPts val="500"/>
              </a:spcAft>
            </a:pPr>
            <a:r>
              <a:rPr sz="1250" b="0" i="0">
                <a:solidFill>
                  <a:srgbClr val="1A1A1A"/>
                </a:solidFill>
                <a:latin typeface="Abadi"/>
              </a:rPr>
              <a:t>▪  Repeat and sequence AKR1D1</a:t>
            </a:r>
          </a:p>
        </p:txBody>
      </p:sp>
      <p:sp>
        <p:nvSpPr>
          <p:cNvPr id="24" name="Rectangle 23"/>
          <p:cNvSpPr/>
          <p:nvPr/>
        </p:nvSpPr>
        <p:spPr>
          <a:xfrm>
            <a:off x="9052560" y="1783080"/>
            <a:ext cx="2587752" cy="2423160"/>
          </a:xfrm>
          <a:prstGeom prst="rect">
            <a:avLst/>
          </a:prstGeom>
          <a:solidFill>
            <a:srgbClr val="CDE7C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52560" y="1783080"/>
            <a:ext cx="2587752" cy="12801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0" y="2002536"/>
            <a:ext cx="2221992" cy="685800"/>
          </a:xfrm>
          <a:prstGeom prst="rect">
            <a:avLst/>
          </a:prstGeom>
          <a:noFill/>
        </p:spPr>
        <p:txBody>
          <a:bodyPr wrap="square" lIns="0" rIns="0" tIns="18288" bIns="18288" anchor="t">
            <a:spAutoFit/>
          </a:bodyPr>
          <a:lstStyle/>
          <a:p>
            <a:pPr algn="l"/>
            <a:r>
              <a:rPr sz="1600" b="1" i="0">
                <a:solidFill>
                  <a:srgbClr val="1A1A1A"/>
                </a:solidFill>
                <a:latin typeface="Abadi"/>
              </a:rPr>
              <a:t>"Just neonatal hepatitis"</a:t>
            </a:r>
          </a:p>
        </p:txBody>
      </p:sp>
      <p:sp>
        <p:nvSpPr>
          <p:cNvPr id="27" name="TextBox 26"/>
          <p:cNvSpPr txBox="1"/>
          <p:nvPr/>
        </p:nvSpPr>
        <p:spPr>
          <a:xfrm>
            <a:off x="9235440" y="2752344"/>
            <a:ext cx="2221992" cy="1362456"/>
          </a:xfrm>
          <a:prstGeom prst="rect">
            <a:avLst/>
          </a:prstGeom>
          <a:noFill/>
        </p:spPr>
        <p:txBody>
          <a:bodyPr wrap="square" lIns="0" rIns="0" tIns="18288" bIns="18288" anchor="t">
            <a:spAutoFit/>
          </a:bodyPr>
          <a:lstStyle/>
          <a:p>
            <a:pPr algn="l">
              <a:spcAft>
                <a:spcPts val="500"/>
              </a:spcAft>
            </a:pPr>
            <a:r>
              <a:rPr sz="1250" b="0" i="0">
                <a:solidFill>
                  <a:srgbClr val="1A1A1A"/>
                </a:solidFill>
                <a:latin typeface="Abadi"/>
              </a:rPr>
              <a:t>▪  Galactose and citrulline on screen</a:t>
            </a:r>
          </a:p>
          <a:p>
            <a:pPr algn="l">
              <a:spcAft>
                <a:spcPts val="500"/>
              </a:spcAft>
            </a:pPr>
            <a:r>
              <a:rPr sz="1250" b="0" i="0">
                <a:solidFill>
                  <a:srgbClr val="1A1A1A"/>
                </a:solidFill>
                <a:latin typeface="Abadi"/>
              </a:rPr>
              <a:t>▪  AFP strikingly high</a:t>
            </a:r>
          </a:p>
          <a:p>
            <a:pPr algn="l">
              <a:spcAft>
                <a:spcPts val="500"/>
              </a:spcAft>
            </a:pPr>
            <a:r>
              <a:rPr sz="1250" b="0" i="0">
                <a:solidFill>
                  <a:srgbClr val="1A1A1A"/>
                </a:solidFill>
                <a:latin typeface="Abadi"/>
              </a:rPr>
              <a:t>▪  SLC25A13 in the panel</a:t>
            </a:r>
          </a:p>
        </p:txBody>
      </p:sp>
      <p:sp>
        <p:nvSpPr>
          <p:cNvPr id="28" name="TextBox 27"/>
          <p:cNvSpPr txBox="1"/>
          <p:nvPr/>
        </p:nvSpPr>
        <p:spPr>
          <a:xfrm>
            <a:off x="548640" y="4434840"/>
            <a:ext cx="11091672" cy="457200"/>
          </a:xfrm>
          <a:prstGeom prst="rect">
            <a:avLst/>
          </a:prstGeom>
          <a:noFill/>
        </p:spPr>
        <p:txBody>
          <a:bodyPr wrap="square" lIns="0" rIns="0" tIns="18288" bIns="18288" anchor="t">
            <a:spAutoFit/>
          </a:bodyPr>
          <a:lstStyle/>
          <a:p>
            <a:pPr algn="l"/>
            <a:r>
              <a:rPr sz="1300" b="1" i="1">
                <a:solidFill>
                  <a:srgbClr val="1B355E"/>
                </a:solidFill>
                <a:latin typeface="Abadi"/>
              </a:rPr>
              <a:t>A cholestatic infant with low GGT and no itch gets urine bile acids before UDCA; one with galactosaemia and high citrulline gets SLC25A13 and an MCT formula.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VIII</a:t>
            </a:r>
          </a:p>
        </p:txBody>
      </p:sp>
      <p:sp>
        <p:nvSpPr>
          <p:cNvPr id="4" name="TextBox 3"/>
          <p:cNvSpPr txBox="1"/>
          <p:nvPr/>
        </p:nvSpPr>
        <p:spPr>
          <a:xfrm>
            <a:off x="1389888" y="301752"/>
            <a:ext cx="10241280" cy="347472"/>
          </a:xfrm>
          <a:prstGeom prst="rect">
            <a:avLst/>
          </a:prstGeom>
          <a:noFill/>
        </p:spPr>
        <p:txBody>
          <a:bodyPr wrap="square" lIns="0" rIns="0" tIns="18288" bIns="18288" anchor="ctr">
            <a:spAutoFit/>
          </a:bodyPr>
          <a:lstStyle/>
          <a:p>
            <a:pPr algn="l"/>
            <a:r>
              <a:rPr sz="1200" b="1" i="0">
                <a:solidFill>
                  <a:srgbClr val="2E5A88"/>
                </a:solidFill>
                <a:latin typeface="Abadi"/>
              </a:rPr>
              <a:t>PEARLS</a:t>
            </a:r>
          </a:p>
        </p:txBody>
      </p:sp>
      <p:sp>
        <p:nvSpPr>
          <p:cNvPr id="5" name="TextBox 4"/>
          <p:cNvSpPr txBox="1"/>
          <p:nvPr/>
        </p:nvSpPr>
        <p:spPr>
          <a:xfrm>
            <a:off x="548640" y="731520"/>
            <a:ext cx="11091672" cy="548640"/>
          </a:xfrm>
          <a:prstGeom prst="rect">
            <a:avLst/>
          </a:prstGeom>
          <a:noFill/>
        </p:spPr>
        <p:txBody>
          <a:bodyPr wrap="square" lIns="0" rIns="0" tIns="18288" bIns="18288" anchor="t">
            <a:spAutoFit/>
          </a:bodyPr>
          <a:lstStyle/>
          <a:p>
            <a:pPr algn="l"/>
            <a:r>
              <a:rPr sz="3000" b="1" i="0">
                <a:solidFill>
                  <a:srgbClr val="1B355E"/>
                </a:solidFill>
                <a:latin typeface="Abadi"/>
              </a:rPr>
              <a:t>EIGHT THINGS TO REMEMBER</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The numbers worth carrying into clinic</a:t>
            </a:r>
          </a:p>
        </p:txBody>
      </p:sp>
      <p:sp>
        <p:nvSpPr>
          <p:cNvPr id="7" name="Rectangle 6"/>
          <p:cNvSpPr/>
          <p:nvPr/>
        </p:nvSpPr>
        <p:spPr>
          <a:xfrm>
            <a:off x="548640" y="1600200"/>
            <a:ext cx="11091672" cy="2743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20</a:t>
            </a:r>
          </a:p>
        </p:txBody>
      </p:sp>
      <p:sp>
        <p:nvSpPr>
          <p:cNvPr id="11" name="TextBox 10"/>
          <p:cNvSpPr txBox="1"/>
          <p:nvPr/>
        </p:nvSpPr>
        <p:spPr>
          <a:xfrm>
            <a:off x="548640" y="5971032"/>
            <a:ext cx="10296144" cy="457200"/>
          </a:xfrm>
          <a:prstGeom prst="rect">
            <a:avLst/>
          </a:prstGeom>
          <a:noFill/>
        </p:spPr>
        <p:txBody>
          <a:bodyPr wrap="square" lIns="0" rIns="0" tIns="18288" bIns="18288" anchor="t">
            <a:spAutoFit/>
          </a:bodyPr>
          <a:lstStyle/>
          <a:p>
            <a:pPr algn="l"/>
            <a:r>
              <a:rPr sz="1000" b="0" i="1">
                <a:solidFill>
                  <a:srgbClr val="555555"/>
                </a:solidFill>
                <a:latin typeface="Abadi"/>
              </a:rPr>
              <a:t>Lu 2005 · Ohura 2007 · Kido 2022 · Li 2025 · Hayasaka 2018 · Heubi 2007 · Gonzales 2018 · Zhao 2021 · Cholbam label 2015</a:t>
            </a:r>
          </a:p>
        </p:txBody>
      </p:sp>
      <p:sp>
        <p:nvSpPr>
          <p:cNvPr id="12" name="TextBox 11"/>
          <p:cNvSpPr txBox="1"/>
          <p:nvPr/>
        </p:nvSpPr>
        <p:spPr>
          <a:xfrm>
            <a:off x="548640" y="1828800"/>
            <a:ext cx="11091672" cy="3931920"/>
          </a:xfrm>
          <a:prstGeom prst="rect">
            <a:avLst/>
          </a:prstGeom>
          <a:noFill/>
        </p:spPr>
        <p:txBody>
          <a:bodyPr wrap="square" lIns="0" rIns="0" tIns="18288" bIns="18288" anchor="t">
            <a:spAutoFit/>
          </a:bodyPr>
          <a:lstStyle/>
          <a:p>
            <a:pPr algn="l">
              <a:spcAft>
                <a:spcPts val="800"/>
              </a:spcAft>
            </a:pPr>
            <a:r>
              <a:rPr sz="1400" b="0" i="0">
                <a:solidFill>
                  <a:srgbClr val="1A1A1A"/>
                </a:solidFill>
                <a:latin typeface="Abadi"/>
              </a:rPr>
              <a:t>▪  Citrin deficiency carriers: about 1 in 48 in southern China, 1 in 65 Chinese overall, 1 in 69 in Japan.</a:t>
            </a:r>
          </a:p>
          <a:p>
            <a:pPr algn="l">
              <a:spcAft>
                <a:spcPts val="800"/>
              </a:spcAft>
            </a:pPr>
            <a:r>
              <a:rPr sz="1400" b="0" i="0">
                <a:solidFill>
                  <a:srgbClr val="1A1A1A"/>
                </a:solidFill>
                <a:latin typeface="Abadi"/>
              </a:rPr>
              <a:t>▪  NICCD: cholestasis in 79%, hypoproteinaemia 39%, hypoglycaemia 30%; galactose and citrulline raised.</a:t>
            </a:r>
          </a:p>
          <a:p>
            <a:pPr algn="l">
              <a:spcAft>
                <a:spcPts val="800"/>
              </a:spcAft>
            </a:pPr>
            <a:r>
              <a:rPr sz="1400" b="0" i="0">
                <a:solidFill>
                  <a:srgbClr val="1A1A1A"/>
                </a:solidFill>
                <a:latin typeface="Abadi"/>
              </a:rPr>
              <a:t>▪  NICCD has high GGT, high bile acids and very high AFP (median 60,500 ng/mL in one series).</a:t>
            </a:r>
          </a:p>
          <a:p>
            <a:pPr algn="l">
              <a:spcAft>
                <a:spcPts val="800"/>
              </a:spcAft>
            </a:pPr>
            <a:r>
              <a:rPr sz="1400" b="0" i="0">
                <a:solidFill>
                  <a:srgbClr val="1A1A1A"/>
                </a:solidFill>
                <a:latin typeface="Abadi"/>
              </a:rPr>
              <a:t>▪  Lactose-free, MCT-enriched formula: almost all recover by 12 months; transplant in 0.5–2.7%.</a:t>
            </a:r>
          </a:p>
          <a:p>
            <a:pPr algn="l">
              <a:spcAft>
                <a:spcPts val="800"/>
              </a:spcAft>
            </a:pPr>
            <a:r>
              <a:rPr sz="1400" b="0" i="0">
                <a:solidFill>
                  <a:srgbClr val="1A1A1A"/>
                </a:solidFill>
                <a:latin typeface="Abadi"/>
              </a:rPr>
              <a:t>▪  Avoid glycerol, fructose and high-sugar infusions; respect the child's preference for protein and fat.</a:t>
            </a:r>
          </a:p>
          <a:p>
            <a:pPr algn="l">
              <a:spcAft>
                <a:spcPts val="800"/>
              </a:spcAft>
            </a:pPr>
            <a:r>
              <a:rPr sz="1400" b="0" i="0">
                <a:solidFill>
                  <a:srgbClr val="1A1A1A"/>
                </a:solidFill>
                <a:latin typeface="Abadi"/>
              </a:rPr>
              <a:t>▪  Bile acid synthesis defects: 1–2% of paediatric liver disease; normal GGT, low bile acids, no itch.</a:t>
            </a:r>
          </a:p>
          <a:p>
            <a:pPr algn="l">
              <a:spcAft>
                <a:spcPts val="800"/>
              </a:spcAft>
            </a:pPr>
            <a:r>
              <a:rPr sz="1400" b="0" i="0">
                <a:solidFill>
                  <a:srgbClr val="1A1A1A"/>
                </a:solidFill>
                <a:latin typeface="Abadi"/>
              </a:rPr>
              <a:t>▪  Send urine bile acids before UDCA; Δ4 species can be secondary, so repeat and sequence.</a:t>
            </a:r>
          </a:p>
          <a:p>
            <a:pPr algn="l">
              <a:spcAft>
                <a:spcPts val="800"/>
              </a:spcAft>
            </a:pPr>
            <a:r>
              <a:rPr sz="1400" b="0" i="0">
                <a:solidFill>
                  <a:srgbClr val="1A1A1A"/>
                </a:solidFill>
                <a:latin typeface="Abadi"/>
              </a:rPr>
              <a:t>▪  Cholic acid: 15 of 15 native livers after a median 21 years; response falls if cirrhosis is established.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01752"/>
            <a:ext cx="640080" cy="347472"/>
          </a:xfrm>
          <a:prstGeom prst="rect">
            <a:avLst/>
          </a:prstGeom>
          <a:solidFill>
            <a:srgbClr val="8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01752"/>
            <a:ext cx="640080" cy="347472"/>
          </a:xfrm>
          <a:prstGeom prst="rect">
            <a:avLst/>
          </a:prstGeom>
          <a:noFill/>
        </p:spPr>
        <p:txBody>
          <a:bodyPr wrap="square" lIns="0" rIns="0" tIns="18288" bIns="18288" anchor="ctr">
            <a:spAutoFit/>
          </a:bodyPr>
          <a:lstStyle/>
          <a:p>
            <a:pPr algn="ctr"/>
            <a:r>
              <a:rPr sz="1500" b="1" i="0">
                <a:solidFill>
                  <a:srgbClr val="FFFFFF"/>
                </a:solidFill>
                <a:latin typeface="Abadi"/>
              </a:rPr>
              <a:t>VIII</a:t>
            </a:r>
          </a:p>
        </p:txBody>
      </p:sp>
      <p:sp>
        <p:nvSpPr>
          <p:cNvPr id="4" name="TextBox 3"/>
          <p:cNvSpPr txBox="1"/>
          <p:nvPr/>
        </p:nvSpPr>
        <p:spPr>
          <a:xfrm>
            <a:off x="1389888" y="301752"/>
            <a:ext cx="10241280" cy="347472"/>
          </a:xfrm>
          <a:prstGeom prst="rect">
            <a:avLst/>
          </a:prstGeom>
          <a:noFill/>
        </p:spPr>
        <p:txBody>
          <a:bodyPr wrap="square" lIns="0" rIns="0" tIns="18288" bIns="18288" anchor="ctr">
            <a:spAutoFit/>
          </a:bodyPr>
          <a:lstStyle/>
          <a:p>
            <a:pPr algn="l"/>
            <a:r>
              <a:rPr sz="1200" b="1" i="0">
                <a:solidFill>
                  <a:srgbClr val="2E5A88"/>
                </a:solidFill>
                <a:latin typeface="Abadi"/>
              </a:rPr>
              <a:t>SYNTHESIS — SCENARIO TO PLAN</a:t>
            </a:r>
          </a:p>
        </p:txBody>
      </p:sp>
      <p:sp>
        <p:nvSpPr>
          <p:cNvPr id="5" name="TextBox 4"/>
          <p:cNvSpPr txBox="1"/>
          <p:nvPr/>
        </p:nvSpPr>
        <p:spPr>
          <a:xfrm>
            <a:off x="548640" y="731520"/>
            <a:ext cx="11091672" cy="548640"/>
          </a:xfrm>
          <a:prstGeom prst="rect">
            <a:avLst/>
          </a:prstGeom>
          <a:noFill/>
        </p:spPr>
        <p:txBody>
          <a:bodyPr wrap="square" lIns="0" rIns="0" tIns="18288" bIns="18288" anchor="t">
            <a:spAutoFit/>
          </a:bodyPr>
          <a:lstStyle/>
          <a:p>
            <a:pPr algn="l"/>
            <a:r>
              <a:rPr sz="3000" b="1" i="0">
                <a:solidFill>
                  <a:srgbClr val="1B355E"/>
                </a:solidFill>
                <a:latin typeface="Abadi"/>
              </a:rPr>
              <a:t>FROM SCENARIO TO DECISION</a:t>
            </a:r>
          </a:p>
        </p:txBody>
      </p:sp>
      <p:sp>
        <p:nvSpPr>
          <p:cNvPr id="6" name="TextBox 5"/>
          <p:cNvSpPr txBox="1"/>
          <p:nvPr/>
        </p:nvSpPr>
        <p:spPr>
          <a:xfrm>
            <a:off x="548640" y="1316736"/>
            <a:ext cx="11091672" cy="274320"/>
          </a:xfrm>
          <a:prstGeom prst="rect">
            <a:avLst/>
          </a:prstGeom>
          <a:noFill/>
        </p:spPr>
        <p:txBody>
          <a:bodyPr wrap="square" lIns="0" rIns="0" tIns="18288" bIns="18288" anchor="t">
            <a:spAutoFit/>
          </a:bodyPr>
          <a:lstStyle/>
          <a:p>
            <a:pPr algn="l"/>
            <a:r>
              <a:rPr sz="1300" b="0" i="1">
                <a:solidFill>
                  <a:srgbClr val="555555"/>
                </a:solidFill>
                <a:latin typeface="Abadi"/>
              </a:rPr>
              <a:t>Applying the metabolic logic on the ward</a:t>
            </a:r>
          </a:p>
        </p:txBody>
      </p:sp>
      <p:sp>
        <p:nvSpPr>
          <p:cNvPr id="7" name="Rectangle 6"/>
          <p:cNvSpPr/>
          <p:nvPr/>
        </p:nvSpPr>
        <p:spPr>
          <a:xfrm>
            <a:off x="548640" y="1600200"/>
            <a:ext cx="11091672" cy="2743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91672" cy="914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97880"/>
            <a:ext cx="11091672"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45368" y="5971032"/>
            <a:ext cx="704088" cy="301752"/>
          </a:xfrm>
          <a:prstGeom prst="rect">
            <a:avLst/>
          </a:prstGeom>
          <a:noFill/>
        </p:spPr>
        <p:txBody>
          <a:bodyPr wrap="square" lIns="0" rIns="0" tIns="18288" bIns="18288" anchor="t">
            <a:spAutoFit/>
          </a:bodyPr>
          <a:lstStyle/>
          <a:p>
            <a:pPr algn="r"/>
            <a:r>
              <a:rPr sz="1200" b="1" i="0">
                <a:solidFill>
                  <a:srgbClr val="1B355E"/>
                </a:solidFill>
                <a:latin typeface="Abadi"/>
              </a:rPr>
              <a:t>21</a:t>
            </a:r>
          </a:p>
        </p:txBody>
      </p:sp>
      <p:sp>
        <p:nvSpPr>
          <p:cNvPr id="11" name="TextBox 10"/>
          <p:cNvSpPr txBox="1"/>
          <p:nvPr/>
        </p:nvSpPr>
        <p:spPr>
          <a:xfrm>
            <a:off x="548640" y="5971032"/>
            <a:ext cx="10296144" cy="457200"/>
          </a:xfrm>
          <a:prstGeom prst="rect">
            <a:avLst/>
          </a:prstGeom>
          <a:noFill/>
        </p:spPr>
        <p:txBody>
          <a:bodyPr wrap="square" lIns="0" rIns="0" tIns="18288" bIns="18288" anchor="t">
            <a:spAutoFit/>
          </a:bodyPr>
          <a:lstStyle/>
          <a:p>
            <a:pPr algn="l"/>
            <a:r>
              <a:rPr sz="1000" b="0" i="1">
                <a:solidFill>
                  <a:srgbClr val="555555"/>
                </a:solidFill>
                <a:latin typeface="Abadi"/>
              </a:rPr>
              <a:t>Fawaz 2017 · Kido 2022 · Heubi 2007 · Gonzales 2018 · Hayasaka 2018</a:t>
            </a:r>
          </a:p>
        </p:txBody>
      </p:sp>
      <p:graphicFrame>
        <p:nvGraphicFramePr>
          <p:cNvPr id="12" name="Table 11"/>
          <p:cNvGraphicFramePr>
            <a:graphicFrameLocks noGrp="1"/>
          </p:cNvGraphicFramePr>
          <p:nvPr/>
        </p:nvGraphicFramePr>
        <p:xfrm>
          <a:off x="548640" y="1810512"/>
          <a:ext cx="11091672" cy="3401568"/>
        </p:xfrm>
        <a:graphic>
          <a:graphicData uri="http://schemas.openxmlformats.org/drawingml/2006/table">
            <a:tbl>
              <a:tblPr firstRow="0" bandRow="0">
                <a:tableStyleId>{5C22544A-7EE6-4342-B048-85BDC9FD1C3A}</a:tableStyleId>
              </a:tblPr>
              <a:tblGrid>
                <a:gridCol w="3931920"/>
                <a:gridCol w="2011680"/>
                <a:gridCol w="5148072"/>
              </a:tblGrid>
              <a:tr h="566928">
                <a:tc>
                  <a:txBody>
                    <a:bodyPr wrap="square"/>
                    <a:lstStyle/>
                    <a:p>
                      <a:r>
                        <a:rPr sz="1150" b="1">
                          <a:solidFill>
                            <a:srgbClr val="FFFFFF"/>
                          </a:solidFill>
                          <a:latin typeface="Abadi"/>
                        </a:rPr>
                        <a:t>Scenario</a:t>
                      </a:r>
                    </a:p>
                  </a:txBody>
                  <a:tcPr marL="54864" marR="54864" marT="27432" marB="27432" anchor="ctr">
                    <a:solidFill>
                      <a:srgbClr val="1B355E"/>
                    </a:solidFill>
                  </a:tcPr>
                </a:tc>
                <a:tc>
                  <a:txBody>
                    <a:bodyPr wrap="square"/>
                    <a:lstStyle/>
                    <a:p>
                      <a:r>
                        <a:rPr sz="1150" b="1">
                          <a:solidFill>
                            <a:srgbClr val="FFFFFF"/>
                          </a:solidFill>
                          <a:latin typeface="Abadi"/>
                        </a:rPr>
                        <a:t>Think</a:t>
                      </a:r>
                    </a:p>
                  </a:txBody>
                  <a:tcPr marL="54864" marR="54864" marT="27432" marB="27432" anchor="ctr">
                    <a:solidFill>
                      <a:srgbClr val="1B355E"/>
                    </a:solidFill>
                  </a:tcPr>
                </a:tc>
                <a:tc>
                  <a:txBody>
                    <a:bodyPr wrap="square"/>
                    <a:lstStyle/>
                    <a:p>
                      <a:r>
                        <a:rPr sz="1150" b="1">
                          <a:solidFill>
                            <a:srgbClr val="FFFFFF"/>
                          </a:solidFill>
                          <a:latin typeface="Abadi"/>
                        </a:rPr>
                        <a:t>Do now</a:t>
                      </a:r>
                    </a:p>
                  </a:txBody>
                  <a:tcPr marL="54864" marR="54864" marT="27432" marB="27432" anchor="ctr">
                    <a:solidFill>
                      <a:srgbClr val="1B355E"/>
                    </a:solidFill>
                  </a:tcPr>
                </a:tc>
              </a:tr>
              <a:tr h="566928">
                <a:tc>
                  <a:txBody>
                    <a:bodyPr wrap="square"/>
                    <a:lstStyle/>
                    <a:p>
                      <a:r>
                        <a:rPr sz="1150" b="1">
                          <a:solidFill>
                            <a:srgbClr val="1A1A1A"/>
                          </a:solidFill>
                          <a:latin typeface="Abadi"/>
                        </a:rPr>
                        <a:t>4-week-old, cholestatic, galactose high on screen, GALT normal</a:t>
                      </a:r>
                    </a:p>
                  </a:txBody>
                  <a:tcPr marL="54864" marR="54864" marT="27432" marB="27432" anchor="ctr">
                    <a:solidFill>
                      <a:srgbClr val="FFFFFF"/>
                    </a:solidFill>
                  </a:tcPr>
                </a:tc>
                <a:tc>
                  <a:txBody>
                    <a:bodyPr wrap="square"/>
                    <a:lstStyle/>
                    <a:p>
                      <a:r>
                        <a:rPr sz="1150" b="0">
                          <a:solidFill>
                            <a:srgbClr val="1A1A1A"/>
                          </a:solidFill>
                          <a:latin typeface="Abadi"/>
                        </a:rPr>
                        <a:t>Citrin deficiency</a:t>
                      </a:r>
                    </a:p>
                  </a:txBody>
                  <a:tcPr marL="54864" marR="54864" marT="27432" marB="27432" anchor="ctr">
                    <a:solidFill>
                      <a:srgbClr val="FFFFFF"/>
                    </a:solidFill>
                  </a:tcPr>
                </a:tc>
                <a:tc>
                  <a:txBody>
                    <a:bodyPr wrap="square"/>
                    <a:lstStyle/>
                    <a:p>
                      <a:r>
                        <a:rPr sz="1150" b="0">
                          <a:solidFill>
                            <a:srgbClr val="1A1A1A"/>
                          </a:solidFill>
                          <a:latin typeface="Abadi"/>
                        </a:rPr>
                        <a:t>Amino acids, AFP; lactose-free MCT formula; SLC25A13</a:t>
                      </a:r>
                    </a:p>
                  </a:txBody>
                  <a:tcPr marL="54864" marR="54864" marT="27432" marB="27432" anchor="ctr">
                    <a:solidFill>
                      <a:srgbClr val="FFFFFF"/>
                    </a:solidFill>
                  </a:tcPr>
                </a:tc>
              </a:tr>
              <a:tr h="566928">
                <a:tc>
                  <a:txBody>
                    <a:bodyPr wrap="square"/>
                    <a:lstStyle/>
                    <a:p>
                      <a:r>
                        <a:rPr sz="1150" b="1">
                          <a:solidFill>
                            <a:srgbClr val="1A1A1A"/>
                          </a:solidFill>
                          <a:latin typeface="Abadi"/>
                        </a:rPr>
                        <a:t>2-month-old, conjugated jaundice, GGT 30, no itch, bile acids low</a:t>
                      </a:r>
                    </a:p>
                  </a:txBody>
                  <a:tcPr marL="54864" marR="54864" marT="27432" marB="27432" anchor="ctr">
                    <a:solidFill>
                      <a:srgbClr val="F2F2F2"/>
                    </a:solidFill>
                  </a:tcPr>
                </a:tc>
                <a:tc>
                  <a:txBody>
                    <a:bodyPr wrap="square"/>
                    <a:lstStyle/>
                    <a:p>
                      <a:r>
                        <a:rPr sz="1150" b="0">
                          <a:solidFill>
                            <a:srgbClr val="1A1A1A"/>
                          </a:solidFill>
                          <a:latin typeface="Abadi"/>
                        </a:rPr>
                        <a:t>3β-HSD deficiency</a:t>
                      </a:r>
                    </a:p>
                  </a:txBody>
                  <a:tcPr marL="54864" marR="54864" marT="27432" marB="27432" anchor="ctr">
                    <a:solidFill>
                      <a:srgbClr val="F2F2F2"/>
                    </a:solidFill>
                  </a:tcPr>
                </a:tc>
                <a:tc>
                  <a:txBody>
                    <a:bodyPr wrap="square"/>
                    <a:lstStyle/>
                    <a:p>
                      <a:r>
                        <a:rPr sz="1150" b="0">
                          <a:solidFill>
                            <a:srgbClr val="1A1A1A"/>
                          </a:solidFill>
                          <a:latin typeface="Abadi"/>
                        </a:rPr>
                        <a:t>Urine bile acids before UDCA; start cholic acid when confirmed</a:t>
                      </a:r>
                    </a:p>
                  </a:txBody>
                  <a:tcPr marL="54864" marR="54864" marT="27432" marB="27432" anchor="ctr">
                    <a:solidFill>
                      <a:srgbClr val="F2F2F2"/>
                    </a:solidFill>
                  </a:tcPr>
                </a:tc>
              </a:tr>
              <a:tr h="566928">
                <a:tc>
                  <a:txBody>
                    <a:bodyPr wrap="square"/>
                    <a:lstStyle/>
                    <a:p>
                      <a:r>
                        <a:rPr sz="1150" b="1">
                          <a:solidFill>
                            <a:srgbClr val="1A1A1A"/>
                          </a:solidFill>
                          <a:latin typeface="Abadi"/>
                        </a:rPr>
                        <a:t>Infant in liver failure, urine Δ4-3-oxo acids high</a:t>
                      </a:r>
                    </a:p>
                  </a:txBody>
                  <a:tcPr marL="54864" marR="54864" marT="27432" marB="27432" anchor="ctr">
                    <a:solidFill>
                      <a:srgbClr val="FFFFFF"/>
                    </a:solidFill>
                  </a:tcPr>
                </a:tc>
                <a:tc>
                  <a:txBody>
                    <a:bodyPr wrap="square"/>
                    <a:lstStyle/>
                    <a:p>
                      <a:r>
                        <a:rPr sz="1150" b="0">
                          <a:solidFill>
                            <a:srgbClr val="1A1A1A"/>
                          </a:solidFill>
                          <a:latin typeface="Abadi"/>
                        </a:rPr>
                        <a:t>Secondary or AKR1D1</a:t>
                      </a:r>
                    </a:p>
                  </a:txBody>
                  <a:tcPr marL="54864" marR="54864" marT="27432" marB="27432" anchor="ctr">
                    <a:solidFill>
                      <a:srgbClr val="FFFFFF"/>
                    </a:solidFill>
                  </a:tcPr>
                </a:tc>
                <a:tc>
                  <a:txBody>
                    <a:bodyPr wrap="square"/>
                    <a:lstStyle/>
                    <a:p>
                      <a:r>
                        <a:rPr sz="1150" b="0">
                          <a:solidFill>
                            <a:srgbClr val="1A1A1A"/>
                          </a:solidFill>
                          <a:latin typeface="Abadi"/>
                        </a:rPr>
                        <a:t>Repeat urine after recovery; AKR1D1 sequencing</a:t>
                      </a:r>
                    </a:p>
                  </a:txBody>
                  <a:tcPr marL="54864" marR="54864" marT="27432" marB="27432" anchor="ctr">
                    <a:solidFill>
                      <a:srgbClr val="FFFFFF"/>
                    </a:solidFill>
                  </a:tcPr>
                </a:tc>
              </a:tr>
              <a:tr h="566928">
                <a:tc>
                  <a:txBody>
                    <a:bodyPr wrap="square"/>
                    <a:lstStyle/>
                    <a:p>
                      <a:r>
                        <a:rPr sz="1150" b="1">
                          <a:solidFill>
                            <a:srgbClr val="1A1A1A"/>
                          </a:solidFill>
                          <a:latin typeface="Abadi"/>
                        </a:rPr>
                        <a:t>On cholic acid, GGT and ALT rise with diarrhoea</a:t>
                      </a:r>
                    </a:p>
                  </a:txBody>
                  <a:tcPr marL="54864" marR="54864" marT="27432" marB="27432" anchor="ctr">
                    <a:solidFill>
                      <a:srgbClr val="F2F2F2"/>
                    </a:solidFill>
                  </a:tcPr>
                </a:tc>
                <a:tc>
                  <a:txBody>
                    <a:bodyPr wrap="square"/>
                    <a:lstStyle/>
                    <a:p>
                      <a:r>
                        <a:rPr sz="1150" b="0">
                          <a:solidFill>
                            <a:srgbClr val="1A1A1A"/>
                          </a:solidFill>
                          <a:latin typeface="Abadi"/>
                        </a:rPr>
                        <a:t>Overdose</a:t>
                      </a:r>
                    </a:p>
                  </a:txBody>
                  <a:tcPr marL="54864" marR="54864" marT="27432" marB="27432" anchor="ctr">
                    <a:solidFill>
                      <a:srgbClr val="F2F2F2"/>
                    </a:solidFill>
                  </a:tcPr>
                </a:tc>
                <a:tc>
                  <a:txBody>
                    <a:bodyPr wrap="square"/>
                    <a:lstStyle/>
                    <a:p>
                      <a:r>
                        <a:rPr sz="1150" b="0">
                          <a:solidFill>
                            <a:srgbClr val="1A1A1A"/>
                          </a:solidFill>
                          <a:latin typeface="Abadi"/>
                        </a:rPr>
                        <a:t>Reduce dose; recheck tests and urine bile acids</a:t>
                      </a:r>
                    </a:p>
                  </a:txBody>
                  <a:tcPr marL="54864" marR="54864" marT="27432" marB="27432" anchor="ctr">
                    <a:solidFill>
                      <a:srgbClr val="F2F2F2"/>
                    </a:solidFill>
                  </a:tcPr>
                </a:tc>
              </a:tr>
              <a:tr h="566928">
                <a:tc>
                  <a:txBody>
                    <a:bodyPr wrap="square"/>
                    <a:lstStyle/>
                    <a:p>
                      <a:r>
                        <a:rPr sz="1150" b="1">
                          <a:solidFill>
                            <a:srgbClr val="1A1A1A"/>
                          </a:solidFill>
                          <a:latin typeface="Abadi"/>
                        </a:rPr>
                        <a:t>Teenager with known citrin deficiency, confused after surgery</a:t>
                      </a:r>
                    </a:p>
                  </a:txBody>
                  <a:tcPr marL="54864" marR="54864" marT="27432" marB="27432" anchor="ctr">
                    <a:solidFill>
                      <a:srgbClr val="FFFFFF"/>
                    </a:solidFill>
                  </a:tcPr>
                </a:tc>
                <a:tc>
                  <a:txBody>
                    <a:bodyPr wrap="square"/>
                    <a:lstStyle/>
                    <a:p>
                      <a:r>
                        <a:rPr sz="1150" b="0">
                          <a:solidFill>
                            <a:srgbClr val="1A1A1A"/>
                          </a:solidFill>
                          <a:latin typeface="Abadi"/>
                        </a:rPr>
                        <a:t>CTLN2 crisis</a:t>
                      </a:r>
                    </a:p>
                  </a:txBody>
                  <a:tcPr marL="54864" marR="54864" marT="27432" marB="27432" anchor="ctr">
                    <a:solidFill>
                      <a:srgbClr val="FFFFFF"/>
                    </a:solidFill>
                  </a:tcPr>
                </a:tc>
                <a:tc>
                  <a:txBody>
                    <a:bodyPr wrap="square"/>
                    <a:lstStyle/>
                    <a:p>
                      <a:r>
                        <a:rPr sz="1150" b="0">
                          <a:solidFill>
                            <a:srgbClr val="1A1A1A"/>
                          </a:solidFill>
                          <a:latin typeface="Abadi"/>
                        </a:rPr>
                        <a:t>Ammonia; avoid glycerol and high sugar; MCT, metabolic team</a:t>
                      </a:r>
                    </a:p>
                  </a:txBody>
                  <a:tcPr marL="54864" marR="54864" marT="27432" marB="27432" anchor="ct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10543032" cy="1920240"/>
          </a:xfrm>
          <a:prstGeom prst="rect">
            <a:avLst/>
          </a:prstGeom>
          <a:noFill/>
        </p:spPr>
        <p:txBody>
          <a:bodyPr wrap="square" lIns="0" rIns="0" tIns="18288" bIns="18288" anchor="b">
            <a:spAutoFit/>
          </a:bodyPr>
          <a:lstStyle/>
          <a:p>
            <a:pPr algn="ctr"/>
            <a:r>
              <a:rPr sz="3400" b="1" i="0">
                <a:solidFill>
                  <a:srgbClr val="FFFFFF"/>
                </a:solidFill>
                <a:latin typeface="Abadi"/>
              </a:rPr>
              <a:t>Metabolic Cholestasis II: Citrin Deficiency and Inborn Errors of Bile Acid Synthesis</a:t>
            </a:r>
          </a:p>
        </p:txBody>
      </p:sp>
      <p:sp>
        <p:nvSpPr>
          <p:cNvPr id="4" name="Rectangle 3"/>
          <p:cNvSpPr/>
          <p:nvPr/>
        </p:nvSpPr>
        <p:spPr>
          <a:xfrm>
            <a:off x="5184648" y="3749039"/>
            <a:ext cx="1828800" cy="1828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931920"/>
            <a:ext cx="11091672" cy="365760"/>
          </a:xfrm>
          <a:prstGeom prst="rect">
            <a:avLst/>
          </a:prstGeom>
          <a:noFill/>
        </p:spPr>
        <p:txBody>
          <a:bodyPr wrap="square" lIns="0" rIns="0" tIns="18288" bIns="18288" anchor="t">
            <a:spAutoFit/>
          </a:bodyPr>
          <a:lstStyle/>
          <a:p>
            <a:pPr algn="ctr"/>
            <a:r>
              <a:rPr sz="1700" b="1" i="0">
                <a:solidFill>
                  <a:srgbClr val="FFFFFF"/>
                </a:solidFill>
                <a:latin typeface="Abadi"/>
              </a:rPr>
              <a:t>Andrey Ermak,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