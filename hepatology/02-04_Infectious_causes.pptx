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03120"/>
            <a:ext cx="11091672" cy="1353312"/>
          </a:xfrm>
          <a:prstGeom prst="rect">
            <a:avLst/>
          </a:prstGeom>
          <a:noFill/>
        </p:spPr>
        <p:txBody>
          <a:bodyPr wrap="square" lIns="0" rIns="0" tIns="18288" bIns="18288" anchor="b">
            <a:spAutoFit/>
          </a:bodyPr>
          <a:lstStyle/>
          <a:p>
            <a:pPr algn="ctr"/>
            <a:r>
              <a:rPr sz="4200" b="1" i="0">
                <a:solidFill>
                  <a:srgbClr val="FFFFFF"/>
                </a:solidFill>
                <a:latin typeface="Abadi"/>
              </a:rPr>
              <a:t>Infection and the Cholestatic Infant: CMV, Syphilis, Urinary Infection, Toxoplasma, and the Viruses of Neonatal Liver Failure</a:t>
            </a:r>
          </a:p>
        </p:txBody>
      </p:sp>
      <p:sp>
        <p:nvSpPr>
          <p:cNvPr id="4" name="Rectangle 3"/>
          <p:cNvSpPr/>
          <p:nvPr/>
        </p:nvSpPr>
        <p:spPr>
          <a:xfrm>
            <a:off x="5184648" y="3703320"/>
            <a:ext cx="1828800" cy="18288"/>
          </a:xfrm>
          <a:prstGeom prst="rect">
            <a:avLst/>
          </a:prstGeom>
          <a:solidFill>
            <a:srgbClr val="F2C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995928"/>
            <a:ext cx="11091672" cy="265176"/>
          </a:xfrm>
          <a:prstGeom prst="rect">
            <a:avLst/>
          </a:prstGeom>
          <a:noFill/>
        </p:spPr>
        <p:txBody>
          <a:bodyPr wrap="square" lIns="0" rIns="0" tIns="18288" bIns="18288" anchor="t">
            <a:spAutoFit/>
          </a:bodyPr>
          <a:lstStyle/>
          <a:p>
            <a:pPr algn="ctr"/>
            <a:r>
              <a:rPr sz="1700" b="1" i="0">
                <a:solidFill>
                  <a:srgbClr val="FFFFFF"/>
                </a:solidFill>
                <a:latin typeface="Abadi"/>
              </a:rPr>
              <a:t>Andrey Ermak, MD</a:t>
            </a:r>
          </a:p>
        </p:txBody>
      </p:sp>
      <p:sp>
        <p:nvSpPr>
          <p:cNvPr id="6" name="TextBox 5"/>
          <p:cNvSpPr txBox="1"/>
          <p:nvPr/>
        </p:nvSpPr>
        <p:spPr>
          <a:xfrm>
            <a:off x="548640" y="4498848"/>
            <a:ext cx="11091672" cy="704088"/>
          </a:xfrm>
          <a:prstGeom prst="rect">
            <a:avLst/>
          </a:prstGeom>
          <a:noFill/>
        </p:spPr>
        <p:txBody>
          <a:bodyPr wrap="square" lIns="0" rIns="0" tIns="18288" bIns="18288" anchor="t">
            <a:spAutoFit/>
          </a:bodyPr>
          <a:lstStyle/>
          <a:p>
            <a:pPr algn="ctr"/>
            <a:r>
              <a:rPr sz="1100" b="0" i="0">
                <a:solidFill>
                  <a:srgbClr val="CFD8E6"/>
                </a:solidFill>
                <a:latin typeface="Abadi"/>
              </a:rPr>
              <a:t>Fawaz 2017 (NASPGHAN/ESPGHAN) · Gottesman 2015 · Kimberlin 2003, 2011, 2015 · Rawlinson 2017 · CDC STI Guidelines 2021 · Sundaram 2011 (PALF) · Cruz 2018 · WHO DON 2023
Inflammatory cholestasis · urinary infection · congenital CMV · CMV and atresia · syphilis · toxoplasma · HSV · enterovirus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THE QUESTION OF THE DAY</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WHICH INFECTION, AND HOW FAST?</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Infection explains about one cholestatic infant in nine; the clinical task is to sort them by urgency</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2</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Gottesman LE, et al. BMC Pediatr 2015;15:192 · Fawaz R, et al. JPGN 2017;64:154–68 · Sundaram SS, et al. J Pediatr 2011;159:813–8</a:t>
            </a:r>
          </a:p>
        </p:txBody>
      </p:sp>
      <p:sp>
        <p:nvSpPr>
          <p:cNvPr id="12" name="Rectangle 11"/>
          <p:cNvSpPr/>
          <p:nvPr/>
        </p:nvSpPr>
        <p:spPr>
          <a:xfrm>
            <a:off x="548640" y="1773936"/>
            <a:ext cx="2567178" cy="24688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Treat today</a:t>
            </a:r>
          </a:p>
        </p:txBody>
      </p:sp>
      <p:sp>
        <p:nvSpPr>
          <p:cNvPr id="15" name="TextBox 14"/>
          <p:cNvSpPr txBox="1"/>
          <p:nvPr/>
        </p:nvSpPr>
        <p:spPr>
          <a:xfrm>
            <a:off x="749808" y="2523744"/>
            <a:ext cx="2164842" cy="157276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Bacterial sepsis</a:t>
            </a:r>
          </a:p>
          <a:p>
            <a:pPr algn="l">
              <a:spcAft>
                <a:spcPts val="500"/>
              </a:spcAft>
            </a:pPr>
            <a:r>
              <a:rPr sz="1250" b="0" i="0">
                <a:solidFill>
                  <a:srgbClr val="1A1A1A"/>
                </a:solidFill>
                <a:latin typeface="Abadi"/>
              </a:rPr>
              <a:t>▪  E. coli urinary infection</a:t>
            </a:r>
          </a:p>
          <a:p>
            <a:pPr algn="l">
              <a:spcAft>
                <a:spcPts val="500"/>
              </a:spcAft>
            </a:pPr>
            <a:r>
              <a:rPr sz="1250" b="0" i="0">
                <a:solidFill>
                  <a:srgbClr val="1A1A1A"/>
                </a:solidFill>
                <a:latin typeface="Abadi"/>
              </a:rPr>
              <a:t>▪  Congenital syphilis: 10 days of penicillin</a:t>
            </a:r>
          </a:p>
        </p:txBody>
      </p:sp>
      <p:sp>
        <p:nvSpPr>
          <p:cNvPr id="16" name="Rectangle 15"/>
          <p:cNvSpPr/>
          <p:nvPr/>
        </p:nvSpPr>
        <p:spPr>
          <a:xfrm>
            <a:off x="3390138" y="1773936"/>
            <a:ext cx="2567178" cy="24688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773936"/>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1306"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Treat by criteria</a:t>
            </a:r>
          </a:p>
        </p:txBody>
      </p:sp>
      <p:sp>
        <p:nvSpPr>
          <p:cNvPr id="19" name="TextBox 18"/>
          <p:cNvSpPr txBox="1"/>
          <p:nvPr/>
        </p:nvSpPr>
        <p:spPr>
          <a:xfrm>
            <a:off x="3591306" y="2523744"/>
            <a:ext cx="2164842" cy="157276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Congenital CMV: valganciclovir for moderate–severe disease</a:t>
            </a:r>
          </a:p>
          <a:p>
            <a:pPr algn="l">
              <a:spcAft>
                <a:spcPts val="500"/>
              </a:spcAft>
            </a:pPr>
            <a:r>
              <a:rPr sz="1250" b="0" i="0">
                <a:solidFill>
                  <a:srgbClr val="1A1A1A"/>
                </a:solidFill>
                <a:latin typeface="Abadi"/>
              </a:rPr>
              <a:t>▪  Toxoplasma: 12 months of therapy</a:t>
            </a:r>
          </a:p>
        </p:txBody>
      </p:sp>
      <p:sp>
        <p:nvSpPr>
          <p:cNvPr id="20" name="Rectangle 19"/>
          <p:cNvSpPr/>
          <p:nvPr/>
        </p:nvSpPr>
        <p:spPr>
          <a:xfrm>
            <a:off x="6231636" y="1773936"/>
            <a:ext cx="2567178" cy="24688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773936"/>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2803"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Liver failure</a:t>
            </a:r>
          </a:p>
        </p:txBody>
      </p:sp>
      <p:sp>
        <p:nvSpPr>
          <p:cNvPr id="23" name="TextBox 22"/>
          <p:cNvSpPr txBox="1"/>
          <p:nvPr/>
        </p:nvSpPr>
        <p:spPr>
          <a:xfrm>
            <a:off x="6432803" y="2523744"/>
            <a:ext cx="2164842" cy="157276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HSV: acyclovir before the PCR</a:t>
            </a:r>
          </a:p>
          <a:p>
            <a:pPr algn="l">
              <a:spcAft>
                <a:spcPts val="500"/>
              </a:spcAft>
            </a:pPr>
            <a:r>
              <a:rPr sz="1250" b="0" i="0">
                <a:solidFill>
                  <a:srgbClr val="1A1A1A"/>
                </a:solidFill>
                <a:latin typeface="Abadi"/>
              </a:rPr>
              <a:t>▪  Enterovirus: supportive, IVIG, compassionate antivirals</a:t>
            </a:r>
          </a:p>
        </p:txBody>
      </p:sp>
      <p:sp>
        <p:nvSpPr>
          <p:cNvPr id="24" name="Rectangle 23"/>
          <p:cNvSpPr/>
          <p:nvPr/>
        </p:nvSpPr>
        <p:spPr>
          <a:xfrm>
            <a:off x="9073134" y="1773936"/>
            <a:ext cx="2567178" cy="24688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773936"/>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74302"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The confounder</a:t>
            </a:r>
          </a:p>
        </p:txBody>
      </p:sp>
      <p:sp>
        <p:nvSpPr>
          <p:cNvPr id="27" name="TextBox 26"/>
          <p:cNvSpPr txBox="1"/>
          <p:nvPr/>
        </p:nvSpPr>
        <p:spPr>
          <a:xfrm>
            <a:off x="9274302" y="2523744"/>
            <a:ext cx="2164842" cy="157276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CMV IgM in biliary atresia: a marker of worse drainage</a:t>
            </a:r>
          </a:p>
          <a:p>
            <a:pPr algn="l">
              <a:spcAft>
                <a:spcPts val="500"/>
              </a:spcAft>
            </a:pPr>
            <a:r>
              <a:rPr sz="1250" b="0" i="0">
                <a:solidFill>
                  <a:srgbClr val="1A1A1A"/>
                </a:solidFill>
                <a:latin typeface="Abadi"/>
              </a:rPr>
              <a:t>▪  Never a reason to delay the cholangiogram</a:t>
            </a:r>
          </a:p>
        </p:txBody>
      </p:sp>
      <p:sp>
        <p:nvSpPr>
          <p:cNvPr id="28" name="TextBox 27"/>
          <p:cNvSpPr txBox="1"/>
          <p:nvPr/>
        </p:nvSpPr>
        <p:spPr>
          <a:xfrm>
            <a:off x="548640" y="4526280"/>
            <a:ext cx="11091672" cy="822960"/>
          </a:xfrm>
          <a:prstGeom prst="rect">
            <a:avLst/>
          </a:prstGeom>
          <a:noFill/>
        </p:spPr>
        <p:txBody>
          <a:bodyPr wrap="square" lIns="0" rIns="0" tIns="18288" bIns="18288" anchor="t">
            <a:spAutoFit/>
          </a:bodyPr>
          <a:lstStyle/>
          <a:p>
            <a:pPr algn="l"/>
            <a:r>
              <a:rPr sz="1250" b="0" i="0">
                <a:solidFill>
                  <a:srgbClr val="1A1A1A"/>
                </a:solidFill>
                <a:latin typeface="Abadi"/>
              </a:rPr>
              <a:t>Infection produces two very different livers. Bacterial infection gives a functional, reversible cholestasis that resolves with antibiotics. HSV and enteroviruses give lytic hepatocyte necrosis and liver failure within days, often in an infant whose skin shows nothing.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MECHANISM</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INFLAMMATION SWITCHES OFF THE BILE PUMP</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Endotoxin-driven cholestasis is transcriptional and reversible; viral hepatitis is necrotic</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3</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Trauner M, et al. J Clin Invest 1998;101:2092–100 · Ghenu MI, et al. JGH Open 2022;6:378–87 · Sundaram 2011</a:t>
            </a:r>
          </a:p>
        </p:txBody>
      </p:sp>
      <p:sp>
        <p:nvSpPr>
          <p:cNvPr id="12" name="Rectangle 11"/>
          <p:cNvSpPr/>
          <p:nvPr/>
        </p:nvSpPr>
        <p:spPr>
          <a:xfrm>
            <a:off x="548640" y="1874519"/>
            <a:ext cx="2035454"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874519"/>
            <a:ext cx="1852574" cy="310896"/>
          </a:xfrm>
          <a:prstGeom prst="rect">
            <a:avLst/>
          </a:prstGeom>
          <a:noFill/>
        </p:spPr>
        <p:txBody>
          <a:bodyPr wrap="square" lIns="0" rIns="0" tIns="18288" bIns="18288" anchor="ctr">
            <a:spAutoFit/>
          </a:bodyPr>
          <a:lstStyle/>
          <a:p>
            <a:pPr algn="l"/>
            <a:r>
              <a:rPr sz="1150" b="1" i="0">
                <a:solidFill>
                  <a:srgbClr val="FFFFFF"/>
                </a:solidFill>
                <a:latin typeface="Abadi"/>
              </a:rPr>
              <a:t>1 · Endotoxin</a:t>
            </a:r>
          </a:p>
        </p:txBody>
      </p:sp>
      <p:sp>
        <p:nvSpPr>
          <p:cNvPr id="14" name="Rectangle 13"/>
          <p:cNvSpPr/>
          <p:nvPr/>
        </p:nvSpPr>
        <p:spPr>
          <a:xfrm>
            <a:off x="548640" y="2185415"/>
            <a:ext cx="2035454" cy="17373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276856"/>
            <a:ext cx="1815998" cy="1591056"/>
          </a:xfrm>
          <a:prstGeom prst="rect">
            <a:avLst/>
          </a:prstGeom>
          <a:noFill/>
        </p:spPr>
        <p:txBody>
          <a:bodyPr wrap="square" lIns="0" rIns="0" tIns="18288" bIns="18288" anchor="t">
            <a:spAutoFit/>
          </a:bodyPr>
          <a:lstStyle/>
          <a:p>
            <a:pPr algn="l"/>
            <a:r>
              <a:rPr sz="1050" b="0" i="0">
                <a:solidFill>
                  <a:srgbClr val="1A1A1A"/>
                </a:solidFill>
                <a:latin typeface="Abadi"/>
              </a:rPr>
              <a:t>Lipopolysaccharide from Gram-negative bacteria binds TLR4 on Kupffer cells</a:t>
            </a:r>
          </a:p>
        </p:txBody>
      </p:sp>
      <p:sp>
        <p:nvSpPr>
          <p:cNvPr id="16" name="Isosceles Triangle 15"/>
          <p:cNvSpPr/>
          <p:nvPr/>
        </p:nvSpPr>
        <p:spPr>
          <a:xfrm rot="5400000">
            <a:off x="2620670" y="2962656"/>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2694" y="1874519"/>
            <a:ext cx="2035454"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4134" y="1874519"/>
            <a:ext cx="1852574" cy="310896"/>
          </a:xfrm>
          <a:prstGeom prst="rect">
            <a:avLst/>
          </a:prstGeom>
          <a:noFill/>
        </p:spPr>
        <p:txBody>
          <a:bodyPr wrap="square" lIns="0" rIns="0" tIns="18288" bIns="18288" anchor="ctr">
            <a:spAutoFit/>
          </a:bodyPr>
          <a:lstStyle/>
          <a:p>
            <a:pPr algn="l"/>
            <a:r>
              <a:rPr sz="1150" b="1" i="0">
                <a:solidFill>
                  <a:srgbClr val="FFFFFF"/>
                </a:solidFill>
                <a:latin typeface="Abadi"/>
              </a:rPr>
              <a:t>2 · Cytokines</a:t>
            </a:r>
          </a:p>
        </p:txBody>
      </p:sp>
      <p:sp>
        <p:nvSpPr>
          <p:cNvPr id="19" name="Rectangle 18"/>
          <p:cNvSpPr/>
          <p:nvPr/>
        </p:nvSpPr>
        <p:spPr>
          <a:xfrm>
            <a:off x="2812694" y="2185415"/>
            <a:ext cx="2035454" cy="17373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2422" y="2276856"/>
            <a:ext cx="1815998" cy="1591056"/>
          </a:xfrm>
          <a:prstGeom prst="rect">
            <a:avLst/>
          </a:prstGeom>
          <a:noFill/>
        </p:spPr>
        <p:txBody>
          <a:bodyPr wrap="square" lIns="0" rIns="0" tIns="18288" bIns="18288" anchor="t">
            <a:spAutoFit/>
          </a:bodyPr>
          <a:lstStyle/>
          <a:p>
            <a:pPr algn="l"/>
            <a:r>
              <a:rPr sz="1050" b="0" i="0">
                <a:solidFill>
                  <a:srgbClr val="1A1A1A"/>
                </a:solidFill>
                <a:latin typeface="Abadi"/>
              </a:rPr>
              <a:t>TNF-α, IL-1β and IL-6 released into the sinusoid</a:t>
            </a:r>
          </a:p>
        </p:txBody>
      </p:sp>
      <p:sp>
        <p:nvSpPr>
          <p:cNvPr id="21" name="Isosceles Triangle 20"/>
          <p:cNvSpPr/>
          <p:nvPr/>
        </p:nvSpPr>
        <p:spPr>
          <a:xfrm rot="5400000">
            <a:off x="4884724" y="2962656"/>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76748" y="1874519"/>
            <a:ext cx="2035454"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8188" y="1874519"/>
            <a:ext cx="1852574" cy="310896"/>
          </a:xfrm>
          <a:prstGeom prst="rect">
            <a:avLst/>
          </a:prstGeom>
          <a:noFill/>
        </p:spPr>
        <p:txBody>
          <a:bodyPr wrap="square" lIns="0" rIns="0" tIns="18288" bIns="18288" anchor="ctr">
            <a:spAutoFit/>
          </a:bodyPr>
          <a:lstStyle/>
          <a:p>
            <a:pPr algn="l"/>
            <a:r>
              <a:rPr sz="1150" b="1" i="0">
                <a:solidFill>
                  <a:srgbClr val="FFFFFF"/>
                </a:solidFill>
                <a:latin typeface="Abadi"/>
              </a:rPr>
              <a:t>3 · Uptake falls</a:t>
            </a:r>
          </a:p>
        </p:txBody>
      </p:sp>
      <p:sp>
        <p:nvSpPr>
          <p:cNvPr id="24" name="Rectangle 23"/>
          <p:cNvSpPr/>
          <p:nvPr/>
        </p:nvSpPr>
        <p:spPr>
          <a:xfrm>
            <a:off x="5076748" y="2185415"/>
            <a:ext cx="2035454" cy="173736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86476" y="2276856"/>
            <a:ext cx="1815998" cy="1591056"/>
          </a:xfrm>
          <a:prstGeom prst="rect">
            <a:avLst/>
          </a:prstGeom>
          <a:noFill/>
        </p:spPr>
        <p:txBody>
          <a:bodyPr wrap="square" lIns="0" rIns="0" tIns="18288" bIns="18288" anchor="t">
            <a:spAutoFit/>
          </a:bodyPr>
          <a:lstStyle/>
          <a:p>
            <a:pPr algn="l"/>
            <a:r>
              <a:rPr sz="1050" b="0" i="0">
                <a:solidFill>
                  <a:srgbClr val="1A1A1A"/>
                </a:solidFill>
                <a:latin typeface="Abadi"/>
              </a:rPr>
              <a:t>NTCP and OATP transcription falls; rat Ntcp mRNA at its nadir by 16 hours</a:t>
            </a:r>
          </a:p>
        </p:txBody>
      </p:sp>
      <p:sp>
        <p:nvSpPr>
          <p:cNvPr id="26" name="Isosceles Triangle 25"/>
          <p:cNvSpPr/>
          <p:nvPr/>
        </p:nvSpPr>
        <p:spPr>
          <a:xfrm rot="5400000">
            <a:off x="7148779" y="2962656"/>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40803" y="1874519"/>
            <a:ext cx="2035454"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32243" y="1874519"/>
            <a:ext cx="1852574" cy="310896"/>
          </a:xfrm>
          <a:prstGeom prst="rect">
            <a:avLst/>
          </a:prstGeom>
          <a:noFill/>
        </p:spPr>
        <p:txBody>
          <a:bodyPr wrap="square" lIns="0" rIns="0" tIns="18288" bIns="18288" anchor="ctr">
            <a:spAutoFit/>
          </a:bodyPr>
          <a:lstStyle/>
          <a:p>
            <a:pPr algn="l"/>
            <a:r>
              <a:rPr sz="1150" b="1" i="0">
                <a:solidFill>
                  <a:srgbClr val="FFFFFF"/>
                </a:solidFill>
                <a:latin typeface="Abadi"/>
              </a:rPr>
              <a:t>4 · Export falls</a:t>
            </a:r>
          </a:p>
        </p:txBody>
      </p:sp>
      <p:sp>
        <p:nvSpPr>
          <p:cNvPr id="29" name="Rectangle 28"/>
          <p:cNvSpPr/>
          <p:nvPr/>
        </p:nvSpPr>
        <p:spPr>
          <a:xfrm>
            <a:off x="7340803" y="2185415"/>
            <a:ext cx="2035454" cy="17373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0531" y="2276856"/>
            <a:ext cx="1815998" cy="1591056"/>
          </a:xfrm>
          <a:prstGeom prst="rect">
            <a:avLst/>
          </a:prstGeom>
          <a:noFill/>
        </p:spPr>
        <p:txBody>
          <a:bodyPr wrap="square" lIns="0" rIns="0" tIns="18288" bIns="18288" anchor="t">
            <a:spAutoFit/>
          </a:bodyPr>
          <a:lstStyle/>
          <a:p>
            <a:pPr algn="l"/>
            <a:r>
              <a:rPr sz="1050" b="0" i="0">
                <a:solidFill>
                  <a:srgbClr val="1A1A1A"/>
                </a:solidFill>
                <a:latin typeface="Abadi"/>
              </a:rPr>
              <a:t>BSEP and MRP2 fall; MRP2 is pulled off the canalicular membrane</a:t>
            </a:r>
          </a:p>
        </p:txBody>
      </p:sp>
      <p:sp>
        <p:nvSpPr>
          <p:cNvPr id="31" name="Isosceles Triangle 30"/>
          <p:cNvSpPr/>
          <p:nvPr/>
        </p:nvSpPr>
        <p:spPr>
          <a:xfrm rot="5400000">
            <a:off x="9412833" y="2962656"/>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04857" y="1874519"/>
            <a:ext cx="2035454"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96297" y="1874519"/>
            <a:ext cx="1852574" cy="310896"/>
          </a:xfrm>
          <a:prstGeom prst="rect">
            <a:avLst/>
          </a:prstGeom>
          <a:noFill/>
        </p:spPr>
        <p:txBody>
          <a:bodyPr wrap="square" lIns="0" rIns="0" tIns="18288" bIns="18288" anchor="ctr">
            <a:spAutoFit/>
          </a:bodyPr>
          <a:lstStyle/>
          <a:p>
            <a:pPr algn="l"/>
            <a:r>
              <a:rPr sz="1150" b="1" i="0">
                <a:solidFill>
                  <a:srgbClr val="FFFFFF"/>
                </a:solidFill>
                <a:latin typeface="Abadi"/>
              </a:rPr>
              <a:t>5 · Recovery</a:t>
            </a:r>
          </a:p>
        </p:txBody>
      </p:sp>
      <p:sp>
        <p:nvSpPr>
          <p:cNvPr id="34" name="Rectangle 33"/>
          <p:cNvSpPr/>
          <p:nvPr/>
        </p:nvSpPr>
        <p:spPr>
          <a:xfrm>
            <a:off x="9604857" y="2185415"/>
            <a:ext cx="2035454" cy="173736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14585" y="2276856"/>
            <a:ext cx="1815998" cy="1591056"/>
          </a:xfrm>
          <a:prstGeom prst="rect">
            <a:avLst/>
          </a:prstGeom>
          <a:noFill/>
        </p:spPr>
        <p:txBody>
          <a:bodyPr wrap="square" lIns="0" rIns="0" tIns="18288" bIns="18288" anchor="t">
            <a:spAutoFit/>
          </a:bodyPr>
          <a:lstStyle/>
          <a:p>
            <a:pPr algn="l"/>
            <a:r>
              <a:rPr sz="1050" b="0" i="0">
                <a:solidFill>
                  <a:srgbClr val="1A1A1A"/>
                </a:solidFill>
                <a:latin typeface="Abadi"/>
              </a:rPr>
              <a:t>MRP3 and MRP4 rise as an escape route; Ntcp recovers by 48 hours</a:t>
            </a:r>
          </a:p>
        </p:txBody>
      </p:sp>
      <p:sp>
        <p:nvSpPr>
          <p:cNvPr id="36" name="TextBox 35"/>
          <p:cNvSpPr txBox="1"/>
          <p:nvPr/>
        </p:nvSpPr>
        <p:spPr>
          <a:xfrm>
            <a:off x="548640" y="4160520"/>
            <a:ext cx="5394960" cy="1554480"/>
          </a:xfrm>
          <a:prstGeom prst="rect">
            <a:avLst/>
          </a:prstGeom>
          <a:noFill/>
        </p:spPr>
        <p:txBody>
          <a:bodyPr wrap="square" lIns="0" rIns="0" tIns="18288" bIns="18288" anchor="t">
            <a:spAutoFit/>
          </a:bodyPr>
          <a:lstStyle/>
          <a:p>
            <a:pPr algn="l"/>
            <a:r>
              <a:rPr sz="1200" b="1" i="0">
                <a:solidFill>
                  <a:srgbClr val="1B355E"/>
                </a:solidFill>
                <a:latin typeface="Abadi"/>
              </a:rPr>
              <a:t>Bacterial pattern  </a:t>
            </a:r>
            <a:r>
              <a:rPr sz="1200" b="0" i="0">
                <a:solidFill>
                  <a:srgbClr val="1A1A1A"/>
                </a:solidFill>
                <a:latin typeface="Abadi"/>
              </a:rPr>
              <a:t>Direct bilirubin rises with modest aminotransferases. The liver is intact; the transport machinery is down-regulated. Treat the infection and the bilirubin falls.</a:t>
            </a:r>
          </a:p>
        </p:txBody>
      </p:sp>
      <p:sp>
        <p:nvSpPr>
          <p:cNvPr id="37" name="TextBox 36"/>
          <p:cNvSpPr txBox="1"/>
          <p:nvPr/>
        </p:nvSpPr>
        <p:spPr>
          <a:xfrm>
            <a:off x="6245352" y="4160520"/>
            <a:ext cx="5394960" cy="1554480"/>
          </a:xfrm>
          <a:prstGeom prst="rect">
            <a:avLst/>
          </a:prstGeom>
          <a:noFill/>
        </p:spPr>
        <p:txBody>
          <a:bodyPr wrap="square" lIns="0" rIns="0" tIns="18288" bIns="18288" anchor="t">
            <a:spAutoFit/>
          </a:bodyPr>
          <a:lstStyle/>
          <a:p>
            <a:pPr algn="l"/>
            <a:r>
              <a:rPr sz="1200" b="1" i="0">
                <a:solidFill>
                  <a:srgbClr val="B22222"/>
                </a:solidFill>
                <a:latin typeface="Abadi"/>
              </a:rPr>
              <a:t>Viral pattern  </a:t>
            </a:r>
            <a:r>
              <a:rPr sz="1200" b="0" i="0">
                <a:solidFill>
                  <a:srgbClr val="1A1A1A"/>
                </a:solidFill>
                <a:latin typeface="Abadi"/>
              </a:rPr>
              <a:t>HSV and enteroviruses kill hepatocytes. In PALF infants under 90 days, median ALT was 618 and AST 2,863 IU/L in viral failure, against 35 and 84 IU/L in gestational alloimmune liver disease.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HOW OFTEN</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CMV LEADS, BACTERIA FOLLOW</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Infectious diagnoses among 194 of 1,692 infants with conjugated hyperbilirubinaemia, systematic review, % of infections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4</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Gottesman LE, Del Vecchio MT, Aronoff SC. BMC Pediatr 2015;15:192</a:t>
            </a:r>
          </a:p>
        </p:txBody>
      </p:sp>
      <p:sp>
        <p:nvSpPr>
          <p:cNvPr id="12" name="TextBox 11"/>
          <p:cNvSpPr txBox="1"/>
          <p:nvPr/>
        </p:nvSpPr>
        <p:spPr>
          <a:xfrm>
            <a:off x="548640" y="1783080"/>
            <a:ext cx="2971800" cy="356615"/>
          </a:xfrm>
          <a:prstGeom prst="rect">
            <a:avLst/>
          </a:prstGeom>
          <a:noFill/>
        </p:spPr>
        <p:txBody>
          <a:bodyPr wrap="square" lIns="0" rIns="0" tIns="18288" bIns="18288" anchor="ctr">
            <a:spAutoFit/>
          </a:bodyPr>
          <a:lstStyle/>
          <a:p>
            <a:pPr algn="r"/>
            <a:r>
              <a:rPr sz="1100" b="0" i="0">
                <a:solidFill>
                  <a:srgbClr val="1A1A1A"/>
                </a:solidFill>
                <a:latin typeface="Abadi"/>
              </a:rPr>
              <a:t>Cytomegalovirus</a:t>
            </a:r>
          </a:p>
        </p:txBody>
      </p:sp>
      <p:sp>
        <p:nvSpPr>
          <p:cNvPr id="13" name="Rectangle 12"/>
          <p:cNvSpPr/>
          <p:nvPr/>
        </p:nvSpPr>
        <p:spPr>
          <a:xfrm>
            <a:off x="3657600" y="1856231"/>
            <a:ext cx="3291840" cy="228599"/>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1783080"/>
            <a:ext cx="1005840" cy="356615"/>
          </a:xfrm>
          <a:prstGeom prst="rect">
            <a:avLst/>
          </a:prstGeom>
          <a:noFill/>
        </p:spPr>
        <p:txBody>
          <a:bodyPr wrap="square" lIns="0" rIns="0" tIns="18288" bIns="18288" anchor="ctr">
            <a:spAutoFit/>
          </a:bodyPr>
          <a:lstStyle/>
          <a:p>
            <a:pPr algn="l"/>
            <a:r>
              <a:rPr sz="1100" b="1" i="0">
                <a:solidFill>
                  <a:srgbClr val="1A1A1A"/>
                </a:solidFill>
                <a:latin typeface="Abadi"/>
              </a:rPr>
              <a:t>33.5%</a:t>
            </a:r>
          </a:p>
        </p:txBody>
      </p:sp>
      <p:sp>
        <p:nvSpPr>
          <p:cNvPr id="15" name="TextBox 14"/>
          <p:cNvSpPr txBox="1"/>
          <p:nvPr/>
        </p:nvSpPr>
        <p:spPr>
          <a:xfrm>
            <a:off x="548640" y="2212848"/>
            <a:ext cx="2971800" cy="356615"/>
          </a:xfrm>
          <a:prstGeom prst="rect">
            <a:avLst/>
          </a:prstGeom>
          <a:noFill/>
        </p:spPr>
        <p:txBody>
          <a:bodyPr wrap="square" lIns="0" rIns="0" tIns="18288" bIns="18288" anchor="ctr">
            <a:spAutoFit/>
          </a:bodyPr>
          <a:lstStyle/>
          <a:p>
            <a:pPr algn="r"/>
            <a:r>
              <a:rPr sz="1100" b="0" i="0">
                <a:solidFill>
                  <a:srgbClr val="1A1A1A"/>
                </a:solidFill>
                <a:latin typeface="Abadi"/>
              </a:rPr>
              <a:t>Bacterial sepsis</a:t>
            </a:r>
          </a:p>
        </p:txBody>
      </p:sp>
      <p:sp>
        <p:nvSpPr>
          <p:cNvPr id="16" name="Rectangle 15"/>
          <p:cNvSpPr/>
          <p:nvPr/>
        </p:nvSpPr>
        <p:spPr>
          <a:xfrm>
            <a:off x="3657600" y="2286000"/>
            <a:ext cx="2427117" cy="228599"/>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57869" y="2212848"/>
            <a:ext cx="1005840" cy="356615"/>
          </a:xfrm>
          <a:prstGeom prst="rect">
            <a:avLst/>
          </a:prstGeom>
          <a:noFill/>
        </p:spPr>
        <p:txBody>
          <a:bodyPr wrap="square" lIns="0" rIns="0" tIns="18288" bIns="18288" anchor="ctr">
            <a:spAutoFit/>
          </a:bodyPr>
          <a:lstStyle/>
          <a:p>
            <a:pPr algn="l"/>
            <a:r>
              <a:rPr sz="1100" b="1" i="0">
                <a:solidFill>
                  <a:srgbClr val="1A1A1A"/>
                </a:solidFill>
                <a:latin typeface="Abadi"/>
              </a:rPr>
              <a:t>24.7%</a:t>
            </a:r>
          </a:p>
        </p:txBody>
      </p:sp>
      <p:sp>
        <p:nvSpPr>
          <p:cNvPr id="18" name="TextBox 17"/>
          <p:cNvSpPr txBox="1"/>
          <p:nvPr/>
        </p:nvSpPr>
        <p:spPr>
          <a:xfrm>
            <a:off x="548640" y="2642615"/>
            <a:ext cx="2971800" cy="356615"/>
          </a:xfrm>
          <a:prstGeom prst="rect">
            <a:avLst/>
          </a:prstGeom>
          <a:noFill/>
        </p:spPr>
        <p:txBody>
          <a:bodyPr wrap="square" lIns="0" rIns="0" tIns="18288" bIns="18288" anchor="ctr">
            <a:spAutoFit/>
          </a:bodyPr>
          <a:lstStyle/>
          <a:p>
            <a:pPr algn="r"/>
            <a:r>
              <a:rPr sz="1100" b="0" i="0">
                <a:solidFill>
                  <a:srgbClr val="1A1A1A"/>
                </a:solidFill>
                <a:latin typeface="Abadi"/>
              </a:rPr>
              <a:t>Congenital syphilis</a:t>
            </a:r>
          </a:p>
        </p:txBody>
      </p:sp>
      <p:sp>
        <p:nvSpPr>
          <p:cNvPr id="19" name="Rectangle 18"/>
          <p:cNvSpPr/>
          <p:nvPr/>
        </p:nvSpPr>
        <p:spPr>
          <a:xfrm>
            <a:off x="3657600" y="2715768"/>
            <a:ext cx="1061249" cy="228599"/>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92001" y="2642615"/>
            <a:ext cx="1005840" cy="356615"/>
          </a:xfrm>
          <a:prstGeom prst="rect">
            <a:avLst/>
          </a:prstGeom>
          <a:noFill/>
        </p:spPr>
        <p:txBody>
          <a:bodyPr wrap="square" lIns="0" rIns="0" tIns="18288" bIns="18288" anchor="ctr">
            <a:spAutoFit/>
          </a:bodyPr>
          <a:lstStyle/>
          <a:p>
            <a:pPr algn="l"/>
            <a:r>
              <a:rPr sz="1100" b="1" i="0">
                <a:solidFill>
                  <a:srgbClr val="1A1A1A"/>
                </a:solidFill>
                <a:latin typeface="Abadi"/>
              </a:rPr>
              <a:t>10.8%</a:t>
            </a:r>
          </a:p>
        </p:txBody>
      </p:sp>
      <p:sp>
        <p:nvSpPr>
          <p:cNvPr id="21" name="TextBox 20"/>
          <p:cNvSpPr txBox="1"/>
          <p:nvPr/>
        </p:nvSpPr>
        <p:spPr>
          <a:xfrm>
            <a:off x="548640" y="3072384"/>
            <a:ext cx="2971800" cy="356615"/>
          </a:xfrm>
          <a:prstGeom prst="rect">
            <a:avLst/>
          </a:prstGeom>
          <a:noFill/>
        </p:spPr>
        <p:txBody>
          <a:bodyPr wrap="square" lIns="0" rIns="0" tIns="18288" bIns="18288" anchor="ctr">
            <a:spAutoFit/>
          </a:bodyPr>
          <a:lstStyle/>
          <a:p>
            <a:pPr algn="r"/>
            <a:r>
              <a:rPr sz="1100" b="0" i="0">
                <a:solidFill>
                  <a:srgbClr val="1A1A1A"/>
                </a:solidFill>
                <a:latin typeface="Abadi"/>
              </a:rPr>
              <a:t>E. coli urinary infection</a:t>
            </a:r>
          </a:p>
        </p:txBody>
      </p:sp>
      <p:sp>
        <p:nvSpPr>
          <p:cNvPr id="22" name="Rectangle 21"/>
          <p:cNvSpPr/>
          <p:nvPr/>
        </p:nvSpPr>
        <p:spPr>
          <a:xfrm>
            <a:off x="3657600" y="3145536"/>
            <a:ext cx="962986" cy="228599"/>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93738" y="3072384"/>
            <a:ext cx="1005840" cy="356615"/>
          </a:xfrm>
          <a:prstGeom prst="rect">
            <a:avLst/>
          </a:prstGeom>
          <a:noFill/>
        </p:spPr>
        <p:txBody>
          <a:bodyPr wrap="square" lIns="0" rIns="0" tIns="18288" bIns="18288" anchor="ctr">
            <a:spAutoFit/>
          </a:bodyPr>
          <a:lstStyle/>
          <a:p>
            <a:pPr algn="l"/>
            <a:r>
              <a:rPr sz="1100" b="1" i="0">
                <a:solidFill>
                  <a:srgbClr val="1A1A1A"/>
                </a:solidFill>
                <a:latin typeface="Abadi"/>
              </a:rPr>
              <a:t>9.8%</a:t>
            </a:r>
          </a:p>
        </p:txBody>
      </p:sp>
      <p:sp>
        <p:nvSpPr>
          <p:cNvPr id="24" name="TextBox 23"/>
          <p:cNvSpPr txBox="1"/>
          <p:nvPr/>
        </p:nvSpPr>
        <p:spPr>
          <a:xfrm>
            <a:off x="548640" y="3502152"/>
            <a:ext cx="2971800" cy="356615"/>
          </a:xfrm>
          <a:prstGeom prst="rect">
            <a:avLst/>
          </a:prstGeom>
          <a:noFill/>
        </p:spPr>
        <p:txBody>
          <a:bodyPr wrap="square" lIns="0" rIns="0" tIns="18288" bIns="18288" anchor="ctr">
            <a:spAutoFit/>
          </a:bodyPr>
          <a:lstStyle/>
          <a:p>
            <a:pPr algn="r"/>
            <a:r>
              <a:rPr sz="1100" b="0" i="0">
                <a:solidFill>
                  <a:srgbClr val="1A1A1A"/>
                </a:solidFill>
                <a:latin typeface="Abadi"/>
              </a:rPr>
              <a:t>Rubella</a:t>
            </a:r>
          </a:p>
        </p:txBody>
      </p:sp>
      <p:sp>
        <p:nvSpPr>
          <p:cNvPr id="25" name="Rectangle 24"/>
          <p:cNvSpPr/>
          <p:nvPr/>
        </p:nvSpPr>
        <p:spPr>
          <a:xfrm>
            <a:off x="3657600" y="3575304"/>
            <a:ext cx="609236" cy="228599"/>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39988" y="3502152"/>
            <a:ext cx="1005840" cy="356615"/>
          </a:xfrm>
          <a:prstGeom prst="rect">
            <a:avLst/>
          </a:prstGeom>
          <a:noFill/>
        </p:spPr>
        <p:txBody>
          <a:bodyPr wrap="square" lIns="0" rIns="0" tIns="18288" bIns="18288" anchor="ctr">
            <a:spAutoFit/>
          </a:bodyPr>
          <a:lstStyle/>
          <a:p>
            <a:pPr algn="l"/>
            <a:r>
              <a:rPr sz="1100" b="1" i="0">
                <a:solidFill>
                  <a:srgbClr val="1A1A1A"/>
                </a:solidFill>
                <a:latin typeface="Abadi"/>
              </a:rPr>
              <a:t>6.2%</a:t>
            </a:r>
          </a:p>
        </p:txBody>
      </p:sp>
      <p:sp>
        <p:nvSpPr>
          <p:cNvPr id="27" name="TextBox 26"/>
          <p:cNvSpPr txBox="1"/>
          <p:nvPr/>
        </p:nvSpPr>
        <p:spPr>
          <a:xfrm>
            <a:off x="548640" y="3931920"/>
            <a:ext cx="2971800" cy="356615"/>
          </a:xfrm>
          <a:prstGeom prst="rect">
            <a:avLst/>
          </a:prstGeom>
          <a:noFill/>
        </p:spPr>
        <p:txBody>
          <a:bodyPr wrap="square" lIns="0" rIns="0" tIns="18288" bIns="18288" anchor="ctr">
            <a:spAutoFit/>
          </a:bodyPr>
          <a:lstStyle/>
          <a:p>
            <a:pPr algn="r"/>
            <a:r>
              <a:rPr sz="1100" b="0" i="0">
                <a:solidFill>
                  <a:srgbClr val="1A1A1A"/>
                </a:solidFill>
                <a:latin typeface="Abadi"/>
              </a:rPr>
              <a:t>Toxoplasmosis</a:t>
            </a:r>
          </a:p>
        </p:txBody>
      </p:sp>
      <p:sp>
        <p:nvSpPr>
          <p:cNvPr id="28" name="Rectangle 27"/>
          <p:cNvSpPr/>
          <p:nvPr/>
        </p:nvSpPr>
        <p:spPr>
          <a:xfrm>
            <a:off x="3657600" y="4005072"/>
            <a:ext cx="353749" cy="228599"/>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84501" y="3931920"/>
            <a:ext cx="1005840" cy="356615"/>
          </a:xfrm>
          <a:prstGeom prst="rect">
            <a:avLst/>
          </a:prstGeom>
          <a:noFill/>
        </p:spPr>
        <p:txBody>
          <a:bodyPr wrap="square" lIns="0" rIns="0" tIns="18288" bIns="18288" anchor="ctr">
            <a:spAutoFit/>
          </a:bodyPr>
          <a:lstStyle/>
          <a:p>
            <a:pPr algn="l"/>
            <a:r>
              <a:rPr sz="1100" b="1" i="0">
                <a:solidFill>
                  <a:srgbClr val="1A1A1A"/>
                </a:solidFill>
                <a:latin typeface="Abadi"/>
              </a:rPr>
              <a:t>3.6%</a:t>
            </a:r>
          </a:p>
        </p:txBody>
      </p:sp>
      <p:sp>
        <p:nvSpPr>
          <p:cNvPr id="30" name="TextBox 29"/>
          <p:cNvSpPr txBox="1"/>
          <p:nvPr/>
        </p:nvSpPr>
        <p:spPr>
          <a:xfrm>
            <a:off x="548640" y="4361688"/>
            <a:ext cx="2971800" cy="356615"/>
          </a:xfrm>
          <a:prstGeom prst="rect">
            <a:avLst/>
          </a:prstGeom>
          <a:noFill/>
        </p:spPr>
        <p:txBody>
          <a:bodyPr wrap="square" lIns="0" rIns="0" tIns="18288" bIns="18288" anchor="ctr">
            <a:spAutoFit/>
          </a:bodyPr>
          <a:lstStyle/>
          <a:p>
            <a:pPr algn="r"/>
            <a:r>
              <a:rPr sz="1100" b="0" i="0">
                <a:solidFill>
                  <a:srgbClr val="1A1A1A"/>
                </a:solidFill>
                <a:latin typeface="Abadi"/>
              </a:rPr>
              <a:t>Hepatitis B</a:t>
            </a:r>
          </a:p>
        </p:txBody>
      </p:sp>
      <p:sp>
        <p:nvSpPr>
          <p:cNvPr id="31" name="Rectangle 30"/>
          <p:cNvSpPr/>
          <p:nvPr/>
        </p:nvSpPr>
        <p:spPr>
          <a:xfrm>
            <a:off x="3657600" y="4434840"/>
            <a:ext cx="157222" cy="228599"/>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87974" y="4361688"/>
            <a:ext cx="1005840" cy="356615"/>
          </a:xfrm>
          <a:prstGeom prst="rect">
            <a:avLst/>
          </a:prstGeom>
          <a:noFill/>
        </p:spPr>
        <p:txBody>
          <a:bodyPr wrap="square" lIns="0" rIns="0" tIns="18288" bIns="18288" anchor="ctr">
            <a:spAutoFit/>
          </a:bodyPr>
          <a:lstStyle/>
          <a:p>
            <a:pPr algn="l"/>
            <a:r>
              <a:rPr sz="1100" b="1" i="0">
                <a:solidFill>
                  <a:srgbClr val="1A1A1A"/>
                </a:solidFill>
                <a:latin typeface="Abadi"/>
              </a:rPr>
              <a:t>1.6%</a:t>
            </a:r>
          </a:p>
        </p:txBody>
      </p:sp>
      <p:sp>
        <p:nvSpPr>
          <p:cNvPr id="33" name="TextBox 32"/>
          <p:cNvSpPr txBox="1"/>
          <p:nvPr/>
        </p:nvSpPr>
        <p:spPr>
          <a:xfrm>
            <a:off x="548640" y="4791456"/>
            <a:ext cx="2971800" cy="356615"/>
          </a:xfrm>
          <a:prstGeom prst="rect">
            <a:avLst/>
          </a:prstGeom>
          <a:noFill/>
        </p:spPr>
        <p:txBody>
          <a:bodyPr wrap="square" lIns="0" rIns="0" tIns="18288" bIns="18288" anchor="ctr">
            <a:spAutoFit/>
          </a:bodyPr>
          <a:lstStyle/>
          <a:p>
            <a:pPr algn="r"/>
            <a:r>
              <a:rPr sz="1100" b="0" i="0">
                <a:solidFill>
                  <a:srgbClr val="1A1A1A"/>
                </a:solidFill>
                <a:latin typeface="Abadi"/>
              </a:rPr>
              <a:t>Herpes simplex</a:t>
            </a:r>
          </a:p>
        </p:txBody>
      </p:sp>
      <p:sp>
        <p:nvSpPr>
          <p:cNvPr id="34" name="Rectangle 33"/>
          <p:cNvSpPr/>
          <p:nvPr/>
        </p:nvSpPr>
        <p:spPr>
          <a:xfrm>
            <a:off x="3657600" y="4864608"/>
            <a:ext cx="98263" cy="228599"/>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29015" y="4791456"/>
            <a:ext cx="1005840" cy="356615"/>
          </a:xfrm>
          <a:prstGeom prst="rect">
            <a:avLst/>
          </a:prstGeom>
          <a:noFill/>
        </p:spPr>
        <p:txBody>
          <a:bodyPr wrap="square" lIns="0" rIns="0" tIns="18288" bIns="18288" anchor="ctr">
            <a:spAutoFit/>
          </a:bodyPr>
          <a:lstStyle/>
          <a:p>
            <a:pPr algn="l"/>
            <a:r>
              <a:rPr sz="1100" b="1" i="0">
                <a:solidFill>
                  <a:srgbClr val="1A1A1A"/>
                </a:solidFill>
                <a:latin typeface="Abadi"/>
              </a:rPr>
              <a:t>1%</a:t>
            </a:r>
          </a:p>
        </p:txBody>
      </p:sp>
      <p:sp>
        <p:nvSpPr>
          <p:cNvPr id="36" name="TextBox 35"/>
          <p:cNvSpPr txBox="1"/>
          <p:nvPr/>
        </p:nvSpPr>
        <p:spPr>
          <a:xfrm>
            <a:off x="548640" y="5221224"/>
            <a:ext cx="2971800" cy="356615"/>
          </a:xfrm>
          <a:prstGeom prst="rect">
            <a:avLst/>
          </a:prstGeom>
          <a:noFill/>
        </p:spPr>
        <p:txBody>
          <a:bodyPr wrap="square" lIns="0" rIns="0" tIns="18288" bIns="18288" anchor="ctr">
            <a:spAutoFit/>
          </a:bodyPr>
          <a:lstStyle/>
          <a:p>
            <a:pPr algn="r"/>
            <a:r>
              <a:rPr sz="1100" b="0" i="0">
                <a:solidFill>
                  <a:srgbClr val="1A1A1A"/>
                </a:solidFill>
                <a:latin typeface="Abadi"/>
              </a:rPr>
              <a:t>Other</a:t>
            </a:r>
          </a:p>
        </p:txBody>
      </p:sp>
      <p:sp>
        <p:nvSpPr>
          <p:cNvPr id="37" name="Rectangle 36"/>
          <p:cNvSpPr/>
          <p:nvPr/>
        </p:nvSpPr>
        <p:spPr>
          <a:xfrm>
            <a:off x="3657600" y="5294376"/>
            <a:ext cx="864722" cy="228599"/>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95474" y="5221224"/>
            <a:ext cx="1005840" cy="356615"/>
          </a:xfrm>
          <a:prstGeom prst="rect">
            <a:avLst/>
          </a:prstGeom>
          <a:noFill/>
        </p:spPr>
        <p:txBody>
          <a:bodyPr wrap="square" lIns="0" rIns="0" tIns="18288" bIns="18288" anchor="ctr">
            <a:spAutoFit/>
          </a:bodyPr>
          <a:lstStyle/>
          <a:p>
            <a:pPr algn="l"/>
            <a:r>
              <a:rPr sz="1100" b="1" i="0">
                <a:solidFill>
                  <a:srgbClr val="1A1A1A"/>
                </a:solidFill>
                <a:latin typeface="Abadi"/>
              </a:rPr>
              <a:t>8.8%</a:t>
            </a:r>
          </a:p>
        </p:txBody>
      </p:sp>
      <p:sp>
        <p:nvSpPr>
          <p:cNvPr id="39" name="TextBox 38"/>
          <p:cNvSpPr txBox="1"/>
          <p:nvPr/>
        </p:nvSpPr>
        <p:spPr>
          <a:xfrm>
            <a:off x="7680960" y="1828800"/>
            <a:ext cx="3931920" cy="3840480"/>
          </a:xfrm>
          <a:prstGeom prst="rect">
            <a:avLst/>
          </a:prstGeom>
          <a:noFill/>
        </p:spPr>
        <p:txBody>
          <a:bodyPr wrap="square" lIns="0" rIns="0" tIns="18288" bIns="18288" anchor="t">
            <a:spAutoFit/>
          </a:bodyPr>
          <a:lstStyle/>
          <a:p>
            <a:pPr algn="l">
              <a:spcAft>
                <a:spcPts val="300"/>
              </a:spcAft>
            </a:pPr>
            <a:r>
              <a:rPr sz="1700" b="1" i="0">
                <a:solidFill>
                  <a:srgbClr val="1B355E"/>
                </a:solidFill>
                <a:latin typeface="Abadi"/>
              </a:rPr>
              <a:t>11.5%</a:t>
            </a:r>
          </a:p>
          <a:p>
            <a:pPr algn="l">
              <a:spcAft>
                <a:spcPts val="300"/>
              </a:spcAft>
            </a:pPr>
            <a:r>
              <a:rPr sz="1100" b="0" i="0">
                <a:solidFill>
                  <a:srgbClr val="1A1A1A"/>
                </a:solidFill>
                <a:latin typeface="Abadi"/>
              </a:rPr>
              <a:t>Infection as a share of all 1,692 cholestatic infants: 194 cases.</a:t>
            </a:r>
          </a:p>
          <a:p>
            <a:pPr algn="l">
              <a:spcAft>
                <a:spcPts val="300"/>
              </a:spcAft>
            </a:pPr>
            <a:r>
              <a:rPr sz="1700" b="1" i="0">
                <a:solidFill>
                  <a:srgbClr val="1B355E"/>
                </a:solidFill>
                <a:latin typeface="Abadi"/>
              </a:rPr>
              <a:t>3.8%</a:t>
            </a:r>
          </a:p>
          <a:p>
            <a:pPr algn="l">
              <a:spcAft>
                <a:spcPts val="300"/>
              </a:spcAft>
            </a:pPr>
            <a:r>
              <a:rPr sz="1100" b="0" i="0">
                <a:solidFill>
                  <a:srgbClr val="1A1A1A"/>
                </a:solidFill>
                <a:latin typeface="Abadi"/>
              </a:rPr>
              <a:t>CMV as a share of all cholestatic infants (65 of 1,692).</a:t>
            </a:r>
          </a:p>
          <a:p>
            <a:pPr algn="l">
              <a:spcAft>
                <a:spcPts val="300"/>
              </a:spcAft>
            </a:pPr>
            <a:r>
              <a:rPr sz="1700" b="1" i="0">
                <a:solidFill>
                  <a:srgbClr val="1B355E"/>
                </a:solidFill>
                <a:latin typeface="Abadi"/>
              </a:rPr>
              <a:t>About 45%</a:t>
            </a:r>
          </a:p>
          <a:p>
            <a:pPr algn="l">
              <a:spcAft>
                <a:spcPts val="300"/>
              </a:spcAft>
            </a:pPr>
            <a:r>
              <a:rPr sz="1100" b="0" i="0">
                <a:solidFill>
                  <a:srgbClr val="1A1A1A"/>
                </a:solidFill>
                <a:latin typeface="Abadi"/>
              </a:rPr>
              <a:t>Bacterial: sepsis, urinary infection and syphilis together, the group that is curable this week.</a:t>
            </a:r>
          </a:p>
          <a:p>
            <a:pPr algn="l">
              <a:spcAft>
                <a:spcPts val="300"/>
              </a:spcAft>
            </a:pPr>
            <a:r>
              <a:rPr sz="1700" b="1" i="0">
                <a:solidFill>
                  <a:srgbClr val="1B355E"/>
                </a:solidFill>
                <a:latin typeface="Abadi"/>
              </a:rPr>
              <a:t>1%</a:t>
            </a:r>
          </a:p>
          <a:p>
            <a:pPr algn="l">
              <a:spcAft>
                <a:spcPts val="300"/>
              </a:spcAft>
            </a:pPr>
            <a:r>
              <a:rPr sz="1100" b="0" i="0">
                <a:solidFill>
                  <a:srgbClr val="1A1A1A"/>
                </a:solidFill>
                <a:latin typeface="Abadi"/>
              </a:rPr>
              <a:t>HSV is rare in cholestasis series because it presents as liver failure, not as prolonged jaundice.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URINARY INFECTION</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THE WELL-LOOKING INFANT WITH BACTERIURIA</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Prevalence of urinary infection in afebrile jaundiced infants depends on where, and how, you look</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5</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Garcia FJ, Pediatrics 2002;109:846–51 · Bilgen H, Turk J Pediatr 2006;48:51–5 · Steadman S, Arch Dis Child 2016;101:614–9 · Kemper AR, Pediatrics 2022</a:t>
            </a:r>
          </a:p>
        </p:txBody>
      </p:sp>
      <p:sp>
        <p:nvSpPr>
          <p:cNvPr id="12" name="Rectangle 11"/>
          <p:cNvSpPr/>
          <p:nvPr/>
        </p:nvSpPr>
        <p:spPr>
          <a:xfrm>
            <a:off x="548640" y="1810512"/>
            <a:ext cx="2567178" cy="19659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810512"/>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30552"/>
            <a:ext cx="2292858" cy="777240"/>
          </a:xfrm>
          <a:prstGeom prst="rect">
            <a:avLst/>
          </a:prstGeom>
          <a:noFill/>
        </p:spPr>
        <p:txBody>
          <a:bodyPr wrap="square" lIns="0" rIns="0" tIns="18288" bIns="18288" anchor="t">
            <a:spAutoFit/>
          </a:bodyPr>
          <a:lstStyle/>
          <a:p>
            <a:pPr algn="l"/>
            <a:r>
              <a:rPr sz="2800" b="1" i="0">
                <a:solidFill>
                  <a:srgbClr val="1B355E"/>
                </a:solidFill>
                <a:latin typeface="Abadi"/>
              </a:rPr>
              <a:t>7.5%</a:t>
            </a:r>
          </a:p>
        </p:txBody>
      </p:sp>
      <p:sp>
        <p:nvSpPr>
          <p:cNvPr id="15" name="TextBox 14"/>
          <p:cNvSpPr txBox="1"/>
          <p:nvPr/>
        </p:nvSpPr>
        <p:spPr>
          <a:xfrm>
            <a:off x="685800" y="2980944"/>
            <a:ext cx="2292858" cy="731519"/>
          </a:xfrm>
          <a:prstGeom prst="rect">
            <a:avLst/>
          </a:prstGeom>
          <a:noFill/>
        </p:spPr>
        <p:txBody>
          <a:bodyPr wrap="square" lIns="0" rIns="0" tIns="18288" bIns="18288" anchor="t">
            <a:spAutoFit/>
          </a:bodyPr>
          <a:lstStyle/>
          <a:p>
            <a:pPr algn="l"/>
            <a:r>
              <a:rPr sz="1100" b="0" i="0">
                <a:solidFill>
                  <a:srgbClr val="1A1A1A"/>
                </a:solidFill>
                <a:latin typeface="Abadi"/>
              </a:rPr>
              <a:t>Afebrile jaundiced infants under 8 weeks with urinary infection; higher when the direct fraction was raised (Garcia 2002)</a:t>
            </a:r>
          </a:p>
        </p:txBody>
      </p:sp>
      <p:sp>
        <p:nvSpPr>
          <p:cNvPr id="16" name="Rectangle 15"/>
          <p:cNvSpPr/>
          <p:nvPr/>
        </p:nvSpPr>
        <p:spPr>
          <a:xfrm>
            <a:off x="3390138" y="1810512"/>
            <a:ext cx="2567178" cy="19659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810512"/>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130552"/>
            <a:ext cx="2292858" cy="777240"/>
          </a:xfrm>
          <a:prstGeom prst="rect">
            <a:avLst/>
          </a:prstGeom>
          <a:noFill/>
        </p:spPr>
        <p:txBody>
          <a:bodyPr wrap="square" lIns="0" rIns="0" tIns="18288" bIns="18288" anchor="t">
            <a:spAutoFit/>
          </a:bodyPr>
          <a:lstStyle/>
          <a:p>
            <a:pPr algn="l"/>
            <a:r>
              <a:rPr sz="2800" b="1" i="0">
                <a:solidFill>
                  <a:srgbClr val="1B355E"/>
                </a:solidFill>
                <a:latin typeface="Abadi"/>
              </a:rPr>
              <a:t>8 of 102</a:t>
            </a:r>
          </a:p>
        </p:txBody>
      </p:sp>
      <p:sp>
        <p:nvSpPr>
          <p:cNvPr id="19" name="TextBox 18"/>
          <p:cNvSpPr txBox="1"/>
          <p:nvPr/>
        </p:nvSpPr>
        <p:spPr>
          <a:xfrm>
            <a:off x="3527298" y="2980944"/>
            <a:ext cx="2292858" cy="731519"/>
          </a:xfrm>
          <a:prstGeom prst="rect">
            <a:avLst/>
          </a:prstGeom>
          <a:noFill/>
        </p:spPr>
        <p:txBody>
          <a:bodyPr wrap="square" lIns="0" rIns="0" tIns="18288" bIns="18288" anchor="t">
            <a:spAutoFit/>
          </a:bodyPr>
          <a:lstStyle/>
          <a:p>
            <a:pPr algn="l"/>
            <a:r>
              <a:rPr sz="1100" b="0" i="0">
                <a:solidFill>
                  <a:srgbClr val="1A1A1A"/>
                </a:solidFill>
                <a:latin typeface="Abadi"/>
              </a:rPr>
              <a:t>Well term newborns with indirect hyperbilirubinaemia and catheter-proven infection (Bilgen 2006)</a:t>
            </a:r>
          </a:p>
        </p:txBody>
      </p:sp>
      <p:sp>
        <p:nvSpPr>
          <p:cNvPr id="20" name="Rectangle 19"/>
          <p:cNvSpPr/>
          <p:nvPr/>
        </p:nvSpPr>
        <p:spPr>
          <a:xfrm>
            <a:off x="6231636" y="1810512"/>
            <a:ext cx="2567178" cy="19659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810512"/>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130552"/>
            <a:ext cx="2292858" cy="777240"/>
          </a:xfrm>
          <a:prstGeom prst="rect">
            <a:avLst/>
          </a:prstGeom>
          <a:noFill/>
        </p:spPr>
        <p:txBody>
          <a:bodyPr wrap="square" lIns="0" rIns="0" tIns="18288" bIns="18288" anchor="t">
            <a:spAutoFit/>
          </a:bodyPr>
          <a:lstStyle/>
          <a:p>
            <a:pPr algn="l"/>
            <a:r>
              <a:rPr sz="2800" b="1" i="0">
                <a:solidFill>
                  <a:srgbClr val="1B355E"/>
                </a:solidFill>
                <a:latin typeface="Abadi"/>
              </a:rPr>
              <a:t>0.21%</a:t>
            </a:r>
          </a:p>
        </p:txBody>
      </p:sp>
      <p:sp>
        <p:nvSpPr>
          <p:cNvPr id="23" name="TextBox 22"/>
          <p:cNvSpPr txBox="1"/>
          <p:nvPr/>
        </p:nvSpPr>
        <p:spPr>
          <a:xfrm>
            <a:off x="6368796" y="2980944"/>
            <a:ext cx="2292858" cy="731519"/>
          </a:xfrm>
          <a:prstGeom prst="rect">
            <a:avLst/>
          </a:prstGeom>
          <a:noFill/>
        </p:spPr>
        <p:txBody>
          <a:bodyPr wrap="square" lIns="0" rIns="0" tIns="18288" bIns="18288" anchor="t">
            <a:spAutoFit/>
          </a:bodyPr>
          <a:lstStyle/>
          <a:p>
            <a:pPr algn="l"/>
            <a:r>
              <a:rPr sz="1100" b="0" i="0">
                <a:solidFill>
                  <a:srgbClr val="1A1A1A"/>
                </a:solidFill>
                <a:latin typeface="Abadi"/>
              </a:rPr>
              <a:t>Pooled UK prevalence in well infants with prolonged jaundice; 0 of 279 locally (Steadman 2016)</a:t>
            </a:r>
          </a:p>
        </p:txBody>
      </p:sp>
      <p:sp>
        <p:nvSpPr>
          <p:cNvPr id="24" name="Rectangle 23"/>
          <p:cNvSpPr/>
          <p:nvPr/>
        </p:nvSpPr>
        <p:spPr>
          <a:xfrm>
            <a:off x="9073134" y="1810512"/>
            <a:ext cx="2567178" cy="19659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810512"/>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130552"/>
            <a:ext cx="2292858" cy="777240"/>
          </a:xfrm>
          <a:prstGeom prst="rect">
            <a:avLst/>
          </a:prstGeom>
          <a:noFill/>
        </p:spPr>
        <p:txBody>
          <a:bodyPr wrap="square" lIns="0" rIns="0" tIns="18288" bIns="18288" anchor="t">
            <a:spAutoFit/>
          </a:bodyPr>
          <a:lstStyle/>
          <a:p>
            <a:pPr algn="l"/>
            <a:r>
              <a:rPr sz="2800" b="1" i="0">
                <a:solidFill>
                  <a:srgbClr val="1B355E"/>
                </a:solidFill>
                <a:latin typeface="Abadi"/>
              </a:rPr>
              <a:t>8.21%</a:t>
            </a:r>
          </a:p>
        </p:txBody>
      </p:sp>
      <p:sp>
        <p:nvSpPr>
          <p:cNvPr id="27" name="TextBox 26"/>
          <p:cNvSpPr txBox="1"/>
          <p:nvPr/>
        </p:nvSpPr>
        <p:spPr>
          <a:xfrm>
            <a:off x="9210294" y="2980944"/>
            <a:ext cx="2292858" cy="731519"/>
          </a:xfrm>
          <a:prstGeom prst="rect">
            <a:avLst/>
          </a:prstGeom>
          <a:noFill/>
        </p:spPr>
        <p:txBody>
          <a:bodyPr wrap="square" lIns="0" rIns="0" tIns="18288" bIns="18288" anchor="t">
            <a:spAutoFit/>
          </a:bodyPr>
          <a:lstStyle/>
          <a:p>
            <a:pPr algn="l"/>
            <a:r>
              <a:rPr sz="1100" b="0" i="0">
                <a:solidFill>
                  <a:srgbClr val="1A1A1A"/>
                </a:solidFill>
                <a:latin typeface="Abadi"/>
              </a:rPr>
              <a:t>Pooled prevalence outside the UK in the same meta-analysis</a:t>
            </a:r>
          </a:p>
        </p:txBody>
      </p:sp>
      <p:sp>
        <p:nvSpPr>
          <p:cNvPr id="28" name="TextBox 27"/>
          <p:cNvSpPr txBox="1"/>
          <p:nvPr/>
        </p:nvSpPr>
        <p:spPr>
          <a:xfrm>
            <a:off x="548640" y="4023360"/>
            <a:ext cx="11091672" cy="1737360"/>
          </a:xfrm>
          <a:prstGeom prst="rect">
            <a:avLst/>
          </a:prstGeom>
          <a:noFill/>
        </p:spPr>
        <p:txBody>
          <a:bodyPr wrap="square" lIns="0" rIns="0" tIns="18288" bIns="18288" anchor="t">
            <a:spAutoFit/>
          </a:bodyPr>
          <a:lstStyle/>
          <a:p>
            <a:pPr algn="l">
              <a:spcAft>
                <a:spcPts val="600"/>
              </a:spcAft>
            </a:pPr>
            <a:r>
              <a:rPr sz="1250" b="1" i="0">
                <a:solidFill>
                  <a:srgbClr val="1B355E"/>
                </a:solidFill>
                <a:latin typeface="Abadi"/>
              </a:rPr>
              <a:t>Why the numbers differ.  </a:t>
            </a:r>
            <a:r>
              <a:rPr sz="1250" b="0" i="0">
                <a:solidFill>
                  <a:srgbClr val="1A1A1A"/>
                </a:solidFill>
                <a:latin typeface="Abadi"/>
              </a:rPr>
              <a:t>Bag specimens, loose colony-count thresholds and selected referral populations inflate prevalence; catheter samples with pyuria and a single organism shrink it.</a:t>
            </a:r>
          </a:p>
          <a:p>
            <a:pPr algn="l">
              <a:spcAft>
                <a:spcPts val="600"/>
              </a:spcAft>
            </a:pPr>
            <a:r>
              <a:rPr sz="1250" b="1" i="0">
                <a:solidFill>
                  <a:srgbClr val="1B355E"/>
                </a:solidFill>
                <a:latin typeface="Abadi"/>
              </a:rPr>
              <a:t>What the documents say.  </a:t>
            </a:r>
            <a:r>
              <a:rPr sz="1250" b="0" i="0">
                <a:solidFill>
                  <a:srgbClr val="1A1A1A"/>
                </a:solidFill>
                <a:latin typeface="Abadi"/>
              </a:rPr>
              <a:t>The 2017 NASPGHAN/ESPGHAN guideline: a urine culture should be obtained early in the evaluation. The 2004 AAP guideline asked for urinalysis and culture when the direct bilirubin was raised; the 2022 AAP revision no longer mentions urine testing.</a:t>
            </a:r>
          </a:p>
          <a:p>
            <a:pPr algn="l">
              <a:spcAft>
                <a:spcPts val="600"/>
              </a:spcAft>
            </a:pPr>
            <a:r>
              <a:rPr sz="1250" b="1" i="0">
                <a:solidFill>
                  <a:srgbClr val="1B355E"/>
                </a:solidFill>
                <a:latin typeface="Abadi"/>
              </a:rPr>
              <a:t>Practice.  </a:t>
            </a:r>
            <a:r>
              <a:rPr sz="1250" b="0" i="0">
                <a:solidFill>
                  <a:srgbClr val="1A1A1A"/>
                </a:solidFill>
                <a:latin typeface="Abadi"/>
              </a:rPr>
              <a:t>In a cholestatic infant, send a catheter urine. It is cheap, and a positive culture also points to galactosemia.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CONGENITAL CMV</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THE COMMONEST INFECTION, THE HARDEST TO DATE</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Congenital infection can be proven only from a sample taken in the first three weeks of life</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6</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Fawaz 2017 · Leruez-Ville M, Lancet Reg Health Eur 2024;40:100892 · Rawlinson WD, Lancet Infect Dis 2017;17:e177–88 · Kimberlin 2015</a:t>
            </a:r>
          </a:p>
        </p:txBody>
      </p:sp>
      <p:sp>
        <p:nvSpPr>
          <p:cNvPr id="12" name="Rectangle 11"/>
          <p:cNvSpPr/>
          <p:nvPr/>
        </p:nvSpPr>
        <p:spPr>
          <a:xfrm>
            <a:off x="548640" y="1810512"/>
            <a:ext cx="2567178" cy="19659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810512"/>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30552"/>
            <a:ext cx="2292858" cy="777240"/>
          </a:xfrm>
          <a:prstGeom prst="rect">
            <a:avLst/>
          </a:prstGeom>
          <a:noFill/>
        </p:spPr>
        <p:txBody>
          <a:bodyPr wrap="square" lIns="0" rIns="0" tIns="18288" bIns="18288" anchor="t">
            <a:spAutoFit/>
          </a:bodyPr>
          <a:lstStyle/>
          <a:p>
            <a:pPr algn="l"/>
            <a:r>
              <a:rPr sz="2800" b="1" i="0">
                <a:solidFill>
                  <a:srgbClr val="1B355E"/>
                </a:solidFill>
                <a:latin typeface="Abadi"/>
              </a:rPr>
              <a:t>1–2%</a:t>
            </a:r>
          </a:p>
        </p:txBody>
      </p:sp>
      <p:sp>
        <p:nvSpPr>
          <p:cNvPr id="15" name="TextBox 14"/>
          <p:cNvSpPr txBox="1"/>
          <p:nvPr/>
        </p:nvSpPr>
        <p:spPr>
          <a:xfrm>
            <a:off x="685800" y="2980944"/>
            <a:ext cx="2292858" cy="731519"/>
          </a:xfrm>
          <a:prstGeom prst="rect">
            <a:avLst/>
          </a:prstGeom>
          <a:noFill/>
        </p:spPr>
        <p:txBody>
          <a:bodyPr wrap="square" lIns="0" rIns="0" tIns="18288" bIns="18288" anchor="t">
            <a:spAutoFit/>
          </a:bodyPr>
          <a:lstStyle/>
          <a:p>
            <a:pPr algn="l"/>
            <a:r>
              <a:rPr sz="1100" b="0" i="0">
                <a:solidFill>
                  <a:srgbClr val="1A1A1A"/>
                </a:solidFill>
                <a:latin typeface="Abadi"/>
              </a:rPr>
              <a:t>Newborns infected with CMV (Fawaz 2017); about 0.64% in the 2024 European consensus estimate. Most are asymptomatic.</a:t>
            </a:r>
          </a:p>
        </p:txBody>
      </p:sp>
      <p:sp>
        <p:nvSpPr>
          <p:cNvPr id="16" name="Rectangle 15"/>
          <p:cNvSpPr/>
          <p:nvPr/>
        </p:nvSpPr>
        <p:spPr>
          <a:xfrm>
            <a:off x="3390138" y="1810512"/>
            <a:ext cx="2567178" cy="19659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810512"/>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130552"/>
            <a:ext cx="2292858" cy="777240"/>
          </a:xfrm>
          <a:prstGeom prst="rect">
            <a:avLst/>
          </a:prstGeom>
          <a:noFill/>
        </p:spPr>
        <p:txBody>
          <a:bodyPr wrap="square" lIns="0" rIns="0" tIns="18288" bIns="18288" anchor="t">
            <a:spAutoFit/>
          </a:bodyPr>
          <a:lstStyle/>
          <a:p>
            <a:pPr algn="l"/>
            <a:r>
              <a:rPr sz="2800" b="1" i="0">
                <a:solidFill>
                  <a:srgbClr val="1B355E"/>
                </a:solidFill>
                <a:latin typeface="Abadi"/>
              </a:rPr>
              <a:t>45–51%</a:t>
            </a:r>
          </a:p>
        </p:txBody>
      </p:sp>
      <p:sp>
        <p:nvSpPr>
          <p:cNvPr id="19" name="TextBox 18"/>
          <p:cNvSpPr txBox="1"/>
          <p:nvPr/>
        </p:nvSpPr>
        <p:spPr>
          <a:xfrm>
            <a:off x="3527298" y="2980944"/>
            <a:ext cx="2292858" cy="731519"/>
          </a:xfrm>
          <a:prstGeom prst="rect">
            <a:avLst/>
          </a:prstGeom>
          <a:noFill/>
        </p:spPr>
        <p:txBody>
          <a:bodyPr wrap="square" lIns="0" rIns="0" tIns="18288" bIns="18288" anchor="t">
            <a:spAutoFit/>
          </a:bodyPr>
          <a:lstStyle/>
          <a:p>
            <a:pPr algn="l"/>
            <a:r>
              <a:rPr sz="1100" b="0" i="0">
                <a:solidFill>
                  <a:srgbClr val="1A1A1A"/>
                </a:solidFill>
                <a:latin typeface="Abadi"/>
              </a:rPr>
              <a:t>Symptomatic infants in the 2015 valganciclovir trial with hepatitis at entry; 43–55% had hepatomegaly</a:t>
            </a:r>
          </a:p>
        </p:txBody>
      </p:sp>
      <p:sp>
        <p:nvSpPr>
          <p:cNvPr id="20" name="Rectangle 19"/>
          <p:cNvSpPr/>
          <p:nvPr/>
        </p:nvSpPr>
        <p:spPr>
          <a:xfrm>
            <a:off x="6231636" y="1810512"/>
            <a:ext cx="2567178" cy="19659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810512"/>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130552"/>
            <a:ext cx="2292858" cy="777240"/>
          </a:xfrm>
          <a:prstGeom prst="rect">
            <a:avLst/>
          </a:prstGeom>
          <a:noFill/>
        </p:spPr>
        <p:txBody>
          <a:bodyPr wrap="square" lIns="0" rIns="0" tIns="18288" bIns="18288" anchor="t">
            <a:spAutoFit/>
          </a:bodyPr>
          <a:lstStyle/>
          <a:p>
            <a:pPr algn="l"/>
            <a:r>
              <a:rPr sz="2800" b="1" i="0">
                <a:solidFill>
                  <a:srgbClr val="1B355E"/>
                </a:solidFill>
                <a:latin typeface="Abadi"/>
              </a:rPr>
              <a:t>21 days</a:t>
            </a:r>
          </a:p>
        </p:txBody>
      </p:sp>
      <p:sp>
        <p:nvSpPr>
          <p:cNvPr id="23" name="TextBox 22"/>
          <p:cNvSpPr txBox="1"/>
          <p:nvPr/>
        </p:nvSpPr>
        <p:spPr>
          <a:xfrm>
            <a:off x="6368796" y="2980944"/>
            <a:ext cx="2292858" cy="731519"/>
          </a:xfrm>
          <a:prstGeom prst="rect">
            <a:avLst/>
          </a:prstGeom>
          <a:noFill/>
        </p:spPr>
        <p:txBody>
          <a:bodyPr wrap="square" lIns="0" rIns="0" tIns="18288" bIns="18288" anchor="t">
            <a:spAutoFit/>
          </a:bodyPr>
          <a:lstStyle/>
          <a:p>
            <a:pPr algn="l"/>
            <a:r>
              <a:rPr sz="1100" b="0" i="0">
                <a:solidFill>
                  <a:srgbClr val="1A1A1A"/>
                </a:solidFill>
                <a:latin typeface="Abadi"/>
              </a:rPr>
              <a:t>Window in which a positive urine or saliva PCR proves congenital, not postnatal, infection</a:t>
            </a:r>
          </a:p>
        </p:txBody>
      </p:sp>
      <p:sp>
        <p:nvSpPr>
          <p:cNvPr id="24" name="Rectangle 23"/>
          <p:cNvSpPr/>
          <p:nvPr/>
        </p:nvSpPr>
        <p:spPr>
          <a:xfrm>
            <a:off x="9073134" y="1810512"/>
            <a:ext cx="2567178" cy="19659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810512"/>
            <a:ext cx="2567178" cy="12801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130552"/>
            <a:ext cx="2292858" cy="777240"/>
          </a:xfrm>
          <a:prstGeom prst="rect">
            <a:avLst/>
          </a:prstGeom>
          <a:noFill/>
        </p:spPr>
        <p:txBody>
          <a:bodyPr wrap="square" lIns="0" rIns="0" tIns="18288" bIns="18288" anchor="t">
            <a:spAutoFit/>
          </a:bodyPr>
          <a:lstStyle/>
          <a:p>
            <a:pPr algn="l"/>
            <a:r>
              <a:rPr sz="2800" b="1" i="0">
                <a:solidFill>
                  <a:srgbClr val="1B355E"/>
                </a:solidFill>
                <a:latin typeface="Abadi"/>
              </a:rPr>
              <a:t>IgM</a:t>
            </a:r>
          </a:p>
        </p:txBody>
      </p:sp>
      <p:sp>
        <p:nvSpPr>
          <p:cNvPr id="27" name="TextBox 26"/>
          <p:cNvSpPr txBox="1"/>
          <p:nvPr/>
        </p:nvSpPr>
        <p:spPr>
          <a:xfrm>
            <a:off x="9210294" y="2980944"/>
            <a:ext cx="2292858" cy="731519"/>
          </a:xfrm>
          <a:prstGeom prst="rect">
            <a:avLst/>
          </a:prstGeom>
          <a:noFill/>
        </p:spPr>
        <p:txBody>
          <a:bodyPr wrap="square" lIns="0" rIns="0" tIns="18288" bIns="18288" anchor="t">
            <a:spAutoFit/>
          </a:bodyPr>
          <a:lstStyle/>
          <a:p>
            <a:pPr algn="l"/>
            <a:r>
              <a:rPr sz="1100" b="0" i="0">
                <a:solidFill>
                  <a:srgbClr val="1A1A1A"/>
                </a:solidFill>
                <a:latin typeface="Abadi"/>
              </a:rPr>
              <a:t>Of limited value for diagnosis in the 2017 guideline; PCR on urine is the test</a:t>
            </a:r>
          </a:p>
        </p:txBody>
      </p:sp>
      <p:sp>
        <p:nvSpPr>
          <p:cNvPr id="28" name="TextBox 27"/>
          <p:cNvSpPr txBox="1"/>
          <p:nvPr/>
        </p:nvSpPr>
        <p:spPr>
          <a:xfrm>
            <a:off x="548640" y="4023360"/>
            <a:ext cx="11091672" cy="1737360"/>
          </a:xfrm>
          <a:prstGeom prst="rect">
            <a:avLst/>
          </a:prstGeom>
          <a:noFill/>
        </p:spPr>
        <p:txBody>
          <a:bodyPr wrap="square" lIns="0" rIns="0" tIns="18288" bIns="18288" anchor="t">
            <a:spAutoFit/>
          </a:bodyPr>
          <a:lstStyle/>
          <a:p>
            <a:pPr algn="l">
              <a:spcAft>
                <a:spcPts val="600"/>
              </a:spcAft>
            </a:pPr>
            <a:r>
              <a:rPr sz="1250" b="1" i="0">
                <a:solidFill>
                  <a:srgbClr val="1B355E"/>
                </a:solidFill>
                <a:latin typeface="Abadi"/>
              </a:rPr>
              <a:t>The dating problem.  </a:t>
            </a:r>
            <a:r>
              <a:rPr sz="1250" b="0" i="0">
                <a:solidFill>
                  <a:srgbClr val="1A1A1A"/>
                </a:solidFill>
                <a:latin typeface="Abadi"/>
              </a:rPr>
              <a:t>Cholestatic infants are usually seen at four to eight weeks, when breast milk and transfusion can already have caused postnatal infection. A positive urine PCR at six weeks does not prove congenital CMV.</a:t>
            </a:r>
          </a:p>
          <a:p>
            <a:pPr algn="l">
              <a:spcAft>
                <a:spcPts val="600"/>
              </a:spcAft>
            </a:pPr>
            <a:r>
              <a:rPr sz="1250" b="1" i="0">
                <a:solidFill>
                  <a:srgbClr val="1B355E"/>
                </a:solidFill>
                <a:latin typeface="Abadi"/>
              </a:rPr>
              <a:t>The retrospective fix.  </a:t>
            </a:r>
            <a:r>
              <a:rPr sz="1250" b="0" i="0">
                <a:solidFill>
                  <a:srgbClr val="1A1A1A"/>
                </a:solidFill>
                <a:latin typeface="Abadi"/>
              </a:rPr>
              <a:t>PCR on the stored newborn dried blood spot. A positive result dates the infection; a negative one does not exclude it, because the spot has limited sensitivity.</a:t>
            </a:r>
          </a:p>
          <a:p>
            <a:pPr algn="l">
              <a:spcAft>
                <a:spcPts val="600"/>
              </a:spcAft>
            </a:pPr>
            <a:r>
              <a:rPr sz="1250" b="1" i="0">
                <a:solidFill>
                  <a:srgbClr val="1B355E"/>
                </a:solidFill>
                <a:latin typeface="Abadi"/>
              </a:rPr>
              <a:t>Saliva first, urine to confirm.  </a:t>
            </a:r>
            <a:r>
              <a:rPr sz="1250" b="0" i="0">
                <a:solidFill>
                  <a:srgbClr val="1A1A1A"/>
                </a:solidFill>
                <a:latin typeface="Abadi"/>
              </a:rPr>
              <a:t>Saliva PCR is sensitive, but a positive saliva result in a breastfed infant should be confirmed in urine.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CMV TREATMENT</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SIX MONTHS BEAT SIX WEEKS, FOR HEARING</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Total-ear hearing improved or normal, oral valganciclovir 6 months vs 6 weeks, symptomatic congenital CMV, n = 86 evaluable</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7</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Kimberlin DW, et al. NEJM 2015;372:933–43 · Kimberlin DW, et al. J Pediatr 2003;143:16–25 · Rawlinson 2017</a:t>
            </a:r>
          </a:p>
        </p:txBody>
      </p:sp>
      <p:sp>
        <p:nvSpPr>
          <p:cNvPr id="12" name="Rectangle 11"/>
          <p:cNvSpPr/>
          <p:nvPr/>
        </p:nvSpPr>
        <p:spPr>
          <a:xfrm>
            <a:off x="548640" y="1847088"/>
            <a:ext cx="137160" cy="1371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801368"/>
            <a:ext cx="2377440" cy="228600"/>
          </a:xfrm>
          <a:prstGeom prst="rect">
            <a:avLst/>
          </a:prstGeom>
          <a:noFill/>
        </p:spPr>
        <p:txBody>
          <a:bodyPr wrap="square" lIns="0" rIns="0" tIns="18288" bIns="18288" anchor="t">
            <a:spAutoFit/>
          </a:bodyPr>
          <a:lstStyle/>
          <a:p>
            <a:pPr algn="l"/>
            <a:r>
              <a:rPr sz="950" b="0" i="0">
                <a:solidFill>
                  <a:srgbClr val="1A1A1A"/>
                </a:solidFill>
                <a:latin typeface="Abadi"/>
              </a:rPr>
              <a:t>6 months of valganciclovir</a:t>
            </a:r>
          </a:p>
        </p:txBody>
      </p:sp>
      <p:sp>
        <p:nvSpPr>
          <p:cNvPr id="14" name="Rectangle 13"/>
          <p:cNvSpPr/>
          <p:nvPr/>
        </p:nvSpPr>
        <p:spPr>
          <a:xfrm>
            <a:off x="2971800" y="1847088"/>
            <a:ext cx="137160" cy="1371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72968" y="1801368"/>
            <a:ext cx="2377440" cy="228600"/>
          </a:xfrm>
          <a:prstGeom prst="rect">
            <a:avLst/>
          </a:prstGeom>
          <a:noFill/>
        </p:spPr>
        <p:txBody>
          <a:bodyPr wrap="square" lIns="0" rIns="0" tIns="18288" bIns="18288" anchor="t">
            <a:spAutoFit/>
          </a:bodyPr>
          <a:lstStyle/>
          <a:p>
            <a:pPr algn="l"/>
            <a:r>
              <a:rPr sz="950" b="0" i="0">
                <a:solidFill>
                  <a:srgbClr val="1A1A1A"/>
                </a:solidFill>
                <a:latin typeface="Abadi"/>
              </a:rPr>
              <a:t>6 weeks</a:t>
            </a:r>
          </a:p>
        </p:txBody>
      </p:sp>
      <p:sp>
        <p:nvSpPr>
          <p:cNvPr id="16" name="Rectangle 15"/>
          <p:cNvSpPr/>
          <p:nvPr/>
        </p:nvSpPr>
        <p:spPr>
          <a:xfrm>
            <a:off x="548640" y="5349240"/>
            <a:ext cx="603504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89888" y="3050032"/>
            <a:ext cx="649224" cy="22992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2794000"/>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73%</a:t>
            </a:r>
          </a:p>
        </p:txBody>
      </p:sp>
      <p:sp>
        <p:nvSpPr>
          <p:cNvPr id="19" name="Rectangle 18"/>
          <p:cNvSpPr/>
          <p:nvPr/>
        </p:nvSpPr>
        <p:spPr>
          <a:xfrm>
            <a:off x="2075688" y="3553968"/>
            <a:ext cx="649224" cy="179527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0240" y="3297936"/>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57%</a:t>
            </a:r>
          </a:p>
        </p:txBody>
      </p:sp>
      <p:sp>
        <p:nvSpPr>
          <p:cNvPr id="21" name="TextBox 20"/>
          <p:cNvSpPr txBox="1"/>
          <p:nvPr/>
        </p:nvSpPr>
        <p:spPr>
          <a:xfrm>
            <a:off x="548640" y="5385816"/>
            <a:ext cx="3017520" cy="274320"/>
          </a:xfrm>
          <a:prstGeom prst="rect">
            <a:avLst/>
          </a:prstGeom>
          <a:noFill/>
        </p:spPr>
        <p:txBody>
          <a:bodyPr wrap="square" lIns="0" rIns="0" tIns="18288" bIns="18288" anchor="t">
            <a:spAutoFit/>
          </a:bodyPr>
          <a:lstStyle/>
          <a:p>
            <a:pPr algn="ctr"/>
            <a:r>
              <a:rPr sz="950" b="0" i="0">
                <a:solidFill>
                  <a:srgbClr val="1A1A1A"/>
                </a:solidFill>
                <a:latin typeface="Abadi"/>
              </a:rPr>
              <a:t>12 months</a:t>
            </a:r>
          </a:p>
        </p:txBody>
      </p:sp>
      <p:sp>
        <p:nvSpPr>
          <p:cNvPr id="22" name="Rectangle 21"/>
          <p:cNvSpPr/>
          <p:nvPr/>
        </p:nvSpPr>
        <p:spPr>
          <a:xfrm>
            <a:off x="4407407" y="2924048"/>
            <a:ext cx="649224" cy="242519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51959" y="2668015"/>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77%</a:t>
            </a:r>
          </a:p>
        </p:txBody>
      </p:sp>
      <p:sp>
        <p:nvSpPr>
          <p:cNvPr id="24" name="Rectangle 23"/>
          <p:cNvSpPr/>
          <p:nvPr/>
        </p:nvSpPr>
        <p:spPr>
          <a:xfrm>
            <a:off x="5093207" y="3333496"/>
            <a:ext cx="649224" cy="201574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37759" y="3077464"/>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64%</a:t>
            </a:r>
          </a:p>
        </p:txBody>
      </p:sp>
      <p:sp>
        <p:nvSpPr>
          <p:cNvPr id="26" name="TextBox 25"/>
          <p:cNvSpPr txBox="1"/>
          <p:nvPr/>
        </p:nvSpPr>
        <p:spPr>
          <a:xfrm>
            <a:off x="3566160" y="5385816"/>
            <a:ext cx="3017520" cy="274320"/>
          </a:xfrm>
          <a:prstGeom prst="rect">
            <a:avLst/>
          </a:prstGeom>
          <a:noFill/>
        </p:spPr>
        <p:txBody>
          <a:bodyPr wrap="square" lIns="0" rIns="0" tIns="18288" bIns="18288" anchor="t">
            <a:spAutoFit/>
          </a:bodyPr>
          <a:lstStyle/>
          <a:p>
            <a:pPr algn="ctr"/>
            <a:r>
              <a:rPr sz="950" b="0" i="0">
                <a:solidFill>
                  <a:srgbClr val="1A1A1A"/>
                </a:solidFill>
                <a:latin typeface="Abadi"/>
              </a:rPr>
              <a:t>24 months</a:t>
            </a:r>
          </a:p>
        </p:txBody>
      </p:sp>
      <p:sp>
        <p:nvSpPr>
          <p:cNvPr id="27" name="TextBox 26"/>
          <p:cNvSpPr txBox="1"/>
          <p:nvPr/>
        </p:nvSpPr>
        <p:spPr>
          <a:xfrm>
            <a:off x="6949440" y="1828800"/>
            <a:ext cx="4663440" cy="3840480"/>
          </a:xfrm>
          <a:prstGeom prst="rect">
            <a:avLst/>
          </a:prstGeom>
          <a:noFill/>
        </p:spPr>
        <p:txBody>
          <a:bodyPr wrap="square" lIns="0" rIns="0" tIns="18288" bIns="18288" anchor="t">
            <a:spAutoFit/>
          </a:bodyPr>
          <a:lstStyle/>
          <a:p>
            <a:pPr algn="l">
              <a:spcAft>
                <a:spcPts val="300"/>
              </a:spcAft>
            </a:pPr>
            <a:r>
              <a:rPr sz="1700" b="1" i="0">
                <a:solidFill>
                  <a:srgbClr val="1B355E"/>
                </a:solidFill>
                <a:latin typeface="Abadi"/>
              </a:rPr>
              <a:t>P = 0.01 and 0.04</a:t>
            </a:r>
          </a:p>
          <a:p>
            <a:pPr algn="l">
              <a:spcAft>
                <a:spcPts val="300"/>
              </a:spcAft>
            </a:pPr>
            <a:r>
              <a:rPr sz="1100" b="0" i="0">
                <a:solidFill>
                  <a:srgbClr val="1A1A1A"/>
                </a:solidFill>
                <a:latin typeface="Abadi"/>
              </a:rPr>
              <a:t>Best-ear hearing at 6 months did not differ; the gain was in total-ear hearing and in Bayley-III language scores at 24 months.</a:t>
            </a:r>
          </a:p>
          <a:p>
            <a:pPr algn="l">
              <a:spcAft>
                <a:spcPts val="300"/>
              </a:spcAft>
            </a:pPr>
            <a:r>
              <a:rPr sz="1700" b="1" i="0">
                <a:solidFill>
                  <a:srgbClr val="1B355E"/>
                </a:solidFill>
                <a:latin typeface="Abadi"/>
              </a:rPr>
              <a:t>0% vs 41%</a:t>
            </a:r>
          </a:p>
          <a:p>
            <a:pPr algn="l">
              <a:spcAft>
                <a:spcPts val="300"/>
              </a:spcAft>
            </a:pPr>
            <a:r>
              <a:rPr sz="1100" b="0" i="0">
                <a:solidFill>
                  <a:srgbClr val="1A1A1A"/>
                </a:solidFill>
                <a:latin typeface="Abadi"/>
              </a:rPr>
              <a:t>Hearing worsening at 6 months with IV ganciclovir vs none in the 2003 trial; grade 3–4 neutropenia in 63%.</a:t>
            </a:r>
          </a:p>
          <a:p>
            <a:pPr algn="l">
              <a:spcAft>
                <a:spcPts val="300"/>
              </a:spcAft>
            </a:pPr>
            <a:r>
              <a:rPr sz="1700" b="1" i="0">
                <a:solidFill>
                  <a:srgbClr val="1B355E"/>
                </a:solidFill>
                <a:latin typeface="Abadi"/>
              </a:rPr>
              <a:t>Who to treat</a:t>
            </a:r>
          </a:p>
          <a:p>
            <a:pPr algn="l">
              <a:spcAft>
                <a:spcPts val="300"/>
              </a:spcAft>
            </a:pPr>
            <a:r>
              <a:rPr sz="1100" b="0" i="0">
                <a:solidFill>
                  <a:srgbClr val="1A1A1A"/>
                </a:solidFill>
                <a:latin typeface="Abadi"/>
              </a:rPr>
              <a:t>Moderate to severe disease, started within the first month, for 6 months. Isolated mild findings such as a transient ALT rise are not an indication on their own (Rawlinson 2017).</a:t>
            </a:r>
          </a:p>
          <a:p>
            <a:pPr algn="l">
              <a:spcAft>
                <a:spcPts val="300"/>
              </a:spcAft>
            </a:pPr>
            <a:r>
              <a:rPr sz="1700" b="1" i="0">
                <a:solidFill>
                  <a:srgbClr val="1B355E"/>
                </a:solidFill>
                <a:latin typeface="Abadi"/>
              </a:rPr>
              <a:t>Liver</a:t>
            </a:r>
          </a:p>
          <a:p>
            <a:pPr algn="l">
              <a:spcAft>
                <a:spcPts val="300"/>
              </a:spcAft>
            </a:pPr>
            <a:r>
              <a:rPr sz="1100" b="0" i="0">
                <a:solidFill>
                  <a:srgbClr val="1A1A1A"/>
                </a:solidFill>
                <a:latin typeface="Abadi"/>
              </a:rPr>
              <a:t>Hepatitis qualified for trial entry, but no trial shows that antivirals change the liver course.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CMV AND BILIARY ATRESIA</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A MARKER OF WORSE DRAINAGE, NOT A CAUSE</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Jaundice clearance after Kasai by CMV IgM status, King's College Hospital, n = 129,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8</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Zani A, et al. J Pediatr Surg 2015;50:1739–45 · Zhao Y, et al. Front Pediatr 2021;9:710450 · Zhang Y, et al. Front Pediatr 2022;10:837247 · Fawaz 2017</a:t>
            </a:r>
          </a:p>
        </p:txBody>
      </p:sp>
      <p:sp>
        <p:nvSpPr>
          <p:cNvPr id="12" name="Rectangle 11"/>
          <p:cNvSpPr/>
          <p:nvPr/>
        </p:nvSpPr>
        <p:spPr>
          <a:xfrm>
            <a:off x="548640" y="1847088"/>
            <a:ext cx="137160" cy="1371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801368"/>
            <a:ext cx="2377440" cy="228600"/>
          </a:xfrm>
          <a:prstGeom prst="rect">
            <a:avLst/>
          </a:prstGeom>
          <a:noFill/>
        </p:spPr>
        <p:txBody>
          <a:bodyPr wrap="square" lIns="0" rIns="0" tIns="18288" bIns="18288" anchor="t">
            <a:spAutoFit/>
          </a:bodyPr>
          <a:lstStyle/>
          <a:p>
            <a:pPr algn="l"/>
            <a:r>
              <a:rPr sz="950" b="0" i="0">
                <a:solidFill>
                  <a:srgbClr val="1A1A1A"/>
                </a:solidFill>
                <a:latin typeface="Abadi"/>
              </a:rPr>
              <a:t>Cleared jaundice at 6 months</a:t>
            </a:r>
          </a:p>
        </p:txBody>
      </p:sp>
      <p:sp>
        <p:nvSpPr>
          <p:cNvPr id="14" name="Rectangle 13"/>
          <p:cNvSpPr/>
          <p:nvPr/>
        </p:nvSpPr>
        <p:spPr>
          <a:xfrm>
            <a:off x="548640" y="5349240"/>
            <a:ext cx="548640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595628" y="4741817"/>
            <a:ext cx="649224" cy="60742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40180" y="4485785"/>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15%</a:t>
            </a:r>
          </a:p>
        </p:txBody>
      </p:sp>
      <p:sp>
        <p:nvSpPr>
          <p:cNvPr id="17" name="TextBox 16"/>
          <p:cNvSpPr txBox="1"/>
          <p:nvPr/>
        </p:nvSpPr>
        <p:spPr>
          <a:xfrm>
            <a:off x="548640" y="5385816"/>
            <a:ext cx="2743200" cy="274320"/>
          </a:xfrm>
          <a:prstGeom prst="rect">
            <a:avLst/>
          </a:prstGeom>
          <a:noFill/>
        </p:spPr>
        <p:txBody>
          <a:bodyPr wrap="square" lIns="0" rIns="0" tIns="18288" bIns="18288" anchor="t">
            <a:spAutoFit/>
          </a:bodyPr>
          <a:lstStyle/>
          <a:p>
            <a:pPr algn="ctr"/>
            <a:r>
              <a:rPr sz="950" b="0" i="0">
                <a:solidFill>
                  <a:srgbClr val="1A1A1A"/>
                </a:solidFill>
                <a:latin typeface="Abadi"/>
              </a:rPr>
              <a:t>CMV IgM positive (n = 20)</a:t>
            </a:r>
          </a:p>
        </p:txBody>
      </p:sp>
      <p:sp>
        <p:nvSpPr>
          <p:cNvPr id="18" name="Rectangle 17"/>
          <p:cNvSpPr/>
          <p:nvPr/>
        </p:nvSpPr>
        <p:spPr>
          <a:xfrm>
            <a:off x="4338827" y="3243507"/>
            <a:ext cx="649224" cy="21057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83379" y="2987475"/>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52%</a:t>
            </a:r>
          </a:p>
        </p:txBody>
      </p:sp>
      <p:sp>
        <p:nvSpPr>
          <p:cNvPr id="20" name="TextBox 19"/>
          <p:cNvSpPr txBox="1"/>
          <p:nvPr/>
        </p:nvSpPr>
        <p:spPr>
          <a:xfrm>
            <a:off x="3291840" y="5385816"/>
            <a:ext cx="2743200" cy="274320"/>
          </a:xfrm>
          <a:prstGeom prst="rect">
            <a:avLst/>
          </a:prstGeom>
          <a:noFill/>
        </p:spPr>
        <p:txBody>
          <a:bodyPr wrap="square" lIns="0" rIns="0" tIns="18288" bIns="18288" anchor="t">
            <a:spAutoFit/>
          </a:bodyPr>
          <a:lstStyle/>
          <a:p>
            <a:pPr algn="ctr"/>
            <a:r>
              <a:rPr sz="950" b="0" i="0">
                <a:solidFill>
                  <a:srgbClr val="1A1A1A"/>
                </a:solidFill>
                <a:latin typeface="Abadi"/>
              </a:rPr>
              <a:t>CMV IgM negative (n = 109)</a:t>
            </a:r>
          </a:p>
        </p:txBody>
      </p:sp>
      <p:sp>
        <p:nvSpPr>
          <p:cNvPr id="21" name="TextBox 20"/>
          <p:cNvSpPr txBox="1"/>
          <p:nvPr/>
        </p:nvSpPr>
        <p:spPr>
          <a:xfrm>
            <a:off x="6583680" y="1828800"/>
            <a:ext cx="5029200" cy="3840480"/>
          </a:xfrm>
          <a:prstGeom prst="rect">
            <a:avLst/>
          </a:prstGeom>
          <a:noFill/>
        </p:spPr>
        <p:txBody>
          <a:bodyPr wrap="square" lIns="0" rIns="0" tIns="18288" bIns="18288" anchor="t">
            <a:spAutoFit/>
          </a:bodyPr>
          <a:lstStyle/>
          <a:p>
            <a:pPr algn="l">
              <a:spcAft>
                <a:spcPts val="300"/>
              </a:spcAft>
            </a:pPr>
            <a:r>
              <a:rPr sz="1700" b="1" i="0">
                <a:solidFill>
                  <a:srgbClr val="1B355E"/>
                </a:solidFill>
                <a:latin typeface="Abadi"/>
              </a:rPr>
              <a:t>OR 0.47</a:t>
            </a:r>
          </a:p>
          <a:p>
            <a:pPr algn="l">
              <a:spcAft>
                <a:spcPts val="300"/>
              </a:spcAft>
            </a:pPr>
            <a:r>
              <a:rPr sz="1100" b="0" i="0">
                <a:solidFill>
                  <a:srgbClr val="1A1A1A"/>
                </a:solidFill>
                <a:latin typeface="Abadi"/>
              </a:rPr>
              <a:t>Meta-analysis of 8 studies: CMV positivity lowers the odds of clearing jaundice (95% CI 0.32–0.69).</a:t>
            </a:r>
          </a:p>
          <a:p>
            <a:pPr algn="l">
              <a:spcAft>
                <a:spcPts val="300"/>
              </a:spcAft>
            </a:pPr>
            <a:r>
              <a:rPr sz="1700" b="1" i="0">
                <a:solidFill>
                  <a:srgbClr val="1B355E"/>
                </a:solidFill>
                <a:latin typeface="Abadi"/>
              </a:rPr>
              <a:t>HR 1.59, not significant</a:t>
            </a:r>
          </a:p>
          <a:p>
            <a:pPr algn="l">
              <a:spcAft>
                <a:spcPts val="300"/>
              </a:spcAft>
            </a:pPr>
            <a:r>
              <a:rPr sz="1100" b="0" i="0">
                <a:solidFill>
                  <a:srgbClr val="1A1A1A"/>
                </a:solidFill>
                <a:latin typeface="Abadi"/>
              </a:rPr>
              <a:t>Native-liver survival did not differ significantly (95% CI 0.66–3.81).</a:t>
            </a:r>
          </a:p>
          <a:p>
            <a:pPr algn="l">
              <a:spcAft>
                <a:spcPts val="300"/>
              </a:spcAft>
            </a:pPr>
            <a:r>
              <a:rPr sz="1700" b="1" i="0">
                <a:solidFill>
                  <a:srgbClr val="1B355E"/>
                </a:solidFill>
                <a:latin typeface="Abadi"/>
              </a:rPr>
              <a:t>10–38% vs 27.4%</a:t>
            </a:r>
          </a:p>
          <a:p>
            <a:pPr algn="l">
              <a:spcAft>
                <a:spcPts val="300"/>
              </a:spcAft>
            </a:pPr>
            <a:r>
              <a:rPr sz="1100" b="0" i="0">
                <a:solidFill>
                  <a:srgbClr val="1A1A1A"/>
                </a:solidFill>
                <a:latin typeface="Abadi"/>
              </a:rPr>
              <a:t>CMV positivity in atresia series from Europe and Brazil; 27.4% of 175 infants in a West China cohort.</a:t>
            </a:r>
          </a:p>
          <a:p>
            <a:pPr algn="l">
              <a:spcAft>
                <a:spcPts val="300"/>
              </a:spcAft>
            </a:pPr>
            <a:r>
              <a:rPr sz="1700" b="1" i="0">
                <a:solidFill>
                  <a:srgbClr val="1B355E"/>
                </a:solidFill>
                <a:latin typeface="Abadi"/>
              </a:rPr>
              <a:t>Unproven</a:t>
            </a:r>
          </a:p>
          <a:p>
            <a:pPr algn="l">
              <a:spcAft>
                <a:spcPts val="300"/>
              </a:spcAft>
            </a:pPr>
            <a:r>
              <a:rPr sz="1100" b="0" i="0">
                <a:solidFill>
                  <a:srgbClr val="1A1A1A"/>
                </a:solidFill>
                <a:latin typeface="Abadi"/>
              </a:rPr>
              <a:t>The 2017 guideline: a causal role for CMV in atresia remains unproven. A CMV result never replaces the cholangiogram.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CONGENITAL SYPHILIS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A RE-EMERGING CAUSE OF NEONATAL HEPATITIS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Reported congenital syphilis cases, United States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9</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CDC Sexually Transmitted Infections Surveillance 2023 · Bowen V, et al. MMWR 2015;64:1241–5 · Pillay S, et al. Front Pediatr 2023;11:1215387</a:t>
            </a:r>
          </a:p>
        </p:txBody>
      </p:sp>
      <p:sp>
        <p:nvSpPr>
          <p:cNvPr id="12" name="Rectangle 11"/>
          <p:cNvSpPr/>
          <p:nvPr/>
        </p:nvSpPr>
        <p:spPr>
          <a:xfrm>
            <a:off x="548640" y="1847088"/>
            <a:ext cx="137160" cy="1371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801368"/>
            <a:ext cx="2377440" cy="228600"/>
          </a:xfrm>
          <a:prstGeom prst="rect">
            <a:avLst/>
          </a:prstGeom>
          <a:noFill/>
        </p:spPr>
        <p:txBody>
          <a:bodyPr wrap="square" lIns="0" rIns="0" tIns="18288" bIns="18288" anchor="t">
            <a:spAutoFit/>
          </a:bodyPr>
          <a:lstStyle/>
          <a:p>
            <a:pPr algn="l"/>
            <a:r>
              <a:rPr sz="950" b="0" i="0">
                <a:solidFill>
                  <a:srgbClr val="1A1A1A"/>
                </a:solidFill>
                <a:latin typeface="Abadi"/>
              </a:rPr>
              <a:t>Cases</a:t>
            </a:r>
          </a:p>
        </p:txBody>
      </p:sp>
      <p:sp>
        <p:nvSpPr>
          <p:cNvPr id="14" name="Rectangle 13"/>
          <p:cNvSpPr/>
          <p:nvPr/>
        </p:nvSpPr>
        <p:spPr>
          <a:xfrm>
            <a:off x="548640" y="5349240"/>
            <a:ext cx="640080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4088" y="5123818"/>
            <a:ext cx="603503" cy="225421"/>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867786"/>
            <a:ext cx="914400" cy="228600"/>
          </a:xfrm>
          <a:prstGeom prst="rect">
            <a:avLst/>
          </a:prstGeom>
          <a:noFill/>
        </p:spPr>
        <p:txBody>
          <a:bodyPr wrap="square" lIns="0" rIns="0" tIns="18288" bIns="18288" anchor="t">
            <a:spAutoFit/>
          </a:bodyPr>
          <a:lstStyle/>
          <a:p>
            <a:pPr algn="ctr"/>
            <a:r>
              <a:rPr sz="950" b="1" i="0">
                <a:solidFill>
                  <a:srgbClr val="1B355E"/>
                </a:solidFill>
                <a:latin typeface="Abadi"/>
              </a:rPr>
              <a:t>334</a:t>
            </a:r>
          </a:p>
        </p:txBody>
      </p:sp>
      <p:sp>
        <p:nvSpPr>
          <p:cNvPr id="17" name="TextBox 16"/>
          <p:cNvSpPr txBox="1"/>
          <p:nvPr/>
        </p:nvSpPr>
        <p:spPr>
          <a:xfrm>
            <a:off x="548640" y="5385816"/>
            <a:ext cx="914400" cy="274320"/>
          </a:xfrm>
          <a:prstGeom prst="rect">
            <a:avLst/>
          </a:prstGeom>
          <a:noFill/>
        </p:spPr>
        <p:txBody>
          <a:bodyPr wrap="square" lIns="0" rIns="0" tIns="18288" bIns="18288" anchor="t">
            <a:spAutoFit/>
          </a:bodyPr>
          <a:lstStyle/>
          <a:p>
            <a:pPr algn="ctr"/>
            <a:r>
              <a:rPr sz="950" b="0" i="0">
                <a:solidFill>
                  <a:srgbClr val="1A1A1A"/>
                </a:solidFill>
                <a:latin typeface="Abadi"/>
              </a:rPr>
              <a:t>2012</a:t>
            </a:r>
          </a:p>
        </p:txBody>
      </p:sp>
      <p:sp>
        <p:nvSpPr>
          <p:cNvPr id="18" name="Rectangle 17"/>
          <p:cNvSpPr/>
          <p:nvPr/>
        </p:nvSpPr>
        <p:spPr>
          <a:xfrm>
            <a:off x="1618488" y="4467801"/>
            <a:ext cx="603503" cy="88143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63040" y="4211769"/>
            <a:ext cx="914400" cy="228600"/>
          </a:xfrm>
          <a:prstGeom prst="rect">
            <a:avLst/>
          </a:prstGeom>
          <a:noFill/>
        </p:spPr>
        <p:txBody>
          <a:bodyPr wrap="square" lIns="0" rIns="0" tIns="18288" bIns="18288" anchor="t">
            <a:spAutoFit/>
          </a:bodyPr>
          <a:lstStyle/>
          <a:p>
            <a:pPr algn="ctr"/>
            <a:r>
              <a:rPr sz="950" b="1" i="0">
                <a:solidFill>
                  <a:srgbClr val="1B355E"/>
                </a:solidFill>
                <a:latin typeface="Abadi"/>
              </a:rPr>
              <a:t>1,306</a:t>
            </a:r>
          </a:p>
        </p:txBody>
      </p:sp>
      <p:sp>
        <p:nvSpPr>
          <p:cNvPr id="20" name="TextBox 19"/>
          <p:cNvSpPr txBox="1"/>
          <p:nvPr/>
        </p:nvSpPr>
        <p:spPr>
          <a:xfrm>
            <a:off x="1463040" y="5385816"/>
            <a:ext cx="914400" cy="274320"/>
          </a:xfrm>
          <a:prstGeom prst="rect">
            <a:avLst/>
          </a:prstGeom>
          <a:noFill/>
        </p:spPr>
        <p:txBody>
          <a:bodyPr wrap="square" lIns="0" rIns="0" tIns="18288" bIns="18288" anchor="t">
            <a:spAutoFit/>
          </a:bodyPr>
          <a:lstStyle/>
          <a:p>
            <a:pPr algn="ctr"/>
            <a:r>
              <a:rPr sz="950" b="0" i="0">
                <a:solidFill>
                  <a:srgbClr val="1A1A1A"/>
                </a:solidFill>
                <a:latin typeface="Abadi"/>
              </a:rPr>
              <a:t>2018</a:t>
            </a:r>
          </a:p>
        </p:txBody>
      </p:sp>
      <p:sp>
        <p:nvSpPr>
          <p:cNvPr id="21" name="Rectangle 20"/>
          <p:cNvSpPr/>
          <p:nvPr/>
        </p:nvSpPr>
        <p:spPr>
          <a:xfrm>
            <a:off x="2532888" y="4077701"/>
            <a:ext cx="603503" cy="127153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77440" y="3821669"/>
            <a:ext cx="914400" cy="228600"/>
          </a:xfrm>
          <a:prstGeom prst="rect">
            <a:avLst/>
          </a:prstGeom>
          <a:noFill/>
        </p:spPr>
        <p:txBody>
          <a:bodyPr wrap="square" lIns="0" rIns="0" tIns="18288" bIns="18288" anchor="t">
            <a:spAutoFit/>
          </a:bodyPr>
          <a:lstStyle/>
          <a:p>
            <a:pPr algn="ctr"/>
            <a:r>
              <a:rPr sz="950" b="1" i="0">
                <a:solidFill>
                  <a:srgbClr val="1B355E"/>
                </a:solidFill>
                <a:latin typeface="Abadi"/>
              </a:rPr>
              <a:t>1,884</a:t>
            </a:r>
          </a:p>
        </p:txBody>
      </p:sp>
      <p:sp>
        <p:nvSpPr>
          <p:cNvPr id="23" name="TextBox 22"/>
          <p:cNvSpPr txBox="1"/>
          <p:nvPr/>
        </p:nvSpPr>
        <p:spPr>
          <a:xfrm>
            <a:off x="2377440" y="5385816"/>
            <a:ext cx="914400" cy="274320"/>
          </a:xfrm>
          <a:prstGeom prst="rect">
            <a:avLst/>
          </a:prstGeom>
          <a:noFill/>
        </p:spPr>
        <p:txBody>
          <a:bodyPr wrap="square" lIns="0" rIns="0" tIns="18288" bIns="18288" anchor="t">
            <a:spAutoFit/>
          </a:bodyPr>
          <a:lstStyle/>
          <a:p>
            <a:pPr algn="ctr"/>
            <a:r>
              <a:rPr sz="950" b="0" i="0">
                <a:solidFill>
                  <a:srgbClr val="1A1A1A"/>
                </a:solidFill>
                <a:latin typeface="Abadi"/>
              </a:rPr>
              <a:t>2019</a:t>
            </a:r>
          </a:p>
        </p:txBody>
      </p:sp>
      <p:sp>
        <p:nvSpPr>
          <p:cNvPr id="24" name="Rectangle 23"/>
          <p:cNvSpPr/>
          <p:nvPr/>
        </p:nvSpPr>
        <p:spPr>
          <a:xfrm>
            <a:off x="3447288" y="3889400"/>
            <a:ext cx="603503" cy="1459839"/>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91840" y="3633368"/>
            <a:ext cx="914400" cy="228600"/>
          </a:xfrm>
          <a:prstGeom prst="rect">
            <a:avLst/>
          </a:prstGeom>
          <a:noFill/>
        </p:spPr>
        <p:txBody>
          <a:bodyPr wrap="square" lIns="0" rIns="0" tIns="18288" bIns="18288" anchor="t">
            <a:spAutoFit/>
          </a:bodyPr>
          <a:lstStyle/>
          <a:p>
            <a:pPr algn="ctr"/>
            <a:r>
              <a:rPr sz="950" b="1" i="0">
                <a:solidFill>
                  <a:srgbClr val="1B355E"/>
                </a:solidFill>
                <a:latin typeface="Abadi"/>
              </a:rPr>
              <a:t>2,163</a:t>
            </a:r>
          </a:p>
        </p:txBody>
      </p:sp>
      <p:sp>
        <p:nvSpPr>
          <p:cNvPr id="26" name="TextBox 25"/>
          <p:cNvSpPr txBox="1"/>
          <p:nvPr/>
        </p:nvSpPr>
        <p:spPr>
          <a:xfrm>
            <a:off x="3291840" y="5385816"/>
            <a:ext cx="914400" cy="274320"/>
          </a:xfrm>
          <a:prstGeom prst="rect">
            <a:avLst/>
          </a:prstGeom>
          <a:noFill/>
        </p:spPr>
        <p:txBody>
          <a:bodyPr wrap="square" lIns="0" rIns="0" tIns="18288" bIns="18288" anchor="t">
            <a:spAutoFit/>
          </a:bodyPr>
          <a:lstStyle/>
          <a:p>
            <a:pPr algn="ctr"/>
            <a:r>
              <a:rPr sz="950" b="0" i="0">
                <a:solidFill>
                  <a:srgbClr val="1A1A1A"/>
                </a:solidFill>
                <a:latin typeface="Abadi"/>
              </a:rPr>
              <a:t>2020</a:t>
            </a:r>
          </a:p>
        </p:txBody>
      </p:sp>
      <p:sp>
        <p:nvSpPr>
          <p:cNvPr id="27" name="Rectangle 26"/>
          <p:cNvSpPr/>
          <p:nvPr/>
        </p:nvSpPr>
        <p:spPr>
          <a:xfrm>
            <a:off x="4361688" y="3404811"/>
            <a:ext cx="603503" cy="194442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06240" y="3148779"/>
            <a:ext cx="914400" cy="228600"/>
          </a:xfrm>
          <a:prstGeom prst="rect">
            <a:avLst/>
          </a:prstGeom>
          <a:noFill/>
        </p:spPr>
        <p:txBody>
          <a:bodyPr wrap="square" lIns="0" rIns="0" tIns="18288" bIns="18288" anchor="t">
            <a:spAutoFit/>
          </a:bodyPr>
          <a:lstStyle/>
          <a:p>
            <a:pPr algn="ctr"/>
            <a:r>
              <a:rPr sz="950" b="1" i="0">
                <a:solidFill>
                  <a:srgbClr val="1B355E"/>
                </a:solidFill>
                <a:latin typeface="Abadi"/>
              </a:rPr>
              <a:t>2,881</a:t>
            </a:r>
          </a:p>
        </p:txBody>
      </p:sp>
      <p:sp>
        <p:nvSpPr>
          <p:cNvPr id="29" name="TextBox 28"/>
          <p:cNvSpPr txBox="1"/>
          <p:nvPr/>
        </p:nvSpPr>
        <p:spPr>
          <a:xfrm>
            <a:off x="4206240" y="5385816"/>
            <a:ext cx="914400" cy="274320"/>
          </a:xfrm>
          <a:prstGeom prst="rect">
            <a:avLst/>
          </a:prstGeom>
          <a:noFill/>
        </p:spPr>
        <p:txBody>
          <a:bodyPr wrap="square" lIns="0" rIns="0" tIns="18288" bIns="18288" anchor="t">
            <a:spAutoFit/>
          </a:bodyPr>
          <a:lstStyle/>
          <a:p>
            <a:pPr algn="ctr"/>
            <a:r>
              <a:rPr sz="950" b="0" i="0">
                <a:solidFill>
                  <a:srgbClr val="1A1A1A"/>
                </a:solidFill>
                <a:latin typeface="Abadi"/>
              </a:rPr>
              <a:t>2021</a:t>
            </a:r>
          </a:p>
        </p:txBody>
      </p:sp>
      <p:sp>
        <p:nvSpPr>
          <p:cNvPr id="30" name="Rectangle 29"/>
          <p:cNvSpPr/>
          <p:nvPr/>
        </p:nvSpPr>
        <p:spPr>
          <a:xfrm>
            <a:off x="5276088" y="2805488"/>
            <a:ext cx="603503" cy="2543751"/>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549456"/>
            <a:ext cx="914400" cy="228600"/>
          </a:xfrm>
          <a:prstGeom prst="rect">
            <a:avLst/>
          </a:prstGeom>
          <a:noFill/>
        </p:spPr>
        <p:txBody>
          <a:bodyPr wrap="square" lIns="0" rIns="0" tIns="18288" bIns="18288" anchor="t">
            <a:spAutoFit/>
          </a:bodyPr>
          <a:lstStyle/>
          <a:p>
            <a:pPr algn="ctr"/>
            <a:r>
              <a:rPr sz="950" b="1" i="0">
                <a:solidFill>
                  <a:srgbClr val="1B355E"/>
                </a:solidFill>
                <a:latin typeface="Abadi"/>
              </a:rPr>
              <a:t>3,769</a:t>
            </a:r>
          </a:p>
        </p:txBody>
      </p:sp>
      <p:sp>
        <p:nvSpPr>
          <p:cNvPr id="32" name="TextBox 31"/>
          <p:cNvSpPr txBox="1"/>
          <p:nvPr/>
        </p:nvSpPr>
        <p:spPr>
          <a:xfrm>
            <a:off x="5120640" y="5385816"/>
            <a:ext cx="914400" cy="274320"/>
          </a:xfrm>
          <a:prstGeom prst="rect">
            <a:avLst/>
          </a:prstGeom>
          <a:noFill/>
        </p:spPr>
        <p:txBody>
          <a:bodyPr wrap="square" lIns="0" rIns="0" tIns="18288" bIns="18288" anchor="t">
            <a:spAutoFit/>
          </a:bodyPr>
          <a:lstStyle/>
          <a:p>
            <a:pPr algn="ctr"/>
            <a:r>
              <a:rPr sz="950" b="0" i="0">
                <a:solidFill>
                  <a:srgbClr val="1A1A1A"/>
                </a:solidFill>
                <a:latin typeface="Abadi"/>
              </a:rPr>
              <a:t>2022</a:t>
            </a:r>
          </a:p>
        </p:txBody>
      </p:sp>
      <p:sp>
        <p:nvSpPr>
          <p:cNvPr id="33" name="Rectangle 32"/>
          <p:cNvSpPr/>
          <p:nvPr/>
        </p:nvSpPr>
        <p:spPr>
          <a:xfrm>
            <a:off x="6190488" y="2729222"/>
            <a:ext cx="603503" cy="2620017"/>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0" y="2473190"/>
            <a:ext cx="914400" cy="228600"/>
          </a:xfrm>
          <a:prstGeom prst="rect">
            <a:avLst/>
          </a:prstGeom>
          <a:noFill/>
        </p:spPr>
        <p:txBody>
          <a:bodyPr wrap="square" lIns="0" rIns="0" tIns="18288" bIns="18288" anchor="t">
            <a:spAutoFit/>
          </a:bodyPr>
          <a:lstStyle/>
          <a:p>
            <a:pPr algn="ctr"/>
            <a:r>
              <a:rPr sz="950" b="1" i="0">
                <a:solidFill>
                  <a:srgbClr val="1B355E"/>
                </a:solidFill>
                <a:latin typeface="Abadi"/>
              </a:rPr>
              <a:t>3,882</a:t>
            </a:r>
          </a:p>
        </p:txBody>
      </p:sp>
      <p:sp>
        <p:nvSpPr>
          <p:cNvPr id="35" name="TextBox 34"/>
          <p:cNvSpPr txBox="1"/>
          <p:nvPr/>
        </p:nvSpPr>
        <p:spPr>
          <a:xfrm>
            <a:off x="6035040" y="5385816"/>
            <a:ext cx="914400" cy="274320"/>
          </a:xfrm>
          <a:prstGeom prst="rect">
            <a:avLst/>
          </a:prstGeom>
          <a:noFill/>
        </p:spPr>
        <p:txBody>
          <a:bodyPr wrap="square" lIns="0" rIns="0" tIns="18288" bIns="18288" anchor="t">
            <a:spAutoFit/>
          </a:bodyPr>
          <a:lstStyle/>
          <a:p>
            <a:pPr algn="ctr"/>
            <a:r>
              <a:rPr sz="950" b="0" i="0">
                <a:solidFill>
                  <a:srgbClr val="1A1A1A"/>
                </a:solidFill>
                <a:latin typeface="Abadi"/>
              </a:rPr>
              <a:t>2023</a:t>
            </a:r>
          </a:p>
        </p:txBody>
      </p:sp>
      <p:sp>
        <p:nvSpPr>
          <p:cNvPr id="36" name="TextBox 35"/>
          <p:cNvSpPr txBox="1"/>
          <p:nvPr/>
        </p:nvSpPr>
        <p:spPr>
          <a:xfrm>
            <a:off x="7315200" y="1828800"/>
            <a:ext cx="4297680" cy="3840480"/>
          </a:xfrm>
          <a:prstGeom prst="rect">
            <a:avLst/>
          </a:prstGeom>
          <a:noFill/>
        </p:spPr>
        <p:txBody>
          <a:bodyPr wrap="square" lIns="0" rIns="0" tIns="18288" bIns="18288" anchor="t">
            <a:spAutoFit/>
          </a:bodyPr>
          <a:lstStyle/>
          <a:p>
            <a:pPr algn="l">
              <a:spcAft>
                <a:spcPts val="300"/>
              </a:spcAft>
            </a:pPr>
            <a:r>
              <a:rPr sz="1700" b="1" i="0">
                <a:solidFill>
                  <a:srgbClr val="1B355E"/>
                </a:solidFill>
                <a:latin typeface="Abadi"/>
              </a:rPr>
              <a:t>105.8</a:t>
            </a:r>
          </a:p>
          <a:p>
            <a:pPr algn="l">
              <a:spcAft>
                <a:spcPts val="300"/>
              </a:spcAft>
            </a:pPr>
            <a:r>
              <a:rPr sz="1100" b="0" i="0">
                <a:solidFill>
                  <a:srgbClr val="1A1A1A"/>
                </a:solidFill>
                <a:latin typeface="Abadi"/>
              </a:rPr>
              <a:t>Cases per 100,000 live births in 2023; 2024 provisional data show nearly 4,000 cases.</a:t>
            </a:r>
          </a:p>
          <a:p>
            <a:pPr algn="l">
              <a:spcAft>
                <a:spcPts val="300"/>
              </a:spcAft>
            </a:pPr>
            <a:r>
              <a:rPr sz="1700" b="1" i="0">
                <a:solidFill>
                  <a:srgbClr val="1B355E"/>
                </a:solidFill>
                <a:latin typeface="Abadi"/>
              </a:rPr>
              <a:t>About 12-fold</a:t>
            </a:r>
          </a:p>
          <a:p>
            <a:pPr algn="l">
              <a:spcAft>
                <a:spcPts val="300"/>
              </a:spcAft>
            </a:pPr>
            <a:r>
              <a:rPr sz="1100" b="0" i="0">
                <a:solidFill>
                  <a:srgbClr val="1A1A1A"/>
                </a:solidFill>
                <a:latin typeface="Abadi"/>
              </a:rPr>
              <a:t>Rise in annual cases between 2012 and 2023.</a:t>
            </a:r>
          </a:p>
          <a:p>
            <a:pPr algn="l">
              <a:spcAft>
                <a:spcPts val="300"/>
              </a:spcAft>
            </a:pPr>
            <a:r>
              <a:rPr sz="1700" b="1" i="0">
                <a:solidFill>
                  <a:srgbClr val="1B355E"/>
                </a:solidFill>
                <a:latin typeface="Abadi"/>
              </a:rPr>
              <a:t>80%</a:t>
            </a:r>
          </a:p>
          <a:p>
            <a:pPr algn="l">
              <a:spcAft>
                <a:spcPts val="300"/>
              </a:spcAft>
            </a:pPr>
            <a:r>
              <a:rPr sz="1100" b="0" i="0">
                <a:solidFill>
                  <a:srgbClr val="1A1A1A"/>
                </a:solidFill>
                <a:latin typeface="Abadi"/>
              </a:rPr>
              <a:t>Hepatosplenomegaly in 50 symptomatic South African neonates; conjugated hyperbilirubinaemia is a listed sign in the CDC guideline.</a:t>
            </a:r>
          </a:p>
          <a:p>
            <a:pPr algn="l">
              <a:spcAft>
                <a:spcPts val="300"/>
              </a:spcAft>
            </a:pPr>
            <a:r>
              <a:rPr sz="1700" b="1" i="0">
                <a:solidFill>
                  <a:srgbClr val="1B355E"/>
                </a:solidFill>
                <a:latin typeface="Abadi"/>
              </a:rPr>
              <a:t>Ask</a:t>
            </a:r>
          </a:p>
          <a:p>
            <a:pPr algn="l">
              <a:spcAft>
                <a:spcPts val="300"/>
              </a:spcAft>
            </a:pPr>
            <a:r>
              <a:rPr sz="1100" b="0" i="0">
                <a:solidFill>
                  <a:srgbClr val="1A1A1A"/>
                </a:solidFill>
                <a:latin typeface="Abadi"/>
              </a:rPr>
              <a:t>The maternal treponemal and non-treponemal results, and when and how the mother was treated.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SYPHILIS MANAGEMENT</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FOUR SCENARIOS, ONE DRUG</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CDC Sexually Transmitted Infections Treatment Guidelines 2021, neonatal evaluation by scenario</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10</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Workowski KA, et al. MMWR Recomm Rep 2021;70(4):1–187 · CDC congenital syphilis guidance</a:t>
            </a:r>
          </a:p>
        </p:txBody>
      </p:sp>
      <p:graphicFrame>
        <p:nvGraphicFramePr>
          <p:cNvPr id="12" name="Table 11"/>
          <p:cNvGraphicFramePr>
            <a:graphicFrameLocks noGrp="1"/>
          </p:cNvGraphicFramePr>
          <p:nvPr/>
        </p:nvGraphicFramePr>
        <p:xfrm>
          <a:off x="548640" y="1773936"/>
          <a:ext cx="11091672" cy="3566160"/>
        </p:xfrm>
        <a:graphic>
          <a:graphicData uri="http://schemas.openxmlformats.org/drawingml/2006/table">
            <a:tbl>
              <a:tblPr firstRow="0" bandRow="0">
                <a:tableStyleId>{5C22544A-7EE6-4342-B048-85BDC9FD1C3A}</a:tableStyleId>
              </a:tblPr>
              <a:tblGrid>
                <a:gridCol w="2377440"/>
                <a:gridCol w="4937760"/>
                <a:gridCol w="3776472"/>
              </a:tblGrid>
              <a:tr h="713232">
                <a:tc>
                  <a:txBody>
                    <a:bodyPr wrap="square"/>
                    <a:lstStyle/>
                    <a:p>
                      <a:r>
                        <a:rPr sz="1200" b="1">
                          <a:solidFill>
                            <a:srgbClr val="FFFFFF"/>
                          </a:solidFill>
                          <a:latin typeface="Abadi"/>
                        </a:rPr>
                        <a:t>Scenario</a:t>
                      </a:r>
                    </a:p>
                  </a:txBody>
                  <a:tcPr marL="73152" marR="73152" marT="27432" marB="27432" anchor="ctr">
                    <a:solidFill>
                      <a:srgbClr val="1B355E"/>
                    </a:solidFill>
                  </a:tcPr>
                </a:tc>
                <a:tc>
                  <a:txBody>
                    <a:bodyPr wrap="square"/>
                    <a:lstStyle/>
                    <a:p>
                      <a:r>
                        <a:rPr sz="1200" b="1">
                          <a:solidFill>
                            <a:srgbClr val="FFFFFF"/>
                          </a:solidFill>
                          <a:latin typeface="Abadi"/>
                        </a:rPr>
                        <a:t>Defined by</a:t>
                      </a:r>
                    </a:p>
                  </a:txBody>
                  <a:tcPr marL="73152" marR="73152" marT="27432" marB="27432" anchor="ctr">
                    <a:solidFill>
                      <a:srgbClr val="1B355E"/>
                    </a:solidFill>
                  </a:tcPr>
                </a:tc>
                <a:tc>
                  <a:txBody>
                    <a:bodyPr wrap="square"/>
                    <a:lstStyle/>
                    <a:p>
                      <a:r>
                        <a:rPr sz="1200" b="1">
                          <a:solidFill>
                            <a:srgbClr val="FFFFFF"/>
                          </a:solidFill>
                          <a:latin typeface="Abadi"/>
                        </a:rPr>
                        <a:t>Treatment</a:t>
                      </a:r>
                    </a:p>
                  </a:txBody>
                  <a:tcPr marL="73152" marR="73152" marT="27432" marB="27432" anchor="ctr">
                    <a:solidFill>
                      <a:srgbClr val="1B355E"/>
                    </a:solidFill>
                  </a:tcPr>
                </a:tc>
              </a:tr>
              <a:tr h="713232">
                <a:tc>
                  <a:txBody>
                    <a:bodyPr wrap="square"/>
                    <a:lstStyle/>
                    <a:p>
                      <a:r>
                        <a:rPr sz="1050" b="1">
                          <a:solidFill>
                            <a:srgbClr val="1A1A1A"/>
                          </a:solidFill>
                          <a:latin typeface="Abadi"/>
                        </a:rPr>
                        <a:t>1 · Proven or highly probable</a:t>
                      </a:r>
                    </a:p>
                  </a:txBody>
                  <a:tcPr marL="73152" marR="73152" marT="27432" marB="27432" anchor="ctr">
                    <a:solidFill>
                      <a:srgbClr val="FFFFFF"/>
                    </a:solidFill>
                  </a:tcPr>
                </a:tc>
                <a:tc>
                  <a:txBody>
                    <a:bodyPr wrap="square"/>
                    <a:lstStyle/>
                    <a:p>
                      <a:r>
                        <a:rPr sz="1050" b="0">
                          <a:solidFill>
                            <a:srgbClr val="1A1A1A"/>
                          </a:solidFill>
                          <a:latin typeface="Abadi"/>
                        </a:rPr>
                        <a:t>Abnormal examination (including hepatosplenomegaly or conjugated hyperbilirubinaemia), neonatal titre four-fold or more above the maternal, or positive darkfield or PCR</a:t>
                      </a:r>
                    </a:p>
                  </a:txBody>
                  <a:tcPr marL="73152" marR="73152" marT="27432" marB="27432" anchor="ctr">
                    <a:solidFill>
                      <a:srgbClr val="FFFFFF"/>
                    </a:solidFill>
                  </a:tcPr>
                </a:tc>
                <a:tc>
                  <a:txBody>
                    <a:bodyPr wrap="square"/>
                    <a:lstStyle/>
                    <a:p>
                      <a:r>
                        <a:rPr sz="1050" b="0">
                          <a:solidFill>
                            <a:srgbClr val="1A1A1A"/>
                          </a:solidFill>
                          <a:latin typeface="Abadi"/>
                        </a:rPr>
                        <a:t>Aqueous penicillin G 50,000 U/kg IV every 12 h for days 1–7, then every 8 h, 10 days in total</a:t>
                      </a:r>
                    </a:p>
                  </a:txBody>
                  <a:tcPr marL="73152" marR="73152" marT="27432" marB="27432" anchor="ctr">
                    <a:solidFill>
                      <a:srgbClr val="FFFFFF"/>
                    </a:solidFill>
                  </a:tcPr>
                </a:tc>
              </a:tr>
              <a:tr h="713232">
                <a:tc>
                  <a:txBody>
                    <a:bodyPr wrap="square"/>
                    <a:lstStyle/>
                    <a:p>
                      <a:r>
                        <a:rPr sz="1050" b="1">
                          <a:solidFill>
                            <a:srgbClr val="1A1A1A"/>
                          </a:solidFill>
                          <a:latin typeface="Abadi"/>
                        </a:rPr>
                        <a:t>2 · Possible</a:t>
                      </a:r>
                    </a:p>
                  </a:txBody>
                  <a:tcPr marL="73152" marR="73152" marT="27432" marB="27432" anchor="ctr">
                    <a:solidFill>
                      <a:srgbClr val="F2F2F2"/>
                    </a:solidFill>
                  </a:tcPr>
                </a:tc>
                <a:tc>
                  <a:txBody>
                    <a:bodyPr wrap="square"/>
                    <a:lstStyle/>
                    <a:p>
                      <a:r>
                        <a:rPr sz="1050" b="0">
                          <a:solidFill>
                            <a:srgbClr val="1A1A1A"/>
                          </a:solidFill>
                          <a:latin typeface="Abadi"/>
                        </a:rPr>
                        <a:t>Normal examination, titre below four-fold, but mother untreated, inadequately treated or treated under 4 weeks before delivery</a:t>
                      </a:r>
                    </a:p>
                  </a:txBody>
                  <a:tcPr marL="73152" marR="73152" marT="27432" marB="27432" anchor="ctr">
                    <a:solidFill>
                      <a:srgbClr val="F2F2F2"/>
                    </a:solidFill>
                  </a:tcPr>
                </a:tc>
                <a:tc>
                  <a:txBody>
                    <a:bodyPr wrap="square"/>
                    <a:lstStyle/>
                    <a:p>
                      <a:r>
                        <a:rPr sz="1050" b="0">
                          <a:solidFill>
                            <a:srgbClr val="1A1A1A"/>
                          </a:solidFill>
                          <a:latin typeface="Abadi"/>
                        </a:rPr>
                        <a:t>Same 10-day course, or one dose of benzathine penicillin G if the full evaluation is normal and follow-up is certain</a:t>
                      </a:r>
                    </a:p>
                  </a:txBody>
                  <a:tcPr marL="73152" marR="73152" marT="27432" marB="27432" anchor="ctr">
                    <a:solidFill>
                      <a:srgbClr val="F2F2F2"/>
                    </a:solidFill>
                  </a:tcPr>
                </a:tc>
              </a:tr>
              <a:tr h="713232">
                <a:tc>
                  <a:txBody>
                    <a:bodyPr wrap="square"/>
                    <a:lstStyle/>
                    <a:p>
                      <a:r>
                        <a:rPr sz="1050" b="1">
                          <a:solidFill>
                            <a:srgbClr val="1A1A1A"/>
                          </a:solidFill>
                          <a:latin typeface="Abadi"/>
                        </a:rPr>
                        <a:t>3 · Less likely</a:t>
                      </a:r>
                    </a:p>
                  </a:txBody>
                  <a:tcPr marL="73152" marR="73152" marT="27432" marB="27432" anchor="ctr">
                    <a:solidFill>
                      <a:srgbClr val="FFFFFF"/>
                    </a:solidFill>
                  </a:tcPr>
                </a:tc>
                <a:tc>
                  <a:txBody>
                    <a:bodyPr wrap="square"/>
                    <a:lstStyle/>
                    <a:p>
                      <a:r>
                        <a:rPr sz="1050" b="0">
                          <a:solidFill>
                            <a:srgbClr val="1A1A1A"/>
                          </a:solidFill>
                          <a:latin typeface="Abadi"/>
                        </a:rPr>
                        <a:t>Mother adequately treated during pregnancy, more than 4 weeks before delivery</a:t>
                      </a:r>
                    </a:p>
                  </a:txBody>
                  <a:tcPr marL="73152" marR="73152" marT="27432" marB="27432" anchor="ctr">
                    <a:solidFill>
                      <a:srgbClr val="FFFFFF"/>
                    </a:solidFill>
                  </a:tcPr>
                </a:tc>
                <a:tc>
                  <a:txBody>
                    <a:bodyPr wrap="square"/>
                    <a:lstStyle/>
                    <a:p>
                      <a:r>
                        <a:rPr sz="1050" b="0">
                          <a:solidFill>
                            <a:srgbClr val="1A1A1A"/>
                          </a:solidFill>
                          <a:latin typeface="Abadi"/>
                        </a:rPr>
                        <a:t>Benzathine penicillin G 50,000 U/kg IM once</a:t>
                      </a:r>
                    </a:p>
                  </a:txBody>
                  <a:tcPr marL="73152" marR="73152" marT="27432" marB="27432" anchor="ctr">
                    <a:solidFill>
                      <a:srgbClr val="FFFFFF"/>
                    </a:solidFill>
                  </a:tcPr>
                </a:tc>
              </a:tr>
              <a:tr h="713232">
                <a:tc>
                  <a:txBody>
                    <a:bodyPr wrap="square"/>
                    <a:lstStyle/>
                    <a:p>
                      <a:r>
                        <a:rPr sz="1050" b="1">
                          <a:solidFill>
                            <a:srgbClr val="1A1A1A"/>
                          </a:solidFill>
                          <a:latin typeface="Abadi"/>
                        </a:rPr>
                        <a:t>4 · Unlikely</a:t>
                      </a:r>
                    </a:p>
                  </a:txBody>
                  <a:tcPr marL="73152" marR="73152" marT="27432" marB="27432" anchor="ctr">
                    <a:solidFill>
                      <a:srgbClr val="F2F2F2"/>
                    </a:solidFill>
                  </a:tcPr>
                </a:tc>
                <a:tc>
                  <a:txBody>
                    <a:bodyPr wrap="square"/>
                    <a:lstStyle/>
                    <a:p>
                      <a:r>
                        <a:rPr sz="1050" b="0">
                          <a:solidFill>
                            <a:srgbClr val="1A1A1A"/>
                          </a:solidFill>
                          <a:latin typeface="Abadi"/>
                        </a:rPr>
                        <a:t>Mother adequately treated before pregnancy, titre low and stable</a:t>
                      </a:r>
                    </a:p>
                  </a:txBody>
                  <a:tcPr marL="73152" marR="73152" marT="27432" marB="27432" anchor="ctr">
                    <a:solidFill>
                      <a:srgbClr val="F2F2F2"/>
                    </a:solidFill>
                  </a:tcPr>
                </a:tc>
                <a:tc>
                  <a:txBody>
                    <a:bodyPr wrap="square"/>
                    <a:lstStyle/>
                    <a:p>
                      <a:r>
                        <a:rPr sz="1050" b="0">
                          <a:solidFill>
                            <a:srgbClr val="1A1A1A"/>
                          </a:solidFill>
                          <a:latin typeface="Abadi"/>
                        </a:rPr>
                        <a:t>No treatment; serological follow-up</a:t>
                      </a:r>
                    </a:p>
                  </a:txBody>
                  <a:tcPr marL="73152" marR="73152" marT="27432" marB="27432" anchor="ctr">
                    <a:solidFill>
                      <a:srgbClr val="F2F2F2"/>
                    </a:solidFill>
                  </a:tcPr>
                </a:tc>
              </a:tr>
            </a:tbl>
          </a:graphicData>
        </a:graphic>
      </p:graphicFrame>
      <p:sp>
        <p:nvSpPr>
          <p:cNvPr id="13" name="TextBox 12"/>
          <p:cNvSpPr txBox="1"/>
          <p:nvPr/>
        </p:nvSpPr>
        <p:spPr>
          <a:xfrm>
            <a:off x="548640" y="5440680"/>
            <a:ext cx="11091672" cy="411480"/>
          </a:xfrm>
          <a:prstGeom prst="rect">
            <a:avLst/>
          </a:prstGeom>
          <a:noFill/>
        </p:spPr>
        <p:txBody>
          <a:bodyPr wrap="square" lIns="0" rIns="0" tIns="18288" bIns="18288" anchor="t">
            <a:spAutoFit/>
          </a:bodyPr>
          <a:lstStyle/>
          <a:p>
            <a:pPr algn="l"/>
            <a:r>
              <a:rPr sz="1250" b="1" i="1">
                <a:solidFill>
                  <a:srgbClr val="1A1A1A"/>
                </a:solidFill>
                <a:latin typeface="Abadi"/>
              </a:rPr>
              <a:t>A cholestatic infant with syphilis is scenario 1 by definition. If more than one day of therapy is missed, the whole course is restarted.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TOXOPLASMOSIS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RARE IN THE LIVER CLINIC, LONG IN TREATMENT</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Congenital toxoplasmosis in the cholestatic infant</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11</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Gottesman 2015 · Torgerson PR, Mastroiacovo P. Bull WHO 2013;91:501–8 · Fawaz 2017 · AAP Red Book</a:t>
            </a:r>
          </a:p>
        </p:txBody>
      </p:sp>
      <p:sp>
        <p:nvSpPr>
          <p:cNvPr id="12" name="Rectangle 11"/>
          <p:cNvSpPr/>
          <p:nvPr/>
        </p:nvSpPr>
        <p:spPr>
          <a:xfrm>
            <a:off x="548640" y="1773936"/>
            <a:ext cx="2567178" cy="28346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How common</a:t>
            </a:r>
          </a:p>
        </p:txBody>
      </p:sp>
      <p:sp>
        <p:nvSpPr>
          <p:cNvPr id="15" name="TextBox 14"/>
          <p:cNvSpPr txBox="1"/>
          <p:nvPr/>
        </p:nvSpPr>
        <p:spPr>
          <a:xfrm>
            <a:off x="749808" y="2523744"/>
            <a:ext cx="2164842" cy="193852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About 1.5 per 1,000 live births worldwide</a:t>
            </a:r>
          </a:p>
          <a:p>
            <a:pPr algn="l">
              <a:spcAft>
                <a:spcPts val="500"/>
              </a:spcAft>
            </a:pPr>
            <a:r>
              <a:rPr sz="1250" b="0" i="0">
                <a:solidFill>
                  <a:srgbClr val="1A1A1A"/>
                </a:solidFill>
                <a:latin typeface="Abadi"/>
              </a:rPr>
              <a:t>▪  Only 3.6% of infectious cholestasis in the systematic review (7 infants)</a:t>
            </a:r>
          </a:p>
          <a:p>
            <a:pPr algn="l">
              <a:spcAft>
                <a:spcPts val="500"/>
              </a:spcAft>
            </a:pPr>
            <a:r>
              <a:rPr sz="1250" b="0" i="0">
                <a:solidFill>
                  <a:srgbClr val="1A1A1A"/>
                </a:solidFill>
                <a:latin typeface="Abadi"/>
              </a:rPr>
              <a:t>▪  Most infected newborns look normal</a:t>
            </a:r>
          </a:p>
        </p:txBody>
      </p:sp>
      <p:sp>
        <p:nvSpPr>
          <p:cNvPr id="16" name="Rectangle 15"/>
          <p:cNvSpPr/>
          <p:nvPr/>
        </p:nvSpPr>
        <p:spPr>
          <a:xfrm>
            <a:off x="3390138" y="1773936"/>
            <a:ext cx="2567178" cy="28346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773936"/>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1306"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What points to it</a:t>
            </a:r>
          </a:p>
        </p:txBody>
      </p:sp>
      <p:sp>
        <p:nvSpPr>
          <p:cNvPr id="19" name="TextBox 18"/>
          <p:cNvSpPr txBox="1"/>
          <p:nvPr/>
        </p:nvSpPr>
        <p:spPr>
          <a:xfrm>
            <a:off x="3591306" y="2523744"/>
            <a:ext cx="2164842" cy="193852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Chorioretinitis, hydrocephalus, intracranial calcification</a:t>
            </a:r>
          </a:p>
          <a:p>
            <a:pPr algn="l">
              <a:spcAft>
                <a:spcPts val="500"/>
              </a:spcAft>
            </a:pPr>
            <a:r>
              <a:rPr sz="1250" b="0" i="0">
                <a:solidFill>
                  <a:srgbClr val="1A1A1A"/>
                </a:solidFill>
                <a:latin typeface="Abadi"/>
              </a:rPr>
              <a:t>▪  Hepatosplenomegaly and jaundice in generalised disease</a:t>
            </a:r>
          </a:p>
          <a:p>
            <a:pPr algn="l">
              <a:spcAft>
                <a:spcPts val="500"/>
              </a:spcAft>
            </a:pPr>
            <a:r>
              <a:rPr sz="1250" b="0" i="0">
                <a:solidFill>
                  <a:srgbClr val="1A1A1A"/>
                </a:solidFill>
                <a:latin typeface="Abadi"/>
              </a:rPr>
              <a:t>▪  Maternal seroconversion in pregnancy</a:t>
            </a:r>
          </a:p>
        </p:txBody>
      </p:sp>
      <p:sp>
        <p:nvSpPr>
          <p:cNvPr id="20" name="Rectangle 19"/>
          <p:cNvSpPr/>
          <p:nvPr/>
        </p:nvSpPr>
        <p:spPr>
          <a:xfrm>
            <a:off x="6231636" y="1773936"/>
            <a:ext cx="2567178" cy="28346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773936"/>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2803"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How to prove it</a:t>
            </a:r>
          </a:p>
        </p:txBody>
      </p:sp>
      <p:sp>
        <p:nvSpPr>
          <p:cNvPr id="23" name="TextBox 22"/>
          <p:cNvSpPr txBox="1"/>
          <p:nvPr/>
        </p:nvSpPr>
        <p:spPr>
          <a:xfrm>
            <a:off x="6432803" y="2523744"/>
            <a:ext cx="2164842" cy="193852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Infant IgM and IgA, IgG kinetics against the mother</a:t>
            </a:r>
          </a:p>
          <a:p>
            <a:pPr algn="l">
              <a:spcAft>
                <a:spcPts val="500"/>
              </a:spcAft>
            </a:pPr>
            <a:r>
              <a:rPr sz="1250" b="0" i="0">
                <a:solidFill>
                  <a:srgbClr val="1A1A1A"/>
                </a:solidFill>
                <a:latin typeface="Abadi"/>
              </a:rPr>
              <a:t>▪  PCR of blood, urine or CSF</a:t>
            </a:r>
          </a:p>
          <a:p>
            <a:pPr algn="l">
              <a:spcAft>
                <a:spcPts val="500"/>
              </a:spcAft>
            </a:pPr>
            <a:r>
              <a:rPr sz="1250" b="0" i="0">
                <a:solidFill>
                  <a:srgbClr val="1A1A1A"/>
                </a:solidFill>
                <a:latin typeface="Abadi"/>
              </a:rPr>
              <a:t>▪  Ophthalmology and cranial imaging in every case</a:t>
            </a:r>
          </a:p>
        </p:txBody>
      </p:sp>
      <p:sp>
        <p:nvSpPr>
          <p:cNvPr id="24" name="Rectangle 23"/>
          <p:cNvSpPr/>
          <p:nvPr/>
        </p:nvSpPr>
        <p:spPr>
          <a:xfrm>
            <a:off x="9073134" y="1773936"/>
            <a:ext cx="2567178" cy="28346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773936"/>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74302"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How to treat</a:t>
            </a:r>
          </a:p>
        </p:txBody>
      </p:sp>
      <p:sp>
        <p:nvSpPr>
          <p:cNvPr id="27" name="TextBox 26"/>
          <p:cNvSpPr txBox="1"/>
          <p:nvPr/>
        </p:nvSpPr>
        <p:spPr>
          <a:xfrm>
            <a:off x="9274302" y="2523744"/>
            <a:ext cx="2164842" cy="193852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Pyrimethamine, sulfadiazine and folinic acid for 12 months</a:t>
            </a:r>
          </a:p>
          <a:p>
            <a:pPr algn="l">
              <a:spcAft>
                <a:spcPts val="500"/>
              </a:spcAft>
            </a:pPr>
            <a:r>
              <a:rPr sz="1250" b="0" i="0">
                <a:solidFill>
                  <a:srgbClr val="1A1A1A"/>
                </a:solidFill>
                <a:latin typeface="Abadi"/>
              </a:rPr>
              <a:t>▪  Weekly blood counts early: neutropenia</a:t>
            </a:r>
          </a:p>
          <a:p>
            <a:pPr algn="l">
              <a:spcAft>
                <a:spcPts val="500"/>
              </a:spcAft>
            </a:pPr>
            <a:r>
              <a:rPr sz="1250" b="0" i="0">
                <a:solidFill>
                  <a:srgbClr val="1A1A1A"/>
                </a:solidFill>
                <a:latin typeface="Abadi"/>
              </a:rPr>
              <a:t>▪  Steroids only for active eye or CSF disease</a:t>
            </a:r>
          </a:p>
        </p:txBody>
      </p:sp>
      <p:sp>
        <p:nvSpPr>
          <p:cNvPr id="28" name="TextBox 27"/>
          <p:cNvSpPr txBox="1"/>
          <p:nvPr/>
        </p:nvSpPr>
        <p:spPr>
          <a:xfrm>
            <a:off x="548640" y="4846320"/>
            <a:ext cx="11091672" cy="822960"/>
          </a:xfrm>
          <a:prstGeom prst="rect">
            <a:avLst/>
          </a:prstGeom>
          <a:noFill/>
        </p:spPr>
        <p:txBody>
          <a:bodyPr wrap="square" lIns="0" rIns="0" tIns="18288" bIns="18288" anchor="t">
            <a:spAutoFit/>
          </a:bodyPr>
          <a:lstStyle/>
          <a:p>
            <a:pPr algn="l"/>
            <a:r>
              <a:rPr sz="1250" b="0" i="0">
                <a:solidFill>
                  <a:srgbClr val="1A1A1A"/>
                </a:solidFill>
                <a:latin typeface="Abadi"/>
              </a:rPr>
              <a:t>Routine TORCH serology is not recommended by the 2017 guideline. Test for toxoplasma when the eye, the brain or the maternal history suggests it, not as a reflex panel.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NEONATAL LIVER FAILURE</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WHERE THE VIRUSES SIT</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Causes of acute liver failure in 148 infants aged 90 days or younger, Pediatric Acute Liver Failure Study Group,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12</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Sundaram SS, Alonso EM, Narkewicz MR, Zhang S, Squires RH. J Pediatr 2011;159:813–8</a:t>
            </a:r>
          </a:p>
        </p:txBody>
      </p:sp>
      <p:sp>
        <p:nvSpPr>
          <p:cNvPr id="12" name="TextBox 11"/>
          <p:cNvSpPr txBox="1"/>
          <p:nvPr/>
        </p:nvSpPr>
        <p:spPr>
          <a:xfrm>
            <a:off x="548640" y="1828800"/>
            <a:ext cx="2971800" cy="438912"/>
          </a:xfrm>
          <a:prstGeom prst="rect">
            <a:avLst/>
          </a:prstGeom>
          <a:noFill/>
        </p:spPr>
        <p:txBody>
          <a:bodyPr wrap="square" lIns="0" rIns="0" tIns="18288" bIns="18288" anchor="ctr">
            <a:spAutoFit/>
          </a:bodyPr>
          <a:lstStyle/>
          <a:p>
            <a:pPr algn="r"/>
            <a:r>
              <a:rPr sz="1100" b="0" i="0">
                <a:solidFill>
                  <a:srgbClr val="1A1A1A"/>
                </a:solidFill>
                <a:latin typeface="Abadi"/>
              </a:rPr>
              <a:t>Indeterminate</a:t>
            </a:r>
          </a:p>
        </p:txBody>
      </p:sp>
      <p:sp>
        <p:nvSpPr>
          <p:cNvPr id="13" name="Rectangle 12"/>
          <p:cNvSpPr/>
          <p:nvPr/>
        </p:nvSpPr>
        <p:spPr>
          <a:xfrm>
            <a:off x="3657600" y="1901952"/>
            <a:ext cx="3291839"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1828800"/>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37.8%</a:t>
            </a:r>
          </a:p>
        </p:txBody>
      </p:sp>
      <p:sp>
        <p:nvSpPr>
          <p:cNvPr id="15" name="TextBox 14"/>
          <p:cNvSpPr txBox="1"/>
          <p:nvPr/>
        </p:nvSpPr>
        <p:spPr>
          <a:xfrm>
            <a:off x="548640" y="2340864"/>
            <a:ext cx="2971800" cy="438912"/>
          </a:xfrm>
          <a:prstGeom prst="rect">
            <a:avLst/>
          </a:prstGeom>
          <a:noFill/>
        </p:spPr>
        <p:txBody>
          <a:bodyPr wrap="square" lIns="0" rIns="0" tIns="18288" bIns="18288" anchor="ctr">
            <a:spAutoFit/>
          </a:bodyPr>
          <a:lstStyle/>
          <a:p>
            <a:pPr algn="r"/>
            <a:r>
              <a:rPr sz="1100" b="0" i="0">
                <a:solidFill>
                  <a:srgbClr val="1A1A1A"/>
                </a:solidFill>
                <a:latin typeface="Abadi"/>
              </a:rPr>
              <a:t>Metabolic</a:t>
            </a:r>
          </a:p>
        </p:txBody>
      </p:sp>
      <p:sp>
        <p:nvSpPr>
          <p:cNvPr id="16" name="Rectangle 15"/>
          <p:cNvSpPr/>
          <p:nvPr/>
        </p:nvSpPr>
        <p:spPr>
          <a:xfrm>
            <a:off x="3657600" y="2414016"/>
            <a:ext cx="1645919"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76672" y="2340864"/>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18.9%</a:t>
            </a:r>
          </a:p>
        </p:txBody>
      </p:sp>
      <p:sp>
        <p:nvSpPr>
          <p:cNvPr id="18" name="TextBox 17"/>
          <p:cNvSpPr txBox="1"/>
          <p:nvPr/>
        </p:nvSpPr>
        <p:spPr>
          <a:xfrm>
            <a:off x="548640" y="2852928"/>
            <a:ext cx="2971800" cy="438912"/>
          </a:xfrm>
          <a:prstGeom prst="rect">
            <a:avLst/>
          </a:prstGeom>
          <a:noFill/>
        </p:spPr>
        <p:txBody>
          <a:bodyPr wrap="square" lIns="0" rIns="0" tIns="18288" bIns="18288" anchor="ctr">
            <a:spAutoFit/>
          </a:bodyPr>
          <a:lstStyle/>
          <a:p>
            <a:pPr algn="r"/>
            <a:r>
              <a:rPr sz="1100" b="0" i="0">
                <a:solidFill>
                  <a:srgbClr val="1A1A1A"/>
                </a:solidFill>
                <a:latin typeface="Abadi"/>
              </a:rPr>
              <a:t>Neonatal haemochromatosis (GALD)</a:t>
            </a:r>
          </a:p>
        </p:txBody>
      </p:sp>
      <p:sp>
        <p:nvSpPr>
          <p:cNvPr id="19" name="Rectangle 18"/>
          <p:cNvSpPr/>
          <p:nvPr/>
        </p:nvSpPr>
        <p:spPr>
          <a:xfrm>
            <a:off x="3657600" y="2926080"/>
            <a:ext cx="1175657"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06409" y="2852928"/>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13.5%</a:t>
            </a:r>
          </a:p>
        </p:txBody>
      </p:sp>
      <p:sp>
        <p:nvSpPr>
          <p:cNvPr id="21" name="TextBox 20"/>
          <p:cNvSpPr txBox="1"/>
          <p:nvPr/>
        </p:nvSpPr>
        <p:spPr>
          <a:xfrm>
            <a:off x="548640" y="3364992"/>
            <a:ext cx="2971800" cy="438912"/>
          </a:xfrm>
          <a:prstGeom prst="rect">
            <a:avLst/>
          </a:prstGeom>
          <a:noFill/>
        </p:spPr>
        <p:txBody>
          <a:bodyPr wrap="square" lIns="0" rIns="0" tIns="18288" bIns="18288" anchor="ctr">
            <a:spAutoFit/>
          </a:bodyPr>
          <a:lstStyle/>
          <a:p>
            <a:pPr algn="r"/>
            <a:r>
              <a:rPr sz="1100" b="0" i="0">
                <a:solidFill>
                  <a:srgbClr val="1A1A1A"/>
                </a:solidFill>
                <a:latin typeface="Abadi"/>
              </a:rPr>
              <a:t>Herpes simplex</a:t>
            </a:r>
          </a:p>
        </p:txBody>
      </p:sp>
      <p:sp>
        <p:nvSpPr>
          <p:cNvPr id="22" name="Rectangle 21"/>
          <p:cNvSpPr/>
          <p:nvPr/>
        </p:nvSpPr>
        <p:spPr>
          <a:xfrm>
            <a:off x="3657600" y="3438144"/>
            <a:ext cx="1114697"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5449" y="3364992"/>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12.8%</a:t>
            </a:r>
          </a:p>
        </p:txBody>
      </p:sp>
      <p:sp>
        <p:nvSpPr>
          <p:cNvPr id="24" name="TextBox 23"/>
          <p:cNvSpPr txBox="1"/>
          <p:nvPr/>
        </p:nvSpPr>
        <p:spPr>
          <a:xfrm>
            <a:off x="548640" y="3877056"/>
            <a:ext cx="2971800" cy="438912"/>
          </a:xfrm>
          <a:prstGeom prst="rect">
            <a:avLst/>
          </a:prstGeom>
          <a:noFill/>
        </p:spPr>
        <p:txBody>
          <a:bodyPr wrap="square" lIns="0" rIns="0" tIns="18288" bIns="18288" anchor="ctr">
            <a:spAutoFit/>
          </a:bodyPr>
          <a:lstStyle/>
          <a:p>
            <a:pPr algn="r"/>
            <a:r>
              <a:rPr sz="1100" b="0" i="0">
                <a:solidFill>
                  <a:srgbClr val="1A1A1A"/>
                </a:solidFill>
                <a:latin typeface="Abadi"/>
              </a:rPr>
              <a:t>Enterovirus</a:t>
            </a:r>
          </a:p>
        </p:txBody>
      </p:sp>
      <p:sp>
        <p:nvSpPr>
          <p:cNvPr id="25" name="Rectangle 24"/>
          <p:cNvSpPr/>
          <p:nvPr/>
        </p:nvSpPr>
        <p:spPr>
          <a:xfrm>
            <a:off x="3657600" y="3950208"/>
            <a:ext cx="235131"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65883" y="3877056"/>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2.7%</a:t>
            </a:r>
          </a:p>
        </p:txBody>
      </p:sp>
      <p:sp>
        <p:nvSpPr>
          <p:cNvPr id="27" name="TextBox 26"/>
          <p:cNvSpPr txBox="1"/>
          <p:nvPr/>
        </p:nvSpPr>
        <p:spPr>
          <a:xfrm>
            <a:off x="548640" y="4389120"/>
            <a:ext cx="2971800" cy="438912"/>
          </a:xfrm>
          <a:prstGeom prst="rect">
            <a:avLst/>
          </a:prstGeom>
          <a:noFill/>
        </p:spPr>
        <p:txBody>
          <a:bodyPr wrap="square" lIns="0" rIns="0" tIns="18288" bIns="18288" anchor="ctr">
            <a:spAutoFit/>
          </a:bodyPr>
          <a:lstStyle/>
          <a:p>
            <a:pPr algn="r"/>
            <a:r>
              <a:rPr sz="1100" b="0" i="0">
                <a:solidFill>
                  <a:srgbClr val="1A1A1A"/>
                </a:solidFill>
                <a:latin typeface="Abadi"/>
              </a:rPr>
              <a:t>Cytomegalovirus</a:t>
            </a:r>
          </a:p>
        </p:txBody>
      </p:sp>
      <p:sp>
        <p:nvSpPr>
          <p:cNvPr id="28" name="Rectangle 27"/>
          <p:cNvSpPr/>
          <p:nvPr/>
        </p:nvSpPr>
        <p:spPr>
          <a:xfrm>
            <a:off x="3657600" y="4462272"/>
            <a:ext cx="60960"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91712" y="4389120"/>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0.7%</a:t>
            </a:r>
          </a:p>
        </p:txBody>
      </p:sp>
      <p:sp>
        <p:nvSpPr>
          <p:cNvPr id="30" name="TextBox 29"/>
          <p:cNvSpPr txBox="1"/>
          <p:nvPr/>
        </p:nvSpPr>
        <p:spPr>
          <a:xfrm>
            <a:off x="548640" y="4901184"/>
            <a:ext cx="2971800" cy="438912"/>
          </a:xfrm>
          <a:prstGeom prst="rect">
            <a:avLst/>
          </a:prstGeom>
          <a:noFill/>
        </p:spPr>
        <p:txBody>
          <a:bodyPr wrap="square" lIns="0" rIns="0" tIns="18288" bIns="18288" anchor="ctr">
            <a:spAutoFit/>
          </a:bodyPr>
          <a:lstStyle/>
          <a:p>
            <a:pPr algn="r"/>
            <a:r>
              <a:rPr sz="1100" b="0" i="0">
                <a:solidFill>
                  <a:srgbClr val="1A1A1A"/>
                </a:solidFill>
                <a:latin typeface="Abadi"/>
              </a:rPr>
              <a:t>Other</a:t>
            </a:r>
          </a:p>
        </p:txBody>
      </p:sp>
      <p:sp>
        <p:nvSpPr>
          <p:cNvPr id="31" name="Rectangle 30"/>
          <p:cNvSpPr/>
          <p:nvPr/>
        </p:nvSpPr>
        <p:spPr>
          <a:xfrm>
            <a:off x="3657600" y="4974336"/>
            <a:ext cx="1114697"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45449" y="4901184"/>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12.8%</a:t>
            </a:r>
          </a:p>
        </p:txBody>
      </p:sp>
      <p:sp>
        <p:nvSpPr>
          <p:cNvPr id="33" name="TextBox 32"/>
          <p:cNvSpPr txBox="1"/>
          <p:nvPr/>
        </p:nvSpPr>
        <p:spPr>
          <a:xfrm>
            <a:off x="7680960" y="1828800"/>
            <a:ext cx="3931920" cy="3840480"/>
          </a:xfrm>
          <a:prstGeom prst="rect">
            <a:avLst/>
          </a:prstGeom>
          <a:noFill/>
        </p:spPr>
        <p:txBody>
          <a:bodyPr wrap="square" lIns="0" rIns="0" tIns="18288" bIns="18288" anchor="t">
            <a:spAutoFit/>
          </a:bodyPr>
          <a:lstStyle/>
          <a:p>
            <a:pPr algn="l">
              <a:spcAft>
                <a:spcPts val="300"/>
              </a:spcAft>
            </a:pPr>
            <a:r>
              <a:rPr sz="1700" b="1" i="0">
                <a:solidFill>
                  <a:srgbClr val="1B355E"/>
                </a:solidFill>
                <a:latin typeface="Abadi"/>
              </a:rPr>
              <a:t>64%</a:t>
            </a:r>
          </a:p>
          <a:p>
            <a:pPr algn="l">
              <a:spcAft>
                <a:spcPts val="300"/>
              </a:spcAft>
            </a:pPr>
            <a:r>
              <a:rPr sz="1100" b="0" i="0">
                <a:solidFill>
                  <a:srgbClr val="1A1A1A"/>
                </a:solidFill>
                <a:latin typeface="Abadi"/>
              </a:rPr>
              <a:t>Death without transplant at 21 days in viral liver failure, against 29% metabolic, 16% GALD and 14% indeterminate.</a:t>
            </a:r>
          </a:p>
          <a:p>
            <a:pPr algn="l">
              <a:spcAft>
                <a:spcPts val="300"/>
              </a:spcAft>
            </a:pPr>
            <a:r>
              <a:rPr sz="1700" b="1" i="0">
                <a:solidFill>
                  <a:srgbClr val="1B355E"/>
                </a:solidFill>
                <a:latin typeface="Abadi"/>
              </a:rPr>
              <a:t>0 of 24</a:t>
            </a:r>
          </a:p>
          <a:p>
            <a:pPr algn="l">
              <a:spcAft>
                <a:spcPts val="300"/>
              </a:spcAft>
            </a:pPr>
            <a:r>
              <a:rPr sz="1100" b="0" i="0">
                <a:solidFill>
                  <a:srgbClr val="1A1A1A"/>
                </a:solidFill>
                <a:latin typeface="Abadi"/>
              </a:rPr>
              <a:t>Viral cases transplanted; 20 were never listed.</a:t>
            </a:r>
          </a:p>
          <a:p>
            <a:pPr algn="l">
              <a:spcAft>
                <a:spcPts val="300"/>
              </a:spcAft>
            </a:pPr>
            <a:r>
              <a:rPr sz="1700" b="1" i="0">
                <a:solidFill>
                  <a:srgbClr val="1B355E"/>
                </a:solidFill>
                <a:latin typeface="Abadi"/>
              </a:rPr>
              <a:t>Median 18 days</a:t>
            </a:r>
          </a:p>
          <a:p>
            <a:pPr algn="l">
              <a:spcAft>
                <a:spcPts val="300"/>
              </a:spcAft>
            </a:pPr>
            <a:r>
              <a:rPr sz="1100" b="0" i="0">
                <a:solidFill>
                  <a:srgbClr val="1A1A1A"/>
                </a:solidFill>
                <a:latin typeface="Abadi"/>
              </a:rPr>
              <a:t>Age at presentation in the cohort.</a:t>
            </a:r>
          </a:p>
          <a:p>
            <a:pPr algn="l">
              <a:spcAft>
                <a:spcPts val="300"/>
              </a:spcAft>
            </a:pPr>
            <a:r>
              <a:rPr sz="1700" b="1" i="0">
                <a:solidFill>
                  <a:srgbClr val="1B355E"/>
                </a:solidFill>
                <a:latin typeface="Abadi"/>
              </a:rPr>
              <a:t>Overall</a:t>
            </a:r>
          </a:p>
          <a:p>
            <a:pPr algn="l">
              <a:spcAft>
                <a:spcPts val="300"/>
              </a:spcAft>
            </a:pPr>
            <a:r>
              <a:rPr sz="1100" b="0" i="0">
                <a:solidFill>
                  <a:srgbClr val="1A1A1A"/>
                </a:solidFill>
                <a:latin typeface="Abadi"/>
              </a:rPr>
              <a:t>60% survived with their own liver, 16% were transplanted, 24% died.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NEONATAL HSV</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LIVER FAILURE WITHOUT VESICLES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Why disseminated HSV is missed, and why the liver tests matter</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13</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Cruz AT, et al. Pediatrics 2018;141:e20171688 · Curfman AL, et al. J Pediatr 2016;172:121–6 · National Child Mortality Database (England) 2025</a:t>
            </a:r>
          </a:p>
        </p:txBody>
      </p:sp>
      <p:sp>
        <p:nvSpPr>
          <p:cNvPr id="12" name="Rectangle 11"/>
          <p:cNvSpPr/>
          <p:nvPr/>
        </p:nvSpPr>
        <p:spPr>
          <a:xfrm>
            <a:off x="548640" y="1810512"/>
            <a:ext cx="2567178" cy="20116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810512"/>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30552"/>
            <a:ext cx="2292858" cy="777240"/>
          </a:xfrm>
          <a:prstGeom prst="rect">
            <a:avLst/>
          </a:prstGeom>
          <a:noFill/>
        </p:spPr>
        <p:txBody>
          <a:bodyPr wrap="square" lIns="0" rIns="0" tIns="18288" bIns="18288" anchor="t">
            <a:spAutoFit/>
          </a:bodyPr>
          <a:lstStyle/>
          <a:p>
            <a:pPr algn="l"/>
            <a:r>
              <a:rPr sz="2800" b="1" i="0">
                <a:solidFill>
                  <a:srgbClr val="1B355E"/>
                </a:solidFill>
                <a:latin typeface="Abadi"/>
              </a:rPr>
              <a:t>0.42%</a:t>
            </a:r>
          </a:p>
        </p:txBody>
      </p:sp>
      <p:sp>
        <p:nvSpPr>
          <p:cNvPr id="15" name="TextBox 14"/>
          <p:cNvSpPr txBox="1"/>
          <p:nvPr/>
        </p:nvSpPr>
        <p:spPr>
          <a:xfrm>
            <a:off x="685800" y="2980944"/>
            <a:ext cx="2292858" cy="777240"/>
          </a:xfrm>
          <a:prstGeom prst="rect">
            <a:avLst/>
          </a:prstGeom>
          <a:noFill/>
        </p:spPr>
        <p:txBody>
          <a:bodyPr wrap="square" lIns="0" rIns="0" tIns="18288" bIns="18288" anchor="t">
            <a:spAutoFit/>
          </a:bodyPr>
          <a:lstStyle/>
          <a:p>
            <a:pPr algn="l"/>
            <a:r>
              <a:rPr sz="1100" b="0" i="0">
                <a:solidFill>
                  <a:srgbClr val="1A1A1A"/>
                </a:solidFill>
                <a:latin typeface="Abadi"/>
              </a:rPr>
              <a:t>HSV among 26,533 infants aged 60 days or less who had CSF tested; 80% of cases in weeks 1–4 (Cruz 2018)</a:t>
            </a:r>
          </a:p>
        </p:txBody>
      </p:sp>
      <p:sp>
        <p:nvSpPr>
          <p:cNvPr id="16" name="Rectangle 15"/>
          <p:cNvSpPr/>
          <p:nvPr/>
        </p:nvSpPr>
        <p:spPr>
          <a:xfrm>
            <a:off x="3390138" y="1810512"/>
            <a:ext cx="2567178" cy="20116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810512"/>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130552"/>
            <a:ext cx="2292858" cy="777240"/>
          </a:xfrm>
          <a:prstGeom prst="rect">
            <a:avLst/>
          </a:prstGeom>
          <a:noFill/>
        </p:spPr>
        <p:txBody>
          <a:bodyPr wrap="square" lIns="0" rIns="0" tIns="18288" bIns="18288" anchor="t">
            <a:spAutoFit/>
          </a:bodyPr>
          <a:lstStyle/>
          <a:p>
            <a:pPr algn="l"/>
            <a:r>
              <a:rPr sz="2800" b="1" i="0">
                <a:solidFill>
                  <a:srgbClr val="1B355E"/>
                </a:solidFill>
                <a:latin typeface="Abadi"/>
              </a:rPr>
              <a:t>45%</a:t>
            </a:r>
          </a:p>
        </p:txBody>
      </p:sp>
      <p:sp>
        <p:nvSpPr>
          <p:cNvPr id="19" name="TextBox 18"/>
          <p:cNvSpPr txBox="1"/>
          <p:nvPr/>
        </p:nvSpPr>
        <p:spPr>
          <a:xfrm>
            <a:off x="3527298" y="2980944"/>
            <a:ext cx="2292858" cy="777240"/>
          </a:xfrm>
          <a:prstGeom prst="rect">
            <a:avLst/>
          </a:prstGeom>
          <a:noFill/>
        </p:spPr>
        <p:txBody>
          <a:bodyPr wrap="square" lIns="0" rIns="0" tIns="18288" bIns="18288" anchor="t">
            <a:spAutoFit/>
          </a:bodyPr>
          <a:lstStyle/>
          <a:p>
            <a:pPr algn="l"/>
            <a:r>
              <a:rPr sz="1100" b="0" i="0">
                <a:solidFill>
                  <a:srgbClr val="1A1A1A"/>
                </a:solidFill>
                <a:latin typeface="Abadi"/>
              </a:rPr>
              <a:t>Disseminated disease among 49 confirmed cases; 33% CNS, 20% skin-eye-mouth (Curfman 2016)</a:t>
            </a:r>
          </a:p>
        </p:txBody>
      </p:sp>
      <p:sp>
        <p:nvSpPr>
          <p:cNvPr id="20" name="Rectangle 19"/>
          <p:cNvSpPr/>
          <p:nvPr/>
        </p:nvSpPr>
        <p:spPr>
          <a:xfrm>
            <a:off x="6231636" y="1810512"/>
            <a:ext cx="2567178" cy="20116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810512"/>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130552"/>
            <a:ext cx="2292858" cy="777240"/>
          </a:xfrm>
          <a:prstGeom prst="rect">
            <a:avLst/>
          </a:prstGeom>
          <a:noFill/>
        </p:spPr>
        <p:txBody>
          <a:bodyPr wrap="square" lIns="0" rIns="0" tIns="18288" bIns="18288" anchor="t">
            <a:spAutoFit/>
          </a:bodyPr>
          <a:lstStyle/>
          <a:p>
            <a:pPr algn="l"/>
            <a:r>
              <a:rPr sz="2800" b="1" i="0">
                <a:solidFill>
                  <a:srgbClr val="1B355E"/>
                </a:solidFill>
                <a:latin typeface="Abadi"/>
              </a:rPr>
              <a:t>16%</a:t>
            </a:r>
          </a:p>
        </p:txBody>
      </p:sp>
      <p:sp>
        <p:nvSpPr>
          <p:cNvPr id="23" name="TextBox 22"/>
          <p:cNvSpPr txBox="1"/>
          <p:nvPr/>
        </p:nvSpPr>
        <p:spPr>
          <a:xfrm>
            <a:off x="6368796" y="2980944"/>
            <a:ext cx="2292858" cy="777240"/>
          </a:xfrm>
          <a:prstGeom prst="rect">
            <a:avLst/>
          </a:prstGeom>
          <a:noFill/>
        </p:spPr>
        <p:txBody>
          <a:bodyPr wrap="square" lIns="0" rIns="0" tIns="18288" bIns="18288" anchor="t">
            <a:spAutoFit/>
          </a:bodyPr>
          <a:lstStyle/>
          <a:p>
            <a:pPr algn="l"/>
            <a:r>
              <a:rPr sz="1100" b="0" i="0">
                <a:solidFill>
                  <a:srgbClr val="1A1A1A"/>
                </a:solidFill>
                <a:latin typeface="Abadi"/>
              </a:rPr>
              <a:t>Presented with no seizure, no vesicles and no critical illness</a:t>
            </a:r>
          </a:p>
        </p:txBody>
      </p:sp>
      <p:sp>
        <p:nvSpPr>
          <p:cNvPr id="24" name="Rectangle 23"/>
          <p:cNvSpPr/>
          <p:nvPr/>
        </p:nvSpPr>
        <p:spPr>
          <a:xfrm>
            <a:off x="9073134" y="1810512"/>
            <a:ext cx="2567178" cy="20116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810512"/>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130552"/>
            <a:ext cx="2292858" cy="777240"/>
          </a:xfrm>
          <a:prstGeom prst="rect">
            <a:avLst/>
          </a:prstGeom>
          <a:noFill/>
        </p:spPr>
        <p:txBody>
          <a:bodyPr wrap="square" lIns="0" rIns="0" tIns="18288" bIns="18288" anchor="t">
            <a:spAutoFit/>
          </a:bodyPr>
          <a:lstStyle/>
          <a:p>
            <a:pPr algn="l"/>
            <a:r>
              <a:rPr sz="2800" b="1" i="0">
                <a:solidFill>
                  <a:srgbClr val="1B355E"/>
                </a:solidFill>
                <a:latin typeface="Abadi"/>
              </a:rPr>
              <a:t>23 of 23</a:t>
            </a:r>
          </a:p>
        </p:txBody>
      </p:sp>
      <p:sp>
        <p:nvSpPr>
          <p:cNvPr id="27" name="TextBox 26"/>
          <p:cNvSpPr txBox="1"/>
          <p:nvPr/>
        </p:nvSpPr>
        <p:spPr>
          <a:xfrm>
            <a:off x="9210294" y="2980944"/>
            <a:ext cx="2292858" cy="777240"/>
          </a:xfrm>
          <a:prstGeom prst="rect">
            <a:avLst/>
          </a:prstGeom>
          <a:noFill/>
        </p:spPr>
        <p:txBody>
          <a:bodyPr wrap="square" lIns="0" rIns="0" tIns="18288" bIns="18288" anchor="t">
            <a:spAutoFit/>
          </a:bodyPr>
          <a:lstStyle/>
          <a:p>
            <a:pPr algn="l"/>
            <a:r>
              <a:rPr sz="1100" b="0" i="0">
                <a:solidFill>
                  <a:srgbClr val="1A1A1A"/>
                </a:solidFill>
                <a:latin typeface="Abadi"/>
              </a:rPr>
              <a:t>English infants who died of HSV within 4 days, 2019–2024: every one had liver failure</a:t>
            </a:r>
          </a:p>
        </p:txBody>
      </p:sp>
      <p:sp>
        <p:nvSpPr>
          <p:cNvPr id="28" name="TextBox 27"/>
          <p:cNvSpPr txBox="1"/>
          <p:nvPr/>
        </p:nvSpPr>
        <p:spPr>
          <a:xfrm>
            <a:off x="548640" y="4069080"/>
            <a:ext cx="11091672" cy="1691640"/>
          </a:xfrm>
          <a:prstGeom prst="rect">
            <a:avLst/>
          </a:prstGeom>
          <a:noFill/>
        </p:spPr>
        <p:txBody>
          <a:bodyPr wrap="square" lIns="0" rIns="0" tIns="18288" bIns="18288" anchor="t">
            <a:spAutoFit/>
          </a:bodyPr>
          <a:lstStyle/>
          <a:p>
            <a:pPr algn="l">
              <a:spcAft>
                <a:spcPts val="600"/>
              </a:spcAft>
            </a:pPr>
            <a:r>
              <a:rPr sz="1250" b="1" i="0">
                <a:solidFill>
                  <a:srgbClr val="1B355E"/>
                </a:solidFill>
                <a:latin typeface="Abadi"/>
              </a:rPr>
              <a:t>Presentation.  </a:t>
            </a:r>
            <a:r>
              <a:rPr sz="1250" b="0" i="0">
                <a:solidFill>
                  <a:srgbClr val="1A1A1A"/>
                </a:solidFill>
                <a:latin typeface="Abadi"/>
              </a:rPr>
              <a:t>Days 5 to 12, fever or hypothermia, lethargy, very high aminotransferases, coagulopathy and DIC, often with a mother who never had a recognised lesion.</a:t>
            </a:r>
          </a:p>
          <a:p>
            <a:pPr algn="l">
              <a:spcAft>
                <a:spcPts val="600"/>
              </a:spcAft>
            </a:pPr>
            <a:r>
              <a:rPr sz="1250" b="1" i="0">
                <a:solidFill>
                  <a:srgbClr val="1B355E"/>
                </a:solidFill>
                <a:latin typeface="Abadi"/>
              </a:rPr>
              <a:t>Action.  </a:t>
            </a:r>
            <a:r>
              <a:rPr sz="1250" b="0" i="0">
                <a:solidFill>
                  <a:srgbClr val="1A1A1A"/>
                </a:solidFill>
                <a:latin typeface="Abadi"/>
              </a:rPr>
              <a:t>Any neonate with liver failure, or with sepsis and raised aminotransferases, gets intravenous acyclovir at once, with blood PCR, surface swabs and CSF PCR. Waiting for the result is the error that kills.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HSV TREATMENT</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DOSE AND TIME DECIDE SURVIVAL</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Mortality in neonatal HSV by acyclovir dose, NIAID Collaborative Antiviral Study Group,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14</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Kimberlin DW, et al. Pediatrics 2001;108:230–8 · Kimberlin DW, et al. NEJM 2011;365:1284–92 · Shah SS, et al. Pediatrics 2011;128:1153–60</a:t>
            </a:r>
          </a:p>
        </p:txBody>
      </p:sp>
      <p:sp>
        <p:nvSpPr>
          <p:cNvPr id="12" name="Rectangle 11"/>
          <p:cNvSpPr/>
          <p:nvPr/>
        </p:nvSpPr>
        <p:spPr>
          <a:xfrm>
            <a:off x="548640" y="1847088"/>
            <a:ext cx="137160" cy="1371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801368"/>
            <a:ext cx="2377440" cy="228600"/>
          </a:xfrm>
          <a:prstGeom prst="rect">
            <a:avLst/>
          </a:prstGeom>
          <a:noFill/>
        </p:spPr>
        <p:txBody>
          <a:bodyPr wrap="square" lIns="0" rIns="0" tIns="18288" bIns="18288" anchor="t">
            <a:spAutoFit/>
          </a:bodyPr>
          <a:lstStyle/>
          <a:p>
            <a:pPr algn="l"/>
            <a:r>
              <a:rPr sz="950" b="0" i="0">
                <a:solidFill>
                  <a:srgbClr val="1A1A1A"/>
                </a:solidFill>
                <a:latin typeface="Abadi"/>
              </a:rPr>
              <a:t>Untreated (historical, approximate)</a:t>
            </a:r>
          </a:p>
        </p:txBody>
      </p:sp>
      <p:sp>
        <p:nvSpPr>
          <p:cNvPr id="14" name="Rectangle 13"/>
          <p:cNvSpPr/>
          <p:nvPr/>
        </p:nvSpPr>
        <p:spPr>
          <a:xfrm>
            <a:off x="3589020" y="1847088"/>
            <a:ext cx="137160" cy="1371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90187" y="1801368"/>
            <a:ext cx="2377440" cy="228600"/>
          </a:xfrm>
          <a:prstGeom prst="rect">
            <a:avLst/>
          </a:prstGeom>
          <a:noFill/>
        </p:spPr>
        <p:txBody>
          <a:bodyPr wrap="square" lIns="0" rIns="0" tIns="18288" bIns="18288" anchor="t">
            <a:spAutoFit/>
          </a:bodyPr>
          <a:lstStyle/>
          <a:p>
            <a:pPr algn="l"/>
            <a:r>
              <a:rPr sz="950" b="0" i="0">
                <a:solidFill>
                  <a:srgbClr val="1A1A1A"/>
                </a:solidFill>
                <a:latin typeface="Abadi"/>
              </a:rPr>
              <a:t>30 mg/kg/day</a:t>
            </a:r>
          </a:p>
        </p:txBody>
      </p:sp>
      <p:sp>
        <p:nvSpPr>
          <p:cNvPr id="16" name="Rectangle 15"/>
          <p:cNvSpPr/>
          <p:nvPr/>
        </p:nvSpPr>
        <p:spPr>
          <a:xfrm>
            <a:off x="5052059" y="1847088"/>
            <a:ext cx="137160" cy="1371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3227" y="1801368"/>
            <a:ext cx="2377440" cy="228600"/>
          </a:xfrm>
          <a:prstGeom prst="rect">
            <a:avLst/>
          </a:prstGeom>
          <a:noFill/>
        </p:spPr>
        <p:txBody>
          <a:bodyPr wrap="square" lIns="0" rIns="0" tIns="18288" bIns="18288" anchor="t">
            <a:spAutoFit/>
          </a:bodyPr>
          <a:lstStyle/>
          <a:p>
            <a:pPr algn="l"/>
            <a:r>
              <a:rPr sz="950" b="0" i="0">
                <a:solidFill>
                  <a:srgbClr val="1A1A1A"/>
                </a:solidFill>
                <a:latin typeface="Abadi"/>
              </a:rPr>
              <a:t>60 mg/kg/day</a:t>
            </a:r>
          </a:p>
        </p:txBody>
      </p:sp>
      <p:sp>
        <p:nvSpPr>
          <p:cNvPr id="18" name="Rectangle 17"/>
          <p:cNvSpPr/>
          <p:nvPr/>
        </p:nvSpPr>
        <p:spPr>
          <a:xfrm>
            <a:off x="548640" y="5349240"/>
            <a:ext cx="603504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46988" y="2939796"/>
            <a:ext cx="649224" cy="240944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540" y="2683763"/>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85%</a:t>
            </a:r>
          </a:p>
        </p:txBody>
      </p:sp>
      <p:sp>
        <p:nvSpPr>
          <p:cNvPr id="21" name="Rectangle 20"/>
          <p:cNvSpPr/>
          <p:nvPr/>
        </p:nvSpPr>
        <p:spPr>
          <a:xfrm>
            <a:off x="1732788" y="3620109"/>
            <a:ext cx="649224" cy="172913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7340" y="3364077"/>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61%</a:t>
            </a:r>
          </a:p>
        </p:txBody>
      </p:sp>
      <p:sp>
        <p:nvSpPr>
          <p:cNvPr id="23" name="Rectangle 22"/>
          <p:cNvSpPr/>
          <p:nvPr/>
        </p:nvSpPr>
        <p:spPr>
          <a:xfrm>
            <a:off x="2418588" y="4470501"/>
            <a:ext cx="649224" cy="87873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63140" y="4214469"/>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31%</a:t>
            </a:r>
          </a:p>
        </p:txBody>
      </p:sp>
      <p:sp>
        <p:nvSpPr>
          <p:cNvPr id="25" name="TextBox 24"/>
          <p:cNvSpPr txBox="1"/>
          <p:nvPr/>
        </p:nvSpPr>
        <p:spPr>
          <a:xfrm>
            <a:off x="548640" y="5385816"/>
            <a:ext cx="3017520" cy="274320"/>
          </a:xfrm>
          <a:prstGeom prst="rect">
            <a:avLst/>
          </a:prstGeom>
          <a:noFill/>
        </p:spPr>
        <p:txBody>
          <a:bodyPr wrap="square" lIns="0" rIns="0" tIns="18288" bIns="18288" anchor="t">
            <a:spAutoFit/>
          </a:bodyPr>
          <a:lstStyle/>
          <a:p>
            <a:pPr algn="ctr"/>
            <a:r>
              <a:rPr sz="950" b="0" i="0">
                <a:solidFill>
                  <a:srgbClr val="1A1A1A"/>
                </a:solidFill>
                <a:latin typeface="Abadi"/>
              </a:rPr>
              <a:t>Disseminated</a:t>
            </a:r>
          </a:p>
        </p:txBody>
      </p:sp>
      <p:sp>
        <p:nvSpPr>
          <p:cNvPr id="26" name="Rectangle 25"/>
          <p:cNvSpPr/>
          <p:nvPr/>
        </p:nvSpPr>
        <p:spPr>
          <a:xfrm>
            <a:off x="4064507" y="3931920"/>
            <a:ext cx="649224" cy="141732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9059" y="3675888"/>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50%</a:t>
            </a:r>
          </a:p>
        </p:txBody>
      </p:sp>
      <p:sp>
        <p:nvSpPr>
          <p:cNvPr id="28" name="Rectangle 27"/>
          <p:cNvSpPr/>
          <p:nvPr/>
        </p:nvSpPr>
        <p:spPr>
          <a:xfrm>
            <a:off x="4750307" y="4810658"/>
            <a:ext cx="649224" cy="538581"/>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94859" y="4554626"/>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19%</a:t>
            </a:r>
          </a:p>
        </p:txBody>
      </p:sp>
      <p:sp>
        <p:nvSpPr>
          <p:cNvPr id="30" name="Rectangle 29"/>
          <p:cNvSpPr/>
          <p:nvPr/>
        </p:nvSpPr>
        <p:spPr>
          <a:xfrm>
            <a:off x="5436107" y="5179161"/>
            <a:ext cx="649224" cy="17007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80659" y="4923129"/>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6%</a:t>
            </a:r>
          </a:p>
        </p:txBody>
      </p:sp>
      <p:sp>
        <p:nvSpPr>
          <p:cNvPr id="32" name="TextBox 31"/>
          <p:cNvSpPr txBox="1"/>
          <p:nvPr/>
        </p:nvSpPr>
        <p:spPr>
          <a:xfrm>
            <a:off x="3566160" y="5385816"/>
            <a:ext cx="3017520" cy="274320"/>
          </a:xfrm>
          <a:prstGeom prst="rect">
            <a:avLst/>
          </a:prstGeom>
          <a:noFill/>
        </p:spPr>
        <p:txBody>
          <a:bodyPr wrap="square" lIns="0" rIns="0" tIns="18288" bIns="18288" anchor="t">
            <a:spAutoFit/>
          </a:bodyPr>
          <a:lstStyle/>
          <a:p>
            <a:pPr algn="ctr"/>
            <a:r>
              <a:rPr sz="950" b="0" i="0">
                <a:solidFill>
                  <a:srgbClr val="1A1A1A"/>
                </a:solidFill>
                <a:latin typeface="Abadi"/>
              </a:rPr>
              <a:t>CNS</a:t>
            </a:r>
          </a:p>
        </p:txBody>
      </p:sp>
      <p:sp>
        <p:nvSpPr>
          <p:cNvPr id="33" name="TextBox 32"/>
          <p:cNvSpPr txBox="1"/>
          <p:nvPr/>
        </p:nvSpPr>
        <p:spPr>
          <a:xfrm>
            <a:off x="6949440" y="1828800"/>
            <a:ext cx="4663440" cy="3840480"/>
          </a:xfrm>
          <a:prstGeom prst="rect">
            <a:avLst/>
          </a:prstGeom>
          <a:noFill/>
        </p:spPr>
        <p:txBody>
          <a:bodyPr wrap="square" lIns="0" rIns="0" tIns="18288" bIns="18288" anchor="t">
            <a:spAutoFit/>
          </a:bodyPr>
          <a:lstStyle/>
          <a:p>
            <a:pPr algn="l">
              <a:spcAft>
                <a:spcPts val="300"/>
              </a:spcAft>
            </a:pPr>
            <a:r>
              <a:rPr sz="1700" b="1" i="0">
                <a:solidFill>
                  <a:srgbClr val="1B355E"/>
                </a:solidFill>
                <a:latin typeface="Abadi"/>
              </a:rPr>
              <a:t>60 mg/kg/day</a:t>
            </a:r>
          </a:p>
          <a:p>
            <a:pPr algn="l">
              <a:spcAft>
                <a:spcPts val="300"/>
              </a:spcAft>
            </a:pPr>
            <a:r>
              <a:rPr sz="1100" b="0" i="0">
                <a:solidFill>
                  <a:srgbClr val="1A1A1A"/>
                </a:solidFill>
                <a:latin typeface="Abadi"/>
              </a:rPr>
              <a:t>20 mg/kg every 8 hours: 21 days for disseminated and CNS disease, 14 days for skin-eye-mouth. Treated mortality shown at 24 months.</a:t>
            </a:r>
          </a:p>
          <a:p>
            <a:pPr algn="l">
              <a:spcAft>
                <a:spcPts val="300"/>
              </a:spcAft>
            </a:pPr>
            <a:r>
              <a:rPr sz="1700" b="1" i="0">
                <a:solidFill>
                  <a:srgbClr val="1B355E"/>
                </a:solidFill>
                <a:latin typeface="Abadi"/>
              </a:rPr>
              <a:t>88 vs 68</a:t>
            </a:r>
          </a:p>
          <a:p>
            <a:pPr algn="l">
              <a:spcAft>
                <a:spcPts val="300"/>
              </a:spcAft>
            </a:pPr>
            <a:r>
              <a:rPr sz="1100" b="0" i="0">
                <a:solidFill>
                  <a:srgbClr val="1A1A1A"/>
                </a:solidFill>
                <a:latin typeface="Abadi"/>
              </a:rPr>
              <a:t>Bayley mental score at 12 months after CNS disease with 6 months of oral suppression vs placebo.</a:t>
            </a:r>
          </a:p>
          <a:p>
            <a:pPr algn="l">
              <a:spcAft>
                <a:spcPts val="300"/>
              </a:spcAft>
            </a:pPr>
            <a:r>
              <a:rPr sz="1700" b="1" i="0">
                <a:solidFill>
                  <a:srgbClr val="1B355E"/>
                </a:solidFill>
                <a:latin typeface="Abadi"/>
              </a:rPr>
              <a:t>Delay matters</a:t>
            </a:r>
          </a:p>
          <a:p>
            <a:pPr algn="l">
              <a:spcAft>
                <a:spcPts val="300"/>
              </a:spcAft>
            </a:pPr>
            <a:r>
              <a:rPr sz="1100" b="0" i="0">
                <a:solidFill>
                  <a:srgbClr val="1A1A1A"/>
                </a:solidFill>
                <a:latin typeface="Abadi"/>
              </a:rPr>
              <a:t>In 1,086 US infants, delayed acyclovir was associated with higher in-hospital mortality.</a:t>
            </a:r>
          </a:p>
          <a:p>
            <a:pPr algn="l">
              <a:spcAft>
                <a:spcPts val="300"/>
              </a:spcAft>
            </a:pPr>
            <a:r>
              <a:rPr sz="1700" b="1" i="0">
                <a:solidFill>
                  <a:srgbClr val="1B355E"/>
                </a:solidFill>
                <a:latin typeface="Abadi"/>
              </a:rPr>
              <a:t>Transplant</a:t>
            </a:r>
          </a:p>
          <a:p>
            <a:pPr algn="l">
              <a:spcAft>
                <a:spcPts val="300"/>
              </a:spcAft>
            </a:pPr>
            <a:r>
              <a:rPr sz="1100" b="0" i="0">
                <a:solidFill>
                  <a:srgbClr val="1A1A1A"/>
                </a:solidFill>
                <a:latin typeface="Abadi"/>
              </a:rPr>
              <a:t>Rarely an option: multiorgan disease and viraemia; survivors usually recover the liver.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ENTEROVIRUS AND PARECHOVIRUS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THE HAEMORRHAGE–HEPATITIS SYNDROME</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Echovirus 11 and coxsackie B in the first weeks of life</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15</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WHO DON474 (2023) · Grapin M, Euro Surveill 2023 · Wang P, Front Pediatr 2023 · Abzug MJ, JPIDS 2016;5:53–62 · Ikuse T, Euro Surveill 2025 · CDC HAN 00469</a:t>
            </a:r>
          </a:p>
        </p:txBody>
      </p:sp>
      <p:sp>
        <p:nvSpPr>
          <p:cNvPr id="12" name="Rectangle 11"/>
          <p:cNvSpPr/>
          <p:nvPr/>
        </p:nvSpPr>
        <p:spPr>
          <a:xfrm>
            <a:off x="548640" y="1773936"/>
            <a:ext cx="2567178" cy="29260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The 2022–23 signal</a:t>
            </a:r>
          </a:p>
        </p:txBody>
      </p:sp>
      <p:sp>
        <p:nvSpPr>
          <p:cNvPr id="15" name="TextBox 14"/>
          <p:cNvSpPr txBox="1"/>
          <p:nvPr/>
        </p:nvSpPr>
        <p:spPr>
          <a:xfrm>
            <a:off x="749808" y="2523744"/>
            <a:ext cx="2164842" cy="202996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France: 9 severe neonatal echovirus 11 cases, 7 deaths</a:t>
            </a:r>
          </a:p>
          <a:p>
            <a:pPr algn="l">
              <a:spcAft>
                <a:spcPts val="500"/>
              </a:spcAft>
            </a:pPr>
            <a:r>
              <a:rPr sz="1250" b="0" i="0">
                <a:solidFill>
                  <a:srgbClr val="1A1A1A"/>
                </a:solidFill>
                <a:latin typeface="Abadi"/>
              </a:rPr>
              <a:t>▪  Twin pairs and preterm infants over-represented</a:t>
            </a:r>
          </a:p>
          <a:p>
            <a:pPr algn="l">
              <a:spcAft>
                <a:spcPts val="500"/>
              </a:spcAft>
            </a:pPr>
            <a:r>
              <a:rPr sz="1250" b="0" i="0">
                <a:solidFill>
                  <a:srgbClr val="1A1A1A"/>
                </a:solidFill>
                <a:latin typeface="Abadi"/>
              </a:rPr>
              <a:t>▪  Japan 2024: 3 neonates with liver failure, all died</a:t>
            </a:r>
          </a:p>
        </p:txBody>
      </p:sp>
      <p:sp>
        <p:nvSpPr>
          <p:cNvPr id="16" name="Rectangle 15"/>
          <p:cNvSpPr/>
          <p:nvPr/>
        </p:nvSpPr>
        <p:spPr>
          <a:xfrm>
            <a:off x="3390138" y="1773936"/>
            <a:ext cx="2567178" cy="29260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773936"/>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1306"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The syndrome</a:t>
            </a:r>
          </a:p>
        </p:txBody>
      </p:sp>
      <p:sp>
        <p:nvSpPr>
          <p:cNvPr id="19" name="TextBox 18"/>
          <p:cNvSpPr txBox="1"/>
          <p:nvPr/>
        </p:nvSpPr>
        <p:spPr>
          <a:xfrm>
            <a:off x="3591306" y="2523744"/>
            <a:ext cx="2164842" cy="202996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Sepsis-like onset in week 1–2, often after a febrile mother</a:t>
            </a:r>
          </a:p>
          <a:p>
            <a:pPr algn="l">
              <a:spcAft>
                <a:spcPts val="500"/>
              </a:spcAft>
            </a:pPr>
            <a:r>
              <a:rPr sz="1250" b="0" i="0">
                <a:solidFill>
                  <a:srgbClr val="1A1A1A"/>
                </a:solidFill>
                <a:latin typeface="Abadi"/>
              </a:rPr>
              <a:t>▪  Hepatic necrosis, coagulopathy, thrombocytopenia</a:t>
            </a:r>
          </a:p>
          <a:p>
            <a:pPr algn="l">
              <a:spcAft>
                <a:spcPts val="500"/>
              </a:spcAft>
            </a:pPr>
            <a:r>
              <a:rPr sz="1250" b="0" i="0">
                <a:solidFill>
                  <a:srgbClr val="1A1A1A"/>
                </a:solidFill>
                <a:latin typeface="Abadi"/>
              </a:rPr>
              <a:t>▪  China 2019: 105 neonates, 20% mortality when severe</a:t>
            </a:r>
          </a:p>
        </p:txBody>
      </p:sp>
      <p:sp>
        <p:nvSpPr>
          <p:cNvPr id="20" name="Rectangle 19"/>
          <p:cNvSpPr/>
          <p:nvPr/>
        </p:nvSpPr>
        <p:spPr>
          <a:xfrm>
            <a:off x="6231636" y="1773936"/>
            <a:ext cx="2567178" cy="29260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773936"/>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2803"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Treatment</a:t>
            </a:r>
          </a:p>
        </p:txBody>
      </p:sp>
      <p:sp>
        <p:nvSpPr>
          <p:cNvPr id="23" name="TextBox 22"/>
          <p:cNvSpPr txBox="1"/>
          <p:nvPr/>
        </p:nvSpPr>
        <p:spPr>
          <a:xfrm>
            <a:off x="6432803" y="2523744"/>
            <a:ext cx="2164842" cy="202996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Supportive care; IVIG widely used, no randomised proof</a:t>
            </a:r>
          </a:p>
          <a:p>
            <a:pPr algn="l">
              <a:spcAft>
                <a:spcPts val="500"/>
              </a:spcAft>
            </a:pPr>
            <a:r>
              <a:rPr sz="1250" b="0" i="0">
                <a:solidFill>
                  <a:srgbClr val="1A1A1A"/>
                </a:solidFill>
                <a:latin typeface="Abadi"/>
              </a:rPr>
              <a:t>▪  Pleconaril trial: mortality 23% vs 44%, drug not marketed</a:t>
            </a:r>
          </a:p>
          <a:p>
            <a:pPr algn="l">
              <a:spcAft>
                <a:spcPts val="500"/>
              </a:spcAft>
            </a:pPr>
            <a:r>
              <a:rPr sz="1250" b="0" i="0">
                <a:solidFill>
                  <a:srgbClr val="1A1A1A"/>
                </a:solidFill>
                <a:latin typeface="Abadi"/>
              </a:rPr>
              <a:t>▪  Pocapavir only on compassionate use</a:t>
            </a:r>
          </a:p>
        </p:txBody>
      </p:sp>
      <p:sp>
        <p:nvSpPr>
          <p:cNvPr id="24" name="Rectangle 23"/>
          <p:cNvSpPr/>
          <p:nvPr/>
        </p:nvSpPr>
        <p:spPr>
          <a:xfrm>
            <a:off x="9073134" y="1773936"/>
            <a:ext cx="2567178" cy="29260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773936"/>
            <a:ext cx="2567178" cy="12801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74302"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Parechovirus</a:t>
            </a:r>
          </a:p>
        </p:txBody>
      </p:sp>
      <p:sp>
        <p:nvSpPr>
          <p:cNvPr id="27" name="TextBox 26"/>
          <p:cNvSpPr txBox="1"/>
          <p:nvPr/>
        </p:nvSpPr>
        <p:spPr>
          <a:xfrm>
            <a:off x="9274302" y="2523744"/>
            <a:ext cx="2164842" cy="202996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Severe in infants under 3 months</a:t>
            </a:r>
          </a:p>
          <a:p>
            <a:pPr algn="l">
              <a:spcAft>
                <a:spcPts val="500"/>
              </a:spcAft>
            </a:pPr>
            <a:r>
              <a:rPr sz="1250" b="0" i="0">
                <a:solidFill>
                  <a:srgbClr val="1A1A1A"/>
                </a:solidFill>
                <a:latin typeface="Abadi"/>
              </a:rPr>
              <a:t>▪  Sepsis-like illness, seizures, little CSF pleocytosis</a:t>
            </a:r>
          </a:p>
          <a:p>
            <a:pPr algn="l">
              <a:spcAft>
                <a:spcPts val="500"/>
              </a:spcAft>
            </a:pPr>
            <a:r>
              <a:rPr sz="1250" b="0" i="0">
                <a:solidFill>
                  <a:srgbClr val="1A1A1A"/>
                </a:solidFill>
                <a:latin typeface="Abadi"/>
              </a:rPr>
              <a:t>▪  Liver involvement uncommon</a:t>
            </a:r>
          </a:p>
        </p:txBody>
      </p:sp>
      <p:sp>
        <p:nvSpPr>
          <p:cNvPr id="28" name="TextBox 27"/>
          <p:cNvSpPr txBox="1"/>
          <p:nvPr/>
        </p:nvSpPr>
        <p:spPr>
          <a:xfrm>
            <a:off x="548640" y="4937760"/>
            <a:ext cx="11091672" cy="822960"/>
          </a:xfrm>
          <a:prstGeom prst="rect">
            <a:avLst/>
          </a:prstGeom>
          <a:noFill/>
        </p:spPr>
        <p:txBody>
          <a:bodyPr wrap="square" lIns="0" rIns="0" tIns="18288" bIns="18288" anchor="t">
            <a:spAutoFit/>
          </a:bodyPr>
          <a:lstStyle/>
          <a:p>
            <a:pPr algn="l"/>
            <a:r>
              <a:rPr sz="1250" b="0" i="0">
                <a:solidFill>
                  <a:srgbClr val="1A1A1A"/>
                </a:solidFill>
                <a:latin typeface="Abadi"/>
              </a:rPr>
              <a:t>Send enterovirus PCR on blood, CSF and stool in every neonate with liver failure. A positive result changes counselling and isolation more than therapy, and it means the infant is usually not a transplant candidate.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GUIDELINES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WHAT THE DOCUMENTS SAY</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North America versus Europe; AASLD and EASL have no neonatal liver failure guideline</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16</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Fawaz 2017 · Kemper 2022 · NICE NG195 · Rawlinson 2017 · Leruez-Ville 2024 · CDC 2021 · Janier M, JEADV 2021;35:574–88 · Wendon J, J Hepatol 2017;66:1047–81</a:t>
            </a:r>
          </a:p>
        </p:txBody>
      </p:sp>
      <p:graphicFrame>
        <p:nvGraphicFramePr>
          <p:cNvPr id="12" name="Table 11"/>
          <p:cNvGraphicFramePr>
            <a:graphicFrameLocks noGrp="1"/>
          </p:cNvGraphicFramePr>
          <p:nvPr/>
        </p:nvGraphicFramePr>
        <p:xfrm>
          <a:off x="548640" y="1773936"/>
          <a:ext cx="11091672" cy="3200400"/>
        </p:xfrm>
        <a:graphic>
          <a:graphicData uri="http://schemas.openxmlformats.org/drawingml/2006/table">
            <a:tbl>
              <a:tblPr firstRow="0" bandRow="0">
                <a:tableStyleId>{5C22544A-7EE6-4342-B048-85BDC9FD1C3A}</a:tableStyleId>
              </a:tblPr>
              <a:tblGrid>
                <a:gridCol w="1828800"/>
                <a:gridCol w="3657600"/>
                <a:gridCol w="4206240"/>
                <a:gridCol w="1399032"/>
              </a:tblGrid>
              <a:tr h="457200">
                <a:tc>
                  <a:txBody>
                    <a:bodyPr wrap="square"/>
                    <a:lstStyle/>
                    <a:p>
                      <a:r>
                        <a:rPr sz="1200" b="1">
                          <a:solidFill>
                            <a:srgbClr val="FFFFFF"/>
                          </a:solidFill>
                          <a:latin typeface="Abadi"/>
                        </a:rPr>
                        <a:t>Question</a:t>
                      </a:r>
                    </a:p>
                  </a:txBody>
                  <a:tcPr marL="73152" marR="73152" marT="27432" marB="27432" anchor="ctr">
                    <a:solidFill>
                      <a:srgbClr val="1B355E"/>
                    </a:solidFill>
                  </a:tcPr>
                </a:tc>
                <a:tc>
                  <a:txBody>
                    <a:bodyPr wrap="square"/>
                    <a:lstStyle/>
                    <a:p>
                      <a:r>
                        <a:rPr sz="1200" b="1">
                          <a:solidFill>
                            <a:srgbClr val="FFFFFF"/>
                          </a:solidFill>
                          <a:latin typeface="Abadi"/>
                        </a:rPr>
                        <a:t>North America (NASPGHAN · AAP · CDC)</a:t>
                      </a:r>
                    </a:p>
                  </a:txBody>
                  <a:tcPr marL="73152" marR="73152" marT="27432" marB="27432" anchor="ctr">
                    <a:solidFill>
                      <a:srgbClr val="1B355E"/>
                    </a:solidFill>
                  </a:tcPr>
                </a:tc>
                <a:tc>
                  <a:txBody>
                    <a:bodyPr wrap="square"/>
                    <a:lstStyle/>
                    <a:p>
                      <a:r>
                        <a:rPr sz="1200" b="1">
                          <a:solidFill>
                            <a:srgbClr val="FFFFFF"/>
                          </a:solidFill>
                          <a:latin typeface="Abadi"/>
                        </a:rPr>
                        <a:t>Europe (ESPGHAN · NICE · ECCI · IUSTI · EASL)</a:t>
                      </a:r>
                    </a:p>
                  </a:txBody>
                  <a:tcPr marL="73152" marR="73152" marT="27432" marB="27432" anchor="ctr">
                    <a:solidFill>
                      <a:srgbClr val="1B355E"/>
                    </a:solidFill>
                  </a:tcPr>
                </a:tc>
                <a:tc>
                  <a:txBody>
                    <a:bodyPr wrap="square"/>
                    <a:lstStyle/>
                    <a:p>
                      <a:r>
                        <a:rPr sz="1200" b="1">
                          <a:solidFill>
                            <a:srgbClr val="FFFFFF"/>
                          </a:solidFill>
                          <a:latin typeface="Abadi"/>
                        </a:rPr>
                        <a:t>Verdict</a:t>
                      </a:r>
                    </a:p>
                  </a:txBody>
                  <a:tcPr marL="73152" marR="73152" marT="27432" marB="27432" anchor="ctr">
                    <a:solidFill>
                      <a:srgbClr val="1B355E"/>
                    </a:solidFill>
                  </a:tcPr>
                </a:tc>
              </a:tr>
              <a:tr h="457200">
                <a:tc>
                  <a:txBody>
                    <a:bodyPr wrap="square"/>
                    <a:lstStyle/>
                    <a:p>
                      <a:r>
                        <a:rPr sz="1000" b="1">
                          <a:solidFill>
                            <a:srgbClr val="1A1A1A"/>
                          </a:solidFill>
                          <a:latin typeface="Abadi"/>
                        </a:rPr>
                        <a:t>Urine culture</a:t>
                      </a:r>
                    </a:p>
                  </a:txBody>
                  <a:tcPr marL="73152" marR="73152" marT="27432" marB="27432" anchor="ctr">
                    <a:solidFill>
                      <a:srgbClr val="FFFFFF"/>
                    </a:solidFill>
                  </a:tcPr>
                </a:tc>
                <a:tc>
                  <a:txBody>
                    <a:bodyPr wrap="square"/>
                    <a:lstStyle/>
                    <a:p>
                      <a:r>
                        <a:rPr sz="1000" b="0">
                          <a:solidFill>
                            <a:srgbClr val="1A1A1A"/>
                          </a:solidFill>
                          <a:latin typeface="Abadi"/>
                        </a:rPr>
                        <a:t>Joint 2017 guideline: early; AAP 2022 silent</a:t>
                      </a:r>
                    </a:p>
                  </a:txBody>
                  <a:tcPr marL="73152" marR="73152" marT="27432" marB="27432" anchor="ctr">
                    <a:solidFill>
                      <a:srgbClr val="FFFFFF"/>
                    </a:solidFill>
                  </a:tcPr>
                </a:tc>
                <a:tc>
                  <a:txBody>
                    <a:bodyPr wrap="square"/>
                    <a:lstStyle/>
                    <a:p>
                      <a:r>
                        <a:rPr sz="1000" b="0">
                          <a:solidFill>
                            <a:srgbClr val="1A1A1A"/>
                          </a:solidFill>
                          <a:latin typeface="Abadi"/>
                        </a:rPr>
                        <a:t>Joint 2017 guideline: early; UK data show very low yield in well infants</a:t>
                      </a:r>
                    </a:p>
                  </a:txBody>
                  <a:tcPr marL="73152" marR="73152" marT="27432" marB="27432" anchor="ctr">
                    <a:solidFill>
                      <a:srgbClr val="FFFFFF"/>
                    </a:solidFill>
                  </a:tcPr>
                </a:tc>
                <a:tc>
                  <a:txBody>
                    <a:bodyPr wrap="square"/>
                    <a:lstStyle/>
                    <a:p>
                      <a:pPr algn="ctr"/>
                      <a:r>
                        <a:rPr sz="1000" b="1">
                          <a:solidFill>
                            <a:srgbClr val="FFFFFF"/>
                          </a:solidFill>
                          <a:latin typeface="Abadi"/>
                        </a:rPr>
                        <a:t>DIFFERS</a:t>
                      </a:r>
                    </a:p>
                  </a:txBody>
                  <a:tcPr marL="73152" marR="73152" marT="27432" marB="27432" anchor="ctr">
                    <a:solidFill>
                      <a:srgbClr val="D97A0B"/>
                    </a:solidFill>
                  </a:tcPr>
                </a:tc>
              </a:tr>
              <a:tr h="457200">
                <a:tc>
                  <a:txBody>
                    <a:bodyPr wrap="square"/>
                    <a:lstStyle/>
                    <a:p>
                      <a:r>
                        <a:rPr sz="1000" b="1">
                          <a:solidFill>
                            <a:srgbClr val="1A1A1A"/>
                          </a:solidFill>
                          <a:latin typeface="Abadi"/>
                        </a:rPr>
                        <a:t>TORCH serology</a:t>
                      </a:r>
                    </a:p>
                  </a:txBody>
                  <a:tcPr marL="73152" marR="73152" marT="27432" marB="27432" anchor="ctr">
                    <a:solidFill>
                      <a:srgbClr val="F2F2F2"/>
                    </a:solidFill>
                  </a:tcPr>
                </a:tc>
                <a:tc>
                  <a:txBody>
                    <a:bodyPr wrap="square"/>
                    <a:lstStyle/>
                    <a:p>
                      <a:r>
                        <a:rPr sz="1000" b="0">
                          <a:solidFill>
                            <a:srgbClr val="1A1A1A"/>
                          </a:solidFill>
                          <a:latin typeface="Abadi"/>
                        </a:rPr>
                        <a:t>Not routine; targeted PCR</a:t>
                      </a:r>
                    </a:p>
                  </a:txBody>
                  <a:tcPr marL="73152" marR="73152" marT="27432" marB="27432" anchor="ctr">
                    <a:solidFill>
                      <a:srgbClr val="F2F2F2"/>
                    </a:solidFill>
                  </a:tcPr>
                </a:tc>
                <a:tc>
                  <a:txBody>
                    <a:bodyPr wrap="square"/>
                    <a:lstStyle/>
                    <a:p>
                      <a:r>
                        <a:rPr sz="1000" b="0">
                          <a:solidFill>
                            <a:srgbClr val="1A1A1A"/>
                          </a:solidFill>
                          <a:latin typeface="Abadi"/>
                        </a:rPr>
                        <a:t>Same joint guideline</a:t>
                      </a:r>
                    </a:p>
                  </a:txBody>
                  <a:tcPr marL="73152" marR="73152" marT="27432" marB="27432" anchor="ctr">
                    <a:solidFill>
                      <a:srgbClr val="F2F2F2"/>
                    </a:solidFill>
                  </a:tcPr>
                </a:tc>
                <a:tc>
                  <a:txBody>
                    <a:bodyPr wrap="square"/>
                    <a:lstStyle/>
                    <a:p>
                      <a:pPr algn="ctr"/>
                      <a:r>
                        <a:rPr sz="1000" b="1">
                          <a:solidFill>
                            <a:srgbClr val="FFFFFF"/>
                          </a:solidFill>
                          <a:latin typeface="Abadi"/>
                        </a:rPr>
                        <a:t>ALIGNED</a:t>
                      </a:r>
                    </a:p>
                  </a:txBody>
                  <a:tcPr marL="73152" marR="73152" marT="27432" marB="27432" anchor="ctr">
                    <a:solidFill>
                      <a:srgbClr val="1E7A33"/>
                    </a:solidFill>
                  </a:tcPr>
                </a:tc>
              </a:tr>
              <a:tr h="457200">
                <a:tc>
                  <a:txBody>
                    <a:bodyPr wrap="square"/>
                    <a:lstStyle/>
                    <a:p>
                      <a:r>
                        <a:rPr sz="1000" b="1">
                          <a:solidFill>
                            <a:srgbClr val="1A1A1A"/>
                          </a:solidFill>
                          <a:latin typeface="Abadi"/>
                        </a:rPr>
                        <a:t>CMV treatment</a:t>
                      </a:r>
                    </a:p>
                  </a:txBody>
                  <a:tcPr marL="73152" marR="73152" marT="27432" marB="27432" anchor="ctr">
                    <a:solidFill>
                      <a:srgbClr val="FFFFFF"/>
                    </a:solidFill>
                  </a:tcPr>
                </a:tc>
                <a:tc>
                  <a:txBody>
                    <a:bodyPr wrap="square"/>
                    <a:lstStyle/>
                    <a:p>
                      <a:r>
                        <a:rPr sz="1000" b="0">
                          <a:solidFill>
                            <a:srgbClr val="1A1A1A"/>
                          </a:solidFill>
                          <a:latin typeface="Abadi"/>
                        </a:rPr>
                        <a:t>Moderate–severe disease: 6 months valganciclovir</a:t>
                      </a:r>
                    </a:p>
                  </a:txBody>
                  <a:tcPr marL="73152" marR="73152" marT="27432" marB="27432" anchor="ctr">
                    <a:solidFill>
                      <a:srgbClr val="FFFFFF"/>
                    </a:solidFill>
                  </a:tcPr>
                </a:tc>
                <a:tc>
                  <a:txBody>
                    <a:bodyPr wrap="square"/>
                    <a:lstStyle/>
                    <a:p>
                      <a:r>
                        <a:rPr sz="1000" b="0">
                          <a:solidFill>
                            <a:srgbClr val="1A1A1A"/>
                          </a:solidFill>
                          <a:latin typeface="Abadi"/>
                        </a:rPr>
                        <a:t>ECCI 2024: same core; prevention in pregnancy added</a:t>
                      </a:r>
                    </a:p>
                  </a:txBody>
                  <a:tcPr marL="73152" marR="73152" marT="27432" marB="27432" anchor="ctr">
                    <a:solidFill>
                      <a:srgbClr val="FFFFFF"/>
                    </a:solidFill>
                  </a:tcPr>
                </a:tc>
                <a:tc>
                  <a:txBody>
                    <a:bodyPr wrap="square"/>
                    <a:lstStyle/>
                    <a:p>
                      <a:pPr algn="ctr"/>
                      <a:r>
                        <a:rPr sz="1000" b="1">
                          <a:solidFill>
                            <a:srgbClr val="FFFFFF"/>
                          </a:solidFill>
                          <a:latin typeface="Abadi"/>
                        </a:rPr>
                        <a:t>ALIGNED</a:t>
                      </a:r>
                    </a:p>
                  </a:txBody>
                  <a:tcPr marL="73152" marR="73152" marT="27432" marB="27432" anchor="ctr">
                    <a:solidFill>
                      <a:srgbClr val="1E7A33"/>
                    </a:solidFill>
                  </a:tcPr>
                </a:tc>
              </a:tr>
              <a:tr h="457200">
                <a:tc>
                  <a:txBody>
                    <a:bodyPr wrap="square"/>
                    <a:lstStyle/>
                    <a:p>
                      <a:r>
                        <a:rPr sz="1000" b="1">
                          <a:solidFill>
                            <a:srgbClr val="1A1A1A"/>
                          </a:solidFill>
                          <a:latin typeface="Abadi"/>
                        </a:rPr>
                        <a:t>Syphilis</a:t>
                      </a:r>
                    </a:p>
                  </a:txBody>
                  <a:tcPr marL="73152" marR="73152" marT="27432" marB="27432" anchor="ctr">
                    <a:solidFill>
                      <a:srgbClr val="F2F2F2"/>
                    </a:solidFill>
                  </a:tcPr>
                </a:tc>
                <a:tc>
                  <a:txBody>
                    <a:bodyPr wrap="square"/>
                    <a:lstStyle/>
                    <a:p>
                      <a:r>
                        <a:rPr sz="1000" b="0">
                          <a:solidFill>
                            <a:srgbClr val="1A1A1A"/>
                          </a:solidFill>
                          <a:latin typeface="Abadi"/>
                        </a:rPr>
                        <a:t>CDC four-scenario algorithm; 10 days penicillin</a:t>
                      </a:r>
                    </a:p>
                  </a:txBody>
                  <a:tcPr marL="73152" marR="73152" marT="27432" marB="27432" anchor="ctr">
                    <a:solidFill>
                      <a:srgbClr val="F2F2F2"/>
                    </a:solidFill>
                  </a:tcPr>
                </a:tc>
                <a:tc>
                  <a:txBody>
                    <a:bodyPr wrap="square"/>
                    <a:lstStyle/>
                    <a:p>
                      <a:r>
                        <a:rPr sz="1000" b="0">
                          <a:solidFill>
                            <a:srgbClr val="1A1A1A"/>
                          </a:solidFill>
                          <a:latin typeface="Abadi"/>
                        </a:rPr>
                        <a:t>IUSTI 2020: 10 days benzylpenicillin</a:t>
                      </a:r>
                    </a:p>
                  </a:txBody>
                  <a:tcPr marL="73152" marR="73152" marT="27432" marB="27432" anchor="ctr">
                    <a:solidFill>
                      <a:srgbClr val="F2F2F2"/>
                    </a:solidFill>
                  </a:tcPr>
                </a:tc>
                <a:tc>
                  <a:txBody>
                    <a:bodyPr wrap="square"/>
                    <a:lstStyle/>
                    <a:p>
                      <a:pPr algn="ctr"/>
                      <a:r>
                        <a:rPr sz="1000" b="1">
                          <a:solidFill>
                            <a:srgbClr val="FFFFFF"/>
                          </a:solidFill>
                          <a:latin typeface="Abadi"/>
                        </a:rPr>
                        <a:t>ALIGNED</a:t>
                      </a:r>
                    </a:p>
                  </a:txBody>
                  <a:tcPr marL="73152" marR="73152" marT="27432" marB="27432" anchor="ctr">
                    <a:solidFill>
                      <a:srgbClr val="1E7A33"/>
                    </a:solidFill>
                  </a:tcPr>
                </a:tc>
              </a:tr>
              <a:tr h="457200">
                <a:tc>
                  <a:txBody>
                    <a:bodyPr wrap="square"/>
                    <a:lstStyle/>
                    <a:p>
                      <a:r>
                        <a:rPr sz="1000" b="1">
                          <a:solidFill>
                            <a:srgbClr val="1A1A1A"/>
                          </a:solidFill>
                          <a:latin typeface="Abadi"/>
                        </a:rPr>
                        <a:t>Neonatal HSV</a:t>
                      </a:r>
                    </a:p>
                  </a:txBody>
                  <a:tcPr marL="73152" marR="73152" marT="27432" marB="27432" anchor="ctr">
                    <a:solidFill>
                      <a:srgbClr val="FFFFFF"/>
                    </a:solidFill>
                  </a:tcPr>
                </a:tc>
                <a:tc>
                  <a:txBody>
                    <a:bodyPr wrap="square"/>
                    <a:lstStyle/>
                    <a:p>
                      <a:r>
                        <a:rPr sz="1000" b="0">
                          <a:solidFill>
                            <a:srgbClr val="1A1A1A"/>
                          </a:solidFill>
                          <a:latin typeface="Abadi"/>
                        </a:rPr>
                        <a:t>Broad empiric acyclovir in febrile neonates</a:t>
                      </a:r>
                    </a:p>
                  </a:txBody>
                  <a:tcPr marL="73152" marR="73152" marT="27432" marB="27432" anchor="ctr">
                    <a:solidFill>
                      <a:srgbClr val="FFFFFF"/>
                    </a:solidFill>
                  </a:tcPr>
                </a:tc>
                <a:tc>
                  <a:txBody>
                    <a:bodyPr wrap="square"/>
                    <a:lstStyle/>
                    <a:p>
                      <a:r>
                        <a:rPr sz="1000" b="0">
                          <a:solidFill>
                            <a:srgbClr val="1A1A1A"/>
                          </a:solidFill>
                          <a:latin typeface="Abadi"/>
                        </a:rPr>
                        <a:t>NICE NG195: no routine liver tests in the workup</a:t>
                      </a:r>
                    </a:p>
                  </a:txBody>
                  <a:tcPr marL="73152" marR="73152" marT="27432" marB="27432" anchor="ctr">
                    <a:solidFill>
                      <a:srgbClr val="FFFFFF"/>
                    </a:solidFill>
                  </a:tcPr>
                </a:tc>
                <a:tc>
                  <a:txBody>
                    <a:bodyPr wrap="square"/>
                    <a:lstStyle/>
                    <a:p>
                      <a:pPr algn="ctr"/>
                      <a:r>
                        <a:rPr sz="1000" b="1">
                          <a:solidFill>
                            <a:srgbClr val="FFFFFF"/>
                          </a:solidFill>
                          <a:latin typeface="Abadi"/>
                        </a:rPr>
                        <a:t>MATERIAL</a:t>
                      </a:r>
                    </a:p>
                  </a:txBody>
                  <a:tcPr marL="73152" marR="73152" marT="27432" marB="27432" anchor="ctr">
                    <a:solidFill>
                      <a:srgbClr val="B22222"/>
                    </a:solidFill>
                  </a:tcPr>
                </a:tc>
              </a:tr>
              <a:tr h="457200">
                <a:tc>
                  <a:txBody>
                    <a:bodyPr wrap="square"/>
                    <a:lstStyle/>
                    <a:p>
                      <a:r>
                        <a:rPr sz="1000" b="1">
                          <a:solidFill>
                            <a:srgbClr val="1A1A1A"/>
                          </a:solidFill>
                          <a:latin typeface="Abadi"/>
                        </a:rPr>
                        <a:t>Neonatal liver failure</a:t>
                      </a:r>
                    </a:p>
                  </a:txBody>
                  <a:tcPr marL="73152" marR="73152" marT="27432" marB="27432" anchor="ctr">
                    <a:solidFill>
                      <a:srgbClr val="F2F2F2"/>
                    </a:solidFill>
                  </a:tcPr>
                </a:tc>
                <a:tc>
                  <a:txBody>
                    <a:bodyPr wrap="square"/>
                    <a:lstStyle/>
                    <a:p>
                      <a:r>
                        <a:rPr sz="1000" b="0">
                          <a:solidFill>
                            <a:srgbClr val="1A1A1A"/>
                          </a:solidFill>
                          <a:latin typeface="Abadi"/>
                        </a:rPr>
                        <a:t>No AASLD guideline</a:t>
                      </a:r>
                    </a:p>
                  </a:txBody>
                  <a:tcPr marL="73152" marR="73152" marT="27432" marB="27432" anchor="ctr">
                    <a:solidFill>
                      <a:srgbClr val="F2F2F2"/>
                    </a:solidFill>
                  </a:tcPr>
                </a:tc>
                <a:tc>
                  <a:txBody>
                    <a:bodyPr wrap="square"/>
                    <a:lstStyle/>
                    <a:p>
                      <a:r>
                        <a:rPr sz="1000" b="0">
                          <a:solidFill>
                            <a:srgbClr val="1A1A1A"/>
                          </a:solidFill>
                          <a:latin typeface="Abadi"/>
                        </a:rPr>
                        <a:t>EASL 2017 adult; screen for viruses</a:t>
                      </a:r>
                    </a:p>
                  </a:txBody>
                  <a:tcPr marL="73152" marR="73152" marT="27432" marB="27432" anchor="ctr">
                    <a:solidFill>
                      <a:srgbClr val="F2F2F2"/>
                    </a:solidFill>
                  </a:tcPr>
                </a:tc>
                <a:tc>
                  <a:txBody>
                    <a:bodyPr wrap="square"/>
                    <a:lstStyle/>
                    <a:p>
                      <a:pPr algn="ctr"/>
                      <a:r>
                        <a:rPr sz="1000" b="1">
                          <a:solidFill>
                            <a:srgbClr val="FFFFFF"/>
                          </a:solidFill>
                          <a:latin typeface="Abadi"/>
                        </a:rPr>
                        <a:t>GAP</a:t>
                      </a:r>
                    </a:p>
                  </a:txBody>
                  <a:tcPr marL="73152" marR="73152" marT="27432" marB="27432" anchor="ctr">
                    <a:solidFill>
                      <a:srgbClr val="808080"/>
                    </a:solidFill>
                  </a:tcPr>
                </a:tc>
              </a:tr>
            </a:tbl>
          </a:graphicData>
        </a:graphic>
      </p:graphicFrame>
      <p:sp>
        <p:nvSpPr>
          <p:cNvPr id="13" name="TextBox 12"/>
          <p:cNvSpPr txBox="1"/>
          <p:nvPr/>
        </p:nvSpPr>
        <p:spPr>
          <a:xfrm>
            <a:off x="548640" y="5166360"/>
            <a:ext cx="11091672" cy="457200"/>
          </a:xfrm>
          <a:prstGeom prst="rect">
            <a:avLst/>
          </a:prstGeom>
          <a:noFill/>
        </p:spPr>
        <p:txBody>
          <a:bodyPr wrap="square" lIns="0" rIns="0" tIns="18288" bIns="18288" anchor="t">
            <a:spAutoFit/>
          </a:bodyPr>
          <a:lstStyle/>
          <a:p>
            <a:pPr algn="l"/>
            <a:r>
              <a:rPr sz="1250" b="1" i="1">
                <a:solidFill>
                  <a:srgbClr val="1A1A1A"/>
                </a:solidFill>
                <a:latin typeface="Abadi"/>
              </a:rPr>
              <a:t>The material difference is HSV: in England every early death had liver failure, yet the infection workup does not ask for an ALT.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IX</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TRAPS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WHERE INFECTIOUS CHOLESTASIS IS MISSED</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Common reasons for a late or wrong diagnosis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17</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Fawaz 2017 · Rawlinson 2017 · Zani 2015 · National Child Mortality Database 2025</a:t>
            </a:r>
          </a:p>
        </p:txBody>
      </p:sp>
      <p:sp>
        <p:nvSpPr>
          <p:cNvPr id="12" name="Rectangle 11"/>
          <p:cNvSpPr/>
          <p:nvPr/>
        </p:nvSpPr>
        <p:spPr>
          <a:xfrm>
            <a:off x="548640" y="1773936"/>
            <a:ext cx="2567178" cy="28346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Calling it infection</a:t>
            </a:r>
          </a:p>
        </p:txBody>
      </p:sp>
      <p:sp>
        <p:nvSpPr>
          <p:cNvPr id="15" name="TextBox 14"/>
          <p:cNvSpPr txBox="1"/>
          <p:nvPr/>
        </p:nvSpPr>
        <p:spPr>
          <a:xfrm>
            <a:off x="749808" y="2523744"/>
            <a:ext cx="2164842" cy="193852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CMV in a pale-stool infant stops the atresia workup</a:t>
            </a:r>
          </a:p>
          <a:p>
            <a:pPr algn="l">
              <a:spcAft>
                <a:spcPts val="500"/>
              </a:spcAft>
            </a:pPr>
            <a:r>
              <a:rPr sz="1250" b="0" i="0">
                <a:solidFill>
                  <a:srgbClr val="1A1A1A"/>
                </a:solidFill>
                <a:latin typeface="Abadi"/>
              </a:rPr>
              <a:t>▪  Sepsis explains the bilirubin, but the stools are acholic</a:t>
            </a:r>
          </a:p>
          <a:p>
            <a:pPr algn="l">
              <a:spcAft>
                <a:spcPts val="500"/>
              </a:spcAft>
            </a:pPr>
            <a:r>
              <a:rPr sz="1250" b="0" i="0">
                <a:solidFill>
                  <a:srgbClr val="1A1A1A"/>
                </a:solidFill>
                <a:latin typeface="Abadi"/>
              </a:rPr>
              <a:t>▪  Infection and atresia coexist</a:t>
            </a:r>
          </a:p>
        </p:txBody>
      </p:sp>
      <p:sp>
        <p:nvSpPr>
          <p:cNvPr id="16" name="Rectangle 15"/>
          <p:cNvSpPr/>
          <p:nvPr/>
        </p:nvSpPr>
        <p:spPr>
          <a:xfrm>
            <a:off x="3390138" y="1773936"/>
            <a:ext cx="2567178" cy="28346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773936"/>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1306"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Missing the urine</a:t>
            </a:r>
          </a:p>
        </p:txBody>
      </p:sp>
      <p:sp>
        <p:nvSpPr>
          <p:cNvPr id="19" name="TextBox 18"/>
          <p:cNvSpPr txBox="1"/>
          <p:nvPr/>
        </p:nvSpPr>
        <p:spPr>
          <a:xfrm>
            <a:off x="3591306" y="2523744"/>
            <a:ext cx="2164842" cy="193852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Bag specimen contaminated, never repeated</a:t>
            </a:r>
          </a:p>
          <a:p>
            <a:pPr algn="l">
              <a:spcAft>
                <a:spcPts val="500"/>
              </a:spcAft>
            </a:pPr>
            <a:r>
              <a:rPr sz="1250" b="0" i="0">
                <a:solidFill>
                  <a:srgbClr val="1A1A1A"/>
                </a:solidFill>
                <a:latin typeface="Abadi"/>
              </a:rPr>
              <a:t>▪  E. coli culture without a galactosemia screen</a:t>
            </a:r>
          </a:p>
          <a:p>
            <a:pPr algn="l">
              <a:spcAft>
                <a:spcPts val="500"/>
              </a:spcAft>
            </a:pPr>
            <a:r>
              <a:rPr sz="1250" b="0" i="0">
                <a:solidFill>
                  <a:srgbClr val="1A1A1A"/>
                </a:solidFill>
                <a:latin typeface="Abadi"/>
              </a:rPr>
              <a:t>▪  Antibiotics started before the culture</a:t>
            </a:r>
          </a:p>
        </p:txBody>
      </p:sp>
      <p:sp>
        <p:nvSpPr>
          <p:cNvPr id="20" name="Rectangle 19"/>
          <p:cNvSpPr/>
          <p:nvPr/>
        </p:nvSpPr>
        <p:spPr>
          <a:xfrm>
            <a:off x="6231636" y="1773936"/>
            <a:ext cx="2567178" cy="28346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773936"/>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2803"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Dating CMV late</a:t>
            </a:r>
          </a:p>
        </p:txBody>
      </p:sp>
      <p:sp>
        <p:nvSpPr>
          <p:cNvPr id="23" name="TextBox 22"/>
          <p:cNvSpPr txBox="1"/>
          <p:nvPr/>
        </p:nvSpPr>
        <p:spPr>
          <a:xfrm>
            <a:off x="6432803" y="2523744"/>
            <a:ext cx="2164842" cy="193852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Urine PCR at 6 weeks called congenital</a:t>
            </a:r>
          </a:p>
          <a:p>
            <a:pPr algn="l">
              <a:spcAft>
                <a:spcPts val="500"/>
              </a:spcAft>
            </a:pPr>
            <a:r>
              <a:rPr sz="1250" b="0" i="0">
                <a:solidFill>
                  <a:srgbClr val="1A1A1A"/>
                </a:solidFill>
                <a:latin typeface="Abadi"/>
              </a:rPr>
              <a:t>▪  Dried blood spot never retrieved</a:t>
            </a:r>
          </a:p>
          <a:p>
            <a:pPr algn="l">
              <a:spcAft>
                <a:spcPts val="500"/>
              </a:spcAft>
            </a:pPr>
            <a:r>
              <a:rPr sz="1250" b="0" i="0">
                <a:solidFill>
                  <a:srgbClr val="1A1A1A"/>
                </a:solidFill>
                <a:latin typeface="Abadi"/>
              </a:rPr>
              <a:t>▪  Treating isolated transaminitis</a:t>
            </a:r>
          </a:p>
        </p:txBody>
      </p:sp>
      <p:sp>
        <p:nvSpPr>
          <p:cNvPr id="24" name="Rectangle 23"/>
          <p:cNvSpPr/>
          <p:nvPr/>
        </p:nvSpPr>
        <p:spPr>
          <a:xfrm>
            <a:off x="9073134" y="1773936"/>
            <a:ext cx="2567178" cy="28346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773936"/>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74302"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Waiting on HSV</a:t>
            </a:r>
          </a:p>
        </p:txBody>
      </p:sp>
      <p:sp>
        <p:nvSpPr>
          <p:cNvPr id="27" name="TextBox 26"/>
          <p:cNvSpPr txBox="1"/>
          <p:nvPr/>
        </p:nvSpPr>
        <p:spPr>
          <a:xfrm>
            <a:off x="9274302" y="2523744"/>
            <a:ext cx="2164842" cy="193852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No vesicles, so no acyclovir</a:t>
            </a:r>
          </a:p>
          <a:p>
            <a:pPr algn="l">
              <a:spcAft>
                <a:spcPts val="500"/>
              </a:spcAft>
            </a:pPr>
            <a:r>
              <a:rPr sz="1250" b="0" i="0">
                <a:solidFill>
                  <a:srgbClr val="1A1A1A"/>
                </a:solidFill>
                <a:latin typeface="Abadi"/>
              </a:rPr>
              <a:t>▪  Liver tests not sent in the septic neonate</a:t>
            </a:r>
          </a:p>
          <a:p>
            <a:pPr algn="l">
              <a:spcAft>
                <a:spcPts val="500"/>
              </a:spcAft>
            </a:pPr>
            <a:r>
              <a:rPr sz="1250" b="0" i="0">
                <a:solidFill>
                  <a:srgbClr val="1A1A1A"/>
                </a:solidFill>
                <a:latin typeface="Abadi"/>
              </a:rPr>
              <a:t>▪  Stopping acyclovir on a single negative swab</a:t>
            </a:r>
          </a:p>
        </p:txBody>
      </p:sp>
      <p:sp>
        <p:nvSpPr>
          <p:cNvPr id="28" name="TextBox 27"/>
          <p:cNvSpPr txBox="1"/>
          <p:nvPr/>
        </p:nvSpPr>
        <p:spPr>
          <a:xfrm>
            <a:off x="548640" y="4937760"/>
            <a:ext cx="11091672" cy="457200"/>
          </a:xfrm>
          <a:prstGeom prst="rect">
            <a:avLst/>
          </a:prstGeom>
          <a:noFill/>
        </p:spPr>
        <p:txBody>
          <a:bodyPr wrap="square" lIns="0" rIns="0" tIns="18288" bIns="18288" anchor="t">
            <a:spAutoFit/>
          </a:bodyPr>
          <a:lstStyle/>
          <a:p>
            <a:pPr algn="l"/>
            <a:r>
              <a:rPr sz="1250" b="1" i="1">
                <a:solidFill>
                  <a:srgbClr val="1A1A1A"/>
                </a:solidFill>
                <a:latin typeface="Abadi"/>
              </a:rPr>
              <a:t>An infection never closes the atresia question: if the stools are pale or the GGT is high, finish the hepatology workup on schedule.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IX</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PEARLS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EIGHT THINGS TO REMEMBER</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The numbers worth carrying into clinic</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18</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Gottesman 2015 · Garcia 2002 · Kimberlin 2001, 2015 · Zani 2015 · CDC 2023 · Sundaram 2011 · WHO 2023</a:t>
            </a:r>
          </a:p>
        </p:txBody>
      </p:sp>
      <p:sp>
        <p:nvSpPr>
          <p:cNvPr id="12" name="TextBox 11"/>
          <p:cNvSpPr txBox="1"/>
          <p:nvPr/>
        </p:nvSpPr>
        <p:spPr>
          <a:xfrm>
            <a:off x="658368" y="1828800"/>
            <a:ext cx="10981944" cy="3931920"/>
          </a:xfrm>
          <a:prstGeom prst="rect">
            <a:avLst/>
          </a:prstGeom>
          <a:noFill/>
        </p:spPr>
        <p:txBody>
          <a:bodyPr wrap="square" lIns="0" rIns="0" tIns="18288" bIns="18288" anchor="t">
            <a:spAutoFit/>
          </a:bodyPr>
          <a:lstStyle/>
          <a:p>
            <a:pPr algn="l">
              <a:spcAft>
                <a:spcPts val="700"/>
              </a:spcAft>
            </a:pPr>
            <a:r>
              <a:rPr sz="1500" b="0" i="0">
                <a:solidFill>
                  <a:srgbClr val="1A1A1A"/>
                </a:solidFill>
                <a:latin typeface="Abadi"/>
              </a:rPr>
              <a:t>▪  Infection is about one cholestatic infant in nine; CMV is a third of those, bacteria nearly half.</a:t>
            </a:r>
          </a:p>
          <a:p>
            <a:pPr algn="l">
              <a:spcAft>
                <a:spcPts val="700"/>
              </a:spcAft>
            </a:pPr>
            <a:r>
              <a:rPr sz="1500" b="0" i="0">
                <a:solidFill>
                  <a:srgbClr val="1A1A1A"/>
                </a:solidFill>
                <a:latin typeface="Abadi"/>
              </a:rPr>
              <a:t>▪  Endotoxin cholestasis is transcriptional: NTCP, BSEP and MRP2 fall and recover with treatment.</a:t>
            </a:r>
          </a:p>
          <a:p>
            <a:pPr algn="l">
              <a:spcAft>
                <a:spcPts val="700"/>
              </a:spcAft>
            </a:pPr>
            <a:r>
              <a:rPr sz="1500" b="0" i="0">
                <a:solidFill>
                  <a:srgbClr val="1A1A1A"/>
                </a:solidFill>
                <a:latin typeface="Abadi"/>
              </a:rPr>
              <a:t>▪  Send a catheter urine culture early; E. coli infection should also prompt a galactosemia screen.</a:t>
            </a:r>
          </a:p>
          <a:p>
            <a:pPr algn="l">
              <a:spcAft>
                <a:spcPts val="700"/>
              </a:spcAft>
            </a:pPr>
            <a:r>
              <a:rPr sz="1500" b="0" i="0">
                <a:solidFill>
                  <a:srgbClr val="1A1A1A"/>
                </a:solidFill>
                <a:latin typeface="Abadi"/>
              </a:rPr>
              <a:t>▪  Congenital CMV needs a positive sample within 21 days, or a positive newborn dried blood spot.</a:t>
            </a:r>
          </a:p>
          <a:p>
            <a:pPr algn="l">
              <a:spcAft>
                <a:spcPts val="700"/>
              </a:spcAft>
            </a:pPr>
            <a:r>
              <a:rPr sz="1500" b="0" i="0">
                <a:solidFill>
                  <a:srgbClr val="1A1A1A"/>
                </a:solidFill>
                <a:latin typeface="Abadi"/>
              </a:rPr>
              <a:t>▪  Valganciclovir for 6 months in moderate–severe disease: total-ear hearing 77% vs 64% at 24 months.</a:t>
            </a:r>
          </a:p>
          <a:p>
            <a:pPr algn="l">
              <a:spcAft>
                <a:spcPts val="700"/>
              </a:spcAft>
            </a:pPr>
            <a:r>
              <a:rPr sz="1500" b="0" i="0">
                <a:solidFill>
                  <a:srgbClr val="1A1A1A"/>
                </a:solidFill>
                <a:latin typeface="Abadi"/>
              </a:rPr>
              <a:t>▪  CMV IgM-positive atresia clears jaundice less often (15% vs 52%); it never delays the cholangiogram.</a:t>
            </a:r>
          </a:p>
          <a:p>
            <a:pPr algn="l">
              <a:spcAft>
                <a:spcPts val="700"/>
              </a:spcAft>
            </a:pPr>
            <a:r>
              <a:rPr sz="1500" b="0" i="0">
                <a:solidFill>
                  <a:srgbClr val="1A1A1A"/>
                </a:solidFill>
                <a:latin typeface="Abadi"/>
              </a:rPr>
              <a:t>▪  US congenital syphilis reached 3,882 cases in 2023; a cholestatic infant with syphilis gets 10 days of IV penicillin.</a:t>
            </a:r>
          </a:p>
          <a:p>
            <a:pPr algn="l">
              <a:spcAft>
                <a:spcPts val="700"/>
              </a:spcAft>
            </a:pPr>
            <a:r>
              <a:rPr sz="1500" b="0" i="0">
                <a:solidFill>
                  <a:srgbClr val="1A1A1A"/>
                </a:solidFill>
                <a:latin typeface="Abadi"/>
              </a:rPr>
              <a:t>▪  Neonatal liver failure: start acyclovir 60 mg/kg/day before the PCR; viral liver failure kills two in three.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IX</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SYNTHESIS — SCENARIO TO PLAN</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FROM SCENARIO TO DECISION</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Applying the infectious logic on the ward</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19</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Fawaz 2017 · CDC 2021 · Rawlinson 2017 · Kimberlin 2001</a:t>
            </a:r>
          </a:p>
        </p:txBody>
      </p:sp>
      <p:graphicFrame>
        <p:nvGraphicFramePr>
          <p:cNvPr id="12" name="Table 11"/>
          <p:cNvGraphicFramePr>
            <a:graphicFrameLocks noGrp="1"/>
          </p:cNvGraphicFramePr>
          <p:nvPr/>
        </p:nvGraphicFramePr>
        <p:xfrm>
          <a:off x="548640" y="1773936"/>
          <a:ext cx="11091671" cy="3621024"/>
        </p:xfrm>
        <a:graphic>
          <a:graphicData uri="http://schemas.openxmlformats.org/drawingml/2006/table">
            <a:tbl>
              <a:tblPr firstRow="0" bandRow="0">
                <a:tableStyleId>{5C22544A-7EE6-4342-B048-85BDC9FD1C3A}</a:tableStyleId>
              </a:tblPr>
              <a:tblGrid>
                <a:gridCol w="3749039"/>
                <a:gridCol w="3200400"/>
                <a:gridCol w="4142232"/>
              </a:tblGrid>
              <a:tr h="603504">
                <a:tc>
                  <a:txBody>
                    <a:bodyPr wrap="square"/>
                    <a:lstStyle/>
                    <a:p>
                      <a:r>
                        <a:rPr sz="1200" b="1">
                          <a:solidFill>
                            <a:srgbClr val="FFFFFF"/>
                          </a:solidFill>
                          <a:latin typeface="Abadi"/>
                        </a:rPr>
                        <a:t>Scenario</a:t>
                      </a:r>
                    </a:p>
                  </a:txBody>
                  <a:tcPr marL="73152" marR="73152" marT="27432" marB="27432" anchor="ctr">
                    <a:solidFill>
                      <a:srgbClr val="1B355E"/>
                    </a:solidFill>
                  </a:tcPr>
                </a:tc>
                <a:tc>
                  <a:txBody>
                    <a:bodyPr wrap="square"/>
                    <a:lstStyle/>
                    <a:p>
                      <a:r>
                        <a:rPr sz="1200" b="1">
                          <a:solidFill>
                            <a:srgbClr val="FFFFFF"/>
                          </a:solidFill>
                          <a:latin typeface="Abadi"/>
                        </a:rPr>
                        <a:t>Think</a:t>
                      </a:r>
                    </a:p>
                  </a:txBody>
                  <a:tcPr marL="73152" marR="73152" marT="27432" marB="27432" anchor="ctr">
                    <a:solidFill>
                      <a:srgbClr val="1B355E"/>
                    </a:solidFill>
                  </a:tcPr>
                </a:tc>
                <a:tc>
                  <a:txBody>
                    <a:bodyPr wrap="square"/>
                    <a:lstStyle/>
                    <a:p>
                      <a:r>
                        <a:rPr sz="1200" b="1">
                          <a:solidFill>
                            <a:srgbClr val="FFFFFF"/>
                          </a:solidFill>
                          <a:latin typeface="Abadi"/>
                        </a:rPr>
                        <a:t>Do now</a:t>
                      </a:r>
                    </a:p>
                  </a:txBody>
                  <a:tcPr marL="73152" marR="73152" marT="27432" marB="27432" anchor="ctr">
                    <a:solidFill>
                      <a:srgbClr val="1B355E"/>
                    </a:solidFill>
                  </a:tcPr>
                </a:tc>
              </a:tr>
              <a:tr h="603504">
                <a:tc>
                  <a:txBody>
                    <a:bodyPr wrap="square"/>
                    <a:lstStyle/>
                    <a:p>
                      <a:r>
                        <a:rPr sz="1000" b="1">
                          <a:solidFill>
                            <a:srgbClr val="1A1A1A"/>
                          </a:solidFill>
                          <a:latin typeface="Abadi"/>
                        </a:rPr>
                        <a:t>5-week-old, well, direct bilirubin 2.4 mg/dL, pale stools, urine CMV PCR positive</a:t>
                      </a:r>
                    </a:p>
                  </a:txBody>
                  <a:tcPr marL="73152" marR="73152" marT="27432" marB="27432" anchor="ctr">
                    <a:solidFill>
                      <a:srgbClr val="FFFFFF"/>
                    </a:solidFill>
                  </a:tcPr>
                </a:tc>
                <a:tc>
                  <a:txBody>
                    <a:bodyPr wrap="square"/>
                    <a:lstStyle/>
                    <a:p>
                      <a:r>
                        <a:rPr sz="1000" b="0">
                          <a:solidFill>
                            <a:srgbClr val="1A1A1A"/>
                          </a:solidFill>
                          <a:latin typeface="Abadi"/>
                        </a:rPr>
                        <a:t>Atresia until proven otherwise; CMV may be postnatal or a co-factor</a:t>
                      </a:r>
                    </a:p>
                  </a:txBody>
                  <a:tcPr marL="73152" marR="73152" marT="27432" marB="27432" anchor="ctr">
                    <a:solidFill>
                      <a:srgbClr val="FFFFFF"/>
                    </a:solidFill>
                  </a:tcPr>
                </a:tc>
                <a:tc>
                  <a:txBody>
                    <a:bodyPr wrap="square"/>
                    <a:lstStyle/>
                    <a:p>
                      <a:r>
                        <a:rPr sz="1000" b="0">
                          <a:solidFill>
                            <a:srgbClr val="1A1A1A"/>
                          </a:solidFill>
                          <a:latin typeface="Abadi"/>
                        </a:rPr>
                        <a:t>Biopsy and cholangiogram on schedule; retrieve the newborn blood spot for CMV PCR</a:t>
                      </a:r>
                    </a:p>
                  </a:txBody>
                  <a:tcPr marL="73152" marR="73152" marT="27432" marB="27432" anchor="ctr">
                    <a:solidFill>
                      <a:srgbClr val="FFFFFF"/>
                    </a:solidFill>
                  </a:tcPr>
                </a:tc>
              </a:tr>
              <a:tr h="603504">
                <a:tc>
                  <a:txBody>
                    <a:bodyPr wrap="square"/>
                    <a:lstStyle/>
                    <a:p>
                      <a:r>
                        <a:rPr sz="1000" b="1">
                          <a:solidFill>
                            <a:srgbClr val="1A1A1A"/>
                          </a:solidFill>
                          <a:latin typeface="Abadi"/>
                        </a:rPr>
                        <a:t>3-week-old, vomiting, direct 3.1 mg/dL, E. coli in the urine</a:t>
                      </a:r>
                    </a:p>
                  </a:txBody>
                  <a:tcPr marL="73152" marR="73152" marT="27432" marB="27432" anchor="ctr">
                    <a:solidFill>
                      <a:srgbClr val="F2F2F2"/>
                    </a:solidFill>
                  </a:tcPr>
                </a:tc>
                <a:tc>
                  <a:txBody>
                    <a:bodyPr wrap="square"/>
                    <a:lstStyle/>
                    <a:p>
                      <a:r>
                        <a:rPr sz="1000" b="0">
                          <a:solidFill>
                            <a:srgbClr val="1A1A1A"/>
                          </a:solidFill>
                          <a:latin typeface="Abadi"/>
                        </a:rPr>
                        <a:t>Urinary infection, and galactosemia until excluded</a:t>
                      </a:r>
                    </a:p>
                  </a:txBody>
                  <a:tcPr marL="73152" marR="73152" marT="27432" marB="27432" anchor="ctr">
                    <a:solidFill>
                      <a:srgbClr val="F2F2F2"/>
                    </a:solidFill>
                  </a:tcPr>
                </a:tc>
                <a:tc>
                  <a:txBody>
                    <a:bodyPr wrap="square"/>
                    <a:lstStyle/>
                    <a:p>
                      <a:r>
                        <a:rPr sz="1000" b="0">
                          <a:solidFill>
                            <a:srgbClr val="1A1A1A"/>
                          </a:solidFill>
                          <a:latin typeface="Abadi"/>
                        </a:rPr>
                        <a:t>Antibiotics; stop lactose; GALT enzyme or reducing substances</a:t>
                      </a:r>
                    </a:p>
                  </a:txBody>
                  <a:tcPr marL="73152" marR="73152" marT="27432" marB="27432" anchor="ctr">
                    <a:solidFill>
                      <a:srgbClr val="F2F2F2"/>
                    </a:solidFill>
                  </a:tcPr>
                </a:tc>
              </a:tr>
              <a:tr h="603504">
                <a:tc>
                  <a:txBody>
                    <a:bodyPr wrap="square"/>
                    <a:lstStyle/>
                    <a:p>
                      <a:r>
                        <a:rPr sz="1000" b="1">
                          <a:solidFill>
                            <a:srgbClr val="1A1A1A"/>
                          </a:solidFill>
                          <a:latin typeface="Abadi"/>
                        </a:rPr>
                        <a:t>10-day-old, fever, ALT 2,400 IU/L, INR 3.5, no rash</a:t>
                      </a:r>
                    </a:p>
                  </a:txBody>
                  <a:tcPr marL="73152" marR="73152" marT="27432" marB="27432" anchor="ctr">
                    <a:solidFill>
                      <a:srgbClr val="FFFFFF"/>
                    </a:solidFill>
                  </a:tcPr>
                </a:tc>
                <a:tc>
                  <a:txBody>
                    <a:bodyPr wrap="square"/>
                    <a:lstStyle/>
                    <a:p>
                      <a:r>
                        <a:rPr sz="1000" b="0">
                          <a:solidFill>
                            <a:srgbClr val="1A1A1A"/>
                          </a:solidFill>
                          <a:latin typeface="Abadi"/>
                        </a:rPr>
                        <a:t>Disseminated HSV or enterovirus</a:t>
                      </a:r>
                    </a:p>
                  </a:txBody>
                  <a:tcPr marL="73152" marR="73152" marT="27432" marB="27432" anchor="ctr">
                    <a:solidFill>
                      <a:srgbClr val="FFFFFF"/>
                    </a:solidFill>
                  </a:tcPr>
                </a:tc>
                <a:tc>
                  <a:txBody>
                    <a:bodyPr wrap="square"/>
                    <a:lstStyle/>
                    <a:p>
                      <a:r>
                        <a:rPr sz="1000" b="0">
                          <a:solidFill>
                            <a:srgbClr val="1A1A1A"/>
                          </a:solidFill>
                          <a:latin typeface="Abadi"/>
                        </a:rPr>
                        <a:t>Acyclovir 20 mg/kg every 8 h now; blood and CSF PCR, swabs; refer to a liver unit</a:t>
                      </a:r>
                    </a:p>
                  </a:txBody>
                  <a:tcPr marL="73152" marR="73152" marT="27432" marB="27432" anchor="ctr">
                    <a:solidFill>
                      <a:srgbClr val="FFFFFF"/>
                    </a:solidFill>
                  </a:tcPr>
                </a:tc>
              </a:tr>
              <a:tr h="603504">
                <a:tc>
                  <a:txBody>
                    <a:bodyPr wrap="square"/>
                    <a:lstStyle/>
                    <a:p>
                      <a:r>
                        <a:rPr sz="1000" b="1">
                          <a:solidFill>
                            <a:srgbClr val="1A1A1A"/>
                          </a:solidFill>
                          <a:latin typeface="Abadi"/>
                        </a:rPr>
                        <a:t>2-week-old, hepatosplenomegaly, snuffles, maternal RPR 1:64 untreated</a:t>
                      </a:r>
                    </a:p>
                  </a:txBody>
                  <a:tcPr marL="73152" marR="73152" marT="27432" marB="27432" anchor="ctr">
                    <a:solidFill>
                      <a:srgbClr val="F2F2F2"/>
                    </a:solidFill>
                  </a:tcPr>
                </a:tc>
                <a:tc>
                  <a:txBody>
                    <a:bodyPr wrap="square"/>
                    <a:lstStyle/>
                    <a:p>
                      <a:r>
                        <a:rPr sz="1000" b="0">
                          <a:solidFill>
                            <a:srgbClr val="1A1A1A"/>
                          </a:solidFill>
                          <a:latin typeface="Abadi"/>
                        </a:rPr>
                        <a:t>Congenital syphilis, scenario 1</a:t>
                      </a:r>
                    </a:p>
                  </a:txBody>
                  <a:tcPr marL="73152" marR="73152" marT="27432" marB="27432" anchor="ctr">
                    <a:solidFill>
                      <a:srgbClr val="F2F2F2"/>
                    </a:solidFill>
                  </a:tcPr>
                </a:tc>
                <a:tc>
                  <a:txBody>
                    <a:bodyPr wrap="square"/>
                    <a:lstStyle/>
                    <a:p>
                      <a:r>
                        <a:rPr sz="1000" b="0">
                          <a:solidFill>
                            <a:srgbClr val="1A1A1A"/>
                          </a:solidFill>
                          <a:latin typeface="Abadi"/>
                        </a:rPr>
                        <a:t>CSF, long-bone films, eye exam; aqueous penicillin G for 10 days</a:t>
                      </a:r>
                    </a:p>
                  </a:txBody>
                  <a:tcPr marL="73152" marR="73152" marT="27432" marB="27432" anchor="ctr">
                    <a:solidFill>
                      <a:srgbClr val="F2F2F2"/>
                    </a:solidFill>
                  </a:tcPr>
                </a:tc>
              </a:tr>
              <a:tr h="603504">
                <a:tc>
                  <a:txBody>
                    <a:bodyPr wrap="square"/>
                    <a:lstStyle/>
                    <a:p>
                      <a:r>
                        <a:rPr sz="1000" b="1">
                          <a:solidFill>
                            <a:srgbClr val="1A1A1A"/>
                          </a:solidFill>
                          <a:latin typeface="Abadi"/>
                        </a:rPr>
                        <a:t>Day 12, symptomatic CMV with microcephaly, ALT 180 IU/L</a:t>
                      </a:r>
                    </a:p>
                  </a:txBody>
                  <a:tcPr marL="73152" marR="73152" marT="27432" marB="27432" anchor="ctr">
                    <a:solidFill>
                      <a:srgbClr val="FFFFFF"/>
                    </a:solidFill>
                  </a:tcPr>
                </a:tc>
                <a:tc>
                  <a:txBody>
                    <a:bodyPr wrap="square"/>
                    <a:lstStyle/>
                    <a:p>
                      <a:r>
                        <a:rPr sz="1000" b="0">
                          <a:solidFill>
                            <a:srgbClr val="1A1A1A"/>
                          </a:solidFill>
                          <a:latin typeface="Abadi"/>
                        </a:rPr>
                        <a:t>Moderate–severe congenital CMV</a:t>
                      </a:r>
                    </a:p>
                  </a:txBody>
                  <a:tcPr marL="73152" marR="73152" marT="27432" marB="27432" anchor="ctr">
                    <a:solidFill>
                      <a:srgbClr val="FFFFFF"/>
                    </a:solidFill>
                  </a:tcPr>
                </a:tc>
                <a:tc>
                  <a:txBody>
                    <a:bodyPr wrap="square"/>
                    <a:lstStyle/>
                    <a:p>
                      <a:r>
                        <a:rPr sz="1000" b="0">
                          <a:solidFill>
                            <a:srgbClr val="1A1A1A"/>
                          </a:solidFill>
                          <a:latin typeface="Abadi"/>
                        </a:rPr>
                        <a:t>Valganciclovir 16 mg/kg twice daily for 6 months; neutrophil monitoring</a:t>
                      </a:r>
                    </a:p>
                  </a:txBody>
                  <a:tcPr marL="73152" marR="73152" marT="27432" marB="27432"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03120"/>
            <a:ext cx="11091672" cy="1353312"/>
          </a:xfrm>
          <a:prstGeom prst="rect">
            <a:avLst/>
          </a:prstGeom>
          <a:noFill/>
        </p:spPr>
        <p:txBody>
          <a:bodyPr wrap="square" lIns="0" rIns="0" tIns="18288" bIns="18288" anchor="b">
            <a:spAutoFit/>
          </a:bodyPr>
          <a:lstStyle/>
          <a:p>
            <a:pPr algn="ctr"/>
            <a:r>
              <a:rPr sz="4200" b="1" i="0">
                <a:solidFill>
                  <a:srgbClr val="FFFFFF"/>
                </a:solidFill>
                <a:latin typeface="Abadi"/>
              </a:rPr>
              <a:t>Infection and the Cholestatic Infant: CMV, Syphilis, Urinary Infection, Toxoplasma, and the Viruses of Neonatal Liver Failure</a:t>
            </a:r>
          </a:p>
        </p:txBody>
      </p:sp>
      <p:sp>
        <p:nvSpPr>
          <p:cNvPr id="4" name="Rectangle 3"/>
          <p:cNvSpPr/>
          <p:nvPr/>
        </p:nvSpPr>
        <p:spPr>
          <a:xfrm>
            <a:off x="5184648" y="3703320"/>
            <a:ext cx="1828800" cy="18288"/>
          </a:xfrm>
          <a:prstGeom prst="rect">
            <a:avLst/>
          </a:prstGeom>
          <a:solidFill>
            <a:srgbClr val="F2C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995928"/>
            <a:ext cx="11091672" cy="265176"/>
          </a:xfrm>
          <a:prstGeom prst="rect">
            <a:avLst/>
          </a:prstGeom>
          <a:noFill/>
        </p:spPr>
        <p:txBody>
          <a:bodyPr wrap="square" lIns="0" rIns="0" tIns="18288" bIns="18288"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