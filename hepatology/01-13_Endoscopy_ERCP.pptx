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1672" cy="135331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badi"/>
              </a:rPr>
              <a:t>Endoscopy and ERCP in Paediatric Hepatology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0332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95928"/>
            <a:ext cx="110916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98848"/>
            <a:ext cx="11091672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ESPGHAN/ESGE 2017 (Thomson, Tringali) · Baveno V/VI paediatric (Shneider) · Baveno VII 2022 · AASLD 2024 · EASL 2018 · APSPGHAN 2026 · NASPGHAN/ESPGHAN 2017 (Fawaz) · ChiLDReN · PEDI</a:t>
            </a:r>
          </a:p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Screening for varices · high-risk varices · prophylaxis · ERCP in the cholestatic infant · safety · biliary strictures after transplant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WHEN DOES A SCOPE CHANGE THE PLAN?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Four jobs for the endoscopist in paediatric liver disease; only some of them are backed by trials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Thomson M, et al. JPGN 2017;64:133–53 · Tringali A, et al. Endoscopy 2017;49:83–91 · Fawaz R, et al. JPGN 2017;64:154–68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880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Look for varices before the first bleed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Biliary atresia, cirrhosis, EHPVO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Decides who gets prophylaxis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8803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594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Prevent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Band ligation of high-risk varices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Sclerotherapy if the child is too small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Paediatric RCT evidence is thin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8803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1092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Diagnose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092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ERCP in the cholestatic infant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Can exclude biliary atresia and spare a laparotomy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Only where noninvasive tests are inconclusive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8803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2590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Treat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590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Stones, leaks, strictures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Post-transplant anastomoses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Route set by the anatomy: ERCP or percutaneous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Every one of these procedures needs general anaesthesia in a small child, a scope sized to the child and a team that does it often.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An endoscopy in paediatric hepatology is justified only when its result changes what we do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TWO KINDS OF PORTAL HYPERTENSION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Why a child with biliary atresia and a child with portal vein obstruction tolerate a bleed differently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Duché M, et al. Gastroenterology 2010;139:1952–60 · Shneider BL, et al. Hepatology 2016;63:1368–80 · Ukarapol N, et al. PGHN 2026;29:1–21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1" cy="3154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6667"/>
                <a:gridCol w="4537502"/>
                <a:gridCol w="4537502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Feature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Biliary atresia and cirrhosis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Extrahepatic portal vein obstruction (EHPVO)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556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Level of the block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Sinusoidal: fibrosis and nodules inside the liver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Pre-hepatic: cavernoma replaces the portal vein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4556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Liver function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Falls with time; albumin and INR worsen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Usually normal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4556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Consequence of a bleed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Can tip the child into decompensation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Usually well tolerated, but recurrent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4556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When the first bleed comes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Early: 75% of first bleeds before age 2.5 years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Often the first sign of the disease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4556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Definitive fix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Liver transplantation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Meso-Rex bypass when the anatomy allows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4556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Liver stiffness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High; tracks fibrosis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May be near normal; the spleen tells more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1206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The same grade of varix carries a different danger in the two diseases.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In EHPVO the target is the portal vein, not the varix: always ask whether a Meso-Rex bypass is possible.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NATURAL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BICÊTRE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139 children with biliary atresia evaluated for portal hypertension at a national referral centre (Paris)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Duché M, et al. Gastroenterology 2010;139:1952–60 · Mileti E, Rosenthal P. Curr Gastroenterol Rep 2011;13:10–6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2 in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Had oesophageal varices: 88 of 139 children evaluated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148840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Bled from varices, at a median age of 17 months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14884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75%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Of first bleeds occurred before age 2.5 years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14884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3 signs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Large varices, red spots, varices running onto the cardia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Endoscopic appearance, not platelet count alone, separated the children who bled from those who did not.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In biliary atresia, varices and bleeding are a problem of the first three years of life.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HIGH-RISK VARICES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APPEARANCE PREDICTS THE BLEED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High-risk varices (HRV) and bleeding, %, Paris cohorts of 1,300 (2017) and 1,586 (2026)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Duché M, et al. J Hepatol 2017;66 · Ackermann O, et al. Gastroenterology 2026;170:188–98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HRV present: children who bled spontaneously (n = 246)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171700"/>
            <a:ext cx="4389120" cy="192024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0" y="214884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96%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5176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HRV present: children who never bled (n = 872)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674620"/>
            <a:ext cx="502920" cy="19202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65176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11%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5468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Bleeding: HRV, no prophylaxis (270 of 359)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3177540"/>
            <a:ext cx="3429000" cy="192024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315468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75%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Bleeding: no HRV at endoscopy (36 of 947)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3680460"/>
            <a:ext cx="173736" cy="19202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34456" y="36576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3.8%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2057400"/>
            <a:ext cx="9144" cy="2057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4348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HRV: grade 3 oesophageal varices, grade 2 with red signs, or gastric varices along the cardia. Without HRV at first endoscopy, HRV appeared in 36% by 5 years and 54% by 10 years.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The decision to prevent a bleed rests on what the varix looks like, so it needs an endoscopy.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COUNTERWEIGHT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NORTH AMERICA BLEEDS LESS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Variceal bleeding in 869 children with biliary atresia in the ChiLDReN PROBE and BASIC cohorts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Bass LM, et al. Hepatology 2022;75:712–26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9.4%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Five-year incidence of variceal bleeding, PROBE (n = 521, followed from infancy)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148840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8.0%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Five-year incidence, BASIC (n = 348, older children with native liver)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14884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2.5%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Died within 6 weeks of a bleed (2 of 80)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14884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12.5%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Transplanted within 6 weeks of a bleed (10 of 80)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Predictors: albumin below 3.5 g/dL, low platelets, high bilirubin, high AST and APRI. A referral cohort and a prospective cohort answer different questions.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Screening every child is hard to defend on 8–9% five-year risk; screen the child whose labs say the liver is failing.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NONINVASIVE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CAN WE SKIP THE SCOPE?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Paediatric data on predicting varices without endoscopy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Gana JC, et al. JPGN 2010;50:188–93 · Gana JC, et al. Gastroenterology 2011;141:2009–16 · Samanta A, et al. Clin Exp Gastroenterol 2020;13:503–9 · Ukarapol N, et al. PGHN 2026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1" cy="3300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88482"/>
                <a:gridCol w="1957353"/>
                <a:gridCol w="3697224"/>
                <a:gridCol w="1848612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Tool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Children studied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Performance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How to use it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Clinical prediction rule (platelets, spleen z-score, albumin)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51, derivation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AUC 0.93; sensitivity 94%; specificity 81%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Hypothesis generator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Same rule, multicentre validation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108, 8 centres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AUROC 0.80; PPV 0.86; NPV 0.63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Rules in, not out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Platelet to spleen z-score ratio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108, 8 centres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AUROC 0.84; NPV 0.64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Best single index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King's Variceal Prediction Score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Cited in APSPGHAN 2026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PPV 81.6%; sensitivity 71.8%; specificity 72.7%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Triage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Baveno VI criteria, children with cirrhosis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60% sensitivity; 100% with TE &lt;19 kPa and platelets &gt;175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Needs a paediatric cut-off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Baveno VI/VII criteria in biliary atresia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48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100% sensitivity and NPV for varices needing treatment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Promising, small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30000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No paediatric rule is yet safe enough to cancel an endoscopy on its own; use it to decide who goes first.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GOOD AT RULING IN, POOR AT RULING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Accuracy for any oesophageal varices in 108 children, 8 centres (Gana 2011)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Gana JC, et al. Gastroenterology 2011;141:2009–16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5604" y="2536388"/>
            <a:ext cx="822960" cy="179786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37004" y="230778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0.84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5996" y="2964452"/>
            <a:ext cx="822960" cy="1369804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7396" y="273585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0.64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398264"/>
            <a:ext cx="307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Platelet : spleen z-score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44084" y="2622000"/>
            <a:ext cx="822960" cy="171225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5484" y="239340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0.80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4476" y="2985855"/>
            <a:ext cx="822960" cy="1348401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65876" y="2757255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0.63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4398264"/>
            <a:ext cx="307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Clinical prediction rule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2564" y="2643404"/>
            <a:ext cx="822960" cy="169085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3964" y="2414804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0.79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0" y="4398264"/>
            <a:ext cx="307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Platelet count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4334256"/>
            <a:ext cx="9235440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178308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Value (0 to 1)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8480" y="1819656"/>
            <a:ext cx="201168" cy="146304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4512" y="1783080"/>
            <a:ext cx="160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Negative predictive value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78480" y="1819656"/>
            <a:ext cx="201168" cy="14630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34512" y="1783080"/>
            <a:ext cx="160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AUROC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Varices were present in 69% of this cohort. With that prior, a 'negative' rule still left about one child in three with varices.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 low score in a child with biliary atresia does not mean no varices; it means less urgency.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PRIMARY PROPHYLAXIS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ONE TRIAL, VERY LOW CERTAINTY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Sclerotherapy versus no treatment in 108 children, median follow-up 4.5 years, % of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Gonçalves ME, et al. J Pediatr Surg 2000;35:401–5 · Gattini D, et al. Cochrane 2020;CD011573 · Cifuentes LI, et al. Cochrane 2021;CD011561, CD011973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0794" y="4120224"/>
            <a:ext cx="822960" cy="214032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2194" y="3891624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31186" y="2622000"/>
            <a:ext cx="822960" cy="171225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2586" y="239340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398264"/>
            <a:ext cx="23088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Variceal bleeding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89654" y="3435322"/>
            <a:ext cx="822960" cy="898934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61054" y="320672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21%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40046" y="2365162"/>
            <a:ext cx="822960" cy="1969094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1446" y="213656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46%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1900" y="4398264"/>
            <a:ext cx="23088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Any upper GI bleeding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98514" y="3649354"/>
            <a:ext cx="822960" cy="684902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9914" y="3420754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16%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48906" y="3692160"/>
            <a:ext cx="822960" cy="64209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20306" y="346356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398264"/>
            <a:ext cx="23088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Death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07374" y="3863386"/>
            <a:ext cx="822960" cy="47087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8774" y="3634786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11%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57766" y="3906192"/>
            <a:ext cx="822960" cy="428064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9166" y="367759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9620" y="4398264"/>
            <a:ext cx="23088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Gastric varices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4334256"/>
            <a:ext cx="9235440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178308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38480" y="1819656"/>
            <a:ext cx="201168" cy="146304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4512" y="1783080"/>
            <a:ext cx="160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Control (n = 52)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78480" y="1819656"/>
            <a:ext cx="201168" cy="146304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34512" y="1783080"/>
            <a:ext cx="160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Sclerotherapy (n = 56)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Bleeding fell, survival did not change. Cochrane found one feasibility trial of band ligation versus sham and no trial at all of beta-blockers in children.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Every paediatric prophylaxis recommendation is an extrapolation or an expert opinion; say so to families.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PROPHYLAXIS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COHORTS ADD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Observational data on endoscopic primary prophylaxis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Alatas FS, et al. PGHN 2023;26:231–8 · Oliveira AP, et al. J Pediatr (Rio J) 2020;96:755–62 · Duché M, et al. J Hepatol 2017;66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B355E"/>
                </a:solidFill>
                <a:latin typeface="Abadi"/>
              </a:rPr>
              <a:t>8.7 vs 33.7%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Bleeding with primary versus secondary prophylaxis; 4 studies, 174 children (OR 0.21)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148840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B355E"/>
                </a:solidFill>
                <a:latin typeface="Abadi"/>
              </a:rPr>
              <a:t>18×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Bleeding risk with medium or large varices, EHPVO cohort of 72 children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14884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B355E"/>
                </a:solidFill>
                <a:latin typeface="Abadi"/>
              </a:rPr>
              <a:t>85.7%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Varices eradicated by primary prophylaxis in EHPVO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14884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B355E"/>
                </a:solidFill>
                <a:latin typeface="Abadi"/>
              </a:rPr>
              <a:t>41.7%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Varices recurred after eradication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In Paris, 110 of 120 cirrhotic children with HRV had endoscopic prophylaxis; 76 reached eradication and 20 relapsed.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Banding is a programme, not a procedure: plan repeat sessions and surveillance once it starts.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SIZE THE SCOPE TO THE CHILD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ESPGHAN/ESGE 2017 equipment statements and the weight thresholds that follow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Thomson M, et al. JPGN 2017;64:133–53 · Tringali A, et al. Endoscopy 2017;49:83–91 · ASGE. Gastrointest Endosc 2014 · Ukarapol N, et al. PGHN 2026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0" cy="3430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51084"/>
                <a:gridCol w="5213085"/>
                <a:gridCol w="3327501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Task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Equipment and threshold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Practical point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Diagnostic EGD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Paediatric gastroscope 4.9–6.0 mm, 2.0 mm channel; feasible from 1.5–2 kg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Neonatal scopes cannot pass a banding device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Band ligation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Band sets fit 8.5–9.2 mm gastroscopes; traditionally &gt; 8 kg, APSPGHAN ≥ 10 kg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The pharynx, not the weight, is the limit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Sclerotherapy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Any scope with an injection needle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Use when the child is too small for bands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Band ligation versus sclerotherapy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Band ligation better for eradication and rebleeding (strong)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First choice whenever it fits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ERCP under 10 kg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Paediatric duodenoscope 7.5 mm, 2.0 mm channel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Diagnostic; limited therapy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ERCP from 10 kg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Therapeutic duodenoscope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Stents, stones, dilatation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Anaesthesia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General anaesthesia with intubation for variceal bleeding and ERCP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Protect the airway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ERCP IN THE INFANT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ERCP CAN SPARE A LAPAROTOMY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Accuracy of ERCP for biliary atresia in cholestatic infants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Keil R, et al. Endoscopy 2010;42:121–6 · Stovicek J, et al. Can J Gastroenterol Hepatol 2021:9969825 · Åvitsland TL, Aabakken L. Endosc Int Open 2021;9:E292–6 · Hartleif S, et al. Eur J Pediatr 2026;185:16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0" cy="2820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20001"/>
                <a:gridCol w="2621667"/>
                <a:gridCol w="2420001"/>
                <a:gridCol w="3630001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Study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Infants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Sensitivity / specificity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What else it showed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Keil 2010, Prague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104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86% / 94%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Choledochal cyst 100% / 90%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Stovicek 2021, Prague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255 ERCPs; 121 with biliary atresia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100% / 93.1%; NPV 100%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Failure 4.7%; complications 13.7%, severe 0.8%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Åvitsland 2021, Oslo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56 procedures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95% / 89%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Atresia excluded in 16 of 38 suspected; no pancreatitis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Hartleif 2026, Tübingen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60, median age 50 days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100% / 92.1%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Done in 58 of 60, down to 2.6 kg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80000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The guideline still calls the intraoperative cholangiogram the criterion standard. ERCP is a test for the expert centre, not a replacement for timely surgery.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Where it is available, a normal ERCP cholangiogram can stop an unnecessary laparotomy in a cholestatic infant.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SPECIFICITY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MRCP SEES DUCTS, ERCP PROVES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Specificity for biliary atresia,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R, et al. JPGN 2017;64:154–68 (MRCP data from Liu B, PLoS One 2014;9:e88268) · ERCP series as on slide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MRCP (sensitivity 99%)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171700"/>
            <a:ext cx="1645920" cy="19202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14884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36%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ERCP: Keil 2010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628900"/>
            <a:ext cx="4297680" cy="19202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260604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94%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6324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ERCP: Stovicek 2021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3086100"/>
            <a:ext cx="4256532" cy="19202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7252" y="306324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93.1%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2044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ERCP: Hartleif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3543300"/>
            <a:ext cx="4210812" cy="19202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1532" y="352044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92.1%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97764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ERCP: Åvitsland 2021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4000500"/>
            <a:ext cx="4069080" cy="19202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397764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89%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2057400"/>
            <a:ext cx="9144" cy="23317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60000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A tiny, collapsed common duct in a cholestatic infant is often not seen on MRCP, so 'not visualised' is read as atresia. ERCP fills the duct with contrast and shows that it is patent.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Never let a non-visualised duct on MRCP decide a Kasai; it is the weakest test in the work-up.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ERCP COSTS A SMALL CHILD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Technical success and adverse events in paediatric ERCP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Usatin D, et al. J Pediatr 2016;179:160–5 · Troendle DM, et al. JPGN 2022;75:755–60 · Mercier C, et al. Endoscopy 2021;53:586–94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3333" y="2397267"/>
            <a:ext cx="914400" cy="1936989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733" y="2168667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90.5%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98264"/>
            <a:ext cx="16837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All 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17119" y="2622000"/>
            <a:ext cx="914400" cy="171225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8519" y="239340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2426" y="4398264"/>
            <a:ext cx="16837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Age 3 years or less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00905" y="2707613"/>
            <a:ext cx="914400" cy="1626643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72305" y="2479013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76%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16212" y="4398264"/>
            <a:ext cx="16837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Weight under 10 kg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34256"/>
            <a:ext cx="5051360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178308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Technical success,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00000"/>
            <a:ext cx="5422392" cy="2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Systematic review, 2,612 children</a:t>
            </a:r>
          </a:p>
          <a:p>
            <a:pPr algn="l">
              <a:spcAft>
                <a:spcPts val="72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Complications 6%; post-ERCP pancreatitis 3%; bleeding 0.6%; infection 0.8%; in neonatal cholestasis 3%.</a:t>
            </a:r>
          </a:p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French–Belgian series, 271 children</a:t>
            </a:r>
          </a:p>
          <a:p>
            <a:pPr algn="l">
              <a:spcAft>
                <a:spcPts val="72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Adverse events 19%; pancreatitis 12%; sepsis 5%; prior transplant raised sepsis risk (OR 7.27).</a:t>
            </a:r>
          </a:p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ESPGHAN/ESGE</a:t>
            </a:r>
          </a:p>
          <a:p>
            <a:pPr algn="l">
              <a:spcAft>
                <a:spcPts val="72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Rectal NSAID prophylaxis from age 14; high-volume centre; shield thyroid and gonads.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The smaller the child, the lower the success: send infants under 10 kg to a centre that does this every month.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AFTER TRANSPLANT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ROUX LOOP DECIDES THE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Biliary complications after paediatric liver transplantation and how they are reached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Feier FH, et al. World J Hepatol 2015;7:2162–70 · Czubkowski P, et al. Ann Transplant 2018;23:845–51 · Pape T, et al. PGHN 2025;28:113–23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6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How often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60320"/>
            <a:ext cx="2128266" cy="168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Biliary complications 15–40%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Anastomotic strictures 2–35%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Non-anastomotic 5–25%; leaks 2–15%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6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594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Roux-en-Y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2560320"/>
            <a:ext cx="2128266" cy="168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The usual paediatric reconstruction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Route is percutaneous (PTC)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Success 70–90%; 76–89% for bilioenteric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6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1092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Duct-to-duct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092" y="2560320"/>
            <a:ext cx="2128266" cy="168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ERCP is possible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Success 80–90%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58–76% after living-donor grafts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60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2590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Real life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590" y="2560320"/>
            <a:ext cx="2128266" cy="168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400 hepaticojejunostomies: 35 strictures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2.5 drainage sessions per child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Percutaneous alone 57%; with surgery 88.5%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60000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In a Roux series of 14 children, percutaneous treatment cut cholangitis from 64.3% to 7.1%, at a cost of 28.6% periprocedural complications.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Read the operative note before ordering an ERCP after transplant: in most children the duodenoscope cannot reach the anastomosis.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WHEN THE PROCEDURE CHANGES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Scenarios where endoscopy or cholangiography alters the next 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2017 · Thomson 2017 · Ukarapol 2026 · Shneider 2016 · Feier 2015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0" cy="3780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27501"/>
                <a:gridCol w="2440167"/>
                <a:gridCol w="2662001"/>
                <a:gridCol w="2662001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First test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Procedure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What changes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Cholestatic infant, equivocal ultrasound and biopsy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Ultrasound, HIDA, liver biopsy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ERCP at an expert centre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Atresia excluded: no laparotomy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Biliary atresia after Kasai, falling platelets, big spleen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Platelets, spleen, albumin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Screening EGD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HRV found: band ligation programme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EHPVO at diagnosis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Doppler ultrasound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EGD, then imaging of the Rex recess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Meso-Rex bypass planned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Cholangitis after transplant with Roux loop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Ultrasound, MRCP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PTC and balloon dilatation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Graft saved; drain programme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Common duct stone in an older child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Ultrasound, MRCP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ERCP with sphincterotomy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Duct cleared before cholecystectomy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Bile leak after transplant, duct-to-duct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Ultrasound, HIDA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ERCP with stent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Leak sealed without surgery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de Franchis 2022 J Hepatol · Kaplan 2024 Hepatology · EASL 2018 J Hepatol · Thomson 2017 JPGN · Shneider 2012, 2016 · Ukarapol 2026 PGHN · Fawaz 2017 JPGN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99616"/>
          <a:ext cx="11091669" cy="4060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18334"/>
                <a:gridCol w="3630001"/>
                <a:gridCol w="3932501"/>
                <a:gridCol w="1310833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Adults (Baveno VII · AASLD 2024 · EASL 2018)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Children (ESPGHAN/ESGE 2017 · Baveno paediatric · APSPGHAN 2026)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55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Screening EGD, compensated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Avoid if stiffness &lt; 20 kPa and platelets ≥ 150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EGD at diagnosis, then every 1–3 years (APSPGHAN); ESPGHAN/ESGE silent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455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Noninvasive tests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Stiffness ≥ 25 kPa rules in CSPH; spleen stiffness spares more scopes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Rule-out only; small single-centre data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55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Drug prophylaxis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Beta-blocker, carvedilol preferred, for CSPH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Beta-blockers not recommended; no paediatric RCT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455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Endoscopic prophylaxis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Beta-blocker or band ligation for medium or large varices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Band ligation for HRV from 10 kg; sclerotherapy if smaller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55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Band ligation versus sclerotherapy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Band ligation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Band ligation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55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EHPVO definitive treatment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Not addressed for Meso-Rex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Meso-Rex whenever possible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  <a:tr h="455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ERCP role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Therapeutic, after MRCP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Diagnostic in infants only if tests inconclusive; therapeutic after MRCP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55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Post-ERCP pancreatitis prophylaxis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Rectal NSAID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Rectal NSAID from age 14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EIGHT THINGS TO REMEMBER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Duché 2010, 2017 · Ackermann 2026 · Bass 2022 · Gana 2011 · Gonçalves 2000 · Keil 2010 · Fawaz 2017 · Troendle 2022 · Feier 2015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45336"/>
            <a:ext cx="11091672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In biliary atresia, 75% of first variceal bleeds come before age 2.5 years (Paris).</a:t>
            </a:r>
          </a:p>
          <a:p>
            <a:pPr algn="l"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High-risk varices were present in 96% of children who bled and 11% of those who never did.</a:t>
            </a:r>
          </a:p>
          <a:p>
            <a:pPr algn="l"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ChiLDReN five-year bleeding risk was only 8–9%: screen the child whose albumin and platelets are falling.</a:t>
            </a:r>
          </a:p>
          <a:p>
            <a:pPr algn="l"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Paediatric prediction rules have an NPV of about 0.63: they triage, they do not cancel endoscopy.</a:t>
            </a:r>
          </a:p>
          <a:p>
            <a:pPr algn="l"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Prophylaxis evidence is one sclerotherapy RCT (5% vs 40% bleeding, no survival gain) and no beta-blocker trial.</a:t>
            </a:r>
          </a:p>
          <a:p>
            <a:pPr algn="l"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Band ligation needs an 8.5–9.2 mm scope; the pharynx, not the weight, sets the limit.</a:t>
            </a:r>
          </a:p>
          <a:p>
            <a:pPr algn="l"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MRCP is 36% specific for atresia; ERCP at expert centres is about 90% specific and can spare a laparotomy.</a:t>
            </a:r>
          </a:p>
          <a:p>
            <a:pPr algn="l"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After transplant with a Roux loop, strictures are treated percutaneously, not by ERCP.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SYNTHESIS — SCENARIO TO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Duché 2010 · Bass 2022 · Gana 2011 · Ukarapol 2026 · Fawaz 2017 · Keil 2010 · Troendle 2022 · Feier 2015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99616"/>
          <a:ext cx="11091671" cy="4200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45956"/>
                <a:gridCol w="2476781"/>
                <a:gridCol w="2584467"/>
                <a:gridCol w="2584467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Read it as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Do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14-month-old, atresia, Kasai failed, platelets 90, albumin 3.2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Platelets, spleen, albumin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High pre-test risk of HRV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EGD; band ligation if HRV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3-year-old, atresia, bilirubin normal, platelets 200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Elastography, platelets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Low bleeding risk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Defer EGD; recheck yearly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6-year-old with EHPVO, grade 3 varices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EGD, Rex recess imaging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Correctable portal hypertension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Refer for Meso-Rex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7-week-old, acholic stools, MRCP 'no duct'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MRCP is weak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Atresia not proven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ERCP or cholangiogram now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9-kg infant needs therapeutic ERCP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Weight under 10 kg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Success about 76%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High-volume centre only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Teen after transplant, Roux loop, cholangitis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Ultrasound, MRCP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Anastomotic stricture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PTC and dilatation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15-year-old, duct stone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Ultrasound, MRCP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Therapeutic ERCP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Rectal NSAID prophylaxis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1672" cy="135331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badi"/>
              </a:rPr>
              <a:t>Endoscopy and ERCP in Paediatric Hepatology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0332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95928"/>
            <a:ext cx="110916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