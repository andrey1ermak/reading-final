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13" d="100"/>
          <a:sy n="113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Histology II: Fibrosis and Stains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SHAPE OF THE SCAR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Stellate cells and portal fibroblasts lay collagen where injury sits — the architecture names the route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475627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Route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Where collagen starts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Children who scar this way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the late liver looks like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1A1A1A"/>
                          </a:solidFill>
                          <a:latin typeface="Abadi"/>
                        </a:rPr>
                        <a:t>Hepatitic</a:t>
                      </a:r>
                      <a:endParaRPr sz="1200" b="1" dirty="0">
                        <a:solidFill>
                          <a:srgbClr val="1A1A1A"/>
                        </a:solidFill>
                        <a:latin typeface="Abad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Portal tract → interface → portal-to-central bridging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AIH, hepatitis B and C, Wilson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Central veins drawn into septa early; portal hypertension before full cirrhosis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Biliary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Portal oedema and ductular reaction → portal-to-portal septa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Biliary atresia, ABCB4, Alagille, ASC/PSC, cystic fibrosis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'Jigsaw' nodules with a pale cholate-stasis halo; central veins preserved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Steatohepatitic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Adult: zone 3 perisinusoidal 'chicken-wire'. Child: often portal first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MASLD — type 2 (portal) pattern in 51% of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Perisinusoidal fibrosis invisible on H&amp;E; needs trichrome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Congestive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Centrilobular sinusoids → central-to-central bridging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Fontan circulation, constrictive physiology, Budd–Chiari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Reverse lobulation; portal fibrosis marks higher right atrial pressure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Developmental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Ductal plate malformation; broad portal fibrosis from birth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Congenital hepatic fibrosis, ARPKD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Not cirrhosis: no regenerative nodules, normal synthetic function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Schwimmer JB, et al. Hepatology 2005;42:641–9 · Dai DF, et al. Mod Pathol 2014;27:1552–8 · Wanless IR, et al. Arch Pathol Lab Med 2000;124:1599–607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SMALLER THE CORE, THE MILDER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Share of chronic viral hepatitis biopsies scored as mild when the same core is virtually shortened,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62760" y="3396540"/>
            <a:ext cx="420000" cy="108346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42760" y="316654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 dirty="0">
                <a:solidFill>
                  <a:srgbClr val="1B355E"/>
                </a:solidFill>
                <a:latin typeface="Abadi"/>
              </a:rPr>
              <a:t>49.7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2760" y="3193800"/>
            <a:ext cx="420000" cy="12862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92760" y="29638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Core ≥ 3 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1000" y="3167640"/>
            <a:ext cx="420000" cy="131236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41000" y="293764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60.2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1000" y="2991060"/>
            <a:ext cx="420000" cy="148894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91000" y="276106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68.3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688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Same core cut to 1.5 cm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59240" y="2592121"/>
            <a:ext cx="420000" cy="1887879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9240" y="2362121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86.6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09240" y="2733821"/>
            <a:ext cx="420000" cy="174617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89240" y="2503821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512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Same core cut to 1 cm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43360" y="1830000"/>
            <a:ext cx="200000" cy="15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360" y="17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Mild grade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03360" y="17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Mild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% of biopsies scored mild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METAVIR stage was right in 65% of 15 mm cores and 75% of 25 mm cores; left and right lobes differed by ≥ 1 stage in 33.1%; paired NAFLD cores in 41%.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— A short core does not miss disease at random: it systematically under-stages.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Colloredo G, et al. J Hepatol 2003;39:239–44 (161 biopsies, Ishak). Figure redrawn · Bedossa P, et al. Hepatology 2003;38:1449–57 · Regev A, et al. Am J Gastroenterol 2002;97:2614–8 · Ratziu V, et al. Gastroenterology 2005;128:1898–906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SCORING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WHO BUILT WHICH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Every score was calibrated on one adult disease; children borrow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115363"/>
              </p:ext>
            </p:extLst>
          </p:nvPr>
        </p:nvGraphicFramePr>
        <p:xfrm>
          <a:off x="548640" y="1770000"/>
          <a:ext cx="11094720" cy="4119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System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Built for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Stage scale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Trap in children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Ishak (modified HAI), 1995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Chronic viral hepatitis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0–6; grade 0–18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Fine steps in bridging; not designed for biliary septa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METAVIR, 1994–96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Hepatitis C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F0–F4; activity A0–A3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F4 lumps early and end-stage cirrhosis together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Batts–Ludwig, 1995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Chronic hepatitis, any cause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0–4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Same words as Ludwig 1978 for PBC — different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NASH CRN, 2005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NAFLD, adults and children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0–4 with 1a / 1b / 1c; NAS 0–8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Stage 1c (portal only) is the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paediatric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pattern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SAF / FLIP, 2012–14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NAFLD in obesity (Europe)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F0–F4; S0–3; A0–4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Activity = ballooning + lobular inflammation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Nakanuma, 2010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Primary biliary cholangitis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Stage 1–4 from fibrosis + duct loss + orcein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Adds cholestasis to the stage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Laennec, 2009–11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Cirrhosis subclassification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4A / 4B / 4C by septal width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Adult, mostly alcohol; untested in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Ishak K, et al. J Hepatol 1995;22:696–9 · Bedossa P, Poynard T. Hepatology 1996;24:289–93 · Batts KP, Ludwig J. Am J Surg Pathol 1995;19:1409–17 · Kleiner DE, et al. Hepatology 2005;41:1313–21 · Bedossa P, FLIP Consortium. Hepatology 2014;60:565–75 · Nakanuma Y, et al. Pathol Int 2010;60:167–74 · Kim MY, et al. J Hepatol 2011;55:1004–9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CROSSWALK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SAME LIVER, FOUR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Approximate equivalences only — the scales are ordinal, and the cut points do not map one-to-one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042414"/>
              </p:ext>
            </p:extLst>
          </p:nvPr>
        </p:nvGraphicFramePr>
        <p:xfrm>
          <a:off x="548640" y="1770000"/>
          <a:ext cx="11094720" cy="33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9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the pathologist sees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Ishak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METAVIR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Batts–Ludwig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NASH CRN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No fibrosis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Some portal areas expanded ± short septa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1c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Most portal areas expanded ± short septa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Occasional portal-to-portal bridging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F2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Marked bridging, portal-to-portal and portal-to-central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Bridging with occasional nodules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F3–F4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3–4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3–4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Cirrhosis, probable or definite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F4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Zone 3 perisinusoidal only (± portal = stage 2)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1a / 1b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2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Never average stages, and never compare two biopsies scored in different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Ishak K, et al. J Hepatol 1995;22:696–9 · Bedossa P, Poynard T. Hepatology 1996;24:289–93 · Batts KP, Ludwig J. Am J Surg Pathol 1995;19:1409–17 · Kleiner DE, et al. Hepatology 2005;41:1313–21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CIRRHOSIS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CIRRHOSIS IS NOT ONE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Mean hepatic venous pressure gradient by histological subclass of cirrhosis, mmHg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87760" y="3597100"/>
            <a:ext cx="420000" cy="88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67760" y="33671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Laennec 4A · thin septa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86000" y="3128400"/>
            <a:ext cx="420000" cy="13516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6000" y="28984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12.4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688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4B · ≥ 2 broad septa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84240" y="2703300"/>
            <a:ext cx="420000" cy="17767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240" y="24733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16.3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512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4C · very broad septum or minute nodules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HVPG, mmHg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Sirius red collagen proportionate area (CPA) was 13% in Ishak 5 vs 23% in Ishak 6; only CPA, not the Ishak stage, predicted HVPG ≥ 10 mmHg (best cut-off 14%).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— Ask for septal width or CPA when the report says 'F4': the portal pressure is in the septa.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Kim MY, et al. J Hepatol 2011;55:1004–9 (123 biopsy-proven cirrhosis). Figure redrawn · Calvaruso V, et al. Hepatology 2009;49:1236–44 · Calvaruso V, et al. J Gastroenterol Hepatol 2012;27:1227–32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PAEDIATRIC MASLD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SCORING THE CHILD'S 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Adult scores miss the portal-based lesion that defines type 2 paediatric steatohepatitis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NASH CRN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18 of 50 validation cases were paediatric.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Stage 1c: portal fibrosis only.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NAS ignores portal inflammation.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PNHS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Adds portal inflammation 0–2, weighted.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203 + 100 Italian children.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AUC 0.96, validation 0.94.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SAF / FLIP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Activity = ballooning + lobular.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Non-experts: concordance 42% → 75%.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Fibrosis κ 0.83 (1a–c pooled).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AASLD · ESPGHAN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Call it zone 1 MASH.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Report zonal distribution.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Scores do not diagnose.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For a child, ask for the NASH CRN stage including 1c, and a sentence on portal inflammation.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Kleiner DE, et al. Hepatology 2005;41:1313–21 · Alkhouri N, et al. J Hepatol 2012;57:1312–8 · Bedossa P, FLIP Consortium. Hepatology 2014;60:565–75 · Xanthakos SA, et al. Hepatology 2025;82:1352–94 · Mann JP, et al. J Pediatr Gastroenterol Nutr 2026;83:555–76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BILIARY · CONGESTIVE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SCORES FOR NON-HEPATITIC SCARS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Hepatitis scores assume portal-to-central bridging; bile ducts and heart failure scar along other 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Ludwig 1978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Portal → periportal → septal → cirrhosis.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Fibrosis only.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Still the PBC/PSC default.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Nakanuma 2010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Fibrosis + duct loss + orcein granules.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Sum 0–9 → stage 1–4.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Stage κ 0.385 across 28 readers.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Biliary atresia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BA-specific score.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METAVIR most used; median F2 at Kasai.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Portal-to-portal septa spare veins.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Congestive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CHFS: centrizonal → portal → bridging.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Portal fibrosis tracks RA pressure.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Fontan: stiffness overreads.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A 'METAVIR F3' in atresia and a 'METAVIR F3' in hepatitis C are not the same portal hypertension risk.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Nakanuma Y, et al. Pathol Int 2010;60:167–74 · Pakarinen MP, et al. J Pediatr Surg 2025;60:162505 · Dai DF, et al. Mod Pathol 2014;27:1552–8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SCARS CAN RECEDE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Finnish national BA cohort (103 paired biopsies) · Beijing P-I-R classification (71 paired HBV biopsies)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Children with BA whose protocol biopsy fell 1–2 METAVIR stages after Kasai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HR 11.5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Native-liver survival when fibrosis decreased (95% CI 1.5–87)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13 → 78%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Hepatitis B biopsies 'predominantly regressive' before vs after 78 weeks of entecavir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72%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Of those with an unchanged Ishak stage, classed regressive by P-I-R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Wanless 'hepatic repair complex': thin perforated septa, isolated thick fibres, portal and hepatic-vein remnants, minute nodules.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The stage number can stay still while the biology reverses; ask whether septa look progressive or regressive.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Pakarinen MP, et al. J Pediatr Surg 2025;60:162505 · Sun YM, et al. Zhonghua Gan Zang Bing Za Zhi 2017;25:819–26 · Wanless IR, et al. Arch Pathol Lab Med 2000;124:1599–607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CONNECTIVE-TISSUE STAINS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STAINS THAT SHOW THE SCAR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H&amp;E shows injury; connective-tissue stains show how old it is and how far it has gone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18691"/>
              </p:ext>
            </p:extLst>
          </p:nvPr>
        </p:nvGraphicFramePr>
        <p:xfrm>
          <a:off x="548640" y="1770000"/>
          <a:ext cx="11094720" cy="4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Stain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Ask for it when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Trap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Masson trichrome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Collagen blue-green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Every staging biopsy; zone 3 perisinusoidal MASH fibrosis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Thick sections and collapse overstage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Sirius red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Collagen I and III; quantifiable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Digital morphometry (CPA); cirrhosis subclass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Sampling variability exceeds reading variability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Reticulin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Type III framework; plate thickness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Collapse vs fibrosis; NRH; plates &gt; 3 cells in HCC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Post-necrotic collapse mimics cirrhosis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Orcein · Victoria blue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Elastic fibres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Dating a septum: old septa are elastic-rich; fresh collapse is not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Also stains HBsAg and copper-associated protein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CK7 · CK19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Ducts, ductules, intermediate hepatocytes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Duct counts; CK7+ periportal hepatocytes = chronic cholestasis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Ductules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are not ducts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Wanless IR, et al. Arch Pathol Lab Med 2000;124:1599–607 · Calvaruso V, et al. Hepatology 2009;49:1236–44 · Yabushita K, et al. Liver 2001;21:50–5 · Neuberger J, et al. Gut 2020;69:1382–403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SUBSTANCE STAINS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STAINS THAT FIND A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Histochemistry proposes, immunohistochemistry and chemistry dispose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690914"/>
              </p:ext>
            </p:extLst>
          </p:nvPr>
        </p:nvGraphicFramePr>
        <p:xfrm>
          <a:off x="548640" y="1770000"/>
          <a:ext cx="11094720" cy="411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Stain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Ask for it when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Trap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PAS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Glycogen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GSD, glycogenic hepatopathy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Glycogen washes out in aqueous fixation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PAS-diastase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A1AT globules; ceroid macrophages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A1AT ZZ; ceroid marks recent necrosis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Globules absent before 12 weeks — phenotype decides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Rhodanine · orcein (CAP)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Copper; copper-associated protein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Chronic cholestasis; Wilson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Negative in most early Wilson; normal in infants &lt; 4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Perls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Haemosiderin, graded 0–4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Iron overload; GALD with buccal biopsy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Neonatal liver is iron-rich; siderosis is not specific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Immunostains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BSEP, MDR3, A1AT-Z, C5b-9, metallothionein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PFIC, A1AT, GALD, Wilson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C5b-9 positive in 27% of non-GALD livers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Quantitative copper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µg/g dry weight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Any biopsy where Wilson is possible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Needs an unfixed core; cholestasis raises copper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Talbot IC, Mowat AP. J Clin Pathol 1975;28:559–63 · Dezsőfi A, et al. J Pediatr Gastroenterol Nutr 2015;60:408–20 · Dubruc E, et al. Pediatr Res 2017;81:712–21 · Rowan DJ, et al. Mod Pathol 2022;35:946–55 · Ferenci P, et al. Clin Gastroenterol Hepatol 2005;3:811–8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COPPER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RHODANINE MISSES WILSON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Wilson disease biopsies with stainable copper, by histological stage,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37760" y="3817280"/>
            <a:ext cx="420000" cy="6627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17760" y="358728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30.4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87760" y="4192240"/>
            <a:ext cx="420000" cy="28776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67760" y="396224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13.2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7760" y="4098500"/>
            <a:ext cx="420000" cy="3815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7760" y="38685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17.5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Steatosis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36000" y="3605820"/>
            <a:ext cx="420000" cy="87418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16000" y="337582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40.1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86000" y="3897940"/>
            <a:ext cx="420000" cy="58206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6000" y="366794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26.7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6000" y="3897940"/>
            <a:ext cx="420000" cy="5820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6000" y="366794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26.7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88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Interface hepatitis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34240" y="3202520"/>
            <a:ext cx="420000" cy="127748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14240" y="297252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58.6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84240" y="3682120"/>
            <a:ext cx="420000" cy="79788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64240" y="345212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36.6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34240" y="3841260"/>
            <a:ext cx="420000" cy="63874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14240" y="361126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29.3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5120" y="4540000"/>
            <a:ext cx="3698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Bridging fibrosis / cirrhosis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03360" y="17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Timm silver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3360" y="1830000"/>
            <a:ext cx="200000" cy="15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360" y="17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Rhodanine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43360" y="1830000"/>
            <a:ext cx="200000" cy="1500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03360" y="17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Orcein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% positive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Copper is highest early but stains worst early. Quantitative copper &gt; 250 µg/g: sensitivity 83.3%; at 75 µg/g, 96.5% (specificity 98.6% → 95.4%).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— A negative rhodanine does not lower the probability of Wilson disease; send an unfixed core for copper.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Pilloni L, et al. Histopathology 1998;33:28–33 (79 biopsies, 74 patients aged 4–60). Figure redrawn · Ferenci P, et al. Clin Gastroenterol Hepatol 2005;3:811–8 · Rowan DJ, et al. Mod Pathol 2022;35:946–55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INFANT 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STAINS THAT MISLEAD IN INFANCY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Normal infant physiology produces 'positive' stains; young disease produces negative 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&lt; 12 wk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No PAS-D globules in PiZZ infants biopsied before 12 weeks; all after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Stainable copper-associated protein and iron are normal until this 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75–90%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BSEP-deficient livers negative on BSEP immunostain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GALD livers with C5b-9 in more than 75% of parenchyma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C5b-9 stained every GALD liver but also 27% of non-GALD livers, including viral hepatitis, DGUOK and bile-acid synthesis defects.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In a cholestatic infant, send the A1AT phenotype and genes; read copper, iron and globules against 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Talbot IC, Mowat AP. J Clin Pathol 1975;28:559–63 · Dezsőfi A, et al. J Pediatr Gastroenterol Nutr 2015;60:408–20 · Dubruc E, et al. Pediatr Res 2017;81:712–21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DOCUMENTS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560894"/>
              </p:ext>
            </p:extLst>
          </p:nvPr>
        </p:nvGraphicFramePr>
        <p:xfrm>
          <a:off x="548640" y="1500000"/>
          <a:ext cx="11094720" cy="43906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9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endParaRPr sz="2400" dirty="0"/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ESPGHAN 2015 · 2018 · 2026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AASLD 2009 · 2022 · 2025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EASL-ERN 2025 · BSG 2020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Core size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≥ 2 cm or ≥ 10 portal tracts (BA); &gt; 2 cm in MASLD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2–3 cm, 16 G; ≥ 11 complete portal tracts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≥ 20 mm, 16 G;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RCPath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minimum 10 mm and 6 tracts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Named staging system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None named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Scores cannot diagnose MASH on their own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 recognised system suited to the disease, by local practice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NO DATA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Paediatric MASLD pattern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Zone 1 steatohepatitis; report zonal distribution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Zone 1 MASH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Outside scope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Hepatic copper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&gt; 250 µg/g diagnostic in adolescents and adults; cholestasis also raises it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&gt; 250 µg/g in most; lower but raised → confirm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&gt; 250 µg/g highly suggestive; exclude cholestasis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Copper core handling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Unfixed, on moist filter paper or in a copper-free container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addressed in the 2009 paper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Separate core in moist paper, not formalin or saline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EU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Infant baselines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Copper protein and iron normal to 4 months; EMH to 6 months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Outside scope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Outside scope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PAEDS ONLY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Who reads 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BA biopsy by a paediatric pathologist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Not specified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Hepatology-literate pathologist; review found major discrepancy in 28%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UK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Dezsőfi JPGN 2015 · Rockey Hepatology 2009 · Schilsky Hepatology 2023 · Xanthakos Hepatology 2025 · Mann JPGN 2026 · EASL-ERN J Hepatol 2025 · Neuberger Gut 2020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EXPERT 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Four readings that separate the consultant from the report's final 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Length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&lt; 11 tracts under-stages.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1 cm core calls 80% mild.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Ask for the tract count.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Scores are ordinal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Ishak 4 is not METAVIR F4.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F4 hides 4A to 4C.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NAS is activity, not NASH.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Stains date scars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Elastic = old septum.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Reticulin: collapse or cirrhosis.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CK7 hepatocytes = chronic cholestasis.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10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Negative ≠ normal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Rhodanine misses early Wilson.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PAS-D blank before 12 weeks.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Copper, iron normal &lt; 4 months.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Read the stage with the length, the system and the child's age in the same sentence.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Colloredo G, et al. J Hepatol 2003;39:239–44 · Kim MY, et al. J Hepatol 2011;55:1004–9 · Brunt EM, et al. Hepatology 2011;53:810–20 · Pilloni L, et al. Histopathology 1998;33:28–33 · Talbot IC, Mowat AP. J Clin Pathol 1975;28:559–63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SYNTHESIS — QUESTION TO STAIN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953270"/>
              </p:ext>
            </p:extLst>
          </p:nvPr>
        </p:nvGraphicFramePr>
        <p:xfrm>
          <a:off x="548640" y="930000"/>
          <a:ext cx="11094720" cy="4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Clinical 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Stain or score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Reading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Trap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How much fibrosis?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Trichrome / Sirius red; Ishak, METAVIR, NASH CRN,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Nakanuma</a:t>
                      </a:r>
                      <a:endParaRPr sz="1200" b="0" dirty="0">
                        <a:solidFill>
                          <a:srgbClr val="1A1A1A"/>
                        </a:solidFill>
                        <a:latin typeface="Abadi"/>
                      </a:endParaRP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≥ 2 cm, ≥ 10–11 portal tracts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Short core under-stages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How bad is the cirrhosis?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Laennec 4A–C; CPA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Broad septa, CPA ≥ 14% ≈ CSPH (adults)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Collapse mimics cirrhosis — reticulin, elastic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Is it regressing?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P-I-R; Wanless features; elastic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Thin perforated septa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Stage can stay still while fibrosis recedes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Steatohepatitis in a child?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NASH CRN incl. 1c; PNHS or SAF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Zone 1 pattern, portal inflammation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NAS ≥ 5 is not a diagnosis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Wilson disease?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Quantitative copper; metallothionein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&gt; 250 µg/g; 75 µg/g raises sensitivity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Rhodanine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negative early; cholestasis raises copper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A1AT deficiency?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PAS-D; A1AT-Z immunostain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Periportal globules after 12 weeks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Phenotype, not globules, decides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GALD?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Perls (liver, buccal); C5b-9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Extrahepatic siderosis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C5b-9 is sensitive, not specific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Genetic cholestasis?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BSEP, MDR3, CK7; EM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Absent canalicular staining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Normal staining does not exclude missense variants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Colloredo 2003 · Kim 2011 · Calvaruso 2012 · Sun 2017 · Brunt 2011 · Ferenci 2005 · Talbot 1975 · Dubruc 2017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Histology II: Fibrosis and Stains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2818</Words>
  <Application>Microsoft Macintosh PowerPoint</Application>
  <PresentationFormat>Widescreen</PresentationFormat>
  <Paragraphs>432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Abadi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Ermak, Andrey</cp:lastModifiedBy>
  <cp:revision>4</cp:revision>
  <dcterms:created xsi:type="dcterms:W3CDTF">2013-01-27T09:14:16Z</dcterms:created>
  <dcterms:modified xsi:type="dcterms:W3CDTF">2026-09-28T16:13:10Z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e4b1be8-281e-475d-98b0-21c3457e5a46_Enabled">
    <vt:lpwstr>true</vt:lpwstr>
  </property>
  <property fmtid="{D5CDD505-2E9C-101B-9397-08002B2CF9AE}" pid="3" name="MSIP_Label_5e4b1be8-281e-475d-98b0-21c3457e5a46_SetDate">
    <vt:lpwstr>2026-09-28T15:20:52Z</vt:lpwstr>
  </property>
  <property fmtid="{D5CDD505-2E9C-101B-9397-08002B2CF9AE}" pid="4" name="MSIP_Label_5e4b1be8-281e-475d-98b0-21c3457e5a46_Method">
    <vt:lpwstr>Standard</vt:lpwstr>
  </property>
  <property fmtid="{D5CDD505-2E9C-101B-9397-08002B2CF9AE}" pid="5" name="MSIP_Label_5e4b1be8-281e-475d-98b0-21c3457e5a46_Name">
    <vt:lpwstr>Public</vt:lpwstr>
  </property>
  <property fmtid="{D5CDD505-2E9C-101B-9397-08002B2CF9AE}" pid="6" name="MSIP_Label_5e4b1be8-281e-475d-98b0-21c3457e5a46_SiteId">
    <vt:lpwstr>8b3dd73e-4e72-4679-b191-56da1588712b</vt:lpwstr>
  </property>
  <property fmtid="{D5CDD505-2E9C-101B-9397-08002B2CF9AE}" pid="7" name="MSIP_Label_5e4b1be8-281e-475d-98b0-21c3457e5a46_ActionId">
    <vt:lpwstr>cf2b092c-243f-40c6-94e9-6feaf17ba4b9</vt:lpwstr>
  </property>
  <property fmtid="{D5CDD505-2E9C-101B-9397-08002B2CF9AE}" pid="8" name="MSIP_Label_5e4b1be8-281e-475d-98b0-21c3457e5a46_ContentBits">
    <vt:lpwstr>0</vt:lpwstr>
  </property>
  <property fmtid="{D5CDD505-2E9C-101B-9397-08002B2CF9AE}" pid="9" name="MSIP_Label_5e4b1be8-281e-475d-98b0-21c3457e5a46_Tag">
    <vt:lpwstr>50, 3, 0, 1</vt:lpwstr>
  </property>
</Properties>
</file>