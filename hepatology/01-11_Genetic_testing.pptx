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Genetic Testing in Paediatric Liver Disease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00000"/>
            <a:ext cx="1109472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CFD8E6"/>
                </a:solidFill>
                <a:latin typeface="Abadi"/>
              </a:rPr>
              <a:t>NASPGHAN/ESPGHAN 2017 · EASL 2024 genetic cholestasis · ACMG 2015 · 2019 · 2021 · NHS England R14/R171</a:t>
            </a:r>
          </a:p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CFD8E6"/>
                </a:solidFill>
                <a:latin typeface="Abadi"/>
              </a:rPr>
              <a:t>Panel · exome · genome · trio · VUS · reanalysis · treat before the result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EACH TEST READS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0000"/>
          <a:ext cx="11094720" cy="439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000"/>
                <a:gridCol w="2350000"/>
                <a:gridCol w="2600000"/>
                <a:gridCol w="1500000"/>
                <a:gridCol w="264472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Test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What it reads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What it misses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Turnaround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Best use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</a:tr>
              <a:tr h="79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Single gene (Sanger)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One gene, base by base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Every other gene; most deletions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1–3 weeks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Known family variant; ABCB4 in small-duct PSC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9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Cholestasis panel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40–80 listed genes, often with del/dup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Genes not on the list; newer genes; deep intronic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Median 21 days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Infant with a classic cholestatic phenotype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</a:tr>
              <a:tr h="79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Exome, ideally trio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Coding exons, 1–2% of the genome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Most CNVs, non-coding, repeats, mtDNA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Weeks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Unexplained or multisystem disease; reanalysable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9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Rapid genome, trio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Coding and non-coding, CNVs, mtDNA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Methylation, some repeats; more VUS to sift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Median 3–8 days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ICU, acute liver failure, transplant decision pending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</a:tr>
              <a:tr h="79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Chromosomal microarray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Copy-number gains and losses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Single-nucleotide variants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1–3 weeks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Several anomalies; yield 10% in children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Karpen SJ, et al. JPGN 2021;72:654–60 · Dimmock D, et al. Am J Hum Genet 2021;108:1231–8 · Bonser D, et al. J Pediatr 2023;260:113534 · Clark MM, et al. NPJ Genom Med 2018;3:16 · EASL CPG genetic cholestasis. J Hepatol 2024;81:303–25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DIAGNOSTIC YIELD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YIELD MEASURES THE DENOMINATOR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Molecular diagnosis, %; navy = pre-selected cohorts, slate = open referral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59744"/>
            <a:ext cx="5000000" cy="23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Japan · "genetic cholestasis" phenotype · panel · n =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8640" y="1979744"/>
            <a:ext cx="4148814" cy="19495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07454" y="1979744"/>
            <a:ext cx="1250000" cy="19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74188"/>
            <a:ext cx="5000000" cy="23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China · unexplained liver disease · WES · n = 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8640" y="2294188"/>
            <a:ext cx="3359955" cy="19495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18595" y="2294188"/>
            <a:ext cx="1250000" cy="19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57.5%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88632"/>
            <a:ext cx="5000000" cy="23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China · suspected inherited disease · WES or panel · n = 172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8640" y="2608632"/>
            <a:ext cx="3260617" cy="19495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9257" y="2608632"/>
            <a:ext cx="1250000" cy="19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55.8%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03076"/>
            <a:ext cx="5000000" cy="23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Europe · indeterminate PALF · WES · n = 260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8640" y="2923076"/>
            <a:ext cx="2162058" cy="194955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698" y="2923076"/>
            <a:ext cx="1250000" cy="19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37%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17520"/>
            <a:ext cx="5000000" cy="23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Türkiye · neonatal cholestasis · panel ± WES · n = 378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8640" y="3237520"/>
            <a:ext cx="1636152" cy="194955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4792" y="3237520"/>
            <a:ext cx="1250000" cy="19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31964"/>
            <a:ext cx="5000000" cy="23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Japan · infant cholestasis · 61-gene panel · n = 124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8640" y="3551964"/>
            <a:ext cx="1554344" cy="194955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2984" y="3551964"/>
            <a:ext cx="1250000" cy="19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26.6%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846408"/>
            <a:ext cx="5000000" cy="23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US · referred cholestasis · 66-gene panel · n = 2171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8640" y="3866408"/>
            <a:ext cx="701208" cy="194955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9848" y="3866408"/>
            <a:ext cx="1250000" cy="19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60852"/>
            <a:ext cx="5000000" cy="23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US · referred cholestasis · 77-gene panel · n = 10,894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8640" y="4180852"/>
            <a:ext cx="397351" cy="194955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5991" y="4180852"/>
            <a:ext cx="1250000" cy="19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6.8%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475296"/>
            <a:ext cx="5000000" cy="23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Japan · cholestasis with prematurity etc. · n = 46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8640" y="4495296"/>
            <a:ext cx="251266" cy="194955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09906" y="4495296"/>
            <a:ext cx="1250000" cy="194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4.3%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Panel vs exome made no difference in Fang (62.0% vs 47.2%, P = 0.054); selection did.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As the US panel opened to all comers, definitive yield fell from 12% to 6.8%.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Togawa T, et al. J Pediatr 2016;171:171–7 · Chen Y, et al. World J Hepatol 2025;17:109770 · Fang Y, et al. Front Pediatr 2021;9:631620 · Lenz D, et al. Hepatology 2024;79:1075–87 · Gürcan Kaya A, et al. J Paediatr Child Health 2025;61:1049–55 · Ito S, et al. JPGN Rep 2022;3:e196 · Karpen SJ, et al. JPGN 2021;72:654–60 · Hoskins B, et al. Front Pediatr 2026;14:1841006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WHAT IT FINDS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GENES DEPEND ON WHERE YOU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0000"/>
          <a:ext cx="11094720" cy="439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0000"/>
                <a:gridCol w="4800000"/>
                <a:gridCol w="369472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Cohort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Most frequent genetic diagnoses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Lesson for the panel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</a:tr>
              <a:tr h="79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US · 2171 and 10,894 referred tests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JAG1/NOTCH2, ABCB11, SERPINA1, ABCB4, POLG; ABCC2 and CFTR among definitive calls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Many 'diagnoses' are mild or co-factors (A1AT carrier, Dubin–Johnson)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9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Japan · 124 infants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JAG1/NOTCH2, ABCC2, SLC25A13 = 78.8% of genetic cholestasis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Neonatal Dubin–Johnson and citrin deficiency must be on the panel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</a:tr>
              <a:tr h="79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China · 172 children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ATP7B, SLC25A13, G6PC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Wilson and citrin lead; hepatosplenomegaly yield 84.6%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9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Türkiye · 378 neonates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ATP8B1, ABCB11, ABCB4, DCDC2, DGUOK, KIF12, USP53, HSD3B7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Consanguinity: low-GGT PFIC and recessive rarities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</a:tr>
              <a:tr h="79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Europe PALF · 260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NBAS, MPV17, DGUOK; mitochondrial 45%, trafficking 28%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Acute liver failure needs exome or genome, not a cholestasis panel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Karpen SJ, et al. JPGN 2021;72:654–60 · Hoskins B, et al. Front Pediatr 2026;14:1841006 · Ito S, et al. JPGN Rep 2022;3:e196 · Fang Y, et al. Front Pediatr 2021;9:631620 · Gürcan Kaya A, et al. J Paediatr Child Health 2025;61:1049–55 · Lenz D, et al. Hepatology 2024;79:1075–87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NEGATIVE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A NEGATIVE PANEL MISSES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"Negative" means negative for what was looked at, by the method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45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Copy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70 of ~700 catalogued JAG1 variants are gross deletions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3.2% of clinical Alagille stays mutation-negative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Ask: was del/dup analysis included?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45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Newer genes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KIF12, USP53, ZFYVE19 arrived after many panels were built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Japan: an expanded panel solved 5.2% of old negatives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45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Non-coding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Deep intronic and promoter variants escape exome capture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Genome or RNA studies when phenotype is convincing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45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Phase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Two variants in one recessive gene may sit on one allele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Parental testing turns two hits into a diagnosis — or a carrier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Gilbert MA, et al. Hum Mutat 2019;40:2197–220 · Ito S, et al. JPGN Rep 2022;3:e196 · Zheng Y, et al. Hepatol Int 2024;18:661–72 · EASL CPG genetic cholestasis. J Hepatol 2024;81:303–25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EXOME AND GENOME BEAT ARRAY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Pooled proportion, %, children with suspected genetic disease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62760" y="4044000"/>
            <a:ext cx="420000" cy="436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42760" y="38140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2760" y="4218400"/>
            <a:ext cx="420000" cy="2616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92760" y="39884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0000"/>
            <a:ext cx="369824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Chromosomal microarray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1000" y="2910400"/>
            <a:ext cx="420000" cy="1569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41000" y="26804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36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1000" y="3738800"/>
            <a:ext cx="420000" cy="7412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00" y="35088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880" y="4540000"/>
            <a:ext cx="369824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Exome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59240" y="2692400"/>
            <a:ext cx="420000" cy="1787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9240" y="24624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41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09240" y="3302800"/>
            <a:ext cx="420000" cy="11772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89240" y="30728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5120" y="4540000"/>
            <a:ext cx="369824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Genome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43360" y="1830000"/>
            <a:ext cx="200000" cy="15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360" y="1790000"/>
            <a:ext cx="14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Diagnostic yield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43360" y="1830000"/>
            <a:ext cx="200000" cy="15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03360" y="1790000"/>
            <a:ext cx="14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Management changed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Exome and genome yields did not differ significantly; genome changed management more often than array.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Hospital-based interpretation 42% vs reference laboratory 29% — the phenotype sent with the sample matters.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Clark MM, et al. NPJ Genom Med 2018;3:16 · 37 studies, 20,068 children with suspected genetic disease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WHY SEND THE PARENTS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parents are the cheapest functional assay in genetics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OR 2.04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Trio vs singleton odds of diagnosis, within-cohort WES/WGS comparisons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Proves two recessive variants sit on different alleles (in trans)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De novo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 new dominant variant (JAG1, NOTCH2) is classed faster when parents are clean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Fewer VUS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Inherited from a healthy parent: a candidate dominant variant is downgraded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EASL 2024: testing affected and unaffected relatives is a route to upgrade a VUS to likely pathogenic.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singleton result with two hits in ABCB11 is a hypothesis until the parents are tested.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Clark MM, et al. NPJ Genom Med 2018;3:16 · Richards S, et al. Genet Med 2015;17:405–24 · EASL CPG genetic cholestasis. J Hepatol 2024;81:303–25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SICK INFANT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RAPID GENOME IN THE ICU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Speed is a clinical property of the test, not a convenience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Infants &lt; 1 year in 5 Californian ICUs diagnosed by rWGS (74/184)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Median time to diagnosis in Project Baby Bear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Medical care changed; $1.7 M spent, $2.2–2.9 M saved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Acute liver dysfunction: 7/18 diagnosed, median 8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Liver cohort: diagnostic results returned faster (4 vs 10 days); 4 negatives turned out to be toxic exposures.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NHS England R14: rapid trio genome for NICU/PICU children, preliminary result within 2 weeks.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Dimmock D, et al. Am J Hum Genet 2021;108:1231–8 · Bonser D, et al. J Pediatr 2023;260:113534 · NHS England National Genomic Test Directory (R14, R171)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ACUTE LIVER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INDETERMINATE PALF IS OFTEN GENETIC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Indeterminate means not yet sequenced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Genetic diagnosis by WES in 260 indeterminate PALF, 19 countries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41%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Yield when PALF starts in the first year of life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64%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Yield in recurrent acute liver failure (59 children)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45%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Of diagnoses mitochondrial; NBAS (20), MPV17 (8), DGUOK (7) lead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One-third died and 56 were transplanted — the result often arrives after the decision it should inform.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Authors' conclusion: exome now, rapid genome in future, for every indeterminate PALF.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Lenz D, et al. Hepatology 2024;79:1075–87 · Peters B, et al. Liver Int 2025;45:e70146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VARIANT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FIVE TIERS, THREE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0000"/>
          <a:ext cx="11094720" cy="438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0000"/>
                <a:gridCol w="3700000"/>
                <a:gridCol w="459472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ACMG/AMP class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What it means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What to do in clinic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Pathogenic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Causes disease; enough evidence to act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Diagnose, treat, cascade-test relatives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Likely pathogenic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≥ 90% certainty by convention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Act as diagnosed if the phenotype fits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Uncertain significance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Neither; most are missense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Do not diagnose; phase, phenotype, test function, recontact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Likely benign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≥ 90% certainty of no effect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Do not act; usually not reported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Benign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Population or functional proof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Ignore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1 pathogenic + 1 VUS (recessive)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'Potential diagnosis' in 2.2% of 10,894 panels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Commonest real-world dilemma: ABCC2, ABCB4, ABCB11, CFTR, PKHD1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Richards S, et al. Genet Med 2015;17:405–24 · Hoskins B, et al. Front Pediatr 2026;14:1841006 · EASL CPG genetic cholestasis. J Hepatol 2024;81:303–25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VUS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VUS BURDEN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More genes tested, more uncertainty — and more of it outside European ancestry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3117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VUS reported against 662 P/LP variants in 2171 cholestasis panels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41%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Of 1.69 million tested people carried at least one VUS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Of reclassified VUS ended benign or likely benign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22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Mean time for a VUS to be upgraded to P/LP (30.7 mo to benign)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VUS per gene were higher in every non-European White group; databases under-represent them.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Mersch: 7.7% of unique VUS reclassified, 91% downgraded — most VUS are benign variants waiting for proof.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Karpen SJ, et al. JPGN 2021;72:654–60 · Chen E, et al. JAMA Netw Open 2023;6:e2339571 · Mersch J, et al. JAMA 2018;320:1266–74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RESOLVING A VUS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LIVER HAS ITS OWN ASSAYS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Phenotype is evidence: send it to the laboratory, not just the sample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45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Family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Phase by parental testing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Segregation in affected and healthy siblings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Same variant in other families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45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Tissue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BSEP or MDR3 immunostaining on biopsy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Biopsy helps in Alagille with a VUS (EASL)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GGT and serum bile acids that fit the gene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45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Biochemistry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Urine bile acids for synthesis defects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Succinylacetone, citrulline, copper studies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Biliary phospholipids for ABCB4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45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RNA, function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Splice minigene or RNA sequencing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 vitro transport assays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 silico tools: supporting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EASL CPG genetic cholestasis. J Hepatol 2024;81:303–25 · Richards S, et al. Genet Med 2015;17:405–24 · Kobayashi Y, et al. JAMA Netw Open 2024;7:e2444526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REANALYSIS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A NEGATIVE EXOME IS A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Literature updates explain most new diagnoses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Pooled extra yield from reanalysis, 29 studies; higher after 24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EASL 2024: re-analyse WES/WGS data at least this often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5.2%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Old-panel negatives solved by an expanded 61-gene panel in Japan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4.6%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Of 2.05 million variants reclassified over 8 years; 0.06% reversed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ACMG 2019: laboratories need a reanalysis policy; who must ask is left open — in practice, the clinician.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Zheng 2024: re-reading old exomes solved KIF12 and USP53 cholestasis once the genes were published.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Dai P, et al. Genet Med 2022;24:1618–29 · EASL CPG genetic cholestasis. J Hepatol 2024;81:303–25 · Ito S, et al. JPGN Rep 2022;3:e196 · Kobayashi Y, et al. JAMA Netw Open 2024;7:e2444526 · Deignan JL, et al. Genet Med 2019;21:1267–70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GENOTYPE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BSEP GENOTYPE PREDICTS THE 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NAPPED: 264 children with biallelic ABCB11 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62760" y="3244667"/>
            <a:ext cx="420000" cy="123533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42760" y="3014667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20.4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2760" y="4237778"/>
            <a:ext cx="420000" cy="24222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92760" y="4007778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0000"/>
            <a:ext cx="369824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BSEP1 · ≥ 1 p.E297G or p.D482G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1000" y="4056112"/>
            <a:ext cx="420000" cy="42388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41000" y="3826112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1000" y="4056112"/>
            <a:ext cx="420000" cy="423888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00" y="3826112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880" y="4540000"/>
            <a:ext cx="369824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BSEP2 · other missense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59240" y="4268056"/>
            <a:ext cx="420000" cy="21194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9240" y="4038056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3.5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09240" y="2421112"/>
            <a:ext cx="420000" cy="2058888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89240" y="2191112"/>
            <a:ext cx="66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5120" y="4540000"/>
            <a:ext cx="369824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BSEP3 · two truncating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43360" y="1830000"/>
            <a:ext cx="200000" cy="15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360" y="1790000"/>
            <a:ext cx="14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Median native-liver survival, years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43360" y="1830000"/>
            <a:ext cx="200000" cy="15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03360" y="1790000"/>
            <a:ext cx="14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HCC by age 15,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Surgical biliary diversion helped BSEP1 and BSEP2 only (HR 0.50); serum bile acids &lt; 102 µmol/L after it predicted ≥ 15 years.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EASL 2024 (LoE 3, strong): base follow-up, HCC screening and diversion on the specific genotype.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van Wessel DBE, et al. J Hepatol 2020;73:84–93 · NAPPED, 264 children with severe BSEP deficiency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GENOTYPE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WHEN THE GENE CHANGES THE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0000"/>
          <a:ext cx="11094720" cy="438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000"/>
                <a:gridCol w="4900000"/>
                <a:gridCol w="2600000"/>
                <a:gridCol w="159472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Genotype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What the result changes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Evidence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Changes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ABCB11 · BSEP3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IBAT response expected; diversion did not prolong NLS; HCC 34% by 15 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NAPPED; FDA and EMA labels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DRUG CHOICE</a:t>
                      </a:r>
                    </a:p>
                  </a:txBody>
                  <a:tcPr anchor="ctr" marL="73152" marR="73152" marT="27432" marB="27432">
                    <a:solidFill>
                      <a:srgbClr val="2E5A88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ABCB11 · BSEP1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Diversion and IBAT inhibitor worth trying; transplant may be decades away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NAPPED (NLS 20.4 y)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DRUG CHOICE</a:t>
                      </a:r>
                    </a:p>
                  </a:txBody>
                  <a:tcPr anchor="ctr" marL="73152" marR="73152" marT="27432" marB="27432">
                    <a:solidFill>
                      <a:srgbClr val="2E5A88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NBAS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Fever-triggered crises wane with age; emergency protocol before transplant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230 patients; native liver survival 83.9%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LT DECISION</a:t>
                      </a:r>
                    </a:p>
                  </a:txBody>
                  <a:tcPr anchor="ctr" marL="73152" marR="73152" marT="27432" marB="27432">
                    <a:solidFill>
                      <a:srgbClr val="8C1C1C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NPC1 in neonatal ALF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Rapid trio exome took an infant off the transplant list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Case report, 2017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LT DECISION</a:t>
                      </a:r>
                    </a:p>
                  </a:txBody>
                  <a:tcPr anchor="ctr" marL="73152" marR="73152" marT="27432" marB="27432">
                    <a:solidFill>
                      <a:srgbClr val="8C1C1C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POLG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Valproate contraindicated; neurological course weighs on transplant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FDA valproate boxed warning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LT DECISION</a:t>
                      </a:r>
                    </a:p>
                  </a:txBody>
                  <a:tcPr anchor="ctr" marL="73152" marR="73152" marT="27432" marB="27432">
                    <a:solidFill>
                      <a:srgbClr val="8C1C1C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TJP2, ABCB11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Hepatocellular carcinoma risk dictates imaging and AFP schedule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EASL 2024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SURVEILLANCE</a:t>
                      </a:r>
                    </a:p>
                  </a:txBody>
                  <a:tcPr anchor="ctr" marL="73152" marR="73152" marT="27432" marB="27432">
                    <a:solidFill>
                      <a:srgbClr val="D97A0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van Wessel DBE, et al. J Hepatol 2020;73:84–93 · Peters B, et al. Liver Int 2025;45:e70146 · Rohanizadegan M, et al. Cold Spring Harb Mol Case Stud 2017;3:a002147 · Lenz D, et al. Hepatology 2024;79:1075–87 · EASL CPG genetic cholestasis. J Hepatol 2024;81:303–25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DO NOT WAIT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TREAT BEFORE THE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0000"/>
          <a:ext cx="11094720" cy="4389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0000"/>
                <a:gridCol w="3700000"/>
                <a:gridCol w="3000000"/>
                <a:gridCol w="169472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Suspicion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Clue available in hours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Act now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Gene's role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Biliary atresia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Acholic stools, GGT, ultrasound, MMP-7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Cholangiogram and Kasai pathway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IN PARALLEL</a:t>
                      </a:r>
                    </a:p>
                  </a:txBody>
                  <a:tcPr anchor="ctr" marL="73152" marR="73152" marT="27432" marB="27432">
                    <a:solidFill>
                      <a:srgbClr val="D97A0B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Galactosaemia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GALT activity (before transfusion), E. coli sepsis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Stop lactose on suspicion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TREAT FIRST</a:t>
                      </a:r>
                    </a:p>
                  </a:txBody>
                  <a:tcPr anchor="ctr" marL="73152" marR="73152" marT="27432" marB="27432">
                    <a:solidFill>
                      <a:srgbClr val="B22222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Tyrosinaemia type 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Succinylacetone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Nitisinone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TREAT FIRST</a:t>
                      </a:r>
                    </a:p>
                  </a:txBody>
                  <a:tcPr anchor="ctr" marL="73152" marR="73152" marT="27432" marB="27432">
                    <a:solidFill>
                      <a:srgbClr val="B22222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Bile acid synthesis defect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Low GGT, normal serum bile acids, urine bile acids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Oral cholic acid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TREAT FIRST</a:t>
                      </a:r>
                    </a:p>
                  </a:txBody>
                  <a:tcPr anchor="ctr" marL="73152" marR="73152" marT="27432" marB="27432">
                    <a:solidFill>
                      <a:srgbClr val="B22222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Gestational alloimmune liver disease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Ferritin, MRI or lip biopsy siderosis, C5b-9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IVIG ± exchange transfusion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NOT GENETIC</a:t>
                      </a:r>
                    </a:p>
                  </a:txBody>
                  <a:tcPr anchor="ctr" marL="73152" marR="73152" marT="27432" marB="27432">
                    <a:solidFill>
                      <a:srgbClr val="8A939B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Citrin deficiency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Citrulline, galactose, fatty liver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Lactose-free MCT formula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TREAT FIRST</a:t>
                      </a:r>
                    </a:p>
                  </a:txBody>
                  <a:tcPr anchor="ctr" marL="73152" marR="73152" marT="27432" marB="27432">
                    <a:solidFill>
                      <a:srgbClr val="B22222"/>
                    </a:solidFill>
                  </a:tcPr>
                </a:tc>
              </a:tr>
              <a:tr h="5671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Recurrent febrile ALF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Pattern alone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Antipyresis, early glucose, NBAS protocol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IN PARALLEL</a:t>
                      </a:r>
                    </a:p>
                  </a:txBody>
                  <a:tcPr anchor="ctr" marL="73152" marR="73152" marT="27432" marB="27432">
                    <a:solidFill>
                      <a:srgbClr val="D97A0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2017;64:154–68 · EASL CPG genetic cholestasis. J Hepatol 2024;81:303–25 · Peters B, et al. Liver Int 2025;45:e70146 · Lenz D, et al. Hepatology 2024;79:1075–87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0000"/>
          <a:ext cx="11094720" cy="438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0000"/>
                <a:gridCol w="4050000"/>
                <a:gridCol w="4050000"/>
                <a:gridCol w="134472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North America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Europe / UK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When to test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NASPGHAN/ESPGHAN 2017: low threshold for panel or exome, with the hepatologist; ungraded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EASL 2024: early in the work-up in infants and children; after common causes in adults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EU ADDS</a:t>
                      </a:r>
                    </a:p>
                  </a:txBody>
                  <a:tcPr anchor="ctr" marL="73152" marR="73152" marT="27432" marB="27432">
                    <a:solidFill>
                      <a:srgbClr val="2E5A88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Which test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ACMG 2021: ES/GS first- or second-tier — for anomalies or DD/ID, not liver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EASL 2024: NGS panel or WES; Sanger discouraged; WGS if WES negative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EXTRAPOLATED</a:t>
                      </a:r>
                    </a:p>
                  </a:txBody>
                  <a:tcPr anchor="ctr" marL="73152" marR="73152" marT="27432" marB="27432">
                    <a:solidFill>
                      <a:srgbClr val="D97A0B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Who qualifies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 national criteria; payer-driven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NHS R171: unexplained cholestasis &lt; 18 y, &gt; 3 months or recurrent; national MDT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UK ADDS</a:t>
                      </a:r>
                    </a:p>
                  </a:txBody>
                  <a:tcPr anchor="ctr" marL="73152" marR="73152" marT="27432" marB="27432">
                    <a:solidFill>
                      <a:srgbClr val="2E5A88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Reanalysis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ACMG 2019: laboratory policy required; no interval, initiator left open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EASL 2024: re-analyse at least every 3 years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EU ADDS</a:t>
                      </a:r>
                    </a:p>
                  </a:txBody>
                  <a:tcPr anchor="ctr" marL="73152" marR="73152" marT="27432" marB="27432">
                    <a:solidFill>
                      <a:srgbClr val="2E5A88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Counselling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ACMG: pre-test counselling and secondary findings policy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EASL: counselling must precede testing; incidental findings agreed in advance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anchor="ctr" marL="73152" marR="73152" marT="27432" marB="27432">
                    <a:solidFill>
                      <a:srgbClr val="1E7A33"/>
                    </a:solidFill>
                  </a:tcPr>
                </a:tc>
              </a:tr>
              <a:tr h="66166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BSEP3 and IBAT drugs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FDA: not recommended (limitation of use); PFIC age Livmarli ≥ 12 mo, Bylvay ≥ 3 mo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EMA: not expected to respond (warning); Livmarli ≥ 3 mo, Bylvay ≥ 6 mo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LABELS SPLIT</a:t>
                      </a:r>
                    </a:p>
                  </a:txBody>
                  <a:tcPr anchor="ctr" marL="73152" marR="73152" marT="27432" marB="27432">
                    <a:solidFill>
                      <a:srgbClr val="B2222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2017;64:154–68 · EASL CPG genetic cholestasis. J Hepatol 2024;81:303–25 · Manickam K, et al. Genet Med 2021;23:2029–37 · Deignan JL, et al. Genet Med 2019;21:1267–70 · NHS England National Genomic Test Directory (R14, R171) · FDA Livmarli (4/2025), Bylvay (12/2025) · EMA Livmarli, Bylvay SmPC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20000"/>
            <a:ext cx="11094720" cy="4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Yield reflects who was tested: 71% in a genetic-looking phenotype, 4% with prematurity, 7% in open referral.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Panels and exomes perform alike when the panel is broad; exome and genome can be re-read, a panel cannot.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Send the trio: odds of a diagnosis double, and only parents can phase two recessive variants.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Indeterminate PALF is genetic in about a third, in two-thirds when recurrent — sequence before or alongside listing.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 VUS is not a diagnosis; most that are resolved turn out benign, and it takes about two years.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One pathogenic plus one VUS in a recessive gene is the commonest dilemma — phase it, then test the tissue.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Re-analyse a negative exome every 3 years (EASL); expect about one new diagnosis in ten.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Never let a pending result delay the cholangiogram, nitisinone, lactose withdrawal, cholic acid or IVIG.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Togawa T, et al. J Pediatr 2016;171:171–7 · Fang Y, et al. Front Pediatr 2021;9:631620 · Clark MM, et al. NPJ Genom Med 2018;3:16 · Lenz D, et al. Hepatology 2024;79:1075–87 · Chen E, et al. JAMA Netw Open 2023;6:e2339571 · Dai P, et al. Genet Med 2022;24:1618–29 · EASL CPG genetic cholestasis. J Hepatol 2024;81:303–25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TEST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930000"/>
          <a:ext cx="11094720" cy="49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0000"/>
                <a:gridCol w="2900000"/>
                <a:gridCol w="2900000"/>
                <a:gridCol w="259472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Send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Read it as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Do not</a:t>
                      </a:r>
                    </a:p>
                  </a:txBody>
                  <a:tcPr anchor="ctr" marL="73152" marR="73152" marT="27432" marB="27432">
                    <a:solidFill>
                      <a:srgbClr val="1B355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Infant, acholic stools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BA pathway first; panel in parallel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JAG1 result may reframe a poor Kasai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Delay the cholangiogram for a panel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Infant cholestasis, BA excluded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Broad panel with del/dup or trio exome; urine bile acids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Low GGT points to ATP8B1, ABCB11, synthesis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Order genes one by one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Syndromic features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JAG1/NOTCH2 including deletion analysis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Sequencing-negative is not Alagille-negative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Stop at a negative sequence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Indeterminate or recurrent PALF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Rapid trio genome (R14, rWGS)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Mitochondrial or NBAS changes candidacy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Wait for it if transplant criteria are met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Older child, unexplained ALT or cholestasis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Exome with liver-focused analysis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ATP7B, ABCB4, heterozygous co-factors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Call a single ABCB4 variant the cause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One P + one VUS, recessive gene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Parents; immunostaining; biochemistry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 hypothesis, not a diagnosis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Cascade-test relatives on the VUS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Confirmed PFIC2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Classify BSEP1/2/3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Guides IBAT, diversion, HCC screening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Start an IBAT inhibitor in BSEP3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  <a:tr h="5675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Negative exome, phenotype persists</a:t>
                      </a:r>
                    </a:p>
                  </a:txBody>
                  <a:tcPr anchor="ctr" marL="73152" marR="73152" marT="27432" marB="2743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Reanalysis at ≤ 3 years, or genome</a:t>
                      </a:r>
                    </a:p>
                  </a:txBody>
                  <a:tcPr anchor="ctr" marL="73152" marR="73152" marT="27432" marB="27432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 draft, not a verdict</a:t>
                      </a:r>
                    </a:p>
                  </a:txBody>
                  <a:tcPr anchor="ctr" marL="73152" marR="73152" marT="27432" marB="27432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Close the file</a:t>
                      </a:r>
                    </a:p>
                  </a:txBody>
                  <a:tcPr anchor="ctr" marL="73152" marR="73152" marT="27432" marB="27432">
                    <a:solidFill>
                      <a:srgbClr val="FBEFB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Fawaz 2017 · EASL 2024 · Gilbert 2019 · Lenz 2024 · Hoskins 2026 · van Wessel 2020 · Dai 2022 · NHS R14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Genetic Testing in Paediatric Liver Disease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