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1524000"/>
            <a:ext cx="11087100" cy="1968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Cholestasis of Prematurity and Parenteral Nutrition: PNAC, Sepsis, NEC and the Hidden Biliary Atresia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632200"/>
            <a:ext cx="1828800" cy="190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6100" y="3835400"/>
            <a:ext cx="110871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4343400"/>
            <a:ext cx="11087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9DEE7"/>
                </a:solidFill>
                <a:latin typeface="Abadi"/>
              </a:rPr>
              <a:t>Fawaz 2017 (NASPGHAN/ESPGHAN) · Christensen 2007 · Lauriti 2014 · Kim 2016 · Nayak 2024 · El Kasmi 2012 and 2013 · Puder 2009 · Omegaven label 2018 · Repa 2018 · Kapoor 2019 (Cochrane) · Lapillonne and Hartman 2018 (ESPGHAN/ESPEN/ESPR/CSPEN) · Lacaille 2015 · Chiu 2013 · van Wessel 2017 · Harpavat 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100" y="5105400"/>
            <a:ext cx="110871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D9DEE7"/>
                </a:solidFill>
                <a:latin typeface="Abadi"/>
              </a:rPr>
              <a:t>direct bilirubin ≥ 2 mg/dL · duration of PN · phytosterols and FXR · endotoxin and TLR4 · surgical NEC · fish oil · PN is a diagnosis of exclusion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THE PRETERM INFANT WITH A RISING DIRECT BILIRUBIN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Most of these infants have parenteral-nutrition-associated cholestasis; the task is not to miss the few who do not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R, et al. JPGN 2017;64:154–68 · Christensen RD, et al. J Perinatol 2007;27:284–90 · Chiu CY, et al. J Pediatr 2013;163:100–3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581275" cy="260350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581275" cy="1016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PNAC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730500"/>
            <a:ext cx="2225675" cy="153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Direct bilirubin ≥ 2 mg/dL after ≥ 14 days of PN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Dose-dependent: rises with weeks of PN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Resolves as enteral feeds advance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375" y="1778000"/>
            <a:ext cx="2581275" cy="260350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375" y="1778000"/>
            <a:ext cx="2581275" cy="1016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9175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Sepsis and NEC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175" y="2730500"/>
            <a:ext cx="2225675" cy="153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Cytokines and endotoxin switch off bile transporters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Surgical NEC doubles the rate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Cholestasis marks the sicker infant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6650" y="1778000"/>
            <a:ext cx="2581275" cy="260350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6650" y="1778000"/>
            <a:ext cx="2581275" cy="101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4450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The surgical gut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4450" y="2730500"/>
            <a:ext cx="2225675" cy="153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Gastroschisis, jejunal atresia, short bowel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Highest odds in the Utah cohort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Can progress to IFALD and cirrhosis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1925" y="1778000"/>
            <a:ext cx="2581275" cy="260350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1925" y="1778000"/>
            <a:ext cx="2581275" cy="1016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9725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The hidden atresia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9725" y="2730500"/>
            <a:ext cx="2225675" cy="153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Biliary atresia also occurs in preterm infants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Kasai later, outcomes worse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Every test is confounded by PN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4572000"/>
            <a:ext cx="110871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Cholestasis in a preterm infant on parenteral nutrition is usually multifactorial and reversible, but 'PN cholestasis' is a diagnosis of exclusion: it must follow the PN dose, improve with feeds, and never be accepted with acholic stools.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clinical stake.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 a national Taiwanese cohort preterm infants with biliary atresia had their Kasai at a mean 72 days against 53 days in term infants, and fewer kept their native liver.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WHICH NUMBER, FOR WHICH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thresholds used in guidelines and in the PNAC literature are not the same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R, et al. JPGN 2017;64:154–68 · Christensen RD, et al. J Perinatol 2007 · Lee SM, et al. Yonsei Med J 2013;54:839–44 · Levit OL, et al. JPEN 2016;40:374–82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581275" cy="2133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581275" cy="635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&gt; 1.0 mg/dL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552700"/>
            <a:ext cx="2225675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Direct or conjugated bilirubin that is abnormal in any infant, regardless of total bilirubin (2017 joint guideline)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375" y="1778000"/>
            <a:ext cx="2581275" cy="2133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375" y="1778000"/>
            <a:ext cx="2581275" cy="635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9175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≥ 2.0 mg/dL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175" y="2552700"/>
            <a:ext cx="2225675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The usual research and label definition of PNAC; used by the Utah cohort and the Omegaven trials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6650" y="1778000"/>
            <a:ext cx="2581275" cy="2133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6650" y="1778000"/>
            <a:ext cx="2581275" cy="635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4450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≥ 14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4450" y="2552700"/>
            <a:ext cx="2225675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Duration of PN most definitions require before the cholestasis is called PN-associated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1925" y="1778000"/>
            <a:ext cx="2581275" cy="2133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1925" y="1778000"/>
            <a:ext cx="2581275" cy="635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9725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≥ 15% of 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9725" y="2552700"/>
            <a:ext cx="2225675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An older ratio definition; it inflates rates (69% in one trial) and is not comparable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4191000"/>
            <a:ext cx="11087100" cy="162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Why it matters.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 trial that defines cholestasis as a direct fraction above 15% will report rates three to four times higher than one that uses 2 mg/dL. Read the definition before you compare numbers.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At the bedside.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Investigate at the guideline threshold of 1 mg/dL; reserve the PNAC label for an infant who meets 2 mg/dL on prolonged PN and whose trajectory fits.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DOSE–RESPONSE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LONGER THE PN, THE MORE CHOLESTASIS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PN-associated liver disease (direct bilirubin ≥ 2 mg/dL) by duration of PN, Intermountain NICUs, % of infants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Christensen RD, Henry E, Wiedmeier SE, et al. J Perinatol 2007;27:284–90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100" y="2032000"/>
            <a:ext cx="1651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14–28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24100" y="2292350"/>
            <a:ext cx="594061" cy="3175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4361" y="2032000"/>
            <a:ext cx="1397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14%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100" y="2870200"/>
            <a:ext cx="1651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29–56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4100" y="3130550"/>
            <a:ext cx="1824616" cy="3175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916" y="2870200"/>
            <a:ext cx="1397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43%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100" y="3708400"/>
            <a:ext cx="1651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57–100 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4100" y="3968750"/>
            <a:ext cx="3055171" cy="3175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55471" y="3708400"/>
            <a:ext cx="1397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72%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100" y="4546600"/>
            <a:ext cx="1651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&gt; 100 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24100" y="4806950"/>
            <a:ext cx="3606800" cy="3175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07100" y="4546600"/>
            <a:ext cx="1397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85%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7000" y="1828800"/>
            <a:ext cx="3886200" cy="392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9,861 neonates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6,543 received PN; 1,366 for at least 14 days; 357 developed PN liver disease.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OR 30.7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Birth weight below 500 g, against 13.1 for 500–749 g.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OR 24.0 and 20.3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Jejunal atresia and gastroschisis: the surgical gut carries the highest risk.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Exposure, not maturity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Duration of PN is the variable you can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POOLED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ONE IN FOUR, RISING TO MORE THAN HALF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Meta-analysis of 23 studies, 3,280 infants: PNAC by duration of PN,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Lauriti G, et al. JPEN 2014;38:70–85 · Beale EF, et al. Pediatrics 1979 (as cited by Lee 2013) · Fawaz R, et al. JPGN 2017 · Lacaille F, et al. JPGN 2015;60:272–83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1866900"/>
            <a:ext cx="596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PNAC or IFALD, % of infants (Lauriti 2014)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5105400"/>
            <a:ext cx="5969000" cy="952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16025" y="4476554"/>
            <a:ext cx="685800" cy="628845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800" y="4197154"/>
            <a:ext cx="14922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15.7%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5156200"/>
            <a:ext cx="1492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PN ≤ 1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8275" y="3975881"/>
            <a:ext cx="685800" cy="112951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05050" y="3696481"/>
            <a:ext cx="14922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28.2%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5050" y="5156200"/>
            <a:ext cx="1492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All infants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0525" y="2666120"/>
            <a:ext cx="685800" cy="2439279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7300" y="2386720"/>
            <a:ext cx="14922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60.9%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7300" y="5156200"/>
            <a:ext cx="1492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PN ≥ 2 months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92775" y="3110718"/>
            <a:ext cx="685800" cy="1994681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89550" y="2831318"/>
            <a:ext cx="14922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49.8%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9550" y="5156200"/>
            <a:ext cx="1492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Intestinal failure (IFALD)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3000" y="1828800"/>
            <a:ext cx="4140200" cy="392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≈ 50% under 1,000 g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Beale's 1979 series: cholestasis after 2–4 weeks of PN in half of infants below 1,000 g, about 15% at 1,000–2,000 g.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'Up to one-fifth'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The 2017 joint guideline's figure for neonates on PN beyond 2 weeks: it understates the long-PN infant.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23% on home PN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ESPGHAN 2015 working group: IFALD in about a quarter of children on home PN.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RISK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ADDS TO THE PN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Independent predictors of PNAC in very-low-birth-weight infants, adjusted odds ratio (Kim 2016, 46 of 187)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Kim AY, et al. Pediatr Gastroenterol Hepatol Nutr 2016;19:61–70 · Lee SM, et al. Yonsei Med J 2013 · Robinson DT, Ehrenkranz RA. J Pediatr 2008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100" y="1905000"/>
            <a:ext cx="1905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Antibiotic duration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78100" y="2101850"/>
            <a:ext cx="3272624" cy="3175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6924" y="1905000"/>
            <a:ext cx="1397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4.49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100" y="2616200"/>
            <a:ext cx="1905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No enteral feeds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100" y="2813050"/>
            <a:ext cx="2106433" cy="3175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0733" y="2616200"/>
            <a:ext cx="1397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2.89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100" y="3327400"/>
            <a:ext cx="1905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PN duration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78100" y="3524250"/>
            <a:ext cx="1953370" cy="3175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7670" y="3327400"/>
            <a:ext cx="1397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2.68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100" y="4038600"/>
            <a:ext cx="1905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NEC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100" y="4235450"/>
            <a:ext cx="1749286" cy="3175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3586" y="4038600"/>
            <a:ext cx="1397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2.40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100" y="4749800"/>
            <a:ext cx="1905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GI operation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78100" y="4946650"/>
            <a:ext cx="1596224" cy="3175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0524" y="4749800"/>
            <a:ext cx="1397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2.19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7000" y="1828800"/>
            <a:ext cx="3886200" cy="392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SGA: OR 3.0–3.3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Small-for-gestational-age infants: severe PNAC in 61% vs 35% (Lee 2013); PNAC in 58% (Robinson 2008).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Sepsis 28% vs 4%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Common in PNAC but not independent once antibiotic days were in the model.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Onset ≈ day 52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Peak direct bilirubin 6.8 mg/dL around day 70; mean duration about 63 days.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FIVE HITS ON A SMALL BILE ACID POOL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How parenteral lipid, absent feeds and infection converge on the canalicular transporters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El Kasmi KC, et al. Sci Transl Med 2013;5:206ra137 · El Kasmi KC, et al. Hepatology 2012;55:1518–28 · Trauner M, et al. J Clin Invest 1998;101:2092–100 · Jain AK, et al. Am J Physiol 2012;302:G218–24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024380" cy="218440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024380" cy="3429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1 · No feeds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10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No enteral bile acids: FGF19, CCK and gallbladder emptying all low; bile stagnates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0858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1780" y="1778000"/>
            <a:ext cx="2024380" cy="218440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1780" y="1778000"/>
            <a:ext cx="2024380" cy="3429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1338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2 · Phytosterols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878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Soybean lipid carries stigmasterol, which antagonises FXR in the hepatocyte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7426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7460" y="1778000"/>
            <a:ext cx="2024380" cy="218440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7460" y="1778000"/>
            <a:ext cx="202438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906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3 · Transporters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446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BSEP (ABCB11), MRP2 (ABCC2) and ABCG5/8 fall: bile acids and sterols retained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994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3140" y="1778000"/>
            <a:ext cx="2024380" cy="218440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43140" y="1778000"/>
            <a:ext cx="202438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474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4 · Gut endotoxin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14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Injured, unfed gut leaks LPS; Kupffer cells signal via TLR4 (IL-6, TNF)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0562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8820" y="1778000"/>
            <a:ext cx="2024380" cy="218440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8820" y="1778000"/>
            <a:ext cx="2024380" cy="3429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042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5 · Sepsis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582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Cytokines cut NTCP and BSEP transcription: the 'cholestasis of sepsis'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100" y="4191000"/>
            <a:ext cx="11087100" cy="162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Why preterm.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The preterm infant starts with an immature bile acid pool, low canalicular transport and frequent infection, so the same PN dose produces more cholestasis than in a term infant.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Why fish oil helps.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Fish oil has almost no phytosterols, more α-tocopherol and less omega-6; in mice it prevented the injury that soybean lipid caused.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EXPERIMENTAL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TWO HITS: LIPID PLUS A LEAKY GUT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Key observations behind the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El Kasmi KC, et al. Hepatology 2012;55:1518–28 and Sci Transl Med 2013 · Trauner M, et al. J Clin Invest 1998 · Jain AK, et al. Am J Physiol 2012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581275" cy="635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&gt; 10-fold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Serum bile acids in mice given soybean PN after colitis; liver enzymes about 4-fold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375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375" y="1778000"/>
            <a:ext cx="2581275" cy="635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9175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≈ 40-fold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175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TGF-β expression in Kupffer cells; antibiotics or TLR4 mutation protected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6650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6650" y="1778000"/>
            <a:ext cx="2581275" cy="635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4450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44%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4450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Binding of the NTCP promoter factor HNF1 after endotoxin, with NTCP mRNA lowest at 16 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1925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1925" y="1778000"/>
            <a:ext cx="2581275" cy="635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9725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≈ 4-fold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9725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Fall in direct bilirubin when neonatal pigs on PN were given enteral CDCA; FGF19 restored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4254500"/>
            <a:ext cx="110871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model.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Neither soybean lipid nor gut injury alone was enough in the mouse; together they produced cholestasis. That is the NEC or surgical infant on prolonged PN.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translation.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Feed the gut, limit phytosterol exposure, treat infection, and expect the bilirubin to lag behind the clinical recovery.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SEPSIS AND NEC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SURGICAL NEC DOUBLES THE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Children's Hospital Neonatal Database, 1,472 infants with NEC: cholestasis and mortality,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Nayak SP, et al. J Perinatol 2024;44:100–7 · Garg PM, et al. Pediatr Res 2022;92:1705–15 · Shen Q, et al. 2023 (multicentre, China)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18669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Cholestasis by NEC type; mortality in medical NEC by cholestasis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5105400"/>
            <a:ext cx="6096000" cy="952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31900" y="3779350"/>
            <a:ext cx="685800" cy="1326049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800" y="349995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38.2%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5156200"/>
            <a:ext cx="152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Medical NEC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55900" y="2671995"/>
            <a:ext cx="685800" cy="243340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6800" y="2392595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70.1%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6800" y="5156200"/>
            <a:ext cx="152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Surgical NEC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900" y="4765209"/>
            <a:ext cx="685800" cy="34019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60800" y="4485809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60800" y="5156200"/>
            <a:ext cx="152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Died, with cholestasis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3900" y="5018616"/>
            <a:ext cx="685800" cy="86783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84800" y="4739216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2.5%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4800" y="5156200"/>
            <a:ext cx="152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Died, without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0" y="1828800"/>
            <a:ext cx="4013200" cy="392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OR 2.80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Bloodstream infection within 2 days of NEC predicted cholestasis in medical NEC; each PN day added OR 1.08.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OR 2.94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Cholestasis was independently linked to NEC-associated sepsis (Garg 2022).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OR 11.3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Surgical NEC in a Chinese multicentre cohort; SMOF lipid (OR 0.36) and breast milk (OR 0.30) were protective.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SURGICAL INFANT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WHEN PNAC BECOMES IFALD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Intestinal-failure-associated liver disease is the long-PN end of the same spectrum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Christensen 2007 · Lacaille F, et al. JPGN 2015;60:272–83 · Hartman C, et al. Clin Nutr 2018;37:2418–29 · Nandivada P, et al. Ann Surg 2015;261:172–9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581275" cy="248920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581275" cy="101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Who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730500"/>
            <a:ext cx="2225675" cy="14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Gastroschisis, jejunal atresia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Surgical NEC, short bowel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Stomas with high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375" y="1778000"/>
            <a:ext cx="2581275" cy="248920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375" y="1778000"/>
            <a:ext cx="2581275" cy="1016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9175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What it adds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175" y="2730500"/>
            <a:ext cx="2225675" cy="14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Bacterial overgrowth and translocation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Recurrent line sepsis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Months, not weeks, of PN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6650" y="1778000"/>
            <a:ext cx="2581275" cy="248920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6650" y="1778000"/>
            <a:ext cx="2581275" cy="1016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4450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How it 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4450" y="2730500"/>
            <a:ext cx="2225675" cy="14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Fibrosis, portal hypertension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Mortality up to 40% once established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Isolated liver or intestine transplant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1925" y="1778000"/>
            <a:ext cx="2581275" cy="248920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1925" y="1778000"/>
            <a:ext cx="2581275" cy="1016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9725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What to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9725" y="2730500"/>
            <a:ext cx="2225675" cy="14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Refer early to an intestinal-failure team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Composite or fish-oil lipid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Line care: each sepsis is a hit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4470400"/>
            <a:ext cx="110871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Fibrosis lags.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Bilirubin can normalise on fish oil while fibrosis persists; follow platelets, spleen size and, where available, elastography, not bilirubin alone.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Reversal is possible.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 51 children with PN-associated cirrhosis, cholestasis resolved on fish oil in 39 at a median of 74 days, and none of those 39 needed a transplant.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LIPID: THE FIRST LEVER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FISH OIL REVERSED CHOLESTASIS IN THE HIGH-RISK INFANT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Boston fish-oil cohort (n = 42) versus historical soybean controls (n = 49), % of infants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Puder M, et al. Ann Surg 2009;250:395–402 · Gura KM, et al. Pediatrics 2008;121:e678–86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1866900"/>
            <a:ext cx="596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Reversal 19/38 vs 2/36; deaths 3/42 vs 12/49; transplants 1/42 vs 6/49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2184400"/>
            <a:ext cx="139700" cy="1397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3300" y="2133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Fish oil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44800" y="2184400"/>
            <a:ext cx="139700" cy="1397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300" y="2133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Soybean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5105400"/>
            <a:ext cx="5969000" cy="952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12333" y="2761672"/>
            <a:ext cx="482600" cy="2343727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8033" y="2533072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50%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0333" y="4842902"/>
            <a:ext cx="482600" cy="262497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06033" y="4614302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5.6%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99" y="5156200"/>
            <a:ext cx="19896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Reversal on PN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02000" y="4772590"/>
            <a:ext cx="482600" cy="332809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7700" y="4543990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7.1%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10000" y="3956973"/>
            <a:ext cx="482600" cy="114842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95700" y="3728373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24.5%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2466" y="5156200"/>
            <a:ext cx="19896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Died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91666" y="4992901"/>
            <a:ext cx="482600" cy="11249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77366" y="4764301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2.4%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99666" y="4533530"/>
            <a:ext cx="482600" cy="571869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85366" y="4304930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12.2%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2133" y="5156200"/>
            <a:ext cx="19896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Transplanted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3000" y="1828800"/>
            <a:ext cx="4140200" cy="392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6 times faster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Cholestasis reversed about six-fold faster on fish oil (95% CI 2.0–37.3).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Historical controls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Not randomised: the control era also had other care practices; treat the effect size with caution.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The dose is lipid restriction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1 g/kg/day of fish oil also means less total lipid; both may contribute.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LICENSED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OMEGAVEN: 1 G/KG/DAY, AND PATIENCE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US label for fish-oil emulsion in PNAC (2018) and the cirrhosis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Omegaven prescribing information (FDA 2018) · Nandivada P, et al. Ann Surg 2015;261:172–9 · Calkins KL, et al. JPEN 2013 (UCLA)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581275" cy="635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1 g/kg/day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The licensed dose for PNAC, which is also the maximum; continue until cholestasis resolves or PN stops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375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375" y="1778000"/>
            <a:ext cx="2581275" cy="635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9175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≈ 5.7 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175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Median time to direct bilirubin &lt; 2 mg/dL (82 treated vs 41 historical soybean controls)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6650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6650" y="1778000"/>
            <a:ext cx="2581275" cy="635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4450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4450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Reached direct bilirubin &lt; 2 mg/dL with AST and ALT &lt; 3× normal in the safety population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1925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1925" y="1778000"/>
            <a:ext cx="2581275" cy="635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9725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13% and 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9725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Mortality and transplantation in the safety population: severe disease persists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4254500"/>
            <a:ext cx="110871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Watch for.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Essential fatty acid deficiency (triene:tetraene ratio), growth on a lower lipid energy load, and bleeding tendency in an infant who is already coagulopathic.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Where it fits.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Pure fish oil is a treatment for established PNAC. In Europe, composite emulsions containing fish oil are the default for longer PN, and pure fish oil is a short-term rescue.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PREVENTION TRIALS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PREVENTION IS HARDER TO PROVE THAN RESCUE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Randomised evidence in preterm infants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Repa A, et al. J Pediatr 2018;194:87–93 · Kapoor V, et al. Cochrane 2019;CD013163 · He T, et al. Br J Hosp Med 2024;85:1–20 · Levit OL, et al. JPEN 2016;40:374–82 · Hojsak I, et al. JPGN 2016;62:776–92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6100" y="1803400"/>
          <a:ext cx="11087100" cy="3048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05000"/>
                <a:gridCol w="2286000"/>
                <a:gridCol w="2095500"/>
                <a:gridCol w="2540000"/>
                <a:gridCol w="2260600"/>
              </a:tblGrid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Study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Population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Comparison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Cholestasis result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Reading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Repa 2018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223 ELBW infants, double blind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SMOF vs soybean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10.1% vs 15.9%, P = 0.20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Trend, underpowered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Kapoor 2019 (Cochrane)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29 trials, 2,037 preterm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Fish-oil vs other lipid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RR 0.61 (0.24–1.56)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Low certainty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He 2024 meta-analysis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20 RCTs, 1,904 neonates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SMOF vs other lipid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RR 0.65 (0.48–0.87)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Benefit, I² = 0%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Levit 2016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≤ 29 weeks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Soybean ~1 vs ~3 g/kg/d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69% vs 63%, P = 0.45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Restriction alone fails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Hojsak 2016 (ESPGHAN)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Systematic review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Lipid types, short use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 difference shown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Short PN: little effect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6100" y="4978400"/>
            <a:ext cx="110871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pattern.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Composite lipid probably lowers PNAC modestly; cutting soybean lipid to 1 g/kg/day does not prevent it and costs energy. The strongest preventive is enteral feeding.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OTHER LEVERS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FEED THE GUT, THEN THINK ABOUT DRUGS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Adjuncts in PNAC and the quality of their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Chen CY, et al. J Pediatr 2004;145:317–21 · Cochrane protocol CD007831 · Ng E, Shah VS. Cochrane 2022;CD001815 · Lacaille F, et al. JPGN 2015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581275" cy="248920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581275" cy="1016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Enteral feeds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730500"/>
            <a:ext cx="2225675" cy="14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Trophic feeds early, advance as tolerated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Breast milk protective (OR 0.30)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The most reliable cure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375" y="1778000"/>
            <a:ext cx="2581275" cy="248920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375" y="1778000"/>
            <a:ext cx="2581275" cy="1016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9175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Ursodeoxycholic acid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175" y="2730500"/>
            <a:ext cx="2225675" cy="14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VLBW cohort: 62.8 vs 92.4 days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Widely used, no definitive RCT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Only with an enteral route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6650" y="1778000"/>
            <a:ext cx="2581275" cy="248920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6650" y="1778000"/>
            <a:ext cx="2581275" cy="101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4450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Erythromycin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4450" y="2730500"/>
            <a:ext cx="2225675" cy="14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Helps feed intolerance at 40–50 mg/kg/d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Benefit only &gt; 32 weeks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No PNAC outcome in Cochrane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1925" y="1778000"/>
            <a:ext cx="2581275" cy="248920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1925" y="1778000"/>
            <a:ext cx="2581275" cy="1016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9725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PN prescription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9725" y="2730500"/>
            <a:ext cx="2225675" cy="14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Avoid excess glucose and calories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Cycle PN when feasible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Trace elements: watch copper, manganese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4470400"/>
            <a:ext cx="110871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Honest evidence.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UDCA use in US NICUs rose 86% between 1999 and 2004 without a definitive trial; cycling has physiological logic but no verified preterm RCT. Use them, but do not let them substitute for feeds.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Trace elements.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Copper and manganese are excreted in bile; review them in prolonged cholestasis.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HIDDEN ATRESIA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PRETERM INFANTS WITH BILIARY ATRESIA DO WORSE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Taiwan national stool-card cohort, preterm versus term infants with biliary atresia,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Chiu CY, et al. J Pediatr 2013;163:100–3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18669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Preterm vs term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2184400"/>
            <a:ext cx="139700" cy="1397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3300" y="2133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Preterm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44800" y="2184400"/>
            <a:ext cx="139700" cy="1397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300" y="2133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Term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5105400"/>
            <a:ext cx="6096000" cy="952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33500" y="3674554"/>
            <a:ext cx="482600" cy="1430845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9200" y="3445954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44.4%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41500" y="2891456"/>
            <a:ext cx="482600" cy="2213943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27200" y="2662856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68.7%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5156200"/>
            <a:ext cx="203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Kasai before 60 days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65500" y="3913028"/>
            <a:ext cx="482600" cy="1192371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51200" y="3684428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37%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73500" y="3107372"/>
            <a:ext cx="482600" cy="1998027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59200" y="2878772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62%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44800" y="5156200"/>
            <a:ext cx="203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Jaundice-free at 3 months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7500" y="3494087"/>
            <a:ext cx="482600" cy="161131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83200" y="3265487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50%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5500" y="2762551"/>
            <a:ext cx="482600" cy="234284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91200" y="2533951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72.7%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6800" y="5156200"/>
            <a:ext cx="203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Native liver at 18 months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0" y="1828800"/>
            <a:ext cx="4013200" cy="392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2.37 vs 1.43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Incidence per 10,000 live births, preterm vs term (OR 1.65).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71.8 vs 52.9 days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Mean age at Kasai: the delay, not the disease, explains much of the gap.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96.3%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Stool-card sensitivity before 60 days was as good in preterm infants: the card works if it is used.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OTHER COHORTS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RARE, LATE AND MISATTRIBUTED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Biliary atresia in preterm and low-birth-weight infants across registries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van Wessel DBE, et al. JPGN 2017;65:370–4 · Durkin N, et al. Pediatr Surg Int 2017;33:1355–61 · Beati F, et al. Front Surg 2024 · Japanese BA Registry (Surg Case Rep 2020)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581275" cy="635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21% vs 46%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Netherlands: native-liver survival at 4 years, preterm vs all infants with biliary atresia; median Kasai at 70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375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375" y="1778000"/>
            <a:ext cx="2581275" cy="635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9175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1.06 vs 0.54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175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Netherlands: incidence per 10,000 in preterm infants vs the whole population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6650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6650" y="1778000"/>
            <a:ext cx="2581275" cy="635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4450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3% of 692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4450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King's College: preterm infants among all BA; Kasai 65 vs 56 days in matched term controls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1925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1925" y="1778000"/>
            <a:ext cx="2581275" cy="635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9725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0.89%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9725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Japanese registry: birth weight &lt; 1,500 g among 3,362 infants with biliary atresia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4254500"/>
            <a:ext cx="110871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Not every cohort agrees.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London and Rome found similar clearance rates in preterm and term infants. The consistent signal is delay: the preterm infant is already on a ward, already jaundiced, already 'explained'.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trap.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 VLBW infant on PN for 6 weeks with a direct bilirubin of 4 mg/dL is assumed to have PNAC. If the stools are pale, that assumption is the error.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WHY THE TESTS MISLEAD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EVERY TEST IS CONFOUNDED BY PN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How each investigation behaves in the preterm infant on PN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R, et al. JPGN 2017;64:154–68 · AJR meta-analysis of sonography (doi 10.2214/AJR.15.15336) · Harpavat S, et al. JAMA 2020;323:1141–50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6100" y="1803400"/>
          <a:ext cx="11087100" cy="3733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78000"/>
                <a:gridCol w="4191000"/>
                <a:gridCol w="5118100"/>
              </a:tblGrid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Test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Performance for biliary atresia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The preterm and PN problem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Stool colour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Card sensitivity &gt; 90% in Taiwan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Unfed infants pass little stool, so colour is hard to judge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GGT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High in both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Does not separate PNAC from atresia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HIDA scan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Sens 98.7%, spec 70.4% (meta-analysis)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PN and low birth weight cause non-excretion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Ultrasound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Triangular cord 74/97%; gallbladder 85/92%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Fasting gallbladder on PN can look small or absent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Liver biopsy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Sens 100%, spec 94.3%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PN cholestasis can mimic obstruction histologically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DB screening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Sens 100%, spec 99.9% (Harpavat)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Preterm infants screen positive more (3.9% vs 1.3%)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PNAC IS A DIAGNOSIS OF EXCLUSION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practical sequence for the NICU infant with conjugated hyperbilirubinaemia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R, et al. JPGN 2017 · Newborn Screening Ontario, BA screening in admitted newborns (2023) · Lacaille F, et al. JPGN 2015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024380" cy="218440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024380" cy="3429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1 ·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10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Direct bilirubin at 2 weeks of PN and every 1–2 weeks after; act above 1 mg/dL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0858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1780" y="1778000"/>
            <a:ext cx="2024380" cy="218440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1780" y="1778000"/>
            <a:ext cx="202438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1338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2 · Look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878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Stool colour at every diaper change; pale stools trump every explanation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7426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7460" y="1778000"/>
            <a:ext cx="2024380" cy="218440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7460" y="1778000"/>
            <a:ext cx="2024380" cy="3429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906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3 · Exclude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446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Sepsis, UTI, hypothyroidism, CMV, metabolic screen; drugs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994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3140" y="1778000"/>
            <a:ext cx="2024380" cy="218440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43140" y="1778000"/>
            <a:ext cx="2024380" cy="3429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474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4 · Image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14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Ultrasound after a feed if possible; gallbladder, triangular cord, splenic signs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0562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8820" y="1778000"/>
            <a:ext cx="2024380" cy="218440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8820" y="1778000"/>
            <a:ext cx="202438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042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5 · Escalate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582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Rising bilirubin despite feeds, pale stools or abnormal scan: biopsy and cholangiogram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100" y="4191000"/>
            <a:ext cx="11087100" cy="162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trajectory test.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PNAC follows the PN: it plateaus and falls as feeds reach full volume. A direct bilirubin that keeps rising after PN stops, or stools that stay pale on full feeds, is obstruction until proven otherwise.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Do not wait for discharge.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Ontario's NICU protocol keeps preterm infants on stool-card screening until a month past their due date; ask for the card in the NICU.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versus Europe; AASLD and EASL have no specific guidance on PNAC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(NASPGHAN/ESPGHAN) · Omegaven label (FDA 2018) · SMOFlipid paediatric label (FDA 2022) · Lapillonne and Hartman 2018 (ESPGHAN/ESPEN/ESPR/CSPEN) · Robinson 2023 (ASPEN) · Lacaille 2015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6100" y="1803400"/>
          <a:ext cx="1108710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3683000"/>
                <a:gridCol w="3771900"/>
                <a:gridCol w="13462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North America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Europe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When to investigate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Joint 2017: direct bilirubin &gt; 1.0 mg/dL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Same joint guideline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54864" marR="54864" marT="20000" marB="20000" anchor="ctr">
                    <a:solidFill>
                      <a:srgbClr val="1E7A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Pure fish oil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FDA: Omegaven 1 g/kg/day for PNAC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ESPGHAN 2018: short-term rescue only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54864" marR="54864" marT="20000" marB="20000" anchor="ctr">
                    <a:solidFill>
                      <a:srgbClr val="D97A0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Default lipid on long PN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SMOF licensed for neonates (2022); ASPEN 2023: very low certainty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Replace pure soybean with composite lipid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54864" marR="54864" marT="20000" marB="20000" anchor="ctr">
                    <a:solidFill>
                      <a:srgbClr val="D97A0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How common PNAC is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Joint 2017: 'up to one-fifth' beyond 2 weeks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Same joint guideline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54864" marR="54864" marT="20000" marB="20000" anchor="ctr">
                    <a:solidFill>
                      <a:srgbClr val="B222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UDCA, cycling, erythromycin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 society recommendation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 firm recommendation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54864" marR="54864" marT="20000" marB="20000" anchor="ctr">
                    <a:solidFill>
                      <a:srgbClr val="8A939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BA screening in NICU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Direct bilirubin screening not validated in preterm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 ESPGHAN NICU protocol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54864" marR="54864" marT="20000" marB="20000" anchor="ctr">
                    <a:solidFill>
                      <a:srgbClr val="8A939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AASLD / EASL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None specific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None specific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54864" marR="54864" marT="20000" marB="20000" anchor="ctr">
                    <a:solidFill>
                      <a:srgbClr val="8A939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6100" y="5562600"/>
            <a:ext cx="11087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Material gap: cohort data show cholestasis in 43% after 4–8 weeks of PN and 72–85% beyond 8 weeks, far above the 2017 'one-fifth'.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THE DIAGNOSIS GOES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Common reasons for a late answer or a wrong treatment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· Chiu 2013 · van Wessel 2017 · Levit 2016 · Omegaven label 2018 · Lacaille 2015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581275" cy="241300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581275" cy="1016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“It's the PN”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730500"/>
            <a:ext cx="2225675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Without a trajectory, not a diagnosis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Pale stools: think atresia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Ask for the stool 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375" y="1778000"/>
            <a:ext cx="2581275" cy="241300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375" y="1778000"/>
            <a:ext cx="2581275" cy="1016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9175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“HIDA didn't excrete”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175" y="2730500"/>
            <a:ext cx="2225675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Expected on PN and in LBW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Specificity only about 70%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Does not prove atresia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6650" y="1778000"/>
            <a:ext cx="2581275" cy="241300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6650" y="1778000"/>
            <a:ext cx="2581275" cy="101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4450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“Cut lipid to 1 g”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4450" y="2730500"/>
            <a:ext cx="2225675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Soybean restriction did not prevent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Costs energy and growth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Change the lipid, feed the gut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1925" y="1778000"/>
            <a:ext cx="2581275" cy="241300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1925" y="1778000"/>
            <a:ext cx="2581275" cy="1016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9725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“Bilirubin is normal”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9725" y="2730500"/>
            <a:ext cx="2225675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Fibrosis can persist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Follow platelets and spleen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Watch EFAD on fish oil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4445000"/>
            <a:ext cx="110871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rule.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 preterm infant with conjugated jaundice gets the same atresia vigilance as a term infant; the PN label is earned by its course, not assumed from the chart.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sepsis rule.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 new rise in direct bilirubin in a stable infant on PN is a reason to look for infection.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into the NICU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Christensen 2007 · Lauriti 2014 · Kim 2016 · Nayak 2024 · Puder 2009 · Omegaven label · Repa 2018 · He 2024 · Chiu 2013 · van Wessel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100" y="1828800"/>
            <a:ext cx="11087100" cy="392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A1A1A"/>
                </a:solidFill>
                <a:latin typeface="Abadi"/>
              </a:rPr>
              <a:t>▪  PNAC is dose-dependent: 14% after 2–4 weeks of PN, 43% after 4–8 weeks, 72–85% beyond that (Christensen).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A1A1A"/>
                </a:solidFill>
                <a:latin typeface="Abadi"/>
              </a:rPr>
              <a:t>▪  Antibiotic days, no enteral feeds, PN days, NEC and surgery each add risk; SGA triples it.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A1A1A"/>
                </a:solidFill>
                <a:latin typeface="Abadi"/>
              </a:rPr>
              <a:t>▪  Surgical NEC: cholestasis in 70% vs 38% in medical NEC; cholestasis tracks with mortality.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A1A1A"/>
                </a:solidFill>
                <a:latin typeface="Abadi"/>
              </a:rPr>
              <a:t>▪  Mechanism: phytosterols antagonise FXR, gut endotoxin activates Kupffer cells, sepsis switches off NTCP and BSEP.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A1A1A"/>
                </a:solidFill>
                <a:latin typeface="Abadi"/>
              </a:rPr>
              <a:t>▪  Fish oil 1 g/kg/day rescues established PNAC (median about 6 weeks); composite lipid modestly prevents it.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A1A1A"/>
                </a:solidFill>
                <a:latin typeface="Abadi"/>
              </a:rPr>
              <a:t>▪  Soybean restriction to 1 g/kg/day alone does not prevent PNAC; enteral feeding is the most reliable cure.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A1A1A"/>
                </a:solidFill>
                <a:latin typeface="Abadi"/>
              </a:rPr>
              <a:t>▪  Preterm BA: Kasai at 72 vs 53 days and worse native-liver survival; the stool card still works.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A1A1A"/>
                </a:solidFill>
                <a:latin typeface="Abadi"/>
              </a:rPr>
              <a:t>▪  HIDA non-excretion and biopsy changes are confounded by PN: trajectory and stool colour decide.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the logic on the 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· Omegaven label 2018 · Lapillonne 2018 · Chiu 2013 · Nayak 2024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6100" y="1803400"/>
          <a:ext cx="11087100" cy="381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91000"/>
                <a:gridCol w="2413000"/>
                <a:gridCol w="4483100"/>
              </a:tblGrid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Think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Do now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27-week infant, 5 weeks of PN, NEC, DB 3.5 mg/dL, yellow stools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PNAC with NEC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Feeds as tolerated, composite or fish-oil lipid, screen for infection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30-week infant, full feeds for 2 weeks, DB rising to 5, pale stools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Biliary atresia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Ultrasound and urgent surgical referral; biopsy and cholangiogram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Stable infant on PN, sudden DB rise and lethargy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Sepsis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Cultures, antibiotics; bilirubin follows the infection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Short bowel, 4 months of PN, DB 8, platelets falling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IFALD with portal hypertension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Fish oil 1 g/kg/day, IF-centre referral, assess fibrosis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On fish oil 3 months, DB normal, poor growth, dry skin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EFAD or energy deficit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Triene:tetraene ratio; review total lipid and calories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1460500"/>
            <a:ext cx="10541000" cy="2095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badi"/>
              </a:rPr>
              <a:t>Cholestasis of Prematurity and Parenteral Nutrition: PNAC, Sepsis, NEC and the Hidden Biliary Atresia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759200"/>
            <a:ext cx="1828800" cy="190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6100" y="3924300"/>
            <a:ext cx="110871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