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3"/>
  </p:normalViewPr>
  <p:slideViewPr>
    <p:cSldViewPr snapToGrid="0" snapToObjects="1">
      <p:cViewPr varScale="1">
        <p:scale>
          <a:sx n="113" d="100"/>
          <a:sy n="113" d="100"/>
        </p:scale>
        <p:origin x="192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100000"/>
            <a:ext cx="11094720" cy="1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4200" b="1" i="0">
                <a:solidFill>
                  <a:srgbClr val="FFFFFF"/>
                </a:solidFill>
                <a:latin typeface="Abadi"/>
              </a:rPr>
              <a:t>Histology I: Patterns of Injury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196000" y="3720000"/>
            <a:ext cx="1800000" cy="19050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000000"/>
            <a:ext cx="110947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THE ACINUS, NOT THE LOBULE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Rappaport's acinus is organised by blood flow; the classic lobule is organised by geometry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438573"/>
              </p:ext>
            </p:extLst>
          </p:nvPr>
        </p:nvGraphicFramePr>
        <p:xfrm>
          <a:off x="548640" y="1770000"/>
          <a:ext cx="11094720" cy="412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9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Zone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Blood and oxygen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What the hepatocytes do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Injury that lands here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5000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Zone 1 · periportal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First to receive blood; </a:t>
                      </a:r>
                      <a:r>
                        <a:rPr sz="1200" b="0" dirty="0" err="1">
                          <a:solidFill>
                            <a:srgbClr val="1A1A1A"/>
                          </a:solidFill>
                          <a:latin typeface="Abadi"/>
                        </a:rPr>
                        <a:t>pO</a:t>
                      </a:r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₂ about 60–65 mmHg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Gluconeogenesis, β-oxidation, ureagenesis, bile-acid uptake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Interface hepatitis; iron; cholate stasis and copper in chronic cholestasis; eclampsia fibrin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5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Zone 2 · midzonal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Intermediate gradient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Non-monotonic gene </a:t>
                      </a:r>
                      <a:r>
                        <a:rPr sz="1200" b="0" dirty="0" err="1">
                          <a:solidFill>
                            <a:srgbClr val="1A1A1A"/>
                          </a:solidFill>
                          <a:latin typeface="Abadi"/>
                        </a:rPr>
                        <a:t>programmes</a:t>
                      </a:r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 peak here (Halpern)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Dengue and yellow fever; rare in isolation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5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Zone 3 · perivenous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Last to receive blood; pO₂ about 30–35 mmHg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Glycolysis, lipogenesis, CYP2E1 drug activation; glutamine synthetase in the last 1–3 cells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Paracetamol, shock, congestion (Fontan), SOS/VOD, </a:t>
                      </a:r>
                      <a:r>
                        <a:rPr sz="1200" b="0" dirty="0" err="1">
                          <a:solidFill>
                            <a:srgbClr val="1A1A1A"/>
                          </a:solidFill>
                          <a:latin typeface="Abadi"/>
                        </a:rPr>
                        <a:t>bilirubinostasis</a:t>
                      </a:r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, acute AIH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5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Whole gradient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Set by oxygen, Wnt/β-catenin and hedgehog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About 50% of liver genes are zonated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The zone of injury names the mechanism before the cause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Kietzmann T. Redox Biol 2017;11:622–30 · Halpern KB, et al. Nature 2017;542:352–6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ZONAL INJURY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WHERE THE DAMAGE SITS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Locate the injury on the acinus before naming the disease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770000"/>
            <a:ext cx="2567940" cy="31000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77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64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Zone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64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Paracetamol: CYP2E1 makes NAPQI where glutathione is thinnest.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Ischaemia and congestion: last in line for oxygen.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Acute AIH: centrilobular necrosis in 29%.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1770000"/>
            <a:ext cx="2567940" cy="310000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1770000"/>
            <a:ext cx="2567940" cy="1300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1090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Zone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090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Interface activity starts at the limiting plate.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Chronic cholestasis: cholate stasis, copper, CK7+ hepatocytes.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Iron loads periportal hepatocytes first.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1770000"/>
            <a:ext cx="2567940" cy="310000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177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5316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Zone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316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Midzonal necrosis: dengue, yellow fever.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 pattern that should prompt a travel history.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Rarely an isolated finding.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1770000"/>
            <a:ext cx="2567940" cy="310000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1770000"/>
            <a:ext cx="2567940" cy="1300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9542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Paediatric twist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542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Type 2 NASH (portal, zone 1) in 51% of children.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Adult-type zone 3 NASH in only 17%.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Advanced fibrosis follows the type 2 pattern.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070000"/>
            <a:ext cx="1109472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1">
                <a:solidFill>
                  <a:srgbClr val="1A1A1A"/>
                </a:solidFill>
                <a:latin typeface="Abadi"/>
              </a:rPr>
              <a:t>A child's steatohepatitis is portal-based more often than not — read it with paediatric eyes.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Kietzmann T. Redox Biol 2017;11:622–30 · Mack CL, et al. Hepatology 2020;72:671–722 · Schwimmer JB, et al. Hepatology 2005;42:641–9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INTERFACE HEPATITIS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WHO CROSSES THE LIMITING 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Interface hepatitis is a pattern, not a diagnosis — five causes produce it in children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8292384"/>
              </p:ext>
            </p:extLst>
          </p:nvPr>
        </p:nvGraphicFramePr>
        <p:xfrm>
          <a:off x="548640" y="1770000"/>
          <a:ext cx="11094720" cy="412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Cause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Histological clue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What settles it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Autoimmune hepatitis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Plasma-cell-rich portal infiltrate; lobular activity; Kupffer cell hyaline globules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IgG, ANA/SMA or LKM1/LC1, response to steroids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Autoimmune sclerosing cholangitis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Same interface hepatitis plus bile duct injury, ductular reaction, copper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Cholangiography (MRC)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Wilson disease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Steatosis, </a:t>
                      </a:r>
                      <a:r>
                        <a:rPr sz="1200" b="0" dirty="0" err="1">
                          <a:solidFill>
                            <a:srgbClr val="1A1A1A"/>
                          </a:solidFill>
                          <a:latin typeface="Abadi"/>
                        </a:rPr>
                        <a:t>glycogenated</a:t>
                      </a:r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 nuclei, Mallory-Denk bodies; copper stains unreliable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Quantitative hepatic copper, ATP7B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Chronic hepatitis B / C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Ground-glass hepatocytes (B); lymphoid aggregates and steatosis (C)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Serology and viral load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Drug-induced (minocycline, nitrofurantoin)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Indistinguishable from AIH; eosinophils help only sometimes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Drug history, course after withdrawal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Mack CL, et al. Hepatology 2020;72:671–722 · Balitzer D, et al. Mod Pathol 2017;30:773–83 · Gurung A, et al. Hum Pathol 2018;82:51–60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AUTOIMMUNE HEPATITIS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HOW OFTEN EACH 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Frequency of each histological finding in AIH, %, as tabulated in AASLD 2019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989617"/>
            <a:ext cx="3900000" cy="332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Plasma cell infiltration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68640" y="2009617"/>
            <a:ext cx="3811315" cy="292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69955" y="2009617"/>
            <a:ext cx="1250000" cy="292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66%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61283"/>
            <a:ext cx="3900000" cy="332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 dirty="0">
                <a:solidFill>
                  <a:srgbClr val="1A1A1A"/>
                </a:solidFill>
                <a:latin typeface="Abadi"/>
              </a:rPr>
              <a:t>Emperipolesis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68640" y="2481283"/>
            <a:ext cx="3753568" cy="292432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208" y="2481283"/>
            <a:ext cx="1250000" cy="292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65%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932949"/>
            <a:ext cx="3900000" cy="332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Lobular hepatitis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68640" y="2952949"/>
            <a:ext cx="2714118" cy="292432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72758" y="2952949"/>
            <a:ext cx="1250000" cy="292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47%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404615"/>
            <a:ext cx="3900000" cy="332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Cirrhosis at presentation (children)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68640" y="3424615"/>
            <a:ext cx="2194393" cy="29243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3033" y="3424615"/>
            <a:ext cx="1250000" cy="292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38%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876281"/>
            <a:ext cx="3900000" cy="332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Rosettes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68640" y="3896281"/>
            <a:ext cx="1905657" cy="292432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64297" y="3896281"/>
            <a:ext cx="1250000" cy="292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33%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347947"/>
            <a:ext cx="3900000" cy="332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Centrilobular necrosis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68640" y="4367947"/>
            <a:ext cx="1674668" cy="292432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33308" y="4367947"/>
            <a:ext cx="1250000" cy="292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29%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68640" y="1870000"/>
            <a:ext cx="9525" cy="288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495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944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Interface hepatitis is the hallmark; one AIH biopsy in three has no plasma-cell excess and more than one in three children is already cirrhotic.</a:t>
            </a:r>
          </a:p>
          <a:p>
            <a:pPr>
              <a:lnSpc>
                <a:spcPct val="112000"/>
              </a:lnSpc>
              <a:spcAft>
                <a:spcPts val="944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— Plasma cells support AIH; their absence does not exclude it.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Data from Mack CL, et al. Hepatology 2020;72:671–722 (pooled literature). Figure redrawn.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AUTOIMMUNE HEPATITIS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TYPICAL IS NOT SPECIFIC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Emperipolesis and rosettes track severity of inflammation, not its cause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AIH biopsies scoring 'typical' (2 points) under the 2008 simplified criteria (Balitzer)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77%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Same biopsies scoring 2 points with activity, plasma cells and biliary features (Balitzer)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P = 1.0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Rosettes, AIH vs hepatitis C matched for grade and stage (Gurung)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P = 0.4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Emperipolesis under the same grade-matched comparison (Gurung)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88 AIH biopsies at UCSF: modified histology lifted a probable/definite score in 17% that the 2008 criteria had missed.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— Plasma cell clusters and Kupffer cell hyaline globules discriminate; rosettes and emperipolesis do not.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Balitzer D, et al. Mod Pathol 2017;30:773–83 · Gurung A, et al. Hum Pathol 2018;82:51–60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IAIHPG 2022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AIH HISTOLOGY, REDEFINED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International AIH Pathology Group consensus, 17 expert liver pathologists, modified Delphi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770000"/>
            <a:ext cx="2567940" cy="31000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77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64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Portal pattern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64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Predominantly portal lymphoplasmacytic hepatitis.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More than mild interface and/or lobular activity.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 features of another disease → likely AIH.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1770000"/>
            <a:ext cx="2567940" cy="310000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1770000"/>
            <a:ext cx="2567940" cy="1300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1090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Lobular pattern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090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Predominantly lobular hepatitis ± centrilobular necrosis.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Plus portal hepatitis, interface activity or portal fibrosis.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Captures the acute presentation.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1770000"/>
            <a:ext cx="2567940" cy="310000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177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5316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Demoted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316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Emperipolesis: not specific.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Hepatocellular rosettes: not specific.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Both mark severity, not aetiology.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1770000"/>
            <a:ext cx="2567940" cy="310000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1770000"/>
            <a:ext cx="2567940" cy="1300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9542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Still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542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Liver biopsy remains the standard.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17 pathologists, modified Delphi.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EASL 2025 adopts these criteria.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070000"/>
            <a:ext cx="1109472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1">
                <a:solidFill>
                  <a:srgbClr val="1A1A1A"/>
                </a:solidFill>
                <a:latin typeface="Abadi"/>
              </a:rPr>
              <a:t>The acute, lobular, centrilobular AIH that children present with now scores as AIH.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Lohse AW, et al. Liver Int 2022;42:1058–69 · EASL CPG. J Hepatol 2025;83:453–501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AIH OR ASC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THE BIOPSY CANNOT DECIDE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King's College Hospital, 16-year prospective study; biopsy plus direct cholangiography at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27 of 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Children with autoimmune serology who had a cholangiopathy (ASC)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65%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Biliary features on biopsy in ASC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31%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Biliary features on biopsy in AIH with a normal cholangiogram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8 of 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ASC with a repeat cholangiogram that showed progression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ASC is as common as AIH in childhood; one AIH biopsy in three looks biliary and one ASC biopsy in three does not.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— Every child with interface hepatitis and autoantibodies needs a cholangiogram, whatever the biopsy shows.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Gregorio GV, et al. Hepatology 2001;33:544–53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CHOLESTASIS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WHERE THE BILE SITS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Four compartments of bile: canaliculus, ductule, duct — and the duct that is missing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2119650"/>
              </p:ext>
            </p:extLst>
          </p:nvPr>
        </p:nvGraphicFramePr>
        <p:xfrm>
          <a:off x="548640" y="1770000"/>
          <a:ext cx="11094720" cy="412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Pattern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What you see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Think of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What it means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Canalicular (bland)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Bile plugs in zone 3 canaliculi; little inflammation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PFIC1/2, drugs, sepsis, PN, benign recurrent cholestasis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Transport failure at the hepatocyte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Ductular (cholangiolar)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Inspissated bile in dilated </a:t>
                      </a:r>
                      <a:r>
                        <a:rPr sz="1200" b="0" dirty="0" err="1">
                          <a:solidFill>
                            <a:srgbClr val="1A1A1A"/>
                          </a:solidFill>
                          <a:latin typeface="Abadi"/>
                        </a:rPr>
                        <a:t>ductules</a:t>
                      </a:r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 at the portal edge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Sepsis — 'cholangitis lenta'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Ominous; laparotomy unrewarding (Lefkowitch)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Ductal plugs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Bile in interlobular ducts, ductular reaction, portal oedema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Biliary atresia, large-duct obstruction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Mechanical obstruction until proven otherwise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Chronic cholestatic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Cholate stasis, copper-associated protein, CK7+ periportal hepatocytes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Any long-standing biliary disease, PSC/ASC, ALGS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Duration, not cause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Ductopenic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Portal tracts with arteries but no ducts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ALGS, A1AT, late BA, GVHD, chronic rejection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Count before you conclude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Lefkowitch JH. Hum Pathol 1982;13:19–24 · Fawaz R, et al. J Pediatr Gastroenterol Nutr 2017;64:154–68 · Ayoub MD, Kamath BM. Diagnostics 2020;10:907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BILIARY ATRESIA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FIVE FEATURES THAT DECIDE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Adjusted odds ratio for BA vs other infantile cholestasis, multivariable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007540"/>
            <a:ext cx="4300000" cy="390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Bile plugs in ducts/ductules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68640" y="2027540"/>
            <a:ext cx="4890995" cy="35092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49635" y="2027540"/>
            <a:ext cx="1250000" cy="350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13.65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73540"/>
            <a:ext cx="4300000" cy="390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Portal stromal oedema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68640" y="2593540"/>
            <a:ext cx="3654809" cy="35092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13449" y="2593540"/>
            <a:ext cx="1250000" cy="350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10.20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39540"/>
            <a:ext cx="4300000" cy="390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No bile duct paucity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68640" y="3159540"/>
            <a:ext cx="1526420" cy="35092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5060" y="3159540"/>
            <a:ext cx="1250000" cy="350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4.26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705540"/>
            <a:ext cx="4300000" cy="390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Absent/rare extramedullary haematopoiesis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68640" y="3725540"/>
            <a:ext cx="1250518" cy="35092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158" y="3725540"/>
            <a:ext cx="1250000" cy="350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3.49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71540"/>
            <a:ext cx="4300000" cy="390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Absent/rare giant cells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68640" y="4291540"/>
            <a:ext cx="788292" cy="35092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46932" y="4291540"/>
            <a:ext cx="1250000" cy="350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2.20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68640" y="1870000"/>
            <a:ext cx="9525" cy="288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495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944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Together the five features give a concordance index of 0.89; ductular reaction, plugs, fibrosis and pseudorosettes all increase with age.</a:t>
            </a:r>
          </a:p>
          <a:p>
            <a:pPr>
              <a:lnSpc>
                <a:spcPct val="112000"/>
              </a:lnSpc>
              <a:spcAft>
                <a:spcPts val="944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— Plugs and oedema say obstruction; paucity, giant cells and EMH argue against it.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Data from Russo P, et al. Am J Surg Pathol 2016;40:1601–15 (ChiLDReN, 227 needle biopsies). Figure redrawn.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BILIARY ATRESIA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THE BIOPSY'S TRACK RECORD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Recommendation 9 (1B): the most supportive test, if appropriately timed and read by a paediatric pathologist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90.1%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Diagnostic accuracy of needle biopsy for BA vs non-BA (Russo)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88.4%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Sensitivity for BA, blinded review (Russo)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92.7%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Specificity for BA, blinded review (Russo)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14 of 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PN-associated cholestasis read as obstruction by BARC pathologists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Mimics: PN cholestasis, cystic fibrosis and A1AT ZZ (3 of 3 read as obstructive); a biopsy taken too early can be falsely negative.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— Before calling atresia, send CF, A1AT phenotype and JAG1; if the first biopsy is equivocal, repeat it or cholangiogram.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Russo P, et al. Am J Surg Pathol 2016;40:1601–15 · Fawaz R, et al. J Pediatr Gastroenterol Nutr 2017;64:154–68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GIANT CELLS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A RESPONSE, NOT A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Final aetiology in 62 infants biopsied with neonatal giant cell hepatitis,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007540"/>
            <a:ext cx="3600000" cy="390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Idiopathic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8640" y="2027540"/>
            <a:ext cx="4961021" cy="35092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19661" y="2027540"/>
            <a:ext cx="1250000" cy="350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49%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73540"/>
            <a:ext cx="3600000" cy="390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Hypopituitarism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8640" y="2593540"/>
            <a:ext cx="1619925" cy="35092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78565" y="2593540"/>
            <a:ext cx="1250000" cy="350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16%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39540"/>
            <a:ext cx="3600000" cy="390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Biliary atresia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8640" y="3159540"/>
            <a:ext cx="809962" cy="35092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68602" y="3159540"/>
            <a:ext cx="1250000" cy="350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705540"/>
            <a:ext cx="3600000" cy="390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Alagille syndrome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68640" y="3725540"/>
            <a:ext cx="607472" cy="35092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66112" y="3725540"/>
            <a:ext cx="1250000" cy="350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71540"/>
            <a:ext cx="3600000" cy="390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Bile acid synthesis defects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68640" y="4291540"/>
            <a:ext cx="607472" cy="35092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66112" y="4291540"/>
            <a:ext cx="1250000" cy="350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6%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8640" y="1870000"/>
            <a:ext cx="9525" cy="288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495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944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Inflammation was mild or absent in 95% and EMH present in 74%; giant cells also appear in 20–50% of BA biopsies.</a:t>
            </a:r>
          </a:p>
          <a:p>
            <a:pPr>
              <a:lnSpc>
                <a:spcPct val="112000"/>
              </a:lnSpc>
              <a:spcAft>
                <a:spcPts val="944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— Giant cells mean an infant liver under stress: check cortisol, TSH and bile acids before calling it idiopathic.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Data from Torbenson M, et al. Am J Surg Pathol 2010;34:1498–503 (62 cases, two centres). Figure redrawn · Fawaz R, et al. J Pediatr Gastroenterol Nutr 2017;64:154–68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GENETIC CHOLESTASIS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THE GENE BEHIND THE 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Immunostains turn a non-specific cholestasis into a genotype hypothesis before sequencing returns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792304"/>
              </p:ext>
            </p:extLst>
          </p:nvPr>
        </p:nvGraphicFramePr>
        <p:xfrm>
          <a:off x="548640" y="1770000"/>
          <a:ext cx="11094720" cy="412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Gene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GGT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Light microscopy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Stain or study that proves it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ATP8B1 (PFIC1)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Low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Bland canalicular cholestasis; little giant cell change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EM: coarse granular 'Byler' bile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ABCB11 (PFIC2)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Low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Giant cell hepatitis, lobular necrosis, </a:t>
                      </a:r>
                      <a:r>
                        <a:rPr sz="1200" b="0" dirty="0" err="1">
                          <a:solidFill>
                            <a:srgbClr val="1A1A1A"/>
                          </a:solidFill>
                          <a:latin typeface="Abadi"/>
                        </a:rPr>
                        <a:t>centrizonal</a:t>
                      </a:r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 fibrosis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BSEP immunostain absent in 10 of 12 (Evason)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ABCB4 (PFIC3)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High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Ductular reaction, portal fibrosis — looks biliary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MDR3 immunostain; biliary phospholipid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TJP2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Low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Canalicular cholestasis; early fibrosis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Claudin-1 </a:t>
                      </a:r>
                      <a:r>
                        <a:rPr sz="1200" b="0" dirty="0" err="1">
                          <a:solidFill>
                            <a:srgbClr val="1A1A1A"/>
                          </a:solidFill>
                          <a:latin typeface="Abadi"/>
                        </a:rPr>
                        <a:t>immunostain</a:t>
                      </a:r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 lost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NR1H4 (FXR)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Low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Neonatal cholestasis, ductular reaction, rapid fibrosis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BSEP absent; vitamin K-resistant coagulopathy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Evason K, et al. Am J Surg Pathol 2011;35:687–96 · Fawaz R, et al. J Pediatr Gastroenterol Nutr 2017;64:154–68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DUCTOPENIA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DUCTOPENIA: HOW TO 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The '&lt; 0.5 ducts per tract' rule is the older-child threshold, not the neonatal 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770000"/>
            <a:ext cx="2567940" cy="31000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77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64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The ratio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64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Interlobular ducts ÷ portal tracts.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Normal 0.9–1.8.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Term infant: &lt; 0.9 is paucity.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Older child: &lt; 0.5–0.75.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1770000"/>
            <a:ext cx="2567940" cy="310000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1770000"/>
            <a:ext cx="2567940" cy="1300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1090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The denominator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090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Ductules are not ducts.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RCPath minimum: 10 mm, 6 tracts.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Fewer than 11 tracts underestimates disease.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1770000"/>
            <a:ext cx="2567940" cy="310000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177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5316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The stain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316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CK7 / CK19 finds the duct.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Arteries without ducts are the sign.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Ductular reaction can hide loss.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1770000"/>
            <a:ext cx="2567940" cy="310000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1770000"/>
            <a:ext cx="2567940" cy="1300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9542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The causes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542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ALGS, A1AT, Down syndrome.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CMV, rubella, hypopituitarism.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Late BA, GVHD, rejection.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070000"/>
            <a:ext cx="1109472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1">
                <a:solidFill>
                  <a:srgbClr val="1A1A1A"/>
                </a:solidFill>
                <a:latin typeface="Abadi"/>
              </a:rPr>
              <a:t>A normal duct count at 6 weeks does not exclude Alagille syndrome.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Ayoub MD, Kamath BM. Diagnostics 2020;10:907 · Neuberger J, et al. Gut 2020;69:1382–403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ALAGILLE SYNDROME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DOES PAUCITY COME WITH AGE?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Bile duct paucity on biopsy by age at biopsy, % of patients with Alagille syndrome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007540"/>
            <a:ext cx="3600000" cy="390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CHOP · under 6 months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8640" y="2027540"/>
            <a:ext cx="3644832" cy="35092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03472" y="2027540"/>
            <a:ext cx="1250000" cy="350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73540"/>
            <a:ext cx="3600000" cy="390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CHOP · over 6 months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8640" y="2593540"/>
            <a:ext cx="5770984" cy="35092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129624" y="2593540"/>
            <a:ext cx="1250000" cy="350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95%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39540"/>
            <a:ext cx="3600000" cy="390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King's · under 16 weeks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8640" y="3159540"/>
            <a:ext cx="4653235" cy="35092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11875" y="3159540"/>
            <a:ext cx="1250000" cy="350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77%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705540"/>
            <a:ext cx="3600000" cy="390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King's · 16 weeks to 1 year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68640" y="3725540"/>
            <a:ext cx="4337350" cy="35092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95990" y="3725540"/>
            <a:ext cx="1250000" cy="350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71%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71540"/>
            <a:ext cx="3600000" cy="390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King's · over 1 year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68640" y="4291540"/>
            <a:ext cx="4051838" cy="35092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0478" y="4291540"/>
            <a:ext cx="1250000" cy="350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67%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8640" y="1870000"/>
            <a:ext cx="9525" cy="288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495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944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CHOP found paucity rising with age; King's found it falling — two referral cohorts, opposite directions (CONTRADICT).</a:t>
            </a:r>
          </a:p>
          <a:p>
            <a:pPr>
              <a:lnSpc>
                <a:spcPct val="112000"/>
              </a:lnSpc>
              <a:spcAft>
                <a:spcPts val="944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— Either way, a quarter to two-fifths of infants with Alagille syndrome have no paucity at presentation: genotype, don't wait.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Data from Emerick KM, et al. Hepatology 1999;29:822–9 (n = 92) and Subramaniam P, et al. J Pediatr Gastroenterol Nutr 2011;52:84–9 (n = 117). Figure redrawn.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ALAGILLE SYNDROME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ALAGILLE IMITATES ATRESIA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King's College Hospital, 117 children diagnosed with Alagille syndrome, 1980–2005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Biopsies without characteristic histology at King's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60%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Scintigraphy falsely suggesting BA (21 of 35)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28%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Ultrasound falsely suggesting BA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9.4%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Diagnostic laparotomy before referral; 2 had a Kasai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NASPGHAN/ESPGHAN: look for cardiac, ocular, vertebral and renal features before any intraoperative cholangiogram.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— A disproportionately high GGT with ductular reaction in an infant is Alagille until JAG1 says otherwise.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Subramaniam P, et al. J Pediatr Gastroenterol Nutr 2011;52:84–9 · Fawaz R, et al. J Pediatr Gastroenterol Nutr 2017;64:154–68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WHAT THE DOCUMENTS EXPECT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3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8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012339"/>
              </p:ext>
            </p:extLst>
          </p:nvPr>
        </p:nvGraphicFramePr>
        <p:xfrm>
          <a:off x="548640" y="1500000"/>
          <a:ext cx="11094720" cy="43906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4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FFFFFF"/>
                          </a:solidFill>
                          <a:latin typeface="Abadi"/>
                        </a:rPr>
                        <a:t>NASPGHAN/ESPGHAN 2017 · ESPGHAN 2018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FFFFFF"/>
                          </a:solidFill>
                          <a:latin typeface="Abadi"/>
                        </a:rPr>
                        <a:t>AASLD 2019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FFFFFF"/>
                          </a:solidFill>
                          <a:latin typeface="Abadi"/>
                        </a:rPr>
                        <a:t>EASL 2025 · IAIHPG 2022 · BSG 2020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rgbClr val="1A1A1A"/>
                          </a:solidFill>
                          <a:latin typeface="Abadi"/>
                        </a:rPr>
                        <a:t>Biopsy in infant cholestasis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1A1A1A"/>
                          </a:solidFill>
                          <a:latin typeface="Abadi"/>
                        </a:rPr>
                        <a:t>Most supportive test if timed and read by a </a:t>
                      </a:r>
                      <a:r>
                        <a:rPr sz="1100" b="0" dirty="0" err="1">
                          <a:solidFill>
                            <a:srgbClr val="1A1A1A"/>
                          </a:solidFill>
                          <a:latin typeface="Abadi"/>
                        </a:rPr>
                        <a:t>paediatric</a:t>
                      </a:r>
                      <a:r>
                        <a:rPr sz="1100" b="0" dirty="0">
                          <a:solidFill>
                            <a:srgbClr val="1A1A1A"/>
                          </a:solidFill>
                          <a:latin typeface="Abadi"/>
                        </a:rPr>
                        <a:t> pathologist (1B)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Outside scope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Outside scope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PAEDS ONLY</a:t>
                      </a:r>
                    </a:p>
                  </a:txBody>
                  <a:tcPr marL="73152" marR="73152" marT="27432" marB="27432" anchor="ctr">
                    <a:solidFill>
                      <a:srgbClr val="2E5A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Biopsy for AIH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1A1A1A"/>
                          </a:solidFill>
                          <a:latin typeface="Abadi"/>
                        </a:rPr>
                        <a:t>Required; histology is part of the </a:t>
                      </a:r>
                      <a:r>
                        <a:rPr sz="1100" b="0" dirty="0" err="1">
                          <a:solidFill>
                            <a:srgbClr val="1A1A1A"/>
                          </a:solidFill>
                          <a:latin typeface="Abadi"/>
                        </a:rPr>
                        <a:t>paediatric</a:t>
                      </a:r>
                      <a:r>
                        <a:rPr sz="1100" b="0" dirty="0">
                          <a:solidFill>
                            <a:srgbClr val="1A1A1A"/>
                          </a:solidFill>
                          <a:latin typeface="Abadi"/>
                        </a:rPr>
                        <a:t> score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1A1A1A"/>
                          </a:solidFill>
                          <a:latin typeface="Abadi"/>
                        </a:rPr>
                        <a:t>Diagnosis cannot be made without biopsy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Biopsy remains the standard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Emperipolesis and rosettes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Scored as typical (IAIHG 2008 histology)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1A1A1A"/>
                          </a:solidFill>
                          <a:latin typeface="Abadi"/>
                        </a:rPr>
                        <a:t>Considered typical of AIH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1A1A1A"/>
                          </a:solidFill>
                          <a:latin typeface="Abadi"/>
                        </a:rPr>
                        <a:t>Not specific for AIH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CONTRADICT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Lobular / acute AIH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No lobular-pattern criterion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Lobular hepatitis 47%, centrilobular necrosis 29%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1A1A1A"/>
                          </a:solidFill>
                          <a:latin typeface="Abadi"/>
                        </a:rPr>
                        <a:t>Lobular ± centrilobular pattern qualifies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EU ADDS</a:t>
                      </a:r>
                    </a:p>
                  </a:txBody>
                  <a:tcPr marL="73152" marR="73152" marT="27432" marB="27432" anchor="ctr">
                    <a:solidFill>
                      <a:srgbClr val="2E5A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Cholangiography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At diagnosis in every child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1A1A1A"/>
                          </a:solidFill>
                          <a:latin typeface="Abadi"/>
                        </a:rPr>
                        <a:t>Selective: cholestasis, duct injury or UC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1A1A1A"/>
                          </a:solidFill>
                          <a:latin typeface="Abadi"/>
                        </a:rPr>
                        <a:t>MRC in every child at work-up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MATERIAL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Specimen adequacy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Not specified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1A1A1A"/>
                          </a:solidFill>
                          <a:latin typeface="Abadi"/>
                        </a:rPr>
                        <a:t>Not specified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1A1A1A"/>
                          </a:solidFill>
                          <a:latin typeface="Abadi"/>
                        </a:rPr>
                        <a:t>Report length, fragments, portal tracts; min 10 mm, 6 tracts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UK ADDS</a:t>
                      </a:r>
                    </a:p>
                  </a:txBody>
                  <a:tcPr marL="73152" marR="73152" marT="27432" marB="27432" anchor="ctr">
                    <a:solidFill>
                      <a:srgbClr val="2E5A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Ductopenia threshold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Ductopenia is an ALGS criterion; no ratio given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Not addressed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1A1A1A"/>
                          </a:solidFill>
                          <a:latin typeface="Abadi"/>
                        </a:rPr>
                        <a:t>Not addressed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Abadi"/>
                        </a:rPr>
                        <a:t>NO DATA</a:t>
                      </a:r>
                    </a:p>
                  </a:txBody>
                  <a:tcPr marL="73152" marR="73152" marT="27432" marB="27432" anchor="ctr">
                    <a:solidFill>
                      <a:srgbClr val="8A93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Fawaz R, et al. J Pediatr Gastroenterol Nutr 2017;64:154–68 · Mieli-Vergani G, et al. J Pediatr Gastroenterol Nutr 2018;66:345–60 · Mack CL, et al. Hepatology 2020;72:671–722 · EASL CPG. J Hepatol 2025;83:453–501 · Lohse AW, et al. Liver Int 2022;42:1058–69 · Neuberger J, et al. Gut 2020;69:1382–403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PEARLS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WHAT THE EXPERT READS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Four readings that separate the consultant from the report's final 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770000"/>
            <a:ext cx="2567940" cy="31000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77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64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Zone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64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Name the zone before the disease.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Zone 3 necrosis in a teenager: AIH, not only paracetamol.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Portal steatohepatitis is paediatric.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1770000"/>
            <a:ext cx="2567940" cy="310000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1770000"/>
            <a:ext cx="2567940" cy="1300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1090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Plasma cells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090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Support AIH; absence does not exclude.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Rosettes and emperipolesis: severity.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Always cholangiogram the child.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1770000"/>
            <a:ext cx="2567940" cy="310000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177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5316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Bile location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316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Canalicular: transport.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Ductular: sepsis — look for it.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Ductal plugs: obstruction.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1770000"/>
            <a:ext cx="2567940" cy="310000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1770000"/>
            <a:ext cx="2567940" cy="1300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9542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Ducts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542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Count on CK7, over enough tracts.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&lt; 0.9 in a term infant.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Normal count ≠ no Alagille.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070000"/>
            <a:ext cx="1109472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1">
                <a:solidFill>
                  <a:srgbClr val="1A1A1A"/>
                </a:solidFill>
                <a:latin typeface="Abadi"/>
              </a:rPr>
              <a:t>Tell the pathologist the age, the GGT and the question — the pattern depends on all three.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Lohse AW, et al. Liver Int 2022;42:1058–69 · Gregorio GV, et al. Hepatology 2001;33:544–53 · Lefkowitch JH. Hum Pathol 1982;13:19–24 · Ayoub MD, Kamath BM. Diagnostics 2020;10:907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SYNTHESIS — PATTERN TO ACTION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238472"/>
              </p:ext>
            </p:extLst>
          </p:nvPr>
        </p:nvGraphicFramePr>
        <p:xfrm>
          <a:off x="548640" y="930000"/>
          <a:ext cx="11094720" cy="49599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9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Pattern on the slide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First differential in a child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Ask the pathologist for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Next step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8571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Zone 3 necrosis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Paracetamol, ischaemia, congestion, acute AIH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Plasma cells, interface activity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Drug levels, echo, IgG and autoantibodies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5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Interface hepatitis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AIH, ASC, Wilson, HBV, DILI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Plasma cell clusters, biliary features, copper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MRC in every child; ceruloplasmin, urinary copper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5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Ductal plugs + ductular reaction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BA; mimics: PN, CF, A1AT, ALGS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Portal oedema, duct count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CF, A1AT phenotype, JAG1; intraoperative cholangiogram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85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Giant cell hepatitis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Idiopathic, hypopituitarism, BA, ALGS, BASD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EMH, duct count, BSEP stain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Cortisol, TSH, urinary bile acids, gene panel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85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Bland canalicular cholestasis, low GGT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PFIC1/2, TJP2, FXR, drugs, sepsis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BSEP, claudin-1 stains; EM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Cholestasis gene panel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85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Ductular cholestasis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Sepsis ('cholangitis lenta')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Distinguish from ductal plugs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Source of sepsis — not a laparotomy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85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Ductopenia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ALGS, A1AT, late BA, GVHD, rejection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CK7 count, number of tracts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JAG1/NOTCH2, echo, eyes, spine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Fawaz R, et al. J Pediatr Gastroenterol Nutr 2017;64:154–68 · Russo P, et al. Am J Surg Pathol 2016;40:1601–15 · Lohse AW, et al. Liver Int 2022;42:1058–69 · Gregorio GV, et al. Hepatology 2001;33:544–53 · Ayoub MD, Kamath BM. Diagnostics 2020;10:907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100000"/>
            <a:ext cx="11094720" cy="1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4200" b="1" i="0">
                <a:solidFill>
                  <a:srgbClr val="FFFFFF"/>
                </a:solidFill>
                <a:latin typeface="Abadi"/>
              </a:rPr>
              <a:t>Histology I: Patterns of Injury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196000" y="3720000"/>
            <a:ext cx="1800000" cy="19050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000000"/>
            <a:ext cx="110947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2864</Words>
  <Application>Microsoft Macintosh PowerPoint</Application>
  <PresentationFormat>Widescreen</PresentationFormat>
  <Paragraphs>425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Abadi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Ermak, Andrey</cp:lastModifiedBy>
  <cp:revision>3</cp:revision>
  <dcterms:created xsi:type="dcterms:W3CDTF">2013-01-27T09:14:16Z</dcterms:created>
  <dcterms:modified xsi:type="dcterms:W3CDTF">2026-09-27T17:50:51Z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e4b1be8-281e-475d-98b0-21c3457e5a46_Enabled">
    <vt:lpwstr>true</vt:lpwstr>
  </property>
  <property fmtid="{D5CDD505-2E9C-101B-9397-08002B2CF9AE}" pid="3" name="MSIP_Label_5e4b1be8-281e-475d-98b0-21c3457e5a46_SetDate">
    <vt:lpwstr>2026-09-27T16:50:05Z</vt:lpwstr>
  </property>
  <property fmtid="{D5CDD505-2E9C-101B-9397-08002B2CF9AE}" pid="4" name="MSIP_Label_5e4b1be8-281e-475d-98b0-21c3457e5a46_Method">
    <vt:lpwstr>Standard</vt:lpwstr>
  </property>
  <property fmtid="{D5CDD505-2E9C-101B-9397-08002B2CF9AE}" pid="5" name="MSIP_Label_5e4b1be8-281e-475d-98b0-21c3457e5a46_Name">
    <vt:lpwstr>Public</vt:lpwstr>
  </property>
  <property fmtid="{D5CDD505-2E9C-101B-9397-08002B2CF9AE}" pid="6" name="MSIP_Label_5e4b1be8-281e-475d-98b0-21c3457e5a46_SiteId">
    <vt:lpwstr>8b3dd73e-4e72-4679-b191-56da1588712b</vt:lpwstr>
  </property>
  <property fmtid="{D5CDD505-2E9C-101B-9397-08002B2CF9AE}" pid="7" name="MSIP_Label_5e4b1be8-281e-475d-98b0-21c3457e5a46_ActionId">
    <vt:lpwstr>cd51770d-38a6-4df4-87e8-be324f06b289</vt:lpwstr>
  </property>
  <property fmtid="{D5CDD505-2E9C-101B-9397-08002B2CF9AE}" pid="8" name="MSIP_Label_5e4b1be8-281e-475d-98b0-21c3457e5a46_ContentBits">
    <vt:lpwstr>0</vt:lpwstr>
  </property>
  <property fmtid="{D5CDD505-2E9C-101B-9397-08002B2CF9AE}" pid="9" name="MSIP_Label_5e4b1be8-281e-475d-98b0-21c3457e5a46_Tag">
    <vt:lpwstr>50, 3, 0, 1</vt:lpwstr>
  </property>
</Properties>
</file>