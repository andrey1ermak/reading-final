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096"/>
    <p:restoredTop sz="96143"/>
  </p:normalViewPr>
  <p:slideViewPr>
    <p:cSldViewPr snapToGrid="0" snapToObjects="1">
      <p:cViewPr>
        <p:scale>
          <a:sx n="125" d="100"/>
          <a:sy n="125" d="100"/>
        </p:scale>
        <p:origin x="37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CT, MRI, MRCP and HIDA in the Child's 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CHOOSING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WHICH TEST ANSWERS WHICH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049196"/>
              </p:ext>
            </p:extLst>
          </p:nvPr>
        </p:nvGraphicFramePr>
        <p:xfrm>
          <a:off x="548640" y="1500000"/>
          <a:ext cx="11094720" cy="43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Best 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Adds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Avoid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Is the infant's biliary tree patent?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Fasting US, then biopsy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HIDA if it excretes; direct cholangiogram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MRCP as the decider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Is there a choledochal malformation?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MRCP for anatomy and the common channel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Sclerosing cholangitis?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MRCP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ERCP only for intervention or equivocal MRCP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Diagnostic ERCP first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How much fat?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MRI-PDFF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US as a first look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CT attenuation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How much iron?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MRI R2 / R2*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Ferritin alone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Focal lesion?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MRI with contrast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Gadoxetate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for FNH vs adenoma; CEUS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CT unless staging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Bile leak after surgery or LT?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HIDA or gadoxetate MRI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Hepatocyte-phase MRI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localises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the leak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62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Vascular map before LT?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Doppler US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CT or MR angiography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Repeated CT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R, et al. J Pediatr Gastroenterol Nutr 2017;64:154–68 · Napolitano M, et al. Pediatr Radiol 2021;51:1545–54 · Middleton MS, et al. Hepatology 2018;67:858–72 · Muir A, et al. J Pediatr Gastroenterol Nutr 2016;63:e36 · Rossi G, et al. Clin Res Hepatol Gastroenterol 2013;37:596–601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SCINTIGRAPHY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HOW A HIDA SCAN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153303"/>
              </p:ext>
            </p:extLst>
          </p:nvPr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Step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is done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Tracer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99mTc-mebrofenin (hepatic extraction ≈ 98%) or </a:t>
                      </a:r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disofenin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(≈ 88%)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Higher extraction still images a cholestatic liver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Activity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Weight-based, with a minimum activity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Too little activity = a false 'no excretion'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Premedication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Phenobarbital 5 mg/kg/day for 3–5 days (SNM 2010); UDCA as an alternative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Induces bile flow; costs 5 days before Kasai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Imaging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Dynamic 60 min, then 4–6 h and 24 h; SPECT optional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Late bowel activity counts as excretion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Read-out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Bowel activity = patent; none by 24 h = non-excreting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Only a positive excretion changes management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Pitfalls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Urinary or gastric activity mistaken for bowel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Lateral views; empty the bladder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Tulchinsky M, et al. J Nucl Med Technol 2010;38:210–8 · Kianifar HR, et al. Pediatr Radiol 2013;43:905–19 · Fawaz R, et al. J Pediatr Gastroenterol Nutr 2017;64:154–68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SCINTIGRAPHY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NON-EXCRETION IS NOT ATRESIA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Specificity of a non-excreting HIDA scan for biliary atresia,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07540"/>
            <a:ext cx="38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Zhang 2024 · network meta, 40 studies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8640" y="2027540"/>
            <a:ext cx="4641028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99668" y="2027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79.0%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73540"/>
            <a:ext cx="38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Wang 2018 · meta, 18 studies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8640" y="2593540"/>
            <a:ext cx="4288545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47185" y="2593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39540"/>
            <a:ext cx="38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Kianifar 2013 · meta, 81 studies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8640" y="3159540"/>
            <a:ext cx="4135802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94442" y="3159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70.4%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05540"/>
            <a:ext cx="38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He 2016 · 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8640" y="3725540"/>
            <a:ext cx="4065306" cy="35092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23946" y="3725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69.2%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71540"/>
            <a:ext cx="3800000" cy="39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Yang 2009 · single centre, n = 69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8640" y="4291540"/>
            <a:ext cx="2684747" cy="35092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43387" y="4291540"/>
            <a:ext cx="1250000" cy="350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45.7%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Pooled sensitivity was 93–99% in every meta-analysis. The scan rules out; it cannot rule in.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A draining scan argues strongly against atresia. But 21–54% of infants without atresia fail to excrete too.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Zhang Y, et al. Pediatr Surg Int 2024;40:146, Wang L, et al. Pediatr Surg Int 2018;34:363–80, Kianifar HR, et al. Pediatr Radiol 2013;43:905–19, He JP, et al. World J Pediatr 2016;12:35–43, Yang JG, et al. Clin Imaging 2009;33:439–46. Figure redrawn.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SCINTIGRAPHY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WHO ELSE FAILS TO EXCRETE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Scan and percutaneous biopsy done close together in 86 infants ≤ 4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13 / 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Non-excreting scans that were not biliary atresia (Toronto, n = 86)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Idiopathic neonatal hepatitis with no bowel activity (8 of 32)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Bile duct paucity without extrahepatic obstruction and no excretion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 /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Infants with atresia whose scan showed excretion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NASPGHAN / ESPGHAN add PiZZ α1-antitrypsin deficiency, low birth weight and parenteral nutrition to the non-excreting list.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Semi-quantitative hepatic extraction did not separate hepatitis from atresia either.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Gilmour SM, et al. J Nucl Med 1997;38:1279–82 · Fawaz R, et al. J Pediatr Gastroenterol Nutr 2017;64:154–68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PREMEDICATION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PHENOBARBITAL: FIVE DAYS FOR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Bangkok retrospective series (n = 95) and Srinagar randomised trial (phenobarbital vs UDCA vs placebo)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Accuracy after ≥ 5 days of phenobarbital 5 mg/kg/day (n = 48)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Accuracy with no premedication (n = 18), same centre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2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Non-excretors who excreted after phenobarbital in an RCT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Non-excretors who excreted after placebo in the same RCT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Kianifar's meta-analysis found higher specificity with phenobarbital; the only randomised trial found no change (P = 1.00).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If HIDA is used at all, do not let premedication delay the biopsy or the cholangiogram.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Charearnrad P, et al. J Med Assoc Thai 2003;86 Suppl 2:S189–94 · Malik D, et al. Nucl Med Commun 2015;36:827–32 · Kianifar HR, et al. Pediatr Radiol 2013;43:905–19 · Tulchinsky M, et al. J Nucl Med Technol 2010;38:210–8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INFANT MRCP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WHY THE INFANT DUCT HIDES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What makes a 1-mm duct in a moving, breathing infant hard to prove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770000"/>
            <a:ext cx="3515360" cy="31000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70000"/>
            <a:ext cx="351536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64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64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Common bile duct &lt; 1.2 mm up to 3 months of age.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Voxels of about 1 mm: partial volume erases it.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Non-visualisation ≠ absence.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320" y="1770000"/>
            <a:ext cx="3515360" cy="31000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8320" y="1770000"/>
            <a:ext cx="3515360" cy="1300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832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Physiology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832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No filling pressure — a collapsed duct looks atretic.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Little bile in severe hepatitis.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A fed infant has a contracted gallbladder.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1770000"/>
            <a:ext cx="3515360" cy="31000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8000" y="1770000"/>
            <a:ext cx="351536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000" y="2070000"/>
            <a:ext cx="307536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 i="0">
                <a:solidFill>
                  <a:srgbClr val="1A1A1A"/>
                </a:solidFill>
                <a:latin typeface="Abadi"/>
              </a:rPr>
              <a:t>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000" y="2590000"/>
            <a:ext cx="3075360" cy="2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Free-breathing, respiratory-triggered 3D T2.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Feed-and-wrap or sedation for 5–15 min still.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▪  Result may take longer than a biopsy.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0000"/>
            <a:ext cx="1109472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1">
                <a:solidFill>
                  <a:srgbClr val="1A1A1A"/>
                </a:solidFill>
                <a:latin typeface="Abadi"/>
              </a:rPr>
              <a:t>Visualising the whole extrahepatic tree excludes atresia. Failing to see it proves nothing.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Hernanz-Schulman M, et al. Radiology 1995;195:193–5 · Norton KI, et al. Radiology 2002;222:687–91 · Liu B, et al. PLoS One 2014;9:e88268 · Vanhanen E, et al. Dig Liver Dis 2023;55:1496–501 · Lollert A, et al. Eur Radiol 2024;34:7104–14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INFANT MRCP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SENSITIVE, NOT SPECIFIC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Specificity of MRCP for biliary atresia, %; navy = pooled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76814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Han 2002 · Seoul, n =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8640" y="1996814"/>
            <a:ext cx="5639731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98371" y="199681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81099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Chen 2023 · term infants, n = 44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8640" y="2401099"/>
            <a:ext cx="5052259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10899" y="240109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85384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Norton 2002 · New York, n = 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8640" y="2805384"/>
            <a:ext cx="4523534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82174" y="280538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89669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Chen 2023 · preterm infants, n = 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68640" y="3209669"/>
            <a:ext cx="4523534" cy="250656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82174" y="320966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93954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He 2016 · meta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8640" y="3613954"/>
            <a:ext cx="3800943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9583" y="361395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64.7%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98239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Wang 2018 · meta, 5 studies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8640" y="4018239"/>
            <a:ext cx="3407337" cy="2506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65977" y="4018239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58%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02524"/>
            <a:ext cx="3800000" cy="29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1A1A1A"/>
                </a:solidFill>
                <a:latin typeface="Abadi"/>
              </a:rPr>
              <a:t>Liu 2014 · 3D MRCP, n = 190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8640" y="4422524"/>
            <a:ext cx="2114899" cy="250656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3539" y="4422524"/>
            <a:ext cx="1250000" cy="25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1B355E"/>
                </a:solidFill>
                <a:latin typeface="Abadi"/>
              </a:rPr>
              <a:t>36%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8640" y="1870000"/>
            <a:ext cx="9525" cy="2880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95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Sensitivity 81–100%. Specificity fell as series grew: 96% in 47 infants, 36% in 190.</a:t>
            </a:r>
          </a:p>
          <a:p>
            <a:pPr>
              <a:lnSpc>
                <a:spcPct val="112000"/>
              </a:lnSpc>
              <a:spcAft>
                <a:spcPts val="944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In Liu's series 55 of 158 'atresia' MRCPs were wrong; PPV 65%.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Han SJ, et al. J Pediatr Surg 2002;37:599–604, Chen WC, et al. Pediatr Neonatol 2023;64:12–8, Norton KI, et al. Radiology 2002;222:687–91, He JP, et al. World J Pediatr 2016;12:35–43, Wang L, et al. Pediatr Surg Int 2018;34:363–80, Liu B, et al. PLoS One 2014;9:e88268. Figure redrawn.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SIX TESTS, ONE META-ANALYSIS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Pooled accuracy for biliary atresia, 38 studies,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8200" y="2801400"/>
            <a:ext cx="420000" cy="1678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200" y="2571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88200" y="2452600"/>
            <a:ext cx="420000" cy="20274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68200" y="2222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 dirty="0">
                <a:solidFill>
                  <a:srgbClr val="1B355E"/>
                </a:solidFill>
                <a:latin typeface="Abadi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Ultrasound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7320" y="2387200"/>
            <a:ext cx="420000" cy="20928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67320" y="21572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320" y="2888600"/>
            <a:ext cx="420000" cy="15914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17320" y="2658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776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HIDA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440" y="2387200"/>
            <a:ext cx="420000" cy="20928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6440" y="21572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6440" y="3215600"/>
            <a:ext cx="420000" cy="12644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6440" y="2985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688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MRCP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5560" y="2583400"/>
            <a:ext cx="420000" cy="1896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5560" y="2353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5560" y="2779600"/>
            <a:ext cx="420000" cy="17004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15560" y="2549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Pale stool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34680" y="2648800"/>
            <a:ext cx="420000" cy="18312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14680" y="24188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84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4680" y="2365400"/>
            <a:ext cx="420000" cy="21146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64680" y="21354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512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Liver tests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83800" y="2343600"/>
            <a:ext cx="420000" cy="21364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63800" y="2113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33800" y="2452600"/>
            <a:ext cx="420000" cy="20274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13800" y="2222600"/>
            <a:ext cx="6600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1B355E"/>
                </a:solidFill>
                <a:latin typeface="Abadi"/>
              </a:rPr>
              <a:t>93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4240" y="4540000"/>
            <a:ext cx="1849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A1A1A"/>
                </a:solidFill>
                <a:latin typeface="Abadi"/>
              </a:rPr>
              <a:t>Liver biopsy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480000"/>
            <a:ext cx="110947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43360" y="1830000"/>
            <a:ext cx="200000" cy="15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3360" y="1830000"/>
            <a:ext cx="200000" cy="15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03360" y="1790000"/>
            <a:ext cx="14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1790000"/>
            <a:ext cx="5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555555"/>
                </a:solidFill>
                <a:latin typeface="Abadi"/>
              </a:rPr>
              <a:t>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96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Only biopsy is high on both axes. HIDA and MRCP share one profile: they catch atresia and many infants without it.</a:t>
            </a:r>
          </a:p>
          <a:p>
            <a:pPr>
              <a:lnSpc>
                <a:spcPct val="110000"/>
              </a:lnSpc>
              <a:spcAft>
                <a:spcPts val="787"/>
              </a:spcAft>
            </a:pPr>
            <a:r>
              <a:rPr sz="1200" b="1" i="1">
                <a:solidFill>
                  <a:srgbClr val="1A1A1A"/>
                </a:solidFill>
                <a:latin typeface="Abadi"/>
              </a:rPr>
              <a:t>— The cross-sectional tests are rule-out tests; the decision to operate still comes from biopsy or a cholangiogram.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Data from Wang L, et al. Pediatr Surg Int 2018;34:363–80. Figure redrawn.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BEYOND INFANCY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MRCP IN THE OLDER CHILD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Sclerosing cholangitis, dominant strictures and choledochal malformation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81 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 / specificity of MRCP for paediatric PSC (n = 21)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62 / 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Sensitivity / specificity for a dominant stricture, ERCP as reference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Cholangiocarcinoma in 781 children with PSC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&gt; 30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Cyst size that hides the pancreaticobiliary junction on MRCP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In a blinded comparison, MRC and ERC had the same accuracy for sclerosing cholangitis; ERC showed peripheral ducts better, and MRC improved with age.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MRCP first. ERCP when a stricture needs brushing, dilating or stenting.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Ferrara C, et al. Pediatr Radiol 2002;32:413–7 · Rossi G, et al. Clin Res Hepatol Gastroenterol 2013;37:596–601 · Vanhanen E, et al. Dig Liver Dis 2023;55:1496–501 · Deneau MR, et al. Hepatology 2017;66:518–27 · Huang SG, et al. PLoS One 2016;11:e0154178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QUANTITATIVE MRI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MRI MEASURES THE TISSUE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Proton-density fat fraction in paediatric NAFLD (CyNCh) and periportal thickening in infant cholestasis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11/18/26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Mean PDFF, % — steatosis grade 1, 2, 3 on biopsy (n = 110)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0.87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AUROC of PDFF for grade 1 vs grades 2–3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17.5%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PDFF cut-off for grade ≥ 2 at 90% specificity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4.2 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Periportal thickening for F2+ in cholestatic infants; AUROC 0.90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PDFF change tracked histology too: −11% flagged improvement and +5.5% worsening at 90% specificity.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Periportal thickening beat spleen ratio (0.74) and APRI (0.71) for F2+ in 155 infants, 110 with atresia.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Middleton MS, et al. Hepatology 2018;67:858–72 · Lee MH, et al. World J Gastroenterol 2020;26:2821–30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GADOXETATE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A HEPATOCYTE AGENT, NOT A BILE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201562"/>
              </p:ext>
            </p:extLst>
          </p:nvPr>
        </p:nvGraphicFramePr>
        <p:xfrm>
          <a:off x="548640" y="1500000"/>
          <a:ext cx="11094720" cy="43899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is known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Consequence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Uptake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OATP into hepatocytes, excreted into bile; hepatocyte phase at 20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Functional lesion and bile-duct imaging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Dose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0.025 mmol/kg (0.1 mL/kg) — a quarter of the extracellular dose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Weaker arterial phase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Bilirubin &gt; 3 mg/dL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Reduces hepatic enhancement; image by 60 min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Cannot prove patency in a cholestatic infant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Acute events in children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1.3% gadoxetate vs 0.9% extracellular agents (OR 1.55, NS)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 safety signal in 1,629 exams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Paediatric lesion study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52 children &gt; 2 months; extra information in 86%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The basis of both labels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Best uses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FNH vs adenoma; bile leak localisation; hepatoblastoma margins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Ask for it by name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Eovist USPI, rev. 2/2026 · Primovist SmPC (UK), rev. 5/2026 · Kim PH, et al. Radiology 2024;311:e232462 · Geller J, et al. Magn Reson Insights 2016;9:21–8 · Muir A, et al. J Pediatr Gastroenterol Nutr 2016;63:e36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SEDATION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GETTING A STILL INFANT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Under 3–4 months, natural sleep usually works; after that, most MRCPs need sedation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Feed-and-wrap success in 189 neonates under 4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355E"/>
                </a:solidFill>
                <a:latin typeface="Abadi"/>
              </a:rPr>
              <a:t>3.7 vs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Image-quality score, feed-and-wrap vs sedation (4-point scale)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54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Median GA in GAS: no IQ difference at 5 years vs awake-regional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&gt; 3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FDA 2016: lengthy or repeated GA under 3 years — discuss with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Feed-and-wrap infants were younger and lighter; diagnostic limitations rose with corrected age.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Book the MRCP only if the answer changes the plan — the anaesthetic is not free.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Lollert A, et al. Eur Radiol 2024;34:7104–14 · McCann ME, et al. Lancet 2019;393:664–77 · FDA Drug Safety Communication, 14 Dec 2016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RADIATION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CT COHORTS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Cohorts of children and young adults scanned before age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RR 3.18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Leukaemia after ≥ 30 mGy marrow dose vs &lt; 5 mGy (UK, 178,604 children)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RR 2.82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Brain tumour after 50–74 mGy brain dose (same cohort)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ERR 1.27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Brain cancer per 100 mGy, EPI-CT (658,752 people, 9 countries)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ERR 1.96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Haematological cancer per 100 mGy marrow dose, EPI-CT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EPI-CT: at today's mean marrow dose of 8 mGy, 1–2 of every 10,000 children scanned will develop an attributable blood cancer within 12 years.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The absolute risk is small; it is also the one risk of the test that is entirely avoidable.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Pearce MS, et al. Lancet 2012;380:499–505 · Hauptmann M, et al. Lancet Oncol 2023;24:45–53 · Bosch de Basea Gomez M, et al. Nat Med 2023;29:3111–9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RADIATION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THE ABDOMINAL CT IS THE HEAVY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0000"/>
            <a:ext cx="110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Abadi"/>
              </a:rPr>
              <a:t>Effective dose ranged from 0.03 to 69.2 mSv per paediatric 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5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50000"/>
            <a:ext cx="2567940" cy="130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864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14–25%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4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Paediatric abdomen / pelvis CTs delivering ≥ 20 mSv (7 US systems)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090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90900" y="2150000"/>
            <a:ext cx="2567940" cy="130000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090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1 in 300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090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Girls: one solid cancer per 300–390 abdomen / pelvis scans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16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3160" y="2150000"/>
            <a:ext cx="2567940" cy="130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16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43%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16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Projected cancers prevented if the top 25% of doses fell to the median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20" y="2150000"/>
            <a:ext cx="2567940" cy="190000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75420" y="2150000"/>
            <a:ext cx="2567940" cy="1300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5420" y="2470000"/>
            <a:ext cx="2287940" cy="7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300" b="1" i="0">
                <a:solidFill>
                  <a:srgbClr val="1B355E"/>
                </a:solidFill>
                <a:latin typeface="Abadi"/>
              </a:rPr>
              <a:t>62%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5420" y="3320000"/>
            <a:ext cx="228794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A1A1A"/>
                </a:solidFill>
                <a:latin typeface="Abadi"/>
              </a:rPr>
              <a:t>Cases ≤ 5 y where the EANM card gave more NM dose than NA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80000"/>
            <a:ext cx="110947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0" i="0">
                <a:solidFill>
                  <a:srgbClr val="1A1A1A"/>
                </a:solidFill>
                <a:latin typeface="Abadi"/>
              </a:rPr>
              <a:t>The spread is the lesson: a child-sized protocol, one phase, and no CT when US or MRI answers the question.</a:t>
            </a:r>
          </a:p>
          <a:p>
            <a:pPr>
              <a:lnSpc>
                <a:spcPct val="115000"/>
              </a:lnSpc>
              <a:spcAft>
                <a:spcPts val="1102"/>
              </a:spcAft>
            </a:pPr>
            <a:r>
              <a:rPr sz="1250" b="1" i="1">
                <a:solidFill>
                  <a:srgbClr val="1A1A1A"/>
                </a:solidFill>
                <a:latin typeface="Abadi"/>
              </a:rPr>
              <a:t>— Nuclear medicine is not dose-free either; the two continents do not even agree on the activity.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Miglioretti DL, et al. JAMA Pediatr 2013;167:700–7 · Grant FD, et al. Pediatr Radiol 2015;45:706–13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344401"/>
              </p:ext>
            </p:extLst>
          </p:nvPr>
        </p:nvGraphicFramePr>
        <p:xfrm>
          <a:off x="548640" y="1500000"/>
          <a:ext cx="11094720" cy="4389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Topic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HIDA in the cholestatic infant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NASPGHAN / ESPGHAN 2017: selective HIDA may exclude atresia (1B)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ESPR 2021: HIDA not useful for atresia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MRCP in the cholestatic infant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2017: limited role — low specificity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ESPR 2021: not useful for atresia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Equivocal case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2017: biopsy; ERCP / PTCC limited role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ESPR 2021 flowchart: PTCC or ERCP with biopsy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Paediatric NM activity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North American consensus 2016 / 2024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EANM dosage card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F2C4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Gadoxetate in children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FDA: safe and effective incl. term neonates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UK SmPC: not established &lt; 18 y — same 52 children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LABELS SPLIT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Linear gadolinium agents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FDA 2017: retention warning, no restriction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EMA 2017: IV linear agents suspended; liver agents kept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LABELS SPLIT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CT dose governance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Image Gently: voluntary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Euratom 2013/59: binding DRLs; dose in the report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EU ADDS</a:t>
                      </a:r>
                    </a:p>
                  </a:txBody>
                  <a:tcPr marL="73152" marR="73152" marT="27432" marB="27432" anchor="ctr">
                    <a:solidFill>
                      <a:srgbClr val="2E5A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Steatosis quantification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AASLD 2025: MRI-PDFF the only validated method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ESPGHAN 2026: PDFF the non-invasive reference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11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Suspected PSC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AASLD 2022: MRCP first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EASL 2022: MRCP first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2017 · Napolitano 2021 · Treves 2016 · Grant 2015 · Eovist USPI 2026 · Primovist SmPC 2026 · EMA/FDA 2017 · Euratom 2013/59 · AASLD/EASL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60000"/>
            <a:ext cx="1109472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30000"/>
            <a:ext cx="1109472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808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20000"/>
            <a:ext cx="11094720" cy="3269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HIDA: excretion argues strongly against atresia; non-excretion is non-specific (specificity 46–79%).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Paucity, neonatal hepatitis, </a:t>
            </a:r>
            <a:r>
              <a:rPr sz="1400" b="0" i="0" dirty="0" err="1">
                <a:solidFill>
                  <a:srgbClr val="1A1A1A"/>
                </a:solidFill>
                <a:latin typeface="Abadi"/>
              </a:rPr>
              <a:t>PiZZ</a:t>
            </a:r>
            <a:r>
              <a:rPr sz="1400" b="0" i="0" dirty="0">
                <a:solidFill>
                  <a:srgbClr val="1A1A1A"/>
                </a:solidFill>
                <a:latin typeface="Abadi"/>
              </a:rPr>
              <a:t>, prematurity and PN all fail to excrete.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Phenobarbital premedication costs 5 days and has no </a:t>
            </a:r>
            <a:r>
              <a:rPr sz="1400" b="0" i="0" dirty="0" err="1">
                <a:solidFill>
                  <a:srgbClr val="1A1A1A"/>
                </a:solidFill>
                <a:latin typeface="Abadi"/>
              </a:rPr>
              <a:t>randomised</a:t>
            </a:r>
            <a:r>
              <a:rPr sz="1400" b="0" i="0" dirty="0">
                <a:solidFill>
                  <a:srgbClr val="1A1A1A"/>
                </a:solidFill>
                <a:latin typeface="Abadi"/>
              </a:rPr>
              <a:t> benefit.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Infant MRCP: a 1-mm duct without filling pressure — seeing it excludes atresia; missing it proves nothing.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Beyond infancy, MRCP replaces diagnostic ERCP for sclerosing cholangitis and choledochal anatomy.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MRI-PDFF grades fat; periportal thickening ≥ 4.2 mm flags F2+ in cholestatic infants.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</a:t>
            </a:r>
            <a:r>
              <a:rPr sz="1400" b="0" i="0" dirty="0" err="1">
                <a:solidFill>
                  <a:srgbClr val="1A1A1A"/>
                </a:solidFill>
                <a:latin typeface="Abadi"/>
              </a:rPr>
              <a:t>Gadoxetate</a:t>
            </a:r>
            <a:r>
              <a:rPr sz="1400" b="0" i="0" dirty="0">
                <a:solidFill>
                  <a:srgbClr val="1A1A1A"/>
                </a:solidFill>
                <a:latin typeface="Abadi"/>
              </a:rPr>
              <a:t> fails when bilirubin &gt; 3 mg/dL; US and UK labels disagree on children.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400" b="0" i="0" dirty="0">
                <a:solidFill>
                  <a:srgbClr val="1A1A1A"/>
                </a:solidFill>
                <a:latin typeface="Abadi"/>
              </a:rPr>
              <a:t>▪  Abdominal CT is the highest-dose </a:t>
            </a:r>
            <a:r>
              <a:rPr sz="1400" b="0" i="0" dirty="0" err="1">
                <a:solidFill>
                  <a:srgbClr val="1A1A1A"/>
                </a:solidFill>
                <a:latin typeface="Abadi"/>
              </a:rPr>
              <a:t>paediatric</a:t>
            </a:r>
            <a:r>
              <a:rPr sz="1400" b="0" i="0" dirty="0">
                <a:solidFill>
                  <a:srgbClr val="1A1A1A"/>
                </a:solidFill>
                <a:latin typeface="Abadi"/>
              </a:rPr>
              <a:t> scan: justify it, size it, one phase.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Gilmour SM, et al. J Nucl Med 1997;38:1279–82 · Malik D, et al. Nucl Med Commun 2015;36:827–32 · Liu B, et al. PLoS One 2014;9:e88268 · Middleton MS, et al. Hepatology 2018;67:858–72 · Eovist USPI, rev. 2/2026 · Miglioretti DL, et al. JAMA Pediatr 2013;167:700–7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00000"/>
            <a:ext cx="64000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8640" y="300000"/>
            <a:ext cx="10254720" cy="35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2E5A88"/>
                </a:solidFill>
                <a:latin typeface="Abadi"/>
              </a:rPr>
              <a:t>SYNTHESIS — QUESTION TO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92101"/>
              </p:ext>
            </p:extLst>
          </p:nvPr>
        </p:nvGraphicFramePr>
        <p:xfrm>
          <a:off x="548640" y="930000"/>
          <a:ext cx="11094720" cy="49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First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If equivocal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badi"/>
                        </a:rPr>
                        <a:t>What not to do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A1A1A"/>
                          </a:solidFill>
                          <a:latin typeface="Abadi"/>
                        </a:rPr>
                        <a:t>Cholestatic infant, pale stools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Fasting US + GGT + biopsy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Cholangiogram (IOC, PTCC or ERCP)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Wait 5 days for phenobarbital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Cholestatic infant, HIDA already done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Excretion → atresia unlikely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No excretion → biopsy anyway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Call atresia on non-excretion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Hilar cyst on 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MRCP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Intraoperative cholangiogram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Teen with IBD and high GGT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MRCP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Liver biopsy for small-duct PSC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Diagnostic ERCP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Obese child, raised ALT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US, then MRI-PDFF if needed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Biopsy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CT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Liver mass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US, then contrast MRI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 err="1">
                          <a:solidFill>
                            <a:srgbClr val="1A1A1A"/>
                          </a:solidFill>
                          <a:latin typeface="Abadi"/>
                        </a:rPr>
                        <a:t>Gadoxetate</a:t>
                      </a:r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 MRI; biopsy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Multiphase CT of the abdomen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Bile leak after 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US for collection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HIDA or gadoxetate MRI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badi"/>
                        </a:rPr>
                        <a:t>Infant needing MRI</a:t>
                      </a:r>
                    </a:p>
                  </a:txBody>
                  <a:tcPr marL="73152" marR="73152" marT="27432" marB="27432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Feed-and-wrap under 4 months</a:t>
                      </a:r>
                    </a:p>
                  </a:txBody>
                  <a:tcPr marL="73152" marR="73152" marT="27432" marB="27432" anchor="ctr"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badi"/>
                        </a:rPr>
                        <a:t>Short sedation</a:t>
                      </a:r>
                    </a:p>
                  </a:txBody>
                  <a:tcPr marL="73152" marR="73152" marT="27432" marB="27432" anchor="ctr">
                    <a:solidFill>
                      <a:srgbClr val="CDE7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A1A1A"/>
                          </a:solidFill>
                          <a:latin typeface="Abadi"/>
                        </a:rPr>
                        <a:t>Book it if it changes nothing</a:t>
                      </a:r>
                    </a:p>
                  </a:txBody>
                  <a:tcPr marL="73152" marR="73152" marT="27432" marB="27432" anchor="ctr">
                    <a:solidFill>
                      <a:srgbClr val="FBEF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900000"/>
            <a:ext cx="11094720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3360" y="5975000"/>
            <a:ext cx="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75000"/>
            <a:ext cx="10294720" cy="3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1">
                <a:solidFill>
                  <a:srgbClr val="555555"/>
                </a:solidFill>
                <a:latin typeface="Abadi"/>
              </a:rPr>
              <a:t>Fawaz 2017 · Napolitano 2021 · Gilmour 1997 · Malik 2015 · Rossi 2013 · Middleton 2018 · Muir 2016 · Lollert 2024 · Miglioretti 2013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00000"/>
            <a:ext cx="11094720" cy="1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4200" b="1" i="0">
                <a:solidFill>
                  <a:srgbClr val="FFFFFF"/>
                </a:solidFill>
                <a:latin typeface="Abadi"/>
              </a:rPr>
              <a:t>CT, MRI, MRCP and HIDA in the Child's Liver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96000" y="3720000"/>
            <a:ext cx="1800000" cy="19050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00000"/>
            <a:ext cx="110947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2835</Words>
  <Application>Microsoft Macintosh PowerPoint</Application>
  <PresentationFormat>Widescreen</PresentationFormat>
  <Paragraphs>395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Abadi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Ermak, Andrey</cp:lastModifiedBy>
  <cp:revision>3</cp:revision>
  <dcterms:created xsi:type="dcterms:W3CDTF">2013-01-27T09:14:16Z</dcterms:created>
  <dcterms:modified xsi:type="dcterms:W3CDTF">2026-10-01T16:01:13Z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e4b1be8-281e-475d-98b0-21c3457e5a46_Enabled">
    <vt:lpwstr>true</vt:lpwstr>
  </property>
  <property fmtid="{D5CDD505-2E9C-101B-9397-08002B2CF9AE}" pid="3" name="MSIP_Label_5e4b1be8-281e-475d-98b0-21c3457e5a46_SetDate">
    <vt:lpwstr>2026-10-01T15:22:58Z</vt:lpwstr>
  </property>
  <property fmtid="{D5CDD505-2E9C-101B-9397-08002B2CF9AE}" pid="4" name="MSIP_Label_5e4b1be8-281e-475d-98b0-21c3457e5a46_Method">
    <vt:lpwstr>Standard</vt:lpwstr>
  </property>
  <property fmtid="{D5CDD505-2E9C-101B-9397-08002B2CF9AE}" pid="5" name="MSIP_Label_5e4b1be8-281e-475d-98b0-21c3457e5a46_Name">
    <vt:lpwstr>Public</vt:lpwstr>
  </property>
  <property fmtid="{D5CDD505-2E9C-101B-9397-08002B2CF9AE}" pid="6" name="MSIP_Label_5e4b1be8-281e-475d-98b0-21c3457e5a46_SiteId">
    <vt:lpwstr>8b3dd73e-4e72-4679-b191-56da1588712b</vt:lpwstr>
  </property>
  <property fmtid="{D5CDD505-2E9C-101B-9397-08002B2CF9AE}" pid="7" name="MSIP_Label_5e4b1be8-281e-475d-98b0-21c3457e5a46_ActionId">
    <vt:lpwstr>08ce866e-94f6-4b26-9aa4-f0d75e35a4eb</vt:lpwstr>
  </property>
  <property fmtid="{D5CDD505-2E9C-101B-9397-08002B2CF9AE}" pid="8" name="MSIP_Label_5e4b1be8-281e-475d-98b0-21c3457e5a46_ContentBits">
    <vt:lpwstr>0</vt:lpwstr>
  </property>
  <property fmtid="{D5CDD505-2E9C-101B-9397-08002B2CF9AE}" pid="9" name="MSIP_Label_5e4b1be8-281e-475d-98b0-21c3457e5a46_Tag">
    <vt:lpwstr>50, 3, 0, 1</vt:lpwstr>
  </property>
</Properties>
</file>