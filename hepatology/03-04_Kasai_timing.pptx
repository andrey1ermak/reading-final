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0" rIns="0" tIns="18288" bIns="18288" anchor="b">
            <a:spAutoFit/>
          </a:bodyPr>
          <a:lstStyle/>
          <a:p>
            <a:pPr algn="ctr"/>
            <a:r>
              <a:rPr sz="4000" b="1">
                <a:solidFill>
                  <a:srgbClr val="FFFFFF"/>
                </a:solidFill>
                <a:latin typeface="Abadi"/>
              </a:rPr>
              <a:t>Biliary Atresia IV: Timing of the Kasai — Age Thresholds, Screening Programmes and Centralisation</a:t>
            </a:r>
          </a:p>
        </p:txBody>
      </p:sp>
      <p:sp>
        <p:nvSpPr>
          <p:cNvPr id="4" name="Rectangle 3"/>
          <p:cNvSpPr/>
          <p:nvPr/>
        </p:nvSpPr>
        <p:spPr>
          <a:xfrm>
            <a:off x="5184648" y="3630168"/>
            <a:ext cx="182880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0" rIns="0" tIns="18288" bIns="18288" anchor="t">
            <a:spAutoFit/>
          </a:bodyPr>
          <a:lstStyle/>
          <a:p>
            <a:pPr algn="ctr"/>
            <a:r>
              <a:rPr sz="1700" b="1">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0" rIns="0" tIns="18288" bIns="18288" anchor="t">
            <a:spAutoFit/>
          </a:bodyPr>
          <a:lstStyle/>
          <a:p>
            <a:pPr algn="ctr"/>
            <a:r>
              <a:rPr sz="1100" b="0">
                <a:solidFill>
                  <a:srgbClr val="D9DEE7"/>
                </a:solidFill>
                <a:latin typeface="Abadi"/>
              </a:rPr>
              <a:t>Serinet 2009 · Schreiber 2007 · Fanna 2019 · Hoshino 2023 · Yang 2022 · Lien 2011 · Harpavat 2020 · Woolfson 2018 · Hari Gopal 2024 · McKiernan 2000 · Davenport 2004, 2011 · PHIS 2021 · Fawaz 2017 · AAP 2025 · UK NSC 2026</a:t>
            </a:r>
          </a:p>
        </p:txBody>
      </p:sp>
      <p:sp>
        <p:nvSpPr>
          <p:cNvPr id="7" name="TextBox 6"/>
          <p:cNvSpPr txBox="1"/>
          <p:nvPr/>
        </p:nvSpPr>
        <p:spPr>
          <a:xfrm>
            <a:off x="548640" y="5193792"/>
            <a:ext cx="11082528" cy="548640"/>
          </a:xfrm>
          <a:prstGeom prst="rect">
            <a:avLst/>
          </a:prstGeom>
          <a:noFill/>
        </p:spPr>
        <p:txBody>
          <a:bodyPr wrap="square" lIns="0" rIns="0" tIns="18288" bIns="18288" anchor="t">
            <a:spAutoFit/>
          </a:bodyPr>
          <a:lstStyle/>
          <a:p>
            <a:pPr algn="ctr"/>
            <a:r>
              <a:rPr sz="1100" b="0" i="1">
                <a:solidFill>
                  <a:srgbClr val="D9DEE7"/>
                </a:solidFill>
                <a:latin typeface="Abadi"/>
              </a:rPr>
              <a:t>no safe threshold, only a gradient · every week costs native liver · screening moves the operation, not the disease · volume buys skill · the older infant still deserves a Kasai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DOES A WEEK REALLY MATTER?</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A 7-week-old with pale stools is referred on a Thursday: is there a deadline, and who sets it?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Serinet MO, et al. Pediatrics 2009;123:1280–6 · Fanna M, et al. JPGN 2019;69:416–24 · Harpavat S, et al. Pediatrics 2025 (AAP clinical report)</a:t>
            </a:r>
          </a:p>
        </p:txBody>
      </p:sp>
      <p:sp>
        <p:nvSpPr>
          <p:cNvPr id="12" name="Rectangle 11"/>
          <p:cNvSpPr/>
          <p:nvPr/>
        </p:nvSpPr>
        <p:spPr>
          <a:xfrm>
            <a:off x="548640" y="1773936"/>
            <a:ext cx="2070201" cy="21488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0" rIns="0" tIns="18288" bIns="18288" anchor="t">
            <a:spAutoFit/>
          </a:bodyPr>
          <a:lstStyle/>
          <a:p>
            <a:pPr algn="l"/>
            <a:r>
              <a:rPr sz="1500" b="1">
                <a:solidFill>
                  <a:srgbClr val="1E7A33"/>
                </a:solidFill>
                <a:latin typeface="Abadi"/>
              </a:rPr>
              <a:t>≤ 30 days</a:t>
            </a:r>
          </a:p>
        </p:txBody>
      </p:sp>
      <p:sp>
        <p:nvSpPr>
          <p:cNvPr id="15" name="TextBox 14"/>
          <p:cNvSpPr txBox="1"/>
          <p:nvPr/>
        </p:nvSpPr>
        <p:spPr>
          <a:xfrm>
            <a:off x="694944" y="2505456"/>
            <a:ext cx="1777593" cy="132588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Best native-liver survival</a:t>
            </a:r>
          </a:p>
          <a:p>
            <a:pPr algn="l">
              <a:spcAft>
                <a:spcPts val="300"/>
              </a:spcAft>
            </a:pPr>
            <a:r>
              <a:rPr sz="1100" b="0">
                <a:solidFill>
                  <a:srgbClr val="1A1A1A"/>
                </a:solidFill>
                <a:latin typeface="Abadi"/>
              </a:rPr>
              <a:t>▪  Rarely reached without screening</a:t>
            </a:r>
          </a:p>
          <a:p>
            <a:pPr algn="l">
              <a:spcAft>
                <a:spcPts val="300"/>
              </a:spcAft>
            </a:pPr>
            <a:r>
              <a:rPr sz="1100" b="0">
                <a:solidFill>
                  <a:srgbClr val="1A1A1A"/>
                </a:solidFill>
                <a:latin typeface="Abadi"/>
              </a:rPr>
              <a:t>▪  AAP 2025 target</a:t>
            </a:r>
          </a:p>
        </p:txBody>
      </p:sp>
      <p:sp>
        <p:nvSpPr>
          <p:cNvPr id="16" name="Rectangle 15"/>
          <p:cNvSpPr/>
          <p:nvPr/>
        </p:nvSpPr>
        <p:spPr>
          <a:xfrm>
            <a:off x="2801721" y="1773936"/>
            <a:ext cx="2070201" cy="21488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0" rIns="0" tIns="18288" bIns="18288" anchor="t">
            <a:spAutoFit/>
          </a:bodyPr>
          <a:lstStyle/>
          <a:p>
            <a:pPr algn="l"/>
            <a:r>
              <a:rPr sz="1500" b="1">
                <a:solidFill>
                  <a:srgbClr val="1B355E"/>
                </a:solidFill>
                <a:latin typeface="Abadi"/>
              </a:rPr>
              <a:t>31–45 days</a:t>
            </a:r>
          </a:p>
        </p:txBody>
      </p:sp>
      <p:sp>
        <p:nvSpPr>
          <p:cNvPr id="19" name="TextBox 18"/>
          <p:cNvSpPr txBox="1"/>
          <p:nvPr/>
        </p:nvSpPr>
        <p:spPr>
          <a:xfrm>
            <a:off x="2948025" y="2505456"/>
            <a:ext cx="1777593" cy="132588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Still good results</a:t>
            </a:r>
          </a:p>
          <a:p>
            <a:pPr algn="l">
              <a:spcAft>
                <a:spcPts val="300"/>
              </a:spcAft>
            </a:pPr>
            <a:r>
              <a:rPr sz="1100" b="0">
                <a:solidFill>
                  <a:srgbClr val="1A1A1A"/>
                </a:solidFill>
                <a:latin typeface="Abadi"/>
              </a:rPr>
              <a:t>▪  Serinet: all operated before 46 days would spare 5.7% of transplants</a:t>
            </a:r>
          </a:p>
        </p:txBody>
      </p:sp>
      <p:sp>
        <p:nvSpPr>
          <p:cNvPr id="20" name="Rectangle 19"/>
          <p:cNvSpPr/>
          <p:nvPr/>
        </p:nvSpPr>
        <p:spPr>
          <a:xfrm>
            <a:off x="5054803" y="1773936"/>
            <a:ext cx="2070201" cy="21488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0" rIns="0" tIns="18288" bIns="18288" anchor="t">
            <a:spAutoFit/>
          </a:bodyPr>
          <a:lstStyle/>
          <a:p>
            <a:pPr algn="l"/>
            <a:r>
              <a:rPr sz="1500" b="1">
                <a:solidFill>
                  <a:srgbClr val="D97A0B"/>
                </a:solidFill>
                <a:latin typeface="Abadi"/>
              </a:rPr>
              <a:t>46–60 days</a:t>
            </a:r>
          </a:p>
        </p:txBody>
      </p:sp>
      <p:sp>
        <p:nvSpPr>
          <p:cNvPr id="23" name="TextBox 22"/>
          <p:cNvSpPr txBox="1"/>
          <p:nvPr/>
        </p:nvSpPr>
        <p:spPr>
          <a:xfrm>
            <a:off x="5201107" y="2505456"/>
            <a:ext cx="1777593" cy="132588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Median age in France, England, USA</a:t>
            </a:r>
          </a:p>
          <a:p>
            <a:pPr algn="l">
              <a:spcAft>
                <a:spcPts val="300"/>
              </a:spcAft>
            </a:pPr>
            <a:r>
              <a:rPr sz="1100" b="0">
                <a:solidFill>
                  <a:srgbClr val="1A1A1A"/>
                </a:solidFill>
                <a:latin typeface="Abadi"/>
              </a:rPr>
              <a:t>▪  Where most infants sit</a:t>
            </a:r>
          </a:p>
        </p:txBody>
      </p:sp>
      <p:sp>
        <p:nvSpPr>
          <p:cNvPr id="24" name="Rectangle 23"/>
          <p:cNvSpPr/>
          <p:nvPr/>
        </p:nvSpPr>
        <p:spPr>
          <a:xfrm>
            <a:off x="7307884" y="1773936"/>
            <a:ext cx="2070201" cy="21488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0" rIns="0" tIns="18288" bIns="18288" anchor="t">
            <a:spAutoFit/>
          </a:bodyPr>
          <a:lstStyle/>
          <a:p>
            <a:pPr algn="l"/>
            <a:r>
              <a:rPr sz="1500" b="1">
                <a:solidFill>
                  <a:srgbClr val="B22222"/>
                </a:solidFill>
                <a:latin typeface="Abadi"/>
              </a:rPr>
              <a:t>61–90 days</a:t>
            </a:r>
          </a:p>
        </p:txBody>
      </p:sp>
      <p:sp>
        <p:nvSpPr>
          <p:cNvPr id="27" name="TextBox 26"/>
          <p:cNvSpPr txBox="1"/>
          <p:nvPr/>
        </p:nvSpPr>
        <p:spPr>
          <a:xfrm>
            <a:off x="7454188" y="2505456"/>
            <a:ext cx="1777593" cy="132588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Clearance falls</a:t>
            </a:r>
          </a:p>
          <a:p>
            <a:pPr algn="l">
              <a:spcAft>
                <a:spcPts val="300"/>
              </a:spcAft>
            </a:pPr>
            <a:r>
              <a:rPr sz="1100" b="0">
                <a:solidFill>
                  <a:srgbClr val="1A1A1A"/>
                </a:solidFill>
                <a:latin typeface="Abadi"/>
              </a:rPr>
              <a:t>▪  Late referral, slow work-up</a:t>
            </a:r>
          </a:p>
        </p:txBody>
      </p:sp>
      <p:sp>
        <p:nvSpPr>
          <p:cNvPr id="28" name="Rectangle 27"/>
          <p:cNvSpPr/>
          <p:nvPr/>
        </p:nvSpPr>
        <p:spPr>
          <a:xfrm>
            <a:off x="9560966" y="1773936"/>
            <a:ext cx="2070201" cy="21488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0" rIns="0" tIns="18288" bIns="18288" anchor="t">
            <a:spAutoFit/>
          </a:bodyPr>
          <a:lstStyle/>
          <a:p>
            <a:pPr algn="l"/>
            <a:r>
              <a:rPr sz="1500" b="1">
                <a:solidFill>
                  <a:srgbClr val="8A939B"/>
                </a:solidFill>
                <a:latin typeface="Abadi"/>
              </a:rPr>
              <a:t>&gt; 90 days</a:t>
            </a:r>
          </a:p>
        </p:txBody>
      </p:sp>
      <p:sp>
        <p:nvSpPr>
          <p:cNvPr id="31" name="TextBox 30"/>
          <p:cNvSpPr txBox="1"/>
          <p:nvPr/>
        </p:nvSpPr>
        <p:spPr>
          <a:xfrm>
            <a:off x="9707270" y="2505456"/>
            <a:ext cx="1777593" cy="132588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One in five keep the liver</a:t>
            </a:r>
          </a:p>
          <a:p>
            <a:pPr algn="l">
              <a:spcAft>
                <a:spcPts val="300"/>
              </a:spcAft>
            </a:pPr>
            <a:r>
              <a:rPr sz="1100" b="0">
                <a:solidFill>
                  <a:srgbClr val="1A1A1A"/>
                </a:solidFill>
                <a:latin typeface="Abadi"/>
              </a:rPr>
              <a:t>▪  Kasai still offered</a:t>
            </a:r>
          </a:p>
          <a:p>
            <a:pPr algn="l">
              <a:spcAft>
                <a:spcPts val="300"/>
              </a:spcAft>
            </a:pPr>
            <a:r>
              <a:rPr sz="1100" b="0">
                <a:solidFill>
                  <a:srgbClr val="1A1A1A"/>
                </a:solidFill>
                <a:latin typeface="Abadi"/>
              </a:rPr>
              <a:t>▪  Primary transplant if decompensated</a:t>
            </a:r>
          </a:p>
        </p:txBody>
      </p:sp>
      <p:sp>
        <p:nvSpPr>
          <p:cNvPr id="32" name="TextBox 31"/>
          <p:cNvSpPr txBox="1"/>
          <p:nvPr/>
        </p:nvSpPr>
        <p:spPr>
          <a:xfrm>
            <a:off x="548640" y="4114800"/>
            <a:ext cx="11082528" cy="1691640"/>
          </a:xfrm>
          <a:prstGeom prst="rect">
            <a:avLst/>
          </a:prstGeom>
          <a:noFill/>
        </p:spPr>
        <p:txBody>
          <a:bodyPr wrap="square" lIns="0" rIns="0" tIns="18288" bIns="18288" anchor="t">
            <a:spAutoFit/>
          </a:bodyPr>
          <a:lstStyle/>
          <a:p>
            <a:pPr algn="l">
              <a:spcAft>
                <a:spcPts val="600"/>
              </a:spcAft>
            </a:pPr>
            <a:r>
              <a:rPr sz="1250" b="1">
                <a:solidFill>
                  <a:srgbClr val="1B355E"/>
                </a:solidFill>
                <a:latin typeface="Abadi"/>
              </a:rPr>
              <a:t>The main idea.  </a:t>
            </a:r>
            <a:r>
              <a:rPr sz="1250" b="0">
                <a:solidFill>
                  <a:srgbClr val="1A1A1A"/>
                </a:solidFill>
                <a:latin typeface="Abadi"/>
              </a:rPr>
              <a:t>Outcome falls steadily with age at the Kasai; there is no age at which the operation becomes safe to delay and none at which it becomes pointless. The age is set mostly before the infant reaches a surgeon: by recognition, referral and the speed of work-up. Screening moves the age; centralised expert care improves what is done at any 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WHY THE CLOCK RUNS</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Biliary atresia is a progressive fibro-obliterative cholangiopathy; the Kasai drains only what is left at the porta</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Fawaz R, et al. JPGN 2017;64:154–68 · Harpavat S, et al. JAMA 2020;323:1141–50 · Zhan J, et al. World J Pediatr Surg 2018;1:e000002</a:t>
            </a:r>
          </a:p>
        </p:txBody>
      </p:sp>
      <p:sp>
        <p:nvSpPr>
          <p:cNvPr id="12" name="Rectangle 11"/>
          <p:cNvSpPr/>
          <p:nvPr/>
        </p:nvSpPr>
        <p:spPr>
          <a:xfrm>
            <a:off x="548640" y="1773936"/>
            <a:ext cx="1982419" cy="19202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Starts early</a:t>
            </a:r>
          </a:p>
        </p:txBody>
      </p:sp>
      <p:sp>
        <p:nvSpPr>
          <p:cNvPr id="15" name="TextBox 14"/>
          <p:cNvSpPr txBox="1"/>
          <p:nvPr/>
        </p:nvSpPr>
        <p:spPr>
          <a:xfrm>
            <a:off x="658368" y="2185416"/>
            <a:ext cx="1762963" cy="1463040"/>
          </a:xfrm>
          <a:prstGeom prst="rect">
            <a:avLst/>
          </a:prstGeom>
          <a:noFill/>
        </p:spPr>
        <p:txBody>
          <a:bodyPr wrap="square" lIns="0" rIns="0" tIns="18288" bIns="18288" anchor="t">
            <a:spAutoFit/>
          </a:bodyPr>
          <a:lstStyle/>
          <a:p>
            <a:pPr algn="l"/>
            <a:r>
              <a:rPr sz="1050" b="0">
                <a:solidFill>
                  <a:srgbClr val="1A1A1A"/>
                </a:solidFill>
                <a:latin typeface="Abadi"/>
              </a:rPr>
              <a:t>Conjugated bilirubin is already raised in the first days of life: injury often begins before birth.</a:t>
            </a:r>
          </a:p>
        </p:txBody>
      </p:sp>
      <p:sp>
        <p:nvSpPr>
          <p:cNvPr id="16" name="TextBox 15"/>
          <p:cNvSpPr txBox="1"/>
          <p:nvPr/>
        </p:nvSpPr>
        <p:spPr>
          <a:xfrm>
            <a:off x="2531059" y="2551176"/>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17" name="Rectangle 16"/>
          <p:cNvSpPr/>
          <p:nvPr/>
        </p:nvSpPr>
        <p:spPr>
          <a:xfrm>
            <a:off x="2823667" y="1773936"/>
            <a:ext cx="1982419" cy="19202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Bile is retained</a:t>
            </a:r>
          </a:p>
        </p:txBody>
      </p:sp>
      <p:sp>
        <p:nvSpPr>
          <p:cNvPr id="20" name="TextBox 19"/>
          <p:cNvSpPr txBox="1"/>
          <p:nvPr/>
        </p:nvSpPr>
        <p:spPr>
          <a:xfrm>
            <a:off x="2933395" y="2185416"/>
            <a:ext cx="1762963" cy="1463040"/>
          </a:xfrm>
          <a:prstGeom prst="rect">
            <a:avLst/>
          </a:prstGeom>
          <a:noFill/>
        </p:spPr>
        <p:txBody>
          <a:bodyPr wrap="square" lIns="0" rIns="0" tIns="18288" bIns="18288" anchor="t">
            <a:spAutoFit/>
          </a:bodyPr>
          <a:lstStyle/>
          <a:p>
            <a:pPr algn="l"/>
            <a:r>
              <a:rPr sz="1050" b="0">
                <a:solidFill>
                  <a:srgbClr val="1A1A1A"/>
                </a:solidFill>
                <a:latin typeface="Abadi"/>
              </a:rPr>
              <a:t>Bile acids accumulate and injure hepatocytes and cholangiocytes.</a:t>
            </a:r>
          </a:p>
        </p:txBody>
      </p:sp>
      <p:sp>
        <p:nvSpPr>
          <p:cNvPr id="21" name="TextBox 20"/>
          <p:cNvSpPr txBox="1"/>
          <p:nvPr/>
        </p:nvSpPr>
        <p:spPr>
          <a:xfrm>
            <a:off x="4806086" y="2551176"/>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22" name="Rectangle 21"/>
          <p:cNvSpPr/>
          <p:nvPr/>
        </p:nvSpPr>
        <p:spPr>
          <a:xfrm>
            <a:off x="5098694" y="1773936"/>
            <a:ext cx="1982419" cy="19202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Liver reacts</a:t>
            </a:r>
          </a:p>
        </p:txBody>
      </p:sp>
      <p:sp>
        <p:nvSpPr>
          <p:cNvPr id="25" name="TextBox 24"/>
          <p:cNvSpPr txBox="1"/>
          <p:nvPr/>
        </p:nvSpPr>
        <p:spPr>
          <a:xfrm>
            <a:off x="5208422" y="2185416"/>
            <a:ext cx="1762963" cy="1463040"/>
          </a:xfrm>
          <a:prstGeom prst="rect">
            <a:avLst/>
          </a:prstGeom>
          <a:noFill/>
        </p:spPr>
        <p:txBody>
          <a:bodyPr wrap="square" lIns="0" rIns="0" tIns="18288" bIns="18288" anchor="t">
            <a:spAutoFit/>
          </a:bodyPr>
          <a:lstStyle/>
          <a:p>
            <a:pPr algn="l"/>
            <a:r>
              <a:rPr sz="1050" b="0">
                <a:solidFill>
                  <a:srgbClr val="1A1A1A"/>
                </a:solidFill>
                <a:latin typeface="Abadi"/>
              </a:rPr>
              <a:t>Ductular reaction, stellate cell activation, portal fibrosis.</a:t>
            </a:r>
          </a:p>
        </p:txBody>
      </p:sp>
      <p:sp>
        <p:nvSpPr>
          <p:cNvPr id="26" name="TextBox 25"/>
          <p:cNvSpPr txBox="1"/>
          <p:nvPr/>
        </p:nvSpPr>
        <p:spPr>
          <a:xfrm>
            <a:off x="7081113" y="2551176"/>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27" name="Rectangle 26"/>
          <p:cNvSpPr/>
          <p:nvPr/>
        </p:nvSpPr>
        <p:spPr>
          <a:xfrm>
            <a:off x="7373721" y="1773936"/>
            <a:ext cx="1982419" cy="19202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Ductules vanish</a:t>
            </a:r>
          </a:p>
        </p:txBody>
      </p:sp>
      <p:sp>
        <p:nvSpPr>
          <p:cNvPr id="30" name="TextBox 29"/>
          <p:cNvSpPr txBox="1"/>
          <p:nvPr/>
        </p:nvSpPr>
        <p:spPr>
          <a:xfrm>
            <a:off x="7483449" y="2185416"/>
            <a:ext cx="1762963" cy="1463040"/>
          </a:xfrm>
          <a:prstGeom prst="rect">
            <a:avLst/>
          </a:prstGeom>
          <a:noFill/>
        </p:spPr>
        <p:txBody>
          <a:bodyPr wrap="square" lIns="0" rIns="0" tIns="18288" bIns="18288" anchor="t">
            <a:spAutoFit/>
          </a:bodyPr>
          <a:lstStyle/>
          <a:p>
            <a:pPr algn="l"/>
            <a:r>
              <a:rPr sz="1050" b="0">
                <a:solidFill>
                  <a:srgbClr val="1A1A1A"/>
                </a:solidFill>
                <a:latin typeface="Abadi"/>
              </a:rPr>
              <a:t>Remnant ductules at the porta are lost; intrahepatic ducts become fibrotic.</a:t>
            </a:r>
          </a:p>
        </p:txBody>
      </p:sp>
      <p:sp>
        <p:nvSpPr>
          <p:cNvPr id="31" name="TextBox 30"/>
          <p:cNvSpPr txBox="1"/>
          <p:nvPr/>
        </p:nvSpPr>
        <p:spPr>
          <a:xfrm>
            <a:off x="9356140" y="2551176"/>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32" name="Rectangle 31"/>
          <p:cNvSpPr/>
          <p:nvPr/>
        </p:nvSpPr>
        <p:spPr>
          <a:xfrm>
            <a:off x="9648748" y="1773936"/>
            <a:ext cx="1982419" cy="19202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Cirrhosis</a:t>
            </a:r>
          </a:p>
        </p:txBody>
      </p:sp>
      <p:sp>
        <p:nvSpPr>
          <p:cNvPr id="35" name="TextBox 34"/>
          <p:cNvSpPr txBox="1"/>
          <p:nvPr/>
        </p:nvSpPr>
        <p:spPr>
          <a:xfrm>
            <a:off x="9758476" y="2185416"/>
            <a:ext cx="1762963" cy="1463040"/>
          </a:xfrm>
          <a:prstGeom prst="rect">
            <a:avLst/>
          </a:prstGeom>
          <a:noFill/>
        </p:spPr>
        <p:txBody>
          <a:bodyPr wrap="square" lIns="0" rIns="0" tIns="18288" bIns="18288" anchor="t">
            <a:spAutoFit/>
          </a:bodyPr>
          <a:lstStyle/>
          <a:p>
            <a:pPr algn="l"/>
            <a:r>
              <a:rPr sz="1050" b="0">
                <a:solidFill>
                  <a:srgbClr val="1A1A1A"/>
                </a:solidFill>
                <a:latin typeface="Abadi"/>
              </a:rPr>
              <a:t>Bridging fibrosis, portal hypertension: less bile to drain, less liver to save.</a:t>
            </a:r>
          </a:p>
        </p:txBody>
      </p:sp>
      <p:sp>
        <p:nvSpPr>
          <p:cNvPr id="36" name="TextBox 35"/>
          <p:cNvSpPr txBox="1"/>
          <p:nvPr/>
        </p:nvSpPr>
        <p:spPr>
          <a:xfrm>
            <a:off x="548640" y="3977639"/>
            <a:ext cx="11082528" cy="1828800"/>
          </a:xfrm>
          <a:prstGeom prst="rect">
            <a:avLst/>
          </a:prstGeom>
          <a:noFill/>
        </p:spPr>
        <p:txBody>
          <a:bodyPr wrap="square" lIns="0" rIns="0" tIns="18288" bIns="18288" anchor="t">
            <a:spAutoFit/>
          </a:bodyPr>
          <a:lstStyle/>
          <a:p>
            <a:pPr algn="l">
              <a:spcAft>
                <a:spcPts val="600"/>
              </a:spcAft>
            </a:pPr>
            <a:r>
              <a:rPr sz="1250" b="1">
                <a:solidFill>
                  <a:srgbClr val="1B355E"/>
                </a:solidFill>
                <a:latin typeface="Abadi"/>
              </a:rPr>
              <a:t>Reading the chain.  </a:t>
            </a:r>
            <a:r>
              <a:rPr sz="1250" b="0">
                <a:solidFill>
                  <a:srgbClr val="1A1A1A"/>
                </a:solidFill>
                <a:latin typeface="Abadi"/>
              </a:rPr>
              <a:t>The Kasai does not reconnect a duct; it opens the fibrous plate at the porta so that bile from microscopic ductules can reach a Roux loop. Each week of obstruction removes ductules and adds fibrosis, so drainage and long-term survival with the native liver both fall.</a:t>
            </a:r>
          </a:p>
          <a:p>
            <a:pPr algn="l">
              <a:spcAft>
                <a:spcPts val="600"/>
              </a:spcAft>
            </a:pPr>
            <a:r>
              <a:rPr sz="1250" b="1">
                <a:solidFill>
                  <a:srgbClr val="1B355E"/>
                </a:solidFill>
                <a:latin typeface="Abadi"/>
              </a:rPr>
              <a:t>Why it is a gradient.  </a:t>
            </a:r>
            <a:r>
              <a:rPr sz="1250" b="0">
                <a:solidFill>
                  <a:srgbClr val="1A1A1A"/>
                </a:solidFill>
                <a:latin typeface="Abadi"/>
              </a:rPr>
              <a:t>The process is continuous, so there is no biological cliff at 30, 45 or 60 days; thresholds are conventions for audit, not switches in the disease.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FRENCH NATIONAL REGISTRY</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THE GRADIENT LASTS INTO ADULTHOOD</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Survival with the native liver at 25 years by month of life at the Kasai, 1,340 operated infants, France 1986–2015,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Fanna M, et al. Management of biliary atresia in France 1986 to 2015: long-term results. JPGN 2019;69:416–24</a:t>
            </a:r>
          </a:p>
        </p:txBody>
      </p:sp>
      <p:sp>
        <p:nvSpPr>
          <p:cNvPr id="12" name="TextBox 11"/>
          <p:cNvSpPr txBox="1"/>
          <p:nvPr/>
        </p:nvSpPr>
        <p:spPr>
          <a:xfrm>
            <a:off x="548640" y="1965960"/>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First month (≤ 30 days)</a:t>
            </a:r>
          </a:p>
        </p:txBody>
      </p:sp>
      <p:sp>
        <p:nvSpPr>
          <p:cNvPr id="13" name="Rectangle 12"/>
          <p:cNvSpPr/>
          <p:nvPr/>
        </p:nvSpPr>
        <p:spPr>
          <a:xfrm>
            <a:off x="3474720" y="2084831"/>
            <a:ext cx="3551935"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99808" y="1965960"/>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38%</a:t>
            </a:r>
          </a:p>
        </p:txBody>
      </p:sp>
      <p:sp>
        <p:nvSpPr>
          <p:cNvPr id="15" name="TextBox 14"/>
          <p:cNvSpPr txBox="1"/>
          <p:nvPr/>
        </p:nvSpPr>
        <p:spPr>
          <a:xfrm>
            <a:off x="548640" y="2532888"/>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Second month</a:t>
            </a:r>
          </a:p>
        </p:txBody>
      </p:sp>
      <p:sp>
        <p:nvSpPr>
          <p:cNvPr id="16" name="Rectangle 15"/>
          <p:cNvSpPr/>
          <p:nvPr/>
        </p:nvSpPr>
        <p:spPr>
          <a:xfrm>
            <a:off x="3474720" y="2651760"/>
            <a:ext cx="2523744"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71616" y="2532888"/>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27%</a:t>
            </a:r>
          </a:p>
        </p:txBody>
      </p:sp>
      <p:sp>
        <p:nvSpPr>
          <p:cNvPr id="18" name="TextBox 17"/>
          <p:cNvSpPr txBox="1"/>
          <p:nvPr/>
        </p:nvSpPr>
        <p:spPr>
          <a:xfrm>
            <a:off x="548640" y="3099815"/>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Third month</a:t>
            </a:r>
          </a:p>
        </p:txBody>
      </p:sp>
      <p:sp>
        <p:nvSpPr>
          <p:cNvPr id="19" name="Rectangle 18"/>
          <p:cNvSpPr/>
          <p:nvPr/>
        </p:nvSpPr>
        <p:spPr>
          <a:xfrm>
            <a:off x="3474720" y="3218687"/>
            <a:ext cx="2056383"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04256" y="3099815"/>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22%</a:t>
            </a:r>
          </a:p>
        </p:txBody>
      </p:sp>
      <p:sp>
        <p:nvSpPr>
          <p:cNvPr id="21" name="TextBox 20"/>
          <p:cNvSpPr txBox="1"/>
          <p:nvPr/>
        </p:nvSpPr>
        <p:spPr>
          <a:xfrm>
            <a:off x="548640" y="3666744"/>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After the third month</a:t>
            </a:r>
          </a:p>
        </p:txBody>
      </p:sp>
      <p:sp>
        <p:nvSpPr>
          <p:cNvPr id="22" name="Rectangle 21"/>
          <p:cNvSpPr/>
          <p:nvPr/>
        </p:nvSpPr>
        <p:spPr>
          <a:xfrm>
            <a:off x="3474720" y="3785615"/>
            <a:ext cx="1775967"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23840" y="3666744"/>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19%</a:t>
            </a:r>
          </a:p>
        </p:txBody>
      </p:sp>
      <p:sp>
        <p:nvSpPr>
          <p:cNvPr id="24" name="TextBox 23"/>
          <p:cNvSpPr txBox="1"/>
          <p:nvPr/>
        </p:nvSpPr>
        <p:spPr>
          <a:xfrm>
            <a:off x="548640" y="4279392"/>
            <a:ext cx="7863840" cy="274320"/>
          </a:xfrm>
          <a:prstGeom prst="rect">
            <a:avLst/>
          </a:prstGeom>
          <a:noFill/>
        </p:spPr>
        <p:txBody>
          <a:bodyPr wrap="square" lIns="0" rIns="0" tIns="18288" bIns="18288" anchor="t">
            <a:spAutoFit/>
          </a:bodyPr>
          <a:lstStyle/>
          <a:p>
            <a:pPr algn="l"/>
            <a:r>
              <a:rPr sz="950" b="0">
                <a:solidFill>
                  <a:srgbClr val="7F7F7F"/>
                </a:solidFill>
                <a:latin typeface="Abadi"/>
              </a:rPr>
              <a:t>Bars: native-liver survival 25 years after the Kasai (P = 0.0001).</a:t>
            </a:r>
          </a:p>
        </p:txBody>
      </p:sp>
      <p:sp>
        <p:nvSpPr>
          <p:cNvPr id="25" name="TextBox 24"/>
          <p:cNvSpPr txBox="1"/>
          <p:nvPr/>
        </p:nvSpPr>
        <p:spPr>
          <a:xfrm>
            <a:off x="548640" y="4434840"/>
            <a:ext cx="7955279" cy="1371600"/>
          </a:xfrm>
          <a:prstGeom prst="rect">
            <a:avLst/>
          </a:prstGeom>
          <a:noFill/>
        </p:spPr>
        <p:txBody>
          <a:bodyPr wrap="square" lIns="0" rIns="0" tIns="18288" bIns="18288" anchor="t">
            <a:spAutoFit/>
          </a:bodyPr>
          <a:lstStyle/>
          <a:p>
            <a:pPr algn="l">
              <a:spcAft>
                <a:spcPts val="600"/>
              </a:spcAft>
            </a:pPr>
            <a:r>
              <a:rPr sz="1250" b="1">
                <a:solidFill>
                  <a:srgbClr val="1B355E"/>
                </a:solidFill>
                <a:latin typeface="Abadi"/>
              </a:rPr>
              <a:t>Read it as.  </a:t>
            </a:r>
            <a:r>
              <a:rPr sz="1250" b="0">
                <a:solidFill>
                  <a:srgbClr val="1A1A1A"/>
                </a:solidFill>
                <a:latin typeface="Abadi"/>
              </a:rPr>
              <a:t>Operating in the first month doubles the chance of reaching adulthood with the native liver compared with operating after three months. Median age at the Kasai was 59 days and did not change in 30 years.</a:t>
            </a:r>
          </a:p>
        </p:txBody>
      </p:sp>
      <p:sp>
        <p:nvSpPr>
          <p:cNvPr id="26" name="TextBox 25"/>
          <p:cNvSpPr txBox="1"/>
          <p:nvPr/>
        </p:nvSpPr>
        <p:spPr>
          <a:xfrm>
            <a:off x="8778240" y="1783080"/>
            <a:ext cx="2834640" cy="3931920"/>
          </a:xfrm>
          <a:prstGeom prst="rect">
            <a:avLst/>
          </a:prstGeom>
          <a:noFill/>
        </p:spPr>
        <p:txBody>
          <a:bodyPr wrap="square" lIns="0" rIns="0" tIns="18288" bIns="18288" anchor="t">
            <a:spAutoFit/>
          </a:bodyPr>
          <a:lstStyle/>
          <a:p>
            <a:pPr algn="l">
              <a:spcAft>
                <a:spcPts val="400"/>
              </a:spcAft>
            </a:pPr>
            <a:r>
              <a:rPr sz="1500" b="1">
                <a:solidFill>
                  <a:srgbClr val="1B355E"/>
                </a:solidFill>
                <a:latin typeface="Abadi"/>
              </a:rPr>
              <a:t>1,428 infants</a:t>
            </a:r>
          </a:p>
          <a:p>
            <a:pPr algn="l">
              <a:spcAft>
                <a:spcPts val="400"/>
              </a:spcAft>
            </a:pPr>
            <a:r>
              <a:rPr sz="1050" b="0">
                <a:solidFill>
                  <a:srgbClr val="555555"/>
                </a:solidFill>
                <a:latin typeface="Abadi"/>
              </a:rPr>
              <a:t>94% had a Kasai; 55% eventually needed a transplant.</a:t>
            </a:r>
          </a:p>
          <a:p>
            <a:pPr algn="l">
              <a:spcAft>
                <a:spcPts val="400"/>
              </a:spcAft>
            </a:pPr>
            <a:r>
              <a:rPr sz="1500" b="1">
                <a:solidFill>
                  <a:srgbClr val="1B355E"/>
                </a:solidFill>
                <a:latin typeface="Abadi"/>
              </a:rPr>
              <a:t>Over time</a:t>
            </a:r>
          </a:p>
          <a:p>
            <a:pPr algn="l">
              <a:spcAft>
                <a:spcPts val="400"/>
              </a:spcAft>
            </a:pPr>
            <a:r>
              <a:rPr sz="1050" b="0">
                <a:solidFill>
                  <a:srgbClr val="555555"/>
                </a:solidFill>
                <a:latin typeface="Abadi"/>
              </a:rPr>
              <a:t>Native liver: 41% at 5 years, 35% at 10, 26% at 20, 22% at 30.</a:t>
            </a:r>
          </a:p>
          <a:p>
            <a:pPr algn="l">
              <a:spcAft>
                <a:spcPts val="400"/>
              </a:spcAft>
            </a:pPr>
            <a:r>
              <a:rPr sz="1500" b="1">
                <a:solidFill>
                  <a:srgbClr val="1B355E"/>
                </a:solidFill>
                <a:latin typeface="Abadi"/>
              </a:rPr>
              <a:t>Survival</a:t>
            </a:r>
          </a:p>
          <a:p>
            <a:pPr algn="l">
              <a:spcAft>
                <a:spcPts val="400"/>
              </a:spcAft>
            </a:pPr>
            <a:r>
              <a:rPr sz="1050" b="0">
                <a:solidFill>
                  <a:srgbClr val="555555"/>
                </a:solidFill>
                <a:latin typeface="Abadi"/>
              </a:rPr>
              <a:t>Overall survival from diagnosis 81%; 5-year survival rose from 72% to 87% across cohorts.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THE EARLIER NATIONAL SIGNALS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EARLIER IS BETTER AT EVERY FOLLOW-UP</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Native-liver survival at 4 years by age at the Kasai, Canadian national cohort of 349 infants,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Schreiber RA, et al. Biliary atresia: the Canadian experience. J Pediatr 2007;151:659–65 · Serinet MO, et al. Pediatrics 2009;123:1280–6</a:t>
            </a:r>
          </a:p>
        </p:txBody>
      </p:sp>
      <p:sp>
        <p:nvSpPr>
          <p:cNvPr id="12" name="TextBox 11"/>
          <p:cNvSpPr txBox="1"/>
          <p:nvPr/>
        </p:nvSpPr>
        <p:spPr>
          <a:xfrm>
            <a:off x="548640" y="1965960"/>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Kasai ≤ 30 days</a:t>
            </a:r>
          </a:p>
        </p:txBody>
      </p:sp>
      <p:sp>
        <p:nvSpPr>
          <p:cNvPr id="13" name="Rectangle 12"/>
          <p:cNvSpPr/>
          <p:nvPr/>
        </p:nvSpPr>
        <p:spPr>
          <a:xfrm>
            <a:off x="3474720" y="2084831"/>
            <a:ext cx="3435095"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82968" y="1965960"/>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49%</a:t>
            </a:r>
          </a:p>
        </p:txBody>
      </p:sp>
      <p:sp>
        <p:nvSpPr>
          <p:cNvPr id="15" name="TextBox 14"/>
          <p:cNvSpPr txBox="1"/>
          <p:nvPr/>
        </p:nvSpPr>
        <p:spPr>
          <a:xfrm>
            <a:off x="548640" y="2532888"/>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31 to 90 days</a:t>
            </a:r>
          </a:p>
        </p:txBody>
      </p:sp>
      <p:sp>
        <p:nvSpPr>
          <p:cNvPr id="16" name="Rectangle 15"/>
          <p:cNvSpPr/>
          <p:nvPr/>
        </p:nvSpPr>
        <p:spPr>
          <a:xfrm>
            <a:off x="3474720" y="2651760"/>
            <a:ext cx="2523744"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71616" y="2532888"/>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36%</a:t>
            </a:r>
          </a:p>
        </p:txBody>
      </p:sp>
      <p:sp>
        <p:nvSpPr>
          <p:cNvPr id="18" name="TextBox 17"/>
          <p:cNvSpPr txBox="1"/>
          <p:nvPr/>
        </p:nvSpPr>
        <p:spPr>
          <a:xfrm>
            <a:off x="548640" y="3099815"/>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&gt; 90 days</a:t>
            </a:r>
          </a:p>
        </p:txBody>
      </p:sp>
      <p:sp>
        <p:nvSpPr>
          <p:cNvPr id="19" name="Rectangle 18"/>
          <p:cNvSpPr/>
          <p:nvPr/>
        </p:nvSpPr>
        <p:spPr>
          <a:xfrm>
            <a:off x="3474720" y="3218687"/>
            <a:ext cx="1612391"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60263" y="3099815"/>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23%</a:t>
            </a:r>
          </a:p>
        </p:txBody>
      </p:sp>
      <p:sp>
        <p:nvSpPr>
          <p:cNvPr id="21" name="TextBox 20"/>
          <p:cNvSpPr txBox="1"/>
          <p:nvPr/>
        </p:nvSpPr>
        <p:spPr>
          <a:xfrm>
            <a:off x="548640" y="3712463"/>
            <a:ext cx="7863840" cy="274320"/>
          </a:xfrm>
          <a:prstGeom prst="rect">
            <a:avLst/>
          </a:prstGeom>
          <a:noFill/>
        </p:spPr>
        <p:txBody>
          <a:bodyPr wrap="square" lIns="0" rIns="0" tIns="18288" bIns="18288" anchor="t">
            <a:spAutoFit/>
          </a:bodyPr>
          <a:lstStyle/>
          <a:p>
            <a:pPr algn="l"/>
            <a:r>
              <a:rPr sz="950" b="0">
                <a:solidFill>
                  <a:srgbClr val="7F7F7F"/>
                </a:solidFill>
                <a:latin typeface="Abadi"/>
              </a:rPr>
              <a:t>Bars: survival with native liver at 4 years.</a:t>
            </a:r>
          </a:p>
        </p:txBody>
      </p:sp>
      <p:sp>
        <p:nvSpPr>
          <p:cNvPr id="22" name="TextBox 21"/>
          <p:cNvSpPr txBox="1"/>
          <p:nvPr/>
        </p:nvSpPr>
        <p:spPr>
          <a:xfrm>
            <a:off x="548640" y="4023360"/>
            <a:ext cx="7955279" cy="178308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Read it as.  </a:t>
            </a:r>
            <a:r>
              <a:rPr sz="1200" b="0">
                <a:solidFill>
                  <a:srgbClr val="1A1A1A"/>
                </a:solidFill>
                <a:latin typeface="Abadi"/>
              </a:rPr>
              <a:t>The same shape appears in a different health system: the youngest group does best and the oldest still keeps one native liver in four or five.</a:t>
            </a:r>
          </a:p>
          <a:p>
            <a:pPr algn="l">
              <a:spcAft>
                <a:spcPts val="600"/>
              </a:spcAft>
            </a:pPr>
            <a:r>
              <a:rPr sz="1200" b="1">
                <a:solidFill>
                  <a:srgbClr val="1B355E"/>
                </a:solidFill>
                <a:latin typeface="Abadi"/>
              </a:rPr>
              <a:t>France 2009.  </a:t>
            </a:r>
            <a:r>
              <a:rPr sz="1200" b="0">
                <a:solidFill>
                  <a:srgbClr val="1A1A1A"/>
                </a:solidFill>
                <a:latin typeface="Abadi"/>
              </a:rPr>
              <a:t>Serinet followed 743 children: native-liver survival fell with each 15-day age band at 2, 5, 10 and 15 years of follow-up.</a:t>
            </a:r>
          </a:p>
        </p:txBody>
      </p:sp>
      <p:sp>
        <p:nvSpPr>
          <p:cNvPr id="23" name="TextBox 22"/>
          <p:cNvSpPr txBox="1"/>
          <p:nvPr/>
        </p:nvSpPr>
        <p:spPr>
          <a:xfrm>
            <a:off x="8778240" y="1783080"/>
            <a:ext cx="2834640" cy="3931920"/>
          </a:xfrm>
          <a:prstGeom prst="rect">
            <a:avLst/>
          </a:prstGeom>
          <a:noFill/>
        </p:spPr>
        <p:txBody>
          <a:bodyPr wrap="square" lIns="0" rIns="0" tIns="18288" bIns="18288" anchor="t">
            <a:spAutoFit/>
          </a:bodyPr>
          <a:lstStyle/>
          <a:p>
            <a:pPr algn="l">
              <a:spcAft>
                <a:spcPts val="400"/>
              </a:spcAft>
            </a:pPr>
            <a:r>
              <a:rPr sz="1500" b="1">
                <a:solidFill>
                  <a:srgbClr val="1B355E"/>
                </a:solidFill>
                <a:latin typeface="Abadi"/>
              </a:rPr>
              <a:t>Serinet 2009</a:t>
            </a:r>
          </a:p>
          <a:p>
            <a:pPr algn="l">
              <a:spcAft>
                <a:spcPts val="400"/>
              </a:spcAft>
            </a:pPr>
            <a:r>
              <a:rPr sz="1050" b="0">
                <a:solidFill>
                  <a:srgbClr val="555555"/>
                </a:solidFill>
                <a:latin typeface="Abadi"/>
              </a:rPr>
              <a:t>Native liver 57.1% at 2 years, 37.9% at 5, 32.4% at 10, 28.5% at 15 years; median age at Kasai 60 days.</a:t>
            </a:r>
          </a:p>
          <a:p>
            <a:pPr algn="l">
              <a:spcAft>
                <a:spcPts val="400"/>
              </a:spcAft>
            </a:pPr>
            <a:r>
              <a:rPr sz="1500" b="1">
                <a:solidFill>
                  <a:srgbClr val="1B355E"/>
                </a:solidFill>
                <a:latin typeface="Abadi"/>
              </a:rPr>
              <a:t>Avoidable</a:t>
            </a:r>
          </a:p>
          <a:p>
            <a:pPr algn="l">
              <a:spcAft>
                <a:spcPts val="400"/>
              </a:spcAft>
            </a:pPr>
            <a:r>
              <a:rPr sz="1050" b="0">
                <a:solidFill>
                  <a:srgbClr val="555555"/>
                </a:solidFill>
                <a:latin typeface="Abadi"/>
              </a:rPr>
              <a:t>Surgery for all before 46 days would spare an estimated 5.7% of French paediatric liver transplants each year.</a:t>
            </a:r>
          </a:p>
          <a:p>
            <a:pPr algn="l">
              <a:spcAft>
                <a:spcPts val="400"/>
              </a:spcAft>
            </a:pPr>
            <a:r>
              <a:rPr sz="1500" b="1">
                <a:solidFill>
                  <a:srgbClr val="1B355E"/>
                </a:solidFill>
                <a:latin typeface="Abadi"/>
              </a:rPr>
              <a:t>Caveat</a:t>
            </a:r>
          </a:p>
          <a:p>
            <a:pPr algn="l">
              <a:spcAft>
                <a:spcPts val="400"/>
              </a:spcAft>
            </a:pPr>
            <a:r>
              <a:rPr sz="1050" b="0">
                <a:solidFill>
                  <a:srgbClr val="555555"/>
                </a:solidFill>
                <a:latin typeface="Abadi"/>
              </a:rPr>
              <a:t>Observational; age partly marks access and disease type.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POOLED EVIDENCE</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CONSISTENT DIRECTION, MODEST SIZE</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Two meta-analyses of observational cohorts: the effect of age is real, but each band adds a little, not a lot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Hoshino E, et al. Eur J Pediatr 2023;182:2693–704 · Yang C, et al. Front Surg 2022;9:924506</a:t>
            </a:r>
          </a:p>
        </p:txBody>
      </p:sp>
      <p:sp>
        <p:nvSpPr>
          <p:cNvPr id="12" name="Rectangle 11"/>
          <p:cNvSpPr/>
          <p:nvPr/>
        </p:nvSpPr>
        <p:spPr>
          <a:xfrm>
            <a:off x="548640" y="1773936"/>
            <a:ext cx="2633472" cy="20116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7315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56816"/>
            <a:ext cx="2304288" cy="457200"/>
          </a:xfrm>
          <a:prstGeom prst="rect">
            <a:avLst/>
          </a:prstGeom>
          <a:noFill/>
        </p:spPr>
        <p:txBody>
          <a:bodyPr wrap="square" lIns="0" rIns="0" tIns="18288" bIns="18288" anchor="t">
            <a:spAutoFit/>
          </a:bodyPr>
          <a:lstStyle/>
          <a:p>
            <a:pPr algn="l"/>
            <a:r>
              <a:rPr sz="2000" b="1">
                <a:solidFill>
                  <a:srgbClr val="1E7A33"/>
                </a:solidFill>
                <a:latin typeface="Abadi"/>
              </a:rPr>
              <a:t>RR 1.22</a:t>
            </a:r>
          </a:p>
        </p:txBody>
      </p:sp>
      <p:sp>
        <p:nvSpPr>
          <p:cNvPr id="15" name="TextBox 14"/>
          <p:cNvSpPr txBox="1"/>
          <p:nvPr/>
        </p:nvSpPr>
        <p:spPr>
          <a:xfrm>
            <a:off x="713232" y="2487168"/>
            <a:ext cx="2304288" cy="1188720"/>
          </a:xfrm>
          <a:prstGeom prst="rect">
            <a:avLst/>
          </a:prstGeom>
          <a:noFill/>
        </p:spPr>
        <p:txBody>
          <a:bodyPr wrap="square" lIns="0" rIns="0" tIns="18288" bIns="18288" anchor="t">
            <a:spAutoFit/>
          </a:bodyPr>
          <a:lstStyle/>
          <a:p>
            <a:pPr algn="l"/>
            <a:r>
              <a:rPr sz="1050" b="0">
                <a:solidFill>
                  <a:srgbClr val="1A1A1A"/>
                </a:solidFill>
                <a:latin typeface="Abadi"/>
              </a:rPr>
              <a:t>Hoshino 2023 (9 studies): native-liver survival, Kasai ≤ 30 vs ≥ 31 days (95% CI 1.13–1.31).</a:t>
            </a:r>
          </a:p>
        </p:txBody>
      </p:sp>
      <p:sp>
        <p:nvSpPr>
          <p:cNvPr id="16" name="Rectangle 15"/>
          <p:cNvSpPr/>
          <p:nvPr/>
        </p:nvSpPr>
        <p:spPr>
          <a:xfrm>
            <a:off x="3364992" y="1773936"/>
            <a:ext cx="2633472"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731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1956816"/>
            <a:ext cx="2304288" cy="457200"/>
          </a:xfrm>
          <a:prstGeom prst="rect">
            <a:avLst/>
          </a:prstGeom>
          <a:noFill/>
        </p:spPr>
        <p:txBody>
          <a:bodyPr wrap="square" lIns="0" rIns="0" tIns="18288" bIns="18288" anchor="t">
            <a:spAutoFit/>
          </a:bodyPr>
          <a:lstStyle/>
          <a:p>
            <a:pPr algn="l"/>
            <a:r>
              <a:rPr sz="2000" b="1">
                <a:solidFill>
                  <a:srgbClr val="1B355E"/>
                </a:solidFill>
                <a:latin typeface="Abadi"/>
              </a:rPr>
              <a:t>RR 1.13</a:t>
            </a:r>
          </a:p>
        </p:txBody>
      </p:sp>
      <p:sp>
        <p:nvSpPr>
          <p:cNvPr id="19" name="TextBox 18"/>
          <p:cNvSpPr txBox="1"/>
          <p:nvPr/>
        </p:nvSpPr>
        <p:spPr>
          <a:xfrm>
            <a:off x="3529584" y="2487168"/>
            <a:ext cx="2304288" cy="1188720"/>
          </a:xfrm>
          <a:prstGeom prst="rect">
            <a:avLst/>
          </a:prstGeom>
          <a:noFill/>
        </p:spPr>
        <p:txBody>
          <a:bodyPr wrap="square" lIns="0" rIns="0" tIns="18288" bIns="18288" anchor="t">
            <a:spAutoFit/>
          </a:bodyPr>
          <a:lstStyle/>
          <a:p>
            <a:pPr algn="l"/>
            <a:r>
              <a:rPr sz="1050" b="0">
                <a:solidFill>
                  <a:srgbClr val="1A1A1A"/>
                </a:solidFill>
                <a:latin typeface="Abadi"/>
              </a:rPr>
              <a:t>Same analysis, ≤ 30 vs 31–60 days (1.04–1.22): even inside the usual target the first month helps.</a:t>
            </a:r>
          </a:p>
        </p:txBody>
      </p:sp>
      <p:sp>
        <p:nvSpPr>
          <p:cNvPr id="20" name="Rectangle 19"/>
          <p:cNvSpPr/>
          <p:nvPr/>
        </p:nvSpPr>
        <p:spPr>
          <a:xfrm>
            <a:off x="6181344" y="1773936"/>
            <a:ext cx="2633472" cy="20116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7315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56816"/>
            <a:ext cx="2304288" cy="457200"/>
          </a:xfrm>
          <a:prstGeom prst="rect">
            <a:avLst/>
          </a:prstGeom>
          <a:noFill/>
        </p:spPr>
        <p:txBody>
          <a:bodyPr wrap="square" lIns="0" rIns="0" tIns="18288" bIns="18288" anchor="t">
            <a:spAutoFit/>
          </a:bodyPr>
          <a:lstStyle/>
          <a:p>
            <a:pPr algn="l"/>
            <a:r>
              <a:rPr sz="2000" b="1">
                <a:solidFill>
                  <a:srgbClr val="B22222"/>
                </a:solidFill>
                <a:latin typeface="Abadi"/>
              </a:rPr>
              <a:t>HR 2.12</a:t>
            </a:r>
          </a:p>
        </p:txBody>
      </p:sp>
      <p:sp>
        <p:nvSpPr>
          <p:cNvPr id="23" name="TextBox 22"/>
          <p:cNvSpPr txBox="1"/>
          <p:nvPr/>
        </p:nvSpPr>
        <p:spPr>
          <a:xfrm>
            <a:off x="6345936" y="2487168"/>
            <a:ext cx="2304288" cy="1188720"/>
          </a:xfrm>
          <a:prstGeom prst="rect">
            <a:avLst/>
          </a:prstGeom>
          <a:noFill/>
        </p:spPr>
        <p:txBody>
          <a:bodyPr wrap="square" lIns="0" rIns="0" tIns="18288" bIns="18288" anchor="t">
            <a:spAutoFit/>
          </a:bodyPr>
          <a:lstStyle/>
          <a:p>
            <a:pPr algn="l"/>
            <a:r>
              <a:rPr sz="1050" b="0">
                <a:solidFill>
                  <a:srgbClr val="1A1A1A"/>
                </a:solidFill>
                <a:latin typeface="Abadi"/>
              </a:rPr>
              <a:t>Later Kasai: faster progression to transplant (1.51–2.97).</a:t>
            </a:r>
          </a:p>
        </p:txBody>
      </p:sp>
      <p:sp>
        <p:nvSpPr>
          <p:cNvPr id="24" name="Rectangle 23"/>
          <p:cNvSpPr/>
          <p:nvPr/>
        </p:nvSpPr>
        <p:spPr>
          <a:xfrm>
            <a:off x="8997696" y="1773936"/>
            <a:ext cx="2633472"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7315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1956816"/>
            <a:ext cx="2304288" cy="457200"/>
          </a:xfrm>
          <a:prstGeom prst="rect">
            <a:avLst/>
          </a:prstGeom>
          <a:noFill/>
        </p:spPr>
        <p:txBody>
          <a:bodyPr wrap="square" lIns="0" rIns="0" tIns="18288" bIns="18288" anchor="t">
            <a:spAutoFit/>
          </a:bodyPr>
          <a:lstStyle/>
          <a:p>
            <a:pPr algn="l"/>
            <a:r>
              <a:rPr sz="2000" b="1">
                <a:solidFill>
                  <a:srgbClr val="D97A0B"/>
                </a:solidFill>
                <a:latin typeface="Abadi"/>
              </a:rPr>
              <a:t>OR 1.41</a:t>
            </a:r>
          </a:p>
        </p:txBody>
      </p:sp>
      <p:sp>
        <p:nvSpPr>
          <p:cNvPr id="27" name="TextBox 26"/>
          <p:cNvSpPr txBox="1"/>
          <p:nvPr/>
        </p:nvSpPr>
        <p:spPr>
          <a:xfrm>
            <a:off x="9162288" y="2487168"/>
            <a:ext cx="2304288" cy="1188720"/>
          </a:xfrm>
          <a:prstGeom prst="rect">
            <a:avLst/>
          </a:prstGeom>
          <a:noFill/>
        </p:spPr>
        <p:txBody>
          <a:bodyPr wrap="square" lIns="0" rIns="0" tIns="18288" bIns="18288" anchor="t">
            <a:spAutoFit/>
          </a:bodyPr>
          <a:lstStyle/>
          <a:p>
            <a:pPr algn="l"/>
            <a:r>
              <a:rPr sz="1050" b="0">
                <a:solidFill>
                  <a:srgbClr val="1A1A1A"/>
                </a:solidFill>
                <a:latin typeface="Abadi"/>
              </a:rPr>
              <a:t>Yang 2022 (14 cohorts, 3,276): native-liver survival ≤ 60 vs 61–90 days (1.18–1.68).</a:t>
            </a:r>
          </a:p>
        </p:txBody>
      </p:sp>
      <p:sp>
        <p:nvSpPr>
          <p:cNvPr id="28" name="TextBox 27"/>
          <p:cNvSpPr txBox="1"/>
          <p:nvPr/>
        </p:nvSpPr>
        <p:spPr>
          <a:xfrm>
            <a:off x="548640" y="4023360"/>
            <a:ext cx="11082528" cy="178308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Interpretation.  </a:t>
            </a:r>
            <a:r>
              <a:rPr sz="1200" b="0">
                <a:solidFill>
                  <a:srgbClr val="1A1A1A"/>
                </a:solidFill>
                <a:latin typeface="Abadi"/>
              </a:rPr>
              <a:t>In Yang 2022, operating by 90 days roughly tripled the odds of jaundice clearance (OR 3.05) and raised native-liver survival (OR 1.72), but clearance did not differ between ≤ 60 and 61–90 days (OR 1.31, not significant). Age matters most at the extremes and accumulates quietly in between.</a:t>
            </a:r>
          </a:p>
          <a:p>
            <a:pPr algn="l">
              <a:spcAft>
                <a:spcPts val="600"/>
              </a:spcAft>
            </a:pPr>
            <a:r>
              <a:rPr sz="1200" b="1">
                <a:solidFill>
                  <a:srgbClr val="1B355E"/>
                </a:solidFill>
                <a:latin typeface="Abadi"/>
              </a:rPr>
              <a:t>Material point.  </a:t>
            </a:r>
            <a:r>
              <a:rPr sz="1200" b="0">
                <a:solidFill>
                  <a:srgbClr val="1A1A1A"/>
                </a:solidFill>
                <a:latin typeface="Abadi"/>
              </a:rPr>
              <a:t>No randomised trial will ever test delay; all data are cohorts with residual confounding, so the size of the effect, not its existence, is the uncertain part.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AGE IS A PROXY</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WHAT THE AGE AT SURGERY ALSO MEASURES</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Why age-outcome curves overstate and understate the effect of the clock at the same time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Davenport M, et al. J Pediatr Surg 2011;46:1689–94 · Superina R, et al. Ann Surg 2011;254:577–85 · Fanna 2019 · Hoshino 2023</a:t>
            </a:r>
          </a:p>
        </p:txBody>
      </p:sp>
      <p:sp>
        <p:nvSpPr>
          <p:cNvPr id="12" name="Rectangle 11"/>
          <p:cNvSpPr/>
          <p:nvPr/>
        </p:nvSpPr>
        <p:spPr>
          <a:xfrm>
            <a:off x="548640" y="1773936"/>
            <a:ext cx="2070201" cy="22402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0" rIns="0" tIns="18288" bIns="18288" anchor="t">
            <a:spAutoFit/>
          </a:bodyPr>
          <a:lstStyle/>
          <a:p>
            <a:pPr algn="l"/>
            <a:r>
              <a:rPr sz="1500" b="1">
                <a:solidFill>
                  <a:srgbClr val="1B355E"/>
                </a:solidFill>
                <a:latin typeface="Abadi"/>
              </a:rPr>
              <a:t>Phenotype</a:t>
            </a:r>
          </a:p>
        </p:txBody>
      </p:sp>
      <p:sp>
        <p:nvSpPr>
          <p:cNvPr id="15" name="TextBox 14"/>
          <p:cNvSpPr txBox="1"/>
          <p:nvPr/>
        </p:nvSpPr>
        <p:spPr>
          <a:xfrm>
            <a:off x="694944" y="2505456"/>
            <a:ext cx="1777593" cy="141732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Syndromic (splenic malformation) atresia: clearance 43% vs 57%</a:t>
            </a:r>
          </a:p>
          <a:p>
            <a:pPr algn="l">
              <a:spcAft>
                <a:spcPts val="300"/>
              </a:spcAft>
            </a:pPr>
            <a:r>
              <a:rPr sz="1100" b="0">
                <a:solidFill>
                  <a:srgbClr val="1A1A1A"/>
                </a:solidFill>
                <a:latin typeface="Abadi"/>
              </a:rPr>
              <a:t>▪  Cystic atresia presents early, does well</a:t>
            </a:r>
          </a:p>
        </p:txBody>
      </p:sp>
      <p:sp>
        <p:nvSpPr>
          <p:cNvPr id="16" name="Rectangle 15"/>
          <p:cNvSpPr/>
          <p:nvPr/>
        </p:nvSpPr>
        <p:spPr>
          <a:xfrm>
            <a:off x="2801721" y="1773936"/>
            <a:ext cx="2070201" cy="22402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0" rIns="0" tIns="18288" bIns="18288" anchor="t">
            <a:spAutoFit/>
          </a:bodyPr>
          <a:lstStyle/>
          <a:p>
            <a:pPr algn="l"/>
            <a:r>
              <a:rPr sz="1500" b="1">
                <a:solidFill>
                  <a:srgbClr val="1E7A33"/>
                </a:solidFill>
                <a:latin typeface="Abadi"/>
              </a:rPr>
              <a:t>Anatomy</a:t>
            </a:r>
          </a:p>
        </p:txBody>
      </p:sp>
      <p:sp>
        <p:nvSpPr>
          <p:cNvPr id="19" name="TextBox 18"/>
          <p:cNvSpPr txBox="1"/>
          <p:nvPr/>
        </p:nvSpPr>
        <p:spPr>
          <a:xfrm>
            <a:off x="2948025" y="2505456"/>
            <a:ext cx="1777593" cy="141732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Type 3 (porta) is the rule</a:t>
            </a:r>
          </a:p>
          <a:p>
            <a:pPr algn="l">
              <a:spcAft>
                <a:spcPts val="300"/>
              </a:spcAft>
            </a:pPr>
            <a:r>
              <a:rPr sz="1100" b="0">
                <a:solidFill>
                  <a:srgbClr val="1A1A1A"/>
                </a:solidFill>
                <a:latin typeface="Abadi"/>
              </a:rPr>
              <a:t>▪  Types 1–2 drain better at any age</a:t>
            </a:r>
          </a:p>
        </p:txBody>
      </p:sp>
      <p:sp>
        <p:nvSpPr>
          <p:cNvPr id="20" name="Rectangle 19"/>
          <p:cNvSpPr/>
          <p:nvPr/>
        </p:nvSpPr>
        <p:spPr>
          <a:xfrm>
            <a:off x="5054803" y="1773936"/>
            <a:ext cx="2070201" cy="22402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0" rIns="0" tIns="18288" bIns="18288" anchor="t">
            <a:spAutoFit/>
          </a:bodyPr>
          <a:lstStyle/>
          <a:p>
            <a:pPr algn="l"/>
            <a:r>
              <a:rPr sz="1500" b="1">
                <a:solidFill>
                  <a:srgbClr val="D97A0B"/>
                </a:solidFill>
                <a:latin typeface="Abadi"/>
              </a:rPr>
              <a:t>Centre</a:t>
            </a:r>
          </a:p>
        </p:txBody>
      </p:sp>
      <p:sp>
        <p:nvSpPr>
          <p:cNvPr id="23" name="TextBox 22"/>
          <p:cNvSpPr txBox="1"/>
          <p:nvPr/>
        </p:nvSpPr>
        <p:spPr>
          <a:xfrm>
            <a:off x="5201107" y="2505456"/>
            <a:ext cx="1777593" cy="141732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Surgeon volume shifts the whole curve</a:t>
            </a:r>
          </a:p>
          <a:p>
            <a:pPr algn="l">
              <a:spcAft>
                <a:spcPts val="300"/>
              </a:spcAft>
            </a:pPr>
            <a:r>
              <a:rPr sz="1100" b="0">
                <a:solidFill>
                  <a:srgbClr val="1A1A1A"/>
                </a:solidFill>
                <a:latin typeface="Abadi"/>
              </a:rPr>
              <a:t>▪  Post-operative care matters</a:t>
            </a:r>
          </a:p>
        </p:txBody>
      </p:sp>
      <p:sp>
        <p:nvSpPr>
          <p:cNvPr id="24" name="Rectangle 23"/>
          <p:cNvSpPr/>
          <p:nvPr/>
        </p:nvSpPr>
        <p:spPr>
          <a:xfrm>
            <a:off x="7307884" y="1773936"/>
            <a:ext cx="2070201" cy="22402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0" rIns="0" tIns="18288" bIns="18288" anchor="t">
            <a:spAutoFit/>
          </a:bodyPr>
          <a:lstStyle/>
          <a:p>
            <a:pPr algn="l"/>
            <a:r>
              <a:rPr sz="1500" b="1">
                <a:solidFill>
                  <a:srgbClr val="B22222"/>
                </a:solidFill>
                <a:latin typeface="Abadi"/>
              </a:rPr>
              <a:t>Access</a:t>
            </a:r>
          </a:p>
        </p:txBody>
      </p:sp>
      <p:sp>
        <p:nvSpPr>
          <p:cNvPr id="27" name="TextBox 26"/>
          <p:cNvSpPr txBox="1"/>
          <p:nvPr/>
        </p:nvSpPr>
        <p:spPr>
          <a:xfrm>
            <a:off x="7454188" y="2505456"/>
            <a:ext cx="1777593" cy="141732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Late age marks late recognition</a:t>
            </a:r>
          </a:p>
          <a:p>
            <a:pPr algn="l">
              <a:spcAft>
                <a:spcPts val="300"/>
              </a:spcAft>
            </a:pPr>
            <a:r>
              <a:rPr sz="1100" b="0">
                <a:solidFill>
                  <a:srgbClr val="1A1A1A"/>
                </a:solidFill>
                <a:latin typeface="Abadi"/>
              </a:rPr>
              <a:t>▪  Ancestry and region change access</a:t>
            </a:r>
          </a:p>
        </p:txBody>
      </p:sp>
      <p:sp>
        <p:nvSpPr>
          <p:cNvPr id="28" name="Rectangle 27"/>
          <p:cNvSpPr/>
          <p:nvPr/>
        </p:nvSpPr>
        <p:spPr>
          <a:xfrm>
            <a:off x="9560966" y="1773936"/>
            <a:ext cx="2070201" cy="22402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0" rIns="0" tIns="18288" bIns="18288" anchor="t">
            <a:spAutoFit/>
          </a:bodyPr>
          <a:lstStyle/>
          <a:p>
            <a:pPr algn="l"/>
            <a:r>
              <a:rPr sz="1500" b="1">
                <a:solidFill>
                  <a:srgbClr val="8A939B"/>
                </a:solidFill>
                <a:latin typeface="Abadi"/>
              </a:rPr>
              <a:t>Severity</a:t>
            </a:r>
          </a:p>
        </p:txBody>
      </p:sp>
      <p:sp>
        <p:nvSpPr>
          <p:cNvPr id="31" name="TextBox 30"/>
          <p:cNvSpPr txBox="1"/>
          <p:nvPr/>
        </p:nvSpPr>
        <p:spPr>
          <a:xfrm>
            <a:off x="9707270" y="2505456"/>
            <a:ext cx="1777593" cy="141732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Fibrosis at Kasai varies at the same age</a:t>
            </a:r>
          </a:p>
          <a:p>
            <a:pPr algn="l">
              <a:spcAft>
                <a:spcPts val="300"/>
              </a:spcAft>
            </a:pPr>
            <a:r>
              <a:rPr sz="1100" b="0">
                <a:solidFill>
                  <a:srgbClr val="1A1A1A"/>
                </a:solidFill>
                <a:latin typeface="Abadi"/>
              </a:rPr>
              <a:t>▪  Some infants progress fast</a:t>
            </a:r>
          </a:p>
        </p:txBody>
      </p:sp>
      <p:sp>
        <p:nvSpPr>
          <p:cNvPr id="32" name="TextBox 31"/>
          <p:cNvSpPr txBox="1"/>
          <p:nvPr/>
        </p:nvSpPr>
        <p:spPr>
          <a:xfrm>
            <a:off x="548640" y="4206240"/>
            <a:ext cx="11082528" cy="1600200"/>
          </a:xfrm>
          <a:prstGeom prst="rect">
            <a:avLst/>
          </a:prstGeom>
          <a:noFill/>
        </p:spPr>
        <p:txBody>
          <a:bodyPr wrap="square" lIns="0" rIns="0" tIns="18288" bIns="18288" anchor="t">
            <a:spAutoFit/>
          </a:bodyPr>
          <a:lstStyle/>
          <a:p>
            <a:pPr algn="l">
              <a:spcAft>
                <a:spcPts val="600"/>
              </a:spcAft>
            </a:pPr>
            <a:r>
              <a:rPr sz="1250" b="1">
                <a:solidFill>
                  <a:srgbClr val="1B355E"/>
                </a:solidFill>
                <a:latin typeface="Abadi"/>
              </a:rPr>
              <a:t>Bottom line.  </a:t>
            </a:r>
            <a:r>
              <a:rPr sz="1250" b="0">
                <a:solidFill>
                  <a:srgbClr val="1A1A1A"/>
                </a:solidFill>
                <a:latin typeface="Abadi"/>
              </a:rPr>
              <a:t>Age is the only prognostic factor the system can change, and every cohort shows it pointing the same way. But two infants of 50 days can have very different livers; use age to set urgency, not to predict the individual outcome.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THE OLDER INFANT</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LATE IS NOT TOO LATE</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Most centres still offer a Kasai beyond 90 days; primary transplant is reserved for the decompensated liver</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Fanna 2019 · Schreiber 2007 · Zhan J, et al. World J Pediatr Surg 2018;1:e000002 · Hoshino 2023</a:t>
            </a:r>
          </a:p>
        </p:txBody>
      </p:sp>
      <p:sp>
        <p:nvSpPr>
          <p:cNvPr id="12" name="Rectangle 11"/>
          <p:cNvSpPr/>
          <p:nvPr/>
        </p:nvSpPr>
        <p:spPr>
          <a:xfrm>
            <a:off x="548640" y="1773936"/>
            <a:ext cx="2194560" cy="16002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194560" cy="7315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56816"/>
            <a:ext cx="1865376" cy="457200"/>
          </a:xfrm>
          <a:prstGeom prst="rect">
            <a:avLst/>
          </a:prstGeom>
          <a:noFill/>
        </p:spPr>
        <p:txBody>
          <a:bodyPr wrap="square" lIns="0" rIns="0" tIns="18288" bIns="18288" anchor="t">
            <a:spAutoFit/>
          </a:bodyPr>
          <a:lstStyle/>
          <a:p>
            <a:pPr algn="l"/>
            <a:r>
              <a:rPr sz="2000" b="1">
                <a:solidFill>
                  <a:srgbClr val="D97A0B"/>
                </a:solidFill>
                <a:latin typeface="Abadi"/>
              </a:rPr>
              <a:t>19%</a:t>
            </a:r>
          </a:p>
        </p:txBody>
      </p:sp>
      <p:sp>
        <p:nvSpPr>
          <p:cNvPr id="15" name="TextBox 14"/>
          <p:cNvSpPr txBox="1"/>
          <p:nvPr/>
        </p:nvSpPr>
        <p:spPr>
          <a:xfrm>
            <a:off x="713232" y="2487168"/>
            <a:ext cx="1865376" cy="777240"/>
          </a:xfrm>
          <a:prstGeom prst="rect">
            <a:avLst/>
          </a:prstGeom>
          <a:noFill/>
        </p:spPr>
        <p:txBody>
          <a:bodyPr wrap="square" lIns="0" rIns="0" tIns="18288" bIns="18288" anchor="t">
            <a:spAutoFit/>
          </a:bodyPr>
          <a:lstStyle/>
          <a:p>
            <a:pPr algn="l"/>
            <a:r>
              <a:rPr sz="1050" b="0">
                <a:solidFill>
                  <a:srgbClr val="1A1A1A"/>
                </a:solidFill>
                <a:latin typeface="Abadi"/>
              </a:rPr>
              <a:t>France: native liver at 25 years after a Kasai beyond 3 months.</a:t>
            </a:r>
          </a:p>
        </p:txBody>
      </p:sp>
      <p:sp>
        <p:nvSpPr>
          <p:cNvPr id="16" name="Rectangle 15"/>
          <p:cNvSpPr/>
          <p:nvPr/>
        </p:nvSpPr>
        <p:spPr>
          <a:xfrm>
            <a:off x="2926080" y="1773936"/>
            <a:ext cx="2194560" cy="16002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26080" y="1773936"/>
            <a:ext cx="2194560" cy="7315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90672" y="1956816"/>
            <a:ext cx="1865376" cy="457200"/>
          </a:xfrm>
          <a:prstGeom prst="rect">
            <a:avLst/>
          </a:prstGeom>
          <a:noFill/>
        </p:spPr>
        <p:txBody>
          <a:bodyPr wrap="square" lIns="0" rIns="0" tIns="18288" bIns="18288" anchor="t">
            <a:spAutoFit/>
          </a:bodyPr>
          <a:lstStyle/>
          <a:p>
            <a:pPr algn="l"/>
            <a:r>
              <a:rPr sz="2000" b="1">
                <a:solidFill>
                  <a:srgbClr val="B22222"/>
                </a:solidFill>
                <a:latin typeface="Abadi"/>
              </a:rPr>
              <a:t>23%</a:t>
            </a:r>
          </a:p>
        </p:txBody>
      </p:sp>
      <p:sp>
        <p:nvSpPr>
          <p:cNvPr id="19" name="TextBox 18"/>
          <p:cNvSpPr txBox="1"/>
          <p:nvPr/>
        </p:nvSpPr>
        <p:spPr>
          <a:xfrm>
            <a:off x="3090672" y="2487168"/>
            <a:ext cx="1865376" cy="777240"/>
          </a:xfrm>
          <a:prstGeom prst="rect">
            <a:avLst/>
          </a:prstGeom>
          <a:noFill/>
        </p:spPr>
        <p:txBody>
          <a:bodyPr wrap="square" lIns="0" rIns="0" tIns="18288" bIns="18288" anchor="t">
            <a:spAutoFit/>
          </a:bodyPr>
          <a:lstStyle/>
          <a:p>
            <a:pPr algn="l"/>
            <a:r>
              <a:rPr sz="1050" b="0">
                <a:solidFill>
                  <a:srgbClr val="1A1A1A"/>
                </a:solidFill>
                <a:latin typeface="Abadi"/>
              </a:rPr>
              <a:t>Canada: native liver at 4 years after a Kasai beyond 90 days.</a:t>
            </a:r>
          </a:p>
        </p:txBody>
      </p:sp>
      <p:sp>
        <p:nvSpPr>
          <p:cNvPr id="20" name="Rectangle 19"/>
          <p:cNvSpPr/>
          <p:nvPr/>
        </p:nvSpPr>
        <p:spPr>
          <a:xfrm>
            <a:off x="5303520" y="1773936"/>
            <a:ext cx="2194560" cy="16002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303520" y="1773936"/>
            <a:ext cx="2194560" cy="731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68112" y="1956816"/>
            <a:ext cx="1865376" cy="457200"/>
          </a:xfrm>
          <a:prstGeom prst="rect">
            <a:avLst/>
          </a:prstGeom>
          <a:noFill/>
        </p:spPr>
        <p:txBody>
          <a:bodyPr wrap="square" lIns="0" rIns="0" tIns="18288" bIns="18288" anchor="t">
            <a:spAutoFit/>
          </a:bodyPr>
          <a:lstStyle/>
          <a:p>
            <a:pPr algn="l"/>
            <a:r>
              <a:rPr sz="2000" b="1">
                <a:solidFill>
                  <a:srgbClr val="1B355E"/>
                </a:solidFill>
                <a:latin typeface="Abadi"/>
              </a:rPr>
              <a:t>HR 2.12</a:t>
            </a:r>
          </a:p>
        </p:txBody>
      </p:sp>
      <p:sp>
        <p:nvSpPr>
          <p:cNvPr id="23" name="TextBox 22"/>
          <p:cNvSpPr txBox="1"/>
          <p:nvPr/>
        </p:nvSpPr>
        <p:spPr>
          <a:xfrm>
            <a:off x="5468112" y="2487168"/>
            <a:ext cx="1865376" cy="777240"/>
          </a:xfrm>
          <a:prstGeom prst="rect">
            <a:avLst/>
          </a:prstGeom>
          <a:noFill/>
        </p:spPr>
        <p:txBody>
          <a:bodyPr wrap="square" lIns="0" rIns="0" tIns="18288" bIns="18288" anchor="t">
            <a:spAutoFit/>
          </a:bodyPr>
          <a:lstStyle/>
          <a:p>
            <a:pPr algn="l"/>
            <a:r>
              <a:rPr sz="1050" b="0">
                <a:solidFill>
                  <a:srgbClr val="1A1A1A"/>
                </a:solidFill>
                <a:latin typeface="Abadi"/>
              </a:rPr>
              <a:t>Later Kasai shortens time to transplant, but the transplant is postponed, not avoided.</a:t>
            </a:r>
          </a:p>
        </p:txBody>
      </p:sp>
      <p:sp>
        <p:nvSpPr>
          <p:cNvPr id="24" name="Rectangle 23"/>
          <p:cNvSpPr/>
          <p:nvPr/>
        </p:nvSpPr>
        <p:spPr>
          <a:xfrm>
            <a:off x="548640" y="3566160"/>
            <a:ext cx="3383279" cy="219456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66160"/>
            <a:ext cx="3383279"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3749039"/>
            <a:ext cx="3090672" cy="502920"/>
          </a:xfrm>
          <a:prstGeom prst="rect">
            <a:avLst/>
          </a:prstGeom>
          <a:noFill/>
        </p:spPr>
        <p:txBody>
          <a:bodyPr wrap="square" lIns="0" rIns="0" tIns="18288" bIns="18288" anchor="t">
            <a:spAutoFit/>
          </a:bodyPr>
          <a:lstStyle/>
          <a:p>
            <a:pPr algn="l"/>
            <a:r>
              <a:rPr sz="1500" b="1">
                <a:solidFill>
                  <a:srgbClr val="1E7A33"/>
                </a:solidFill>
                <a:latin typeface="Abadi"/>
              </a:rPr>
              <a:t>Offer a Kasai</a:t>
            </a:r>
          </a:p>
        </p:txBody>
      </p:sp>
      <p:sp>
        <p:nvSpPr>
          <p:cNvPr id="27" name="TextBox 26"/>
          <p:cNvSpPr txBox="1"/>
          <p:nvPr/>
        </p:nvSpPr>
        <p:spPr>
          <a:xfrm>
            <a:off x="694944" y="4297679"/>
            <a:ext cx="3090672" cy="137160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No ascites, preserved synthesis</a:t>
            </a:r>
          </a:p>
          <a:p>
            <a:pPr algn="l">
              <a:spcAft>
                <a:spcPts val="300"/>
              </a:spcAft>
            </a:pPr>
            <a:r>
              <a:rPr sz="1100" b="0">
                <a:solidFill>
                  <a:srgbClr val="1A1A1A"/>
                </a:solidFill>
                <a:latin typeface="Abadi"/>
              </a:rPr>
              <a:t>▪  Gains growth before transplant</a:t>
            </a:r>
          </a:p>
        </p:txBody>
      </p:sp>
      <p:sp>
        <p:nvSpPr>
          <p:cNvPr id="28" name="Rectangle 27"/>
          <p:cNvSpPr/>
          <p:nvPr/>
        </p:nvSpPr>
        <p:spPr>
          <a:xfrm>
            <a:off x="4114800" y="3566160"/>
            <a:ext cx="3383279" cy="21945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0" y="3566160"/>
            <a:ext cx="3383279"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61104" y="3749039"/>
            <a:ext cx="3090672" cy="502920"/>
          </a:xfrm>
          <a:prstGeom prst="rect">
            <a:avLst/>
          </a:prstGeom>
          <a:noFill/>
        </p:spPr>
        <p:txBody>
          <a:bodyPr wrap="square" lIns="0" rIns="0" tIns="18288" bIns="18288" anchor="t">
            <a:spAutoFit/>
          </a:bodyPr>
          <a:lstStyle/>
          <a:p>
            <a:pPr algn="l"/>
            <a:r>
              <a:rPr sz="1500" b="1">
                <a:solidFill>
                  <a:srgbClr val="B22222"/>
                </a:solidFill>
                <a:latin typeface="Abadi"/>
              </a:rPr>
              <a:t>Consider transplant first</a:t>
            </a:r>
          </a:p>
        </p:txBody>
      </p:sp>
      <p:sp>
        <p:nvSpPr>
          <p:cNvPr id="31" name="TextBox 30"/>
          <p:cNvSpPr txBox="1"/>
          <p:nvPr/>
        </p:nvSpPr>
        <p:spPr>
          <a:xfrm>
            <a:off x="4261104" y="4297679"/>
            <a:ext cx="3090672" cy="137160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Ascites, coagulopathy not corrected by vitamin K</a:t>
            </a:r>
          </a:p>
          <a:p>
            <a:pPr algn="l">
              <a:spcAft>
                <a:spcPts val="300"/>
              </a:spcAft>
            </a:pPr>
            <a:r>
              <a:rPr sz="1100" b="0">
                <a:solidFill>
                  <a:srgbClr val="1A1A1A"/>
                </a:solidFill>
                <a:latin typeface="Abadi"/>
              </a:rPr>
              <a:t>▪  Established cirrhosis</a:t>
            </a:r>
          </a:p>
        </p:txBody>
      </p:sp>
      <p:sp>
        <p:nvSpPr>
          <p:cNvPr id="32" name="TextBox 31"/>
          <p:cNvSpPr txBox="1"/>
          <p:nvPr/>
        </p:nvSpPr>
        <p:spPr>
          <a:xfrm>
            <a:off x="7863840" y="1783080"/>
            <a:ext cx="3749039" cy="3931920"/>
          </a:xfrm>
          <a:prstGeom prst="rect">
            <a:avLst/>
          </a:prstGeom>
          <a:noFill/>
        </p:spPr>
        <p:txBody>
          <a:bodyPr wrap="square" lIns="0" rIns="0" tIns="18288" bIns="18288" anchor="t">
            <a:spAutoFit/>
          </a:bodyPr>
          <a:lstStyle/>
          <a:p>
            <a:pPr algn="l">
              <a:spcAft>
                <a:spcPts val="400"/>
              </a:spcAft>
            </a:pPr>
            <a:r>
              <a:rPr sz="1500" b="1">
                <a:solidFill>
                  <a:srgbClr val="1B355E"/>
                </a:solidFill>
                <a:latin typeface="Abadi"/>
              </a:rPr>
              <a:t>Why still operate</a:t>
            </a:r>
          </a:p>
          <a:p>
            <a:pPr algn="l">
              <a:spcAft>
                <a:spcPts val="400"/>
              </a:spcAft>
            </a:pPr>
            <a:r>
              <a:rPr sz="1050" b="0">
                <a:solidFill>
                  <a:srgbClr val="555555"/>
                </a:solidFill>
                <a:latin typeface="Abadi"/>
              </a:rPr>
              <a:t>A working Kasai lets a 4-month-old grow to a size and age where transplant is safer, with more donor options.</a:t>
            </a:r>
          </a:p>
          <a:p>
            <a:pPr algn="l">
              <a:spcAft>
                <a:spcPts val="400"/>
              </a:spcAft>
            </a:pPr>
            <a:r>
              <a:rPr sz="1500" b="1">
                <a:solidFill>
                  <a:srgbClr val="1B355E"/>
                </a:solidFill>
                <a:latin typeface="Abadi"/>
              </a:rPr>
              <a:t>How to decide</a:t>
            </a:r>
          </a:p>
          <a:p>
            <a:pPr algn="l">
              <a:spcAft>
                <a:spcPts val="400"/>
              </a:spcAft>
            </a:pPr>
            <a:r>
              <a:rPr sz="1050" b="0">
                <a:solidFill>
                  <a:srgbClr val="555555"/>
                </a:solidFill>
                <a:latin typeface="Abadi"/>
              </a:rPr>
              <a:t>Judge the liver, not the calendar: ultrasound, synthetic function, portal hypertension and biopsy fibrosis.</a:t>
            </a:r>
          </a:p>
          <a:p>
            <a:pPr algn="l">
              <a:spcAft>
                <a:spcPts val="400"/>
              </a:spcAft>
            </a:pPr>
            <a:r>
              <a:rPr sz="1500" b="1">
                <a:solidFill>
                  <a:srgbClr val="1B355E"/>
                </a:solidFill>
                <a:latin typeface="Abadi"/>
              </a:rPr>
              <a:t>Chinese review</a:t>
            </a:r>
          </a:p>
          <a:p>
            <a:pPr algn="l">
              <a:spcAft>
                <a:spcPts val="400"/>
              </a:spcAft>
            </a:pPr>
            <a:r>
              <a:rPr sz="1050" b="0">
                <a:solidFill>
                  <a:srgbClr val="555555"/>
                </a:solidFill>
                <a:latin typeface="Abadi"/>
              </a:rPr>
              <a:t>Kasai first unless advanced liver failure at presentation.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THE REAL-WORLD CLOCK</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WHERE AMERICAN INFANTS ARE OPERATED</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Age at the Kasai across 46 US children's hospitals, 470 infants, 2016–2019, days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Variability in age at Kasai portoenterostomy for biliary atresia across US children's hospitals. J Pediatr Surg 2021 (PHIS database) · AAP 2025</a:t>
            </a:r>
          </a:p>
        </p:txBody>
      </p:sp>
      <p:sp>
        <p:nvSpPr>
          <p:cNvPr id="12" name="TextBox 11"/>
          <p:cNvSpPr txBox="1"/>
          <p:nvPr/>
        </p:nvSpPr>
        <p:spPr>
          <a:xfrm>
            <a:off x="548640" y="1965960"/>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AAP 2025 target</a:t>
            </a:r>
          </a:p>
        </p:txBody>
      </p:sp>
      <p:sp>
        <p:nvSpPr>
          <p:cNvPr id="13" name="Rectangle 12"/>
          <p:cNvSpPr/>
          <p:nvPr/>
        </p:nvSpPr>
        <p:spPr>
          <a:xfrm>
            <a:off x="3474720" y="2084831"/>
            <a:ext cx="1402080" cy="3291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49952" y="1965960"/>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30 days</a:t>
            </a:r>
          </a:p>
        </p:txBody>
      </p:sp>
      <p:sp>
        <p:nvSpPr>
          <p:cNvPr id="15" name="TextBox 14"/>
          <p:cNvSpPr txBox="1"/>
          <p:nvPr/>
        </p:nvSpPr>
        <p:spPr>
          <a:xfrm>
            <a:off x="548640" y="2532888"/>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Fastest hospital (median)</a:t>
            </a:r>
          </a:p>
        </p:txBody>
      </p:sp>
      <p:sp>
        <p:nvSpPr>
          <p:cNvPr id="16" name="Rectangle 15"/>
          <p:cNvSpPr/>
          <p:nvPr/>
        </p:nvSpPr>
        <p:spPr>
          <a:xfrm>
            <a:off x="3474720" y="2651760"/>
            <a:ext cx="1775967"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23840" y="2532888"/>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38 days</a:t>
            </a:r>
          </a:p>
        </p:txBody>
      </p:sp>
      <p:sp>
        <p:nvSpPr>
          <p:cNvPr id="18" name="TextBox 17"/>
          <p:cNvSpPr txBox="1"/>
          <p:nvPr/>
        </p:nvSpPr>
        <p:spPr>
          <a:xfrm>
            <a:off x="548640" y="3099815"/>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All hospitals (median)</a:t>
            </a:r>
          </a:p>
        </p:txBody>
      </p:sp>
      <p:sp>
        <p:nvSpPr>
          <p:cNvPr id="19" name="Rectangle 18"/>
          <p:cNvSpPr/>
          <p:nvPr/>
        </p:nvSpPr>
        <p:spPr>
          <a:xfrm>
            <a:off x="3474720" y="3218687"/>
            <a:ext cx="2663952"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1824" y="3099815"/>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57 days</a:t>
            </a:r>
          </a:p>
        </p:txBody>
      </p:sp>
      <p:sp>
        <p:nvSpPr>
          <p:cNvPr id="21" name="TextBox 20"/>
          <p:cNvSpPr txBox="1"/>
          <p:nvPr/>
        </p:nvSpPr>
        <p:spPr>
          <a:xfrm>
            <a:off x="548640" y="3666744"/>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Slowest hospital (median)</a:t>
            </a:r>
          </a:p>
        </p:txBody>
      </p:sp>
      <p:sp>
        <p:nvSpPr>
          <p:cNvPr id="22" name="Rectangle 21"/>
          <p:cNvSpPr/>
          <p:nvPr/>
        </p:nvSpPr>
        <p:spPr>
          <a:xfrm>
            <a:off x="3474720" y="3785615"/>
            <a:ext cx="3551935"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99808" y="3666744"/>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76 days</a:t>
            </a:r>
          </a:p>
        </p:txBody>
      </p:sp>
      <p:sp>
        <p:nvSpPr>
          <p:cNvPr id="24" name="TextBox 23"/>
          <p:cNvSpPr txBox="1"/>
          <p:nvPr/>
        </p:nvSpPr>
        <p:spPr>
          <a:xfrm>
            <a:off x="548640" y="4279392"/>
            <a:ext cx="7863840" cy="274320"/>
          </a:xfrm>
          <a:prstGeom prst="rect">
            <a:avLst/>
          </a:prstGeom>
          <a:noFill/>
        </p:spPr>
        <p:txBody>
          <a:bodyPr wrap="square" lIns="0" rIns="0" tIns="18288" bIns="18288" anchor="t">
            <a:spAutoFit/>
          </a:bodyPr>
          <a:lstStyle/>
          <a:p>
            <a:pPr algn="l"/>
            <a:r>
              <a:rPr sz="950" b="0">
                <a:solidFill>
                  <a:srgbClr val="7F7F7F"/>
                </a:solidFill>
                <a:latin typeface="Abadi"/>
              </a:rPr>
              <a:t>Bars: median age at Kasai, days. Interquartile range overall 42–72 days.</a:t>
            </a:r>
          </a:p>
        </p:txBody>
      </p:sp>
      <p:sp>
        <p:nvSpPr>
          <p:cNvPr id="25" name="TextBox 24"/>
          <p:cNvSpPr txBox="1"/>
          <p:nvPr/>
        </p:nvSpPr>
        <p:spPr>
          <a:xfrm>
            <a:off x="548640" y="4434840"/>
            <a:ext cx="7955279" cy="1371600"/>
          </a:xfrm>
          <a:prstGeom prst="rect">
            <a:avLst/>
          </a:prstGeom>
          <a:noFill/>
        </p:spPr>
        <p:txBody>
          <a:bodyPr wrap="square" lIns="0" rIns="0" tIns="18288" bIns="18288" anchor="t">
            <a:spAutoFit/>
          </a:bodyPr>
          <a:lstStyle/>
          <a:p>
            <a:pPr algn="l">
              <a:spcAft>
                <a:spcPts val="600"/>
              </a:spcAft>
            </a:pPr>
            <a:r>
              <a:rPr sz="1250" b="1">
                <a:solidFill>
                  <a:srgbClr val="1B355E"/>
                </a:solidFill>
                <a:latin typeface="Abadi"/>
              </a:rPr>
              <a:t>Read it as.  </a:t>
            </a:r>
            <a:r>
              <a:rPr sz="1250" b="0">
                <a:solidFill>
                  <a:srgbClr val="1A1A1A"/>
                </a:solidFill>
                <a:latin typeface="Abadi"/>
              </a:rPr>
              <a:t>Almost half of American infants (212 of 470, 45.1%) had their Kasai at 60 days or later. A five-week spread between hospitals is a systems problem, not biology.</a:t>
            </a:r>
          </a:p>
        </p:txBody>
      </p:sp>
      <p:sp>
        <p:nvSpPr>
          <p:cNvPr id="26" name="TextBox 25"/>
          <p:cNvSpPr txBox="1"/>
          <p:nvPr/>
        </p:nvSpPr>
        <p:spPr>
          <a:xfrm>
            <a:off x="8778240" y="1783080"/>
            <a:ext cx="2834640" cy="3931920"/>
          </a:xfrm>
          <a:prstGeom prst="rect">
            <a:avLst/>
          </a:prstGeom>
          <a:noFill/>
        </p:spPr>
        <p:txBody>
          <a:bodyPr wrap="square" lIns="0" rIns="0" tIns="18288" bIns="18288" anchor="t">
            <a:spAutoFit/>
          </a:bodyPr>
          <a:lstStyle/>
          <a:p>
            <a:pPr algn="l">
              <a:spcAft>
                <a:spcPts val="400"/>
              </a:spcAft>
            </a:pPr>
            <a:r>
              <a:rPr sz="1500" b="1">
                <a:solidFill>
                  <a:srgbClr val="1B355E"/>
                </a:solidFill>
                <a:latin typeface="Abadi"/>
              </a:rPr>
              <a:t>Europe</a:t>
            </a:r>
          </a:p>
          <a:p>
            <a:pPr algn="l">
              <a:spcAft>
                <a:spcPts val="400"/>
              </a:spcAft>
            </a:pPr>
            <a:r>
              <a:rPr sz="1050" b="0">
                <a:solidFill>
                  <a:srgbClr val="555555"/>
                </a:solidFill>
                <a:latin typeface="Abadi"/>
              </a:rPr>
              <a:t>Median 61 days across 14 European referral centres, against a stated goal of the first 4 weeks.</a:t>
            </a:r>
          </a:p>
          <a:p>
            <a:pPr algn="l">
              <a:spcAft>
                <a:spcPts val="400"/>
              </a:spcAft>
            </a:pPr>
            <a:r>
              <a:rPr sz="1500" b="1">
                <a:solidFill>
                  <a:srgbClr val="1B355E"/>
                </a:solidFill>
                <a:latin typeface="Abadi"/>
              </a:rPr>
              <a:t>England</a:t>
            </a:r>
          </a:p>
          <a:p>
            <a:pPr algn="l">
              <a:spcAft>
                <a:spcPts val="400"/>
              </a:spcAft>
            </a:pPr>
            <a:r>
              <a:rPr sz="1050" b="0">
                <a:solidFill>
                  <a:srgbClr val="555555"/>
                </a:solidFill>
                <a:latin typeface="Abadi"/>
              </a:rPr>
              <a:t>Median 54 days after centralisation (1999–2009).</a:t>
            </a:r>
          </a:p>
          <a:p>
            <a:pPr algn="l">
              <a:spcAft>
                <a:spcPts val="400"/>
              </a:spcAft>
            </a:pPr>
            <a:r>
              <a:rPr sz="1500" b="1">
                <a:solidFill>
                  <a:srgbClr val="1B355E"/>
                </a:solidFill>
                <a:latin typeface="Abadi"/>
              </a:rPr>
              <a:t>France</a:t>
            </a:r>
          </a:p>
          <a:p>
            <a:pPr algn="l">
              <a:spcAft>
                <a:spcPts val="400"/>
              </a:spcAft>
            </a:pPr>
            <a:r>
              <a:rPr sz="1050" b="0">
                <a:solidFill>
                  <a:srgbClr val="555555"/>
                </a:solidFill>
                <a:latin typeface="Abadi"/>
              </a:rPr>
              <a:t>Median 59 days, unchanged for 30 years without screening.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STOOL COLOUR CARD SCREENING</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TAIWAN: A CARD CHANGED THE CURVE</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Outcomes before (1990–2000) and after (2002–2005) the national stool colour card programme,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Lien TH, et al. Effects of the infant stool color card screening program on 5-year outcome of biliary atresia in Taiwan. Hepatology 2011;53:202–8</a:t>
            </a:r>
          </a:p>
        </p:txBody>
      </p:sp>
      <p:sp>
        <p:nvSpPr>
          <p:cNvPr id="12" name="TextBox 11"/>
          <p:cNvSpPr txBox="1"/>
          <p:nvPr/>
        </p:nvSpPr>
        <p:spPr>
          <a:xfrm>
            <a:off x="548640" y="1828800"/>
            <a:ext cx="2926080" cy="603504"/>
          </a:xfrm>
          <a:prstGeom prst="rect">
            <a:avLst/>
          </a:prstGeom>
          <a:noFill/>
        </p:spPr>
        <p:txBody>
          <a:bodyPr wrap="square" lIns="0" rIns="0" tIns="18288" bIns="18288" anchor="ctr">
            <a:spAutoFit/>
          </a:bodyPr>
          <a:lstStyle/>
          <a:p>
            <a:pPr algn="l"/>
            <a:r>
              <a:rPr sz="1000" b="0">
                <a:solidFill>
                  <a:srgbClr val="1A1A1A"/>
                </a:solidFill>
                <a:latin typeface="Abadi"/>
              </a:rPr>
              <a:t>Kasai before 60 days</a:t>
            </a:r>
          </a:p>
        </p:txBody>
      </p:sp>
      <p:sp>
        <p:nvSpPr>
          <p:cNvPr id="13" name="Rectangle 12"/>
          <p:cNvSpPr/>
          <p:nvPr/>
        </p:nvSpPr>
        <p:spPr>
          <a:xfrm>
            <a:off x="3566160" y="1865376"/>
            <a:ext cx="1761683" cy="24688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82707" y="1828800"/>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before 49.4%</a:t>
            </a:r>
          </a:p>
        </p:txBody>
      </p:sp>
      <p:sp>
        <p:nvSpPr>
          <p:cNvPr id="15" name="Rectangle 14"/>
          <p:cNvSpPr/>
          <p:nvPr/>
        </p:nvSpPr>
        <p:spPr>
          <a:xfrm>
            <a:off x="3566160" y="2167128"/>
            <a:ext cx="2342967" cy="24688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63991" y="2130552"/>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after 65.7%</a:t>
            </a:r>
          </a:p>
        </p:txBody>
      </p:sp>
      <p:sp>
        <p:nvSpPr>
          <p:cNvPr id="17" name="TextBox 16"/>
          <p:cNvSpPr txBox="1"/>
          <p:nvPr/>
        </p:nvSpPr>
        <p:spPr>
          <a:xfrm>
            <a:off x="548640" y="2487168"/>
            <a:ext cx="2926080" cy="603504"/>
          </a:xfrm>
          <a:prstGeom prst="rect">
            <a:avLst/>
          </a:prstGeom>
          <a:noFill/>
        </p:spPr>
        <p:txBody>
          <a:bodyPr wrap="square" lIns="0" rIns="0" tIns="18288" bIns="18288" anchor="ctr">
            <a:spAutoFit/>
          </a:bodyPr>
          <a:lstStyle/>
          <a:p>
            <a:pPr algn="l"/>
            <a:r>
              <a:rPr sz="1000" b="0">
                <a:solidFill>
                  <a:srgbClr val="1A1A1A"/>
                </a:solidFill>
                <a:latin typeface="Abadi"/>
              </a:rPr>
              <a:t>Jaundice-free at 3 months</a:t>
            </a:r>
          </a:p>
        </p:txBody>
      </p:sp>
      <p:sp>
        <p:nvSpPr>
          <p:cNvPr id="18" name="Rectangle 17"/>
          <p:cNvSpPr/>
          <p:nvPr/>
        </p:nvSpPr>
        <p:spPr>
          <a:xfrm>
            <a:off x="3566160" y="2523744"/>
            <a:ext cx="1241023" cy="24688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62047" y="2487168"/>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before 34.8%</a:t>
            </a:r>
          </a:p>
        </p:txBody>
      </p:sp>
      <p:sp>
        <p:nvSpPr>
          <p:cNvPr id="20" name="Rectangle 19"/>
          <p:cNvSpPr/>
          <p:nvPr/>
        </p:nvSpPr>
        <p:spPr>
          <a:xfrm>
            <a:off x="3566160" y="2825496"/>
            <a:ext cx="2168225" cy="24688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89249" y="2788920"/>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after 60.8%</a:t>
            </a:r>
          </a:p>
        </p:txBody>
      </p:sp>
      <p:sp>
        <p:nvSpPr>
          <p:cNvPr id="22" name="TextBox 21"/>
          <p:cNvSpPr txBox="1"/>
          <p:nvPr/>
        </p:nvSpPr>
        <p:spPr>
          <a:xfrm>
            <a:off x="548640" y="3145536"/>
            <a:ext cx="2926080" cy="603504"/>
          </a:xfrm>
          <a:prstGeom prst="rect">
            <a:avLst/>
          </a:prstGeom>
          <a:noFill/>
        </p:spPr>
        <p:txBody>
          <a:bodyPr wrap="square" lIns="0" rIns="0" tIns="18288" bIns="18288" anchor="ctr">
            <a:spAutoFit/>
          </a:bodyPr>
          <a:lstStyle/>
          <a:p>
            <a:pPr algn="l"/>
            <a:r>
              <a:rPr sz="1000" b="0">
                <a:solidFill>
                  <a:srgbClr val="1A1A1A"/>
                </a:solidFill>
                <a:latin typeface="Abadi"/>
              </a:rPr>
              <a:t>Native liver, jaundice-free, 3 years</a:t>
            </a:r>
          </a:p>
        </p:txBody>
      </p:sp>
      <p:sp>
        <p:nvSpPr>
          <p:cNvPr id="23" name="Rectangle 22"/>
          <p:cNvSpPr/>
          <p:nvPr/>
        </p:nvSpPr>
        <p:spPr>
          <a:xfrm>
            <a:off x="3566160" y="3182112"/>
            <a:ext cx="1123340" cy="24688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44364" y="3145536"/>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before 31.5%</a:t>
            </a:r>
          </a:p>
        </p:txBody>
      </p:sp>
      <p:sp>
        <p:nvSpPr>
          <p:cNvPr id="25" name="Rectangle 24"/>
          <p:cNvSpPr/>
          <p:nvPr/>
        </p:nvSpPr>
        <p:spPr>
          <a:xfrm>
            <a:off x="3566160" y="3483864"/>
            <a:ext cx="2029145" cy="24688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650169" y="3447288"/>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after 56.9%</a:t>
            </a:r>
          </a:p>
        </p:txBody>
      </p:sp>
      <p:sp>
        <p:nvSpPr>
          <p:cNvPr id="27" name="TextBox 26"/>
          <p:cNvSpPr txBox="1"/>
          <p:nvPr/>
        </p:nvSpPr>
        <p:spPr>
          <a:xfrm>
            <a:off x="548640" y="3803904"/>
            <a:ext cx="2926080" cy="603504"/>
          </a:xfrm>
          <a:prstGeom prst="rect">
            <a:avLst/>
          </a:prstGeom>
          <a:noFill/>
        </p:spPr>
        <p:txBody>
          <a:bodyPr wrap="square" lIns="0" rIns="0" tIns="18288" bIns="18288" anchor="ctr">
            <a:spAutoFit/>
          </a:bodyPr>
          <a:lstStyle/>
          <a:p>
            <a:pPr algn="l"/>
            <a:r>
              <a:rPr sz="1000" b="0">
                <a:solidFill>
                  <a:srgbClr val="1A1A1A"/>
                </a:solidFill>
                <a:latin typeface="Abadi"/>
              </a:rPr>
              <a:t>Overall survival, 5 years</a:t>
            </a:r>
          </a:p>
        </p:txBody>
      </p:sp>
      <p:sp>
        <p:nvSpPr>
          <p:cNvPr id="28" name="Rectangle 27"/>
          <p:cNvSpPr/>
          <p:nvPr/>
        </p:nvSpPr>
        <p:spPr>
          <a:xfrm>
            <a:off x="3566160" y="3840480"/>
            <a:ext cx="1986351" cy="24688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07375" y="3803904"/>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before 55.7%</a:t>
            </a:r>
          </a:p>
        </p:txBody>
      </p:sp>
      <p:sp>
        <p:nvSpPr>
          <p:cNvPr id="30" name="Rectangle 29"/>
          <p:cNvSpPr/>
          <p:nvPr/>
        </p:nvSpPr>
        <p:spPr>
          <a:xfrm>
            <a:off x="3566160" y="4142232"/>
            <a:ext cx="3184580" cy="246888"/>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05604" y="4105656"/>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after 89.3%</a:t>
            </a:r>
          </a:p>
        </p:txBody>
      </p:sp>
      <p:sp>
        <p:nvSpPr>
          <p:cNvPr id="32" name="TextBox 31"/>
          <p:cNvSpPr txBox="1"/>
          <p:nvPr/>
        </p:nvSpPr>
        <p:spPr>
          <a:xfrm>
            <a:off x="548640" y="4572000"/>
            <a:ext cx="7955279" cy="123444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Read it as.  </a:t>
            </a:r>
            <a:r>
              <a:rPr sz="1200" b="0">
                <a:solidFill>
                  <a:srgbClr val="1A1A1A"/>
                </a:solidFill>
                <a:latin typeface="Abadi"/>
              </a:rPr>
              <a:t>The card moved more infants under 60 days and the whole downstream cascade followed: more clearance, more native livers, fewer deaths. Five-year jaundice-free native-liver survival rose from 27.3% to 64.3% in the first screened cohort.</a:t>
            </a:r>
          </a:p>
        </p:txBody>
      </p:sp>
      <p:sp>
        <p:nvSpPr>
          <p:cNvPr id="33" name="TextBox 32"/>
          <p:cNvSpPr txBox="1"/>
          <p:nvPr/>
        </p:nvSpPr>
        <p:spPr>
          <a:xfrm>
            <a:off x="8778240" y="1783080"/>
            <a:ext cx="2834640" cy="3931920"/>
          </a:xfrm>
          <a:prstGeom prst="rect">
            <a:avLst/>
          </a:prstGeom>
          <a:noFill/>
        </p:spPr>
        <p:txBody>
          <a:bodyPr wrap="square" lIns="0" rIns="0" tIns="18288" bIns="18288" anchor="t">
            <a:spAutoFit/>
          </a:bodyPr>
          <a:lstStyle/>
          <a:p>
            <a:pPr algn="l">
              <a:spcAft>
                <a:spcPts val="400"/>
              </a:spcAft>
            </a:pPr>
            <a:r>
              <a:rPr sz="1500" b="1">
                <a:solidFill>
                  <a:srgbClr val="1B355E"/>
                </a:solidFill>
                <a:latin typeface="Abadi"/>
              </a:rPr>
              <a:t>How it works</a:t>
            </a:r>
          </a:p>
          <a:p>
            <a:pPr algn="l">
              <a:spcAft>
                <a:spcPts val="400"/>
              </a:spcAft>
            </a:pPr>
            <a:r>
              <a:rPr sz="1050" b="0">
                <a:solidFill>
                  <a:srgbClr val="555555"/>
                </a:solidFill>
                <a:latin typeface="Abadi"/>
              </a:rPr>
              <a:t>A card with numbered stool photographs in the child health booklet; parents call if stools match the pale images.</a:t>
            </a:r>
          </a:p>
          <a:p>
            <a:pPr algn="l">
              <a:spcAft>
                <a:spcPts val="400"/>
              </a:spcAft>
            </a:pPr>
            <a:r>
              <a:rPr sz="1500" b="1">
                <a:solidFill>
                  <a:srgbClr val="1B355E"/>
                </a:solidFill>
                <a:latin typeface="Abadi"/>
              </a:rPr>
              <a:t>Cohorts</a:t>
            </a:r>
          </a:p>
          <a:p>
            <a:pPr algn="l">
              <a:spcAft>
                <a:spcPts val="400"/>
              </a:spcAft>
            </a:pPr>
            <a:r>
              <a:rPr sz="1050" b="0">
                <a:solidFill>
                  <a:srgbClr val="555555"/>
                </a:solidFill>
                <a:latin typeface="Abadi"/>
              </a:rPr>
              <a:t>89 infants before, 28 regional and 74 universal screening.</a:t>
            </a:r>
          </a:p>
          <a:p>
            <a:pPr algn="l">
              <a:spcAft>
                <a:spcPts val="400"/>
              </a:spcAft>
            </a:pPr>
            <a:r>
              <a:rPr sz="1500" b="1">
                <a:solidFill>
                  <a:srgbClr val="1B355E"/>
                </a:solidFill>
                <a:latin typeface="Abadi"/>
              </a:rPr>
              <a:t>Caveat</a:t>
            </a:r>
          </a:p>
          <a:p>
            <a:pPr algn="l">
              <a:spcAft>
                <a:spcPts val="400"/>
              </a:spcAft>
            </a:pPr>
            <a:r>
              <a:rPr sz="1050" b="0">
                <a:solidFill>
                  <a:srgbClr val="555555"/>
                </a:solidFill>
                <a:latin typeface="Abadi"/>
              </a:rPr>
              <a:t>Before-after design; other care also improved.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NEWBORN BILIRUBIN SCREENING</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BLOOD FINDS THE INFANT BEFORE THE STOOL DOES</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Two-stage direct or conjugated bilirubin screening at 14 Texas hospitals, 124,385 newborns, 2015–2018</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Harpavat S, et al. Diagnostic yield of newborn screening for biliary atresia using direct or conjugated bilirubin measurements. JAMA 2020;323:1141–50</a:t>
            </a:r>
          </a:p>
        </p:txBody>
      </p:sp>
      <p:sp>
        <p:nvSpPr>
          <p:cNvPr id="12" name="Rectangle 11"/>
          <p:cNvSpPr/>
          <p:nvPr/>
        </p:nvSpPr>
        <p:spPr>
          <a:xfrm>
            <a:off x="548640" y="1773936"/>
            <a:ext cx="2551176" cy="17830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51176"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2368296" cy="274320"/>
          </a:xfrm>
          <a:prstGeom prst="rect">
            <a:avLst/>
          </a:prstGeom>
          <a:noFill/>
        </p:spPr>
        <p:txBody>
          <a:bodyPr wrap="square" lIns="0" rIns="0" tIns="18288" bIns="18288" anchor="ctr">
            <a:spAutoFit/>
          </a:bodyPr>
          <a:lstStyle/>
          <a:p>
            <a:pPr algn="l"/>
            <a:r>
              <a:rPr sz="1050" b="1">
                <a:solidFill>
                  <a:srgbClr val="FFFFFF"/>
                </a:solidFill>
                <a:latin typeface="Abadi"/>
              </a:rPr>
              <a:t>Stage 1 · &lt; 60 h</a:t>
            </a:r>
          </a:p>
        </p:txBody>
      </p:sp>
      <p:sp>
        <p:nvSpPr>
          <p:cNvPr id="15" name="TextBox 14"/>
          <p:cNvSpPr txBox="1"/>
          <p:nvPr/>
        </p:nvSpPr>
        <p:spPr>
          <a:xfrm>
            <a:off x="658368" y="2185416"/>
            <a:ext cx="2331720" cy="1325880"/>
          </a:xfrm>
          <a:prstGeom prst="rect">
            <a:avLst/>
          </a:prstGeom>
          <a:noFill/>
        </p:spPr>
        <p:txBody>
          <a:bodyPr wrap="square" lIns="0" rIns="0" tIns="18288" bIns="18288" anchor="t">
            <a:spAutoFit/>
          </a:bodyPr>
          <a:lstStyle/>
          <a:p>
            <a:pPr algn="l"/>
            <a:r>
              <a:rPr sz="1050" b="0">
                <a:solidFill>
                  <a:srgbClr val="1A1A1A"/>
                </a:solidFill>
                <a:latin typeface="Abadi"/>
              </a:rPr>
              <a:t>Direct or conjugated bilirubin with the routine newborn sample; positive above the laboratory reference.</a:t>
            </a:r>
          </a:p>
        </p:txBody>
      </p:sp>
      <p:sp>
        <p:nvSpPr>
          <p:cNvPr id="16" name="TextBox 15"/>
          <p:cNvSpPr txBox="1"/>
          <p:nvPr/>
        </p:nvSpPr>
        <p:spPr>
          <a:xfrm>
            <a:off x="3099816" y="2482596"/>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17" name="Rectangle 16"/>
          <p:cNvSpPr/>
          <p:nvPr/>
        </p:nvSpPr>
        <p:spPr>
          <a:xfrm>
            <a:off x="3392424" y="1773936"/>
            <a:ext cx="2551176" cy="17830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92424" y="1773936"/>
            <a:ext cx="2551176"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83864" y="1792224"/>
            <a:ext cx="2368296" cy="274320"/>
          </a:xfrm>
          <a:prstGeom prst="rect">
            <a:avLst/>
          </a:prstGeom>
          <a:noFill/>
        </p:spPr>
        <p:txBody>
          <a:bodyPr wrap="square" lIns="0" rIns="0" tIns="18288" bIns="18288" anchor="ctr">
            <a:spAutoFit/>
          </a:bodyPr>
          <a:lstStyle/>
          <a:p>
            <a:pPr algn="l"/>
            <a:r>
              <a:rPr sz="1050" b="1">
                <a:solidFill>
                  <a:srgbClr val="FFFFFF"/>
                </a:solidFill>
                <a:latin typeface="Abadi"/>
              </a:rPr>
              <a:t>Stage 2 · ≤ 2 weeks</a:t>
            </a:r>
          </a:p>
        </p:txBody>
      </p:sp>
      <p:sp>
        <p:nvSpPr>
          <p:cNvPr id="20" name="TextBox 19"/>
          <p:cNvSpPr txBox="1"/>
          <p:nvPr/>
        </p:nvSpPr>
        <p:spPr>
          <a:xfrm>
            <a:off x="3502152" y="2185416"/>
            <a:ext cx="2331720" cy="1325880"/>
          </a:xfrm>
          <a:prstGeom prst="rect">
            <a:avLst/>
          </a:prstGeom>
          <a:noFill/>
        </p:spPr>
        <p:txBody>
          <a:bodyPr wrap="square" lIns="0" rIns="0" tIns="18288" bIns="18288" anchor="t">
            <a:spAutoFit/>
          </a:bodyPr>
          <a:lstStyle/>
          <a:p>
            <a:pPr algn="l"/>
            <a:r>
              <a:rPr sz="1050" b="0">
                <a:solidFill>
                  <a:srgbClr val="1A1A1A"/>
                </a:solidFill>
                <a:latin typeface="Abadi"/>
              </a:rPr>
              <a:t>Repeat at the 2-week visit; positive if higher than before or above 1 mg/dL.</a:t>
            </a:r>
          </a:p>
        </p:txBody>
      </p:sp>
      <p:sp>
        <p:nvSpPr>
          <p:cNvPr id="21" name="TextBox 20"/>
          <p:cNvSpPr txBox="1"/>
          <p:nvPr/>
        </p:nvSpPr>
        <p:spPr>
          <a:xfrm>
            <a:off x="5943600" y="2482596"/>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22" name="Rectangle 21"/>
          <p:cNvSpPr/>
          <p:nvPr/>
        </p:nvSpPr>
        <p:spPr>
          <a:xfrm>
            <a:off x="6236207" y="1773936"/>
            <a:ext cx="2551176" cy="17830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7" y="1773936"/>
            <a:ext cx="2551176"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7647" y="1792224"/>
            <a:ext cx="2368296" cy="274320"/>
          </a:xfrm>
          <a:prstGeom prst="rect">
            <a:avLst/>
          </a:prstGeom>
          <a:noFill/>
        </p:spPr>
        <p:txBody>
          <a:bodyPr wrap="square" lIns="0" rIns="0" tIns="18288" bIns="18288" anchor="ctr">
            <a:spAutoFit/>
          </a:bodyPr>
          <a:lstStyle/>
          <a:p>
            <a:pPr algn="l"/>
            <a:r>
              <a:rPr sz="1050" b="1">
                <a:solidFill>
                  <a:srgbClr val="FFFFFF"/>
                </a:solidFill>
                <a:latin typeface="Abadi"/>
              </a:rPr>
              <a:t>Referral</a:t>
            </a:r>
          </a:p>
        </p:txBody>
      </p:sp>
      <p:sp>
        <p:nvSpPr>
          <p:cNvPr id="25" name="TextBox 24"/>
          <p:cNvSpPr txBox="1"/>
          <p:nvPr/>
        </p:nvSpPr>
        <p:spPr>
          <a:xfrm>
            <a:off x="6345936" y="2185416"/>
            <a:ext cx="2331720" cy="1325880"/>
          </a:xfrm>
          <a:prstGeom prst="rect">
            <a:avLst/>
          </a:prstGeom>
          <a:noFill/>
        </p:spPr>
        <p:txBody>
          <a:bodyPr wrap="square" lIns="0" rIns="0" tIns="18288" bIns="18288" anchor="t">
            <a:spAutoFit/>
          </a:bodyPr>
          <a:lstStyle/>
          <a:p>
            <a:pPr algn="l"/>
            <a:r>
              <a:rPr sz="1050" b="0">
                <a:solidFill>
                  <a:srgbClr val="1A1A1A"/>
                </a:solidFill>
                <a:latin typeface="Abadi"/>
              </a:rPr>
              <a:t>Positive infants go straight to hepatology work-up.</a:t>
            </a:r>
          </a:p>
        </p:txBody>
      </p:sp>
      <p:sp>
        <p:nvSpPr>
          <p:cNvPr id="26" name="TextBox 25"/>
          <p:cNvSpPr txBox="1"/>
          <p:nvPr/>
        </p:nvSpPr>
        <p:spPr>
          <a:xfrm>
            <a:off x="8787384" y="2482596"/>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27" name="Rectangle 26"/>
          <p:cNvSpPr/>
          <p:nvPr/>
        </p:nvSpPr>
        <p:spPr>
          <a:xfrm>
            <a:off x="9079992" y="1773936"/>
            <a:ext cx="2551176" cy="17830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79992" y="1773936"/>
            <a:ext cx="2551176"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71432" y="1792224"/>
            <a:ext cx="2368296" cy="274320"/>
          </a:xfrm>
          <a:prstGeom prst="rect">
            <a:avLst/>
          </a:prstGeom>
          <a:noFill/>
        </p:spPr>
        <p:txBody>
          <a:bodyPr wrap="square" lIns="0" rIns="0" tIns="18288" bIns="18288" anchor="ctr">
            <a:spAutoFit/>
          </a:bodyPr>
          <a:lstStyle/>
          <a:p>
            <a:pPr algn="l"/>
            <a:r>
              <a:rPr sz="1050" b="1">
                <a:solidFill>
                  <a:srgbClr val="FFFFFF"/>
                </a:solidFill>
                <a:latin typeface="Abadi"/>
              </a:rPr>
              <a:t>Result</a:t>
            </a:r>
          </a:p>
        </p:txBody>
      </p:sp>
      <p:sp>
        <p:nvSpPr>
          <p:cNvPr id="30" name="TextBox 29"/>
          <p:cNvSpPr txBox="1"/>
          <p:nvPr/>
        </p:nvSpPr>
        <p:spPr>
          <a:xfrm>
            <a:off x="9189719" y="2185416"/>
            <a:ext cx="2331720" cy="1325880"/>
          </a:xfrm>
          <a:prstGeom prst="rect">
            <a:avLst/>
          </a:prstGeom>
          <a:noFill/>
        </p:spPr>
        <p:txBody>
          <a:bodyPr wrap="square" lIns="0" rIns="0" tIns="18288" bIns="18288" anchor="t">
            <a:spAutoFit/>
          </a:bodyPr>
          <a:lstStyle/>
          <a:p>
            <a:pPr algn="l"/>
            <a:r>
              <a:rPr sz="1050" b="0">
                <a:solidFill>
                  <a:srgbClr val="1A1A1A"/>
                </a:solidFill>
                <a:latin typeface="Abadi"/>
              </a:rPr>
              <a:t>All 7 infants with atresia found; Kasai 19 days earlier.</a:t>
            </a:r>
          </a:p>
        </p:txBody>
      </p:sp>
      <p:sp>
        <p:nvSpPr>
          <p:cNvPr id="31" name="Rectangle 30"/>
          <p:cNvSpPr/>
          <p:nvPr/>
        </p:nvSpPr>
        <p:spPr>
          <a:xfrm>
            <a:off x="548640" y="3749039"/>
            <a:ext cx="2377439" cy="14630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3749039"/>
            <a:ext cx="2377439" cy="7315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3931920"/>
            <a:ext cx="2048255" cy="457200"/>
          </a:xfrm>
          <a:prstGeom prst="rect">
            <a:avLst/>
          </a:prstGeom>
          <a:noFill/>
        </p:spPr>
        <p:txBody>
          <a:bodyPr wrap="square" lIns="0" rIns="0" tIns="18288" bIns="18288" anchor="t">
            <a:spAutoFit/>
          </a:bodyPr>
          <a:lstStyle/>
          <a:p>
            <a:pPr algn="l"/>
            <a:r>
              <a:rPr sz="1800" b="1">
                <a:solidFill>
                  <a:srgbClr val="1E7A33"/>
                </a:solidFill>
                <a:latin typeface="Abadi"/>
              </a:rPr>
              <a:t>100%</a:t>
            </a:r>
          </a:p>
        </p:txBody>
      </p:sp>
      <p:sp>
        <p:nvSpPr>
          <p:cNvPr id="34" name="TextBox 33"/>
          <p:cNvSpPr txBox="1"/>
          <p:nvPr/>
        </p:nvSpPr>
        <p:spPr>
          <a:xfrm>
            <a:off x="713232" y="4462272"/>
            <a:ext cx="2048255" cy="640080"/>
          </a:xfrm>
          <a:prstGeom prst="rect">
            <a:avLst/>
          </a:prstGeom>
          <a:noFill/>
        </p:spPr>
        <p:txBody>
          <a:bodyPr wrap="square" lIns="0" rIns="0" tIns="18288" bIns="18288" anchor="t">
            <a:spAutoFit/>
          </a:bodyPr>
          <a:lstStyle/>
          <a:p>
            <a:pPr algn="l"/>
            <a:r>
              <a:rPr sz="1050" b="0">
                <a:solidFill>
                  <a:srgbClr val="1A1A1A"/>
                </a:solidFill>
                <a:latin typeface="Abadi"/>
              </a:rPr>
              <a:t>Sensitivity (95% CI 56.1–100): wide, only seven cases.</a:t>
            </a:r>
          </a:p>
        </p:txBody>
      </p:sp>
      <p:sp>
        <p:nvSpPr>
          <p:cNvPr id="35" name="Rectangle 34"/>
          <p:cNvSpPr/>
          <p:nvPr/>
        </p:nvSpPr>
        <p:spPr>
          <a:xfrm>
            <a:off x="3108960" y="3749039"/>
            <a:ext cx="2377439" cy="14630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108960" y="3749039"/>
            <a:ext cx="2377439" cy="731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273552" y="3931920"/>
            <a:ext cx="2048255" cy="457200"/>
          </a:xfrm>
          <a:prstGeom prst="rect">
            <a:avLst/>
          </a:prstGeom>
          <a:noFill/>
        </p:spPr>
        <p:txBody>
          <a:bodyPr wrap="square" lIns="0" rIns="0" tIns="18288" bIns="18288" anchor="t">
            <a:spAutoFit/>
          </a:bodyPr>
          <a:lstStyle/>
          <a:p>
            <a:pPr algn="l"/>
            <a:r>
              <a:rPr sz="1800" b="1">
                <a:solidFill>
                  <a:srgbClr val="1B355E"/>
                </a:solidFill>
                <a:latin typeface="Abadi"/>
              </a:rPr>
              <a:t>99.9%</a:t>
            </a:r>
          </a:p>
        </p:txBody>
      </p:sp>
      <p:sp>
        <p:nvSpPr>
          <p:cNvPr id="38" name="TextBox 37"/>
          <p:cNvSpPr txBox="1"/>
          <p:nvPr/>
        </p:nvSpPr>
        <p:spPr>
          <a:xfrm>
            <a:off x="3273552" y="4462272"/>
            <a:ext cx="2048255" cy="640080"/>
          </a:xfrm>
          <a:prstGeom prst="rect">
            <a:avLst/>
          </a:prstGeom>
          <a:noFill/>
        </p:spPr>
        <p:txBody>
          <a:bodyPr wrap="square" lIns="0" rIns="0" tIns="18288" bIns="18288" anchor="t">
            <a:spAutoFit/>
          </a:bodyPr>
          <a:lstStyle/>
          <a:p>
            <a:pPr algn="l"/>
            <a:r>
              <a:rPr sz="1050" b="0">
                <a:solidFill>
                  <a:srgbClr val="1A1A1A"/>
                </a:solidFill>
                <a:latin typeface="Abadi"/>
              </a:rPr>
              <a:t>Specificity; positive predictive value 5.9%.</a:t>
            </a:r>
          </a:p>
        </p:txBody>
      </p:sp>
      <p:sp>
        <p:nvSpPr>
          <p:cNvPr id="39" name="Rectangle 38"/>
          <p:cNvSpPr/>
          <p:nvPr/>
        </p:nvSpPr>
        <p:spPr>
          <a:xfrm>
            <a:off x="5669279" y="3749039"/>
            <a:ext cx="2377439" cy="14630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79" y="3749039"/>
            <a:ext cx="2377439" cy="7315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33871" y="3931920"/>
            <a:ext cx="2048255" cy="457200"/>
          </a:xfrm>
          <a:prstGeom prst="rect">
            <a:avLst/>
          </a:prstGeom>
          <a:noFill/>
        </p:spPr>
        <p:txBody>
          <a:bodyPr wrap="square" lIns="0" rIns="0" tIns="18288" bIns="18288" anchor="t">
            <a:spAutoFit/>
          </a:bodyPr>
          <a:lstStyle/>
          <a:p>
            <a:pPr algn="l"/>
            <a:r>
              <a:rPr sz="1800" b="1">
                <a:solidFill>
                  <a:srgbClr val="D97A0B"/>
                </a:solidFill>
                <a:latin typeface="Abadi"/>
              </a:rPr>
              <a:t>56 → 36</a:t>
            </a:r>
          </a:p>
        </p:txBody>
      </p:sp>
      <p:sp>
        <p:nvSpPr>
          <p:cNvPr id="42" name="TextBox 41"/>
          <p:cNvSpPr txBox="1"/>
          <p:nvPr/>
        </p:nvSpPr>
        <p:spPr>
          <a:xfrm>
            <a:off x="5833871" y="4462272"/>
            <a:ext cx="2048255" cy="640080"/>
          </a:xfrm>
          <a:prstGeom prst="rect">
            <a:avLst/>
          </a:prstGeom>
          <a:noFill/>
        </p:spPr>
        <p:txBody>
          <a:bodyPr wrap="square" lIns="0" rIns="0" tIns="18288" bIns="18288" anchor="t">
            <a:spAutoFit/>
          </a:bodyPr>
          <a:lstStyle/>
          <a:p>
            <a:pPr algn="l"/>
            <a:r>
              <a:rPr sz="1050" b="0">
                <a:solidFill>
                  <a:srgbClr val="1A1A1A"/>
                </a:solidFill>
                <a:latin typeface="Abadi"/>
              </a:rPr>
              <a:t>Mean age at Kasai in days, before vs after screening (P = .004).</a:t>
            </a:r>
          </a:p>
        </p:txBody>
      </p:sp>
      <p:sp>
        <p:nvSpPr>
          <p:cNvPr id="43" name="TextBox 42"/>
          <p:cNvSpPr txBox="1"/>
          <p:nvPr/>
        </p:nvSpPr>
        <p:spPr>
          <a:xfrm>
            <a:off x="8229600" y="3703320"/>
            <a:ext cx="3383280" cy="2103120"/>
          </a:xfrm>
          <a:prstGeom prst="rect">
            <a:avLst/>
          </a:prstGeom>
          <a:noFill/>
        </p:spPr>
        <p:txBody>
          <a:bodyPr wrap="square" lIns="0" rIns="0" tIns="18288" bIns="18288" anchor="t">
            <a:spAutoFit/>
          </a:bodyPr>
          <a:lstStyle/>
          <a:p>
            <a:pPr algn="l">
              <a:spcAft>
                <a:spcPts val="400"/>
              </a:spcAft>
            </a:pPr>
            <a:r>
              <a:rPr sz="1400" b="1">
                <a:solidFill>
                  <a:srgbClr val="1B355E"/>
                </a:solidFill>
                <a:latin typeface="Abadi"/>
              </a:rPr>
              <a:t>Why it works</a:t>
            </a:r>
          </a:p>
          <a:p>
            <a:pPr algn="l">
              <a:spcAft>
                <a:spcPts val="400"/>
              </a:spcAft>
            </a:pPr>
            <a:r>
              <a:rPr sz="1050" b="0">
                <a:solidFill>
                  <a:srgbClr val="555555"/>
                </a:solidFill>
                <a:latin typeface="Abadi"/>
              </a:rPr>
              <a:t>Direct bilirubin is high from the first days, before pale stools or visible jaundice.</a:t>
            </a:r>
          </a:p>
          <a:p>
            <a:pPr algn="l">
              <a:spcAft>
                <a:spcPts val="400"/>
              </a:spcAft>
            </a:pPr>
            <a:r>
              <a:rPr sz="1400" b="1">
                <a:solidFill>
                  <a:srgbClr val="1B355E"/>
                </a:solidFill>
                <a:latin typeface="Abadi"/>
              </a:rPr>
              <a:t>Cost of a positive</a:t>
            </a:r>
          </a:p>
          <a:p>
            <a:pPr algn="l">
              <a:spcAft>
                <a:spcPts val="400"/>
              </a:spcAft>
            </a:pPr>
            <a:r>
              <a:rPr sz="1050" b="0">
                <a:solidFill>
                  <a:srgbClr val="555555"/>
                </a:solidFill>
                <a:latin typeface="Abadi"/>
              </a:rPr>
              <a:t>About 16 false-positive infants recalled for every true case.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SCREENING STRATEGIES COMPARED</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CARD, BLOOD, OR NOTHING?</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Accuracy and effect on timing of the main population strategies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Hari Gopal S, et al. PLOS ONE 2024;19:e0307837 · Woolfson JP, et al. JPGN 2018;66:845–9 · Lien 2011 · Harpavat 2020 · UK NSC consultation 2026</a:t>
            </a:r>
          </a:p>
        </p:txBody>
      </p:sp>
      <p:graphicFrame>
        <p:nvGraphicFramePr>
          <p:cNvPr id="12" name="Table 11"/>
          <p:cNvGraphicFramePr>
            <a:graphicFrameLocks noGrp="1"/>
          </p:cNvGraphicFramePr>
          <p:nvPr/>
        </p:nvGraphicFramePr>
        <p:xfrm>
          <a:off x="548640" y="1783080"/>
          <a:ext cx="11082528" cy="3017520"/>
        </p:xfrm>
        <a:graphic>
          <a:graphicData uri="http://schemas.openxmlformats.org/drawingml/2006/table">
            <a:tbl>
              <a:tblPr firstRow="0" bandRow="0">
                <a:tableStyleId>{5940675A-B579-460E-94D1-54222C63F5DA}</a:tableStyleId>
              </a:tblPr>
              <a:tblGrid>
                <a:gridCol w="3291840"/>
                <a:gridCol w="1143000"/>
                <a:gridCol w="1143000"/>
                <a:gridCol w="2743200"/>
                <a:gridCol w="2761488"/>
              </a:tblGrid>
              <a:tr h="603504">
                <a:tc>
                  <a:txBody>
                    <a:bodyPr wrap="square"/>
                    <a:lstStyle/>
                    <a:p>
                      <a:r>
                        <a:rPr sz="1050" b="1">
                          <a:solidFill>
                            <a:srgbClr val="FFFFFF"/>
                          </a:solidFill>
                          <a:latin typeface="Abadi"/>
                        </a:rPr>
                        <a:t>Strategy</a:t>
                      </a:r>
                    </a:p>
                  </a:txBody>
                  <a:tcPr marL="73152" marR="73152" marT="27432" marB="27432" anchor="ctr">
                    <a:solidFill>
                      <a:srgbClr val="1B355E"/>
                    </a:solidFill>
                  </a:tcPr>
                </a:tc>
                <a:tc>
                  <a:txBody>
                    <a:bodyPr wrap="square"/>
                    <a:lstStyle/>
                    <a:p>
                      <a:r>
                        <a:rPr sz="1050" b="1">
                          <a:solidFill>
                            <a:srgbClr val="FFFFFF"/>
                          </a:solidFill>
                          <a:latin typeface="Abadi"/>
                        </a:rPr>
                        <a:t>Sensitivity</a:t>
                      </a:r>
                    </a:p>
                  </a:txBody>
                  <a:tcPr marL="73152" marR="73152" marT="27432" marB="27432" anchor="ctr">
                    <a:solidFill>
                      <a:srgbClr val="1B355E"/>
                    </a:solidFill>
                  </a:tcPr>
                </a:tc>
                <a:tc>
                  <a:txBody>
                    <a:bodyPr wrap="square"/>
                    <a:lstStyle/>
                    <a:p>
                      <a:r>
                        <a:rPr sz="1050" b="1">
                          <a:solidFill>
                            <a:srgbClr val="FFFFFF"/>
                          </a:solidFill>
                          <a:latin typeface="Abadi"/>
                        </a:rPr>
                        <a:t>Specificity</a:t>
                      </a:r>
                    </a:p>
                  </a:txBody>
                  <a:tcPr marL="73152" marR="73152" marT="27432" marB="27432" anchor="ctr">
                    <a:solidFill>
                      <a:srgbClr val="1B355E"/>
                    </a:solidFill>
                  </a:tcPr>
                </a:tc>
                <a:tc>
                  <a:txBody>
                    <a:bodyPr wrap="square"/>
                    <a:lstStyle/>
                    <a:p>
                      <a:r>
                        <a:rPr sz="1050" b="1">
                          <a:solidFill>
                            <a:srgbClr val="FFFFFF"/>
                          </a:solidFill>
                          <a:latin typeface="Abadi"/>
                        </a:rPr>
                        <a:t>Effect on timing</a:t>
                      </a:r>
                    </a:p>
                  </a:txBody>
                  <a:tcPr marL="73152" marR="73152" marT="27432" marB="27432" anchor="ctr">
                    <a:solidFill>
                      <a:srgbClr val="1B355E"/>
                    </a:solidFill>
                  </a:tcPr>
                </a:tc>
                <a:tc>
                  <a:txBody>
                    <a:bodyPr wrap="square"/>
                    <a:lstStyle/>
                    <a:p>
                      <a:r>
                        <a:rPr sz="1050" b="1">
                          <a:solidFill>
                            <a:srgbClr val="FFFFFF"/>
                          </a:solidFill>
                          <a:latin typeface="Abadi"/>
                        </a:rPr>
                        <a:t>Limits</a:t>
                      </a:r>
                    </a:p>
                  </a:txBody>
                  <a:tcPr marL="73152" marR="73152" marT="27432" marB="27432" anchor="ctr">
                    <a:solidFill>
                      <a:srgbClr val="1B355E"/>
                    </a:solidFill>
                  </a:tcPr>
                </a:tc>
              </a:tr>
              <a:tr h="603504">
                <a:tc>
                  <a:txBody>
                    <a:bodyPr wrap="square"/>
                    <a:lstStyle/>
                    <a:p>
                      <a:r>
                        <a:rPr sz="1000" b="1">
                          <a:solidFill>
                            <a:srgbClr val="1A1A1A"/>
                          </a:solidFill>
                          <a:latin typeface="Abadi"/>
                        </a:rPr>
                        <a:t>Stool colour card, pooled (7 studies, 996,262 infants)</a:t>
                      </a:r>
                    </a:p>
                  </a:txBody>
                  <a:tcPr marL="73152" marR="73152" marT="27432" marB="27432" anchor="ctr">
                    <a:solidFill>
                      <a:srgbClr val="FFFFFF"/>
                    </a:solidFill>
                  </a:tcPr>
                </a:tc>
                <a:tc>
                  <a:txBody>
                    <a:bodyPr wrap="square"/>
                    <a:lstStyle/>
                    <a:p>
                      <a:r>
                        <a:rPr sz="1000" b="0">
                          <a:solidFill>
                            <a:srgbClr val="1A1A1A"/>
                          </a:solidFill>
                          <a:latin typeface="Abadi"/>
                        </a:rPr>
                        <a:t>79.6%</a:t>
                      </a:r>
                    </a:p>
                  </a:txBody>
                  <a:tcPr marL="73152" marR="73152" marT="27432" marB="27432" anchor="ctr">
                    <a:solidFill>
                      <a:srgbClr val="FFFFFF"/>
                    </a:solidFill>
                  </a:tcPr>
                </a:tc>
                <a:tc>
                  <a:txBody>
                    <a:bodyPr wrap="square"/>
                    <a:lstStyle/>
                    <a:p>
                      <a:r>
                        <a:rPr sz="1000" b="0">
                          <a:solidFill>
                            <a:srgbClr val="1A1A1A"/>
                          </a:solidFill>
                          <a:latin typeface="Abadi"/>
                        </a:rPr>
                        <a:t>99.9%</a:t>
                      </a:r>
                    </a:p>
                  </a:txBody>
                  <a:tcPr marL="73152" marR="73152" marT="27432" marB="27432" anchor="ctr">
                    <a:solidFill>
                      <a:srgbClr val="FFFFFF"/>
                    </a:solidFill>
                  </a:tcPr>
                </a:tc>
                <a:tc>
                  <a:txBody>
                    <a:bodyPr wrap="square"/>
                    <a:lstStyle/>
                    <a:p>
                      <a:r>
                        <a:rPr sz="1000" b="0">
                          <a:solidFill>
                            <a:srgbClr val="1A1A1A"/>
                          </a:solidFill>
                          <a:latin typeface="Abadi"/>
                        </a:rPr>
                        <a:t>More Kasai before 60 days (Taiwan 49% → 66%)</a:t>
                      </a:r>
                    </a:p>
                  </a:txBody>
                  <a:tcPr marL="73152" marR="73152" marT="27432" marB="27432" anchor="ctr">
                    <a:solidFill>
                      <a:srgbClr val="FFFFFF"/>
                    </a:solidFill>
                  </a:tcPr>
                </a:tc>
                <a:tc>
                  <a:txBody>
                    <a:bodyPr wrap="square"/>
                    <a:lstStyle/>
                    <a:p>
                      <a:r>
                        <a:rPr sz="1000" b="0">
                          <a:solidFill>
                            <a:srgbClr val="1A1A1A"/>
                          </a:solidFill>
                          <a:latin typeface="Abadi"/>
                        </a:rPr>
                        <a:t>Relies on parents and a working call-back system</a:t>
                      </a:r>
                    </a:p>
                  </a:txBody>
                  <a:tcPr marL="73152" marR="73152" marT="27432" marB="27432" anchor="ctr">
                    <a:solidFill>
                      <a:srgbClr val="FFFFFF"/>
                    </a:solidFill>
                  </a:tcPr>
                </a:tc>
              </a:tr>
              <a:tr h="603504">
                <a:tc>
                  <a:txBody>
                    <a:bodyPr wrap="square"/>
                    <a:lstStyle/>
                    <a:p>
                      <a:r>
                        <a:rPr sz="1000" b="1">
                          <a:solidFill>
                            <a:srgbClr val="1A1A1A"/>
                          </a:solidFill>
                          <a:latin typeface="Abadi"/>
                        </a:rPr>
                        <a:t>Stool card, British Columbia (87,583 births)</a:t>
                      </a:r>
                    </a:p>
                  </a:txBody>
                  <a:tcPr marL="73152" marR="73152" marT="27432" marB="27432" anchor="ctr">
                    <a:solidFill>
                      <a:srgbClr val="F2F4F7"/>
                    </a:solidFill>
                  </a:tcPr>
                </a:tc>
                <a:tc>
                  <a:txBody>
                    <a:bodyPr wrap="square"/>
                    <a:lstStyle/>
                    <a:p>
                      <a:r>
                        <a:rPr sz="1000" b="0">
                          <a:solidFill>
                            <a:srgbClr val="1A1A1A"/>
                          </a:solidFill>
                          <a:latin typeface="Abadi"/>
                        </a:rPr>
                        <a:t>50%</a:t>
                      </a:r>
                    </a:p>
                  </a:txBody>
                  <a:tcPr marL="73152" marR="73152" marT="27432" marB="27432" anchor="ctr">
                    <a:solidFill>
                      <a:srgbClr val="F2F4F7"/>
                    </a:solidFill>
                  </a:tcPr>
                </a:tc>
                <a:tc>
                  <a:txBody>
                    <a:bodyPr wrap="square"/>
                    <a:lstStyle/>
                    <a:p>
                      <a:r>
                        <a:rPr sz="1000" b="0">
                          <a:solidFill>
                            <a:srgbClr val="1A1A1A"/>
                          </a:solidFill>
                          <a:latin typeface="Abadi"/>
                        </a:rPr>
                        <a:t>99%</a:t>
                      </a:r>
                    </a:p>
                  </a:txBody>
                  <a:tcPr marL="73152" marR="73152" marT="27432" marB="27432" anchor="ctr">
                    <a:solidFill>
                      <a:srgbClr val="F2F4F7"/>
                    </a:solidFill>
                  </a:tcPr>
                </a:tc>
                <a:tc>
                  <a:txBody>
                    <a:bodyPr wrap="square"/>
                    <a:lstStyle/>
                    <a:p>
                      <a:r>
                        <a:rPr sz="1000" b="0">
                          <a:solidFill>
                            <a:srgbClr val="1A1A1A"/>
                          </a:solidFill>
                          <a:latin typeface="Abadi"/>
                        </a:rPr>
                        <a:t>Median Kasai 49 days when it worked vs 116 when it failed</a:t>
                      </a:r>
                    </a:p>
                  </a:txBody>
                  <a:tcPr marL="73152" marR="73152" marT="27432" marB="27432" anchor="ctr">
                    <a:solidFill>
                      <a:srgbClr val="F2F4F7"/>
                    </a:solidFill>
                  </a:tcPr>
                </a:tc>
                <a:tc>
                  <a:txBody>
                    <a:bodyPr wrap="square"/>
                    <a:lstStyle/>
                    <a:p>
                      <a:r>
                        <a:rPr sz="1000" b="0">
                          <a:solidFill>
                            <a:srgbClr val="1A1A1A"/>
                          </a:solidFill>
                          <a:latin typeface="Abadi"/>
                        </a:rPr>
                        <a:t>Distribution 94%; $0.68 per birth</a:t>
                      </a:r>
                    </a:p>
                  </a:txBody>
                  <a:tcPr marL="73152" marR="73152" marT="27432" marB="27432" anchor="ctr">
                    <a:solidFill>
                      <a:srgbClr val="F2F4F7"/>
                    </a:solidFill>
                  </a:tcPr>
                </a:tc>
              </a:tr>
              <a:tr h="603504">
                <a:tc>
                  <a:txBody>
                    <a:bodyPr wrap="square"/>
                    <a:lstStyle/>
                    <a:p>
                      <a:r>
                        <a:rPr sz="1000" b="1">
                          <a:solidFill>
                            <a:srgbClr val="1A1A1A"/>
                          </a:solidFill>
                          <a:latin typeface="Abadi"/>
                        </a:rPr>
                        <a:t>Direct/conjugated bilirubin, pooled (5 studies, 662,141)</a:t>
                      </a:r>
                    </a:p>
                  </a:txBody>
                  <a:tcPr marL="73152" marR="73152" marT="27432" marB="27432" anchor="ctr">
                    <a:solidFill>
                      <a:srgbClr val="FFFFFF"/>
                    </a:solidFill>
                  </a:tcPr>
                </a:tc>
                <a:tc>
                  <a:txBody>
                    <a:bodyPr wrap="square"/>
                    <a:lstStyle/>
                    <a:p>
                      <a:r>
                        <a:rPr sz="1000" b="0">
                          <a:solidFill>
                            <a:srgbClr val="1A1A1A"/>
                          </a:solidFill>
                          <a:latin typeface="Abadi"/>
                        </a:rPr>
                        <a:t>100%</a:t>
                      </a:r>
                    </a:p>
                  </a:txBody>
                  <a:tcPr marL="73152" marR="73152" marT="27432" marB="27432" anchor="ctr">
                    <a:solidFill>
                      <a:srgbClr val="FFFFFF"/>
                    </a:solidFill>
                  </a:tcPr>
                </a:tc>
                <a:tc>
                  <a:txBody>
                    <a:bodyPr wrap="square"/>
                    <a:lstStyle/>
                    <a:p>
                      <a:r>
                        <a:rPr sz="1000" b="0">
                          <a:solidFill>
                            <a:srgbClr val="1A1A1A"/>
                          </a:solidFill>
                          <a:latin typeface="Abadi"/>
                        </a:rPr>
                        <a:t>98.8%</a:t>
                      </a:r>
                    </a:p>
                  </a:txBody>
                  <a:tcPr marL="73152" marR="73152" marT="27432" marB="27432" anchor="ctr">
                    <a:solidFill>
                      <a:srgbClr val="FFFFFF"/>
                    </a:solidFill>
                  </a:tcPr>
                </a:tc>
                <a:tc>
                  <a:txBody>
                    <a:bodyPr wrap="square"/>
                    <a:lstStyle/>
                    <a:p>
                      <a:r>
                        <a:rPr sz="1000" b="0">
                          <a:solidFill>
                            <a:srgbClr val="1A1A1A"/>
                          </a:solidFill>
                          <a:latin typeface="Abadi"/>
                        </a:rPr>
                        <a:t>Texas: mean Kasai 56 → 36 days</a:t>
                      </a:r>
                    </a:p>
                  </a:txBody>
                  <a:tcPr marL="73152" marR="73152" marT="27432" marB="27432" anchor="ctr">
                    <a:solidFill>
                      <a:srgbClr val="FFFFFF"/>
                    </a:solidFill>
                  </a:tcPr>
                </a:tc>
                <a:tc>
                  <a:txBody>
                    <a:bodyPr wrap="square"/>
                    <a:lstStyle/>
                    <a:p>
                      <a:r>
                        <a:rPr sz="1000" b="0">
                          <a:solidFill>
                            <a:srgbClr val="1A1A1A"/>
                          </a:solidFill>
                          <a:latin typeface="Abadi"/>
                        </a:rPr>
                        <a:t>Laboratory-specific cut-offs; repeat tests</a:t>
                      </a:r>
                    </a:p>
                  </a:txBody>
                  <a:tcPr marL="73152" marR="73152" marT="27432" marB="27432" anchor="ctr">
                    <a:solidFill>
                      <a:srgbClr val="FFFFFF"/>
                    </a:solidFill>
                  </a:tcPr>
                </a:tc>
              </a:tr>
              <a:tr h="603504">
                <a:tc>
                  <a:txBody>
                    <a:bodyPr wrap="square"/>
                    <a:lstStyle/>
                    <a:p>
                      <a:r>
                        <a:rPr sz="1000" b="1">
                          <a:solidFill>
                            <a:srgbClr val="1A1A1A"/>
                          </a:solidFill>
                          <a:latin typeface="Abadi"/>
                        </a:rPr>
                        <a:t>No universal screening (UK, most of USA, France)</a:t>
                      </a:r>
                    </a:p>
                  </a:txBody>
                  <a:tcPr marL="73152" marR="73152" marT="27432" marB="27432" anchor="ctr">
                    <a:solidFill>
                      <a:srgbClr val="F2F4F7"/>
                    </a:solidFill>
                  </a:tcPr>
                </a:tc>
                <a:tc>
                  <a:txBody>
                    <a:bodyPr wrap="square"/>
                    <a:lstStyle/>
                    <a:p>
                      <a:r>
                        <a:rPr sz="1000" b="0">
                          <a:solidFill>
                            <a:srgbClr val="1A1A1A"/>
                          </a:solidFill>
                          <a:latin typeface="Abadi"/>
                        </a:rPr>
                        <a:t>—</a:t>
                      </a:r>
                    </a:p>
                  </a:txBody>
                  <a:tcPr marL="73152" marR="73152" marT="27432" marB="27432" anchor="ctr">
                    <a:solidFill>
                      <a:srgbClr val="F2F4F7"/>
                    </a:solidFill>
                  </a:tcPr>
                </a:tc>
                <a:tc>
                  <a:txBody>
                    <a:bodyPr wrap="square"/>
                    <a:lstStyle/>
                    <a:p>
                      <a:r>
                        <a:rPr sz="1000" b="0">
                          <a:solidFill>
                            <a:srgbClr val="1A1A1A"/>
                          </a:solidFill>
                          <a:latin typeface="Abadi"/>
                        </a:rPr>
                        <a:t>—</a:t>
                      </a:r>
                    </a:p>
                  </a:txBody>
                  <a:tcPr marL="73152" marR="73152" marT="27432" marB="27432" anchor="ctr">
                    <a:solidFill>
                      <a:srgbClr val="F2F4F7"/>
                    </a:solidFill>
                  </a:tcPr>
                </a:tc>
                <a:tc>
                  <a:txBody>
                    <a:bodyPr wrap="square"/>
                    <a:lstStyle/>
                    <a:p>
                      <a:r>
                        <a:rPr sz="1000" b="0">
                          <a:solidFill>
                            <a:srgbClr val="1A1A1A"/>
                          </a:solidFill>
                          <a:latin typeface="Abadi"/>
                        </a:rPr>
                        <a:t>Median Kasai 54–61 days</a:t>
                      </a:r>
                    </a:p>
                  </a:txBody>
                  <a:tcPr marL="73152" marR="73152" marT="27432" marB="27432" anchor="ctr">
                    <a:solidFill>
                      <a:srgbClr val="F2F4F7"/>
                    </a:solidFill>
                  </a:tcPr>
                </a:tc>
                <a:tc>
                  <a:txBody>
                    <a:bodyPr wrap="square"/>
                    <a:lstStyle/>
                    <a:p>
                      <a:r>
                        <a:rPr sz="1000" b="0">
                          <a:solidFill>
                            <a:srgbClr val="1A1A1A"/>
                          </a:solidFill>
                          <a:latin typeface="Abadi"/>
                        </a:rPr>
                        <a:t>Depends on clinicians recognising jaundice</a:t>
                      </a:r>
                    </a:p>
                  </a:txBody>
                  <a:tcPr marL="73152" marR="73152" marT="27432" marB="27432" anchor="ctr">
                    <a:solidFill>
                      <a:srgbClr val="F2F4F7"/>
                    </a:solidFill>
                  </a:tcPr>
                </a:tc>
              </a:tr>
            </a:tbl>
          </a:graphicData>
        </a:graphic>
      </p:graphicFrame>
      <p:sp>
        <p:nvSpPr>
          <p:cNvPr id="13" name="TextBox 12"/>
          <p:cNvSpPr txBox="1"/>
          <p:nvPr/>
        </p:nvSpPr>
        <p:spPr>
          <a:xfrm>
            <a:off x="548640" y="4983480"/>
            <a:ext cx="11082528" cy="82296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Material point.  </a:t>
            </a:r>
            <a:r>
              <a:rPr sz="1200" b="0">
                <a:solidFill>
                  <a:srgbClr val="1A1A1A"/>
                </a:solidFill>
                <a:latin typeface="Abadi"/>
              </a:rPr>
              <a:t>Blood screening is more sensitive than cards and finds infants before pale stools appear; in 2026 the UK National Screening Committee still judged the evidence insufficient to recommend either.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CENTRE VOLUME</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VOLUME IS A TREATMENT</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Five-year outcomes by centre caseload, all 91 operated infants in the UK and Ireland, 1993–1995,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McKiernan PJ, Baker AJ, Kelly DA. The frequency and outcome of biliary atresia in the UK and Ireland. Lancet 2000;355:25–9</a:t>
            </a:r>
          </a:p>
        </p:txBody>
      </p:sp>
      <p:sp>
        <p:nvSpPr>
          <p:cNvPr id="12" name="TextBox 11"/>
          <p:cNvSpPr txBox="1"/>
          <p:nvPr/>
        </p:nvSpPr>
        <p:spPr>
          <a:xfrm>
            <a:off x="548640" y="1828800"/>
            <a:ext cx="2926080" cy="603504"/>
          </a:xfrm>
          <a:prstGeom prst="rect">
            <a:avLst/>
          </a:prstGeom>
          <a:noFill/>
        </p:spPr>
        <p:txBody>
          <a:bodyPr wrap="square" lIns="0" rIns="0" tIns="18288" bIns="18288" anchor="ctr">
            <a:spAutoFit/>
          </a:bodyPr>
          <a:lstStyle/>
          <a:p>
            <a:pPr algn="l"/>
            <a:r>
              <a:rPr sz="1000" b="0">
                <a:solidFill>
                  <a:srgbClr val="1A1A1A"/>
                </a:solidFill>
                <a:latin typeface="Abadi"/>
              </a:rPr>
              <a:t>Survival with native liver, 5 years</a:t>
            </a:r>
          </a:p>
        </p:txBody>
      </p:sp>
      <p:sp>
        <p:nvSpPr>
          <p:cNvPr id="13" name="Rectangle 12"/>
          <p:cNvSpPr/>
          <p:nvPr/>
        </p:nvSpPr>
        <p:spPr>
          <a:xfrm>
            <a:off x="3566160" y="1865376"/>
            <a:ext cx="2186056" cy="24688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07080" y="1828800"/>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&gt;5/yr 61.3%</a:t>
            </a:r>
          </a:p>
        </p:txBody>
      </p:sp>
      <p:sp>
        <p:nvSpPr>
          <p:cNvPr id="15" name="Rectangle 14"/>
          <p:cNvSpPr/>
          <p:nvPr/>
        </p:nvSpPr>
        <p:spPr>
          <a:xfrm>
            <a:off x="3566160" y="2167128"/>
            <a:ext cx="488563" cy="24688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09587" y="2130552"/>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&lt;5/yr 13.7%</a:t>
            </a:r>
          </a:p>
        </p:txBody>
      </p:sp>
      <p:sp>
        <p:nvSpPr>
          <p:cNvPr id="17" name="TextBox 16"/>
          <p:cNvSpPr txBox="1"/>
          <p:nvPr/>
        </p:nvSpPr>
        <p:spPr>
          <a:xfrm>
            <a:off x="548640" y="2487168"/>
            <a:ext cx="2926080" cy="603504"/>
          </a:xfrm>
          <a:prstGeom prst="rect">
            <a:avLst/>
          </a:prstGeom>
          <a:noFill/>
        </p:spPr>
        <p:txBody>
          <a:bodyPr wrap="square" lIns="0" rIns="0" tIns="18288" bIns="18288" anchor="ctr">
            <a:spAutoFit/>
          </a:bodyPr>
          <a:lstStyle/>
          <a:p>
            <a:pPr algn="l"/>
            <a:r>
              <a:rPr sz="1000" b="0">
                <a:solidFill>
                  <a:srgbClr val="1A1A1A"/>
                </a:solidFill>
                <a:latin typeface="Abadi"/>
              </a:rPr>
              <a:t>Overall survival, 5 years</a:t>
            </a:r>
          </a:p>
        </p:txBody>
      </p:sp>
      <p:sp>
        <p:nvSpPr>
          <p:cNvPr id="18" name="Rectangle 17"/>
          <p:cNvSpPr/>
          <p:nvPr/>
        </p:nvSpPr>
        <p:spPr>
          <a:xfrm>
            <a:off x="3566160" y="2523744"/>
            <a:ext cx="3252337" cy="246888"/>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73361" y="2487168"/>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&gt;5/yr 91.2%</a:t>
            </a:r>
          </a:p>
        </p:txBody>
      </p:sp>
      <p:sp>
        <p:nvSpPr>
          <p:cNvPr id="20" name="Rectangle 19"/>
          <p:cNvSpPr/>
          <p:nvPr/>
        </p:nvSpPr>
        <p:spPr>
          <a:xfrm>
            <a:off x="3566160" y="2825496"/>
            <a:ext cx="2674620" cy="24688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5643" y="2788920"/>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&lt;5/yr 75%</a:t>
            </a:r>
          </a:p>
        </p:txBody>
      </p:sp>
      <p:sp>
        <p:nvSpPr>
          <p:cNvPr id="22" name="TextBox 21"/>
          <p:cNvSpPr txBox="1"/>
          <p:nvPr/>
        </p:nvSpPr>
        <p:spPr>
          <a:xfrm>
            <a:off x="548640" y="3337560"/>
            <a:ext cx="7955279" cy="246888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Read it as.  </a:t>
            </a:r>
            <a:r>
              <a:rPr sz="1200" b="0">
                <a:solidFill>
                  <a:srgbClr val="1A1A1A"/>
                </a:solidFill>
                <a:latin typeface="Abadi"/>
              </a:rPr>
              <a:t>Fifteen surgical centres operated on 91 infants in two years. In centres doing more than five a year, three in five children kept their liver at five years; in the smaller centres, one in seven.</a:t>
            </a:r>
          </a:p>
          <a:p>
            <a:pPr algn="l">
              <a:spcAft>
                <a:spcPts val="600"/>
              </a:spcAft>
            </a:pPr>
            <a:r>
              <a:rPr sz="1200" b="1">
                <a:solidFill>
                  <a:srgbClr val="1B355E"/>
                </a:solidFill>
                <a:latin typeface="Abadi"/>
              </a:rPr>
              <a:t>The twist.  </a:t>
            </a:r>
            <a:r>
              <a:rPr sz="1200" b="0">
                <a:solidFill>
                  <a:srgbClr val="1A1A1A"/>
                </a:solidFill>
                <a:latin typeface="Abadi"/>
              </a:rPr>
              <a:t>Once centre size was accounted for, age at surgery no longer predicted survival in this series: in a fragmented system, the surgeon outweighed the calendar.</a:t>
            </a:r>
          </a:p>
        </p:txBody>
      </p:sp>
      <p:sp>
        <p:nvSpPr>
          <p:cNvPr id="23" name="TextBox 22"/>
          <p:cNvSpPr txBox="1"/>
          <p:nvPr/>
        </p:nvSpPr>
        <p:spPr>
          <a:xfrm>
            <a:off x="8778240" y="1783080"/>
            <a:ext cx="2834640" cy="3931920"/>
          </a:xfrm>
          <a:prstGeom prst="rect">
            <a:avLst/>
          </a:prstGeom>
          <a:noFill/>
        </p:spPr>
        <p:txBody>
          <a:bodyPr wrap="square" lIns="0" rIns="0" tIns="18288" bIns="18288" anchor="t">
            <a:spAutoFit/>
          </a:bodyPr>
          <a:lstStyle/>
          <a:p>
            <a:pPr algn="l">
              <a:spcAft>
                <a:spcPts val="400"/>
              </a:spcAft>
            </a:pPr>
            <a:r>
              <a:rPr sz="1500" b="1">
                <a:solidFill>
                  <a:srgbClr val="1B355E"/>
                </a:solidFill>
                <a:latin typeface="Abadi"/>
              </a:rPr>
              <a:t>Incidence</a:t>
            </a:r>
          </a:p>
          <a:p>
            <a:pPr algn="l">
              <a:spcAft>
                <a:spcPts val="400"/>
              </a:spcAft>
            </a:pPr>
            <a:r>
              <a:rPr sz="1050" b="0">
                <a:solidFill>
                  <a:srgbClr val="555555"/>
                </a:solidFill>
                <a:latin typeface="Abadi"/>
              </a:rPr>
              <a:t>1 in 16,700 live births.</a:t>
            </a:r>
          </a:p>
          <a:p>
            <a:pPr algn="l">
              <a:spcAft>
                <a:spcPts val="400"/>
              </a:spcAft>
            </a:pPr>
            <a:r>
              <a:rPr sz="1500" b="1">
                <a:solidFill>
                  <a:srgbClr val="1B355E"/>
                </a:solidFill>
                <a:latin typeface="Abadi"/>
              </a:rPr>
              <a:t>Clearance</a:t>
            </a:r>
          </a:p>
          <a:p>
            <a:pPr algn="l">
              <a:spcAft>
                <a:spcPts val="400"/>
              </a:spcAft>
            </a:pPr>
            <a:r>
              <a:rPr sz="1050" b="0">
                <a:solidFill>
                  <a:srgbClr val="555555"/>
                </a:solidFill>
                <a:latin typeface="Abadi"/>
              </a:rPr>
              <a:t>55% overall; odds ratio 2.02 favouring larger centres (not significant).</a:t>
            </a:r>
          </a:p>
          <a:p>
            <a:pPr algn="l">
              <a:spcAft>
                <a:spcPts val="400"/>
              </a:spcAft>
            </a:pPr>
            <a:r>
              <a:rPr sz="1500" b="1">
                <a:solidFill>
                  <a:srgbClr val="1B355E"/>
                </a:solidFill>
                <a:latin typeface="Abadi"/>
              </a:rPr>
              <a:t>Conclusion</a:t>
            </a:r>
          </a:p>
          <a:p>
            <a:pPr algn="l">
              <a:spcAft>
                <a:spcPts val="400"/>
              </a:spcAft>
            </a:pPr>
            <a:r>
              <a:rPr sz="1050" b="0">
                <a:solidFill>
                  <a:srgbClr val="555555"/>
                </a:solidFill>
                <a:latin typeface="Abadi"/>
              </a:rPr>
              <a:t>Manage biliary atresia in centres treating more than five cases a year.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CENTRALISATION IN ENGLAND AND WALES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THREE CENTRES, ONE NATIONAL BENCHMARK</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Since 1999 every suspected infant is sent to King's, Birmingham or Leeds, which perform both Kasai and transplant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Davenport M, et al. Lancet 2004;363:1354–7 · Davenport M, et al. J Pediatr Surg 2011;46:1689–94 · Madadi-Sanjani O, et al. World J Pediatr Surg 2025;8:e001025</a:t>
            </a:r>
          </a:p>
        </p:txBody>
      </p:sp>
      <p:sp>
        <p:nvSpPr>
          <p:cNvPr id="12" name="Rectangle 11"/>
          <p:cNvSpPr/>
          <p:nvPr/>
        </p:nvSpPr>
        <p:spPr>
          <a:xfrm>
            <a:off x="548640" y="1773936"/>
            <a:ext cx="2633472"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731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56816"/>
            <a:ext cx="2304288" cy="457200"/>
          </a:xfrm>
          <a:prstGeom prst="rect">
            <a:avLst/>
          </a:prstGeom>
          <a:noFill/>
        </p:spPr>
        <p:txBody>
          <a:bodyPr wrap="square" lIns="0" rIns="0" tIns="18288" bIns="18288" anchor="t">
            <a:spAutoFit/>
          </a:bodyPr>
          <a:lstStyle/>
          <a:p>
            <a:pPr algn="l"/>
            <a:r>
              <a:rPr sz="2000" b="1">
                <a:solidFill>
                  <a:srgbClr val="1B355E"/>
                </a:solidFill>
                <a:latin typeface="Abadi"/>
              </a:rPr>
              <a:t>51%</a:t>
            </a:r>
          </a:p>
        </p:txBody>
      </p:sp>
      <p:sp>
        <p:nvSpPr>
          <p:cNvPr id="15" name="TextBox 14"/>
          <p:cNvSpPr txBox="1"/>
          <p:nvPr/>
        </p:nvSpPr>
        <p:spPr>
          <a:xfrm>
            <a:off x="713232" y="2487168"/>
            <a:ext cx="2304288" cy="1188720"/>
          </a:xfrm>
          <a:prstGeom prst="rect">
            <a:avLst/>
          </a:prstGeom>
          <a:noFill/>
        </p:spPr>
        <p:txBody>
          <a:bodyPr wrap="square" lIns="0" rIns="0" tIns="18288" bIns="18288" anchor="t">
            <a:spAutoFit/>
          </a:bodyPr>
          <a:lstStyle/>
          <a:p>
            <a:pPr algn="l"/>
            <a:r>
              <a:rPr sz="1050" b="0">
                <a:solidFill>
                  <a:srgbClr val="1A1A1A"/>
                </a:solidFill>
                <a:latin typeface="Abadi"/>
              </a:rPr>
              <a:t>1999–2002, 148 infants: native liver at 4 years; clearance 57%; survival 89%.</a:t>
            </a:r>
          </a:p>
        </p:txBody>
      </p:sp>
      <p:sp>
        <p:nvSpPr>
          <p:cNvPr id="16" name="Rectangle 15"/>
          <p:cNvSpPr/>
          <p:nvPr/>
        </p:nvSpPr>
        <p:spPr>
          <a:xfrm>
            <a:off x="3364992" y="1773936"/>
            <a:ext cx="2633472" cy="20116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7315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1956816"/>
            <a:ext cx="2304288" cy="457200"/>
          </a:xfrm>
          <a:prstGeom prst="rect">
            <a:avLst/>
          </a:prstGeom>
          <a:noFill/>
        </p:spPr>
        <p:txBody>
          <a:bodyPr wrap="square" lIns="0" rIns="0" tIns="18288" bIns="18288" anchor="t">
            <a:spAutoFit/>
          </a:bodyPr>
          <a:lstStyle/>
          <a:p>
            <a:pPr algn="l"/>
            <a:r>
              <a:rPr sz="2000" b="1">
                <a:solidFill>
                  <a:srgbClr val="1E7A33"/>
                </a:solidFill>
                <a:latin typeface="Abadi"/>
              </a:rPr>
              <a:t>46% · 40%</a:t>
            </a:r>
          </a:p>
        </p:txBody>
      </p:sp>
      <p:sp>
        <p:nvSpPr>
          <p:cNvPr id="19" name="TextBox 18"/>
          <p:cNvSpPr txBox="1"/>
          <p:nvPr/>
        </p:nvSpPr>
        <p:spPr>
          <a:xfrm>
            <a:off x="3529584" y="2487168"/>
            <a:ext cx="2304288" cy="1188720"/>
          </a:xfrm>
          <a:prstGeom prst="rect">
            <a:avLst/>
          </a:prstGeom>
          <a:noFill/>
        </p:spPr>
        <p:txBody>
          <a:bodyPr wrap="square" lIns="0" rIns="0" tIns="18288" bIns="18288" anchor="t">
            <a:spAutoFit/>
          </a:bodyPr>
          <a:lstStyle/>
          <a:p>
            <a:pPr algn="l"/>
            <a:r>
              <a:rPr sz="1050" b="0">
                <a:solidFill>
                  <a:srgbClr val="1A1A1A"/>
                </a:solidFill>
                <a:latin typeface="Abadi"/>
              </a:rPr>
              <a:t>1999–2009, 443 infants: native liver at 5 and 10 years; median Kasai 54 days.</a:t>
            </a:r>
          </a:p>
        </p:txBody>
      </p:sp>
      <p:sp>
        <p:nvSpPr>
          <p:cNvPr id="20" name="Rectangle 19"/>
          <p:cNvSpPr/>
          <p:nvPr/>
        </p:nvSpPr>
        <p:spPr>
          <a:xfrm>
            <a:off x="6181344" y="1773936"/>
            <a:ext cx="2633472"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7315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56816"/>
            <a:ext cx="2304288" cy="457200"/>
          </a:xfrm>
          <a:prstGeom prst="rect">
            <a:avLst/>
          </a:prstGeom>
          <a:noFill/>
        </p:spPr>
        <p:txBody>
          <a:bodyPr wrap="square" lIns="0" rIns="0" tIns="18288" bIns="18288" anchor="t">
            <a:spAutoFit/>
          </a:bodyPr>
          <a:lstStyle/>
          <a:p>
            <a:pPr algn="l"/>
            <a:r>
              <a:rPr sz="2000" b="1">
                <a:solidFill>
                  <a:srgbClr val="D97A0B"/>
                </a:solidFill>
                <a:latin typeface="Abadi"/>
              </a:rPr>
              <a:t>90%</a:t>
            </a:r>
          </a:p>
        </p:txBody>
      </p:sp>
      <p:sp>
        <p:nvSpPr>
          <p:cNvPr id="23" name="TextBox 22"/>
          <p:cNvSpPr txBox="1"/>
          <p:nvPr/>
        </p:nvSpPr>
        <p:spPr>
          <a:xfrm>
            <a:off x="6345936" y="2487168"/>
            <a:ext cx="2304288" cy="1188720"/>
          </a:xfrm>
          <a:prstGeom prst="rect">
            <a:avLst/>
          </a:prstGeom>
          <a:noFill/>
        </p:spPr>
        <p:txBody>
          <a:bodyPr wrap="square" lIns="0" rIns="0" tIns="18288" bIns="18288" anchor="t">
            <a:spAutoFit/>
          </a:bodyPr>
          <a:lstStyle/>
          <a:p>
            <a:pPr algn="l"/>
            <a:r>
              <a:rPr sz="1050" b="0">
                <a:solidFill>
                  <a:srgbClr val="1A1A1A"/>
                </a:solidFill>
                <a:latin typeface="Abadi"/>
              </a:rPr>
              <a:t>True patient survival at 5 years (89% at 10), against 75% in small UK centres in 1993–1995.</a:t>
            </a:r>
          </a:p>
        </p:txBody>
      </p:sp>
      <p:sp>
        <p:nvSpPr>
          <p:cNvPr id="24" name="Rectangle 23"/>
          <p:cNvSpPr/>
          <p:nvPr/>
        </p:nvSpPr>
        <p:spPr>
          <a:xfrm>
            <a:off x="8997696" y="1773936"/>
            <a:ext cx="2633472" cy="20116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7315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1956816"/>
            <a:ext cx="2304288" cy="457200"/>
          </a:xfrm>
          <a:prstGeom prst="rect">
            <a:avLst/>
          </a:prstGeom>
          <a:noFill/>
        </p:spPr>
        <p:txBody>
          <a:bodyPr wrap="square" lIns="0" rIns="0" tIns="18288" bIns="18288" anchor="t">
            <a:spAutoFit/>
          </a:bodyPr>
          <a:lstStyle/>
          <a:p>
            <a:pPr algn="l"/>
            <a:r>
              <a:rPr sz="2000" b="1">
                <a:solidFill>
                  <a:srgbClr val="B22222"/>
                </a:solidFill>
                <a:latin typeface="Abadi"/>
              </a:rPr>
              <a:t>29%</a:t>
            </a:r>
          </a:p>
        </p:txBody>
      </p:sp>
      <p:sp>
        <p:nvSpPr>
          <p:cNvPr id="27" name="TextBox 26"/>
          <p:cNvSpPr txBox="1"/>
          <p:nvPr/>
        </p:nvSpPr>
        <p:spPr>
          <a:xfrm>
            <a:off x="9162288" y="2487168"/>
            <a:ext cx="2304288" cy="1188720"/>
          </a:xfrm>
          <a:prstGeom prst="rect">
            <a:avLst/>
          </a:prstGeom>
          <a:noFill/>
        </p:spPr>
        <p:txBody>
          <a:bodyPr wrap="square" lIns="0" rIns="0" tIns="18288" bIns="18288" anchor="t">
            <a:spAutoFit/>
          </a:bodyPr>
          <a:lstStyle/>
          <a:p>
            <a:pPr algn="l"/>
            <a:r>
              <a:rPr sz="1050" b="0">
                <a:solidFill>
                  <a:srgbClr val="1A1A1A"/>
                </a:solidFill>
                <a:latin typeface="Abadi"/>
              </a:rPr>
              <a:t>Germany before centralisation, 2010–2014: native liver at 2 years after 160 Kasai procedures.</a:t>
            </a:r>
          </a:p>
        </p:txBody>
      </p:sp>
      <p:sp>
        <p:nvSpPr>
          <p:cNvPr id="28" name="TextBox 27"/>
          <p:cNvSpPr txBox="1"/>
          <p:nvPr/>
        </p:nvSpPr>
        <p:spPr>
          <a:xfrm>
            <a:off x="548640" y="4023360"/>
            <a:ext cx="11082528" cy="178308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Interpretation.  </a:t>
            </a:r>
            <a:r>
              <a:rPr sz="1200" b="0">
                <a:solidFill>
                  <a:srgbClr val="1A1A1A"/>
                </a:solidFill>
                <a:latin typeface="Abadi"/>
              </a:rPr>
              <a:t>Centralisation improved what happened after referral (clearance, transplant timing, survival) without screening; the age at Kasai stayed in the mid-50s. Finland's national programme reports 70% native liver at 5 years.</a:t>
            </a:r>
          </a:p>
          <a:p>
            <a:pPr algn="l">
              <a:spcAft>
                <a:spcPts val="600"/>
              </a:spcAft>
            </a:pPr>
            <a:r>
              <a:rPr sz="1200" b="1">
                <a:solidFill>
                  <a:srgbClr val="1B355E"/>
                </a:solidFill>
                <a:latin typeface="Abadi"/>
              </a:rPr>
              <a:t>Comparisons are rough.  </a:t>
            </a:r>
            <a:r>
              <a:rPr sz="1200" b="0">
                <a:solidFill>
                  <a:srgbClr val="1A1A1A"/>
                </a:solidFill>
                <a:latin typeface="Abadi"/>
              </a:rPr>
              <a:t>Time points, eras and definitions differ; the consistent message is that experienced, integrated teams raise the whole curve.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CENTRALISATION</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WHAT VOLUME CAN AND CANNOT FIX</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Mechanisms by which centres improve outcome, and the parts of the clock they do not control</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Davenport 2011 · Fanna 2019 · Madadi-Sanjani 2025 · McKiernan 2000</a:t>
            </a:r>
          </a:p>
        </p:txBody>
      </p:sp>
      <p:sp>
        <p:nvSpPr>
          <p:cNvPr id="12" name="Rectangle 11"/>
          <p:cNvSpPr/>
          <p:nvPr/>
        </p:nvSpPr>
        <p:spPr>
          <a:xfrm>
            <a:off x="548640" y="1773936"/>
            <a:ext cx="2633472" cy="20574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lIns="0" rIns="0" tIns="18288" bIns="18288" anchor="t">
            <a:spAutoFit/>
          </a:bodyPr>
          <a:lstStyle/>
          <a:p>
            <a:pPr algn="l"/>
            <a:r>
              <a:rPr sz="1500" b="1">
                <a:solidFill>
                  <a:srgbClr val="1B355E"/>
                </a:solidFill>
                <a:latin typeface="Abadi"/>
              </a:rPr>
              <a:t>Surgeon</a:t>
            </a:r>
          </a:p>
        </p:txBody>
      </p:sp>
      <p:sp>
        <p:nvSpPr>
          <p:cNvPr id="15" name="TextBox 14"/>
          <p:cNvSpPr txBox="1"/>
          <p:nvPr/>
        </p:nvSpPr>
        <p:spPr>
          <a:xfrm>
            <a:off x="694944" y="2505456"/>
            <a:ext cx="2340864" cy="123444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Correct depth of portal dissection</a:t>
            </a:r>
          </a:p>
          <a:p>
            <a:pPr algn="l">
              <a:spcAft>
                <a:spcPts val="300"/>
              </a:spcAft>
            </a:pPr>
            <a:r>
              <a:rPr sz="1150" b="0">
                <a:solidFill>
                  <a:srgbClr val="1A1A1A"/>
                </a:solidFill>
                <a:latin typeface="Abadi"/>
              </a:rPr>
              <a:t>▪  Recognises cystic and syndromic forms</a:t>
            </a:r>
          </a:p>
        </p:txBody>
      </p:sp>
      <p:sp>
        <p:nvSpPr>
          <p:cNvPr id="16" name="Rectangle 15"/>
          <p:cNvSpPr/>
          <p:nvPr/>
        </p:nvSpPr>
        <p:spPr>
          <a:xfrm>
            <a:off x="3364992" y="1773936"/>
            <a:ext cx="2633472" cy="20574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lIns="0" rIns="0" tIns="18288" bIns="18288" anchor="t">
            <a:spAutoFit/>
          </a:bodyPr>
          <a:lstStyle/>
          <a:p>
            <a:pPr algn="l"/>
            <a:r>
              <a:rPr sz="1500" b="1">
                <a:solidFill>
                  <a:srgbClr val="1E7A33"/>
                </a:solidFill>
                <a:latin typeface="Abadi"/>
              </a:rPr>
              <a:t>Team</a:t>
            </a:r>
          </a:p>
        </p:txBody>
      </p:sp>
      <p:sp>
        <p:nvSpPr>
          <p:cNvPr id="19" name="TextBox 18"/>
          <p:cNvSpPr txBox="1"/>
          <p:nvPr/>
        </p:nvSpPr>
        <p:spPr>
          <a:xfrm>
            <a:off x="3511296" y="2505456"/>
            <a:ext cx="2340864" cy="123444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Cholangitis prevention and treatment</a:t>
            </a:r>
          </a:p>
          <a:p>
            <a:pPr algn="l">
              <a:spcAft>
                <a:spcPts val="300"/>
              </a:spcAft>
            </a:pPr>
            <a:r>
              <a:rPr sz="1150" b="0">
                <a:solidFill>
                  <a:srgbClr val="1A1A1A"/>
                </a:solidFill>
                <a:latin typeface="Abadi"/>
              </a:rPr>
              <a:t>▪  Nutrition, fat-soluble vitamins</a:t>
            </a:r>
          </a:p>
        </p:txBody>
      </p:sp>
      <p:sp>
        <p:nvSpPr>
          <p:cNvPr id="20" name="Rectangle 19"/>
          <p:cNvSpPr/>
          <p:nvPr/>
        </p:nvSpPr>
        <p:spPr>
          <a:xfrm>
            <a:off x="6181344" y="1773936"/>
            <a:ext cx="2633472" cy="20574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lIns="0" rIns="0" tIns="18288" bIns="18288" anchor="t">
            <a:spAutoFit/>
          </a:bodyPr>
          <a:lstStyle/>
          <a:p>
            <a:pPr algn="l"/>
            <a:r>
              <a:rPr sz="1500" b="1">
                <a:solidFill>
                  <a:srgbClr val="D97A0B"/>
                </a:solidFill>
                <a:latin typeface="Abadi"/>
              </a:rPr>
              <a:t>Transplant</a:t>
            </a:r>
          </a:p>
        </p:txBody>
      </p:sp>
      <p:sp>
        <p:nvSpPr>
          <p:cNvPr id="23" name="TextBox 22"/>
          <p:cNvSpPr txBox="1"/>
          <p:nvPr/>
        </p:nvSpPr>
        <p:spPr>
          <a:xfrm>
            <a:off x="6327648" y="2505456"/>
            <a:ext cx="2340864" cy="123444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Same team times the transplant</a:t>
            </a:r>
          </a:p>
          <a:p>
            <a:pPr algn="l">
              <a:spcAft>
                <a:spcPts val="300"/>
              </a:spcAft>
            </a:pPr>
            <a:r>
              <a:rPr sz="1150" b="0">
                <a:solidFill>
                  <a:srgbClr val="1A1A1A"/>
                </a:solidFill>
                <a:latin typeface="Abadi"/>
              </a:rPr>
              <a:t>▪  No inter-hospital delay</a:t>
            </a:r>
          </a:p>
        </p:txBody>
      </p:sp>
      <p:sp>
        <p:nvSpPr>
          <p:cNvPr id="24" name="Rectangle 23"/>
          <p:cNvSpPr/>
          <p:nvPr/>
        </p:nvSpPr>
        <p:spPr>
          <a:xfrm>
            <a:off x="8997696" y="1773936"/>
            <a:ext cx="2633472" cy="205740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lIns="0" rIns="0" tIns="18288" bIns="18288" anchor="t">
            <a:spAutoFit/>
          </a:bodyPr>
          <a:lstStyle/>
          <a:p>
            <a:pPr algn="l"/>
            <a:r>
              <a:rPr sz="1500" b="1">
                <a:solidFill>
                  <a:srgbClr val="8A939B"/>
                </a:solidFill>
                <a:latin typeface="Abadi"/>
              </a:rPr>
              <a:t>Data</a:t>
            </a:r>
          </a:p>
        </p:txBody>
      </p:sp>
      <p:sp>
        <p:nvSpPr>
          <p:cNvPr id="27" name="TextBox 26"/>
          <p:cNvSpPr txBox="1"/>
          <p:nvPr/>
        </p:nvSpPr>
        <p:spPr>
          <a:xfrm>
            <a:off x="9144000" y="2505456"/>
            <a:ext cx="2340864" cy="123444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National registry, audit</a:t>
            </a:r>
          </a:p>
          <a:p>
            <a:pPr algn="l">
              <a:spcAft>
                <a:spcPts val="300"/>
              </a:spcAft>
            </a:pPr>
            <a:r>
              <a:rPr sz="1150" b="0">
                <a:solidFill>
                  <a:srgbClr val="1A1A1A"/>
                </a:solidFill>
                <a:latin typeface="Abadi"/>
              </a:rPr>
              <a:t>▪  England benchmark: 55% clearance</a:t>
            </a:r>
          </a:p>
        </p:txBody>
      </p:sp>
      <p:sp>
        <p:nvSpPr>
          <p:cNvPr id="28" name="Rectangle 27"/>
          <p:cNvSpPr/>
          <p:nvPr/>
        </p:nvSpPr>
        <p:spPr>
          <a:xfrm>
            <a:off x="548640" y="3977639"/>
            <a:ext cx="3108960" cy="17830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977639"/>
            <a:ext cx="3108960"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4944" y="4160520"/>
            <a:ext cx="2816352" cy="502920"/>
          </a:xfrm>
          <a:prstGeom prst="rect">
            <a:avLst/>
          </a:prstGeom>
          <a:noFill/>
        </p:spPr>
        <p:txBody>
          <a:bodyPr wrap="square" lIns="0" rIns="0" tIns="18288" bIns="18288" anchor="t">
            <a:spAutoFit/>
          </a:bodyPr>
          <a:lstStyle/>
          <a:p>
            <a:pPr algn="l"/>
            <a:r>
              <a:rPr sz="1500" b="1">
                <a:solidFill>
                  <a:srgbClr val="B22222"/>
                </a:solidFill>
                <a:latin typeface="Abadi"/>
              </a:rPr>
              <a:t>Does not fix</a:t>
            </a:r>
          </a:p>
        </p:txBody>
      </p:sp>
      <p:sp>
        <p:nvSpPr>
          <p:cNvPr id="31" name="TextBox 30"/>
          <p:cNvSpPr txBox="1"/>
          <p:nvPr/>
        </p:nvSpPr>
        <p:spPr>
          <a:xfrm>
            <a:off x="694944" y="4709159"/>
            <a:ext cx="2816352" cy="960119"/>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Late recognition in primary care</a:t>
            </a:r>
          </a:p>
          <a:p>
            <a:pPr algn="l">
              <a:spcAft>
                <a:spcPts val="300"/>
              </a:spcAft>
            </a:pPr>
            <a:r>
              <a:rPr sz="1100" b="0">
                <a:solidFill>
                  <a:srgbClr val="1A1A1A"/>
                </a:solidFill>
                <a:latin typeface="Abadi"/>
              </a:rPr>
              <a:t>▪  Age at referral</a:t>
            </a:r>
          </a:p>
        </p:txBody>
      </p:sp>
      <p:sp>
        <p:nvSpPr>
          <p:cNvPr id="32" name="Rectangle 31"/>
          <p:cNvSpPr/>
          <p:nvPr/>
        </p:nvSpPr>
        <p:spPr>
          <a:xfrm>
            <a:off x="3840480" y="3977639"/>
            <a:ext cx="3108960" cy="17830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840480" y="3977639"/>
            <a:ext cx="3108960"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86784" y="4160520"/>
            <a:ext cx="2816352" cy="502920"/>
          </a:xfrm>
          <a:prstGeom prst="rect">
            <a:avLst/>
          </a:prstGeom>
          <a:noFill/>
        </p:spPr>
        <p:txBody>
          <a:bodyPr wrap="square" lIns="0" rIns="0" tIns="18288" bIns="18288" anchor="t">
            <a:spAutoFit/>
          </a:bodyPr>
          <a:lstStyle/>
          <a:p>
            <a:pPr algn="l"/>
            <a:r>
              <a:rPr sz="1500" b="1">
                <a:solidFill>
                  <a:srgbClr val="1B355E"/>
                </a:solidFill>
                <a:latin typeface="Abadi"/>
              </a:rPr>
              <a:t>France shows</a:t>
            </a:r>
          </a:p>
        </p:txBody>
      </p:sp>
      <p:sp>
        <p:nvSpPr>
          <p:cNvPr id="35" name="TextBox 34"/>
          <p:cNvSpPr txBox="1"/>
          <p:nvPr/>
        </p:nvSpPr>
        <p:spPr>
          <a:xfrm>
            <a:off x="3986784" y="4709159"/>
            <a:ext cx="2816352" cy="960119"/>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Caseload effect only in 1986–1996</a:t>
            </a:r>
          </a:p>
          <a:p>
            <a:pPr algn="l">
              <a:spcAft>
                <a:spcPts val="300"/>
              </a:spcAft>
            </a:pPr>
            <a:r>
              <a:rPr sz="1100" b="0">
                <a:solidFill>
                  <a:srgbClr val="1A1A1A"/>
                </a:solidFill>
                <a:latin typeface="Abadi"/>
              </a:rPr>
              <a:t>▪  Networks can substitute</a:t>
            </a:r>
          </a:p>
        </p:txBody>
      </p:sp>
      <p:sp>
        <p:nvSpPr>
          <p:cNvPr id="36" name="TextBox 35"/>
          <p:cNvSpPr txBox="1"/>
          <p:nvPr/>
        </p:nvSpPr>
        <p:spPr>
          <a:xfrm>
            <a:off x="7223760" y="3977639"/>
            <a:ext cx="4389120" cy="1828800"/>
          </a:xfrm>
          <a:prstGeom prst="rect">
            <a:avLst/>
          </a:prstGeom>
          <a:noFill/>
        </p:spPr>
        <p:txBody>
          <a:bodyPr wrap="square" lIns="0" rIns="0" tIns="18288" bIns="18288" anchor="t">
            <a:spAutoFit/>
          </a:bodyPr>
          <a:lstStyle/>
          <a:p>
            <a:pPr algn="l">
              <a:spcAft>
                <a:spcPts val="400"/>
              </a:spcAft>
            </a:pPr>
            <a:r>
              <a:rPr sz="1400" b="1">
                <a:solidFill>
                  <a:srgbClr val="1B355E"/>
                </a:solidFill>
                <a:latin typeface="Abadi"/>
              </a:rPr>
              <a:t>Two levers.</a:t>
            </a:r>
          </a:p>
          <a:p>
            <a:pPr algn="l">
              <a:spcAft>
                <a:spcPts val="400"/>
              </a:spcAft>
            </a:pPr>
            <a:r>
              <a:rPr sz="1100" b="0">
                <a:solidFill>
                  <a:srgbClr val="555555"/>
                </a:solidFill>
                <a:latin typeface="Abadi"/>
              </a:rPr>
              <a:t>Screening shortens the time before the surgeon; centralisation improves what the surgeon and team do. Neither replaces the other.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PATHWAY</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A CLOCK MEASURED IN DAYS</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Working backwards from a Kasai before 30–45 days: what has to happen, and when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Harpavat S, et al. Pediatrics 2025 (AAP) · Fawaz R, et al. JPGN 2017;64:154–68 · Harpavat 2020</a:t>
            </a:r>
          </a:p>
        </p:txBody>
      </p:sp>
      <p:sp>
        <p:nvSpPr>
          <p:cNvPr id="12" name="Rectangle 11"/>
          <p:cNvSpPr/>
          <p:nvPr/>
        </p:nvSpPr>
        <p:spPr>
          <a:xfrm>
            <a:off x="548640" y="1773936"/>
            <a:ext cx="1982419" cy="22402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Days 1–3</a:t>
            </a:r>
          </a:p>
        </p:txBody>
      </p:sp>
      <p:sp>
        <p:nvSpPr>
          <p:cNvPr id="15" name="TextBox 14"/>
          <p:cNvSpPr txBox="1"/>
          <p:nvPr/>
        </p:nvSpPr>
        <p:spPr>
          <a:xfrm>
            <a:off x="658368" y="2185416"/>
            <a:ext cx="1762963" cy="1783080"/>
          </a:xfrm>
          <a:prstGeom prst="rect">
            <a:avLst/>
          </a:prstGeom>
          <a:noFill/>
        </p:spPr>
        <p:txBody>
          <a:bodyPr wrap="square" lIns="0" rIns="0" tIns="18288" bIns="18288" anchor="t">
            <a:spAutoFit/>
          </a:bodyPr>
          <a:lstStyle/>
          <a:p>
            <a:pPr algn="l"/>
            <a:r>
              <a:rPr sz="1050" b="0">
                <a:solidFill>
                  <a:srgbClr val="1A1A1A"/>
                </a:solidFill>
                <a:latin typeface="Abadi"/>
              </a:rPr>
              <a:t>Newborn direct or conjugated bilirubin where screening exists; note any value above the reference.</a:t>
            </a:r>
          </a:p>
        </p:txBody>
      </p:sp>
      <p:sp>
        <p:nvSpPr>
          <p:cNvPr id="16" name="TextBox 15"/>
          <p:cNvSpPr txBox="1"/>
          <p:nvPr/>
        </p:nvSpPr>
        <p:spPr>
          <a:xfrm>
            <a:off x="2531059" y="2711196"/>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17" name="Rectangle 16"/>
          <p:cNvSpPr/>
          <p:nvPr/>
        </p:nvSpPr>
        <p:spPr>
          <a:xfrm>
            <a:off x="2823667" y="1773936"/>
            <a:ext cx="1982419" cy="22402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Week 2 visit</a:t>
            </a:r>
          </a:p>
        </p:txBody>
      </p:sp>
      <p:sp>
        <p:nvSpPr>
          <p:cNvPr id="20" name="TextBox 19"/>
          <p:cNvSpPr txBox="1"/>
          <p:nvPr/>
        </p:nvSpPr>
        <p:spPr>
          <a:xfrm>
            <a:off x="2933395" y="2185416"/>
            <a:ext cx="1762963" cy="1783080"/>
          </a:xfrm>
          <a:prstGeom prst="rect">
            <a:avLst/>
          </a:prstGeom>
          <a:noFill/>
        </p:spPr>
        <p:txBody>
          <a:bodyPr wrap="square" lIns="0" rIns="0" tIns="18288" bIns="18288" anchor="t">
            <a:spAutoFit/>
          </a:bodyPr>
          <a:lstStyle/>
          <a:p>
            <a:pPr algn="l"/>
            <a:r>
              <a:rPr sz="1050" b="0">
                <a:solidFill>
                  <a:srgbClr val="1A1A1A"/>
                </a:solidFill>
                <a:latin typeface="Abadi"/>
              </a:rPr>
              <a:t>Jaundice, stool colour, prior direct bilirubin: test if any is abnormal.</a:t>
            </a:r>
          </a:p>
        </p:txBody>
      </p:sp>
      <p:sp>
        <p:nvSpPr>
          <p:cNvPr id="21" name="TextBox 20"/>
          <p:cNvSpPr txBox="1"/>
          <p:nvPr/>
        </p:nvSpPr>
        <p:spPr>
          <a:xfrm>
            <a:off x="4806086" y="2711196"/>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22" name="Rectangle 21"/>
          <p:cNvSpPr/>
          <p:nvPr/>
        </p:nvSpPr>
        <p:spPr>
          <a:xfrm>
            <a:off x="5098694" y="1773936"/>
            <a:ext cx="1982419" cy="22402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DB ≥ 1 mg/dL</a:t>
            </a:r>
          </a:p>
        </p:txBody>
      </p:sp>
      <p:sp>
        <p:nvSpPr>
          <p:cNvPr id="25" name="TextBox 24"/>
          <p:cNvSpPr txBox="1"/>
          <p:nvPr/>
        </p:nvSpPr>
        <p:spPr>
          <a:xfrm>
            <a:off x="5208422" y="2185416"/>
            <a:ext cx="1762963" cy="1783080"/>
          </a:xfrm>
          <a:prstGeom prst="rect">
            <a:avLst/>
          </a:prstGeom>
          <a:noFill/>
        </p:spPr>
        <p:txBody>
          <a:bodyPr wrap="square" lIns="0" rIns="0" tIns="18288" bIns="18288" anchor="t">
            <a:spAutoFit/>
          </a:bodyPr>
          <a:lstStyle/>
          <a:p>
            <a:pPr algn="l"/>
            <a:r>
              <a:rPr sz="1050" b="0">
                <a:solidFill>
                  <a:srgbClr val="1A1A1A"/>
                </a:solidFill>
                <a:latin typeface="Abadi"/>
              </a:rPr>
              <a:t>Same-week hepatology contact; vitamin K; do not 'recheck in two weeks'.</a:t>
            </a:r>
          </a:p>
        </p:txBody>
      </p:sp>
      <p:sp>
        <p:nvSpPr>
          <p:cNvPr id="26" name="TextBox 25"/>
          <p:cNvSpPr txBox="1"/>
          <p:nvPr/>
        </p:nvSpPr>
        <p:spPr>
          <a:xfrm>
            <a:off x="7081113" y="2711196"/>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27" name="Rectangle 26"/>
          <p:cNvSpPr/>
          <p:nvPr/>
        </p:nvSpPr>
        <p:spPr>
          <a:xfrm>
            <a:off x="7373721" y="1773936"/>
            <a:ext cx="1982419" cy="22402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Days of work-up</a:t>
            </a:r>
          </a:p>
        </p:txBody>
      </p:sp>
      <p:sp>
        <p:nvSpPr>
          <p:cNvPr id="30" name="TextBox 29"/>
          <p:cNvSpPr txBox="1"/>
          <p:nvPr/>
        </p:nvSpPr>
        <p:spPr>
          <a:xfrm>
            <a:off x="7483449" y="2185416"/>
            <a:ext cx="1762963" cy="1783080"/>
          </a:xfrm>
          <a:prstGeom prst="rect">
            <a:avLst/>
          </a:prstGeom>
          <a:noFill/>
        </p:spPr>
        <p:txBody>
          <a:bodyPr wrap="square" lIns="0" rIns="0" tIns="18288" bIns="18288" anchor="t">
            <a:spAutoFit/>
          </a:bodyPr>
          <a:lstStyle/>
          <a:p>
            <a:pPr algn="l"/>
            <a:r>
              <a:rPr sz="1050" b="0">
                <a:solidFill>
                  <a:srgbClr val="1A1A1A"/>
                </a:solidFill>
                <a:latin typeface="Abadi"/>
              </a:rPr>
              <a:t>Ultrasound, GGT, MMP-7, α1-antitrypsin in parallel; biopsy if unclear.</a:t>
            </a:r>
          </a:p>
        </p:txBody>
      </p:sp>
      <p:sp>
        <p:nvSpPr>
          <p:cNvPr id="31" name="TextBox 30"/>
          <p:cNvSpPr txBox="1"/>
          <p:nvPr/>
        </p:nvSpPr>
        <p:spPr>
          <a:xfrm>
            <a:off x="9356140" y="2711196"/>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32" name="Rectangle 31"/>
          <p:cNvSpPr/>
          <p:nvPr/>
        </p:nvSpPr>
        <p:spPr>
          <a:xfrm>
            <a:off x="9648748" y="1773936"/>
            <a:ext cx="1982419" cy="224028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Theatre</a:t>
            </a:r>
          </a:p>
        </p:txBody>
      </p:sp>
      <p:sp>
        <p:nvSpPr>
          <p:cNvPr id="35" name="TextBox 34"/>
          <p:cNvSpPr txBox="1"/>
          <p:nvPr/>
        </p:nvSpPr>
        <p:spPr>
          <a:xfrm>
            <a:off x="9758476" y="2185416"/>
            <a:ext cx="1762963" cy="1783080"/>
          </a:xfrm>
          <a:prstGeom prst="rect">
            <a:avLst/>
          </a:prstGeom>
          <a:noFill/>
        </p:spPr>
        <p:txBody>
          <a:bodyPr wrap="square" lIns="0" rIns="0" tIns="18288" bIns="18288" anchor="t">
            <a:spAutoFit/>
          </a:bodyPr>
          <a:lstStyle/>
          <a:p>
            <a:pPr algn="l"/>
            <a:r>
              <a:rPr sz="1050" b="0">
                <a:solidFill>
                  <a:srgbClr val="1A1A1A"/>
                </a:solidFill>
                <a:latin typeface="Abadi"/>
              </a:rPr>
              <a:t>Cholangiogram and Kasai in one anaesthetic, in an experienced centre.</a:t>
            </a:r>
          </a:p>
        </p:txBody>
      </p:sp>
      <p:sp>
        <p:nvSpPr>
          <p:cNvPr id="36" name="TextBox 35"/>
          <p:cNvSpPr txBox="1"/>
          <p:nvPr/>
        </p:nvSpPr>
        <p:spPr>
          <a:xfrm>
            <a:off x="548640" y="4251960"/>
            <a:ext cx="11082528" cy="155448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Do not skip.  </a:t>
            </a:r>
            <a:r>
              <a:rPr sz="1200" b="0">
                <a:solidFill>
                  <a:srgbClr val="1A1A1A"/>
                </a:solidFill>
                <a:latin typeface="Abadi"/>
              </a:rPr>
              <a:t>The stool card and the direct bilirubin are the two cheapest tests in hepatology; a single abnormal direct bilirubin in the newborn period matters even if it later seems to improve.</a:t>
            </a:r>
          </a:p>
          <a:p>
            <a:pPr algn="l">
              <a:spcAft>
                <a:spcPts val="600"/>
              </a:spcAft>
            </a:pPr>
            <a:r>
              <a:rPr sz="1200" b="1">
                <a:solidFill>
                  <a:srgbClr val="1B355E"/>
                </a:solidFill>
                <a:latin typeface="Abadi"/>
              </a:rPr>
              <a:t>Do not serialise.  </a:t>
            </a:r>
            <a:r>
              <a:rPr sz="1200" b="0">
                <a:solidFill>
                  <a:srgbClr val="1A1A1A"/>
                </a:solidFill>
                <a:latin typeface="Abadi"/>
              </a:rPr>
              <a:t>Each serial step (wait for one result, then order the next) costs days; the infant's liver is the one paying for the queue.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WHAT THE DOCUMENTS SAY ABOUT TIMING</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North American paediatric guidance versus European and national policy; AASLD and EASL have no atresia timing guideline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Fawaz 2017 · Harpavat S, et al. Pediatrics 2025 (AAP) · UK NSC consultation 2026 · Madadi-Sanjani 2025 · Lien 2011</a:t>
            </a:r>
          </a:p>
        </p:txBody>
      </p:sp>
      <p:graphicFrame>
        <p:nvGraphicFramePr>
          <p:cNvPr id="12" name="Table 11"/>
          <p:cNvGraphicFramePr>
            <a:graphicFrameLocks noGrp="1"/>
          </p:cNvGraphicFramePr>
          <p:nvPr/>
        </p:nvGraphicFramePr>
        <p:xfrm>
          <a:off x="548640" y="1783080"/>
          <a:ext cx="11082528" cy="3072384"/>
        </p:xfrm>
        <a:graphic>
          <a:graphicData uri="http://schemas.openxmlformats.org/drawingml/2006/table">
            <a:tbl>
              <a:tblPr firstRow="0" bandRow="0">
                <a:tableStyleId>{5940675A-B579-460E-94D1-54222C63F5DA}</a:tableStyleId>
              </a:tblPr>
              <a:tblGrid>
                <a:gridCol w="2286000"/>
                <a:gridCol w="3657600"/>
                <a:gridCol w="3931920"/>
                <a:gridCol w="1207008"/>
              </a:tblGrid>
              <a:tr h="438912">
                <a:tc>
                  <a:txBody>
                    <a:bodyPr wrap="square"/>
                    <a:lstStyle/>
                    <a:p>
                      <a:r>
                        <a:rPr sz="1050" b="1">
                          <a:solidFill>
                            <a:srgbClr val="FFFFFF"/>
                          </a:solidFill>
                          <a:latin typeface="Abadi"/>
                        </a:rPr>
                        <a:t>Question</a:t>
                      </a:r>
                    </a:p>
                  </a:txBody>
                  <a:tcPr marL="73152" marR="73152" marT="27432" marB="27432" anchor="ctr">
                    <a:solidFill>
                      <a:srgbClr val="1B355E"/>
                    </a:solidFill>
                  </a:tcPr>
                </a:tc>
                <a:tc>
                  <a:txBody>
                    <a:bodyPr wrap="square"/>
                    <a:lstStyle/>
                    <a:p>
                      <a:r>
                        <a:rPr sz="1050" b="1">
                          <a:solidFill>
                            <a:srgbClr val="FFFFFF"/>
                          </a:solidFill>
                          <a:latin typeface="Abadi"/>
                        </a:rPr>
                        <a:t>NASPGHAN/ESPGHAN 2017 · AAP 2025</a:t>
                      </a:r>
                    </a:p>
                  </a:txBody>
                  <a:tcPr marL="73152" marR="73152" marT="27432" marB="27432" anchor="ctr">
                    <a:solidFill>
                      <a:srgbClr val="1B355E"/>
                    </a:solidFill>
                  </a:tcPr>
                </a:tc>
                <a:tc>
                  <a:txBody>
                    <a:bodyPr wrap="square"/>
                    <a:lstStyle/>
                    <a:p>
                      <a:r>
                        <a:rPr sz="1050" b="1">
                          <a:solidFill>
                            <a:srgbClr val="FFFFFF"/>
                          </a:solidFill>
                          <a:latin typeface="Abadi"/>
                        </a:rPr>
                        <a:t>Europe · UK NSC · Asia</a:t>
                      </a:r>
                    </a:p>
                  </a:txBody>
                  <a:tcPr marL="73152" marR="73152" marT="27432" marB="27432" anchor="ctr">
                    <a:solidFill>
                      <a:srgbClr val="1B355E"/>
                    </a:solidFill>
                  </a:tcPr>
                </a:tc>
                <a:tc>
                  <a:txBody>
                    <a:bodyPr wrap="square"/>
                    <a:lstStyle/>
                    <a:p>
                      <a:r>
                        <a:rPr sz="1050" b="1">
                          <a:solidFill>
                            <a:srgbClr val="FFFFFF"/>
                          </a:solidFill>
                          <a:latin typeface="Abadi"/>
                        </a:rPr>
                        <a:t>Verdict</a:t>
                      </a:r>
                    </a:p>
                  </a:txBody>
                  <a:tcPr marL="73152" marR="73152" marT="27432" marB="27432" anchor="ctr">
                    <a:solidFill>
                      <a:srgbClr val="1B355E"/>
                    </a:solidFill>
                  </a:tcPr>
                </a:tc>
              </a:tr>
              <a:tr h="438912">
                <a:tc>
                  <a:txBody>
                    <a:bodyPr wrap="square"/>
                    <a:lstStyle/>
                    <a:p>
                      <a:r>
                        <a:rPr sz="1000" b="1">
                          <a:solidFill>
                            <a:srgbClr val="1A1A1A"/>
                          </a:solidFill>
                          <a:latin typeface="Abadi"/>
                        </a:rPr>
                        <a:t>When to test direct bilirubin</a:t>
                      </a:r>
                    </a:p>
                  </a:txBody>
                  <a:tcPr marL="73152" marR="73152" marT="27432" marB="27432" anchor="ctr">
                    <a:solidFill>
                      <a:srgbClr val="FFFFFF"/>
                    </a:solidFill>
                  </a:tcPr>
                </a:tc>
                <a:tc>
                  <a:txBody>
                    <a:bodyPr wrap="square"/>
                    <a:lstStyle/>
                    <a:p>
                      <a:r>
                        <a:rPr sz="1000" b="0">
                          <a:solidFill>
                            <a:srgbClr val="1A1A1A"/>
                          </a:solidFill>
                          <a:latin typeface="Abadi"/>
                        </a:rPr>
                        <a:t>Jaundice at 2 weeks (3 if breastfed, well); AAP: 2–4 weeks, any pale stool</a:t>
                      </a:r>
                    </a:p>
                  </a:txBody>
                  <a:tcPr marL="73152" marR="73152" marT="27432" marB="27432" anchor="ctr">
                    <a:solidFill>
                      <a:srgbClr val="FFFFFF"/>
                    </a:solidFill>
                  </a:tcPr>
                </a:tc>
                <a:tc>
                  <a:txBody>
                    <a:bodyPr wrap="square"/>
                    <a:lstStyle/>
                    <a:p>
                      <a:r>
                        <a:rPr sz="1000" b="0">
                          <a:solidFill>
                            <a:srgbClr val="1A1A1A"/>
                          </a:solidFill>
                          <a:latin typeface="Abadi"/>
                        </a:rPr>
                        <a:t>Clinical pathway; same triggers</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38912">
                <a:tc>
                  <a:txBody>
                    <a:bodyPr wrap="square"/>
                    <a:lstStyle/>
                    <a:p>
                      <a:r>
                        <a:rPr sz="1000" b="1">
                          <a:solidFill>
                            <a:srgbClr val="1A1A1A"/>
                          </a:solidFill>
                          <a:latin typeface="Abadi"/>
                        </a:rPr>
                        <a:t>Referral threshold</a:t>
                      </a:r>
                    </a:p>
                  </a:txBody>
                  <a:tcPr marL="73152" marR="73152" marT="27432" marB="27432" anchor="ctr">
                    <a:solidFill>
                      <a:srgbClr val="F2F4F7"/>
                    </a:solidFill>
                  </a:tcPr>
                </a:tc>
                <a:tc>
                  <a:txBody>
                    <a:bodyPr wrap="square"/>
                    <a:lstStyle/>
                    <a:p>
                      <a:r>
                        <a:rPr sz="1000" b="0">
                          <a:solidFill>
                            <a:srgbClr val="1A1A1A"/>
                          </a:solidFill>
                          <a:latin typeface="Abadi"/>
                        </a:rPr>
                        <a:t>Direct ≥ 1 mg/dL: urgent paediatric GI/hepatology</a:t>
                      </a:r>
                    </a:p>
                  </a:txBody>
                  <a:tcPr marL="73152" marR="73152" marT="27432" marB="27432" anchor="ctr">
                    <a:solidFill>
                      <a:srgbClr val="F2F4F7"/>
                    </a:solidFill>
                  </a:tcPr>
                </a:tc>
                <a:tc>
                  <a:txBody>
                    <a:bodyPr wrap="square"/>
                    <a:lstStyle/>
                    <a:p>
                      <a:r>
                        <a:rPr sz="1000" b="0">
                          <a:solidFill>
                            <a:srgbClr val="1A1A1A"/>
                          </a:solidFill>
                          <a:latin typeface="Abadi"/>
                        </a:rPr>
                        <a:t>UK (NICE): conjugated &gt; 25 µmol/L at the prolonged-jaundice check</a:t>
                      </a:r>
                    </a:p>
                  </a:txBody>
                  <a:tcPr marL="73152" marR="73152" marT="27432" marB="27432" anchor="ctr">
                    <a:solidFill>
                      <a:srgbClr val="F2F4F7"/>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38912">
                <a:tc>
                  <a:txBody>
                    <a:bodyPr wrap="square"/>
                    <a:lstStyle/>
                    <a:p>
                      <a:r>
                        <a:rPr sz="1000" b="1">
                          <a:solidFill>
                            <a:srgbClr val="1A1A1A"/>
                          </a:solidFill>
                          <a:latin typeface="Abadi"/>
                        </a:rPr>
                        <a:t>Target age for the Kasai</a:t>
                      </a:r>
                    </a:p>
                  </a:txBody>
                  <a:tcPr marL="73152" marR="73152" marT="27432" marB="27432" anchor="ctr">
                    <a:solidFill>
                      <a:srgbClr val="FFFFFF"/>
                    </a:solidFill>
                  </a:tcPr>
                </a:tc>
                <a:tc>
                  <a:txBody>
                    <a:bodyPr wrap="square"/>
                    <a:lstStyle/>
                    <a:p>
                      <a:r>
                        <a:rPr sz="1000" b="0">
                          <a:solidFill>
                            <a:srgbClr val="1A1A1A"/>
                          </a:solidFill>
                          <a:latin typeface="Abadi"/>
                        </a:rPr>
                        <a:t>AAP: before 30 days, 2-week visit advised</a:t>
                      </a:r>
                    </a:p>
                  </a:txBody>
                  <a:tcPr marL="73152" marR="73152" marT="27432" marB="27432" anchor="ctr">
                    <a:solidFill>
                      <a:srgbClr val="FFFFFF"/>
                    </a:solidFill>
                  </a:tcPr>
                </a:tc>
                <a:tc>
                  <a:txBody>
                    <a:bodyPr wrap="square"/>
                    <a:lstStyle/>
                    <a:p>
                      <a:r>
                        <a:rPr sz="1000" b="0">
                          <a:solidFill>
                            <a:srgbClr val="1A1A1A"/>
                          </a:solidFill>
                          <a:latin typeface="Abadi"/>
                        </a:rPr>
                        <a:t>Goal 'first 4 weeks'; median achieved 61 days</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38912">
                <a:tc>
                  <a:txBody>
                    <a:bodyPr wrap="square"/>
                    <a:lstStyle/>
                    <a:p>
                      <a:r>
                        <a:rPr sz="1000" b="1">
                          <a:solidFill>
                            <a:srgbClr val="1A1A1A"/>
                          </a:solidFill>
                          <a:latin typeface="Abadi"/>
                        </a:rPr>
                        <a:t>Universal screening</a:t>
                      </a:r>
                    </a:p>
                  </a:txBody>
                  <a:tcPr marL="73152" marR="73152" marT="27432" marB="27432" anchor="ctr">
                    <a:solidFill>
                      <a:srgbClr val="F2F4F7"/>
                    </a:solidFill>
                  </a:tcPr>
                </a:tc>
                <a:tc>
                  <a:txBody>
                    <a:bodyPr wrap="square"/>
                    <a:lstStyle/>
                    <a:p>
                      <a:r>
                        <a:rPr sz="1000" b="0">
                          <a:solidFill>
                            <a:srgbClr val="1A1A1A"/>
                          </a:solidFill>
                          <a:latin typeface="Abadi"/>
                        </a:rPr>
                        <a:t>AAP: a future goal, not yet advised</a:t>
                      </a:r>
                    </a:p>
                  </a:txBody>
                  <a:tcPr marL="73152" marR="73152" marT="27432" marB="27432" anchor="ctr">
                    <a:solidFill>
                      <a:srgbClr val="F2F4F7"/>
                    </a:solidFill>
                  </a:tcPr>
                </a:tc>
                <a:tc>
                  <a:txBody>
                    <a:bodyPr wrap="square"/>
                    <a:lstStyle/>
                    <a:p>
                      <a:r>
                        <a:rPr sz="1000" b="0">
                          <a:solidFill>
                            <a:srgbClr val="1A1A1A"/>
                          </a:solidFill>
                          <a:latin typeface="Abadi"/>
                        </a:rPr>
                        <a:t>Cards in Taiwan, Japan, Switzerland; UK NSC 2026: not recommended</a:t>
                      </a:r>
                    </a:p>
                  </a:txBody>
                  <a:tcPr marL="73152" marR="73152" marT="27432" marB="27432" anchor="ctr">
                    <a:solidFill>
                      <a:srgbClr val="F2F4F7"/>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438912">
                <a:tc>
                  <a:txBody>
                    <a:bodyPr wrap="square"/>
                    <a:lstStyle/>
                    <a:p>
                      <a:r>
                        <a:rPr sz="1000" b="1">
                          <a:solidFill>
                            <a:srgbClr val="1A1A1A"/>
                          </a:solidFill>
                          <a:latin typeface="Abadi"/>
                        </a:rPr>
                        <a:t>Centralisation</a:t>
                      </a:r>
                    </a:p>
                  </a:txBody>
                  <a:tcPr marL="73152" marR="73152" marT="27432" marB="27432" anchor="ctr">
                    <a:solidFill>
                      <a:srgbClr val="FFFFFF"/>
                    </a:solidFill>
                  </a:tcPr>
                </a:tc>
                <a:tc>
                  <a:txBody>
                    <a:bodyPr wrap="square"/>
                    <a:lstStyle/>
                    <a:p>
                      <a:r>
                        <a:rPr sz="1000" b="0">
                          <a:solidFill>
                            <a:srgbClr val="1A1A1A"/>
                          </a:solidFill>
                          <a:latin typeface="Abadi"/>
                        </a:rPr>
                        <a:t>No North American requirement</a:t>
                      </a:r>
                    </a:p>
                  </a:txBody>
                  <a:tcPr marL="73152" marR="73152" marT="27432" marB="27432" anchor="ctr">
                    <a:solidFill>
                      <a:srgbClr val="FFFFFF"/>
                    </a:solidFill>
                  </a:tcPr>
                </a:tc>
                <a:tc>
                  <a:txBody>
                    <a:bodyPr wrap="square"/>
                    <a:lstStyle/>
                    <a:p>
                      <a:r>
                        <a:rPr sz="1000" b="0">
                          <a:solidFill>
                            <a:srgbClr val="1A1A1A"/>
                          </a:solidFill>
                          <a:latin typeface="Abadi"/>
                        </a:rPr>
                        <a:t>England (3 centres), Nordic countries, Netherlands</a:t>
                      </a:r>
                    </a:p>
                  </a:txBody>
                  <a:tcPr marL="73152" marR="73152" marT="27432" marB="27432" anchor="ctr">
                    <a:solidFill>
                      <a:srgbClr val="FFFFFF"/>
                    </a:solidFill>
                  </a:tcPr>
                </a:tc>
                <a:tc>
                  <a:txBody>
                    <a:bodyPr wrap="square"/>
                    <a:lstStyle/>
                    <a:p>
                      <a:pPr algn="ctr"/>
                      <a:r>
                        <a:rPr sz="850" b="1">
                          <a:solidFill>
                            <a:srgbClr val="FFFFFF"/>
                          </a:solidFill>
                          <a:latin typeface="Abadi"/>
                        </a:rPr>
                        <a:t>MATERIAL</a:t>
                      </a:r>
                    </a:p>
                  </a:txBody>
                  <a:tcPr marL="73152" marR="73152" marT="27432" marB="27432" anchor="ctr">
                    <a:solidFill>
                      <a:srgbClr val="B22222"/>
                    </a:solidFill>
                  </a:tcPr>
                </a:tc>
              </a:tr>
              <a:tr h="438912">
                <a:tc>
                  <a:txBody>
                    <a:bodyPr wrap="square"/>
                    <a:lstStyle/>
                    <a:p>
                      <a:r>
                        <a:rPr sz="1000" b="1">
                          <a:solidFill>
                            <a:srgbClr val="1A1A1A"/>
                          </a:solidFill>
                          <a:latin typeface="Abadi"/>
                        </a:rPr>
                        <a:t>The older infant</a:t>
                      </a:r>
                    </a:p>
                  </a:txBody>
                  <a:tcPr marL="73152" marR="73152" marT="27432" marB="27432" anchor="ctr">
                    <a:solidFill>
                      <a:srgbClr val="F2F4F7"/>
                    </a:solidFill>
                  </a:tcPr>
                </a:tc>
                <a:tc>
                  <a:txBody>
                    <a:bodyPr wrap="square"/>
                    <a:lstStyle/>
                    <a:p>
                      <a:r>
                        <a:rPr sz="1000" b="0">
                          <a:solidFill>
                            <a:srgbClr val="1A1A1A"/>
                          </a:solidFill>
                          <a:latin typeface="Abadi"/>
                        </a:rPr>
                        <a:t>Not addressed</a:t>
                      </a:r>
                    </a:p>
                  </a:txBody>
                  <a:tcPr marL="73152" marR="73152" marT="27432" marB="27432" anchor="ctr">
                    <a:solidFill>
                      <a:srgbClr val="F2F4F7"/>
                    </a:solidFill>
                  </a:tcPr>
                </a:tc>
                <a:tc>
                  <a:txBody>
                    <a:bodyPr wrap="square"/>
                    <a:lstStyle/>
                    <a:p>
                      <a:r>
                        <a:rPr sz="1000" b="0">
                          <a:solidFill>
                            <a:srgbClr val="1A1A1A"/>
                          </a:solidFill>
                          <a:latin typeface="Abadi"/>
                        </a:rPr>
                        <a:t>Kasai first unless advanced liver failure</a:t>
                      </a:r>
                    </a:p>
                  </a:txBody>
                  <a:tcPr marL="73152" marR="73152" marT="27432" marB="27432" anchor="ctr">
                    <a:solidFill>
                      <a:srgbClr val="F2F4F7"/>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bl>
          </a:graphicData>
        </a:graphic>
      </p:graphicFrame>
      <p:sp>
        <p:nvSpPr>
          <p:cNvPr id="13" name="TextBox 12"/>
          <p:cNvSpPr txBox="1"/>
          <p:nvPr/>
        </p:nvSpPr>
        <p:spPr>
          <a:xfrm>
            <a:off x="548640" y="5029200"/>
            <a:ext cx="11082528" cy="77724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Material gap.  </a:t>
            </a:r>
            <a:r>
              <a:rPr sz="1200" b="0">
                <a:solidFill>
                  <a:srgbClr val="1A1A1A"/>
                </a:solidFill>
                <a:latin typeface="Abadi"/>
              </a:rPr>
              <a:t>North America sets an age target without the screening or centralisation that achieved earlier surgery elsewhere; half of US infants still miss 60 days.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HOW THE CLOCK IS LOST</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Common reasoning errors that push the Kasai past 60 days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Harpavat 2025 (AAP) · Fawaz 2017 · Woolfson 2018 · Hoshino 2023</a:t>
            </a:r>
          </a:p>
        </p:txBody>
      </p:sp>
      <p:sp>
        <p:nvSpPr>
          <p:cNvPr id="12" name="Rectangle 11"/>
          <p:cNvSpPr/>
          <p:nvPr/>
        </p:nvSpPr>
        <p:spPr>
          <a:xfrm>
            <a:off x="548640" y="1773936"/>
            <a:ext cx="2633472" cy="25146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731520"/>
          </a:xfrm>
          <a:prstGeom prst="rect">
            <a:avLst/>
          </a:prstGeom>
          <a:noFill/>
        </p:spPr>
        <p:txBody>
          <a:bodyPr wrap="square" lIns="0" rIns="0" tIns="18288" bIns="18288" anchor="t">
            <a:spAutoFit/>
          </a:bodyPr>
          <a:lstStyle/>
          <a:p>
            <a:pPr algn="l"/>
            <a:r>
              <a:rPr sz="1400" b="1">
                <a:solidFill>
                  <a:srgbClr val="B22222"/>
                </a:solidFill>
                <a:latin typeface="Abadi"/>
              </a:rPr>
              <a:t>"Breastfed — recheck in two weeks"</a:t>
            </a:r>
          </a:p>
        </p:txBody>
      </p:sp>
      <p:sp>
        <p:nvSpPr>
          <p:cNvPr id="15" name="TextBox 14"/>
          <p:cNvSpPr txBox="1"/>
          <p:nvPr/>
        </p:nvSpPr>
        <p:spPr>
          <a:xfrm>
            <a:off x="694944" y="2734056"/>
            <a:ext cx="2340864" cy="146304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Breast-milk jaundice is unconjugated</a:t>
            </a:r>
          </a:p>
          <a:p>
            <a:pPr algn="l">
              <a:spcAft>
                <a:spcPts val="300"/>
              </a:spcAft>
            </a:pPr>
            <a:r>
              <a:rPr sz="1150" b="0">
                <a:solidFill>
                  <a:srgbClr val="1A1A1A"/>
                </a:solidFill>
                <a:latin typeface="Abadi"/>
              </a:rPr>
              <a:t>▪  Fractionate at the 2-week visit</a:t>
            </a:r>
          </a:p>
          <a:p>
            <a:pPr algn="l">
              <a:spcAft>
                <a:spcPts val="300"/>
              </a:spcAft>
            </a:pPr>
            <a:r>
              <a:rPr sz="1150" b="0">
                <a:solidFill>
                  <a:srgbClr val="1A1A1A"/>
                </a:solidFill>
                <a:latin typeface="Abadi"/>
              </a:rPr>
              <a:t>▪  Two weeks of waiting is the delay</a:t>
            </a:r>
          </a:p>
        </p:txBody>
      </p:sp>
      <p:sp>
        <p:nvSpPr>
          <p:cNvPr id="16" name="Rectangle 15"/>
          <p:cNvSpPr/>
          <p:nvPr/>
        </p:nvSpPr>
        <p:spPr>
          <a:xfrm>
            <a:off x="3364992" y="1773936"/>
            <a:ext cx="2633472" cy="25146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731520"/>
          </a:xfrm>
          <a:prstGeom prst="rect">
            <a:avLst/>
          </a:prstGeom>
          <a:noFill/>
        </p:spPr>
        <p:txBody>
          <a:bodyPr wrap="square" lIns="0" rIns="0" tIns="18288" bIns="18288" anchor="t">
            <a:spAutoFit/>
          </a:bodyPr>
          <a:lstStyle/>
          <a:p>
            <a:pPr algn="l"/>
            <a:r>
              <a:rPr sz="1400" b="1">
                <a:solidFill>
                  <a:srgbClr val="D97A0B"/>
                </a:solidFill>
                <a:latin typeface="Abadi"/>
              </a:rPr>
              <a:t>"The stools look yellow"</a:t>
            </a:r>
          </a:p>
        </p:txBody>
      </p:sp>
      <p:sp>
        <p:nvSpPr>
          <p:cNvPr id="19" name="TextBox 18"/>
          <p:cNvSpPr txBox="1"/>
          <p:nvPr/>
        </p:nvSpPr>
        <p:spPr>
          <a:xfrm>
            <a:off x="3511296" y="2734056"/>
            <a:ext cx="2340864" cy="146304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Parents misread pale stools</a:t>
            </a:r>
          </a:p>
          <a:p>
            <a:pPr algn="l">
              <a:spcAft>
                <a:spcPts val="300"/>
              </a:spcAft>
            </a:pPr>
            <a:r>
              <a:rPr sz="1150" b="0">
                <a:solidFill>
                  <a:srgbClr val="1A1A1A"/>
                </a:solidFill>
                <a:latin typeface="Abadi"/>
              </a:rPr>
              <a:t>▪  Look yourself; use the card</a:t>
            </a:r>
          </a:p>
          <a:p>
            <a:pPr algn="l">
              <a:spcAft>
                <a:spcPts val="300"/>
              </a:spcAft>
            </a:pPr>
            <a:r>
              <a:rPr sz="1150" b="0">
                <a:solidFill>
                  <a:srgbClr val="1A1A1A"/>
                </a:solidFill>
                <a:latin typeface="Abadi"/>
              </a:rPr>
              <a:t>▪  Pale can be intermittent</a:t>
            </a:r>
          </a:p>
        </p:txBody>
      </p:sp>
      <p:sp>
        <p:nvSpPr>
          <p:cNvPr id="20" name="Rectangle 19"/>
          <p:cNvSpPr/>
          <p:nvPr/>
        </p:nvSpPr>
        <p:spPr>
          <a:xfrm>
            <a:off x="6181344" y="1773936"/>
            <a:ext cx="2633472" cy="25146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731520"/>
          </a:xfrm>
          <a:prstGeom prst="rect">
            <a:avLst/>
          </a:prstGeom>
          <a:noFill/>
        </p:spPr>
        <p:txBody>
          <a:bodyPr wrap="square" lIns="0" rIns="0" tIns="18288" bIns="18288" anchor="t">
            <a:spAutoFit/>
          </a:bodyPr>
          <a:lstStyle/>
          <a:p>
            <a:pPr algn="l"/>
            <a:r>
              <a:rPr sz="1400" b="1">
                <a:solidFill>
                  <a:srgbClr val="1B355E"/>
                </a:solidFill>
                <a:latin typeface="Abadi"/>
              </a:rPr>
              <a:t>"Total bilirubin is falling"</a:t>
            </a:r>
          </a:p>
        </p:txBody>
      </p:sp>
      <p:sp>
        <p:nvSpPr>
          <p:cNvPr id="23" name="TextBox 22"/>
          <p:cNvSpPr txBox="1"/>
          <p:nvPr/>
        </p:nvSpPr>
        <p:spPr>
          <a:xfrm>
            <a:off x="6327648" y="2734056"/>
            <a:ext cx="2340864" cy="146304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Physiological fall hides a rising direct fraction</a:t>
            </a:r>
          </a:p>
          <a:p>
            <a:pPr algn="l">
              <a:spcAft>
                <a:spcPts val="300"/>
              </a:spcAft>
            </a:pPr>
            <a:r>
              <a:rPr sz="1150" b="0">
                <a:solidFill>
                  <a:srgbClr val="1A1A1A"/>
                </a:solidFill>
                <a:latin typeface="Abadi"/>
              </a:rPr>
              <a:t>▪  Ask for the direct value</a:t>
            </a:r>
          </a:p>
          <a:p>
            <a:pPr algn="l">
              <a:spcAft>
                <a:spcPts val="300"/>
              </a:spcAft>
            </a:pPr>
            <a:r>
              <a:rPr sz="1150" b="0">
                <a:solidFill>
                  <a:srgbClr val="1A1A1A"/>
                </a:solidFill>
                <a:latin typeface="Abadi"/>
              </a:rPr>
              <a:t>▪  Prior high DB counts</a:t>
            </a:r>
          </a:p>
        </p:txBody>
      </p:sp>
      <p:sp>
        <p:nvSpPr>
          <p:cNvPr id="24" name="Rectangle 23"/>
          <p:cNvSpPr/>
          <p:nvPr/>
        </p:nvSpPr>
        <p:spPr>
          <a:xfrm>
            <a:off x="8997696" y="1773936"/>
            <a:ext cx="2633472" cy="251460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731520"/>
          </a:xfrm>
          <a:prstGeom prst="rect">
            <a:avLst/>
          </a:prstGeom>
          <a:noFill/>
        </p:spPr>
        <p:txBody>
          <a:bodyPr wrap="square" lIns="0" rIns="0" tIns="18288" bIns="18288" anchor="t">
            <a:spAutoFit/>
          </a:bodyPr>
          <a:lstStyle/>
          <a:p>
            <a:pPr algn="l"/>
            <a:r>
              <a:rPr sz="1400" b="1">
                <a:solidFill>
                  <a:srgbClr val="8A939B"/>
                </a:solidFill>
                <a:latin typeface="Abadi"/>
              </a:rPr>
              <a:t>"Too old for a Kasai"</a:t>
            </a:r>
          </a:p>
        </p:txBody>
      </p:sp>
      <p:sp>
        <p:nvSpPr>
          <p:cNvPr id="27" name="TextBox 26"/>
          <p:cNvSpPr txBox="1"/>
          <p:nvPr/>
        </p:nvSpPr>
        <p:spPr>
          <a:xfrm>
            <a:off x="9144000" y="2734056"/>
            <a:ext cx="2340864" cy="146304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One in five still keep the liver</a:t>
            </a:r>
          </a:p>
          <a:p>
            <a:pPr algn="l">
              <a:spcAft>
                <a:spcPts val="300"/>
              </a:spcAft>
            </a:pPr>
            <a:r>
              <a:rPr sz="1150" b="0">
                <a:solidFill>
                  <a:srgbClr val="1A1A1A"/>
                </a:solidFill>
                <a:latin typeface="Abadi"/>
              </a:rPr>
              <a:t>▪  Judge the liver, not the date</a:t>
            </a:r>
          </a:p>
          <a:p>
            <a:pPr algn="l">
              <a:spcAft>
                <a:spcPts val="300"/>
              </a:spcAft>
            </a:pPr>
            <a:r>
              <a:rPr sz="1150" b="0">
                <a:solidFill>
                  <a:srgbClr val="1A1A1A"/>
                </a:solidFill>
                <a:latin typeface="Abadi"/>
              </a:rPr>
              <a:t>▪  Discuss with a transplant centre</a:t>
            </a:r>
          </a:p>
        </p:txBody>
      </p:sp>
      <p:sp>
        <p:nvSpPr>
          <p:cNvPr id="28" name="TextBox 27"/>
          <p:cNvSpPr txBox="1"/>
          <p:nvPr/>
        </p:nvSpPr>
        <p:spPr>
          <a:xfrm>
            <a:off x="548640" y="4526280"/>
            <a:ext cx="11082528" cy="1280160"/>
          </a:xfrm>
          <a:prstGeom prst="rect">
            <a:avLst/>
          </a:prstGeom>
          <a:noFill/>
        </p:spPr>
        <p:txBody>
          <a:bodyPr wrap="square" lIns="0" rIns="0" tIns="18288" bIns="18288" anchor="t">
            <a:spAutoFit/>
          </a:bodyPr>
          <a:lstStyle/>
          <a:p>
            <a:pPr algn="l">
              <a:spcAft>
                <a:spcPts val="600"/>
              </a:spcAft>
            </a:pPr>
            <a:r>
              <a:rPr sz="1250" b="1">
                <a:solidFill>
                  <a:srgbClr val="1B355E"/>
                </a:solidFill>
                <a:latin typeface="Abadi"/>
              </a:rPr>
              <a:t>And one more.  </a:t>
            </a:r>
            <a:r>
              <a:rPr sz="1250" b="0">
                <a:solidFill>
                  <a:srgbClr val="1A1A1A"/>
                </a:solidFill>
                <a:latin typeface="Abadi"/>
              </a:rPr>
              <a:t>Treating the 60-day mark as a deadline that has already passed when the infant is 62 days old: the curve is continuous, and the next week still matters as much as the last.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The numbers worth carrying onto the ward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Fanna 2019 · Schreiber 2007 · Serinet 2009 · Hoshino 2023 · Yang 2022 · Lien 2011 · Harpavat 2020 · McKiernan 2000 · Davenport 2011 · PHIS 2021</a:t>
            </a:r>
          </a:p>
        </p:txBody>
      </p:sp>
      <p:sp>
        <p:nvSpPr>
          <p:cNvPr id="12" name="TextBox 11"/>
          <p:cNvSpPr txBox="1"/>
          <p:nvPr/>
        </p:nvSpPr>
        <p:spPr>
          <a:xfrm>
            <a:off x="548640" y="1810512"/>
            <a:ext cx="11082528" cy="3931920"/>
          </a:xfrm>
          <a:prstGeom prst="rect">
            <a:avLst/>
          </a:prstGeom>
          <a:noFill/>
        </p:spPr>
        <p:txBody>
          <a:bodyPr wrap="square" lIns="0" rIns="0" tIns="18288" bIns="18288" anchor="t">
            <a:spAutoFit/>
          </a:bodyPr>
          <a:lstStyle/>
          <a:p>
            <a:pPr algn="l">
              <a:spcAft>
                <a:spcPts val="900"/>
              </a:spcAft>
            </a:pPr>
            <a:r>
              <a:rPr sz="1500" b="0">
                <a:solidFill>
                  <a:srgbClr val="1A1A1A"/>
                </a:solidFill>
                <a:latin typeface="Abadi"/>
              </a:rPr>
              <a:t>▪  No safe age and no futile age: native-liver survival falls continuously with age at the Kasai.</a:t>
            </a:r>
          </a:p>
          <a:p>
            <a:pPr algn="l">
              <a:spcAft>
                <a:spcPts val="900"/>
              </a:spcAft>
            </a:pPr>
            <a:r>
              <a:rPr sz="1500" b="0">
                <a:solidFill>
                  <a:srgbClr val="1A1A1A"/>
                </a:solidFill>
                <a:latin typeface="Abadi"/>
              </a:rPr>
              <a:t>▪  France: native liver at 25 years 38% (first month), 27%, 22%, 19% (after 3 months).</a:t>
            </a:r>
          </a:p>
          <a:p>
            <a:pPr algn="l">
              <a:spcAft>
                <a:spcPts val="900"/>
              </a:spcAft>
            </a:pPr>
            <a:r>
              <a:rPr sz="1500" b="0">
                <a:solidFill>
                  <a:srgbClr val="1A1A1A"/>
                </a:solidFill>
                <a:latin typeface="Abadi"/>
              </a:rPr>
              <a:t>▪  Canada: native liver at 4 years 49% (≤ 30 days), 36% (31–90), 23% (&gt; 90).</a:t>
            </a:r>
          </a:p>
          <a:p>
            <a:pPr algn="l">
              <a:spcAft>
                <a:spcPts val="900"/>
              </a:spcAft>
            </a:pPr>
            <a:r>
              <a:rPr sz="1500" b="0">
                <a:solidFill>
                  <a:srgbClr val="1A1A1A"/>
                </a:solidFill>
                <a:latin typeface="Abadi"/>
              </a:rPr>
              <a:t>▪  Meta-analysis: ≤ 30 days vs later, RR 1.22 for native-liver survival; later Kasai HR 2.12 for transplant.</a:t>
            </a:r>
          </a:p>
          <a:p>
            <a:pPr algn="l">
              <a:spcAft>
                <a:spcPts val="900"/>
              </a:spcAft>
            </a:pPr>
            <a:r>
              <a:rPr sz="1500" b="0">
                <a:solidFill>
                  <a:srgbClr val="1A1A1A"/>
                </a:solidFill>
                <a:latin typeface="Abadi"/>
              </a:rPr>
              <a:t>▪  USA 2016–2019: median 57 days; 45% at 60 days or later; hospital medians from 38 to 76 days.</a:t>
            </a:r>
          </a:p>
          <a:p>
            <a:pPr algn="l">
              <a:spcAft>
                <a:spcPts val="900"/>
              </a:spcAft>
            </a:pPr>
            <a:r>
              <a:rPr sz="1500" b="0">
                <a:solidFill>
                  <a:srgbClr val="1A1A1A"/>
                </a:solidFill>
                <a:latin typeface="Abadi"/>
              </a:rPr>
              <a:t>▪  Taiwan stool cards: Kasai before 60 days 49% → 66%; 5-year survival 56% → 89%.</a:t>
            </a:r>
          </a:p>
          <a:p>
            <a:pPr algn="l">
              <a:spcAft>
                <a:spcPts val="900"/>
              </a:spcAft>
            </a:pPr>
            <a:r>
              <a:rPr sz="1500" b="0">
                <a:solidFill>
                  <a:srgbClr val="1A1A1A"/>
                </a:solidFill>
                <a:latin typeface="Abadi"/>
              </a:rPr>
              <a:t>▪  Texas blood screening: 7 of 7 cases found, mean Kasai 56 → 36 days, positive predictive value 5.9%.</a:t>
            </a:r>
          </a:p>
          <a:p>
            <a:pPr algn="l">
              <a:spcAft>
                <a:spcPts val="900"/>
              </a:spcAft>
            </a:pPr>
            <a:r>
              <a:rPr sz="1500" b="0">
                <a:solidFill>
                  <a:srgbClr val="1A1A1A"/>
                </a:solidFill>
                <a:latin typeface="Abadi"/>
              </a:rPr>
              <a:t>▪  UK and Ireland 1993–95: native liver at 5 years 61% in centres &gt; 5 cases a year vs 14% in smaller ones.</a:t>
            </a:r>
          </a:p>
          <a:p>
            <a:pPr algn="l">
              <a:spcAft>
                <a:spcPts val="900"/>
              </a:spcAft>
            </a:pPr>
            <a:r>
              <a:rPr sz="1500" b="0">
                <a:solidFill>
                  <a:srgbClr val="1A1A1A"/>
                </a:solidFill>
                <a:latin typeface="Abadi"/>
              </a:rPr>
              <a:t>▪  England after centralisation: clearance 55%, native liver 46% at 5 years, survival 90%.</a:t>
            </a:r>
          </a:p>
          <a:p>
            <a:pPr algn="l">
              <a:spcAft>
                <a:spcPts val="900"/>
              </a:spcAft>
            </a:pPr>
            <a:r>
              <a:rPr sz="1500" b="0">
                <a:solidFill>
                  <a:srgbClr val="1A1A1A"/>
                </a:solidFill>
                <a:latin typeface="Abadi"/>
              </a:rPr>
              <a:t>▪  AAP 2025: test direct bilirubin at 2–4 weeks; ≥ 1 mg/dL is urgent; aim for a Kasai before 30 days.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Applying the timing logic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Synthesis of the sources above</a:t>
            </a:r>
          </a:p>
        </p:txBody>
      </p:sp>
      <p:graphicFrame>
        <p:nvGraphicFramePr>
          <p:cNvPr id="12" name="Table 11"/>
          <p:cNvGraphicFramePr>
            <a:graphicFrameLocks noGrp="1"/>
          </p:cNvGraphicFramePr>
          <p:nvPr/>
        </p:nvGraphicFramePr>
        <p:xfrm>
          <a:off x="548640" y="1783080"/>
          <a:ext cx="11082528" cy="3840480"/>
        </p:xfrm>
        <a:graphic>
          <a:graphicData uri="http://schemas.openxmlformats.org/drawingml/2006/table">
            <a:tbl>
              <a:tblPr firstRow="0" bandRow="0">
                <a:tableStyleId>{5940675A-B579-460E-94D1-54222C63F5DA}</a:tableStyleId>
              </a:tblPr>
              <a:tblGrid>
                <a:gridCol w="5577840"/>
                <a:gridCol w="5504688"/>
              </a:tblGrid>
              <a:tr h="548640">
                <a:tc>
                  <a:txBody>
                    <a:bodyPr wrap="square"/>
                    <a:lstStyle/>
                    <a:p>
                      <a:r>
                        <a:rPr sz="1100" b="1">
                          <a:solidFill>
                            <a:srgbClr val="FFFFFF"/>
                          </a:solidFill>
                          <a:latin typeface="Abadi"/>
                        </a:rPr>
                        <a:t>Scenario</a:t>
                      </a:r>
                    </a:p>
                  </a:txBody>
                  <a:tcPr marL="73152" marR="73152" marT="27432" marB="27432" anchor="ctr">
                    <a:solidFill>
                      <a:srgbClr val="1B355E"/>
                    </a:solidFill>
                  </a:tcPr>
                </a:tc>
                <a:tc>
                  <a:txBody>
                    <a:bodyPr wrap="square"/>
                    <a:lstStyle/>
                    <a:p>
                      <a:r>
                        <a:rPr sz="1100" b="1">
                          <a:solidFill>
                            <a:srgbClr val="FFFFFF"/>
                          </a:solidFill>
                          <a:latin typeface="Abadi"/>
                        </a:rPr>
                        <a:t>Decision</a:t>
                      </a:r>
                    </a:p>
                  </a:txBody>
                  <a:tcPr marL="73152" marR="73152" marT="27432" marB="27432" anchor="ctr">
                    <a:solidFill>
                      <a:srgbClr val="1B355E"/>
                    </a:solidFill>
                  </a:tcPr>
                </a:tc>
              </a:tr>
              <a:tr h="548640">
                <a:tc>
                  <a:txBody>
                    <a:bodyPr wrap="square"/>
                    <a:lstStyle/>
                    <a:p>
                      <a:r>
                        <a:rPr sz="1100" b="1">
                          <a:solidFill>
                            <a:srgbClr val="1A1A1A"/>
                          </a:solidFill>
                          <a:latin typeface="Abadi"/>
                        </a:rPr>
                        <a:t>2-week visit, breastfed, mildly jaundiced, stools look normal to the parents</a:t>
                      </a:r>
                    </a:p>
                  </a:txBody>
                  <a:tcPr marL="73152" marR="73152" marT="27432" marB="27432" anchor="ctr">
                    <a:solidFill>
                      <a:srgbClr val="FFFFFF"/>
                    </a:solidFill>
                  </a:tcPr>
                </a:tc>
                <a:tc>
                  <a:txBody>
                    <a:bodyPr wrap="square"/>
                    <a:lstStyle/>
                    <a:p>
                      <a:r>
                        <a:rPr sz="1100" b="0">
                          <a:solidFill>
                            <a:srgbClr val="1A1A1A"/>
                          </a:solidFill>
                          <a:latin typeface="Abadi"/>
                        </a:rPr>
                        <a:t>Fractionated bilirubin today; show the stool card; do not defer to 4 weeks</a:t>
                      </a:r>
                    </a:p>
                  </a:txBody>
                  <a:tcPr marL="73152" marR="73152" marT="27432" marB="27432" anchor="ctr">
                    <a:solidFill>
                      <a:srgbClr val="FFFFFF"/>
                    </a:solidFill>
                  </a:tcPr>
                </a:tc>
              </a:tr>
              <a:tr h="548640">
                <a:tc>
                  <a:txBody>
                    <a:bodyPr wrap="square"/>
                    <a:lstStyle/>
                    <a:p>
                      <a:r>
                        <a:rPr sz="1100" b="1">
                          <a:solidFill>
                            <a:srgbClr val="1A1A1A"/>
                          </a:solidFill>
                          <a:latin typeface="Abadi"/>
                        </a:rPr>
                        <a:t>5-week-old, direct bilirubin 1.8 mg/dL, pale stools, ultrasound booked for next week</a:t>
                      </a:r>
                    </a:p>
                  </a:txBody>
                  <a:tcPr marL="73152" marR="73152" marT="27432" marB="27432" anchor="ctr">
                    <a:solidFill>
                      <a:srgbClr val="F2F4F7"/>
                    </a:solidFill>
                  </a:tcPr>
                </a:tc>
                <a:tc>
                  <a:txBody>
                    <a:bodyPr wrap="square"/>
                    <a:lstStyle/>
                    <a:p>
                      <a:r>
                        <a:rPr sz="1100" b="0">
                          <a:solidFill>
                            <a:srgbClr val="1A1A1A"/>
                          </a:solidFill>
                          <a:latin typeface="Abadi"/>
                        </a:rPr>
                        <a:t>Same-week hepatology admission; vitamin K; parallel work-up; cholangiogram within days</a:t>
                      </a:r>
                    </a:p>
                  </a:txBody>
                  <a:tcPr marL="73152" marR="73152" marT="27432" marB="27432" anchor="ctr">
                    <a:solidFill>
                      <a:srgbClr val="F2F4F7"/>
                    </a:solidFill>
                  </a:tcPr>
                </a:tc>
              </a:tr>
              <a:tr h="548640">
                <a:tc>
                  <a:txBody>
                    <a:bodyPr wrap="square"/>
                    <a:lstStyle/>
                    <a:p>
                      <a:r>
                        <a:rPr sz="1100" b="1">
                          <a:solidFill>
                            <a:srgbClr val="1A1A1A"/>
                          </a:solidFill>
                          <a:latin typeface="Abadi"/>
                        </a:rPr>
                        <a:t>Newborn screen direct bilirubin above reference, repeat at 2 weeks higher</a:t>
                      </a:r>
                    </a:p>
                  </a:txBody>
                  <a:tcPr marL="73152" marR="73152" marT="27432" marB="27432" anchor="ctr">
                    <a:solidFill>
                      <a:srgbClr val="FFFFFF"/>
                    </a:solidFill>
                  </a:tcPr>
                </a:tc>
                <a:tc>
                  <a:txBody>
                    <a:bodyPr wrap="square"/>
                    <a:lstStyle/>
                    <a:p>
                      <a:r>
                        <a:rPr sz="1100" b="0">
                          <a:solidFill>
                            <a:srgbClr val="1A1A1A"/>
                          </a:solidFill>
                          <a:latin typeface="Abadi"/>
                        </a:rPr>
                        <a:t>Treat as atresia until excluded; refer the same day</a:t>
                      </a:r>
                    </a:p>
                  </a:txBody>
                  <a:tcPr marL="73152" marR="73152" marT="27432" marB="27432" anchor="ctr">
                    <a:solidFill>
                      <a:srgbClr val="FFFFFF"/>
                    </a:solidFill>
                  </a:tcPr>
                </a:tc>
              </a:tr>
              <a:tr h="548640">
                <a:tc>
                  <a:txBody>
                    <a:bodyPr wrap="square"/>
                    <a:lstStyle/>
                    <a:p>
                      <a:r>
                        <a:rPr sz="1100" b="1">
                          <a:solidFill>
                            <a:srgbClr val="1A1A1A"/>
                          </a:solidFill>
                          <a:latin typeface="Abadi"/>
                        </a:rPr>
                        <a:t>10-week-old, atresia likely, no ascites, INR normal after vitamin K</a:t>
                      </a:r>
                    </a:p>
                  </a:txBody>
                  <a:tcPr marL="73152" marR="73152" marT="27432" marB="27432" anchor="ctr">
                    <a:solidFill>
                      <a:srgbClr val="F2F4F7"/>
                    </a:solidFill>
                  </a:tcPr>
                </a:tc>
                <a:tc>
                  <a:txBody>
                    <a:bodyPr wrap="square"/>
                    <a:lstStyle/>
                    <a:p>
                      <a:r>
                        <a:rPr sz="1100" b="0">
                          <a:solidFill>
                            <a:srgbClr val="1A1A1A"/>
                          </a:solidFill>
                          <a:latin typeface="Abadi"/>
                        </a:rPr>
                        <a:t>Kasai now in an experienced centre; counsel that transplant is likely later</a:t>
                      </a:r>
                    </a:p>
                  </a:txBody>
                  <a:tcPr marL="73152" marR="73152" marT="27432" marB="27432" anchor="ctr">
                    <a:solidFill>
                      <a:srgbClr val="F2F4F7"/>
                    </a:solidFill>
                  </a:tcPr>
                </a:tc>
              </a:tr>
              <a:tr h="548640">
                <a:tc>
                  <a:txBody>
                    <a:bodyPr wrap="square"/>
                    <a:lstStyle/>
                    <a:p>
                      <a:r>
                        <a:rPr sz="1100" b="1">
                          <a:solidFill>
                            <a:srgbClr val="1A1A1A"/>
                          </a:solidFill>
                          <a:latin typeface="Abadi"/>
                        </a:rPr>
                        <a:t>16-week-old, ascites, INR 2.0 despite vitamin K, cirrhotic liver</a:t>
                      </a:r>
                    </a:p>
                  </a:txBody>
                  <a:tcPr marL="73152" marR="73152" marT="27432" marB="27432" anchor="ctr">
                    <a:solidFill>
                      <a:srgbClr val="FFFFFF"/>
                    </a:solidFill>
                  </a:tcPr>
                </a:tc>
                <a:tc>
                  <a:txBody>
                    <a:bodyPr wrap="square"/>
                    <a:lstStyle/>
                    <a:p>
                      <a:r>
                        <a:rPr sz="1100" b="0">
                          <a:solidFill>
                            <a:srgbClr val="1A1A1A"/>
                          </a:solidFill>
                          <a:latin typeface="Abadi"/>
                        </a:rPr>
                        <a:t>Transplant assessment first; Kasai unlikely to help</a:t>
                      </a:r>
                    </a:p>
                  </a:txBody>
                  <a:tcPr marL="73152" marR="73152" marT="27432" marB="27432" anchor="ctr">
                    <a:solidFill>
                      <a:srgbClr val="FFFFFF"/>
                    </a:solidFill>
                  </a:tcPr>
                </a:tc>
              </a:tr>
              <a:tr h="548640">
                <a:tc>
                  <a:txBody>
                    <a:bodyPr wrap="square"/>
                    <a:lstStyle/>
                    <a:p>
                      <a:r>
                        <a:rPr sz="1100" b="1">
                          <a:solidFill>
                            <a:srgbClr val="1A1A1A"/>
                          </a:solidFill>
                          <a:latin typeface="Abadi"/>
                        </a:rPr>
                        <a:t>Local surgeon offers a Kasai; centre does one a year</a:t>
                      </a:r>
                    </a:p>
                  </a:txBody>
                  <a:tcPr marL="73152" marR="73152" marT="27432" marB="27432" anchor="ctr">
                    <a:solidFill>
                      <a:srgbClr val="F2F4F7"/>
                    </a:solidFill>
                  </a:tcPr>
                </a:tc>
                <a:tc>
                  <a:txBody>
                    <a:bodyPr wrap="square"/>
                    <a:lstStyle/>
                    <a:p>
                      <a:r>
                        <a:rPr sz="1100" b="0">
                          <a:solidFill>
                            <a:srgbClr val="1A1A1A"/>
                          </a:solidFill>
                          <a:latin typeface="Abadi"/>
                        </a:rPr>
                        <a:t>Transfer to a high-volume centre if it adds days, not weeks</a:t>
                      </a:r>
                    </a:p>
                  </a:txBody>
                  <a:tcPr marL="73152" marR="73152" marT="27432" marB="27432" anchor="ctr">
                    <a:solidFill>
                      <a:srgbClr val="F2F4F7"/>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0" rIns="0" tIns="18288" bIns="18288" anchor="b">
            <a:spAutoFit/>
          </a:bodyPr>
          <a:lstStyle/>
          <a:p>
            <a:pPr algn="ctr"/>
            <a:r>
              <a:rPr sz="4000" b="1">
                <a:solidFill>
                  <a:srgbClr val="FFFFFF"/>
                </a:solidFill>
                <a:latin typeface="Abadi"/>
              </a:rPr>
              <a:t>Biliary Atresia IV: Timing of the Kasai — Age Thresholds, Screening Programmes and Centralisation</a:t>
            </a:r>
          </a:p>
        </p:txBody>
      </p:sp>
      <p:sp>
        <p:nvSpPr>
          <p:cNvPr id="4" name="Rectangle 3"/>
          <p:cNvSpPr/>
          <p:nvPr/>
        </p:nvSpPr>
        <p:spPr>
          <a:xfrm>
            <a:off x="5184648" y="3630168"/>
            <a:ext cx="182880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0" rIns="0" tIns="18288" bIns="18288" anchor="t">
            <a:spAutoFit/>
          </a:bodyPr>
          <a:lstStyle/>
          <a:p>
            <a:pPr algn="ctr"/>
            <a:r>
              <a:rPr sz="1700" b="1">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