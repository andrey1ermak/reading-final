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 snapToObjects="1">
      <p:cViewPr varScale="1">
        <p:scale>
          <a:sx n="113" d="100"/>
          <a:sy n="113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5EFD2-6B9F-ED48-9627-5D0406205D88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63BC4-D5D6-7641-8A78-42B77B19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1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63BC4-D5D6-7641-8A78-42B77B19EA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91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63BC4-D5D6-7641-8A78-42B77B19EA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8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63BC4-D5D6-7641-8A78-42B77B19EA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93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63BC4-D5D6-7641-8A78-42B77B19EA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83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Synthetic Function and Haemostasis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LIVER MAKES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Every test on the panel measures one side of a system in which the liver makes both sides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504660"/>
              </p:ext>
            </p:extLst>
          </p:nvPr>
        </p:nvGraphicFramePr>
        <p:xfrm>
          <a:off x="548640" y="1770000"/>
          <a:ext cx="11094720" cy="4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System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Made by the hepatocyte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Made elsewhere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In liver disease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Procoagulant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Fibrinogen; II, V, VII, IX, X, XI, XIII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Factor VIII (sinusoidal and other endothelium)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Hepatic factors fall; factor VIII rises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Anticoagulant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Antithrombin, protein C, protein 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Thrombomodulin (endothelium)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Fall in step with the procoagulants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Primary haemostasis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Thrombopoietin; ADAMTS13 (stellate cells)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Platelets; von Willebrand factor (endothelium)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Platelets fall; VWF rises, ADAMTS13 falls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Fibrinolysis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Plasminogen, α2-antiplasmin, TAFI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tPA and PAI-1 (endothelium)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Both sides fall; net effect varies by patient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γ-carboxylation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Vitamin K-dependent carboxylase acts on II, VII, IX, X, C,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Vitamin K from diet and gut flora, absorbed with bile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Cholestasis starves the enzyme without any loss of hepatocytes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Lisman T, Porte RJ. Blood 2010;116:878–85 · Tripodi A, Mannucci PM. N Engl J Med 2011;365:147–56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FALLS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Approximate plasma half-life, hours (midpoint of the usual range)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76814"/>
            <a:ext cx="35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Factor VII (4–6 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8640" y="1996814"/>
            <a:ext cx="308736" cy="25065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7376" y="199681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5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81099"/>
            <a:ext cx="35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Factor VIII (8–12 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8640" y="2401099"/>
            <a:ext cx="617472" cy="2506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76112" y="240109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10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5384"/>
            <a:ext cx="35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Factor IX (18–24 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8640" y="2805384"/>
            <a:ext cx="1296691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55331" y="280538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21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89669"/>
            <a:ext cx="35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Factor V (12–36 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8640" y="3209669"/>
            <a:ext cx="1481932" cy="25065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40572" y="320966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24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93954"/>
            <a:ext cx="35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Factor X (30–48 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8640" y="3613954"/>
            <a:ext cx="2469888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8528" y="361395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40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98239"/>
            <a:ext cx="35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Prothrombin (60–72 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8640" y="4018239"/>
            <a:ext cx="4075315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3955" y="401823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66 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02524"/>
            <a:ext cx="35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Fibrinogen (3–5 days)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8640" y="4422524"/>
            <a:ext cx="5927731" cy="2506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86371" y="442252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96 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 dirty="0">
                <a:solidFill>
                  <a:srgbClr val="1A1A1A"/>
                </a:solidFill>
                <a:latin typeface="Abadi"/>
              </a:rPr>
              <a:t>Factor VII sets the prothrombin time, so the INR moves within hours of a change in synthesis; albumin (half-life about 3 weeks) moves over weeks.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 dirty="0">
                <a:solidFill>
                  <a:srgbClr val="1A1A1A"/>
                </a:solidFill>
                <a:latin typeface="Abadi"/>
              </a:rPr>
              <a:t>— The INR is the liver's fast clock and albumin its slow one. Read both before calling a trend.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Approximate plasma half-lives, standard haemostasis references · Tripodi A, Mannucci PM. N Engl J Med 2011;365:147–56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DEVELOPMENTAL HAEMOSTASIS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NEWBORN IS REBALANCED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Mean plasma levels, % of adult pooled plasma, 118 healthy term infants, Hamilton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7060" y="3826000"/>
            <a:ext cx="420000" cy="654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7060" y="35960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48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7060" y="3008500"/>
            <a:ext cx="420000" cy="1471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7060" y="27785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0000"/>
            <a:ext cx="1386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3900" y="3499000"/>
            <a:ext cx="420000" cy="981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73900" y="32690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43900" y="3035750"/>
            <a:ext cx="420000" cy="144425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23900" y="280575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5480" y="4540000"/>
            <a:ext cx="1386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0740" y="3580750"/>
            <a:ext cx="420000" cy="89925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0740" y="335075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66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30740" y="3049375"/>
            <a:ext cx="420000" cy="143062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10740" y="2819375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2320" y="4540000"/>
            <a:ext cx="1386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VII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7580" y="3117500"/>
            <a:ext cx="420000" cy="13625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7580" y="28875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7580" y="3131125"/>
            <a:ext cx="420000" cy="134887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97580" y="2901125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540000"/>
            <a:ext cx="1386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VIII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4420" y="2395375"/>
            <a:ext cx="420000" cy="2084625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4420" y="2165375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153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04420" y="3226500"/>
            <a:ext cx="420000" cy="1253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84420" y="29965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0" y="4540000"/>
            <a:ext cx="1386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VWF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41260" y="3621625"/>
            <a:ext cx="420000" cy="858375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21260" y="3391625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63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91260" y="3049375"/>
            <a:ext cx="420000" cy="143062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71260" y="2819375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82840" y="4540000"/>
            <a:ext cx="1386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Antithrombin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28100" y="4003125"/>
            <a:ext cx="420000" cy="476875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08100" y="3773125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35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78100" y="3172000"/>
            <a:ext cx="420000" cy="130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58100" y="29420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540000"/>
            <a:ext cx="1386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Protein 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14940" y="3989500"/>
            <a:ext cx="420000" cy="4905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94940" y="37595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36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64940" y="3226500"/>
            <a:ext cx="420000" cy="1253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44940" y="29965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6520" y="4540000"/>
            <a:ext cx="1386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Protein 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443360" y="1830000"/>
            <a:ext cx="200000" cy="15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03360" y="1790000"/>
            <a:ext cx="130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Abadi"/>
              </a:rPr>
              <a:t>Term, day 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303360" y="1790000"/>
            <a:ext cx="130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Abadi"/>
              </a:rPr>
              <a:t>Adult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Mean level, % of adult plasma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Vitamin K-dependent factors start at about half adult values, and so do the natural anticoagulants; VWF is 1.5 times adult. Day-1 PT is 13.0 s vs 12.4 s at 6 months.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— A neonatal INR is judged against neonatal ranges and the laboratory's own analyser, never against adult cut-offs.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Andrew M, et al. Blood 1987;70:165–72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INR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A TEST BUILT FOR WARFARIN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prothrombin time was invented for obstructive jaundice and standardised for anticoagulant clinics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Its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 dirty="0">
                <a:solidFill>
                  <a:srgbClr val="1A1A1A"/>
                </a:solidFill>
                <a:latin typeface="Abadi"/>
              </a:rPr>
              <a:t>▪  ISI is calibrated on plasma from patients taking vitamin K antagonists.</a:t>
            </a:r>
          </a:p>
          <a:p>
            <a:pPr>
              <a:spcAft>
                <a:spcPts val="1000"/>
              </a:spcAft>
            </a:pPr>
            <a:r>
              <a:rPr sz="1150" b="0" i="0" dirty="0">
                <a:solidFill>
                  <a:srgbClr val="1A1A1A"/>
                </a:solidFill>
                <a:latin typeface="Abadi"/>
              </a:rPr>
              <a:t>▪  It </a:t>
            </a:r>
            <a:r>
              <a:rPr sz="1150" b="0" i="0" dirty="0" err="1">
                <a:solidFill>
                  <a:srgbClr val="1A1A1A"/>
                </a:solidFill>
                <a:latin typeface="Abadi"/>
              </a:rPr>
              <a:t>normalises</a:t>
            </a:r>
            <a:r>
              <a:rPr sz="1150" b="0" i="0" dirty="0">
                <a:solidFill>
                  <a:srgbClr val="1A1A1A"/>
                </a:solidFill>
                <a:latin typeface="Abadi"/>
              </a:rPr>
              <a:t> warfarin, not liver disease.</a:t>
            </a:r>
          </a:p>
          <a:p>
            <a:pPr>
              <a:spcAft>
                <a:spcPts val="1000"/>
              </a:spcAft>
            </a:pPr>
            <a:r>
              <a:rPr sz="1150" b="0" i="0" dirty="0">
                <a:solidFill>
                  <a:srgbClr val="1A1A1A"/>
                </a:solidFill>
                <a:latin typeface="Abadi"/>
              </a:rPr>
              <a:t>▪  Reagent sensitivity differs between laboratories.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What it misses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Ends when &lt; 5% of thrombin has formed.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thrombomodulin, so protein C is never activated.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Blind to platelets, VWF, factor VIII, fibrinolysis.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What it is 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Prognosis: MELD, PELD, PALF entry, LIU score.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Fast marker of synthetic trajectory.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Vitamin K antagonist monitoring.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What it is not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 measure of bleeding risk in liver disease.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 target for plasma before a procedure.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Comparable between two laboratories.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Use the INR as a prognostic score, not as a haemostasis test.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Tripodi A, et al. J Thromb Haemost 2008;6:243–8 · Tripodi A, Mannucci PM. N Engl J Med 2011;365:147–56 · Davis JPE, et al. Hepatol Int 2025;19:1035–50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INR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SAME BLOOD, TWO INRs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29 consecutive listed patients, three clinical laboratories, one phlebotomy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1.4 vs 1.9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Mean INR on the same samples, hospital laboratory vs a second laboratory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+26%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Difference in INR between the two laboratories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13.6 → 17.1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Mean MELD, driven almost entirely by the INR difference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58 → 77th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Change in waiting-list priority centile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 dirty="0">
                <a:solidFill>
                  <a:srgbClr val="1A1A1A"/>
                </a:solidFill>
                <a:latin typeface="Abadi"/>
              </a:rPr>
              <a:t>An INR-liver, calibrated on plasma from patients with cirrhosis instead of warfarin, removes most of this variation but is not in routine use.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 dirty="0">
                <a:solidFill>
                  <a:srgbClr val="1A1A1A"/>
                </a:solidFill>
                <a:latin typeface="Abadi"/>
              </a:rPr>
              <a:t>— PELD and the PALF definitions inherit the same problem: record the laboratory with the number.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Trotter JF, et al. Liver Transpl 2004;10:995–1000 · Tripodi A, et al. J Thromb Haemost 2008;6:243–8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WHICH INR?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VITAMIN K OR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Three causes of a prolonged INR, separated by two factor assays and one injection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499278"/>
              </p:ext>
            </p:extLst>
          </p:nvPr>
        </p:nvGraphicFramePr>
        <p:xfrm>
          <a:off x="548640" y="1770000"/>
          <a:ext cx="11094720" cy="4119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endParaRPr sz="2000" dirty="0"/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Vitamin K deficiency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Hepatocellular failure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Consumption (DIC)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Factor VII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Low — first to fall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Factor V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Normal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Factor VIII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Normal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Normal or high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Fibrinogen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Normal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Normal until late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Low, falling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PIVKA-II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May be raised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informative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After parenteral vitamin K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INR corrects within hours to a day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 meaningful change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 change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Typical setting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Cholestasis, breastfed infant, CF, antibiotics, malabsorption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ALF, decompensated cirrhosis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Sepsis, shock, necrosis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Tripodi A, Mannucci PM. N Engl J Med 2011;365:147–56 · Pereira LM, et al. Gut 1992;33:98–102 · Shearer MJ. Blood Rev 2009;23:49–59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FACTOR V AND VII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READING THE TRIAD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One vitamin K-dependent factor, one that is not, and one the liver does not make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Factor VII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Vitamin K-dependent, shortest half-life.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Falls first in both deficiency and failure.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Most sensitive, least specific.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Factor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Not vitamin K-dependent.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Falls only when hepatocytes fail (or in DIC).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The basis of the Clichy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dirty="0">
                <a:solidFill>
                  <a:srgbClr val="1A1A1A"/>
                </a:solidFill>
                <a:latin typeface="Abadi"/>
              </a:rPr>
              <a:t>Factor VIII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Made outside the hepatocyte.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Rises in liver failure, falls in DIC.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VIII : V ratio &gt; 30 — poor prognosis after paracetamol.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The reading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VII low, V normal → vitamin K.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VII low, V low, VIII high → liver failure.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V low, VIII low → consumption.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Order factors V, VII and VIII together: the pattern, not any single level, gives the answer.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Pereira LM, et al. Gut 1992;33:98–102 · Bismuth H, et al. Ann Surg 1995;222:109–19 · Stravitz RT, et al. J Hepatol 2012;56:129–36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FACTOR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FRENCH PROGNOSTIC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Paul Brousse fulminant hepatitis series and the King's paracetamol cohort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&lt;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Factor V with confusion or coma, age under 30 (Clichy)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&lt;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Factor V with confusion or coma, age 30 or 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 of 139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Patients meeting the criteria who recovered without transplant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Sensitivity of admission factor V ≤ 10% for death after paracetamol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27 King's patients, a VIII : V ratio &gt; 30 was seen in 10 of 11 deaths and in none of the paracetamol survivors; the admission PT did not usefully predict outcome.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Factor V is a pure hepatocyte readout; the INR mixes it with factor VII and vitamin K status.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Bismuth H, et al. Ann Surg 1995;222:109–19 · Pereira LM, et al. Gut 1992;33:98–102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PAEDIATRIC 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FACTORS IN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Single-centre prospective cohort, PALF Study Group entry criteria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0.894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AUROC of factor VII for death or transplant, 40 children with ALF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0.816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AUROC of factor V; peak INR 0.861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93 vs 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Sensitivity, King's criteria vs Clichy criteria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54 vs 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Specificity, King's criteria vs Clichy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PALF entry requires an INR ≥ 1.5 with encephalopathy, or ≥ 2.0 without, not corrected by vitamin K; the dynamic LIU score (bilirubin, INR, ammonia) reached a c-index of 0.81.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In children, Clichy is specific but misses half; King's catches most but over-calls. Neither replaces the trend.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Grama A, et al. Clin Lab 2022;68(8) · Lu BR, et al. J Pediatr 2013;162:1010–6 · Squires RH, et al. J Pediatr 2006;148:652–8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VITAMIN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PROPHYLAXIS FAILS IN CHOLESTASIS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Vitamin K deficiency bleeding at diagnosis of biliary atresia, Dutch and Danish registries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38750"/>
            <a:ext cx="42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Breastfed · 25 µg oral daily (NL)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8640" y="2058750"/>
            <a:ext cx="4560441" cy="4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19081" y="2058750"/>
            <a:ext cx="125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83.3%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6250"/>
            <a:ext cx="42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Breastfed · 2 mg IM at birth (DK)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8640" y="2766250"/>
            <a:ext cx="547472" cy="4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06112" y="2766250"/>
            <a:ext cx="125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53750"/>
            <a:ext cx="42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Breastfed · 1 mg oral weekly (DK)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8640" y="3473750"/>
            <a:ext cx="421553" cy="4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80193" y="3473750"/>
            <a:ext cx="125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1250"/>
            <a:ext cx="42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Formula-fed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8640" y="4181250"/>
            <a:ext cx="54747" cy="4300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13387" y="4181250"/>
            <a:ext cx="125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25 of 30 breastfed infants on the Dutch daily regimen bled. In α1-antitrypsin deficiency the rate was 15 of 20 breastfed vs 0 of 20 formula-fed infants, independent of the conjugated bilirubin.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The bleed is often the first sign of the liver disease: late VKDB is a cholestasis screening failure.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van Hasselt PM, et al. Pediatrics 2008;121:e857–63 · van Hasselt PM, et al. Arch Dis Child Fetal Neonatal Ed 2009;94:F456–60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VITAMIN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WHO IS STILL AT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Breast milk, hydrolysed formula and persistent cholestasis each defeat standard prophylaxis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3–8 wk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Peak age of late VKDB, typically intracranial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4–7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Late VKDB per 100,000 births in Europe without prophylaxis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RR 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Vitamin K deficiency on hydrolysed (whey) formula vs regular formula, cholestatic infants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10–22%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Vitamin K insufficiency after Kasai despite TPGS multivitamin plus extra vitamin 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ChiLDReN, insufficiency of any fat-soluble vitamin was near universal when total bilirubin stayed ≥ 2 mg/dL after portoenterostomy.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PIVKA-II confirms deficiency even several days after vitamin K has been given.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Shearer MJ. Blood Rev 2009;23:49–59 · van Hasselt PM, et al. J Pediatr Gastroenterol Nutr 2010;51:773–6 · Shneider BL, et al. Pediatrics 2012;130:e607–14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VITAMIN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PROPHYLAXIS BY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Every oral regimen leaves a residue of cases, and that residue is the undiagnosed cholestatic infant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157732"/>
              </p:ext>
            </p:extLst>
          </p:nvPr>
        </p:nvGraphicFramePr>
        <p:xfrm>
          <a:off x="548640" y="1770000"/>
          <a:ext cx="11094720" cy="4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System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Regimen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ESPGHAN 2016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1 mg IM at birth; or 2 mg oral × 3 (birth, 4–6 d, 4–6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wk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); or 2 mg then 1 mg weekly × 3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IM preferred; oral unsuitable in cholestasis, preterm or malabsorption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AAP 2003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0.5–1 mg IM single dose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 licensed oral product in the US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Netherlands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1 mg oral at birth, then daily oral 25 µg, later raised sixfold to 150 µg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Intracranial VKDB 3.1 → 1.2 per 100,000 after the sixfold increase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NL ONLY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UK (BPSU 2006–08)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IM, oral or parental choice by unit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11 cases; 3 after IM prophylaxis, 2 of these with biliary atresia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UK ONLY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Cholestatic infant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Parenteral vitamin K on suspicion; do not rely on birth prophylaxis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Oral fails in 1 of 13 even at 1 mg weekly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PAEDS ADDS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Mihatsch WA, et al. J Pediatr Gastroenterol Nutr 2016;63:123–9 · Löwensteyn YN, et al. Eur J Pediatr 2019;178:1033–42 · Busfield A, et al. Arch Dis Child 2013;98:41–7 · AAP 2003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REBALANCED HAEMOSTASIS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BOTH SIDES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liver makes the brakes as well as the accelerator, and loses both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026326"/>
              </p:ext>
            </p:extLst>
          </p:nvPr>
        </p:nvGraphicFramePr>
        <p:xfrm>
          <a:off x="548640" y="1770000"/>
          <a:ext cx="11094720" cy="4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endParaRPr sz="2000" dirty="0"/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Pushes towards bleeding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Pushes towards thrombosis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5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Primary </a:t>
                      </a:r>
                      <a:r>
                        <a:rPr sz="1200" b="1" dirty="0" err="1">
                          <a:solidFill>
                            <a:srgbClr val="1A1A1A"/>
                          </a:solidFill>
                          <a:latin typeface="Abadi"/>
                        </a:rPr>
                        <a:t>haemostasis</a:t>
                      </a:r>
                      <a:endParaRPr sz="1200" b="1" dirty="0">
                        <a:solidFill>
                          <a:srgbClr val="1A1A1A"/>
                        </a:solidFill>
                        <a:latin typeface="Abad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Thrombocytopenia; platelet function defects; high NO and prostacyclin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VWF up to several-fold; ADAMTS13 low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Coagulation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Low II, V, VII, IX, X, XI; low fibrinogen, sometimes dysfunctional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Factor VIII high; antithrombin, protein C and protein S low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5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Fibrinolysis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Low α2-antiplasmin, factor XIII, TAFI; high tPA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Low plasminogen; high PAI-1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5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Net state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 new balance at a lower level, easily tipped by infection, renal failure, portal pressure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Portal vein thrombosis and VTE despite a 'high' INR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Lisman T, Porte RJ. Blood 2010;116:878–85 · Tripodi A, Mannucci PM. N Engl J Med 2011;365:147–56 · Lisman T, et al. Hepatology 2006;44:53–61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REBALANCED HAEMOSTASIS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Once protein C is allowed to work, the cirrhotic or acutely failing liver makes as much thrombin as a healthy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=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Thrombin generation with thrombomodulin in cirrhosis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Mean INR (range 1.5–9.6) in 51 adults with acute liver injury or failure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63%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Of those patients had all five TEG parameters normal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Normal or high thrombin generation in cirrhosis before any plasma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acute liver failure, clot strength rose with the severity of injury and with factor VIII; a low maximum amplitude was confined to platelets below 126 × 10⁹/L.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Bleeding in liver disease is mostly portal pressure and mechanics, not a coagulation-factor deficit.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Tripodi A, et al. Hepatology 2005;41:553–8 · Stravitz RT, et al. J Hepatol 2012;56:129–36 · Rassi AB, et al. J Hepatol 2020;72:85–94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IN CHILDREN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PAEDIATRIC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Rebalance holds in children, but the paediatric evidence is small, single-centre and mostly laboratory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Thrombin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Stockholm, 63 children with chronic liver disease.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Normal routine tests → normal thrombin potential.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Abnormal tests → pro- and anticoagulants both 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Severity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Melbourne, 42 children.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PELD &gt; 15: lower prothrombin conversion and thrombin decay.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Portal vein obstruction differs from parenchymal disease.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ROTEM at 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Seoul, 106 children, 731 ROTEM runs.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EXTEM MCF 30 mm → platelets &lt; 30 (AUC 0.985).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FIBTEM 6 mm → fibrinogen &lt; 100 (AUC 0.876).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Blood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Houston, 72 transplant recipients.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Standard tests AUC 0.862 vs ROTEM 0.760.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Only platelet count predicted bleeding.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Paediatric viscoelastic tests reliably read platelets and fibrinogen; they do not yet predict who will bleed.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Magnusson M, et al. Thromb Res 2015;135:382–7 · Beattie W, et al. Thromb Res 2020;188:65–73 · Cho JK, et al. Liver Transpl 2022;28:1628–39 · Deshotels K, et al.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PLASMA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PLASMA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Plasma improves the number more than the haemostasis, and still rarely normalises the number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10–12%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Patients whose PT corrected to &lt; 3 s above control after 2–6 units of plasma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+5.7%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Rise in thrombin generation after a standard plasma dose, 53 patients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Had lower thrombin generation after plasma than before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 of 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Moved from low to normal thrombin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Plasma replaces protein C along with the procoagulants, adds volume to a high-pressure portal circulation, and carries TACO and TRALI risk.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Plasma before a procedure is a treatment for the INR, not for the patient.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Youssef WI, et al. Am J Gastroenterol 2003;98:1391–4 · Rassi AB, et al. J Hepatol 2020;72:85–94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WHO ACTUALLY BLEEDS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PROC-BLeeD: 20 centres, prospective; INR, platelets and antithrombotics did not predict bleeding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3.0%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Bleeding per procedure (major 0.9%), 3,006 procedures in 1,187 inpatients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OR 4.64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High-risk procedure; MELD OR 2.37, BMI OR 1.40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OR 1.52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Pre-procedure INR and bleeding, meta-analysis of 13,276 patients (95% CI 0.99–2.33)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19 vs 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Prophylactic transfusion given to bleeders vs non-bleeders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critically ill cirrhosis, platelets &lt; 30 × 10⁹/L, fibrinogen &lt; 60 mg/dL and aPTT &gt; 100 s did predict major bleeding — the tail, not the usual range.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The procedure, the disease severity and the operator predict bleeding; the INR does not.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Intagliata NM, et al. Gastroenterology 2023;165:717–32 · Kovalic AJ, et al. Aliment Pharmacol Ther 2020;52:1298–310 · Drolz A, et al. Hepatology 2016;64:556–68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TEG / ROTEM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VET-GUIDED VS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Randomised trials in cirrhosis with severe coagulopathy; % transfused (Kumar: all three components)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62760" y="4149037"/>
            <a:ext cx="420000" cy="330963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42760" y="3919037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16.7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2760" y="2498182"/>
            <a:ext cx="420000" cy="198181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92760" y="2268182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 dirty="0">
                <a:solidFill>
                  <a:srgbClr val="1B355E"/>
                </a:solidFill>
                <a:latin typeface="Abadi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0000"/>
            <a:ext cx="3698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dirty="0">
                <a:solidFill>
                  <a:srgbClr val="1A1A1A"/>
                </a:solidFill>
                <a:latin typeface="Abadi"/>
              </a:rPr>
              <a:t>De Pietri 2016 · adults, procedures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1000" y="3954819"/>
            <a:ext cx="420000" cy="525181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41000" y="3724819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26.5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1000" y="2751855"/>
            <a:ext cx="420000" cy="172814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91000" y="2521855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87.2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880" y="4540000"/>
            <a:ext cx="3698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Kumar 2020 · adults, non-variceal bleed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59240" y="2967873"/>
            <a:ext cx="420000" cy="1512127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9240" y="2737873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76.3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09240" y="2498182"/>
            <a:ext cx="420000" cy="198181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89240" y="2268182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5120" y="4540000"/>
            <a:ext cx="3698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Verma 2026 · children, procedures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443360" y="1830000"/>
            <a:ext cx="200000" cy="15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03360" y="1790000"/>
            <a:ext cx="130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Abadi"/>
              </a:rPr>
              <a:t>Viscoelastic-guided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03360" y="1790000"/>
            <a:ext cx="130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Abadi"/>
              </a:rPr>
              <a:t>INR/platelet-guided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Patients transfused,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 dirty="0">
                <a:solidFill>
                  <a:srgbClr val="1A1A1A"/>
                </a:solidFill>
                <a:latin typeface="Abadi"/>
              </a:rPr>
              <a:t>All three trials: fewer patients transfused, no more bleeding. In the only </a:t>
            </a:r>
            <a:r>
              <a:rPr sz="1200" b="0" i="0" dirty="0" err="1">
                <a:solidFill>
                  <a:srgbClr val="1A1A1A"/>
                </a:solidFill>
                <a:latin typeface="Abadi"/>
              </a:rPr>
              <a:t>paediatric</a:t>
            </a:r>
            <a:r>
              <a:rPr sz="1200" b="0" i="0" dirty="0">
                <a:solidFill>
                  <a:srgbClr val="1A1A1A"/>
                </a:solidFill>
                <a:latin typeface="Abadi"/>
              </a:rPr>
              <a:t> RCT (76 children, INR 2–3.5 or platelets 20–50), volumes were similar and costs higher.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 dirty="0">
                <a:solidFill>
                  <a:srgbClr val="1A1A1A"/>
                </a:solidFill>
                <a:latin typeface="Abadi"/>
              </a:rPr>
              <a:t>— Viscoelastic testing earns its place by licensing the proceduralist not to transfuse.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De Pietri L, et al. Hepatology 2016;63:566–73 · Kumar M, et al. Hepatology 2020;71:235–46 · Verma S, et al. J Pediatr Gastroenterol Nutr 2026;83:474–82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EXPERT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Four readings that separate the consultant from the coagulation screen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Vitamin K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 dirty="0">
                <a:solidFill>
                  <a:srgbClr val="1A1A1A"/>
                </a:solidFill>
                <a:latin typeface="Abadi"/>
              </a:rPr>
              <a:t>▪  Give parenteral vitamin K before calling any INR synthetic.</a:t>
            </a:r>
          </a:p>
          <a:p>
            <a:pPr>
              <a:spcAft>
                <a:spcPts val="1000"/>
              </a:spcAft>
            </a:pPr>
            <a:r>
              <a:rPr sz="1150" b="0" i="0" dirty="0">
                <a:solidFill>
                  <a:srgbClr val="1A1A1A"/>
                </a:solidFill>
                <a:latin typeface="Abadi"/>
              </a:rPr>
              <a:t>▪  Subcutaneous or IV, not oral, in cholestasis.</a:t>
            </a:r>
          </a:p>
          <a:p>
            <a:pPr>
              <a:spcAft>
                <a:spcPts val="1000"/>
              </a:spcAft>
            </a:pPr>
            <a:r>
              <a:rPr sz="1150" b="0" i="0" dirty="0">
                <a:solidFill>
                  <a:srgbClr val="1A1A1A"/>
                </a:solidFill>
                <a:latin typeface="Abadi"/>
              </a:rPr>
              <a:t>▪  Recheck the INR the next day.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Fibrinogen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The one routine number that tracks real bleeding.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Low fibrinogen in ACLF predicts post-paracentesis bleeding.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Replace for active bleeding, not for a number.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Clots too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Portal vein thrombosis despite INR 2.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Thromboprophylaxis is not contraindicated by the INR.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Plasma and PCC add thrombotic risk.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Tip the balance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Infection releases endogenous heparinoids.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Renal failure impairs platelets.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Treat these before the procedure, not the INR.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Vitamin K status first, factor V second, the patient third — and the INR only for prognosis.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 dirty="0">
                <a:solidFill>
                  <a:srgbClr val="555555"/>
                </a:solidFill>
                <a:latin typeface="Abadi"/>
              </a:rPr>
              <a:t>Squires JE, et al. J </a:t>
            </a:r>
            <a:r>
              <a:rPr sz="1000" b="0" i="1" dirty="0" err="1">
                <a:solidFill>
                  <a:srgbClr val="555555"/>
                </a:solidFill>
                <a:latin typeface="Abadi"/>
              </a:rPr>
              <a:t>Pediatr</a:t>
            </a:r>
            <a:r>
              <a:rPr sz="1000" b="0" i="1" dirty="0">
                <a:solidFill>
                  <a:srgbClr val="555555"/>
                </a:solidFill>
                <a:latin typeface="Abadi"/>
              </a:rPr>
              <a:t> Gastroenterol </a:t>
            </a:r>
            <a:r>
              <a:rPr sz="1000" b="0" i="1" dirty="0" err="1">
                <a:solidFill>
                  <a:srgbClr val="555555"/>
                </a:solidFill>
                <a:latin typeface="Abadi"/>
              </a:rPr>
              <a:t>Nutr</a:t>
            </a:r>
            <a:r>
              <a:rPr sz="1000" b="0" i="1" dirty="0">
                <a:solidFill>
                  <a:srgbClr val="555555"/>
                </a:solidFill>
                <a:latin typeface="Abadi"/>
              </a:rPr>
              <a:t> 2022;74:138–58 · Davis JPE, et al. Hepatol Int 2025;19:1035–50 · Lisman T, Porte RJ. Blood 2010;116:878–85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SYNTHESIS — FOUR DOCUMENTS, ONE MESSAGE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138838"/>
              </p:ext>
            </p:extLst>
          </p:nvPr>
        </p:nvGraphicFramePr>
        <p:xfrm>
          <a:off x="548640" y="930000"/>
          <a:ext cx="10794720" cy="4959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AASLD 2020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EASL 2022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AGA 2019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NASPGHAN 2022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INR before procedures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Not a bleeding-risk tool; do not correct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Plasma to correct INR not recommended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INR thresholds not evidence-based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Avoid correcting with plasma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Platelets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 routine correction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Case by case if &lt; 50 and high-risk procedure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&gt; 50 × 10⁹/L for active bleeding or high-risk procedure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specified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Fibrinogen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&lt; 100 mg/dL linked to bleeding; causality unproven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Not recommended to reduce procedural bleeding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&gt; 120 mg/dL for active bleeding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specified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TPO agonists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routinely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Case by case, platelets &lt; 50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Alternative to platelets; ~10 days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TEG / ROTEM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clinically validated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Cannot predict procedural bleeding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 validated targets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Tranexamic acid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routinely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recommended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Vitamin 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Outside scope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Outside scope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Outside scope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Subcutaneous, not oral; entry INR is post-vitamin K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PAEDS ADDS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Northup PG, et al. Hepatology 2021;73:366–413 · EASL CPG. J Hepatol 2022;76:1151–84 · O'Leary JG, et al. Gastroenterology 2019;157:34–43 · Squires JE, et al. JPGN 2022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Synthetic Function and Haemostasis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3241</Words>
  <Application>Microsoft Macintosh PowerPoint</Application>
  <PresentationFormat>Widescreen</PresentationFormat>
  <Paragraphs>473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Abadi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Ermak, Andrey</cp:lastModifiedBy>
  <cp:revision>3</cp:revision>
  <dcterms:created xsi:type="dcterms:W3CDTF">2013-01-27T09:14:16Z</dcterms:created>
  <dcterms:modified xsi:type="dcterms:W3CDTF">2026-09-26T19:02:20Z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e4b1be8-281e-475d-98b0-21c3457e5a46_Enabled">
    <vt:lpwstr>true</vt:lpwstr>
  </property>
  <property fmtid="{D5CDD505-2E9C-101B-9397-08002B2CF9AE}" pid="3" name="MSIP_Label_5e4b1be8-281e-475d-98b0-21c3457e5a46_SetDate">
    <vt:lpwstr>2026-09-26T03:22:50Z</vt:lpwstr>
  </property>
  <property fmtid="{D5CDD505-2E9C-101B-9397-08002B2CF9AE}" pid="4" name="MSIP_Label_5e4b1be8-281e-475d-98b0-21c3457e5a46_Method">
    <vt:lpwstr>Standard</vt:lpwstr>
  </property>
  <property fmtid="{D5CDD505-2E9C-101B-9397-08002B2CF9AE}" pid="5" name="MSIP_Label_5e4b1be8-281e-475d-98b0-21c3457e5a46_Name">
    <vt:lpwstr>Public</vt:lpwstr>
  </property>
  <property fmtid="{D5CDD505-2E9C-101B-9397-08002B2CF9AE}" pid="6" name="MSIP_Label_5e4b1be8-281e-475d-98b0-21c3457e5a46_SiteId">
    <vt:lpwstr>8b3dd73e-4e72-4679-b191-56da1588712b</vt:lpwstr>
  </property>
  <property fmtid="{D5CDD505-2E9C-101B-9397-08002B2CF9AE}" pid="7" name="MSIP_Label_5e4b1be8-281e-475d-98b0-21c3457e5a46_ActionId">
    <vt:lpwstr>4f084c3b-40ef-46f7-99e0-a246d45ed96e</vt:lpwstr>
  </property>
  <property fmtid="{D5CDD505-2E9C-101B-9397-08002B2CF9AE}" pid="8" name="MSIP_Label_5e4b1be8-281e-475d-98b0-21c3457e5a46_ContentBits">
    <vt:lpwstr>0</vt:lpwstr>
  </property>
  <property fmtid="{D5CDD505-2E9C-101B-9397-08002B2CF9AE}" pid="9" name="MSIP_Label_5e4b1be8-281e-475d-98b0-21c3457e5a46_Tag">
    <vt:lpwstr>50, 3, 0, 1</vt:lpwstr>
  </property>
</Properties>
</file>