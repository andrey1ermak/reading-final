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03120"/>
            <a:ext cx="11091672" cy="1353312"/>
          </a:xfrm>
          <a:prstGeom prst="rect">
            <a:avLst/>
          </a:prstGeom>
          <a:noFill/>
        </p:spPr>
        <p:txBody>
          <a:bodyPr wrap="square" lIns="0" rIns="0" tIns="18288" bIns="18288" anchor="b">
            <a:spAutoFit/>
          </a:bodyPr>
          <a:lstStyle/>
          <a:p>
            <a:pPr algn="ctr"/>
            <a:r>
              <a:rPr sz="4200" b="1" i="0">
                <a:solidFill>
                  <a:srgbClr val="FFFFFF"/>
                </a:solidFill>
                <a:latin typeface="Abadi"/>
              </a:rPr>
              <a:t>Screening for Biliary Atresia: Stool Colour Cards and Early Direct Bilirubin</a:t>
            </a:r>
          </a:p>
        </p:txBody>
      </p:sp>
      <p:sp>
        <p:nvSpPr>
          <p:cNvPr id="4" name="Rectangle 3"/>
          <p:cNvSpPr/>
          <p:nvPr/>
        </p:nvSpPr>
        <p:spPr>
          <a:xfrm>
            <a:off x="5184648" y="3703320"/>
            <a:ext cx="1828800" cy="18288"/>
          </a:xfrm>
          <a:prstGeom prst="rect">
            <a:avLst/>
          </a:prstGeom>
          <a:solidFill>
            <a:srgbClr val="F2C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995928"/>
            <a:ext cx="11091672" cy="265176"/>
          </a:xfrm>
          <a:prstGeom prst="rect">
            <a:avLst/>
          </a:prstGeom>
          <a:noFill/>
        </p:spPr>
        <p:txBody>
          <a:bodyPr wrap="square" lIns="0" rIns="0" tIns="18288" bIns="18288" anchor="t">
            <a:spAutoFit/>
          </a:bodyPr>
          <a:lstStyle/>
          <a:p>
            <a:pPr algn="ctr"/>
            <a:r>
              <a:rPr sz="1700" b="1" i="0">
                <a:solidFill>
                  <a:srgbClr val="FFFFFF"/>
                </a:solidFill>
                <a:latin typeface="Abadi"/>
              </a:rPr>
              <a:t>Andrey Ermak, MD</a:t>
            </a:r>
          </a:p>
        </p:txBody>
      </p:sp>
      <p:sp>
        <p:nvSpPr>
          <p:cNvPr id="6" name="TextBox 5"/>
          <p:cNvSpPr txBox="1"/>
          <p:nvPr/>
        </p:nvSpPr>
        <p:spPr>
          <a:xfrm>
            <a:off x="548640" y="4498848"/>
            <a:ext cx="11091672" cy="704088"/>
          </a:xfrm>
          <a:prstGeom prst="rect">
            <a:avLst/>
          </a:prstGeom>
          <a:noFill/>
        </p:spPr>
        <p:txBody>
          <a:bodyPr wrap="square" lIns="0" rIns="0" tIns="18288" bIns="18288" anchor="t">
            <a:spAutoFit/>
          </a:bodyPr>
          <a:lstStyle/>
          <a:p>
            <a:pPr algn="ctr"/>
            <a:r>
              <a:rPr sz="1100" b="0" i="0">
                <a:solidFill>
                  <a:srgbClr val="CFD8E6"/>
                </a:solidFill>
                <a:latin typeface="Abadi"/>
              </a:rPr>
              <a:t>Chen 2006 · Hsiao 2008 · Lien 2011 (Taiwan) · Gu 2015 (Japan) · Woolfson 2018 (British Columbia) · Harpavat 2011, 2020 (Texas) · AAP clinical report 2025 · Hoshino 2023 · Mogul 2015 · UK NSC review 2026</a:t>
            </a:r>
          </a:p>
          <a:p>
            <a:pPr algn="ctr"/>
            <a:r>
              <a:rPr sz="1100" b="0" i="0">
                <a:solidFill>
                  <a:srgbClr val="CFD8E6"/>
                </a:solidFill>
                <a:latin typeface="Abadi"/>
              </a:rPr>
              <a:t>Why atresia is detectable before it is visible · two screening tools · what they found · what they cost · what the documents say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THE QUESTION OF THE DAY</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CAN WE FIND ATRESIA BEFORE IT IS VISIBLE?</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Four questions behind every proposal to screen newborns for biliary atresia</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2</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Serinet MO, et al. Pediatrics 2009;123:1280–6 · Fawaz R, et al. JPGN 2017;64:154–68 · Harpavat S, et al. Pediatrics 2025;155:e2024070077</a:t>
            </a:r>
          </a:p>
        </p:txBody>
      </p:sp>
      <p:sp>
        <p:nvSpPr>
          <p:cNvPr id="12" name="Rectangle 11"/>
          <p:cNvSpPr/>
          <p:nvPr/>
        </p:nvSpPr>
        <p:spPr>
          <a:xfrm>
            <a:off x="548640" y="1773936"/>
            <a:ext cx="2567178" cy="288036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048255"/>
            <a:ext cx="2128266" cy="384048"/>
          </a:xfrm>
          <a:prstGeom prst="rect">
            <a:avLst/>
          </a:prstGeom>
          <a:noFill/>
        </p:spPr>
        <p:txBody>
          <a:bodyPr wrap="square" lIns="0" rIns="0" tIns="18288" bIns="18288" anchor="t">
            <a:spAutoFit/>
          </a:bodyPr>
          <a:lstStyle/>
          <a:p>
            <a:pPr algn="l"/>
            <a:r>
              <a:rPr sz="1600" b="1" i="0">
                <a:solidFill>
                  <a:srgbClr val="1A1A1A"/>
                </a:solidFill>
                <a:latin typeface="Abadi"/>
              </a:rPr>
              <a:t>Signal</a:t>
            </a:r>
          </a:p>
        </p:txBody>
      </p:sp>
      <p:sp>
        <p:nvSpPr>
          <p:cNvPr id="15" name="TextBox 14"/>
          <p:cNvSpPr txBox="1"/>
          <p:nvPr/>
        </p:nvSpPr>
        <p:spPr>
          <a:xfrm>
            <a:off x="768096" y="2542032"/>
            <a:ext cx="2128266" cy="1965960"/>
          </a:xfrm>
          <a:prstGeom prst="rect">
            <a:avLst/>
          </a:prstGeom>
          <a:noFill/>
        </p:spPr>
        <p:txBody>
          <a:bodyPr wrap="square" lIns="0" rIns="0" tIns="18288" bIns="18288" anchor="t">
            <a:spAutoFit/>
          </a:bodyPr>
          <a:lstStyle/>
          <a:p>
            <a:pPr algn="l">
              <a:spcAft>
                <a:spcPts val="400"/>
              </a:spcAft>
            </a:pPr>
            <a:r>
              <a:rPr sz="1150" b="0" i="0">
                <a:solidFill>
                  <a:srgbClr val="1A1A1A"/>
                </a:solidFill>
                <a:latin typeface="Abadi"/>
              </a:rPr>
              <a:t>▪  Pale stool: visible to parents, appears late</a:t>
            </a:r>
          </a:p>
          <a:p>
            <a:pPr algn="l">
              <a:spcAft>
                <a:spcPts val="400"/>
              </a:spcAft>
            </a:pPr>
            <a:r>
              <a:rPr sz="1150" b="0" i="0">
                <a:solidFill>
                  <a:srgbClr val="1A1A1A"/>
                </a:solidFill>
                <a:latin typeface="Abadi"/>
              </a:rPr>
              <a:t>▪  Conjugated bilirubin: raised from day 1</a:t>
            </a:r>
          </a:p>
          <a:p>
            <a:pPr algn="l">
              <a:spcAft>
                <a:spcPts val="400"/>
              </a:spcAft>
            </a:pPr>
            <a:r>
              <a:rPr sz="1150" b="0" i="0">
                <a:solidFill>
                  <a:srgbClr val="1A1A1A"/>
                </a:solidFill>
                <a:latin typeface="Abadi"/>
              </a:rPr>
              <a:t>▪  Which signal comes first?</a:t>
            </a:r>
          </a:p>
        </p:txBody>
      </p:sp>
      <p:sp>
        <p:nvSpPr>
          <p:cNvPr id="16" name="Rectangle 15"/>
          <p:cNvSpPr/>
          <p:nvPr/>
        </p:nvSpPr>
        <p:spPr>
          <a:xfrm>
            <a:off x="3390138" y="1773936"/>
            <a:ext cx="2567178" cy="288036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773936"/>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9594" y="2048255"/>
            <a:ext cx="2128266" cy="384048"/>
          </a:xfrm>
          <a:prstGeom prst="rect">
            <a:avLst/>
          </a:prstGeom>
          <a:noFill/>
        </p:spPr>
        <p:txBody>
          <a:bodyPr wrap="square" lIns="0" rIns="0" tIns="18288" bIns="18288" anchor="t">
            <a:spAutoFit/>
          </a:bodyPr>
          <a:lstStyle/>
          <a:p>
            <a:pPr algn="l"/>
            <a:r>
              <a:rPr sz="1600" b="1" i="0">
                <a:solidFill>
                  <a:srgbClr val="1A1A1A"/>
                </a:solidFill>
                <a:latin typeface="Abadi"/>
              </a:rPr>
              <a:t>Tool</a:t>
            </a:r>
          </a:p>
        </p:txBody>
      </p:sp>
      <p:sp>
        <p:nvSpPr>
          <p:cNvPr id="19" name="TextBox 18"/>
          <p:cNvSpPr txBox="1"/>
          <p:nvPr/>
        </p:nvSpPr>
        <p:spPr>
          <a:xfrm>
            <a:off x="3609594" y="2542032"/>
            <a:ext cx="2128266" cy="1965960"/>
          </a:xfrm>
          <a:prstGeom prst="rect">
            <a:avLst/>
          </a:prstGeom>
          <a:noFill/>
        </p:spPr>
        <p:txBody>
          <a:bodyPr wrap="square" lIns="0" rIns="0" tIns="18288" bIns="18288" anchor="t">
            <a:spAutoFit/>
          </a:bodyPr>
          <a:lstStyle/>
          <a:p>
            <a:pPr algn="l">
              <a:spcAft>
                <a:spcPts val="400"/>
              </a:spcAft>
            </a:pPr>
            <a:r>
              <a:rPr sz="1150" b="0" i="0">
                <a:solidFill>
                  <a:srgbClr val="1A1A1A"/>
                </a:solidFill>
                <a:latin typeface="Abadi"/>
              </a:rPr>
              <a:t>▪  Stool colour card at 2–4 weeks</a:t>
            </a:r>
          </a:p>
          <a:p>
            <a:pPr algn="l">
              <a:spcAft>
                <a:spcPts val="400"/>
              </a:spcAft>
            </a:pPr>
            <a:r>
              <a:rPr sz="1150" b="0" i="0">
                <a:solidFill>
                  <a:srgbClr val="1A1A1A"/>
                </a:solidFill>
                <a:latin typeface="Abadi"/>
              </a:rPr>
              <a:t>▪  Direct or conjugated bilirubin at &lt;60 h</a:t>
            </a:r>
          </a:p>
          <a:p>
            <a:pPr algn="l">
              <a:spcAft>
                <a:spcPts val="400"/>
              </a:spcAft>
            </a:pPr>
            <a:r>
              <a:rPr sz="1150" b="0" i="0">
                <a:solidFill>
                  <a:srgbClr val="1A1A1A"/>
                </a:solidFill>
                <a:latin typeface="Abadi"/>
              </a:rPr>
              <a:t>▪  Repeat by 2 weeks</a:t>
            </a:r>
          </a:p>
        </p:txBody>
      </p:sp>
      <p:sp>
        <p:nvSpPr>
          <p:cNvPr id="20" name="Rectangle 19"/>
          <p:cNvSpPr/>
          <p:nvPr/>
        </p:nvSpPr>
        <p:spPr>
          <a:xfrm>
            <a:off x="6231636" y="1773936"/>
            <a:ext cx="2567178" cy="288036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773936"/>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1092" y="2048255"/>
            <a:ext cx="2128266" cy="384048"/>
          </a:xfrm>
          <a:prstGeom prst="rect">
            <a:avLst/>
          </a:prstGeom>
          <a:noFill/>
        </p:spPr>
        <p:txBody>
          <a:bodyPr wrap="square" lIns="0" rIns="0" tIns="18288" bIns="18288" anchor="t">
            <a:spAutoFit/>
          </a:bodyPr>
          <a:lstStyle/>
          <a:p>
            <a:pPr algn="l"/>
            <a:r>
              <a:rPr sz="1600" b="1" i="0">
                <a:solidFill>
                  <a:srgbClr val="1A1A1A"/>
                </a:solidFill>
                <a:latin typeface="Abadi"/>
              </a:rPr>
              <a:t>Yield</a:t>
            </a:r>
          </a:p>
        </p:txBody>
      </p:sp>
      <p:sp>
        <p:nvSpPr>
          <p:cNvPr id="23" name="TextBox 22"/>
          <p:cNvSpPr txBox="1"/>
          <p:nvPr/>
        </p:nvSpPr>
        <p:spPr>
          <a:xfrm>
            <a:off x="6451092" y="2542032"/>
            <a:ext cx="2128266" cy="1965960"/>
          </a:xfrm>
          <a:prstGeom prst="rect">
            <a:avLst/>
          </a:prstGeom>
          <a:noFill/>
        </p:spPr>
        <p:txBody>
          <a:bodyPr wrap="square" lIns="0" rIns="0" tIns="18288" bIns="18288" anchor="t">
            <a:spAutoFit/>
          </a:bodyPr>
          <a:lstStyle/>
          <a:p>
            <a:pPr algn="l">
              <a:spcAft>
                <a:spcPts val="400"/>
              </a:spcAft>
            </a:pPr>
            <a:r>
              <a:rPr sz="1150" b="0" i="0">
                <a:solidFill>
                  <a:srgbClr val="1A1A1A"/>
                </a:solidFill>
                <a:latin typeface="Abadi"/>
              </a:rPr>
              <a:t>▪  Sensitivity 50–97% for cards</a:t>
            </a:r>
          </a:p>
          <a:p>
            <a:pPr algn="l">
              <a:spcAft>
                <a:spcPts val="400"/>
              </a:spcAft>
            </a:pPr>
            <a:r>
              <a:rPr sz="1150" b="0" i="0">
                <a:solidFill>
                  <a:srgbClr val="1A1A1A"/>
                </a:solidFill>
                <a:latin typeface="Abadi"/>
              </a:rPr>
              <a:t>▪  100% in direct-bilirubin cohorts</a:t>
            </a:r>
          </a:p>
          <a:p>
            <a:pPr algn="l">
              <a:spcAft>
                <a:spcPts val="400"/>
              </a:spcAft>
            </a:pPr>
            <a:r>
              <a:rPr sz="1150" b="0" i="0">
                <a:solidFill>
                  <a:srgbClr val="1A1A1A"/>
                </a:solidFill>
                <a:latin typeface="Abadi"/>
              </a:rPr>
              <a:t>▪  PPV only 4–29%</a:t>
            </a:r>
          </a:p>
        </p:txBody>
      </p:sp>
      <p:sp>
        <p:nvSpPr>
          <p:cNvPr id="24" name="Rectangle 23"/>
          <p:cNvSpPr/>
          <p:nvPr/>
        </p:nvSpPr>
        <p:spPr>
          <a:xfrm>
            <a:off x="9073134" y="1773936"/>
            <a:ext cx="2567178" cy="288036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773936"/>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92590" y="2048255"/>
            <a:ext cx="2128266" cy="384048"/>
          </a:xfrm>
          <a:prstGeom prst="rect">
            <a:avLst/>
          </a:prstGeom>
          <a:noFill/>
        </p:spPr>
        <p:txBody>
          <a:bodyPr wrap="square" lIns="0" rIns="0" tIns="18288" bIns="18288" anchor="t">
            <a:spAutoFit/>
          </a:bodyPr>
          <a:lstStyle/>
          <a:p>
            <a:pPr algn="l"/>
            <a:r>
              <a:rPr sz="1600" b="1" i="0">
                <a:solidFill>
                  <a:srgbClr val="1A1A1A"/>
                </a:solidFill>
                <a:latin typeface="Abadi"/>
              </a:rPr>
              <a:t>Payoff</a:t>
            </a:r>
          </a:p>
        </p:txBody>
      </p:sp>
      <p:sp>
        <p:nvSpPr>
          <p:cNvPr id="27" name="TextBox 26"/>
          <p:cNvSpPr txBox="1"/>
          <p:nvPr/>
        </p:nvSpPr>
        <p:spPr>
          <a:xfrm>
            <a:off x="9292590" y="2542032"/>
            <a:ext cx="2128266" cy="1965960"/>
          </a:xfrm>
          <a:prstGeom prst="rect">
            <a:avLst/>
          </a:prstGeom>
          <a:noFill/>
        </p:spPr>
        <p:txBody>
          <a:bodyPr wrap="square" lIns="0" rIns="0" tIns="18288" bIns="18288" anchor="t">
            <a:spAutoFit/>
          </a:bodyPr>
          <a:lstStyle/>
          <a:p>
            <a:pPr algn="l">
              <a:spcAft>
                <a:spcPts val="400"/>
              </a:spcAft>
            </a:pPr>
            <a:r>
              <a:rPr sz="1150" b="0" i="0">
                <a:solidFill>
                  <a:srgbClr val="1A1A1A"/>
                </a:solidFill>
                <a:latin typeface="Abadi"/>
              </a:rPr>
              <a:t>▪  Kasai age is the lever</a:t>
            </a:r>
          </a:p>
          <a:p>
            <a:pPr algn="l">
              <a:spcAft>
                <a:spcPts val="400"/>
              </a:spcAft>
            </a:pPr>
            <a:r>
              <a:rPr sz="1150" b="0" i="0">
                <a:solidFill>
                  <a:srgbClr val="1A1A1A"/>
                </a:solidFill>
                <a:latin typeface="Abadi"/>
              </a:rPr>
              <a:t>▪  Native-liver survival falls with each week</a:t>
            </a:r>
          </a:p>
          <a:p>
            <a:pPr algn="l">
              <a:spcAft>
                <a:spcPts val="400"/>
              </a:spcAft>
            </a:pPr>
            <a:r>
              <a:rPr sz="1150" b="0" i="0">
                <a:solidFill>
                  <a:srgbClr val="1A1A1A"/>
                </a:solidFill>
                <a:latin typeface="Abadi"/>
              </a:rPr>
              <a:t>▪  Cost per birth below $1 for cards</a:t>
            </a:r>
          </a:p>
        </p:txBody>
      </p:sp>
      <p:sp>
        <p:nvSpPr>
          <p:cNvPr id="28" name="TextBox 27"/>
          <p:cNvSpPr txBox="1"/>
          <p:nvPr/>
        </p:nvSpPr>
        <p:spPr>
          <a:xfrm>
            <a:off x="548640" y="4892040"/>
            <a:ext cx="11091672" cy="822960"/>
          </a:xfrm>
          <a:prstGeom prst="rect">
            <a:avLst/>
          </a:prstGeom>
          <a:noFill/>
        </p:spPr>
        <p:txBody>
          <a:bodyPr wrap="square" lIns="0" rIns="0" tIns="18288" bIns="18288" anchor="t">
            <a:spAutoFit/>
          </a:bodyPr>
          <a:lstStyle/>
          <a:p>
            <a:pPr algn="l">
              <a:spcAft>
                <a:spcPts val="400"/>
              </a:spcAft>
            </a:pPr>
            <a:r>
              <a:rPr sz="1250" b="0" i="0">
                <a:solidFill>
                  <a:srgbClr val="1A1A1A"/>
                </a:solidFill>
                <a:latin typeface="Abadi"/>
              </a:rPr>
              <a:t>Screening for biliary atresia does not cure anything. It only moves the date of the Kasai portoenterostomy, and in France native-liver survival fell step by step with every 15-day delay.</a:t>
            </a:r>
          </a:p>
          <a:p>
            <a:pPr algn="l">
              <a:spcAft>
                <a:spcPts val="400"/>
              </a:spcAft>
            </a:pPr>
            <a:r>
              <a:rPr sz="1250" b="1" i="1">
                <a:solidFill>
                  <a:srgbClr val="1A1A1A"/>
                </a:solidFill>
                <a:latin typeface="Abadi"/>
              </a:rPr>
              <a:t>The real question is how many days a programme buys, at what price, and how many healthy infants it recalls.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MECHANISM</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TWO SIGNALS, TWO CLOCKS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What each screening tool actually detects, and when that signal becomes available</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3</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Harpavat S, et al. Pediatrics 2011;128:e1428–33 · Gu YH, et al. Tohoku J Exp Med 2020;252:365–72 · Fawaz 2017 JPGN</a:t>
            </a:r>
          </a:p>
        </p:txBody>
      </p:sp>
      <p:graphicFrame>
        <p:nvGraphicFramePr>
          <p:cNvPr id="12" name="Table 11"/>
          <p:cNvGraphicFramePr>
            <a:graphicFrameLocks noGrp="1"/>
          </p:cNvGraphicFramePr>
          <p:nvPr/>
        </p:nvGraphicFramePr>
        <p:xfrm>
          <a:off x="548640" y="1773936"/>
          <a:ext cx="11091672" cy="2834640"/>
        </p:xfrm>
        <a:graphic>
          <a:graphicData uri="http://schemas.openxmlformats.org/drawingml/2006/table">
            <a:tbl>
              <a:tblPr firstRow="0" bandRow="0">
                <a:tableStyleId>{5C22544A-7EE6-4342-B048-85BDC9FD1C3A}</a:tableStyleId>
              </a:tblPr>
              <a:tblGrid>
                <a:gridCol w="2377440"/>
                <a:gridCol w="4343400"/>
                <a:gridCol w="4370832"/>
              </a:tblGrid>
              <a:tr h="420624">
                <a:tc>
                  <a:txBody>
                    <a:bodyPr wrap="square"/>
                    <a:lstStyle/>
                    <a:p>
                      <a:r>
                        <a:rPr sz="1200" b="1">
                          <a:solidFill>
                            <a:srgbClr val="FFFFFF"/>
                          </a:solidFill>
                          <a:latin typeface="Abadi"/>
                        </a:rPr>
                        <a:t>Feature</a:t>
                      </a:r>
                    </a:p>
                  </a:txBody>
                  <a:tcPr marL="73152" marR="73152" marT="27432" marB="27432" anchor="ctr">
                    <a:solidFill>
                      <a:srgbClr val="1B355E"/>
                    </a:solidFill>
                  </a:tcPr>
                </a:tc>
                <a:tc>
                  <a:txBody>
                    <a:bodyPr wrap="square"/>
                    <a:lstStyle/>
                    <a:p>
                      <a:r>
                        <a:rPr sz="1200" b="1">
                          <a:solidFill>
                            <a:srgbClr val="FFFFFF"/>
                          </a:solidFill>
                          <a:latin typeface="Abadi"/>
                        </a:rPr>
                        <a:t>Stool colour card</a:t>
                      </a:r>
                    </a:p>
                  </a:txBody>
                  <a:tcPr marL="73152" marR="73152" marT="27432" marB="27432" anchor="ctr">
                    <a:solidFill>
                      <a:srgbClr val="1B355E"/>
                    </a:solidFill>
                  </a:tcPr>
                </a:tc>
                <a:tc>
                  <a:txBody>
                    <a:bodyPr wrap="square"/>
                    <a:lstStyle/>
                    <a:p>
                      <a:r>
                        <a:rPr sz="1200" b="1">
                          <a:solidFill>
                            <a:srgbClr val="FFFFFF"/>
                          </a:solidFill>
                          <a:latin typeface="Abadi"/>
                        </a:rPr>
                        <a:t>Newborn direct or conjugated bilirubin</a:t>
                      </a:r>
                    </a:p>
                  </a:txBody>
                  <a:tcPr marL="73152" marR="73152" marT="27432" marB="27432" anchor="ctr">
                    <a:solidFill>
                      <a:srgbClr val="1B355E"/>
                    </a:solidFill>
                  </a:tcPr>
                </a:tc>
              </a:tr>
              <a:tr h="402336">
                <a:tc>
                  <a:txBody>
                    <a:bodyPr wrap="square"/>
                    <a:lstStyle/>
                    <a:p>
                      <a:r>
                        <a:rPr sz="950" b="1">
                          <a:solidFill>
                            <a:srgbClr val="1A1A1A"/>
                          </a:solidFill>
                          <a:latin typeface="Abadi"/>
                        </a:rPr>
                        <a:t>What it detects</a:t>
                      </a:r>
                    </a:p>
                  </a:txBody>
                  <a:tcPr marL="73152" marR="73152" marT="27432" marB="27432" anchor="ctr">
                    <a:solidFill>
                      <a:srgbClr val="FFFFFF"/>
                    </a:solidFill>
                  </a:tcPr>
                </a:tc>
                <a:tc>
                  <a:txBody>
                    <a:bodyPr wrap="square"/>
                    <a:lstStyle/>
                    <a:p>
                      <a:r>
                        <a:rPr sz="950" b="0">
                          <a:solidFill>
                            <a:srgbClr val="1A1A1A"/>
                          </a:solidFill>
                          <a:latin typeface="Abadi"/>
                        </a:rPr>
                        <a:t>Acholia: bile no longer reaches the gut</a:t>
                      </a:r>
                    </a:p>
                  </a:txBody>
                  <a:tcPr marL="73152" marR="73152" marT="27432" marB="27432" anchor="ctr">
                    <a:solidFill>
                      <a:srgbClr val="FFFFFF"/>
                    </a:solidFill>
                  </a:tcPr>
                </a:tc>
                <a:tc>
                  <a:txBody>
                    <a:bodyPr wrap="square"/>
                    <a:lstStyle/>
                    <a:p>
                      <a:r>
                        <a:rPr sz="950" b="0">
                          <a:solidFill>
                            <a:srgbClr val="1A1A1A"/>
                          </a:solidFill>
                          <a:latin typeface="Abadi"/>
                        </a:rPr>
                        <a:t>Conjugated bilirubin regurgitated into blood</a:t>
                      </a:r>
                    </a:p>
                  </a:txBody>
                  <a:tcPr marL="73152" marR="73152" marT="27432" marB="27432" anchor="ctr">
                    <a:solidFill>
                      <a:srgbClr val="FFFFFF"/>
                    </a:solidFill>
                  </a:tcPr>
                </a:tc>
              </a:tr>
              <a:tr h="402336">
                <a:tc>
                  <a:txBody>
                    <a:bodyPr wrap="square"/>
                    <a:lstStyle/>
                    <a:p>
                      <a:r>
                        <a:rPr sz="950" b="1">
                          <a:solidFill>
                            <a:srgbClr val="1A1A1A"/>
                          </a:solidFill>
                          <a:latin typeface="Abadi"/>
                        </a:rPr>
                        <a:t>Earliest signal</a:t>
                      </a:r>
                    </a:p>
                  </a:txBody>
                  <a:tcPr marL="73152" marR="73152" marT="27432" marB="27432" anchor="ctr">
                    <a:solidFill>
                      <a:srgbClr val="F2F2F2"/>
                    </a:solidFill>
                  </a:tcPr>
                </a:tc>
                <a:tc>
                  <a:txBody>
                    <a:bodyPr wrap="square"/>
                    <a:lstStyle/>
                    <a:p>
                      <a:r>
                        <a:rPr sz="950" b="0">
                          <a:solidFill>
                            <a:srgbClr val="1A1A1A"/>
                          </a:solidFill>
                          <a:latin typeface="Abadi"/>
                        </a:rPr>
                        <a:t>Weeks; some atresia stools stay pigmented early</a:t>
                      </a:r>
                    </a:p>
                  </a:txBody>
                  <a:tcPr marL="73152" marR="73152" marT="27432" marB="27432" anchor="ctr">
                    <a:solidFill>
                      <a:srgbClr val="F2F2F2"/>
                    </a:solidFill>
                  </a:tcPr>
                </a:tc>
                <a:tc>
                  <a:txBody>
                    <a:bodyPr wrap="square"/>
                    <a:lstStyle/>
                    <a:p>
                      <a:r>
                        <a:rPr sz="950" b="0">
                          <a:solidFill>
                            <a:srgbClr val="1A1A1A"/>
                          </a:solidFill>
                          <a:latin typeface="Abadi"/>
                        </a:rPr>
                        <a:t>Hours; raised in the first 24–96 h of life</a:t>
                      </a:r>
                    </a:p>
                  </a:txBody>
                  <a:tcPr marL="73152" marR="73152" marT="27432" marB="27432" anchor="ctr">
                    <a:solidFill>
                      <a:srgbClr val="F2F2F2"/>
                    </a:solidFill>
                  </a:tcPr>
                </a:tc>
              </a:tr>
              <a:tr h="402336">
                <a:tc>
                  <a:txBody>
                    <a:bodyPr wrap="square"/>
                    <a:lstStyle/>
                    <a:p>
                      <a:r>
                        <a:rPr sz="950" b="1">
                          <a:solidFill>
                            <a:srgbClr val="1A1A1A"/>
                          </a:solidFill>
                          <a:latin typeface="Abadi"/>
                        </a:rPr>
                        <a:t>Who reads it</a:t>
                      </a:r>
                    </a:p>
                  </a:txBody>
                  <a:tcPr marL="73152" marR="73152" marT="27432" marB="27432" anchor="ctr">
                    <a:solidFill>
                      <a:srgbClr val="FFFFFF"/>
                    </a:solidFill>
                  </a:tcPr>
                </a:tc>
                <a:tc>
                  <a:txBody>
                    <a:bodyPr wrap="square"/>
                    <a:lstStyle/>
                    <a:p>
                      <a:r>
                        <a:rPr sz="950" b="0">
                          <a:solidFill>
                            <a:srgbClr val="1A1A1A"/>
                          </a:solidFill>
                          <a:latin typeface="Abadi"/>
                        </a:rPr>
                        <a:t>Parents at home, nurse at the 1-month visit</a:t>
                      </a:r>
                    </a:p>
                  </a:txBody>
                  <a:tcPr marL="73152" marR="73152" marT="27432" marB="27432" anchor="ctr">
                    <a:solidFill>
                      <a:srgbClr val="FFFFFF"/>
                    </a:solidFill>
                  </a:tcPr>
                </a:tc>
                <a:tc>
                  <a:txBody>
                    <a:bodyPr wrap="square"/>
                    <a:lstStyle/>
                    <a:p>
                      <a:r>
                        <a:rPr sz="950" b="0">
                          <a:solidFill>
                            <a:srgbClr val="1A1A1A"/>
                          </a:solidFill>
                          <a:latin typeface="Abadi"/>
                        </a:rPr>
                        <a:t>Laboratory, on a routine bilirubin sample</a:t>
                      </a:r>
                    </a:p>
                  </a:txBody>
                  <a:tcPr marL="73152" marR="73152" marT="27432" marB="27432" anchor="ctr">
                    <a:solidFill>
                      <a:srgbClr val="FFFFFF"/>
                    </a:solidFill>
                  </a:tcPr>
                </a:tc>
              </a:tr>
              <a:tr h="402336">
                <a:tc>
                  <a:txBody>
                    <a:bodyPr wrap="square"/>
                    <a:lstStyle/>
                    <a:p>
                      <a:r>
                        <a:rPr sz="950" b="1">
                          <a:solidFill>
                            <a:srgbClr val="1A1A1A"/>
                          </a:solidFill>
                          <a:latin typeface="Abadi"/>
                        </a:rPr>
                        <a:t>Typical age at alert</a:t>
                      </a:r>
                    </a:p>
                  </a:txBody>
                  <a:tcPr marL="73152" marR="73152" marT="27432" marB="27432" anchor="ctr">
                    <a:solidFill>
                      <a:srgbClr val="F2F2F2"/>
                    </a:solidFill>
                  </a:tcPr>
                </a:tc>
                <a:tc>
                  <a:txBody>
                    <a:bodyPr wrap="square"/>
                    <a:lstStyle/>
                    <a:p>
                      <a:r>
                        <a:rPr sz="950" b="0">
                          <a:solidFill>
                            <a:srgbClr val="1A1A1A"/>
                          </a:solidFill>
                          <a:latin typeface="Abadi"/>
                        </a:rPr>
                        <a:t>2–4 weeks, often later</a:t>
                      </a:r>
                    </a:p>
                  </a:txBody>
                  <a:tcPr marL="73152" marR="73152" marT="27432" marB="27432" anchor="ctr">
                    <a:solidFill>
                      <a:srgbClr val="F2F2F2"/>
                    </a:solidFill>
                  </a:tcPr>
                </a:tc>
                <a:tc>
                  <a:txBody>
                    <a:bodyPr wrap="square"/>
                    <a:lstStyle/>
                    <a:p>
                      <a:r>
                        <a:rPr sz="950" b="0">
                          <a:solidFill>
                            <a:srgbClr val="1A1A1A"/>
                          </a:solidFill>
                          <a:latin typeface="Abadi"/>
                        </a:rPr>
                        <a:t>&lt;60 h, confirmed by 2 weeks</a:t>
                      </a:r>
                    </a:p>
                  </a:txBody>
                  <a:tcPr marL="73152" marR="73152" marT="27432" marB="27432" anchor="ctr">
                    <a:solidFill>
                      <a:srgbClr val="F2F2F2"/>
                    </a:solidFill>
                  </a:tcPr>
                </a:tc>
              </a:tr>
              <a:tr h="402336">
                <a:tc>
                  <a:txBody>
                    <a:bodyPr wrap="square"/>
                    <a:lstStyle/>
                    <a:p>
                      <a:r>
                        <a:rPr sz="950" b="1">
                          <a:solidFill>
                            <a:srgbClr val="1A1A1A"/>
                          </a:solidFill>
                          <a:latin typeface="Abadi"/>
                        </a:rPr>
                        <a:t>Failure mode</a:t>
                      </a:r>
                    </a:p>
                  </a:txBody>
                  <a:tcPr marL="73152" marR="73152" marT="27432" marB="27432" anchor="ctr">
                    <a:solidFill>
                      <a:srgbClr val="FFFFFF"/>
                    </a:solidFill>
                  </a:tcPr>
                </a:tc>
                <a:tc>
                  <a:txBody>
                    <a:bodyPr wrap="square"/>
                    <a:lstStyle/>
                    <a:p>
                      <a:r>
                        <a:rPr sz="950" b="0">
                          <a:solidFill>
                            <a:srgbClr val="1A1A1A"/>
                          </a:solidFill>
                          <a:latin typeface="Abadi"/>
                        </a:rPr>
                        <a:t>Not used, misread, not reported, slow referral</a:t>
                      </a:r>
                    </a:p>
                  </a:txBody>
                  <a:tcPr marL="73152" marR="73152" marT="27432" marB="27432" anchor="ctr">
                    <a:solidFill>
                      <a:srgbClr val="FFFFFF"/>
                    </a:solidFill>
                  </a:tcPr>
                </a:tc>
                <a:tc>
                  <a:txBody>
                    <a:bodyPr wrap="square"/>
                    <a:lstStyle/>
                    <a:p>
                      <a:r>
                        <a:rPr sz="950" b="0">
                          <a:solidFill>
                            <a:srgbClr val="1A1A1A"/>
                          </a:solidFill>
                          <a:latin typeface="Abadi"/>
                        </a:rPr>
                        <a:t>No repeat sample, lost to follow-up</a:t>
                      </a:r>
                    </a:p>
                  </a:txBody>
                  <a:tcPr marL="73152" marR="73152" marT="27432" marB="27432" anchor="ctr">
                    <a:solidFill>
                      <a:srgbClr val="FFFFFF"/>
                    </a:solidFill>
                  </a:tcPr>
                </a:tc>
              </a:tr>
              <a:tr h="402336">
                <a:tc>
                  <a:txBody>
                    <a:bodyPr wrap="square"/>
                    <a:lstStyle/>
                    <a:p>
                      <a:r>
                        <a:rPr sz="950" b="1">
                          <a:solidFill>
                            <a:srgbClr val="1A1A1A"/>
                          </a:solidFill>
                          <a:latin typeface="Abadi"/>
                        </a:rPr>
                        <a:t>Other diseases found</a:t>
                      </a:r>
                    </a:p>
                  </a:txBody>
                  <a:tcPr marL="73152" marR="73152" marT="27432" marB="27432" anchor="ctr">
                    <a:solidFill>
                      <a:srgbClr val="F2F2F2"/>
                    </a:solidFill>
                  </a:tcPr>
                </a:tc>
                <a:tc>
                  <a:txBody>
                    <a:bodyPr wrap="square"/>
                    <a:lstStyle/>
                    <a:p>
                      <a:r>
                        <a:rPr sz="950" b="0">
                          <a:solidFill>
                            <a:srgbClr val="1A1A1A"/>
                          </a:solidFill>
                          <a:latin typeface="Abadi"/>
                        </a:rPr>
                        <a:t>Any cause of acholia</a:t>
                      </a:r>
                    </a:p>
                  </a:txBody>
                  <a:tcPr marL="73152" marR="73152" marT="27432" marB="27432" anchor="ctr">
                    <a:solidFill>
                      <a:srgbClr val="F2F2F2"/>
                    </a:solidFill>
                  </a:tcPr>
                </a:tc>
                <a:tc>
                  <a:txBody>
                    <a:bodyPr wrap="square"/>
                    <a:lstStyle/>
                    <a:p>
                      <a:r>
                        <a:rPr sz="950" b="0">
                          <a:solidFill>
                            <a:srgbClr val="1A1A1A"/>
                          </a:solidFill>
                          <a:latin typeface="Abadi"/>
                        </a:rPr>
                        <a:t>A1AT deficiency, PFIC, Alagille, Rh disease</a:t>
                      </a:r>
                    </a:p>
                  </a:txBody>
                  <a:tcPr marL="73152" marR="73152" marT="27432" marB="27432" anchor="ctr">
                    <a:solidFill>
                      <a:srgbClr val="F2F2F2"/>
                    </a:solidFill>
                  </a:tcPr>
                </a:tc>
              </a:tr>
            </a:tbl>
          </a:graphicData>
        </a:graphic>
      </p:graphicFrame>
      <p:sp>
        <p:nvSpPr>
          <p:cNvPr id="13" name="TextBox 12"/>
          <p:cNvSpPr txBox="1"/>
          <p:nvPr/>
        </p:nvSpPr>
        <p:spPr>
          <a:xfrm>
            <a:off x="548640" y="4709160"/>
            <a:ext cx="11091672" cy="822960"/>
          </a:xfrm>
          <a:prstGeom prst="rect">
            <a:avLst/>
          </a:prstGeom>
          <a:noFill/>
        </p:spPr>
        <p:txBody>
          <a:bodyPr wrap="square" lIns="0" rIns="0" tIns="18288" bIns="18288" anchor="t">
            <a:spAutoFit/>
          </a:bodyPr>
          <a:lstStyle/>
          <a:p>
            <a:pPr algn="l">
              <a:spcAft>
                <a:spcPts val="400"/>
              </a:spcAft>
            </a:pPr>
            <a:r>
              <a:rPr sz="1250" b="0" i="0">
                <a:solidFill>
                  <a:srgbClr val="1A1A1A"/>
                </a:solidFill>
                <a:latin typeface="Abadi"/>
              </a:rPr>
              <a:t>The card waits for obstruction to become complete enough to bleach stool. Conjugated bilirubin is already above the reference range in the first days, because the disease starts in utero or at birth.</a:t>
            </a:r>
          </a:p>
          <a:p>
            <a:pPr algn="l">
              <a:spcAft>
                <a:spcPts val="400"/>
              </a:spcAft>
            </a:pPr>
            <a:r>
              <a:rPr sz="1250" b="1" i="1">
                <a:solidFill>
                  <a:srgbClr val="1A1A1A"/>
                </a:solidFill>
                <a:latin typeface="Abadi"/>
              </a:rPr>
              <a:t>The card detects a late sign of a disease that the blood shows on day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JAPAN</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WHERE THE CARD BEGAN</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Tochigi Prefecture, stool colour card at the 1-month check, 313,230 infants born 1994–2011</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4</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Gu YH, et al. J Pediatr 2015;166:897–902 · Gu YH, et al. Tohoku J Exp Med 2020;252:365–72 · Matsui A, Dodoriki M. Lancet 1995</a:t>
            </a:r>
          </a:p>
        </p:txBody>
      </p:sp>
      <p:sp>
        <p:nvSpPr>
          <p:cNvPr id="12" name="Rectangle 11"/>
          <p:cNvSpPr/>
          <p:nvPr/>
        </p:nvSpPr>
        <p:spPr>
          <a:xfrm>
            <a:off x="548640"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11680"/>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31720"/>
            <a:ext cx="2292858" cy="777240"/>
          </a:xfrm>
          <a:prstGeom prst="rect">
            <a:avLst/>
          </a:prstGeom>
          <a:noFill/>
        </p:spPr>
        <p:txBody>
          <a:bodyPr wrap="square" lIns="0" rIns="0" tIns="18288" bIns="18288" anchor="t">
            <a:spAutoFit/>
          </a:bodyPr>
          <a:lstStyle/>
          <a:p>
            <a:pPr algn="l"/>
            <a:r>
              <a:rPr sz="3300" b="1" i="0">
                <a:solidFill>
                  <a:srgbClr val="1B355E"/>
                </a:solidFill>
                <a:latin typeface="Abadi"/>
              </a:rPr>
              <a:t>76.5%</a:t>
            </a:r>
          </a:p>
        </p:txBody>
      </p:sp>
      <p:sp>
        <p:nvSpPr>
          <p:cNvPr id="15" name="TextBox 14"/>
          <p:cNvSpPr txBox="1"/>
          <p:nvPr/>
        </p:nvSpPr>
        <p:spPr>
          <a:xfrm>
            <a:off x="685800"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Sensitivity at the 1-month check (95% CI 62.2–90.7); 34 cases of atresia</a:t>
            </a:r>
          </a:p>
        </p:txBody>
      </p:sp>
      <p:sp>
        <p:nvSpPr>
          <p:cNvPr id="16" name="Rectangle 15"/>
          <p:cNvSpPr/>
          <p:nvPr/>
        </p:nvSpPr>
        <p:spPr>
          <a:xfrm>
            <a:off x="3390138"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2011680"/>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331720"/>
            <a:ext cx="2292858" cy="777240"/>
          </a:xfrm>
          <a:prstGeom prst="rect">
            <a:avLst/>
          </a:prstGeom>
          <a:noFill/>
        </p:spPr>
        <p:txBody>
          <a:bodyPr wrap="square" lIns="0" rIns="0" tIns="18288" bIns="18288" anchor="t">
            <a:spAutoFit/>
          </a:bodyPr>
          <a:lstStyle/>
          <a:p>
            <a:pPr algn="l"/>
            <a:r>
              <a:rPr sz="3300" b="1" i="0">
                <a:solidFill>
                  <a:srgbClr val="1B355E"/>
                </a:solidFill>
                <a:latin typeface="Abadi"/>
              </a:rPr>
              <a:t>12.7%</a:t>
            </a:r>
          </a:p>
        </p:txBody>
      </p:sp>
      <p:sp>
        <p:nvSpPr>
          <p:cNvPr id="19" name="TextBox 18"/>
          <p:cNvSpPr txBox="1"/>
          <p:nvPr/>
        </p:nvSpPr>
        <p:spPr>
          <a:xfrm>
            <a:off x="3527298"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Positive predictive value; specificity 99.9%</a:t>
            </a:r>
          </a:p>
        </p:txBody>
      </p:sp>
      <p:sp>
        <p:nvSpPr>
          <p:cNvPr id="20" name="Rectangle 19"/>
          <p:cNvSpPr/>
          <p:nvPr/>
        </p:nvSpPr>
        <p:spPr>
          <a:xfrm>
            <a:off x="6231636"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011680"/>
            <a:ext cx="2567178" cy="12801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331720"/>
            <a:ext cx="2292858" cy="777240"/>
          </a:xfrm>
          <a:prstGeom prst="rect">
            <a:avLst/>
          </a:prstGeom>
          <a:noFill/>
        </p:spPr>
        <p:txBody>
          <a:bodyPr wrap="square" lIns="0" rIns="0" tIns="18288" bIns="18288" anchor="t">
            <a:spAutoFit/>
          </a:bodyPr>
          <a:lstStyle/>
          <a:p>
            <a:pPr algn="l"/>
            <a:r>
              <a:rPr sz="3300" b="1" i="0">
                <a:solidFill>
                  <a:srgbClr val="1B355E"/>
                </a:solidFill>
                <a:latin typeface="Abadi"/>
              </a:rPr>
              <a:t>59.7 d</a:t>
            </a:r>
          </a:p>
        </p:txBody>
      </p:sp>
      <p:sp>
        <p:nvSpPr>
          <p:cNvPr id="23" name="TextBox 22"/>
          <p:cNvSpPr txBox="1"/>
          <p:nvPr/>
        </p:nvSpPr>
        <p:spPr>
          <a:xfrm>
            <a:off x="6368796"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Mean age at Kasai in the screened cohort</a:t>
            </a:r>
          </a:p>
        </p:txBody>
      </p:sp>
      <p:sp>
        <p:nvSpPr>
          <p:cNvPr id="24" name="Rectangle 23"/>
          <p:cNvSpPr/>
          <p:nvPr/>
        </p:nvSpPr>
        <p:spPr>
          <a:xfrm>
            <a:off x="9073134"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2011680"/>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331720"/>
            <a:ext cx="2292858" cy="777240"/>
          </a:xfrm>
          <a:prstGeom prst="rect">
            <a:avLst/>
          </a:prstGeom>
          <a:noFill/>
        </p:spPr>
        <p:txBody>
          <a:bodyPr wrap="square" lIns="0" rIns="0" tIns="18288" bIns="18288" anchor="t">
            <a:spAutoFit/>
          </a:bodyPr>
          <a:lstStyle/>
          <a:p>
            <a:pPr algn="l"/>
            <a:r>
              <a:rPr sz="3300" b="1" i="0">
                <a:solidFill>
                  <a:srgbClr val="1B355E"/>
                </a:solidFill>
                <a:latin typeface="Abadi"/>
              </a:rPr>
              <a:t>87.6%</a:t>
            </a:r>
          </a:p>
        </p:txBody>
      </p:sp>
      <p:sp>
        <p:nvSpPr>
          <p:cNvPr id="27" name="TextBox 26"/>
          <p:cNvSpPr txBox="1"/>
          <p:nvPr/>
        </p:nvSpPr>
        <p:spPr>
          <a:xfrm>
            <a:off x="9210294"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Native-liver survival at 5 years; 76.9% at 10 and 48.5% at 15 years</a:t>
            </a:r>
          </a:p>
        </p:txBody>
      </p:sp>
      <p:sp>
        <p:nvSpPr>
          <p:cNvPr id="28" name="TextBox 27"/>
          <p:cNvSpPr txBox="1"/>
          <p:nvPr/>
        </p:nvSpPr>
        <p:spPr>
          <a:xfrm>
            <a:off x="548640" y="4343400"/>
            <a:ext cx="11091672" cy="822960"/>
          </a:xfrm>
          <a:prstGeom prst="rect">
            <a:avLst/>
          </a:prstGeom>
          <a:noFill/>
        </p:spPr>
        <p:txBody>
          <a:bodyPr wrap="square" lIns="0" rIns="0" tIns="18288" bIns="18288" anchor="t">
            <a:spAutoFit/>
          </a:bodyPr>
          <a:lstStyle/>
          <a:p>
            <a:pPr algn="l">
              <a:spcAft>
                <a:spcPts val="400"/>
              </a:spcAft>
            </a:pPr>
            <a:r>
              <a:rPr sz="1250" b="0" i="0">
                <a:solidFill>
                  <a:srgbClr val="1A1A1A"/>
                </a:solidFill>
                <a:latin typeface="Abadi"/>
              </a:rPr>
              <a:t>Japan has used the card since 1994 and put an updated card into the national maternal and child health handbook in 2012. In a later Sapporo cohort of 37,478 infants, both infants with atresia still had normal-looking stool at 1 month: sensitivity at that visit was 0%.</a:t>
            </a:r>
          </a:p>
          <a:p>
            <a:pPr algn="l">
              <a:spcAft>
                <a:spcPts val="400"/>
              </a:spcAft>
            </a:pPr>
            <a:r>
              <a:rPr sz="1250" b="1" i="1">
                <a:solidFill>
                  <a:srgbClr val="1A1A1A"/>
                </a:solidFill>
                <a:latin typeface="Abadi"/>
              </a:rPr>
              <a:t>A card checked once at 1 month misses the infant whose stool pales at 6 weeks.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TAIWAN</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A NATIONAL BOOKLET THAT TOOK TWO YEARS TO WORK</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Sensitivity before 60 days and Kasai before 60 days, by phase of the Taiwanese programme,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5</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Chen SM, et al. Pediatrics 2006;117:1147–54 · Hsiao CH, et al. Hepatology 2008;47:1233–40</a:t>
            </a:r>
          </a:p>
        </p:txBody>
      </p:sp>
      <p:sp>
        <p:nvSpPr>
          <p:cNvPr id="12" name="Rectangle 11"/>
          <p:cNvSpPr/>
          <p:nvPr/>
        </p:nvSpPr>
        <p:spPr>
          <a:xfrm>
            <a:off x="987551" y="2524201"/>
            <a:ext cx="630936" cy="287075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39" y="2249881"/>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89.7%</a:t>
            </a:r>
          </a:p>
        </p:txBody>
      </p:sp>
      <p:sp>
        <p:nvSpPr>
          <p:cNvPr id="14" name="Rectangle 13"/>
          <p:cNvSpPr/>
          <p:nvPr/>
        </p:nvSpPr>
        <p:spPr>
          <a:xfrm>
            <a:off x="1673351" y="3519525"/>
            <a:ext cx="630936" cy="187543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39" y="3245205"/>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58.6%</a:t>
            </a:r>
          </a:p>
        </p:txBody>
      </p:sp>
      <p:sp>
        <p:nvSpPr>
          <p:cNvPr id="16" name="TextBox 15"/>
          <p:cNvSpPr txBox="1"/>
          <p:nvPr/>
        </p:nvSpPr>
        <p:spPr>
          <a:xfrm>
            <a:off x="548640" y="5440680"/>
            <a:ext cx="2194560" cy="274320"/>
          </a:xfrm>
          <a:prstGeom prst="rect">
            <a:avLst/>
          </a:prstGeom>
          <a:noFill/>
        </p:spPr>
        <p:txBody>
          <a:bodyPr wrap="square" lIns="0" rIns="0" tIns="18288" bIns="18288" anchor="t">
            <a:spAutoFit/>
          </a:bodyPr>
          <a:lstStyle/>
          <a:p>
            <a:pPr algn="ctr"/>
            <a:r>
              <a:rPr sz="1050" b="0" i="0">
                <a:solidFill>
                  <a:srgbClr val="1A1A1A"/>
                </a:solidFill>
                <a:latin typeface="Abadi"/>
              </a:rPr>
              <a:t>Regional pilot 2002–03</a:t>
            </a:r>
          </a:p>
        </p:txBody>
      </p:sp>
      <p:sp>
        <p:nvSpPr>
          <p:cNvPr id="17" name="Rectangle 16"/>
          <p:cNvSpPr/>
          <p:nvPr/>
        </p:nvSpPr>
        <p:spPr>
          <a:xfrm>
            <a:off x="3182112" y="3074670"/>
            <a:ext cx="630936" cy="232029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71800" y="2800350"/>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72.5%</a:t>
            </a:r>
          </a:p>
        </p:txBody>
      </p:sp>
      <p:sp>
        <p:nvSpPr>
          <p:cNvPr id="19" name="Rectangle 18"/>
          <p:cNvSpPr/>
          <p:nvPr/>
        </p:nvSpPr>
        <p:spPr>
          <a:xfrm>
            <a:off x="3867912" y="3474720"/>
            <a:ext cx="630936" cy="1920240"/>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3200400"/>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60%</a:t>
            </a:r>
          </a:p>
        </p:txBody>
      </p:sp>
      <p:sp>
        <p:nvSpPr>
          <p:cNvPr id="21" name="TextBox 20"/>
          <p:cNvSpPr txBox="1"/>
          <p:nvPr/>
        </p:nvSpPr>
        <p:spPr>
          <a:xfrm>
            <a:off x="2743200" y="5440680"/>
            <a:ext cx="2194560" cy="274320"/>
          </a:xfrm>
          <a:prstGeom prst="rect">
            <a:avLst/>
          </a:prstGeom>
          <a:noFill/>
        </p:spPr>
        <p:txBody>
          <a:bodyPr wrap="square" lIns="0" rIns="0" tIns="18288" bIns="18288" anchor="t">
            <a:spAutoFit/>
          </a:bodyPr>
          <a:lstStyle/>
          <a:p>
            <a:pPr algn="ctr"/>
            <a:r>
              <a:rPr sz="1050" b="0" i="0">
                <a:solidFill>
                  <a:srgbClr val="1A1A1A"/>
                </a:solidFill>
                <a:latin typeface="Abadi"/>
              </a:rPr>
              <a:t>National 2004</a:t>
            </a:r>
          </a:p>
        </p:txBody>
      </p:sp>
      <p:sp>
        <p:nvSpPr>
          <p:cNvPr id="22" name="Rectangle 21"/>
          <p:cNvSpPr/>
          <p:nvPr/>
        </p:nvSpPr>
        <p:spPr>
          <a:xfrm>
            <a:off x="5376672" y="2287371"/>
            <a:ext cx="630936" cy="310758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59" y="2013051"/>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97.1%</a:t>
            </a:r>
          </a:p>
        </p:txBody>
      </p:sp>
      <p:sp>
        <p:nvSpPr>
          <p:cNvPr id="24" name="Rectangle 23"/>
          <p:cNvSpPr/>
          <p:nvPr/>
        </p:nvSpPr>
        <p:spPr>
          <a:xfrm>
            <a:off x="6062472" y="3017062"/>
            <a:ext cx="630936" cy="2377897"/>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52159" y="2742742"/>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74.3%</a:t>
            </a:r>
          </a:p>
        </p:txBody>
      </p:sp>
      <p:sp>
        <p:nvSpPr>
          <p:cNvPr id="26" name="TextBox 25"/>
          <p:cNvSpPr txBox="1"/>
          <p:nvPr/>
        </p:nvSpPr>
        <p:spPr>
          <a:xfrm>
            <a:off x="4937759" y="5440680"/>
            <a:ext cx="2194560" cy="274320"/>
          </a:xfrm>
          <a:prstGeom prst="rect">
            <a:avLst/>
          </a:prstGeom>
          <a:noFill/>
        </p:spPr>
        <p:txBody>
          <a:bodyPr wrap="square" lIns="0" rIns="0" tIns="18288" bIns="18288" anchor="t">
            <a:spAutoFit/>
          </a:bodyPr>
          <a:lstStyle/>
          <a:p>
            <a:pPr algn="ctr"/>
            <a:r>
              <a:rPr sz="1050" b="0" i="0">
                <a:solidFill>
                  <a:srgbClr val="1A1A1A"/>
                </a:solidFill>
                <a:latin typeface="Abadi"/>
              </a:rPr>
              <a:t>National 2005</a:t>
            </a:r>
          </a:p>
        </p:txBody>
      </p:sp>
      <p:sp>
        <p:nvSpPr>
          <p:cNvPr id="27" name="Rectangle 26"/>
          <p:cNvSpPr/>
          <p:nvPr/>
        </p:nvSpPr>
        <p:spPr>
          <a:xfrm>
            <a:off x="548640" y="5394960"/>
            <a:ext cx="6583680" cy="1097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 y="1837943"/>
            <a:ext cx="146304" cy="14630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1783080"/>
            <a:ext cx="2377440" cy="256032"/>
          </a:xfrm>
          <a:prstGeom prst="rect">
            <a:avLst/>
          </a:prstGeom>
          <a:noFill/>
        </p:spPr>
        <p:txBody>
          <a:bodyPr wrap="square" lIns="0" rIns="0" tIns="18288" bIns="18288" anchor="t">
            <a:spAutoFit/>
          </a:bodyPr>
          <a:lstStyle/>
          <a:p>
            <a:pPr algn="l"/>
            <a:r>
              <a:rPr sz="1050" b="0" i="0">
                <a:solidFill>
                  <a:srgbClr val="1A1A1A"/>
                </a:solidFill>
                <a:latin typeface="Abadi"/>
              </a:rPr>
              <a:t>Card sensitivity &lt;60 d</a:t>
            </a:r>
          </a:p>
        </p:txBody>
      </p:sp>
      <p:sp>
        <p:nvSpPr>
          <p:cNvPr id="30" name="Rectangle 29"/>
          <p:cNvSpPr/>
          <p:nvPr/>
        </p:nvSpPr>
        <p:spPr>
          <a:xfrm>
            <a:off x="2880359" y="1837943"/>
            <a:ext cx="146304" cy="14630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81527" y="1783080"/>
            <a:ext cx="2377440" cy="256032"/>
          </a:xfrm>
          <a:prstGeom prst="rect">
            <a:avLst/>
          </a:prstGeom>
          <a:noFill/>
        </p:spPr>
        <p:txBody>
          <a:bodyPr wrap="square" lIns="0" rIns="0" tIns="18288" bIns="18288" anchor="t">
            <a:spAutoFit/>
          </a:bodyPr>
          <a:lstStyle/>
          <a:p>
            <a:pPr algn="l"/>
            <a:r>
              <a:rPr sz="1050" b="0" i="0">
                <a:solidFill>
                  <a:srgbClr val="1A1A1A"/>
                </a:solidFill>
                <a:latin typeface="Abadi"/>
              </a:rPr>
              <a:t>Kasai &lt;60 d</a:t>
            </a:r>
          </a:p>
        </p:txBody>
      </p:sp>
      <p:sp>
        <p:nvSpPr>
          <p:cNvPr id="32" name="TextBox 31"/>
          <p:cNvSpPr txBox="1"/>
          <p:nvPr/>
        </p:nvSpPr>
        <p:spPr>
          <a:xfrm>
            <a:off x="7498079" y="1828800"/>
            <a:ext cx="4114800" cy="3931920"/>
          </a:xfrm>
          <a:prstGeom prst="rect">
            <a:avLst/>
          </a:prstGeom>
          <a:noFill/>
        </p:spPr>
        <p:txBody>
          <a:bodyPr wrap="square" lIns="0" rIns="0" tIns="18288" bIns="18288" anchor="t">
            <a:spAutoFit/>
          </a:bodyPr>
          <a:lstStyle/>
          <a:p>
            <a:pPr algn="l">
              <a:spcAft>
                <a:spcPts val="500"/>
              </a:spcAft>
            </a:pPr>
            <a:r>
              <a:rPr sz="1300" b="1" i="0">
                <a:solidFill>
                  <a:srgbClr val="2E5A88"/>
                </a:solidFill>
                <a:latin typeface="Abadi"/>
              </a:rPr>
              <a:t>Seven-colour card in every child health booklet</a:t>
            </a:r>
          </a:p>
          <a:p>
            <a:pPr algn="l">
              <a:spcAft>
                <a:spcPts val="500"/>
              </a:spcAft>
            </a:pPr>
            <a:r>
              <a:rPr sz="1150" b="0" i="0">
                <a:solidFill>
                  <a:srgbClr val="1A1A1A"/>
                </a:solidFill>
                <a:latin typeface="Abadi"/>
              </a:rPr>
              <a:t>Introduced nationally in 2004; an abnormal colour had to be reported within 24 hours.</a:t>
            </a:r>
          </a:p>
          <a:p>
            <a:pPr algn="l">
              <a:spcAft>
                <a:spcPts val="500"/>
              </a:spcAft>
            </a:pPr>
            <a:r>
              <a:rPr sz="1300" b="1" i="0">
                <a:solidFill>
                  <a:srgbClr val="2E5A88"/>
                </a:solidFill>
                <a:latin typeface="Abadi"/>
              </a:rPr>
              <a:t>Incidence 1.7–1.85 per 10,000</a:t>
            </a:r>
          </a:p>
          <a:p>
            <a:pPr algn="l">
              <a:spcAft>
                <a:spcPts val="500"/>
              </a:spcAft>
            </a:pPr>
            <a:r>
              <a:rPr sz="1150" b="0" i="0">
                <a:solidFill>
                  <a:srgbClr val="1A1A1A"/>
                </a:solidFill>
                <a:latin typeface="Abadi"/>
              </a:rPr>
              <a:t>Three times the European rate, so the positive predictive value is higher (28.6% in the pilot).</a:t>
            </a:r>
          </a:p>
          <a:p>
            <a:pPr algn="l">
              <a:spcAft>
                <a:spcPts val="500"/>
              </a:spcAft>
            </a:pPr>
            <a:r>
              <a:rPr sz="1300" b="1" i="0">
                <a:solidFill>
                  <a:srgbClr val="2E5A88"/>
                </a:solidFill>
                <a:latin typeface="Abadi"/>
              </a:rPr>
              <a:t>Jaundice clearance</a:t>
            </a:r>
          </a:p>
          <a:p>
            <a:pPr algn="l">
              <a:spcAft>
                <a:spcPts val="500"/>
              </a:spcAft>
            </a:pPr>
            <a:r>
              <a:rPr sz="1150" b="0" i="0">
                <a:solidFill>
                  <a:srgbClr val="1A1A1A"/>
                </a:solidFill>
                <a:latin typeface="Abadi"/>
              </a:rPr>
              <a:t>Bilirubin below 2 mg/dL three months after Kasai: 59.5% after screening versus 37.0% before (P = 0.002).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OUTCOME</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THE CARD MOVED SURVIVAL, NOT JUST DATES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Before screening (1990–2000, n = 89) versus screening cohorts (2002–05), Taiwan,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6</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Lien TH, et al. Hepatology 2011;53:202–8 · 5-year jaundice-free native-liver survival compares the 2002–03 cohort only</a:t>
            </a:r>
          </a:p>
        </p:txBody>
      </p:sp>
      <p:sp>
        <p:nvSpPr>
          <p:cNvPr id="12" name="Rectangle 11"/>
          <p:cNvSpPr/>
          <p:nvPr/>
        </p:nvSpPr>
        <p:spPr>
          <a:xfrm>
            <a:off x="1276731" y="3536350"/>
            <a:ext cx="630936" cy="1309969"/>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6419" y="3262030"/>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49.4%</a:t>
            </a:r>
          </a:p>
        </p:txBody>
      </p:sp>
      <p:sp>
        <p:nvSpPr>
          <p:cNvPr id="14" name="Rectangle 13"/>
          <p:cNvSpPr/>
          <p:nvPr/>
        </p:nvSpPr>
        <p:spPr>
          <a:xfrm>
            <a:off x="1962530" y="3104113"/>
            <a:ext cx="630936" cy="174220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52219" y="2829793"/>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65.7%</a:t>
            </a:r>
          </a:p>
        </p:txBody>
      </p:sp>
      <p:sp>
        <p:nvSpPr>
          <p:cNvPr id="16" name="TextBox 15"/>
          <p:cNvSpPr txBox="1"/>
          <p:nvPr/>
        </p:nvSpPr>
        <p:spPr>
          <a:xfrm>
            <a:off x="548640" y="4892040"/>
            <a:ext cx="2772918" cy="274320"/>
          </a:xfrm>
          <a:prstGeom prst="rect">
            <a:avLst/>
          </a:prstGeom>
          <a:noFill/>
        </p:spPr>
        <p:txBody>
          <a:bodyPr wrap="square" lIns="0" rIns="0" tIns="18288" bIns="18288" anchor="t">
            <a:spAutoFit/>
          </a:bodyPr>
          <a:lstStyle/>
          <a:p>
            <a:pPr algn="ctr"/>
            <a:r>
              <a:rPr sz="1050" b="0" i="0">
                <a:solidFill>
                  <a:srgbClr val="1A1A1A"/>
                </a:solidFill>
                <a:latin typeface="Abadi"/>
              </a:rPr>
              <a:t>Kasai before 60 days</a:t>
            </a:r>
          </a:p>
        </p:txBody>
      </p:sp>
      <p:sp>
        <p:nvSpPr>
          <p:cNvPr id="17" name="Rectangle 16"/>
          <p:cNvSpPr/>
          <p:nvPr/>
        </p:nvSpPr>
        <p:spPr>
          <a:xfrm>
            <a:off x="4049649" y="3923507"/>
            <a:ext cx="630936" cy="92281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39337" y="3649187"/>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34.8%</a:t>
            </a:r>
          </a:p>
        </p:txBody>
      </p:sp>
      <p:sp>
        <p:nvSpPr>
          <p:cNvPr id="19" name="Rectangle 18"/>
          <p:cNvSpPr/>
          <p:nvPr/>
        </p:nvSpPr>
        <p:spPr>
          <a:xfrm>
            <a:off x="4735449" y="3234049"/>
            <a:ext cx="630936" cy="1612270"/>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5137" y="2959729"/>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60.8%</a:t>
            </a:r>
          </a:p>
        </p:txBody>
      </p:sp>
      <p:sp>
        <p:nvSpPr>
          <p:cNvPr id="21" name="TextBox 20"/>
          <p:cNvSpPr txBox="1"/>
          <p:nvPr/>
        </p:nvSpPr>
        <p:spPr>
          <a:xfrm>
            <a:off x="3321558" y="4892040"/>
            <a:ext cx="2772918" cy="274320"/>
          </a:xfrm>
          <a:prstGeom prst="rect">
            <a:avLst/>
          </a:prstGeom>
          <a:noFill/>
        </p:spPr>
        <p:txBody>
          <a:bodyPr wrap="square" lIns="0" rIns="0" tIns="18288" bIns="18288" anchor="t">
            <a:spAutoFit/>
          </a:bodyPr>
          <a:lstStyle/>
          <a:p>
            <a:pPr algn="ctr"/>
            <a:r>
              <a:rPr sz="1050" b="0" i="0">
                <a:solidFill>
                  <a:srgbClr val="1A1A1A"/>
                </a:solidFill>
                <a:latin typeface="Abadi"/>
              </a:rPr>
              <a:t>Jaundice-free 3 months after Kasai</a:t>
            </a:r>
          </a:p>
        </p:txBody>
      </p:sp>
      <p:sp>
        <p:nvSpPr>
          <p:cNvPr id="22" name="Rectangle 21"/>
          <p:cNvSpPr/>
          <p:nvPr/>
        </p:nvSpPr>
        <p:spPr>
          <a:xfrm>
            <a:off x="6822567" y="4122389"/>
            <a:ext cx="630936" cy="72393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12255" y="3848069"/>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27.3%</a:t>
            </a:r>
          </a:p>
        </p:txBody>
      </p:sp>
      <p:sp>
        <p:nvSpPr>
          <p:cNvPr id="24" name="Rectangle 23"/>
          <p:cNvSpPr/>
          <p:nvPr/>
        </p:nvSpPr>
        <p:spPr>
          <a:xfrm>
            <a:off x="7508367" y="3141238"/>
            <a:ext cx="630936" cy="1705081"/>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98055" y="2866918"/>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64.3%</a:t>
            </a:r>
          </a:p>
        </p:txBody>
      </p:sp>
      <p:sp>
        <p:nvSpPr>
          <p:cNvPr id="26" name="TextBox 25"/>
          <p:cNvSpPr txBox="1"/>
          <p:nvPr/>
        </p:nvSpPr>
        <p:spPr>
          <a:xfrm>
            <a:off x="6094476" y="4892040"/>
            <a:ext cx="2772918" cy="274320"/>
          </a:xfrm>
          <a:prstGeom prst="rect">
            <a:avLst/>
          </a:prstGeom>
          <a:noFill/>
        </p:spPr>
        <p:txBody>
          <a:bodyPr wrap="square" lIns="0" rIns="0" tIns="18288" bIns="18288" anchor="t">
            <a:spAutoFit/>
          </a:bodyPr>
          <a:lstStyle/>
          <a:p>
            <a:pPr algn="ctr"/>
            <a:r>
              <a:rPr sz="1050" b="0" i="0">
                <a:solidFill>
                  <a:srgbClr val="1A1A1A"/>
                </a:solidFill>
                <a:latin typeface="Abadi"/>
              </a:rPr>
              <a:t>5-y jaundice-free native liver</a:t>
            </a:r>
          </a:p>
        </p:txBody>
      </p:sp>
      <p:sp>
        <p:nvSpPr>
          <p:cNvPr id="27" name="Rectangle 26"/>
          <p:cNvSpPr/>
          <p:nvPr/>
        </p:nvSpPr>
        <p:spPr>
          <a:xfrm>
            <a:off x="9595484" y="3369289"/>
            <a:ext cx="630936" cy="147703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85173" y="3094969"/>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55.7%</a:t>
            </a:r>
          </a:p>
        </p:txBody>
      </p:sp>
      <p:sp>
        <p:nvSpPr>
          <p:cNvPr id="29" name="Rectangle 28"/>
          <p:cNvSpPr/>
          <p:nvPr/>
        </p:nvSpPr>
        <p:spPr>
          <a:xfrm>
            <a:off x="10281284" y="2478298"/>
            <a:ext cx="630936" cy="2368021"/>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70973" y="2203978"/>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89.3%</a:t>
            </a:r>
          </a:p>
        </p:txBody>
      </p:sp>
      <p:sp>
        <p:nvSpPr>
          <p:cNvPr id="31" name="TextBox 30"/>
          <p:cNvSpPr txBox="1"/>
          <p:nvPr/>
        </p:nvSpPr>
        <p:spPr>
          <a:xfrm>
            <a:off x="8867394" y="4892040"/>
            <a:ext cx="2772918" cy="274320"/>
          </a:xfrm>
          <a:prstGeom prst="rect">
            <a:avLst/>
          </a:prstGeom>
          <a:noFill/>
        </p:spPr>
        <p:txBody>
          <a:bodyPr wrap="square" lIns="0" rIns="0" tIns="18288" bIns="18288" anchor="t">
            <a:spAutoFit/>
          </a:bodyPr>
          <a:lstStyle/>
          <a:p>
            <a:pPr algn="ctr"/>
            <a:r>
              <a:rPr sz="1050" b="0" i="0">
                <a:solidFill>
                  <a:srgbClr val="1A1A1A"/>
                </a:solidFill>
                <a:latin typeface="Abadi"/>
              </a:rPr>
              <a:t>5-y overall survival</a:t>
            </a:r>
          </a:p>
        </p:txBody>
      </p:sp>
      <p:sp>
        <p:nvSpPr>
          <p:cNvPr id="32" name="Rectangle 31"/>
          <p:cNvSpPr/>
          <p:nvPr/>
        </p:nvSpPr>
        <p:spPr>
          <a:xfrm>
            <a:off x="548640" y="4846320"/>
            <a:ext cx="11091672" cy="1097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1520" y="1837943"/>
            <a:ext cx="146304" cy="14630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688" y="1783080"/>
            <a:ext cx="2377440" cy="256032"/>
          </a:xfrm>
          <a:prstGeom prst="rect">
            <a:avLst/>
          </a:prstGeom>
          <a:noFill/>
        </p:spPr>
        <p:txBody>
          <a:bodyPr wrap="square" lIns="0" rIns="0" tIns="18288" bIns="18288" anchor="t">
            <a:spAutoFit/>
          </a:bodyPr>
          <a:lstStyle/>
          <a:p>
            <a:pPr algn="l"/>
            <a:r>
              <a:rPr sz="1050" b="0" i="0">
                <a:solidFill>
                  <a:srgbClr val="1A1A1A"/>
                </a:solidFill>
                <a:latin typeface="Abadi"/>
              </a:rPr>
              <a:t>Before screening</a:t>
            </a:r>
          </a:p>
        </p:txBody>
      </p:sp>
      <p:sp>
        <p:nvSpPr>
          <p:cNvPr id="35" name="Rectangle 34"/>
          <p:cNvSpPr/>
          <p:nvPr/>
        </p:nvSpPr>
        <p:spPr>
          <a:xfrm>
            <a:off x="2468880" y="1837943"/>
            <a:ext cx="146304" cy="14630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70048" y="1783080"/>
            <a:ext cx="2377440" cy="256032"/>
          </a:xfrm>
          <a:prstGeom prst="rect">
            <a:avLst/>
          </a:prstGeom>
          <a:noFill/>
        </p:spPr>
        <p:txBody>
          <a:bodyPr wrap="square" lIns="0" rIns="0" tIns="18288" bIns="18288" anchor="t">
            <a:spAutoFit/>
          </a:bodyPr>
          <a:lstStyle/>
          <a:p>
            <a:pPr algn="l"/>
            <a:r>
              <a:rPr sz="1050" b="0" i="0">
                <a:solidFill>
                  <a:srgbClr val="1A1A1A"/>
                </a:solidFill>
                <a:latin typeface="Abadi"/>
              </a:rPr>
              <a:t>With screening</a:t>
            </a:r>
          </a:p>
        </p:txBody>
      </p:sp>
      <p:sp>
        <p:nvSpPr>
          <p:cNvPr id="37" name="TextBox 36"/>
          <p:cNvSpPr txBox="1"/>
          <p:nvPr/>
        </p:nvSpPr>
        <p:spPr>
          <a:xfrm>
            <a:off x="548640" y="5257800"/>
            <a:ext cx="11091672" cy="548640"/>
          </a:xfrm>
          <a:prstGeom prst="rect">
            <a:avLst/>
          </a:prstGeom>
          <a:noFill/>
        </p:spPr>
        <p:txBody>
          <a:bodyPr wrap="square" lIns="0" rIns="0" tIns="18288" bIns="18288" anchor="t">
            <a:spAutoFit/>
          </a:bodyPr>
          <a:lstStyle/>
          <a:p>
            <a:pPr algn="l">
              <a:spcAft>
                <a:spcPts val="400"/>
              </a:spcAft>
            </a:pPr>
            <a:r>
              <a:rPr sz="1250" b="0" i="0">
                <a:solidFill>
                  <a:srgbClr val="1A1A1A"/>
                </a:solidFill>
                <a:latin typeface="Abadi"/>
              </a:rPr>
              <a:t>All four differences were significant (P ≤ 0.02). This is a before-and-after comparison, so better surgery, centralisation and transplant access also changed over the decade.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COUNTERWEIGHT</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CLAIMS DATA ARE LESS GENEROUS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National insurance and cohort data from Taiwan, beyond the flagship centre</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7</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Tseng JJ, et al. Pediatrics 2011;128:e1209–15 · Chiu CY, et al. J Pediatr 2013;163:100–3 · Lee M, et al. Medicine 2016 (as summarised in Indian Pediatr 2018;55:346)</a:t>
            </a:r>
          </a:p>
        </p:txBody>
      </p:sp>
      <p:sp>
        <p:nvSpPr>
          <p:cNvPr id="12" name="Rectangle 11"/>
          <p:cNvSpPr/>
          <p:nvPr/>
        </p:nvSpPr>
        <p:spPr>
          <a:xfrm>
            <a:off x="548640"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11680"/>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31720"/>
            <a:ext cx="2292858" cy="777240"/>
          </a:xfrm>
          <a:prstGeom prst="rect">
            <a:avLst/>
          </a:prstGeom>
          <a:noFill/>
        </p:spPr>
        <p:txBody>
          <a:bodyPr wrap="square" lIns="0" rIns="0" tIns="18288" bIns="18288" anchor="t">
            <a:spAutoFit/>
          </a:bodyPr>
          <a:lstStyle/>
          <a:p>
            <a:pPr algn="l"/>
            <a:r>
              <a:rPr sz="2400" b="1" i="0">
                <a:solidFill>
                  <a:srgbClr val="1B355E"/>
                </a:solidFill>
                <a:latin typeface="Abadi"/>
              </a:rPr>
              <a:t>51 → 48 d</a:t>
            </a:r>
          </a:p>
        </p:txBody>
      </p:sp>
      <p:sp>
        <p:nvSpPr>
          <p:cNvPr id="15" name="TextBox 14"/>
          <p:cNvSpPr txBox="1"/>
          <p:nvPr/>
        </p:nvSpPr>
        <p:spPr>
          <a:xfrm>
            <a:off x="685800"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Median age at Kasai before and after the card (insurance claims 1996–2008)</a:t>
            </a:r>
          </a:p>
        </p:txBody>
      </p:sp>
      <p:sp>
        <p:nvSpPr>
          <p:cNvPr id="16" name="Rectangle 15"/>
          <p:cNvSpPr/>
          <p:nvPr/>
        </p:nvSpPr>
        <p:spPr>
          <a:xfrm>
            <a:off x="3390138"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2011680"/>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331720"/>
            <a:ext cx="2292858" cy="777240"/>
          </a:xfrm>
          <a:prstGeom prst="rect">
            <a:avLst/>
          </a:prstGeom>
          <a:noFill/>
        </p:spPr>
        <p:txBody>
          <a:bodyPr wrap="square" lIns="0" rIns="0" tIns="18288" bIns="18288" anchor="t">
            <a:spAutoFit/>
          </a:bodyPr>
          <a:lstStyle/>
          <a:p>
            <a:pPr algn="l"/>
            <a:r>
              <a:rPr sz="2400" b="1" i="0">
                <a:solidFill>
                  <a:srgbClr val="1B355E"/>
                </a:solidFill>
                <a:latin typeface="Abadi"/>
              </a:rPr>
              <a:t>68.9 → 73.6%</a:t>
            </a:r>
          </a:p>
        </p:txBody>
      </p:sp>
      <p:sp>
        <p:nvSpPr>
          <p:cNvPr id="19" name="TextBox 18"/>
          <p:cNvSpPr txBox="1"/>
          <p:nvPr/>
        </p:nvSpPr>
        <p:spPr>
          <a:xfrm>
            <a:off x="3527298"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Kasai within 60 days, same national dataset</a:t>
            </a:r>
          </a:p>
        </p:txBody>
      </p:sp>
      <p:sp>
        <p:nvSpPr>
          <p:cNvPr id="20" name="Rectangle 19"/>
          <p:cNvSpPr/>
          <p:nvPr/>
        </p:nvSpPr>
        <p:spPr>
          <a:xfrm>
            <a:off x="6231636"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011680"/>
            <a:ext cx="2567178" cy="12801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331720"/>
            <a:ext cx="2292858" cy="777240"/>
          </a:xfrm>
          <a:prstGeom prst="rect">
            <a:avLst/>
          </a:prstGeom>
          <a:noFill/>
        </p:spPr>
        <p:txBody>
          <a:bodyPr wrap="square" lIns="0" rIns="0" tIns="18288" bIns="18288" anchor="t">
            <a:spAutoFit/>
          </a:bodyPr>
          <a:lstStyle/>
          <a:p>
            <a:pPr algn="l"/>
            <a:r>
              <a:rPr sz="2400" b="1" i="0">
                <a:solidFill>
                  <a:srgbClr val="1B355E"/>
                </a:solidFill>
                <a:latin typeface="Abadi"/>
              </a:rPr>
              <a:t>44.4%</a:t>
            </a:r>
          </a:p>
        </p:txBody>
      </p:sp>
      <p:sp>
        <p:nvSpPr>
          <p:cNvPr id="23" name="TextBox 22"/>
          <p:cNvSpPr txBox="1"/>
          <p:nvPr/>
        </p:nvSpPr>
        <p:spPr>
          <a:xfrm>
            <a:off x="6368796"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Kasai before 60 days in preterm infants, versus 68.7% at term, despite 96.3% card sensitivity</a:t>
            </a:r>
          </a:p>
        </p:txBody>
      </p:sp>
      <p:sp>
        <p:nvSpPr>
          <p:cNvPr id="24" name="Rectangle 23"/>
          <p:cNvSpPr/>
          <p:nvPr/>
        </p:nvSpPr>
        <p:spPr>
          <a:xfrm>
            <a:off x="9073134"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2011680"/>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331720"/>
            <a:ext cx="2292858" cy="777240"/>
          </a:xfrm>
          <a:prstGeom prst="rect">
            <a:avLst/>
          </a:prstGeom>
          <a:noFill/>
        </p:spPr>
        <p:txBody>
          <a:bodyPr wrap="square" lIns="0" rIns="0" tIns="18288" bIns="18288" anchor="t">
            <a:spAutoFit/>
          </a:bodyPr>
          <a:lstStyle/>
          <a:p>
            <a:pPr algn="l"/>
            <a:r>
              <a:rPr sz="2400" b="1" i="0">
                <a:solidFill>
                  <a:srgbClr val="1B355E"/>
                </a:solidFill>
                <a:latin typeface="Abadi"/>
              </a:rPr>
              <a:t>26.2 → 15.9%</a:t>
            </a:r>
          </a:p>
        </p:txBody>
      </p:sp>
      <p:sp>
        <p:nvSpPr>
          <p:cNvPr id="27" name="TextBox 26"/>
          <p:cNvSpPr txBox="1"/>
          <p:nvPr/>
        </p:nvSpPr>
        <p:spPr>
          <a:xfrm>
            <a:off x="9210294"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Mortality in a 14-year national cohort; transplant rate unchanged at about 30%</a:t>
            </a:r>
          </a:p>
        </p:txBody>
      </p:sp>
      <p:sp>
        <p:nvSpPr>
          <p:cNvPr id="28" name="TextBox 27"/>
          <p:cNvSpPr txBox="1"/>
          <p:nvPr/>
        </p:nvSpPr>
        <p:spPr>
          <a:xfrm>
            <a:off x="548640" y="4343400"/>
            <a:ext cx="11091672" cy="822960"/>
          </a:xfrm>
          <a:prstGeom prst="rect">
            <a:avLst/>
          </a:prstGeom>
          <a:noFill/>
        </p:spPr>
        <p:txBody>
          <a:bodyPr wrap="square" lIns="0" rIns="0" tIns="18288" bIns="18288" anchor="t">
            <a:spAutoFit/>
          </a:bodyPr>
          <a:lstStyle/>
          <a:p>
            <a:pPr algn="l">
              <a:spcAft>
                <a:spcPts val="400"/>
              </a:spcAft>
            </a:pPr>
            <a:r>
              <a:rPr sz="1250" b="0" i="0">
                <a:solidFill>
                  <a:srgbClr val="1A1A1A"/>
                </a:solidFill>
                <a:latin typeface="Abadi"/>
              </a:rPr>
              <a:t>Whole-country data show a modest shift of days, not weeks. Preterm infants are detected by the card but operated on late, because sick infants have other explanations for cholestasis.</a:t>
            </a:r>
          </a:p>
          <a:p>
            <a:pPr algn="l">
              <a:spcAft>
                <a:spcPts val="400"/>
              </a:spcAft>
            </a:pPr>
            <a:r>
              <a:rPr sz="1250" b="1" i="1">
                <a:solidFill>
                  <a:srgbClr val="1A1A1A"/>
                </a:solidFill>
                <a:latin typeface="Abadi"/>
              </a:rPr>
              <a:t>A screen finds the infant; the referral pathway decides the date of surgery.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CANADA</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A CARD IS ONLY AS GOOD AS ITS PROGRAMME</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British Columbia province-wide stool card programme, April 2014 to March 2016</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8</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Woolfson JP, et al. JPGN 2018;66:845–9 · Schreiber RA, et al. J Med Screen 2014;21:126–32 · Perinatal Services BC</a:t>
            </a:r>
          </a:p>
        </p:txBody>
      </p:sp>
      <p:sp>
        <p:nvSpPr>
          <p:cNvPr id="12" name="Rectangle 11"/>
          <p:cNvSpPr/>
          <p:nvPr/>
        </p:nvSpPr>
        <p:spPr>
          <a:xfrm>
            <a:off x="548640"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11680"/>
            <a:ext cx="2567178" cy="12801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31720"/>
            <a:ext cx="2292858" cy="777240"/>
          </a:xfrm>
          <a:prstGeom prst="rect">
            <a:avLst/>
          </a:prstGeom>
          <a:noFill/>
        </p:spPr>
        <p:txBody>
          <a:bodyPr wrap="square" lIns="0" rIns="0" tIns="18288" bIns="18288" anchor="t">
            <a:spAutoFit/>
          </a:bodyPr>
          <a:lstStyle/>
          <a:p>
            <a:pPr algn="l"/>
            <a:r>
              <a:rPr sz="3000" b="1" i="0">
                <a:solidFill>
                  <a:srgbClr val="1B355E"/>
                </a:solidFill>
                <a:latin typeface="Abadi"/>
              </a:rPr>
              <a:t>50%</a:t>
            </a:r>
          </a:p>
        </p:txBody>
      </p:sp>
      <p:sp>
        <p:nvSpPr>
          <p:cNvPr id="15" name="TextBox 14"/>
          <p:cNvSpPr txBox="1"/>
          <p:nvPr/>
        </p:nvSpPr>
        <p:spPr>
          <a:xfrm>
            <a:off x="685800"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Sensitivity: 3 of 6 infants with atresia flagged among 87,583 births</a:t>
            </a:r>
          </a:p>
        </p:txBody>
      </p:sp>
      <p:sp>
        <p:nvSpPr>
          <p:cNvPr id="16" name="Rectangle 15"/>
          <p:cNvSpPr/>
          <p:nvPr/>
        </p:nvSpPr>
        <p:spPr>
          <a:xfrm>
            <a:off x="3390138"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2011680"/>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331720"/>
            <a:ext cx="2292858" cy="777240"/>
          </a:xfrm>
          <a:prstGeom prst="rect">
            <a:avLst/>
          </a:prstGeom>
          <a:noFill/>
        </p:spPr>
        <p:txBody>
          <a:bodyPr wrap="square" lIns="0" rIns="0" tIns="18288" bIns="18288" anchor="t">
            <a:spAutoFit/>
          </a:bodyPr>
          <a:lstStyle/>
          <a:p>
            <a:pPr algn="l"/>
            <a:r>
              <a:rPr sz="3000" b="1" i="0">
                <a:solidFill>
                  <a:srgbClr val="1B355E"/>
                </a:solidFill>
                <a:latin typeface="Abadi"/>
              </a:rPr>
              <a:t>4%</a:t>
            </a:r>
          </a:p>
        </p:txBody>
      </p:sp>
      <p:sp>
        <p:nvSpPr>
          <p:cNvPr id="19" name="TextBox 18"/>
          <p:cNvSpPr txBox="1"/>
          <p:nvPr/>
        </p:nvSpPr>
        <p:spPr>
          <a:xfrm>
            <a:off x="3527298"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Positive predictive value; specificity 99%</a:t>
            </a:r>
          </a:p>
        </p:txBody>
      </p:sp>
      <p:sp>
        <p:nvSpPr>
          <p:cNvPr id="20" name="Rectangle 19"/>
          <p:cNvSpPr/>
          <p:nvPr/>
        </p:nvSpPr>
        <p:spPr>
          <a:xfrm>
            <a:off x="6231636"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011680"/>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331720"/>
            <a:ext cx="2292858" cy="777240"/>
          </a:xfrm>
          <a:prstGeom prst="rect">
            <a:avLst/>
          </a:prstGeom>
          <a:noFill/>
        </p:spPr>
        <p:txBody>
          <a:bodyPr wrap="square" lIns="0" rIns="0" tIns="18288" bIns="18288" anchor="t">
            <a:spAutoFit/>
          </a:bodyPr>
          <a:lstStyle/>
          <a:p>
            <a:pPr algn="l"/>
            <a:r>
              <a:rPr sz="3000" b="1" i="0">
                <a:solidFill>
                  <a:srgbClr val="1B355E"/>
                </a:solidFill>
                <a:latin typeface="Abadi"/>
              </a:rPr>
              <a:t>49 vs 116 d</a:t>
            </a:r>
          </a:p>
        </p:txBody>
      </p:sp>
      <p:sp>
        <p:nvSpPr>
          <p:cNvPr id="23" name="TextBox 22"/>
          <p:cNvSpPr txBox="1"/>
          <p:nvPr/>
        </p:nvSpPr>
        <p:spPr>
          <a:xfrm>
            <a:off x="6368796"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Median age at Kasai when the card worked versus when it failed</a:t>
            </a:r>
          </a:p>
        </p:txBody>
      </p:sp>
      <p:sp>
        <p:nvSpPr>
          <p:cNvPr id="24" name="Rectangle 23"/>
          <p:cNvSpPr/>
          <p:nvPr/>
        </p:nvSpPr>
        <p:spPr>
          <a:xfrm>
            <a:off x="9073134"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2011680"/>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331720"/>
            <a:ext cx="2292858" cy="777240"/>
          </a:xfrm>
          <a:prstGeom prst="rect">
            <a:avLst/>
          </a:prstGeom>
          <a:noFill/>
        </p:spPr>
        <p:txBody>
          <a:bodyPr wrap="square" lIns="0" rIns="0" tIns="18288" bIns="18288" anchor="t">
            <a:spAutoFit/>
          </a:bodyPr>
          <a:lstStyle/>
          <a:p>
            <a:pPr algn="l"/>
            <a:r>
              <a:rPr sz="3000" b="1" i="0">
                <a:solidFill>
                  <a:srgbClr val="1B355E"/>
                </a:solidFill>
                <a:latin typeface="Abadi"/>
              </a:rPr>
              <a:t>$0.68</a:t>
            </a:r>
          </a:p>
        </p:txBody>
      </p:sp>
      <p:sp>
        <p:nvSpPr>
          <p:cNvPr id="27" name="TextBox 26"/>
          <p:cNvSpPr txBox="1"/>
          <p:nvPr/>
        </p:nvSpPr>
        <p:spPr>
          <a:xfrm>
            <a:off x="9210294"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Canadian dollars per birth; total annual cost CAD 30,034</a:t>
            </a:r>
          </a:p>
        </p:txBody>
      </p:sp>
      <p:sp>
        <p:nvSpPr>
          <p:cNvPr id="28" name="TextBox 27"/>
          <p:cNvSpPr txBox="1"/>
          <p:nvPr/>
        </p:nvSpPr>
        <p:spPr>
          <a:xfrm>
            <a:off x="548640" y="4343400"/>
            <a:ext cx="11091672" cy="822960"/>
          </a:xfrm>
          <a:prstGeom prst="rect">
            <a:avLst/>
          </a:prstGeom>
          <a:noFill/>
        </p:spPr>
        <p:txBody>
          <a:bodyPr wrap="square" lIns="0" rIns="0" tIns="18288" bIns="18288" anchor="t">
            <a:spAutoFit/>
          </a:bodyPr>
          <a:lstStyle/>
          <a:p>
            <a:pPr algn="l">
              <a:spcAft>
                <a:spcPts val="400"/>
              </a:spcAft>
            </a:pPr>
            <a:r>
              <a:rPr sz="1250" b="0" i="0">
                <a:solidFill>
                  <a:srgbClr val="1A1A1A"/>
                </a:solidFill>
                <a:latin typeface="Abadi"/>
              </a:rPr>
              <a:t>Cards reached 94% of families, yet half the cases were missed. At a prevalence near 0.7 per 10,000, most positive cards are healthy infants, and every missed card leaves the infant on the old timeline.</a:t>
            </a:r>
          </a:p>
          <a:p>
            <a:pPr algn="l">
              <a:spcAft>
                <a:spcPts val="400"/>
              </a:spcAft>
            </a:pPr>
            <a:r>
              <a:rPr sz="1250" b="1" i="1">
                <a:solidFill>
                  <a:srgbClr val="1A1A1A"/>
                </a:solidFill>
                <a:latin typeface="Abadi"/>
              </a:rPr>
              <a:t>Low prevalence plus passive distribution gives a cheap screen with a coin-flip sensitivity.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ACROSS PROGRAMMES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SAME CARD, DIFFERENT NUMBERS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Published accuracy of stool colour card screening</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9</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Gu 2015 · Chen 2006 · Hsiao 2008 · Woolfson 2018 · Gu 2020 · Gopal SH, et al. PLoS One 2024;19:e0307837 · Wildhaber BE, Calinescu AM. World J Pediatr Surg 2025;8:e001026</a:t>
            </a:r>
          </a:p>
        </p:txBody>
      </p:sp>
      <p:graphicFrame>
        <p:nvGraphicFramePr>
          <p:cNvPr id="12" name="Table 11"/>
          <p:cNvGraphicFramePr>
            <a:graphicFrameLocks noGrp="1"/>
          </p:cNvGraphicFramePr>
          <p:nvPr/>
        </p:nvGraphicFramePr>
        <p:xfrm>
          <a:off x="548640" y="1773936"/>
          <a:ext cx="11091671" cy="3108960"/>
        </p:xfrm>
        <a:graphic>
          <a:graphicData uri="http://schemas.openxmlformats.org/drawingml/2006/table">
            <a:tbl>
              <a:tblPr firstRow="0" bandRow="0">
                <a:tableStyleId>{5C22544A-7EE6-4342-B048-85BDC9FD1C3A}</a:tableStyleId>
              </a:tblPr>
              <a:tblGrid>
                <a:gridCol w="2743200"/>
                <a:gridCol w="1463040"/>
                <a:gridCol w="1737360"/>
                <a:gridCol w="1097280"/>
                <a:gridCol w="4050791"/>
              </a:tblGrid>
              <a:tr h="420624">
                <a:tc>
                  <a:txBody>
                    <a:bodyPr wrap="square"/>
                    <a:lstStyle/>
                    <a:p>
                      <a:r>
                        <a:rPr sz="1200" b="1">
                          <a:solidFill>
                            <a:srgbClr val="FFFFFF"/>
                          </a:solidFill>
                          <a:latin typeface="Abadi"/>
                        </a:rPr>
                        <a:t>Programme</a:t>
                      </a:r>
                    </a:p>
                  </a:txBody>
                  <a:tcPr marL="73152" marR="73152" marT="27432" marB="27432" anchor="ctr">
                    <a:solidFill>
                      <a:srgbClr val="1B355E"/>
                    </a:solidFill>
                  </a:tcPr>
                </a:tc>
                <a:tc>
                  <a:txBody>
                    <a:bodyPr wrap="square"/>
                    <a:lstStyle/>
                    <a:p>
                      <a:r>
                        <a:rPr sz="1200" b="1">
                          <a:solidFill>
                            <a:srgbClr val="FFFFFF"/>
                          </a:solidFill>
                          <a:latin typeface="Abadi"/>
                        </a:rPr>
                        <a:t>Infants</a:t>
                      </a:r>
                    </a:p>
                  </a:txBody>
                  <a:tcPr marL="73152" marR="73152" marT="27432" marB="27432" anchor="ctr">
                    <a:solidFill>
                      <a:srgbClr val="1B355E"/>
                    </a:solidFill>
                  </a:tcPr>
                </a:tc>
                <a:tc>
                  <a:txBody>
                    <a:bodyPr wrap="square"/>
                    <a:lstStyle/>
                    <a:p>
                      <a:r>
                        <a:rPr sz="1200" b="1">
                          <a:solidFill>
                            <a:srgbClr val="FFFFFF"/>
                          </a:solidFill>
                          <a:latin typeface="Abadi"/>
                        </a:rPr>
                        <a:t>Sensitivity</a:t>
                      </a:r>
                    </a:p>
                  </a:txBody>
                  <a:tcPr marL="73152" marR="73152" marT="27432" marB="27432" anchor="ctr">
                    <a:solidFill>
                      <a:srgbClr val="1B355E"/>
                    </a:solidFill>
                  </a:tcPr>
                </a:tc>
                <a:tc>
                  <a:txBody>
                    <a:bodyPr wrap="square"/>
                    <a:lstStyle/>
                    <a:p>
                      <a:r>
                        <a:rPr sz="1200" b="1">
                          <a:solidFill>
                            <a:srgbClr val="FFFFFF"/>
                          </a:solidFill>
                          <a:latin typeface="Abadi"/>
                        </a:rPr>
                        <a:t>PPV</a:t>
                      </a:r>
                    </a:p>
                  </a:txBody>
                  <a:tcPr marL="73152" marR="73152" marT="27432" marB="27432" anchor="ctr">
                    <a:solidFill>
                      <a:srgbClr val="1B355E"/>
                    </a:solidFill>
                  </a:tcPr>
                </a:tc>
                <a:tc>
                  <a:txBody>
                    <a:bodyPr wrap="square"/>
                    <a:lstStyle/>
                    <a:p>
                      <a:r>
                        <a:rPr sz="1200" b="1">
                          <a:solidFill>
                            <a:srgbClr val="FFFFFF"/>
                          </a:solidFill>
                          <a:latin typeface="Abadi"/>
                        </a:rPr>
                        <a:t>Comment</a:t>
                      </a:r>
                    </a:p>
                  </a:txBody>
                  <a:tcPr marL="73152" marR="73152" marT="27432" marB="27432" anchor="ctr">
                    <a:solidFill>
                      <a:srgbClr val="1B355E"/>
                    </a:solidFill>
                  </a:tcPr>
                </a:tc>
              </a:tr>
              <a:tr h="384048">
                <a:tc>
                  <a:txBody>
                    <a:bodyPr wrap="square"/>
                    <a:lstStyle/>
                    <a:p>
                      <a:r>
                        <a:rPr sz="950" b="1">
                          <a:solidFill>
                            <a:srgbClr val="1A1A1A"/>
                          </a:solidFill>
                          <a:latin typeface="Abadi"/>
                        </a:rPr>
                        <a:t>Japan, Tochigi 1994–2011</a:t>
                      </a:r>
                    </a:p>
                  </a:txBody>
                  <a:tcPr marL="73152" marR="73152" marT="27432" marB="27432" anchor="ctr">
                    <a:solidFill>
                      <a:srgbClr val="FFFFFF"/>
                    </a:solidFill>
                  </a:tcPr>
                </a:tc>
                <a:tc>
                  <a:txBody>
                    <a:bodyPr wrap="square"/>
                    <a:lstStyle/>
                    <a:p>
                      <a:r>
                        <a:rPr sz="950" b="0">
                          <a:solidFill>
                            <a:srgbClr val="1A1A1A"/>
                          </a:solidFill>
                          <a:latin typeface="Abadi"/>
                        </a:rPr>
                        <a:t>313,230</a:t>
                      </a:r>
                    </a:p>
                  </a:txBody>
                  <a:tcPr marL="73152" marR="73152" marT="27432" marB="27432" anchor="ctr">
                    <a:solidFill>
                      <a:srgbClr val="FFFFFF"/>
                    </a:solidFill>
                  </a:tcPr>
                </a:tc>
                <a:tc>
                  <a:txBody>
                    <a:bodyPr wrap="square"/>
                    <a:lstStyle/>
                    <a:p>
                      <a:r>
                        <a:rPr sz="950" b="0">
                          <a:solidFill>
                            <a:srgbClr val="1A1A1A"/>
                          </a:solidFill>
                          <a:latin typeface="Abadi"/>
                        </a:rPr>
                        <a:t>76.5%</a:t>
                      </a:r>
                    </a:p>
                  </a:txBody>
                  <a:tcPr marL="73152" marR="73152" marT="27432" marB="27432" anchor="ctr">
                    <a:solidFill>
                      <a:srgbClr val="FFFFFF"/>
                    </a:solidFill>
                  </a:tcPr>
                </a:tc>
                <a:tc>
                  <a:txBody>
                    <a:bodyPr wrap="square"/>
                    <a:lstStyle/>
                    <a:p>
                      <a:r>
                        <a:rPr sz="950" b="0">
                          <a:solidFill>
                            <a:srgbClr val="1A1A1A"/>
                          </a:solidFill>
                          <a:latin typeface="Abadi"/>
                        </a:rPr>
                        <a:t>12.7%</a:t>
                      </a:r>
                    </a:p>
                  </a:txBody>
                  <a:tcPr marL="73152" marR="73152" marT="27432" marB="27432" anchor="ctr">
                    <a:solidFill>
                      <a:srgbClr val="FFFFFF"/>
                    </a:solidFill>
                  </a:tcPr>
                </a:tc>
                <a:tc>
                  <a:txBody>
                    <a:bodyPr wrap="square"/>
                    <a:lstStyle/>
                    <a:p>
                      <a:r>
                        <a:rPr sz="950" b="0">
                          <a:solidFill>
                            <a:srgbClr val="1A1A1A"/>
                          </a:solidFill>
                          <a:latin typeface="Abadi"/>
                        </a:rPr>
                        <a:t>Checked at 1 month</a:t>
                      </a:r>
                    </a:p>
                  </a:txBody>
                  <a:tcPr marL="73152" marR="73152" marT="27432" marB="27432" anchor="ctr">
                    <a:solidFill>
                      <a:srgbClr val="FFFFFF"/>
                    </a:solidFill>
                  </a:tcPr>
                </a:tc>
              </a:tr>
              <a:tr h="384048">
                <a:tc>
                  <a:txBody>
                    <a:bodyPr wrap="square"/>
                    <a:lstStyle/>
                    <a:p>
                      <a:r>
                        <a:rPr sz="950" b="1">
                          <a:solidFill>
                            <a:srgbClr val="1A1A1A"/>
                          </a:solidFill>
                          <a:latin typeface="Abadi"/>
                        </a:rPr>
                        <a:t>Taiwan pilot 2002–03</a:t>
                      </a:r>
                    </a:p>
                  </a:txBody>
                  <a:tcPr marL="73152" marR="73152" marT="27432" marB="27432" anchor="ctr">
                    <a:solidFill>
                      <a:srgbClr val="F2F2F2"/>
                    </a:solidFill>
                  </a:tcPr>
                </a:tc>
                <a:tc>
                  <a:txBody>
                    <a:bodyPr wrap="square"/>
                    <a:lstStyle/>
                    <a:p>
                      <a:r>
                        <a:rPr sz="950" b="0">
                          <a:solidFill>
                            <a:srgbClr val="1A1A1A"/>
                          </a:solidFill>
                          <a:latin typeface="Abadi"/>
                        </a:rPr>
                        <a:t>78,184</a:t>
                      </a:r>
                    </a:p>
                  </a:txBody>
                  <a:tcPr marL="73152" marR="73152" marT="27432" marB="27432" anchor="ctr">
                    <a:solidFill>
                      <a:srgbClr val="F2F2F2"/>
                    </a:solidFill>
                  </a:tcPr>
                </a:tc>
                <a:tc>
                  <a:txBody>
                    <a:bodyPr wrap="square"/>
                    <a:lstStyle/>
                    <a:p>
                      <a:r>
                        <a:rPr sz="950" b="0">
                          <a:solidFill>
                            <a:srgbClr val="1A1A1A"/>
                          </a:solidFill>
                          <a:latin typeface="Abadi"/>
                        </a:rPr>
                        <a:t>89.7%</a:t>
                      </a:r>
                    </a:p>
                  </a:txBody>
                  <a:tcPr marL="73152" marR="73152" marT="27432" marB="27432" anchor="ctr">
                    <a:solidFill>
                      <a:srgbClr val="F2F2F2"/>
                    </a:solidFill>
                  </a:tcPr>
                </a:tc>
                <a:tc>
                  <a:txBody>
                    <a:bodyPr wrap="square"/>
                    <a:lstStyle/>
                    <a:p>
                      <a:r>
                        <a:rPr sz="950" b="0">
                          <a:solidFill>
                            <a:srgbClr val="1A1A1A"/>
                          </a:solidFill>
                          <a:latin typeface="Abadi"/>
                        </a:rPr>
                        <a:t>28.6%</a:t>
                      </a:r>
                    </a:p>
                  </a:txBody>
                  <a:tcPr marL="73152" marR="73152" marT="27432" marB="27432" anchor="ctr">
                    <a:solidFill>
                      <a:srgbClr val="F2F2F2"/>
                    </a:solidFill>
                  </a:tcPr>
                </a:tc>
                <a:tc>
                  <a:txBody>
                    <a:bodyPr wrap="square"/>
                    <a:lstStyle/>
                    <a:p>
                      <a:r>
                        <a:rPr sz="950" b="0">
                          <a:solidFill>
                            <a:srgbClr val="1A1A1A"/>
                          </a:solidFill>
                          <a:latin typeface="Abadi"/>
                        </a:rPr>
                        <a:t>Before 60 days; high prevalence</a:t>
                      </a:r>
                    </a:p>
                  </a:txBody>
                  <a:tcPr marL="73152" marR="73152" marT="27432" marB="27432" anchor="ctr">
                    <a:solidFill>
                      <a:srgbClr val="F2F2F2"/>
                    </a:solidFill>
                  </a:tcPr>
                </a:tc>
              </a:tr>
              <a:tr h="384048">
                <a:tc>
                  <a:txBody>
                    <a:bodyPr wrap="square"/>
                    <a:lstStyle/>
                    <a:p>
                      <a:r>
                        <a:rPr sz="950" b="1">
                          <a:solidFill>
                            <a:srgbClr val="1A1A1A"/>
                          </a:solidFill>
                          <a:latin typeface="Abadi"/>
                        </a:rPr>
                        <a:t>Taiwan national 2005</a:t>
                      </a:r>
                    </a:p>
                  </a:txBody>
                  <a:tcPr marL="73152" marR="73152" marT="27432" marB="27432" anchor="ctr">
                    <a:solidFill>
                      <a:srgbClr val="FFFFFF"/>
                    </a:solidFill>
                  </a:tcPr>
                </a:tc>
                <a:tc>
                  <a:txBody>
                    <a:bodyPr wrap="square"/>
                    <a:lstStyle/>
                    <a:p>
                      <a:r>
                        <a:rPr sz="950" b="0">
                          <a:solidFill>
                            <a:srgbClr val="1A1A1A"/>
                          </a:solidFill>
                          <a:latin typeface="Abadi"/>
                        </a:rPr>
                        <a:t>205,854</a:t>
                      </a:r>
                    </a:p>
                  </a:txBody>
                  <a:tcPr marL="73152" marR="73152" marT="27432" marB="27432" anchor="ctr">
                    <a:solidFill>
                      <a:srgbClr val="FFFFFF"/>
                    </a:solidFill>
                  </a:tcPr>
                </a:tc>
                <a:tc>
                  <a:txBody>
                    <a:bodyPr wrap="square"/>
                    <a:lstStyle/>
                    <a:p>
                      <a:r>
                        <a:rPr sz="950" b="0">
                          <a:solidFill>
                            <a:srgbClr val="1A1A1A"/>
                          </a:solidFill>
                          <a:latin typeface="Abadi"/>
                        </a:rPr>
                        <a:t>97.1%</a:t>
                      </a:r>
                    </a:p>
                  </a:txBody>
                  <a:tcPr marL="73152" marR="73152" marT="27432" marB="27432" anchor="ctr">
                    <a:solidFill>
                      <a:srgbClr val="FFFFFF"/>
                    </a:solidFill>
                  </a:tcPr>
                </a:tc>
                <a:tc>
                  <a:txBody>
                    <a:bodyPr wrap="square"/>
                    <a:lstStyle/>
                    <a:p>
                      <a:r>
                        <a:rPr sz="950" b="0">
                          <a:solidFill>
                            <a:srgbClr val="1A1A1A"/>
                          </a:solidFill>
                          <a:latin typeface="Abadi"/>
                        </a:rPr>
                        <a:t>—</a:t>
                      </a:r>
                    </a:p>
                  </a:txBody>
                  <a:tcPr marL="73152" marR="73152" marT="27432" marB="27432" anchor="ctr">
                    <a:solidFill>
                      <a:srgbClr val="FFFFFF"/>
                    </a:solidFill>
                  </a:tcPr>
                </a:tc>
                <a:tc>
                  <a:txBody>
                    <a:bodyPr wrap="square"/>
                    <a:lstStyle/>
                    <a:p>
                      <a:r>
                        <a:rPr sz="950" b="0">
                          <a:solidFill>
                            <a:srgbClr val="1A1A1A"/>
                          </a:solidFill>
                          <a:latin typeface="Abadi"/>
                        </a:rPr>
                        <a:t>Second year of the national programme</a:t>
                      </a:r>
                    </a:p>
                  </a:txBody>
                  <a:tcPr marL="73152" marR="73152" marT="27432" marB="27432" anchor="ctr">
                    <a:solidFill>
                      <a:srgbClr val="FFFFFF"/>
                    </a:solidFill>
                  </a:tcPr>
                </a:tc>
              </a:tr>
              <a:tr h="384048">
                <a:tc>
                  <a:txBody>
                    <a:bodyPr wrap="square"/>
                    <a:lstStyle/>
                    <a:p>
                      <a:r>
                        <a:rPr sz="950" b="1">
                          <a:solidFill>
                            <a:srgbClr val="1A1A1A"/>
                          </a:solidFill>
                          <a:latin typeface="Abadi"/>
                        </a:rPr>
                        <a:t>British Columbia 2014–16</a:t>
                      </a:r>
                    </a:p>
                  </a:txBody>
                  <a:tcPr marL="73152" marR="73152" marT="27432" marB="27432" anchor="ctr">
                    <a:solidFill>
                      <a:srgbClr val="F2F2F2"/>
                    </a:solidFill>
                  </a:tcPr>
                </a:tc>
                <a:tc>
                  <a:txBody>
                    <a:bodyPr wrap="square"/>
                    <a:lstStyle/>
                    <a:p>
                      <a:r>
                        <a:rPr sz="950" b="0">
                          <a:solidFill>
                            <a:srgbClr val="1A1A1A"/>
                          </a:solidFill>
                          <a:latin typeface="Abadi"/>
                        </a:rPr>
                        <a:t>87,583</a:t>
                      </a:r>
                    </a:p>
                  </a:txBody>
                  <a:tcPr marL="73152" marR="73152" marT="27432" marB="27432" anchor="ctr">
                    <a:solidFill>
                      <a:srgbClr val="F2F2F2"/>
                    </a:solidFill>
                  </a:tcPr>
                </a:tc>
                <a:tc>
                  <a:txBody>
                    <a:bodyPr wrap="square"/>
                    <a:lstStyle/>
                    <a:p>
                      <a:r>
                        <a:rPr sz="950" b="0">
                          <a:solidFill>
                            <a:srgbClr val="1A1A1A"/>
                          </a:solidFill>
                          <a:latin typeface="Abadi"/>
                        </a:rPr>
                        <a:t>50%</a:t>
                      </a:r>
                    </a:p>
                  </a:txBody>
                  <a:tcPr marL="73152" marR="73152" marT="27432" marB="27432" anchor="ctr">
                    <a:solidFill>
                      <a:srgbClr val="F2F2F2"/>
                    </a:solidFill>
                  </a:tcPr>
                </a:tc>
                <a:tc>
                  <a:txBody>
                    <a:bodyPr wrap="square"/>
                    <a:lstStyle/>
                    <a:p>
                      <a:r>
                        <a:rPr sz="950" b="0">
                          <a:solidFill>
                            <a:srgbClr val="1A1A1A"/>
                          </a:solidFill>
                          <a:latin typeface="Abadi"/>
                        </a:rPr>
                        <a:t>4%</a:t>
                      </a:r>
                    </a:p>
                  </a:txBody>
                  <a:tcPr marL="73152" marR="73152" marT="27432" marB="27432" anchor="ctr">
                    <a:solidFill>
                      <a:srgbClr val="F2F2F2"/>
                    </a:solidFill>
                  </a:tcPr>
                </a:tc>
                <a:tc>
                  <a:txBody>
                    <a:bodyPr wrap="square"/>
                    <a:lstStyle/>
                    <a:p>
                      <a:r>
                        <a:rPr sz="950" b="0">
                          <a:solidFill>
                            <a:srgbClr val="1A1A1A"/>
                          </a:solidFill>
                          <a:latin typeface="Abadi"/>
                        </a:rPr>
                        <a:t>Six cases; passive distribution</a:t>
                      </a:r>
                    </a:p>
                  </a:txBody>
                  <a:tcPr marL="73152" marR="73152" marT="27432" marB="27432" anchor="ctr">
                    <a:solidFill>
                      <a:srgbClr val="F2F2F2"/>
                    </a:solidFill>
                  </a:tcPr>
                </a:tc>
              </a:tr>
              <a:tr h="384048">
                <a:tc>
                  <a:txBody>
                    <a:bodyPr wrap="square"/>
                    <a:lstStyle/>
                    <a:p>
                      <a:r>
                        <a:rPr sz="950" b="1">
                          <a:solidFill>
                            <a:srgbClr val="1A1A1A"/>
                          </a:solidFill>
                          <a:latin typeface="Abadi"/>
                        </a:rPr>
                        <a:t>Sapporo 2012–15</a:t>
                      </a:r>
                    </a:p>
                  </a:txBody>
                  <a:tcPr marL="73152" marR="73152" marT="27432" marB="27432" anchor="ctr">
                    <a:solidFill>
                      <a:srgbClr val="FFFFFF"/>
                    </a:solidFill>
                  </a:tcPr>
                </a:tc>
                <a:tc>
                  <a:txBody>
                    <a:bodyPr wrap="square"/>
                    <a:lstStyle/>
                    <a:p>
                      <a:r>
                        <a:rPr sz="950" b="0">
                          <a:solidFill>
                            <a:srgbClr val="1A1A1A"/>
                          </a:solidFill>
                          <a:latin typeface="Abadi"/>
                        </a:rPr>
                        <a:t>37,478</a:t>
                      </a:r>
                    </a:p>
                  </a:txBody>
                  <a:tcPr marL="73152" marR="73152" marT="27432" marB="27432" anchor="ctr">
                    <a:solidFill>
                      <a:srgbClr val="FFFFFF"/>
                    </a:solidFill>
                  </a:tcPr>
                </a:tc>
                <a:tc>
                  <a:txBody>
                    <a:bodyPr wrap="square"/>
                    <a:lstStyle/>
                    <a:p>
                      <a:r>
                        <a:rPr sz="950" b="0">
                          <a:solidFill>
                            <a:srgbClr val="1A1A1A"/>
                          </a:solidFill>
                          <a:latin typeface="Abadi"/>
                        </a:rPr>
                        <a:t>0% at 1 month</a:t>
                      </a:r>
                    </a:p>
                  </a:txBody>
                  <a:tcPr marL="73152" marR="73152" marT="27432" marB="27432" anchor="ctr">
                    <a:solidFill>
                      <a:srgbClr val="FFFFFF"/>
                    </a:solidFill>
                  </a:tcPr>
                </a:tc>
                <a:tc>
                  <a:txBody>
                    <a:bodyPr wrap="square"/>
                    <a:lstStyle/>
                    <a:p>
                      <a:r>
                        <a:rPr sz="950" b="0">
                          <a:solidFill>
                            <a:srgbClr val="1A1A1A"/>
                          </a:solidFill>
                          <a:latin typeface="Abadi"/>
                        </a:rPr>
                        <a:t>—</a:t>
                      </a:r>
                    </a:p>
                  </a:txBody>
                  <a:tcPr marL="73152" marR="73152" marT="27432" marB="27432" anchor="ctr">
                    <a:solidFill>
                      <a:srgbClr val="FFFFFF"/>
                    </a:solidFill>
                  </a:tcPr>
                </a:tc>
                <a:tc>
                  <a:txBody>
                    <a:bodyPr wrap="square"/>
                    <a:lstStyle/>
                    <a:p>
                      <a:r>
                        <a:rPr sz="950" b="0">
                          <a:solidFill>
                            <a:srgbClr val="1A1A1A"/>
                          </a:solidFill>
                          <a:latin typeface="Abadi"/>
                        </a:rPr>
                        <a:t>Two cases, stools still pigmented</a:t>
                      </a:r>
                    </a:p>
                  </a:txBody>
                  <a:tcPr marL="73152" marR="73152" marT="27432" marB="27432" anchor="ctr">
                    <a:solidFill>
                      <a:srgbClr val="FFFFFF"/>
                    </a:solidFill>
                  </a:tcPr>
                </a:tc>
              </a:tr>
              <a:tr h="384048">
                <a:tc>
                  <a:txBody>
                    <a:bodyPr wrap="square"/>
                    <a:lstStyle/>
                    <a:p>
                      <a:r>
                        <a:rPr sz="950" b="1">
                          <a:solidFill>
                            <a:srgbClr val="1A1A1A"/>
                          </a:solidFill>
                          <a:latin typeface="Abadi"/>
                        </a:rPr>
                        <a:t>Switzerland since 2005</a:t>
                      </a:r>
                    </a:p>
                  </a:txBody>
                  <a:tcPr marL="73152" marR="73152" marT="27432" marB="27432" anchor="ctr">
                    <a:solidFill>
                      <a:srgbClr val="F2F2F2"/>
                    </a:solidFill>
                  </a:tcPr>
                </a:tc>
                <a:tc>
                  <a:txBody>
                    <a:bodyPr wrap="square"/>
                    <a:lstStyle/>
                    <a:p>
                      <a:r>
                        <a:rPr sz="950" b="0">
                          <a:solidFill>
                            <a:srgbClr val="1A1A1A"/>
                          </a:solidFill>
                          <a:latin typeface="Abadi"/>
                        </a:rPr>
                        <a:t>National</a:t>
                      </a:r>
                    </a:p>
                  </a:txBody>
                  <a:tcPr marL="73152" marR="73152" marT="27432" marB="27432" anchor="ctr">
                    <a:solidFill>
                      <a:srgbClr val="F2F2F2"/>
                    </a:solidFill>
                  </a:tcPr>
                </a:tc>
                <a:tc>
                  <a:txBody>
                    <a:bodyPr wrap="square"/>
                    <a:lstStyle/>
                    <a:p>
                      <a:r>
                        <a:rPr sz="950" b="0">
                          <a:solidFill>
                            <a:srgbClr val="1A1A1A"/>
                          </a:solidFill>
                          <a:latin typeface="Abadi"/>
                        </a:rPr>
                        <a:t>Not published</a:t>
                      </a:r>
                    </a:p>
                  </a:txBody>
                  <a:tcPr marL="73152" marR="73152" marT="27432" marB="27432" anchor="ctr">
                    <a:solidFill>
                      <a:srgbClr val="F2F2F2"/>
                    </a:solidFill>
                  </a:tcPr>
                </a:tc>
                <a:tc>
                  <a:txBody>
                    <a:bodyPr wrap="square"/>
                    <a:lstStyle/>
                    <a:p>
                      <a:r>
                        <a:rPr sz="950" b="0">
                          <a:solidFill>
                            <a:srgbClr val="1A1A1A"/>
                          </a:solidFill>
                          <a:latin typeface="Abadi"/>
                        </a:rPr>
                        <a:t>—</a:t>
                      </a:r>
                    </a:p>
                  </a:txBody>
                  <a:tcPr marL="73152" marR="73152" marT="27432" marB="27432" anchor="ctr">
                    <a:solidFill>
                      <a:srgbClr val="F2F2F2"/>
                    </a:solidFill>
                  </a:tcPr>
                </a:tc>
                <a:tc>
                  <a:txBody>
                    <a:bodyPr wrap="square"/>
                    <a:lstStyle/>
                    <a:p>
                      <a:r>
                        <a:rPr sz="950" b="0">
                          <a:solidFill>
                            <a:srgbClr val="1A1A1A"/>
                          </a:solidFill>
                          <a:latin typeface="Abadi"/>
                        </a:rPr>
                        <a:t>Median Kasai 68 → 57 days (unpublished data)</a:t>
                      </a:r>
                    </a:p>
                  </a:txBody>
                  <a:tcPr marL="73152" marR="73152" marT="27432" marB="27432" anchor="ctr">
                    <a:solidFill>
                      <a:srgbClr val="F2F2F2"/>
                    </a:solidFill>
                  </a:tcPr>
                </a:tc>
              </a:tr>
              <a:tr h="384048">
                <a:tc>
                  <a:txBody>
                    <a:bodyPr wrap="square"/>
                    <a:lstStyle/>
                    <a:p>
                      <a:r>
                        <a:rPr sz="950" b="1">
                          <a:solidFill>
                            <a:srgbClr val="1A1A1A"/>
                          </a:solidFill>
                          <a:latin typeface="Abadi"/>
                        </a:rPr>
                        <a:t>Meta-analysis, 7 studies</a:t>
                      </a:r>
                    </a:p>
                  </a:txBody>
                  <a:tcPr marL="73152" marR="73152" marT="27432" marB="27432" anchor="ctr">
                    <a:solidFill>
                      <a:srgbClr val="FFFFFF"/>
                    </a:solidFill>
                  </a:tcPr>
                </a:tc>
                <a:tc>
                  <a:txBody>
                    <a:bodyPr wrap="square"/>
                    <a:lstStyle/>
                    <a:p>
                      <a:r>
                        <a:rPr sz="950" b="0">
                          <a:solidFill>
                            <a:srgbClr val="1A1A1A"/>
                          </a:solidFill>
                          <a:latin typeface="Abadi"/>
                        </a:rPr>
                        <a:t>996,262</a:t>
                      </a:r>
                    </a:p>
                  </a:txBody>
                  <a:tcPr marL="73152" marR="73152" marT="27432" marB="27432" anchor="ctr">
                    <a:solidFill>
                      <a:srgbClr val="FFFFFF"/>
                    </a:solidFill>
                  </a:tcPr>
                </a:tc>
                <a:tc>
                  <a:txBody>
                    <a:bodyPr wrap="square"/>
                    <a:lstStyle/>
                    <a:p>
                      <a:r>
                        <a:rPr sz="950" b="0">
                          <a:solidFill>
                            <a:srgbClr val="1A1A1A"/>
                          </a:solidFill>
                          <a:latin typeface="Abadi"/>
                        </a:rPr>
                        <a:t>79.6%</a:t>
                      </a:r>
                    </a:p>
                  </a:txBody>
                  <a:tcPr marL="73152" marR="73152" marT="27432" marB="27432" anchor="ctr">
                    <a:solidFill>
                      <a:srgbClr val="FFFFFF"/>
                    </a:solidFill>
                  </a:tcPr>
                </a:tc>
                <a:tc>
                  <a:txBody>
                    <a:bodyPr wrap="square"/>
                    <a:lstStyle/>
                    <a:p>
                      <a:r>
                        <a:rPr sz="950" b="0">
                          <a:solidFill>
                            <a:srgbClr val="1A1A1A"/>
                          </a:solidFill>
                          <a:latin typeface="Abadi"/>
                        </a:rPr>
                        <a:t>—</a:t>
                      </a:r>
                    </a:p>
                  </a:txBody>
                  <a:tcPr marL="73152" marR="73152" marT="27432" marB="27432" anchor="ctr">
                    <a:solidFill>
                      <a:srgbClr val="FFFFFF"/>
                    </a:solidFill>
                  </a:tcPr>
                </a:tc>
                <a:tc>
                  <a:txBody>
                    <a:bodyPr wrap="square"/>
                    <a:lstStyle/>
                    <a:p>
                      <a:r>
                        <a:rPr sz="950" b="0">
                          <a:solidFill>
                            <a:srgbClr val="1A1A1A"/>
                          </a:solidFill>
                          <a:latin typeface="Abadi"/>
                        </a:rPr>
                        <a:t>95% CI 70.6–86.4; specificity 99.9%</a:t>
                      </a:r>
                    </a:p>
                  </a:txBody>
                  <a:tcPr marL="73152" marR="73152" marT="27432" marB="27432" anchor="ctr">
                    <a:solidFill>
                      <a:srgbClr val="FFFFFF"/>
                    </a:solidFill>
                  </a:tcPr>
                </a:tc>
              </a:tr>
            </a:tbl>
          </a:graphicData>
        </a:graphic>
      </p:graphicFrame>
      <p:sp>
        <p:nvSpPr>
          <p:cNvPr id="13" name="TextBox 12"/>
          <p:cNvSpPr txBox="1"/>
          <p:nvPr/>
        </p:nvSpPr>
        <p:spPr>
          <a:xfrm>
            <a:off x="548640" y="4937760"/>
            <a:ext cx="11091672" cy="457200"/>
          </a:xfrm>
          <a:prstGeom prst="rect">
            <a:avLst/>
          </a:prstGeom>
          <a:noFill/>
        </p:spPr>
        <p:txBody>
          <a:bodyPr wrap="square" lIns="0" rIns="0" tIns="18288" bIns="18288" anchor="t">
            <a:spAutoFit/>
          </a:bodyPr>
          <a:lstStyle/>
          <a:p>
            <a:pPr algn="l">
              <a:spcAft>
                <a:spcPts val="400"/>
              </a:spcAft>
            </a:pPr>
            <a:r>
              <a:rPr sz="1250" b="1" i="1">
                <a:solidFill>
                  <a:srgbClr val="1A1A1A"/>
                </a:solidFill>
                <a:latin typeface="Abadi"/>
              </a:rPr>
              <a:t>Sensitivity depends on prevalence, on when the card is read, and on whether anyone acts within 24 hours.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EARLY BILIRUBIN</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ATRESIA IS ABNORMAL ON DAY ONE</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Direct or conjugated bilirubin in the first 96 hours, 61 infants later diagnosed with atresia, Texas 2007–10</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10</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Harpavat S, Finegold MJ, Karpen SJ. Pediatrics 2011;128:e1428–33</a:t>
            </a:r>
          </a:p>
        </p:txBody>
      </p:sp>
      <p:sp>
        <p:nvSpPr>
          <p:cNvPr id="12" name="Rectangle 11"/>
          <p:cNvSpPr/>
          <p:nvPr/>
        </p:nvSpPr>
        <p:spPr>
          <a:xfrm>
            <a:off x="1421892" y="2594610"/>
            <a:ext cx="630936" cy="2800349"/>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11580" y="2320290"/>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1.4 mg/dL</a:t>
            </a:r>
          </a:p>
        </p:txBody>
      </p:sp>
      <p:sp>
        <p:nvSpPr>
          <p:cNvPr id="14" name="TextBox 13"/>
          <p:cNvSpPr txBox="1"/>
          <p:nvPr/>
        </p:nvSpPr>
        <p:spPr>
          <a:xfrm>
            <a:off x="548640" y="5440680"/>
            <a:ext cx="2377440" cy="274320"/>
          </a:xfrm>
          <a:prstGeom prst="rect">
            <a:avLst/>
          </a:prstGeom>
          <a:noFill/>
        </p:spPr>
        <p:txBody>
          <a:bodyPr wrap="square" lIns="0" rIns="0" tIns="18288" bIns="18288" anchor="t">
            <a:spAutoFit/>
          </a:bodyPr>
          <a:lstStyle/>
          <a:p>
            <a:pPr algn="ctr"/>
            <a:r>
              <a:rPr sz="1050" b="0" i="0">
                <a:solidFill>
                  <a:srgbClr val="1A1A1A"/>
                </a:solidFill>
                <a:latin typeface="Abadi"/>
              </a:rPr>
              <a:t>Atresia, 24–48 h</a:t>
            </a:r>
          </a:p>
        </p:txBody>
      </p:sp>
      <p:sp>
        <p:nvSpPr>
          <p:cNvPr id="15" name="Rectangle 14"/>
          <p:cNvSpPr/>
          <p:nvPr/>
        </p:nvSpPr>
        <p:spPr>
          <a:xfrm>
            <a:off x="3799332" y="5014912"/>
            <a:ext cx="630936" cy="380047"/>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9020" y="4740592"/>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0.19 mg/dL</a:t>
            </a:r>
          </a:p>
        </p:txBody>
      </p:sp>
      <p:sp>
        <p:nvSpPr>
          <p:cNvPr id="17" name="TextBox 16"/>
          <p:cNvSpPr txBox="1"/>
          <p:nvPr/>
        </p:nvSpPr>
        <p:spPr>
          <a:xfrm>
            <a:off x="2926080" y="5440680"/>
            <a:ext cx="2377440" cy="274320"/>
          </a:xfrm>
          <a:prstGeom prst="rect">
            <a:avLst/>
          </a:prstGeom>
          <a:noFill/>
        </p:spPr>
        <p:txBody>
          <a:bodyPr wrap="square" lIns="0" rIns="0" tIns="18288" bIns="18288" anchor="t">
            <a:spAutoFit/>
          </a:bodyPr>
          <a:lstStyle/>
          <a:p>
            <a:pPr algn="ctr"/>
            <a:r>
              <a:rPr sz="1050" b="0" i="0">
                <a:solidFill>
                  <a:srgbClr val="1A1A1A"/>
                </a:solidFill>
                <a:latin typeface="Abadi"/>
              </a:rPr>
              <a:t>Controls, 24–48 h</a:t>
            </a:r>
          </a:p>
        </p:txBody>
      </p:sp>
      <p:sp>
        <p:nvSpPr>
          <p:cNvPr id="18" name="Rectangle 17"/>
          <p:cNvSpPr/>
          <p:nvPr/>
        </p:nvSpPr>
        <p:spPr>
          <a:xfrm>
            <a:off x="548640" y="5394960"/>
            <a:ext cx="4754880" cy="1097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0" y="1874519"/>
            <a:ext cx="5852160" cy="3931920"/>
          </a:xfrm>
          <a:prstGeom prst="rect">
            <a:avLst/>
          </a:prstGeom>
          <a:noFill/>
        </p:spPr>
        <p:txBody>
          <a:bodyPr wrap="square" lIns="0" rIns="0" tIns="18288" bIns="18288" anchor="t">
            <a:spAutoFit/>
          </a:bodyPr>
          <a:lstStyle/>
          <a:p>
            <a:pPr algn="l">
              <a:spcAft>
                <a:spcPts val="300"/>
              </a:spcAft>
            </a:pPr>
            <a:r>
              <a:rPr sz="2400" b="1" i="0">
                <a:solidFill>
                  <a:srgbClr val="1B355E"/>
                </a:solidFill>
                <a:latin typeface="Abadi"/>
              </a:rPr>
              <a:t>34 of 34</a:t>
            </a:r>
          </a:p>
          <a:p>
            <a:pPr algn="l">
              <a:spcAft>
                <a:spcPts val="300"/>
              </a:spcAft>
            </a:pPr>
            <a:r>
              <a:rPr sz="1200" b="0" i="0">
                <a:solidFill>
                  <a:srgbClr val="1A1A1A"/>
                </a:solidFill>
                <a:latin typeface="Abadi"/>
              </a:rPr>
              <a:t>Infants with a newborn direct or conjugated bilirubin in the first 96 hours had a value above the upper limit of normal.</a:t>
            </a:r>
          </a:p>
          <a:p>
            <a:pPr algn="l">
              <a:spcAft>
                <a:spcPts val="300"/>
              </a:spcAft>
            </a:pPr>
            <a:r>
              <a:rPr sz="2400" b="1" i="0">
                <a:solidFill>
                  <a:srgbClr val="1B355E"/>
                </a:solidFill>
                <a:latin typeface="Abadi"/>
              </a:rPr>
              <a:t>0.8 &gt; 0.7 mg/dL</a:t>
            </a:r>
          </a:p>
          <a:p>
            <a:pPr algn="l">
              <a:spcAft>
                <a:spcPts val="300"/>
              </a:spcAft>
            </a:pPr>
            <a:r>
              <a:rPr sz="1200" b="0" i="0">
                <a:solidFill>
                  <a:srgbClr val="1A1A1A"/>
                </a:solidFill>
                <a:latin typeface="Abadi"/>
              </a:rPr>
              <a:t>The lowest atresia value was above the highest control value.</a:t>
            </a:r>
          </a:p>
          <a:p>
            <a:pPr algn="l">
              <a:spcAft>
                <a:spcPts val="300"/>
              </a:spcAft>
            </a:pPr>
            <a:r>
              <a:rPr sz="2400" b="1" i="0">
                <a:solidFill>
                  <a:srgbClr val="1B355E"/>
                </a:solidFill>
                <a:latin typeface="Abadi"/>
              </a:rPr>
              <a:t>79%</a:t>
            </a:r>
          </a:p>
          <a:p>
            <a:pPr algn="l">
              <a:spcAft>
                <a:spcPts val="300"/>
              </a:spcAft>
            </a:pPr>
            <a:r>
              <a:rPr sz="1200" b="0" i="0">
                <a:solidFill>
                  <a:srgbClr val="1A1A1A"/>
                </a:solidFill>
                <a:latin typeface="Abadi"/>
              </a:rPr>
              <a:t>Had a direct-to-total ratio of 0.2 or less: the old 20% rule would have called them normal.</a:t>
            </a:r>
          </a:p>
          <a:p>
            <a:pPr algn="l">
              <a:spcAft>
                <a:spcPts val="300"/>
              </a:spcAft>
            </a:pPr>
            <a:r>
              <a:rPr sz="2400" b="1" i="0">
                <a:solidFill>
                  <a:srgbClr val="1B355E"/>
                </a:solidFill>
                <a:latin typeface="Abadi"/>
              </a:rPr>
              <a:t>53%</a:t>
            </a:r>
          </a:p>
          <a:p>
            <a:pPr algn="l">
              <a:spcAft>
                <a:spcPts val="300"/>
              </a:spcAft>
            </a:pPr>
            <a:r>
              <a:rPr sz="1200" b="0" i="0">
                <a:solidFill>
                  <a:srgbClr val="1A1A1A"/>
                </a:solidFill>
                <a:latin typeface="Abadi"/>
              </a:rPr>
              <a:t>Received any follow-up of the abnormal value.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TEXAS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TWO BLOOD TESTS, 124,385 NEWBORNS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Two-stage direct or conjugated bilirubin screening in 14 hospitals, 2015–18</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11</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Harpavat S, et al. JAMA 2020;323:1141–50</a:t>
            </a:r>
          </a:p>
        </p:txBody>
      </p:sp>
      <p:sp>
        <p:nvSpPr>
          <p:cNvPr id="12" name="Rectangle 11"/>
          <p:cNvSpPr/>
          <p:nvPr/>
        </p:nvSpPr>
        <p:spPr>
          <a:xfrm>
            <a:off x="548640" y="1810512"/>
            <a:ext cx="3502152" cy="14173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810512"/>
            <a:ext cx="3502152" cy="3657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810512"/>
            <a:ext cx="3282696" cy="365760"/>
          </a:xfrm>
          <a:prstGeom prst="rect">
            <a:avLst/>
          </a:prstGeom>
          <a:noFill/>
        </p:spPr>
        <p:txBody>
          <a:bodyPr wrap="square" lIns="0" rIns="0" tIns="18288" bIns="18288" anchor="ctr">
            <a:spAutoFit/>
          </a:bodyPr>
          <a:lstStyle/>
          <a:p>
            <a:pPr algn="l"/>
            <a:r>
              <a:rPr sz="1250" b="1" i="0">
                <a:solidFill>
                  <a:srgbClr val="FFFFFF"/>
                </a:solidFill>
                <a:latin typeface="Abadi"/>
              </a:rPr>
              <a:t>Stage 1: before 60 h</a:t>
            </a:r>
          </a:p>
        </p:txBody>
      </p:sp>
      <p:sp>
        <p:nvSpPr>
          <p:cNvPr id="15" name="TextBox 14"/>
          <p:cNvSpPr txBox="1"/>
          <p:nvPr/>
        </p:nvSpPr>
        <p:spPr>
          <a:xfrm>
            <a:off x="658368" y="2267712"/>
            <a:ext cx="3282696" cy="914400"/>
          </a:xfrm>
          <a:prstGeom prst="rect">
            <a:avLst/>
          </a:prstGeom>
          <a:noFill/>
        </p:spPr>
        <p:txBody>
          <a:bodyPr wrap="square" lIns="0" rIns="0" tIns="18288" bIns="18288" anchor="t">
            <a:spAutoFit/>
          </a:bodyPr>
          <a:lstStyle/>
          <a:p>
            <a:pPr algn="l"/>
            <a:r>
              <a:rPr sz="1100" b="0" i="0">
                <a:solidFill>
                  <a:srgbClr val="1A1A1A"/>
                </a:solidFill>
                <a:latin typeface="Abadi"/>
              </a:rPr>
              <a:t>Direct or conjugated bilirubin on the routine sample; positive if above the hospital reference (conjugated limit 0.2 mg/dL). 1.1% positive.</a:t>
            </a:r>
          </a:p>
        </p:txBody>
      </p:sp>
      <p:sp>
        <p:nvSpPr>
          <p:cNvPr id="16" name="TextBox 15"/>
          <p:cNvSpPr txBox="1"/>
          <p:nvPr/>
        </p:nvSpPr>
        <p:spPr>
          <a:xfrm>
            <a:off x="4032504" y="2336291"/>
            <a:ext cx="329184" cy="365760"/>
          </a:xfrm>
          <a:prstGeom prst="rect">
            <a:avLst/>
          </a:prstGeom>
          <a:noFill/>
        </p:spPr>
        <p:txBody>
          <a:bodyPr wrap="square" lIns="0" rIns="0" tIns="18288" bIns="18288" anchor="t">
            <a:spAutoFit/>
          </a:bodyPr>
          <a:lstStyle/>
          <a:p>
            <a:pPr algn="ctr"/>
            <a:r>
              <a:rPr sz="1300" b="0" i="0">
                <a:solidFill>
                  <a:srgbClr val="8A939B"/>
                </a:solidFill>
                <a:latin typeface="Abadi"/>
              </a:rPr>
              <a:t>▶</a:t>
            </a:r>
          </a:p>
        </p:txBody>
      </p:sp>
      <p:sp>
        <p:nvSpPr>
          <p:cNvPr id="17" name="Rectangle 16"/>
          <p:cNvSpPr/>
          <p:nvPr/>
        </p:nvSpPr>
        <p:spPr>
          <a:xfrm>
            <a:off x="4343400" y="1810512"/>
            <a:ext cx="3502152" cy="14173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3400" y="1810512"/>
            <a:ext cx="3502152" cy="3657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53128" y="1810512"/>
            <a:ext cx="3282696" cy="365760"/>
          </a:xfrm>
          <a:prstGeom prst="rect">
            <a:avLst/>
          </a:prstGeom>
          <a:noFill/>
        </p:spPr>
        <p:txBody>
          <a:bodyPr wrap="square" lIns="0" rIns="0" tIns="18288" bIns="18288" anchor="ctr">
            <a:spAutoFit/>
          </a:bodyPr>
          <a:lstStyle/>
          <a:p>
            <a:pPr algn="l"/>
            <a:r>
              <a:rPr sz="1250" b="1" i="0">
                <a:solidFill>
                  <a:srgbClr val="FFFFFF"/>
                </a:solidFill>
                <a:latin typeface="Abadi"/>
              </a:rPr>
              <a:t>Stage 2: by 2 weeks</a:t>
            </a:r>
          </a:p>
        </p:txBody>
      </p:sp>
      <p:sp>
        <p:nvSpPr>
          <p:cNvPr id="20" name="TextBox 19"/>
          <p:cNvSpPr txBox="1"/>
          <p:nvPr/>
        </p:nvSpPr>
        <p:spPr>
          <a:xfrm>
            <a:off x="4453128" y="2267712"/>
            <a:ext cx="3282696" cy="914400"/>
          </a:xfrm>
          <a:prstGeom prst="rect">
            <a:avLst/>
          </a:prstGeom>
          <a:noFill/>
        </p:spPr>
        <p:txBody>
          <a:bodyPr wrap="square" lIns="0" rIns="0" tIns="18288" bIns="18288" anchor="t">
            <a:spAutoFit/>
          </a:bodyPr>
          <a:lstStyle/>
          <a:p>
            <a:pPr algn="l"/>
            <a:r>
              <a:rPr sz="1100" b="0" i="0">
                <a:solidFill>
                  <a:srgbClr val="1A1A1A"/>
                </a:solidFill>
                <a:latin typeface="Abadi"/>
              </a:rPr>
              <a:t>Repeat. Positive if higher than the first value or above 1.0 mg/dL. 0.1% positive.</a:t>
            </a:r>
          </a:p>
        </p:txBody>
      </p:sp>
      <p:sp>
        <p:nvSpPr>
          <p:cNvPr id="21" name="TextBox 20"/>
          <p:cNvSpPr txBox="1"/>
          <p:nvPr/>
        </p:nvSpPr>
        <p:spPr>
          <a:xfrm>
            <a:off x="7827264" y="2336291"/>
            <a:ext cx="329184" cy="365760"/>
          </a:xfrm>
          <a:prstGeom prst="rect">
            <a:avLst/>
          </a:prstGeom>
          <a:noFill/>
        </p:spPr>
        <p:txBody>
          <a:bodyPr wrap="square" lIns="0" rIns="0" tIns="18288" bIns="18288" anchor="t">
            <a:spAutoFit/>
          </a:bodyPr>
          <a:lstStyle/>
          <a:p>
            <a:pPr algn="ctr"/>
            <a:r>
              <a:rPr sz="1300" b="0" i="0">
                <a:solidFill>
                  <a:srgbClr val="8A939B"/>
                </a:solidFill>
                <a:latin typeface="Abadi"/>
              </a:rPr>
              <a:t>▶</a:t>
            </a:r>
          </a:p>
        </p:txBody>
      </p:sp>
      <p:sp>
        <p:nvSpPr>
          <p:cNvPr id="22" name="Rectangle 21"/>
          <p:cNvSpPr/>
          <p:nvPr/>
        </p:nvSpPr>
        <p:spPr>
          <a:xfrm>
            <a:off x="8138160" y="1810512"/>
            <a:ext cx="3502152" cy="14173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38160" y="1810512"/>
            <a:ext cx="3502152" cy="365760"/>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47888" y="1810512"/>
            <a:ext cx="3282696" cy="365760"/>
          </a:xfrm>
          <a:prstGeom prst="rect">
            <a:avLst/>
          </a:prstGeom>
          <a:noFill/>
        </p:spPr>
        <p:txBody>
          <a:bodyPr wrap="square" lIns="0" rIns="0" tIns="18288" bIns="18288" anchor="ctr">
            <a:spAutoFit/>
          </a:bodyPr>
          <a:lstStyle/>
          <a:p>
            <a:pPr algn="l"/>
            <a:r>
              <a:rPr sz="1250" b="1" i="0">
                <a:solidFill>
                  <a:srgbClr val="FFFFFF"/>
                </a:solidFill>
                <a:latin typeface="Abadi"/>
              </a:rPr>
              <a:t>Referral</a:t>
            </a:r>
          </a:p>
        </p:txBody>
      </p:sp>
      <p:sp>
        <p:nvSpPr>
          <p:cNvPr id="25" name="TextBox 24"/>
          <p:cNvSpPr txBox="1"/>
          <p:nvPr/>
        </p:nvSpPr>
        <p:spPr>
          <a:xfrm>
            <a:off x="8247888" y="2267712"/>
            <a:ext cx="3282696" cy="914400"/>
          </a:xfrm>
          <a:prstGeom prst="rect">
            <a:avLst/>
          </a:prstGeom>
          <a:noFill/>
        </p:spPr>
        <p:txBody>
          <a:bodyPr wrap="square" lIns="0" rIns="0" tIns="18288" bIns="18288" anchor="t">
            <a:spAutoFit/>
          </a:bodyPr>
          <a:lstStyle/>
          <a:p>
            <a:pPr algn="l"/>
            <a:r>
              <a:rPr sz="1100" b="0" i="0">
                <a:solidFill>
                  <a:srgbClr val="1A1A1A"/>
                </a:solidFill>
                <a:latin typeface="Abadi"/>
              </a:rPr>
              <a:t>Hepatology work-up; Kasai if atresia is confirmed.</a:t>
            </a:r>
          </a:p>
        </p:txBody>
      </p:sp>
      <p:sp>
        <p:nvSpPr>
          <p:cNvPr id="26" name="Rectangle 25"/>
          <p:cNvSpPr/>
          <p:nvPr/>
        </p:nvSpPr>
        <p:spPr>
          <a:xfrm>
            <a:off x="548640" y="3474720"/>
            <a:ext cx="2567178" cy="160020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3474720"/>
            <a:ext cx="2567178" cy="12801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3794759"/>
            <a:ext cx="2292858" cy="777240"/>
          </a:xfrm>
          <a:prstGeom prst="rect">
            <a:avLst/>
          </a:prstGeom>
          <a:noFill/>
        </p:spPr>
        <p:txBody>
          <a:bodyPr wrap="square" lIns="0" rIns="0" tIns="18288" bIns="18288" anchor="t">
            <a:spAutoFit/>
          </a:bodyPr>
          <a:lstStyle/>
          <a:p>
            <a:pPr algn="l"/>
            <a:r>
              <a:rPr sz="3000" b="1" i="0">
                <a:solidFill>
                  <a:srgbClr val="1B355E"/>
                </a:solidFill>
                <a:latin typeface="Abadi"/>
              </a:rPr>
              <a:t>7 of 7</a:t>
            </a:r>
          </a:p>
        </p:txBody>
      </p:sp>
      <p:sp>
        <p:nvSpPr>
          <p:cNvPr id="29" name="TextBox 28"/>
          <p:cNvSpPr txBox="1"/>
          <p:nvPr/>
        </p:nvSpPr>
        <p:spPr>
          <a:xfrm>
            <a:off x="685800" y="4645152"/>
            <a:ext cx="2292858" cy="384047"/>
          </a:xfrm>
          <a:prstGeom prst="rect">
            <a:avLst/>
          </a:prstGeom>
          <a:noFill/>
        </p:spPr>
        <p:txBody>
          <a:bodyPr wrap="square" lIns="0" rIns="0" tIns="18288" bIns="18288" anchor="t">
            <a:spAutoFit/>
          </a:bodyPr>
          <a:lstStyle/>
          <a:p>
            <a:pPr algn="l"/>
            <a:r>
              <a:rPr sz="1100" b="0" i="0">
                <a:solidFill>
                  <a:srgbClr val="1A1A1A"/>
                </a:solidFill>
                <a:latin typeface="Abadi"/>
              </a:rPr>
              <a:t>Atresia cases detected: sensitivity 100%</a:t>
            </a:r>
          </a:p>
        </p:txBody>
      </p:sp>
      <p:sp>
        <p:nvSpPr>
          <p:cNvPr id="30" name="Rectangle 29"/>
          <p:cNvSpPr/>
          <p:nvPr/>
        </p:nvSpPr>
        <p:spPr>
          <a:xfrm>
            <a:off x="3390138" y="3474720"/>
            <a:ext cx="2567178" cy="160020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90138" y="3474720"/>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27298" y="3794759"/>
            <a:ext cx="2292858" cy="777240"/>
          </a:xfrm>
          <a:prstGeom prst="rect">
            <a:avLst/>
          </a:prstGeom>
          <a:noFill/>
        </p:spPr>
        <p:txBody>
          <a:bodyPr wrap="square" lIns="0" rIns="0" tIns="18288" bIns="18288" anchor="t">
            <a:spAutoFit/>
          </a:bodyPr>
          <a:lstStyle/>
          <a:p>
            <a:pPr algn="l"/>
            <a:r>
              <a:rPr sz="3000" b="1" i="0">
                <a:solidFill>
                  <a:srgbClr val="1B355E"/>
                </a:solidFill>
                <a:latin typeface="Abadi"/>
              </a:rPr>
              <a:t>99.9%</a:t>
            </a:r>
          </a:p>
        </p:txBody>
      </p:sp>
      <p:sp>
        <p:nvSpPr>
          <p:cNvPr id="33" name="TextBox 32"/>
          <p:cNvSpPr txBox="1"/>
          <p:nvPr/>
        </p:nvSpPr>
        <p:spPr>
          <a:xfrm>
            <a:off x="3527298" y="4645152"/>
            <a:ext cx="2292858" cy="384047"/>
          </a:xfrm>
          <a:prstGeom prst="rect">
            <a:avLst/>
          </a:prstGeom>
          <a:noFill/>
        </p:spPr>
        <p:txBody>
          <a:bodyPr wrap="square" lIns="0" rIns="0" tIns="18288" bIns="18288" anchor="t">
            <a:spAutoFit/>
          </a:bodyPr>
          <a:lstStyle/>
          <a:p>
            <a:pPr algn="l"/>
            <a:r>
              <a:rPr sz="1100" b="0" i="0">
                <a:solidFill>
                  <a:srgbClr val="1A1A1A"/>
                </a:solidFill>
                <a:latin typeface="Abadi"/>
              </a:rPr>
              <a:t>Specificity</a:t>
            </a:r>
          </a:p>
        </p:txBody>
      </p:sp>
      <p:sp>
        <p:nvSpPr>
          <p:cNvPr id="34" name="Rectangle 33"/>
          <p:cNvSpPr/>
          <p:nvPr/>
        </p:nvSpPr>
        <p:spPr>
          <a:xfrm>
            <a:off x="6231636" y="3474720"/>
            <a:ext cx="2567178" cy="160020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31636" y="3474720"/>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68796" y="3794759"/>
            <a:ext cx="2292858" cy="777240"/>
          </a:xfrm>
          <a:prstGeom prst="rect">
            <a:avLst/>
          </a:prstGeom>
          <a:noFill/>
        </p:spPr>
        <p:txBody>
          <a:bodyPr wrap="square" lIns="0" rIns="0" tIns="18288" bIns="18288" anchor="t">
            <a:spAutoFit/>
          </a:bodyPr>
          <a:lstStyle/>
          <a:p>
            <a:pPr algn="l"/>
            <a:r>
              <a:rPr sz="3000" b="1" i="0">
                <a:solidFill>
                  <a:srgbClr val="1B355E"/>
                </a:solidFill>
                <a:latin typeface="Abadi"/>
              </a:rPr>
              <a:t>5.9%</a:t>
            </a:r>
          </a:p>
        </p:txBody>
      </p:sp>
      <p:sp>
        <p:nvSpPr>
          <p:cNvPr id="37" name="TextBox 36"/>
          <p:cNvSpPr txBox="1"/>
          <p:nvPr/>
        </p:nvSpPr>
        <p:spPr>
          <a:xfrm>
            <a:off x="6368796" y="4645152"/>
            <a:ext cx="2292858" cy="384047"/>
          </a:xfrm>
          <a:prstGeom prst="rect">
            <a:avLst/>
          </a:prstGeom>
          <a:noFill/>
        </p:spPr>
        <p:txBody>
          <a:bodyPr wrap="square" lIns="0" rIns="0" tIns="18288" bIns="18288" anchor="t">
            <a:spAutoFit/>
          </a:bodyPr>
          <a:lstStyle/>
          <a:p>
            <a:pPr algn="l"/>
            <a:r>
              <a:rPr sz="1100" b="0" i="0">
                <a:solidFill>
                  <a:srgbClr val="1A1A1A"/>
                </a:solidFill>
                <a:latin typeface="Abadi"/>
              </a:rPr>
              <a:t>Positive predictive value: 112 false positives</a:t>
            </a:r>
          </a:p>
        </p:txBody>
      </p:sp>
      <p:sp>
        <p:nvSpPr>
          <p:cNvPr id="38" name="Rectangle 37"/>
          <p:cNvSpPr/>
          <p:nvPr/>
        </p:nvSpPr>
        <p:spPr>
          <a:xfrm>
            <a:off x="9073134" y="3474720"/>
            <a:ext cx="2567178" cy="160020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73134" y="3474720"/>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10294" y="3794759"/>
            <a:ext cx="2292858" cy="777240"/>
          </a:xfrm>
          <a:prstGeom prst="rect">
            <a:avLst/>
          </a:prstGeom>
          <a:noFill/>
        </p:spPr>
        <p:txBody>
          <a:bodyPr wrap="square" lIns="0" rIns="0" tIns="18288" bIns="18288" anchor="t">
            <a:spAutoFit/>
          </a:bodyPr>
          <a:lstStyle/>
          <a:p>
            <a:pPr algn="l"/>
            <a:r>
              <a:rPr sz="3000" b="1" i="0">
                <a:solidFill>
                  <a:srgbClr val="1B355E"/>
                </a:solidFill>
                <a:latin typeface="Abadi"/>
              </a:rPr>
              <a:t>8%</a:t>
            </a:r>
          </a:p>
        </p:txBody>
      </p:sp>
      <p:sp>
        <p:nvSpPr>
          <p:cNvPr id="41" name="TextBox 40"/>
          <p:cNvSpPr txBox="1"/>
          <p:nvPr/>
        </p:nvSpPr>
        <p:spPr>
          <a:xfrm>
            <a:off x="9210294" y="4645152"/>
            <a:ext cx="2292858" cy="384047"/>
          </a:xfrm>
          <a:prstGeom prst="rect">
            <a:avLst/>
          </a:prstGeom>
          <a:noFill/>
        </p:spPr>
        <p:txBody>
          <a:bodyPr wrap="square" lIns="0" rIns="0" tIns="18288" bIns="18288" anchor="t">
            <a:spAutoFit/>
          </a:bodyPr>
          <a:lstStyle/>
          <a:p>
            <a:pPr algn="l"/>
            <a:r>
              <a:rPr sz="1100" b="0" i="0">
                <a:solidFill>
                  <a:srgbClr val="1A1A1A"/>
                </a:solidFill>
                <a:latin typeface="Abadi"/>
              </a:rPr>
              <a:t>Of false positives had another cholestatic liver disease</a:t>
            </a:r>
          </a:p>
        </p:txBody>
      </p:sp>
      <p:sp>
        <p:nvSpPr>
          <p:cNvPr id="42" name="TextBox 41"/>
          <p:cNvSpPr txBox="1"/>
          <p:nvPr/>
        </p:nvSpPr>
        <p:spPr>
          <a:xfrm>
            <a:off x="548640" y="5257800"/>
            <a:ext cx="11091672" cy="457200"/>
          </a:xfrm>
          <a:prstGeom prst="rect">
            <a:avLst/>
          </a:prstGeom>
          <a:noFill/>
        </p:spPr>
        <p:txBody>
          <a:bodyPr wrap="square" lIns="0" rIns="0" tIns="18288" bIns="18288" anchor="t">
            <a:spAutoFit/>
          </a:bodyPr>
          <a:lstStyle/>
          <a:p>
            <a:pPr algn="l">
              <a:spcAft>
                <a:spcPts val="400"/>
              </a:spcAft>
            </a:pPr>
            <a:r>
              <a:rPr sz="1250" b="1" i="1">
                <a:solidFill>
                  <a:srgbClr val="1A1A1A"/>
                </a:solidFill>
                <a:latin typeface="Abadi"/>
              </a:rPr>
              <a:t>Seven cases make a wide confidence interval: the lower bound of sensitivity is 56%.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THE CLOCK</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THE SCREEN MOVED KASAI BY THREE WEEKS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Atresia at the screening centre before (n = 24) and after (n = 19) screening,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12</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Harpavat S, et al. JAMA 2020;323:1141–50</a:t>
            </a:r>
          </a:p>
        </p:txBody>
      </p:sp>
      <p:sp>
        <p:nvSpPr>
          <p:cNvPr id="12" name="Rectangle 11"/>
          <p:cNvSpPr/>
          <p:nvPr/>
        </p:nvSpPr>
        <p:spPr>
          <a:xfrm>
            <a:off x="1048512" y="4994910"/>
            <a:ext cx="630936" cy="40005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 y="4720590"/>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12.5%</a:t>
            </a:r>
          </a:p>
        </p:txBody>
      </p:sp>
      <p:sp>
        <p:nvSpPr>
          <p:cNvPr id="14" name="Rectangle 13"/>
          <p:cNvSpPr/>
          <p:nvPr/>
        </p:nvSpPr>
        <p:spPr>
          <a:xfrm>
            <a:off x="1734312" y="3541928"/>
            <a:ext cx="630936" cy="1853031"/>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0" y="3267608"/>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57.9%</a:t>
            </a:r>
          </a:p>
        </p:txBody>
      </p:sp>
      <p:sp>
        <p:nvSpPr>
          <p:cNvPr id="16" name="TextBox 15"/>
          <p:cNvSpPr txBox="1"/>
          <p:nvPr/>
        </p:nvSpPr>
        <p:spPr>
          <a:xfrm>
            <a:off x="548640" y="5440680"/>
            <a:ext cx="2316480" cy="274320"/>
          </a:xfrm>
          <a:prstGeom prst="rect">
            <a:avLst/>
          </a:prstGeom>
          <a:noFill/>
        </p:spPr>
        <p:txBody>
          <a:bodyPr wrap="square" lIns="0" rIns="0" tIns="18288" bIns="18288" anchor="t">
            <a:spAutoFit/>
          </a:bodyPr>
          <a:lstStyle/>
          <a:p>
            <a:pPr algn="ctr"/>
            <a:r>
              <a:rPr sz="1050" b="0" i="0">
                <a:solidFill>
                  <a:srgbClr val="1A1A1A"/>
                </a:solidFill>
                <a:latin typeface="Abadi"/>
              </a:rPr>
              <a:t>Kasai by 30 days</a:t>
            </a:r>
          </a:p>
        </p:txBody>
      </p:sp>
      <p:sp>
        <p:nvSpPr>
          <p:cNvPr id="17" name="Rectangle 16"/>
          <p:cNvSpPr/>
          <p:nvPr/>
        </p:nvSpPr>
        <p:spPr>
          <a:xfrm>
            <a:off x="3364991" y="4060393"/>
            <a:ext cx="630936" cy="133456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54679" y="3786073"/>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41.7%</a:t>
            </a:r>
          </a:p>
        </p:txBody>
      </p:sp>
      <p:sp>
        <p:nvSpPr>
          <p:cNvPr id="19" name="Rectangle 18"/>
          <p:cNvSpPr/>
          <p:nvPr/>
        </p:nvSpPr>
        <p:spPr>
          <a:xfrm>
            <a:off x="4050792" y="2869844"/>
            <a:ext cx="630936" cy="2525115"/>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0" y="2595524"/>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78.9%</a:t>
            </a:r>
          </a:p>
        </p:txBody>
      </p:sp>
      <p:sp>
        <p:nvSpPr>
          <p:cNvPr id="21" name="TextBox 20"/>
          <p:cNvSpPr txBox="1"/>
          <p:nvPr/>
        </p:nvSpPr>
        <p:spPr>
          <a:xfrm>
            <a:off x="2865120" y="5440680"/>
            <a:ext cx="2316480" cy="274320"/>
          </a:xfrm>
          <a:prstGeom prst="rect">
            <a:avLst/>
          </a:prstGeom>
          <a:noFill/>
        </p:spPr>
        <p:txBody>
          <a:bodyPr wrap="square" lIns="0" rIns="0" tIns="18288" bIns="18288" anchor="t">
            <a:spAutoFit/>
          </a:bodyPr>
          <a:lstStyle/>
          <a:p>
            <a:pPr algn="ctr"/>
            <a:r>
              <a:rPr sz="1050" b="0" i="0">
                <a:solidFill>
                  <a:srgbClr val="1A1A1A"/>
                </a:solidFill>
                <a:latin typeface="Abadi"/>
              </a:rPr>
              <a:t>Bilirubin normal by 90 days</a:t>
            </a:r>
          </a:p>
        </p:txBody>
      </p:sp>
      <p:sp>
        <p:nvSpPr>
          <p:cNvPr id="22" name="Rectangle 21"/>
          <p:cNvSpPr/>
          <p:nvPr/>
        </p:nvSpPr>
        <p:spPr>
          <a:xfrm>
            <a:off x="5681472" y="3129076"/>
            <a:ext cx="630936" cy="2265883"/>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71159" y="2854756"/>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70.8%</a:t>
            </a:r>
          </a:p>
        </p:txBody>
      </p:sp>
      <p:sp>
        <p:nvSpPr>
          <p:cNvPr id="24" name="Rectangle 23"/>
          <p:cNvSpPr/>
          <p:nvPr/>
        </p:nvSpPr>
        <p:spPr>
          <a:xfrm>
            <a:off x="6367272" y="2364181"/>
            <a:ext cx="630936" cy="3030778"/>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56959" y="2089861"/>
            <a:ext cx="1051560" cy="256032"/>
          </a:xfrm>
          <a:prstGeom prst="rect">
            <a:avLst/>
          </a:prstGeom>
          <a:noFill/>
        </p:spPr>
        <p:txBody>
          <a:bodyPr wrap="square" lIns="0" rIns="0" tIns="18288" bIns="18288" anchor="t">
            <a:spAutoFit/>
          </a:bodyPr>
          <a:lstStyle/>
          <a:p>
            <a:pPr algn="ctr"/>
            <a:r>
              <a:rPr sz="1100" b="1" i="0">
                <a:solidFill>
                  <a:srgbClr val="1B355E"/>
                </a:solidFill>
                <a:latin typeface="Abadi"/>
              </a:rPr>
              <a:t>94.7%</a:t>
            </a:r>
          </a:p>
        </p:txBody>
      </p:sp>
      <p:sp>
        <p:nvSpPr>
          <p:cNvPr id="26" name="TextBox 25"/>
          <p:cNvSpPr txBox="1"/>
          <p:nvPr/>
        </p:nvSpPr>
        <p:spPr>
          <a:xfrm>
            <a:off x="5181599" y="5440680"/>
            <a:ext cx="2316480" cy="274320"/>
          </a:xfrm>
          <a:prstGeom prst="rect">
            <a:avLst/>
          </a:prstGeom>
          <a:noFill/>
        </p:spPr>
        <p:txBody>
          <a:bodyPr wrap="square" lIns="0" rIns="0" tIns="18288" bIns="18288" anchor="t">
            <a:spAutoFit/>
          </a:bodyPr>
          <a:lstStyle/>
          <a:p>
            <a:pPr algn="ctr"/>
            <a:r>
              <a:rPr sz="1050" b="0" i="0">
                <a:solidFill>
                  <a:srgbClr val="1A1A1A"/>
                </a:solidFill>
                <a:latin typeface="Abadi"/>
              </a:rPr>
              <a:t>1-y transplant-free</a:t>
            </a:r>
          </a:p>
        </p:txBody>
      </p:sp>
      <p:sp>
        <p:nvSpPr>
          <p:cNvPr id="27" name="Rectangle 26"/>
          <p:cNvSpPr/>
          <p:nvPr/>
        </p:nvSpPr>
        <p:spPr>
          <a:xfrm>
            <a:off x="548640" y="5394960"/>
            <a:ext cx="6949440" cy="1097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 y="1837943"/>
            <a:ext cx="146304" cy="14630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1783080"/>
            <a:ext cx="2377440" cy="256032"/>
          </a:xfrm>
          <a:prstGeom prst="rect">
            <a:avLst/>
          </a:prstGeom>
          <a:noFill/>
        </p:spPr>
        <p:txBody>
          <a:bodyPr wrap="square" lIns="0" rIns="0" tIns="18288" bIns="18288" anchor="t">
            <a:spAutoFit/>
          </a:bodyPr>
          <a:lstStyle/>
          <a:p>
            <a:pPr algn="l"/>
            <a:r>
              <a:rPr sz="1050" b="0" i="0">
                <a:solidFill>
                  <a:srgbClr val="1A1A1A"/>
                </a:solidFill>
                <a:latin typeface="Abadi"/>
              </a:rPr>
              <a:t>Before</a:t>
            </a:r>
          </a:p>
        </p:txBody>
      </p:sp>
      <p:sp>
        <p:nvSpPr>
          <p:cNvPr id="30" name="Rectangle 29"/>
          <p:cNvSpPr/>
          <p:nvPr/>
        </p:nvSpPr>
        <p:spPr>
          <a:xfrm>
            <a:off x="1783080" y="1837943"/>
            <a:ext cx="146304" cy="14630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984248" y="1783080"/>
            <a:ext cx="2377440" cy="256032"/>
          </a:xfrm>
          <a:prstGeom prst="rect">
            <a:avLst/>
          </a:prstGeom>
          <a:noFill/>
        </p:spPr>
        <p:txBody>
          <a:bodyPr wrap="square" lIns="0" rIns="0" tIns="18288" bIns="18288" anchor="t">
            <a:spAutoFit/>
          </a:bodyPr>
          <a:lstStyle/>
          <a:p>
            <a:pPr algn="l"/>
            <a:r>
              <a:rPr sz="1050" b="0" i="0">
                <a:solidFill>
                  <a:srgbClr val="1A1A1A"/>
                </a:solidFill>
                <a:latin typeface="Abadi"/>
              </a:rPr>
              <a:t>After</a:t>
            </a:r>
          </a:p>
        </p:txBody>
      </p:sp>
      <p:sp>
        <p:nvSpPr>
          <p:cNvPr id="32" name="TextBox 31"/>
          <p:cNvSpPr txBox="1"/>
          <p:nvPr/>
        </p:nvSpPr>
        <p:spPr>
          <a:xfrm>
            <a:off x="7863840" y="1828800"/>
            <a:ext cx="3749039" cy="3931920"/>
          </a:xfrm>
          <a:prstGeom prst="rect">
            <a:avLst/>
          </a:prstGeom>
          <a:noFill/>
        </p:spPr>
        <p:txBody>
          <a:bodyPr wrap="square" lIns="0" rIns="0" tIns="18288" bIns="18288" anchor="t">
            <a:spAutoFit/>
          </a:bodyPr>
          <a:lstStyle/>
          <a:p>
            <a:pPr algn="l">
              <a:spcAft>
                <a:spcPts val="400"/>
              </a:spcAft>
            </a:pPr>
            <a:r>
              <a:rPr sz="2600" b="1" i="0">
                <a:solidFill>
                  <a:srgbClr val="1B355E"/>
                </a:solidFill>
                <a:latin typeface="Abadi"/>
              </a:rPr>
              <a:t>56 → 36 days</a:t>
            </a:r>
          </a:p>
          <a:p>
            <a:pPr algn="l">
              <a:spcAft>
                <a:spcPts val="400"/>
              </a:spcAft>
            </a:pPr>
            <a:r>
              <a:rPr sz="1200" b="0" i="0">
                <a:solidFill>
                  <a:srgbClr val="1A1A1A"/>
                </a:solidFill>
                <a:latin typeface="Abadi"/>
              </a:rPr>
              <a:t>Mean age at Kasai (P = 0.004).</a:t>
            </a:r>
          </a:p>
          <a:p>
            <a:pPr algn="l">
              <a:spcAft>
                <a:spcPts val="400"/>
              </a:spcAft>
            </a:pPr>
            <a:r>
              <a:rPr sz="1600" b="1" i="0">
                <a:solidFill>
                  <a:srgbClr val="1B355E"/>
                </a:solidFill>
                <a:latin typeface="Abadi"/>
              </a:rPr>
              <a:t>P = 0.003 and 0.03</a:t>
            </a:r>
          </a:p>
          <a:p>
            <a:pPr algn="l">
              <a:spcAft>
                <a:spcPts val="400"/>
              </a:spcAft>
            </a:pPr>
            <a:r>
              <a:rPr sz="1200" b="0" i="0">
                <a:solidFill>
                  <a:srgbClr val="1A1A1A"/>
                </a:solidFill>
                <a:latin typeface="Abadi"/>
              </a:rPr>
              <a:t>For Kasai by 30 days and for bilirubin clearance.</a:t>
            </a:r>
          </a:p>
          <a:p>
            <a:pPr algn="l">
              <a:spcAft>
                <a:spcPts val="400"/>
              </a:spcAft>
            </a:pPr>
            <a:r>
              <a:rPr sz="1600" b="1" i="0">
                <a:solidFill>
                  <a:srgbClr val="1B355E"/>
                </a:solidFill>
                <a:latin typeface="Abadi"/>
              </a:rPr>
              <a:t>P = 0.06</a:t>
            </a:r>
          </a:p>
          <a:p>
            <a:pPr algn="l">
              <a:spcAft>
                <a:spcPts val="400"/>
              </a:spcAft>
            </a:pPr>
            <a:r>
              <a:rPr sz="1200" b="0" i="0">
                <a:solidFill>
                  <a:srgbClr val="1A1A1A"/>
                </a:solidFill>
                <a:latin typeface="Abadi"/>
              </a:rPr>
              <a:t>Transplant-free survival at 1 year: a trend, not proof.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REPLICATION</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THE SIGNAL HOLDS; THE LOGISTICS VARY</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Other direct-bilirubin cohorts and the pooled estimate</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13</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Harpavat S, et al. NEJM 2016;375:605–6 · Kastenberg ZJ, et al. J Pediatr 2023;257:113339 · Rabbani T, Shah J. J Med Screen 2024 · Gopal SH, et al. PLoS One 2024</a:t>
            </a:r>
          </a:p>
        </p:txBody>
      </p:sp>
      <p:sp>
        <p:nvSpPr>
          <p:cNvPr id="12" name="Rectangle 11"/>
          <p:cNvSpPr/>
          <p:nvPr/>
        </p:nvSpPr>
        <p:spPr>
          <a:xfrm>
            <a:off x="548640"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11680"/>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31720"/>
            <a:ext cx="2292858" cy="777240"/>
          </a:xfrm>
          <a:prstGeom prst="rect">
            <a:avLst/>
          </a:prstGeom>
          <a:noFill/>
        </p:spPr>
        <p:txBody>
          <a:bodyPr wrap="square" lIns="0" rIns="0" tIns="18288" bIns="18288" anchor="t">
            <a:spAutoFit/>
          </a:bodyPr>
          <a:lstStyle/>
          <a:p>
            <a:pPr algn="l"/>
            <a:r>
              <a:rPr sz="3000" b="1" i="0">
                <a:solidFill>
                  <a:srgbClr val="1B355E"/>
                </a:solidFill>
                <a:latin typeface="Abadi"/>
              </a:rPr>
              <a:t>11,636</a:t>
            </a:r>
          </a:p>
        </p:txBody>
      </p:sp>
      <p:sp>
        <p:nvSpPr>
          <p:cNvPr id="15" name="TextBox 14"/>
          <p:cNvSpPr txBox="1"/>
          <p:nvPr/>
        </p:nvSpPr>
        <p:spPr>
          <a:xfrm>
            <a:off x="685800"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Newborns in the 2016 pilot; 2 atresia, plus A1AT deficiency and Rh disease</a:t>
            </a:r>
          </a:p>
        </p:txBody>
      </p:sp>
      <p:sp>
        <p:nvSpPr>
          <p:cNvPr id="16" name="Rectangle 15"/>
          <p:cNvSpPr/>
          <p:nvPr/>
        </p:nvSpPr>
        <p:spPr>
          <a:xfrm>
            <a:off x="3390138"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2011680"/>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331720"/>
            <a:ext cx="2292858" cy="777240"/>
          </a:xfrm>
          <a:prstGeom prst="rect">
            <a:avLst/>
          </a:prstGeom>
          <a:noFill/>
        </p:spPr>
        <p:txBody>
          <a:bodyPr wrap="square" lIns="0" rIns="0" tIns="18288" bIns="18288" anchor="t">
            <a:spAutoFit/>
          </a:bodyPr>
          <a:lstStyle/>
          <a:p>
            <a:pPr algn="l"/>
            <a:r>
              <a:rPr sz="3000" b="1" i="0">
                <a:solidFill>
                  <a:srgbClr val="1B355E"/>
                </a:solidFill>
                <a:latin typeface="Abadi"/>
              </a:rPr>
              <a:t>26 of 26</a:t>
            </a:r>
          </a:p>
        </p:txBody>
      </p:sp>
      <p:sp>
        <p:nvSpPr>
          <p:cNvPr id="19" name="TextBox 18"/>
          <p:cNvSpPr txBox="1"/>
          <p:nvPr/>
        </p:nvSpPr>
        <p:spPr>
          <a:xfrm>
            <a:off x="3527298"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Utah infants with atresia had a raised newborn direct bilirubin; 1.3% of others too</a:t>
            </a:r>
          </a:p>
        </p:txBody>
      </p:sp>
      <p:sp>
        <p:nvSpPr>
          <p:cNvPr id="20" name="Rectangle 19"/>
          <p:cNvSpPr/>
          <p:nvPr/>
        </p:nvSpPr>
        <p:spPr>
          <a:xfrm>
            <a:off x="6231636"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011680"/>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331720"/>
            <a:ext cx="2292858" cy="777240"/>
          </a:xfrm>
          <a:prstGeom prst="rect">
            <a:avLst/>
          </a:prstGeom>
          <a:noFill/>
        </p:spPr>
        <p:txBody>
          <a:bodyPr wrap="square" lIns="0" rIns="0" tIns="18288" bIns="18288" anchor="t">
            <a:spAutoFit/>
          </a:bodyPr>
          <a:lstStyle/>
          <a:p>
            <a:pPr algn="l"/>
            <a:r>
              <a:rPr sz="3000" b="1" i="0">
                <a:solidFill>
                  <a:srgbClr val="1B355E"/>
                </a:solidFill>
                <a:latin typeface="Abadi"/>
              </a:rPr>
              <a:t>99.5%</a:t>
            </a:r>
          </a:p>
        </p:txBody>
      </p:sp>
      <p:sp>
        <p:nvSpPr>
          <p:cNvPr id="23" name="TextBox 22"/>
          <p:cNvSpPr txBox="1"/>
          <p:nvPr/>
        </p:nvSpPr>
        <p:spPr>
          <a:xfrm>
            <a:off x="6368796"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Of newborns screened in a Utah implementation study; net false positives 0.3%</a:t>
            </a:r>
          </a:p>
        </p:txBody>
      </p:sp>
      <p:sp>
        <p:nvSpPr>
          <p:cNvPr id="24" name="Rectangle 23"/>
          <p:cNvSpPr/>
          <p:nvPr/>
        </p:nvSpPr>
        <p:spPr>
          <a:xfrm>
            <a:off x="9073134"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2011680"/>
            <a:ext cx="2567178" cy="12801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331720"/>
            <a:ext cx="2292858" cy="777240"/>
          </a:xfrm>
          <a:prstGeom prst="rect">
            <a:avLst/>
          </a:prstGeom>
          <a:noFill/>
        </p:spPr>
        <p:txBody>
          <a:bodyPr wrap="square" lIns="0" rIns="0" tIns="18288" bIns="18288" anchor="t">
            <a:spAutoFit/>
          </a:bodyPr>
          <a:lstStyle/>
          <a:p>
            <a:pPr algn="l"/>
            <a:r>
              <a:rPr sz="3000" b="1" i="0">
                <a:solidFill>
                  <a:srgbClr val="1B355E"/>
                </a:solidFill>
                <a:latin typeface="Abadi"/>
              </a:rPr>
              <a:t>100%</a:t>
            </a:r>
          </a:p>
        </p:txBody>
      </p:sp>
      <p:sp>
        <p:nvSpPr>
          <p:cNvPr id="27" name="TextBox 26"/>
          <p:cNvSpPr txBox="1"/>
          <p:nvPr/>
        </p:nvSpPr>
        <p:spPr>
          <a:xfrm>
            <a:off x="9210294" y="3182112"/>
            <a:ext cx="2292858" cy="685800"/>
          </a:xfrm>
          <a:prstGeom prst="rect">
            <a:avLst/>
          </a:prstGeom>
          <a:noFill/>
        </p:spPr>
        <p:txBody>
          <a:bodyPr wrap="square" lIns="0" rIns="0" tIns="18288" bIns="18288" anchor="t">
            <a:spAutoFit/>
          </a:bodyPr>
          <a:lstStyle/>
          <a:p>
            <a:pPr algn="l"/>
            <a:r>
              <a:rPr sz="1100" b="0" i="0">
                <a:solidFill>
                  <a:srgbClr val="1A1A1A"/>
                </a:solidFill>
                <a:latin typeface="Abadi"/>
              </a:rPr>
              <a:t>Pooled sensitivity of direct bilirubin (5 studies, 662,141 infants); specificity 98.8%</a:t>
            </a:r>
          </a:p>
        </p:txBody>
      </p:sp>
      <p:sp>
        <p:nvSpPr>
          <p:cNvPr id="28" name="TextBox 27"/>
          <p:cNvSpPr txBox="1"/>
          <p:nvPr/>
        </p:nvSpPr>
        <p:spPr>
          <a:xfrm>
            <a:off x="548640" y="4343400"/>
            <a:ext cx="11091672" cy="822960"/>
          </a:xfrm>
          <a:prstGeom prst="rect">
            <a:avLst/>
          </a:prstGeom>
          <a:noFill/>
        </p:spPr>
        <p:txBody>
          <a:bodyPr wrap="square" lIns="0" rIns="0" tIns="18288" bIns="18288" anchor="t">
            <a:spAutoFit/>
          </a:bodyPr>
          <a:lstStyle/>
          <a:p>
            <a:pPr algn="l">
              <a:spcAft>
                <a:spcPts val="400"/>
              </a:spcAft>
            </a:pPr>
            <a:r>
              <a:rPr sz="1250" b="0" i="0">
                <a:solidFill>
                  <a:srgbClr val="1A1A1A"/>
                </a:solidFill>
                <a:latin typeface="Abadi"/>
              </a:rPr>
              <a:t>In Utah the raised values were already in the chart, yet median age at Kasai was 69.5 days: a measured number nobody acted on.</a:t>
            </a:r>
          </a:p>
          <a:p>
            <a:pPr algn="l">
              <a:spcAft>
                <a:spcPts val="400"/>
              </a:spcAft>
            </a:pPr>
            <a:r>
              <a:rPr sz="1250" b="1" i="1">
                <a:solidFill>
                  <a:srgbClr val="1A1A1A"/>
                </a:solidFill>
                <a:latin typeface="Abadi"/>
              </a:rPr>
              <a:t>A screen is a test plus a recall system; without the second half it is only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IMPLEMENTATION</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WHERE PROGRAMMES LEAK</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Each step of a screening pathway can lose the infant</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14</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Woolfson 2018 · Hsiao 2008 · Chiu 2013 · Kastenberg 2023 · Harpavat 2020</a:t>
            </a:r>
          </a:p>
        </p:txBody>
      </p:sp>
      <p:sp>
        <p:nvSpPr>
          <p:cNvPr id="12" name="Rectangle 11"/>
          <p:cNvSpPr/>
          <p:nvPr/>
        </p:nvSpPr>
        <p:spPr>
          <a:xfrm>
            <a:off x="548640" y="1828800"/>
            <a:ext cx="1984248" cy="219456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828800"/>
            <a:ext cx="1984248" cy="3657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828800"/>
            <a:ext cx="1764792" cy="365760"/>
          </a:xfrm>
          <a:prstGeom prst="rect">
            <a:avLst/>
          </a:prstGeom>
          <a:noFill/>
        </p:spPr>
        <p:txBody>
          <a:bodyPr wrap="square" lIns="0" rIns="0" tIns="18288" bIns="18288" anchor="ctr">
            <a:spAutoFit/>
          </a:bodyPr>
          <a:lstStyle/>
          <a:p>
            <a:pPr algn="l"/>
            <a:r>
              <a:rPr sz="1250" b="1" i="0">
                <a:solidFill>
                  <a:srgbClr val="FFFFFF"/>
                </a:solidFill>
                <a:latin typeface="Abadi"/>
              </a:rPr>
              <a:t>Distribute</a:t>
            </a:r>
          </a:p>
        </p:txBody>
      </p:sp>
      <p:sp>
        <p:nvSpPr>
          <p:cNvPr id="15" name="TextBox 14"/>
          <p:cNvSpPr txBox="1"/>
          <p:nvPr/>
        </p:nvSpPr>
        <p:spPr>
          <a:xfrm>
            <a:off x="658368" y="2286000"/>
            <a:ext cx="1764792" cy="1691639"/>
          </a:xfrm>
          <a:prstGeom prst="rect">
            <a:avLst/>
          </a:prstGeom>
          <a:noFill/>
        </p:spPr>
        <p:txBody>
          <a:bodyPr wrap="square" lIns="0" rIns="0" tIns="18288" bIns="18288" anchor="t">
            <a:spAutoFit/>
          </a:bodyPr>
          <a:lstStyle/>
          <a:p>
            <a:pPr algn="l"/>
            <a:r>
              <a:rPr sz="1100" b="0" i="0">
                <a:solidFill>
                  <a:srgbClr val="1A1A1A"/>
                </a:solidFill>
                <a:latin typeface="Abadi"/>
              </a:rPr>
              <a:t>Card in the booklet or bilirubin in the order set. BC reached 94% of families.</a:t>
            </a:r>
          </a:p>
        </p:txBody>
      </p:sp>
      <p:sp>
        <p:nvSpPr>
          <p:cNvPr id="16" name="TextBox 15"/>
          <p:cNvSpPr txBox="1"/>
          <p:nvPr/>
        </p:nvSpPr>
        <p:spPr>
          <a:xfrm>
            <a:off x="2514600" y="2743200"/>
            <a:ext cx="329184" cy="365760"/>
          </a:xfrm>
          <a:prstGeom prst="rect">
            <a:avLst/>
          </a:prstGeom>
          <a:noFill/>
        </p:spPr>
        <p:txBody>
          <a:bodyPr wrap="square" lIns="0" rIns="0" tIns="18288" bIns="18288" anchor="t">
            <a:spAutoFit/>
          </a:bodyPr>
          <a:lstStyle/>
          <a:p>
            <a:pPr algn="ctr"/>
            <a:r>
              <a:rPr sz="1300" b="0" i="0">
                <a:solidFill>
                  <a:srgbClr val="8A939B"/>
                </a:solidFill>
                <a:latin typeface="Abadi"/>
              </a:rPr>
              <a:t>▶</a:t>
            </a:r>
          </a:p>
        </p:txBody>
      </p:sp>
      <p:sp>
        <p:nvSpPr>
          <p:cNvPr id="17" name="Rectangle 16"/>
          <p:cNvSpPr/>
          <p:nvPr/>
        </p:nvSpPr>
        <p:spPr>
          <a:xfrm>
            <a:off x="2825496" y="1828800"/>
            <a:ext cx="1984248" cy="219456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5496" y="1828800"/>
            <a:ext cx="1984248" cy="3657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35224" y="1828800"/>
            <a:ext cx="1764792" cy="365760"/>
          </a:xfrm>
          <a:prstGeom prst="rect">
            <a:avLst/>
          </a:prstGeom>
          <a:noFill/>
        </p:spPr>
        <p:txBody>
          <a:bodyPr wrap="square" lIns="0" rIns="0" tIns="18288" bIns="18288" anchor="ctr">
            <a:spAutoFit/>
          </a:bodyPr>
          <a:lstStyle/>
          <a:p>
            <a:pPr algn="l"/>
            <a:r>
              <a:rPr sz="1250" b="1" i="0">
                <a:solidFill>
                  <a:srgbClr val="FFFFFF"/>
                </a:solidFill>
                <a:latin typeface="Abadi"/>
              </a:rPr>
              <a:t>Read</a:t>
            </a:r>
          </a:p>
        </p:txBody>
      </p:sp>
      <p:sp>
        <p:nvSpPr>
          <p:cNvPr id="20" name="TextBox 19"/>
          <p:cNvSpPr txBox="1"/>
          <p:nvPr/>
        </p:nvSpPr>
        <p:spPr>
          <a:xfrm>
            <a:off x="2935224" y="2286000"/>
            <a:ext cx="1764792" cy="1691639"/>
          </a:xfrm>
          <a:prstGeom prst="rect">
            <a:avLst/>
          </a:prstGeom>
          <a:noFill/>
        </p:spPr>
        <p:txBody>
          <a:bodyPr wrap="square" lIns="0" rIns="0" tIns="18288" bIns="18288" anchor="t">
            <a:spAutoFit/>
          </a:bodyPr>
          <a:lstStyle/>
          <a:p>
            <a:pPr algn="l"/>
            <a:r>
              <a:rPr sz="1100" b="0" i="0">
                <a:solidFill>
                  <a:srgbClr val="1A1A1A"/>
                </a:solidFill>
                <a:latin typeface="Abadi"/>
              </a:rPr>
              <a:t>Parents compare stool to the card; the lab flags any value above range.</a:t>
            </a:r>
          </a:p>
        </p:txBody>
      </p:sp>
      <p:sp>
        <p:nvSpPr>
          <p:cNvPr id="21" name="TextBox 20"/>
          <p:cNvSpPr txBox="1"/>
          <p:nvPr/>
        </p:nvSpPr>
        <p:spPr>
          <a:xfrm>
            <a:off x="4791456" y="2743200"/>
            <a:ext cx="329184" cy="365760"/>
          </a:xfrm>
          <a:prstGeom prst="rect">
            <a:avLst/>
          </a:prstGeom>
          <a:noFill/>
        </p:spPr>
        <p:txBody>
          <a:bodyPr wrap="square" lIns="0" rIns="0" tIns="18288" bIns="18288" anchor="t">
            <a:spAutoFit/>
          </a:bodyPr>
          <a:lstStyle/>
          <a:p>
            <a:pPr algn="ctr"/>
            <a:r>
              <a:rPr sz="1300" b="0" i="0">
                <a:solidFill>
                  <a:srgbClr val="8A939B"/>
                </a:solidFill>
                <a:latin typeface="Abadi"/>
              </a:rPr>
              <a:t>▶</a:t>
            </a:r>
          </a:p>
        </p:txBody>
      </p:sp>
      <p:sp>
        <p:nvSpPr>
          <p:cNvPr id="22" name="Rectangle 21"/>
          <p:cNvSpPr/>
          <p:nvPr/>
        </p:nvSpPr>
        <p:spPr>
          <a:xfrm>
            <a:off x="5102352" y="1828800"/>
            <a:ext cx="1984248" cy="219456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02352" y="1828800"/>
            <a:ext cx="1984248" cy="36576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12080" y="1828800"/>
            <a:ext cx="1764792" cy="365760"/>
          </a:xfrm>
          <a:prstGeom prst="rect">
            <a:avLst/>
          </a:prstGeom>
          <a:noFill/>
        </p:spPr>
        <p:txBody>
          <a:bodyPr wrap="square" lIns="0" rIns="0" tIns="18288" bIns="18288" anchor="ctr">
            <a:spAutoFit/>
          </a:bodyPr>
          <a:lstStyle/>
          <a:p>
            <a:pPr algn="l"/>
            <a:r>
              <a:rPr sz="1250" b="1" i="0">
                <a:solidFill>
                  <a:srgbClr val="FFFFFF"/>
                </a:solidFill>
                <a:latin typeface="Abadi"/>
              </a:rPr>
              <a:t>Report</a:t>
            </a:r>
          </a:p>
        </p:txBody>
      </p:sp>
      <p:sp>
        <p:nvSpPr>
          <p:cNvPr id="25" name="TextBox 24"/>
          <p:cNvSpPr txBox="1"/>
          <p:nvPr/>
        </p:nvSpPr>
        <p:spPr>
          <a:xfrm>
            <a:off x="5212080" y="2286000"/>
            <a:ext cx="1764792" cy="1691639"/>
          </a:xfrm>
          <a:prstGeom prst="rect">
            <a:avLst/>
          </a:prstGeom>
          <a:noFill/>
        </p:spPr>
        <p:txBody>
          <a:bodyPr wrap="square" lIns="0" rIns="0" tIns="18288" bIns="18288" anchor="t">
            <a:spAutoFit/>
          </a:bodyPr>
          <a:lstStyle/>
          <a:p>
            <a:pPr algn="l"/>
            <a:r>
              <a:rPr sz="1100" b="0" i="0">
                <a:solidFill>
                  <a:srgbClr val="1A1A1A"/>
                </a:solidFill>
                <a:latin typeface="Abadi"/>
              </a:rPr>
              <a:t>Taiwan required a call within 24 h; Texas recalled at 2 weeks.</a:t>
            </a:r>
          </a:p>
        </p:txBody>
      </p:sp>
      <p:sp>
        <p:nvSpPr>
          <p:cNvPr id="26" name="TextBox 25"/>
          <p:cNvSpPr txBox="1"/>
          <p:nvPr/>
        </p:nvSpPr>
        <p:spPr>
          <a:xfrm>
            <a:off x="7068312" y="2743200"/>
            <a:ext cx="329184" cy="365760"/>
          </a:xfrm>
          <a:prstGeom prst="rect">
            <a:avLst/>
          </a:prstGeom>
          <a:noFill/>
        </p:spPr>
        <p:txBody>
          <a:bodyPr wrap="square" lIns="0" rIns="0" tIns="18288" bIns="18288" anchor="t">
            <a:spAutoFit/>
          </a:bodyPr>
          <a:lstStyle/>
          <a:p>
            <a:pPr algn="ctr"/>
            <a:r>
              <a:rPr sz="1300" b="0" i="0">
                <a:solidFill>
                  <a:srgbClr val="8A939B"/>
                </a:solidFill>
                <a:latin typeface="Abadi"/>
              </a:rPr>
              <a:t>▶</a:t>
            </a:r>
          </a:p>
        </p:txBody>
      </p:sp>
      <p:sp>
        <p:nvSpPr>
          <p:cNvPr id="27" name="Rectangle 26"/>
          <p:cNvSpPr/>
          <p:nvPr/>
        </p:nvSpPr>
        <p:spPr>
          <a:xfrm>
            <a:off x="7379208" y="1828800"/>
            <a:ext cx="1984248" cy="219456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9208" y="1828800"/>
            <a:ext cx="1984248" cy="3657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88936" y="1828800"/>
            <a:ext cx="1764792" cy="365760"/>
          </a:xfrm>
          <a:prstGeom prst="rect">
            <a:avLst/>
          </a:prstGeom>
          <a:noFill/>
        </p:spPr>
        <p:txBody>
          <a:bodyPr wrap="square" lIns="0" rIns="0" tIns="18288" bIns="18288" anchor="ctr">
            <a:spAutoFit/>
          </a:bodyPr>
          <a:lstStyle/>
          <a:p>
            <a:pPr algn="l"/>
            <a:r>
              <a:rPr sz="1250" b="1" i="0">
                <a:solidFill>
                  <a:srgbClr val="FFFFFF"/>
                </a:solidFill>
                <a:latin typeface="Abadi"/>
              </a:rPr>
              <a:t>Refer</a:t>
            </a:r>
          </a:p>
        </p:txBody>
      </p:sp>
      <p:sp>
        <p:nvSpPr>
          <p:cNvPr id="30" name="TextBox 29"/>
          <p:cNvSpPr txBox="1"/>
          <p:nvPr/>
        </p:nvSpPr>
        <p:spPr>
          <a:xfrm>
            <a:off x="7488936" y="2286000"/>
            <a:ext cx="1764792" cy="1691639"/>
          </a:xfrm>
          <a:prstGeom prst="rect">
            <a:avLst/>
          </a:prstGeom>
          <a:noFill/>
        </p:spPr>
        <p:txBody>
          <a:bodyPr wrap="square" lIns="0" rIns="0" tIns="18288" bIns="18288" anchor="t">
            <a:spAutoFit/>
          </a:bodyPr>
          <a:lstStyle/>
          <a:p>
            <a:pPr algn="l"/>
            <a:r>
              <a:rPr sz="1100" b="0" i="0">
                <a:solidFill>
                  <a:srgbClr val="1A1A1A"/>
                </a:solidFill>
                <a:latin typeface="Abadi"/>
              </a:rPr>
              <a:t>Same-day hepatology review for colours 1–3 or conjugated ≥1 mg/dL.</a:t>
            </a:r>
          </a:p>
        </p:txBody>
      </p:sp>
      <p:sp>
        <p:nvSpPr>
          <p:cNvPr id="31" name="TextBox 30"/>
          <p:cNvSpPr txBox="1"/>
          <p:nvPr/>
        </p:nvSpPr>
        <p:spPr>
          <a:xfrm>
            <a:off x="9345168" y="2743200"/>
            <a:ext cx="329184" cy="365760"/>
          </a:xfrm>
          <a:prstGeom prst="rect">
            <a:avLst/>
          </a:prstGeom>
          <a:noFill/>
        </p:spPr>
        <p:txBody>
          <a:bodyPr wrap="square" lIns="0" rIns="0" tIns="18288" bIns="18288" anchor="t">
            <a:spAutoFit/>
          </a:bodyPr>
          <a:lstStyle/>
          <a:p>
            <a:pPr algn="ctr"/>
            <a:r>
              <a:rPr sz="1300" b="0" i="0">
                <a:solidFill>
                  <a:srgbClr val="8A939B"/>
                </a:solidFill>
                <a:latin typeface="Abadi"/>
              </a:rPr>
              <a:t>▶</a:t>
            </a:r>
          </a:p>
        </p:txBody>
      </p:sp>
      <p:sp>
        <p:nvSpPr>
          <p:cNvPr id="32" name="Rectangle 31"/>
          <p:cNvSpPr/>
          <p:nvPr/>
        </p:nvSpPr>
        <p:spPr>
          <a:xfrm>
            <a:off x="9656064" y="1828800"/>
            <a:ext cx="1984248" cy="219456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56064" y="1828800"/>
            <a:ext cx="1984248" cy="365760"/>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65792" y="1828800"/>
            <a:ext cx="1764792" cy="365760"/>
          </a:xfrm>
          <a:prstGeom prst="rect">
            <a:avLst/>
          </a:prstGeom>
          <a:noFill/>
        </p:spPr>
        <p:txBody>
          <a:bodyPr wrap="square" lIns="0" rIns="0" tIns="18288" bIns="18288" anchor="ctr">
            <a:spAutoFit/>
          </a:bodyPr>
          <a:lstStyle/>
          <a:p>
            <a:pPr algn="l"/>
            <a:r>
              <a:rPr sz="1250" b="1" i="0">
                <a:solidFill>
                  <a:srgbClr val="FFFFFF"/>
                </a:solidFill>
                <a:latin typeface="Abadi"/>
              </a:rPr>
              <a:t>Operate</a:t>
            </a:r>
          </a:p>
        </p:txBody>
      </p:sp>
      <p:sp>
        <p:nvSpPr>
          <p:cNvPr id="35" name="TextBox 34"/>
          <p:cNvSpPr txBox="1"/>
          <p:nvPr/>
        </p:nvSpPr>
        <p:spPr>
          <a:xfrm>
            <a:off x="9765792" y="2286000"/>
            <a:ext cx="1764792" cy="1691639"/>
          </a:xfrm>
          <a:prstGeom prst="rect">
            <a:avLst/>
          </a:prstGeom>
          <a:noFill/>
        </p:spPr>
        <p:txBody>
          <a:bodyPr wrap="square" lIns="0" rIns="0" tIns="18288" bIns="18288" anchor="t">
            <a:spAutoFit/>
          </a:bodyPr>
          <a:lstStyle/>
          <a:p>
            <a:pPr algn="l"/>
            <a:r>
              <a:rPr sz="1100" b="0" i="0">
                <a:solidFill>
                  <a:srgbClr val="1A1A1A"/>
                </a:solidFill>
                <a:latin typeface="Abadi"/>
              </a:rPr>
              <a:t>Kasai at a high-volume centre; preterms lag behind.</a:t>
            </a:r>
          </a:p>
        </p:txBody>
      </p:sp>
      <p:sp>
        <p:nvSpPr>
          <p:cNvPr id="36" name="TextBox 35"/>
          <p:cNvSpPr txBox="1"/>
          <p:nvPr/>
        </p:nvSpPr>
        <p:spPr>
          <a:xfrm>
            <a:off x="548640" y="4343400"/>
            <a:ext cx="11091672" cy="822960"/>
          </a:xfrm>
          <a:prstGeom prst="rect">
            <a:avLst/>
          </a:prstGeom>
          <a:noFill/>
        </p:spPr>
        <p:txBody>
          <a:bodyPr wrap="square" lIns="0" rIns="0" tIns="18288" bIns="18288" anchor="t">
            <a:spAutoFit/>
          </a:bodyPr>
          <a:lstStyle/>
          <a:p>
            <a:pPr algn="l">
              <a:spcAft>
                <a:spcPts val="400"/>
              </a:spcAft>
            </a:pPr>
            <a:r>
              <a:rPr sz="1250" b="0" i="0">
                <a:solidFill>
                  <a:srgbClr val="1A1A1A"/>
                </a:solidFill>
                <a:latin typeface="Abadi"/>
              </a:rPr>
              <a:t>Most published failures are not test failures. They are a card not looked at, a pale stool photographed but not reported, a raised value not repeated, or a sick preterm whose cholestasis is blamed on parenteral nutrition.</a:t>
            </a:r>
          </a:p>
          <a:p>
            <a:pPr algn="l">
              <a:spcAft>
                <a:spcPts val="400"/>
              </a:spcAft>
            </a:pPr>
            <a:r>
              <a:rPr sz="1250" b="1" i="1">
                <a:solidFill>
                  <a:srgbClr val="1A1A1A"/>
                </a:solidFill>
                <a:latin typeface="Abadi"/>
              </a:rPr>
              <a:t>Audit the pathway, not just the test.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HEAD TO HEAD</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CARD VERSUS BLOOD</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What each strategy offers a health system deciding what to adopt</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15</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Gopal 2024 · Harpavat 2020 · Woolfson 2018 · Hsiao 2008 · Hoshino 2023</a:t>
            </a:r>
          </a:p>
        </p:txBody>
      </p:sp>
      <p:graphicFrame>
        <p:nvGraphicFramePr>
          <p:cNvPr id="12" name="Table 11"/>
          <p:cNvGraphicFramePr>
            <a:graphicFrameLocks noGrp="1"/>
          </p:cNvGraphicFramePr>
          <p:nvPr/>
        </p:nvGraphicFramePr>
        <p:xfrm>
          <a:off x="548640" y="1773936"/>
          <a:ext cx="11091672" cy="2834640"/>
        </p:xfrm>
        <a:graphic>
          <a:graphicData uri="http://schemas.openxmlformats.org/drawingml/2006/table">
            <a:tbl>
              <a:tblPr firstRow="0" bandRow="0">
                <a:tableStyleId>{5C22544A-7EE6-4342-B048-85BDC9FD1C3A}</a:tableStyleId>
              </a:tblPr>
              <a:tblGrid>
                <a:gridCol w="2743200"/>
                <a:gridCol w="4160520"/>
                <a:gridCol w="4187952"/>
              </a:tblGrid>
              <a:tr h="420624">
                <a:tc>
                  <a:txBody>
                    <a:bodyPr wrap="square"/>
                    <a:lstStyle/>
                    <a:p>
                      <a:r>
                        <a:rPr sz="1200" b="1">
                          <a:solidFill>
                            <a:srgbClr val="FFFFFF"/>
                          </a:solidFill>
                          <a:latin typeface="Abadi"/>
                        </a:rPr>
                        <a:t>Dimension</a:t>
                      </a:r>
                    </a:p>
                  </a:txBody>
                  <a:tcPr marL="73152" marR="73152" marT="27432" marB="27432" anchor="ctr">
                    <a:solidFill>
                      <a:srgbClr val="1B355E"/>
                    </a:solidFill>
                  </a:tcPr>
                </a:tc>
                <a:tc>
                  <a:txBody>
                    <a:bodyPr wrap="square"/>
                    <a:lstStyle/>
                    <a:p>
                      <a:r>
                        <a:rPr sz="1200" b="1">
                          <a:solidFill>
                            <a:srgbClr val="FFFFFF"/>
                          </a:solidFill>
                          <a:latin typeface="Abadi"/>
                        </a:rPr>
                        <a:t>Stool colour card</a:t>
                      </a:r>
                    </a:p>
                  </a:txBody>
                  <a:tcPr marL="73152" marR="73152" marT="27432" marB="27432" anchor="ctr">
                    <a:solidFill>
                      <a:srgbClr val="1B355E"/>
                    </a:solidFill>
                  </a:tcPr>
                </a:tc>
                <a:tc>
                  <a:txBody>
                    <a:bodyPr wrap="square"/>
                    <a:lstStyle/>
                    <a:p>
                      <a:r>
                        <a:rPr sz="1200" b="1">
                          <a:solidFill>
                            <a:srgbClr val="FFFFFF"/>
                          </a:solidFill>
                          <a:latin typeface="Abadi"/>
                        </a:rPr>
                        <a:t>Direct or conjugated bilirubin</a:t>
                      </a:r>
                    </a:p>
                  </a:txBody>
                  <a:tcPr marL="73152" marR="73152" marT="27432" marB="27432" anchor="ctr">
                    <a:solidFill>
                      <a:srgbClr val="1B355E"/>
                    </a:solidFill>
                  </a:tcPr>
                </a:tc>
              </a:tr>
              <a:tr h="402336">
                <a:tc>
                  <a:txBody>
                    <a:bodyPr wrap="square"/>
                    <a:lstStyle/>
                    <a:p>
                      <a:r>
                        <a:rPr sz="950" b="1">
                          <a:solidFill>
                            <a:srgbClr val="1A1A1A"/>
                          </a:solidFill>
                          <a:latin typeface="Abadi"/>
                        </a:rPr>
                        <a:t>Pooled sensitivity</a:t>
                      </a:r>
                    </a:p>
                  </a:txBody>
                  <a:tcPr marL="73152" marR="73152" marT="27432" marB="27432" anchor="ctr">
                    <a:solidFill>
                      <a:srgbClr val="FFFFFF"/>
                    </a:solidFill>
                  </a:tcPr>
                </a:tc>
                <a:tc>
                  <a:txBody>
                    <a:bodyPr wrap="square"/>
                    <a:lstStyle/>
                    <a:p>
                      <a:r>
                        <a:rPr sz="950" b="0">
                          <a:solidFill>
                            <a:srgbClr val="1A1A1A"/>
                          </a:solidFill>
                          <a:latin typeface="Abadi"/>
                        </a:rPr>
                        <a:t>79.6%; 0–97% across programmes</a:t>
                      </a:r>
                    </a:p>
                  </a:txBody>
                  <a:tcPr marL="73152" marR="73152" marT="27432" marB="27432" anchor="ctr">
                    <a:solidFill>
                      <a:srgbClr val="FFFFFF"/>
                    </a:solidFill>
                  </a:tcPr>
                </a:tc>
                <a:tc>
                  <a:txBody>
                    <a:bodyPr wrap="square"/>
                    <a:lstStyle/>
                    <a:p>
                      <a:r>
                        <a:rPr sz="950" b="0">
                          <a:solidFill>
                            <a:srgbClr val="1A1A1A"/>
                          </a:solidFill>
                          <a:latin typeface="Abadi"/>
                        </a:rPr>
                        <a:t>100% in all cohorts so far</a:t>
                      </a:r>
                    </a:p>
                  </a:txBody>
                  <a:tcPr marL="73152" marR="73152" marT="27432" marB="27432" anchor="ctr">
                    <a:solidFill>
                      <a:srgbClr val="FFFFFF"/>
                    </a:solidFill>
                  </a:tcPr>
                </a:tc>
              </a:tr>
              <a:tr h="402336">
                <a:tc>
                  <a:txBody>
                    <a:bodyPr wrap="square"/>
                    <a:lstStyle/>
                    <a:p>
                      <a:r>
                        <a:rPr sz="950" b="1">
                          <a:solidFill>
                            <a:srgbClr val="1A1A1A"/>
                          </a:solidFill>
                          <a:latin typeface="Abadi"/>
                        </a:rPr>
                        <a:t>Positive predictive value</a:t>
                      </a:r>
                    </a:p>
                  </a:txBody>
                  <a:tcPr marL="73152" marR="73152" marT="27432" marB="27432" anchor="ctr">
                    <a:solidFill>
                      <a:srgbClr val="F2F2F2"/>
                    </a:solidFill>
                  </a:tcPr>
                </a:tc>
                <a:tc>
                  <a:txBody>
                    <a:bodyPr wrap="square"/>
                    <a:lstStyle/>
                    <a:p>
                      <a:r>
                        <a:rPr sz="950" b="0">
                          <a:solidFill>
                            <a:srgbClr val="1A1A1A"/>
                          </a:solidFill>
                          <a:latin typeface="Abadi"/>
                        </a:rPr>
                        <a:t>4–29%, depends on prevalence</a:t>
                      </a:r>
                    </a:p>
                  </a:txBody>
                  <a:tcPr marL="73152" marR="73152" marT="27432" marB="27432" anchor="ctr">
                    <a:solidFill>
                      <a:srgbClr val="F2F2F2"/>
                    </a:solidFill>
                  </a:tcPr>
                </a:tc>
                <a:tc>
                  <a:txBody>
                    <a:bodyPr wrap="square"/>
                    <a:lstStyle/>
                    <a:p>
                      <a:r>
                        <a:rPr sz="950" b="0">
                          <a:solidFill>
                            <a:srgbClr val="1A1A1A"/>
                          </a:solidFill>
                          <a:latin typeface="Abadi"/>
                        </a:rPr>
                        <a:t>5.9–18%</a:t>
                      </a:r>
                    </a:p>
                  </a:txBody>
                  <a:tcPr marL="73152" marR="73152" marT="27432" marB="27432" anchor="ctr">
                    <a:solidFill>
                      <a:srgbClr val="F2F2F2"/>
                    </a:solidFill>
                  </a:tcPr>
                </a:tc>
              </a:tr>
              <a:tr h="402336">
                <a:tc>
                  <a:txBody>
                    <a:bodyPr wrap="square"/>
                    <a:lstStyle/>
                    <a:p>
                      <a:r>
                        <a:rPr sz="950" b="1">
                          <a:solidFill>
                            <a:srgbClr val="1A1A1A"/>
                          </a:solidFill>
                          <a:latin typeface="Abadi"/>
                        </a:rPr>
                        <a:t>Age at alert</a:t>
                      </a:r>
                    </a:p>
                  </a:txBody>
                  <a:tcPr marL="73152" marR="73152" marT="27432" marB="27432" anchor="ctr">
                    <a:solidFill>
                      <a:srgbClr val="FFFFFF"/>
                    </a:solidFill>
                  </a:tcPr>
                </a:tc>
                <a:tc>
                  <a:txBody>
                    <a:bodyPr wrap="square"/>
                    <a:lstStyle/>
                    <a:p>
                      <a:r>
                        <a:rPr sz="950" b="0">
                          <a:solidFill>
                            <a:srgbClr val="1A1A1A"/>
                          </a:solidFill>
                          <a:latin typeface="Abadi"/>
                        </a:rPr>
                        <a:t>Usually 2–4 weeks</a:t>
                      </a:r>
                    </a:p>
                  </a:txBody>
                  <a:tcPr marL="73152" marR="73152" marT="27432" marB="27432" anchor="ctr">
                    <a:solidFill>
                      <a:srgbClr val="FFFFFF"/>
                    </a:solidFill>
                  </a:tcPr>
                </a:tc>
                <a:tc>
                  <a:txBody>
                    <a:bodyPr wrap="square"/>
                    <a:lstStyle/>
                    <a:p>
                      <a:r>
                        <a:rPr sz="950" b="0">
                          <a:solidFill>
                            <a:srgbClr val="1A1A1A"/>
                          </a:solidFill>
                          <a:latin typeface="Abadi"/>
                        </a:rPr>
                        <a:t>Before 60 h, confirmed by 2 weeks</a:t>
                      </a:r>
                    </a:p>
                  </a:txBody>
                  <a:tcPr marL="73152" marR="73152" marT="27432" marB="27432" anchor="ctr">
                    <a:solidFill>
                      <a:srgbClr val="FFFFFF"/>
                    </a:solidFill>
                  </a:tcPr>
                </a:tc>
              </a:tr>
              <a:tr h="402336">
                <a:tc>
                  <a:txBody>
                    <a:bodyPr wrap="square"/>
                    <a:lstStyle/>
                    <a:p>
                      <a:r>
                        <a:rPr sz="950" b="1">
                          <a:solidFill>
                            <a:srgbClr val="1A1A1A"/>
                          </a:solidFill>
                          <a:latin typeface="Abadi"/>
                        </a:rPr>
                        <a:t>Cost and burden</a:t>
                      </a:r>
                    </a:p>
                  </a:txBody>
                  <a:tcPr marL="73152" marR="73152" marT="27432" marB="27432" anchor="ctr">
                    <a:solidFill>
                      <a:srgbClr val="F2F2F2"/>
                    </a:solidFill>
                  </a:tcPr>
                </a:tc>
                <a:tc>
                  <a:txBody>
                    <a:bodyPr wrap="square"/>
                    <a:lstStyle/>
                    <a:p>
                      <a:r>
                        <a:rPr sz="950" b="0">
                          <a:solidFill>
                            <a:srgbClr val="1A1A1A"/>
                          </a:solidFill>
                          <a:latin typeface="Abadi"/>
                        </a:rPr>
                        <a:t>Under $1 per birth; no needle</a:t>
                      </a:r>
                    </a:p>
                  </a:txBody>
                  <a:tcPr marL="73152" marR="73152" marT="27432" marB="27432" anchor="ctr">
                    <a:solidFill>
                      <a:srgbClr val="F2F2F2"/>
                    </a:solidFill>
                  </a:tcPr>
                </a:tc>
                <a:tc>
                  <a:txBody>
                    <a:bodyPr wrap="square"/>
                    <a:lstStyle/>
                    <a:p>
                      <a:r>
                        <a:rPr sz="950" b="0">
                          <a:solidFill>
                            <a:srgbClr val="1A1A1A"/>
                          </a:solidFill>
                          <a:latin typeface="Abadi"/>
                        </a:rPr>
                        <a:t>Lab cost, second sample, recall staff</a:t>
                      </a:r>
                    </a:p>
                  </a:txBody>
                  <a:tcPr marL="73152" marR="73152" marT="27432" marB="27432" anchor="ctr">
                    <a:solidFill>
                      <a:srgbClr val="F2F2F2"/>
                    </a:solidFill>
                  </a:tcPr>
                </a:tc>
              </a:tr>
              <a:tr h="402336">
                <a:tc>
                  <a:txBody>
                    <a:bodyPr wrap="square"/>
                    <a:lstStyle/>
                    <a:p>
                      <a:r>
                        <a:rPr sz="950" b="1">
                          <a:solidFill>
                            <a:srgbClr val="1A1A1A"/>
                          </a:solidFill>
                          <a:latin typeface="Abadi"/>
                        </a:rPr>
                        <a:t>Weak spot</a:t>
                      </a:r>
                    </a:p>
                  </a:txBody>
                  <a:tcPr marL="73152" marR="73152" marT="27432" marB="27432" anchor="ctr">
                    <a:solidFill>
                      <a:srgbClr val="FFFFFF"/>
                    </a:solidFill>
                  </a:tcPr>
                </a:tc>
                <a:tc>
                  <a:txBody>
                    <a:bodyPr wrap="square"/>
                    <a:lstStyle/>
                    <a:p>
                      <a:r>
                        <a:rPr sz="950" b="0">
                          <a:solidFill>
                            <a:srgbClr val="1A1A1A"/>
                          </a:solidFill>
                          <a:latin typeface="Abadi"/>
                        </a:rPr>
                        <a:t>Late pallor, misreading, no action</a:t>
                      </a:r>
                    </a:p>
                  </a:txBody>
                  <a:tcPr marL="73152" marR="73152" marT="27432" marB="27432" anchor="ctr">
                    <a:solidFill>
                      <a:srgbClr val="FFFFFF"/>
                    </a:solidFill>
                  </a:tcPr>
                </a:tc>
                <a:tc>
                  <a:txBody>
                    <a:bodyPr wrap="square"/>
                    <a:lstStyle/>
                    <a:p>
                      <a:r>
                        <a:rPr sz="950" b="0">
                          <a:solidFill>
                            <a:srgbClr val="1A1A1A"/>
                          </a:solidFill>
                          <a:latin typeface="Abadi"/>
                        </a:rPr>
                        <a:t>Missed repeat sample; early discharge</a:t>
                      </a:r>
                    </a:p>
                  </a:txBody>
                  <a:tcPr marL="73152" marR="73152" marT="27432" marB="27432" anchor="ctr">
                    <a:solidFill>
                      <a:srgbClr val="FFFFFF"/>
                    </a:solidFill>
                  </a:tcPr>
                </a:tc>
              </a:tr>
              <a:tr h="402336">
                <a:tc>
                  <a:txBody>
                    <a:bodyPr wrap="square"/>
                    <a:lstStyle/>
                    <a:p>
                      <a:r>
                        <a:rPr sz="950" b="1">
                          <a:solidFill>
                            <a:srgbClr val="1A1A1A"/>
                          </a:solidFill>
                          <a:latin typeface="Abadi"/>
                        </a:rPr>
                        <a:t>Extra yield</a:t>
                      </a:r>
                    </a:p>
                  </a:txBody>
                  <a:tcPr marL="73152" marR="73152" marT="27432" marB="27432" anchor="ctr">
                    <a:solidFill>
                      <a:srgbClr val="F2F2F2"/>
                    </a:solidFill>
                  </a:tcPr>
                </a:tc>
                <a:tc>
                  <a:txBody>
                    <a:bodyPr wrap="square"/>
                    <a:lstStyle/>
                    <a:p>
                      <a:r>
                        <a:rPr sz="950" b="0">
                          <a:solidFill>
                            <a:srgbClr val="1A1A1A"/>
                          </a:solidFill>
                          <a:latin typeface="Abadi"/>
                        </a:rPr>
                        <a:t>Any acholic disease</a:t>
                      </a:r>
                    </a:p>
                  </a:txBody>
                  <a:tcPr marL="73152" marR="73152" marT="27432" marB="27432" anchor="ctr">
                    <a:solidFill>
                      <a:srgbClr val="F2F2F2"/>
                    </a:solidFill>
                  </a:tcPr>
                </a:tc>
                <a:tc>
                  <a:txBody>
                    <a:bodyPr wrap="square"/>
                    <a:lstStyle/>
                    <a:p>
                      <a:r>
                        <a:rPr sz="950" b="0">
                          <a:solidFill>
                            <a:srgbClr val="1A1A1A"/>
                          </a:solidFill>
                          <a:latin typeface="Abadi"/>
                        </a:rPr>
                        <a:t>Other cholestasis in 8% of false positives</a:t>
                      </a:r>
                    </a:p>
                  </a:txBody>
                  <a:tcPr marL="73152" marR="73152" marT="27432" marB="27432" anchor="ctr">
                    <a:solidFill>
                      <a:srgbClr val="F2F2F2"/>
                    </a:solidFill>
                  </a:tcPr>
                </a:tc>
              </a:tr>
            </a:tbl>
          </a:graphicData>
        </a:graphic>
      </p:graphicFrame>
      <p:sp>
        <p:nvSpPr>
          <p:cNvPr id="13" name="TextBox 12"/>
          <p:cNvSpPr txBox="1"/>
          <p:nvPr/>
        </p:nvSpPr>
        <p:spPr>
          <a:xfrm>
            <a:off x="548640" y="4709160"/>
            <a:ext cx="11091672" cy="822960"/>
          </a:xfrm>
          <a:prstGeom prst="rect">
            <a:avLst/>
          </a:prstGeom>
          <a:noFill/>
        </p:spPr>
        <p:txBody>
          <a:bodyPr wrap="square" lIns="0" rIns="0" tIns="18288" bIns="18288" anchor="t">
            <a:spAutoFit/>
          </a:bodyPr>
          <a:lstStyle/>
          <a:p>
            <a:pPr algn="l">
              <a:spcAft>
                <a:spcPts val="400"/>
              </a:spcAft>
            </a:pPr>
            <a:r>
              <a:rPr sz="1250" b="0" i="0">
                <a:solidFill>
                  <a:srgbClr val="1A1A1A"/>
                </a:solidFill>
                <a:latin typeface="Abadi"/>
              </a:rPr>
              <a:t>The two are complementary: blood is earlier and more sensitive; the card is cheap, needle-free and catches pallor that develops later.</a:t>
            </a:r>
          </a:p>
          <a:p>
            <a:pPr algn="l">
              <a:spcAft>
                <a:spcPts val="400"/>
              </a:spcAft>
            </a:pPr>
            <a:r>
              <a:rPr sz="1250" b="1" i="1">
                <a:solidFill>
                  <a:srgbClr val="1A1A1A"/>
                </a:solidFill>
                <a:latin typeface="Abadi"/>
              </a:rPr>
              <a:t>Where blood screening exists, the card still matters for the infant whose first values were normal.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ECONOMICS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WHO PAYS AND WHO SAVES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Published cost-effectiveness models of biliary atresia screening</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16</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Mogul D, et al. JPGN 2015;60:91–8 · Schreiber RA, et al. J Med Screen 2014;21:126–32 · Hoshino E, et al. J Pediatr 2023 (doi 10.1016/j.jpeds.2022.09.028)</a:t>
            </a:r>
          </a:p>
        </p:txBody>
      </p:sp>
      <p:graphicFrame>
        <p:nvGraphicFramePr>
          <p:cNvPr id="12" name="Table 11"/>
          <p:cNvGraphicFramePr>
            <a:graphicFrameLocks noGrp="1"/>
          </p:cNvGraphicFramePr>
          <p:nvPr/>
        </p:nvGraphicFramePr>
        <p:xfrm>
          <a:off x="548640" y="1773936"/>
          <a:ext cx="11091672" cy="2706624"/>
        </p:xfrm>
        <a:graphic>
          <a:graphicData uri="http://schemas.openxmlformats.org/drawingml/2006/table">
            <a:tbl>
              <a:tblPr firstRow="0" bandRow="0">
                <a:tableStyleId>{5C22544A-7EE6-4342-B048-85BDC9FD1C3A}</a:tableStyleId>
              </a:tblPr>
              <a:tblGrid>
                <a:gridCol w="2377440"/>
                <a:gridCol w="2377440"/>
                <a:gridCol w="4206240"/>
                <a:gridCol w="2130552"/>
              </a:tblGrid>
              <a:tr h="420624">
                <a:tc>
                  <a:txBody>
                    <a:bodyPr wrap="square"/>
                    <a:lstStyle/>
                    <a:p>
                      <a:r>
                        <a:rPr sz="1200" b="1">
                          <a:solidFill>
                            <a:srgbClr val="FFFFFF"/>
                          </a:solidFill>
                          <a:latin typeface="Abadi"/>
                        </a:rPr>
                        <a:t>Model</a:t>
                      </a:r>
                    </a:p>
                  </a:txBody>
                  <a:tcPr marL="73152" marR="73152" marT="27432" marB="27432" anchor="ctr">
                    <a:solidFill>
                      <a:srgbClr val="1B355E"/>
                    </a:solidFill>
                  </a:tcPr>
                </a:tc>
                <a:tc>
                  <a:txBody>
                    <a:bodyPr wrap="square"/>
                    <a:lstStyle/>
                    <a:p>
                      <a:r>
                        <a:rPr sz="1200" b="1">
                          <a:solidFill>
                            <a:srgbClr val="FFFFFF"/>
                          </a:solidFill>
                          <a:latin typeface="Abadi"/>
                        </a:rPr>
                        <a:t>Comparison</a:t>
                      </a:r>
                    </a:p>
                  </a:txBody>
                  <a:tcPr marL="73152" marR="73152" marT="27432" marB="27432" anchor="ctr">
                    <a:solidFill>
                      <a:srgbClr val="1B355E"/>
                    </a:solidFill>
                  </a:tcPr>
                </a:tc>
                <a:tc>
                  <a:txBody>
                    <a:bodyPr wrap="square"/>
                    <a:lstStyle/>
                    <a:p>
                      <a:r>
                        <a:rPr sz="1200" b="1">
                          <a:solidFill>
                            <a:srgbClr val="FFFFFF"/>
                          </a:solidFill>
                          <a:latin typeface="Abadi"/>
                        </a:rPr>
                        <a:t>Result</a:t>
                      </a:r>
                    </a:p>
                  </a:txBody>
                  <a:tcPr marL="73152" marR="73152" marT="27432" marB="27432" anchor="ctr">
                    <a:solidFill>
                      <a:srgbClr val="1B355E"/>
                    </a:solidFill>
                  </a:tcPr>
                </a:tc>
                <a:tc>
                  <a:txBody>
                    <a:bodyPr wrap="square"/>
                    <a:lstStyle/>
                    <a:p>
                      <a:r>
                        <a:rPr sz="1200" b="1">
                          <a:solidFill>
                            <a:srgbClr val="FFFFFF"/>
                          </a:solidFill>
                          <a:latin typeface="Abadi"/>
                        </a:rPr>
                        <a:t>Read as</a:t>
                      </a:r>
                    </a:p>
                  </a:txBody>
                  <a:tcPr marL="73152" marR="73152" marT="27432" marB="27432" anchor="ctr">
                    <a:solidFill>
                      <a:srgbClr val="1B355E"/>
                    </a:solidFill>
                  </a:tcPr>
                </a:tc>
              </a:tr>
              <a:tr h="457200">
                <a:tc>
                  <a:txBody>
                    <a:bodyPr wrap="square"/>
                    <a:lstStyle/>
                    <a:p>
                      <a:r>
                        <a:rPr sz="950" b="1">
                          <a:solidFill>
                            <a:srgbClr val="1A1A1A"/>
                          </a:solidFill>
                          <a:latin typeface="Abadi"/>
                        </a:rPr>
                        <a:t>United States, 20 years</a:t>
                      </a:r>
                    </a:p>
                  </a:txBody>
                  <a:tcPr marL="73152" marR="73152" marT="27432" marB="27432" anchor="ctr">
                    <a:solidFill>
                      <a:srgbClr val="FFFFFF"/>
                    </a:solidFill>
                  </a:tcPr>
                </a:tc>
                <a:tc>
                  <a:txBody>
                    <a:bodyPr wrap="square"/>
                    <a:lstStyle/>
                    <a:p>
                      <a:r>
                        <a:rPr sz="950" b="0">
                          <a:solidFill>
                            <a:srgbClr val="1A1A1A"/>
                          </a:solidFill>
                          <a:latin typeface="Abadi"/>
                        </a:rPr>
                        <a:t>Card vs no screening</a:t>
                      </a:r>
                    </a:p>
                  </a:txBody>
                  <a:tcPr marL="73152" marR="73152" marT="27432" marB="27432" anchor="ctr">
                    <a:solidFill>
                      <a:srgbClr val="FFFFFF"/>
                    </a:solidFill>
                  </a:tcPr>
                </a:tc>
                <a:tc>
                  <a:txBody>
                    <a:bodyPr wrap="square"/>
                    <a:lstStyle/>
                    <a:p>
                      <a:r>
                        <a:rPr sz="950" b="0">
                          <a:solidFill>
                            <a:srgbClr val="1A1A1A"/>
                          </a:solidFill>
                          <a:latin typeface="Abadi"/>
                        </a:rPr>
                        <a:t>Saves about $8.6 million, 30 life-years, 11 transplants</a:t>
                      </a:r>
                    </a:p>
                  </a:txBody>
                  <a:tcPr marL="73152" marR="73152" marT="27432" marB="27432" anchor="ctr">
                    <a:solidFill>
                      <a:srgbClr val="FFFFFF"/>
                    </a:solidFill>
                  </a:tcPr>
                </a:tc>
                <a:tc>
                  <a:txBody>
                    <a:bodyPr wrap="square"/>
                    <a:lstStyle/>
                    <a:p>
                      <a:r>
                        <a:rPr sz="950" b="0">
                          <a:solidFill>
                            <a:srgbClr val="1A1A1A"/>
                          </a:solidFill>
                          <a:latin typeface="Abadi"/>
                        </a:rPr>
                        <a:t>Dominant</a:t>
                      </a:r>
                    </a:p>
                  </a:txBody>
                  <a:tcPr marL="73152" marR="73152" marT="27432" marB="27432" anchor="ctr">
                    <a:solidFill>
                      <a:srgbClr val="FFFFFF"/>
                    </a:solidFill>
                  </a:tcPr>
                </a:tc>
              </a:tr>
              <a:tr h="457200">
                <a:tc>
                  <a:txBody>
                    <a:bodyPr wrap="square"/>
                    <a:lstStyle/>
                    <a:p>
                      <a:r>
                        <a:rPr sz="950" b="1">
                          <a:solidFill>
                            <a:srgbClr val="1A1A1A"/>
                          </a:solidFill>
                          <a:latin typeface="Abadi"/>
                        </a:rPr>
                        <a:t>Canada, 10 years</a:t>
                      </a:r>
                    </a:p>
                  </a:txBody>
                  <a:tcPr marL="73152" marR="73152" marT="27432" marB="27432" anchor="ctr">
                    <a:solidFill>
                      <a:srgbClr val="F2F2F2"/>
                    </a:solidFill>
                  </a:tcPr>
                </a:tc>
                <a:tc>
                  <a:txBody>
                    <a:bodyPr wrap="square"/>
                    <a:lstStyle/>
                    <a:p>
                      <a:r>
                        <a:rPr sz="950" b="0">
                          <a:solidFill>
                            <a:srgbClr val="1A1A1A"/>
                          </a:solidFill>
                          <a:latin typeface="Abadi"/>
                        </a:rPr>
                        <a:t>Passive card vs none</a:t>
                      </a:r>
                    </a:p>
                  </a:txBody>
                  <a:tcPr marL="73152" marR="73152" marT="27432" marB="27432" anchor="ctr">
                    <a:solidFill>
                      <a:srgbClr val="F2F2F2"/>
                    </a:solidFill>
                  </a:tcPr>
                </a:tc>
                <a:tc>
                  <a:txBody>
                    <a:bodyPr wrap="square"/>
                    <a:lstStyle/>
                    <a:p>
                      <a:r>
                        <a:rPr sz="950" b="0">
                          <a:solidFill>
                            <a:srgbClr val="1A1A1A"/>
                          </a:solidFill>
                          <a:latin typeface="Abadi"/>
                        </a:rPr>
                        <a:t>About $22,000 per life-year gained</a:t>
                      </a:r>
                    </a:p>
                  </a:txBody>
                  <a:tcPr marL="73152" marR="73152" marT="27432" marB="27432" anchor="ctr">
                    <a:solidFill>
                      <a:srgbClr val="F2F2F2"/>
                    </a:solidFill>
                  </a:tcPr>
                </a:tc>
                <a:tc>
                  <a:txBody>
                    <a:bodyPr wrap="square"/>
                    <a:lstStyle/>
                    <a:p>
                      <a:r>
                        <a:rPr sz="950" b="0">
                          <a:solidFill>
                            <a:srgbClr val="1A1A1A"/>
                          </a:solidFill>
                          <a:latin typeface="Abadi"/>
                        </a:rPr>
                        <a:t>Cost-effective</a:t>
                      </a:r>
                    </a:p>
                  </a:txBody>
                  <a:tcPr marL="73152" marR="73152" marT="27432" marB="27432" anchor="ctr">
                    <a:solidFill>
                      <a:srgbClr val="F2F2F2"/>
                    </a:solidFill>
                  </a:tcPr>
                </a:tc>
              </a:tr>
              <a:tr h="457200">
                <a:tc>
                  <a:txBody>
                    <a:bodyPr wrap="square"/>
                    <a:lstStyle/>
                    <a:p>
                      <a:r>
                        <a:rPr sz="950" b="1">
                          <a:solidFill>
                            <a:srgbClr val="1A1A1A"/>
                          </a:solidFill>
                          <a:latin typeface="Abadi"/>
                        </a:rPr>
                        <a:t>Japan, 25 years</a:t>
                      </a:r>
                    </a:p>
                  </a:txBody>
                  <a:tcPr marL="73152" marR="73152" marT="27432" marB="27432" anchor="ctr">
                    <a:solidFill>
                      <a:srgbClr val="FFFFFF"/>
                    </a:solidFill>
                  </a:tcPr>
                </a:tc>
                <a:tc>
                  <a:txBody>
                    <a:bodyPr wrap="square"/>
                    <a:lstStyle/>
                    <a:p>
                      <a:r>
                        <a:rPr sz="950" b="0">
                          <a:solidFill>
                            <a:srgbClr val="1A1A1A"/>
                          </a:solidFill>
                          <a:latin typeface="Abadi"/>
                        </a:rPr>
                        <a:t>Card vs none</a:t>
                      </a:r>
                    </a:p>
                  </a:txBody>
                  <a:tcPr marL="73152" marR="73152" marT="27432" marB="27432" anchor="ctr">
                    <a:solidFill>
                      <a:srgbClr val="FFFFFF"/>
                    </a:solidFill>
                  </a:tcPr>
                </a:tc>
                <a:tc>
                  <a:txBody>
                    <a:bodyPr wrap="square"/>
                    <a:lstStyle/>
                    <a:p>
                      <a:r>
                        <a:rPr sz="950" b="0">
                          <a:solidFill>
                            <a:srgbClr val="1A1A1A"/>
                          </a:solidFill>
                          <a:latin typeface="Abadi"/>
                        </a:rPr>
                        <a:t>$339,258 per event-free life-year</a:t>
                      </a:r>
                    </a:p>
                  </a:txBody>
                  <a:tcPr marL="73152" marR="73152" marT="27432" marB="27432" anchor="ctr">
                    <a:solidFill>
                      <a:srgbClr val="FFFFFF"/>
                    </a:solidFill>
                  </a:tcPr>
                </a:tc>
                <a:tc>
                  <a:txBody>
                    <a:bodyPr wrap="square"/>
                    <a:lstStyle/>
                    <a:p>
                      <a:r>
                        <a:rPr sz="950" b="0">
                          <a:solidFill>
                            <a:srgbClr val="1A1A1A"/>
                          </a:solidFill>
                          <a:latin typeface="Abadi"/>
                        </a:rPr>
                        <a:t>Above Japanese threshold</a:t>
                      </a:r>
                    </a:p>
                  </a:txBody>
                  <a:tcPr marL="73152" marR="73152" marT="27432" marB="27432" anchor="ctr">
                    <a:solidFill>
                      <a:srgbClr val="FFFFFF"/>
                    </a:solidFill>
                  </a:tcPr>
                </a:tc>
              </a:tr>
              <a:tr h="457200">
                <a:tc>
                  <a:txBody>
                    <a:bodyPr wrap="square"/>
                    <a:lstStyle/>
                    <a:p>
                      <a:r>
                        <a:rPr sz="950" b="1">
                          <a:solidFill>
                            <a:srgbClr val="1A1A1A"/>
                          </a:solidFill>
                          <a:latin typeface="Abadi"/>
                        </a:rPr>
                        <a:t>Japan, 25 years</a:t>
                      </a:r>
                    </a:p>
                  </a:txBody>
                  <a:tcPr marL="73152" marR="73152" marT="27432" marB="27432" anchor="ctr">
                    <a:solidFill>
                      <a:srgbClr val="F2F2F2"/>
                    </a:solidFill>
                  </a:tcPr>
                </a:tc>
                <a:tc>
                  <a:txBody>
                    <a:bodyPr wrap="square"/>
                    <a:lstStyle/>
                    <a:p>
                      <a:r>
                        <a:rPr sz="950" b="0">
                          <a:solidFill>
                            <a:srgbClr val="1A1A1A"/>
                          </a:solidFill>
                          <a:latin typeface="Abadi"/>
                        </a:rPr>
                        <a:t>Blood vs card</a:t>
                      </a:r>
                    </a:p>
                  </a:txBody>
                  <a:tcPr marL="73152" marR="73152" marT="27432" marB="27432" anchor="ctr">
                    <a:solidFill>
                      <a:srgbClr val="F2F2F2"/>
                    </a:solidFill>
                  </a:tcPr>
                </a:tc>
                <a:tc>
                  <a:txBody>
                    <a:bodyPr wrap="square"/>
                    <a:lstStyle/>
                    <a:p>
                      <a:r>
                        <a:rPr sz="950" b="0">
                          <a:solidFill>
                            <a:srgbClr val="1A1A1A"/>
                          </a:solidFill>
                          <a:latin typeface="Abadi"/>
                        </a:rPr>
                        <a:t>$512,893 per event-free life-year; 16 fewer transplants</a:t>
                      </a:r>
                    </a:p>
                  </a:txBody>
                  <a:tcPr marL="73152" marR="73152" marT="27432" marB="27432" anchor="ctr">
                    <a:solidFill>
                      <a:srgbClr val="F2F2F2"/>
                    </a:solidFill>
                  </a:tcPr>
                </a:tc>
                <a:tc>
                  <a:txBody>
                    <a:bodyPr wrap="square"/>
                    <a:lstStyle/>
                    <a:p>
                      <a:r>
                        <a:rPr sz="950" b="0">
                          <a:solidFill>
                            <a:srgbClr val="1A1A1A"/>
                          </a:solidFill>
                          <a:latin typeface="Abadi"/>
                        </a:rPr>
                        <a:t>Expensive</a:t>
                      </a:r>
                    </a:p>
                  </a:txBody>
                  <a:tcPr marL="73152" marR="73152" marT="27432" marB="27432" anchor="ctr">
                    <a:solidFill>
                      <a:srgbClr val="F2F2F2"/>
                    </a:solidFill>
                  </a:tcPr>
                </a:tc>
              </a:tr>
              <a:tr h="457200">
                <a:tc>
                  <a:txBody>
                    <a:bodyPr wrap="square"/>
                    <a:lstStyle/>
                    <a:p>
                      <a:r>
                        <a:rPr sz="950" b="1">
                          <a:solidFill>
                            <a:srgbClr val="1A1A1A"/>
                          </a:solidFill>
                          <a:latin typeface="Abadi"/>
                        </a:rPr>
                        <a:t>Japan, 25 years</a:t>
                      </a:r>
                    </a:p>
                  </a:txBody>
                  <a:tcPr marL="73152" marR="73152" marT="27432" marB="27432" anchor="ctr">
                    <a:solidFill>
                      <a:srgbClr val="FFFFFF"/>
                    </a:solidFill>
                  </a:tcPr>
                </a:tc>
                <a:tc>
                  <a:txBody>
                    <a:bodyPr wrap="square"/>
                    <a:lstStyle/>
                    <a:p>
                      <a:r>
                        <a:rPr sz="950" b="0">
                          <a:solidFill>
                            <a:srgbClr val="1A1A1A"/>
                          </a:solidFill>
                          <a:latin typeface="Abadi"/>
                        </a:rPr>
                        <a:t>Blood vs none</a:t>
                      </a:r>
                    </a:p>
                  </a:txBody>
                  <a:tcPr marL="73152" marR="73152" marT="27432" marB="27432" anchor="ctr">
                    <a:solidFill>
                      <a:srgbClr val="FFFFFF"/>
                    </a:solidFill>
                  </a:tcPr>
                </a:tc>
                <a:tc>
                  <a:txBody>
                    <a:bodyPr wrap="square"/>
                    <a:lstStyle/>
                    <a:p>
                      <a:r>
                        <a:rPr sz="950" b="0">
                          <a:solidFill>
                            <a:srgbClr val="1A1A1A"/>
                          </a:solidFill>
                          <a:latin typeface="Abadi"/>
                        </a:rPr>
                        <a:t>$488,639 per event-free life-year</a:t>
                      </a:r>
                    </a:p>
                  </a:txBody>
                  <a:tcPr marL="73152" marR="73152" marT="27432" marB="27432" anchor="ctr">
                    <a:solidFill>
                      <a:srgbClr val="FFFFFF"/>
                    </a:solidFill>
                  </a:tcPr>
                </a:tc>
                <a:tc>
                  <a:txBody>
                    <a:bodyPr wrap="square"/>
                    <a:lstStyle/>
                    <a:p>
                      <a:r>
                        <a:rPr sz="950" b="0">
                          <a:solidFill>
                            <a:srgbClr val="1A1A1A"/>
                          </a:solidFill>
                          <a:latin typeface="Abadi"/>
                        </a:rPr>
                        <a:t>Expensive</a:t>
                      </a:r>
                    </a:p>
                  </a:txBody>
                  <a:tcPr marL="73152" marR="73152" marT="27432" marB="27432" anchor="ctr">
                    <a:solidFill>
                      <a:srgbClr val="FFFFFF"/>
                    </a:solidFill>
                  </a:tcPr>
                </a:tc>
              </a:tr>
            </a:tbl>
          </a:graphicData>
        </a:graphic>
      </p:graphicFrame>
      <p:sp>
        <p:nvSpPr>
          <p:cNvPr id="13" name="TextBox 12"/>
          <p:cNvSpPr txBox="1"/>
          <p:nvPr/>
        </p:nvSpPr>
        <p:spPr>
          <a:xfrm>
            <a:off x="548640" y="4663440"/>
            <a:ext cx="11091672" cy="822960"/>
          </a:xfrm>
          <a:prstGeom prst="rect">
            <a:avLst/>
          </a:prstGeom>
          <a:noFill/>
        </p:spPr>
        <p:txBody>
          <a:bodyPr wrap="square" lIns="0" rIns="0" tIns="18288" bIns="18288" anchor="t">
            <a:spAutoFit/>
          </a:bodyPr>
          <a:lstStyle/>
          <a:p>
            <a:pPr algn="l">
              <a:spcAft>
                <a:spcPts val="400"/>
              </a:spcAft>
            </a:pPr>
            <a:r>
              <a:rPr sz="1250" b="0" i="0">
                <a:solidFill>
                  <a:srgbClr val="1A1A1A"/>
                </a:solidFill>
                <a:latin typeface="Abadi"/>
              </a:rPr>
              <a:t>Models disagree because of transplant costs, prevalence and what counts as the outcome. Japan’s threshold is about $33,000 per quality-adjusted life-year.</a:t>
            </a:r>
          </a:p>
          <a:p>
            <a:pPr algn="l">
              <a:spcAft>
                <a:spcPts val="400"/>
              </a:spcAft>
            </a:pPr>
            <a:r>
              <a:rPr sz="1250" b="1" i="1">
                <a:solidFill>
                  <a:srgbClr val="1A1A1A"/>
                </a:solidFill>
                <a:latin typeface="Abadi"/>
              </a:rPr>
              <a:t>The card wins on price almost everywhere; blood wins on days, and is not yet proven cheap.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GUIDELINES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WHAT THE DOCUMENTS SAY</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North America versus Europe, the UK and Asia</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17</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Fawaz 2017 JPGN · Harpavat 2025 Pediatrics (AAP) · UK NSC external review 2026 · Ge L, et al. HepatoBiliary Surg Nutr 2026;15:103 · NICE CG98</a:t>
            </a:r>
          </a:p>
        </p:txBody>
      </p:sp>
      <p:graphicFrame>
        <p:nvGraphicFramePr>
          <p:cNvPr id="12" name="Table 11"/>
          <p:cNvGraphicFramePr>
            <a:graphicFrameLocks noGrp="1"/>
          </p:cNvGraphicFramePr>
          <p:nvPr/>
        </p:nvGraphicFramePr>
        <p:xfrm>
          <a:off x="548640" y="1773936"/>
          <a:ext cx="11091672" cy="3163824"/>
        </p:xfrm>
        <a:graphic>
          <a:graphicData uri="http://schemas.openxmlformats.org/drawingml/2006/table">
            <a:tbl>
              <a:tblPr firstRow="0" bandRow="0">
                <a:tableStyleId>{5C22544A-7EE6-4342-B048-85BDC9FD1C3A}</a:tableStyleId>
              </a:tblPr>
              <a:tblGrid>
                <a:gridCol w="2103120"/>
                <a:gridCol w="3794760"/>
                <a:gridCol w="3794760"/>
                <a:gridCol w="1399032"/>
              </a:tblGrid>
              <a:tr h="420624">
                <a:tc>
                  <a:txBody>
                    <a:bodyPr wrap="square"/>
                    <a:lstStyle/>
                    <a:p>
                      <a:r>
                        <a:rPr sz="1200" b="1">
                          <a:solidFill>
                            <a:srgbClr val="FFFFFF"/>
                          </a:solidFill>
                          <a:latin typeface="Abadi"/>
                        </a:rPr>
                        <a:t>Question</a:t>
                      </a:r>
                    </a:p>
                  </a:txBody>
                  <a:tcPr marL="73152" marR="73152" marT="27432" marB="27432" anchor="ctr">
                    <a:solidFill>
                      <a:srgbClr val="1B355E"/>
                    </a:solidFill>
                  </a:tcPr>
                </a:tc>
                <a:tc>
                  <a:txBody>
                    <a:bodyPr wrap="square"/>
                    <a:lstStyle/>
                    <a:p>
                      <a:r>
                        <a:rPr sz="1200" b="1">
                          <a:solidFill>
                            <a:srgbClr val="FFFFFF"/>
                          </a:solidFill>
                          <a:latin typeface="Abadi"/>
                        </a:rPr>
                        <a:t>North America (NASPGHAN/ESPGHAN 2017 · AAP 2025)</a:t>
                      </a:r>
                    </a:p>
                  </a:txBody>
                  <a:tcPr marL="73152" marR="73152" marT="27432" marB="27432" anchor="ctr">
                    <a:solidFill>
                      <a:srgbClr val="1B355E"/>
                    </a:solidFill>
                  </a:tcPr>
                </a:tc>
                <a:tc>
                  <a:txBody>
                    <a:bodyPr wrap="square"/>
                    <a:lstStyle/>
                    <a:p>
                      <a:r>
                        <a:rPr sz="1200" b="1">
                          <a:solidFill>
                            <a:srgbClr val="FFFFFF"/>
                          </a:solidFill>
                          <a:latin typeface="Abadi"/>
                        </a:rPr>
                        <a:t>Europe, UK and Asia (UK NSC 2026 · NICE · China 2025)</a:t>
                      </a:r>
                    </a:p>
                  </a:txBody>
                  <a:tcPr marL="73152" marR="73152" marT="27432" marB="27432" anchor="ctr">
                    <a:solidFill>
                      <a:srgbClr val="1B355E"/>
                    </a:solidFill>
                  </a:tcPr>
                </a:tc>
                <a:tc>
                  <a:txBody>
                    <a:bodyPr wrap="square"/>
                    <a:lstStyle/>
                    <a:p>
                      <a:r>
                        <a:rPr sz="1200" b="1">
                          <a:solidFill>
                            <a:srgbClr val="FFFFFF"/>
                          </a:solidFill>
                          <a:latin typeface="Abadi"/>
                        </a:rPr>
                        <a:t>Verdict</a:t>
                      </a:r>
                    </a:p>
                  </a:txBody>
                  <a:tcPr marL="73152" marR="73152" marT="27432" marB="27432" anchor="ctr">
                    <a:solidFill>
                      <a:srgbClr val="1B355E"/>
                    </a:solidFill>
                  </a:tcPr>
                </a:tc>
              </a:tr>
              <a:tr h="457200">
                <a:tc>
                  <a:txBody>
                    <a:bodyPr wrap="square"/>
                    <a:lstStyle/>
                    <a:p>
                      <a:r>
                        <a:rPr sz="950" b="1">
                          <a:solidFill>
                            <a:srgbClr val="1A1A1A"/>
                          </a:solidFill>
                          <a:latin typeface="Abadi"/>
                        </a:rPr>
                        <a:t>Stool colour card</a:t>
                      </a:r>
                    </a:p>
                  </a:txBody>
                  <a:tcPr marL="73152" marR="73152" marT="27432" marB="27432" anchor="ctr">
                    <a:solidFill>
                      <a:srgbClr val="FFFFFF"/>
                    </a:solidFill>
                  </a:tcPr>
                </a:tc>
                <a:tc>
                  <a:txBody>
                    <a:bodyPr wrap="square"/>
                    <a:lstStyle/>
                    <a:p>
                      <a:r>
                        <a:rPr sz="950" b="0">
                          <a:solidFill>
                            <a:srgbClr val="1A1A1A"/>
                          </a:solidFill>
                          <a:latin typeface="Abadi"/>
                        </a:rPr>
                        <a:t>No formal recommendation; pale stool at any age triggers testing</a:t>
                      </a:r>
                    </a:p>
                  </a:txBody>
                  <a:tcPr marL="73152" marR="73152" marT="27432" marB="27432" anchor="ctr">
                    <a:solidFill>
                      <a:srgbClr val="FFFFFF"/>
                    </a:solidFill>
                  </a:tcPr>
                </a:tc>
                <a:tc>
                  <a:txBody>
                    <a:bodyPr wrap="square"/>
                    <a:lstStyle/>
                    <a:p>
                      <a:r>
                        <a:rPr sz="950" b="0">
                          <a:solidFill>
                            <a:srgbClr val="1A1A1A"/>
                          </a:solidFill>
                          <a:latin typeface="Abadi"/>
                        </a:rPr>
                        <a:t>UK: insufficient evidence; Swiss national card; China: may help</a:t>
                      </a:r>
                    </a:p>
                  </a:txBody>
                  <a:tcPr marL="73152" marR="73152" marT="27432" marB="27432" anchor="ctr">
                    <a:solidFill>
                      <a:srgbClr val="FFFFFF"/>
                    </a:solidFill>
                  </a:tcPr>
                </a:tc>
                <a:tc>
                  <a:txBody>
                    <a:bodyPr wrap="square"/>
                    <a:lstStyle/>
                    <a:p>
                      <a:pPr algn="ctr"/>
                      <a:r>
                        <a:rPr sz="950" b="1">
                          <a:solidFill>
                            <a:srgbClr val="FFFFFF"/>
                          </a:solidFill>
                          <a:latin typeface="Abadi"/>
                        </a:rPr>
                        <a:t>DIFFERS</a:t>
                      </a:r>
                    </a:p>
                  </a:txBody>
                  <a:tcPr marL="73152" marR="73152" marT="27432" marB="27432" anchor="ctr">
                    <a:solidFill>
                      <a:srgbClr val="D97A0B"/>
                    </a:solidFill>
                  </a:tcPr>
                </a:tc>
              </a:tr>
              <a:tr h="457200">
                <a:tc>
                  <a:txBody>
                    <a:bodyPr wrap="square"/>
                    <a:lstStyle/>
                    <a:p>
                      <a:r>
                        <a:rPr sz="950" b="1">
                          <a:solidFill>
                            <a:srgbClr val="1A1A1A"/>
                          </a:solidFill>
                          <a:latin typeface="Abadi"/>
                        </a:rPr>
                        <a:t>Universal newborn blood screen</a:t>
                      </a:r>
                    </a:p>
                  </a:txBody>
                  <a:tcPr marL="73152" marR="73152" marT="27432" marB="27432" anchor="ctr">
                    <a:solidFill>
                      <a:srgbClr val="F2F2F2"/>
                    </a:solidFill>
                  </a:tcPr>
                </a:tc>
                <a:tc>
                  <a:txBody>
                    <a:bodyPr wrap="square"/>
                    <a:lstStyle/>
                    <a:p>
                      <a:r>
                        <a:rPr sz="950" b="0">
                          <a:solidFill>
                            <a:srgbClr val="1A1A1A"/>
                          </a:solidFill>
                          <a:latin typeface="Abadi"/>
                        </a:rPr>
                        <a:t>Not mandated; AAP: add direct bilirubin to any bilirubin draw</a:t>
                      </a:r>
                    </a:p>
                  </a:txBody>
                  <a:tcPr marL="73152" marR="73152" marT="27432" marB="27432" anchor="ctr">
                    <a:solidFill>
                      <a:srgbClr val="F2F2F2"/>
                    </a:solidFill>
                  </a:tcPr>
                </a:tc>
                <a:tc>
                  <a:txBody>
                    <a:bodyPr wrap="square"/>
                    <a:lstStyle/>
                    <a:p>
                      <a:r>
                        <a:rPr sz="950" b="0">
                          <a:solidFill>
                            <a:srgbClr val="1A1A1A"/>
                          </a:solidFill>
                          <a:latin typeface="Abadi"/>
                        </a:rPr>
                        <a:t>UK: not recommended; China: promising, &lt;60 h and 2 weeks</a:t>
                      </a:r>
                    </a:p>
                  </a:txBody>
                  <a:tcPr marL="73152" marR="73152" marT="27432" marB="27432" anchor="ctr">
                    <a:solidFill>
                      <a:srgbClr val="F2F2F2"/>
                    </a:solidFill>
                  </a:tcPr>
                </a:tc>
                <a:tc>
                  <a:txBody>
                    <a:bodyPr wrap="square"/>
                    <a:lstStyle/>
                    <a:p>
                      <a:pPr algn="ctr"/>
                      <a:r>
                        <a:rPr sz="950" b="1">
                          <a:solidFill>
                            <a:srgbClr val="FFFFFF"/>
                          </a:solidFill>
                          <a:latin typeface="Abadi"/>
                        </a:rPr>
                        <a:t>DIFFERS</a:t>
                      </a:r>
                    </a:p>
                  </a:txBody>
                  <a:tcPr marL="73152" marR="73152" marT="27432" marB="27432" anchor="ctr">
                    <a:solidFill>
                      <a:srgbClr val="D97A0B"/>
                    </a:solidFill>
                  </a:tcPr>
                </a:tc>
              </a:tr>
              <a:tr h="457200">
                <a:tc>
                  <a:txBody>
                    <a:bodyPr wrap="square"/>
                    <a:lstStyle/>
                    <a:p>
                      <a:r>
                        <a:rPr sz="950" b="1">
                          <a:solidFill>
                            <a:srgbClr val="1A1A1A"/>
                          </a:solidFill>
                          <a:latin typeface="Abadi"/>
                        </a:rPr>
                        <a:t>Newborn value above lab range</a:t>
                      </a:r>
                    </a:p>
                  </a:txBody>
                  <a:tcPr marL="73152" marR="73152" marT="27432" marB="27432" anchor="ctr">
                    <a:solidFill>
                      <a:srgbClr val="FFFFFF"/>
                    </a:solidFill>
                  </a:tcPr>
                </a:tc>
                <a:tc>
                  <a:txBody>
                    <a:bodyPr wrap="square"/>
                    <a:lstStyle/>
                    <a:p>
                      <a:r>
                        <a:rPr sz="950" b="0">
                          <a:solidFill>
                            <a:srgbClr val="1A1A1A"/>
                          </a:solidFill>
                          <a:latin typeface="Abadi"/>
                        </a:rPr>
                        <a:t>AAP: abnormal even by 0.1 mg/dL; repeat</a:t>
                      </a:r>
                    </a:p>
                  </a:txBody>
                  <a:tcPr marL="73152" marR="73152" marT="27432" marB="27432" anchor="ctr">
                    <a:solidFill>
                      <a:srgbClr val="FFFFFF"/>
                    </a:solidFill>
                  </a:tcPr>
                </a:tc>
                <a:tc>
                  <a:txBody>
                    <a:bodyPr wrap="square"/>
                    <a:lstStyle/>
                    <a:p>
                      <a:r>
                        <a:rPr sz="950" b="0">
                          <a:solidFill>
                            <a:srgbClr val="1A1A1A"/>
                          </a:solidFill>
                          <a:latin typeface="Abadi"/>
                        </a:rPr>
                        <a:t>No equivalent instruction</a:t>
                      </a:r>
                    </a:p>
                  </a:txBody>
                  <a:tcPr marL="73152" marR="73152" marT="27432" marB="27432" anchor="ctr">
                    <a:solidFill>
                      <a:srgbClr val="FFFFFF"/>
                    </a:solidFill>
                  </a:tcPr>
                </a:tc>
                <a:tc>
                  <a:txBody>
                    <a:bodyPr wrap="square"/>
                    <a:lstStyle/>
                    <a:p>
                      <a:pPr algn="ctr"/>
                      <a:r>
                        <a:rPr sz="950" b="1">
                          <a:solidFill>
                            <a:srgbClr val="FFFFFF"/>
                          </a:solidFill>
                          <a:latin typeface="Abadi"/>
                        </a:rPr>
                        <a:t>MATERIAL</a:t>
                      </a:r>
                    </a:p>
                  </a:txBody>
                  <a:tcPr marL="73152" marR="73152" marT="27432" marB="27432" anchor="ctr">
                    <a:solidFill>
                      <a:srgbClr val="B22222"/>
                    </a:solidFill>
                  </a:tcPr>
                </a:tc>
              </a:tr>
              <a:tr h="457200">
                <a:tc>
                  <a:txBody>
                    <a:bodyPr wrap="square"/>
                    <a:lstStyle/>
                    <a:p>
                      <a:r>
                        <a:rPr sz="950" b="1">
                          <a:solidFill>
                            <a:srgbClr val="1A1A1A"/>
                          </a:solidFill>
                          <a:latin typeface="Abadi"/>
                        </a:rPr>
                        <a:t>Target age at Kasai</a:t>
                      </a:r>
                    </a:p>
                  </a:txBody>
                  <a:tcPr marL="73152" marR="73152" marT="27432" marB="27432" anchor="ctr">
                    <a:solidFill>
                      <a:srgbClr val="F2F2F2"/>
                    </a:solidFill>
                  </a:tcPr>
                </a:tc>
                <a:tc>
                  <a:txBody>
                    <a:bodyPr wrap="square"/>
                    <a:lstStyle/>
                    <a:p>
                      <a:r>
                        <a:rPr sz="950" b="0">
                          <a:solidFill>
                            <a:srgbClr val="1A1A1A"/>
                          </a:solidFill>
                          <a:latin typeface="Abadi"/>
                        </a:rPr>
                        <a:t>AAP: identify by 2–4 weeks, Kasai before 30 days</a:t>
                      </a:r>
                    </a:p>
                  </a:txBody>
                  <a:tcPr marL="73152" marR="73152" marT="27432" marB="27432" anchor="ctr">
                    <a:solidFill>
                      <a:srgbClr val="F2F2F2"/>
                    </a:solidFill>
                  </a:tcPr>
                </a:tc>
                <a:tc>
                  <a:txBody>
                    <a:bodyPr wrap="square"/>
                    <a:lstStyle/>
                    <a:p>
                      <a:r>
                        <a:rPr sz="950" b="0">
                          <a:solidFill>
                            <a:srgbClr val="1A1A1A"/>
                          </a:solidFill>
                          <a:latin typeface="Abadi"/>
                        </a:rPr>
                        <a:t>UK: median 48–51 days judged acceptable</a:t>
                      </a:r>
                    </a:p>
                  </a:txBody>
                  <a:tcPr marL="73152" marR="73152" marT="27432" marB="27432" anchor="ctr">
                    <a:solidFill>
                      <a:srgbClr val="F2F2F2"/>
                    </a:solidFill>
                  </a:tcPr>
                </a:tc>
                <a:tc>
                  <a:txBody>
                    <a:bodyPr wrap="square"/>
                    <a:lstStyle/>
                    <a:p>
                      <a:pPr algn="ctr"/>
                      <a:r>
                        <a:rPr sz="950" b="1">
                          <a:solidFill>
                            <a:srgbClr val="FFFFFF"/>
                          </a:solidFill>
                          <a:latin typeface="Abadi"/>
                        </a:rPr>
                        <a:t>MATERIAL</a:t>
                      </a:r>
                    </a:p>
                  </a:txBody>
                  <a:tcPr marL="73152" marR="73152" marT="27432" marB="27432" anchor="ctr">
                    <a:solidFill>
                      <a:srgbClr val="B22222"/>
                    </a:solidFill>
                  </a:tcPr>
                </a:tc>
              </a:tr>
              <a:tr h="457200">
                <a:tc>
                  <a:txBody>
                    <a:bodyPr wrap="square"/>
                    <a:lstStyle/>
                    <a:p>
                      <a:r>
                        <a:rPr sz="950" b="1">
                          <a:solidFill>
                            <a:srgbClr val="1A1A1A"/>
                          </a:solidFill>
                          <a:latin typeface="Abadi"/>
                        </a:rPr>
                        <a:t>Conjugated ≥1 mg/dL</a:t>
                      </a:r>
                    </a:p>
                  </a:txBody>
                  <a:tcPr marL="73152" marR="73152" marT="27432" marB="27432" anchor="ctr">
                    <a:solidFill>
                      <a:srgbClr val="FFFFFF"/>
                    </a:solidFill>
                  </a:tcPr>
                </a:tc>
                <a:tc>
                  <a:txBody>
                    <a:bodyPr wrap="square"/>
                    <a:lstStyle/>
                    <a:p>
                      <a:r>
                        <a:rPr sz="950" b="0">
                          <a:solidFill>
                            <a:srgbClr val="1A1A1A"/>
                          </a:solidFill>
                          <a:latin typeface="Abadi"/>
                        </a:rPr>
                        <a:t>Urgent paediatric hepatology referral</a:t>
                      </a:r>
                    </a:p>
                  </a:txBody>
                  <a:tcPr marL="73152" marR="73152" marT="27432" marB="27432" anchor="ctr">
                    <a:solidFill>
                      <a:srgbClr val="FFFFFF"/>
                    </a:solidFill>
                  </a:tcPr>
                </a:tc>
                <a:tc>
                  <a:txBody>
                    <a:bodyPr wrap="square"/>
                    <a:lstStyle/>
                    <a:p>
                      <a:r>
                        <a:rPr sz="950" b="0">
                          <a:solidFill>
                            <a:srgbClr val="1A1A1A"/>
                          </a:solidFill>
                          <a:latin typeface="Abadi"/>
                        </a:rPr>
                        <a:t>NICE: above 25 µmol/L, expert advice</a:t>
                      </a:r>
                    </a:p>
                  </a:txBody>
                  <a:tcPr marL="73152" marR="73152" marT="27432" marB="27432" anchor="ctr">
                    <a:solidFill>
                      <a:srgbClr val="FFFFFF"/>
                    </a:solidFill>
                  </a:tcPr>
                </a:tc>
                <a:tc>
                  <a:txBody>
                    <a:bodyPr wrap="square"/>
                    <a:lstStyle/>
                    <a:p>
                      <a:pPr algn="ctr"/>
                      <a:r>
                        <a:rPr sz="950" b="1">
                          <a:solidFill>
                            <a:srgbClr val="FFFFFF"/>
                          </a:solidFill>
                          <a:latin typeface="Abadi"/>
                        </a:rPr>
                        <a:t>ALIGNED</a:t>
                      </a:r>
                    </a:p>
                  </a:txBody>
                  <a:tcPr marL="73152" marR="73152" marT="27432" marB="27432" anchor="ctr">
                    <a:solidFill>
                      <a:srgbClr val="1E7A33"/>
                    </a:solidFill>
                  </a:tcPr>
                </a:tc>
              </a:tr>
              <a:tr h="457200">
                <a:tc>
                  <a:txBody>
                    <a:bodyPr wrap="square"/>
                    <a:lstStyle/>
                    <a:p>
                      <a:r>
                        <a:rPr sz="950" b="1">
                          <a:solidFill>
                            <a:srgbClr val="1A1A1A"/>
                          </a:solidFill>
                          <a:latin typeface="Abadi"/>
                        </a:rPr>
                        <a:t>Adult societies</a:t>
                      </a:r>
                    </a:p>
                  </a:txBody>
                  <a:tcPr marL="73152" marR="73152" marT="27432" marB="27432" anchor="ctr">
                    <a:solidFill>
                      <a:srgbClr val="F2F2F2"/>
                    </a:solidFill>
                  </a:tcPr>
                </a:tc>
                <a:tc>
                  <a:txBody>
                    <a:bodyPr wrap="square"/>
                    <a:lstStyle/>
                    <a:p>
                      <a:r>
                        <a:rPr sz="950" b="0">
                          <a:solidFill>
                            <a:srgbClr val="1A1A1A"/>
                          </a:solidFill>
                          <a:latin typeface="Abadi"/>
                        </a:rPr>
                        <a:t>AASLD: no screening guidance</a:t>
                      </a:r>
                    </a:p>
                  </a:txBody>
                  <a:tcPr marL="73152" marR="73152" marT="27432" marB="27432" anchor="ctr">
                    <a:solidFill>
                      <a:srgbClr val="F2F2F2"/>
                    </a:solidFill>
                  </a:tcPr>
                </a:tc>
                <a:tc>
                  <a:txBody>
                    <a:bodyPr wrap="square"/>
                    <a:lstStyle/>
                    <a:p>
                      <a:r>
                        <a:rPr sz="950" b="0">
                          <a:solidFill>
                            <a:srgbClr val="1A1A1A"/>
                          </a:solidFill>
                          <a:latin typeface="Abadi"/>
                        </a:rPr>
                        <a:t>EASL: no screening guidance</a:t>
                      </a:r>
                    </a:p>
                  </a:txBody>
                  <a:tcPr marL="73152" marR="73152" marT="27432" marB="27432" anchor="ctr">
                    <a:solidFill>
                      <a:srgbClr val="F2F2F2"/>
                    </a:solidFill>
                  </a:tcPr>
                </a:tc>
                <a:tc>
                  <a:txBody>
                    <a:bodyPr wrap="square"/>
                    <a:lstStyle/>
                    <a:p>
                      <a:pPr algn="ctr"/>
                      <a:r>
                        <a:rPr sz="950" b="1">
                          <a:solidFill>
                            <a:srgbClr val="FFFFFF"/>
                          </a:solidFill>
                          <a:latin typeface="Abadi"/>
                        </a:rPr>
                        <a:t>GAP</a:t>
                      </a:r>
                    </a:p>
                  </a:txBody>
                  <a:tcPr marL="73152" marR="73152" marT="27432" marB="27432" anchor="ctr">
                    <a:solidFill>
                      <a:srgbClr val="7F7F7F"/>
                    </a:solidFill>
                  </a:tcPr>
                </a:tc>
              </a:tr>
            </a:tbl>
          </a:graphicData>
        </a:graphic>
      </p:graphicFrame>
      <p:sp>
        <p:nvSpPr>
          <p:cNvPr id="13" name="TextBox 12"/>
          <p:cNvSpPr txBox="1"/>
          <p:nvPr/>
        </p:nvSpPr>
        <p:spPr>
          <a:xfrm>
            <a:off x="548640" y="5120640"/>
            <a:ext cx="11091672" cy="457200"/>
          </a:xfrm>
          <a:prstGeom prst="rect">
            <a:avLst/>
          </a:prstGeom>
          <a:noFill/>
        </p:spPr>
        <p:txBody>
          <a:bodyPr wrap="square" lIns="0" rIns="0" tIns="18288" bIns="18288" anchor="t">
            <a:spAutoFit/>
          </a:bodyPr>
          <a:lstStyle/>
          <a:p>
            <a:pPr algn="l">
              <a:spcAft>
                <a:spcPts val="400"/>
              </a:spcAft>
            </a:pPr>
            <a:r>
              <a:rPr sz="1250" b="1" i="1">
                <a:solidFill>
                  <a:srgbClr val="1A1A1A"/>
                </a:solidFill>
                <a:latin typeface="Abadi"/>
              </a:rPr>
              <a:t>The material difference is the target: North America now aims for Kasai before 30 days; the UK accepts a median near 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IX</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PEARLS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EIGHT THINGS TO REMEMBER</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The numbers worth carrying into clinic</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18</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Harpavat 2011, 2020, 2025 · Hsiao 2008 · Lien 2011 · Woolfson 2018 · Gu 2015, 2020 · Gopal 2024 · Hoshino 2023</a:t>
            </a:r>
          </a:p>
        </p:txBody>
      </p:sp>
      <p:sp>
        <p:nvSpPr>
          <p:cNvPr id="12" name="TextBox 11"/>
          <p:cNvSpPr txBox="1"/>
          <p:nvPr/>
        </p:nvSpPr>
        <p:spPr>
          <a:xfrm>
            <a:off x="658368" y="1828800"/>
            <a:ext cx="10981944" cy="3931920"/>
          </a:xfrm>
          <a:prstGeom prst="rect">
            <a:avLst/>
          </a:prstGeom>
          <a:noFill/>
        </p:spPr>
        <p:txBody>
          <a:bodyPr wrap="square" lIns="0" rIns="0" tIns="18288" bIns="18288" anchor="t">
            <a:spAutoFit/>
          </a:bodyPr>
          <a:lstStyle/>
          <a:p>
            <a:pPr algn="l">
              <a:spcAft>
                <a:spcPts val="1000"/>
              </a:spcAft>
            </a:pPr>
            <a:r>
              <a:rPr sz="1500" b="0" i="0">
                <a:solidFill>
                  <a:srgbClr val="1A1A1A"/>
                </a:solidFill>
                <a:latin typeface="Abadi"/>
              </a:rPr>
              <a:t>▪  Atresia raises conjugated bilirubin in the first days of life; the stool pales later.</a:t>
            </a:r>
          </a:p>
          <a:p>
            <a:pPr algn="l">
              <a:spcAft>
                <a:spcPts val="1000"/>
              </a:spcAft>
            </a:pPr>
            <a:r>
              <a:rPr sz="1500" b="0" i="0">
                <a:solidFill>
                  <a:srgbClr val="1A1A1A"/>
                </a:solidFill>
                <a:latin typeface="Abadi"/>
              </a:rPr>
              <a:t>▪  Pooled card sensitivity is about 80%, from 50% in British Columbia to 97% in Taiwan in 2005.</a:t>
            </a:r>
          </a:p>
          <a:p>
            <a:pPr algn="l">
              <a:spcAft>
                <a:spcPts val="1000"/>
              </a:spcAft>
            </a:pPr>
            <a:r>
              <a:rPr sz="1500" b="0" i="0">
                <a:solidFill>
                  <a:srgbClr val="1A1A1A"/>
                </a:solidFill>
                <a:latin typeface="Abadi"/>
              </a:rPr>
              <a:t>▪  In Taiwan, 5-year jaundice-free native-liver survival rose from 27% to 64% after the card.</a:t>
            </a:r>
          </a:p>
          <a:p>
            <a:pPr algn="l">
              <a:spcAft>
                <a:spcPts val="1000"/>
              </a:spcAft>
            </a:pPr>
            <a:r>
              <a:rPr sz="1500" b="0" i="0">
                <a:solidFill>
                  <a:srgbClr val="1A1A1A"/>
                </a:solidFill>
                <a:latin typeface="Abadi"/>
              </a:rPr>
              <a:t>▪  Two-stage blood screening in Texas found 7 of 7 cases and moved mean Kasai from 56 to 36 days.</a:t>
            </a:r>
          </a:p>
          <a:p>
            <a:pPr algn="l">
              <a:spcAft>
                <a:spcPts val="1000"/>
              </a:spcAft>
            </a:pPr>
            <a:r>
              <a:rPr sz="1500" b="0" i="0">
                <a:solidFill>
                  <a:srgbClr val="1A1A1A"/>
                </a:solidFill>
                <a:latin typeface="Abadi"/>
              </a:rPr>
              <a:t>▪  Positive predictive value is low for both tools: about 4–29% for cards and 6% for blood.</a:t>
            </a:r>
          </a:p>
          <a:p>
            <a:pPr algn="l">
              <a:spcAft>
                <a:spcPts val="1000"/>
              </a:spcAft>
            </a:pPr>
            <a:r>
              <a:rPr sz="1500" b="0" i="0">
                <a:solidFill>
                  <a:srgbClr val="1A1A1A"/>
                </a:solidFill>
                <a:latin typeface="Abadi"/>
              </a:rPr>
              <a:t>▪  A raised value in the chart is not a screen: Utah infants with raised values still had Kasai at 70 days.</a:t>
            </a:r>
          </a:p>
          <a:p>
            <a:pPr algn="l">
              <a:spcAft>
                <a:spcPts val="1000"/>
              </a:spcAft>
            </a:pPr>
            <a:r>
              <a:rPr sz="1500" b="0" i="0">
                <a:solidFill>
                  <a:srgbClr val="1A1A1A"/>
                </a:solidFill>
                <a:latin typeface="Abadi"/>
              </a:rPr>
              <a:t>▪  Preterm infants are detected but operated on late; keep atresia on the list in the NICU.</a:t>
            </a:r>
          </a:p>
          <a:p>
            <a:pPr algn="l">
              <a:spcAft>
                <a:spcPts val="1000"/>
              </a:spcAft>
            </a:pPr>
            <a:r>
              <a:rPr sz="1500" b="0" i="0">
                <a:solidFill>
                  <a:srgbClr val="1A1A1A"/>
                </a:solidFill>
                <a:latin typeface="Abadi"/>
              </a:rPr>
              <a:t>▪  The AAP now says any direct bilirubin above the lab range is abnormal, and 1 mg/dL or more is urgent.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IX</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SYNTHESIS — SCENARIO TO PLAN</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FROM SCENARIO TO DECISION</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Applying the screening logic at the bedside and in the office</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19</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Harpavat 2025 Pediatrics (AAP) · Harpavat 2020 JAMA · Fawaz 2017 JPGN · Chiu 2013</a:t>
            </a:r>
          </a:p>
        </p:txBody>
      </p:sp>
      <p:graphicFrame>
        <p:nvGraphicFramePr>
          <p:cNvPr id="12" name="Table 11"/>
          <p:cNvGraphicFramePr>
            <a:graphicFrameLocks noGrp="1"/>
          </p:cNvGraphicFramePr>
          <p:nvPr/>
        </p:nvGraphicFramePr>
        <p:xfrm>
          <a:off x="548640" y="1773936"/>
          <a:ext cx="11091672" cy="3273552"/>
        </p:xfrm>
        <a:graphic>
          <a:graphicData uri="http://schemas.openxmlformats.org/drawingml/2006/table">
            <a:tbl>
              <a:tblPr firstRow="0" bandRow="0">
                <a:tableStyleId>{5C22544A-7EE6-4342-B048-85BDC9FD1C3A}</a:tableStyleId>
              </a:tblPr>
              <a:tblGrid>
                <a:gridCol w="3657600"/>
                <a:gridCol w="3291840"/>
                <a:gridCol w="4142232"/>
              </a:tblGrid>
              <a:tr h="420624">
                <a:tc>
                  <a:txBody>
                    <a:bodyPr wrap="square"/>
                    <a:lstStyle/>
                    <a:p>
                      <a:r>
                        <a:rPr sz="1200" b="1">
                          <a:solidFill>
                            <a:srgbClr val="FFFFFF"/>
                          </a:solidFill>
                          <a:latin typeface="Abadi"/>
                        </a:rPr>
                        <a:t>Scenario</a:t>
                      </a:r>
                    </a:p>
                  </a:txBody>
                  <a:tcPr marL="73152" marR="73152" marT="27432" marB="27432" anchor="ctr">
                    <a:solidFill>
                      <a:srgbClr val="1B355E"/>
                    </a:solidFill>
                  </a:tcPr>
                </a:tc>
                <a:tc>
                  <a:txBody>
                    <a:bodyPr wrap="square"/>
                    <a:lstStyle/>
                    <a:p>
                      <a:r>
                        <a:rPr sz="1200" b="1">
                          <a:solidFill>
                            <a:srgbClr val="FFFFFF"/>
                          </a:solidFill>
                          <a:latin typeface="Abadi"/>
                        </a:rPr>
                        <a:t>Read as</a:t>
                      </a:r>
                    </a:p>
                  </a:txBody>
                  <a:tcPr marL="73152" marR="73152" marT="27432" marB="27432" anchor="ctr">
                    <a:solidFill>
                      <a:srgbClr val="1B355E"/>
                    </a:solidFill>
                  </a:tcPr>
                </a:tc>
                <a:tc>
                  <a:txBody>
                    <a:bodyPr wrap="square"/>
                    <a:lstStyle/>
                    <a:p>
                      <a:r>
                        <a:rPr sz="1200" b="1">
                          <a:solidFill>
                            <a:srgbClr val="FFFFFF"/>
                          </a:solidFill>
                          <a:latin typeface="Abadi"/>
                        </a:rPr>
                        <a:t>Do</a:t>
                      </a:r>
                    </a:p>
                  </a:txBody>
                  <a:tcPr marL="73152" marR="73152" marT="27432" marB="27432" anchor="ctr">
                    <a:solidFill>
                      <a:srgbClr val="1B355E"/>
                    </a:solidFill>
                  </a:tcPr>
                </a:tc>
              </a:tr>
              <a:tr h="475488">
                <a:tc>
                  <a:txBody>
                    <a:bodyPr wrap="square"/>
                    <a:lstStyle/>
                    <a:p>
                      <a:r>
                        <a:rPr sz="1050" b="1">
                          <a:solidFill>
                            <a:srgbClr val="1A1A1A"/>
                          </a:solidFill>
                          <a:latin typeface="Abadi"/>
                        </a:rPr>
                        <a:t>Day 2, conjugated 0.4 mg/dL, lab limit 0.3</a:t>
                      </a:r>
                    </a:p>
                  </a:txBody>
                  <a:tcPr marL="73152" marR="73152" marT="27432" marB="27432" anchor="ctr">
                    <a:solidFill>
                      <a:srgbClr val="FFFFFF"/>
                    </a:solidFill>
                  </a:tcPr>
                </a:tc>
                <a:tc>
                  <a:txBody>
                    <a:bodyPr wrap="square"/>
                    <a:lstStyle/>
                    <a:p>
                      <a:r>
                        <a:rPr sz="1050" b="0">
                          <a:solidFill>
                            <a:srgbClr val="1A1A1A"/>
                          </a:solidFill>
                          <a:latin typeface="Abadi"/>
                        </a:rPr>
                        <a:t>Above range: possible atresia</a:t>
                      </a:r>
                    </a:p>
                  </a:txBody>
                  <a:tcPr marL="73152" marR="73152" marT="27432" marB="27432" anchor="ctr">
                    <a:solidFill>
                      <a:srgbClr val="FFFFFF"/>
                    </a:solidFill>
                  </a:tcPr>
                </a:tc>
                <a:tc>
                  <a:txBody>
                    <a:bodyPr wrap="square"/>
                    <a:lstStyle/>
                    <a:p>
                      <a:r>
                        <a:rPr sz="1050" b="0">
                          <a:solidFill>
                            <a:srgbClr val="1A1A1A"/>
                          </a:solidFill>
                          <a:latin typeface="Abadi"/>
                        </a:rPr>
                        <a:t>Repeat at the 2-week visit; do not dismiss</a:t>
                      </a:r>
                    </a:p>
                  </a:txBody>
                  <a:tcPr marL="73152" marR="73152" marT="27432" marB="27432" anchor="ctr">
                    <a:solidFill>
                      <a:srgbClr val="FFFFFF"/>
                    </a:solidFill>
                  </a:tcPr>
                </a:tc>
              </a:tr>
              <a:tr h="475488">
                <a:tc>
                  <a:txBody>
                    <a:bodyPr wrap="square"/>
                    <a:lstStyle/>
                    <a:p>
                      <a:r>
                        <a:rPr sz="1050" b="1">
                          <a:solidFill>
                            <a:srgbClr val="1A1A1A"/>
                          </a:solidFill>
                          <a:latin typeface="Abadi"/>
                        </a:rPr>
                        <a:t>2-week repeat 1.1 mg/dL, stools yellow</a:t>
                      </a:r>
                    </a:p>
                  </a:txBody>
                  <a:tcPr marL="73152" marR="73152" marT="27432" marB="27432" anchor="ctr">
                    <a:solidFill>
                      <a:srgbClr val="F2F2F2"/>
                    </a:solidFill>
                  </a:tcPr>
                </a:tc>
                <a:tc>
                  <a:txBody>
                    <a:bodyPr wrap="square"/>
                    <a:lstStyle/>
                    <a:p>
                      <a:r>
                        <a:rPr sz="1050" b="0">
                          <a:solidFill>
                            <a:srgbClr val="1A1A1A"/>
                          </a:solidFill>
                          <a:latin typeface="Abadi"/>
                        </a:rPr>
                        <a:t>Cholestasis</a:t>
                      </a:r>
                    </a:p>
                  </a:txBody>
                  <a:tcPr marL="73152" marR="73152" marT="27432" marB="27432" anchor="ctr">
                    <a:solidFill>
                      <a:srgbClr val="F2F2F2"/>
                    </a:solidFill>
                  </a:tcPr>
                </a:tc>
                <a:tc>
                  <a:txBody>
                    <a:bodyPr wrap="square"/>
                    <a:lstStyle/>
                    <a:p>
                      <a:r>
                        <a:rPr sz="1050" b="0">
                          <a:solidFill>
                            <a:srgbClr val="1A1A1A"/>
                          </a:solidFill>
                          <a:latin typeface="Abadi"/>
                        </a:rPr>
                        <a:t>Urgent hepatology; stool colour is not reassurance</a:t>
                      </a:r>
                    </a:p>
                  </a:txBody>
                  <a:tcPr marL="73152" marR="73152" marT="27432" marB="27432" anchor="ctr">
                    <a:solidFill>
                      <a:srgbClr val="F2F2F2"/>
                    </a:solidFill>
                  </a:tcPr>
                </a:tc>
              </a:tr>
              <a:tr h="475488">
                <a:tc>
                  <a:txBody>
                    <a:bodyPr wrap="square"/>
                    <a:lstStyle/>
                    <a:p>
                      <a:r>
                        <a:rPr sz="1050" b="1">
                          <a:solidFill>
                            <a:srgbClr val="1A1A1A"/>
                          </a:solidFill>
                          <a:latin typeface="Abadi"/>
                        </a:rPr>
                        <a:t>Card colour 2 photographed at 3 weeks</a:t>
                      </a:r>
                    </a:p>
                  </a:txBody>
                  <a:tcPr marL="73152" marR="73152" marT="27432" marB="27432" anchor="ctr">
                    <a:solidFill>
                      <a:srgbClr val="FFFFFF"/>
                    </a:solidFill>
                  </a:tcPr>
                </a:tc>
                <a:tc>
                  <a:txBody>
                    <a:bodyPr wrap="square"/>
                    <a:lstStyle/>
                    <a:p>
                      <a:r>
                        <a:rPr sz="1050" b="0">
                          <a:solidFill>
                            <a:srgbClr val="1A1A1A"/>
                          </a:solidFill>
                          <a:latin typeface="Abadi"/>
                        </a:rPr>
                        <a:t>Acholia until proven otherwise</a:t>
                      </a:r>
                    </a:p>
                  </a:txBody>
                  <a:tcPr marL="73152" marR="73152" marT="27432" marB="27432" anchor="ctr">
                    <a:solidFill>
                      <a:srgbClr val="FFFFFF"/>
                    </a:solidFill>
                  </a:tcPr>
                </a:tc>
                <a:tc>
                  <a:txBody>
                    <a:bodyPr wrap="square"/>
                    <a:lstStyle/>
                    <a:p>
                      <a:r>
                        <a:rPr sz="1050" b="0">
                          <a:solidFill>
                            <a:srgbClr val="1A1A1A"/>
                          </a:solidFill>
                          <a:latin typeface="Abadi"/>
                        </a:rPr>
                        <a:t>Same-day conjugated bilirubin and referral</a:t>
                      </a:r>
                    </a:p>
                  </a:txBody>
                  <a:tcPr marL="73152" marR="73152" marT="27432" marB="27432" anchor="ctr">
                    <a:solidFill>
                      <a:srgbClr val="FFFFFF"/>
                    </a:solidFill>
                  </a:tcPr>
                </a:tc>
              </a:tr>
              <a:tr h="475488">
                <a:tc>
                  <a:txBody>
                    <a:bodyPr wrap="square"/>
                    <a:lstStyle/>
                    <a:p>
                      <a:r>
                        <a:rPr sz="1050" b="1">
                          <a:solidFill>
                            <a:srgbClr val="1A1A1A"/>
                          </a:solidFill>
                          <a:latin typeface="Abadi"/>
                        </a:rPr>
                        <a:t>Breastfed, jaundiced at 3 weeks, normal card</a:t>
                      </a:r>
                    </a:p>
                  </a:txBody>
                  <a:tcPr marL="73152" marR="73152" marT="27432" marB="27432" anchor="ctr">
                    <a:solidFill>
                      <a:srgbClr val="F2F2F2"/>
                    </a:solidFill>
                  </a:tcPr>
                </a:tc>
                <a:tc>
                  <a:txBody>
                    <a:bodyPr wrap="square"/>
                    <a:lstStyle/>
                    <a:p>
                      <a:r>
                        <a:rPr sz="1050" b="0">
                          <a:solidFill>
                            <a:srgbClr val="1A1A1A"/>
                          </a:solidFill>
                          <a:latin typeface="Abadi"/>
                        </a:rPr>
                        <a:t>Card misses 20–50%</a:t>
                      </a:r>
                    </a:p>
                  </a:txBody>
                  <a:tcPr marL="73152" marR="73152" marT="27432" marB="27432" anchor="ctr">
                    <a:solidFill>
                      <a:srgbClr val="F2F2F2"/>
                    </a:solidFill>
                  </a:tcPr>
                </a:tc>
                <a:tc>
                  <a:txBody>
                    <a:bodyPr wrap="square"/>
                    <a:lstStyle/>
                    <a:p>
                      <a:r>
                        <a:rPr sz="1050" b="0">
                          <a:solidFill>
                            <a:srgbClr val="1A1A1A"/>
                          </a:solidFill>
                          <a:latin typeface="Abadi"/>
                        </a:rPr>
                        <a:t>Fractionate anyway</a:t>
                      </a:r>
                    </a:p>
                  </a:txBody>
                  <a:tcPr marL="73152" marR="73152" marT="27432" marB="27432" anchor="ctr">
                    <a:solidFill>
                      <a:srgbClr val="F2F2F2"/>
                    </a:solidFill>
                  </a:tcPr>
                </a:tc>
              </a:tr>
              <a:tr h="475488">
                <a:tc>
                  <a:txBody>
                    <a:bodyPr wrap="square"/>
                    <a:lstStyle/>
                    <a:p>
                      <a:r>
                        <a:rPr sz="1050" b="1">
                          <a:solidFill>
                            <a:srgbClr val="1A1A1A"/>
                          </a:solidFill>
                          <a:latin typeface="Abadi"/>
                        </a:rPr>
                        <a:t>Preterm on parenteral nutrition, conjugated 2 mg/dL</a:t>
                      </a:r>
                    </a:p>
                  </a:txBody>
                  <a:tcPr marL="73152" marR="73152" marT="27432" marB="27432" anchor="ctr">
                    <a:solidFill>
                      <a:srgbClr val="FFFFFF"/>
                    </a:solidFill>
                  </a:tcPr>
                </a:tc>
                <a:tc>
                  <a:txBody>
                    <a:bodyPr wrap="square"/>
                    <a:lstStyle/>
                    <a:p>
                      <a:r>
                        <a:rPr sz="1050" b="0">
                          <a:solidFill>
                            <a:srgbClr val="1A1A1A"/>
                          </a:solidFill>
                          <a:latin typeface="Abadi"/>
                        </a:rPr>
                        <a:t>PN-associated, but atresia possible</a:t>
                      </a:r>
                    </a:p>
                  </a:txBody>
                  <a:tcPr marL="73152" marR="73152" marT="27432" marB="27432" anchor="ctr">
                    <a:solidFill>
                      <a:srgbClr val="FFFFFF"/>
                    </a:solidFill>
                  </a:tcPr>
                </a:tc>
                <a:tc>
                  <a:txBody>
                    <a:bodyPr wrap="square"/>
                    <a:lstStyle/>
                    <a:p>
                      <a:r>
                        <a:rPr sz="1050" b="0">
                          <a:solidFill>
                            <a:srgbClr val="1A1A1A"/>
                          </a:solidFill>
                          <a:latin typeface="Abadi"/>
                        </a:rPr>
                        <a:t>Stool colour, ultrasound, do not wait</a:t>
                      </a:r>
                    </a:p>
                  </a:txBody>
                  <a:tcPr marL="73152" marR="73152" marT="27432" marB="27432" anchor="ctr">
                    <a:solidFill>
                      <a:srgbClr val="FFFFFF"/>
                    </a:solidFill>
                  </a:tcPr>
                </a:tc>
              </a:tr>
              <a:tr h="475488">
                <a:tc>
                  <a:txBody>
                    <a:bodyPr wrap="square"/>
                    <a:lstStyle/>
                    <a:p>
                      <a:r>
                        <a:rPr sz="1050" b="1">
                          <a:solidFill>
                            <a:srgbClr val="1A1A1A"/>
                          </a:solidFill>
                          <a:latin typeface="Abadi"/>
                        </a:rPr>
                        <a:t>Planning a regional programme</a:t>
                      </a:r>
                    </a:p>
                  </a:txBody>
                  <a:tcPr marL="73152" marR="73152" marT="27432" marB="27432" anchor="ctr">
                    <a:solidFill>
                      <a:srgbClr val="F2F2F2"/>
                    </a:solidFill>
                  </a:tcPr>
                </a:tc>
                <a:tc>
                  <a:txBody>
                    <a:bodyPr wrap="square"/>
                    <a:lstStyle/>
                    <a:p>
                      <a:r>
                        <a:rPr sz="1050" b="0">
                          <a:solidFill>
                            <a:srgbClr val="1A1A1A"/>
                          </a:solidFill>
                          <a:latin typeface="Abadi"/>
                        </a:rPr>
                        <a:t>Low prevalence, low PPV</a:t>
                      </a:r>
                    </a:p>
                  </a:txBody>
                  <a:tcPr marL="73152" marR="73152" marT="27432" marB="27432" anchor="ctr">
                    <a:solidFill>
                      <a:srgbClr val="F2F2F2"/>
                    </a:solidFill>
                  </a:tcPr>
                </a:tc>
                <a:tc>
                  <a:txBody>
                    <a:bodyPr wrap="square"/>
                    <a:lstStyle/>
                    <a:p>
                      <a:r>
                        <a:rPr sz="1050" b="0">
                          <a:solidFill>
                            <a:srgbClr val="1A1A1A"/>
                          </a:solidFill>
                          <a:latin typeface="Abadi"/>
                        </a:rPr>
                        <a:t>Card plus audited recall; blood if lab and recall exist</a:t>
                      </a:r>
                    </a:p>
                  </a:txBody>
                  <a:tcPr marL="73152" marR="73152" marT="27432" marB="27432" anchor="ctr">
                    <a:solidFill>
                      <a:srgbClr val="F2F2F2"/>
                    </a:solidFill>
                  </a:tcPr>
                </a:tc>
              </a:tr>
            </a:tbl>
          </a:graphicData>
        </a:graphic>
      </p:graphicFrame>
      <p:sp>
        <p:nvSpPr>
          <p:cNvPr id="13" name="TextBox 12"/>
          <p:cNvSpPr txBox="1"/>
          <p:nvPr/>
        </p:nvSpPr>
        <p:spPr>
          <a:xfrm>
            <a:off x="548640" y="5166360"/>
            <a:ext cx="11091672" cy="457200"/>
          </a:xfrm>
          <a:prstGeom prst="rect">
            <a:avLst/>
          </a:prstGeom>
          <a:noFill/>
        </p:spPr>
        <p:txBody>
          <a:bodyPr wrap="square" lIns="0" rIns="0" tIns="18288" bIns="18288" anchor="t">
            <a:spAutoFit/>
          </a:bodyPr>
          <a:lstStyle/>
          <a:p>
            <a:pPr algn="l">
              <a:spcAft>
                <a:spcPts val="400"/>
              </a:spcAft>
            </a:pPr>
            <a:r>
              <a:rPr sz="1250" b="1" i="1">
                <a:solidFill>
                  <a:srgbClr val="1A1A1A"/>
                </a:solidFill>
                <a:latin typeface="Abadi"/>
              </a:rPr>
              <a:t>Screening changes what a normal-looking infant means: a value above range or a pale stool is a referral, not a reassurance.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03120"/>
            <a:ext cx="11091672" cy="1353312"/>
          </a:xfrm>
          <a:prstGeom prst="rect">
            <a:avLst/>
          </a:prstGeom>
          <a:noFill/>
        </p:spPr>
        <p:txBody>
          <a:bodyPr wrap="square" lIns="0" rIns="0" tIns="18288" bIns="18288" anchor="b">
            <a:spAutoFit/>
          </a:bodyPr>
          <a:lstStyle/>
          <a:p>
            <a:pPr algn="ctr"/>
            <a:r>
              <a:rPr sz="4200" b="1" i="0">
                <a:solidFill>
                  <a:srgbClr val="FFFFFF"/>
                </a:solidFill>
                <a:latin typeface="Abadi"/>
              </a:rPr>
              <a:t>Screening for Biliary Atresia: Stool Colour Cards and Early Direct Bilirubin</a:t>
            </a:r>
          </a:p>
        </p:txBody>
      </p:sp>
      <p:sp>
        <p:nvSpPr>
          <p:cNvPr id="4" name="Rectangle 3"/>
          <p:cNvSpPr/>
          <p:nvPr/>
        </p:nvSpPr>
        <p:spPr>
          <a:xfrm>
            <a:off x="5184648" y="3703320"/>
            <a:ext cx="1828800" cy="18288"/>
          </a:xfrm>
          <a:prstGeom prst="rect">
            <a:avLst/>
          </a:prstGeom>
          <a:solidFill>
            <a:srgbClr val="F2C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995928"/>
            <a:ext cx="11091672" cy="265176"/>
          </a:xfrm>
          <a:prstGeom prst="rect">
            <a:avLst/>
          </a:prstGeom>
          <a:noFill/>
        </p:spPr>
        <p:txBody>
          <a:bodyPr wrap="square" lIns="0" rIns="0" tIns="18288" bIns="18288"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