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1524000"/>
            <a:ext cx="11087100" cy="1968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Idiopathic Neonatal Hepatitis and Giant Cell Hepatitis: a Shrinking Diagnosis, GCH-AHA and Prognosis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6322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5896" y="3835400"/>
            <a:ext cx="11087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4343400"/>
            <a:ext cx="1108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Fawaz 2017 (NASPGHAN/ESPGHAN) · Gottesman 2015 · Togawa 2016 · Nicastro 2019 · Torbenson 2010 · Russo 2016 · Danks 1977 · Deutsch 1985 · Odièvre 1981 · Maggiore 2011 · Whitington 2014 · Nastasio 2021 · Zhang 2024 · Bihari 2013 · Jiao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896" y="5105400"/>
            <a:ext cx="11087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diagnosis of exclusion · giant cells are a pattern · genetics re-labels · familial means genetic · Coombs-positive · C5b-9 · rituximab · recurrence after transplant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THE CHOLESTATIC INFANT WHOSE DISEASE HAS NO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Idiopathic neonatal hepatitis is a label of ignorance; the job is to keep shrinking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2017;64:154–68 · Gottesman LE, et al. BMC Pediatr 2015;15:192 · Maggiore G, et al. J Pediatr 2011;159:127–32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Idiopathic neonatal hepatitis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Conjugated cholestasis, no cause after full work-up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Once a quarter of all cases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Falling with every new gene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Giant cells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 histological pattern, not a disease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Seen in atresia, Alagille, PFIC, hypopituitarism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Prominent in idiopathic cases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GCH-AHA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Giant cell hepatitis with Coombs-positive haemolysis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Onset 1 month to 2 years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Complement-mediated; can be fatal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3774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7A33"/>
                </a:solidFill>
                <a:latin typeface="Abadi"/>
              </a:rPr>
              <a:t>Prognosis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Sporadic, non-acholic: most recover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Familial or acholic: much worse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GCH-AHA: survival now ~90%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338320"/>
            <a:ext cx="11087100" cy="146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'Idiopathic neonatal hepatitis' is a descriptive, provisional label. Treat it as a list of tests not yet done: biliary atresia first, then treatable causes, then genetics. The label should be re-examined at every visit.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older series familial 'idiopathic' hepatitis killed most affected infants. Many of those were undiagnosed PFIC or bile acid synthesis defects; some of these are now treatable or counsel-able.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NAMES THAT ARE NOT SYNONYMS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Neonatal hepatitis, idiopathic neonatal hepatitis, giant cell hepatitis and GCH-AHA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 · Torbenson M, et al. Am J Surg Pathol 2010;34:1498–503 · Bernard O, et al. J Pediatr 1981;99:704–11 · Nastasio S, et al. Transl Gastroenterol Hepatol 2021;6:25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2402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640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355E"/>
                </a:solidFill>
                <a:latin typeface="Abadi"/>
              </a:rPr>
              <a:t>Neonatal hepatitis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555240"/>
            <a:ext cx="225056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 descriptive term for intrahepatic cholestasis with hepatocellular injury. Says nothing about cause.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640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7A0B"/>
                </a:solidFill>
                <a:latin typeface="Abadi"/>
              </a:rPr>
              <a:t>Idiopathic (INH)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555240"/>
            <a:ext cx="225056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No cause after exclusion of atresia, infection, endocrine, metabolic and genetic disease. A shrinking residue.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2402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Abadi"/>
              </a:rPr>
              <a:t>Neonatal GCH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555240"/>
            <a:ext cx="225056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Giant multinucleated hepatocytes on biopsy. A pattern of the immature liver with many causes.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2402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640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22222"/>
                </a:solidFill>
                <a:latin typeface="Abadi"/>
              </a:rPr>
              <a:t>GCH-AHA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555240"/>
            <a:ext cx="225056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Giant cell hepatitis plus Coombs-positive autoimmune haemolytic anaemia, 1 month to 2 years. Described by Bernard, 1981.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201160"/>
            <a:ext cx="11087100" cy="159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Why it matters.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An infant may have neonatal giant cell hepatitis on biopsy and still have Alagille syndrome or hypopituitarism. 'Giant cell hepatitis' on a pathology report is not a final diagnosis.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GCH-AHA is different.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It is not neonatal: it starts after the newborn period, needs immunosuppression and behaves like an antibody-mediated disease. The name shares a pattern, not a mechanism.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SHRINKING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THE LARGEST GROUP TO A RESIDUE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Share of infantile cholestasis left without a cause, %, by series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Gottesman LE, et al. BMC Pediatr 2015;15:192 · Nicastro E, et al. J Pediatr 2019;211:54–62 · Wang H, et al. Transl Pediatr 2022;11:359–67 · Fawaz R, et al. JPGN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86944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Pooled older studies (n = 1,692)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9096" y="2015744"/>
            <a:ext cx="2852928" cy="43891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5176" y="186944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" y="26009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Bergamo 2012–17 (n = 125)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9096" y="2747264"/>
            <a:ext cx="1536192" cy="43891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8440" y="260096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" y="3332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Single centre, 2012 (n = 176)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89096" y="3478784"/>
            <a:ext cx="998524" cy="438912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0772" y="333248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9.1%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" y="40640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Same centre, 2019 (n = 160)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89096" y="4210304"/>
            <a:ext cx="274320" cy="43891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6568" y="4064000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778000"/>
            <a:ext cx="4407408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26.0% vs 25.9%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In 17 pooled studies 'idiopathic' was the largest group, just ahead of biliary atresia; the authors warn it was defined loosely.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14% indeterminate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Bergamo algorithm with next-generation sequencing; 60% detection in the 50 children tested genetically.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≈ 25% genetic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Fawaz 2017: individually rare genetic disorders now account for about a quarter of cases; 'low threshold' for panels or exome.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POOLED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INFANTILE CHOLESTASIS WAS CALLED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Systematic review of 17 studies, 1,692 infants with conjugated hyperbilirubinaemia: % of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Gottesman LE, Del Vecchio MT, Aronoff SC. BMC Pediatr 2015;15:192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869440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Idiopathic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49016" y="1937105"/>
            <a:ext cx="3328416" cy="20299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0584" y="1869440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" y="2207768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Biliary atresia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49016" y="2275433"/>
            <a:ext cx="3315614" cy="2029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7782" y="2207768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25.9%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" y="2546096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Infection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49016" y="2613761"/>
            <a:ext cx="1472184" cy="20299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352" y="2546096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11.5%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" y="2884424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Parenteral nutrition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49016" y="2952089"/>
            <a:ext cx="819302" cy="2029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1470" y="2884424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" y="3222752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Metabolic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49016" y="3290417"/>
            <a:ext cx="563270" cy="2029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5438" y="3222752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" y="3561080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α1-antitrypsin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49016" y="3628745"/>
            <a:ext cx="524865" cy="2029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47033" y="3561080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4.1%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" y="3899408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Hypoxia / ischaemia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49016" y="3967073"/>
            <a:ext cx="473659" cy="2029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95827" y="3899408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3.7%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" y="4237736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Duct paucity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49016" y="4305401"/>
            <a:ext cx="320040" cy="2029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42208" y="4237736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2.5%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" y="4576064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Choledochal cyst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49016" y="4643729"/>
            <a:ext cx="268833" cy="2029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91001" y="4576064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5896" y="4914392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PFIC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49016" y="4982057"/>
            <a:ext cx="128016" cy="2029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50184" y="4914392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5896" y="5252720"/>
            <a:ext cx="192024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Alagille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49016" y="5320385"/>
            <a:ext cx="121615" cy="20299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43783" y="5252720"/>
            <a:ext cx="109728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0.95%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1778000"/>
            <a:ext cx="4407408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The artefact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PFIC 1.0% and Alagille 0.95% are far below modern genetic series: many of these infants were inside the 26% 'idiopathic'.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The reading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 pooled 'idiopathic' share measures the diagnostic tools of the era, not biology.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The corollary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Every genetic diagnosis taken out of the INH group also removes a bad-prognosis subgroup from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GENETICS RE-LABELS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>
                <a:solidFill>
                  <a:srgbClr val="1B355E"/>
                </a:solidFill>
                <a:latin typeface="Abadi"/>
              </a:rPr>
              <a:t>WHAT PANELS AND EXOMES FIND IN 'IDIOPATHIC' INFANTS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Diagnostic yield of genetic testing in infantile cholestasis without biliary atresia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Togawa T, et al. J Pediatr 2016;171:171–7 · Nicastro E, et al. J Pediatr 2019 · Karpen SJ, et al. JPGN 2021 and Ito S, et al. JPGN Rep 2022 (as summarised by Yodoshi T, World J Hepatol 2026) · Wang H, et al. 2022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1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600"/>
                <a:gridCol w="2269800"/>
                <a:gridCol w="1920600"/>
                <a:gridCol w="2095200"/>
                <a:gridCol w="28809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Series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Population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Yield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Most frequent diagnoses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Togawa 2016, Japan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109 infants, intrahepatic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18-gene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26% overall; 12.5% if 'unknown, uncomplicated'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Alagille, neonatal Dubin–Johnson, citrin, low-GGT PFIC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Nicastro 2019, Italy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125 infants ≤ 1 y; 50 tested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Gene / virtual panel / trio exome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60% of those tested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Alagille 11, PFIC2 6, A1AT 3, PFIC3 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Karpen 2021, USA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2,171 referred patients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66-gene panel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Commercial laboratory, broad referral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Ito 2022, Japan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124 infants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61-gene panel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26.6%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Selected cholestatic infants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Wang 2022, China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160 infants (2019)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Genetics added to work-up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+5.6% diagnoses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Unknown cause fell to 2.5%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896" y="4704080"/>
            <a:ext cx="11087100" cy="109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1B355E"/>
                </a:solidFill>
                <a:latin typeface="Abadi"/>
              </a:rPr>
              <a:t>Yield depends on selection.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Infants with a 'genetic' phenotype (low GGT, dysmorphism, family history) give 60–70%; truly unremarkable idiopathic infants still give about one in eight.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Hidden in INH: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Alagille (JAG1, NOTCH2), PFIC2 (ABCB11), TJP2, citrin (SLC25A13), bile acid synthesis defects, ARC syndrome, A1AT, hypopituitarism.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HISTOLOGY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GIANT CELLS ARE A PATTERN, NOT A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Final aetiology of 62 neonatal biopsies showing giant cell hepatitis,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Torbenson M, Hart J, Westerhoff M, et al. Am J Surg Pathol 2010;34:1498–503 (figures as tabulated by Poddighe D, et al. World J Hepatol 2021;13:411–20)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869440"/>
            <a:ext cx="21945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Idiopathic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3336" y="1955393"/>
            <a:ext cx="2932730" cy="2578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9218" y="186944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49%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" y="2299208"/>
            <a:ext cx="21945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Hypopituitarism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3336" y="2385161"/>
            <a:ext cx="897774" cy="2578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94262" y="229920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" y="2728976"/>
            <a:ext cx="21945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Biliary atresia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3336" y="2814929"/>
            <a:ext cx="478813" cy="25786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5301" y="272897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" y="3158744"/>
            <a:ext cx="21945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Alagille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3336" y="3244697"/>
            <a:ext cx="359109" cy="2578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597" y="3158744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" y="3588512"/>
            <a:ext cx="21945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PFIC / bile salt defects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3336" y="3674465"/>
            <a:ext cx="359109" cy="2578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597" y="3588512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" y="4018280"/>
            <a:ext cx="21945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Neonatal haemochromatosis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3336" y="4104233"/>
            <a:ext cx="299258" cy="2578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5746" y="4018280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" y="4448048"/>
            <a:ext cx="21945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Viral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3336" y="4534001"/>
            <a:ext cx="239406" cy="2578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35894" y="4448048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896" y="4877816"/>
            <a:ext cx="21945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Other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3336" y="4963769"/>
            <a:ext cx="478813" cy="25786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5301" y="4877816"/>
            <a:ext cx="1097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1778000"/>
            <a:ext cx="4407408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Half had a cause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Even in a pathology series, the giant cell pattern led to a specific diagnosis in about half.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15% hypopituitarism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Check cortisol, TSH and free T4, glucose; look for micropenis and midline defects. Treatable.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8% biliary atresia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Giant cells do not exclude atresia; 20–50% of atresia biopsies show some giant cell change (Fawaz 2017).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BIOPSY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CAN THE BIOPSY SEPARATE HEPATITIS FROM ATRESIA?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ChiLDReN consensus scoring of 227 needle biopsies from cholestatic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Russo P, Magee JC, Anders RA, et al. Am J Surg Pathol 2016;40:1601–15 · Fawaz R, et al. JPGN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640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90.1%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555240"/>
            <a:ext cx="225056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Accuracy for biliary atresia (95% CI 85.2–94.9)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192024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640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7A33"/>
                </a:solidFill>
                <a:latin typeface="Abadi"/>
              </a:rPr>
              <a:t>88.4%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555240"/>
            <a:ext cx="225056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Sensitivity: one atresia in nine is read as non-obstructive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640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92.7%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555240"/>
            <a:ext cx="225056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Specificity: some hepatitis biopsies look obstructive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640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3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555240"/>
            <a:ext cx="225056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Bile plugs in ducts or ductules, moderate–marked ductular reaction, portal stromal oedema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3881120"/>
            <a:ext cx="11087100" cy="191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What favours hepatitis.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Lobular disarray, prominent giant cell transformation, extramedullary haematopoiesis and a portal tract without ductular reaction or bile plugs.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trap.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An early biopsy (first weeks) can lack obstructive features. If stools remain pale, repeat the biopsy or go to cholangiography; never let a 'neonatal hepatitis' report delay a Kasai.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E7A33"/>
                </a:solidFill>
                <a:latin typeface="Abadi"/>
              </a:rPr>
              <a:t>Experience matters.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guideline quotes 90–95% accuracy for an experienced paediatric liver pathologist.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WHY THE NEWBORN LIVER MAKES GIANT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stereotyped response of immature hepatocytes to injury; the exact mechanism is unproven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Torbenson M, et al. Am J Surg Pathol 2010 · Bihari C, et al. Hepat Res Treat 2013;2013:601290 · Whitington PF, et al. JPGN 2014;58:74–80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1997964" cy="1920240"/>
          </a:xfrm>
          <a:prstGeom prst="rect">
            <a:avLst/>
          </a:prstGeom>
          <a:solidFill>
            <a:srgbClr val="DCE6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19979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Immature 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" y="2162048"/>
            <a:ext cx="18150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Neonatal hepatocytes are still proliferating, with an immature bile acid pool and transporters.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6466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8000"/>
            <a:ext cx="1997964" cy="192024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8000"/>
            <a:ext cx="19979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Injury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62048"/>
            <a:ext cx="18150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Cholestasis, toxic bile acids, hormones missing (cortisol, thyroxine), virus, antibody or complement.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1008" y="26466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0464" y="1778000"/>
            <a:ext cx="1997964" cy="192024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0464" y="1778000"/>
            <a:ext cx="19979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3616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Syncytium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904" y="2162048"/>
            <a:ext cx="18150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Hepatocytes fuse or fail to complete division, forming multinucleated giant cells (proposed).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3292" y="26466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2748" y="1778000"/>
            <a:ext cx="1997964" cy="1920240"/>
          </a:xfrm>
          <a:prstGeom prst="rect">
            <a:avLst/>
          </a:prstGeom>
          <a:solidFill>
            <a:srgbClr val="F6D2D2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2748" y="1778000"/>
            <a:ext cx="19979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5900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Same picture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4188" y="2162048"/>
            <a:ext cx="18150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Different causes converge on the same histology: the pattern cannot name the cause.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5576" y="264668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35032" y="1778000"/>
            <a:ext cx="1997964" cy="1920240"/>
          </a:xfrm>
          <a:prstGeom prst="rect">
            <a:avLst/>
          </a:prstGeom>
          <a:solidFill>
            <a:srgbClr val="CDE7C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35032" y="1778000"/>
            <a:ext cx="19979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8184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Fades with 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6472" y="2162048"/>
            <a:ext cx="1815084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Postinfantile giant cell hepatitis is rare and points to virus, drug or autoimmunity.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" y="3926840"/>
            <a:ext cx="11087100" cy="187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practical consequence.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Because the pattern is non-specific, the cause is found by clinical chemistry, imaging, hormones and genes, not by the giant cells themselves.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exception.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GCH-AHA the histology is similar but the driver is humoral: hepatocytes carry the membrane attack complex of complement (C5b-9).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CLASSIC PROGNOSIS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>
                <a:solidFill>
                  <a:srgbClr val="1B355E"/>
                </a:solidFill>
                <a:latin typeface="Abadi"/>
              </a:rPr>
              <a:t>MOST SPORADIC CASES RECOVER; FAMILIAL AND ACHOLIC CASES DO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Outcomes in the pre-genetic series, % with the outcome shown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Odièvre M, et al. Arch Dis Child 1981;56:373 · Danks DM, et al. Arch Dis Child 1977;52:368 · Deutsch J, et al. Arch Dis Child 1985;60:447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869440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Recovered, patent-tree cholestasis (Paris)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4856" y="2001113"/>
            <a:ext cx="2568448" cy="39502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6456" y="1869440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79%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" y="2527808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Chronic disease, sporadic INH (Melbourne)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4856" y="2659481"/>
            <a:ext cx="243840" cy="39502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1848" y="2527808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" y="3186176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Death or cirrhosis, less obstructive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4856" y="3317849"/>
            <a:ext cx="487680" cy="39502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15688" y="3186176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" y="3844544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Death or cirrhosis, persistently acholic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4856" y="3976217"/>
            <a:ext cx="1300480" cy="39502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8488" y="3844544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" y="4502912"/>
            <a:ext cx="29260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Death in first year, familial INH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4856" y="4634585"/>
            <a:ext cx="1430528" cy="39502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58536" y="4502912"/>
            <a:ext cx="1097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44%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778000"/>
            <a:ext cx="42062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81 of 103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Paris, 1981: recovered within months; 22 progressed, mostly A1AT, duct paucity or familial disease.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&lt; 15% vs ≈ 40%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Melbourne, 1977: death or cirrhosis by stool colour pattern (the 15% bar is an upper bound).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4 of 9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Familial INH: died within 12 months; two of four reviewed survivors also died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READING THE OLD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>
                <a:solidFill>
                  <a:srgbClr val="1B355E"/>
                </a:solidFill>
                <a:latin typeface="Abadi"/>
              </a:rPr>
              <a:t>FAMILIAL 'IDIOPATHIC' HEPATITIS WAS UNDIAGNOSED GENETICS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What the poor-prognosis subgroups of the 1970s–80s look like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Deutsch J, et al. Arch Dis Child 1985 · Danks DM, et al. 1977 · Fawaz R, et al. JPGN 2017 · Nicastro E, et al. J Pediatr 2019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2860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Familial recurrence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619248"/>
            <a:ext cx="225056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Autosomal recessive cholestasis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PFIC1–3, TJP2, MYO5B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Bile acid synthesis defects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286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Persistent acholia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619248"/>
            <a:ext cx="225056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Biliary atresia missed or late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Severe canalicular block (PFIC2)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Alagille with duct paucity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286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Acute fulminant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619248"/>
            <a:ext cx="225056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Gestational alloimmune liver disease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Tyrosinaemia, galactosaemia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Herpes, enterovirus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286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1005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7A33"/>
                </a:solidFill>
                <a:latin typeface="Abadi"/>
              </a:rPr>
              <a:t>Good prognosis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619248"/>
            <a:ext cx="225056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Sporadic, pigmented stools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Normal growth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Resolves by 6–12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246880"/>
            <a:ext cx="11087100" cy="155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The modern reading.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'familial INH' that killed four of nine infants within a year is today a gene panel. Some causes have specific therapy (cholic acid for bile acid synthesis defects, NTBC for tyrosinaemia, IBAT inhibitors in PFIC).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Counselling.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sibling recurrence moves an infant out of 'idiopathic' until genetics are complete; recurrence risk for a recessive cause is one in four.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GCH-AHA: THE PHENOTYPE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A DIFFERENT DISEASE BEHIND THE SAME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16 children, Italian–French multicentre cohort, 28 years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Maggiore G, Sciveres M, Fabre M, et al. J Pediatr 2011;159:127–32 · Bernard O, et al. J Pediatr 1981;99:704–11 · Poddighe D, et al. World J Hepatol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640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22222"/>
                </a:solidFill>
                <a:latin typeface="Abadi"/>
              </a:rPr>
              <a:t>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555240"/>
            <a:ext cx="225056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Median onset; range in the literature 1 month to 2 years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19202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640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16 /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555240"/>
            <a:ext cx="225056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Hepatomegaly; jaundice 14/16, pallor 9/16, fever 8/16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19202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6400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8C1C1C"/>
                </a:solidFill>
                <a:latin typeface="Abadi"/>
              </a:rPr>
              <a:t>6.7 g/dL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555240"/>
            <a:ext cx="225056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Median haemoglobin: Coombs-positive (IgG with C3) haemolysis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19202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640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79168"/>
            <a:ext cx="225056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7A0B"/>
                </a:solidFill>
                <a:latin typeface="Abadi"/>
              </a:rPr>
              <a:t>≈ 45 × ULN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555240"/>
            <a:ext cx="2250567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Median ALT: a florid hepatitis, often with giant cells throughout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3881120"/>
            <a:ext cx="11087100" cy="191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Sequence.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Anaemia often precedes the hepatitis. A toddler with autoimmune haemolysis needs liver tests; a toddler with hepatitis and anaemia needs a direct antiglobulin test.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What it is not.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Autoantibody profile differs from autoimmune hepatitis: classic ANA, SMA and anti-LKM1 are usually absent. Fewer than 100 cases are published.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8C1C1C"/>
                </a:solidFill>
                <a:latin typeface="Abadi"/>
              </a:rPr>
              <a:t>Course.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Relapsing, sometimes fulminant; deaths are mostly from sepsis or multi-organ failure within three years of diagnosis.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GCH-AHA: 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COMPLEMENT ON THE HEPATOCYTE, NOT T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Liver biopsies, 6 GCH-AHA (age 4–52 months) versus 6 juvenile autoimmune hepatitis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Whitington PF, Vos MB, Bass LM, et al. JPGN 2014;58:74–80 · Nastasio S, et al. Transl Gastroenterol Hepatol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1997964" cy="1965960"/>
          </a:xfrm>
          <a:prstGeom prst="rect">
            <a:avLst/>
          </a:prstGeom>
          <a:solidFill>
            <a:srgbClr val="DCE6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19979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Autoantibody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" y="2162048"/>
            <a:ext cx="18150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IgG antibodies against red cells and, presumably, hepatocyte antigens.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66954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8000"/>
            <a:ext cx="1997964" cy="196596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8000"/>
            <a:ext cx="19979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Complement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62048"/>
            <a:ext cx="18150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Classical pathway activation; C3 on red cells (Coombs IgG + C3).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1008" y="266954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0464" y="1778000"/>
            <a:ext cx="1997964" cy="1965960"/>
          </a:xfrm>
          <a:prstGeom prst="rect">
            <a:avLst/>
          </a:prstGeom>
          <a:solidFill>
            <a:srgbClr val="F6D2D2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0464" y="1778000"/>
            <a:ext cx="19979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3616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C5b-9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904" y="2162048"/>
            <a:ext cx="18150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High-grade pan-lobular membrane attack complex on hepatocytes in all six GCH-AHA cases; absent in AIH.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3292" y="266954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2748" y="1778000"/>
            <a:ext cx="1997964" cy="1965960"/>
          </a:xfrm>
          <a:prstGeom prst="rect">
            <a:avLst/>
          </a:prstGeom>
          <a:solidFill>
            <a:srgbClr val="F6D2D2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2748" y="1778000"/>
            <a:ext cx="1997964" cy="292608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5900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Injury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4188" y="2162048"/>
            <a:ext cx="18150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Hepatocyte necrosis and giant cell transformation, analogous to gestational alloimmune liver disease.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5576" y="266954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35032" y="1778000"/>
            <a:ext cx="1997964" cy="1965960"/>
          </a:xfrm>
          <a:prstGeom prst="rect">
            <a:avLst/>
          </a:prstGeom>
          <a:solidFill>
            <a:srgbClr val="CDE7C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35032" y="1778000"/>
            <a:ext cx="19979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8184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Therapeutic 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6472" y="2162048"/>
            <a:ext cx="18150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B cells (rituximab) and, in theory, terminal complement.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" y="3926840"/>
            <a:ext cx="11087100" cy="187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B22222"/>
                </a:solidFill>
                <a:latin typeface="Abadi"/>
              </a:rPr>
              <a:t>Clinical echo.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Only 1 of 6 remitted on standard autoimmune hepatitis therapy; one died and one was transplanted. All three given rituximab remitted.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Eculizumab.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Mechanistically attractive, but we found no published GCH-AHA case or series using it: treat as a hypothesis, not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LONG-TERM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REMISSION IS COMMON; RELAPSE IS THE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GCH-AHA, 16 children, median follow-up 14 years: number of children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Maggiore G, Sciveres M, Fabre M, et al. J Pediatr 2011;159:127–32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4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Children (of 16)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86160"/>
            <a:ext cx="64008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587840"/>
            <a:ext cx="603504" cy="17983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40952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31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Complete remission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4037420"/>
            <a:ext cx="603504" cy="134874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3790532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431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Partial remission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4936580"/>
            <a:ext cx="603504" cy="44958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4689692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431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Treatment failure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913470"/>
            <a:ext cx="603504" cy="247269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2666582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5431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Hepatitis relapse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138260"/>
            <a:ext cx="603504" cy="22479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2891372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431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Anaemia relapse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3812630"/>
            <a:ext cx="603504" cy="157353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3565742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5431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Off therapy, no relapse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487000"/>
            <a:ext cx="603504" cy="8991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240112"/>
            <a:ext cx="9692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4318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Died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1778000"/>
            <a:ext cx="42062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All on prednisone + azathioprine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Cyclosporine added in 3; relapses needed prolonged immunosuppression, splenectomy or rituximab.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7 stopped therapy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After a mean of 6 years, without relapse.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4 of 16 died (25%)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Sepsis or multi-organ failure; one child alive 9 years after transplant.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RITUXIMAB 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>
                <a:solidFill>
                  <a:srgbClr val="1B355E"/>
                </a:solidFill>
                <a:latin typeface="Abadi"/>
              </a:rPr>
              <a:t>MORTALITY HAS FALLEN FROM ALMOST HALF TO ONE IN 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GCH-AHA mortality by era of report, %, and first-line rituximab in a Shanghai cohort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Poddighe D, et al. World J Hepatol 2021;13:411–20 · Maggiore G, et al. 2011 · Zhang XY, et al. Clin Res Hepatol Gastroenterol 2024;48:102392 · Nastasio S, et al.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74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Mortality,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386160"/>
            <a:ext cx="512064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" y="3179131"/>
            <a:ext cx="1158240" cy="2207029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32243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31880"/>
            <a:ext cx="170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Reports to 2006 (n = 22)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2992" y="4160033"/>
            <a:ext cx="1158240" cy="1226127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0112" y="3913145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46960" y="5431880"/>
            <a:ext cx="170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Maggiore 2011 (n = 16)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9872" y="4895710"/>
            <a:ext cx="1158240" cy="49045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26992" y="4648822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3840" y="5431880"/>
            <a:ext cx="170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Abadi"/>
              </a:rPr>
              <a:t>Reports after 2011 (n = 29)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78000"/>
            <a:ext cx="521208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16 of 29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Children in post-2011 reports who received rituximab.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73% vs 100%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Zhang 2024: complete remission, conventional (11/15) vs rituximab-containing first line (5/5).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14 vs 6 months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Median time to remission, conventional vs rituximab (P = 0.015); 2 deaths, both conventional.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66% at 20 years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Survival across 54 treated cases since 1981 (Nastasio 2021).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TREATMENT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WHAT HAS BEEN TRIED, AND HOW WELL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GCH-AHA: evidence is case series 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Nastasio S, et al. 2021 · Paganelli M, et al. Pediatrics 2014;134:e1206 · Bakula A, et al. JPGN 2014;58:669 · Marsalli G, et al. Clin Res Hepatol Gastroenterol 2016;40:83 · Rovelli A, et al. JPGN 2007;45:596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09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884"/>
                <a:gridCol w="3167742"/>
                <a:gridCol w="2981405"/>
                <a:gridCol w="2795067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Option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Regimen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Evidence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Reading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Steroid + azathioprine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Prednisone 2–3 mg/kg/d + azathioprine 1–2 mg/kg/d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Maggiore 2011: CR 8/16, PR 6/16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First line; frequent relapse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Cyclosporine / tacrolimus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Added to first line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Small numbers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Second line, rescue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Rituximab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375 mg/m² weekly × 4; maintenance in severe cases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Paganelli 4/4, Bakula 4/4, Zhang 5/5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Cornerstone for relapse; acceptable first 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IVIG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0.5–2 g/kg, then monthly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Marsalli: 7/7 relapsed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Temporary, steroid-sparing only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Alemtuzumab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Anti-CD52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Single case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Salvage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Liver transplant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For liver failure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2 of 10 followed without recurrence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Early graft recurrence; avoid if possible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896" y="4987544"/>
            <a:ext cx="11087100" cy="812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D97A0B"/>
                </a:solidFill>
                <a:latin typeface="Abadi"/>
              </a:rPr>
              <a:t>Rituximab cost.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Prolonged B-cell depletion and hypogammaglobulinaemia (persistent in 2 reported children): monitor IgG, replace if low, review vaccines.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BEYOND INFANCY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i="0">
                <a:solidFill>
                  <a:srgbClr val="1B355E"/>
                </a:solidFill>
                <a:latin typeface="Abadi"/>
              </a:rPr>
              <a:t>POSTINFANTILE GIANT CELL HEPATITIS IS A DIFFERENT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Aetiology of giant cell hepatitis in adults, meta-analysis of 68 patients,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Jiao J, Zhang X. J Clin Transl Pathol 2022;2:100–7 · Bihari C, Rastogi A, Sarin SK. Hepat Res Treat 2013;2013:601290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8694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Autoimmune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0456" y="1979168"/>
            <a:ext cx="2926080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9688" y="186944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" y="24180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More than one cause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0456" y="2527808"/>
            <a:ext cx="2194560" cy="3291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8168" y="24180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" y="296672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Viral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0456" y="3076448"/>
            <a:ext cx="1920240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3848" y="29667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" y="351536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Drugs / herbals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0456" y="3625088"/>
            <a:ext cx="914400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28008" y="351536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" y="4064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Malignancy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0456" y="4173728"/>
            <a:ext cx="640080" cy="3291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3688" y="40640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" y="461264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Abadi"/>
              </a:rPr>
              <a:t>Other / unknown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0456" y="4722368"/>
            <a:ext cx="548640" cy="3291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62248" y="461264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badi"/>
              </a:rP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1778000"/>
            <a:ext cx="4407408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≈ 100 cases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Bihari 2013: autoimmune about 40%; viral cases (paramyxovirus, hepatitis A, EBV) can be fulminant.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≈ 50%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Survival without transplantation across reported cases.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Poor-outcome markers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Low platelets, low albumin, high bilirubin and diffuse giant cells (Jiao 2022).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INH IS EARNED, NOT ASSUMED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practical sequence for the infant with conjugated cholestasis and a 'hepatitic' biopsy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 · Russo P, et al. 2016 · Nicastro E, et al. J Pediatr 2019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1997964" cy="2103120"/>
          </a:xfrm>
          <a:prstGeom prst="rect">
            <a:avLst/>
          </a:prstGeom>
          <a:solidFill>
            <a:srgbClr val="F6D2D2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1997964" cy="29260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1 · Exclude atresia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" y="2162048"/>
            <a:ext cx="18150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Stool colour, ultrasound, biopsy by an experienced pathologist; cholangiography if in doubt. Time-critical.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598724" y="273812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8180" y="1778000"/>
            <a:ext cx="1997964" cy="210312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8180" y="1778000"/>
            <a:ext cx="1997964" cy="29260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1332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2 · Treatable causes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9620" y="2162048"/>
            <a:ext cx="18150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Sepsis/UTI, galactosaemia, tyrosinaemia, cortisol + thyroid, CMV, A1AT phenotype, sweat test.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1008" y="273812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90464" y="1778000"/>
            <a:ext cx="1997964" cy="2103120"/>
          </a:xfrm>
          <a:prstGeom prst="rect">
            <a:avLst/>
          </a:prstGeom>
          <a:solidFill>
            <a:srgbClr val="FBEFBE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90464" y="1778000"/>
            <a:ext cx="1997964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3616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3 · Bile acids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904" y="2162048"/>
            <a:ext cx="18150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Urine bile acid profile before starting ursodeoxycholic acid; it masks synthesis defects.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3292" y="273812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2748" y="1778000"/>
            <a:ext cx="1997964" cy="2103120"/>
          </a:xfrm>
          <a:prstGeom prst="rect">
            <a:avLst/>
          </a:prstGeom>
          <a:solidFill>
            <a:srgbClr val="DCE6F1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62748" y="1778000"/>
            <a:ext cx="1997964" cy="29260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5900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4 · Genetics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4188" y="2162048"/>
            <a:ext cx="18150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Cholestasis panel or trio exome; low GGT, consanguinity or a sibling: test at once.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5576" y="2738120"/>
            <a:ext cx="164592" cy="182880"/>
          </a:xfrm>
          <a:prstGeom prst="triangle">
            <a:avLst/>
          </a:prstGeom>
          <a:solidFill>
            <a:srgbClr val="8A9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35032" y="1778000"/>
            <a:ext cx="1997964" cy="2103120"/>
          </a:xfrm>
          <a:prstGeom prst="rect">
            <a:avLst/>
          </a:prstGeom>
          <a:solidFill>
            <a:srgbClr val="CDE7CF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35032" y="1778000"/>
            <a:ext cx="1997964" cy="29260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8184" y="1778000"/>
            <a:ext cx="18516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badi"/>
              </a:rPr>
              <a:t>5 · Support and re-label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6472" y="2162048"/>
            <a:ext cx="1815084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badi"/>
              </a:rPr>
              <a:t>MCT, fat-soluble vitamins, vitamin K; revisit the label at each visit.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896" y="4064000"/>
            <a:ext cx="11087100" cy="17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D97A0B"/>
                </a:solidFill>
                <a:latin typeface="Abadi"/>
              </a:rPr>
              <a:t>Ursodeoxycholic acid.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Widely used; no randomised evidence in INH. The 2017 guideline mentions it only as a reason to send bile acids first.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1B355E"/>
                </a:solidFill>
                <a:latin typeface="Abadi"/>
              </a:rPr>
              <a:t>Re-label when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gene result returns, a sibling is affected, cholestasis persists beyond 6 months, or Coombs-positive haemolysis appears after the neonatal period.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versus Europe; GCH-AHA sits in a gap between neonatal and autoimmune guidance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 (NASPGHAN/ESPGHAN) · Mieli-Vergani G, et al. JPGN 2018;66:345 (ESPGHAN AILD) · Mack CL, et al. Hepatology 2020 (AASLD AIH) · EASL AIH CPG 2015 · Nastasio S, et al. JPGN 2018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098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3695699"/>
                <a:gridCol w="3695699"/>
                <a:gridCol w="123190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 (NASPGHAN, AASLD)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 (ESPGHAN, EASL)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Status of 'INH'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Joint 2017: descriptive, declining term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 joint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Genetic testing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Low threshold for panels or exome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Same; Bergamo algorithm puts NGS early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Recommended if work-up unclear; 90–95% accuracy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 joint statement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Ursodeoxycholic acid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efficacy recommendation; send bile acids first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efficacy recommendation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GCH-AHA recognition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addressed in AASLD AIH guidance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Not in 2018 ESPGHAN AILD scope; debated as AILD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GCH-AHA therapy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guideline; case series only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Expert reviews favour rituximab early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Transplant in GCH-AHA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Expert reviews: avoid, early recurrence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896" y="5033264"/>
            <a:ext cx="11087100" cy="76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22222"/>
                </a:solidFill>
                <a:latin typeface="Abadi"/>
              </a:rPr>
              <a:t>Material gap: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no society guideline covers GCH-AHA, although mortality was 25–45% before rituximab and transplantation is usually followed by recurrence.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THE DIAGNOSIS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late answer or the wrong treatment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Fawaz R, et al. JPGN 2017 · Torbenson M, et al. 2010 · Russo P, et al. 2016 · Maggiore G, et al. 2011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896" y="1778000"/>
            <a:ext cx="2579751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5896" y="1778000"/>
            <a:ext cx="2579751" cy="1005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B22222"/>
                </a:solidFill>
                <a:latin typeface="Abadi"/>
              </a:rPr>
              <a:t>The report says 'neonatal hepatitis'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Early biopsy misses atresia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Pale stools overrule histology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Repeat or cholangiogram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679" y="1778000"/>
            <a:ext cx="2579751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679" y="1778000"/>
            <a:ext cx="2579751" cy="1005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6271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7A0B"/>
                </a:solidFill>
                <a:latin typeface="Abadi"/>
              </a:rPr>
              <a:t>The label never expires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6271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INH written at 6 weeks, still there at 6 months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 panel sent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Sibling born with the same disease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462" y="1778000"/>
            <a:ext cx="2579751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462" y="1778000"/>
            <a:ext cx="2579751" cy="1005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054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UDCA before bile acids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054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Synthesis defect masked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Cholic acid therapy delayed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Send urine bile acids first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3245" y="1778000"/>
            <a:ext cx="2579751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3245" y="1778000"/>
            <a:ext cx="2579751" cy="100584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837" y="1988312"/>
            <a:ext cx="225056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C1C1C"/>
                </a:solidFill>
                <a:latin typeface="Abadi"/>
              </a:rPr>
              <a:t>The anaemic toddler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837" y="2619248"/>
            <a:ext cx="225056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Haemolysis treated alone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No liver tests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GCH-AHA found at liver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" y="4389120"/>
            <a:ext cx="11087100" cy="1410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And one more: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transplanting GCH-AHA as if it were end-stage autoimmune hepatitis: recurrence in the graft is usual, within months.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TEN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Gottesman 2015 · Nicastro 2019 · Togawa 2016 · Torbenson 2010 · Russo 2016 · Danks 1977 · Deutsch 1985 · Maggiore 2011 · Whitington 2014 · Poddighe 2021 · Zhang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" y="1778000"/>
            <a:ext cx="1108710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Idiopathic was 26% of pooled older series; modern genetic algorithms leave about 14% or less without a cause.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Panels find a diagnosis in about one in eight 'uncomplicated' idiopathic infants, and in up to 60–70% with a genetic phenotype.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Giant cells: half of neonatal giant cell hepatitis biopsies had a specific cause; 15% hypopituitarism, 8% atresia.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Biopsy reads atresia with 90% accuracy, sensitivity 88%: pale stools beat a 'hepatitis' report.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Sporadic INH with pigmented stools usually recovers (81 of 103); acholic or familial cases do badly.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Familial INH is a genetic disease until proven otherwise.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GCH-AHA: 1 month to 2 years, Coombs IgG + C3, ALT around 45 times normal, anaemia often first.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Mechanism is humoral: C5b-9 on hepatocytes, not the T-cell pattern of autoimmune hepatitis.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Mortality 45% → 25% → about 10% as rituximab came in; remission faster with rituximab (6 vs 14 months).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1A1A"/>
                </a:solidFill>
                <a:latin typeface="Abadi"/>
              </a:rPr>
              <a:t>▪  Avoid transplantation in GCH-AHA if at all possible: the disease recurs in the graft.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96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896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logic on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5896" y="1600200"/>
            <a:ext cx="11087100" cy="25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896" y="1651000"/>
            <a:ext cx="11087100" cy="63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5896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55555"/>
                </a:solidFill>
                <a:latin typeface="Abad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6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Abadi"/>
              </a:rPr>
              <a:t>Synthesis of the sources above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5896" y="1778000"/>
          <a:ext cx="11087099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3979"/>
                <a:gridCol w="591312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7-week-old, giant cell hepatitis on biopsy, stools pale yellow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Biopsy does not exclude atresia: cholangiography now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10-week-old, pigmented stools, normal GGT, 'INH' on biopsy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Low-GGT pattern: cholestasis panel, urine bile acids before UDCA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Second sibling with 'idiopathic' neonatal hepatitis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Treat as recessive genetic disease: trio exome, counsel 1 in 4 recurrence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Giant cell hepatitis with hypoglycaemia and micropenis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Cortisol, free T4, TSH, MRI pituitary; hormone replacement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9-month-old, Hb 6 g/dL, DAT IgG + C3, ALT 1,800 U/L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GCH-AHA: steroid + azathioprine, early rituximab, check IgG, avoid transplant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INH, cholestasis resolved by 6 months, normal growth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Reassure; recheck liver tests and vitamins; genetics if any recurrence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5896" y="1524000"/>
            <a:ext cx="11087100" cy="1968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Idiopathic Neonatal Hepatitis and Giant Cell Hepatitis: a Shrinking Diagnosis, GCH-AHA and Prognosis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6322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5896" y="3835400"/>
            <a:ext cx="11087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