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920240"/>
            <a:ext cx="11091672" cy="1417320"/>
          </a:xfrm>
          <a:prstGeom prst="rect">
            <a:avLst/>
          </a:prstGeom>
          <a:noFill/>
        </p:spPr>
        <p:txBody>
          <a:bodyPr wrap="square" lIns="36576" rIns="36576" tIns="18288" bIns="18288" anchor="b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Abadi"/>
              </a:rPr>
              <a:t>Metabolic Cholestasis I: Galactosemia, Tyrosinemia Type 1 and Hereditary Fructose Intolerance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184648" y="3611880"/>
            <a:ext cx="1828800" cy="18288"/>
          </a:xfrm>
          <a:prstGeom prst="rect">
            <a:avLst/>
          </a:prstGeom>
          <a:solidFill>
            <a:srgbClr val="F2C4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1091672" cy="301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badi"/>
              </a:rPr>
              <a:t>Andrey Ermak, 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43400"/>
            <a:ext cx="11091672" cy="685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CFD8E6"/>
                </a:solidFill>
                <a:latin typeface="Abadi"/>
              </a:rPr>
              <a:t>Welling 2017 (GalNet) · Chinsky 2017 (US/Canada) · Fawaz 2017 (NASPGHAN/ESPGHAN) · Levy 1977 · Larochelle 2012 · Sundaram 2011 (PALF) · De Jesús 2014 · Berry 2021 and Gaughan 2021 (GeneReviews) · Fridovich-Keil 2011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74920"/>
            <a:ext cx="11091672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0" i="1">
                <a:solidFill>
                  <a:srgbClr val="CFD8E6"/>
                </a:solidFill>
                <a:latin typeface="Abadi"/>
              </a:rPr>
              <a:t>The feeding history · E. coli sepsis · coagulopathy before jaundice · succinylacetone · why breast milk protects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412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THE QUESTION OF THE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THREE DISEASES HIDDEN IN THE FEEDING HISTORY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Each is rare, each can kill in the first weeks, and each is treated by what the infant is fed or given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Fawaz R, et al. JPGN 2017;64:154–68 · Welling L, et al. J Inherit Metab Dis 2017;40:171–6 · Chinsky JM, et al. Genet Med 2017;19:1380–95 · Gaughan S, et al. GeneReviews 2021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83080"/>
            <a:ext cx="2587752" cy="233172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83080"/>
            <a:ext cx="2587752" cy="128016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020824"/>
            <a:ext cx="2221992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Galactosemia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496312"/>
            <a:ext cx="2221992" cy="1508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Abadi"/>
              </a:rPr>
              <a:t>▪  Lactose from day 1: breast milk or standard formula</a:t>
            </a:r>
          </a:p>
          <a:p>
            <a:pPr algn="l">
              <a:spcBef>
                <a:spcPts val="500"/>
              </a:spcBef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Jaundice, bleeding, E. coli sepsis in week 1–2</a:t>
            </a:r>
          </a:p>
          <a:p>
            <a:pPr algn="l">
              <a:spcBef>
                <a:spcPts val="500"/>
              </a:spcBef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Stop lactose on suspicion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3280" y="1783080"/>
            <a:ext cx="2587752" cy="233172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83280" y="1783080"/>
            <a:ext cx="2587752" cy="128016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66160" y="2020824"/>
            <a:ext cx="2221992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Tyrosinemia type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2496312"/>
            <a:ext cx="2221992" cy="1508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Abadi"/>
              </a:rPr>
              <a:t>▪  Feed-independent: protein is always there</a:t>
            </a:r>
          </a:p>
          <a:p>
            <a:pPr algn="l">
              <a:spcBef>
                <a:spcPts val="500"/>
              </a:spcBef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Coagulopathy out of proportion to jaundice</a:t>
            </a:r>
          </a:p>
          <a:p>
            <a:pPr algn="l">
              <a:spcBef>
                <a:spcPts val="500"/>
              </a:spcBef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Urine or blood succinylacetone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783080"/>
            <a:ext cx="2587752" cy="233172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1783080"/>
            <a:ext cx="2587752" cy="128016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020824"/>
            <a:ext cx="2221992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Fructose intolerance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496312"/>
            <a:ext cx="2221992" cy="1508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Abadi"/>
              </a:rPr>
              <a:t>▪  Silent on breast milk</a:t>
            </a:r>
          </a:p>
          <a:p>
            <a:pPr algn="l">
              <a:spcBef>
                <a:spcPts val="500"/>
              </a:spcBef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Starts at weaning or with sucrose, sorbitol</a:t>
            </a:r>
          </a:p>
          <a:p>
            <a:pPr algn="l">
              <a:spcBef>
                <a:spcPts val="500"/>
              </a:spcBef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Hypoglycaemia, vomiting, tubulopathy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52560" y="1783080"/>
            <a:ext cx="2587752" cy="2331720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52560" y="1783080"/>
            <a:ext cx="2587752" cy="128016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5440" y="2020824"/>
            <a:ext cx="2221992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The bedside task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2496312"/>
            <a:ext cx="2221992" cy="1508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Abadi"/>
              </a:rPr>
              <a:t>▪  Ask what, when and how much was fed</a:t>
            </a:r>
          </a:p>
          <a:p>
            <a:pPr algn="l">
              <a:spcBef>
                <a:spcPts val="500"/>
              </a:spcBef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Check INR, glucose, cultures, eyes</a:t>
            </a:r>
          </a:p>
          <a:p>
            <a:pPr algn="l">
              <a:spcBef>
                <a:spcPts val="500"/>
              </a:spcBef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Send tests before transfusion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343400"/>
            <a:ext cx="11091672" cy="1371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1" i="0">
                <a:solidFill>
                  <a:srgbClr val="1B355E"/>
                </a:solidFill>
                <a:latin typeface="Abadi"/>
              </a:rPr>
              <a:t>The main idea.  </a:t>
            </a:r>
            <a:r>
              <a:rPr sz="1250" b="0" i="0">
                <a:solidFill>
                  <a:srgbClr val="1A1A1A"/>
                </a:solidFill>
                <a:latin typeface="Abadi"/>
              </a:rPr>
              <a:t>Metabolic cholestasis announces itself through synthetic failure, sepsis or hypoglycaemia more than through bilirubin. Two of these diseases need a sugar the infant must be fed; the third does not.</a:t>
            </a:r>
          </a:p>
          <a:p>
            <a:pPr algn="l">
              <a:spcBef>
                <a:spcPts val="800"/>
              </a:spcBef>
            </a:pPr>
            <a:r>
              <a:rPr sz="1250" b="1" i="0">
                <a:solidFill>
                  <a:srgbClr val="1B355E"/>
                </a:solidFill>
                <a:latin typeface="Abadi"/>
              </a:rPr>
              <a:t>The clinical task.  </a:t>
            </a:r>
            <a:r>
              <a:rPr sz="1250" b="0" i="0">
                <a:solidFill>
                  <a:srgbClr val="1A1A1A"/>
                </a:solidFill>
                <a:latin typeface="Abadi"/>
              </a:rPr>
              <a:t>In a sick cholestatic infant, remove lactose and fructose while the tests run, send red-cell GALT and succinylacetone early, and treat the coagulopathy as a clue, not a nuisance.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412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THREE BLOCKED ENZYMES, THREE DIFFERENT POISONS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Toxicity comes from the metabolite that accumulates above the block, not from lack of the product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Berry GT. GeneReviews NBK1518, 2021 · Chinsky JM, et al. Genet Med 2017;19:1380–95 · Bouteldja N, Timson DJ. J Inherit Metab Dis 2010;33:105–12 · Gaughan S, et al. GeneReviews NBK333439, 2021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83080"/>
            <a:ext cx="2035454" cy="329184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783080"/>
            <a:ext cx="1852574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badi"/>
              </a:rPr>
              <a:t>1 · Galactose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112264"/>
            <a:ext cx="2035454" cy="1728216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203704"/>
            <a:ext cx="1815998" cy="1600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GALT is absent: galactose-1-phosphate builds up in liver, kidney and red cells</a:t>
            </a:r>
          </a:p>
        </p:txBody>
      </p:sp>
      <p:sp>
        <p:nvSpPr>
          <p:cNvPr id="16" name="Isosceles Triangle 15"/>
          <p:cNvSpPr/>
          <p:nvPr/>
        </p:nvSpPr>
        <p:spPr>
          <a:xfrm rot="5400000">
            <a:off x="2620670" y="2884932"/>
            <a:ext cx="155448" cy="182880"/>
          </a:xfrm>
          <a:prstGeom prst="triangle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12694" y="1783080"/>
            <a:ext cx="2035454" cy="329184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04134" y="1783080"/>
            <a:ext cx="1852574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badi"/>
              </a:rPr>
              <a:t>2 · Galactitol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2694" y="2112264"/>
            <a:ext cx="2035454" cy="1728216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22422" y="2203704"/>
            <a:ext cx="1815998" cy="1600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Galactose is reduced to galactitol, which cannot leave the lens cell: water follows, cataract forms</a:t>
            </a:r>
          </a:p>
        </p:txBody>
      </p:sp>
      <p:sp>
        <p:nvSpPr>
          <p:cNvPr id="21" name="Isosceles Triangle 20"/>
          <p:cNvSpPr/>
          <p:nvPr/>
        </p:nvSpPr>
        <p:spPr>
          <a:xfrm rot="5400000">
            <a:off x="4884724" y="2884932"/>
            <a:ext cx="155448" cy="182880"/>
          </a:xfrm>
          <a:prstGeom prst="triangle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76748" y="1783080"/>
            <a:ext cx="2035454" cy="329184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68188" y="1783080"/>
            <a:ext cx="1852574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badi"/>
              </a:rPr>
              <a:t>3 · Tyrosine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76748" y="2112264"/>
            <a:ext cx="2035454" cy="1728216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86476" y="2203704"/>
            <a:ext cx="1815998" cy="1600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FAH, the last enzyme of tyrosine breakdown, is absent: fumarylacetoacetate injures hepatocytes and tubules</a:t>
            </a:r>
          </a:p>
        </p:txBody>
      </p:sp>
      <p:sp>
        <p:nvSpPr>
          <p:cNvPr id="26" name="Isosceles Triangle 25"/>
          <p:cNvSpPr/>
          <p:nvPr/>
        </p:nvSpPr>
        <p:spPr>
          <a:xfrm rot="5400000">
            <a:off x="7148779" y="2884932"/>
            <a:ext cx="155448" cy="182880"/>
          </a:xfrm>
          <a:prstGeom prst="triangle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40803" y="1783080"/>
            <a:ext cx="2035454" cy="329184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32243" y="1783080"/>
            <a:ext cx="1852574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badi"/>
              </a:rPr>
              <a:t>4 · Succinylacetone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40803" y="2112264"/>
            <a:ext cx="2035454" cy="1728216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50531" y="2203704"/>
            <a:ext cx="1815998" cy="1600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The diagnostic marker; it also blocks haem synthesis, giving porphyria-like crises</a:t>
            </a:r>
          </a:p>
        </p:txBody>
      </p:sp>
      <p:sp>
        <p:nvSpPr>
          <p:cNvPr id="31" name="Isosceles Triangle 30"/>
          <p:cNvSpPr/>
          <p:nvPr/>
        </p:nvSpPr>
        <p:spPr>
          <a:xfrm rot="5400000">
            <a:off x="9412833" y="2884932"/>
            <a:ext cx="155448" cy="182880"/>
          </a:xfrm>
          <a:prstGeom prst="triangle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604857" y="1783080"/>
            <a:ext cx="2035454" cy="329184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96297" y="1783080"/>
            <a:ext cx="1852574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badi"/>
              </a:rPr>
              <a:t>5 · Fructose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04857" y="2112264"/>
            <a:ext cx="2035454" cy="1728216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14585" y="2203704"/>
            <a:ext cx="1815998" cy="1600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Aldolase B is absent: fructose-1-phosphate traps phosphate, ATP falls, glucose output stops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4023360"/>
            <a:ext cx="5394960" cy="1737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B355E"/>
                </a:solidFill>
                <a:latin typeface="Abadi"/>
              </a:rPr>
              <a:t>Why the liver bleeds first.  </a:t>
            </a:r>
            <a:r>
              <a:rPr sz="1200" b="0" i="0">
                <a:solidFill>
                  <a:srgbClr val="1A1A1A"/>
                </a:solidFill>
                <a:latin typeface="Abadi"/>
              </a:rPr>
              <a:t>In tyrosinemia the hepatocyte loses synthetic capacity before it loses excretory capacity, so the INR can be grossly prolonged with modest bilirubin and transaminases.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53912" y="4023360"/>
            <a:ext cx="5486400" cy="1737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Why breast milk protects in HFI.  </a:t>
            </a:r>
            <a:r>
              <a:rPr sz="1200" b="0" i="0">
                <a:solidFill>
                  <a:srgbClr val="1A1A1A"/>
                </a:solidFill>
                <a:latin typeface="Abadi"/>
              </a:rPr>
              <a:t>Human milk sugar is lactose, glucose plus galactose. Without fructose, sucrose or sorbitol, aldolase B is never needed, so the exclusively breastfed infant stays well.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412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HOW OFTEN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GALACTOSEMIA TOPS THE METABOLIC 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Metabolic causes of acute liver failure in 148 infants aged 90 days or younger, PALF registry, number of infants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Sundaram SS, et al. J Pediatr 2011;159:813–8 · Gottesman LE, et al. BMC Pediatr 2015;15:192 · Fawaz R, et al. JPGN 2017;64:154–68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874519"/>
            <a:ext cx="2743200" cy="3383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r"/>
            <a:r>
              <a:rPr sz="1100" b="0" i="0">
                <a:solidFill>
                  <a:srgbClr val="1A1A1A"/>
                </a:solidFill>
                <a:latin typeface="Abadi"/>
              </a:rPr>
              <a:t>Galactosemia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29000" y="1938527"/>
            <a:ext cx="3017519" cy="219456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0527" y="1874519"/>
            <a:ext cx="1463040" cy="3383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Abadi"/>
              </a:rPr>
              <a:t>12 (8.1%)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377439"/>
            <a:ext cx="2743200" cy="3383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r"/>
            <a:r>
              <a:rPr sz="1100" b="0" i="0">
                <a:solidFill>
                  <a:srgbClr val="1A1A1A"/>
                </a:solidFill>
                <a:latin typeface="Abadi"/>
              </a:rPr>
              <a:t>Respiratory chain defect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29000" y="2441447"/>
            <a:ext cx="1257300" cy="219456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0308" y="2377439"/>
            <a:ext cx="1463040" cy="3383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Abad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880360"/>
            <a:ext cx="2743200" cy="3383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r"/>
            <a:r>
              <a:rPr sz="1100" b="0" i="0">
                <a:solidFill>
                  <a:srgbClr val="1A1A1A"/>
                </a:solidFill>
                <a:latin typeface="Abadi"/>
              </a:rPr>
              <a:t>Tyrosinemia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29000" y="2944368"/>
            <a:ext cx="754379" cy="219456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47388" y="2880360"/>
            <a:ext cx="1463040" cy="3383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Abadi"/>
              </a:rPr>
              <a:t>3 (2.0%)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383280"/>
            <a:ext cx="2743200" cy="3383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r"/>
            <a:r>
              <a:rPr sz="1100" b="0" i="0">
                <a:solidFill>
                  <a:srgbClr val="1A1A1A"/>
                </a:solidFill>
                <a:latin typeface="Abadi"/>
              </a:rPr>
              <a:t>Niemann–Pick 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29000" y="3447288"/>
            <a:ext cx="754379" cy="219456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47388" y="3383280"/>
            <a:ext cx="1463040" cy="3383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Abad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886200"/>
            <a:ext cx="2743200" cy="3383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r"/>
            <a:r>
              <a:rPr sz="1100" b="0" i="0">
                <a:solidFill>
                  <a:srgbClr val="1A1A1A"/>
                </a:solidFill>
                <a:latin typeface="Abadi"/>
              </a:rPr>
              <a:t>Other mitochondrial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29000" y="3950208"/>
            <a:ext cx="754379" cy="219456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47388" y="3886200"/>
            <a:ext cx="1463040" cy="3383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Abad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389120"/>
            <a:ext cx="2743200" cy="3383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r"/>
            <a:r>
              <a:rPr sz="1100" b="0" i="0">
                <a:solidFill>
                  <a:srgbClr val="1A1A1A"/>
                </a:solidFill>
                <a:latin typeface="Abadi"/>
              </a:rPr>
              <a:t>Urea cycle / OTC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29000" y="4453128"/>
            <a:ext cx="502919" cy="219456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95928" y="4389120"/>
            <a:ext cx="1463040" cy="3383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Abad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20" y="1783080"/>
            <a:ext cx="4069080" cy="3931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1B355E"/>
                </a:solidFill>
                <a:latin typeface="Abadi"/>
              </a:rPr>
              <a:t>18.9%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1A1A1A"/>
                </a:solidFill>
                <a:latin typeface="Abadi"/>
              </a:rPr>
              <a:t>28 of 148 infants with liver failure in the first 90 days had a metabolic cause; overall, 60% survived without transplant.</a:t>
            </a:r>
          </a:p>
          <a:p>
            <a:pPr algn="l">
              <a:spcBef>
                <a:spcPts val="300"/>
              </a:spcBef>
            </a:pPr>
            <a:r>
              <a:rPr sz="1700" b="1" i="0">
                <a:solidFill>
                  <a:srgbClr val="1B355E"/>
                </a:solidFill>
                <a:latin typeface="Abadi"/>
              </a:rPr>
              <a:t>4.4%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1A1A1A"/>
                </a:solidFill>
                <a:latin typeface="Abadi"/>
              </a:rPr>
              <a:t>Metabolic disease in 1,692 cholestatic infants (systematic review); galactosemia was 36.5% of these metabolic cases.</a:t>
            </a:r>
          </a:p>
          <a:p>
            <a:pPr algn="l">
              <a:spcBef>
                <a:spcPts val="300"/>
              </a:spcBef>
            </a:pPr>
            <a:r>
              <a:rPr sz="1700" b="1" i="0">
                <a:solidFill>
                  <a:srgbClr val="1B355E"/>
                </a:solidFill>
                <a:latin typeface="Abadi"/>
              </a:rPr>
              <a:t>1 in 2,500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1A1A1A"/>
                </a:solidFill>
                <a:latin typeface="Abadi"/>
              </a:rPr>
              <a:t>Term infants with cholestatic jaundice (2017 joint guideline): rare causes add up, so the test panel must be ordered by urgency.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412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GALACTOSEMIA: THE COURSE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FROM THE FIRST FEED TO SEPSIS IN ABOUT A WEEK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Classic GALT deficiency, natural history in the untreated newborn and what stops it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Berry GT. GeneReviews NBK1518, 2021 · Welling L, et al. J Inherit Metab Dis 2017;40:171–6 · Waggoner DD, et al. J Inherit Metab Dis 1990;13:802–18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83080"/>
            <a:ext cx="2035454" cy="329184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783080"/>
            <a:ext cx="1852574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badi"/>
              </a:rPr>
              <a:t>1 · Milk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112264"/>
            <a:ext cx="2035454" cy="155448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203704"/>
            <a:ext cx="1815998" cy="14264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Breast milk or lactose formula from day 1; symptoms within days</a:t>
            </a:r>
          </a:p>
        </p:txBody>
      </p:sp>
      <p:sp>
        <p:nvSpPr>
          <p:cNvPr id="16" name="Isosceles Triangle 15"/>
          <p:cNvSpPr/>
          <p:nvPr/>
        </p:nvSpPr>
        <p:spPr>
          <a:xfrm rot="5400000">
            <a:off x="2620670" y="2798064"/>
            <a:ext cx="155448" cy="182880"/>
          </a:xfrm>
          <a:prstGeom prst="triangle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12694" y="1783080"/>
            <a:ext cx="2035454" cy="329184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04134" y="1783080"/>
            <a:ext cx="1852574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badi"/>
              </a:rPr>
              <a:t>2 · Liver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2694" y="2112264"/>
            <a:ext cx="2035454" cy="155448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22422" y="2203704"/>
            <a:ext cx="1815998" cy="14264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Poor feeding, vomiting, jaundice, hepatomegaly, coagulopathy</a:t>
            </a:r>
          </a:p>
        </p:txBody>
      </p:sp>
      <p:sp>
        <p:nvSpPr>
          <p:cNvPr id="21" name="Isosceles Triangle 20"/>
          <p:cNvSpPr/>
          <p:nvPr/>
        </p:nvSpPr>
        <p:spPr>
          <a:xfrm rot="5400000">
            <a:off x="4884724" y="2798064"/>
            <a:ext cx="155448" cy="182880"/>
          </a:xfrm>
          <a:prstGeom prst="triangle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76748" y="1783080"/>
            <a:ext cx="2035454" cy="329184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68188" y="1783080"/>
            <a:ext cx="1852574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badi"/>
              </a:rPr>
              <a:t>3 · Kidney, eye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76748" y="2112264"/>
            <a:ext cx="2035454" cy="155448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86476" y="2203704"/>
            <a:ext cx="1815998" cy="14264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Tubulopathy; cataract in 30% of 314, about half mild and diet-reversible</a:t>
            </a:r>
          </a:p>
        </p:txBody>
      </p:sp>
      <p:sp>
        <p:nvSpPr>
          <p:cNvPr id="26" name="Isosceles Triangle 25"/>
          <p:cNvSpPr/>
          <p:nvPr/>
        </p:nvSpPr>
        <p:spPr>
          <a:xfrm rot="5400000">
            <a:off x="7148779" y="2798064"/>
            <a:ext cx="155448" cy="182880"/>
          </a:xfrm>
          <a:prstGeom prst="triangle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40803" y="1783080"/>
            <a:ext cx="2035454" cy="329184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32243" y="1783080"/>
            <a:ext cx="1852574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badi"/>
              </a:rPr>
              <a:t>4 · Sepsis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40803" y="2112264"/>
            <a:ext cx="2035454" cy="155448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50531" y="2203704"/>
            <a:ext cx="1815998" cy="14264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E. coli bacteraemia or meningitis; sepsis does not exclude galactosemia</a:t>
            </a:r>
          </a:p>
        </p:txBody>
      </p:sp>
      <p:sp>
        <p:nvSpPr>
          <p:cNvPr id="31" name="Isosceles Triangle 30"/>
          <p:cNvSpPr/>
          <p:nvPr/>
        </p:nvSpPr>
        <p:spPr>
          <a:xfrm rot="5400000">
            <a:off x="9412833" y="2798064"/>
            <a:ext cx="155448" cy="182880"/>
          </a:xfrm>
          <a:prstGeom prst="triangle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604857" y="1783080"/>
            <a:ext cx="2035454" cy="329184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96297" y="1783080"/>
            <a:ext cx="1852574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badi"/>
              </a:rPr>
              <a:t>5 · Lactose 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04857" y="2112264"/>
            <a:ext cx="2035454" cy="1554480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14585" y="2203704"/>
            <a:ext cx="1815998" cy="14264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Neonatal signs settle quickly when lactose-free feeds start in days 3–10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3931920"/>
            <a:ext cx="11091672" cy="1828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1" i="0">
                <a:solidFill>
                  <a:srgbClr val="1B355E"/>
                </a:solidFill>
                <a:latin typeface="Abadi"/>
              </a:rPr>
              <a:t>Do not wait for the result.  </a:t>
            </a:r>
            <a:r>
              <a:rPr sz="1250" b="0" i="0">
                <a:solidFill>
                  <a:srgbClr val="1A1A1A"/>
                </a:solidFill>
                <a:latin typeface="Abadi"/>
              </a:rPr>
              <a:t>The 2017 international GalNet guideline gives a strong recommendation to start a galactose-free formula (soy, casein hydrolysate or elemental) as soon as classic galactosemia is suspected, before confirmation. Breastfeeding and expressed breast milk are contraindicated in classic galactosemia (CDC).</a:t>
            </a:r>
          </a:p>
          <a:p>
            <a:pPr algn="l">
              <a:spcBef>
                <a:spcPts val="800"/>
              </a:spcBef>
            </a:pPr>
            <a:r>
              <a:rPr sz="1250" b="1" i="0">
                <a:solidFill>
                  <a:srgbClr val="B22222"/>
                </a:solidFill>
                <a:latin typeface="Abadi"/>
              </a:rPr>
              <a:t>What it costs.  </a:t>
            </a:r>
            <a:r>
              <a:rPr sz="1250" b="0" i="0">
                <a:solidFill>
                  <a:srgbClr val="1A1A1A"/>
                </a:solidFill>
                <a:latin typeface="Abadi"/>
              </a:rPr>
              <a:t>A few days of hydrolysate in an infant who turns out not to have galactosemia is a small price; one more day of lactose in an infant who does can mean sepsis or liver failure.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412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THE GRAM-NEGATIVE CLUE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LATE DIAGNOSIS, E. COLI, DEATH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Massachusetts newborn-screening cohort, 1977: galactosemic infants and severe E. coli infection, number of infants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Levy HL, et al. Pediatr Res 1977;11:502 (abstract) · Levy HL, et al. N Engl J Med 1977;297:823–5 · Waggoner DD, et al. J Inherit Metab Dis 1990;13:802–18 (via GeneReviews)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874519"/>
            <a:ext cx="137160" cy="137160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1810512"/>
            <a:ext cx="219456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Abadi"/>
              </a:rPr>
              <a:t>Infants, 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120640"/>
            <a:ext cx="4754880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25651" y="2468880"/>
            <a:ext cx="580461" cy="2651759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7051" y="2194560"/>
            <a:ext cx="1088136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ctr"/>
            <a:r>
              <a:rPr sz="1000" b="1" i="0">
                <a:solidFill>
                  <a:srgbClr val="1B355E"/>
                </a:solidFill>
                <a:latin typeface="Abadi"/>
              </a:rPr>
              <a:t>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166359"/>
            <a:ext cx="158496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1A1A1A"/>
                </a:solidFill>
                <a:latin typeface="Abadi"/>
              </a:rPr>
              <a:t>Galactosemic infants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10612" y="4059935"/>
            <a:ext cx="580461" cy="1060703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82012" y="3785615"/>
            <a:ext cx="1088136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ctr"/>
            <a:r>
              <a:rPr sz="1000" b="1" i="0">
                <a:solidFill>
                  <a:srgbClr val="1B355E"/>
                </a:solidFill>
                <a:latin typeface="Abad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33600" y="5166359"/>
            <a:ext cx="158496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1A1A1A"/>
                </a:solidFill>
                <a:latin typeface="Abadi"/>
              </a:rPr>
              <a:t>Severe E. coli infection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95572" y="4325112"/>
            <a:ext cx="580461" cy="795527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66971" y="4050791"/>
            <a:ext cx="1088136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ctr"/>
            <a:r>
              <a:rPr sz="1000" b="1" i="0">
                <a:solidFill>
                  <a:srgbClr val="1B355E"/>
                </a:solidFill>
                <a:latin typeface="Abad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18560" y="5166359"/>
            <a:ext cx="158496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1A1A1A"/>
                </a:solidFill>
                <a:latin typeface="Abadi"/>
              </a:rPr>
              <a:t>Died of bacteraemia or meningitis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1783080"/>
            <a:ext cx="5577840" cy="3931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1B355E"/>
                </a:solidFill>
                <a:latin typeface="Abadi"/>
              </a:rPr>
              <a:t>3 of 3 deaths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1A1A1A"/>
                </a:solidFill>
                <a:latin typeface="Abadi"/>
              </a:rPr>
              <a:t>All three deaths were in infants diagnosed after the first week; the seven treated before day 6 did well.</a:t>
            </a:r>
          </a:p>
          <a:p>
            <a:pPr algn="l">
              <a:spcBef>
                <a:spcPts val="300"/>
              </a:spcBef>
            </a:pPr>
            <a:r>
              <a:rPr sz="1700" b="1" i="0">
                <a:solidFill>
                  <a:srgbClr val="1B355E"/>
                </a:solidFill>
                <a:latin typeface="Abadi"/>
              </a:rPr>
              <a:t>Not antibodies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1A1A1A"/>
                </a:solidFill>
                <a:latin typeface="Abadi"/>
              </a:rPr>
              <a:t>Immunoglobulins were normal, and galactose did not clearly impair leukocyte killing of E. coli in vitro: the mechanism is still unsettled.</a:t>
            </a:r>
          </a:p>
          <a:p>
            <a:pPr algn="l">
              <a:spcBef>
                <a:spcPts val="300"/>
              </a:spcBef>
            </a:pPr>
            <a:r>
              <a:rPr sz="1700" b="1" i="0">
                <a:solidFill>
                  <a:srgbClr val="1B355E"/>
                </a:solidFill>
                <a:latin typeface="Abadi"/>
              </a:rPr>
              <a:t>About 10%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1A1A1A"/>
                </a:solidFill>
                <a:latin typeface="Abadi"/>
              </a:rPr>
              <a:t>Sepsis in 270 symptomatic neonates in the 1990 international survey, with E. coli in 26.</a:t>
            </a:r>
          </a:p>
          <a:p>
            <a:pPr algn="l">
              <a:spcBef>
                <a:spcPts val="300"/>
              </a:spcBef>
            </a:pPr>
            <a:r>
              <a:rPr sz="1700" b="1" i="0">
                <a:solidFill>
                  <a:srgbClr val="1B355E"/>
                </a:solidFill>
                <a:latin typeface="Abadi"/>
              </a:rPr>
              <a:t>Bedside rule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1A1A1A"/>
                </a:solidFill>
                <a:latin typeface="Abadi"/>
              </a:rPr>
              <a:t>E. coli sepsis plus jaundice in a neonate: stop lactose and send red-cell GALT before any transfusion.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412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MEASURE THE ENZYME BEFORE THE BLOOD BANK DOES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Tests for classic galactosemia: what each shows and where each fails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Welling L, et al. J Inherit Metab Dis 2017;40:171–6 · Berry GT. GeneReviews 2021 · Fawaz R, et al. JPGN 2017;64:154–68 · Pyhtila BM, et al. JIMD Rep 2015;15:79–93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783080"/>
          <a:ext cx="11091672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206240"/>
                <a:gridCol w="4507992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badi"/>
                        </a:rPr>
                        <a:t>Test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badi"/>
                        </a:rPr>
                        <a:t>What it shows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badi"/>
                        </a:rPr>
                        <a:t>Pitfall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Red-cell GALT activity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Absent or below 10%: classic; treat (GalNet)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Donor red cells carry GALT: a transfusion can give a false-normal result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GALT genotype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Two pathogenic alleles confirm; p.S135L is treated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Takes days; do not delay diet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Red-cell Gal-1-P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High at diagnosis; monitored at 3 and 9 months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Falls on diet; not a screening test once lactose stops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Urine galactitol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Raised; useful after transfusion (GeneReviews)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Age-specific reference ranges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Urine reducing substances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Tier-1 screen in the 2017 joint guideline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Negative if the infant is not taking lactose (expert opinion)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Newborn screen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All 51 US programmes since 2004; about 1 in 48,000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Result may arrive after the septic window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8640" y="5440680"/>
            <a:ext cx="11091672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Duarte variant (about 1 in 4,000 white infants): GalNet says do not treat and no endocrine follow-up.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412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OUTCOME DESPITE DIET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DIET SAVES THE LIVER, NOT THE BRAIN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Long-term complications in treated classic galactosemia, % of assessed individuals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Berry GT. GeneReviews NBK1518, 2021 · Fridovich-Keil JL, et al. J Inherit Metab Dis 2011;34:357–66 · Waggoner DD, et al. J Inherit Metab Dis 1990;13:802–18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874519"/>
            <a:ext cx="3108960" cy="3383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r"/>
            <a:r>
              <a:rPr sz="1100" b="0" i="0">
                <a:solidFill>
                  <a:srgbClr val="1A1A1A"/>
                </a:solidFill>
                <a:latin typeface="Abadi"/>
              </a:rPr>
              <a:t>Primary ovarian insufficiency (girls, n = 47)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94760" y="1938527"/>
            <a:ext cx="2221992" cy="219456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874519"/>
            <a:ext cx="1463040" cy="3383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Abadi"/>
              </a:rPr>
              <a:t>81%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441448"/>
            <a:ext cx="3108960" cy="3383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r"/>
            <a:r>
              <a:rPr sz="1100" b="0" i="0">
                <a:solidFill>
                  <a:srgbClr val="1A1A1A"/>
                </a:solidFill>
                <a:latin typeface="Abadi"/>
              </a:rPr>
              <a:t>Speech problems (n = 243)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94760" y="2505456"/>
            <a:ext cx="1536192" cy="219456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94960" y="2441448"/>
            <a:ext cx="1463040" cy="3383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Abadi"/>
              </a:rPr>
              <a:t>56%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008376"/>
            <a:ext cx="3108960" cy="3383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r"/>
            <a:r>
              <a:rPr sz="1100" b="0" i="0">
                <a:solidFill>
                  <a:srgbClr val="1A1A1A"/>
                </a:solidFill>
                <a:latin typeface="Abadi"/>
              </a:rPr>
              <a:t>Developmental delay (n = 177)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94760" y="3072384"/>
            <a:ext cx="1234440" cy="219456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93208" y="3008376"/>
            <a:ext cx="1463040" cy="3383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Abadi"/>
              </a:rPr>
              <a:t>45%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575303"/>
            <a:ext cx="3108960" cy="3383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r"/>
            <a:r>
              <a:rPr sz="1100" b="0" i="0">
                <a:solidFill>
                  <a:srgbClr val="1A1A1A"/>
                </a:solidFill>
                <a:latin typeface="Abadi"/>
              </a:rPr>
              <a:t>Cataract (n = 314)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94760" y="3639311"/>
            <a:ext cx="822960" cy="219456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81728" y="3575303"/>
            <a:ext cx="1463040" cy="3383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Abadi"/>
              </a:rPr>
              <a:t>30%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142231"/>
            <a:ext cx="3108960" cy="3383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r"/>
            <a:r>
              <a:rPr sz="1100" b="0" i="0">
                <a:solidFill>
                  <a:srgbClr val="1A1A1A"/>
                </a:solidFill>
                <a:latin typeface="Abadi"/>
              </a:rPr>
              <a:t>Tremor or ataxia (over 5 y)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94760" y="4206240"/>
            <a:ext cx="493776" cy="219456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52544" y="4142231"/>
            <a:ext cx="1463040" cy="3383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Abadi"/>
              </a:rPr>
              <a:t>18%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0" y="1783080"/>
            <a:ext cx="4251960" cy="3931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1B355E"/>
                </a:solidFill>
                <a:latin typeface="Abadi"/>
              </a:rPr>
              <a:t>Over 80%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1A1A1A"/>
                </a:solidFill>
                <a:latin typeface="Abadi"/>
              </a:rPr>
              <a:t>Of girls and women develop ovarian insufficiency, perhaps over 90% (2011 review).</a:t>
            </a:r>
          </a:p>
          <a:p>
            <a:pPr algn="l">
              <a:spcBef>
                <a:spcPts val="300"/>
              </a:spcBef>
            </a:pPr>
            <a:r>
              <a:rPr sz="1700" b="1" i="0">
                <a:solidFill>
                  <a:srgbClr val="1B355E"/>
                </a:solidFill>
                <a:latin typeface="Abadi"/>
              </a:rPr>
              <a:t>Not the delay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1A1A1A"/>
                </a:solidFill>
                <a:latin typeface="Abadi"/>
              </a:rPr>
              <a:t>In the 1990 survey poor long-term outcome was not explained by late diagnosis or poor diet control.</a:t>
            </a:r>
          </a:p>
          <a:p>
            <a:pPr algn="l">
              <a:spcBef>
                <a:spcPts val="300"/>
              </a:spcBef>
            </a:pPr>
            <a:r>
              <a:rPr sz="1700" b="1" i="0">
                <a:solidFill>
                  <a:srgbClr val="1B355E"/>
                </a:solidFill>
                <a:latin typeface="Abadi"/>
              </a:rPr>
              <a:t>Follow-up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1A1A1A"/>
                </a:solidFill>
                <a:latin typeface="Abadi"/>
              </a:rPr>
              <a:t>GalNet: IQ from age 2–3, speech checks from 7–12 months, puberty review by 12, bone density from 8–10.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412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TYROSINEMIA TYPE 1: THE PICTURE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A LIVER THAT FAILS BEFORE IT TURNS YELLOW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Four organ systems of FAH deficiency, before nitisinone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Chinsky JM, et al. Genet Med 2017;19:1380–95 · Fawaz R, et al. JPGN 2017;64:154–68 · van Spronsen FJ, et al. Hepatology 1994;20:1187–91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83080"/>
            <a:ext cx="2587752" cy="237744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83080"/>
            <a:ext cx="2587752" cy="128016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020824"/>
            <a:ext cx="2221992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Liver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496312"/>
            <a:ext cx="2221992" cy="1554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Abadi"/>
              </a:rPr>
              <a:t>▪  INR out of proportion to bilirubin</a:t>
            </a:r>
          </a:p>
          <a:p>
            <a:pPr algn="l">
              <a:spcBef>
                <a:spcPts val="500"/>
              </a:spcBef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Very high AFP, but neonatal AFP is high anyway</a:t>
            </a:r>
          </a:p>
          <a:p>
            <a:pPr algn="l">
              <a:spcBef>
                <a:spcPts val="500"/>
              </a:spcBef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Acute failure in the first months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3280" y="1783080"/>
            <a:ext cx="2587752" cy="237744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83280" y="1783080"/>
            <a:ext cx="2587752" cy="128016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66160" y="2020824"/>
            <a:ext cx="2221992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Kidney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2496312"/>
            <a:ext cx="2221992" cy="1554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Abadi"/>
              </a:rPr>
              <a:t>▪  Fanconi syndrome</a:t>
            </a:r>
          </a:p>
          <a:p>
            <a:pPr algn="l">
              <a:spcBef>
                <a:spcPts val="500"/>
              </a:spcBef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Hypophosphataemic rickets</a:t>
            </a:r>
          </a:p>
          <a:p>
            <a:pPr algn="l">
              <a:spcBef>
                <a:spcPts val="500"/>
              </a:spcBef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Tubular acidosis, aminoaciduria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783080"/>
            <a:ext cx="2587752" cy="237744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1783080"/>
            <a:ext cx="2587752" cy="128016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020824"/>
            <a:ext cx="2221992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Nerves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496312"/>
            <a:ext cx="2221992" cy="1554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Abadi"/>
              </a:rPr>
              <a:t>▪  Porphyria-like crises</a:t>
            </a:r>
          </a:p>
          <a:p>
            <a:pPr algn="l">
              <a:spcBef>
                <a:spcPts val="500"/>
              </a:spcBef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Pain, hypertension, hyponatraemia</a:t>
            </a:r>
          </a:p>
          <a:p>
            <a:pPr algn="l">
              <a:spcBef>
                <a:spcPts val="500"/>
              </a:spcBef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Can end in respiratory failure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52560" y="1783080"/>
            <a:ext cx="2587752" cy="2377440"/>
          </a:xfrm>
          <a:prstGeom prst="rect">
            <a:avLst/>
          </a:prstGeom>
          <a:solidFill>
            <a:srgbClr val="E6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52560" y="1783080"/>
            <a:ext cx="2587752" cy="128016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5440" y="2020824"/>
            <a:ext cx="2221992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Cancer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2496312"/>
            <a:ext cx="2221992" cy="1554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Abadi"/>
              </a:rPr>
              <a:t>▪  Hepatocellular carcinoma in 17–37% before nitisinone</a:t>
            </a:r>
          </a:p>
          <a:p>
            <a:pPr algn="l">
              <a:spcBef>
                <a:spcPts val="500"/>
              </a:spcBef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Risk rises with age at start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389120"/>
            <a:ext cx="11091672" cy="1371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1" i="0">
                <a:solidFill>
                  <a:srgbClr val="1B355E"/>
                </a:solidFill>
                <a:latin typeface="Abadi"/>
              </a:rPr>
              <a:t>History.  </a:t>
            </a:r>
            <a:r>
              <a:rPr sz="1250" b="0" i="0">
                <a:solidFill>
                  <a:srgbClr val="1A1A1A"/>
                </a:solidFill>
                <a:latin typeface="Abadi"/>
              </a:rPr>
              <a:t>Infants who presented with liver failure before 2 months had a 2-year survival of 29% in the pre-nitisinone era (van Spronsen 1994).</a:t>
            </a:r>
          </a:p>
          <a:p>
            <a:pPr algn="l">
              <a:spcBef>
                <a:spcPts val="800"/>
              </a:spcBef>
            </a:pPr>
            <a:r>
              <a:rPr sz="1250" b="1" i="0">
                <a:solidFill>
                  <a:srgbClr val="B22222"/>
                </a:solidFill>
                <a:latin typeface="Abadi"/>
              </a:rPr>
              <a:t>Feeding does not matter.  </a:t>
            </a:r>
            <a:r>
              <a:rPr sz="1250" b="0" i="0">
                <a:solidFill>
                  <a:srgbClr val="1A1A1A"/>
                </a:solidFill>
                <a:latin typeface="Abadi"/>
              </a:rPr>
              <a:t>Unlike galactosemia and HFI, symptoms do not wait for a particular food: dietary protein supplies tyrosine from the first day.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412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THE NEWBORN-SCREEN BLIND SPOT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SCREEN SUCCINYLACETONE, NOT TYROSINE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Why tyrosine-first newborn screening misses tyrosinemia type 1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De Jesús VR, et al. Mol Genet Metab 2014;113:67–75 · Chinsky JM, et al. Genet Med 2017;19:1380–95 · Larochelle J, et al. Mol Genet Metab 2012;107:49–54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83080"/>
            <a:ext cx="2587752" cy="20574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83080"/>
            <a:ext cx="2587752" cy="109728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057400"/>
            <a:ext cx="2221992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B355E"/>
                </a:solidFill>
                <a:latin typeface="Abadi"/>
              </a:rPr>
              <a:t>≥50%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697480"/>
            <a:ext cx="2221992" cy="1051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Affected infants whose screening tyrosine overlaps the normal range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3280" y="1783080"/>
            <a:ext cx="2587752" cy="20574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83280" y="1783080"/>
            <a:ext cx="2587752" cy="109728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66160" y="2057400"/>
            <a:ext cx="2221992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B355E"/>
                </a:solidFill>
                <a:latin typeface="Abadi"/>
              </a:rPr>
              <a:t>~28%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2697480"/>
            <a:ext cx="2221992" cy="1051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Patients a tyrosine-first approach may miss (2017 consensus)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783080"/>
            <a:ext cx="2587752" cy="20574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1783080"/>
            <a:ext cx="2587752" cy="109728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057400"/>
            <a:ext cx="2221992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B355E"/>
                </a:solidFill>
                <a:latin typeface="Abadi"/>
              </a:rPr>
              <a:t>38 of 51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697480"/>
            <a:ext cx="2221992" cy="1051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US programmes measuring succinylacetone in 2014, although 50 screened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52560" y="1783080"/>
            <a:ext cx="2587752" cy="20574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52560" y="1783080"/>
            <a:ext cx="2587752" cy="109728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5440" y="2057400"/>
            <a:ext cx="2221992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B355E"/>
                </a:solidFill>
                <a:latin typeface="Abadi"/>
              </a:rPr>
              <a:t>1 in 1,846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2697480"/>
            <a:ext cx="2221992" cy="1051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Births in Saguenay–Lac-Saint-Jean, Quebec; about 1 in 100,000 worldwide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069080"/>
            <a:ext cx="11091672" cy="1645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1" i="0">
                <a:solidFill>
                  <a:srgbClr val="1B355E"/>
                </a:solidFill>
                <a:latin typeface="Abadi"/>
              </a:rPr>
              <a:t>Recommendation.  </a:t>
            </a:r>
            <a:r>
              <a:rPr sz="1250" b="0" i="0">
                <a:solidFill>
                  <a:srgbClr val="1A1A1A"/>
                </a:solidFill>
                <a:latin typeface="Abadi"/>
              </a:rPr>
              <a:t>The US–Canada consensus makes blood succinylacetone the primary screening marker and advises against tyrosine as the primary marker. Many infants have normal tyrosine when sampled before 48 hours.</a:t>
            </a:r>
          </a:p>
          <a:p>
            <a:pPr algn="l">
              <a:spcBef>
                <a:spcPts val="800"/>
              </a:spcBef>
            </a:pPr>
            <a:r>
              <a:rPr sz="1250" b="1" i="0">
                <a:solidFill>
                  <a:srgbClr val="B22222"/>
                </a:solidFill>
                <a:latin typeface="Abadi"/>
              </a:rPr>
              <a:t>In clinic.  </a:t>
            </a:r>
            <a:r>
              <a:rPr sz="1250" b="0" i="0">
                <a:solidFill>
                  <a:srgbClr val="1A1A1A"/>
                </a:solidFill>
                <a:latin typeface="Abadi"/>
              </a:rPr>
              <a:t>Ask which marker your state or country uses. A normal screen from a tyrosine-based programme does not exclude the disease in a cholestatic infant with coagulopathy: send urine succinylacetone.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412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NITISINONE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START IN MONTH ONE, AVOID THE TRANSPLANT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Quebec cohort, 78 patients born 1984–2004: liver transplantation by nitisinone start, %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Larochelle J, et al. Mol Genet Metab 2012;107:49–54 · Lindstedt S, et al. Lancet 1992;340:813–7 · Chinsky JM, et al. Genet Med 2017;19:1380–95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874519"/>
            <a:ext cx="137160" cy="13716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1810512"/>
            <a:ext cx="219456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Abadi"/>
              </a:rPr>
              <a:t>Liver transplantation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120640"/>
            <a:ext cx="4754880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25651" y="3237890"/>
            <a:ext cx="580461" cy="1882749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7051" y="2963570"/>
            <a:ext cx="1088136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ctr"/>
            <a:r>
              <a:rPr sz="1000" b="1" i="0">
                <a:solidFill>
                  <a:srgbClr val="1B355E"/>
                </a:solidFill>
                <a:latin typeface="Abadi"/>
              </a:rPr>
              <a:t>71%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166359"/>
            <a:ext cx="158496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1A1A1A"/>
                </a:solidFill>
                <a:latin typeface="Abadi"/>
              </a:rPr>
              <a:t>Never treated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10612" y="4431182"/>
            <a:ext cx="580461" cy="689457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82012" y="4156862"/>
            <a:ext cx="1088136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ctr"/>
            <a:r>
              <a:rPr sz="1000" b="1" i="0">
                <a:solidFill>
                  <a:srgbClr val="1B355E"/>
                </a:solidFill>
                <a:latin typeface="Abadi"/>
              </a:rPr>
              <a:t>26%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33600" y="5166359"/>
            <a:ext cx="158496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1A1A1A"/>
                </a:solidFill>
                <a:latin typeface="Abadi"/>
              </a:rPr>
              <a:t>Started after 1 month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95572" y="5102352"/>
            <a:ext cx="580461" cy="18288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66971" y="4828032"/>
            <a:ext cx="1088136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ctr"/>
            <a:r>
              <a:rPr sz="1000" b="1" i="0">
                <a:solidFill>
                  <a:srgbClr val="1B355E"/>
                </a:solidFill>
                <a:latin typeface="Abadi"/>
              </a:rPr>
              <a:t>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18560" y="5166359"/>
            <a:ext cx="158496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1A1A1A"/>
                </a:solidFill>
                <a:latin typeface="Abadi"/>
              </a:rPr>
              <a:t>Started before 1 month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1783080"/>
            <a:ext cx="5577840" cy="3931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1B355E"/>
                </a:solidFill>
                <a:latin typeface="Abadi"/>
              </a:rPr>
              <a:t>184 versus 0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1A1A1A"/>
                </a:solidFill>
                <a:latin typeface="Abadi"/>
              </a:rPr>
              <a:t>Hospitalisations for acute complications off nitisinone versus on it.</a:t>
            </a:r>
          </a:p>
          <a:p>
            <a:pPr algn="l">
              <a:spcBef>
                <a:spcPts val="300"/>
              </a:spcBef>
            </a:pPr>
            <a:r>
              <a:rPr sz="1700" b="1" i="0">
                <a:solidFill>
                  <a:srgbClr val="1B355E"/>
                </a:solidFill>
                <a:latin typeface="Abadi"/>
              </a:rPr>
              <a:t>10 versus 2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1A1A1A"/>
                </a:solidFill>
                <a:latin typeface="Abadi"/>
              </a:rPr>
              <a:t>Deaths untreated versus treated; both treated deaths were transplant complications.</a:t>
            </a:r>
          </a:p>
          <a:p>
            <a:pPr algn="l">
              <a:spcBef>
                <a:spcPts val="300"/>
              </a:spcBef>
            </a:pPr>
            <a:r>
              <a:rPr sz="1700" b="1" i="0">
                <a:solidFill>
                  <a:srgbClr val="1B355E"/>
                </a:solidFill>
                <a:latin typeface="Abadi"/>
              </a:rPr>
              <a:t>No liver disease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1A1A1A"/>
                </a:solidFill>
                <a:latin typeface="Abadi"/>
              </a:rPr>
              <a:t>No early-treated patient had detectable liver disease after more than 5 years.</a:t>
            </a:r>
          </a:p>
          <a:p>
            <a:pPr algn="l">
              <a:spcBef>
                <a:spcPts val="300"/>
              </a:spcBef>
            </a:pPr>
            <a:r>
              <a:rPr sz="1700" b="1" i="0">
                <a:solidFill>
                  <a:srgbClr val="1B355E"/>
                </a:solidFill>
                <a:latin typeface="Abadi"/>
              </a:rPr>
              <a:t>1992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1A1A1A"/>
                </a:solidFill>
                <a:latin typeface="Abadi"/>
              </a:rPr>
              <a:t>Lindstedt's first five patients: succinylacetone fell within hours of the first doses.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412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TREAT TO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THE LATER THE START, THE HIGHER THE CANCER 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Hepatocellular carcinoma by age at nitisinone start (Holme and Lindstedt, as cited in the 2017 consensus), %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Chinsky JM, et al. Genet Med 2017;19:1380–95 · Larochelle J, et al. Mol Genet Metab 2012;107:49–54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20240"/>
            <a:ext cx="2377440" cy="3383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r"/>
            <a:r>
              <a:rPr sz="1100" b="0" i="0">
                <a:solidFill>
                  <a:srgbClr val="1A1A1A"/>
                </a:solidFill>
                <a:latin typeface="Abadi"/>
              </a:rPr>
              <a:t>Started before 1 year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63240" y="1984248"/>
            <a:ext cx="62179" cy="219456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89427" y="1920240"/>
            <a:ext cx="1463040" cy="3383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Abadi"/>
              </a:rPr>
              <a:t>&lt;1%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560320"/>
            <a:ext cx="2377440" cy="3383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r"/>
            <a:r>
              <a:rPr sz="1100" b="0" i="0">
                <a:solidFill>
                  <a:srgbClr val="1A1A1A"/>
                </a:solidFill>
                <a:latin typeface="Abadi"/>
              </a:rPr>
              <a:t>Started at 1–2 years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63240" y="2624327"/>
            <a:ext cx="544068" cy="219456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71316" y="2560320"/>
            <a:ext cx="1463040" cy="3383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Abadi"/>
              </a:rPr>
              <a:t>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200400"/>
            <a:ext cx="2377440" cy="3383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r"/>
            <a:r>
              <a:rPr sz="1100" b="0" i="0">
                <a:solidFill>
                  <a:srgbClr val="1A1A1A"/>
                </a:solidFill>
                <a:latin typeface="Abadi"/>
              </a:rPr>
              <a:t>Started at 2–7 years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63240" y="3264408"/>
            <a:ext cx="1632203" cy="219456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9452" y="3200400"/>
            <a:ext cx="1463040" cy="3383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Abadi"/>
              </a:rPr>
              <a:t>21%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840479"/>
            <a:ext cx="2377440" cy="3383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r"/>
            <a:r>
              <a:rPr sz="1100" b="0" i="0">
                <a:solidFill>
                  <a:srgbClr val="1A1A1A"/>
                </a:solidFill>
                <a:latin typeface="Abadi"/>
              </a:rPr>
              <a:t>Started after 7 years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63240" y="3904487"/>
            <a:ext cx="2720340" cy="219456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47588" y="3840479"/>
            <a:ext cx="1463040" cy="3383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Abadi"/>
              </a:rPr>
              <a:t>35%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1783080"/>
            <a:ext cx="4709160" cy="3931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1B355E"/>
                </a:solidFill>
                <a:latin typeface="Abadi"/>
              </a:rPr>
              <a:t>Dose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1A1A1A"/>
                </a:solidFill>
                <a:latin typeface="Abadi"/>
              </a:rPr>
              <a:t>1 mg/kg/day in two doses; 2 mg/kg/day in acute liver failure or poor response.</a:t>
            </a:r>
          </a:p>
          <a:p>
            <a:pPr algn="l">
              <a:spcBef>
                <a:spcPts val="300"/>
              </a:spcBef>
            </a:pPr>
            <a:r>
              <a:rPr sz="1700" b="1" i="0">
                <a:solidFill>
                  <a:srgbClr val="1B355E"/>
                </a:solidFill>
                <a:latin typeface="Abadi"/>
              </a:rPr>
              <a:t>Targets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1A1A1A"/>
                </a:solidFill>
                <a:latin typeface="Abadi"/>
              </a:rPr>
              <a:t>Blood nitisinone 40–60 µmol/L, succinylacetone undetectable; tyrosine 200–600 and phenylalanine 20–80 µmol/L on a low-protein diet.</a:t>
            </a:r>
          </a:p>
          <a:p>
            <a:pPr algn="l">
              <a:spcBef>
                <a:spcPts val="300"/>
              </a:spcBef>
            </a:pPr>
            <a:r>
              <a:rPr sz="1700" b="1" i="0">
                <a:solidFill>
                  <a:srgbClr val="1B355E"/>
                </a:solidFill>
                <a:latin typeface="Abadi"/>
              </a:rPr>
              <a:t>Watch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1A1A1A"/>
                </a:solidFill>
                <a:latin typeface="Abadi"/>
              </a:rPr>
              <a:t>AFP should fall through year 1; a plateau or rise means imaging now. Image the liver every 3–6 months.</a:t>
            </a:r>
          </a:p>
          <a:p>
            <a:pPr algn="l">
              <a:spcBef>
                <a:spcPts val="300"/>
              </a:spcBef>
            </a:pPr>
            <a:r>
              <a:rPr sz="1700" b="1" i="0">
                <a:solidFill>
                  <a:srgbClr val="1B355E"/>
                </a:solidFill>
                <a:latin typeface="Abadi"/>
              </a:rPr>
              <a:t>Transplant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1A1A1A"/>
                </a:solidFill>
                <a:latin typeface="Abadi"/>
              </a:rPr>
              <a:t>Consider if no response after about a week, or 2–3 days with severe coagulopathy or encephalopathy.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412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HEREDITARY FRUCTOSE INTOLERANCE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WHY THE BREASTFED INFANT IS SAFE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The disease needs an exposure that human milk does not contain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Gaughan S, Ayres L, Baker PR II. GeneReviews NBK333439, 2021 · Bouteldja N, Timson DJ. J Inherit Metab Dis 2010;33:105–12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83080"/>
            <a:ext cx="2035454" cy="329184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783080"/>
            <a:ext cx="1852574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badi"/>
              </a:rPr>
              <a:t>1 · Breast milk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112264"/>
            <a:ext cx="2035454" cy="1600200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203704"/>
            <a:ext cx="1815998" cy="1472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Lactose only: glucose plus galactose. Aldolase B is not needed; the infant thrives</a:t>
            </a:r>
          </a:p>
        </p:txBody>
      </p:sp>
      <p:sp>
        <p:nvSpPr>
          <p:cNvPr id="16" name="Isosceles Triangle 15"/>
          <p:cNvSpPr/>
          <p:nvPr/>
        </p:nvSpPr>
        <p:spPr>
          <a:xfrm rot="5400000">
            <a:off x="2620670" y="2820924"/>
            <a:ext cx="155448" cy="182880"/>
          </a:xfrm>
          <a:prstGeom prst="triangle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12694" y="1783080"/>
            <a:ext cx="2035454" cy="329184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04134" y="1783080"/>
            <a:ext cx="1852574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badi"/>
              </a:rPr>
              <a:t>2 · Exposure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2694" y="2112264"/>
            <a:ext cx="2035454" cy="160020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22422" y="2203704"/>
            <a:ext cx="1815998" cy="1472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Weaning foods, juice, sucrose-sweetened formula, sorbitol syrups, sucrose for analgesia</a:t>
            </a:r>
          </a:p>
        </p:txBody>
      </p:sp>
      <p:sp>
        <p:nvSpPr>
          <p:cNvPr id="21" name="Isosceles Triangle 20"/>
          <p:cNvSpPr/>
          <p:nvPr/>
        </p:nvSpPr>
        <p:spPr>
          <a:xfrm rot="5400000">
            <a:off x="4884724" y="2820924"/>
            <a:ext cx="155448" cy="182880"/>
          </a:xfrm>
          <a:prstGeom prst="triangle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76748" y="1783080"/>
            <a:ext cx="2035454" cy="329184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68188" y="1783080"/>
            <a:ext cx="1852574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badi"/>
              </a:rPr>
              <a:t>3 · Trap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76748" y="2112264"/>
            <a:ext cx="2035454" cy="160020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86476" y="2203704"/>
            <a:ext cx="1815998" cy="1472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Fructose-1-phosphate accumulates and sequesters phosphate; ATP falls, uric acid rises</a:t>
            </a:r>
          </a:p>
        </p:txBody>
      </p:sp>
      <p:sp>
        <p:nvSpPr>
          <p:cNvPr id="26" name="Isosceles Triangle 25"/>
          <p:cNvSpPr/>
          <p:nvPr/>
        </p:nvSpPr>
        <p:spPr>
          <a:xfrm rot="5400000">
            <a:off x="7148779" y="2820924"/>
            <a:ext cx="155448" cy="182880"/>
          </a:xfrm>
          <a:prstGeom prst="triangle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40803" y="1783080"/>
            <a:ext cx="2035454" cy="329184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32243" y="1783080"/>
            <a:ext cx="1852574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badi"/>
              </a:rPr>
              <a:t>4 · Hypoglycaemia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40803" y="2112264"/>
            <a:ext cx="2035454" cy="160020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50531" y="2203704"/>
            <a:ext cx="1815998" cy="1472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Glycogen breakdown and gluconeogenesis stall; glucagon may not work</a:t>
            </a:r>
          </a:p>
        </p:txBody>
      </p:sp>
      <p:sp>
        <p:nvSpPr>
          <p:cNvPr id="31" name="Isosceles Triangle 30"/>
          <p:cNvSpPr/>
          <p:nvPr/>
        </p:nvSpPr>
        <p:spPr>
          <a:xfrm rot="5400000">
            <a:off x="9412833" y="2820924"/>
            <a:ext cx="155448" cy="182880"/>
          </a:xfrm>
          <a:prstGeom prst="triangle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604857" y="1783080"/>
            <a:ext cx="2035454" cy="329184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96297" y="1783080"/>
            <a:ext cx="1852574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badi"/>
              </a:rPr>
              <a:t>5 · Liver, kidney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04857" y="2112264"/>
            <a:ext cx="2035454" cy="160020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14585" y="2203704"/>
            <a:ext cx="1815998" cy="1472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Hepatomegaly, steatosis, fibrosis, sometimes failure; proximal tubulopathy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3977639"/>
            <a:ext cx="11091672" cy="1783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1" i="0">
                <a:solidFill>
                  <a:srgbClr val="B22222"/>
                </a:solidFill>
                <a:latin typeface="Abadi"/>
              </a:rPr>
              <a:t>Neonatal exceptions.  </a:t>
            </a:r>
            <a:r>
              <a:rPr sz="1250" b="0" i="0">
                <a:solidFill>
                  <a:srgbClr val="1A1A1A"/>
                </a:solidFill>
                <a:latin typeface="Abadi"/>
              </a:rPr>
              <a:t>Deaths from hypoglycaemia have followed 24% sucrose given for procedural pain. Rotavirus vaccines (Rotarix and RotaTeq) each contain over 1,000 mg sucrose per dose and are avoided in known HFI.</a:t>
            </a:r>
          </a:p>
          <a:p>
            <a:pPr algn="l">
              <a:spcBef>
                <a:spcPts val="800"/>
              </a:spcBef>
            </a:pPr>
            <a:r>
              <a:rPr sz="1250" b="1" i="0">
                <a:solidFill>
                  <a:srgbClr val="1B355E"/>
                </a:solidFill>
                <a:latin typeface="Abadi"/>
              </a:rPr>
              <a:t>The older child.  </a:t>
            </a:r>
            <a:r>
              <a:rPr sz="1250" b="0" i="0">
                <a:solidFill>
                  <a:srgbClr val="1A1A1A"/>
                </a:solidFill>
                <a:latin typeface="Abadi"/>
              </a:rPr>
              <a:t>Natural aversion to sweets and fruit, good teeth, unexplained steatosis or tubulopathy: the history is the test.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412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DIAGNOSIS AND TREATMENT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SEQUENCE THE GENE, NEVER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Frequency, genetics and management of aldolase B deficiency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Gaughan S, et al. GeneReviews NBK333439, 2021 · James CL, et al. J Med Genet 1996;33:837–41 · Bouteldja N, Timson DJ. J Inherit Metab Dis 2010;33:105–12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83080"/>
            <a:ext cx="2587752" cy="20574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83080"/>
            <a:ext cx="2587752" cy="109728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057400"/>
            <a:ext cx="2221992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B355E"/>
                </a:solidFill>
                <a:latin typeface="Abadi"/>
              </a:rPr>
              <a:t>1 in 18,000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697480"/>
            <a:ext cx="2221992" cy="1051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Estimated from carrier frequency in the UK; 1 in 26,000 Germany, 1 in 31,000 Poland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3280" y="1783080"/>
            <a:ext cx="2587752" cy="20574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83280" y="1783080"/>
            <a:ext cx="2587752" cy="109728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66160" y="2057400"/>
            <a:ext cx="2221992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B355E"/>
                </a:solidFill>
                <a:latin typeface="Abadi"/>
              </a:rPr>
              <a:t>1.32%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2697480"/>
            <a:ext cx="2221992" cy="1051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British newborns carrying A149P (27 of 2,050), the commonest European variant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783080"/>
            <a:ext cx="2587752" cy="20574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1783080"/>
            <a:ext cx="2587752" cy="109728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057400"/>
            <a:ext cx="2221992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B355E"/>
                </a:solidFill>
                <a:latin typeface="Abadi"/>
              </a:rPr>
              <a:t>75–100%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697480"/>
            <a:ext cx="2221992" cy="1051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Detection of biallelic ALDOB variants by sequencing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52560" y="1783080"/>
            <a:ext cx="2587752" cy="20574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52560" y="1783080"/>
            <a:ext cx="2587752" cy="109728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5440" y="2057400"/>
            <a:ext cx="2221992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B355E"/>
                </a:solidFill>
                <a:latin typeface="Abadi"/>
              </a:rPr>
              <a:t>Never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2697480"/>
            <a:ext cx="2221992" cy="1051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Fructose tolerance testing: it has caused deaths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069080"/>
            <a:ext cx="11091672" cy="1645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1" i="0">
                <a:solidFill>
                  <a:srgbClr val="1B355E"/>
                </a:solidFill>
                <a:latin typeface="Abadi"/>
              </a:rPr>
              <a:t>Treatment.  </a:t>
            </a:r>
            <a:r>
              <a:rPr sz="1250" b="0" i="0">
                <a:solidFill>
                  <a:srgbClr val="1A1A1A"/>
                </a:solidFill>
                <a:latin typeface="Abadi"/>
              </a:rPr>
              <a:t>Exclude fructose, sucrose, sorbitol and sucralose for life, with a sugar-free multivitamin. With adherence, prognosis is excellent and life expectancy normal.</a:t>
            </a:r>
          </a:p>
          <a:p>
            <a:pPr algn="l">
              <a:spcBef>
                <a:spcPts val="800"/>
              </a:spcBef>
            </a:pPr>
            <a:r>
              <a:rPr sz="1250" b="1" i="0">
                <a:solidFill>
                  <a:srgbClr val="B22222"/>
                </a:solidFill>
                <a:latin typeface="Abadi"/>
              </a:rPr>
              <a:t>Where hepatology meets it.  </a:t>
            </a:r>
            <a:r>
              <a:rPr sz="1250" b="0" i="0">
                <a:solidFill>
                  <a:srgbClr val="1A1A1A"/>
                </a:solidFill>
                <a:latin typeface="Abadi"/>
              </a:rPr>
              <a:t>The 2017 cholestasis guideline lists HFI only as a feeding-history association and names no test: the clinician has to ask.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412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PATTERN RECOGNITION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TELLING THE THREE APART AT THE BEDSIDE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Distinguishing features in the cholestatic infant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Berry GT. GeneReviews 2021 · Chinsky JM, et al. Genet Med 2017 · Gaughan S, et al. GeneReviews 2021 · Fawaz R, et al. JPGN 2017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783080"/>
          <a:ext cx="11091672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926080"/>
                <a:gridCol w="3017520"/>
                <a:gridCol w="2953512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badi"/>
                        </a:rPr>
                        <a:t>Feature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badi"/>
                        </a:rPr>
                        <a:t>Galactosemia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badi"/>
                        </a:rPr>
                        <a:t>Tyrosinemia type 1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badi"/>
                        </a:rPr>
                        <a:t>Fructose intolerance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Trigger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Lactose, from the first feed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None needed: protein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Fructose, sucrose, sorbitol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Onset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Days 3–10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Weeks to months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Weaning, or neonatal sucrose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Signature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E. coli sepsis, cataract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INR out of proportion; rickets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Hypoglycaemia after sweet feeds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Key test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Red-cell GALT (pre-transfusion)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Succinylacetone (urine, blood)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ALDOB sequencing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Newborn screen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Yes (all US programmes)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Only if succinylacetone-based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No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Treatment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Lactose-free for life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Nitisinone + low-protein diet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Fructose-free for life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412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THE FIRST 24 HOURS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TREAT THE POSSIBILITIES WHILE YOU TEST THEM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A pragmatic sequence for the sick cholestatic infant with coagulopathy, sepsis or hypoglycaemia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Fawaz R, et al. JPGN 2017;64:154–68 · Welling L, et al. J Inherit Metab Dis 2017 · Chinsky JM, et al. Genet Med 2017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83080"/>
            <a:ext cx="2035454" cy="329184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783080"/>
            <a:ext cx="1852574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badi"/>
              </a:rPr>
              <a:t>1 · Recognise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112264"/>
            <a:ext cx="2035454" cy="1728216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203704"/>
            <a:ext cx="1815998" cy="1600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INR high despite vitamin K, Gram-negative sepsis, low glucose, cataract</a:t>
            </a:r>
          </a:p>
        </p:txBody>
      </p:sp>
      <p:sp>
        <p:nvSpPr>
          <p:cNvPr id="16" name="Isosceles Triangle 15"/>
          <p:cNvSpPr/>
          <p:nvPr/>
        </p:nvSpPr>
        <p:spPr>
          <a:xfrm rot="5400000">
            <a:off x="2620670" y="2884932"/>
            <a:ext cx="155448" cy="182880"/>
          </a:xfrm>
          <a:prstGeom prst="triangle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12694" y="1783080"/>
            <a:ext cx="2035454" cy="329184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04134" y="1783080"/>
            <a:ext cx="1852574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badi"/>
              </a:rPr>
              <a:t>2 · Sample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2694" y="2112264"/>
            <a:ext cx="2035454" cy="1728216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22422" y="2203704"/>
            <a:ext cx="1815998" cy="1600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Red-cell GALT before transfusion; urine and blood succinylacetone; AFP, lactate, ammonia</a:t>
            </a:r>
          </a:p>
        </p:txBody>
      </p:sp>
      <p:sp>
        <p:nvSpPr>
          <p:cNvPr id="21" name="Isosceles Triangle 20"/>
          <p:cNvSpPr/>
          <p:nvPr/>
        </p:nvSpPr>
        <p:spPr>
          <a:xfrm rot="5400000">
            <a:off x="4884724" y="2884932"/>
            <a:ext cx="155448" cy="182880"/>
          </a:xfrm>
          <a:prstGeom prst="triangle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76748" y="1783080"/>
            <a:ext cx="2035454" cy="329184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68188" y="1783080"/>
            <a:ext cx="1852574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badi"/>
              </a:rPr>
              <a:t>3 · Feed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76748" y="2112264"/>
            <a:ext cx="2035454" cy="1728216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86476" y="2203704"/>
            <a:ext cx="1815998" cy="1600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Lactose-free and sucrose-free formula, e.g. extensively hydrolysed or elemental; glucose infusion</a:t>
            </a:r>
          </a:p>
        </p:txBody>
      </p:sp>
      <p:sp>
        <p:nvSpPr>
          <p:cNvPr id="26" name="Isosceles Triangle 25"/>
          <p:cNvSpPr/>
          <p:nvPr/>
        </p:nvSpPr>
        <p:spPr>
          <a:xfrm rot="5400000">
            <a:off x="7148779" y="2884932"/>
            <a:ext cx="155448" cy="182880"/>
          </a:xfrm>
          <a:prstGeom prst="triangle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40803" y="1783080"/>
            <a:ext cx="2035454" cy="329184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32243" y="1783080"/>
            <a:ext cx="1852574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badi"/>
              </a:rPr>
              <a:t>4 · Treat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40803" y="2112264"/>
            <a:ext cx="2035454" cy="1728216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50531" y="2203704"/>
            <a:ext cx="1815998" cy="1600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Antibiotics; vitamin K; start nitisinone if succinylacetone is high</a:t>
            </a:r>
          </a:p>
        </p:txBody>
      </p:sp>
      <p:sp>
        <p:nvSpPr>
          <p:cNvPr id="31" name="Isosceles Triangle 30"/>
          <p:cNvSpPr/>
          <p:nvPr/>
        </p:nvSpPr>
        <p:spPr>
          <a:xfrm rot="5400000">
            <a:off x="9412833" y="2884932"/>
            <a:ext cx="155448" cy="182880"/>
          </a:xfrm>
          <a:prstGeom prst="triangle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604857" y="1783080"/>
            <a:ext cx="2035454" cy="329184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96297" y="1783080"/>
            <a:ext cx="1852574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badi"/>
              </a:rPr>
              <a:t>5 · Refer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04857" y="2112264"/>
            <a:ext cx="2035454" cy="1728216"/>
          </a:xfrm>
          <a:prstGeom prst="rect">
            <a:avLst/>
          </a:prstGeom>
          <a:solidFill>
            <a:srgbClr val="E6E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14585" y="2203704"/>
            <a:ext cx="1815998" cy="1600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Liver-transplant centre if failure progresses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4023360"/>
            <a:ext cx="11091672" cy="1691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1" i="0">
                <a:solidFill>
                  <a:srgbClr val="B22222"/>
                </a:solidFill>
                <a:latin typeface="Abadi"/>
              </a:rPr>
              <a:t>Why sucrose-free too.  </a:t>
            </a:r>
            <a:r>
              <a:rPr sz="1250" b="0" i="0">
                <a:solidFill>
                  <a:srgbClr val="1A1A1A"/>
                </a:solidFill>
                <a:latin typeface="Abadi"/>
              </a:rPr>
              <a:t>A switch to a lactose-free formula sweetened with sucrose protects against galactosemia while exposing an infant with HFI: read the label.</a:t>
            </a:r>
          </a:p>
          <a:p>
            <a:pPr algn="l">
              <a:spcBef>
                <a:spcPts val="800"/>
              </a:spcBef>
            </a:pPr>
            <a:r>
              <a:rPr sz="1250" b="1" i="0">
                <a:solidFill>
                  <a:srgbClr val="1B355E"/>
                </a:solidFill>
                <a:latin typeface="Abadi"/>
              </a:rPr>
              <a:t>Why sample first.  </a:t>
            </a:r>
            <a:r>
              <a:rPr sz="1250" b="0" i="0">
                <a:solidFill>
                  <a:srgbClr val="1A1A1A"/>
                </a:solidFill>
                <a:latin typeface="Abadi"/>
              </a:rPr>
              <a:t>A red-cell transfusion for coagulopathy or anaemia can normalise GALT for weeks; galactitol and genotype then become the fallback.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412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GUIDELINES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WHAT THE DOCUMENTS SAY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North America versus Europe; AASLD and EASL have no specific guidance for these disorders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Fawaz 2017 (NASPGHAN/ESPGHAN joint) · Welling 2017 (GalNet) · Chinsky 2017 (US/Canada) · CDC breastfeeding contraindications · Gaughan 2021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783080"/>
          <a:ext cx="11091672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657600"/>
                <a:gridCol w="3776472"/>
                <a:gridCol w="128016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Question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North America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Europe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Verdict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Galactosemia test in cholestasis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Joint 2017: reducing substances tier 1, GALT tier 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Same joint guideline; GalNet: GALT ± genotype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ALIGNED</a:t>
                      </a:r>
                    </a:p>
                  </a:txBody>
                  <a:tcPr marL="73152" marR="73152" marT="27432" marB="27432" anchor="ctr">
                    <a:solidFill>
                      <a:srgbClr val="1E7A33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Diet on suspicion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CDC: no breast milk in classic galactosemia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GalNet: galactose-free formula at once (strong)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ALIGNED</a:t>
                      </a:r>
                    </a:p>
                  </a:txBody>
                  <a:tcPr marL="73152" marR="73152" marT="27432" marB="27432" anchor="ctr">
                    <a:solidFill>
                      <a:srgbClr val="1E7A33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Duarte variant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No North American society statement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GalNet: do not treat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DIFFERS</a:t>
                      </a:r>
                    </a:p>
                  </a:txBody>
                  <a:tcPr marL="73152" marR="73152" marT="27432" marB="27432" anchor="ctr">
                    <a:solidFill>
                      <a:srgbClr val="D97A0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Tyrosinemia screen marker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Consensus: succinylacetone; 38 of 51 programmes in 2014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No ESPGHAN or EASL statement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MATERIAL</a:t>
                      </a:r>
                    </a:p>
                  </a:txBody>
                  <a:tcPr marL="73152" marR="73152" marT="27432" marB="27432" anchor="ctr">
                    <a:solidFill>
                      <a:srgbClr val="B2222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HFI testing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Joint 2017: feeding history only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Same; GeneReviews: sequencing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GAP</a:t>
                      </a:r>
                    </a:p>
                  </a:txBody>
                  <a:tcPr marL="73152" marR="73152" marT="27432" marB="27432" anchor="ctr">
                    <a:solidFill>
                      <a:srgbClr val="8A939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Abadi"/>
                        </a:rPr>
                        <a:t>AASLD / EASL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None specific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badi"/>
                        </a:rPr>
                        <a:t>None specific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badi"/>
                        </a:rPr>
                        <a:t>GAP</a:t>
                      </a:r>
                    </a:p>
                  </a:txBody>
                  <a:tcPr marL="73152" marR="73152" marT="27432" marB="27432" anchor="ctr">
                    <a:solidFill>
                      <a:srgbClr val="8A939B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8640" y="5440680"/>
            <a:ext cx="11091672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Material gap: a cholestatic infant can carry a normal tyrosinemia screen if the programme measures tyrosine.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412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TRAPS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WHERE METABOLIC CHOLESTASIS IS MISSED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Common reasons for a late answer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Levy 1977 · De Jesús 2014 · Chinsky 2017 · Gaughan 2021 · Welling 2017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83080"/>
            <a:ext cx="2587752" cy="2194560"/>
          </a:xfrm>
          <a:prstGeom prst="rect">
            <a:avLst/>
          </a:prstGeom>
          <a:solidFill>
            <a:srgbClr val="F6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783080"/>
            <a:ext cx="2587752" cy="128016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020824"/>
            <a:ext cx="2221992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"Just sepsis"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496312"/>
            <a:ext cx="2221992" cy="1371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Abadi"/>
              </a:rPr>
              <a:t>▪  E. coli explains the illness</a:t>
            </a:r>
          </a:p>
          <a:p>
            <a:pPr algn="l">
              <a:spcBef>
                <a:spcPts val="500"/>
              </a:spcBef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Lactose continued</a:t>
            </a:r>
          </a:p>
          <a:p>
            <a:pPr algn="l">
              <a:spcBef>
                <a:spcPts val="500"/>
              </a:spcBef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Diagnosis after day 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3280" y="1783080"/>
            <a:ext cx="2587752" cy="2194560"/>
          </a:xfrm>
          <a:prstGeom prst="rect">
            <a:avLst/>
          </a:prstGeom>
          <a:solidFill>
            <a:srgbClr val="FBE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83280" y="1783080"/>
            <a:ext cx="2587752" cy="128016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66160" y="2020824"/>
            <a:ext cx="2221992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"Screen normal"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2496312"/>
            <a:ext cx="2221992" cy="1371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Abadi"/>
              </a:rPr>
              <a:t>▪  Tyrosine-based programme</a:t>
            </a:r>
          </a:p>
          <a:p>
            <a:pPr algn="l">
              <a:spcBef>
                <a:spcPts val="500"/>
              </a:spcBef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Sample before transfusion?</a:t>
            </a:r>
          </a:p>
          <a:p>
            <a:pPr algn="l">
              <a:spcBef>
                <a:spcPts val="500"/>
              </a:spcBef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Result not yet back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783080"/>
            <a:ext cx="2587752" cy="2194560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1783080"/>
            <a:ext cx="2587752" cy="128016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020824"/>
            <a:ext cx="2221992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"AFP is high"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496312"/>
            <a:ext cx="2221992" cy="1371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Abadi"/>
              </a:rPr>
              <a:t>▪  Normal newborn AFP is high</a:t>
            </a:r>
          </a:p>
          <a:p>
            <a:pPr algn="l">
              <a:spcBef>
                <a:spcPts val="500"/>
              </a:spcBef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Trend matters, not one value</a:t>
            </a:r>
          </a:p>
          <a:p>
            <a:pPr algn="l">
              <a:spcBef>
                <a:spcPts val="500"/>
              </a:spcBef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INR is the better clue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52560" y="1783080"/>
            <a:ext cx="2587752" cy="2194560"/>
          </a:xfrm>
          <a:prstGeom prst="rect">
            <a:avLst/>
          </a:prstGeom>
          <a:solidFill>
            <a:srgbClr val="CDE7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52560" y="1783080"/>
            <a:ext cx="2587752" cy="128016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5440" y="2020824"/>
            <a:ext cx="2221992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badi"/>
              </a:rPr>
              <a:t>"New formula"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2496312"/>
            <a:ext cx="2221992" cy="1371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Abadi"/>
              </a:rPr>
              <a:t>▪  Lactose-free but sucrose-sweetened</a:t>
            </a:r>
          </a:p>
          <a:p>
            <a:pPr algn="l">
              <a:spcBef>
                <a:spcPts val="500"/>
              </a:spcBef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HFI unmasked</a:t>
            </a:r>
          </a:p>
          <a:p>
            <a:pPr algn="l">
              <a:spcBef>
                <a:spcPts val="500"/>
              </a:spcBef>
            </a:pPr>
            <a:r>
              <a:rPr sz="1250" b="0" i="0">
                <a:solidFill>
                  <a:srgbClr val="1A1A1A"/>
                </a:solidFill>
                <a:latin typeface="Abadi"/>
              </a:rPr>
              <a:t>▪  Read the label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251960"/>
            <a:ext cx="11091672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1" i="1">
                <a:solidFill>
                  <a:srgbClr val="1B355E"/>
                </a:solidFill>
                <a:latin typeface="Abadi"/>
              </a:rPr>
              <a:t>A septic, jaundiced or bleeding neonate gets a metabolic question on day 1, not after the cultures come back.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412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PEARLS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EIGHT THINGS TO REMEMBER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The numbers worth carrying into clinic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Sundaram 2011 · Levy 1977 · Welling 2017 · Berry 2021 · De Jesús 2014 · Larochelle 2012 · Chinsky 2017 · Gaughan 2021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828800"/>
            <a:ext cx="11091672" cy="3931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Abadi"/>
              </a:rPr>
              <a:t>▪  Metabolic disease caused 18.9% of liver failure in infants up to 90 days; galactosemia alone 8.1%.</a:t>
            </a:r>
          </a:p>
          <a:p>
            <a:pPr algn="l">
              <a:spcBef>
                <a:spcPts val="800"/>
              </a:spcBef>
            </a:pPr>
            <a:r>
              <a:rPr sz="1400" b="0" i="0">
                <a:solidFill>
                  <a:srgbClr val="1A1A1A"/>
                </a:solidFill>
                <a:latin typeface="Abadi"/>
              </a:rPr>
              <a:t>▪  Galactosemia: in the 1977 Massachusetts cohort 4 of 10 had E. coli infection and 3 died, all diagnosed after week 1.</a:t>
            </a:r>
          </a:p>
          <a:p>
            <a:pPr algn="l">
              <a:spcBef>
                <a:spcPts val="800"/>
              </a:spcBef>
            </a:pPr>
            <a:r>
              <a:rPr sz="1400" b="0" i="0">
                <a:solidFill>
                  <a:srgbClr val="1A1A1A"/>
                </a:solidFill>
                <a:latin typeface="Abadi"/>
              </a:rPr>
              <a:t>▪  Stop lactose on suspicion; send red-cell GALT before any transfusion.</a:t>
            </a:r>
          </a:p>
          <a:p>
            <a:pPr algn="l">
              <a:spcBef>
                <a:spcPts val="800"/>
              </a:spcBef>
            </a:pPr>
            <a:r>
              <a:rPr sz="1400" b="0" i="0">
                <a:solidFill>
                  <a:srgbClr val="1A1A1A"/>
                </a:solidFill>
                <a:latin typeface="Abadi"/>
              </a:rPr>
              <a:t>▪  Diet does not prevent late complications: ovarian insufficiency in over 80% of girls, speech problems in 56%.</a:t>
            </a:r>
          </a:p>
          <a:p>
            <a:pPr algn="l">
              <a:spcBef>
                <a:spcPts val="800"/>
              </a:spcBef>
            </a:pPr>
            <a:r>
              <a:rPr sz="1400" b="0" i="0">
                <a:solidFill>
                  <a:srgbClr val="1A1A1A"/>
                </a:solidFill>
                <a:latin typeface="Abadi"/>
              </a:rPr>
              <a:t>▪  Tyrosinemia: coagulopathy out of proportion to jaundice; screen and test with succinylacetone, not tyrosine.</a:t>
            </a:r>
          </a:p>
          <a:p>
            <a:pPr algn="l">
              <a:spcBef>
                <a:spcPts val="800"/>
              </a:spcBef>
            </a:pPr>
            <a:r>
              <a:rPr sz="1400" b="0" i="0">
                <a:solidFill>
                  <a:srgbClr val="1A1A1A"/>
                </a:solidFill>
                <a:latin typeface="Abadi"/>
              </a:rPr>
              <a:t>▪  Nitisinone before 1 month: no transplants in Quebec, versus 71% untreated.</a:t>
            </a:r>
          </a:p>
          <a:p>
            <a:pPr algn="l">
              <a:spcBef>
                <a:spcPts val="800"/>
              </a:spcBef>
            </a:pPr>
            <a:r>
              <a:rPr sz="1400" b="0" i="0">
                <a:solidFill>
                  <a:srgbClr val="1A1A1A"/>
                </a:solidFill>
                <a:latin typeface="Abadi"/>
              </a:rPr>
              <a:t>▪  HFI cannot appear on exclusive breast milk; it appears at weaning or with sucrose, sorbitol or sucrose analgesia.</a:t>
            </a:r>
          </a:p>
          <a:p>
            <a:pPr algn="l">
              <a:spcBef>
                <a:spcPts val="800"/>
              </a:spcBef>
            </a:pPr>
            <a:r>
              <a:rPr sz="1400" b="0" i="0">
                <a:solidFill>
                  <a:srgbClr val="1A1A1A"/>
                </a:solidFill>
                <a:latin typeface="Abadi"/>
              </a:rPr>
              <a:t>▪  Diagnose HFI by ALDOB sequencing; never by fructose challenge.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640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301752"/>
            <a:ext cx="102412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no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SYNTHESIS — SCENARIO TO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091672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FROM SCENARIO TO DECISION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16736"/>
            <a:ext cx="1109167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no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Applying the metabolic logic on the ward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274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897880"/>
            <a:ext cx="11091672" cy="914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5368" y="5971032"/>
            <a:ext cx="704088" cy="3017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71032"/>
            <a:ext cx="10296144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Fawaz 2017 · Welling 2017 · Chinsky 2017 · Gaughan 2021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783080"/>
          <a:ext cx="11091672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2194560"/>
                <a:gridCol w="5056632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badi"/>
                        </a:rPr>
                        <a:t>Scenario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badi"/>
                        </a:rPr>
                        <a:t>Think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badi"/>
                        </a:rPr>
                        <a:t>Do now</a:t>
                      </a:r>
                    </a:p>
                  </a:txBody>
                  <a:tcPr marL="73152" marR="73152" marT="27432" marB="27432" anchor="ctr">
                    <a:solidFill>
                      <a:srgbClr val="1B355E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6-day-old, breastfed, jaundiced, E. coli in blood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Galactosemia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Stop breast milk; hydrolysate; red-cell GALT; eye exam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7-week-old, INR 4, bilirubin 4 mg/dL, AFP very high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Tyrosinemia type 1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Urine/blood succinylacetone; vitamin K; nitisinone if positive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5-month-old, vomiting and low glucose after starting fruit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Fructose intolerance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Remove fructose, sucrose, sorbitol; ALDOB sequencing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Cholestatic infant transfused before GALT was sent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Galactosemia unresolved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Urine galactitol, GALT genotype; keep lactose-free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Galactosemia screen positive, GALT 25%, Duarte genotype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Duarte variant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No diet; no endocrine follow-up (GalNet)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03120"/>
            <a:ext cx="11091672" cy="1463040"/>
          </a:xfrm>
          <a:prstGeom prst="rect">
            <a:avLst/>
          </a:prstGeom>
          <a:noFill/>
        </p:spPr>
        <p:txBody>
          <a:bodyPr wrap="square" lIns="36576" rIns="36576" tIns="18288" bIns="18288" anchor="b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Abadi"/>
              </a:rPr>
              <a:t>Metabolic Cholestasis I: Galactosemia, Tyrosinemia Type 1 and Hereditary Fructose Intolerance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184648" y="3794760"/>
            <a:ext cx="1828800" cy="18288"/>
          </a:xfrm>
          <a:prstGeom prst="rect">
            <a:avLst/>
          </a:prstGeom>
          <a:solidFill>
            <a:srgbClr val="F2C4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977639"/>
            <a:ext cx="11091672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badi"/>
              </a:rPr>
              <a:t>Andrey Ermak, 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