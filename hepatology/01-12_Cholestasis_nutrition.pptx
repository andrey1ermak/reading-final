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Nutrition in Cholestatic Liver Disease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NASPGHAN/ESPGHAN 2019 (Mouzaki) · AASLD/AST 2014 and 2026 transplant evaluation · EASL nutrition CPG 2019 · ChiLDReN · SPLIT
Energy · MUAC and skinfold · MCT and essential fatty acids · vitamins A, D, E, K · TPGS · growth and 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THE CHOLESTATIC INFANT STARVES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mechanisms act at once; feeding more of the wrong fat fixes only one of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· Pierro A, et al. J Pediatr Surg 1989;24:534–8 · Greer R, et al. JPGN 2003;36:358–63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Bile does not arrive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Too few bile acids reach the duodenum to form micelles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Long-chain fat and vitamins A, D, E, K are not absorbed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Steatorrhoea can be silent in pale, formed stools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The liver burns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Energy expenditure about 27–29% above normal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More fat oxidation: lower respiratory quotient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Only a third of absorbed energy becomes new tissue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Intake falls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Anorexia, nausea and vomiting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Early satiety from a large liver, spleen and ascites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Pruritus and poor sleep make feeding a battle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Fuel is mishandled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Small glycogen stores: fasting tolerance is short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Amino acids diverted to gluconeogenesis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Branched-chain amino acids oxidised: muscle is spent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deficit is malabsorption plus hypermetabolism plus low intake — so the answer is more energy, the right fat and the right route.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Malnutrition in cholestasis is not a side effect; it is part of the disease and it predicts the outcome.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LONG CHAINS NEED BILE, MEDIUM CHAINS DO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MCT is the workhorse fat in cholestasis — and why it cannot be the only fat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154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00137"/>
                <a:gridCol w="4545767"/>
                <a:gridCol w="454576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Long-chain triglyceride (LCT)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Medium-chain triglyceride (MCT)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Chain length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16–20 carbons (e.g., linoleic, alpha-linolenic, oleic)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8–10 carbons (caprylic, capric)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Needs bile acid micelles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Yes — fails when luminal bile acids are low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— absorbed even without bile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Route to the body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Re-esterified into chylomicrons, carried in lymph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Absorbed directly into the portal vein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Energy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 kcal/g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8.3 kcal/g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Essential fatty acids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The only source of linoleic and alpha-linolenic acid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None — MCT oils contain no essential fatty acids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Clinical role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Must still be given: at least 3% of energy as linoleic acid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Start at 30% of fat as MCT; never above 80%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MCT carries calories past the bile defect; LCT carries the essential fatty acids the brain and membranes need.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MCT is a fuel, not a complete fat: an all-MCT diet trades steatorrhoea for essential fatty acid deficiency.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LIVER BURNS MORE THAN IT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Measured energy use in infants and toddlers with biliary atresia and end-stage liver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Pierro A, et al. J Pediatr Surg 1989;24:534–8 · Greer R, et al. JPGN 2003;36:358–63 · Squires RH, et al. Hepatology 2014;60:362–98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+29%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Energy expenditure in biliary atresia: 68 kcal/kg/d, above normal (P &lt; 0.0025) — Pierro 1989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 in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Share of metabolisable intake (37 kcal/kg/d) stored as new tissue — Pierro 1989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+27%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Resting energy expenditure per kg in 21 children &lt; 2 y with end-stage liver disease vs 15 controls — Greer 2003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20–80%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Extra calories children with chronic liver disease need to grow — AASLD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Greer used four-compartment body composition: the hypermetabolism is real, not an artefact of a small body cell mass.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Feeding to the normal requirement for age guarantees falling centiles; start at 130% and titrate to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ANTHROPOMETRY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WEIGHT LIES IN THE CHOLESTATIC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Prevalence of malnutrition by each measure, %, 91 cholestatic children, median age 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Silva FV, et al. J Pediatr (Rio J) 2016;92:197–205 · Sokol RJ, Stall C. Am J Clin Nutr 1990;52:203–8 · Mouzaki M, et al. JPGN 2019;69:498–511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Weight-for-age below −2 SD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71700"/>
            <a:ext cx="2155371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6091" y="214884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Height-for-age below −2 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74620"/>
            <a:ext cx="2011680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6517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Mid-upper arm circumference depleted (n = 89)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177540"/>
            <a:ext cx="2860765" cy="19202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1485" y="315468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43.8%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Triceps skinfold depleted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680460"/>
            <a:ext cx="4180114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0834" y="365760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64%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057400"/>
            <a:ext cx="9144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large liver, spleen and ascites add weight that is not tissue; fat and muscle stores in the arm are not inflated by organomegaly.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arm finds twice the malnutrition the scale finds — measure MUAC and skinfold at every visit.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MEASURING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TO MEASURE, AND HOW OFTEN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· Squires RH, et al. Hepatology 2014;60:362–98 · Lurz E, et al. JPGN 2018;66:222–6 · Mager DR, et al. JPEN 2019;43:271–80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0" cy="3794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83334"/>
                <a:gridCol w="3025001"/>
                <a:gridCol w="3666668"/>
                <a:gridCol w="201666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it tells you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Trap in cholestasis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Weight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Total mass, including fluid and organs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Ascites, oedema and organomegaly inflate 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Trend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Length / height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Chronic, cumulative deficit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Slow to fall; a late sign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Every visit, z-score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Mid-upper arm circumference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Muscle plus fat of the arm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Needs a trained measurer and a tape at the mid-point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Every 2 weeks to 3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Triceps skinfold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Subcutaneous fat stores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Inter-observer error; oedema in severe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Every 2 weeks to 3 months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Head circumference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Brain growth in 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Spared until 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Under 2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Muscle mass (CT psoas, DEXA)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Sarcopenia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Only when imaging is done for another reason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Transplant work-up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44068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NASPGHAN/ESPGHAN: serial MUAC and triceps skinfold every 2 weeks to 3 months; AASLD calls them the most reliable measures.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SARCOPENIA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MUSCLE IS LOST BEFORE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Prevalence figures across cholestatic and pre-transplant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(cohort data cited) · Lurz E, et al. JPGN 2018;66:222–6 · Mager DR, et al. JPEN 2019;43:271–80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39%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Malnourished by MUAC among 38 infants with neonatal cholestasis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Growth impairment in 51 transplant-listed children, mean age 3.7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Psoas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Psoas muscle area at L3–4 lower in 23 infants with end-stage disease than in 46 matched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Sarcopenic by DEXA after transplant (41 children); linked to poorer growth and readmissions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Sarcopenia does not resolve on the day of transplant: in Mager's cohort it persisted and tracked with poorer growth.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If the child is going to transplant, the muscle you build now is the muscle they recover with.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GROWTH AFTER KASAI PREDICTS THE TRANSPLANT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Weight-for-age z-score after hepatoportoenterostomy; poor outcome = transplant or death by 24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DeRusso PA, et al. Hepatology 2007;46:1632–8 · 100 infants, 9 US centres, 1997–2000; 46 poor outcomes (42 transplants, 4 deaths)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5224" y="3302812"/>
            <a:ext cx="822960" cy="1031443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307421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−1.2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5" y="2529230"/>
            <a:ext cx="822960" cy="180502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5" y="230063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−2.1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9826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6 months after Kasai — all infants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3474720"/>
            <a:ext cx="822960" cy="85953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324612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−1.0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3336" y="2615184"/>
            <a:ext cx="822960" cy="17190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38658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−2.0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39826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3 months after Kasai — bilirubin 2–6 mg/dL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334256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3" y="1819656"/>
            <a:ext cx="201168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5" y="1783080"/>
            <a:ext cx="23545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Native liver at 24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10243" y="1819656"/>
            <a:ext cx="201168" cy="1463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6275" y="1783080"/>
            <a:ext cx="18882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Transplant or death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Weight z-score (shown as depth below zero)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Weight and length velocity were slower in the poor-outcome group (P &lt; 0.001); the difference held even at the same moderate bilirubin.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falling weight z-score after Kasai is a prognostic sign, not just a dietetic one — refer early.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GROWTH FAILURE IS IN THE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SPLIT biliary atresia cohort and the refit of the paediatric end-stage liver disease score (PELD)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Utterson EC, et al. J Pediatr 2005;147:180–5 · Hsu E, et al. Am J Transplant 2021;21:222–8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755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Children with biliary atresia listed in SPLIT; growth failure (z below −2) was a risk factor for death and graft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Three-year post-transplant survival in SPLIT biliary atresia; infection caused 37% of deaths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+0.667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Old PELD: a flat bonus once height or weight z falls below −2; 31.4% of listed children met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0.854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Refit PELD with a continuous growth term: discrimination (AUC) up from 0.799; 4,876 children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old score treated z = −2.1 and z = −4 the same; the refit rewards each step of growth failure up to −5.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Measure length carefully: in the new score, every tenth of a z-score moves the child on the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HOW MUCH TO FEED, AND OF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NASPGHAN/ESPGHAN 2019, Table 3 (cholestasis), with the AASLD 2014 protein figure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· Squires RH, et al. Hepatology 2014;60:362–98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3334"/>
                <a:gridCol w="5133335"/>
                <a:gridCol w="412500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Nutrient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Recommendation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Practical translation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004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Energy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130% of requirement for age; ≥130% in end-stage disease; indirect calorimetry if available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Concentrate formula; titrate to MUAC and length, not weight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4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Protein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130–150% of requirement for age (AASLD: 2–4 g/kg/day); no restriction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Restrict only for severe encephalopathy, for 2–3 days at most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004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30–50% of energy; start MCT:LCT at 30:70; MCT never above 80% of fat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Choose a formula by its MCT share, then adjust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4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Essential fatty acids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Linoleic acid ≥3% and alpha-linolenic 0.7–1% of energy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Add an LCT oil if MCT share is high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004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Carbohydrate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40–60% of energy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Glucose polymer modules; avoid long fasts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4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Route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Nasogastric or nasojejunal if goals unmet &gt; 2 weeks or anthropometry poor for 2–4 weeks; PN if enteral fails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Overnight continuous feeds protect daytime appetite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MCT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MORE MCT IS NOT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30:70 starting point is a compromise between steatorrhoea and essential fatty acid deficiency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· Pettei MJ, et al. Am J Clin Nutr 1991;53:1217–21 · Socha P, et al. J Pediatr 1997;131:700–6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Too little MCT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Fat calories lost in the stool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Weight and skinfold fall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Fat-soluble vitamins follow the fat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Too much MCT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Pettei: 4 of 4 infants on high-MCT formula had biochemical EFAD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arachidonic acid, Mead acid appears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Rash, poor growth, thrombocytopenia, infection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How to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Measure linoleic, alpha-linolenic, EPA and DHA against age ranges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triene:tetraene ratio &gt; 0.2 alone is not enough (2019 paper)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Test if symptomatic or vitamins refractory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How to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Add LCT: linoleic acid ≥ 3% of energy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Consider a DHA/ARA source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Recheck every 3–6 months; monthly in severe cholestasis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Essential fatty acid status falls as bilirubin rises (Socha 1997): the sicker the liver, the more LCT you must push through.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No formula is 'the cholestasis formula' — the right MCT share is the lowest one that controls steatorrhoea.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FAT-SOLUBLE VITAMINS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DOSES AND THE LAB THAT PROVES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NASPGHAN/ESPGHAN 2019 doses; deficiency thresholds as used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· Shneider BL, et al. Pediatrics 2012;130:e607–14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3154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6667"/>
                <a:gridCol w="2933334"/>
                <a:gridCol w="3850001"/>
                <a:gridCol w="339166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Vitamin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Starting dose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Deficiency marker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Watch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8351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5,000 IU/day if &lt; 10 kg; 10,000 IU/day if &gt; 10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Retinol:RBP molar ratio &lt; 0.8; if retinol &lt; 20 µg/dL, modified relative dose response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Hypervitaminosis A causes hepatic fibrosis — do not dose blind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351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Cholecalciferol 2,000–5,000 IU/day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25-OH vitamin D (ChiLDReN: &lt; 15 ng/mL deficient)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Rickets, fractures; check calcium and ALP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68351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TPGS 15–25 IU/kg/day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Vitamin E : total lipid &lt; 0.6 mg/g (1–12 y), &lt; 0.8 mg/g older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Neuropathy, ataxia, haemolysis; serum level alone misleads in hyperlipidaemia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351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2–5 mg/day oral; 1–10 mg IV if needed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INR; PIVKA-II where available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Bone-relevant deficiency in 39% despite a normal INR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Monitor fat-soluble vitamins every 3–6 months, monthly in severely cholestatic infants, and after any dose change.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Read vitamin E against total lipid: cholestatic hyperlipidaemia makes a deficient child look replete.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SUPPLEMENTED — AND STILL DEFICIENT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Insufficiency, % of infants, on a TPGS-based multivitamin after Kasai (ChiLDReN)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Shneider BL, et al. Pediatrics 2012;130:e607–14 · ADEKs/AquADEKs 2 mL/day + vitamin K 2.5 mg three times weekly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3287" y="2776347"/>
            <a:ext cx="502920" cy="1557909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687" y="2547747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83639" y="2400300"/>
            <a:ext cx="502920" cy="19339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55039" y="2171700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3991" y="2615184"/>
            <a:ext cx="502920" cy="17190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5391" y="238658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2772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Vitamin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26205" y="3206115"/>
            <a:ext cx="502920" cy="1128141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7605" y="2977515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6557" y="2883789"/>
            <a:ext cx="502920" cy="1450467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7957" y="2655189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6909" y="2346579"/>
            <a:ext cx="502920" cy="198767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8309" y="2117979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1558" y="4398264"/>
            <a:ext cx="2772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Vitamin 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9123" y="3474720"/>
            <a:ext cx="502920" cy="85953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523" y="3246120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9475" y="3850766"/>
            <a:ext cx="502920" cy="483489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875" y="362216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9827" y="3367278"/>
            <a:ext cx="502920" cy="96697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1227" y="313867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6" y="4398264"/>
            <a:ext cx="2772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Vitamin 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72040" y="3797046"/>
            <a:ext cx="502920" cy="53721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3440" y="356844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02392" y="3420999"/>
            <a:ext cx="502920" cy="913257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73792" y="3192399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32744" y="3152394"/>
            <a:ext cx="502920" cy="118186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04144" y="292379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7394" y="4398264"/>
            <a:ext cx="2772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Vitamin 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334256"/>
            <a:ext cx="1109167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18220" y="1819656"/>
            <a:ext cx="201168" cy="14630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4252" y="1783080"/>
            <a:ext cx="9555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1 month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73768" y="1819656"/>
            <a:ext cx="201168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1783080"/>
            <a:ext cx="1033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3 months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0" y="1819656"/>
            <a:ext cx="201168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63072" y="1783080"/>
            <a:ext cx="1033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6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With total bilirubin above 2 mg/dL, only 3 of 24 infants at 3 months and 0 of 23 at 6 months were sufficient in all four vitamins.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fixed multivitamin dose is a starting point; in a jaundiced infant it is almost never enough on its 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TPGS AND BILIRUBIN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MAKE THE VITAMIN SOLUBLE, WATCH THE BILIRUBIN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TPGS is water-soluble vitamin E that forms its own micelles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Sokol RJ, et al. Gastroenterology 1993;104:1727–35 · Argao EA, et al. Pediatr Res 1992;31:146–50 · Venkat VL, et al. JPGN 2014;59:702–7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60 /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Children with vitamin E deficiency resistant to standard oral E normalised on TPGS 25 IU/kg/day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25 · 27 ·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Neurology improved, stable, worse; no adverse effects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Vit D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TPGS given with vitamin D improved its absorption (8 children)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0.998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AUC of total bilirubin for vitamin deficiency, vs 0.821 for serum bile acids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Give the other fat-soluble vitamins at the same time as TPGS; it carries them across the gut.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Total bilirubin above 2 mg/dL is the simplest trigger for intensified supplementation and monthly levels.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BEYOND THE INR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BONE, VITAMIN K AND TOXICITY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deficiencies that the standard panel misses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M, et al. JPGN 2019;69:498–511 · Loomes KM, et al. Hepatology 2019;69:245–57 (ChiLDReN bone density)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Vitamin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Deficiency relevant to bone in 39% despite a normal INR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Undercarboxylated proteins (PIVKA-II) unmask it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Give parenterally if oral fails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Bone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Lowest bone density in chronic intrahepatic cholestasis and Alagille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 Alagille, deficit tracked bilirubin and bile acids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Children with fractures had lower adjusted bone mineral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Vitamin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Narrow window between deficiency and toxicity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Hypervitaminosis A can itself cause hepatic fibrosis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Recheck after every dose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Hidden losses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Zinc, iron and calcium follow fat malabsorption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Diuretics in ascites waste minerals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Pruritus drugs (cholestyramine) bind vitamins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Bone density after size adjustment was still low in chronic intrahepatic cholestasis but not in Alagille: size explains part, not all.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normal INR proves the clotting factors are made — not that the child has enough vitamin K for bone.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NEW DRUGS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IBAT INHIBITORS AND THE VITAMIN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Ileal bile acid transporter inhibitors lower serum bile acids — and change fat absorption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Thompson RJ, et al. Lancet Gastroenterol Hepatol 2022;7:830–42 · Gonzales E, et al. Lancet 2021;398:1581–92 · Livmarli label 04/2025 · Bylvay label 12/2025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2606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6667"/>
                <a:gridCol w="3575001"/>
                <a:gridCol w="3116668"/>
                <a:gridCol w="293333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Drug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Pivotal trial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Growth signal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Fat-soluble vitamins on label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10927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Odevixibat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PEDFIC1, PFIC: pruritus response 55% vs 30%; bile acid response 33% vs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Open-label PEDFIC2 abstract: height z −1.6 → −0.5 at 48 weeks (not peer reviewed)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Deficiency 16% at 120 µg/kg vs 5% placebo (PFIC); baseline and serial levels 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0927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Maralixibat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ICONIC, Alagille: bile acids −96 µmol/L to week 48; pruritus −1.6 points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Company poster: height z −1.82 → −1.37 at week 191 (not peer reviewed)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Deficiency 10% in Alagille over 48 weeks; levels before start and periodically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4348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Blocking ileal bile acid uptake shrinks the bile acid pool reaching the next meal: in theory, fat and vitamin absorption can worsen.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Check A, D, E and INR before starting an IBAT inhibitor and keep checking; growth gains are promising but still mostly unpublished.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2019 JPGN · Squires 2014 Hepatology · Martinez (AASLD/AST/NASPGHAN) Hepatology 2026 · Merli (EASL) J Hepatol 2019;70:172–93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0" cy="4343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57353"/>
                <a:gridCol w="4287537"/>
                <a:gridCol w="3355463"/>
                <a:gridCol w="149131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Paediatric (NASPGHAN/ESPGHAN 2019; AASLD 2014 → 2026)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EASL 2019 (adult cirrhosis)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Who is covered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Children with chronic liver disease; transplant candidates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Adults only; no paediatric guidance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Energy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130% of requirement; AASLD: 20–80% extra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≥ 35 kcal/kg actual body weight/day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Protein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130–150% of requirement / 2–4 g/kg/day; no restriction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1.2–1.5 g/kg/day; no restriction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Anthropometry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Serial MUAC and triceps skinfold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CT skeletal muscle index when CT exists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MCT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30–50% of energy as fat; MCT 30% → max 80% of fat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Vitamin 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2,000–5,000 IU/day; printed target has a unit inconsistency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Supplement if &lt; 20 ng/mL, aim &gt; 30 ng/mL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Tube feeding and PN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NG/NJ if goals unmet &gt; 2 weeks; PN if enteral fails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Enteral if oral inadequate; PN if not tolerated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Aggressive support before transplant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AASLD 2014 (1-B) and 2026: aggressive support to improve outcomes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2019 · Pierro 1989 · Greer 2003 · Silva 2016 · DeRusso 2007 · Hsu 2021 · Shneider 2012 · Sokol 1993 · Pettei 1991 · Loomes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45336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Energy use is about 27–29% above normal; start at 130% of the requirement for age and titrate to growth.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Weight lies: triceps skinfold found depletion in 64% when weight-for-age flagged 33%.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Protein is not restricted: 130–150% of requirement, or 2–4 g/kg/day.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MCT starts at 30% of fat and never exceeds 80%; linoleic acid at least 3% of energy.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 falling weight z-score after Kasai predicts transplant or death by two years.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In ChiLDReN, with bilirubin above 2 mg/dL, almost no infant was sufficient in all four vitamins on a standard multivitamin.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Read vitamin E against total lipid, and do not trust a normal INR to exclude vitamin K deficiency.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Before and during IBAT inhibitor therapy, check fat-soluble vitamins.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Mouzaki 2019 · Shneider 2012 · Venkat 2014 · DeRusso 2007 · Hsu 2021 · Bylvay and Livmarli labels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932688"/>
          <a:ext cx="11091670" cy="49194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8334"/>
                <a:gridCol w="2658334"/>
                <a:gridCol w="2841668"/>
                <a:gridCol w="293333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it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Infant 6 weeks after Kasai, bilirubin 4 mg/dL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MUAC, skinfold, length; vitamins monthly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High risk: likely deficient in at least one vitamin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130% energy, MCT formula, TPGS-based vitamins, separate K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Weight z stable, skinfold falling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Triceps skinfold, MUAC trend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Organomegaly and ascites hiding fat loss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Concentrate feeds; start overnight NG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Infant on high-MCT formula, scaly rash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Linoleic, alpha-linolenic, EPA, DHA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Essential fatty acid deficiency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Add LCT oil; recheck in 4–6 weeks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Vitamin E level normal, ataxia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Vitamin E : total lipid ratio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Hyperlipidaemia masking deficiency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TPGS 15–25 IU/kg/day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Normal INR, rickets on X-ray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25-OH vitamin D, PIVKA-II, calcium, ALP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Vitamin D and bone-level K deficiency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Raise D; give K; recheck at 4–8 weeks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Starting odevixibat for PFIC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A, D, E, INR at baseline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Drug can worsen fat absorption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Serial levels; adjust supplements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Toddler listed for transplant, z −2.8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Length and weight z every visit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Growth failure counts in refit PELD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Aggressive support: NG or PN; document z precisely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Nutrition in Cholestatic Liver Disease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