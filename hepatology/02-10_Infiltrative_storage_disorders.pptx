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27048"/>
            <a:ext cx="11082528" cy="1965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Infiltrative and Storage Disorders in the Cholestatic Infant: HLH, Niemann–Pick C, LAL-D and Their Mimics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630168"/>
            <a:ext cx="182880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31336"/>
            <a:ext cx="110825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108252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9DEE7"/>
                </a:solidFill>
                <a:latin typeface="Abadi"/>
              </a:rPr>
              <a:t>Fawaz 2017 (NASPGHAN/ESPGHAN) · Henter 2007 (HLH-2004) · Trottestam 2011 · Bergsten 2017 · Locatelli 2020 · Hadžić 2022 · Suzuki 2009 · Balakumar 2022 · Geberhiwot 2018 · Mengel 2021 · Bremova-Ertl 2024 · Jones 2016, 2017 · Vijay 2021 · Burton 2015 · Rand 2009 · Klusmann 2008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02352"/>
            <a:ext cx="11082528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D9DEE7"/>
                </a:solidFill>
                <a:latin typeface="Abadi"/>
              </a:rPr>
              <a:t>splenomegaly is the clue · ferritin and sCD25 · perforin · oxysterols mislead in cholestasis · lyso-SM-509 · adrenal calcification · sebelipase alfa · GALD vs HLH · TAM · LCH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CHOLESTATIC INFANT WITH A BIG SPLEEN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Splenomegaly turns a cholestasis work-up into a storage and haematology work-up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R, et al. JPGN 2017;64:154–68 · Henter JI, et al. Pediatr Blood Cancer 2007 · Geberhiwot T, et al. Orphanet J Rare Dis 2018;13:50 · Jones SA, et al. Genet Med 2016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78608" cy="23774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78608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2494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22222"/>
                </a:solidFill>
                <a:latin typeface="Abadi"/>
              </a:rPr>
              <a:t>HLH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15184"/>
            <a:ext cx="224942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Fever, cytopenias, ferritin, sCD25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Familial (perforin pathway) or triggered (HSV)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Can present as neonatal liver failure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79" y="1773936"/>
            <a:ext cx="2578608" cy="23774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79" y="1773936"/>
            <a:ext cx="2578608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1984248"/>
            <a:ext cx="22494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Niemann–Pick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615184"/>
            <a:ext cx="224942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NPC1 ≥95%, NPC2 the rest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Transient neonatal cholestasis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Neurology arrives years later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19" y="1773936"/>
            <a:ext cx="2578608" cy="23774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19" y="1773936"/>
            <a:ext cx="2578608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1" y="1984248"/>
            <a:ext cx="22494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7A0B"/>
                </a:solidFill>
                <a:latin typeface="Abadi"/>
              </a:rPr>
              <a:t>LAL-D (Wolman)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1" y="2615184"/>
            <a:ext cx="224942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LIPA: lysosomal acid lipase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Vomiting, diarrhoea, failure to thrive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Adrenal calcification; lethal without ERT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59" y="1773936"/>
            <a:ext cx="2578608" cy="237744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59" y="1773936"/>
            <a:ext cx="2578608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151" y="1984248"/>
            <a:ext cx="22494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7A33"/>
                </a:solidFill>
                <a:latin typeface="Abadi"/>
              </a:rPr>
              <a:t>The mimics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1" y="2615184"/>
            <a:ext cx="224942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GALD, ASMD, perinatal Gaucher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TAM of Down syndrome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Neuroblastoma 4S, LCH, leukaemia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34256"/>
            <a:ext cx="11082528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The main idea.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The 2017 joint guideline says it in one line: splenomegaly at 2–4 weeks should point toward storage or haematologic disorders. These diseases share one bedside sign and almost nothing else; each has its own same-day test.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The clinical stake.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Three of them are treatable and time-critical: HLH (chemoimmunotherapy, then transplant of the marrow), infantile LAL-D (enzyme replacement within weeks) and GALD (exchange transfusion plus IVIG, and IVIG in every later pregnancy).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ONE SIGN, TEN DISEASES, TEN DIFFERENT FIRST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Infiltrative and storage causes of infantile liver disease: what to look for and what to send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2017 · Henter 2007 · Geberhiwot 2018 · Jones 2016 · Rand 2009 · Klusmann 2008 · van Noesel 1997 · LCH review, World J Clin Oncol 2021;12:335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8" cy="3867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1720"/>
                <a:gridCol w="2880360"/>
                <a:gridCol w="2926080"/>
                <a:gridCol w="2944368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Disorder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Bedside clue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First test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Treatment that changes the outcome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Familial / neonatal HLH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Fever, cytopenias, hepatosplenomegaly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Ferritin, TG, fibrinogen, sCD25, NK / perforin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HLH-94 / 2004 protocol, emapalumab, HSCT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HSV or enteroviral HLH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First 2 weeks, transaminases in thousands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HSV / enterovirus PCR (blood)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Aciclovir at once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Niemann–Pick 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Cholestasis + splenomegaly, fetal ascites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Bile acid / lyso-SM-509, then NPC1/NPC2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Supportive in infancy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LAL-D (Wolman)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Vomiting, diarrhoea, adrenal calcification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LAL activity on dried blood spot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Sebelipase alfa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ASMD (Niemann–Pick A/B)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Massive spleen, interstitial lung disease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ASM activity, SMPD1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Olipudase alfa (non-CNS)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GALD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Liver failure from birth, low transaminases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MRI or buccal biopsy siderosis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Exchange transfusion + IVIG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TAM (Down syndrome)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Blasts, hepatomegaly, ascites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Blood film, GATA1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Low-dose cytarabine if severe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Neuroblastoma 4S / leukaemia / LCH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Massive liver, skin nodules, rash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Urine catecholamines, film, biopsy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Oncology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HLH: THE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A KILLING DEFECT THAT ENDS IN A CYTOKINE STORM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Why a lymphocyte problem presents to the hepatologist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Henter JI, et al. Pediatr Blood Cancer 2007 · Gholam C, et al. Clin Exp Immunol 2011 · Bergsten E, et al. Blood 2017;130:2728–38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04364" cy="19202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04364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1 · Granule defect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57984"/>
            <a:ext cx="18214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Perforin (PRF1) or the machinery that delivers it (UNC13D, STX11, STXBP2) fails in NK and CD8 T cells.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598724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8180" y="1773936"/>
            <a:ext cx="2004364" cy="19202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8180" y="1773936"/>
            <a:ext cx="2004364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1332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2 · No kill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9620" y="2157984"/>
            <a:ext cx="18214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Infected cells and antigen-presenting cells are not removed; stimulation never switches off.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68265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7721" y="1773936"/>
            <a:ext cx="2004364" cy="19202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7721" y="1773936"/>
            <a:ext cx="2004364" cy="2926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0873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3 · Storm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2157984"/>
            <a:ext cx="18214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Interferon-gamma drives macrophage activation: ferritin, sCD25, triglycerides rise; fibrinogen falls.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37806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7262" y="1773936"/>
            <a:ext cx="2004364" cy="19202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7262" y="1773936"/>
            <a:ext cx="2004364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30414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4 · Infiltrate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8702" y="2157984"/>
            <a:ext cx="18214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Activated lymphocytes and histiocytes fill sinusoids and portal tracts; Kupffer cells phagocytose blood cells.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07347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26803" y="1773936"/>
            <a:ext cx="2004364" cy="19202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26803" y="1773936"/>
            <a:ext cx="2004364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9955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5 · Liver failure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8243" y="2157984"/>
            <a:ext cx="18214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Cholestasis, coagulopathy, ascites; jaundice predicts early death before transplant.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22776"/>
            <a:ext cx="11082528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Genes.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In familial HLH, PRF1 accounts for about 20–40% of cases, UNC13D 20–25%, STX11 about 14% and STXBP2 about 10%. A secondary trigger, most often a virus, is usually still present.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For the hepatologist.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In HLH-2004, 76% had AST and 56% had ALT above 120 U/L at diagnosis. The liver is a target organ, not a bystander, and in HLH-94 jaundice, oedema and raised creatinine predicted death before HSCT.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HLH-2004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FIVE OF EIGHT, OR A GENE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HLH-2004 diagnostic criteria, read with the cholestatic infant in mind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Henter JI, et al. Pediatr Blood Cancer 2007 · Allen CE, et al. Pediatr Blood Cancer 2008;50:1227–35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8" cy="36210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40"/>
                <a:gridCol w="3840480"/>
                <a:gridCol w="4864608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Criterion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Threshold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How it reads in a jaundiced infant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Fever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Present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May be absent in a sick neonate; hypothermia counts as a warning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Splenomegaly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Present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The sign that brings storage disease into the same differential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Cytopenias, ≥2 lines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Hb &lt;90 g/L, ANC &lt;1×10⁹/L, platelets &lt;100×10⁹/L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Neonatal Hb norms differ; thrombocytopenia is the earliest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Triglycerides or fibrinogen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TG ≥3 mmol/L and/or fibrinogen ≤1.5 g/L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Low fibrinogen also in liver failure: interpret together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Haemophagocytosis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Marrow, spleen or node, no malignancy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Neither necessary nor sufficient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NK cell activity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Low or absent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Takes days; send with perforin and CD107a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Ferritin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≥500 µg/L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&gt;10,000: 90% sensitive, 96% specific (Allen 2008)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Soluble CD25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≥2,400 U/mL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The most specific single marker of T-cell activation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486400"/>
            <a:ext cx="11082528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B22222"/>
                </a:solidFill>
                <a:latin typeface="Abadi"/>
              </a:rPr>
              <a:t>Rule.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A molecular diagnosis alone is enough; otherwise five of eight criteria. Start treatment on the pattern, not on the last result.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LIVER IN HLH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LIVER INVOLVEMENT IS COMMON AND IT 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Share of patients with each liver finding,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Bergsten E, et al. Blood 2017;130:2728–38 · Balakumar N, et al. Front Pediatr 2022;10:848004 · Hadžić N, et al. J Pediatr 2022;250:67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65376"/>
            <a:ext cx="292608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AST &gt;120 U/L, HLH-2004 (n = 319)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029968"/>
            <a:ext cx="2953511" cy="36576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4264" y="1865376"/>
            <a:ext cx="118872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76%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60320"/>
            <a:ext cx="292608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ALT &gt;120 U/L, HLH-2004 (n = 333)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2724912"/>
            <a:ext cx="2176272" cy="36576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07024" y="2560320"/>
            <a:ext cx="118872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56%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55264"/>
            <a:ext cx="292608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HLH phenotype in ALF under 2 years (n = 78)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419856"/>
            <a:ext cx="1476755" cy="36576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07508" y="3255264"/>
            <a:ext cx="118872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38%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50208"/>
            <a:ext cx="292608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Liver dysfunction, neonatal HLH (n = 76)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4114800"/>
            <a:ext cx="1360170" cy="36576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90922" y="3950208"/>
            <a:ext cx="118872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35%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45152"/>
            <a:ext cx="292608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Hydrops, neonatal HLH (n = 76)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4809744"/>
            <a:ext cx="808329" cy="36576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9081" y="4645152"/>
            <a:ext cx="118872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20.8%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1773936"/>
            <a:ext cx="4041648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67.5% vs 42%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Neonatal HLH in the US Kids' Inpatient Database: mortality with liver dysfunction versus overall. Liver dysfunction was the only independent predictor of death (OR 6.5).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30 of 78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King's College: infants under 24 months with acute liver failure who met the HLH phenotype; 19 had a genetic finding, 9 biallelic.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52.6%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Mortality in those with genetic findings; 66.6% with biallelic mutations.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NEONATAL HLH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IN THE NEWBORN, HLH LOOKS LIKE LIVER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Japanese nationwide survey of HLH in neonates and the infant ALF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Suzuki N, et al. J Pediatr 2009;155:235–8 · Balakumar N, et al. Front Pediatr 2022 · Hadžić N, et al. J Pediatr 2022 · Taylor SA, Whitington PF. Liver Transpl 2016;22:677–85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78608" cy="210312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78608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75104"/>
            <a:ext cx="2249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B22222"/>
                </a:solidFill>
                <a:latin typeface="Abadi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51176"/>
            <a:ext cx="2249424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Overall survival in 20 Japanese neonates with HLH (Suzuki 2009).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79" y="1773936"/>
            <a:ext cx="2578608" cy="210312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79" y="1773936"/>
            <a:ext cx="2578608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1975104"/>
            <a:ext cx="2249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97A0B"/>
                </a:solidFill>
                <a:latin typeface="Abadi"/>
              </a:rPr>
              <a:t>6 of 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551176"/>
            <a:ext cx="2249424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Herpes simplex was the trigger: as many as had familial HLH. Aciclovir before the PCR result.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19" y="1773936"/>
            <a:ext cx="2578608" cy="21031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19" y="1773936"/>
            <a:ext cx="2578608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1" y="1975104"/>
            <a:ext cx="2249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2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1" y="2551176"/>
            <a:ext cx="2249424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Familial or SCID-associated cases that survived. Treatment must end in HSCT.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59" y="1773936"/>
            <a:ext cx="2578608" cy="210312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59" y="1773936"/>
            <a:ext cx="2578608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151" y="1975104"/>
            <a:ext cx="2249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E7A33"/>
                </a:solidFill>
                <a:latin typeface="Abadi"/>
              </a:rPr>
              <a:t>&lt; 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1" y="2551176"/>
            <a:ext cx="2249424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HLH's share of neonatal ALF in Whitington's review; GALD 60–90%, viral 20–30%.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14800"/>
            <a:ext cx="11082528" cy="1682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Reading the newborn.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Neonatal liver failure with high transaminases suggests virus or HLH; with near-normal transaminases and high AFP it suggests GALD. Ferritin is high in both, so it does not separate them.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The overlap.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HSV hepatitis is both an infection and an HLH trigger. Treat the virus, measure sCD25 and fibrinogen, and add HLH therapy if the pattern persists.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TREATMENT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SURVIVAL HAS PLATEAUED AROUND 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Five-year overall survival or response, %, in the international HLH trials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Trottestam H, et al. Blood 2011 (HLH-94) · Bergsten E, et al. Blood 2017;130:2728–38 (HLH-2004) · Locatelli F, et al. N Engl J Med 2020 (emapalumab)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7393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Per cent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385816"/>
            <a:ext cx="6400800" cy="9144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7" y="3287268"/>
            <a:ext cx="555223" cy="209854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" y="3040380"/>
            <a:ext cx="10607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3153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HLH-94 all (n = 249)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58568" y="2820924"/>
            <a:ext cx="555223" cy="256489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29967" y="2574036"/>
            <a:ext cx="10607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66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39" y="543153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HLH-94 after HSCT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38728" y="3015234"/>
            <a:ext cx="555223" cy="237058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0128" y="2768346"/>
            <a:ext cx="10607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61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43153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HLH-2004 all (n = 369)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18888" y="3092958"/>
            <a:ext cx="555223" cy="229285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2846070"/>
            <a:ext cx="10607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59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543153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HLH-2004 familial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9048" y="2937510"/>
            <a:ext cx="555223" cy="244830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70448" y="2690622"/>
            <a:ext cx="10607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63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543153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Emapalumab,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1773936"/>
            <a:ext cx="42062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62% vs 56%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HLH-2004 versus HLH-94 five-year survival, P = 0.15: adding upfront cyclosporine did not help.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19% vs 27%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Death before HSCT, HLH-2004 versus HLH-94: the window before transplant is where children die.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27 of 34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Emapalumab (anti-IFN-γ) trial patients previously treated; 63% responded versus a null of 40%.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None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Familial HLH survivors in HLH-94 without HSCT.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NIEMANN–PICK C: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CHOLESTEROL TRAPPED IN THE WRONG COMPARTMENT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How a lysosomal transport defect gives transient neonatal cholestasis and late neurodegeneration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Geberhiwot T, et al. Orphanet J Rare Dis 2018;13:50 · Fawaz R, et al. JPGN 2017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04364" cy="19202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04364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1 · NPC1 / NPC2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57984"/>
            <a:ext cx="18214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Two proteins hand LDL-derived cholesterol out of the late endosome; NPC1 ≥95% of cases, about 1 in 100,000.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598724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8180" y="1773936"/>
            <a:ext cx="2004364" cy="19202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8180" y="1773936"/>
            <a:ext cx="2004364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1332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2 · Trap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9620" y="2157984"/>
            <a:ext cx="18214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Unesterified cholesterol and glycosphingolipids accumulate; foamy macrophages fill spleen, liver and marrow.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68265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7721" y="1773936"/>
            <a:ext cx="2004364" cy="19202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7721" y="1773936"/>
            <a:ext cx="2004364" cy="2926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0873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3 · Neonatal liver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2157984"/>
            <a:ext cx="18214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Prolonged cholestatic jaundice with hepatosplenomegaly; may follow fetal ascites or hydrops.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37806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7262" y="1773936"/>
            <a:ext cx="2004364" cy="192024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7262" y="1773936"/>
            <a:ext cx="2004364" cy="2926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30414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4 · Remission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8702" y="2157984"/>
            <a:ext cx="18214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Jaundice usually clears by 3–4 months; the spleen often stays large.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07347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26803" y="1773936"/>
            <a:ext cx="2004364" cy="19202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26803" y="1773936"/>
            <a:ext cx="2004364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9955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5 · Neurology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8243" y="2157984"/>
            <a:ext cx="18214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Vertical gaze palsy, ataxia, cataplexy, dementia appear later; the liver was the first chapter.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22776"/>
            <a:ext cx="11082528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The trap.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About 8–9% of perinatal cases progress to liver or multi-organ failure and die within six months; the neonatal systemic fatal form is 3–12% across cohorts. The others 'recover', and the diagnosis is missed until school age.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Consensus statement 9.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Prolonged neonatal jaundice, hepatosplenomegaly, or developmental delay under 2 years should raise suspicion of NPC (Geberhiwot 2018).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NEWBORN-ONSET NPC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WHEN NPC BEGINS AT BIRTH, IT IS A LUNG AND LIVER DISEASE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Ten newborn-onset cases, single centre (8 NPC1, 2 NPC2): number with each 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Gümüş E, et al. Eur J Pediatr 2017;176:1669–76 · Geberhiwot T, et al. Orphanet J Rare Dis 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65376"/>
            <a:ext cx="23774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Cholestasis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029968"/>
            <a:ext cx="3291840" cy="36576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865376"/>
            <a:ext cx="118872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10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60320"/>
            <a:ext cx="23774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Hepatosplenomegaly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2724912"/>
            <a:ext cx="3291840" cy="36576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560320"/>
            <a:ext cx="118872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10 /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55264"/>
            <a:ext cx="23774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Lung involvement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3419856"/>
            <a:ext cx="2962656" cy="36576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3255264"/>
            <a:ext cx="118872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9 /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50208"/>
            <a:ext cx="23774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Fetal ascites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4114800"/>
            <a:ext cx="658368" cy="36576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3950208"/>
            <a:ext cx="118872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2 /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45152"/>
            <a:ext cx="23774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Died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4809744"/>
            <a:ext cx="2962656" cy="36576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4768" y="4645152"/>
            <a:ext cx="118872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9 /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1773936"/>
            <a:ext cx="4041648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6 pulmonary, 3 hepatic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Causes of the nine deaths: in newborn-onset NPC, lung infiltration by foam cells kills more often than the liver.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NPC2 and the lung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Two of the ten carried NPC2 variants; pulmonary disease is classically more prominent with NPC2.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Why it matters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A cholestatic infant with tachypnoea, splenomegaly and no cardiac cause needs NPC on the list before the biopsy.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DIAGNOSING NPC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OXYSTEROLS LIE IN THE CHOLESTATIC INFANT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First-line biomarkers in the 2018 consensus and their 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Geberhiwot T, et al. Orphanet J Rare Dis 2018;13:50 (statements 14 and 16)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8" cy="31821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17520"/>
                <a:gridCol w="3474720"/>
                <a:gridCol w="4590288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Test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What it detects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Pitfall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Cholestane-3β,5α,6β-triol (oxysterol)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Oxidised cholesterol; more specific than 7-ketocholesterol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False positive in ASMD, LAL-D, less often CTX and SLOS; spurious in neonatal cholestasis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Lyso-SM-509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Sensitive for NPC and ASMD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High lyso-SM-509 to lyso-SM ratio favours NPC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Trihydroxy-cholanoyl-glycine (bile acid)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Raised only in NPC and ASMD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Less affected by cholestasis; preferred in the neonate; not prospectively validated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Filipin staining (fibroblasts)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Free cholesterol in lysosomes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longer first line; ASMD can look similar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NPC1 / NPC2 sequencing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Confirms; enables family testing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Variants of uncertain significance are common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120640"/>
            <a:ext cx="1108252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Order in a jaundiced infant.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Bile acid marker or lyso-SM-509 plus a cholestasis gene panel that includes NPC1, NPC2, SMPD1 and LIPA; send ASM and LAL activity in parallel, because the biomarkers overlap.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NPC THERAPY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THREE DRUGS FOR THE BRAIN, NONE FOR THE LIVER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Disease-modifying therapies for Niemann–Pick 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Geberhiwot 2018 · Mengel E, et al. J Inherit Metab Dis 2021;44:1463–80 · Bremova-Ertl T, et al. N Engl J Med 2024;390:421–31 · FDA approvals, September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78608" cy="25146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78608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75104"/>
            <a:ext cx="2249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Miglustat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51176"/>
            <a:ext cx="224942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Substrate reduction; licensed in the EU. Consensus: not for presymptomatic patients or those with only hepatosplenomegaly.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79" y="1773936"/>
            <a:ext cx="2578608" cy="25146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79" y="1773936"/>
            <a:ext cx="2578608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1975104"/>
            <a:ext cx="2249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97A0B"/>
                </a:solidFill>
                <a:latin typeface="Abadi"/>
              </a:rPr>
              <a:t>−65%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551176"/>
            <a:ext cx="224942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Arimoclomol: 5-domain NPCCSS progression 0.76 vs 2.15 at 12 months (P = 0.046); FDA approval 20 September 2024 with miglustat, age ≥2.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19" y="1773936"/>
            <a:ext cx="2578608" cy="25146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19" y="1773936"/>
            <a:ext cx="2578608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1" y="1975104"/>
            <a:ext cx="2249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E7A33"/>
                </a:solidFill>
                <a:latin typeface="Abadi"/>
              </a:rPr>
              <a:t>−1.28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1" y="2551176"/>
            <a:ext cx="224942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Levacetylleucine: SARA ataxia score difference versus placebo in a 60-patient crossover (P &lt; 0.001); FDA approval 24 September 2024, ≥15 kg.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59" y="1773936"/>
            <a:ext cx="2578608" cy="25146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59" y="1773936"/>
            <a:ext cx="2578608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151" y="1975104"/>
            <a:ext cx="2249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B22222"/>
                </a:solidFill>
                <a:latin typeface="Abadi"/>
              </a:rPr>
              <a:t>Liver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1" y="2551176"/>
            <a:ext cx="224942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No therapy is shown to change the neonatal liver course; care is supportive. A new liver does not cure a cell-autonomous brain disease.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526280"/>
            <a:ext cx="11082528" cy="1271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For the hepatologist.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The value of an early NPC diagnosis in a cholestatic infant is genetic counselling, surveillance and early neurological treatment, not a hepatic intervention.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Transplant.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In the rare infant with NPC liver failure, discuss the predictable neurological course with the family before listing.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LAL-D: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NO LIPASE, NO EXIT FOR CHOLESTERYL ESTERS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Lysosomal acid lipase deficiency (LIPA): from the lysosome to the adrenal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Jones SA, et al. Genet Med 2016 · Burton BK, et al. N Engl J Med 2015;373:1010–20 · Fawaz 2017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04364" cy="19202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04364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1 · LIPA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57984"/>
            <a:ext cx="18214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Lysosomal acid lipase hydrolyses cholesteryl esters and triglycerides delivered by LDL.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598724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8180" y="1773936"/>
            <a:ext cx="2004364" cy="19202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8180" y="1773936"/>
            <a:ext cx="2004364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1332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2 ·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9620" y="2157984"/>
            <a:ext cx="18214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Esters and triglycerides accumulate in hepatocytes, Kupffer cells, intestine and adrenal.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68265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7721" y="1773936"/>
            <a:ext cx="2004364" cy="19202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7721" y="1773936"/>
            <a:ext cx="2004364" cy="2926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0873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3 · Feedback lost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2157984"/>
            <a:ext cx="18214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No free cholesterol leaves the lysosome; the cell senses deficiency and makes more cholesterol and LDL.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37806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7262" y="1773936"/>
            <a:ext cx="2004364" cy="19202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7262" y="1773936"/>
            <a:ext cx="2004364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30414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4 · Infant (Wolman)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8702" y="2157984"/>
            <a:ext cx="18214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Vomiting, diarrhoea, malabsorption, hepatosplenomegaly, adrenal calcification, death in months.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07347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26803" y="1773936"/>
            <a:ext cx="2004364" cy="192024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26803" y="1773936"/>
            <a:ext cx="2004364" cy="2926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9955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5 · Later onset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8243" y="2157984"/>
            <a:ext cx="18214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High LDL, low HDL, microvesicular steatosis, fibrosis: mistaken for fatty liver disease.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22776"/>
            <a:ext cx="11082528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Natural history.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In 35 untreated infants the median age at death was 3.7 months; survival beyond 12 months was 11%. Adrenal calcification was seen in 79% of those imaged and early growth failure in 74%.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In the 2017 guideline.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LAL-D (Wolman) is listed under neonatal liver failure and hepatomegaly with a hyperechoic liver; LIPA belongs on every infant cholestasis panel.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LAL-D: ENZYME REPLACEMENT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NO SURVIVORS TO TWO IN THREE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Survival of infants with rapidly progressive LAL-D,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Jones SA, et al. Genet Med 2016 · Jones SA, et al. Orphanet J Rare Dis 2017;12:25 (VITAL) · Vijay S, et al. Orphanet J Rare Dis 2021;16:13 (VITAL + LAL-CL08)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7393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Per cent surviving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385816"/>
            <a:ext cx="6400800" cy="9144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" y="5138928"/>
            <a:ext cx="10607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3153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Historical controls to 12 mo (n = 21)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58568" y="5043830"/>
            <a:ext cx="555223" cy="341985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29967" y="4796942"/>
            <a:ext cx="10607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39" y="543153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Untreated, beyond 12 mo (n = 35)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38728" y="3302812"/>
            <a:ext cx="555223" cy="2083003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128" y="3055924"/>
            <a:ext cx="10607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43153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VITAL to 12 mo (n = 9)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18888" y="2929737"/>
            <a:ext cx="555223" cy="245607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2682849"/>
            <a:ext cx="10607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79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543153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Pooled to 12 mo (n = 19)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9048" y="3271723"/>
            <a:ext cx="555223" cy="2114092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70448" y="3024835"/>
            <a:ext cx="10607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68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543153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Pooled to 5 years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1773936"/>
            <a:ext cx="42062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6 of 9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VITAL: infants on sebelipase alfa alive at 12 months, versus none of 21 historical controls.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0.35 → 5 mg/kg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Weekly dosing began at 0.35 mg/kg and was escalated up to 5 mg/kg for poor response.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8.6 vs 3.0 months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Median survival after HSCT versus untreated in the natural history cohort: transplant alone is not enough.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LAL-D: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ONE DRIED BLOOD SPOT ENDS THE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LAL activity with the Lalistat 2 inhibitor, and the later-onset phenotype in ARISE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Hamilton J, et al. Clin Chim Acta 2012;413:1207 · Burton BK, et al. N Engl J Med 2015;373:1010 (ARISE)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530352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/>
                <a:gridCol w="25603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Group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LAL activity, nmol/punch/h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Controls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0.50 – 2.30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Carriers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0.15 – 0.40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Affected (later onset)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&lt; 0.03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17920" y="1773936"/>
            <a:ext cx="541324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31% vs 7%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ARISE (n = 66, ages 4 and up): ALT normalised on sebelipase alfa versus placebo, P = 0.03.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58% and 31%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Had LDL ≥190 mg/dL at baseline; had cirrhosis among those biopsied (10 of 32).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11082528" cy="1773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When to send it.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An infant with vomiting, diarrhoea, hepatosplenomegaly and adrenal calcification on ultrasound; any child with hepatomegaly, raised transaminases and an atherogenic lipid profile, and any 'fatty liver' in a lean child.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D97A0B"/>
                </a:solidFill>
                <a:latin typeface="Abadi"/>
              </a:rPr>
              <a:t>The pattern on biopsy.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Microvesicular steatosis with lipid-laden Kupffer cells is the classic description; ask the pathologist to consider LAL-D before calling it steatohepatitis.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MIMICS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STORAGE-LOOKING LIVERS THAT ARE NOT LYSOSOMAL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Other infiltrative causes of infantile hepatomegaly and liver failure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Olipudase alfa FDA approval 2022 (ASCEND) · Mignot C, et al. 2003 · Pediatr Transplant (Gaucher, CHEO) · Klusmann JH, et al. Blood 2008;111:2991–8 · Roberts I, et al. Blood 2013 · van Noesel MM, et al. Cancer 1997 · Braier J, et al. 2002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8" cy="352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0320"/>
                <a:gridCol w="4023360"/>
                <a:gridCol w="449884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Disorder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What makes it different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Key number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ASMD (Niemann–Pick A/B)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Huge spleen, interstitial lung disease; NPC-like biomarkers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Olipudase: spleen −38.9% vs +0.5% (adults); −46.7% in children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Perinatal-lethal Gaucher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Non-immune hydrops, ichthyosis, arthrogryposis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Gaucher with neonatal cholestasis: 7 of 9 reported cases died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TAM of Down syndrome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GATA1-mutant blasts; liver fibrosis, ascites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About 20% early deaths; EFS 63% at 5 years (n = 146)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Neuroblastoma 4S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Massive hepatomegaly in the first weeks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12 of 33 deaths from hepatomegaly; MYCN &gt;3 copies: 69% mortality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Langerhans cell histiocytosis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Liver is a risk organ; sclerosing cholangitis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Liver involvement 15–60%; mortality 30–50% if involved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Congenital leukaemia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Skin nodules, hepatosplenomegaly; two thirds AML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KMT2A-AFF1 most common; t(8;16) may remit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GALD VS HLH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A FERRITIN OF THOUSANDS DOES NOT NAME THE DISEASE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Antenatal IVIG in pregnancies at risk of gestational alloimmune liver disease,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Rand EB, et al. J Pediatr 2009;155:566–71 · Whitington PF, et al. 2018, summarised in NHS England evidence review 2019 · AASLD Liver Fellow Network, GALD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73936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Per cent of pregnancies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385816"/>
            <a:ext cx="5669280" cy="9144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53895" y="2834640"/>
            <a:ext cx="555223" cy="255117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5295" y="2587752"/>
            <a:ext cx="10607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45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0" y="5102352"/>
            <a:ext cx="555223" cy="28346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4855464"/>
            <a:ext cx="10607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3153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Affected liveborn infant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88536" y="3968496"/>
            <a:ext cx="555223" cy="141732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9935" y="3721608"/>
            <a:ext cx="10607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5329123"/>
            <a:ext cx="555223" cy="56692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5082235"/>
            <a:ext cx="10607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43153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Fetal loss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19" y="2103120"/>
            <a:ext cx="146304" cy="14630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2066543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Untreated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2103120"/>
            <a:ext cx="146304" cy="14630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0128" y="2066543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Antenatal IVIG (188)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1773936"/>
            <a:ext cx="4864608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B355E"/>
                </a:solidFill>
                <a:latin typeface="Abadi"/>
              </a:rPr>
              <a:t>75% vs 17%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Survival without transplant with exchange transfusion plus IVIG versus the older antioxidant and chelation cocktail (Rand 2009).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B355E"/>
                </a:solidFill>
                <a:latin typeface="Abadi"/>
              </a:rPr>
              <a:t>Ferritin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&gt;800 µg/L is sensitive but nonspecific in GALD; above 20,000 think infection or HLH.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B355E"/>
                </a:solidFill>
                <a:latin typeface="Abadi"/>
              </a:rPr>
              <a:t>Proof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Extrahepatic siderosis on MRI or buccal biopsy; C5b-9 staining supports but is not required.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B355E"/>
                </a:solidFill>
                <a:latin typeface="Abadi"/>
              </a:rPr>
              <a:t>67–92%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Recurrence risk in later pregnancies: refer the mother for IVIG from about 14–18 weeks.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SPLENOMEGALY PLUS CHOLESTASIS: THE FIRST 48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 practical sequence that runs alongside the standard cholestasis algorithm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2017 · Henter 2007 · Geberhiwot 2018 · Jones 2016 · Rand 2009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04364" cy="21945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04364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1 · Day 1, bedside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57984"/>
            <a:ext cx="18214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Spleen size, fever, rash, skin nodules, tachypnoea, ascites, Down features; blood film.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598724" y="2779775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8180" y="1773936"/>
            <a:ext cx="2004364" cy="21945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8180" y="1773936"/>
            <a:ext cx="2004364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1332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2 · Day 1, blood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9620" y="2157984"/>
            <a:ext cx="18214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CBC, ferritin, triglycerides, fibrinogen, sCD25, INR, AFP; HSV and enterovirus PCR; start aciclovir if ill.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68265" y="2779775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7721" y="1773936"/>
            <a:ext cx="2004364" cy="21945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7721" y="1773936"/>
            <a:ext cx="2004364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0873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3 · Day 1–2,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2157984"/>
            <a:ext cx="18214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Dried blood spot LAL and ASM activity; NPC bile acid or lyso-SM-509; urine catecholamines.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37806" y="2779775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7262" y="1773936"/>
            <a:ext cx="2004364" cy="21945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7262" y="1773936"/>
            <a:ext cx="2004364" cy="2926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30414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4 · Day 2, imaging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8702" y="2157984"/>
            <a:ext cx="18214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Ultrasound for adrenal calcification and masses; MRI for extrahepatic siderosis if liver failure.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07347" y="2779775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26803" y="1773936"/>
            <a:ext cx="2004364" cy="21945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26803" y="1773936"/>
            <a:ext cx="2004364" cy="2926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9955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5 · Day 2–7, genes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8243" y="2157984"/>
            <a:ext cx="18214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Rapid panel or genome covering HLH, NPC1/2, LIPA, SMPD1, GBA1; marrow if cytopenic.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206240"/>
            <a:ext cx="11082528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Do not wait for the biopsy.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Most of these diagnoses are made on blood. A liver biopsy in a coagulopathic infant adds risk; when it is done, ask for CD1a, CD68, iron and lipid-oriented stains.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Sequence over certainty.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Treat HSV empirically, start HLH therapy on criteria, and send enzyme activities before any transfusion that would confound them.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North America versus Europe and international consensus; no AASLD or EASL guidance addresses these infant disorders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R, et al. JPGN 2017 (NASPGHAN/ESPGHAN) · Henter 2007 (Histiocyte Society) · Geberhiwot 2018 (international NPC consensus) · FDA 2022, 2024 approvals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8" cy="3145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40"/>
                <a:gridCol w="3611880"/>
                <a:gridCol w="3858768"/>
                <a:gridCol w="1234440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North America (NASPGHAN, AASLD, FDA)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Europe / international (ESPGHAN, EASL, consensus)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Splenomegaly as a flag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Joint 2017: storage or haematologic disorder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Same joint guideline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HLH in the cholestasis algorithm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Not named in the 2017 guideline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HLH-2004 criteria (Histiocyte Society)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NPC biomarkers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NPC1 listed in Table 1; no biomarker advice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2018 consensus: bile acid preferred in neonatal cholestasis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NPC drug therapy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Arimoclomol and levacetylleucine approved 2024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Miglustat licensed; consensus predates new agents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LAL-D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LIPA in Table 1; sebelipase alfa approved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Same; sebelipase alfa approved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GALD prevention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Mentioned only under fetal loss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neonatal guideline recommends antenatal IVIG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Genetic testing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Low threshold for panels or exome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Same joint guideline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029200"/>
            <a:ext cx="11082528" cy="76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B22222"/>
                </a:solidFill>
                <a:latin typeface="Abadi"/>
              </a:rPr>
              <a:t>Material gap.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A mother whose infant had GALD has a 67–92% recurrence risk that antenatal IVIG largely prevents, yet the neonatal guideline does not tell the hepatologist to arrange it. The referral is ours to make.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THE DIAGNOSIS GOES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Common reasons for a missed or a late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Allen 2008 · Geberhiwot 2018 · Trottestam 2011 · Jones 2016 · Rand 2009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78608" cy="246888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78608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2494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22222"/>
                </a:solidFill>
                <a:latin typeface="Abadi"/>
              </a:rPr>
              <a:t>Ferritin of 10,000 called GALD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15184"/>
            <a:ext cx="224942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GALD rarely exceeds 20,000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Check sCD25, fibrinogen, HSV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Transaminases high: think HLH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79" y="1773936"/>
            <a:ext cx="2578608" cy="246888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79" y="1773936"/>
            <a:ext cx="2578608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1984248"/>
            <a:ext cx="22494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7A0B"/>
                </a:solidFill>
                <a:latin typeface="Abadi"/>
              </a:rPr>
              <a:t>Jaundice resolved, NPC dismissed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615184"/>
            <a:ext cx="224942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NPC cholestasis clears by 3–4 months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Spleen stays big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Neurology comes years later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19" y="1773936"/>
            <a:ext cx="2578608" cy="246888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19" y="1773936"/>
            <a:ext cx="2578608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1" y="1984248"/>
            <a:ext cx="22494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Oxysterols in a cholestatic infant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1" y="2615184"/>
            <a:ext cx="224942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Spurious elevation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High in ASMD and Wolman too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Use bile acid marker and genes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59" y="1773936"/>
            <a:ext cx="2578608" cy="246888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59" y="1773936"/>
            <a:ext cx="2578608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151" y="1984248"/>
            <a:ext cx="22494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22222"/>
                </a:solidFill>
                <a:latin typeface="Abadi"/>
              </a:rPr>
              <a:t>Liver transplant for HLH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1" y="2615184"/>
            <a:ext cx="224942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 new liver does not fix the immune defect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Control disease first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Plan HSCT; jaundice predicts early death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434840"/>
            <a:ext cx="11082528" cy="1362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D97A0B"/>
                </a:solidFill>
                <a:latin typeface="Abadi"/>
              </a:rPr>
              <a:t>And one more: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calling vomiting, diarrhoea and hepatomegaly in a 6-week-old 'cow's milk allergy' without an abdominal ultrasound. Adrenal calcification is the free clue to Wolman disease.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TEN THINGS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numbers worth carrying into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2017 · Henter 2007 · Allen 2008 · Bergsten 2017 · Hadžić 2022 · Geberhiwot 2018 · Mengel 2021 · Jones 2016, 2017 · Vijay 2021 · Rand 2009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73936"/>
            <a:ext cx="11082528" cy="39867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Splenomegaly in a cholestatic infant means storage or haematologic disease until shown otherwise (Fawaz 2017).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HLH-2004: five of eight criteria or a gene; ferritin &gt;10,000 is 90% sensitive and 96% specific.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In HLH-2004, AST &gt;120 U/L in 76%; jaundice predicted death before transplant in HLH-94.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38% of infants under 2 with acute liver failure at King's had an HLH phenotype.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Neonatal HLH: HSV is as common a trigger as familial disease; give aciclovir first.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Five-year survival in HLH is about 60%; familial HLH needs HSCT.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NPC: jaundice clears by 3–4 months, 8–9% die early; oxysterols mislead in cholestasis.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Arimoclomol and levacetylleucine (2024) treat NPC neurology, not the liver.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Wolman: median death at 3.7 months untreated; sebelipase alfa 67–79% survive the first year.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GALD: exchange plus IVIG gives 75% transplant-free survival; antenatal IVIG cuts recurrence from 45% to 5%.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SYNTHESIS — SCENARIO TO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SCENARIO TO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Applying the logic on the ward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Synthesis of the sources above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8" cy="37124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0"/>
                <a:gridCol w="5596128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Decision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10-day-old, fever, ALT 3,000, platelets 40, ferritin 25,000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Aciclovir now; HSV PCR; sCD25, fibrinogen, NK; HLH protocol if criteria met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6-week-old, cholestasis, spleen 4 cm, tachypnoea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NPC bile acid / lyso-SM-509, ASM and LAL activity, panel with NPC1/2, SMPD1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7-week-old, vomiting, diarrhoea, hepatomegaly, adrenal calcification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Dried blood spot LAL activity today; start sebelipase alfa on result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Day-1 liver failure, AST 80, INR 5, ferritin 3,000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MRI or lip biopsy for siderosis; exchange transfusion + IVIG; IVIG in next pregnancy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Newborn with Down syndrome, blasts, ascites, rising bilirubin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TAM: GATA1, haematology, consider low-dose cytarabine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2-year-old, cholestasis, rash, lytic lesion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LCH: biopsy with CD1a; MRCP for sclerosing cholangitis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82528" cy="1828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Infiltrative and Storage Disorders in the Cholestatic Infant: HLH, Niemann–Pick C, LAL-D and Their Mimics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49039"/>
            <a:ext cx="182880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1082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