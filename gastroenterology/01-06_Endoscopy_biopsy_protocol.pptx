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Paediatric Endoscopy II: the Biopsy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ACG EoE guideline 2025 (Dellon) · ESPGHAN EoE 2024 (Amil-Dias) · ESPGHAN coeliac 2020 (Husby) · Porto criteria 2014 (Levine) · ESPGHAN/NASPGHAN H. pylori 2023 (Homan) · ESGE tissue sampling 2021 · PEnQuIN 2022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Why sampling matters · oesophagus · duodenum · ileocolon · stomach · special requests · handling ·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WHERE, HOW MANY, AND WHICH JAR?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biopsy protocol for the four commonest diagnostic questions in paediatric endoscopy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Dellon ES, et al. Am J Gastroenterol 2025;120:31–59 · Husby S, et al. JPGN 2020;70:141–56 · Levine A, et al. JPGN 2014;58:795–806 · Homan M, et al. JPGN 2024;79:758–85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Oesophagus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≥6 biopsies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From ≥2 levels, proximal and distal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Target furrows and exudates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Separate jars by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Duodenum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≥4 from the distal duodenum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≥1 from the bulb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 a gluten-containing diet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Single bite, well oriented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Ileocolon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Ileum, every colonic segment, rectum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≥2 per segment, normal or not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Plus oesophagus, stomach, duodenum in suspected IBD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Stomach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H. pylori: ≥6 biopsies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3 antrum + 3 corpus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 + 2 histology, 1 + 1 culture or PCR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Every one of these protocols exists because the disease is patchy and the forceps samples a few square millimetres. The endoscopist decides the diagnostic yield before the pathologist sees a slide.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Take the biopsies for the question, not for what the mucosa looks 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PATCHY DISEASE, TINY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each disease needs its own sampling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Sheiko MA, et al. Gastrointest Endosc 2015;81:1385–91 · Bonamico M, et al. JPGN 2008;47:618–22 · Glickman JN, et al. Am J Surg Pathol 2004 · Pouw RE, et al. Endoscopy 2021;53:1174–88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572000"/>
                <a:gridCol w="37764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Disease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How it is distributed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Consequence for sampling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Eosinophilic oesophagitis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Patchy along the whole oesophagus; peak counts vary between fragments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Number and levels matter more than appearance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Coeliac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Patchy villous atrophy; sometimes only in the bulb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Distal duodenum plus bulb, oriented specimens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Crohn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Skip lesions; granulomas focal and often in normal-looking mucosa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Every segment, upper tract included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Ulcerative colitis in children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Rectal sparing and patchiness more common than in adults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Full colonoscopy with segmental biopsies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H. pylori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Patchy; shifts to the corpus on acid suppression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Antrum and corpus, culture or PCR as well as histology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1,000 paediatric endoscopies in Colorado, 30% of eosinophilic oesophagitis and 43% of coeliac disease had normal-looking mucosa, and biopsying only visible lesions would have missed 48.5% of histological disease.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Normal mucosa is not a reason to skip a biopsy; it is the reason the protocol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OESOPHAGUS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SIX BIOPSIES APPROACH 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 for ≥15 eosinophils per high-power field by number of oesophageal biopsies,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Gonsalves N, et al. Gastrointest Endosc 2006;64:313–9 (adults) · Nielsen JA, et al. Am J Gastroenterol 2014;109:515–20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37160" cy="1371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Gonsalves 2006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82880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Nielsen 2014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386" y="4009798"/>
            <a:ext cx="473201" cy="1385161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634" y="3753766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55%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0451" y="3818394"/>
            <a:ext cx="473201" cy="157656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3562362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62.6%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1 biopsy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9212" y="3007446"/>
            <a:ext cx="473201" cy="238751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37460" y="2751414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3 biopsies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7972" y="2924336"/>
            <a:ext cx="473201" cy="247062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6220" y="2668304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4 biopsies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666" y="2876485"/>
            <a:ext cx="473201" cy="251847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6914" y="2620453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6731" y="2894114"/>
            <a:ext cx="473201" cy="250084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4979" y="2638082"/>
            <a:ext cx="10767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99.3%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19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5 biopsies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60350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182880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55% → 100%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One biopsy versus five in an adult cohort with a threshold of 15 eosinophils per high-power field.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62.6% → 99.3%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One fragment versus five in 102 sequential cases; the authors advise at least four and no more than six.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≥7 biopsies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Reported to detect lamina propria fibrosis in more than 95%, which needs deeper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OESOPHAGUS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EOE GUIDELINES ASK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sampling and histological thresholds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Dellon 2018 (AGREE) · Dellon 2025 (ACG) · Amil-Dias J, et al. JPGN 2024;79:394–437 · Pouw 2021 (ESGE) · Collins MH, et al. Dis Esophagus 2017 (EoEHSS)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How 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≥6 biopsies from ≥2 levels (ACG 2025, strong)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2–4 proximal, 2–4 distal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at food impaction too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Where to 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Furrows, exudates, rings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mucosa still sampled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Stomach and duodenum at the first paediatric EGD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Which jars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ESGE: proximal and distal in separate containers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Name the clinical question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What to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Peak count per high-power field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≥15 per hpf, about 60 per mm²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EoEHSS: 8 features, grade and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AGA and Joint Task Force guideline of 2020 is about management and gives no diagnostic biopsy number; the source for six biopsies is the 2025 ACG guideline, with ESGE 2021 and ESPGHAN 2024 in agreement.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Ask the pathologist for the peak count, the field area and the other features, not just yes or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BEYOND THE OESOPHAGUS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NORMAL EOSINOPHILS ARE NOT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Proposed diagnostic thresholds for eosinophilic disease outside the oesophagus, eosinophils per high-power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Collins MH, Capocelli K, Yang GY. Front Med 2018;4:261 · Papadopoulou A, et al. JPGN 2024;78:122–52 (ESPGHAN/NASPGHAN non-EoE EGID)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657600"/>
                <a:gridCol w="4690872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Proposed threshold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Practical point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Stomach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≥30 in ≥5 fields, or ≥70 in ≥3 fields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Sample antrum and corpus; report fields counted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Duodenum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&gt;52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Counts are normally higher than many pathologists expect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Terminal ileum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Interpret with the clinical picture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Caecum and right colon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&gt;100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Right colon has the highest normal counts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Transverse and left colon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Label each segment separately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Rectosigmoid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&gt;64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Allergic proctocolitis in infants is a different, clinical diagnosis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These values are roughly twice the normal peak counts. The 2024 joint ESPGHAN and NASPGHAN guideline on eosinophilic disease beyond the oesophagus gives organ-specific thresholds and asks for site-labelled specimens.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Without the segment on the jar, an eosinophil count cannot be interpreted.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DUODENUM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BIOPSIES, THEN THE BULB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the number of duodenal specimens changes coeliac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Pais WP, et al. Gastrointest Endosc 2008;67:1082–7 · Lebwohl B, et al. Gastrointest Endosc 2011;74:103–9 · Shamban L, et al. Endosc Int Open 2017;5:E1220–8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90% →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Diagnosis confirmed with 2 versus 4 duodenal biopsies (Pais 2008)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132,352 US patients had at least 4 specimens taken (Lebwohl 2011)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1.8% vs 0.7%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Coeliac diagnosis rate with ≥4 versus &lt;4 specimens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0.3 → 12.8%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Yield with &lt;4 specimens versus 6 specimens; 4.7% with ≥4 (Shamban 2017)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patients biopsied specifically for suspected coeliac disease or malabsorption, taking at least four specimens raised the odds of diagnosis about sevenfold. Paediatric gastroenterologists took more samples than adult endoscopists.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Below four specimens the miss rate is not small; it is most of the diagnoses.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DUODENUM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BULB AND THE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Bulb-only disease, specimen orientation and agreement between pathologists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Bonamico M, et al. JPGN 2008;47:618–22 · Latorre M, et al. Gastrointest Endosc 2015;81:1228–33 · Husby 2020 · Werkstetter KJ, et al. Gastroenterology 2017;153:924–35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665 children with coeliac disease had lesions only in the bulb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66 vs 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Well-oriented specimens with a single bite versus a double bite per pass (adults)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58%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Disagreement between local and central pathologists on Marsh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Disagreement on coeliac versus not coeliac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ESPGHAN 2020 asks that only optimally oriented biopsies be read, with a villous to crypt ratio below 2 indicating a lesion, and that Marsh–Oberhuber grading be given only with proper orientation. Discordant histology and serology should prompt recuts or a second pathologist.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One bite per pass, bulb in its own jar, and serology on the requisition.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CHILDREN ARE UNDER-SAMPLED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Detection rate by adherence to biopsy guidelines in US paediatric endoscopy,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Wallach T, Genta RM, Lebwohl B, Green PHR, Reilly NR. JPGN 2017;65:64–8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137160" cy="13716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Diagnosis 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" y="4930616"/>
            <a:ext cx="585215" cy="464343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59" y="4674584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Coeliac: ≥4 duodenal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9172" y="5329951"/>
            <a:ext cx="585215" cy="6500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7420" y="5073919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Coeliac: &lt;4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7932" y="3026806"/>
            <a:ext cx="585215" cy="2368153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6180" y="2770774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25.5%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EoE: ≥2 levels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6691" y="4661296"/>
            <a:ext cx="585215" cy="733663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4939" y="4405264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B355E"/>
                </a:solidFill>
                <a:latin typeface="Abadi"/>
              </a:rPr>
              <a:t>7.9%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54406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EoE: not adherent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60350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82880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35.4%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Of 9,171 children had at least four duodenal biopsies; adjusted odds ratio for detection 6.3.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8.2%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Of 8,280 children had oesophageal biopsies from two specified levels; 68% came from an unlabelled site.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2.4×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Adjusted odds of detecting eosinophilic oesophagitis when the protocol was followed.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ILEOCOLON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SEGMENTS, LABELLED JARS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Revised Porto criteria: upper endoscopy and ileocolonoscopy in every child with suspected IBD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Levine 2014 · Oliva S, et al. JPGN 2018;67:414–30 · Pouw RE, et al. Endoscopy 2021;53:1261–73 (ESGE part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035454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Upper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85415"/>
            <a:ext cx="2035454" cy="1883664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76856"/>
            <a:ext cx="181599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Oesophagus, stomach (antrum and corpus), duodenum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03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874519"/>
            <a:ext cx="2035454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Ileum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85415"/>
            <a:ext cx="2035454" cy="1883664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76856"/>
            <a:ext cx="181599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Intubate and biopsy even if normal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03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874519"/>
            <a:ext cx="2035454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Right colon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85415"/>
            <a:ext cx="2035454" cy="1883664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76856"/>
            <a:ext cx="181599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Caecum, ascending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03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874519"/>
            <a:ext cx="2035454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Mid colon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85415"/>
            <a:ext cx="2035454" cy="1883664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76856"/>
            <a:ext cx="181599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Transverse, descending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03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874519"/>
            <a:ext cx="2035454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Left colon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85415"/>
            <a:ext cx="2035454" cy="1883664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76856"/>
            <a:ext cx="181599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Sigmoid, rectum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348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Porto group asks for multiple biopsies from every segment, with or without visible disease, and small-bowel imaging unless the picture is typical ulcerative colitis. ESGE 2021 asks for at least two biopsies per segment in separate containers.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Distribution is the diagnosis: one jar for the whole colon throws it 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UPPER 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UPPER ENDOSCOPY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contribution of upper endoscopy and granulomas in paediatric Crohn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Hummel TZ, et al. JPGN 2012;54:753–7 · De Matos V, et al. JPGN 2008;46:392–8 · Müller KE, et al. Front Pediatr 2021;9:710631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70 children with Crohn disease had the diagnosis established or changed by upper tract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Had upper tract granulomas, 19 of 21 in the stomach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19% vs 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Duodenal inflammation in Crohn disease versus ulcerative colitis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61 vs 24.5%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Granulomas found in untreated versus treated children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Granulomas are more likely before treatment, so the diagnostic endoscopy is the best chance to find them. In a Hungarian national registry, upper tract biopsies were taken in only 63% of upper endoscopies done for suspected IBD.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Scope the stomach and biopsy it, before steroids, even when it looks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ILEUM AND RECTUM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TWO PLACES THAT CHANGE THE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the terminal ileum and the whole colon matter more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Glickman JN, et al. Am J Surg Pathol 2004 · Sawczenko A, Sandhu BK. Arch Dis Child 2003 · Müller 2021 · Walsh CM, et al. JPGN 2022;74:S44–52 (PEnQuIN)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3514344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3514344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3075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Ileum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30754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About 10% of children with Crohn disease have no colonic involvement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Isolated ileitis is missed without intubation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PEnQuIN target: ≥85% ileal intubation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7304" y="1773936"/>
            <a:ext cx="3514344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7304" y="1773936"/>
            <a:ext cx="3514344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6760" y="2048255"/>
            <a:ext cx="3075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Rectum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760" y="2542032"/>
            <a:ext cx="30754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Rectal sparing in about 30% of untreated paediatric UC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About 3% in adults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Sigmoidoscopy alone is not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5968" y="1773936"/>
            <a:ext cx="3514344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5968" y="1773936"/>
            <a:ext cx="3514344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5424" y="2048255"/>
            <a:ext cx="3075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5424" y="2542032"/>
            <a:ext cx="30754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Hungarian registry: ileoscopy rose from 52% to 84% over 2007–2016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Caecal intubation 89.5%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Rectal sparing or patchy colitis in an untreated child does not by itself mean Crohn disease; atypical ulcerative colitis is still classified as ulcerative colitis under the Porto criteria.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Reach the ileum, biopsy every segment, and let the pattern decide.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STOMACH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SIX GASTRIC BIOPSIES, TWO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ESPGHAN/NASPGHAN 2023 H. pylori guideline: biopsy-based diagnosis with susceptibility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Homan M, Jones NL, Bontems P, et al. JPGN 2024;79:758–85 · Dixon MF, et al. Am J Surg Pathol 1996;20:1161–81 · Pouw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1280160"/>
                <a:gridCol w="1280160"/>
                <a:gridCol w="487375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Antrum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Corpus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Histology (updated Sydney system)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Anterior and posterior walls; site-labelled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Culture and/or PCR, or rapid urease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Take before the forceps touches formalin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At least six biopsies (strong recommendation)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Clarithromycin resistance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Real-time PCR on biopsy is recommended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480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Infection is confirmed by a positive culture or molecular test, or by positive histology plus a positive rapid urease test. Active bleeding and acid suppression lower sensitivity. The guideline does not support test-and-treat in children, so the endoscopy is where therapy is chosen.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If you are going to treat H. pylori in a child, take tissue that tells you which antibiotic works.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SPECIAL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QUESTION CHANGES THE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Sampling for less common indications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Pouw 2021 (ESGE part 2) · Aslanian H, et al. Dig Dis Sci 2012;57:720–5 · Dellon 2025 · laboratory requirements for disaccharidase assay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Disaccharidases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Distal duodenum, ≥2 biopsies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Snap-freeze at once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formalin, saline or filter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Microscopic colitis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 right colon in one jar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 left colon in another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Normal-looking colon is the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Graft-versus-host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Rectal biopsy alone found 89% in one series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mucosa often positive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Duodenum the best upper 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Food impaction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the oesophagus at disimpaction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Avoids a second anaesthetic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paediatric series of 20 procedures for suspected graft-versus-host disease found sensitivity of 80% in the duodenum but only 22% in the oesophagus and 30% in the stomach, supporting duodenal and lower tract sampling.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Decide the fixative before the procedure, not after the specimen is in formalin.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FORCEPS TO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steps between the biopsy and an interpretable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Husby 2020 · Pouw 2021 · Werkstetter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035454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Bite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85415"/>
            <a:ext cx="2035454" cy="1517904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76856"/>
            <a:ext cx="18159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One specimen per pass when orientation matters; avoid crush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69747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874519"/>
            <a:ext cx="2035454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Orient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85415"/>
            <a:ext cx="2035454" cy="1517904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76856"/>
            <a:ext cx="18159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Mucosal side up; duodenal specimens laid flat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69747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874519"/>
            <a:ext cx="2035454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Separate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85415"/>
            <a:ext cx="2035454" cy="1517904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76856"/>
            <a:ext cx="18159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One labelled jar per site or level; fresh tissue first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69747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874519"/>
            <a:ext cx="2035454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85415"/>
            <a:ext cx="2035454" cy="1517904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76856"/>
            <a:ext cx="18159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Clinical question, serology, diet, drugs, eosinophil count wanted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69747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874519"/>
            <a:ext cx="2035454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874519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Discuss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85415"/>
            <a:ext cx="2035454" cy="1517904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76856"/>
            <a:ext cx="18159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Recuts or second opinion when histology and clinic disagree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690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Orientation on filter paper is expert practice rather than guideline-level evidence, but the guideline evidence on orientation is clear: only about half of paediatric duodenal biopsies were optimally oriented in the data behind ESPGHAN 2020, and agreement on Marsh grade was poor.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well-taken biopsy with no clinical question attached is half a 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PENQUIN MEASURES, AND WHAT IT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Endoscopy Quality Improvement Network standards and indicators, 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Walsh CM, et al. JPGN 2022;74:S3–15 · Walsh CM, et al. JPGN 2022;74:S44–52 · Lightdale JR, et al. JPGN 2022;74 Suppl 1 · Walsh CM, et al. JPGN 2022;74:S53–62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49 · 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Standards and indicators that reached international consensus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≥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Caecal intubation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≥ 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Terminal ileal intubation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Biopsies per site did not reach consensus as an indicator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PEnQuIN also asks for adequate bowel preparation in at least 80% of colonoscopies and for biopsies taken for appropriate indications, but it leaves the counts to the disease-specific guidelines.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Audit your own counts against the disease guidelines; the quality framework will not do it for you.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Dellon 2025 (ACG) · Amil-Dias 2024 · Husby 2020 · Rubio-Tapia 2023 (ACG) · Levine 2014 · Homan 2024 · Pouw 2021 · Walsh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566160"/>
                <a:gridCol w="3749039"/>
                <a:gridCol w="1399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 (ACG · NASPGHAN)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 (ESPGHAN · ESGE)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EoE biopsy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≥6 from ≥2 levels (ACG 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≥6, 2–4 proximal and 2–4 distal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EoE containers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requirement stated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Proximal and distal separately (ESGE)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Coeliac biopsies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4 distal + 1–2 bulb (ACG 2023)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≥4 distal + ≥1 bulb (ESPGHAN 2020)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Coeliac without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Biopsy still generally advised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No-biopsy route if TGA-IgA ≥10× and EMA positive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H. pylori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Joint guideline: ≥6, 3 + 3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IBD segments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Upper and lower, every segment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Porto: every segment; ESGE ≥2 per segment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Quality indicator for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None (PEnQuIN, joint)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material difference is whether a coeliac child is biopsied at all; once the scope is in, both sides ask for the same protocol.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the endoscopy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Sheiko 2015 · Nielsen 2014 · Dellon 2025 · Lebwohl 2011 · Wallach 2017 · Bonamico 2008 · Hummel 2012 · Homan 2024 · Walsh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981944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Biopsying only what looks abnormal misses about half of histological disease in children.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Oesophagus: at least six biopsies from two levels; one biopsy finds only about 55–63%.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Duodenum: four distal plus one bulb; fewer than four cuts the coeliac diagnosis rate more than twofold.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Only about a third of US children get four duodenal biopsies, and fewer than one in ten get two-level oesophageal sampling.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Suspected IBD: upper and lower endoscopy, ileum reached, every segment in its own jar.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Upper tract findings establish or change the IBD diagnosis in about one child in ten.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H. pylori: six gastric biopsies, three antrum and three corpus, with culture or PCR for clarithromycin.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Disaccharidases are snap-frozen; everything else goes in formalin after the fresh samples are taken.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protocol to common referrals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Dellon 2025 · Husby 2020 · Levine 2014 · Homan 2024 · Pouw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49039"/>
                <a:gridCol w="1737360"/>
                <a:gridCol w="56052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Biopsy plan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12-year-old, dysphagia, normal-looking oesophagus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EoE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≥6 from proximal and distal, separate jars; stomach and duodenum too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7-year-old, TGA-IgA 3× upper limit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Coeliac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≥4 distal duodenum + ≥1 bulb, single bite, on gluten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14-year-old, diarrhoea, calprotectin 900 µg/g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Ileocolonoscopy and EGD; ≥2 per segment, labelled, normal or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10-year-old, nodular antrum, H. pylori suspected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H. pylori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3 antrum + 3 corpus; culture or PCR for clarithromycin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Toddler, watery diarrhoea with sucrose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Disaccharidases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Extra distal duodenal biopsies, snap-frozen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After stem cell transplant, diarrhoea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Graft-versus-host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Rectosigmoid and duodenum, normal mucosa included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Name the question, count the biopsies, label the jars.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Paediatric Endoscopy II: the Biopsy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