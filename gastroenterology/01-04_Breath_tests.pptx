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anchor="b" lIns="36576" rIns="36576" tIns="18288" bIns="18288">
            <a:spAutoFit/>
          </a:bodyPr>
          <a:lstStyle/>
          <a:p>
            <a:pPr algn="ctr"/>
            <a:r>
              <a:rPr sz="4200" b="1" i="0">
                <a:solidFill>
                  <a:srgbClr val="FFFFFF"/>
                </a:solidFill>
                <a:latin typeface="Abadi"/>
              </a:rPr>
              <a:t>Breath Tests in Paediatric Gastroenterology</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anchor="t" lIns="36576" rIns="36576" tIns="18288" bIns="18288">
            <a:spAutoFit/>
          </a:bodyPr>
          <a:lstStyle/>
          <a:p>
            <a:pPr algn="ctr"/>
            <a:r>
              <a:rPr sz="1700" b="1" i="0">
                <a:solidFill>
                  <a:srgbClr val="FFFFFF"/>
                </a:solidFill>
                <a:latin typeface="Abadi"/>
              </a:rPr>
              <a:t>Andrey Ermak, MD</a:t>
            </a:r>
          </a:p>
        </p:txBody>
      </p:sp>
      <p:sp>
        <p:nvSpPr>
          <p:cNvPr id="6" name="TextBox 5"/>
          <p:cNvSpPr txBox="1"/>
          <p:nvPr/>
        </p:nvSpPr>
        <p:spPr>
          <a:xfrm>
            <a:off x="548640" y="4498848"/>
            <a:ext cx="11091672" cy="704088"/>
          </a:xfrm>
          <a:prstGeom prst="rect">
            <a:avLst/>
          </a:prstGeom>
          <a:noFill/>
        </p:spPr>
        <p:txBody>
          <a:bodyPr wrap="square" anchor="t" lIns="36576" rIns="36576" tIns="18288" bIns="18288">
            <a:spAutoFit/>
          </a:bodyPr>
          <a:lstStyle/>
          <a:p>
            <a:pPr algn="ctr"/>
            <a:r>
              <a:rPr sz="1100" b="0" i="0">
                <a:solidFill>
                  <a:srgbClr val="CFD8E6"/>
                </a:solidFill>
                <a:latin typeface="Abadi"/>
              </a:rPr>
              <a:t>North American Consensus 2017 (Rezaie) · European H2–CH4 guideline 2022 (Hammer) · ESPGHAN breath testing position paper 2022 (Broekaert) · ACG SIBO 2020 (Pimentel) · ESPGHAN/NASPGHAN H. pylori 2023 (Homan)</a:t>
            </a:r>
          </a:p>
          <a:p>
            <a:pPr algn="ctr">
              <a:spcBef>
                <a:spcPts val="200"/>
              </a:spcBef>
            </a:pPr>
            <a:r>
              <a:rPr sz="1100" b="0" i="0">
                <a:solidFill>
                  <a:srgbClr val="CFD8E6"/>
                </a:solidFill>
                <a:latin typeface="Abadi"/>
              </a:rPr>
              <a:t>Hydrogen and methane · lactose and fructose · glucose versus lactulose for SIBO · methane and hydrogen sulphide · 13C-urea · what a positive test does not mean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THE QUESTION OF THE DAY</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WHAT DOES A RISE IN BREATH GAS PROVE?</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Four breath tests a paediatric gastroenterologist orders, and the trap in each</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2</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Rezaie A, et al. Am J Gastroenterol 2017;112:775–84 · Hammer HF, et al. UEG J 2022;10:15–40 · Broekaert IJ, et al. JPGN 2022;74:123–38 · Homan M, et al. JPGN 2024;79:758–85</a:t>
            </a:r>
          </a:p>
        </p:txBody>
      </p:sp>
      <p:sp>
        <p:nvSpPr>
          <p:cNvPr id="12" name="Rectangle 11"/>
          <p:cNvSpPr/>
          <p:nvPr/>
        </p:nvSpPr>
        <p:spPr>
          <a:xfrm>
            <a:off x="548640" y="1773936"/>
            <a:ext cx="2567178" cy="28803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Lactose</a:t>
            </a:r>
          </a:p>
        </p:txBody>
      </p:sp>
      <p:sp>
        <p:nvSpPr>
          <p:cNvPr id="15" name="TextBox 14"/>
          <p:cNvSpPr txBox="1"/>
          <p:nvPr/>
        </p:nvSpPr>
        <p:spPr>
          <a:xfrm>
            <a:off x="768096" y="2560320"/>
            <a:ext cx="2128266" cy="1965960"/>
          </a:xfrm>
          <a:prstGeom prst="rect">
            <a:avLst/>
          </a:prstGeom>
          <a:noFill/>
        </p:spPr>
        <p:txBody>
          <a:bodyPr wrap="square" anchor="t" lIns="36576" rIns="36576" tIns="18288" bIns="18288">
            <a:spAutoFit/>
          </a:bodyPr>
          <a:lstStyle/>
          <a:p>
            <a:pPr algn="l"/>
            <a:r>
              <a:rPr sz="1150" b="0" i="0">
                <a:solidFill>
                  <a:srgbClr val="1A1A1A"/>
                </a:solidFill>
                <a:latin typeface="Abadi"/>
              </a:rPr>
              <a:t>▪  Gas proves malabsorption</a:t>
            </a:r>
          </a:p>
          <a:p>
            <a:pPr algn="l">
              <a:spcBef>
                <a:spcPts val="600"/>
              </a:spcBef>
            </a:pPr>
            <a:r>
              <a:rPr sz="1150" b="0" i="0">
                <a:solidFill>
                  <a:srgbClr val="1A1A1A"/>
                </a:solidFill>
                <a:latin typeface="Abadi"/>
              </a:rPr>
              <a:t>▪  Intolerance needs symptoms recorded</a:t>
            </a:r>
          </a:p>
          <a:p>
            <a:pPr algn="l">
              <a:spcBef>
                <a:spcPts val="600"/>
              </a:spcBef>
            </a:pPr>
            <a:r>
              <a:rPr sz="1150" b="0" i="0">
                <a:solidFill>
                  <a:srgbClr val="1A1A1A"/>
                </a:solidFill>
                <a:latin typeface="Abadi"/>
              </a:rPr>
              <a:t>▪  Non-persistence is the global norm</a:t>
            </a:r>
          </a:p>
        </p:txBody>
      </p:sp>
      <p:sp>
        <p:nvSpPr>
          <p:cNvPr id="16" name="Rectangle 15"/>
          <p:cNvSpPr/>
          <p:nvPr/>
        </p:nvSpPr>
        <p:spPr>
          <a:xfrm>
            <a:off x="3390138" y="1773936"/>
            <a:ext cx="2567178" cy="28803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9594"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Fructose</a:t>
            </a:r>
          </a:p>
        </p:txBody>
      </p:sp>
      <p:sp>
        <p:nvSpPr>
          <p:cNvPr id="19" name="TextBox 18"/>
          <p:cNvSpPr txBox="1"/>
          <p:nvPr/>
        </p:nvSpPr>
        <p:spPr>
          <a:xfrm>
            <a:off x="3609594" y="2560320"/>
            <a:ext cx="2128266" cy="1965960"/>
          </a:xfrm>
          <a:prstGeom prst="rect">
            <a:avLst/>
          </a:prstGeom>
          <a:noFill/>
        </p:spPr>
        <p:txBody>
          <a:bodyPr wrap="square" anchor="t" lIns="36576" rIns="36576" tIns="18288" bIns="18288">
            <a:spAutoFit/>
          </a:bodyPr>
          <a:lstStyle/>
          <a:p>
            <a:pPr algn="l"/>
            <a:r>
              <a:rPr sz="1150" b="0" i="0">
                <a:solidFill>
                  <a:srgbClr val="1A1A1A"/>
                </a:solidFill>
                <a:latin typeface="Abadi"/>
              </a:rPr>
              <a:t>▪  Positive in most toddlers</a:t>
            </a:r>
          </a:p>
          <a:p>
            <a:pPr algn="l">
              <a:spcBef>
                <a:spcPts val="600"/>
              </a:spcBef>
            </a:pPr>
            <a:r>
              <a:rPr sz="1150" b="0" i="0">
                <a:solidFill>
                  <a:srgbClr val="1A1A1A"/>
                </a:solidFill>
                <a:latin typeface="Abadi"/>
              </a:rPr>
              <a:t>▪  Result depends on the dose</a:t>
            </a:r>
          </a:p>
          <a:p>
            <a:pPr algn="l">
              <a:spcBef>
                <a:spcPts val="600"/>
              </a:spcBef>
            </a:pPr>
            <a:r>
              <a:rPr sz="1150" b="0" i="0">
                <a:solidFill>
                  <a:srgbClr val="1A1A1A"/>
                </a:solidFill>
                <a:latin typeface="Abadi"/>
              </a:rPr>
              <a:t>▪  A positive test is not a diagnosis</a:t>
            </a:r>
          </a:p>
        </p:txBody>
      </p:sp>
      <p:sp>
        <p:nvSpPr>
          <p:cNvPr id="20" name="Rectangle 19"/>
          <p:cNvSpPr/>
          <p:nvPr/>
        </p:nvSpPr>
        <p:spPr>
          <a:xfrm>
            <a:off x="6231636" y="1773936"/>
            <a:ext cx="2567178" cy="28803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1092"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SIBO</a:t>
            </a:r>
          </a:p>
        </p:txBody>
      </p:sp>
      <p:sp>
        <p:nvSpPr>
          <p:cNvPr id="23" name="TextBox 22"/>
          <p:cNvSpPr txBox="1"/>
          <p:nvPr/>
        </p:nvSpPr>
        <p:spPr>
          <a:xfrm>
            <a:off x="6451092" y="2560320"/>
            <a:ext cx="2128266" cy="1965960"/>
          </a:xfrm>
          <a:prstGeom prst="rect">
            <a:avLst/>
          </a:prstGeom>
          <a:noFill/>
        </p:spPr>
        <p:txBody>
          <a:bodyPr wrap="square" anchor="t" lIns="36576" rIns="36576" tIns="18288" bIns="18288">
            <a:spAutoFit/>
          </a:bodyPr>
          <a:lstStyle/>
          <a:p>
            <a:pPr algn="l"/>
            <a:r>
              <a:rPr sz="1150" b="0" i="0">
                <a:solidFill>
                  <a:srgbClr val="1A1A1A"/>
                </a:solidFill>
                <a:latin typeface="Abadi"/>
              </a:rPr>
              <a:t>▪  Glucose or lactulose</a:t>
            </a:r>
          </a:p>
          <a:p>
            <a:pPr algn="l">
              <a:spcBef>
                <a:spcPts val="600"/>
              </a:spcBef>
            </a:pPr>
            <a:r>
              <a:rPr sz="1150" b="0" i="0">
                <a:solidFill>
                  <a:srgbClr val="1A1A1A"/>
                </a:solidFill>
                <a:latin typeface="Abadi"/>
              </a:rPr>
              <a:t>▪  Lactulose mostly times caecal arrival</a:t>
            </a:r>
          </a:p>
          <a:p>
            <a:pPr algn="l">
              <a:spcBef>
                <a:spcPts val="600"/>
              </a:spcBef>
            </a:pPr>
            <a:r>
              <a:rPr sz="1150" b="0" i="0">
                <a:solidFill>
                  <a:srgbClr val="1A1A1A"/>
                </a:solidFill>
                <a:latin typeface="Abadi"/>
              </a:rPr>
              <a:t>▪  No true gold standard</a:t>
            </a:r>
          </a:p>
        </p:txBody>
      </p:sp>
      <p:sp>
        <p:nvSpPr>
          <p:cNvPr id="24" name="Rectangle 23"/>
          <p:cNvSpPr/>
          <p:nvPr/>
        </p:nvSpPr>
        <p:spPr>
          <a:xfrm>
            <a:off x="9073134" y="1773936"/>
            <a:ext cx="2567178" cy="28803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2590"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H. pylori</a:t>
            </a:r>
          </a:p>
        </p:txBody>
      </p:sp>
      <p:sp>
        <p:nvSpPr>
          <p:cNvPr id="27" name="TextBox 26"/>
          <p:cNvSpPr txBox="1"/>
          <p:nvPr/>
        </p:nvSpPr>
        <p:spPr>
          <a:xfrm>
            <a:off x="9292590" y="2560320"/>
            <a:ext cx="2128266" cy="1965960"/>
          </a:xfrm>
          <a:prstGeom prst="rect">
            <a:avLst/>
          </a:prstGeom>
          <a:noFill/>
        </p:spPr>
        <p:txBody>
          <a:bodyPr wrap="square" anchor="t" lIns="36576" rIns="36576" tIns="18288" bIns="18288">
            <a:spAutoFit/>
          </a:bodyPr>
          <a:lstStyle/>
          <a:p>
            <a:pPr algn="l"/>
            <a:r>
              <a:rPr sz="1150" b="0" i="0">
                <a:solidFill>
                  <a:srgbClr val="1A1A1A"/>
                </a:solidFill>
                <a:latin typeface="Abadi"/>
              </a:rPr>
              <a:t>▪  13C-urea: confirms eradication</a:t>
            </a:r>
          </a:p>
          <a:p>
            <a:pPr algn="l">
              <a:spcBef>
                <a:spcPts val="600"/>
              </a:spcBef>
            </a:pPr>
            <a:r>
              <a:rPr sz="1150" b="0" i="0">
                <a:solidFill>
                  <a:srgbClr val="1A1A1A"/>
                </a:solidFill>
                <a:latin typeface="Abadi"/>
              </a:rPr>
              <a:t>▪  Not for first diagnosis in children</a:t>
            </a:r>
          </a:p>
          <a:p>
            <a:pPr algn="l">
              <a:spcBef>
                <a:spcPts val="600"/>
              </a:spcBef>
            </a:pPr>
            <a:r>
              <a:rPr sz="1150" b="0" i="0">
                <a:solidFill>
                  <a:srgbClr val="1A1A1A"/>
                </a:solidFill>
                <a:latin typeface="Abadi"/>
              </a:rPr>
              <a:t>▪  False positives under 6 years</a:t>
            </a:r>
          </a:p>
        </p:txBody>
      </p:sp>
      <p:sp>
        <p:nvSpPr>
          <p:cNvPr id="28" name="TextBox 27"/>
          <p:cNvSpPr txBox="1"/>
          <p:nvPr/>
        </p:nvSpPr>
        <p:spPr>
          <a:xfrm>
            <a:off x="548640" y="489204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Every hydrogen breath test answers one narrow question: did fermentable substrate meet bacteria, and when? The clinical meaning comes from where that happened and whether the child had symptoms.</a:t>
            </a:r>
          </a:p>
          <a:p>
            <a:pPr algn="l">
              <a:spcBef>
                <a:spcPts val="1000"/>
              </a:spcBef>
            </a:pPr>
            <a:r>
              <a:rPr sz="1250" b="1" i="1">
                <a:solidFill>
                  <a:srgbClr val="1A1A1A"/>
                </a:solidFill>
                <a:latin typeface="Abadi"/>
              </a:rPr>
              <a:t>A breath test detects fermentation, not disease: decide before you order what result would change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MECHANISM</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ONLY MICROBES MAKE HYDROGEN</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Which organism makes each gas, and what a rise in the breath really means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3</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Rezaie 2017 Am J Gastroenterol · Pimentel M, et al. Am J Gastroenterol 2020;115:165–78 · Gasbarrini A, et al. Aliment Pharmacol Ther 2009;29(Suppl 1):1–49 · Homan 2024 JPGN</a:t>
            </a:r>
          </a:p>
        </p:txBody>
      </p:sp>
      <p:graphicFrame>
        <p:nvGraphicFramePr>
          <p:cNvPr id="12" name="Table 11"/>
          <p:cNvGraphicFramePr>
            <a:graphicFrameLocks noGrp="1"/>
          </p:cNvGraphicFramePr>
          <p:nvPr/>
        </p:nvGraphicFramePr>
        <p:xfrm>
          <a:off x="548640" y="1773936"/>
          <a:ext cx="11091672" cy="2688336"/>
        </p:xfrm>
        <a:graphic>
          <a:graphicData uri="http://schemas.openxmlformats.org/drawingml/2006/table">
            <a:tbl>
              <a:tblPr firstRow="0" bandRow="0">
                <a:tableStyleId>{5C22544A-7EE6-4342-B048-85BDC9FD1C3A}</a:tableStyleId>
              </a:tblPr>
              <a:tblGrid>
                <a:gridCol w="2011680"/>
                <a:gridCol w="3017520"/>
                <a:gridCol w="3291840"/>
                <a:gridCol w="2770632"/>
              </a:tblGrid>
              <a:tr h="420624">
                <a:tc>
                  <a:txBody>
                    <a:bodyPr wrap="square"/>
                    <a:lstStyle/>
                    <a:p>
                      <a:r>
                        <a:rPr sz="1200" b="1">
                          <a:solidFill>
                            <a:srgbClr val="FFFFFF"/>
                          </a:solidFill>
                          <a:latin typeface="Abadi"/>
                        </a:rPr>
                        <a:t>Gas</a:t>
                      </a:r>
                    </a:p>
                  </a:txBody>
                  <a:tcPr anchor="ctr" marL="73152" marR="73152" marT="27432" marB="27432">
                    <a:solidFill>
                      <a:srgbClr val="1B355E"/>
                    </a:solidFill>
                  </a:tcPr>
                </a:tc>
                <a:tc>
                  <a:txBody>
                    <a:bodyPr wrap="square"/>
                    <a:lstStyle/>
                    <a:p>
                      <a:r>
                        <a:rPr sz="1200" b="1">
                          <a:solidFill>
                            <a:srgbClr val="FFFFFF"/>
                          </a:solidFill>
                          <a:latin typeface="Abadi"/>
                        </a:rPr>
                        <a:t>Who makes it</a:t>
                      </a:r>
                    </a:p>
                  </a:txBody>
                  <a:tcPr anchor="ctr" marL="73152" marR="73152" marT="27432" marB="27432">
                    <a:solidFill>
                      <a:srgbClr val="1B355E"/>
                    </a:solidFill>
                  </a:tcPr>
                </a:tc>
                <a:tc>
                  <a:txBody>
                    <a:bodyPr wrap="square"/>
                    <a:lstStyle/>
                    <a:p>
                      <a:r>
                        <a:rPr sz="1200" b="1">
                          <a:solidFill>
                            <a:srgbClr val="FFFFFF"/>
                          </a:solidFill>
                          <a:latin typeface="Abadi"/>
                        </a:rPr>
                        <a:t>A rise means</a:t>
                      </a:r>
                    </a:p>
                  </a:txBody>
                  <a:tcPr anchor="ctr" marL="73152" marR="73152" marT="27432" marB="27432">
                    <a:solidFill>
                      <a:srgbClr val="1B355E"/>
                    </a:solidFill>
                  </a:tcPr>
                </a:tc>
                <a:tc>
                  <a:txBody>
                    <a:bodyPr wrap="square"/>
                    <a:lstStyle/>
                    <a:p>
                      <a:r>
                        <a:rPr sz="1200" b="1">
                          <a:solidFill>
                            <a:srgbClr val="FFFFFF"/>
                          </a:solidFill>
                          <a:latin typeface="Abadi"/>
                        </a:rPr>
                        <a:t>Pitfall</a:t>
                      </a:r>
                    </a:p>
                  </a:txBody>
                  <a:tcPr anchor="ctr" marL="73152" marR="73152" marT="27432" marB="27432">
                    <a:solidFill>
                      <a:srgbClr val="1B355E"/>
                    </a:solidFill>
                  </a:tcPr>
                </a:tc>
              </a:tr>
              <a:tr h="566928">
                <a:tc>
                  <a:txBody>
                    <a:bodyPr wrap="square"/>
                    <a:lstStyle/>
                    <a:p>
                      <a:r>
                        <a:rPr sz="1000" b="1">
                          <a:solidFill>
                            <a:srgbClr val="1A1A1A"/>
                          </a:solidFill>
                          <a:latin typeface="Abadi"/>
                        </a:rPr>
                        <a:t>Hydrogen (H2)</a:t>
                      </a:r>
                    </a:p>
                  </a:txBody>
                  <a:tcPr anchor="ctr" marL="73152" marR="73152" marT="27432" marB="27432">
                    <a:solidFill>
                      <a:srgbClr val="FFFFFF"/>
                    </a:solidFill>
                  </a:tcPr>
                </a:tc>
                <a:tc>
                  <a:txBody>
                    <a:bodyPr wrap="square"/>
                    <a:lstStyle/>
                    <a:p>
                      <a:r>
                        <a:rPr sz="1000" b="0">
                          <a:solidFill>
                            <a:srgbClr val="1A1A1A"/>
                          </a:solidFill>
                          <a:latin typeface="Abadi"/>
                        </a:rPr>
                        <a:t>Bacteria fermenting carbohydrate; humans make none</a:t>
                      </a:r>
                    </a:p>
                  </a:txBody>
                  <a:tcPr anchor="ctr" marL="73152" marR="73152" marT="27432" marB="27432">
                    <a:solidFill>
                      <a:srgbClr val="DCE6F1"/>
                    </a:solidFill>
                  </a:tcPr>
                </a:tc>
                <a:tc>
                  <a:txBody>
                    <a:bodyPr wrap="square"/>
                    <a:lstStyle/>
                    <a:p>
                      <a:r>
                        <a:rPr sz="1000" b="0">
                          <a:solidFill>
                            <a:srgbClr val="1A1A1A"/>
                          </a:solidFill>
                          <a:latin typeface="Abadi"/>
                        </a:rPr>
                        <a:t>Substrate reached bacteria: colon (malabsorption) or small bowel (overgrowth)</a:t>
                      </a:r>
                    </a:p>
                  </a:txBody>
                  <a:tcPr anchor="ctr" marL="73152" marR="73152" marT="27432" marB="27432">
                    <a:solidFill>
                      <a:srgbClr val="FFFFFF"/>
                    </a:solidFill>
                  </a:tcPr>
                </a:tc>
                <a:tc>
                  <a:txBody>
                    <a:bodyPr wrap="square"/>
                    <a:lstStyle/>
                    <a:p>
                      <a:r>
                        <a:rPr sz="1000" b="0">
                          <a:solidFill>
                            <a:srgbClr val="1A1A1A"/>
                          </a:solidFill>
                          <a:latin typeface="Abadi"/>
                        </a:rPr>
                        <a:t>Non-producers 2–43%; fast transit mimics overgrowth</a:t>
                      </a:r>
                    </a:p>
                  </a:txBody>
                  <a:tcPr anchor="ctr" marL="73152" marR="73152" marT="27432" marB="27432">
                    <a:solidFill>
                      <a:srgbClr val="FFFFFF"/>
                    </a:solidFill>
                  </a:tcPr>
                </a:tc>
              </a:tr>
              <a:tr h="566928">
                <a:tc>
                  <a:txBody>
                    <a:bodyPr wrap="square"/>
                    <a:lstStyle/>
                    <a:p>
                      <a:r>
                        <a:rPr sz="1000" b="1">
                          <a:solidFill>
                            <a:srgbClr val="1A1A1A"/>
                          </a:solidFill>
                          <a:latin typeface="Abadi"/>
                        </a:rPr>
                        <a:t>Methane (CH4)</a:t>
                      </a:r>
                    </a:p>
                  </a:txBody>
                  <a:tcPr anchor="ctr" marL="73152" marR="73152" marT="27432" marB="27432">
                    <a:solidFill>
                      <a:srgbClr val="F0F0F0"/>
                    </a:solidFill>
                  </a:tcPr>
                </a:tc>
                <a:tc>
                  <a:txBody>
                    <a:bodyPr wrap="square"/>
                    <a:lstStyle/>
                    <a:p>
                      <a:r>
                        <a:rPr sz="1000" b="0">
                          <a:solidFill>
                            <a:srgbClr val="1A1A1A"/>
                          </a:solidFill>
                          <a:latin typeface="Abadi"/>
                        </a:rPr>
                        <a:t>Archaea, mainly Methanobrevibacter smithii, consuming H2</a:t>
                      </a:r>
                    </a:p>
                  </a:txBody>
                  <a:tcPr anchor="ctr" marL="73152" marR="73152" marT="27432" marB="27432">
                    <a:solidFill>
                      <a:srgbClr val="DCE6F1"/>
                    </a:solidFill>
                  </a:tcPr>
                </a:tc>
                <a:tc>
                  <a:txBody>
                    <a:bodyPr wrap="square"/>
                    <a:lstStyle/>
                    <a:p>
                      <a:r>
                        <a:rPr sz="1000" b="0">
                          <a:solidFill>
                            <a:srgbClr val="1A1A1A"/>
                          </a:solidFill>
                          <a:latin typeface="Abadi"/>
                        </a:rPr>
                        <a:t>10 ppm or more at any time: intestinal methanogen overgrowth (IMO)</a:t>
                      </a:r>
                    </a:p>
                  </a:txBody>
                  <a:tcPr anchor="ctr" marL="73152" marR="73152" marT="27432" marB="27432">
                    <a:solidFill>
                      <a:srgbClr val="F0F0F0"/>
                    </a:solidFill>
                  </a:tcPr>
                </a:tc>
                <a:tc>
                  <a:txBody>
                    <a:bodyPr wrap="square"/>
                    <a:lstStyle/>
                    <a:p>
                      <a:r>
                        <a:rPr sz="1000" b="0">
                          <a:solidFill>
                            <a:srgbClr val="1A1A1A"/>
                          </a:solidFill>
                          <a:latin typeface="Abadi"/>
                        </a:rPr>
                        <a:t>Can swallow the H2 signal; linked to constipation</a:t>
                      </a:r>
                    </a:p>
                  </a:txBody>
                  <a:tcPr anchor="ctr" marL="73152" marR="73152" marT="27432" marB="27432">
                    <a:solidFill>
                      <a:srgbClr val="F0F0F0"/>
                    </a:solidFill>
                  </a:tcPr>
                </a:tc>
              </a:tr>
              <a:tr h="566928">
                <a:tc>
                  <a:txBody>
                    <a:bodyPr wrap="square"/>
                    <a:lstStyle/>
                    <a:p>
                      <a:r>
                        <a:rPr sz="1000" b="1">
                          <a:solidFill>
                            <a:srgbClr val="1A1A1A"/>
                          </a:solidFill>
                          <a:latin typeface="Abadi"/>
                        </a:rPr>
                        <a:t>Hydrogen sulphide (H2S)</a:t>
                      </a:r>
                    </a:p>
                  </a:txBody>
                  <a:tcPr anchor="ctr" marL="73152" marR="73152" marT="27432" marB="27432">
                    <a:solidFill>
                      <a:srgbClr val="FFFFFF"/>
                    </a:solidFill>
                  </a:tcPr>
                </a:tc>
                <a:tc>
                  <a:txBody>
                    <a:bodyPr wrap="square"/>
                    <a:lstStyle/>
                    <a:p>
                      <a:r>
                        <a:rPr sz="1000" b="0">
                          <a:solidFill>
                            <a:srgbClr val="1A1A1A"/>
                          </a:solidFill>
                          <a:latin typeface="Abadi"/>
                        </a:rPr>
                        <a:t>Sulphate-reducing bacteria</a:t>
                      </a:r>
                    </a:p>
                  </a:txBody>
                  <a:tcPr anchor="ctr" marL="73152" marR="73152" marT="27432" marB="27432">
                    <a:solidFill>
                      <a:srgbClr val="DCE6F1"/>
                    </a:solidFill>
                  </a:tcPr>
                </a:tc>
                <a:tc>
                  <a:txBody>
                    <a:bodyPr wrap="square"/>
                    <a:lstStyle/>
                    <a:p>
                      <a:r>
                        <a:rPr sz="1000" b="0">
                          <a:solidFill>
                            <a:srgbClr val="1A1A1A"/>
                          </a:solidFill>
                          <a:latin typeface="Abadi"/>
                        </a:rPr>
                        <a:t>Proposed marker of diarrhoea</a:t>
                      </a:r>
                    </a:p>
                  </a:txBody>
                  <a:tcPr anchor="ctr" marL="73152" marR="73152" marT="27432" marB="27432">
                    <a:solidFill>
                      <a:srgbClr val="FFFFFF"/>
                    </a:solidFill>
                  </a:tcPr>
                </a:tc>
                <a:tc>
                  <a:txBody>
                    <a:bodyPr wrap="square"/>
                    <a:lstStyle/>
                    <a:p>
                      <a:r>
                        <a:rPr sz="1000" b="0">
                          <a:solidFill>
                            <a:srgbClr val="1A1A1A"/>
                          </a:solidFill>
                          <a:latin typeface="Abadi"/>
                        </a:rPr>
                        <a:t>No guideline; no validation against culture</a:t>
                      </a:r>
                    </a:p>
                  </a:txBody>
                  <a:tcPr anchor="ctr" marL="73152" marR="73152" marT="27432" marB="27432">
                    <a:solidFill>
                      <a:srgbClr val="FFFFFF"/>
                    </a:solidFill>
                  </a:tcPr>
                </a:tc>
              </a:tr>
              <a:tr h="566928">
                <a:tc>
                  <a:txBody>
                    <a:bodyPr wrap="square"/>
                    <a:lstStyle/>
                    <a:p>
                      <a:r>
                        <a:rPr sz="1000" b="1">
                          <a:solidFill>
                            <a:srgbClr val="1A1A1A"/>
                          </a:solidFill>
                          <a:latin typeface="Abadi"/>
                        </a:rPr>
                        <a:t>13CO2</a:t>
                      </a:r>
                    </a:p>
                  </a:txBody>
                  <a:tcPr anchor="ctr" marL="73152" marR="73152" marT="27432" marB="27432">
                    <a:solidFill>
                      <a:srgbClr val="F0F0F0"/>
                    </a:solidFill>
                  </a:tcPr>
                </a:tc>
                <a:tc>
                  <a:txBody>
                    <a:bodyPr wrap="square"/>
                    <a:lstStyle/>
                    <a:p>
                      <a:r>
                        <a:rPr sz="1000" b="0">
                          <a:solidFill>
                            <a:srgbClr val="1A1A1A"/>
                          </a:solidFill>
                          <a:latin typeface="Abadi"/>
                        </a:rPr>
                        <a:t>Host oxidation after bacterial urease or digestion</a:t>
                      </a:r>
                    </a:p>
                  </a:txBody>
                  <a:tcPr anchor="ctr" marL="73152" marR="73152" marT="27432" marB="27432">
                    <a:solidFill>
                      <a:srgbClr val="DCE6F1"/>
                    </a:solidFill>
                  </a:tcPr>
                </a:tc>
                <a:tc>
                  <a:txBody>
                    <a:bodyPr wrap="square"/>
                    <a:lstStyle/>
                    <a:p>
                      <a:r>
                        <a:rPr sz="1000" b="0">
                          <a:solidFill>
                            <a:srgbClr val="1A1A1A"/>
                          </a:solidFill>
                          <a:latin typeface="Abadi"/>
                        </a:rPr>
                        <a:t>Urea split by H. pylori; fat or octanoate absorbed and burned</a:t>
                      </a:r>
                    </a:p>
                  </a:txBody>
                  <a:tcPr anchor="ctr" marL="73152" marR="73152" marT="27432" marB="27432">
                    <a:solidFill>
                      <a:srgbClr val="F0F0F0"/>
                    </a:solidFill>
                  </a:tcPr>
                </a:tc>
                <a:tc>
                  <a:txBody>
                    <a:bodyPr wrap="square"/>
                    <a:lstStyle/>
                    <a:p>
                      <a:r>
                        <a:rPr sz="1000" b="0">
                          <a:solidFill>
                            <a:srgbClr val="1A1A1A"/>
                          </a:solidFill>
                          <a:latin typeface="Abadi"/>
                        </a:rPr>
                        <a:t>CO2 output varies in small children</a:t>
                      </a:r>
                    </a:p>
                  </a:txBody>
                  <a:tcPr anchor="ctr" marL="73152" marR="73152" marT="27432" marB="27432">
                    <a:solidFill>
                      <a:srgbClr val="F0F0F0"/>
                    </a:solidFill>
                  </a:tcPr>
                </a:tc>
              </a:tr>
            </a:tbl>
          </a:graphicData>
        </a:graphic>
      </p:graphicFrame>
      <p:sp>
        <p:nvSpPr>
          <p:cNvPr id="13" name="TextBox 12"/>
          <p:cNvSpPr txBox="1"/>
          <p:nvPr/>
        </p:nvSpPr>
        <p:spPr>
          <a:xfrm>
            <a:off x="548640" y="4663440"/>
            <a:ext cx="11091672" cy="1097280"/>
          </a:xfrm>
          <a:prstGeom prst="rect">
            <a:avLst/>
          </a:prstGeom>
          <a:noFill/>
        </p:spPr>
        <p:txBody>
          <a:bodyPr wrap="square" anchor="t" lIns="36576" rIns="36576" tIns="18288" bIns="18288">
            <a:spAutoFit/>
          </a:bodyPr>
          <a:lstStyle/>
          <a:p>
            <a:pPr algn="l"/>
            <a:r>
              <a:rPr sz="1250" b="0" i="0">
                <a:solidFill>
                  <a:srgbClr val="1A1A1A"/>
                </a:solidFill>
                <a:latin typeface="Abadi"/>
              </a:rPr>
              <a:t>Gas diffuses from the lumen into blood and is exhaled within minutes, so the breath curve is a timeline of where fermentation happened. Methanogens turn four molecules of H2 into one of CH4, which is why both gases must be measured.</a:t>
            </a:r>
          </a:p>
          <a:p>
            <a:pPr algn="l">
              <a:spcBef>
                <a:spcPts val="1000"/>
              </a:spcBef>
            </a:pPr>
            <a:r>
              <a:rPr sz="1250" b="1" i="1">
                <a:solidFill>
                  <a:srgbClr val="1A1A1A"/>
                </a:solidFill>
                <a:latin typeface="Abadi"/>
              </a:rPr>
              <a:t>Timing is everything: the same 20 ppm rise means malabsorption at 150 minutes and is read as overgrowth at 60.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PREPARATION</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A BAD PREPARATION MAKES A BAD TEST</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North American Consensus 2017: modified Delphi, 28 statements, 26 accepted (agreement above 70% needed)</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4</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Rezaie A, et al. Am J Gastroenterol 2017;112:775–84 (statement agreement shown as voted)</a:t>
            </a:r>
          </a:p>
        </p:txBody>
      </p:sp>
      <p:graphicFrame>
        <p:nvGraphicFramePr>
          <p:cNvPr id="12" name="Table 11"/>
          <p:cNvGraphicFramePr>
            <a:graphicFrameLocks noGrp="1"/>
          </p:cNvGraphicFramePr>
          <p:nvPr/>
        </p:nvGraphicFramePr>
        <p:xfrm>
          <a:off x="548640" y="1773936"/>
          <a:ext cx="11091672" cy="3639312"/>
        </p:xfrm>
        <a:graphic>
          <a:graphicData uri="http://schemas.openxmlformats.org/drawingml/2006/table">
            <a:tbl>
              <a:tblPr firstRow="0" bandRow="0">
                <a:tableStyleId>{5C22544A-7EE6-4342-B048-85BDC9FD1C3A}</a:tableStyleId>
              </a:tblPr>
              <a:tblGrid>
                <a:gridCol w="2377440"/>
                <a:gridCol w="3931920"/>
                <a:gridCol w="1280160"/>
                <a:gridCol w="3502152"/>
              </a:tblGrid>
              <a:tr h="420624">
                <a:tc>
                  <a:txBody>
                    <a:bodyPr wrap="square"/>
                    <a:lstStyle/>
                    <a:p>
                      <a:r>
                        <a:rPr sz="1200" b="1">
                          <a:solidFill>
                            <a:srgbClr val="FFFFFF"/>
                          </a:solidFill>
                          <a:latin typeface="Abadi"/>
                        </a:rPr>
                        <a:t>Step</a:t>
                      </a:r>
                    </a:p>
                  </a:txBody>
                  <a:tcPr anchor="ctr" marL="73152" marR="73152" marT="27432" marB="27432">
                    <a:solidFill>
                      <a:srgbClr val="1B355E"/>
                    </a:solidFill>
                  </a:tcPr>
                </a:tc>
                <a:tc>
                  <a:txBody>
                    <a:bodyPr wrap="square"/>
                    <a:lstStyle/>
                    <a:p>
                      <a:r>
                        <a:rPr sz="1200" b="1">
                          <a:solidFill>
                            <a:srgbClr val="FFFFFF"/>
                          </a:solidFill>
                          <a:latin typeface="Abadi"/>
                        </a:rPr>
                        <a:t>Recommendation</a:t>
                      </a:r>
                    </a:p>
                  </a:txBody>
                  <a:tcPr anchor="ctr" marL="73152" marR="73152" marT="27432" marB="27432">
                    <a:solidFill>
                      <a:srgbClr val="1B355E"/>
                    </a:solidFill>
                  </a:tcPr>
                </a:tc>
                <a:tc>
                  <a:txBody>
                    <a:bodyPr wrap="square"/>
                    <a:lstStyle/>
                    <a:p>
                      <a:r>
                        <a:rPr sz="1200" b="1">
                          <a:solidFill>
                            <a:srgbClr val="FFFFFF"/>
                          </a:solidFill>
                          <a:latin typeface="Abadi"/>
                        </a:rPr>
                        <a:t>Agreement</a:t>
                      </a:r>
                    </a:p>
                  </a:txBody>
                  <a:tcPr anchor="ctr" marL="73152" marR="73152" marT="27432" marB="27432">
                    <a:solidFill>
                      <a:srgbClr val="1B355E"/>
                    </a:solidFill>
                  </a:tcPr>
                </a:tc>
                <a:tc>
                  <a:txBody>
                    <a:bodyPr wrap="square"/>
                    <a:lstStyle/>
                    <a:p>
                      <a:r>
                        <a:rPr sz="1200" b="1">
                          <a:solidFill>
                            <a:srgbClr val="FFFFFF"/>
                          </a:solidFill>
                          <a:latin typeface="Abadi"/>
                        </a:rPr>
                        <a:t>Why</a:t>
                      </a:r>
                    </a:p>
                  </a:txBody>
                  <a:tcPr anchor="ctr" marL="73152" marR="73152" marT="27432" marB="27432">
                    <a:solidFill>
                      <a:srgbClr val="1B355E"/>
                    </a:solidFill>
                  </a:tcPr>
                </a:tc>
              </a:tr>
              <a:tr h="402336">
                <a:tc>
                  <a:txBody>
                    <a:bodyPr wrap="square"/>
                    <a:lstStyle/>
                    <a:p>
                      <a:r>
                        <a:rPr sz="1000" b="1">
                          <a:solidFill>
                            <a:srgbClr val="1A1A1A"/>
                          </a:solidFill>
                          <a:latin typeface="Abadi"/>
                        </a:rPr>
                        <a:t>Antibiotics</a:t>
                      </a:r>
                    </a:p>
                  </a:txBody>
                  <a:tcPr anchor="ctr" marL="73152" marR="73152" marT="27432" marB="27432">
                    <a:solidFill>
                      <a:srgbClr val="FFFFFF"/>
                    </a:solidFill>
                  </a:tcPr>
                </a:tc>
                <a:tc>
                  <a:txBody>
                    <a:bodyPr wrap="square"/>
                    <a:lstStyle/>
                    <a:p>
                      <a:r>
                        <a:rPr sz="1000" b="0">
                          <a:solidFill>
                            <a:srgbClr val="1A1A1A"/>
                          </a:solidFill>
                          <a:latin typeface="Abadi"/>
                        </a:rPr>
                        <a:t>Stop 4 weeks before</a:t>
                      </a:r>
                    </a:p>
                  </a:txBody>
                  <a:tcPr anchor="ctr" marL="73152" marR="73152" marT="27432" marB="27432">
                    <a:solidFill>
                      <a:srgbClr val="FFFFFF"/>
                    </a:solidFill>
                  </a:tcPr>
                </a:tc>
                <a:tc>
                  <a:txBody>
                    <a:bodyPr wrap="square"/>
                    <a:lstStyle/>
                    <a:p>
                      <a:r>
                        <a:rPr sz="1000" b="0">
                          <a:solidFill>
                            <a:srgbClr val="1A1A1A"/>
                          </a:solidFill>
                          <a:latin typeface="Abadi"/>
                        </a:rPr>
                        <a:t>88.9%</a:t>
                      </a:r>
                    </a:p>
                  </a:txBody>
                  <a:tcPr anchor="ctr" marL="73152" marR="73152" marT="27432" marB="27432">
                    <a:solidFill>
                      <a:srgbClr val="FFFFFF"/>
                    </a:solidFill>
                  </a:tcPr>
                </a:tc>
                <a:tc>
                  <a:txBody>
                    <a:bodyPr wrap="square"/>
                    <a:lstStyle/>
                    <a:p>
                      <a:r>
                        <a:rPr sz="1000" b="0">
                          <a:solidFill>
                            <a:srgbClr val="1A1A1A"/>
                          </a:solidFill>
                          <a:latin typeface="Abadi"/>
                        </a:rPr>
                        <a:t>Suppress the flora that ferments</a:t>
                      </a:r>
                    </a:p>
                  </a:txBody>
                  <a:tcPr anchor="ctr" marL="73152" marR="73152" marT="27432" marB="27432">
                    <a:solidFill>
                      <a:srgbClr val="FFFFFF"/>
                    </a:solidFill>
                  </a:tcPr>
                </a:tc>
              </a:tr>
              <a:tr h="402336">
                <a:tc>
                  <a:txBody>
                    <a:bodyPr wrap="square"/>
                    <a:lstStyle/>
                    <a:p>
                      <a:r>
                        <a:rPr sz="1000" b="1">
                          <a:solidFill>
                            <a:srgbClr val="1A1A1A"/>
                          </a:solidFill>
                          <a:latin typeface="Abadi"/>
                        </a:rPr>
                        <a:t>Promotility drugs and laxatives</a:t>
                      </a:r>
                    </a:p>
                  </a:txBody>
                  <a:tcPr anchor="ctr" marL="73152" marR="73152" marT="27432" marB="27432">
                    <a:solidFill>
                      <a:srgbClr val="F0F0F0"/>
                    </a:solidFill>
                  </a:tcPr>
                </a:tc>
                <a:tc>
                  <a:txBody>
                    <a:bodyPr wrap="square"/>
                    <a:lstStyle/>
                    <a:p>
                      <a:r>
                        <a:rPr sz="1000" b="0">
                          <a:solidFill>
                            <a:srgbClr val="1A1A1A"/>
                          </a:solidFill>
                          <a:latin typeface="Abadi"/>
                        </a:rPr>
                        <a:t>Stop at least 1 week before, if tolerated</a:t>
                      </a:r>
                    </a:p>
                  </a:txBody>
                  <a:tcPr anchor="ctr" marL="73152" marR="73152" marT="27432" marB="27432">
                    <a:solidFill>
                      <a:srgbClr val="F0F0F0"/>
                    </a:solidFill>
                  </a:tcPr>
                </a:tc>
                <a:tc>
                  <a:txBody>
                    <a:bodyPr wrap="square"/>
                    <a:lstStyle/>
                    <a:p>
                      <a:r>
                        <a:rPr sz="1000" b="0">
                          <a:solidFill>
                            <a:srgbClr val="1A1A1A"/>
                          </a:solidFill>
                          <a:latin typeface="Abadi"/>
                        </a:rPr>
                        <a:t>77.8%</a:t>
                      </a:r>
                    </a:p>
                  </a:txBody>
                  <a:tcPr anchor="ctr" marL="73152" marR="73152" marT="27432" marB="27432">
                    <a:solidFill>
                      <a:srgbClr val="F0F0F0"/>
                    </a:solidFill>
                  </a:tcPr>
                </a:tc>
                <a:tc>
                  <a:txBody>
                    <a:bodyPr wrap="square"/>
                    <a:lstStyle/>
                    <a:p>
                      <a:r>
                        <a:rPr sz="1000" b="0">
                          <a:solidFill>
                            <a:srgbClr val="1A1A1A"/>
                          </a:solidFill>
                          <a:latin typeface="Abadi"/>
                        </a:rPr>
                        <a:t>Speed transit and false early peaks</a:t>
                      </a:r>
                    </a:p>
                  </a:txBody>
                  <a:tcPr anchor="ctr" marL="73152" marR="73152" marT="27432" marB="27432">
                    <a:solidFill>
                      <a:srgbClr val="F0F0F0"/>
                    </a:solidFill>
                  </a:tcPr>
                </a:tc>
              </a:tr>
              <a:tr h="402336">
                <a:tc>
                  <a:txBody>
                    <a:bodyPr wrap="square"/>
                    <a:lstStyle/>
                    <a:p>
                      <a:r>
                        <a:rPr sz="1000" b="1">
                          <a:solidFill>
                            <a:srgbClr val="1A1A1A"/>
                          </a:solidFill>
                          <a:latin typeface="Abadi"/>
                        </a:rPr>
                        <a:t>Diet the day before</a:t>
                      </a:r>
                    </a:p>
                  </a:txBody>
                  <a:tcPr anchor="ctr" marL="73152" marR="73152" marT="27432" marB="27432">
                    <a:solidFill>
                      <a:srgbClr val="FFFFFF"/>
                    </a:solidFill>
                  </a:tcPr>
                </a:tc>
                <a:tc>
                  <a:txBody>
                    <a:bodyPr wrap="square"/>
                    <a:lstStyle/>
                    <a:p>
                      <a:r>
                        <a:rPr sz="1000" b="0">
                          <a:solidFill>
                            <a:srgbClr val="1A1A1A"/>
                          </a:solidFill>
                          <a:latin typeface="Abadi"/>
                        </a:rPr>
                        <a:t>Avoid fermentable carbohydrates</a:t>
                      </a:r>
                    </a:p>
                  </a:txBody>
                  <a:tcPr anchor="ctr" marL="73152" marR="73152" marT="27432" marB="27432">
                    <a:solidFill>
                      <a:srgbClr val="FFFFFF"/>
                    </a:solidFill>
                  </a:tcPr>
                </a:tc>
                <a:tc>
                  <a:txBody>
                    <a:bodyPr wrap="square"/>
                    <a:lstStyle/>
                    <a:p>
                      <a:r>
                        <a:rPr sz="1000" b="0">
                          <a:solidFill>
                            <a:srgbClr val="1A1A1A"/>
                          </a:solidFill>
                          <a:latin typeface="Abadi"/>
                        </a:rPr>
                        <a:t>100%</a:t>
                      </a:r>
                    </a:p>
                  </a:txBody>
                  <a:tcPr anchor="ctr" marL="73152" marR="73152" marT="27432" marB="27432">
                    <a:solidFill>
                      <a:srgbClr val="FFFFFF"/>
                    </a:solidFill>
                  </a:tcPr>
                </a:tc>
                <a:tc>
                  <a:txBody>
                    <a:bodyPr wrap="square"/>
                    <a:lstStyle/>
                    <a:p>
                      <a:r>
                        <a:rPr sz="1000" b="0">
                          <a:solidFill>
                            <a:srgbClr val="1A1A1A"/>
                          </a:solidFill>
                          <a:latin typeface="Abadi"/>
                        </a:rPr>
                        <a:t>Lowers baseline H2</a:t>
                      </a:r>
                    </a:p>
                  </a:txBody>
                  <a:tcPr anchor="ctr" marL="73152" marR="73152" marT="27432" marB="27432">
                    <a:solidFill>
                      <a:srgbClr val="FFFFFF"/>
                    </a:solidFill>
                  </a:tcPr>
                </a:tc>
              </a:tr>
              <a:tr h="402336">
                <a:tc>
                  <a:txBody>
                    <a:bodyPr wrap="square"/>
                    <a:lstStyle/>
                    <a:p>
                      <a:r>
                        <a:rPr sz="1000" b="1">
                          <a:solidFill>
                            <a:srgbClr val="1A1A1A"/>
                          </a:solidFill>
                          <a:latin typeface="Abadi"/>
                        </a:rPr>
                        <a:t>Fasting</a:t>
                      </a:r>
                    </a:p>
                  </a:txBody>
                  <a:tcPr anchor="ctr" marL="73152" marR="73152" marT="27432" marB="27432">
                    <a:solidFill>
                      <a:srgbClr val="F0F0F0"/>
                    </a:solidFill>
                  </a:tcPr>
                </a:tc>
                <a:tc>
                  <a:txBody>
                    <a:bodyPr wrap="square"/>
                    <a:lstStyle/>
                    <a:p>
                      <a:r>
                        <a:rPr sz="1000" b="0">
                          <a:solidFill>
                            <a:srgbClr val="1A1A1A"/>
                          </a:solidFill>
                          <a:latin typeface="Abadi"/>
                        </a:rPr>
                        <a:t>8–12 hours</a:t>
                      </a:r>
                    </a:p>
                  </a:txBody>
                  <a:tcPr anchor="ctr" marL="73152" marR="73152" marT="27432" marB="27432">
                    <a:solidFill>
                      <a:srgbClr val="F0F0F0"/>
                    </a:solidFill>
                  </a:tcPr>
                </a:tc>
                <a:tc>
                  <a:txBody>
                    <a:bodyPr wrap="square"/>
                    <a:lstStyle/>
                    <a:p>
                      <a:r>
                        <a:rPr sz="1000" b="0">
                          <a:solidFill>
                            <a:srgbClr val="1A1A1A"/>
                          </a:solidFill>
                          <a:latin typeface="Abadi"/>
                        </a:rPr>
                        <a:t>77.8%</a:t>
                      </a:r>
                    </a:p>
                  </a:txBody>
                  <a:tcPr anchor="ctr" marL="73152" marR="73152" marT="27432" marB="27432">
                    <a:solidFill>
                      <a:srgbClr val="F0F0F0"/>
                    </a:solidFill>
                  </a:tcPr>
                </a:tc>
                <a:tc>
                  <a:txBody>
                    <a:bodyPr wrap="square"/>
                    <a:lstStyle/>
                    <a:p>
                      <a:r>
                        <a:rPr sz="1000" b="0">
                          <a:solidFill>
                            <a:srgbClr val="1A1A1A"/>
                          </a:solidFill>
                          <a:latin typeface="Abadi"/>
                        </a:rPr>
                        <a:t>Baseline H2 must be low</a:t>
                      </a:r>
                    </a:p>
                  </a:txBody>
                  <a:tcPr anchor="ctr" marL="73152" marR="73152" marT="27432" marB="27432">
                    <a:solidFill>
                      <a:srgbClr val="F0F0F0"/>
                    </a:solidFill>
                  </a:tcPr>
                </a:tc>
              </a:tr>
              <a:tr h="402336">
                <a:tc>
                  <a:txBody>
                    <a:bodyPr wrap="square"/>
                    <a:lstStyle/>
                    <a:p>
                      <a:r>
                        <a:rPr sz="1000" b="1">
                          <a:solidFill>
                            <a:srgbClr val="1A1A1A"/>
                          </a:solidFill>
                          <a:latin typeface="Abadi"/>
                        </a:rPr>
                        <a:t>Smoking and exercise</a:t>
                      </a:r>
                    </a:p>
                  </a:txBody>
                  <a:tcPr anchor="ctr" marL="73152" marR="73152" marT="27432" marB="27432">
                    <a:solidFill>
                      <a:srgbClr val="FFFFFF"/>
                    </a:solidFill>
                  </a:tcPr>
                </a:tc>
                <a:tc>
                  <a:txBody>
                    <a:bodyPr wrap="square"/>
                    <a:lstStyle/>
                    <a:p>
                      <a:r>
                        <a:rPr sz="1000" b="0">
                          <a:solidFill>
                            <a:srgbClr val="1A1A1A"/>
                          </a:solidFill>
                          <a:latin typeface="Abadi"/>
                        </a:rPr>
                        <a:t>No smoking on the day; limit exercise during the test</a:t>
                      </a:r>
                    </a:p>
                  </a:txBody>
                  <a:tcPr anchor="ctr" marL="73152" marR="73152" marT="27432" marB="27432">
                    <a:solidFill>
                      <a:srgbClr val="FFFFFF"/>
                    </a:solidFill>
                  </a:tcPr>
                </a:tc>
                <a:tc>
                  <a:txBody>
                    <a:bodyPr wrap="square"/>
                    <a:lstStyle/>
                    <a:p>
                      <a:r>
                        <a:rPr sz="1000" b="0">
                          <a:solidFill>
                            <a:srgbClr val="1A1A1A"/>
                          </a:solidFill>
                          <a:latin typeface="Abadi"/>
                        </a:rPr>
                        <a:t>100%</a:t>
                      </a:r>
                    </a:p>
                  </a:txBody>
                  <a:tcPr anchor="ctr" marL="73152" marR="73152" marT="27432" marB="27432">
                    <a:solidFill>
                      <a:srgbClr val="FFFFFF"/>
                    </a:solidFill>
                  </a:tcPr>
                </a:tc>
                <a:tc>
                  <a:txBody>
                    <a:bodyPr wrap="square"/>
                    <a:lstStyle/>
                    <a:p>
                      <a:r>
                        <a:rPr sz="1000" b="0">
                          <a:solidFill>
                            <a:srgbClr val="1A1A1A"/>
                          </a:solidFill>
                          <a:latin typeface="Abadi"/>
                        </a:rPr>
                        <a:t>Both change exhaled gas</a:t>
                      </a:r>
                    </a:p>
                  </a:txBody>
                  <a:tcPr anchor="ctr" marL="73152" marR="73152" marT="27432" marB="27432">
                    <a:solidFill>
                      <a:srgbClr val="FFFFFF"/>
                    </a:solidFill>
                  </a:tcPr>
                </a:tc>
              </a:tr>
              <a:tr h="402336">
                <a:tc>
                  <a:txBody>
                    <a:bodyPr wrap="square"/>
                    <a:lstStyle/>
                    <a:p>
                      <a:r>
                        <a:rPr sz="1000" b="1">
                          <a:solidFill>
                            <a:srgbClr val="1A1A1A"/>
                          </a:solidFill>
                          <a:latin typeface="Abadi"/>
                        </a:rPr>
                        <a:t>Proton pump inhibitors</a:t>
                      </a:r>
                    </a:p>
                  </a:txBody>
                  <a:tcPr anchor="ctr" marL="73152" marR="73152" marT="27432" marB="27432">
                    <a:solidFill>
                      <a:srgbClr val="F0F0F0"/>
                    </a:solidFill>
                  </a:tcPr>
                </a:tc>
                <a:tc>
                  <a:txBody>
                    <a:bodyPr wrap="square"/>
                    <a:lstStyle/>
                    <a:p>
                      <a:r>
                        <a:rPr sz="1000" b="0">
                          <a:solidFill>
                            <a:srgbClr val="1A1A1A"/>
                          </a:solidFill>
                          <a:latin typeface="Abadi"/>
                        </a:rPr>
                        <a:t>Stopping is not necessary</a:t>
                      </a:r>
                    </a:p>
                  </a:txBody>
                  <a:tcPr anchor="ctr" marL="73152" marR="73152" marT="27432" marB="27432">
                    <a:solidFill>
                      <a:srgbClr val="F0F0F0"/>
                    </a:solidFill>
                  </a:tcPr>
                </a:tc>
                <a:tc>
                  <a:txBody>
                    <a:bodyPr wrap="square"/>
                    <a:lstStyle/>
                    <a:p>
                      <a:r>
                        <a:rPr sz="1000" b="0">
                          <a:solidFill>
                            <a:srgbClr val="1A1A1A"/>
                          </a:solidFill>
                          <a:latin typeface="Abadi"/>
                        </a:rPr>
                        <a:t>77.8%</a:t>
                      </a:r>
                    </a:p>
                  </a:txBody>
                  <a:tcPr anchor="ctr" marL="73152" marR="73152" marT="27432" marB="27432">
                    <a:solidFill>
                      <a:srgbClr val="F0F0F0"/>
                    </a:solidFill>
                  </a:tcPr>
                </a:tc>
                <a:tc>
                  <a:txBody>
                    <a:bodyPr wrap="square"/>
                    <a:lstStyle/>
                    <a:p>
                      <a:r>
                        <a:rPr sz="1000" b="0">
                          <a:solidFill>
                            <a:srgbClr val="1A1A1A"/>
                          </a:solidFill>
                          <a:latin typeface="Abadi"/>
                        </a:rPr>
                        <a:t>ACG: do not test asymptomatic PPI users</a:t>
                      </a:r>
                    </a:p>
                  </a:txBody>
                  <a:tcPr anchor="ctr" marL="73152" marR="73152" marT="27432" marB="27432">
                    <a:solidFill>
                      <a:srgbClr val="F0F0F0"/>
                    </a:solidFill>
                  </a:tcPr>
                </a:tc>
              </a:tr>
              <a:tr h="402336">
                <a:tc>
                  <a:txBody>
                    <a:bodyPr wrap="square"/>
                    <a:lstStyle/>
                    <a:p>
                      <a:r>
                        <a:rPr sz="1000" b="1">
                          <a:solidFill>
                            <a:srgbClr val="1A1A1A"/>
                          </a:solidFill>
                          <a:latin typeface="Abadi"/>
                        </a:rPr>
                        <a:t>Probiotics and prebiotics</a:t>
                      </a:r>
                    </a:p>
                  </a:txBody>
                  <a:tcPr anchor="ctr" marL="73152" marR="73152" marT="27432" marB="27432">
                    <a:solidFill>
                      <a:srgbClr val="FFFFFF"/>
                    </a:solidFill>
                  </a:tcPr>
                </a:tc>
                <a:tc>
                  <a:txBody>
                    <a:bodyPr wrap="square"/>
                    <a:lstStyle/>
                    <a:p>
                      <a:r>
                        <a:rPr sz="1000" b="0">
                          <a:solidFill>
                            <a:srgbClr val="1A1A1A"/>
                          </a:solidFill>
                          <a:latin typeface="Abadi"/>
                        </a:rPr>
                        <a:t>No consensus</a:t>
                      </a:r>
                    </a:p>
                  </a:txBody>
                  <a:tcPr anchor="ctr" marL="73152" marR="73152" marT="27432" marB="27432">
                    <a:solidFill>
                      <a:srgbClr val="FFFFFF"/>
                    </a:solidFill>
                  </a:tcPr>
                </a:tc>
                <a:tc>
                  <a:txBody>
                    <a:bodyPr wrap="square"/>
                    <a:lstStyle/>
                    <a:p>
                      <a:r>
                        <a:rPr sz="1000" b="0">
                          <a:solidFill>
                            <a:srgbClr val="1A1A1A"/>
                          </a:solidFill>
                          <a:latin typeface="Abadi"/>
                        </a:rPr>
                        <a:t>44.4%</a:t>
                      </a:r>
                    </a:p>
                  </a:txBody>
                  <a:tcPr anchor="ctr" marL="73152" marR="73152" marT="27432" marB="27432">
                    <a:solidFill>
                      <a:srgbClr val="FFFFFF"/>
                    </a:solidFill>
                  </a:tcPr>
                </a:tc>
                <a:tc>
                  <a:txBody>
                    <a:bodyPr wrap="square"/>
                    <a:lstStyle/>
                    <a:p>
                      <a:r>
                        <a:rPr sz="1000" b="0">
                          <a:solidFill>
                            <a:srgbClr val="1A1A1A"/>
                          </a:solidFill>
                          <a:latin typeface="Abadi"/>
                        </a:rPr>
                        <a:t>Unknown effect</a:t>
                      </a:r>
                    </a:p>
                  </a:txBody>
                  <a:tcPr anchor="ctr" marL="73152" marR="73152" marT="27432" marB="27432">
                    <a:solidFill>
                      <a:srgbClr val="FFFFFF"/>
                    </a:solidFill>
                  </a:tcPr>
                </a:tc>
              </a:tr>
              <a:tr h="402336">
                <a:tc>
                  <a:txBody>
                    <a:bodyPr wrap="square"/>
                    <a:lstStyle/>
                    <a:p>
                      <a:r>
                        <a:rPr sz="1000" b="1">
                          <a:solidFill>
                            <a:srgbClr val="1A1A1A"/>
                          </a:solidFill>
                          <a:latin typeface="Abadi"/>
                        </a:rPr>
                        <a:t>Children</a:t>
                      </a:r>
                    </a:p>
                  </a:txBody>
                  <a:tcPr anchor="ctr" marL="73152" marR="73152" marT="27432" marB="27432">
                    <a:solidFill>
                      <a:srgbClr val="F0F0F0"/>
                    </a:solidFill>
                  </a:tcPr>
                </a:tc>
                <a:tc>
                  <a:txBody>
                    <a:bodyPr wrap="square"/>
                    <a:lstStyle/>
                    <a:p>
                      <a:r>
                        <a:rPr sz="1000" b="0">
                          <a:solidFill>
                            <a:srgbClr val="1A1A1A"/>
                          </a:solidFill>
                          <a:latin typeface="Abadi"/>
                        </a:rPr>
                        <a:t>Not addressed: listed as a knowledge gap</a:t>
                      </a:r>
                    </a:p>
                  </a:txBody>
                  <a:tcPr anchor="ctr" marL="73152" marR="73152" marT="27432" marB="27432">
                    <a:solidFill>
                      <a:srgbClr val="F0F0F0"/>
                    </a:solidFill>
                  </a:tcPr>
                </a:tc>
                <a:tc>
                  <a:txBody>
                    <a:bodyPr wrap="square"/>
                    <a:lstStyle/>
                    <a:p>
                      <a:r>
                        <a:rPr sz="1000" b="0">
                          <a:solidFill>
                            <a:srgbClr val="1A1A1A"/>
                          </a:solidFill>
                          <a:latin typeface="Abadi"/>
                        </a:rPr>
                        <a:t>—</a:t>
                      </a:r>
                    </a:p>
                  </a:txBody>
                  <a:tcPr anchor="ctr" marL="73152" marR="73152" marT="27432" marB="27432">
                    <a:solidFill>
                      <a:srgbClr val="F0F0F0"/>
                    </a:solidFill>
                  </a:tcPr>
                </a:tc>
                <a:tc>
                  <a:txBody>
                    <a:bodyPr wrap="square"/>
                    <a:lstStyle/>
                    <a:p>
                      <a:r>
                        <a:rPr sz="1000" b="0">
                          <a:solidFill>
                            <a:srgbClr val="1A1A1A"/>
                          </a:solidFill>
                          <a:latin typeface="Abadi"/>
                        </a:rPr>
                        <a:t>Paediatric protocols are local</a:t>
                      </a:r>
                    </a:p>
                  </a:txBody>
                  <a:tcPr anchor="ctr" marL="73152" marR="73152" marT="27432" marB="27432">
                    <a:solidFill>
                      <a:srgbClr val="F0F0F0"/>
                    </a:solidFill>
                  </a:tcPr>
                </a:tc>
              </a:tr>
            </a:tbl>
          </a:graphicData>
        </a:graphic>
      </p:graphicFrame>
      <p:sp>
        <p:nvSpPr>
          <p:cNvPr id="13" name="TextBox 12"/>
          <p:cNvSpPr txBox="1"/>
          <p:nvPr/>
        </p:nvSpPr>
        <p:spPr>
          <a:xfrm>
            <a:off x="548640" y="5504688"/>
            <a:ext cx="11091672" cy="365760"/>
          </a:xfrm>
          <a:prstGeom prst="rect">
            <a:avLst/>
          </a:prstGeom>
          <a:noFill/>
        </p:spPr>
        <p:txBody>
          <a:bodyPr wrap="square" anchor="t" lIns="36576" rIns="36576" tIns="18288" bIns="18288">
            <a:spAutoFit/>
          </a:bodyPr>
          <a:lstStyle/>
          <a:p>
            <a:pPr algn="l"/>
            <a:r>
              <a:rPr sz="1250" b="1" i="1">
                <a:solidFill>
                  <a:srgbClr val="1A1A1A"/>
                </a:solidFill>
                <a:latin typeface="Abadi"/>
              </a:rPr>
              <a:t>A test done after antibiotics, laxatives or a fermentable supper cannot be read: ask before you read the curve.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SUBSTRATES AND CRITERIA</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FOUR SUGARS, ONE RISE OF 20 PPM</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Doses, duration and positivity criteria for hydrogen and methane breath tests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5</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Rezaie 2017 Am J Gastroenterol · Pimentel 2020 Am J Gastroenterol · Gasbarrini 2009 Aliment Pharmacol Ther (Rome consensus) · Jones HF, et al. JPGN 2011;52:581–4</a:t>
            </a:r>
          </a:p>
        </p:txBody>
      </p:sp>
      <p:graphicFrame>
        <p:nvGraphicFramePr>
          <p:cNvPr id="12" name="Table 11"/>
          <p:cNvGraphicFramePr>
            <a:graphicFrameLocks noGrp="1"/>
          </p:cNvGraphicFramePr>
          <p:nvPr/>
        </p:nvGraphicFramePr>
        <p:xfrm>
          <a:off x="548640" y="1773936"/>
          <a:ext cx="11091672" cy="2935224"/>
        </p:xfrm>
        <a:graphic>
          <a:graphicData uri="http://schemas.openxmlformats.org/drawingml/2006/table">
            <a:tbl>
              <a:tblPr firstRow="0" bandRow="0">
                <a:tableStyleId>{5C22544A-7EE6-4342-B048-85BDC9FD1C3A}</a:tableStyleId>
              </a:tblPr>
              <a:tblGrid>
                <a:gridCol w="1828800"/>
                <a:gridCol w="1645920"/>
                <a:gridCol w="3291840"/>
                <a:gridCol w="1463040"/>
                <a:gridCol w="2862072"/>
              </a:tblGrid>
              <a:tr h="420624">
                <a:tc>
                  <a:txBody>
                    <a:bodyPr wrap="square"/>
                    <a:lstStyle/>
                    <a:p>
                      <a:r>
                        <a:rPr sz="1200" b="1">
                          <a:solidFill>
                            <a:srgbClr val="FFFFFF"/>
                          </a:solidFill>
                          <a:latin typeface="Abadi"/>
                        </a:rPr>
                        <a:t>Test</a:t>
                      </a:r>
                    </a:p>
                  </a:txBody>
                  <a:tcPr anchor="ctr" marL="73152" marR="73152" marT="27432" marB="27432">
                    <a:solidFill>
                      <a:srgbClr val="1B355E"/>
                    </a:solidFill>
                  </a:tcPr>
                </a:tc>
                <a:tc>
                  <a:txBody>
                    <a:bodyPr wrap="square"/>
                    <a:lstStyle/>
                    <a:p>
                      <a:r>
                        <a:rPr sz="1200" b="1">
                          <a:solidFill>
                            <a:srgbClr val="FFFFFF"/>
                          </a:solidFill>
                          <a:latin typeface="Abadi"/>
                        </a:rPr>
                        <a:t>Adult dose (2017)</a:t>
                      </a:r>
                    </a:p>
                  </a:txBody>
                  <a:tcPr anchor="ctr" marL="73152" marR="73152" marT="27432" marB="27432">
                    <a:solidFill>
                      <a:srgbClr val="1B355E"/>
                    </a:solidFill>
                  </a:tcPr>
                </a:tc>
                <a:tc>
                  <a:txBody>
                    <a:bodyPr wrap="square"/>
                    <a:lstStyle/>
                    <a:p>
                      <a:r>
                        <a:rPr sz="1200" b="1">
                          <a:solidFill>
                            <a:srgbClr val="FFFFFF"/>
                          </a:solidFill>
                          <a:latin typeface="Abadi"/>
                        </a:rPr>
                        <a:t>Paediatric practice</a:t>
                      </a:r>
                    </a:p>
                  </a:txBody>
                  <a:tcPr anchor="ctr" marL="73152" marR="73152" marT="27432" marB="27432">
                    <a:solidFill>
                      <a:srgbClr val="1B355E"/>
                    </a:solidFill>
                  </a:tcPr>
                </a:tc>
                <a:tc>
                  <a:txBody>
                    <a:bodyPr wrap="square"/>
                    <a:lstStyle/>
                    <a:p>
                      <a:r>
                        <a:rPr sz="1200" b="1">
                          <a:solidFill>
                            <a:srgbClr val="FFFFFF"/>
                          </a:solidFill>
                          <a:latin typeface="Abadi"/>
                        </a:rPr>
                        <a:t>Duration</a:t>
                      </a:r>
                    </a:p>
                  </a:txBody>
                  <a:tcPr anchor="ctr" marL="73152" marR="73152" marT="27432" marB="27432">
                    <a:solidFill>
                      <a:srgbClr val="1B355E"/>
                    </a:solidFill>
                  </a:tcPr>
                </a:tc>
                <a:tc>
                  <a:txBody>
                    <a:bodyPr wrap="square"/>
                    <a:lstStyle/>
                    <a:p>
                      <a:r>
                        <a:rPr sz="1200" b="1">
                          <a:solidFill>
                            <a:srgbClr val="FFFFFF"/>
                          </a:solidFill>
                          <a:latin typeface="Abadi"/>
                        </a:rPr>
                        <a:t>Positive</a:t>
                      </a:r>
                    </a:p>
                  </a:txBody>
                  <a:tcPr anchor="ctr" marL="73152" marR="73152" marT="27432" marB="27432">
                    <a:solidFill>
                      <a:srgbClr val="1B355E"/>
                    </a:solidFill>
                  </a:tcPr>
                </a:tc>
              </a:tr>
              <a:tr h="502920">
                <a:tc>
                  <a:txBody>
                    <a:bodyPr wrap="square"/>
                    <a:lstStyle/>
                    <a:p>
                      <a:r>
                        <a:rPr sz="1000" b="1">
                          <a:solidFill>
                            <a:srgbClr val="1A1A1A"/>
                          </a:solidFill>
                          <a:latin typeface="Abadi"/>
                        </a:rPr>
                        <a:t>Lactose</a:t>
                      </a:r>
                    </a:p>
                  </a:txBody>
                  <a:tcPr anchor="ctr" marL="73152" marR="73152" marT="27432" marB="27432">
                    <a:solidFill>
                      <a:srgbClr val="FFFFFF"/>
                    </a:solidFill>
                  </a:tcPr>
                </a:tc>
                <a:tc>
                  <a:txBody>
                    <a:bodyPr wrap="square"/>
                    <a:lstStyle/>
                    <a:p>
                      <a:r>
                        <a:rPr sz="1000" b="0">
                          <a:solidFill>
                            <a:srgbClr val="1A1A1A"/>
                          </a:solidFill>
                          <a:latin typeface="Abadi"/>
                        </a:rPr>
                        <a:t>25 g</a:t>
                      </a:r>
                    </a:p>
                  </a:txBody>
                  <a:tcPr anchor="ctr" marL="73152" marR="73152" marT="27432" marB="27432">
                    <a:solidFill>
                      <a:srgbClr val="FFFFFF"/>
                    </a:solidFill>
                  </a:tcPr>
                </a:tc>
                <a:tc>
                  <a:txBody>
                    <a:bodyPr wrap="square"/>
                    <a:lstStyle/>
                    <a:p>
                      <a:r>
                        <a:rPr sz="1000" b="0">
                          <a:solidFill>
                            <a:srgbClr val="1A1A1A"/>
                          </a:solidFill>
                          <a:latin typeface="Abadi"/>
                        </a:rPr>
                        <a:t>1 g/kg, maximum 25 g (Rome 2009)</a:t>
                      </a:r>
                    </a:p>
                  </a:txBody>
                  <a:tcPr anchor="ctr" marL="73152" marR="73152" marT="27432" marB="27432">
                    <a:solidFill>
                      <a:srgbClr val="FFFFFF"/>
                    </a:solidFill>
                  </a:tcPr>
                </a:tc>
                <a:tc>
                  <a:txBody>
                    <a:bodyPr wrap="square"/>
                    <a:lstStyle/>
                    <a:p>
                      <a:r>
                        <a:rPr sz="1000" b="0">
                          <a:solidFill>
                            <a:srgbClr val="1A1A1A"/>
                          </a:solidFill>
                          <a:latin typeface="Abadi"/>
                        </a:rPr>
                        <a:t>3 hours or more</a:t>
                      </a:r>
                    </a:p>
                  </a:txBody>
                  <a:tcPr anchor="ctr" marL="73152" marR="73152" marT="27432" marB="27432">
                    <a:solidFill>
                      <a:srgbClr val="FFFFFF"/>
                    </a:solidFill>
                  </a:tcPr>
                </a:tc>
                <a:tc>
                  <a:txBody>
                    <a:bodyPr wrap="square"/>
                    <a:lstStyle/>
                    <a:p>
                      <a:r>
                        <a:rPr sz="1000" b="0">
                          <a:solidFill>
                            <a:srgbClr val="1A1A1A"/>
                          </a:solidFill>
                          <a:latin typeface="Abadi"/>
                        </a:rPr>
                        <a:t>H2 rise of 20 ppm or more over baseline</a:t>
                      </a:r>
                    </a:p>
                  </a:txBody>
                  <a:tcPr anchor="ctr" marL="73152" marR="73152" marT="27432" marB="27432">
                    <a:solidFill>
                      <a:srgbClr val="FFFFFF"/>
                    </a:solidFill>
                  </a:tcPr>
                </a:tc>
              </a:tr>
              <a:tr h="502920">
                <a:tc>
                  <a:txBody>
                    <a:bodyPr wrap="square"/>
                    <a:lstStyle/>
                    <a:p>
                      <a:r>
                        <a:rPr sz="1000" b="1">
                          <a:solidFill>
                            <a:srgbClr val="1A1A1A"/>
                          </a:solidFill>
                          <a:latin typeface="Abadi"/>
                        </a:rPr>
                        <a:t>Fructose</a:t>
                      </a:r>
                    </a:p>
                  </a:txBody>
                  <a:tcPr anchor="ctr" marL="73152" marR="73152" marT="27432" marB="27432">
                    <a:solidFill>
                      <a:srgbClr val="F0F0F0"/>
                    </a:solidFill>
                  </a:tcPr>
                </a:tc>
                <a:tc>
                  <a:txBody>
                    <a:bodyPr wrap="square"/>
                    <a:lstStyle/>
                    <a:p>
                      <a:r>
                        <a:rPr sz="1000" b="0">
                          <a:solidFill>
                            <a:srgbClr val="1A1A1A"/>
                          </a:solidFill>
                          <a:latin typeface="Abadi"/>
                        </a:rPr>
                        <a:t>25 g</a:t>
                      </a:r>
                    </a:p>
                  </a:txBody>
                  <a:tcPr anchor="ctr" marL="73152" marR="73152" marT="27432" marB="27432">
                    <a:solidFill>
                      <a:srgbClr val="F0F0F0"/>
                    </a:solidFill>
                  </a:tcPr>
                </a:tc>
                <a:tc>
                  <a:txBody>
                    <a:bodyPr wrap="square"/>
                    <a:lstStyle/>
                    <a:p>
                      <a:r>
                        <a:rPr sz="1000" b="0">
                          <a:solidFill>
                            <a:srgbClr val="1A1A1A"/>
                          </a:solidFill>
                          <a:latin typeface="Abadi"/>
                        </a:rPr>
                        <a:t>No agreed dose: 0.5 g/kg (max 10 g) in one large series</a:t>
                      </a:r>
                    </a:p>
                  </a:txBody>
                  <a:tcPr anchor="ctr" marL="73152" marR="73152" marT="27432" marB="27432">
                    <a:solidFill>
                      <a:srgbClr val="F0F0F0"/>
                    </a:solidFill>
                  </a:tcPr>
                </a:tc>
                <a:tc>
                  <a:txBody>
                    <a:bodyPr wrap="square"/>
                    <a:lstStyle/>
                    <a:p>
                      <a:r>
                        <a:rPr sz="1000" b="0">
                          <a:solidFill>
                            <a:srgbClr val="1A1A1A"/>
                          </a:solidFill>
                          <a:latin typeface="Abadi"/>
                        </a:rPr>
                        <a:t>3 hours or more</a:t>
                      </a:r>
                    </a:p>
                  </a:txBody>
                  <a:tcPr anchor="ctr" marL="73152" marR="73152" marT="27432" marB="27432">
                    <a:solidFill>
                      <a:srgbClr val="F0F0F0"/>
                    </a:solidFill>
                  </a:tcPr>
                </a:tc>
                <a:tc>
                  <a:txBody>
                    <a:bodyPr wrap="square"/>
                    <a:lstStyle/>
                    <a:p>
                      <a:r>
                        <a:rPr sz="1000" b="0">
                          <a:solidFill>
                            <a:srgbClr val="1A1A1A"/>
                          </a:solidFill>
                          <a:latin typeface="Abadi"/>
                        </a:rPr>
                        <a:t>H2 rise of 20 ppm or more</a:t>
                      </a:r>
                    </a:p>
                  </a:txBody>
                  <a:tcPr anchor="ctr" marL="73152" marR="73152" marT="27432" marB="27432">
                    <a:solidFill>
                      <a:srgbClr val="F0F0F0"/>
                    </a:solidFill>
                  </a:tcPr>
                </a:tc>
              </a:tr>
              <a:tr h="502920">
                <a:tc>
                  <a:txBody>
                    <a:bodyPr wrap="square"/>
                    <a:lstStyle/>
                    <a:p>
                      <a:r>
                        <a:rPr sz="1000" b="1">
                          <a:solidFill>
                            <a:srgbClr val="1A1A1A"/>
                          </a:solidFill>
                          <a:latin typeface="Abadi"/>
                        </a:rPr>
                        <a:t>Glucose (SIBO)</a:t>
                      </a:r>
                    </a:p>
                  </a:txBody>
                  <a:tcPr anchor="ctr" marL="73152" marR="73152" marT="27432" marB="27432">
                    <a:solidFill>
                      <a:srgbClr val="FFFFFF"/>
                    </a:solidFill>
                  </a:tcPr>
                </a:tc>
                <a:tc>
                  <a:txBody>
                    <a:bodyPr wrap="square"/>
                    <a:lstStyle/>
                    <a:p>
                      <a:r>
                        <a:rPr sz="1000" b="0">
                          <a:solidFill>
                            <a:srgbClr val="1A1A1A"/>
                          </a:solidFill>
                          <a:latin typeface="Abadi"/>
                        </a:rPr>
                        <a:t>75 g</a:t>
                      </a:r>
                    </a:p>
                  </a:txBody>
                  <a:tcPr anchor="ctr" marL="73152" marR="73152" marT="27432" marB="27432">
                    <a:solidFill>
                      <a:srgbClr val="FFFFFF"/>
                    </a:solidFill>
                  </a:tcPr>
                </a:tc>
                <a:tc>
                  <a:txBody>
                    <a:bodyPr wrap="square"/>
                    <a:lstStyle/>
                    <a:p>
                      <a:r>
                        <a:rPr sz="1000" b="0">
                          <a:solidFill>
                            <a:srgbClr val="1A1A1A"/>
                          </a:solidFill>
                          <a:latin typeface="Abadi"/>
                        </a:rPr>
                        <a:t>Weight-based; no agreed paediatric dose</a:t>
                      </a:r>
                    </a:p>
                  </a:txBody>
                  <a:tcPr anchor="ctr" marL="73152" marR="73152" marT="27432" marB="27432">
                    <a:solidFill>
                      <a:srgbClr val="FFFFFF"/>
                    </a:solidFill>
                  </a:tcPr>
                </a:tc>
                <a:tc>
                  <a:txBody>
                    <a:bodyPr wrap="square"/>
                    <a:lstStyle/>
                    <a:p>
                      <a:r>
                        <a:rPr sz="1000" b="0">
                          <a:solidFill>
                            <a:srgbClr val="1A1A1A"/>
                          </a:solidFill>
                          <a:latin typeface="Abadi"/>
                        </a:rPr>
                        <a:t>2 hours</a:t>
                      </a:r>
                    </a:p>
                  </a:txBody>
                  <a:tcPr anchor="ctr" marL="73152" marR="73152" marT="27432" marB="27432">
                    <a:solidFill>
                      <a:srgbClr val="FFFFFF"/>
                    </a:solidFill>
                  </a:tcPr>
                </a:tc>
                <a:tc>
                  <a:txBody>
                    <a:bodyPr wrap="square"/>
                    <a:lstStyle/>
                    <a:p>
                      <a:r>
                        <a:rPr sz="1000" b="0">
                          <a:solidFill>
                            <a:srgbClr val="1A1A1A"/>
                          </a:solidFill>
                          <a:latin typeface="Abadi"/>
                        </a:rPr>
                        <a:t>H2 rise of 20 ppm or more by 90 minutes</a:t>
                      </a:r>
                    </a:p>
                  </a:txBody>
                  <a:tcPr anchor="ctr" marL="73152" marR="73152" marT="27432" marB="27432">
                    <a:solidFill>
                      <a:srgbClr val="FFFFFF"/>
                    </a:solidFill>
                  </a:tcPr>
                </a:tc>
              </a:tr>
              <a:tr h="502920">
                <a:tc>
                  <a:txBody>
                    <a:bodyPr wrap="square"/>
                    <a:lstStyle/>
                    <a:p>
                      <a:r>
                        <a:rPr sz="1000" b="1">
                          <a:solidFill>
                            <a:srgbClr val="1A1A1A"/>
                          </a:solidFill>
                          <a:latin typeface="Abadi"/>
                        </a:rPr>
                        <a:t>Lactulose (SIBO)</a:t>
                      </a:r>
                    </a:p>
                  </a:txBody>
                  <a:tcPr anchor="ctr" marL="73152" marR="73152" marT="27432" marB="27432">
                    <a:solidFill>
                      <a:srgbClr val="F0F0F0"/>
                    </a:solidFill>
                  </a:tcPr>
                </a:tc>
                <a:tc>
                  <a:txBody>
                    <a:bodyPr wrap="square"/>
                    <a:lstStyle/>
                    <a:p>
                      <a:r>
                        <a:rPr sz="1000" b="0">
                          <a:solidFill>
                            <a:srgbClr val="1A1A1A"/>
                          </a:solidFill>
                          <a:latin typeface="Abadi"/>
                        </a:rPr>
                        <a:t>10 g</a:t>
                      </a:r>
                    </a:p>
                  </a:txBody>
                  <a:tcPr anchor="ctr" marL="73152" marR="73152" marT="27432" marB="27432">
                    <a:solidFill>
                      <a:srgbClr val="F0F0F0"/>
                    </a:solidFill>
                  </a:tcPr>
                </a:tc>
                <a:tc>
                  <a:txBody>
                    <a:bodyPr wrap="square"/>
                    <a:lstStyle/>
                    <a:p>
                      <a:r>
                        <a:rPr sz="1000" b="0">
                          <a:solidFill>
                            <a:srgbClr val="1A1A1A"/>
                          </a:solidFill>
                          <a:latin typeface="Abadi"/>
                        </a:rPr>
                        <a:t>Weight-based; no agreed paediatric dose</a:t>
                      </a:r>
                    </a:p>
                  </a:txBody>
                  <a:tcPr anchor="ctr" marL="73152" marR="73152" marT="27432" marB="27432">
                    <a:solidFill>
                      <a:srgbClr val="F0F0F0"/>
                    </a:solidFill>
                  </a:tcPr>
                </a:tc>
                <a:tc>
                  <a:txBody>
                    <a:bodyPr wrap="square"/>
                    <a:lstStyle/>
                    <a:p>
                      <a:r>
                        <a:rPr sz="1000" b="0">
                          <a:solidFill>
                            <a:srgbClr val="1A1A1A"/>
                          </a:solidFill>
                          <a:latin typeface="Abadi"/>
                        </a:rPr>
                        <a:t>2 hours</a:t>
                      </a:r>
                    </a:p>
                  </a:txBody>
                  <a:tcPr anchor="ctr" marL="73152" marR="73152" marT="27432" marB="27432">
                    <a:solidFill>
                      <a:srgbClr val="F0F0F0"/>
                    </a:solidFill>
                  </a:tcPr>
                </a:tc>
                <a:tc>
                  <a:txBody>
                    <a:bodyPr wrap="square"/>
                    <a:lstStyle/>
                    <a:p>
                      <a:r>
                        <a:rPr sz="1000" b="0">
                          <a:solidFill>
                            <a:srgbClr val="1A1A1A"/>
                          </a:solidFill>
                          <a:latin typeface="Abadi"/>
                        </a:rPr>
                        <a:t>Same; a double peak is not required</a:t>
                      </a:r>
                    </a:p>
                  </a:txBody>
                  <a:tcPr anchor="ctr" marL="73152" marR="73152" marT="27432" marB="27432">
                    <a:solidFill>
                      <a:srgbClr val="F0F0F0"/>
                    </a:solidFill>
                  </a:tcPr>
                </a:tc>
              </a:tr>
              <a:tr h="502920">
                <a:tc>
                  <a:txBody>
                    <a:bodyPr wrap="square"/>
                    <a:lstStyle/>
                    <a:p>
                      <a:r>
                        <a:rPr sz="1000" b="1">
                          <a:solidFill>
                            <a:srgbClr val="1A1A1A"/>
                          </a:solidFill>
                          <a:latin typeface="Abadi"/>
                        </a:rPr>
                        <a:t>Methane (any)</a:t>
                      </a:r>
                    </a:p>
                  </a:txBody>
                  <a:tcPr anchor="ctr" marL="73152" marR="73152" marT="27432" marB="27432">
                    <a:solidFill>
                      <a:srgbClr val="FFFFFF"/>
                    </a:solidFill>
                  </a:tcPr>
                </a:tc>
                <a:tc>
                  <a:txBody>
                    <a:bodyPr wrap="square"/>
                    <a:lstStyle/>
                    <a:p>
                      <a:r>
                        <a:rPr sz="1000" b="0">
                          <a:solidFill>
                            <a:srgbClr val="1A1A1A"/>
                          </a:solidFill>
                          <a:latin typeface="Abadi"/>
                        </a:rPr>
                        <a:t>—</a:t>
                      </a:r>
                    </a:p>
                  </a:txBody>
                  <a:tcPr anchor="ctr" marL="73152" marR="73152" marT="27432" marB="27432">
                    <a:solidFill>
                      <a:srgbClr val="FFFFFF"/>
                    </a:solidFill>
                  </a:tcPr>
                </a:tc>
                <a:tc>
                  <a:txBody>
                    <a:bodyPr wrap="square"/>
                    <a:lstStyle/>
                    <a:p>
                      <a:r>
                        <a:rPr sz="1000" b="0">
                          <a:solidFill>
                            <a:srgbClr val="1A1A1A"/>
                          </a:solidFill>
                          <a:latin typeface="Abadi"/>
                        </a:rPr>
                        <a:t>Same threshold</a:t>
                      </a:r>
                    </a:p>
                  </a:txBody>
                  <a:tcPr anchor="ctr" marL="73152" marR="73152" marT="27432" marB="27432">
                    <a:solidFill>
                      <a:srgbClr val="FFFFFF"/>
                    </a:solidFill>
                  </a:tcPr>
                </a:tc>
                <a:tc>
                  <a:txBody>
                    <a:bodyPr wrap="square"/>
                    <a:lstStyle/>
                    <a:p>
                      <a:r>
                        <a:rPr sz="1000" b="0">
                          <a:solidFill>
                            <a:srgbClr val="1A1A1A"/>
                          </a:solidFill>
                          <a:latin typeface="Abadi"/>
                        </a:rPr>
                        <a:t>Whole test</a:t>
                      </a:r>
                    </a:p>
                  </a:txBody>
                  <a:tcPr anchor="ctr" marL="73152" marR="73152" marT="27432" marB="27432">
                    <a:solidFill>
                      <a:srgbClr val="FFFFFF"/>
                    </a:solidFill>
                  </a:tcPr>
                </a:tc>
                <a:tc>
                  <a:txBody>
                    <a:bodyPr wrap="square"/>
                    <a:lstStyle/>
                    <a:p>
                      <a:r>
                        <a:rPr sz="1000" b="0">
                          <a:solidFill>
                            <a:srgbClr val="1A1A1A"/>
                          </a:solidFill>
                          <a:latin typeface="Abadi"/>
                        </a:rPr>
                        <a:t>CH4 of 10 ppm or more at any time</a:t>
                      </a:r>
                    </a:p>
                  </a:txBody>
                  <a:tcPr anchor="ctr" marL="73152" marR="73152" marT="27432" marB="27432">
                    <a:solidFill>
                      <a:srgbClr val="FFFFFF"/>
                    </a:solidFill>
                  </a:tcPr>
                </a:tc>
              </a:tr>
            </a:tbl>
          </a:graphicData>
        </a:graphic>
      </p:graphicFrame>
      <p:sp>
        <p:nvSpPr>
          <p:cNvPr id="13" name="TextBox 12"/>
          <p:cNvSpPr txBox="1"/>
          <p:nvPr/>
        </p:nvSpPr>
        <p:spPr>
          <a:xfrm>
            <a:off x="548640" y="4800600"/>
            <a:ext cx="11091672" cy="960120"/>
          </a:xfrm>
          <a:prstGeom prst="rect">
            <a:avLst/>
          </a:prstGeom>
          <a:noFill/>
        </p:spPr>
        <p:txBody>
          <a:bodyPr wrap="square" anchor="t" lIns="36576" rIns="36576" tIns="18288" bIns="18288">
            <a:spAutoFit/>
          </a:bodyPr>
          <a:lstStyle/>
          <a:p>
            <a:pPr algn="l"/>
            <a:r>
              <a:rPr sz="1250" b="0" i="0">
                <a:solidFill>
                  <a:srgbClr val="1A1A1A"/>
                </a:solidFill>
                <a:latin typeface="Abadi"/>
              </a:rPr>
              <a:t>The consensus also asks that SIBO be excluded before lactose or fructose testing (100%), that H2, CH4 and CO2 be measured together (77.8%), and that breath tests not be used to measure orocaecal transit (77.8%).</a:t>
            </a:r>
          </a:p>
          <a:p>
            <a:pPr algn="l">
              <a:spcBef>
                <a:spcPts val="1000"/>
              </a:spcBef>
            </a:pPr>
            <a:r>
              <a:rPr sz="1250" b="1" i="1">
                <a:solidFill>
                  <a:srgbClr val="1A1A1A"/>
                </a:solidFill>
                <a:latin typeface="Abadi"/>
              </a:rPr>
              <a:t>Rise from baseline, not an absolute value; and a double peak 'has no validity'.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LACTOSE</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MALABSORPTION IS THE GLOBAL NORM</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Lactase non-persistence: meta-analysis of 450 populations, 62,910 people, 89 countries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6</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Storhaug CL, et al. Lancet Gastroenterol Hepatol 2017;2:738–46 · Marton A, et al. Aliment Pharmacol Ther 2012 · Montes RG, et al. Dig Dis Sci 1993;38:445–8</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68%</a:t>
            </a:r>
          </a:p>
        </p:txBody>
      </p:sp>
      <p:sp>
        <p:nvSpPr>
          <p:cNvPr id="15" name="TextBox 14"/>
          <p:cNvSpPr txBox="1"/>
          <p:nvPr/>
        </p:nvSpPr>
        <p:spPr>
          <a:xfrm>
            <a:off x="685800"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Global prevalence of lactase non-persistence (95% CI 64–72)</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28% → 70%</a:t>
            </a:r>
          </a:p>
        </p:txBody>
      </p:sp>
      <p:sp>
        <p:nvSpPr>
          <p:cNvPr id="19" name="TextBox 18"/>
          <p:cNvSpPr txBox="1"/>
          <p:nvPr/>
        </p:nvSpPr>
        <p:spPr>
          <a:xfrm>
            <a:off x="3527298"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Western, southern and northern Europe versus the Middle East</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0.88 / 0.85</a:t>
            </a:r>
          </a:p>
        </p:txBody>
      </p:sp>
      <p:sp>
        <p:nvSpPr>
          <p:cNvPr id="23" name="TextBox 22"/>
          <p:cNvSpPr txBox="1"/>
          <p:nvPr/>
        </p:nvSpPr>
        <p:spPr>
          <a:xfrm>
            <a:off x="6368796"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Sensitivity and specificity of the H2 breath test against LCT −13910 genotype</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51%</a:t>
            </a:r>
          </a:p>
        </p:txBody>
      </p:sp>
      <p:sp>
        <p:nvSpPr>
          <p:cNvPr id="27" name="TextBox 26"/>
          <p:cNvSpPr txBox="1"/>
          <p:nvPr/>
        </p:nvSpPr>
        <p:spPr>
          <a:xfrm>
            <a:off x="9210294"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Of 385 children tested were lactose malabsorbers, regardless of methane status</a:t>
            </a:r>
          </a:p>
        </p:txBody>
      </p:sp>
      <p:sp>
        <p:nvSpPr>
          <p:cNvPr id="28" name="TextBox 27"/>
          <p:cNvSpPr txBox="1"/>
          <p:nvPr/>
        </p:nvSpPr>
        <p:spPr>
          <a:xfrm>
            <a:off x="548640" y="434340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Prevalence depended on the method: 74% by genotyping, 57% by H2 breath test and 55% by lactose tolerance test. The breath test underestimates non-persistence partly because of non-producers and partly because lactase falls gradually through childhood.</a:t>
            </a:r>
          </a:p>
          <a:p>
            <a:pPr algn="l">
              <a:spcBef>
                <a:spcPts val="1000"/>
              </a:spcBef>
            </a:pPr>
            <a:r>
              <a:rPr sz="1250" b="1" i="1">
                <a:solidFill>
                  <a:srgbClr val="1A1A1A"/>
                </a:solidFill>
                <a:latin typeface="Abadi"/>
              </a:rPr>
              <a:t>In most of the world a positive lactose breath test is the expected result, not a finding.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INTERPRETATION</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MALABSORPTION IS NOT INTOLERANCE</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What turns a gas curve into a diagnosis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7</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Hammer HF, et al. UEG J 2022;10:15–40 · Storhaug 2017 · Couce ML, et al. 2020 (493 children) · Gasbarrini 2009</a:t>
            </a:r>
          </a:p>
        </p:txBody>
      </p:sp>
      <p:sp>
        <p:nvSpPr>
          <p:cNvPr id="12" name="Rectangle 11"/>
          <p:cNvSpPr/>
          <p:nvPr/>
        </p:nvSpPr>
        <p:spPr>
          <a:xfrm>
            <a:off x="548640" y="1773936"/>
            <a:ext cx="2567178" cy="29718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Measure</a:t>
            </a:r>
          </a:p>
        </p:txBody>
      </p:sp>
      <p:sp>
        <p:nvSpPr>
          <p:cNvPr id="15" name="TextBox 14"/>
          <p:cNvSpPr txBox="1"/>
          <p:nvPr/>
        </p:nvSpPr>
        <p:spPr>
          <a:xfrm>
            <a:off x="768096" y="2560320"/>
            <a:ext cx="2128266" cy="2057400"/>
          </a:xfrm>
          <a:prstGeom prst="rect">
            <a:avLst/>
          </a:prstGeom>
          <a:noFill/>
        </p:spPr>
        <p:txBody>
          <a:bodyPr wrap="square" anchor="t" lIns="36576" rIns="36576" tIns="18288" bIns="18288">
            <a:spAutoFit/>
          </a:bodyPr>
          <a:lstStyle/>
          <a:p>
            <a:pPr algn="l"/>
            <a:r>
              <a:rPr sz="1150" b="0" i="0">
                <a:solidFill>
                  <a:srgbClr val="1A1A1A"/>
                </a:solidFill>
                <a:latin typeface="Abadi"/>
              </a:rPr>
              <a:t>▪  H2 rise of 20 ppm or more</a:t>
            </a:r>
          </a:p>
          <a:p>
            <a:pPr algn="l">
              <a:spcBef>
                <a:spcPts val="600"/>
              </a:spcBef>
            </a:pPr>
            <a:r>
              <a:rPr sz="1150" b="0" i="0">
                <a:solidFill>
                  <a:srgbClr val="1A1A1A"/>
                </a:solidFill>
                <a:latin typeface="Abadi"/>
              </a:rPr>
              <a:t>▪  Add CH4 to catch methane producers</a:t>
            </a:r>
          </a:p>
          <a:p>
            <a:pPr algn="l">
              <a:spcBef>
                <a:spcPts val="600"/>
              </a:spcBef>
            </a:pPr>
            <a:r>
              <a:rPr sz="1150" b="0" i="0">
                <a:solidFill>
                  <a:srgbClr val="1A1A1A"/>
                </a:solidFill>
                <a:latin typeface="Abadi"/>
              </a:rPr>
              <a:t>▪  Run at least 3 hours</a:t>
            </a:r>
          </a:p>
        </p:txBody>
      </p:sp>
      <p:sp>
        <p:nvSpPr>
          <p:cNvPr id="16" name="Rectangle 15"/>
          <p:cNvSpPr/>
          <p:nvPr/>
        </p:nvSpPr>
        <p:spPr>
          <a:xfrm>
            <a:off x="3390138" y="1773936"/>
            <a:ext cx="2567178" cy="29718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9594"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Record</a:t>
            </a:r>
          </a:p>
        </p:txBody>
      </p:sp>
      <p:sp>
        <p:nvSpPr>
          <p:cNvPr id="19" name="TextBox 18"/>
          <p:cNvSpPr txBox="1"/>
          <p:nvPr/>
        </p:nvSpPr>
        <p:spPr>
          <a:xfrm>
            <a:off x="3609594" y="2560320"/>
            <a:ext cx="2128266" cy="2057400"/>
          </a:xfrm>
          <a:prstGeom prst="rect">
            <a:avLst/>
          </a:prstGeom>
          <a:noFill/>
        </p:spPr>
        <p:txBody>
          <a:bodyPr wrap="square" anchor="t" lIns="36576" rIns="36576" tIns="18288" bIns="18288">
            <a:spAutoFit/>
          </a:bodyPr>
          <a:lstStyle/>
          <a:p>
            <a:pPr algn="l"/>
            <a:r>
              <a:rPr sz="1150" b="0" i="0">
                <a:solidFill>
                  <a:srgbClr val="1A1A1A"/>
                </a:solidFill>
                <a:latin typeface="Abadi"/>
              </a:rPr>
              <a:t>▪  Validated symptom score during the test</a:t>
            </a:r>
          </a:p>
          <a:p>
            <a:pPr algn="l">
              <a:spcBef>
                <a:spcPts val="600"/>
              </a:spcBef>
            </a:pPr>
            <a:r>
              <a:rPr sz="1150" b="0" i="0">
                <a:solidFill>
                  <a:srgbClr val="1A1A1A"/>
                </a:solidFill>
                <a:latin typeface="Abadi"/>
              </a:rPr>
              <a:t>▪  Required by the European guideline to call it intolerance</a:t>
            </a:r>
          </a:p>
          <a:p>
            <a:pPr algn="l">
              <a:spcBef>
                <a:spcPts val="600"/>
              </a:spcBef>
            </a:pPr>
            <a:r>
              <a:rPr sz="1150" b="0" i="0">
                <a:solidFill>
                  <a:srgbClr val="1A1A1A"/>
                </a:solidFill>
                <a:latin typeface="Abadi"/>
              </a:rPr>
              <a:t>▪  No symptoms: malabsorber only</a:t>
            </a:r>
          </a:p>
        </p:txBody>
      </p:sp>
      <p:sp>
        <p:nvSpPr>
          <p:cNvPr id="20" name="Rectangle 19"/>
          <p:cNvSpPr/>
          <p:nvPr/>
        </p:nvSpPr>
        <p:spPr>
          <a:xfrm>
            <a:off x="6231636" y="1773936"/>
            <a:ext cx="2567178" cy="29718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1092"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Genotype</a:t>
            </a:r>
          </a:p>
        </p:txBody>
      </p:sp>
      <p:sp>
        <p:nvSpPr>
          <p:cNvPr id="23" name="TextBox 22"/>
          <p:cNvSpPr txBox="1"/>
          <p:nvPr/>
        </p:nvSpPr>
        <p:spPr>
          <a:xfrm>
            <a:off x="6451092" y="2560320"/>
            <a:ext cx="2128266" cy="2057400"/>
          </a:xfrm>
          <a:prstGeom prst="rect">
            <a:avLst/>
          </a:prstGeom>
          <a:noFill/>
        </p:spPr>
        <p:txBody>
          <a:bodyPr wrap="square" anchor="t" lIns="36576" rIns="36576" tIns="18288" bIns="18288">
            <a:spAutoFit/>
          </a:bodyPr>
          <a:lstStyle/>
          <a:p>
            <a:pPr algn="l"/>
            <a:r>
              <a:rPr sz="1150" b="0" i="0">
                <a:solidFill>
                  <a:srgbClr val="1A1A1A"/>
                </a:solidFill>
                <a:latin typeface="Abadi"/>
              </a:rPr>
              <a:t>▪  LCT −13910 C/C: non-persistent</a:t>
            </a:r>
          </a:p>
          <a:p>
            <a:pPr algn="l">
              <a:spcBef>
                <a:spcPts val="600"/>
              </a:spcBef>
            </a:pPr>
            <a:r>
              <a:rPr sz="1150" b="0" i="0">
                <a:solidFill>
                  <a:srgbClr val="1A1A1A"/>
                </a:solidFill>
                <a:latin typeface="Abadi"/>
              </a:rPr>
              <a:t>▪  75.4% of C/C children were non-absorbers</a:t>
            </a:r>
          </a:p>
          <a:p>
            <a:pPr algn="l">
              <a:spcBef>
                <a:spcPts val="600"/>
              </a:spcBef>
            </a:pPr>
            <a:r>
              <a:rPr sz="1150" b="0" i="0">
                <a:solidFill>
                  <a:srgbClr val="1A1A1A"/>
                </a:solidFill>
                <a:latin typeface="Abadi"/>
              </a:rPr>
              <a:t>▪  More useful in older children</a:t>
            </a:r>
          </a:p>
        </p:txBody>
      </p:sp>
      <p:sp>
        <p:nvSpPr>
          <p:cNvPr id="24" name="Rectangle 23"/>
          <p:cNvSpPr/>
          <p:nvPr/>
        </p:nvSpPr>
        <p:spPr>
          <a:xfrm>
            <a:off x="9073134" y="1773936"/>
            <a:ext cx="2567178" cy="29718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2590"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Act</a:t>
            </a:r>
          </a:p>
        </p:txBody>
      </p:sp>
      <p:sp>
        <p:nvSpPr>
          <p:cNvPr id="27" name="TextBox 26"/>
          <p:cNvSpPr txBox="1"/>
          <p:nvPr/>
        </p:nvSpPr>
        <p:spPr>
          <a:xfrm>
            <a:off x="9292590" y="2560320"/>
            <a:ext cx="2128266" cy="2057400"/>
          </a:xfrm>
          <a:prstGeom prst="rect">
            <a:avLst/>
          </a:prstGeom>
          <a:noFill/>
        </p:spPr>
        <p:txBody>
          <a:bodyPr wrap="square" anchor="t" lIns="36576" rIns="36576" tIns="18288" bIns="18288">
            <a:spAutoFit/>
          </a:bodyPr>
          <a:lstStyle/>
          <a:p>
            <a:pPr algn="l"/>
            <a:r>
              <a:rPr sz="1150" b="0" i="0">
                <a:solidFill>
                  <a:srgbClr val="1A1A1A"/>
                </a:solidFill>
                <a:latin typeface="Abadi"/>
              </a:rPr>
              <a:t>▪  Reduce, not eliminate, lactose</a:t>
            </a:r>
          </a:p>
          <a:p>
            <a:pPr algn="l">
              <a:spcBef>
                <a:spcPts val="600"/>
              </a:spcBef>
            </a:pPr>
            <a:r>
              <a:rPr sz="1150" b="0" i="0">
                <a:solidFill>
                  <a:srgbClr val="1A1A1A"/>
                </a:solidFill>
                <a:latin typeface="Abadi"/>
              </a:rPr>
              <a:t>▪  Re-challenge to confirm benefit</a:t>
            </a:r>
          </a:p>
          <a:p>
            <a:pPr algn="l">
              <a:spcBef>
                <a:spcPts val="600"/>
              </a:spcBef>
            </a:pPr>
            <a:r>
              <a:rPr sz="1150" b="0" i="0">
                <a:solidFill>
                  <a:srgbClr val="1A1A1A"/>
                </a:solidFill>
                <a:latin typeface="Abadi"/>
              </a:rPr>
              <a:t>▪  Never restrict calcium without a plan</a:t>
            </a:r>
          </a:p>
        </p:txBody>
      </p:sp>
      <p:sp>
        <p:nvSpPr>
          <p:cNvPr id="28" name="TextBox 27"/>
          <p:cNvSpPr txBox="1"/>
          <p:nvPr/>
        </p:nvSpPr>
        <p:spPr>
          <a:xfrm>
            <a:off x="548640" y="4983480"/>
            <a:ext cx="11091672" cy="822960"/>
          </a:xfrm>
          <a:prstGeom prst="rect">
            <a:avLst/>
          </a:prstGeom>
          <a:noFill/>
        </p:spPr>
        <p:txBody>
          <a:bodyPr wrap="square" anchor="t" lIns="36576" rIns="36576" tIns="18288" bIns="18288">
            <a:spAutoFit/>
          </a:bodyPr>
          <a:lstStyle/>
          <a:p>
            <a:pPr algn="l"/>
            <a:r>
              <a:rPr sz="1250" b="0" i="0">
                <a:solidFill>
                  <a:srgbClr val="1A1A1A"/>
                </a:solidFill>
                <a:latin typeface="Abadi"/>
              </a:rPr>
              <a:t>The European guideline, written with ESPGHAN, insists on a concurrent and validated symptom evaluation; without it a positive test only describes physiology the child shares with most of humanity.</a:t>
            </a:r>
          </a:p>
          <a:p>
            <a:pPr algn="l">
              <a:spcBef>
                <a:spcPts val="1000"/>
              </a:spcBef>
            </a:pPr>
            <a:r>
              <a:rPr sz="1250" b="1" i="1">
                <a:solidFill>
                  <a:srgbClr val="1A1A1A"/>
                </a:solidFill>
                <a:latin typeface="Abadi"/>
              </a:rPr>
              <a:t>Treat the child with symptoms that track lactose, not the breath curve.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FRUCTOSE</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POSITIVE IN MOST YOUNG CHILDREN</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Fructose breath tests positive, %, by age (Jones 2011, 760 children) and in healthy versus symptomatic children (Martínez-Azcona 2019)</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8</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Jones HF, et al. JPGN 2011;52:581–4 · Martínez-Azcona O, et al. Eur J Pediatr 2019;178:1395–403</a:t>
            </a:r>
          </a:p>
        </p:txBody>
      </p:sp>
      <p:sp>
        <p:nvSpPr>
          <p:cNvPr id="12" name="TextBox 11"/>
          <p:cNvSpPr txBox="1"/>
          <p:nvPr/>
        </p:nvSpPr>
        <p:spPr>
          <a:xfrm>
            <a:off x="548640" y="1874519"/>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Under 1 year (dose 0.5 g/kg, max 10 g)</a:t>
            </a:r>
          </a:p>
        </p:txBody>
      </p:sp>
      <p:sp>
        <p:nvSpPr>
          <p:cNvPr id="13" name="Rectangle 12"/>
          <p:cNvSpPr/>
          <p:nvPr/>
        </p:nvSpPr>
        <p:spPr>
          <a:xfrm>
            <a:off x="5669279" y="1901951"/>
            <a:ext cx="4301337"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62057" y="1874519"/>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88.2%</a:t>
            </a:r>
          </a:p>
        </p:txBody>
      </p:sp>
      <p:sp>
        <p:nvSpPr>
          <p:cNvPr id="15" name="TextBox 14"/>
          <p:cNvSpPr txBox="1"/>
          <p:nvPr/>
        </p:nvSpPr>
        <p:spPr>
          <a:xfrm>
            <a:off x="548640" y="2331720"/>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1–5 years</a:t>
            </a:r>
          </a:p>
        </p:txBody>
      </p:sp>
      <p:sp>
        <p:nvSpPr>
          <p:cNvPr id="16" name="Rectangle 15"/>
          <p:cNvSpPr/>
          <p:nvPr/>
        </p:nvSpPr>
        <p:spPr>
          <a:xfrm>
            <a:off x="5669279" y="2359151"/>
            <a:ext cx="3247948"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8668" y="2331720"/>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66.6%</a:t>
            </a:r>
          </a:p>
        </p:txBody>
      </p:sp>
      <p:sp>
        <p:nvSpPr>
          <p:cNvPr id="18" name="TextBox 17"/>
          <p:cNvSpPr txBox="1"/>
          <p:nvPr/>
        </p:nvSpPr>
        <p:spPr>
          <a:xfrm>
            <a:off x="548640" y="2788920"/>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6–10 years</a:t>
            </a:r>
          </a:p>
        </p:txBody>
      </p:sp>
      <p:sp>
        <p:nvSpPr>
          <p:cNvPr id="19" name="Rectangle 18"/>
          <p:cNvSpPr/>
          <p:nvPr/>
        </p:nvSpPr>
        <p:spPr>
          <a:xfrm>
            <a:off x="5669279" y="2816351"/>
            <a:ext cx="1970227"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30947" y="2788920"/>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40.4%</a:t>
            </a:r>
          </a:p>
        </p:txBody>
      </p:sp>
      <p:sp>
        <p:nvSpPr>
          <p:cNvPr id="21" name="TextBox 20"/>
          <p:cNvSpPr txBox="1"/>
          <p:nvPr/>
        </p:nvSpPr>
        <p:spPr>
          <a:xfrm>
            <a:off x="548640" y="3246120"/>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10–15 years</a:t>
            </a:r>
          </a:p>
        </p:txBody>
      </p:sp>
      <p:sp>
        <p:nvSpPr>
          <p:cNvPr id="22" name="Rectangle 21"/>
          <p:cNvSpPr/>
          <p:nvPr/>
        </p:nvSpPr>
        <p:spPr>
          <a:xfrm>
            <a:off x="5669279" y="3273551"/>
            <a:ext cx="1321612" cy="19202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82332" y="3246120"/>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27.1%</a:t>
            </a:r>
          </a:p>
        </p:txBody>
      </p:sp>
      <p:sp>
        <p:nvSpPr>
          <p:cNvPr id="24" name="TextBox 23"/>
          <p:cNvSpPr txBox="1"/>
          <p:nvPr/>
        </p:nvSpPr>
        <p:spPr>
          <a:xfrm>
            <a:off x="548640" y="3703320"/>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Healthy children, no symptoms (n = 34)</a:t>
            </a:r>
          </a:p>
        </p:txBody>
      </p:sp>
      <p:sp>
        <p:nvSpPr>
          <p:cNvPr id="25" name="Rectangle 24"/>
          <p:cNvSpPr/>
          <p:nvPr/>
        </p:nvSpPr>
        <p:spPr>
          <a:xfrm>
            <a:off x="5669279" y="3730752"/>
            <a:ext cx="2867558" cy="19202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8278" y="3703320"/>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58.8%</a:t>
            </a:r>
          </a:p>
        </p:txBody>
      </p:sp>
      <p:sp>
        <p:nvSpPr>
          <p:cNvPr id="27" name="TextBox 26"/>
          <p:cNvSpPr txBox="1"/>
          <p:nvPr/>
        </p:nvSpPr>
        <p:spPr>
          <a:xfrm>
            <a:off x="548640" y="4160520"/>
            <a:ext cx="5001768" cy="237744"/>
          </a:xfrm>
          <a:prstGeom prst="rect">
            <a:avLst/>
          </a:prstGeom>
          <a:noFill/>
        </p:spPr>
        <p:txBody>
          <a:bodyPr wrap="square" anchor="t" lIns="36576" rIns="36576" tIns="18288" bIns="18288">
            <a:spAutoFit/>
          </a:bodyPr>
          <a:lstStyle/>
          <a:p>
            <a:pPr algn="r"/>
            <a:r>
              <a:rPr sz="1150" b="0" i="0">
                <a:solidFill>
                  <a:srgbClr val="1A1A1A"/>
                </a:solidFill>
                <a:latin typeface="Abadi"/>
              </a:rPr>
              <a:t>Children with chronic abdominal pain (n = 71)</a:t>
            </a:r>
          </a:p>
        </p:txBody>
      </p:sp>
      <p:sp>
        <p:nvSpPr>
          <p:cNvPr id="28" name="Rectangle 27"/>
          <p:cNvSpPr/>
          <p:nvPr/>
        </p:nvSpPr>
        <p:spPr>
          <a:xfrm>
            <a:off x="5669279" y="4187952"/>
            <a:ext cx="1989734" cy="19202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50454" y="4160520"/>
            <a:ext cx="1737360" cy="237744"/>
          </a:xfrm>
          <a:prstGeom prst="rect">
            <a:avLst/>
          </a:prstGeom>
          <a:noFill/>
        </p:spPr>
        <p:txBody>
          <a:bodyPr wrap="square" anchor="t" lIns="36576" rIns="36576" tIns="18288" bIns="18288">
            <a:spAutoFit/>
          </a:bodyPr>
          <a:lstStyle/>
          <a:p>
            <a:pPr algn="l"/>
            <a:r>
              <a:rPr sz="1400" b="1" i="0">
                <a:solidFill>
                  <a:srgbClr val="1B355E"/>
                </a:solidFill>
                <a:latin typeface="Abadi"/>
              </a:rPr>
              <a:t>40.8%</a:t>
            </a:r>
          </a:p>
        </p:txBody>
      </p:sp>
      <p:sp>
        <p:nvSpPr>
          <p:cNvPr id="30" name="Rectangle 29"/>
          <p:cNvSpPr/>
          <p:nvPr/>
        </p:nvSpPr>
        <p:spPr>
          <a:xfrm>
            <a:off x="5669279" y="1783079"/>
            <a:ext cx="9144" cy="27889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754880"/>
            <a:ext cx="11091672" cy="1005840"/>
          </a:xfrm>
          <a:prstGeom prst="rect">
            <a:avLst/>
          </a:prstGeom>
          <a:noFill/>
        </p:spPr>
        <p:txBody>
          <a:bodyPr wrap="square" anchor="t" lIns="36576" rIns="36576" tIns="18288" bIns="18288">
            <a:spAutoFit/>
          </a:bodyPr>
          <a:lstStyle/>
          <a:p>
            <a:pPr algn="l"/>
            <a:r>
              <a:rPr sz="1250" b="0" i="0">
                <a:solidFill>
                  <a:srgbClr val="1A1A1A"/>
                </a:solidFill>
                <a:latin typeface="Abadi"/>
              </a:rPr>
              <a:t>In the referral series positivity fell with each year of age (odds ratio 0.82 per year). In the controlled study healthy children malabsorbed fructose more often than children with pain, although 72.4% of test-positive symptomatic children improved on a low-fructose diet.</a:t>
            </a:r>
          </a:p>
          <a:p>
            <a:pPr algn="l">
              <a:spcBef>
                <a:spcPts val="1000"/>
              </a:spcBef>
            </a:pPr>
            <a:r>
              <a:rPr sz="1250" b="1" i="1">
                <a:solidFill>
                  <a:srgbClr val="1A1A1A"/>
                </a:solidFill>
                <a:latin typeface="Abadi"/>
              </a:rPr>
              <a:t>A positive fructose test in a young child is physiology; it cannot by itself explain the abdominal pain.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DOSE</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THE DOSE MAKES THE MALABSORBER</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Children with abdominal pain positive on fructose breath testing, by fructose dose,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9</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Gomara RE, et al. JPGN 2008;47:303–8 · Gasbarrini 2009 Aliment Pharmacol Ther · Rezaie 2017 Am J Gastroenterol</a:t>
            </a:r>
          </a:p>
        </p:txBody>
      </p:sp>
      <p:sp>
        <p:nvSpPr>
          <p:cNvPr id="12" name="Rectangle 11"/>
          <p:cNvSpPr/>
          <p:nvPr/>
        </p:nvSpPr>
        <p:spPr>
          <a:xfrm>
            <a:off x="1325880" y="4736592"/>
            <a:ext cx="1005840" cy="18288"/>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507992"/>
            <a:ext cx="1463040" cy="219456"/>
          </a:xfrm>
          <a:prstGeom prst="rect">
            <a:avLst/>
          </a:prstGeom>
          <a:noFill/>
        </p:spPr>
        <p:txBody>
          <a:bodyPr wrap="square" anchor="t" lIns="36576" rIns="36576" tIns="18288" bIns="18288">
            <a:spAutoFit/>
          </a:bodyPr>
          <a:lstStyle/>
          <a:p>
            <a:pPr algn="ctr"/>
            <a:r>
              <a:rPr sz="1000" b="1" i="0">
                <a:solidFill>
                  <a:srgbClr val="1B355E"/>
                </a:solidFill>
                <a:latin typeface="Abadi"/>
              </a:rPr>
              <a:t>0%</a:t>
            </a:r>
          </a:p>
        </p:txBody>
      </p:sp>
      <p:sp>
        <p:nvSpPr>
          <p:cNvPr id="14" name="TextBox 13"/>
          <p:cNvSpPr txBox="1"/>
          <p:nvPr/>
        </p:nvSpPr>
        <p:spPr>
          <a:xfrm>
            <a:off x="91440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1 g (0 of 9)</a:t>
            </a:r>
          </a:p>
        </p:txBody>
      </p:sp>
      <p:sp>
        <p:nvSpPr>
          <p:cNvPr id="15" name="Rectangle 14"/>
          <p:cNvSpPr/>
          <p:nvPr/>
        </p:nvSpPr>
        <p:spPr>
          <a:xfrm>
            <a:off x="3154680" y="3775165"/>
            <a:ext cx="1005840" cy="97971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0" y="3546565"/>
            <a:ext cx="1463040" cy="219456"/>
          </a:xfrm>
          <a:prstGeom prst="rect">
            <a:avLst/>
          </a:prstGeom>
          <a:noFill/>
        </p:spPr>
        <p:txBody>
          <a:bodyPr wrap="square" anchor="t" lIns="36576" rIns="36576" tIns="18288" bIns="18288">
            <a:spAutoFit/>
          </a:bodyPr>
          <a:lstStyle/>
          <a:p>
            <a:pPr algn="ctr"/>
            <a:r>
              <a:rPr sz="1000" b="1" i="0">
                <a:solidFill>
                  <a:srgbClr val="1B355E"/>
                </a:solidFill>
                <a:latin typeface="Abadi"/>
              </a:rPr>
              <a:t>30%</a:t>
            </a:r>
          </a:p>
        </p:txBody>
      </p:sp>
      <p:sp>
        <p:nvSpPr>
          <p:cNvPr id="17" name="TextBox 16"/>
          <p:cNvSpPr txBox="1"/>
          <p:nvPr/>
        </p:nvSpPr>
        <p:spPr>
          <a:xfrm>
            <a:off x="274320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15 g (3 of 10)</a:t>
            </a:r>
          </a:p>
        </p:txBody>
      </p:sp>
      <p:sp>
        <p:nvSpPr>
          <p:cNvPr id="18" name="Rectangle 17"/>
          <p:cNvSpPr/>
          <p:nvPr/>
        </p:nvSpPr>
        <p:spPr>
          <a:xfrm>
            <a:off x="4983480" y="2730137"/>
            <a:ext cx="1005840" cy="202474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501537"/>
            <a:ext cx="1463040" cy="219456"/>
          </a:xfrm>
          <a:prstGeom prst="rect">
            <a:avLst/>
          </a:prstGeom>
          <a:noFill/>
        </p:spPr>
        <p:txBody>
          <a:bodyPr wrap="square" anchor="t" lIns="36576" rIns="36576" tIns="18288" bIns="18288">
            <a:spAutoFit/>
          </a:bodyPr>
          <a:lstStyle/>
          <a:p>
            <a:pPr algn="ctr"/>
            <a:r>
              <a:rPr sz="1000" b="1" i="0">
                <a:solidFill>
                  <a:srgbClr val="1B355E"/>
                </a:solidFill>
                <a:latin typeface="Abadi"/>
              </a:rPr>
              <a:t>62%</a:t>
            </a:r>
          </a:p>
        </p:txBody>
      </p:sp>
      <p:sp>
        <p:nvSpPr>
          <p:cNvPr id="20" name="TextBox 19"/>
          <p:cNvSpPr txBox="1"/>
          <p:nvPr/>
        </p:nvSpPr>
        <p:spPr>
          <a:xfrm>
            <a:off x="457200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45 g (8 of 13)</a:t>
            </a:r>
          </a:p>
        </p:txBody>
      </p:sp>
      <p:sp>
        <p:nvSpPr>
          <p:cNvPr id="21" name="Rectangle 20"/>
          <p:cNvSpPr/>
          <p:nvPr/>
        </p:nvSpPr>
        <p:spPr>
          <a:xfrm>
            <a:off x="914400" y="4754880"/>
            <a:ext cx="5486400"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1783080"/>
            <a:ext cx="4572000" cy="237744"/>
          </a:xfrm>
          <a:prstGeom prst="rect">
            <a:avLst/>
          </a:prstGeom>
          <a:noFill/>
        </p:spPr>
        <p:txBody>
          <a:bodyPr wrap="square" anchor="t" lIns="36576" rIns="36576" tIns="18288" bIns="18288">
            <a:spAutoFit/>
          </a:bodyPr>
          <a:lstStyle/>
          <a:p>
            <a:pPr algn="l"/>
            <a:r>
              <a:rPr sz="1000" b="0" i="0">
                <a:solidFill>
                  <a:srgbClr val="555555"/>
                </a:solidFill>
                <a:latin typeface="Abadi"/>
              </a:rPr>
              <a:t>%</a:t>
            </a:r>
          </a:p>
        </p:txBody>
      </p:sp>
      <p:sp>
        <p:nvSpPr>
          <p:cNvPr id="23" name="Rectangle 22"/>
          <p:cNvSpPr/>
          <p:nvPr/>
        </p:nvSpPr>
        <p:spPr>
          <a:xfrm>
            <a:off x="4933188" y="1819656"/>
            <a:ext cx="201168" cy="14630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89220" y="1783080"/>
            <a:ext cx="1284732" cy="237744"/>
          </a:xfrm>
          <a:prstGeom prst="rect">
            <a:avLst/>
          </a:prstGeom>
          <a:noFill/>
        </p:spPr>
        <p:txBody>
          <a:bodyPr wrap="square" anchor="t" lIns="36576" rIns="36576" tIns="18288" bIns="18288">
            <a:spAutoFit/>
          </a:bodyPr>
          <a:lstStyle/>
          <a:p>
            <a:pPr algn="l"/>
            <a:r>
              <a:rPr sz="1000" b="0" i="0">
                <a:solidFill>
                  <a:srgbClr val="1A1A1A"/>
                </a:solidFill>
                <a:latin typeface="Abadi"/>
              </a:rPr>
              <a:t>Positive test</a:t>
            </a:r>
          </a:p>
        </p:txBody>
      </p:sp>
      <p:sp>
        <p:nvSpPr>
          <p:cNvPr id="25" name="TextBox 24"/>
          <p:cNvSpPr txBox="1"/>
          <p:nvPr/>
        </p:nvSpPr>
        <p:spPr>
          <a:xfrm>
            <a:off x="7132320" y="1874519"/>
            <a:ext cx="4507992" cy="2926080"/>
          </a:xfrm>
          <a:prstGeom prst="rect">
            <a:avLst/>
          </a:prstGeom>
          <a:noFill/>
        </p:spPr>
        <p:txBody>
          <a:bodyPr wrap="square" anchor="t" lIns="36576" rIns="36576" tIns="18288" bIns="18288">
            <a:spAutoFit/>
          </a:bodyPr>
          <a:lstStyle/>
          <a:p>
            <a:pPr algn="l"/>
            <a:r>
              <a:rPr sz="1300" b="1" i="0">
                <a:solidFill>
                  <a:srgbClr val="2E5A88"/>
                </a:solidFill>
                <a:latin typeface="Abadi"/>
              </a:rPr>
              <a:t>Reading the study</a:t>
            </a:r>
          </a:p>
          <a:p>
            <a:pPr algn="l">
              <a:spcBef>
                <a:spcPts val="600"/>
              </a:spcBef>
            </a:pPr>
            <a:r>
              <a:rPr sz="1200" b="0" i="0">
                <a:solidFill>
                  <a:srgbClr val="1A1A1A"/>
                </a:solidFill>
                <a:latin typeface="Abadi"/>
              </a:rPr>
              <a:t>32 children with abdominal pain; the higher the load, the more positives.</a:t>
            </a:r>
          </a:p>
          <a:p>
            <a:pPr algn="l">
              <a:spcBef>
                <a:spcPts val="600"/>
              </a:spcBef>
            </a:pPr>
            <a:r>
              <a:rPr sz="1200" b="0" i="0">
                <a:solidFill>
                  <a:srgbClr val="1A1A1A"/>
                </a:solidFill>
                <a:latin typeface="Abadi"/>
              </a:rPr>
              <a:t>Nine of eleven positive children improved on a fructose-restricted diet; there was no control group.</a:t>
            </a:r>
          </a:p>
          <a:p>
            <a:pPr algn="l">
              <a:spcBef>
                <a:spcPts val="1000"/>
              </a:spcBef>
            </a:pPr>
            <a:r>
              <a:rPr sz="1300" b="1" i="0">
                <a:solidFill>
                  <a:srgbClr val="2E5A88"/>
                </a:solidFill>
                <a:latin typeface="Abadi"/>
              </a:rPr>
              <a:t>What the documents say</a:t>
            </a:r>
          </a:p>
          <a:p>
            <a:pPr algn="l">
              <a:spcBef>
                <a:spcPts val="600"/>
              </a:spcBef>
            </a:pPr>
            <a:r>
              <a:rPr sz="1200" b="0" i="0">
                <a:solidFill>
                  <a:srgbClr val="1A1A1A"/>
                </a:solidFill>
                <a:latin typeface="Abadi"/>
              </a:rPr>
              <a:t>Rome 2009: fructose and sorbitol tests for research only. North America 2017: 25 g in adults.</a:t>
            </a:r>
          </a:p>
        </p:txBody>
      </p:sp>
      <p:sp>
        <p:nvSpPr>
          <p:cNvPr id="26" name="TextBox 25"/>
          <p:cNvSpPr txBox="1"/>
          <p:nvPr/>
        </p:nvSpPr>
        <p:spPr>
          <a:xfrm>
            <a:off x="548640" y="5074920"/>
            <a:ext cx="11091672" cy="457200"/>
          </a:xfrm>
          <a:prstGeom prst="rect">
            <a:avLst/>
          </a:prstGeom>
          <a:noFill/>
        </p:spPr>
        <p:txBody>
          <a:bodyPr wrap="square" anchor="t" lIns="36576" rIns="36576" tIns="18288" bIns="18288">
            <a:spAutoFit/>
          </a:bodyPr>
          <a:lstStyle/>
          <a:p>
            <a:pPr algn="l"/>
            <a:r>
              <a:rPr sz="1250" b="1" i="1">
                <a:solidFill>
                  <a:srgbClr val="1A1A1A"/>
                </a:solidFill>
                <a:latin typeface="Abadi"/>
              </a:rPr>
              <a:t>Small intestinal fructose absorption is saturable; a 45 g challenge tests capacity, not disease.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SIBO — ACCURACY</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NEITHER TEST IS GOOD, LACTULOSE IS WORSE</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Breath tests against jejunal aspirate culture: meta-analysis of 14 studies,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10</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Losurdo G, et al. J Neurogastroenterol Motil 2020;26:16–28 · Khoshini R, et al. Dig Dis Sci 2008;53:1443–54 · Gasbarrini 2009 Aliment Pharmacol Ther</a:t>
            </a:r>
          </a:p>
        </p:txBody>
      </p:sp>
      <p:sp>
        <p:nvSpPr>
          <p:cNvPr id="12" name="Rectangle 11"/>
          <p:cNvSpPr/>
          <p:nvPr/>
        </p:nvSpPr>
        <p:spPr>
          <a:xfrm>
            <a:off x="1815084" y="3370580"/>
            <a:ext cx="822960" cy="13843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86484" y="3141980"/>
            <a:ext cx="1280160" cy="219456"/>
          </a:xfrm>
          <a:prstGeom prst="rect">
            <a:avLst/>
          </a:prstGeom>
          <a:noFill/>
        </p:spPr>
        <p:txBody>
          <a:bodyPr wrap="square" anchor="t" lIns="36576" rIns="36576" tIns="18288" bIns="18288">
            <a:spAutoFit/>
          </a:bodyPr>
          <a:lstStyle/>
          <a:p>
            <a:pPr algn="ctr"/>
            <a:r>
              <a:rPr sz="1000" b="1" i="0">
                <a:solidFill>
                  <a:srgbClr val="1B355E"/>
                </a:solidFill>
                <a:latin typeface="Abadi"/>
              </a:rPr>
              <a:t>54.5%</a:t>
            </a:r>
          </a:p>
        </p:txBody>
      </p:sp>
      <p:sp>
        <p:nvSpPr>
          <p:cNvPr id="14" name="Rectangle 13"/>
          <p:cNvSpPr/>
          <p:nvPr/>
        </p:nvSpPr>
        <p:spPr>
          <a:xfrm>
            <a:off x="2665476" y="3688080"/>
            <a:ext cx="822960" cy="106680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36876" y="3459480"/>
            <a:ext cx="1280160" cy="219456"/>
          </a:xfrm>
          <a:prstGeom prst="rect">
            <a:avLst/>
          </a:prstGeom>
          <a:noFill/>
        </p:spPr>
        <p:txBody>
          <a:bodyPr wrap="square" anchor="t" lIns="36576" rIns="36576" tIns="18288" bIns="18288">
            <a:spAutoFit/>
          </a:bodyPr>
          <a:lstStyle/>
          <a:p>
            <a:pPr algn="ctr"/>
            <a:r>
              <a:rPr sz="1000" b="1" i="0">
                <a:solidFill>
                  <a:srgbClr val="1B355E"/>
                </a:solidFill>
                <a:latin typeface="Abadi"/>
              </a:rPr>
              <a:t>42%</a:t>
            </a:r>
          </a:p>
        </p:txBody>
      </p:sp>
      <p:sp>
        <p:nvSpPr>
          <p:cNvPr id="16" name="TextBox 15"/>
          <p:cNvSpPr txBox="1"/>
          <p:nvPr/>
        </p:nvSpPr>
        <p:spPr>
          <a:xfrm>
            <a:off x="1280160" y="4818888"/>
            <a:ext cx="2743200" cy="365760"/>
          </a:xfrm>
          <a:prstGeom prst="rect">
            <a:avLst/>
          </a:prstGeom>
          <a:noFill/>
        </p:spPr>
        <p:txBody>
          <a:bodyPr wrap="square" anchor="t" lIns="36576" rIns="36576" tIns="18288" bIns="18288">
            <a:spAutoFit/>
          </a:bodyPr>
          <a:lstStyle/>
          <a:p>
            <a:pPr algn="ctr"/>
            <a:r>
              <a:rPr sz="1000" b="0" i="0">
                <a:solidFill>
                  <a:srgbClr val="1A1A1A"/>
                </a:solidFill>
                <a:latin typeface="Abadi"/>
              </a:rPr>
              <a:t>Sensitivity</a:t>
            </a:r>
          </a:p>
        </p:txBody>
      </p:sp>
      <p:sp>
        <p:nvSpPr>
          <p:cNvPr id="17" name="Rectangle 16"/>
          <p:cNvSpPr/>
          <p:nvPr/>
        </p:nvSpPr>
        <p:spPr>
          <a:xfrm>
            <a:off x="4558284" y="2641600"/>
            <a:ext cx="822960" cy="211328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9684" y="2413000"/>
            <a:ext cx="1280160" cy="219456"/>
          </a:xfrm>
          <a:prstGeom prst="rect">
            <a:avLst/>
          </a:prstGeom>
          <a:noFill/>
        </p:spPr>
        <p:txBody>
          <a:bodyPr wrap="square" anchor="t" lIns="36576" rIns="36576" tIns="18288" bIns="18288">
            <a:spAutoFit/>
          </a:bodyPr>
          <a:lstStyle/>
          <a:p>
            <a:pPr algn="ctr"/>
            <a:r>
              <a:rPr sz="1000" b="1" i="0">
                <a:solidFill>
                  <a:srgbClr val="1B355E"/>
                </a:solidFill>
                <a:latin typeface="Abadi"/>
              </a:rPr>
              <a:t>83.2%</a:t>
            </a:r>
          </a:p>
        </p:txBody>
      </p:sp>
      <p:sp>
        <p:nvSpPr>
          <p:cNvPr id="19" name="Rectangle 18"/>
          <p:cNvSpPr/>
          <p:nvPr/>
        </p:nvSpPr>
        <p:spPr>
          <a:xfrm>
            <a:off x="5408676" y="2961640"/>
            <a:ext cx="822960" cy="179324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733040"/>
            <a:ext cx="1280160" cy="219456"/>
          </a:xfrm>
          <a:prstGeom prst="rect">
            <a:avLst/>
          </a:prstGeom>
          <a:noFill/>
        </p:spPr>
        <p:txBody>
          <a:bodyPr wrap="square" anchor="t" lIns="36576" rIns="36576" tIns="18288" bIns="18288">
            <a:spAutoFit/>
          </a:bodyPr>
          <a:lstStyle/>
          <a:p>
            <a:pPr algn="ctr"/>
            <a:r>
              <a:rPr sz="1000" b="1" i="0">
                <a:solidFill>
                  <a:srgbClr val="1B355E"/>
                </a:solidFill>
                <a:latin typeface="Abadi"/>
              </a:rPr>
              <a:t>70.6%</a:t>
            </a:r>
          </a:p>
        </p:txBody>
      </p:sp>
      <p:sp>
        <p:nvSpPr>
          <p:cNvPr id="21" name="TextBox 20"/>
          <p:cNvSpPr txBox="1"/>
          <p:nvPr/>
        </p:nvSpPr>
        <p:spPr>
          <a:xfrm>
            <a:off x="4023360" y="4818888"/>
            <a:ext cx="2743200" cy="365760"/>
          </a:xfrm>
          <a:prstGeom prst="rect">
            <a:avLst/>
          </a:prstGeom>
          <a:noFill/>
        </p:spPr>
        <p:txBody>
          <a:bodyPr wrap="square" anchor="t" lIns="36576" rIns="36576" tIns="18288" bIns="18288">
            <a:spAutoFit/>
          </a:bodyPr>
          <a:lstStyle/>
          <a:p>
            <a:pPr algn="ctr"/>
            <a:r>
              <a:rPr sz="1000" b="0" i="0">
                <a:solidFill>
                  <a:srgbClr val="1A1A1A"/>
                </a:solidFill>
                <a:latin typeface="Abadi"/>
              </a:rPr>
              <a:t>Specificity</a:t>
            </a:r>
          </a:p>
        </p:txBody>
      </p:sp>
      <p:sp>
        <p:nvSpPr>
          <p:cNvPr id="22" name="Rectangle 21"/>
          <p:cNvSpPr/>
          <p:nvPr/>
        </p:nvSpPr>
        <p:spPr>
          <a:xfrm>
            <a:off x="1280160" y="4754880"/>
            <a:ext cx="5486400"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1783080"/>
            <a:ext cx="4572000" cy="237744"/>
          </a:xfrm>
          <a:prstGeom prst="rect">
            <a:avLst/>
          </a:prstGeom>
          <a:noFill/>
        </p:spPr>
        <p:txBody>
          <a:bodyPr wrap="square" anchor="t" lIns="36576" rIns="36576" tIns="18288" bIns="18288">
            <a:spAutoFit/>
          </a:bodyPr>
          <a:lstStyle/>
          <a:p>
            <a:pPr algn="l"/>
            <a:r>
              <a:rPr sz="1000" b="0" i="0">
                <a:solidFill>
                  <a:srgbClr val="555555"/>
                </a:solidFill>
                <a:latin typeface="Abadi"/>
              </a:rPr>
              <a:t>%</a:t>
            </a:r>
          </a:p>
        </p:txBody>
      </p:sp>
      <p:sp>
        <p:nvSpPr>
          <p:cNvPr id="24" name="Rectangle 23"/>
          <p:cNvSpPr/>
          <p:nvPr/>
        </p:nvSpPr>
        <p:spPr>
          <a:xfrm>
            <a:off x="5609844" y="1819656"/>
            <a:ext cx="201168" cy="14630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65876" y="1783080"/>
            <a:ext cx="973836" cy="237744"/>
          </a:xfrm>
          <a:prstGeom prst="rect">
            <a:avLst/>
          </a:prstGeom>
          <a:noFill/>
        </p:spPr>
        <p:txBody>
          <a:bodyPr wrap="square" anchor="t" lIns="36576" rIns="36576" tIns="18288" bIns="18288">
            <a:spAutoFit/>
          </a:bodyPr>
          <a:lstStyle/>
          <a:p>
            <a:pPr algn="l"/>
            <a:r>
              <a:rPr sz="1000" b="0" i="0">
                <a:solidFill>
                  <a:srgbClr val="1A1A1A"/>
                </a:solidFill>
                <a:latin typeface="Abadi"/>
              </a:rPr>
              <a:t>Lactulose</a:t>
            </a:r>
          </a:p>
        </p:txBody>
      </p:sp>
      <p:sp>
        <p:nvSpPr>
          <p:cNvPr id="26" name="Rectangle 25"/>
          <p:cNvSpPr/>
          <p:nvPr/>
        </p:nvSpPr>
        <p:spPr>
          <a:xfrm>
            <a:off x="4608576" y="1819656"/>
            <a:ext cx="201168" cy="14630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64608" y="1783080"/>
            <a:ext cx="818388" cy="237744"/>
          </a:xfrm>
          <a:prstGeom prst="rect">
            <a:avLst/>
          </a:prstGeom>
          <a:noFill/>
        </p:spPr>
        <p:txBody>
          <a:bodyPr wrap="square" anchor="t" lIns="36576" rIns="36576" tIns="18288" bIns="18288">
            <a:spAutoFit/>
          </a:bodyPr>
          <a:lstStyle/>
          <a:p>
            <a:pPr algn="l"/>
            <a:r>
              <a:rPr sz="1000" b="0" i="0">
                <a:solidFill>
                  <a:srgbClr val="1A1A1A"/>
                </a:solidFill>
                <a:latin typeface="Abadi"/>
              </a:rPr>
              <a:t>Glucose</a:t>
            </a:r>
          </a:p>
        </p:txBody>
      </p:sp>
      <p:sp>
        <p:nvSpPr>
          <p:cNvPr id="28" name="TextBox 27"/>
          <p:cNvSpPr txBox="1"/>
          <p:nvPr/>
        </p:nvSpPr>
        <p:spPr>
          <a:xfrm>
            <a:off x="7315200" y="1874519"/>
            <a:ext cx="4325112" cy="2926080"/>
          </a:xfrm>
          <a:prstGeom prst="rect">
            <a:avLst/>
          </a:prstGeom>
          <a:noFill/>
        </p:spPr>
        <p:txBody>
          <a:bodyPr wrap="square" anchor="t" lIns="36576" rIns="36576" tIns="18288" bIns="18288">
            <a:spAutoFit/>
          </a:bodyPr>
          <a:lstStyle/>
          <a:p>
            <a:pPr algn="l"/>
            <a:r>
              <a:rPr sz="1300" b="1" i="0">
                <a:solidFill>
                  <a:srgbClr val="2E5A88"/>
                </a:solidFill>
                <a:latin typeface="Abadi"/>
              </a:rPr>
              <a:t>Earlier reviews</a:t>
            </a:r>
          </a:p>
          <a:p>
            <a:pPr algn="l">
              <a:spcBef>
                <a:spcPts val="600"/>
              </a:spcBef>
            </a:pPr>
            <a:r>
              <a:rPr sz="1200" b="0" i="0">
                <a:solidFill>
                  <a:srgbClr val="1A1A1A"/>
                </a:solidFill>
                <a:latin typeface="Abadi"/>
              </a:rPr>
              <a:t>Khoshini, 11 studies: glucose sensitivity 20–93% and specificity 30–86%; lactulose 31–68% and 44–100%.</a:t>
            </a:r>
          </a:p>
          <a:p>
            <a:pPr algn="l">
              <a:spcBef>
                <a:spcPts val="600"/>
              </a:spcBef>
            </a:pPr>
            <a:r>
              <a:rPr sz="1200" b="0" i="0">
                <a:solidFill>
                  <a:srgbClr val="1A1A1A"/>
                </a:solidFill>
                <a:latin typeface="Abadi"/>
              </a:rPr>
              <a:t>Rome 2009: glucose 62.5% / 81.8%; lactulose 52.4% / 85.7%.</a:t>
            </a:r>
          </a:p>
          <a:p>
            <a:pPr algn="l">
              <a:spcBef>
                <a:spcPts val="1000"/>
              </a:spcBef>
            </a:pPr>
            <a:r>
              <a:rPr sz="1300" b="1" i="0">
                <a:solidFill>
                  <a:srgbClr val="2E5A88"/>
                </a:solidFill>
                <a:latin typeface="Abadi"/>
              </a:rPr>
              <a:t>Best case</a:t>
            </a:r>
          </a:p>
          <a:p>
            <a:pPr algn="l">
              <a:spcBef>
                <a:spcPts val="600"/>
              </a:spcBef>
            </a:pPr>
            <a:r>
              <a:rPr sz="1200" b="0" i="0">
                <a:solidFill>
                  <a:srgbClr val="1A1A1A"/>
                </a:solidFill>
                <a:latin typeface="Abadi"/>
              </a:rPr>
              <a:t>Both tests performed best after surgery that changed the anatomy.</a:t>
            </a:r>
          </a:p>
        </p:txBody>
      </p:sp>
      <p:sp>
        <p:nvSpPr>
          <p:cNvPr id="29" name="TextBox 28"/>
          <p:cNvSpPr txBox="1"/>
          <p:nvPr/>
        </p:nvSpPr>
        <p:spPr>
          <a:xfrm>
            <a:off x="548640" y="5074920"/>
            <a:ext cx="11091672" cy="457200"/>
          </a:xfrm>
          <a:prstGeom prst="rect">
            <a:avLst/>
          </a:prstGeom>
          <a:noFill/>
        </p:spPr>
        <p:txBody>
          <a:bodyPr wrap="square" anchor="t" lIns="36576" rIns="36576" tIns="18288" bIns="18288">
            <a:spAutoFit/>
          </a:bodyPr>
          <a:lstStyle/>
          <a:p>
            <a:pPr algn="l"/>
            <a:r>
              <a:rPr sz="1250" b="1" i="1">
                <a:solidFill>
                  <a:srgbClr val="1A1A1A"/>
                </a:solidFill>
                <a:latin typeface="Abadi"/>
              </a:rPr>
              <a:t>With a sensitivity near 50%, a negative test does not exclude overgrowth; with specificity of 70%, a positive one often misleads.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SIBO — MECHANISM</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LACTULOSE MEASURES TRANSIT</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Lactulose breath test with simultaneous scintigraphy, 40 adults with IBS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11</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Yu D, Cheeseman F, Vanner S. Gut 2011;60:334–40 · Lim J, Rezaie A. Gastroenterol Hepatol 2023;19(3)</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88%</a:t>
            </a:r>
          </a:p>
        </p:txBody>
      </p:sp>
      <p:sp>
        <p:nvSpPr>
          <p:cNvPr id="15" name="TextBox 14"/>
          <p:cNvSpPr txBox="1"/>
          <p:nvPr/>
        </p:nvSpPr>
        <p:spPr>
          <a:xfrm>
            <a:off x="685800"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Of positive tests: tracer already in the caecum when H2 rose (22 of 25)</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10–220 min</a:t>
            </a:r>
          </a:p>
        </p:txBody>
      </p:sp>
      <p:sp>
        <p:nvSpPr>
          <p:cNvPr id="19" name="TextBox 18"/>
          <p:cNvSpPr txBox="1"/>
          <p:nvPr/>
        </p:nvSpPr>
        <p:spPr>
          <a:xfrm>
            <a:off x="3527298"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Range of orocaecal transit time in the same patients</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35% → 63%</a:t>
            </a:r>
          </a:p>
        </p:txBody>
      </p:sp>
      <p:sp>
        <p:nvSpPr>
          <p:cNvPr id="23" name="TextBox 22"/>
          <p:cNvSpPr txBox="1"/>
          <p:nvPr/>
        </p:nvSpPr>
        <p:spPr>
          <a:xfrm>
            <a:off x="6368796"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Tests read positive at 90 versus 180 minutes</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~83 min</a:t>
            </a:r>
          </a:p>
        </p:txBody>
      </p:sp>
      <p:sp>
        <p:nvSpPr>
          <p:cNvPr id="27" name="TextBox 26"/>
          <p:cNvSpPr txBox="1"/>
          <p:nvPr/>
        </p:nvSpPr>
        <p:spPr>
          <a:xfrm>
            <a:off x="9210294"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Normal scintigraphic orocaecal transit: inside the 90-minute window</a:t>
            </a:r>
          </a:p>
        </p:txBody>
      </p:sp>
      <p:sp>
        <p:nvSpPr>
          <p:cNvPr id="28" name="TextBox 27"/>
          <p:cNvSpPr txBox="1"/>
          <p:nvPr/>
        </p:nvSpPr>
        <p:spPr>
          <a:xfrm>
            <a:off x="548640" y="434340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Lactulose is not absorbed, so it always reaches the colon. When transit is fast, colonic fermentation starts inside the 90-minute window and is read as small-bowel overgrowth.</a:t>
            </a:r>
          </a:p>
          <a:p>
            <a:pPr algn="l">
              <a:spcBef>
                <a:spcPts val="1000"/>
              </a:spcBef>
            </a:pPr>
            <a:r>
              <a:rPr sz="1250" b="1" i="1">
                <a:solidFill>
                  <a:srgbClr val="1A1A1A"/>
                </a:solidFill>
                <a:latin typeface="Abadi"/>
              </a:rPr>
              <a:t>An early lactulose peak tells you when the meal reached the caecum, not that bacteria live upstream.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SIBO — THE REFERENCE</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THERE IS NO GOLD STANDARD</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Why even glucose and culture mislead</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12</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Lim J, Rezaie A. Gastroenterol Hepatol 2023;19(3) (Lin and Massey data; Cangemi data) · Rezaie 2017 · Pimentel 2020</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22 of 46</a:t>
            </a:r>
          </a:p>
        </p:txBody>
      </p:sp>
      <p:sp>
        <p:nvSpPr>
          <p:cNvPr id="15" name="TextBox 14"/>
          <p:cNvSpPr txBox="1"/>
          <p:nvPr/>
        </p:nvSpPr>
        <p:spPr>
          <a:xfrm>
            <a:off x="685800"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Abnormal glucose tests that scintigraphy showed were colonic fermentation</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20 of 22</a:t>
            </a:r>
          </a:p>
        </p:txBody>
      </p:sp>
      <p:sp>
        <p:nvSpPr>
          <p:cNvPr id="19" name="TextBox 18"/>
          <p:cNvSpPr txBox="1"/>
          <p:nvPr/>
        </p:nvSpPr>
        <p:spPr>
          <a:xfrm>
            <a:off x="3527298"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Of those false positives had prior upper GI surgery</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19.6%</a:t>
            </a:r>
          </a:p>
        </p:txBody>
      </p:sp>
      <p:sp>
        <p:nvSpPr>
          <p:cNvPr id="23" name="TextBox 22"/>
          <p:cNvSpPr txBox="1"/>
          <p:nvPr/>
        </p:nvSpPr>
        <p:spPr>
          <a:xfrm>
            <a:off x="6368796"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Contamination of single-lumen aspiration catheters</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anchor="ctr" lIns="36576" rIns="36576" tIns="18288" bIns="18288">
            <a:spAutoFit/>
          </a:bodyPr>
          <a:lstStyle/>
          <a:p>
            <a:pPr algn="ctr"/>
            <a:r>
              <a:rPr sz="3300" b="1" i="0">
                <a:solidFill>
                  <a:srgbClr val="1B355E"/>
                </a:solidFill>
                <a:latin typeface="Abadi"/>
              </a:rPr>
              <a:t>88.9%</a:t>
            </a:r>
          </a:p>
        </p:txBody>
      </p:sp>
      <p:sp>
        <p:nvSpPr>
          <p:cNvPr id="27" name="TextBox 26"/>
          <p:cNvSpPr txBox="1"/>
          <p:nvPr/>
        </p:nvSpPr>
        <p:spPr>
          <a:xfrm>
            <a:off x="9210294"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Consensus agreement that culture is 'unsatisfactory'; if used, above 10^3 CFU/mL</a:t>
            </a:r>
          </a:p>
        </p:txBody>
      </p:sp>
      <p:sp>
        <p:nvSpPr>
          <p:cNvPr id="28" name="TextBox 27"/>
          <p:cNvSpPr txBox="1"/>
          <p:nvPr/>
        </p:nvSpPr>
        <p:spPr>
          <a:xfrm>
            <a:off x="548640" y="434340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Glucose is absorbed in the proximal jejunum, so it misses distal overgrowth but can reach the colon quickly after surgery. Culture samples one site, can be contaminated, and grows only cultivable organisms.</a:t>
            </a:r>
          </a:p>
          <a:p>
            <a:pPr algn="l">
              <a:spcBef>
                <a:spcPts val="1000"/>
              </a:spcBef>
            </a:pPr>
            <a:r>
              <a:rPr sz="1250" b="1" i="1">
                <a:solidFill>
                  <a:srgbClr val="1A1A1A"/>
                </a:solidFill>
                <a:latin typeface="Abadi"/>
              </a:rPr>
              <a:t>Accuracy figures for SIBO tests are measured against a reference that is itself unreliable.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CHILDREN</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A TEST THAT IS POSITIVE IN EVERYONE</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Lactulose breath testing in children with chronic abdominal pain: RCT of rifaximin, 75 children aged 8–18</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13</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Collins BS, Lin HC. JPGN 2011;52:382–6 · J Neurogastroenterol Motil 2022 (Korean glucose breath test series)</a:t>
            </a:r>
          </a:p>
        </p:txBody>
      </p:sp>
      <p:sp>
        <p:nvSpPr>
          <p:cNvPr id="12" name="Rectangle 11"/>
          <p:cNvSpPr/>
          <p:nvPr/>
        </p:nvSpPr>
        <p:spPr>
          <a:xfrm>
            <a:off x="548640"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11680"/>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91% vs 35%</a:t>
            </a:r>
          </a:p>
        </p:txBody>
      </p:sp>
      <p:sp>
        <p:nvSpPr>
          <p:cNvPr id="15" name="TextBox 14"/>
          <p:cNvSpPr txBox="1"/>
          <p:nvPr/>
        </p:nvSpPr>
        <p:spPr>
          <a:xfrm>
            <a:off x="685800"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Abnormal lactulose tests in prior studies: chronic abdominal pain versus healthy controls</a:t>
            </a:r>
          </a:p>
        </p:txBody>
      </p:sp>
      <p:sp>
        <p:nvSpPr>
          <p:cNvPr id="16" name="Rectangle 15"/>
          <p:cNvSpPr/>
          <p:nvPr/>
        </p:nvSpPr>
        <p:spPr>
          <a:xfrm>
            <a:off x="3390138"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2011680"/>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94% / 92%</a:t>
            </a:r>
          </a:p>
        </p:txBody>
      </p:sp>
      <p:sp>
        <p:nvSpPr>
          <p:cNvPr id="19" name="TextBox 18"/>
          <p:cNvSpPr txBox="1"/>
          <p:nvPr/>
        </p:nvSpPr>
        <p:spPr>
          <a:xfrm>
            <a:off x="3527298"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Abnormal at baseline in the rifaximin and placebo groups</a:t>
            </a:r>
          </a:p>
        </p:txBody>
      </p:sp>
      <p:sp>
        <p:nvSpPr>
          <p:cNvPr id="20" name="Rectangle 19"/>
          <p:cNvSpPr/>
          <p:nvPr/>
        </p:nvSpPr>
        <p:spPr>
          <a:xfrm>
            <a:off x="6231636"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011680"/>
            <a:ext cx="2567178" cy="12801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20%</a:t>
            </a:r>
          </a:p>
        </p:txBody>
      </p:sp>
      <p:sp>
        <p:nvSpPr>
          <p:cNvPr id="23" name="TextBox 22"/>
          <p:cNvSpPr txBox="1"/>
          <p:nvPr/>
        </p:nvSpPr>
        <p:spPr>
          <a:xfrm>
            <a:off x="6368796"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Tests that normalised on rifaximin</a:t>
            </a:r>
          </a:p>
        </p:txBody>
      </p:sp>
      <p:sp>
        <p:nvSpPr>
          <p:cNvPr id="24" name="Rectangle 23"/>
          <p:cNvSpPr/>
          <p:nvPr/>
        </p:nvSpPr>
        <p:spPr>
          <a:xfrm>
            <a:off x="9073134" y="2011680"/>
            <a:ext cx="2567178" cy="19019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2011680"/>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331720"/>
            <a:ext cx="2292858" cy="777240"/>
          </a:xfrm>
          <a:prstGeom prst="rect">
            <a:avLst/>
          </a:prstGeom>
          <a:noFill/>
        </p:spPr>
        <p:txBody>
          <a:bodyPr wrap="square" anchor="ctr" lIns="36576" rIns="36576" tIns="18288" bIns="18288">
            <a:spAutoFit/>
          </a:bodyPr>
          <a:lstStyle/>
          <a:p>
            <a:pPr algn="ctr"/>
            <a:r>
              <a:rPr sz="2600" b="1" i="0">
                <a:solidFill>
                  <a:srgbClr val="1B355E"/>
                </a:solidFill>
                <a:latin typeface="Abadi"/>
              </a:rPr>
              <a:t>20.6%</a:t>
            </a:r>
          </a:p>
        </p:txBody>
      </p:sp>
      <p:sp>
        <p:nvSpPr>
          <p:cNvPr id="27" name="TextBox 26"/>
          <p:cNvSpPr txBox="1"/>
          <p:nvPr/>
        </p:nvSpPr>
        <p:spPr>
          <a:xfrm>
            <a:off x="9210294" y="3182112"/>
            <a:ext cx="2292858" cy="685800"/>
          </a:xfrm>
          <a:prstGeom prst="rect">
            <a:avLst/>
          </a:prstGeom>
          <a:noFill/>
        </p:spPr>
        <p:txBody>
          <a:bodyPr wrap="square" anchor="t" lIns="36576" rIns="36576" tIns="18288" bIns="18288">
            <a:spAutoFit/>
          </a:bodyPr>
          <a:lstStyle/>
          <a:p>
            <a:pPr algn="ctr"/>
            <a:r>
              <a:rPr sz="1100" b="0" i="0">
                <a:solidFill>
                  <a:srgbClr val="1A1A1A"/>
                </a:solidFill>
                <a:latin typeface="Abadi"/>
              </a:rPr>
              <a:t>SIBO by glucose test in 68 children with functional abdominal pain</a:t>
            </a:r>
          </a:p>
        </p:txBody>
      </p:sp>
      <p:sp>
        <p:nvSpPr>
          <p:cNvPr id="28" name="TextBox 27"/>
          <p:cNvSpPr txBox="1"/>
          <p:nvPr/>
        </p:nvSpPr>
        <p:spPr>
          <a:xfrm>
            <a:off x="548640" y="4343400"/>
            <a:ext cx="11091672" cy="896112"/>
          </a:xfrm>
          <a:prstGeom prst="rect">
            <a:avLst/>
          </a:prstGeom>
          <a:noFill/>
        </p:spPr>
        <p:txBody>
          <a:bodyPr wrap="square" anchor="t" lIns="36576" rIns="36576" tIns="18288" bIns="18288">
            <a:spAutoFit/>
          </a:bodyPr>
          <a:lstStyle/>
          <a:p>
            <a:pPr algn="l"/>
            <a:r>
              <a:rPr sz="1250" b="0" i="0">
                <a:solidFill>
                  <a:srgbClr val="1A1A1A"/>
                </a:solidFill>
                <a:latin typeface="Abadi"/>
              </a:rPr>
              <a:t>Symptom response did not differ between rifaximin and placebo. Glucose testing gave a far lower positive rate than lactulose in children with functional pain.</a:t>
            </a:r>
          </a:p>
          <a:p>
            <a:pPr algn="l">
              <a:spcBef>
                <a:spcPts val="1000"/>
              </a:spcBef>
            </a:pPr>
            <a:r>
              <a:rPr sz="1250" b="1" i="1">
                <a:solidFill>
                  <a:srgbClr val="1A1A1A"/>
                </a:solidFill>
                <a:latin typeface="Abadi"/>
              </a:rPr>
              <a:t>In paediatric functional pain a lactulose test adds a label, not a treatment target.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BEYOND HYDROGEN</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METHANE, NON-PRODUCERS AND H2S</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The gases that change interpretation</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14</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Rezaie 2017 · Pimentel 2020 · Gasbarrini 2009 · Cloarec D, et al. Gut 1990 · Montes 1993 Dig Dis Sci</a:t>
            </a:r>
          </a:p>
        </p:txBody>
      </p:sp>
      <p:sp>
        <p:nvSpPr>
          <p:cNvPr id="12" name="Rectangle 11"/>
          <p:cNvSpPr/>
          <p:nvPr/>
        </p:nvSpPr>
        <p:spPr>
          <a:xfrm>
            <a:off x="548640" y="1773936"/>
            <a:ext cx="2567178" cy="29718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Methane</a:t>
            </a:r>
          </a:p>
        </p:txBody>
      </p:sp>
      <p:sp>
        <p:nvSpPr>
          <p:cNvPr id="15" name="TextBox 14"/>
          <p:cNvSpPr txBox="1"/>
          <p:nvPr/>
        </p:nvSpPr>
        <p:spPr>
          <a:xfrm>
            <a:off x="768096" y="2560320"/>
            <a:ext cx="2128266" cy="2057400"/>
          </a:xfrm>
          <a:prstGeom prst="rect">
            <a:avLst/>
          </a:prstGeom>
          <a:noFill/>
        </p:spPr>
        <p:txBody>
          <a:bodyPr wrap="square" anchor="t" lIns="36576" rIns="36576" tIns="18288" bIns="18288">
            <a:spAutoFit/>
          </a:bodyPr>
          <a:lstStyle/>
          <a:p>
            <a:pPr algn="l"/>
            <a:r>
              <a:rPr sz="1150" b="0" i="0">
                <a:solidFill>
                  <a:srgbClr val="1A1A1A"/>
                </a:solidFill>
                <a:latin typeface="Abadi"/>
              </a:rPr>
              <a:t>▪  10 ppm or more at any time</a:t>
            </a:r>
          </a:p>
          <a:p>
            <a:pPr algn="l">
              <a:spcBef>
                <a:spcPts val="600"/>
              </a:spcBef>
            </a:pPr>
            <a:r>
              <a:rPr sz="1150" b="0" i="0">
                <a:solidFill>
                  <a:srgbClr val="1A1A1A"/>
                </a:solidFill>
                <a:latin typeface="Abadi"/>
              </a:rPr>
              <a:t>▪  Now 'intestinal methanogen overgrowth'</a:t>
            </a:r>
          </a:p>
          <a:p>
            <a:pPr algn="l">
              <a:spcBef>
                <a:spcPts val="600"/>
              </a:spcBef>
            </a:pPr>
            <a:r>
              <a:rPr sz="1150" b="0" i="0">
                <a:solidFill>
                  <a:srgbClr val="1A1A1A"/>
                </a:solidFill>
                <a:latin typeface="Abadi"/>
              </a:rPr>
              <a:t>▪  Fasting CH4 ≥ 10 ppm: sensitivity 86.4%, specificity 100%</a:t>
            </a:r>
          </a:p>
        </p:txBody>
      </p:sp>
      <p:sp>
        <p:nvSpPr>
          <p:cNvPr id="16" name="Rectangle 15"/>
          <p:cNvSpPr/>
          <p:nvPr/>
        </p:nvSpPr>
        <p:spPr>
          <a:xfrm>
            <a:off x="3390138" y="1773936"/>
            <a:ext cx="2567178" cy="29718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9594"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Non-producers</a:t>
            </a:r>
          </a:p>
        </p:txBody>
      </p:sp>
      <p:sp>
        <p:nvSpPr>
          <p:cNvPr id="19" name="TextBox 18"/>
          <p:cNvSpPr txBox="1"/>
          <p:nvPr/>
        </p:nvSpPr>
        <p:spPr>
          <a:xfrm>
            <a:off x="3609594" y="2560320"/>
            <a:ext cx="2128266" cy="2057400"/>
          </a:xfrm>
          <a:prstGeom prst="rect">
            <a:avLst/>
          </a:prstGeom>
          <a:noFill/>
        </p:spPr>
        <p:txBody>
          <a:bodyPr wrap="square" anchor="t" lIns="36576" rIns="36576" tIns="18288" bIns="18288">
            <a:spAutoFit/>
          </a:bodyPr>
          <a:lstStyle/>
          <a:p>
            <a:pPr algn="l"/>
            <a:r>
              <a:rPr sz="1150" b="0" i="0">
                <a:solidFill>
                  <a:srgbClr val="1A1A1A"/>
                </a:solidFill>
                <a:latin typeface="Abadi"/>
              </a:rPr>
              <a:t>▪  2–43% make no H2</a:t>
            </a:r>
          </a:p>
          <a:p>
            <a:pPr algn="l">
              <a:spcBef>
                <a:spcPts val="600"/>
              </a:spcBef>
            </a:pPr>
            <a:r>
              <a:rPr sz="1150" b="0" i="0">
                <a:solidFill>
                  <a:srgbClr val="1A1A1A"/>
                </a:solidFill>
                <a:latin typeface="Abadi"/>
              </a:rPr>
              <a:t>▪  Falls as tests run longer</a:t>
            </a:r>
          </a:p>
          <a:p>
            <a:pPr algn="l">
              <a:spcBef>
                <a:spcPts val="600"/>
              </a:spcBef>
            </a:pPr>
            <a:r>
              <a:rPr sz="1150" b="0" i="0">
                <a:solidFill>
                  <a:srgbClr val="1A1A1A"/>
                </a:solidFill>
                <a:latin typeface="Abadi"/>
              </a:rPr>
              <a:t>▪  Flat curve is not a negative test</a:t>
            </a:r>
          </a:p>
        </p:txBody>
      </p:sp>
      <p:sp>
        <p:nvSpPr>
          <p:cNvPr id="20" name="Rectangle 19"/>
          <p:cNvSpPr/>
          <p:nvPr/>
        </p:nvSpPr>
        <p:spPr>
          <a:xfrm>
            <a:off x="6231636" y="1773936"/>
            <a:ext cx="2567178" cy="29718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1092"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Producers</a:t>
            </a:r>
          </a:p>
        </p:txBody>
      </p:sp>
      <p:sp>
        <p:nvSpPr>
          <p:cNvPr id="23" name="TextBox 22"/>
          <p:cNvSpPr txBox="1"/>
          <p:nvPr/>
        </p:nvSpPr>
        <p:spPr>
          <a:xfrm>
            <a:off x="6451092" y="2560320"/>
            <a:ext cx="2128266" cy="2057400"/>
          </a:xfrm>
          <a:prstGeom prst="rect">
            <a:avLst/>
          </a:prstGeom>
          <a:noFill/>
        </p:spPr>
        <p:txBody>
          <a:bodyPr wrap="square" anchor="t" lIns="36576" rIns="36576" tIns="18288" bIns="18288">
            <a:spAutoFit/>
          </a:bodyPr>
          <a:lstStyle/>
          <a:p>
            <a:pPr algn="l"/>
            <a:r>
              <a:rPr sz="1150" b="0" i="0">
                <a:solidFill>
                  <a:srgbClr val="1A1A1A"/>
                </a:solidFill>
                <a:latin typeface="Abadi"/>
              </a:rPr>
              <a:t>▪  62% of 65 healthy volunteers made methane</a:t>
            </a:r>
          </a:p>
          <a:p>
            <a:pPr algn="l">
              <a:spcBef>
                <a:spcPts val="600"/>
              </a:spcBef>
            </a:pPr>
            <a:r>
              <a:rPr sz="1150" b="0" i="0">
                <a:solidFill>
                  <a:srgbClr val="1A1A1A"/>
                </a:solidFill>
                <a:latin typeface="Abadi"/>
              </a:rPr>
              <a:t>▪  CH4 and H2 rises correlate (r = 0.6) in children</a:t>
            </a:r>
          </a:p>
          <a:p>
            <a:pPr algn="l">
              <a:spcBef>
                <a:spcPts val="600"/>
              </a:spcBef>
            </a:pPr>
            <a:r>
              <a:rPr sz="1150" b="0" i="0">
                <a:solidFill>
                  <a:srgbClr val="1A1A1A"/>
                </a:solidFill>
                <a:latin typeface="Abadi"/>
              </a:rPr>
              <a:t>▪  Measure both gases</a:t>
            </a:r>
          </a:p>
        </p:txBody>
      </p:sp>
      <p:sp>
        <p:nvSpPr>
          <p:cNvPr id="24" name="Rectangle 23"/>
          <p:cNvSpPr/>
          <p:nvPr/>
        </p:nvSpPr>
        <p:spPr>
          <a:xfrm>
            <a:off x="9073134" y="1773936"/>
            <a:ext cx="2567178" cy="29718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2590" y="2066543"/>
            <a:ext cx="2128266" cy="384048"/>
          </a:xfrm>
          <a:prstGeom prst="rect">
            <a:avLst/>
          </a:prstGeom>
          <a:noFill/>
        </p:spPr>
        <p:txBody>
          <a:bodyPr wrap="square" anchor="t" lIns="36576" rIns="36576" tIns="18288" bIns="18288">
            <a:spAutoFit/>
          </a:bodyPr>
          <a:lstStyle/>
          <a:p>
            <a:pPr algn="l"/>
            <a:r>
              <a:rPr sz="1600" b="1" i="0">
                <a:solidFill>
                  <a:srgbClr val="1A1A1A"/>
                </a:solidFill>
                <a:latin typeface="Abadi"/>
              </a:rPr>
              <a:t>H2S</a:t>
            </a:r>
          </a:p>
        </p:txBody>
      </p:sp>
      <p:sp>
        <p:nvSpPr>
          <p:cNvPr id="27" name="TextBox 26"/>
          <p:cNvSpPr txBox="1"/>
          <p:nvPr/>
        </p:nvSpPr>
        <p:spPr>
          <a:xfrm>
            <a:off x="9292590" y="2560320"/>
            <a:ext cx="2128266" cy="2057400"/>
          </a:xfrm>
          <a:prstGeom prst="rect">
            <a:avLst/>
          </a:prstGeom>
          <a:noFill/>
        </p:spPr>
        <p:txBody>
          <a:bodyPr wrap="square" anchor="t" lIns="36576" rIns="36576" tIns="18288" bIns="18288">
            <a:spAutoFit/>
          </a:bodyPr>
          <a:lstStyle/>
          <a:p>
            <a:pPr algn="l"/>
            <a:r>
              <a:rPr sz="1150" b="0" i="0">
                <a:solidFill>
                  <a:srgbClr val="1A1A1A"/>
                </a:solidFill>
                <a:latin typeface="Abadi"/>
              </a:rPr>
              <a:t>▪  Three-gas device on the market</a:t>
            </a:r>
          </a:p>
          <a:p>
            <a:pPr algn="l">
              <a:spcBef>
                <a:spcPts val="600"/>
              </a:spcBef>
            </a:pPr>
            <a:r>
              <a:rPr sz="1150" b="0" i="0">
                <a:solidFill>
                  <a:srgbClr val="1A1A1A"/>
                </a:solidFill>
                <a:latin typeface="Abadi"/>
              </a:rPr>
              <a:t>▪  No guideline mentions it</a:t>
            </a:r>
          </a:p>
          <a:p>
            <a:pPr algn="l">
              <a:spcBef>
                <a:spcPts val="600"/>
              </a:spcBef>
            </a:pPr>
            <a:r>
              <a:rPr sz="1150" b="0" i="0">
                <a:solidFill>
                  <a:srgbClr val="1A1A1A"/>
                </a:solidFill>
                <a:latin typeface="Abadi"/>
              </a:rPr>
              <a:t>▪  No accuracy data against culture</a:t>
            </a:r>
          </a:p>
        </p:txBody>
      </p:sp>
      <p:sp>
        <p:nvSpPr>
          <p:cNvPr id="28" name="TextBox 27"/>
          <p:cNvSpPr txBox="1"/>
          <p:nvPr/>
        </p:nvSpPr>
        <p:spPr>
          <a:xfrm>
            <a:off x="548640" y="4983480"/>
            <a:ext cx="11091672" cy="822960"/>
          </a:xfrm>
          <a:prstGeom prst="rect">
            <a:avLst/>
          </a:prstGeom>
          <a:noFill/>
        </p:spPr>
        <p:txBody>
          <a:bodyPr wrap="square" anchor="t" lIns="36576" rIns="36576" tIns="18288" bIns="18288">
            <a:spAutoFit/>
          </a:bodyPr>
          <a:lstStyle/>
          <a:p>
            <a:pPr algn="l"/>
            <a:r>
              <a:rPr sz="1250" b="0" i="0">
                <a:solidFill>
                  <a:srgbClr val="1A1A1A"/>
                </a:solidFill>
                <a:latin typeface="Abadi"/>
              </a:rPr>
              <a:t>ACG 2020 recommends methane testing to diagnose IMO in constipation (conditional, very low quality). Methanogens are archaea, not bacteria, hence the new name.</a:t>
            </a:r>
          </a:p>
          <a:p>
            <a:pPr algn="l">
              <a:spcBef>
                <a:spcPts val="1000"/>
              </a:spcBef>
            </a:pPr>
            <a:r>
              <a:rPr sz="1250" b="1" i="1">
                <a:solidFill>
                  <a:srgbClr val="1A1A1A"/>
                </a:solidFill>
                <a:latin typeface="Abadi"/>
              </a:rPr>
              <a:t>A flat hydrogen curve without methane data is uninterpretable.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13C-UREA BREATH TEST</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WEAKER UNDER SIX</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Accuracy of the 13C-urea breath test in children: meta-analysis of 31 studies, 4,037 children,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15</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Leal YA, et al. Helicobacter 2011;16:327–37 · Homan M, et al. JPGN 2024;79:758–85</a:t>
            </a:r>
          </a:p>
        </p:txBody>
      </p:sp>
      <p:sp>
        <p:nvSpPr>
          <p:cNvPr id="12" name="Rectangle 11"/>
          <p:cNvSpPr/>
          <p:nvPr/>
        </p:nvSpPr>
        <p:spPr>
          <a:xfrm>
            <a:off x="1495043" y="2562606"/>
            <a:ext cx="685800" cy="219227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6443" y="2334006"/>
            <a:ext cx="1143000" cy="219456"/>
          </a:xfrm>
          <a:prstGeom prst="rect">
            <a:avLst/>
          </a:prstGeom>
          <a:noFill/>
        </p:spPr>
        <p:txBody>
          <a:bodyPr wrap="square" anchor="t" lIns="36576" rIns="36576" tIns="18288" bIns="18288">
            <a:spAutoFit/>
          </a:bodyPr>
          <a:lstStyle/>
          <a:p>
            <a:pPr algn="ctr"/>
            <a:r>
              <a:rPr sz="1000" b="1" i="0">
                <a:solidFill>
                  <a:srgbClr val="1B355E"/>
                </a:solidFill>
                <a:latin typeface="Abadi"/>
              </a:rPr>
              <a:t>95.9%</a:t>
            </a:r>
          </a:p>
        </p:txBody>
      </p:sp>
      <p:sp>
        <p:nvSpPr>
          <p:cNvPr id="14" name="Rectangle 13"/>
          <p:cNvSpPr/>
          <p:nvPr/>
        </p:nvSpPr>
        <p:spPr>
          <a:xfrm>
            <a:off x="2208276" y="2567178"/>
            <a:ext cx="685800" cy="218770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79676" y="2338578"/>
            <a:ext cx="1143000" cy="219456"/>
          </a:xfrm>
          <a:prstGeom prst="rect">
            <a:avLst/>
          </a:prstGeom>
          <a:noFill/>
        </p:spPr>
        <p:txBody>
          <a:bodyPr wrap="square" anchor="t" lIns="36576" rIns="36576" tIns="18288" bIns="18288">
            <a:spAutoFit/>
          </a:bodyPr>
          <a:lstStyle/>
          <a:p>
            <a:pPr algn="ctr"/>
            <a:r>
              <a:rPr sz="1000" b="1" i="0">
                <a:solidFill>
                  <a:srgbClr val="1B355E"/>
                </a:solidFill>
                <a:latin typeface="Abadi"/>
              </a:rPr>
              <a:t>95.7%</a:t>
            </a:r>
          </a:p>
        </p:txBody>
      </p:sp>
      <p:sp>
        <p:nvSpPr>
          <p:cNvPr id="16" name="TextBox 15"/>
          <p:cNvSpPr txBox="1"/>
          <p:nvPr/>
        </p:nvSpPr>
        <p:spPr>
          <a:xfrm>
            <a:off x="128016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All children</a:t>
            </a:r>
          </a:p>
        </p:txBody>
      </p:sp>
      <p:sp>
        <p:nvSpPr>
          <p:cNvPr id="17" name="Rectangle 16"/>
          <p:cNvSpPr/>
          <p:nvPr/>
        </p:nvSpPr>
        <p:spPr>
          <a:xfrm>
            <a:off x="3323844" y="2583180"/>
            <a:ext cx="685800" cy="21717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5244" y="2354580"/>
            <a:ext cx="1143000" cy="219456"/>
          </a:xfrm>
          <a:prstGeom prst="rect">
            <a:avLst/>
          </a:prstGeom>
          <a:noFill/>
        </p:spPr>
        <p:txBody>
          <a:bodyPr wrap="square" anchor="t" lIns="36576" rIns="36576" tIns="18288" bIns="18288">
            <a:spAutoFit/>
          </a:bodyPr>
          <a:lstStyle/>
          <a:p>
            <a:pPr algn="ctr"/>
            <a:r>
              <a:rPr sz="1000" b="1" i="0">
                <a:solidFill>
                  <a:srgbClr val="1B355E"/>
                </a:solidFill>
                <a:latin typeface="Abadi"/>
              </a:rPr>
              <a:t>95%</a:t>
            </a:r>
          </a:p>
        </p:txBody>
      </p:sp>
      <p:sp>
        <p:nvSpPr>
          <p:cNvPr id="19" name="Rectangle 18"/>
          <p:cNvSpPr/>
          <p:nvPr/>
        </p:nvSpPr>
        <p:spPr>
          <a:xfrm>
            <a:off x="4037076" y="2617470"/>
            <a:ext cx="685800" cy="2137410"/>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08476" y="2388870"/>
            <a:ext cx="1143000" cy="219456"/>
          </a:xfrm>
          <a:prstGeom prst="rect">
            <a:avLst/>
          </a:prstGeom>
          <a:noFill/>
        </p:spPr>
        <p:txBody>
          <a:bodyPr wrap="square" anchor="t" lIns="36576" rIns="36576" tIns="18288" bIns="18288">
            <a:spAutoFit/>
          </a:bodyPr>
          <a:lstStyle/>
          <a:p>
            <a:pPr algn="ctr"/>
            <a:r>
              <a:rPr sz="1000" b="1" i="0">
                <a:solidFill>
                  <a:srgbClr val="1B355E"/>
                </a:solidFill>
                <a:latin typeface="Abadi"/>
              </a:rPr>
              <a:t>93.5%</a:t>
            </a:r>
          </a:p>
        </p:txBody>
      </p:sp>
      <p:sp>
        <p:nvSpPr>
          <p:cNvPr id="21" name="TextBox 20"/>
          <p:cNvSpPr txBox="1"/>
          <p:nvPr/>
        </p:nvSpPr>
        <p:spPr>
          <a:xfrm>
            <a:off x="310896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6 years or under</a:t>
            </a:r>
          </a:p>
        </p:txBody>
      </p:sp>
      <p:sp>
        <p:nvSpPr>
          <p:cNvPr id="22" name="Rectangle 21"/>
          <p:cNvSpPr/>
          <p:nvPr/>
        </p:nvSpPr>
        <p:spPr>
          <a:xfrm>
            <a:off x="5152644" y="2546604"/>
            <a:ext cx="685800" cy="220827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24044" y="2318004"/>
            <a:ext cx="1143000" cy="219456"/>
          </a:xfrm>
          <a:prstGeom prst="rect">
            <a:avLst/>
          </a:prstGeom>
          <a:noFill/>
        </p:spPr>
        <p:txBody>
          <a:bodyPr wrap="square" anchor="t" lIns="36576" rIns="36576" tIns="18288" bIns="18288">
            <a:spAutoFit/>
          </a:bodyPr>
          <a:lstStyle/>
          <a:p>
            <a:pPr algn="ctr"/>
            <a:r>
              <a:rPr sz="1000" b="1" i="0">
                <a:solidFill>
                  <a:srgbClr val="1B355E"/>
                </a:solidFill>
                <a:latin typeface="Abadi"/>
              </a:rPr>
              <a:t>96.6%</a:t>
            </a:r>
          </a:p>
        </p:txBody>
      </p:sp>
      <p:sp>
        <p:nvSpPr>
          <p:cNvPr id="24" name="Rectangle 23"/>
          <p:cNvSpPr/>
          <p:nvPr/>
        </p:nvSpPr>
        <p:spPr>
          <a:xfrm>
            <a:off x="5865876" y="2521458"/>
            <a:ext cx="685800" cy="223342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37276" y="2292858"/>
            <a:ext cx="1143000" cy="219456"/>
          </a:xfrm>
          <a:prstGeom prst="rect">
            <a:avLst/>
          </a:prstGeom>
          <a:noFill/>
        </p:spPr>
        <p:txBody>
          <a:bodyPr wrap="square" anchor="t" lIns="36576" rIns="36576" tIns="18288" bIns="18288">
            <a:spAutoFit/>
          </a:bodyPr>
          <a:lstStyle/>
          <a:p>
            <a:pPr algn="ctr"/>
            <a:r>
              <a:rPr sz="1000" b="1" i="0">
                <a:solidFill>
                  <a:srgbClr val="1B355E"/>
                </a:solidFill>
                <a:latin typeface="Abadi"/>
              </a:rPr>
              <a:t>97.7%</a:t>
            </a:r>
          </a:p>
        </p:txBody>
      </p:sp>
      <p:sp>
        <p:nvSpPr>
          <p:cNvPr id="26" name="TextBox 25"/>
          <p:cNvSpPr txBox="1"/>
          <p:nvPr/>
        </p:nvSpPr>
        <p:spPr>
          <a:xfrm>
            <a:off x="4937760" y="4818888"/>
            <a:ext cx="1828800" cy="365760"/>
          </a:xfrm>
          <a:prstGeom prst="rect">
            <a:avLst/>
          </a:prstGeom>
          <a:noFill/>
        </p:spPr>
        <p:txBody>
          <a:bodyPr wrap="square" anchor="t" lIns="36576" rIns="36576" tIns="18288" bIns="18288">
            <a:spAutoFit/>
          </a:bodyPr>
          <a:lstStyle/>
          <a:p>
            <a:pPr algn="ctr"/>
            <a:r>
              <a:rPr sz="1000" b="0" i="0">
                <a:solidFill>
                  <a:srgbClr val="1A1A1A"/>
                </a:solidFill>
                <a:latin typeface="Abadi"/>
              </a:rPr>
              <a:t>Over 6 years</a:t>
            </a:r>
          </a:p>
        </p:txBody>
      </p:sp>
      <p:sp>
        <p:nvSpPr>
          <p:cNvPr id="27" name="Rectangle 26"/>
          <p:cNvSpPr/>
          <p:nvPr/>
        </p:nvSpPr>
        <p:spPr>
          <a:xfrm>
            <a:off x="1280160" y="4754880"/>
            <a:ext cx="5486400"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0160" y="1783080"/>
            <a:ext cx="4572000" cy="237744"/>
          </a:xfrm>
          <a:prstGeom prst="rect">
            <a:avLst/>
          </a:prstGeom>
          <a:noFill/>
        </p:spPr>
        <p:txBody>
          <a:bodyPr wrap="square" anchor="t" lIns="36576" rIns="36576" tIns="18288" bIns="18288">
            <a:spAutoFit/>
          </a:bodyPr>
          <a:lstStyle/>
          <a:p>
            <a:pPr algn="l"/>
            <a:r>
              <a:rPr sz="1000" b="0" i="0">
                <a:solidFill>
                  <a:srgbClr val="555555"/>
                </a:solidFill>
                <a:latin typeface="Abadi"/>
              </a:rPr>
              <a:t>%</a:t>
            </a:r>
          </a:p>
        </p:txBody>
      </p:sp>
      <p:sp>
        <p:nvSpPr>
          <p:cNvPr id="29" name="Rectangle 28"/>
          <p:cNvSpPr/>
          <p:nvPr/>
        </p:nvSpPr>
        <p:spPr>
          <a:xfrm>
            <a:off x="5454396" y="1819656"/>
            <a:ext cx="201168" cy="146304"/>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10428" y="1783080"/>
            <a:ext cx="1129284" cy="237744"/>
          </a:xfrm>
          <a:prstGeom prst="rect">
            <a:avLst/>
          </a:prstGeom>
          <a:noFill/>
        </p:spPr>
        <p:txBody>
          <a:bodyPr wrap="square" anchor="t" lIns="36576" rIns="36576" tIns="18288" bIns="18288">
            <a:spAutoFit/>
          </a:bodyPr>
          <a:lstStyle/>
          <a:p>
            <a:pPr algn="l"/>
            <a:r>
              <a:rPr sz="1000" b="0" i="0">
                <a:solidFill>
                  <a:srgbClr val="1A1A1A"/>
                </a:solidFill>
                <a:latin typeface="Abadi"/>
              </a:rPr>
              <a:t>Specificity</a:t>
            </a:r>
          </a:p>
        </p:txBody>
      </p:sp>
      <p:sp>
        <p:nvSpPr>
          <p:cNvPr id="31" name="Rectangle 30"/>
          <p:cNvSpPr/>
          <p:nvPr/>
        </p:nvSpPr>
        <p:spPr>
          <a:xfrm>
            <a:off x="4142231" y="1819656"/>
            <a:ext cx="201168" cy="14630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98264" y="1783080"/>
            <a:ext cx="1129284" cy="237744"/>
          </a:xfrm>
          <a:prstGeom prst="rect">
            <a:avLst/>
          </a:prstGeom>
          <a:noFill/>
        </p:spPr>
        <p:txBody>
          <a:bodyPr wrap="square" anchor="t" lIns="36576" rIns="36576" tIns="18288" bIns="18288">
            <a:spAutoFit/>
          </a:bodyPr>
          <a:lstStyle/>
          <a:p>
            <a:pPr algn="l"/>
            <a:r>
              <a:rPr sz="1000" b="0" i="0">
                <a:solidFill>
                  <a:srgbClr val="1A1A1A"/>
                </a:solidFill>
                <a:latin typeface="Abadi"/>
              </a:rPr>
              <a:t>Sensitivity</a:t>
            </a:r>
          </a:p>
        </p:txBody>
      </p:sp>
      <p:sp>
        <p:nvSpPr>
          <p:cNvPr id="33" name="TextBox 32"/>
          <p:cNvSpPr txBox="1"/>
          <p:nvPr/>
        </p:nvSpPr>
        <p:spPr>
          <a:xfrm>
            <a:off x="7315200" y="1874519"/>
            <a:ext cx="4325112" cy="2926080"/>
          </a:xfrm>
          <a:prstGeom prst="rect">
            <a:avLst/>
          </a:prstGeom>
          <a:noFill/>
        </p:spPr>
        <p:txBody>
          <a:bodyPr wrap="square" anchor="t" lIns="36576" rIns="36576" tIns="18288" bIns="18288">
            <a:spAutoFit/>
          </a:bodyPr>
          <a:lstStyle/>
          <a:p>
            <a:pPr algn="l"/>
            <a:r>
              <a:rPr sz="1300" b="1" i="0">
                <a:solidFill>
                  <a:srgbClr val="2E5A88"/>
                </a:solidFill>
                <a:latin typeface="Abadi"/>
              </a:rPr>
              <a:t>Why younger children differ</a:t>
            </a:r>
          </a:p>
          <a:p>
            <a:pPr algn="l">
              <a:spcBef>
                <a:spcPts val="600"/>
              </a:spcBef>
            </a:pPr>
            <a:r>
              <a:rPr sz="1200" b="0" i="0">
                <a:solidFill>
                  <a:srgbClr val="1A1A1A"/>
                </a:solidFill>
                <a:latin typeface="Abadi"/>
              </a:rPr>
              <a:t>Smaller distribution volume, different CO2 production and urease from oral flora give false positives (Homan 2023).</a:t>
            </a:r>
          </a:p>
          <a:p>
            <a:pPr algn="l">
              <a:spcBef>
                <a:spcPts val="1000"/>
              </a:spcBef>
            </a:pPr>
            <a:r>
              <a:rPr sz="1300" b="1" i="0">
                <a:solidFill>
                  <a:srgbClr val="2E5A88"/>
                </a:solidFill>
                <a:latin typeface="Abadi"/>
              </a:rPr>
              <a:t>Cut-off</a:t>
            </a:r>
          </a:p>
          <a:p>
            <a:pPr algn="l">
              <a:spcBef>
                <a:spcPts val="600"/>
              </a:spcBef>
            </a:pPr>
            <a:r>
              <a:rPr sz="1200" b="0" i="0">
                <a:solidFill>
                  <a:srgbClr val="1A1A1A"/>
                </a:solidFill>
                <a:latin typeface="Abadi"/>
              </a:rPr>
              <a:t>Delta over baseline usually above 4 per mil; some paediatric studies used 2.4. 14C tests are not used in children.</a:t>
            </a:r>
          </a:p>
        </p:txBody>
      </p:sp>
      <p:sp>
        <p:nvSpPr>
          <p:cNvPr id="34" name="TextBox 33"/>
          <p:cNvSpPr txBox="1"/>
          <p:nvPr/>
        </p:nvSpPr>
        <p:spPr>
          <a:xfrm>
            <a:off x="548640" y="5074920"/>
            <a:ext cx="11091672" cy="457200"/>
          </a:xfrm>
          <a:prstGeom prst="rect">
            <a:avLst/>
          </a:prstGeom>
          <a:noFill/>
        </p:spPr>
        <p:txBody>
          <a:bodyPr wrap="square" anchor="t" lIns="36576" rIns="36576" tIns="18288" bIns="18288">
            <a:spAutoFit/>
          </a:bodyPr>
          <a:lstStyle/>
          <a:p>
            <a:pPr algn="l"/>
            <a:r>
              <a:rPr sz="1250" b="1" i="1">
                <a:solidFill>
                  <a:srgbClr val="1A1A1A"/>
                </a:solidFill>
                <a:latin typeface="Abadi"/>
              </a:rPr>
              <a:t>The urea breath test is excellent in schoolchildren; under six, a positive result deserves a second method.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13C-UREA IN PRACTICE</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A TEST OF CURE, NOT OF DIAGNOSIS</a:t>
            </a:r>
          </a:p>
        </p:txBody>
      </p:sp>
      <p:sp>
        <p:nvSpPr>
          <p:cNvPr id="6" name="TextBox 5"/>
          <p:cNvSpPr txBox="1"/>
          <p:nvPr/>
        </p:nvSpPr>
        <p:spPr>
          <a:xfrm>
            <a:off x="548640" y="1316736"/>
            <a:ext cx="11091672" cy="274320"/>
          </a:xfrm>
          <a:prstGeom prst="rect">
            <a:avLst/>
          </a:prstGeom>
          <a:noFill/>
        </p:spPr>
        <p:txBody>
          <a:bodyPr wrap="square" anchor="t" lIns="36576" rIns="36576" tIns="18288" bIns="18288">
            <a:spAutoFit/>
          </a:bodyPr>
          <a:lstStyle/>
          <a:p>
            <a:pPr algn="l"/>
            <a:r>
              <a:rPr sz="1300" b="0" i="1">
                <a:solidFill>
                  <a:srgbClr val="555555"/>
                </a:solidFill>
                <a:latin typeface="Abadi"/>
              </a:rPr>
              <a:t>Joint ESPGHAN/NASPGHAN H. pylori guideline 2023: how the breath test is used</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16</a:t>
            </a:r>
          </a:p>
        </p:txBody>
      </p:sp>
      <p:sp>
        <p:nvSpPr>
          <p:cNvPr id="11" name="TextBox 10"/>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Homan M, et al. JPGN 2024;79:758–85 · Broekaert IJ, et al. JPGN 2022;74:123–38</a:t>
            </a:r>
          </a:p>
        </p:txBody>
      </p:sp>
      <p:graphicFrame>
        <p:nvGraphicFramePr>
          <p:cNvPr id="12" name="Table 11"/>
          <p:cNvGraphicFramePr>
            <a:graphicFrameLocks noGrp="1"/>
          </p:cNvGraphicFramePr>
          <p:nvPr/>
        </p:nvGraphicFramePr>
        <p:xfrm>
          <a:off x="548640" y="1773936"/>
          <a:ext cx="11091672" cy="3273552"/>
        </p:xfrm>
        <a:graphic>
          <a:graphicData uri="http://schemas.openxmlformats.org/drawingml/2006/table">
            <a:tbl>
              <a:tblPr firstRow="0" bandRow="0">
                <a:tableStyleId>{5C22544A-7EE6-4342-B048-85BDC9FD1C3A}</a:tableStyleId>
              </a:tblPr>
              <a:tblGrid>
                <a:gridCol w="2377440"/>
                <a:gridCol w="4937760"/>
                <a:gridCol w="3776472"/>
              </a:tblGrid>
              <a:tr h="420624">
                <a:tc>
                  <a:txBody>
                    <a:bodyPr wrap="square"/>
                    <a:lstStyle/>
                    <a:p>
                      <a:r>
                        <a:rPr sz="1200" b="1">
                          <a:solidFill>
                            <a:srgbClr val="FFFFFF"/>
                          </a:solidFill>
                          <a:latin typeface="Abadi"/>
                        </a:rPr>
                        <a:t>Question</a:t>
                      </a:r>
                    </a:p>
                  </a:txBody>
                  <a:tcPr anchor="ctr" marL="73152" marR="73152" marT="27432" marB="27432">
                    <a:solidFill>
                      <a:srgbClr val="1B355E"/>
                    </a:solidFill>
                  </a:tcPr>
                </a:tc>
                <a:tc>
                  <a:txBody>
                    <a:bodyPr wrap="square"/>
                    <a:lstStyle/>
                    <a:p>
                      <a:r>
                        <a:rPr sz="1200" b="1">
                          <a:solidFill>
                            <a:srgbClr val="FFFFFF"/>
                          </a:solidFill>
                          <a:latin typeface="Abadi"/>
                        </a:rPr>
                        <a:t>Recommendation</a:t>
                      </a:r>
                    </a:p>
                  </a:txBody>
                  <a:tcPr anchor="ctr" marL="73152" marR="73152" marT="27432" marB="27432">
                    <a:solidFill>
                      <a:srgbClr val="1B355E"/>
                    </a:solidFill>
                  </a:tcPr>
                </a:tc>
                <a:tc>
                  <a:txBody>
                    <a:bodyPr wrap="square"/>
                    <a:lstStyle/>
                    <a:p>
                      <a:r>
                        <a:rPr sz="1200" b="1">
                          <a:solidFill>
                            <a:srgbClr val="FFFFFF"/>
                          </a:solidFill>
                          <a:latin typeface="Abadi"/>
                        </a:rPr>
                        <a:t>Strength or reason</a:t>
                      </a:r>
                    </a:p>
                  </a:txBody>
                  <a:tcPr anchor="ctr" marL="73152" marR="73152" marT="27432" marB="27432">
                    <a:solidFill>
                      <a:srgbClr val="1B355E"/>
                    </a:solidFill>
                  </a:tcPr>
                </a:tc>
              </a:tr>
              <a:tr h="475488">
                <a:tc>
                  <a:txBody>
                    <a:bodyPr wrap="square"/>
                    <a:lstStyle/>
                    <a:p>
                      <a:r>
                        <a:rPr sz="1050" b="1">
                          <a:solidFill>
                            <a:srgbClr val="1A1A1A"/>
                          </a:solidFill>
                          <a:latin typeface="Abadi"/>
                        </a:rPr>
                        <a:t>First diagnosis</a:t>
                      </a:r>
                    </a:p>
                  </a:txBody>
                  <a:tcPr anchor="ctr" marL="73152" marR="73152" marT="27432" marB="27432">
                    <a:solidFill>
                      <a:srgbClr val="FFFFFF"/>
                    </a:solidFill>
                  </a:tcPr>
                </a:tc>
                <a:tc>
                  <a:txBody>
                    <a:bodyPr wrap="square"/>
                    <a:lstStyle/>
                    <a:p>
                      <a:r>
                        <a:rPr sz="1050" b="0">
                          <a:solidFill>
                            <a:srgbClr val="1A1A1A"/>
                          </a:solidFill>
                          <a:latin typeface="Abadi"/>
                        </a:rPr>
                        <a:t>Endoscopy with biopsy-based tests, not breath or stool tests</a:t>
                      </a:r>
                    </a:p>
                  </a:txBody>
                  <a:tcPr anchor="ctr" marL="73152" marR="73152" marT="27432" marB="27432">
                    <a:solidFill>
                      <a:srgbClr val="DCE6F1"/>
                    </a:solidFill>
                  </a:tcPr>
                </a:tc>
                <a:tc>
                  <a:txBody>
                    <a:bodyPr wrap="square"/>
                    <a:lstStyle/>
                    <a:p>
                      <a:r>
                        <a:rPr sz="1050" b="0">
                          <a:solidFill>
                            <a:srgbClr val="1A1A1A"/>
                          </a:solidFill>
                          <a:latin typeface="Abadi"/>
                        </a:rPr>
                        <a:t>Find the cause of symptoms, and culture for resistance</a:t>
                      </a:r>
                    </a:p>
                  </a:txBody>
                  <a:tcPr anchor="ctr" marL="73152" marR="73152" marT="27432" marB="27432">
                    <a:solidFill>
                      <a:srgbClr val="FFFFFF"/>
                    </a:solidFill>
                  </a:tcPr>
                </a:tc>
              </a:tr>
              <a:tr h="475488">
                <a:tc>
                  <a:txBody>
                    <a:bodyPr wrap="square"/>
                    <a:lstStyle/>
                    <a:p>
                      <a:r>
                        <a:rPr sz="1050" b="1">
                          <a:solidFill>
                            <a:srgbClr val="1A1A1A"/>
                          </a:solidFill>
                          <a:latin typeface="Abadi"/>
                        </a:rPr>
                        <a:t>Confirming eradication</a:t>
                      </a:r>
                    </a:p>
                  </a:txBody>
                  <a:tcPr anchor="ctr" marL="73152" marR="73152" marT="27432" marB="27432">
                    <a:solidFill>
                      <a:srgbClr val="F0F0F0"/>
                    </a:solidFill>
                  </a:tcPr>
                </a:tc>
                <a:tc>
                  <a:txBody>
                    <a:bodyPr wrap="square"/>
                    <a:lstStyle/>
                    <a:p>
                      <a:r>
                        <a:rPr sz="1050" b="0">
                          <a:solidFill>
                            <a:srgbClr val="1A1A1A"/>
                          </a:solidFill>
                          <a:latin typeface="Abadi"/>
                        </a:rPr>
                        <a:t>13C-urea breath test or two-step monoclonal stool antigen</a:t>
                      </a:r>
                    </a:p>
                  </a:txBody>
                  <a:tcPr anchor="ctr" marL="73152" marR="73152" marT="27432" marB="27432">
                    <a:solidFill>
                      <a:srgbClr val="DCE6F1"/>
                    </a:solidFill>
                  </a:tcPr>
                </a:tc>
                <a:tc>
                  <a:txBody>
                    <a:bodyPr wrap="square"/>
                    <a:lstStyle/>
                    <a:p>
                      <a:r>
                        <a:rPr sz="1050" b="0">
                          <a:solidFill>
                            <a:srgbClr val="1A1A1A"/>
                          </a:solidFill>
                          <a:latin typeface="Abadi"/>
                        </a:rPr>
                        <a:t>Strong, high quality, 100% agreement</a:t>
                      </a:r>
                    </a:p>
                  </a:txBody>
                  <a:tcPr anchor="ctr" marL="73152" marR="73152" marT="27432" marB="27432">
                    <a:solidFill>
                      <a:srgbClr val="F0F0F0"/>
                    </a:solidFill>
                  </a:tcPr>
                </a:tc>
              </a:tr>
              <a:tr h="475488">
                <a:tc>
                  <a:txBody>
                    <a:bodyPr wrap="square"/>
                    <a:lstStyle/>
                    <a:p>
                      <a:r>
                        <a:rPr sz="1050" b="1">
                          <a:solidFill>
                            <a:srgbClr val="1A1A1A"/>
                          </a:solidFill>
                          <a:latin typeface="Abadi"/>
                        </a:rPr>
                        <a:t>When</a:t>
                      </a:r>
                    </a:p>
                  </a:txBody>
                  <a:tcPr anchor="ctr" marL="73152" marR="73152" marT="27432" marB="27432">
                    <a:solidFill>
                      <a:srgbClr val="FFFFFF"/>
                    </a:solidFill>
                  </a:tcPr>
                </a:tc>
                <a:tc>
                  <a:txBody>
                    <a:bodyPr wrap="square"/>
                    <a:lstStyle/>
                    <a:p>
                      <a:r>
                        <a:rPr sz="1050" b="0">
                          <a:solidFill>
                            <a:srgbClr val="1A1A1A"/>
                          </a:solidFill>
                          <a:latin typeface="Abadi"/>
                        </a:rPr>
                        <a:t>6–8 weeks after the end of treatment</a:t>
                      </a:r>
                    </a:p>
                  </a:txBody>
                  <a:tcPr anchor="ctr" marL="73152" marR="73152" marT="27432" marB="27432">
                    <a:solidFill>
                      <a:srgbClr val="DCE6F1"/>
                    </a:solidFill>
                  </a:tcPr>
                </a:tc>
                <a:tc>
                  <a:txBody>
                    <a:bodyPr wrap="square"/>
                    <a:lstStyle/>
                    <a:p>
                      <a:r>
                        <a:rPr sz="1050" b="0">
                          <a:solidFill>
                            <a:srgbClr val="1A1A1A"/>
                          </a:solidFill>
                          <a:latin typeface="Abadi"/>
                        </a:rPr>
                        <a:t>Strong, moderate quality, 100% agreement</a:t>
                      </a:r>
                    </a:p>
                  </a:txBody>
                  <a:tcPr anchor="ctr" marL="73152" marR="73152" marT="27432" marB="27432">
                    <a:solidFill>
                      <a:srgbClr val="FFFFFF"/>
                    </a:solidFill>
                  </a:tcPr>
                </a:tc>
              </a:tr>
              <a:tr h="475488">
                <a:tc>
                  <a:txBody>
                    <a:bodyPr wrap="square"/>
                    <a:lstStyle/>
                    <a:p>
                      <a:r>
                        <a:rPr sz="1050" b="1">
                          <a:solidFill>
                            <a:srgbClr val="1A1A1A"/>
                          </a:solidFill>
                          <a:latin typeface="Abadi"/>
                        </a:rPr>
                        <a:t>Washout</a:t>
                      </a:r>
                    </a:p>
                  </a:txBody>
                  <a:tcPr anchor="ctr" marL="73152" marR="73152" marT="27432" marB="27432">
                    <a:solidFill>
                      <a:srgbClr val="F0F0F0"/>
                    </a:solidFill>
                  </a:tcPr>
                </a:tc>
                <a:tc>
                  <a:txBody>
                    <a:bodyPr wrap="square"/>
                    <a:lstStyle/>
                    <a:p>
                      <a:r>
                        <a:rPr sz="1050" b="0">
                          <a:solidFill>
                            <a:srgbClr val="1A1A1A"/>
                          </a:solidFill>
                          <a:latin typeface="Abadi"/>
                        </a:rPr>
                        <a:t>PPI stopped 2 weeks, antibiotics or bismuth 4 weeks before</a:t>
                      </a:r>
                    </a:p>
                  </a:txBody>
                  <a:tcPr anchor="ctr" marL="73152" marR="73152" marT="27432" marB="27432">
                    <a:solidFill>
                      <a:srgbClr val="DCE6F1"/>
                    </a:solidFill>
                  </a:tcPr>
                </a:tc>
                <a:tc>
                  <a:txBody>
                    <a:bodyPr wrap="square"/>
                    <a:lstStyle/>
                    <a:p>
                      <a:r>
                        <a:rPr sz="1050" b="0">
                          <a:solidFill>
                            <a:srgbClr val="1A1A1A"/>
                          </a:solidFill>
                          <a:latin typeface="Abadi"/>
                        </a:rPr>
                        <a:t>Strong, 100%; H2 blocker allowed until 2 days before</a:t>
                      </a:r>
                    </a:p>
                  </a:txBody>
                  <a:tcPr anchor="ctr" marL="73152" marR="73152" marT="27432" marB="27432">
                    <a:solidFill>
                      <a:srgbClr val="F0F0F0"/>
                    </a:solidFill>
                  </a:tcPr>
                </a:tc>
              </a:tr>
              <a:tr h="475488">
                <a:tc>
                  <a:txBody>
                    <a:bodyPr wrap="square"/>
                    <a:lstStyle/>
                    <a:p>
                      <a:r>
                        <a:rPr sz="1050" b="1">
                          <a:solidFill>
                            <a:srgbClr val="1A1A1A"/>
                          </a:solidFill>
                          <a:latin typeface="Abadi"/>
                        </a:rPr>
                        <a:t>Under 6 years</a:t>
                      </a:r>
                    </a:p>
                  </a:txBody>
                  <a:tcPr anchor="ctr" marL="73152" marR="73152" marT="27432" marB="27432">
                    <a:solidFill>
                      <a:srgbClr val="FFFFFF"/>
                    </a:solidFill>
                  </a:tcPr>
                </a:tc>
                <a:tc>
                  <a:txBody>
                    <a:bodyPr wrap="square"/>
                    <a:lstStyle/>
                    <a:p>
                      <a:r>
                        <a:rPr sz="1050" b="0">
                          <a:solidFill>
                            <a:srgbClr val="1A1A1A"/>
                          </a:solidFill>
                          <a:latin typeface="Abadi"/>
                        </a:rPr>
                        <a:t>May give false-positive results</a:t>
                      </a:r>
                    </a:p>
                  </a:txBody>
                  <a:tcPr anchor="ctr" marL="73152" marR="73152" marT="27432" marB="27432">
                    <a:solidFill>
                      <a:srgbClr val="DCE6F1"/>
                    </a:solidFill>
                  </a:tcPr>
                </a:tc>
                <a:tc>
                  <a:txBody>
                    <a:bodyPr wrap="square"/>
                    <a:lstStyle/>
                    <a:p>
                      <a:r>
                        <a:rPr sz="1050" b="0">
                          <a:solidFill>
                            <a:srgbClr val="1A1A1A"/>
                          </a:solidFill>
                          <a:latin typeface="Abadi"/>
                        </a:rPr>
                        <a:t>Interpret with caution</a:t>
                      </a:r>
                    </a:p>
                  </a:txBody>
                  <a:tcPr anchor="ctr" marL="73152" marR="73152" marT="27432" marB="27432">
                    <a:solidFill>
                      <a:srgbClr val="FFFFFF"/>
                    </a:solidFill>
                  </a:tcPr>
                </a:tc>
              </a:tr>
              <a:tr h="475488">
                <a:tc>
                  <a:txBody>
                    <a:bodyPr wrap="square"/>
                    <a:lstStyle/>
                    <a:p>
                      <a:r>
                        <a:rPr sz="1050" b="1">
                          <a:solidFill>
                            <a:srgbClr val="1A1A1A"/>
                          </a:solidFill>
                          <a:latin typeface="Abadi"/>
                        </a:rPr>
                        <a:t>ESPGHAN breath position 2022</a:t>
                      </a:r>
                    </a:p>
                  </a:txBody>
                  <a:tcPr anchor="ctr" marL="73152" marR="73152" marT="27432" marB="27432">
                    <a:solidFill>
                      <a:srgbClr val="F0F0F0"/>
                    </a:solidFill>
                  </a:tcPr>
                </a:tc>
                <a:tc>
                  <a:txBody>
                    <a:bodyPr wrap="square"/>
                    <a:lstStyle/>
                    <a:p>
                      <a:r>
                        <a:rPr sz="1050" b="0">
                          <a:solidFill>
                            <a:srgbClr val="1A1A1A"/>
                          </a:solidFill>
                          <a:latin typeface="Abadi"/>
                        </a:rPr>
                        <a:t>Breath testing to confirm eradication, not to diagnose infection</a:t>
                      </a:r>
                    </a:p>
                  </a:txBody>
                  <a:tcPr anchor="ctr" marL="73152" marR="73152" marT="27432" marB="27432">
                    <a:solidFill>
                      <a:srgbClr val="DCE6F1"/>
                    </a:solidFill>
                  </a:tcPr>
                </a:tc>
                <a:tc>
                  <a:txBody>
                    <a:bodyPr wrap="square"/>
                    <a:lstStyle/>
                    <a:p>
                      <a:r>
                        <a:rPr sz="1050" b="0">
                          <a:solidFill>
                            <a:srgbClr val="1A1A1A"/>
                          </a:solidFill>
                          <a:latin typeface="Abadi"/>
                        </a:rPr>
                        <a:t>Also for SIBO and pancreatic insufficiency</a:t>
                      </a:r>
                    </a:p>
                  </a:txBody>
                  <a:tcPr anchor="ctr" marL="73152" marR="73152" marT="27432" marB="27432">
                    <a:solidFill>
                      <a:srgbClr val="F0F0F0"/>
                    </a:solidFill>
                  </a:tcPr>
                </a:tc>
              </a:tr>
            </a:tbl>
          </a:graphicData>
        </a:graphic>
      </p:graphicFrame>
      <p:sp>
        <p:nvSpPr>
          <p:cNvPr id="13" name="TextBox 12"/>
          <p:cNvSpPr txBox="1"/>
          <p:nvPr/>
        </p:nvSpPr>
        <p:spPr>
          <a:xfrm>
            <a:off x="548640" y="5138928"/>
            <a:ext cx="11091672" cy="777240"/>
          </a:xfrm>
          <a:prstGeom prst="rect">
            <a:avLst/>
          </a:prstGeom>
          <a:noFill/>
        </p:spPr>
        <p:txBody>
          <a:bodyPr wrap="square" anchor="t" lIns="36576" rIns="36576" tIns="18288" bIns="18288">
            <a:spAutoFit/>
          </a:bodyPr>
          <a:lstStyle/>
          <a:p>
            <a:pPr algn="l"/>
            <a:r>
              <a:rPr sz="1250" b="0" i="0">
                <a:solidFill>
                  <a:srgbClr val="1A1A1A"/>
                </a:solidFill>
                <a:latin typeface="Abadi"/>
              </a:rPr>
              <a:t>Children are not tested and treated: the guideline wants to know why the child has symptoms, and to culture the organism, before treating.</a:t>
            </a:r>
          </a:p>
          <a:p>
            <a:pPr algn="l">
              <a:spcBef>
                <a:spcPts val="1000"/>
              </a:spcBef>
            </a:pPr>
            <a:r>
              <a:rPr sz="1250" b="1" i="1">
                <a:solidFill>
                  <a:srgbClr val="1A1A1A"/>
                </a:solidFill>
                <a:latin typeface="Abadi"/>
              </a:rPr>
              <a:t>In children the breath test answers 'is it gone?', never 'is it there?'.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GUIDELINES</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WHAT THE DOCUMENTS SAY</a:t>
            </a:r>
          </a:p>
        </p:txBody>
      </p:sp>
      <p:sp>
        <p:nvSpPr>
          <p:cNvPr id="6" name="Rectangle 5"/>
          <p:cNvSpPr/>
          <p:nvPr/>
        </p:nvSpPr>
        <p:spPr>
          <a:xfrm>
            <a:off x="548640" y="132588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074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17</a:t>
            </a:r>
          </a:p>
        </p:txBody>
      </p:sp>
      <p:sp>
        <p:nvSpPr>
          <p:cNvPr id="10" name="TextBox 9"/>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Rezaie 2017 · Pimentel 2020 · Hammer 2022 · Broekaert 2022 · Gasbarrini 2009 · Homan 2024 · Maastricht VI/Florence 2022</a:t>
            </a:r>
          </a:p>
        </p:txBody>
      </p:sp>
      <p:graphicFrame>
        <p:nvGraphicFramePr>
          <p:cNvPr id="11" name="Table 10"/>
          <p:cNvGraphicFramePr>
            <a:graphicFrameLocks noGrp="1"/>
          </p:cNvGraphicFramePr>
          <p:nvPr/>
        </p:nvGraphicFramePr>
        <p:xfrm>
          <a:off x="548640" y="1499616"/>
          <a:ext cx="11091672" cy="3712464"/>
        </p:xfrm>
        <a:graphic>
          <a:graphicData uri="http://schemas.openxmlformats.org/drawingml/2006/table">
            <a:tbl>
              <a:tblPr firstRow="0" bandRow="0">
                <a:tableStyleId>{5C22544A-7EE6-4342-B048-85BDC9FD1C3A}</a:tableStyleId>
              </a:tblPr>
              <a:tblGrid>
                <a:gridCol w="2194560"/>
                <a:gridCol w="3657600"/>
                <a:gridCol w="3931920"/>
                <a:gridCol w="1307592"/>
              </a:tblGrid>
              <a:tr h="420624">
                <a:tc>
                  <a:txBody>
                    <a:bodyPr wrap="square"/>
                    <a:lstStyle/>
                    <a:p>
                      <a:r>
                        <a:rPr sz="1200" b="1">
                          <a:solidFill>
                            <a:srgbClr val="FFFFFF"/>
                          </a:solidFill>
                          <a:latin typeface="Abadi"/>
                        </a:rPr>
                        <a:t>Question</a:t>
                      </a:r>
                    </a:p>
                  </a:txBody>
                  <a:tcPr anchor="ctr" marL="73152" marR="73152" marT="27432" marB="27432">
                    <a:solidFill>
                      <a:srgbClr val="1B355E"/>
                    </a:solidFill>
                  </a:tcPr>
                </a:tc>
                <a:tc>
                  <a:txBody>
                    <a:bodyPr wrap="square"/>
                    <a:lstStyle/>
                    <a:p>
                      <a:r>
                        <a:rPr sz="1200" b="1">
                          <a:solidFill>
                            <a:srgbClr val="FFFFFF"/>
                          </a:solidFill>
                          <a:latin typeface="Abadi"/>
                        </a:rPr>
                        <a:t>Hydrogen–methane documents (North America 2017 · ACG 2020)</a:t>
                      </a:r>
                    </a:p>
                  </a:txBody>
                  <a:tcPr anchor="ctr" marL="73152" marR="73152" marT="27432" marB="27432">
                    <a:solidFill>
                      <a:srgbClr val="1B355E"/>
                    </a:solidFill>
                  </a:tcPr>
                </a:tc>
                <a:tc>
                  <a:txBody>
                    <a:bodyPr wrap="square"/>
                    <a:lstStyle/>
                    <a:p>
                      <a:r>
                        <a:rPr sz="1200" b="1">
                          <a:solidFill>
                            <a:srgbClr val="FFFFFF"/>
                          </a:solidFill>
                          <a:latin typeface="Abadi"/>
                        </a:rPr>
                        <a:t>Paediatric and European documents (ESPGHAN 2022 · Hammer 2022 · Homan 2023)</a:t>
                      </a:r>
                    </a:p>
                  </a:txBody>
                  <a:tcPr anchor="ctr" marL="73152" marR="73152" marT="27432" marB="27432">
                    <a:solidFill>
                      <a:srgbClr val="1B355E"/>
                    </a:solidFill>
                  </a:tcPr>
                </a:tc>
                <a:tc>
                  <a:txBody>
                    <a:bodyPr wrap="square"/>
                    <a:lstStyle/>
                    <a:p>
                      <a:r>
                        <a:rPr sz="1200" b="1">
                          <a:solidFill>
                            <a:srgbClr val="FFFFFF"/>
                          </a:solidFill>
                          <a:latin typeface="Abadi"/>
                        </a:rPr>
                        <a:t>Verdict</a:t>
                      </a:r>
                    </a:p>
                  </a:txBody>
                  <a:tcPr anchor="ctr" marL="73152" marR="73152" marT="27432" marB="27432">
                    <a:solidFill>
                      <a:srgbClr val="1B355E"/>
                    </a:solidFill>
                  </a:tcPr>
                </a:tc>
              </a:tr>
              <a:tr h="411480">
                <a:tc>
                  <a:txBody>
                    <a:bodyPr wrap="square"/>
                    <a:lstStyle/>
                    <a:p>
                      <a:r>
                        <a:rPr sz="950" b="1">
                          <a:solidFill>
                            <a:srgbClr val="1A1A1A"/>
                          </a:solidFill>
                          <a:latin typeface="Abadi"/>
                        </a:rPr>
                        <a:t>SIBO testing</a:t>
                      </a:r>
                    </a:p>
                  </a:txBody>
                  <a:tcPr anchor="ctr" marL="73152" marR="73152" marT="27432" marB="27432">
                    <a:solidFill>
                      <a:srgbClr val="FFFFFF"/>
                    </a:solidFill>
                  </a:tcPr>
                </a:tc>
                <a:tc>
                  <a:txBody>
                    <a:bodyPr wrap="square"/>
                    <a:lstStyle/>
                    <a:p>
                      <a:r>
                        <a:rPr sz="950" b="0">
                          <a:solidFill>
                            <a:srgbClr val="1A1A1A"/>
                          </a:solidFill>
                          <a:latin typeface="Abadi"/>
                        </a:rPr>
                        <a:t>Glucose or lactulose; IBS, motility disorders, prior surgery</a:t>
                      </a:r>
                    </a:p>
                  </a:txBody>
                  <a:tcPr anchor="ctr" marL="73152" marR="73152" marT="27432" marB="27432">
                    <a:solidFill>
                      <a:srgbClr val="FFFFFF"/>
                    </a:solidFill>
                  </a:tcPr>
                </a:tc>
                <a:tc>
                  <a:txBody>
                    <a:bodyPr wrap="square"/>
                    <a:lstStyle/>
                    <a:p>
                      <a:r>
                        <a:rPr sz="950" b="0">
                          <a:solidFill>
                            <a:srgbClr val="1A1A1A"/>
                          </a:solidFill>
                          <a:latin typeface="Abadi"/>
                        </a:rPr>
                        <a:t>ESPGHAN: breath testing recommended for SIBO</a:t>
                      </a:r>
                    </a:p>
                  </a:txBody>
                  <a:tcPr anchor="ctr" marL="73152" marR="73152" marT="27432" marB="27432">
                    <a:solidFill>
                      <a:srgbClr val="FFFFFF"/>
                    </a:solidFill>
                  </a:tcPr>
                </a:tc>
                <a:tc>
                  <a:txBody>
                    <a:bodyPr wrap="square"/>
                    <a:lstStyle/>
                    <a:p>
                      <a:pPr algn="ctr"/>
                      <a:r>
                        <a:rPr sz="950" b="1">
                          <a:solidFill>
                            <a:srgbClr val="FFFFFF"/>
                          </a:solidFill>
                          <a:latin typeface="Abadi"/>
                        </a:rPr>
                        <a:t>ALIGNED</a:t>
                      </a:r>
                    </a:p>
                  </a:txBody>
                  <a:tcPr anchor="ctr" marL="73152" marR="73152" marT="27432" marB="27432">
                    <a:solidFill>
                      <a:srgbClr val="1E7A33"/>
                    </a:solidFill>
                  </a:tcPr>
                </a:tc>
              </a:tr>
              <a:tr h="411480">
                <a:tc>
                  <a:txBody>
                    <a:bodyPr wrap="square"/>
                    <a:lstStyle/>
                    <a:p>
                      <a:r>
                        <a:rPr sz="950" b="1">
                          <a:solidFill>
                            <a:srgbClr val="1A1A1A"/>
                          </a:solidFill>
                          <a:latin typeface="Abadi"/>
                        </a:rPr>
                        <a:t>Orocaecal transit</a:t>
                      </a:r>
                    </a:p>
                  </a:txBody>
                  <a:tcPr anchor="ctr" marL="73152" marR="73152" marT="27432" marB="27432">
                    <a:solidFill>
                      <a:srgbClr val="F0F0F0"/>
                    </a:solidFill>
                  </a:tcPr>
                </a:tc>
                <a:tc>
                  <a:txBody>
                    <a:bodyPr wrap="square"/>
                    <a:lstStyle/>
                    <a:p>
                      <a:r>
                        <a:rPr sz="950" b="0">
                          <a:solidFill>
                            <a:srgbClr val="1A1A1A"/>
                          </a:solidFill>
                          <a:latin typeface="Abadi"/>
                        </a:rPr>
                        <a:t>Breath tests should not be used</a:t>
                      </a:r>
                    </a:p>
                  </a:txBody>
                  <a:tcPr anchor="ctr" marL="73152" marR="73152" marT="27432" marB="27432">
                    <a:solidFill>
                      <a:srgbClr val="F0F0F0"/>
                    </a:solidFill>
                  </a:tcPr>
                </a:tc>
                <a:tc>
                  <a:txBody>
                    <a:bodyPr wrap="square"/>
                    <a:lstStyle/>
                    <a:p>
                      <a:r>
                        <a:rPr sz="950" b="0">
                          <a:solidFill>
                            <a:srgbClr val="1A1A1A"/>
                          </a:solidFill>
                          <a:latin typeface="Abadi"/>
                        </a:rPr>
                        <a:t>ESPGHAN: not recommended</a:t>
                      </a:r>
                    </a:p>
                  </a:txBody>
                  <a:tcPr anchor="ctr" marL="73152" marR="73152" marT="27432" marB="27432">
                    <a:solidFill>
                      <a:srgbClr val="F0F0F0"/>
                    </a:solidFill>
                  </a:tcPr>
                </a:tc>
                <a:tc>
                  <a:txBody>
                    <a:bodyPr wrap="square"/>
                    <a:lstStyle/>
                    <a:p>
                      <a:pPr algn="ctr"/>
                      <a:r>
                        <a:rPr sz="950" b="1">
                          <a:solidFill>
                            <a:srgbClr val="FFFFFF"/>
                          </a:solidFill>
                          <a:latin typeface="Abadi"/>
                        </a:rPr>
                        <a:t>ALIGNED</a:t>
                      </a:r>
                    </a:p>
                  </a:txBody>
                  <a:tcPr anchor="ctr" marL="73152" marR="73152" marT="27432" marB="27432">
                    <a:solidFill>
                      <a:srgbClr val="1E7A33"/>
                    </a:solidFill>
                  </a:tcPr>
                </a:tc>
              </a:tr>
              <a:tr h="411480">
                <a:tc>
                  <a:txBody>
                    <a:bodyPr wrap="square"/>
                    <a:lstStyle/>
                    <a:p>
                      <a:r>
                        <a:rPr sz="950" b="1">
                          <a:solidFill>
                            <a:srgbClr val="1A1A1A"/>
                          </a:solidFill>
                          <a:latin typeface="Abadi"/>
                        </a:rPr>
                        <a:t>Malabsorption versus intolerance</a:t>
                      </a:r>
                    </a:p>
                  </a:txBody>
                  <a:tcPr anchor="ctr" marL="73152" marR="73152" marT="27432" marB="27432">
                    <a:solidFill>
                      <a:srgbClr val="FFFFFF"/>
                    </a:solidFill>
                  </a:tcPr>
                </a:tc>
                <a:tc>
                  <a:txBody>
                    <a:bodyPr wrap="square"/>
                    <a:lstStyle/>
                    <a:p>
                      <a:r>
                        <a:rPr sz="950" b="0">
                          <a:solidFill>
                            <a:srgbClr val="1A1A1A"/>
                          </a:solidFill>
                          <a:latin typeface="Abadi"/>
                        </a:rPr>
                        <a:t>H2 rise of 20 ppm defines malabsorption</a:t>
                      </a:r>
                    </a:p>
                  </a:txBody>
                  <a:tcPr anchor="ctr" marL="73152" marR="73152" marT="27432" marB="27432">
                    <a:solidFill>
                      <a:srgbClr val="FFFFFF"/>
                    </a:solidFill>
                  </a:tcPr>
                </a:tc>
                <a:tc>
                  <a:txBody>
                    <a:bodyPr wrap="square"/>
                    <a:lstStyle/>
                    <a:p>
                      <a:r>
                        <a:rPr sz="950" b="0">
                          <a:solidFill>
                            <a:srgbClr val="1A1A1A"/>
                          </a:solidFill>
                          <a:latin typeface="Abadi"/>
                        </a:rPr>
                        <a:t>Validated concurrent symptom evaluation needed to call intolerance</a:t>
                      </a:r>
                    </a:p>
                  </a:txBody>
                  <a:tcPr anchor="ctr" marL="73152" marR="73152" marT="27432" marB="27432">
                    <a:solidFill>
                      <a:srgbClr val="FFFFFF"/>
                    </a:solidFill>
                  </a:tcPr>
                </a:tc>
                <a:tc>
                  <a:txBody>
                    <a:bodyPr wrap="square"/>
                    <a:lstStyle/>
                    <a:p>
                      <a:pPr algn="ctr"/>
                      <a:r>
                        <a:rPr sz="950" b="1">
                          <a:solidFill>
                            <a:srgbClr val="FFFFFF"/>
                          </a:solidFill>
                          <a:latin typeface="Abadi"/>
                        </a:rPr>
                        <a:t>DIFFERS</a:t>
                      </a:r>
                    </a:p>
                  </a:txBody>
                  <a:tcPr anchor="ctr" marL="73152" marR="73152" marT="27432" marB="27432">
                    <a:solidFill>
                      <a:srgbClr val="D97A0B"/>
                    </a:solidFill>
                  </a:tcPr>
                </a:tc>
              </a:tr>
              <a:tr h="411480">
                <a:tc>
                  <a:txBody>
                    <a:bodyPr wrap="square"/>
                    <a:lstStyle/>
                    <a:p>
                      <a:r>
                        <a:rPr sz="950" b="1">
                          <a:solidFill>
                            <a:srgbClr val="1A1A1A"/>
                          </a:solidFill>
                          <a:latin typeface="Abadi"/>
                        </a:rPr>
                        <a:t>Paediatric dosing</a:t>
                      </a:r>
                    </a:p>
                  </a:txBody>
                  <a:tcPr anchor="ctr" marL="73152" marR="73152" marT="27432" marB="27432">
                    <a:solidFill>
                      <a:srgbClr val="F0F0F0"/>
                    </a:solidFill>
                  </a:tcPr>
                </a:tc>
                <a:tc>
                  <a:txBody>
                    <a:bodyPr wrap="square"/>
                    <a:lstStyle/>
                    <a:p>
                      <a:r>
                        <a:rPr sz="950" b="0">
                          <a:solidFill>
                            <a:srgbClr val="1A1A1A"/>
                          </a:solidFill>
                          <a:latin typeface="Abadi"/>
                        </a:rPr>
                        <a:t>Not addressed; listed as a knowledge gap</a:t>
                      </a:r>
                    </a:p>
                  </a:txBody>
                  <a:tcPr anchor="ctr" marL="73152" marR="73152" marT="27432" marB="27432">
                    <a:solidFill>
                      <a:srgbClr val="F0F0F0"/>
                    </a:solidFill>
                  </a:tcPr>
                </a:tc>
                <a:tc>
                  <a:txBody>
                    <a:bodyPr wrap="square"/>
                    <a:lstStyle/>
                    <a:p>
                      <a:r>
                        <a:rPr sz="950" b="0">
                          <a:solidFill>
                            <a:srgbClr val="1A1A1A"/>
                          </a:solidFill>
                          <a:latin typeface="Abadi"/>
                        </a:rPr>
                        <a:t>Rome 2009: lactose 1 g/kg (max 25 g); fructose dose varies by centre</a:t>
                      </a:r>
                    </a:p>
                  </a:txBody>
                  <a:tcPr anchor="ctr" marL="73152" marR="73152" marT="27432" marB="27432">
                    <a:solidFill>
                      <a:srgbClr val="F0F0F0"/>
                    </a:solidFill>
                  </a:tcPr>
                </a:tc>
                <a:tc>
                  <a:txBody>
                    <a:bodyPr wrap="square"/>
                    <a:lstStyle/>
                    <a:p>
                      <a:pPr algn="ctr"/>
                      <a:r>
                        <a:rPr sz="950" b="1">
                          <a:solidFill>
                            <a:srgbClr val="FFFFFF"/>
                          </a:solidFill>
                          <a:latin typeface="Abadi"/>
                        </a:rPr>
                        <a:t>MATERIAL</a:t>
                      </a:r>
                    </a:p>
                  </a:txBody>
                  <a:tcPr anchor="ctr" marL="73152" marR="73152" marT="27432" marB="27432">
                    <a:solidFill>
                      <a:srgbClr val="B22222"/>
                    </a:solidFill>
                  </a:tcPr>
                </a:tc>
              </a:tr>
              <a:tr h="411480">
                <a:tc>
                  <a:txBody>
                    <a:bodyPr wrap="square"/>
                    <a:lstStyle/>
                    <a:p>
                      <a:r>
                        <a:rPr sz="950" b="1">
                          <a:solidFill>
                            <a:srgbClr val="1A1A1A"/>
                          </a:solidFill>
                          <a:latin typeface="Abadi"/>
                        </a:rPr>
                        <a:t>Fructose testing</a:t>
                      </a:r>
                    </a:p>
                  </a:txBody>
                  <a:tcPr anchor="ctr" marL="73152" marR="73152" marT="27432" marB="27432">
                    <a:solidFill>
                      <a:srgbClr val="FFFFFF"/>
                    </a:solidFill>
                  </a:tcPr>
                </a:tc>
                <a:tc>
                  <a:txBody>
                    <a:bodyPr wrap="square"/>
                    <a:lstStyle/>
                    <a:p>
                      <a:r>
                        <a:rPr sz="950" b="0">
                          <a:solidFill>
                            <a:srgbClr val="1A1A1A"/>
                          </a:solidFill>
                          <a:latin typeface="Abadi"/>
                        </a:rPr>
                        <a:t>25 g accepted as a test dose</a:t>
                      </a:r>
                    </a:p>
                  </a:txBody>
                  <a:tcPr anchor="ctr" marL="73152" marR="73152" marT="27432" marB="27432">
                    <a:solidFill>
                      <a:srgbClr val="FFFFFF"/>
                    </a:solidFill>
                  </a:tcPr>
                </a:tc>
                <a:tc>
                  <a:txBody>
                    <a:bodyPr wrap="square"/>
                    <a:lstStyle/>
                    <a:p>
                      <a:r>
                        <a:rPr sz="950" b="0">
                          <a:solidFill>
                            <a:srgbClr val="1A1A1A"/>
                          </a:solidFill>
                          <a:latin typeface="Abadi"/>
                        </a:rPr>
                        <a:t>Rome 2009: research only; positive in most healthy toddlers</a:t>
                      </a:r>
                    </a:p>
                  </a:txBody>
                  <a:tcPr anchor="ctr" marL="73152" marR="73152" marT="27432" marB="27432">
                    <a:solidFill>
                      <a:srgbClr val="FFFFFF"/>
                    </a:solidFill>
                  </a:tcPr>
                </a:tc>
                <a:tc>
                  <a:txBody>
                    <a:bodyPr wrap="square"/>
                    <a:lstStyle/>
                    <a:p>
                      <a:pPr algn="ctr"/>
                      <a:r>
                        <a:rPr sz="950" b="1">
                          <a:solidFill>
                            <a:srgbClr val="FFFFFF"/>
                          </a:solidFill>
                          <a:latin typeface="Abadi"/>
                        </a:rPr>
                        <a:t>MATERIAL</a:t>
                      </a:r>
                    </a:p>
                  </a:txBody>
                  <a:tcPr anchor="ctr" marL="73152" marR="73152" marT="27432" marB="27432">
                    <a:solidFill>
                      <a:srgbClr val="B22222"/>
                    </a:solidFill>
                  </a:tcPr>
                </a:tc>
              </a:tr>
              <a:tr h="411480">
                <a:tc>
                  <a:txBody>
                    <a:bodyPr wrap="square"/>
                    <a:lstStyle/>
                    <a:p>
                      <a:r>
                        <a:rPr sz="950" b="1">
                          <a:solidFill>
                            <a:srgbClr val="1A1A1A"/>
                          </a:solidFill>
                          <a:latin typeface="Abadi"/>
                        </a:rPr>
                        <a:t>H. pylori diagnosis</a:t>
                      </a:r>
                    </a:p>
                  </a:txBody>
                  <a:tcPr anchor="ctr" marL="73152" marR="73152" marT="27432" marB="27432">
                    <a:solidFill>
                      <a:srgbClr val="F0F0F0"/>
                    </a:solidFill>
                  </a:tcPr>
                </a:tc>
                <a:tc>
                  <a:txBody>
                    <a:bodyPr wrap="square"/>
                    <a:lstStyle/>
                    <a:p>
                      <a:r>
                        <a:rPr sz="950" b="0">
                          <a:solidFill>
                            <a:srgbClr val="1A1A1A"/>
                          </a:solidFill>
                          <a:latin typeface="Abadi"/>
                        </a:rPr>
                        <a:t>Adults: urea breath test for test-and-treat</a:t>
                      </a:r>
                    </a:p>
                  </a:txBody>
                  <a:tcPr anchor="ctr" marL="73152" marR="73152" marT="27432" marB="27432">
                    <a:solidFill>
                      <a:srgbClr val="F0F0F0"/>
                    </a:solidFill>
                  </a:tcPr>
                </a:tc>
                <a:tc>
                  <a:txBody>
                    <a:bodyPr wrap="square"/>
                    <a:lstStyle/>
                    <a:p>
                      <a:r>
                        <a:rPr sz="950" b="0">
                          <a:solidFill>
                            <a:srgbClr val="1A1A1A"/>
                          </a:solidFill>
                          <a:latin typeface="Abadi"/>
                        </a:rPr>
                        <a:t>Children: endoscopy first; breath test to confirm cure</a:t>
                      </a:r>
                    </a:p>
                  </a:txBody>
                  <a:tcPr anchor="ctr" marL="73152" marR="73152" marT="27432" marB="27432">
                    <a:solidFill>
                      <a:srgbClr val="F0F0F0"/>
                    </a:solidFill>
                  </a:tcPr>
                </a:tc>
                <a:tc>
                  <a:txBody>
                    <a:bodyPr wrap="square"/>
                    <a:lstStyle/>
                    <a:p>
                      <a:pPr algn="ctr"/>
                      <a:r>
                        <a:rPr sz="950" b="1">
                          <a:solidFill>
                            <a:srgbClr val="FFFFFF"/>
                          </a:solidFill>
                          <a:latin typeface="Abadi"/>
                        </a:rPr>
                        <a:t>DIFFERS</a:t>
                      </a:r>
                    </a:p>
                  </a:txBody>
                  <a:tcPr anchor="ctr" marL="73152" marR="73152" marT="27432" marB="27432">
                    <a:solidFill>
                      <a:srgbClr val="D97A0B"/>
                    </a:solidFill>
                  </a:tcPr>
                </a:tc>
              </a:tr>
              <a:tr h="411480">
                <a:tc>
                  <a:txBody>
                    <a:bodyPr wrap="square"/>
                    <a:lstStyle/>
                    <a:p>
                      <a:r>
                        <a:rPr sz="950" b="1">
                          <a:solidFill>
                            <a:srgbClr val="1A1A1A"/>
                          </a:solidFill>
                          <a:latin typeface="Abadi"/>
                        </a:rPr>
                        <a:t>Pancreatic insufficiency</a:t>
                      </a:r>
                    </a:p>
                  </a:txBody>
                  <a:tcPr anchor="ctr" marL="73152" marR="73152" marT="27432" marB="27432">
                    <a:solidFill>
                      <a:srgbClr val="FFFFFF"/>
                    </a:solidFill>
                  </a:tcPr>
                </a:tc>
                <a:tc>
                  <a:txBody>
                    <a:bodyPr wrap="square"/>
                    <a:lstStyle/>
                    <a:p>
                      <a:r>
                        <a:rPr sz="950" b="0">
                          <a:solidFill>
                            <a:srgbClr val="1A1A1A"/>
                          </a:solidFill>
                          <a:latin typeface="Abadi"/>
                        </a:rPr>
                        <a:t>Not addressed</a:t>
                      </a:r>
                    </a:p>
                  </a:txBody>
                  <a:tcPr anchor="ctr" marL="73152" marR="73152" marT="27432" marB="27432">
                    <a:solidFill>
                      <a:srgbClr val="FFFFFF"/>
                    </a:solidFill>
                  </a:tcPr>
                </a:tc>
                <a:tc>
                  <a:txBody>
                    <a:bodyPr wrap="square"/>
                    <a:lstStyle/>
                    <a:p>
                      <a:r>
                        <a:rPr sz="950" b="0">
                          <a:solidFill>
                            <a:srgbClr val="1A1A1A"/>
                          </a:solidFill>
                          <a:latin typeface="Abadi"/>
                        </a:rPr>
                        <a:t>ESPGHAN: breath test for diagnosis and monitoring</a:t>
                      </a:r>
                    </a:p>
                  </a:txBody>
                  <a:tcPr anchor="ctr" marL="73152" marR="73152" marT="27432" marB="27432">
                    <a:solidFill>
                      <a:srgbClr val="FFFFFF"/>
                    </a:solidFill>
                  </a:tcPr>
                </a:tc>
                <a:tc>
                  <a:txBody>
                    <a:bodyPr wrap="square"/>
                    <a:lstStyle/>
                    <a:p>
                      <a:pPr algn="ctr"/>
                      <a:r>
                        <a:rPr sz="950" b="1">
                          <a:solidFill>
                            <a:srgbClr val="FFFFFF"/>
                          </a:solidFill>
                          <a:latin typeface="Abadi"/>
                        </a:rPr>
                        <a:t>GAP</a:t>
                      </a:r>
                    </a:p>
                  </a:txBody>
                  <a:tcPr anchor="ctr" marL="73152" marR="73152" marT="27432" marB="27432">
                    <a:solidFill>
                      <a:srgbClr val="7F7F7F"/>
                    </a:solidFill>
                  </a:tcPr>
                </a:tc>
              </a:tr>
              <a:tr h="411480">
                <a:tc>
                  <a:txBody>
                    <a:bodyPr wrap="square"/>
                    <a:lstStyle/>
                    <a:p>
                      <a:r>
                        <a:rPr sz="950" b="1">
                          <a:solidFill>
                            <a:srgbClr val="1A1A1A"/>
                          </a:solidFill>
                          <a:latin typeface="Abadi"/>
                        </a:rPr>
                        <a:t>Hydrogen sulphide</a:t>
                      </a:r>
                    </a:p>
                  </a:txBody>
                  <a:tcPr anchor="ctr" marL="73152" marR="73152" marT="27432" marB="27432">
                    <a:solidFill>
                      <a:srgbClr val="F0F0F0"/>
                    </a:solidFill>
                  </a:tcPr>
                </a:tc>
                <a:tc>
                  <a:txBody>
                    <a:bodyPr wrap="square"/>
                    <a:lstStyle/>
                    <a:p>
                      <a:r>
                        <a:rPr sz="950" b="0">
                          <a:solidFill>
                            <a:srgbClr val="1A1A1A"/>
                          </a:solidFill>
                          <a:latin typeface="Abadi"/>
                        </a:rPr>
                        <a:t>No statement; devices not validated</a:t>
                      </a:r>
                    </a:p>
                  </a:txBody>
                  <a:tcPr anchor="ctr" marL="73152" marR="73152" marT="27432" marB="27432">
                    <a:solidFill>
                      <a:srgbClr val="F0F0F0"/>
                    </a:solidFill>
                  </a:tcPr>
                </a:tc>
                <a:tc>
                  <a:txBody>
                    <a:bodyPr wrap="square"/>
                    <a:lstStyle/>
                    <a:p>
                      <a:r>
                        <a:rPr sz="950" b="0">
                          <a:solidFill>
                            <a:srgbClr val="1A1A1A"/>
                          </a:solidFill>
                          <a:latin typeface="Abadi"/>
                        </a:rPr>
                        <a:t>Not addressed</a:t>
                      </a:r>
                    </a:p>
                  </a:txBody>
                  <a:tcPr anchor="ctr" marL="73152" marR="73152" marT="27432" marB="27432">
                    <a:solidFill>
                      <a:srgbClr val="F0F0F0"/>
                    </a:solidFill>
                  </a:tcPr>
                </a:tc>
                <a:tc>
                  <a:txBody>
                    <a:bodyPr wrap="square"/>
                    <a:lstStyle/>
                    <a:p>
                      <a:pPr algn="ctr"/>
                      <a:r>
                        <a:rPr sz="950" b="1">
                          <a:solidFill>
                            <a:srgbClr val="FFFFFF"/>
                          </a:solidFill>
                          <a:latin typeface="Abadi"/>
                        </a:rPr>
                        <a:t>GAP</a:t>
                      </a:r>
                    </a:p>
                  </a:txBody>
                  <a:tcPr anchor="ctr" marL="73152" marR="73152" marT="27432" marB="27432">
                    <a:solidFill>
                      <a:srgbClr val="7F7F7F"/>
                    </a:solidFill>
                  </a:tcPr>
                </a:tc>
              </a:tr>
            </a:tbl>
          </a:graphicData>
        </a:graphic>
      </p:graphicFrame>
      <p:sp>
        <p:nvSpPr>
          <p:cNvPr id="12" name="TextBox 11"/>
          <p:cNvSpPr txBox="1"/>
          <p:nvPr/>
        </p:nvSpPr>
        <p:spPr>
          <a:xfrm>
            <a:off x="548640" y="5532120"/>
            <a:ext cx="11091672" cy="347472"/>
          </a:xfrm>
          <a:prstGeom prst="rect">
            <a:avLst/>
          </a:prstGeom>
          <a:noFill/>
        </p:spPr>
        <p:txBody>
          <a:bodyPr wrap="square" anchor="t" lIns="36576" rIns="36576" tIns="18288" bIns="18288">
            <a:spAutoFit/>
          </a:bodyPr>
          <a:lstStyle/>
          <a:p>
            <a:pPr algn="l"/>
            <a:r>
              <a:rPr sz="1250" b="1" i="1">
                <a:solidFill>
                  <a:srgbClr val="1A1A1A"/>
                </a:solidFill>
                <a:latin typeface="Abadi"/>
              </a:rPr>
              <a:t>The material differences are paediatric: no agreed doses, and a fructose test most healthy toddlers fail.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PEARLS</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EIGHT THINGS TO REMEMBER</a:t>
            </a:r>
          </a:p>
        </p:txBody>
      </p:sp>
      <p:sp>
        <p:nvSpPr>
          <p:cNvPr id="6" name="Rectangle 5"/>
          <p:cNvSpPr/>
          <p:nvPr/>
        </p:nvSpPr>
        <p:spPr>
          <a:xfrm>
            <a:off x="548640" y="132588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074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18</a:t>
            </a:r>
          </a:p>
        </p:txBody>
      </p:sp>
      <p:sp>
        <p:nvSpPr>
          <p:cNvPr id="10" name="TextBox 9"/>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Rezaie 2017 · Storhaug 2017 · Jones 2011 · Martínez-Azcona 2019 · Losurdo 2020 · Yu 2011 · Collins 2011 · Leal 2011 · Homan 2024</a:t>
            </a:r>
          </a:p>
        </p:txBody>
      </p:sp>
      <p:sp>
        <p:nvSpPr>
          <p:cNvPr id="11" name="TextBox 10"/>
          <p:cNvSpPr txBox="1"/>
          <p:nvPr/>
        </p:nvSpPr>
        <p:spPr>
          <a:xfrm>
            <a:off x="548640" y="1545336"/>
            <a:ext cx="11091672" cy="4206240"/>
          </a:xfrm>
          <a:prstGeom prst="rect">
            <a:avLst/>
          </a:prstGeom>
          <a:noFill/>
        </p:spPr>
        <p:txBody>
          <a:bodyPr wrap="square" anchor="t" lIns="36576" rIns="36576" tIns="18288" bIns="18288">
            <a:spAutoFit/>
          </a:bodyPr>
          <a:lstStyle/>
          <a:p>
            <a:pPr algn="l"/>
            <a:r>
              <a:rPr sz="1450" b="0" i="0">
                <a:solidFill>
                  <a:srgbClr val="1A1A1A"/>
                </a:solidFill>
                <a:latin typeface="Abadi"/>
              </a:rPr>
              <a:t>▪  A breath test detects fermentation: H2 rise of 20 ppm, CH4 of 10 ppm, and the timing tells you where.</a:t>
            </a:r>
          </a:p>
          <a:p>
            <a:pPr algn="l">
              <a:spcBef>
                <a:spcPts val="900"/>
              </a:spcBef>
            </a:pPr>
            <a:r>
              <a:rPr sz="1450" b="0" i="0">
                <a:solidFill>
                  <a:srgbClr val="1A1A1A"/>
                </a:solidFill>
                <a:latin typeface="Abadi"/>
              </a:rPr>
              <a:t>▪  Stop antibiotics 4 weeks and laxatives 1 week before; PPIs need not be stopped for H2 testing.</a:t>
            </a:r>
          </a:p>
          <a:p>
            <a:pPr algn="l">
              <a:spcBef>
                <a:spcPts val="900"/>
              </a:spcBef>
            </a:pPr>
            <a:r>
              <a:rPr sz="1450" b="0" i="0">
                <a:solidFill>
                  <a:srgbClr val="1A1A1A"/>
                </a:solidFill>
                <a:latin typeface="Abadi"/>
              </a:rPr>
              <a:t>▪  Lactase non-persistence affects 68% of people worldwide; malabsorption becomes intolerance only with symptoms.</a:t>
            </a:r>
          </a:p>
          <a:p>
            <a:pPr algn="l">
              <a:spcBef>
                <a:spcPts val="900"/>
              </a:spcBef>
            </a:pPr>
            <a:r>
              <a:rPr sz="1450" b="0" i="0">
                <a:solidFill>
                  <a:srgbClr val="1A1A1A"/>
                </a:solidFill>
                <a:latin typeface="Abadi"/>
              </a:rPr>
              <a:t>▪  Fructose tests are positive in 88% of infants and 59% of healthy children: physiology, not disease.</a:t>
            </a:r>
          </a:p>
          <a:p>
            <a:pPr algn="l">
              <a:spcBef>
                <a:spcPts val="900"/>
              </a:spcBef>
            </a:pPr>
            <a:r>
              <a:rPr sz="1450" b="0" i="0">
                <a:solidFill>
                  <a:srgbClr val="1A1A1A"/>
                </a:solidFill>
                <a:latin typeface="Abadi"/>
              </a:rPr>
              <a:t>▪  Against culture, glucose testing is 55% sensitive and 83% specific; lactulose 42% and 71%.</a:t>
            </a:r>
          </a:p>
          <a:p>
            <a:pPr algn="l">
              <a:spcBef>
                <a:spcPts val="900"/>
              </a:spcBef>
            </a:pPr>
            <a:r>
              <a:rPr sz="1450" b="0" i="0">
                <a:solidFill>
                  <a:srgbClr val="1A1A1A"/>
                </a:solidFill>
                <a:latin typeface="Abadi"/>
              </a:rPr>
              <a:t>▪  In 88% of positive lactulose tests the meal had already reached the caecum.</a:t>
            </a:r>
          </a:p>
          <a:p>
            <a:pPr algn="l">
              <a:spcBef>
                <a:spcPts val="900"/>
              </a:spcBef>
            </a:pPr>
            <a:r>
              <a:rPr sz="1450" b="0" i="0">
                <a:solidFill>
                  <a:srgbClr val="1A1A1A"/>
                </a:solidFill>
                <a:latin typeface="Abadi"/>
              </a:rPr>
              <a:t>▪  A flat hydrogen curve without methane data may be a non-producer (2–43%), not a negative test.</a:t>
            </a:r>
          </a:p>
          <a:p>
            <a:pPr algn="l">
              <a:spcBef>
                <a:spcPts val="900"/>
              </a:spcBef>
            </a:pPr>
            <a:r>
              <a:rPr sz="1450" b="0" i="0">
                <a:solidFill>
                  <a:srgbClr val="1A1A1A"/>
                </a:solidFill>
                <a:latin typeface="Abadi"/>
              </a:rPr>
              <a:t>▪  13C-urea confirms H. pylori eradication 6–8 weeks after therapy; under 6 years expect false positives.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anchor="ctr" lIns="36576" rIns="36576" tIns="18288" bIns="18288">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anchor="ctr" lIns="36576" rIns="36576" tIns="18288" bIns="18288">
            <a:spAutoFit/>
          </a:bodyPr>
          <a:lstStyle/>
          <a:p>
            <a:pPr algn="l"/>
            <a:r>
              <a:rPr sz="1200" b="1" i="0">
                <a:solidFill>
                  <a:srgbClr val="2E5A88"/>
                </a:solidFill>
                <a:latin typeface="Abadi"/>
              </a:rPr>
              <a:t>SYNTHESIS — SCENARIO TO TEST</a:t>
            </a:r>
          </a:p>
        </p:txBody>
      </p:sp>
      <p:sp>
        <p:nvSpPr>
          <p:cNvPr id="5" name="TextBox 4"/>
          <p:cNvSpPr txBox="1"/>
          <p:nvPr/>
        </p:nvSpPr>
        <p:spPr>
          <a:xfrm>
            <a:off x="548640" y="758952"/>
            <a:ext cx="11091672" cy="557784"/>
          </a:xfrm>
          <a:prstGeom prst="rect">
            <a:avLst/>
          </a:prstGeom>
          <a:noFill/>
        </p:spPr>
        <p:txBody>
          <a:bodyPr wrap="square" anchor="ctr" lIns="36576" rIns="36576" tIns="18288" bIns="18288">
            <a:spAutoFit/>
          </a:bodyPr>
          <a:lstStyle/>
          <a:p>
            <a:pPr algn="l"/>
            <a:r>
              <a:rPr sz="3000" b="1" i="0">
                <a:solidFill>
                  <a:srgbClr val="1B355E"/>
                </a:solidFill>
                <a:latin typeface="Abadi"/>
              </a:rPr>
              <a:t>FROM SCENARIO TO DECISION</a:t>
            </a:r>
          </a:p>
        </p:txBody>
      </p:sp>
      <p:sp>
        <p:nvSpPr>
          <p:cNvPr id="6" name="Rectangle 5"/>
          <p:cNvSpPr/>
          <p:nvPr/>
        </p:nvSpPr>
        <p:spPr>
          <a:xfrm>
            <a:off x="548640" y="132588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074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45368" y="5971032"/>
            <a:ext cx="704088" cy="301752"/>
          </a:xfrm>
          <a:prstGeom prst="rect">
            <a:avLst/>
          </a:prstGeom>
          <a:noFill/>
        </p:spPr>
        <p:txBody>
          <a:bodyPr wrap="square" anchor="t" lIns="36576" rIns="36576" tIns="18288" bIns="18288">
            <a:spAutoFit/>
          </a:bodyPr>
          <a:lstStyle/>
          <a:p>
            <a:pPr algn="r"/>
            <a:r>
              <a:rPr sz="1200" b="1" i="0">
                <a:solidFill>
                  <a:srgbClr val="1B355E"/>
                </a:solidFill>
                <a:latin typeface="Abadi"/>
              </a:rPr>
              <a:t>19</a:t>
            </a:r>
          </a:p>
        </p:txBody>
      </p:sp>
      <p:sp>
        <p:nvSpPr>
          <p:cNvPr id="10" name="TextBox 9"/>
          <p:cNvSpPr txBox="1"/>
          <p:nvPr/>
        </p:nvSpPr>
        <p:spPr>
          <a:xfrm>
            <a:off x="548640" y="5971032"/>
            <a:ext cx="10296144" cy="329184"/>
          </a:xfrm>
          <a:prstGeom prst="rect">
            <a:avLst/>
          </a:prstGeom>
          <a:noFill/>
        </p:spPr>
        <p:txBody>
          <a:bodyPr wrap="square" anchor="t" lIns="36576" rIns="36576" tIns="18288" bIns="18288">
            <a:spAutoFit/>
          </a:bodyPr>
          <a:lstStyle/>
          <a:p>
            <a:pPr algn="l"/>
            <a:r>
              <a:rPr sz="1000" b="0" i="1">
                <a:solidFill>
                  <a:srgbClr val="555555"/>
                </a:solidFill>
                <a:latin typeface="Abadi"/>
              </a:rPr>
              <a:t>Rezaie 2017 · Hammer 2022 · Jones 2011 · Yu 2011 · Collins 2011 · Pimentel 2020 · Homan 2024</a:t>
            </a:r>
          </a:p>
        </p:txBody>
      </p:sp>
      <p:graphicFrame>
        <p:nvGraphicFramePr>
          <p:cNvPr id="11" name="Table 10"/>
          <p:cNvGraphicFramePr>
            <a:graphicFrameLocks noGrp="1"/>
          </p:cNvGraphicFramePr>
          <p:nvPr/>
        </p:nvGraphicFramePr>
        <p:xfrm>
          <a:off x="548640" y="1499616"/>
          <a:ext cx="11091672" cy="4133088"/>
        </p:xfrm>
        <a:graphic>
          <a:graphicData uri="http://schemas.openxmlformats.org/drawingml/2006/table">
            <a:tbl>
              <a:tblPr firstRow="0" bandRow="0">
                <a:tableStyleId>{5C22544A-7EE6-4342-B048-85BDC9FD1C3A}</a:tableStyleId>
              </a:tblPr>
              <a:tblGrid>
                <a:gridCol w="3017520"/>
                <a:gridCol w="2560320"/>
                <a:gridCol w="2651760"/>
                <a:gridCol w="2862072"/>
              </a:tblGrid>
              <a:tr h="420624">
                <a:tc>
                  <a:txBody>
                    <a:bodyPr wrap="square"/>
                    <a:lstStyle/>
                    <a:p>
                      <a:r>
                        <a:rPr sz="1200" b="1">
                          <a:solidFill>
                            <a:srgbClr val="FFFFFF"/>
                          </a:solidFill>
                          <a:latin typeface="Abadi"/>
                        </a:rPr>
                        <a:t>Scenario</a:t>
                      </a:r>
                    </a:p>
                  </a:txBody>
                  <a:tcPr anchor="ctr" marL="73152" marR="73152" marT="27432" marB="27432">
                    <a:solidFill>
                      <a:srgbClr val="1B355E"/>
                    </a:solidFill>
                  </a:tcPr>
                </a:tc>
                <a:tc>
                  <a:txBody>
                    <a:bodyPr wrap="square"/>
                    <a:lstStyle/>
                    <a:p>
                      <a:r>
                        <a:rPr sz="1200" b="1">
                          <a:solidFill>
                            <a:srgbClr val="FFFFFF"/>
                          </a:solidFill>
                          <a:latin typeface="Abadi"/>
                        </a:rPr>
                        <a:t>Test</a:t>
                      </a:r>
                    </a:p>
                  </a:txBody>
                  <a:tcPr anchor="ctr" marL="73152" marR="73152" marT="27432" marB="27432">
                    <a:solidFill>
                      <a:srgbClr val="1B355E"/>
                    </a:solidFill>
                  </a:tcPr>
                </a:tc>
                <a:tc>
                  <a:txBody>
                    <a:bodyPr wrap="square"/>
                    <a:lstStyle/>
                    <a:p>
                      <a:r>
                        <a:rPr sz="1200" b="1">
                          <a:solidFill>
                            <a:srgbClr val="FFFFFF"/>
                          </a:solidFill>
                          <a:latin typeface="Abadi"/>
                        </a:rPr>
                        <a:t>Read as</a:t>
                      </a:r>
                    </a:p>
                  </a:txBody>
                  <a:tcPr anchor="ctr" marL="73152" marR="73152" marT="27432" marB="27432">
                    <a:solidFill>
                      <a:srgbClr val="1B355E"/>
                    </a:solidFill>
                  </a:tcPr>
                </a:tc>
                <a:tc>
                  <a:txBody>
                    <a:bodyPr wrap="square"/>
                    <a:lstStyle/>
                    <a:p>
                      <a:r>
                        <a:rPr sz="1200" b="1">
                          <a:solidFill>
                            <a:srgbClr val="FFFFFF"/>
                          </a:solidFill>
                          <a:latin typeface="Abadi"/>
                        </a:rPr>
                        <a:t>Do</a:t>
                      </a:r>
                    </a:p>
                  </a:txBody>
                  <a:tcPr anchor="ctr" marL="73152" marR="73152" marT="27432" marB="27432">
                    <a:solidFill>
                      <a:srgbClr val="1B355E"/>
                    </a:solidFill>
                  </a:tcPr>
                </a:tc>
              </a:tr>
              <a:tr h="530352">
                <a:tc>
                  <a:txBody>
                    <a:bodyPr wrap="square"/>
                    <a:lstStyle/>
                    <a:p>
                      <a:r>
                        <a:rPr sz="950" b="1">
                          <a:solidFill>
                            <a:srgbClr val="1A1A1A"/>
                          </a:solidFill>
                          <a:latin typeface="Abadi"/>
                        </a:rPr>
                        <a:t>12-year-old, bloating after milk, East Asian family</a:t>
                      </a:r>
                    </a:p>
                  </a:txBody>
                  <a:tcPr anchor="ctr" marL="73152" marR="73152" marT="27432" marB="27432">
                    <a:solidFill>
                      <a:srgbClr val="FFFFFF"/>
                    </a:solidFill>
                  </a:tcPr>
                </a:tc>
                <a:tc>
                  <a:txBody>
                    <a:bodyPr wrap="square"/>
                    <a:lstStyle/>
                    <a:p>
                      <a:r>
                        <a:rPr sz="950" b="0">
                          <a:solidFill>
                            <a:srgbClr val="1A1A1A"/>
                          </a:solidFill>
                          <a:latin typeface="Abadi"/>
                        </a:rPr>
                        <a:t>Lactose test with symptom score, or none</a:t>
                      </a:r>
                    </a:p>
                  </a:txBody>
                  <a:tcPr anchor="ctr" marL="73152" marR="73152" marT="27432" marB="27432">
                    <a:solidFill>
                      <a:srgbClr val="FFFFFF"/>
                    </a:solidFill>
                  </a:tcPr>
                </a:tc>
                <a:tc>
                  <a:txBody>
                    <a:bodyPr wrap="square"/>
                    <a:lstStyle/>
                    <a:p>
                      <a:r>
                        <a:rPr sz="950" b="0">
                          <a:solidFill>
                            <a:srgbClr val="1A1A1A"/>
                          </a:solidFill>
                          <a:latin typeface="Abadi"/>
                        </a:rPr>
                        <a:t>Expected non-persistence</a:t>
                      </a:r>
                    </a:p>
                  </a:txBody>
                  <a:tcPr anchor="ctr" marL="73152" marR="73152" marT="27432" marB="27432">
                    <a:solidFill>
                      <a:srgbClr val="FFFFFF"/>
                    </a:solidFill>
                  </a:tcPr>
                </a:tc>
                <a:tc>
                  <a:txBody>
                    <a:bodyPr wrap="square"/>
                    <a:lstStyle/>
                    <a:p>
                      <a:r>
                        <a:rPr sz="950" b="0">
                          <a:solidFill>
                            <a:srgbClr val="1A1A1A"/>
                          </a:solidFill>
                          <a:latin typeface="Abadi"/>
                        </a:rPr>
                        <a:t>Trial of lactose reduction; keep calcium</a:t>
                      </a:r>
                    </a:p>
                  </a:txBody>
                  <a:tcPr anchor="ctr" marL="73152" marR="73152" marT="27432" marB="27432">
                    <a:solidFill>
                      <a:srgbClr val="FFFFFF"/>
                    </a:solidFill>
                  </a:tcPr>
                </a:tc>
              </a:tr>
              <a:tr h="530352">
                <a:tc>
                  <a:txBody>
                    <a:bodyPr wrap="square"/>
                    <a:lstStyle/>
                    <a:p>
                      <a:r>
                        <a:rPr sz="950" b="1">
                          <a:solidFill>
                            <a:srgbClr val="1A1A1A"/>
                          </a:solidFill>
                          <a:latin typeface="Abadi"/>
                        </a:rPr>
                        <a:t>3-year-old, toddler's diarrhoea, fructose test positive</a:t>
                      </a:r>
                    </a:p>
                  </a:txBody>
                  <a:tcPr anchor="ctr" marL="73152" marR="73152" marT="27432" marB="27432">
                    <a:solidFill>
                      <a:srgbClr val="F0F0F0"/>
                    </a:solidFill>
                  </a:tcPr>
                </a:tc>
                <a:tc>
                  <a:txBody>
                    <a:bodyPr wrap="square"/>
                    <a:lstStyle/>
                    <a:p>
                      <a:r>
                        <a:rPr sz="950" b="0">
                          <a:solidFill>
                            <a:srgbClr val="1A1A1A"/>
                          </a:solidFill>
                          <a:latin typeface="Abadi"/>
                        </a:rPr>
                        <a:t>Nothing more</a:t>
                      </a:r>
                    </a:p>
                  </a:txBody>
                  <a:tcPr anchor="ctr" marL="73152" marR="73152" marT="27432" marB="27432">
                    <a:solidFill>
                      <a:srgbClr val="F0F0F0"/>
                    </a:solidFill>
                  </a:tcPr>
                </a:tc>
                <a:tc>
                  <a:txBody>
                    <a:bodyPr wrap="square"/>
                    <a:lstStyle/>
                    <a:p>
                      <a:r>
                        <a:rPr sz="950" b="0">
                          <a:solidFill>
                            <a:srgbClr val="1A1A1A"/>
                          </a:solidFill>
                          <a:latin typeface="Abadi"/>
                        </a:rPr>
                        <a:t>Normal for age</a:t>
                      </a:r>
                    </a:p>
                  </a:txBody>
                  <a:tcPr anchor="ctr" marL="73152" marR="73152" marT="27432" marB="27432">
                    <a:solidFill>
                      <a:srgbClr val="F0F0F0"/>
                    </a:solidFill>
                  </a:tcPr>
                </a:tc>
                <a:tc>
                  <a:txBody>
                    <a:bodyPr wrap="square"/>
                    <a:lstStyle/>
                    <a:p>
                      <a:r>
                        <a:rPr sz="950" b="0">
                          <a:solidFill>
                            <a:srgbClr val="1A1A1A"/>
                          </a:solidFill>
                          <a:latin typeface="Abadi"/>
                        </a:rPr>
                        <a:t>Review juice intake; do not restrict fruit broadly</a:t>
                      </a:r>
                    </a:p>
                  </a:txBody>
                  <a:tcPr anchor="ctr" marL="73152" marR="73152" marT="27432" marB="27432">
                    <a:solidFill>
                      <a:srgbClr val="F0F0F0"/>
                    </a:solidFill>
                  </a:tcPr>
                </a:tc>
              </a:tr>
              <a:tr h="530352">
                <a:tc>
                  <a:txBody>
                    <a:bodyPr wrap="square"/>
                    <a:lstStyle/>
                    <a:p>
                      <a:r>
                        <a:rPr sz="950" b="1">
                          <a:solidFill>
                            <a:srgbClr val="1A1A1A"/>
                          </a:solidFill>
                          <a:latin typeface="Abadi"/>
                        </a:rPr>
                        <a:t>14-year-old, functional pain, lactulose peak at 60 min</a:t>
                      </a:r>
                    </a:p>
                  </a:txBody>
                  <a:tcPr anchor="ctr" marL="73152" marR="73152" marT="27432" marB="27432">
                    <a:solidFill>
                      <a:srgbClr val="FFFFFF"/>
                    </a:solidFill>
                  </a:tcPr>
                </a:tc>
                <a:tc>
                  <a:txBody>
                    <a:bodyPr wrap="square"/>
                    <a:lstStyle/>
                    <a:p>
                      <a:r>
                        <a:rPr sz="950" b="0">
                          <a:solidFill>
                            <a:srgbClr val="1A1A1A"/>
                          </a:solidFill>
                          <a:latin typeface="Abadi"/>
                        </a:rPr>
                        <a:t>Glucose test, if any</a:t>
                      </a:r>
                    </a:p>
                  </a:txBody>
                  <a:tcPr anchor="ctr" marL="73152" marR="73152" marT="27432" marB="27432">
                    <a:solidFill>
                      <a:srgbClr val="FFFFFF"/>
                    </a:solidFill>
                  </a:tcPr>
                </a:tc>
                <a:tc>
                  <a:txBody>
                    <a:bodyPr wrap="square"/>
                    <a:lstStyle/>
                    <a:p>
                      <a:r>
                        <a:rPr sz="950" b="0">
                          <a:solidFill>
                            <a:srgbClr val="1A1A1A"/>
                          </a:solidFill>
                          <a:latin typeface="Abadi"/>
                        </a:rPr>
                        <a:t>Probably fast transit</a:t>
                      </a:r>
                    </a:p>
                  </a:txBody>
                  <a:tcPr anchor="ctr" marL="73152" marR="73152" marT="27432" marB="27432">
                    <a:solidFill>
                      <a:srgbClr val="FFFFFF"/>
                    </a:solidFill>
                  </a:tcPr>
                </a:tc>
                <a:tc>
                  <a:txBody>
                    <a:bodyPr wrap="square"/>
                    <a:lstStyle/>
                    <a:p>
                      <a:r>
                        <a:rPr sz="950" b="0">
                          <a:solidFill>
                            <a:srgbClr val="1A1A1A"/>
                          </a:solidFill>
                          <a:latin typeface="Abadi"/>
                        </a:rPr>
                        <a:t>Treat the functional disorder</a:t>
                      </a:r>
                    </a:p>
                  </a:txBody>
                  <a:tcPr anchor="ctr" marL="73152" marR="73152" marT="27432" marB="27432">
                    <a:solidFill>
                      <a:srgbClr val="FFFFFF"/>
                    </a:solidFill>
                  </a:tcPr>
                </a:tc>
              </a:tr>
              <a:tr h="530352">
                <a:tc>
                  <a:txBody>
                    <a:bodyPr wrap="square"/>
                    <a:lstStyle/>
                    <a:p>
                      <a:r>
                        <a:rPr sz="950" b="1">
                          <a:solidFill>
                            <a:srgbClr val="1A1A1A"/>
                          </a:solidFill>
                          <a:latin typeface="Abadi"/>
                        </a:rPr>
                        <a:t>Short bowel after resection, diarrhoea, bloating</a:t>
                      </a:r>
                    </a:p>
                  </a:txBody>
                  <a:tcPr anchor="ctr" marL="73152" marR="73152" marT="27432" marB="27432">
                    <a:solidFill>
                      <a:srgbClr val="F0F0F0"/>
                    </a:solidFill>
                  </a:tcPr>
                </a:tc>
                <a:tc>
                  <a:txBody>
                    <a:bodyPr wrap="square"/>
                    <a:lstStyle/>
                    <a:p>
                      <a:r>
                        <a:rPr sz="950" b="0">
                          <a:solidFill>
                            <a:srgbClr val="1A1A1A"/>
                          </a:solidFill>
                          <a:latin typeface="Abadi"/>
                        </a:rPr>
                        <a:t>Glucose test</a:t>
                      </a:r>
                    </a:p>
                  </a:txBody>
                  <a:tcPr anchor="ctr" marL="73152" marR="73152" marT="27432" marB="27432">
                    <a:solidFill>
                      <a:srgbClr val="F0F0F0"/>
                    </a:solidFill>
                  </a:tcPr>
                </a:tc>
                <a:tc>
                  <a:txBody>
                    <a:bodyPr wrap="square"/>
                    <a:lstStyle/>
                    <a:p>
                      <a:r>
                        <a:rPr sz="950" b="0">
                          <a:solidFill>
                            <a:srgbClr val="1A1A1A"/>
                          </a:solidFill>
                          <a:latin typeface="Abadi"/>
                        </a:rPr>
                        <a:t>Overgrowth plausible; false positives after surgery</a:t>
                      </a:r>
                    </a:p>
                  </a:txBody>
                  <a:tcPr anchor="ctr" marL="73152" marR="73152" marT="27432" marB="27432">
                    <a:solidFill>
                      <a:srgbClr val="F0F0F0"/>
                    </a:solidFill>
                  </a:tcPr>
                </a:tc>
                <a:tc>
                  <a:txBody>
                    <a:bodyPr wrap="square"/>
                    <a:lstStyle/>
                    <a:p>
                      <a:r>
                        <a:rPr sz="950" b="0">
                          <a:solidFill>
                            <a:srgbClr val="1A1A1A"/>
                          </a:solidFill>
                          <a:latin typeface="Abadi"/>
                        </a:rPr>
                        <a:t>Empirical antibiotic trial with review</a:t>
                      </a:r>
                    </a:p>
                  </a:txBody>
                  <a:tcPr anchor="ctr" marL="73152" marR="73152" marT="27432" marB="27432">
                    <a:solidFill>
                      <a:srgbClr val="F0F0F0"/>
                    </a:solidFill>
                  </a:tcPr>
                </a:tc>
              </a:tr>
              <a:tr h="530352">
                <a:tc>
                  <a:txBody>
                    <a:bodyPr wrap="square"/>
                    <a:lstStyle/>
                    <a:p>
                      <a:r>
                        <a:rPr sz="950" b="1">
                          <a:solidFill>
                            <a:srgbClr val="1A1A1A"/>
                          </a:solidFill>
                          <a:latin typeface="Abadi"/>
                        </a:rPr>
                        <a:t>Constipation, flat H2, CH4 25 ppm</a:t>
                      </a:r>
                    </a:p>
                  </a:txBody>
                  <a:tcPr anchor="ctr" marL="73152" marR="73152" marT="27432" marB="27432">
                    <a:solidFill>
                      <a:srgbClr val="FFFFFF"/>
                    </a:solidFill>
                  </a:tcPr>
                </a:tc>
                <a:tc>
                  <a:txBody>
                    <a:bodyPr wrap="square"/>
                    <a:lstStyle/>
                    <a:p>
                      <a:r>
                        <a:rPr sz="950" b="0">
                          <a:solidFill>
                            <a:srgbClr val="1A1A1A"/>
                          </a:solidFill>
                          <a:latin typeface="Abadi"/>
                        </a:rPr>
                        <a:t>H2 and CH4 together</a:t>
                      </a:r>
                    </a:p>
                  </a:txBody>
                  <a:tcPr anchor="ctr" marL="73152" marR="73152" marT="27432" marB="27432">
                    <a:solidFill>
                      <a:srgbClr val="FFFFFF"/>
                    </a:solidFill>
                  </a:tcPr>
                </a:tc>
                <a:tc>
                  <a:txBody>
                    <a:bodyPr wrap="square"/>
                    <a:lstStyle/>
                    <a:p>
                      <a:r>
                        <a:rPr sz="950" b="0">
                          <a:solidFill>
                            <a:srgbClr val="1A1A1A"/>
                          </a:solidFill>
                          <a:latin typeface="Abadi"/>
                        </a:rPr>
                        <a:t>Intestinal methanogen overgrowth</a:t>
                      </a:r>
                    </a:p>
                  </a:txBody>
                  <a:tcPr anchor="ctr" marL="73152" marR="73152" marT="27432" marB="27432">
                    <a:solidFill>
                      <a:srgbClr val="FFFFFF"/>
                    </a:solidFill>
                  </a:tcPr>
                </a:tc>
                <a:tc>
                  <a:txBody>
                    <a:bodyPr wrap="square"/>
                    <a:lstStyle/>
                    <a:p>
                      <a:r>
                        <a:rPr sz="950" b="0">
                          <a:solidFill>
                            <a:srgbClr val="1A1A1A"/>
                          </a:solidFill>
                          <a:latin typeface="Abadi"/>
                        </a:rPr>
                        <a:t>Treat the constipation; consider IMO therapy</a:t>
                      </a:r>
                    </a:p>
                  </a:txBody>
                  <a:tcPr anchor="ctr" marL="73152" marR="73152" marT="27432" marB="27432">
                    <a:solidFill>
                      <a:srgbClr val="FFFFFF"/>
                    </a:solidFill>
                  </a:tcPr>
                </a:tc>
              </a:tr>
              <a:tr h="530352">
                <a:tc>
                  <a:txBody>
                    <a:bodyPr wrap="square"/>
                    <a:lstStyle/>
                    <a:p>
                      <a:r>
                        <a:rPr sz="950" b="1">
                          <a:solidFill>
                            <a:srgbClr val="1A1A1A"/>
                          </a:solidFill>
                          <a:latin typeface="Abadi"/>
                        </a:rPr>
                        <a:t>9-year-old, 6 weeks after H. pylori therapy, on PPI</a:t>
                      </a:r>
                    </a:p>
                  </a:txBody>
                  <a:tcPr anchor="ctr" marL="73152" marR="73152" marT="27432" marB="27432">
                    <a:solidFill>
                      <a:srgbClr val="F0F0F0"/>
                    </a:solidFill>
                  </a:tcPr>
                </a:tc>
                <a:tc>
                  <a:txBody>
                    <a:bodyPr wrap="square"/>
                    <a:lstStyle/>
                    <a:p>
                      <a:r>
                        <a:rPr sz="950" b="0">
                          <a:solidFill>
                            <a:srgbClr val="1A1A1A"/>
                          </a:solidFill>
                          <a:latin typeface="Abadi"/>
                        </a:rPr>
                        <a:t>Stop PPI 2 weeks, then 13C-urea</a:t>
                      </a:r>
                    </a:p>
                  </a:txBody>
                  <a:tcPr anchor="ctr" marL="73152" marR="73152" marT="27432" marB="27432">
                    <a:solidFill>
                      <a:srgbClr val="F0F0F0"/>
                    </a:solidFill>
                  </a:tcPr>
                </a:tc>
                <a:tc>
                  <a:txBody>
                    <a:bodyPr wrap="square"/>
                    <a:lstStyle/>
                    <a:p>
                      <a:r>
                        <a:rPr sz="950" b="0">
                          <a:solidFill>
                            <a:srgbClr val="1A1A1A"/>
                          </a:solidFill>
                          <a:latin typeface="Abadi"/>
                        </a:rPr>
                        <a:t>Test of cure</a:t>
                      </a:r>
                    </a:p>
                  </a:txBody>
                  <a:tcPr anchor="ctr" marL="73152" marR="73152" marT="27432" marB="27432">
                    <a:solidFill>
                      <a:srgbClr val="F0F0F0"/>
                    </a:solidFill>
                  </a:tcPr>
                </a:tc>
                <a:tc>
                  <a:txBody>
                    <a:bodyPr wrap="square"/>
                    <a:lstStyle/>
                    <a:p>
                      <a:r>
                        <a:rPr sz="950" b="0">
                          <a:solidFill>
                            <a:srgbClr val="1A1A1A"/>
                          </a:solidFill>
                          <a:latin typeface="Abadi"/>
                        </a:rPr>
                        <a:t>If positive, second line guided by culture</a:t>
                      </a:r>
                    </a:p>
                  </a:txBody>
                  <a:tcPr anchor="ctr" marL="73152" marR="73152" marT="27432" marB="27432">
                    <a:solidFill>
                      <a:srgbClr val="F0F0F0"/>
                    </a:solidFill>
                  </a:tcPr>
                </a:tc>
              </a:tr>
              <a:tr h="530352">
                <a:tc>
                  <a:txBody>
                    <a:bodyPr wrap="square"/>
                    <a:lstStyle/>
                    <a:p>
                      <a:r>
                        <a:rPr sz="950" b="1">
                          <a:solidFill>
                            <a:srgbClr val="1A1A1A"/>
                          </a:solidFill>
                          <a:latin typeface="Abadi"/>
                        </a:rPr>
                        <a:t>4-year-old, positive 13C-urea, no endoscopy</a:t>
                      </a:r>
                    </a:p>
                  </a:txBody>
                  <a:tcPr anchor="ctr" marL="73152" marR="73152" marT="27432" marB="27432">
                    <a:solidFill>
                      <a:srgbClr val="FFFFFF"/>
                    </a:solidFill>
                  </a:tcPr>
                </a:tc>
                <a:tc>
                  <a:txBody>
                    <a:bodyPr wrap="square"/>
                    <a:lstStyle/>
                    <a:p>
                      <a:r>
                        <a:rPr sz="950" b="0">
                          <a:solidFill>
                            <a:srgbClr val="1A1A1A"/>
                          </a:solidFill>
                          <a:latin typeface="Abadi"/>
                        </a:rPr>
                        <a:t>Endoscopy with biopsy</a:t>
                      </a:r>
                    </a:p>
                  </a:txBody>
                  <a:tcPr anchor="ctr" marL="73152" marR="73152" marT="27432" marB="27432">
                    <a:solidFill>
                      <a:srgbClr val="FFFFFF"/>
                    </a:solidFill>
                  </a:tcPr>
                </a:tc>
                <a:tc>
                  <a:txBody>
                    <a:bodyPr wrap="square"/>
                    <a:lstStyle/>
                    <a:p>
                      <a:r>
                        <a:rPr sz="950" b="0">
                          <a:solidFill>
                            <a:srgbClr val="1A1A1A"/>
                          </a:solidFill>
                          <a:latin typeface="Abadi"/>
                        </a:rPr>
                        <a:t>Possible false positive</a:t>
                      </a:r>
                    </a:p>
                  </a:txBody>
                  <a:tcPr anchor="ctr" marL="73152" marR="73152" marT="27432" marB="27432">
                    <a:solidFill>
                      <a:srgbClr val="FFFFFF"/>
                    </a:solidFill>
                  </a:tcPr>
                </a:tc>
                <a:tc>
                  <a:txBody>
                    <a:bodyPr wrap="square"/>
                    <a:lstStyle/>
                    <a:p>
                      <a:r>
                        <a:rPr sz="950" b="0">
                          <a:solidFill>
                            <a:srgbClr val="1A1A1A"/>
                          </a:solidFill>
                          <a:latin typeface="Abadi"/>
                        </a:rPr>
                        <a:t>Do not treat on the breath test alone</a:t>
                      </a:r>
                    </a:p>
                  </a:txBody>
                  <a:tcPr anchor="ctr" marL="73152" marR="73152" marT="27432" marB="27432">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anchor="b" lIns="36576" rIns="36576" tIns="18288" bIns="18288">
            <a:spAutoFit/>
          </a:bodyPr>
          <a:lstStyle/>
          <a:p>
            <a:pPr algn="ctr"/>
            <a:r>
              <a:rPr sz="4200" b="1" i="0">
                <a:solidFill>
                  <a:srgbClr val="FFFFFF"/>
                </a:solidFill>
                <a:latin typeface="Abadi"/>
              </a:rPr>
              <a:t>Breath Tests in Paediatric Gastroenterology</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anchor="t" lIns="36576" rIns="36576" tIns="18288" bIns="18288">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