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45720" rIns="45720" tIns="27432" bIns="27432" anchor="b">
            <a:spAutoFit/>
          </a:bodyPr>
          <a:lstStyle/>
          <a:p>
            <a:pPr algn="ctr"/>
            <a:r>
              <a:rPr sz="4000" b="1" i="0">
                <a:solidFill>
                  <a:srgbClr val="FFFFFF"/>
                </a:solidFill>
                <a:latin typeface="Abadi"/>
              </a:rPr>
              <a:t>Deprescribing Proton Pump Inhibitors — Rebound Hypersecretion, Tapering, Prescription Audit and the Conversation with Families</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45720" rIns="45720" tIns="27432" bIns="27432" anchor="t">
            <a:spAutoFit/>
          </a:bodyPr>
          <a:lstStyle/>
          <a:p>
            <a:pPr algn="ctr"/>
            <a:r>
              <a:rPr sz="1100" b="0" i="0">
                <a:solidFill>
                  <a:srgbClr val="D9DEE7"/>
                </a:solidFill>
                <a:latin typeface="Abadi"/>
              </a:rPr>
              <a:t>Reimer 2009 · Niklasson 2010 · Namikawa 2024 · Farrell 2017 · Boghossian 2017 (Cochrane) · Haastrup 2014 · Targownik 2022 (AGA) · Katz 2022 (ACG) · Rosen 2018 (NASPGHAN/ESPGHAN) · NICE NG1 · Orenstein 2009 · Aznar-Lou 2019 · Angelidou 2017 · Scherer 2013 · Størdal 2024</a:t>
            </a:r>
          </a:p>
        </p:txBody>
      </p:sp>
      <p:sp>
        <p:nvSpPr>
          <p:cNvPr id="7" name="TextBox 6"/>
          <p:cNvSpPr txBox="1"/>
          <p:nvPr/>
        </p:nvSpPr>
        <p:spPr>
          <a:xfrm>
            <a:off x="548640" y="5193792"/>
            <a:ext cx="11082528" cy="548640"/>
          </a:xfrm>
          <a:prstGeom prst="rect">
            <a:avLst/>
          </a:prstGeom>
          <a:noFill/>
        </p:spPr>
        <p:txBody>
          <a:bodyPr wrap="square" lIns="45720" rIns="45720" tIns="27432" bIns="27432" anchor="t">
            <a:spAutoFit/>
          </a:bodyPr>
          <a:lstStyle/>
          <a:p>
            <a:pPr algn="ctr"/>
            <a:r>
              <a:rPr sz="1100" b="0" i="1">
                <a:solidFill>
                  <a:srgbClr val="D9DEE7"/>
                </a:solidFill>
                <a:latin typeface="Abadi"/>
              </a:rPr>
              <a:t>every prescription needs an indication and an end date · rebound is real, brief and predictable · taper the dose, not the conversation · warn before you stop · audit, because nobody else will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WHO WILL STOP THE OMEPRAZOLE?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A thriving 14-month-old still on omeprazole started at 6 weeks for crying and spitting: the GP renews it every month</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Rosen R, et al. JPGN 2018;66:516–54 · Targownik LE, et al. Gastroenterology 2022;162:1334–42 · Aznar-Lou I, et al. Basic Clin Pharmacol Toxicol 2019;124:704–10</a:t>
            </a:r>
          </a:p>
        </p:txBody>
      </p:sp>
      <p:sp>
        <p:nvSpPr>
          <p:cNvPr id="12" name="Rectangle 11"/>
          <p:cNvSpPr/>
          <p:nvPr/>
        </p:nvSpPr>
        <p:spPr>
          <a:xfrm>
            <a:off x="548640"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1500" b="1" i="0">
                <a:solidFill>
                  <a:srgbClr val="1B355E"/>
                </a:solidFill>
                <a:latin typeface="Abadi"/>
              </a:rPr>
              <a:t>Indication</a:t>
            </a:r>
          </a:p>
        </p:txBody>
      </p:sp>
      <p:sp>
        <p:nvSpPr>
          <p:cNvPr id="15" name="TextBox 14"/>
          <p:cNvSpPr txBox="1"/>
          <p:nvPr/>
        </p:nvSpPr>
        <p:spPr>
          <a:xfrm>
            <a:off x="694944"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Was there one?</a:t>
            </a:r>
          </a:p>
          <a:p>
            <a:pPr>
              <a:spcAft>
                <a:spcPts val="400"/>
              </a:spcAft>
            </a:pPr>
            <a:r>
              <a:rPr sz="1100" b="0" i="0">
                <a:solidFill>
                  <a:srgbClr val="1A1A1A"/>
                </a:solidFill>
                <a:latin typeface="Abadi"/>
              </a:rPr>
              <a:t>▪  Is it still there?</a:t>
            </a:r>
          </a:p>
          <a:p>
            <a:pPr>
              <a:spcAft>
                <a:spcPts val="400"/>
              </a:spcAft>
            </a:pPr>
            <a:r>
              <a:rPr sz="1100" b="0" i="0">
                <a:solidFill>
                  <a:srgbClr val="1A1A1A"/>
                </a:solidFill>
                <a:latin typeface="Abadi"/>
              </a:rPr>
              <a:t>▪  Who owns the plan?</a:t>
            </a:r>
          </a:p>
        </p:txBody>
      </p:sp>
      <p:sp>
        <p:nvSpPr>
          <p:cNvPr id="16" name="Rectangle 15"/>
          <p:cNvSpPr/>
          <p:nvPr/>
        </p:nvSpPr>
        <p:spPr>
          <a:xfrm>
            <a:off x="2801721"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1500" b="1" i="0">
                <a:solidFill>
                  <a:srgbClr val="B22222"/>
                </a:solidFill>
                <a:latin typeface="Abadi"/>
              </a:rPr>
              <a:t>Rebound</a:t>
            </a:r>
          </a:p>
        </p:txBody>
      </p:sp>
      <p:sp>
        <p:nvSpPr>
          <p:cNvPr id="19" name="TextBox 18"/>
          <p:cNvSpPr txBox="1"/>
          <p:nvPr/>
        </p:nvSpPr>
        <p:spPr>
          <a:xfrm>
            <a:off x="2948025"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Gastrin-driven overshoot</a:t>
            </a:r>
          </a:p>
          <a:p>
            <a:pPr>
              <a:spcAft>
                <a:spcPts val="400"/>
              </a:spcAft>
            </a:pPr>
            <a:r>
              <a:rPr sz="1100" b="0" i="0">
                <a:solidFill>
                  <a:srgbClr val="1A1A1A"/>
                </a:solidFill>
                <a:latin typeface="Abadi"/>
              </a:rPr>
              <a:t>▪  Days 5–14 after stopping</a:t>
            </a:r>
          </a:p>
          <a:p>
            <a:pPr>
              <a:spcAft>
                <a:spcPts val="400"/>
              </a:spcAft>
            </a:pPr>
            <a:r>
              <a:rPr sz="1100" b="0" i="0">
                <a:solidFill>
                  <a:srgbClr val="1A1A1A"/>
                </a:solidFill>
                <a:latin typeface="Abadi"/>
              </a:rPr>
              <a:t>▪  Mimics relapse</a:t>
            </a:r>
          </a:p>
        </p:txBody>
      </p:sp>
      <p:sp>
        <p:nvSpPr>
          <p:cNvPr id="20" name="Rectangle 19"/>
          <p:cNvSpPr/>
          <p:nvPr/>
        </p:nvSpPr>
        <p:spPr>
          <a:xfrm>
            <a:off x="5054803"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1500" b="1" i="0">
                <a:solidFill>
                  <a:srgbClr val="D97A0B"/>
                </a:solidFill>
                <a:latin typeface="Abadi"/>
              </a:rPr>
              <a:t>Taper</a:t>
            </a:r>
          </a:p>
        </p:txBody>
      </p:sp>
      <p:sp>
        <p:nvSpPr>
          <p:cNvPr id="23" name="TextBox 22"/>
          <p:cNvSpPr txBox="1"/>
          <p:nvPr/>
        </p:nvSpPr>
        <p:spPr>
          <a:xfrm>
            <a:off x="5201107"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No pediatric trial</a:t>
            </a:r>
          </a:p>
          <a:p>
            <a:pPr>
              <a:spcAft>
                <a:spcPts val="400"/>
              </a:spcAft>
            </a:pPr>
            <a:r>
              <a:rPr sz="1100" b="0" i="0">
                <a:solidFill>
                  <a:srgbClr val="1A1A1A"/>
                </a:solidFill>
                <a:latin typeface="Abadi"/>
              </a:rPr>
              <a:t>▪  Halve, alternate, stop</a:t>
            </a:r>
          </a:p>
          <a:p>
            <a:pPr>
              <a:spcAft>
                <a:spcPts val="400"/>
              </a:spcAft>
            </a:pPr>
            <a:r>
              <a:rPr sz="1100" b="0" i="0">
                <a:solidFill>
                  <a:srgbClr val="1A1A1A"/>
                </a:solidFill>
                <a:latin typeface="Abadi"/>
              </a:rPr>
              <a:t>▪  Rescue plan ready</a:t>
            </a:r>
          </a:p>
        </p:txBody>
      </p:sp>
      <p:sp>
        <p:nvSpPr>
          <p:cNvPr id="24" name="Rectangle 23"/>
          <p:cNvSpPr/>
          <p:nvPr/>
        </p:nvSpPr>
        <p:spPr>
          <a:xfrm>
            <a:off x="7307884"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1500" b="1" i="0">
                <a:solidFill>
                  <a:srgbClr val="1E7A33"/>
                </a:solidFill>
                <a:latin typeface="Abadi"/>
              </a:rPr>
              <a:t>Audit</a:t>
            </a:r>
          </a:p>
        </p:txBody>
      </p:sp>
      <p:sp>
        <p:nvSpPr>
          <p:cNvPr id="27" name="TextBox 26"/>
          <p:cNvSpPr txBox="1"/>
          <p:nvPr/>
        </p:nvSpPr>
        <p:spPr>
          <a:xfrm>
            <a:off x="7454188"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Pharmacy data</a:t>
            </a:r>
          </a:p>
          <a:p>
            <a:pPr>
              <a:spcAft>
                <a:spcPts val="400"/>
              </a:spcAft>
            </a:pPr>
            <a:r>
              <a:rPr sz="1100" b="0" i="0">
                <a:solidFill>
                  <a:srgbClr val="1A1A1A"/>
                </a:solidFill>
                <a:latin typeface="Abadi"/>
              </a:rPr>
              <a:t>▪  Discharge plans</a:t>
            </a:r>
          </a:p>
          <a:p>
            <a:pPr>
              <a:spcAft>
                <a:spcPts val="400"/>
              </a:spcAft>
            </a:pPr>
            <a:r>
              <a:rPr sz="1100" b="0" i="0">
                <a:solidFill>
                  <a:srgbClr val="1A1A1A"/>
                </a:solidFill>
                <a:latin typeface="Abadi"/>
              </a:rPr>
              <a:t>▪  QI: large falls</a:t>
            </a:r>
          </a:p>
        </p:txBody>
      </p:sp>
      <p:sp>
        <p:nvSpPr>
          <p:cNvPr id="28" name="Rectangle 27"/>
          <p:cNvSpPr/>
          <p:nvPr/>
        </p:nvSpPr>
        <p:spPr>
          <a:xfrm>
            <a:off x="9560966"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1500" b="1" i="0">
                <a:solidFill>
                  <a:srgbClr val="8A939B"/>
                </a:solidFill>
                <a:latin typeface="Abadi"/>
              </a:rPr>
              <a:t>Conversation</a:t>
            </a:r>
          </a:p>
        </p:txBody>
      </p:sp>
      <p:sp>
        <p:nvSpPr>
          <p:cNvPr id="31" name="TextBox 30"/>
          <p:cNvSpPr txBox="1"/>
          <p:nvPr/>
        </p:nvSpPr>
        <p:spPr>
          <a:xfrm>
            <a:off x="9707270" y="2505456"/>
            <a:ext cx="1777593" cy="1325880"/>
          </a:xfrm>
          <a:prstGeom prst="rect">
            <a:avLst/>
          </a:prstGeom>
          <a:noFill/>
        </p:spPr>
        <p:txBody>
          <a:bodyPr wrap="square" lIns="45720" rIns="45720" tIns="27432" bIns="27432" anchor="t">
            <a:spAutoFit/>
          </a:bodyPr>
          <a:lstStyle/>
          <a:p>
            <a:pPr>
              <a:spcAft>
                <a:spcPts val="400"/>
              </a:spcAft>
            </a:pPr>
            <a:r>
              <a:rPr sz="1100" b="0" i="0">
                <a:solidFill>
                  <a:srgbClr val="1A1A1A"/>
                </a:solidFill>
                <a:latin typeface="Abadi"/>
              </a:rPr>
              <a:t>▪  The label drives the demand</a:t>
            </a:r>
          </a:p>
          <a:p>
            <a:pPr>
              <a:spcAft>
                <a:spcPts val="400"/>
              </a:spcAft>
            </a:pPr>
            <a:r>
              <a:rPr sz="1100" b="0" i="0">
                <a:solidFill>
                  <a:srgbClr val="1A1A1A"/>
                </a:solidFill>
                <a:latin typeface="Abadi"/>
              </a:rPr>
              <a:t>▪  Warn before you stop</a:t>
            </a:r>
          </a:p>
        </p:txBody>
      </p:sp>
      <p:sp>
        <p:nvSpPr>
          <p:cNvPr id="32" name="TextBox 31"/>
          <p:cNvSpPr txBox="1"/>
          <p:nvPr/>
        </p:nvSpPr>
        <p:spPr>
          <a:xfrm>
            <a:off x="548640" y="4114800"/>
            <a:ext cx="11082528" cy="1691640"/>
          </a:xfrm>
          <a:prstGeom prst="rect">
            <a:avLst/>
          </a:prstGeom>
          <a:noFill/>
        </p:spPr>
        <p:txBody>
          <a:bodyPr wrap="square" lIns="45720" rIns="45720" tIns="27432" bIns="27432" anchor="t">
            <a:spAutoFit/>
          </a:bodyPr>
          <a:lstStyle/>
          <a:p>
            <a:r>
              <a:rPr sz="1250" b="1" i="0">
                <a:solidFill>
                  <a:srgbClr val="1B355E"/>
                </a:solidFill>
                <a:latin typeface="Abadi"/>
              </a:rPr>
              <a:t>The main idea.   </a:t>
            </a:r>
            <a:r>
              <a:rPr sz="1250" b="0" i="0">
                <a:solidFill>
                  <a:srgbClr val="1A1A1A"/>
                </a:solidFill>
                <a:latin typeface="Abadi"/>
              </a:rPr>
              <a:t>Most children on a proton pump inhibitor were started empirically for symptoms that would have resolved anyway, and most stay on it because no one wrote a stop date. Stopping is safe for the large majority, but the stomach overshoots for one to two weeks after a PPI ends, and that rebound is easily mistaken for relapse. A good deprescribing plan names the indication, steps down predictably, warns the family about rebound in advance, offers a rescue option, and follows 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WHY THE STOMACH OVERSHOOTS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Rebound acid hypersecretion: the feedback loop that a PPI switches off and then releases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Namikawa K, Björnsson ES. Int J Mol Sci 2024;25:5459 · Targownik 2022 · Reimer C, et al. Gastroenterology 2009;137:80–7</a:t>
            </a:r>
          </a:p>
        </p:txBody>
      </p:sp>
      <p:sp>
        <p:nvSpPr>
          <p:cNvPr id="12" name="Rectangle 11"/>
          <p:cNvSpPr/>
          <p:nvPr/>
        </p:nvSpPr>
        <p:spPr>
          <a:xfrm>
            <a:off x="548640"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PPI blocks the pump</a:t>
            </a:r>
          </a:p>
        </p:txBody>
      </p:sp>
      <p:sp>
        <p:nvSpPr>
          <p:cNvPr id="15" name="TextBox 14"/>
          <p:cNvSpPr txBox="1"/>
          <p:nvPr/>
        </p:nvSpPr>
        <p:spPr>
          <a:xfrm>
            <a:off x="658368"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Irreversible inhibition of H+/K+-ATPase; intragastric pH rises.</a:t>
            </a:r>
          </a:p>
        </p:txBody>
      </p:sp>
      <p:sp>
        <p:nvSpPr>
          <p:cNvPr id="16" name="TextBox 15"/>
          <p:cNvSpPr txBox="1"/>
          <p:nvPr/>
        </p:nvSpPr>
        <p:spPr>
          <a:xfrm>
            <a:off x="2531059"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Brake released</a:t>
            </a:r>
          </a:p>
        </p:txBody>
      </p:sp>
      <p:sp>
        <p:nvSpPr>
          <p:cNvPr id="20" name="TextBox 19"/>
          <p:cNvSpPr txBox="1"/>
          <p:nvPr/>
        </p:nvSpPr>
        <p:spPr>
          <a:xfrm>
            <a:off x="2933395"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High pH silences antral somatostatin; G cells release gastrin.</a:t>
            </a:r>
          </a:p>
        </p:txBody>
      </p:sp>
      <p:sp>
        <p:nvSpPr>
          <p:cNvPr id="21" name="TextBox 20"/>
          <p:cNvSpPr txBox="1"/>
          <p:nvPr/>
        </p:nvSpPr>
        <p:spPr>
          <a:xfrm>
            <a:off x="4806086"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Trophic drive</a:t>
            </a:r>
          </a:p>
        </p:txBody>
      </p:sp>
      <p:sp>
        <p:nvSpPr>
          <p:cNvPr id="25" name="TextBox 24"/>
          <p:cNvSpPr txBox="1"/>
          <p:nvPr/>
        </p:nvSpPr>
        <p:spPr>
          <a:xfrm>
            <a:off x="5208422"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Gastrin expands enterochromaffin-like cells and parietal-cell mass; more histamine.</a:t>
            </a:r>
          </a:p>
        </p:txBody>
      </p:sp>
      <p:sp>
        <p:nvSpPr>
          <p:cNvPr id="26" name="TextBox 25"/>
          <p:cNvSpPr txBox="1"/>
          <p:nvPr/>
        </p:nvSpPr>
        <p:spPr>
          <a:xfrm>
            <a:off x="7081113"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PPI stops</a:t>
            </a:r>
          </a:p>
        </p:txBody>
      </p:sp>
      <p:sp>
        <p:nvSpPr>
          <p:cNvPr id="30" name="TextBox 29"/>
          <p:cNvSpPr txBox="1"/>
          <p:nvPr/>
        </p:nvSpPr>
        <p:spPr>
          <a:xfrm>
            <a:off x="7483449"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New pumps meet an enlarged secretory apparatus: acid output overshoots.</a:t>
            </a:r>
          </a:p>
        </p:txBody>
      </p:sp>
      <p:sp>
        <p:nvSpPr>
          <p:cNvPr id="31" name="TextBox 30"/>
          <p:cNvSpPr txBox="1"/>
          <p:nvPr/>
        </p:nvSpPr>
        <p:spPr>
          <a:xfrm>
            <a:off x="9356140"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Recovery</a:t>
            </a:r>
          </a:p>
        </p:txBody>
      </p:sp>
      <p:sp>
        <p:nvSpPr>
          <p:cNvPr id="35" name="TextBox 34"/>
          <p:cNvSpPr txBox="1"/>
          <p:nvPr/>
        </p:nvSpPr>
        <p:spPr>
          <a:xfrm>
            <a:off x="9758476"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Gastrin falls within days; cell mass regresses over weeks to months.</a:t>
            </a:r>
          </a:p>
        </p:txBody>
      </p:sp>
      <p:sp>
        <p:nvSpPr>
          <p:cNvPr id="36" name="TextBox 35"/>
          <p:cNvSpPr txBox="1"/>
          <p:nvPr/>
        </p:nvSpPr>
        <p:spPr>
          <a:xfrm>
            <a:off x="548640" y="4023360"/>
            <a:ext cx="11082528" cy="1783080"/>
          </a:xfrm>
          <a:prstGeom prst="rect">
            <a:avLst/>
          </a:prstGeom>
          <a:noFill/>
        </p:spPr>
        <p:txBody>
          <a:bodyPr wrap="square" lIns="45720" rIns="45720" tIns="27432" bIns="27432" anchor="t">
            <a:spAutoFit/>
          </a:bodyPr>
          <a:lstStyle/>
          <a:p>
            <a:r>
              <a:rPr sz="1250" b="1" i="0">
                <a:solidFill>
                  <a:srgbClr val="1B355E"/>
                </a:solidFill>
                <a:latin typeface="Abadi"/>
              </a:rPr>
              <a:t>Reading the chain.   </a:t>
            </a:r>
            <a:r>
              <a:rPr sz="1250" b="0" i="0">
                <a:solidFill>
                  <a:srgbClr val="1A1A1A"/>
                </a:solidFill>
                <a:latin typeface="Abadi"/>
              </a:rPr>
              <a:t>Rebound is a predictable consequence of a working drug, not proof that the drug was needed. The longer and stronger the suppression, the larger the gastrin drive and the longer the overshoot. Chromogranin A rises in parallel with enterochromaffin-like-cell hyperplasia. The clinical message: symptoms in the first two weeks after stopping say little about the original indication.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REBOUND IN HEALTHY PEOPLE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SYMPTOMS CREATED BY STOPPING</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120 healthy volunteers: esomeprazole 40 mg for 8 weeks then placebo, versus placebo throughout, % with symptoms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Reimer C, Søndergaard B, Hilsted L, Bytzer P. Gastroenterology 2009;137:80–7 · Niklasson A, et al. Am J Gastroenterol 2010;105:1531–7</a:t>
            </a:r>
          </a:p>
        </p:txBody>
      </p:sp>
      <p:sp>
        <p:nvSpPr>
          <p:cNvPr id="12" name="TextBox 11"/>
          <p:cNvSpPr txBox="1"/>
          <p:nvPr/>
        </p:nvSpPr>
        <p:spPr>
          <a:xfrm>
            <a:off x="548640" y="19659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Any acid-related symptom, weeks 9–12 · ex-PPI</a:t>
            </a:r>
          </a:p>
        </p:txBody>
      </p:sp>
      <p:sp>
        <p:nvSpPr>
          <p:cNvPr id="13" name="Rectangle 12"/>
          <p:cNvSpPr/>
          <p:nvPr/>
        </p:nvSpPr>
        <p:spPr>
          <a:xfrm>
            <a:off x="3474720" y="2029967"/>
            <a:ext cx="402336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1" y="19659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44%</a:t>
            </a:r>
          </a:p>
        </p:txBody>
      </p:sp>
      <p:sp>
        <p:nvSpPr>
          <p:cNvPr id="15" name="TextBox 14"/>
          <p:cNvSpPr txBox="1"/>
          <p:nvPr/>
        </p:nvSpPr>
        <p:spPr>
          <a:xfrm>
            <a:off x="548640" y="24231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Any acid-related symptom, weeks 9–12 · placebo</a:t>
            </a:r>
          </a:p>
        </p:txBody>
      </p:sp>
      <p:sp>
        <p:nvSpPr>
          <p:cNvPr id="16" name="Rectangle 15"/>
          <p:cNvSpPr/>
          <p:nvPr/>
        </p:nvSpPr>
        <p:spPr>
          <a:xfrm>
            <a:off x="3474720" y="2487168"/>
            <a:ext cx="1371600"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9472" y="24231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15%</a:t>
            </a:r>
          </a:p>
        </p:txBody>
      </p:sp>
      <p:sp>
        <p:nvSpPr>
          <p:cNvPr id="18" name="TextBox 17"/>
          <p:cNvSpPr txBox="1"/>
          <p:nvPr/>
        </p:nvSpPr>
        <p:spPr>
          <a:xfrm>
            <a:off x="548640" y="28803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Week 10 · ex-PPI</a:t>
            </a:r>
          </a:p>
        </p:txBody>
      </p:sp>
      <p:sp>
        <p:nvSpPr>
          <p:cNvPr id="19" name="Rectangle 18"/>
          <p:cNvSpPr/>
          <p:nvPr/>
        </p:nvSpPr>
        <p:spPr>
          <a:xfrm>
            <a:off x="3474720" y="2944368"/>
            <a:ext cx="201168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59552" y="28803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22%</a:t>
            </a:r>
          </a:p>
        </p:txBody>
      </p:sp>
      <p:sp>
        <p:nvSpPr>
          <p:cNvPr id="21" name="TextBox 20"/>
          <p:cNvSpPr txBox="1"/>
          <p:nvPr/>
        </p:nvSpPr>
        <p:spPr>
          <a:xfrm>
            <a:off x="548640" y="33375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Week 10 · placebo</a:t>
            </a:r>
          </a:p>
        </p:txBody>
      </p:sp>
      <p:sp>
        <p:nvSpPr>
          <p:cNvPr id="22" name="Rectangle 21"/>
          <p:cNvSpPr/>
          <p:nvPr/>
        </p:nvSpPr>
        <p:spPr>
          <a:xfrm>
            <a:off x="3474720" y="3401568"/>
            <a:ext cx="640080"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87952" y="33375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7%</a:t>
            </a:r>
          </a:p>
        </p:txBody>
      </p:sp>
      <p:sp>
        <p:nvSpPr>
          <p:cNvPr id="24" name="TextBox 23"/>
          <p:cNvSpPr txBox="1"/>
          <p:nvPr/>
        </p:nvSpPr>
        <p:spPr>
          <a:xfrm>
            <a:off x="548640" y="37947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Week 12 · ex-PPI</a:t>
            </a:r>
          </a:p>
        </p:txBody>
      </p:sp>
      <p:sp>
        <p:nvSpPr>
          <p:cNvPr id="25" name="Rectangle 24"/>
          <p:cNvSpPr/>
          <p:nvPr/>
        </p:nvSpPr>
        <p:spPr>
          <a:xfrm>
            <a:off x="3474720" y="3858768"/>
            <a:ext cx="192024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68112" y="37947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21%</a:t>
            </a:r>
          </a:p>
        </p:txBody>
      </p:sp>
      <p:sp>
        <p:nvSpPr>
          <p:cNvPr id="27" name="TextBox 26"/>
          <p:cNvSpPr txBox="1"/>
          <p:nvPr/>
        </p:nvSpPr>
        <p:spPr>
          <a:xfrm>
            <a:off x="548640" y="4251960"/>
            <a:ext cx="2834640" cy="457200"/>
          </a:xfrm>
          <a:prstGeom prst="rect">
            <a:avLst/>
          </a:prstGeom>
          <a:noFill/>
        </p:spPr>
        <p:txBody>
          <a:bodyPr wrap="square" lIns="45720" rIns="45720" tIns="27432" bIns="27432" anchor="ctr">
            <a:spAutoFit/>
          </a:bodyPr>
          <a:lstStyle/>
          <a:p>
            <a:r>
              <a:rPr sz="1050" b="0" i="0">
                <a:solidFill>
                  <a:srgbClr val="1A1A1A"/>
                </a:solidFill>
                <a:latin typeface="Abadi"/>
              </a:rPr>
              <a:t>Week 12 · placebo</a:t>
            </a:r>
          </a:p>
        </p:txBody>
      </p:sp>
      <p:sp>
        <p:nvSpPr>
          <p:cNvPr id="28" name="Rectangle 27"/>
          <p:cNvSpPr/>
          <p:nvPr/>
        </p:nvSpPr>
        <p:spPr>
          <a:xfrm>
            <a:off x="3474720" y="4315968"/>
            <a:ext cx="182880"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30752" y="4251960"/>
            <a:ext cx="2194560" cy="457200"/>
          </a:xfrm>
          <a:prstGeom prst="rect">
            <a:avLst/>
          </a:prstGeom>
          <a:noFill/>
        </p:spPr>
        <p:txBody>
          <a:bodyPr wrap="square" lIns="45720" rIns="45720" tIns="27432" bIns="27432" anchor="ctr">
            <a:spAutoFit/>
          </a:bodyPr>
          <a:lstStyle/>
          <a:p>
            <a:r>
              <a:rPr sz="1050" b="1" i="0">
                <a:solidFill>
                  <a:srgbClr val="1A1A1A"/>
                </a:solidFill>
                <a:latin typeface="Abadi"/>
              </a:rPr>
              <a:t>2%</a:t>
            </a:r>
          </a:p>
        </p:txBody>
      </p:sp>
      <p:sp>
        <p:nvSpPr>
          <p:cNvPr id="30" name="TextBox 29"/>
          <p:cNvSpPr txBox="1"/>
          <p:nvPr/>
        </p:nvSpPr>
        <p:spPr>
          <a:xfrm>
            <a:off x="548640" y="475488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59 per arm; dyspepsia, heartburn or regurgitation; P &lt; .001 for weeks 9–12.</a:t>
            </a:r>
          </a:p>
        </p:txBody>
      </p:sp>
      <p:sp>
        <p:nvSpPr>
          <p:cNvPr id="31" name="TextBox 30"/>
          <p:cNvSpPr txBox="1"/>
          <p:nvPr/>
        </p:nvSpPr>
        <p:spPr>
          <a:xfrm>
            <a:off x="548640" y="5074920"/>
            <a:ext cx="7955279" cy="100584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People with no reflux developed reflux symptoms after stopping a PPI. In a patient, the same symptoms will be read as relapse unless you predict them.</a:t>
            </a:r>
          </a:p>
        </p:txBody>
      </p:sp>
      <p:sp>
        <p:nvSpPr>
          <p:cNvPr id="32" name="TextBox 31"/>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Niklasson 2010</a:t>
            </a:r>
          </a:p>
          <a:p>
            <a:pPr>
              <a:spcAft>
                <a:spcPts val="400"/>
              </a:spcAft>
            </a:pPr>
            <a:r>
              <a:rPr sz="1050" b="0" i="0">
                <a:solidFill>
                  <a:srgbClr val="1A1A1A"/>
                </a:solidFill>
                <a:latin typeface="Abadi"/>
              </a:rPr>
              <a:t>Pantoprazole 40 mg for 4 weeks: dyspepsia after stopping 44% vs 9%.</a:t>
            </a:r>
          </a:p>
          <a:p>
            <a:pPr>
              <a:spcAft>
                <a:spcPts val="400"/>
              </a:spcAft>
            </a:pPr>
            <a:r>
              <a:rPr sz="1500" b="1" i="0">
                <a:solidFill>
                  <a:srgbClr val="1B355E"/>
                </a:solidFill>
                <a:latin typeface="Abadi"/>
              </a:rPr>
              <a:t>Earlier review</a:t>
            </a:r>
          </a:p>
          <a:p>
            <a:pPr>
              <a:spcAft>
                <a:spcPts val="400"/>
              </a:spcAft>
            </a:pPr>
            <a:r>
              <a:rPr sz="1050" b="0" i="0">
                <a:solidFill>
                  <a:srgbClr val="1A1A1A"/>
                </a:solidFill>
                <a:latin typeface="Abadi"/>
              </a:rPr>
              <a:t>Hunfeld 2007: 8 small studies, inconsistent; rebound not proven in most.</a:t>
            </a:r>
          </a:p>
          <a:p>
            <a:pPr>
              <a:spcAft>
                <a:spcPts val="400"/>
              </a:spcAft>
            </a:pPr>
            <a:r>
              <a:rPr sz="1500" b="1" i="0">
                <a:solidFill>
                  <a:srgbClr val="1B355E"/>
                </a:solidFill>
                <a:latin typeface="Abadi"/>
              </a:rPr>
              <a:t>Children</a:t>
            </a:r>
          </a:p>
          <a:p>
            <a:pPr>
              <a:spcAft>
                <a:spcPts val="400"/>
              </a:spcAft>
            </a:pPr>
            <a:r>
              <a:rPr sz="1050" b="0" i="0">
                <a:solidFill>
                  <a:srgbClr val="1A1A1A"/>
                </a:solidFill>
                <a:latin typeface="Abadi"/>
              </a:rPr>
              <a:t>No published pediatric study of rebound: an evidence gap.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TIME COURSE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WHEN TO EXPECT IT, AND WHEN IT IS NOT REBOUND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Onset, duration and recovery of rebound acid hypersecretion after stopping a PPI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Namikawa K, Björnsson ES. Int J Mol Sci 2024;25:5459 · Targownik 2022 (AGA) · Farrell B, et al. Can Fam Physician 2017;63:354–64</a:t>
            </a:r>
          </a:p>
        </p:txBody>
      </p:sp>
      <p:sp>
        <p:nvSpPr>
          <p:cNvPr id="12" name="Rectangle 11"/>
          <p:cNvSpPr/>
          <p:nvPr/>
        </p:nvSpPr>
        <p:spPr>
          <a:xfrm>
            <a:off x="548640"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2200" b="1" i="0">
                <a:solidFill>
                  <a:srgbClr val="D97A0B"/>
                </a:solidFill>
                <a:latin typeface="Abadi"/>
              </a:rPr>
              <a:t>Days 5–14</a:t>
            </a:r>
          </a:p>
        </p:txBody>
      </p:sp>
      <p:sp>
        <p:nvSpPr>
          <p:cNvPr id="15" name="TextBox 14"/>
          <p:cNvSpPr txBox="1"/>
          <p:nvPr/>
        </p:nvSpPr>
        <p:spPr>
          <a:xfrm>
            <a:off x="694944"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Usual onset of symptoms after the last dose.</a:t>
            </a:r>
          </a:p>
        </p:txBody>
      </p:sp>
      <p:sp>
        <p:nvSpPr>
          <p:cNvPr id="16" name="Rectangle 15"/>
          <p:cNvSpPr/>
          <p:nvPr/>
        </p:nvSpPr>
        <p:spPr>
          <a:xfrm>
            <a:off x="2801721"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2200" b="1" i="0">
                <a:solidFill>
                  <a:srgbClr val="D97A0B"/>
                </a:solidFill>
                <a:latin typeface="Abadi"/>
              </a:rPr>
              <a:t>4–5 days</a:t>
            </a:r>
          </a:p>
        </p:txBody>
      </p:sp>
      <p:sp>
        <p:nvSpPr>
          <p:cNvPr id="19" name="TextBox 18"/>
          <p:cNvSpPr txBox="1"/>
          <p:nvPr/>
        </p:nvSpPr>
        <p:spPr>
          <a:xfrm>
            <a:off x="2948025"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Average duration of symptoms in the volunteer studies.</a:t>
            </a:r>
          </a:p>
        </p:txBody>
      </p:sp>
      <p:sp>
        <p:nvSpPr>
          <p:cNvPr id="20" name="Rectangle 19"/>
          <p:cNvSpPr/>
          <p:nvPr/>
        </p:nvSpPr>
        <p:spPr>
          <a:xfrm>
            <a:off x="5054803" y="1773936"/>
            <a:ext cx="2070201" cy="22402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2200" b="1" i="0">
                <a:solidFill>
                  <a:srgbClr val="1E7A33"/>
                </a:solidFill>
                <a:latin typeface="Abadi"/>
              </a:rPr>
              <a:t>2–14 days</a:t>
            </a:r>
          </a:p>
        </p:txBody>
      </p:sp>
      <p:sp>
        <p:nvSpPr>
          <p:cNvPr id="23" name="TextBox 22"/>
          <p:cNvSpPr txBox="1"/>
          <p:nvPr/>
        </p:nvSpPr>
        <p:spPr>
          <a:xfrm>
            <a:off x="5201107"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Gastrin and chromogranin A return to normal in short-course studies.</a:t>
            </a:r>
          </a:p>
        </p:txBody>
      </p:sp>
      <p:sp>
        <p:nvSpPr>
          <p:cNvPr id="24" name="Rectangle 23"/>
          <p:cNvSpPr/>
          <p:nvPr/>
        </p:nvSpPr>
        <p:spPr>
          <a:xfrm>
            <a:off x="7307884" y="1773936"/>
            <a:ext cx="2070201"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2200" b="1" i="0">
                <a:solidFill>
                  <a:srgbClr val="B22222"/>
                </a:solidFill>
                <a:latin typeface="Abadi"/>
              </a:rPr>
              <a:t>8–26 weeks</a:t>
            </a:r>
          </a:p>
        </p:txBody>
      </p:sp>
      <p:sp>
        <p:nvSpPr>
          <p:cNvPr id="27" name="TextBox 26"/>
          <p:cNvSpPr txBox="1"/>
          <p:nvPr/>
        </p:nvSpPr>
        <p:spPr>
          <a:xfrm>
            <a:off x="7454188"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Hypersecretion after more than a year of PPI therapy lasted beyond 8 weeks.</a:t>
            </a:r>
          </a:p>
        </p:txBody>
      </p:sp>
      <p:sp>
        <p:nvSpPr>
          <p:cNvPr id="28" name="Rectangle 27"/>
          <p:cNvSpPr/>
          <p:nvPr/>
        </p:nvSpPr>
        <p:spPr>
          <a:xfrm>
            <a:off x="9560966" y="1773936"/>
            <a:ext cx="2070201" cy="22402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2200" b="1" i="0">
                <a:solidFill>
                  <a:srgbClr val="1B355E"/>
                </a:solidFill>
                <a:latin typeface="Abadi"/>
              </a:rPr>
              <a:t>&gt; 2 months</a:t>
            </a:r>
          </a:p>
        </p:txBody>
      </p:sp>
      <p:sp>
        <p:nvSpPr>
          <p:cNvPr id="31" name="TextBox 30"/>
          <p:cNvSpPr txBox="1"/>
          <p:nvPr/>
        </p:nvSpPr>
        <p:spPr>
          <a:xfrm>
            <a:off x="9707270"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AGA: persisting symptoms suggest a true indication or a non-acid cause.</a:t>
            </a:r>
          </a:p>
        </p:txBody>
      </p:sp>
      <p:sp>
        <p:nvSpPr>
          <p:cNvPr id="32" name="TextBox 31"/>
          <p:cNvSpPr txBox="1"/>
          <p:nvPr/>
        </p:nvSpPr>
        <p:spPr>
          <a:xfrm>
            <a:off x="548640" y="4206240"/>
            <a:ext cx="11082528" cy="1600200"/>
          </a:xfrm>
          <a:prstGeom prst="rect">
            <a:avLst/>
          </a:prstGeom>
          <a:noFill/>
        </p:spPr>
        <p:txBody>
          <a:bodyPr wrap="square" lIns="45720" rIns="45720" tIns="27432" bIns="27432" anchor="t">
            <a:spAutoFit/>
          </a:bodyPr>
          <a:lstStyle/>
          <a:p>
            <a:r>
              <a:rPr sz="1250" b="1" i="0">
                <a:solidFill>
                  <a:srgbClr val="1B355E"/>
                </a:solidFill>
                <a:latin typeface="Abadi"/>
              </a:rPr>
              <a:t>Why it matters.   </a:t>
            </a:r>
            <a:r>
              <a:rPr sz="1250" b="0" i="0">
                <a:solidFill>
                  <a:srgbClr val="1A1A1A"/>
                </a:solidFill>
                <a:latin typeface="Abadi"/>
              </a:rPr>
              <a:t>The timing gives the clinician a script. Tell the family that a flare is likely in the second week and should settle within days; offer a rescue option for that window; and judge success at four to twelve weeks, not at day ten. Telling rebound apart from underlying reflux is difficult, which is why a planned review, rather than a phone call that restarts the drug, is the safeguard.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WHY STOP IN CHILDREN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IN INFANTS, THE DRUG RARELY DID THE WORK</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Infant PPI trials: response and withdrawal outcomes on drug versus placebo,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Orenstein SR, et al. J Pediatr 2009;154:514–20 · Winter H, et al. JPGN 2012;55:14–20 · Hussain S, et al. JPGN 2014 (PMID 24121146)</a:t>
            </a:r>
          </a:p>
        </p:txBody>
      </p:sp>
      <p:sp>
        <p:nvSpPr>
          <p:cNvPr id="12" name="TextBox 11"/>
          <p:cNvSpPr txBox="1"/>
          <p:nvPr/>
        </p:nvSpPr>
        <p:spPr>
          <a:xfrm>
            <a:off x="548640" y="196596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Responders · lansoprazole (Orenstein)</a:t>
            </a:r>
          </a:p>
        </p:txBody>
      </p:sp>
      <p:sp>
        <p:nvSpPr>
          <p:cNvPr id="13" name="Rectangle 12"/>
          <p:cNvSpPr/>
          <p:nvPr/>
        </p:nvSpPr>
        <p:spPr>
          <a:xfrm>
            <a:off x="3474720" y="2075688"/>
            <a:ext cx="3526971"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74843" y="196596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54%</a:t>
            </a:r>
          </a:p>
        </p:txBody>
      </p:sp>
      <p:sp>
        <p:nvSpPr>
          <p:cNvPr id="15" name="TextBox 14"/>
          <p:cNvSpPr txBox="1"/>
          <p:nvPr/>
        </p:nvSpPr>
        <p:spPr>
          <a:xfrm>
            <a:off x="548640" y="251460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Responders · placebo (Orenstein)</a:t>
            </a:r>
          </a:p>
        </p:txBody>
      </p:sp>
      <p:sp>
        <p:nvSpPr>
          <p:cNvPr id="16" name="Rectangle 15"/>
          <p:cNvSpPr/>
          <p:nvPr/>
        </p:nvSpPr>
        <p:spPr>
          <a:xfrm>
            <a:off x="3474720" y="2624328"/>
            <a:ext cx="3526971"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74843" y="251460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54%</a:t>
            </a:r>
          </a:p>
        </p:txBody>
      </p:sp>
      <p:sp>
        <p:nvSpPr>
          <p:cNvPr id="18" name="TextBox 17"/>
          <p:cNvSpPr txBox="1"/>
          <p:nvPr/>
        </p:nvSpPr>
        <p:spPr>
          <a:xfrm>
            <a:off x="548640" y="306323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Discontinued for worsening · esomeprazole (Winter)</a:t>
            </a:r>
          </a:p>
        </p:txBody>
      </p:sp>
      <p:sp>
        <p:nvSpPr>
          <p:cNvPr id="19" name="Rectangle 18"/>
          <p:cNvSpPr/>
          <p:nvPr/>
        </p:nvSpPr>
        <p:spPr>
          <a:xfrm>
            <a:off x="3474720" y="3172968"/>
            <a:ext cx="251460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62472" y="306323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38.5%</a:t>
            </a:r>
          </a:p>
        </p:txBody>
      </p:sp>
      <p:sp>
        <p:nvSpPr>
          <p:cNvPr id="21" name="TextBox 20"/>
          <p:cNvSpPr txBox="1"/>
          <p:nvPr/>
        </p:nvSpPr>
        <p:spPr>
          <a:xfrm>
            <a:off x="548640" y="361187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Discontinued for worsening · placebo (Winter)</a:t>
            </a:r>
          </a:p>
        </p:txBody>
      </p:sp>
      <p:sp>
        <p:nvSpPr>
          <p:cNvPr id="22" name="Rectangle 21"/>
          <p:cNvSpPr/>
          <p:nvPr/>
        </p:nvSpPr>
        <p:spPr>
          <a:xfrm>
            <a:off x="3474720" y="3721607"/>
            <a:ext cx="3187337"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5209" y="361187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48.8%</a:t>
            </a:r>
          </a:p>
        </p:txBody>
      </p:sp>
      <p:sp>
        <p:nvSpPr>
          <p:cNvPr id="24" name="TextBox 23"/>
          <p:cNvSpPr txBox="1"/>
          <p:nvPr/>
        </p:nvSpPr>
        <p:spPr>
          <a:xfrm>
            <a:off x="548640" y="420624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Orenstein 162 infants, 4 weeks; Winter randomised-withdrawal design, 80 infants randomised, difference not significant.</a:t>
            </a:r>
          </a:p>
        </p:txBody>
      </p:sp>
      <p:sp>
        <p:nvSpPr>
          <p:cNvPr id="25" name="TextBox 24"/>
          <p:cNvSpPr txBox="1"/>
          <p:nvPr/>
        </p:nvSpPr>
        <p:spPr>
          <a:xfrm>
            <a:off x="548640" y="4526279"/>
            <a:ext cx="7955279" cy="128016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Response and withdrawal trials agree: in infants, symptoms attributed to reflux improve at the same rate on and off a PPI. Stopping removes risk without removing benefit.</a:t>
            </a:r>
          </a:p>
        </p:txBody>
      </p:sp>
      <p:sp>
        <p:nvSpPr>
          <p:cNvPr id="26" name="TextBox 25"/>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Harm signal</a:t>
            </a:r>
          </a:p>
          <a:p>
            <a:pPr>
              <a:spcAft>
                <a:spcPts val="400"/>
              </a:spcAft>
            </a:pPr>
            <a:r>
              <a:rPr sz="1050" b="0" i="0">
                <a:solidFill>
                  <a:srgbClr val="1A1A1A"/>
                </a:solidFill>
                <a:latin typeface="Abadi"/>
              </a:rPr>
              <a:t>Orenstein: serious adverse events 10 vs 2, mostly lower respiratory infections (P = .032).</a:t>
            </a:r>
          </a:p>
          <a:p>
            <a:pPr>
              <a:spcAft>
                <a:spcPts val="400"/>
              </a:spcAft>
            </a:pPr>
            <a:r>
              <a:rPr sz="1500" b="1" i="0">
                <a:solidFill>
                  <a:srgbClr val="1B355E"/>
                </a:solidFill>
                <a:latin typeface="Abadi"/>
              </a:rPr>
              <a:t>Rabeprazole</a:t>
            </a:r>
          </a:p>
          <a:p>
            <a:pPr>
              <a:spcAft>
                <a:spcPts val="400"/>
              </a:spcAft>
            </a:pPr>
            <a:r>
              <a:rPr sz="1050" b="0" i="0">
                <a:solidFill>
                  <a:srgbClr val="1A1A1A"/>
                </a:solidFill>
                <a:latin typeface="Abadi"/>
              </a:rPr>
              <a:t>Hussain 2014: 268 infants randomised to withdrawal; no difference from placebo.</a:t>
            </a:r>
          </a:p>
          <a:p>
            <a:pPr>
              <a:spcAft>
                <a:spcPts val="400"/>
              </a:spcAft>
            </a:pPr>
            <a:r>
              <a:rPr sz="1500" b="1" i="0">
                <a:solidFill>
                  <a:srgbClr val="1B355E"/>
                </a:solidFill>
                <a:latin typeface="Abadi"/>
              </a:rPr>
              <a:t>Guideline</a:t>
            </a:r>
          </a:p>
          <a:p>
            <a:pPr>
              <a:spcAft>
                <a:spcPts val="400"/>
              </a:spcAft>
            </a:pPr>
            <a:r>
              <a:rPr sz="1050" b="0" i="0">
                <a:solidFill>
                  <a:srgbClr val="1A1A1A"/>
                </a:solidFill>
                <a:latin typeface="Abadi"/>
              </a:rPr>
              <a:t>NASPGHAN/ESPGHAN: acid suppression not needed for crying or fussing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THE CASE FOR AN END DATE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ASSOCIATIONS THAT ACCUMULATE WITH EXPOSURE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Adjusted hazard ratios for outcomes after acid suppression in childhood (observational cohorts)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Mitre E, et al. JAMA Pediatr 2018;172:e180315 · Wang YH, et al. JAMA Pediatr 2021 · Lassalle M, et al. JAMA Pediatr 2023 · Malchodi L, et al. Pediatrics 2019;144:e20182625</a:t>
            </a:r>
          </a:p>
        </p:txBody>
      </p:sp>
      <p:sp>
        <p:nvSpPr>
          <p:cNvPr id="12" name="TextBox 11"/>
          <p:cNvSpPr txBox="1"/>
          <p:nvPr/>
        </p:nvSpPr>
        <p:spPr>
          <a:xfrm>
            <a:off x="548640" y="1965960"/>
            <a:ext cx="2834640" cy="530352"/>
          </a:xfrm>
          <a:prstGeom prst="rect">
            <a:avLst/>
          </a:prstGeom>
          <a:noFill/>
        </p:spPr>
        <p:txBody>
          <a:bodyPr wrap="square" lIns="45720" rIns="45720" tIns="27432" bIns="27432" anchor="ctr">
            <a:spAutoFit/>
          </a:bodyPr>
          <a:lstStyle/>
          <a:p>
            <a:r>
              <a:rPr sz="1050" b="0" i="0">
                <a:solidFill>
                  <a:srgbClr val="1A1A1A"/>
                </a:solidFill>
                <a:latin typeface="Abadi"/>
              </a:rPr>
              <a:t>Food allergy · PPI in first 6 months</a:t>
            </a:r>
          </a:p>
        </p:txBody>
      </p:sp>
      <p:sp>
        <p:nvSpPr>
          <p:cNvPr id="13" name="Rectangle 12"/>
          <p:cNvSpPr/>
          <p:nvPr/>
        </p:nvSpPr>
        <p:spPr>
          <a:xfrm>
            <a:off x="3474720" y="2066543"/>
            <a:ext cx="394716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5032" y="1965960"/>
            <a:ext cx="2194560" cy="530352"/>
          </a:xfrm>
          <a:prstGeom prst="rect">
            <a:avLst/>
          </a:prstGeom>
          <a:noFill/>
        </p:spPr>
        <p:txBody>
          <a:bodyPr wrap="square" lIns="45720" rIns="45720" tIns="27432" bIns="27432" anchor="ctr">
            <a:spAutoFit/>
          </a:bodyPr>
          <a:lstStyle/>
          <a:p>
            <a:r>
              <a:rPr sz="1050" b="1" i="0">
                <a:solidFill>
                  <a:srgbClr val="1A1A1A"/>
                </a:solidFill>
                <a:latin typeface="Abadi"/>
              </a:rPr>
              <a:t>aHR 2.59</a:t>
            </a:r>
          </a:p>
        </p:txBody>
      </p:sp>
      <p:sp>
        <p:nvSpPr>
          <p:cNvPr id="15" name="TextBox 14"/>
          <p:cNvSpPr txBox="1"/>
          <p:nvPr/>
        </p:nvSpPr>
        <p:spPr>
          <a:xfrm>
            <a:off x="548640" y="2496312"/>
            <a:ext cx="2834640" cy="530352"/>
          </a:xfrm>
          <a:prstGeom prst="rect">
            <a:avLst/>
          </a:prstGeom>
          <a:noFill/>
        </p:spPr>
        <p:txBody>
          <a:bodyPr wrap="square" lIns="45720" rIns="45720" tIns="27432" bIns="27432" anchor="ctr">
            <a:spAutoFit/>
          </a:bodyPr>
          <a:lstStyle/>
          <a:p>
            <a:r>
              <a:rPr sz="1050" b="0" i="0">
                <a:solidFill>
                  <a:srgbClr val="1A1A1A"/>
                </a:solidFill>
                <a:latin typeface="Abadi"/>
              </a:rPr>
              <a:t>Asthma · PPI in childhood (Taiwan)</a:t>
            </a:r>
          </a:p>
        </p:txBody>
      </p:sp>
      <p:sp>
        <p:nvSpPr>
          <p:cNvPr id="16" name="Rectangle 15"/>
          <p:cNvSpPr/>
          <p:nvPr/>
        </p:nvSpPr>
        <p:spPr>
          <a:xfrm>
            <a:off x="3474720" y="2596896"/>
            <a:ext cx="2392680"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0551" y="2496312"/>
            <a:ext cx="2194560" cy="530352"/>
          </a:xfrm>
          <a:prstGeom prst="rect">
            <a:avLst/>
          </a:prstGeom>
          <a:noFill/>
        </p:spPr>
        <p:txBody>
          <a:bodyPr wrap="square" lIns="45720" rIns="45720" tIns="27432" bIns="27432" anchor="ctr">
            <a:spAutoFit/>
          </a:bodyPr>
          <a:lstStyle/>
          <a:p>
            <a:r>
              <a:rPr sz="1050" b="1" i="0">
                <a:solidFill>
                  <a:srgbClr val="1A1A1A"/>
                </a:solidFill>
                <a:latin typeface="Abadi"/>
              </a:rPr>
              <a:t>aHR 1.57</a:t>
            </a:r>
          </a:p>
        </p:txBody>
      </p:sp>
      <p:sp>
        <p:nvSpPr>
          <p:cNvPr id="18" name="TextBox 17"/>
          <p:cNvSpPr txBox="1"/>
          <p:nvPr/>
        </p:nvSpPr>
        <p:spPr>
          <a:xfrm>
            <a:off x="548640" y="3026663"/>
            <a:ext cx="2834640" cy="530352"/>
          </a:xfrm>
          <a:prstGeom prst="rect">
            <a:avLst/>
          </a:prstGeom>
          <a:noFill/>
        </p:spPr>
        <p:txBody>
          <a:bodyPr wrap="square" lIns="45720" rIns="45720" tIns="27432" bIns="27432" anchor="ctr">
            <a:spAutoFit/>
          </a:bodyPr>
          <a:lstStyle/>
          <a:p>
            <a:r>
              <a:rPr sz="1050" b="0" i="0">
                <a:solidFill>
                  <a:srgbClr val="1A1A1A"/>
                </a:solidFill>
                <a:latin typeface="Abadi"/>
              </a:rPr>
              <a:t>Serious infection · PPI (France, 1.26 million)</a:t>
            </a:r>
          </a:p>
        </p:txBody>
      </p:sp>
      <p:sp>
        <p:nvSpPr>
          <p:cNvPr id="19" name="Rectangle 18"/>
          <p:cNvSpPr/>
          <p:nvPr/>
        </p:nvSpPr>
        <p:spPr>
          <a:xfrm>
            <a:off x="3474720" y="3127247"/>
            <a:ext cx="2042160"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90032" y="3026663"/>
            <a:ext cx="2194560" cy="530352"/>
          </a:xfrm>
          <a:prstGeom prst="rect">
            <a:avLst/>
          </a:prstGeom>
          <a:noFill/>
        </p:spPr>
        <p:txBody>
          <a:bodyPr wrap="square" lIns="45720" rIns="45720" tIns="27432" bIns="27432" anchor="ctr">
            <a:spAutoFit/>
          </a:bodyPr>
          <a:lstStyle/>
          <a:p>
            <a:r>
              <a:rPr sz="1050" b="1" i="0">
                <a:solidFill>
                  <a:srgbClr val="1A1A1A"/>
                </a:solidFill>
                <a:latin typeface="Abadi"/>
              </a:rPr>
              <a:t>aHR 1.34</a:t>
            </a:r>
          </a:p>
        </p:txBody>
      </p:sp>
      <p:sp>
        <p:nvSpPr>
          <p:cNvPr id="21" name="TextBox 20"/>
          <p:cNvSpPr txBox="1"/>
          <p:nvPr/>
        </p:nvSpPr>
        <p:spPr>
          <a:xfrm>
            <a:off x="548640" y="3557015"/>
            <a:ext cx="2834640" cy="530352"/>
          </a:xfrm>
          <a:prstGeom prst="rect">
            <a:avLst/>
          </a:prstGeom>
          <a:noFill/>
        </p:spPr>
        <p:txBody>
          <a:bodyPr wrap="square" lIns="45720" rIns="45720" tIns="27432" bIns="27432" anchor="ctr">
            <a:spAutoFit/>
          </a:bodyPr>
          <a:lstStyle/>
          <a:p>
            <a:r>
              <a:rPr sz="1050" b="0" i="0">
                <a:solidFill>
                  <a:srgbClr val="1A1A1A"/>
                </a:solidFill>
                <a:latin typeface="Abadi"/>
              </a:rPr>
              <a:t>Fracture · PPI in first year</a:t>
            </a:r>
          </a:p>
        </p:txBody>
      </p:sp>
      <p:sp>
        <p:nvSpPr>
          <p:cNvPr id="22" name="Rectangle 21"/>
          <p:cNvSpPr/>
          <p:nvPr/>
        </p:nvSpPr>
        <p:spPr>
          <a:xfrm>
            <a:off x="3474720" y="3657599"/>
            <a:ext cx="1874520"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22392" y="3557015"/>
            <a:ext cx="2194560" cy="530352"/>
          </a:xfrm>
          <a:prstGeom prst="rect">
            <a:avLst/>
          </a:prstGeom>
          <a:noFill/>
        </p:spPr>
        <p:txBody>
          <a:bodyPr wrap="square" lIns="45720" rIns="45720" tIns="27432" bIns="27432" anchor="ctr">
            <a:spAutoFit/>
          </a:bodyPr>
          <a:lstStyle/>
          <a:p>
            <a:r>
              <a:rPr sz="1050" b="1" i="0">
                <a:solidFill>
                  <a:srgbClr val="1A1A1A"/>
                </a:solidFill>
                <a:latin typeface="Abadi"/>
              </a:rPr>
              <a:t>aHR 1.23</a:t>
            </a:r>
          </a:p>
        </p:txBody>
      </p:sp>
      <p:sp>
        <p:nvSpPr>
          <p:cNvPr id="24" name="TextBox 23"/>
          <p:cNvSpPr txBox="1"/>
          <p:nvPr/>
        </p:nvSpPr>
        <p:spPr>
          <a:xfrm>
            <a:off x="548640" y="4087368"/>
            <a:ext cx="2834640" cy="530352"/>
          </a:xfrm>
          <a:prstGeom prst="rect">
            <a:avLst/>
          </a:prstGeom>
          <a:noFill/>
        </p:spPr>
        <p:txBody>
          <a:bodyPr wrap="square" lIns="45720" rIns="45720" tIns="27432" bIns="27432" anchor="ctr">
            <a:spAutoFit/>
          </a:bodyPr>
          <a:lstStyle/>
          <a:p>
            <a:r>
              <a:rPr sz="1050" b="0" i="0">
                <a:solidFill>
                  <a:srgbClr val="1A1A1A"/>
                </a:solidFill>
                <a:latin typeface="Abadi"/>
              </a:rPr>
              <a:t>Fracture · PPI &gt; 150 days</a:t>
            </a:r>
          </a:p>
        </p:txBody>
      </p:sp>
      <p:sp>
        <p:nvSpPr>
          <p:cNvPr id="25" name="Rectangle 24"/>
          <p:cNvSpPr/>
          <p:nvPr/>
        </p:nvSpPr>
        <p:spPr>
          <a:xfrm>
            <a:off x="3474720" y="4187952"/>
            <a:ext cx="214884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96712" y="4087368"/>
            <a:ext cx="2194560" cy="530352"/>
          </a:xfrm>
          <a:prstGeom prst="rect">
            <a:avLst/>
          </a:prstGeom>
          <a:noFill/>
        </p:spPr>
        <p:txBody>
          <a:bodyPr wrap="square" lIns="45720" rIns="45720" tIns="27432" bIns="27432" anchor="ctr">
            <a:spAutoFit/>
          </a:bodyPr>
          <a:lstStyle/>
          <a:p>
            <a:r>
              <a:rPr sz="1050" b="1" i="0">
                <a:solidFill>
                  <a:srgbClr val="1A1A1A"/>
                </a:solidFill>
                <a:latin typeface="Abadi"/>
              </a:rPr>
              <a:t>aHR 1.41</a:t>
            </a:r>
          </a:p>
        </p:txBody>
      </p:sp>
      <p:sp>
        <p:nvSpPr>
          <p:cNvPr id="27" name="TextBox 26"/>
          <p:cNvSpPr txBox="1"/>
          <p:nvPr/>
        </p:nvSpPr>
        <p:spPr>
          <a:xfrm>
            <a:off x="548640" y="466344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hazard ratio, 1.0 = no difference; all associations, with confounding by indication possible.</a:t>
            </a:r>
          </a:p>
        </p:txBody>
      </p:sp>
      <p:sp>
        <p:nvSpPr>
          <p:cNvPr id="28" name="TextBox 27"/>
          <p:cNvSpPr txBox="1"/>
          <p:nvPr/>
        </p:nvSpPr>
        <p:spPr>
          <a:xfrm>
            <a:off x="548640" y="4983479"/>
            <a:ext cx="7955279" cy="128016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None of these proves harm in an individual child, but all point the same way and several rise with duration. Duration is the one exposure we can control.</a:t>
            </a:r>
          </a:p>
        </p:txBody>
      </p:sp>
      <p:sp>
        <p:nvSpPr>
          <p:cNvPr id="29" name="TextBox 28"/>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Allergy</a:t>
            </a:r>
          </a:p>
          <a:p>
            <a:pPr>
              <a:spcAft>
                <a:spcPts val="400"/>
              </a:spcAft>
            </a:pPr>
            <a:r>
              <a:rPr sz="1050" b="0" i="0">
                <a:solidFill>
                  <a:srgbClr val="1A1A1A"/>
                </a:solidFill>
                <a:latin typeface="Abadi"/>
              </a:rPr>
              <a:t>Mitre 2018: 792,130 children; anaphylaxis aHR 1.45.</a:t>
            </a:r>
          </a:p>
          <a:p>
            <a:pPr>
              <a:spcAft>
                <a:spcPts val="400"/>
              </a:spcAft>
            </a:pPr>
            <a:r>
              <a:rPr sz="1500" b="1" i="0">
                <a:solidFill>
                  <a:srgbClr val="1B355E"/>
                </a:solidFill>
                <a:latin typeface="Abadi"/>
              </a:rPr>
              <a:t>Infection</a:t>
            </a:r>
          </a:p>
          <a:p>
            <a:pPr>
              <a:spcAft>
                <a:spcPts val="400"/>
              </a:spcAft>
            </a:pPr>
            <a:r>
              <a:rPr sz="1050" b="0" i="0">
                <a:solidFill>
                  <a:srgbClr val="1A1A1A"/>
                </a:solidFill>
                <a:latin typeface="Abadi"/>
              </a:rPr>
              <a:t>Lassalle 2023: digestive aHR 1.52, ENT 1.47, bacterial 1.56.</a:t>
            </a:r>
          </a:p>
          <a:p>
            <a:pPr>
              <a:spcAft>
                <a:spcPts val="400"/>
              </a:spcAft>
            </a:pPr>
            <a:r>
              <a:rPr sz="1500" b="1" i="0">
                <a:solidFill>
                  <a:srgbClr val="1B355E"/>
                </a:solidFill>
                <a:latin typeface="Abadi"/>
              </a:rPr>
              <a:t>Not a reason</a:t>
            </a:r>
          </a:p>
          <a:p>
            <a:pPr>
              <a:spcAft>
                <a:spcPts val="400"/>
              </a:spcAft>
            </a:pPr>
            <a:r>
              <a:rPr sz="1050" b="0" i="0">
                <a:solidFill>
                  <a:srgbClr val="1A1A1A"/>
                </a:solidFill>
                <a:latin typeface="Abadi"/>
              </a:rPr>
              <a:t>AGA: a feared adverse event alone is not an indication to stop when the indication is real.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EPIDEMIOLOGY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EASY TO START, HARD TO STOP</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Pediatric PPI use and persistence in population and hospital data</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Aznar-Lou 2019 (Denmark) · O'Reilly 2020, cited in Dipasquale V, et al. Front Pharmacol 2022;13:839972 (Ireland) · Slaughter JL, et al. J Pediatr 2016 (US NICUs) · Oosthuizen M, et al. S Afr Pharm J 2026;93:56–8</a:t>
            </a:r>
          </a:p>
        </p:txBody>
      </p:sp>
      <p:sp>
        <p:nvSpPr>
          <p:cNvPr id="12" name="Rectangle 11"/>
          <p:cNvSpPr/>
          <p:nvPr/>
        </p:nvSpPr>
        <p:spPr>
          <a:xfrm>
            <a:off x="548640" y="1773936"/>
            <a:ext cx="2070201"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2400" b="1" i="0">
                <a:solidFill>
                  <a:srgbClr val="B22222"/>
                </a:solidFill>
                <a:latin typeface="Abadi"/>
              </a:rPr>
              <a:t>8-fold</a:t>
            </a:r>
          </a:p>
        </p:txBody>
      </p:sp>
      <p:sp>
        <p:nvSpPr>
          <p:cNvPr id="15" name="TextBox 14"/>
          <p:cNvSpPr txBox="1"/>
          <p:nvPr/>
        </p:nvSpPr>
        <p:spPr>
          <a:xfrm>
            <a:off x="694944"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Rise in annual pediatric PPI use in Denmark, 2000–2015; 0.1 to 3.1 users per 1000 children.</a:t>
            </a:r>
          </a:p>
        </p:txBody>
      </p:sp>
      <p:sp>
        <p:nvSpPr>
          <p:cNvPr id="16" name="Rectangle 15"/>
          <p:cNvSpPr/>
          <p:nvPr/>
        </p:nvSpPr>
        <p:spPr>
          <a:xfrm>
            <a:off x="2801721"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2400" b="1" i="0">
                <a:solidFill>
                  <a:srgbClr val="D97A0B"/>
                </a:solidFill>
                <a:latin typeface="Abadi"/>
              </a:rPr>
              <a:t>14%</a:t>
            </a:r>
          </a:p>
        </p:txBody>
      </p:sp>
      <p:sp>
        <p:nvSpPr>
          <p:cNvPr id="19" name="TextBox 18"/>
          <p:cNvSpPr txBox="1"/>
          <p:nvPr/>
        </p:nvSpPr>
        <p:spPr>
          <a:xfrm>
            <a:off x="2948025"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Danish youngest children still covered 12 months after the first prescription; 60% filled only one.</a:t>
            </a:r>
          </a:p>
        </p:txBody>
      </p:sp>
      <p:sp>
        <p:nvSpPr>
          <p:cNvPr id="20" name="Rectangle 19"/>
          <p:cNvSpPr/>
          <p:nvPr/>
        </p:nvSpPr>
        <p:spPr>
          <a:xfrm>
            <a:off x="5054803"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2400" b="1" i="0">
                <a:solidFill>
                  <a:srgbClr val="D97A0B"/>
                </a:solidFill>
                <a:latin typeface="Abadi"/>
              </a:rPr>
              <a:t>2.7-fold</a:t>
            </a:r>
          </a:p>
        </p:txBody>
      </p:sp>
      <p:sp>
        <p:nvSpPr>
          <p:cNvPr id="23" name="TextBox 22"/>
          <p:cNvSpPr txBox="1"/>
          <p:nvPr/>
        </p:nvSpPr>
        <p:spPr>
          <a:xfrm>
            <a:off x="5201107"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Irish infant prescriptions 2009 to 2018: 1011 to 2763.</a:t>
            </a:r>
          </a:p>
        </p:txBody>
      </p:sp>
      <p:sp>
        <p:nvSpPr>
          <p:cNvPr id="24" name="Rectangle 23"/>
          <p:cNvSpPr/>
          <p:nvPr/>
        </p:nvSpPr>
        <p:spPr>
          <a:xfrm>
            <a:off x="7307884" y="1773936"/>
            <a:ext cx="2070201" cy="22402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2400" b="1" i="0">
                <a:solidFill>
                  <a:srgbClr val="1B355E"/>
                </a:solidFill>
                <a:latin typeface="Abadi"/>
              </a:rPr>
              <a:t>23.8%</a:t>
            </a:r>
          </a:p>
        </p:txBody>
      </p:sp>
      <p:sp>
        <p:nvSpPr>
          <p:cNvPr id="27" name="TextBox 26"/>
          <p:cNvSpPr txBox="1"/>
          <p:nvPr/>
        </p:nvSpPr>
        <p:spPr>
          <a:xfrm>
            <a:off x="7454188"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Infants in 43 US children's-hospital NICUs given an H2RA or PPI, 2006–2013.</a:t>
            </a:r>
          </a:p>
        </p:txBody>
      </p:sp>
      <p:sp>
        <p:nvSpPr>
          <p:cNvPr id="28" name="Rectangle 27"/>
          <p:cNvSpPr/>
          <p:nvPr/>
        </p:nvSpPr>
        <p:spPr>
          <a:xfrm>
            <a:off x="9560966" y="1773936"/>
            <a:ext cx="2070201" cy="22402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2400" b="1" i="0">
                <a:solidFill>
                  <a:srgbClr val="8A939B"/>
                </a:solidFill>
                <a:latin typeface="Abadi"/>
              </a:rPr>
              <a:t>48%</a:t>
            </a:r>
          </a:p>
        </p:txBody>
      </p:sp>
      <p:sp>
        <p:nvSpPr>
          <p:cNvPr id="31" name="TextBox 30"/>
          <p:cNvSpPr txBox="1"/>
          <p:nvPr/>
        </p:nvSpPr>
        <p:spPr>
          <a:xfrm>
            <a:off x="9707270" y="2505456"/>
            <a:ext cx="1777593" cy="1417320"/>
          </a:xfrm>
          <a:prstGeom prst="rect">
            <a:avLst/>
          </a:prstGeom>
          <a:noFill/>
        </p:spPr>
        <p:txBody>
          <a:bodyPr wrap="square" lIns="45720" rIns="45720" tIns="27432" bIns="27432" anchor="t">
            <a:spAutoFit/>
          </a:bodyPr>
          <a:lstStyle/>
          <a:p>
            <a:r>
              <a:rPr sz="1050" b="0" i="0">
                <a:solidFill>
                  <a:srgbClr val="1A1A1A"/>
                </a:solidFill>
                <a:latin typeface="Abadi"/>
              </a:rPr>
              <a:t>Hospital prescriptions for non-recommended indications, South Africa; taper tried in 23.8%.</a:t>
            </a:r>
          </a:p>
        </p:txBody>
      </p:sp>
      <p:sp>
        <p:nvSpPr>
          <p:cNvPr id="32" name="TextBox 31"/>
          <p:cNvSpPr txBox="1"/>
          <p:nvPr/>
        </p:nvSpPr>
        <p:spPr>
          <a:xfrm>
            <a:off x="548640" y="4206240"/>
            <a:ext cx="11082528" cy="1600200"/>
          </a:xfrm>
          <a:prstGeom prst="rect">
            <a:avLst/>
          </a:prstGeom>
          <a:noFill/>
        </p:spPr>
        <p:txBody>
          <a:bodyPr wrap="square" lIns="45720" rIns="45720" tIns="27432" bIns="27432" anchor="t">
            <a:spAutoFit/>
          </a:bodyPr>
          <a:lstStyle/>
          <a:p>
            <a:r>
              <a:rPr sz="1250" b="1" i="0">
                <a:solidFill>
                  <a:srgbClr val="1B355E"/>
                </a:solidFill>
                <a:latin typeface="Abadi"/>
              </a:rPr>
              <a:t>Read it as.   </a:t>
            </a:r>
            <a:r>
              <a:rPr sz="1250" b="0" i="0">
                <a:solidFill>
                  <a:srgbClr val="1A1A1A"/>
                </a:solidFill>
                <a:latin typeface="Abadi"/>
              </a:rPr>
              <a:t>Most children receive one short course, but a meaningful minority drift into long-term use without review. Hospital discharge, especially from neonatal units, is the commonest entry point, and the first renewal in primary care is the commonest point at which the end date disappears.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WHO SHOULD NOT STOP</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SEPARATE THE INDICATION FROM THE HABIT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Continue with periodic review versus offer a trial off; adapted from adult deprescribing guidance and pediatric guidelines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Targownik 2022 (AGA) · Farrell 2017 · Rosen 2018 · NICE NG1 (2015, updated 2019)</a:t>
            </a:r>
          </a:p>
        </p:txBody>
      </p:sp>
      <p:graphicFrame>
        <p:nvGraphicFramePr>
          <p:cNvPr id="12" name="Table 11"/>
          <p:cNvGraphicFramePr>
            <a:graphicFrameLocks noGrp="1"/>
          </p:cNvGraphicFramePr>
          <p:nvPr/>
        </p:nvGraphicFramePr>
        <p:xfrm>
          <a:off x="548640" y="1783080"/>
          <a:ext cx="11082528" cy="3401568"/>
        </p:xfrm>
        <a:graphic>
          <a:graphicData uri="http://schemas.openxmlformats.org/drawingml/2006/table">
            <a:tbl>
              <a:tblPr firstRow="0" bandRow="0">
                <a:tableStyleId>{5C22544A-7EE6-4342-B048-85BDC9FD1C3A}</a:tableStyleId>
              </a:tblPr>
              <a:tblGrid>
                <a:gridCol w="5541264"/>
                <a:gridCol w="5541264"/>
              </a:tblGrid>
              <a:tr h="566928">
                <a:tc>
                  <a:txBody>
                    <a:bodyPr wrap="square"/>
                    <a:lstStyle/>
                    <a:p>
                      <a:r>
                        <a:rPr sz="1050" b="1">
                          <a:solidFill>
                            <a:srgbClr val="FFFFFF"/>
                          </a:solidFill>
                          <a:latin typeface="Abadi"/>
                        </a:rPr>
                        <a:t>Continue, with review</a:t>
                      </a:r>
                    </a:p>
                  </a:txBody>
                  <a:tcPr marL="73152" marR="73152" marT="27432" marB="27432" anchor="ctr">
                    <a:solidFill>
                      <a:srgbClr val="1B355E"/>
                    </a:solidFill>
                  </a:tcPr>
                </a:tc>
                <a:tc>
                  <a:txBody>
                    <a:bodyPr wrap="square"/>
                    <a:lstStyle/>
                    <a:p>
                      <a:r>
                        <a:rPr sz="1050" b="1">
                          <a:solidFill>
                            <a:srgbClr val="FFFFFF"/>
                          </a:solidFill>
                          <a:latin typeface="Abadi"/>
                        </a:rPr>
                        <a:t>Offer a trial off</a:t>
                      </a:r>
                    </a:p>
                  </a:txBody>
                  <a:tcPr marL="73152" marR="73152" marT="27432" marB="27432" anchor="ctr">
                    <a:solidFill>
                      <a:srgbClr val="1B355E"/>
                    </a:solidFill>
                  </a:tcPr>
                </a:tc>
              </a:tr>
              <a:tr h="566928">
                <a:tc>
                  <a:txBody>
                    <a:bodyPr wrap="square"/>
                    <a:lstStyle/>
                    <a:p>
                      <a:r>
                        <a:rPr sz="1050" b="1">
                          <a:solidFill>
                            <a:srgbClr val="1A1A1A"/>
                          </a:solidFill>
                          <a:latin typeface="Abadi"/>
                        </a:rPr>
                        <a:t>Severe erosive oesophagitis (LA grade C or D) or peptic stricture</a:t>
                      </a:r>
                    </a:p>
                  </a:txBody>
                  <a:tcPr marL="73152" marR="73152" marT="27432" marB="27432" anchor="ctr">
                    <a:solidFill>
                      <a:srgbClr val="FFFFFF"/>
                    </a:solidFill>
                  </a:tcPr>
                </a:tc>
                <a:tc>
                  <a:txBody>
                    <a:bodyPr wrap="square"/>
                    <a:lstStyle/>
                    <a:p>
                      <a:r>
                        <a:rPr sz="1050" b="0">
                          <a:solidFill>
                            <a:srgbClr val="1A1A1A"/>
                          </a:solidFill>
                          <a:latin typeface="Abadi"/>
                        </a:rPr>
                        <a:t>Infant regurgitation, crying or arching without oesophagitis</a:t>
                      </a:r>
                    </a:p>
                  </a:txBody>
                  <a:tcPr marL="73152" marR="73152" marT="27432" marB="27432" anchor="ctr">
                    <a:solidFill>
                      <a:srgbClr val="FFFFFF"/>
                    </a:solidFill>
                  </a:tcPr>
                </a:tc>
              </a:tr>
              <a:tr h="566928">
                <a:tc>
                  <a:txBody>
                    <a:bodyPr wrap="square"/>
                    <a:lstStyle/>
                    <a:p>
                      <a:r>
                        <a:rPr sz="1050" b="1">
                          <a:solidFill>
                            <a:srgbClr val="1A1A1A"/>
                          </a:solidFill>
                          <a:latin typeface="Abadi"/>
                        </a:rPr>
                        <a:t>Barrett's oesophagus; repaired oesophageal atresia with documented oesophagitis</a:t>
                      </a:r>
                    </a:p>
                  </a:txBody>
                  <a:tcPr marL="73152" marR="73152" marT="27432" marB="27432" anchor="ctr">
                    <a:solidFill>
                      <a:srgbClr val="F2F4F7"/>
                    </a:solidFill>
                  </a:tcPr>
                </a:tc>
                <a:tc>
                  <a:txBody>
                    <a:bodyPr wrap="square"/>
                    <a:lstStyle/>
                    <a:p>
                      <a:r>
                        <a:rPr sz="1050" b="0">
                          <a:solidFill>
                            <a:srgbClr val="1A1A1A"/>
                          </a:solidFill>
                          <a:latin typeface="Abadi"/>
                        </a:rPr>
                        <a:t>Empirical course started without a diagnosis, symptoms now resolved</a:t>
                      </a:r>
                    </a:p>
                  </a:txBody>
                  <a:tcPr marL="73152" marR="73152" marT="27432" marB="27432" anchor="ctr">
                    <a:solidFill>
                      <a:srgbClr val="F2F4F7"/>
                    </a:solidFill>
                  </a:tcPr>
                </a:tc>
              </a:tr>
              <a:tr h="566928">
                <a:tc>
                  <a:txBody>
                    <a:bodyPr wrap="square"/>
                    <a:lstStyle/>
                    <a:p>
                      <a:r>
                        <a:rPr sz="1050" b="1">
                          <a:solidFill>
                            <a:srgbClr val="1A1A1A"/>
                          </a:solidFill>
                          <a:latin typeface="Abadi"/>
                        </a:rPr>
                        <a:t>Eosinophilic oesophagitis in histological remission on PPI</a:t>
                      </a:r>
                    </a:p>
                  </a:txBody>
                  <a:tcPr marL="73152" marR="73152" marT="27432" marB="27432" anchor="ctr">
                    <a:solidFill>
                      <a:srgbClr val="FFFFFF"/>
                    </a:solidFill>
                  </a:tcPr>
                </a:tc>
                <a:tc>
                  <a:txBody>
                    <a:bodyPr wrap="square"/>
                    <a:lstStyle/>
                    <a:p>
                      <a:r>
                        <a:rPr sz="1050" b="0">
                          <a:solidFill>
                            <a:srgbClr val="1A1A1A"/>
                          </a:solidFill>
                          <a:latin typeface="Abadi"/>
                        </a:rPr>
                        <a:t>Completed 4–8-week course for typical symptoms in a child</a:t>
                      </a:r>
                    </a:p>
                  </a:txBody>
                  <a:tcPr marL="73152" marR="73152" marT="27432" marB="27432" anchor="ctr">
                    <a:solidFill>
                      <a:srgbClr val="FFFFFF"/>
                    </a:solidFill>
                  </a:tcPr>
                </a:tc>
              </a:tr>
              <a:tr h="566928">
                <a:tc>
                  <a:txBody>
                    <a:bodyPr wrap="square"/>
                    <a:lstStyle/>
                    <a:p>
                      <a:r>
                        <a:rPr sz="1050" b="1">
                          <a:solidFill>
                            <a:srgbClr val="1A1A1A"/>
                          </a:solidFill>
                          <a:latin typeface="Abadi"/>
                        </a:rPr>
                        <a:t>Neurologically impaired child with proven oesophagitis or bleeding</a:t>
                      </a:r>
                    </a:p>
                  </a:txBody>
                  <a:tcPr marL="73152" marR="73152" marT="27432" marB="27432" anchor="ctr">
                    <a:solidFill>
                      <a:srgbClr val="F2F4F7"/>
                    </a:solidFill>
                  </a:tcPr>
                </a:tc>
                <a:tc>
                  <a:txBody>
                    <a:bodyPr wrap="square"/>
                    <a:lstStyle/>
                    <a:p>
                      <a:r>
                        <a:rPr sz="1050" b="0">
                          <a:solidFill>
                            <a:srgbClr val="1A1A1A"/>
                          </a:solidFill>
                          <a:latin typeface="Abadi"/>
                        </a:rPr>
                        <a:t>BRUE, apnoea, cough, hoarseness or 'silent reflux' as the only reason</a:t>
                      </a:r>
                    </a:p>
                  </a:txBody>
                  <a:tcPr marL="73152" marR="73152" marT="27432" marB="27432" anchor="ctr">
                    <a:solidFill>
                      <a:srgbClr val="F2F4F7"/>
                    </a:solidFill>
                  </a:tcPr>
                </a:tc>
              </a:tr>
              <a:tr h="566928">
                <a:tc>
                  <a:txBody>
                    <a:bodyPr wrap="square"/>
                    <a:lstStyle/>
                    <a:p>
                      <a:r>
                        <a:rPr sz="1050" b="1">
                          <a:solidFill>
                            <a:srgbClr val="1A1A1A"/>
                          </a:solidFill>
                          <a:latin typeface="Abadi"/>
                        </a:rPr>
                        <a:t>Ongoing high upper-GI bleeding risk; H. pylori eradication in progress</a:t>
                      </a:r>
                    </a:p>
                  </a:txBody>
                  <a:tcPr marL="73152" marR="73152" marT="27432" marB="27432" anchor="ctr">
                    <a:solidFill>
                      <a:srgbClr val="FFFFFF"/>
                    </a:solidFill>
                  </a:tcPr>
                </a:tc>
                <a:tc>
                  <a:txBody>
                    <a:bodyPr wrap="square"/>
                    <a:lstStyle/>
                    <a:p>
                      <a:r>
                        <a:rPr sz="1050" b="0">
                          <a:solidFill>
                            <a:srgbClr val="1A1A1A"/>
                          </a:solidFill>
                          <a:latin typeface="Abadi"/>
                        </a:rPr>
                        <a:t>Started in NICU or PICU for stress-ulcer prophylaxis, now discharged</a:t>
                      </a:r>
                    </a:p>
                  </a:txBody>
                  <a:tcPr marL="73152" marR="73152" marT="27432" marB="27432" anchor="ctr">
                    <a:solidFill>
                      <a:srgbClr val="FFFFFF"/>
                    </a:solidFill>
                  </a:tcPr>
                </a:tc>
              </a:tr>
            </a:tbl>
          </a:graphicData>
        </a:graphic>
      </p:graphicFrame>
      <p:sp>
        <p:nvSpPr>
          <p:cNvPr id="13" name="TextBox 12"/>
          <p:cNvSpPr txBox="1"/>
          <p:nvPr/>
        </p:nvSpPr>
        <p:spPr>
          <a:xfrm>
            <a:off x="548640" y="5349240"/>
            <a:ext cx="11082528" cy="457200"/>
          </a:xfrm>
          <a:prstGeom prst="rect">
            <a:avLst/>
          </a:prstGeom>
          <a:noFill/>
        </p:spPr>
        <p:txBody>
          <a:bodyPr wrap="square" lIns="45720" rIns="45720" tIns="27432" bIns="27432" anchor="t">
            <a:spAutoFit/>
          </a:bodyPr>
          <a:lstStyle/>
          <a:p>
            <a:r>
              <a:rPr sz="1200" b="1" i="0">
                <a:solidFill>
                  <a:srgbClr val="1B355E"/>
                </a:solidFill>
                <a:latin typeface="Abadi"/>
              </a:rPr>
              <a:t>Bottom line.   </a:t>
            </a:r>
            <a:r>
              <a:rPr sz="1200" b="0" i="0">
                <a:solidFill>
                  <a:srgbClr val="1A1A1A"/>
                </a:solidFill>
                <a:latin typeface="Abadi"/>
              </a:rPr>
              <a:t>A documented, ongoing indication is the only reason to continue; fear of a rare adverse event is not a reason to stop 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STRATEGIES COMPARED</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WHAT THE ADULT TRIALS TELL US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Relapse of symptoms compared with continuing the full-dose PPI, risk ratio</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Farrell B, et al. Can Fam Physician 2017;63:354–64 · Boghossian TA, et al. Cochrane Database Syst Rev 2017;CD011969 · Haastrup P, et al. Fam Pract 2014;31:625–30</a:t>
            </a:r>
          </a:p>
        </p:txBody>
      </p:sp>
      <p:sp>
        <p:nvSpPr>
          <p:cNvPr id="12" name="TextBox 11"/>
          <p:cNvSpPr txBox="1"/>
          <p:nvPr/>
        </p:nvSpPr>
        <p:spPr>
          <a:xfrm>
            <a:off x="548640" y="1965960"/>
            <a:ext cx="2834640" cy="685800"/>
          </a:xfrm>
          <a:prstGeom prst="rect">
            <a:avLst/>
          </a:prstGeom>
          <a:noFill/>
        </p:spPr>
        <p:txBody>
          <a:bodyPr wrap="square" lIns="45720" rIns="45720" tIns="27432" bIns="27432" anchor="ctr">
            <a:spAutoFit/>
          </a:bodyPr>
          <a:lstStyle/>
          <a:p>
            <a:r>
              <a:rPr sz="1050" b="0" i="0">
                <a:solidFill>
                  <a:srgbClr val="1A1A1A"/>
                </a:solidFill>
                <a:latin typeface="Abadi"/>
              </a:rPr>
              <a:t>Step down to a lower daily dose</a:t>
            </a:r>
          </a:p>
        </p:txBody>
      </p:sp>
      <p:sp>
        <p:nvSpPr>
          <p:cNvPr id="13" name="Rectangle 12"/>
          <p:cNvSpPr/>
          <p:nvPr/>
        </p:nvSpPr>
        <p:spPr>
          <a:xfrm>
            <a:off x="3474720" y="2144268"/>
            <a:ext cx="2121408"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79" y="1965960"/>
            <a:ext cx="2194560" cy="685800"/>
          </a:xfrm>
          <a:prstGeom prst="rect">
            <a:avLst/>
          </a:prstGeom>
          <a:noFill/>
        </p:spPr>
        <p:txBody>
          <a:bodyPr wrap="square" lIns="45720" rIns="45720" tIns="27432" bIns="27432" anchor="ctr">
            <a:spAutoFit/>
          </a:bodyPr>
          <a:lstStyle/>
          <a:p>
            <a:r>
              <a:rPr sz="1050" b="1" i="0">
                <a:solidFill>
                  <a:srgbClr val="1A1A1A"/>
                </a:solidFill>
                <a:latin typeface="Abadi"/>
              </a:rPr>
              <a:t>RR 1.16 (0.93–1.44)</a:t>
            </a:r>
          </a:p>
        </p:txBody>
      </p:sp>
      <p:sp>
        <p:nvSpPr>
          <p:cNvPr id="15" name="TextBox 14"/>
          <p:cNvSpPr txBox="1"/>
          <p:nvPr/>
        </p:nvSpPr>
        <p:spPr>
          <a:xfrm>
            <a:off x="548640" y="2651760"/>
            <a:ext cx="2834640" cy="685800"/>
          </a:xfrm>
          <a:prstGeom prst="rect">
            <a:avLst/>
          </a:prstGeom>
          <a:noFill/>
        </p:spPr>
        <p:txBody>
          <a:bodyPr wrap="square" lIns="45720" rIns="45720" tIns="27432" bIns="27432" anchor="ctr">
            <a:spAutoFit/>
          </a:bodyPr>
          <a:lstStyle/>
          <a:p>
            <a:r>
              <a:rPr sz="1050" b="0" i="0">
                <a:solidFill>
                  <a:srgbClr val="1A1A1A"/>
                </a:solidFill>
                <a:latin typeface="Abadi"/>
              </a:rPr>
              <a:t>On-demand PPI</a:t>
            </a:r>
          </a:p>
        </p:txBody>
      </p:sp>
      <p:sp>
        <p:nvSpPr>
          <p:cNvPr id="16" name="Rectangle 15"/>
          <p:cNvSpPr/>
          <p:nvPr/>
        </p:nvSpPr>
        <p:spPr>
          <a:xfrm>
            <a:off x="3474720" y="2830068"/>
            <a:ext cx="3127248"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2651760"/>
            <a:ext cx="2194560" cy="685800"/>
          </a:xfrm>
          <a:prstGeom prst="rect">
            <a:avLst/>
          </a:prstGeom>
          <a:noFill/>
        </p:spPr>
        <p:txBody>
          <a:bodyPr wrap="square" lIns="45720" rIns="45720" tIns="27432" bIns="27432" anchor="ctr">
            <a:spAutoFit/>
          </a:bodyPr>
          <a:lstStyle/>
          <a:p>
            <a:r>
              <a:rPr sz="1050" b="1" i="0">
                <a:solidFill>
                  <a:srgbClr val="1A1A1A"/>
                </a:solidFill>
                <a:latin typeface="Abadi"/>
              </a:rPr>
              <a:t>RR 1.71 (1.31–2.23)</a:t>
            </a:r>
          </a:p>
        </p:txBody>
      </p:sp>
      <p:sp>
        <p:nvSpPr>
          <p:cNvPr id="18" name="TextBox 17"/>
          <p:cNvSpPr txBox="1"/>
          <p:nvPr/>
        </p:nvSpPr>
        <p:spPr>
          <a:xfrm>
            <a:off x="548640" y="3337560"/>
            <a:ext cx="2834640" cy="685800"/>
          </a:xfrm>
          <a:prstGeom prst="rect">
            <a:avLst/>
          </a:prstGeom>
          <a:noFill/>
        </p:spPr>
        <p:txBody>
          <a:bodyPr wrap="square" lIns="45720" rIns="45720" tIns="27432" bIns="27432" anchor="ctr">
            <a:spAutoFit/>
          </a:bodyPr>
          <a:lstStyle/>
          <a:p>
            <a:r>
              <a:rPr sz="1050" b="0" i="0">
                <a:solidFill>
                  <a:srgbClr val="1A1A1A"/>
                </a:solidFill>
                <a:latin typeface="Abadi"/>
              </a:rPr>
              <a:t>Step down to an H2RA</a:t>
            </a:r>
          </a:p>
        </p:txBody>
      </p:sp>
      <p:sp>
        <p:nvSpPr>
          <p:cNvPr id="19" name="Rectangle 18"/>
          <p:cNvSpPr/>
          <p:nvPr/>
        </p:nvSpPr>
        <p:spPr>
          <a:xfrm>
            <a:off x="3474720" y="3515868"/>
            <a:ext cx="3511296"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59168" y="3337560"/>
            <a:ext cx="2194560" cy="685800"/>
          </a:xfrm>
          <a:prstGeom prst="rect">
            <a:avLst/>
          </a:prstGeom>
          <a:noFill/>
        </p:spPr>
        <p:txBody>
          <a:bodyPr wrap="square" lIns="45720" rIns="45720" tIns="27432" bIns="27432" anchor="ctr">
            <a:spAutoFit/>
          </a:bodyPr>
          <a:lstStyle/>
          <a:p>
            <a:r>
              <a:rPr sz="1050" b="1" i="0">
                <a:solidFill>
                  <a:srgbClr val="1A1A1A"/>
                </a:solidFill>
                <a:latin typeface="Abadi"/>
              </a:rPr>
              <a:t>RR 1.92 (1.44–2.58)</a:t>
            </a:r>
          </a:p>
        </p:txBody>
      </p:sp>
      <p:sp>
        <p:nvSpPr>
          <p:cNvPr id="21" name="TextBox 20"/>
          <p:cNvSpPr txBox="1"/>
          <p:nvPr/>
        </p:nvSpPr>
        <p:spPr>
          <a:xfrm>
            <a:off x="548640" y="406908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adults with resolved mild-to-moderate GERD; 1.0 = same as continuing.</a:t>
            </a:r>
          </a:p>
        </p:txBody>
      </p:sp>
      <p:sp>
        <p:nvSpPr>
          <p:cNvPr id="22" name="TextBox 21"/>
          <p:cNvSpPr txBox="1"/>
          <p:nvPr/>
        </p:nvSpPr>
        <p:spPr>
          <a:xfrm>
            <a:off x="548640" y="4389120"/>
            <a:ext cx="7955279" cy="128016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Lowering the dose barely increased relapse; on-demand use saved almost four pills a week at the cost of more symptoms. Tapering stopped more successfully than abrupt withdrawal.</a:t>
            </a:r>
          </a:p>
        </p:txBody>
      </p:sp>
      <p:sp>
        <p:nvSpPr>
          <p:cNvPr id="23" name="TextBox 22"/>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Pill burden</a:t>
            </a:r>
          </a:p>
          <a:p>
            <a:pPr>
              <a:spcAft>
                <a:spcPts val="400"/>
              </a:spcAft>
            </a:pPr>
            <a:r>
              <a:rPr sz="1050" b="0" i="0">
                <a:solidFill>
                  <a:srgbClr val="1A1A1A"/>
                </a:solidFill>
                <a:latin typeface="Abadi"/>
              </a:rPr>
              <a:t>Cochrane: on-demand saved 3.79 pills per week.</a:t>
            </a:r>
          </a:p>
          <a:p>
            <a:pPr>
              <a:spcAft>
                <a:spcPts val="400"/>
              </a:spcAft>
            </a:pPr>
            <a:r>
              <a:rPr sz="1500" b="1" i="0">
                <a:solidFill>
                  <a:srgbClr val="1B355E"/>
                </a:solidFill>
                <a:latin typeface="Abadi"/>
              </a:rPr>
              <a:t>Success</a:t>
            </a:r>
          </a:p>
          <a:p>
            <a:pPr>
              <a:spcAft>
                <a:spcPts val="400"/>
              </a:spcAft>
            </a:pPr>
            <a:r>
              <a:rPr sz="1050" b="0" i="0">
                <a:solidFill>
                  <a:srgbClr val="1A1A1A"/>
                </a:solidFill>
                <a:latin typeface="Abadi"/>
              </a:rPr>
              <a:t>Haastrup: 14–64% stopped without worse symptoms; tapering better than abrupt stop.</a:t>
            </a:r>
          </a:p>
          <a:p>
            <a:pPr>
              <a:spcAft>
                <a:spcPts val="400"/>
              </a:spcAft>
            </a:pPr>
            <a:r>
              <a:rPr sz="1500" b="1" i="0">
                <a:solidFill>
                  <a:srgbClr val="1B355E"/>
                </a:solidFill>
                <a:latin typeface="Abadi"/>
              </a:rPr>
              <a:t>Taper method</a:t>
            </a:r>
          </a:p>
          <a:p>
            <a:pPr>
              <a:spcAft>
                <a:spcPts val="400"/>
              </a:spcAft>
            </a:pPr>
            <a:r>
              <a:rPr sz="1050" b="0" i="0">
                <a:solidFill>
                  <a:srgbClr val="1A1A1A"/>
                </a:solidFill>
                <a:latin typeface="Abadi"/>
              </a:rPr>
              <a:t>Farrell: no single taper is better; AGA: taper or stop both acceptable.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A PRACTICAL TAPER</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STEP DOWN, THEN STEP OFF</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A pragmatic schedule for a child on a daily PPI for more than 8 weeks; no pediatric trial compares schedules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Farrell 2017 · Targownik 2022 · Royal Children's Hospital Melbourne parent information · Rosen 2018</a:t>
            </a:r>
          </a:p>
        </p:txBody>
      </p:sp>
      <p:sp>
        <p:nvSpPr>
          <p:cNvPr id="12" name="Rectangle 11"/>
          <p:cNvSpPr/>
          <p:nvPr/>
        </p:nvSpPr>
        <p:spPr>
          <a:xfrm>
            <a:off x="548640"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1 · Decide</a:t>
            </a:r>
          </a:p>
        </p:txBody>
      </p:sp>
      <p:sp>
        <p:nvSpPr>
          <p:cNvPr id="15" name="TextBox 14"/>
          <p:cNvSpPr txBox="1"/>
          <p:nvPr/>
        </p:nvSpPr>
        <p:spPr>
          <a:xfrm>
            <a:off x="658368"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Confirm no ongoing indication; document the reason for stopping; agree a review date.</a:t>
            </a:r>
          </a:p>
        </p:txBody>
      </p:sp>
      <p:sp>
        <p:nvSpPr>
          <p:cNvPr id="16" name="TextBox 15"/>
          <p:cNvSpPr txBox="1"/>
          <p:nvPr/>
        </p:nvSpPr>
        <p:spPr>
          <a:xfrm>
            <a:off x="2531059"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2 · Once daily</a:t>
            </a:r>
          </a:p>
        </p:txBody>
      </p:sp>
      <p:sp>
        <p:nvSpPr>
          <p:cNvPr id="20" name="TextBox 19"/>
          <p:cNvSpPr txBox="1"/>
          <p:nvPr/>
        </p:nvSpPr>
        <p:spPr>
          <a:xfrm>
            <a:off x="2933395"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If twice daily, go to once daily before breakfast for 1–2 weeks.</a:t>
            </a:r>
          </a:p>
        </p:txBody>
      </p:sp>
      <p:sp>
        <p:nvSpPr>
          <p:cNvPr id="21" name="TextBox 20"/>
          <p:cNvSpPr txBox="1"/>
          <p:nvPr/>
        </p:nvSpPr>
        <p:spPr>
          <a:xfrm>
            <a:off x="4806086"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3 · Half dose</a:t>
            </a:r>
          </a:p>
        </p:txBody>
      </p:sp>
      <p:sp>
        <p:nvSpPr>
          <p:cNvPr id="25" name="TextBox 24"/>
          <p:cNvSpPr txBox="1"/>
          <p:nvPr/>
        </p:nvSpPr>
        <p:spPr>
          <a:xfrm>
            <a:off x="5208422"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Half the daily dose for 1–2 weeks.</a:t>
            </a:r>
          </a:p>
        </p:txBody>
      </p:sp>
      <p:sp>
        <p:nvSpPr>
          <p:cNvPr id="26" name="TextBox 25"/>
          <p:cNvSpPr txBox="1"/>
          <p:nvPr/>
        </p:nvSpPr>
        <p:spPr>
          <a:xfrm>
            <a:off x="7081113"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4 · Alternate days</a:t>
            </a:r>
          </a:p>
        </p:txBody>
      </p:sp>
      <p:sp>
        <p:nvSpPr>
          <p:cNvPr id="30" name="TextBox 29"/>
          <p:cNvSpPr txBox="1"/>
          <p:nvPr/>
        </p:nvSpPr>
        <p:spPr>
          <a:xfrm>
            <a:off x="7483449"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Half dose every second day for 1–2 weeks.</a:t>
            </a:r>
          </a:p>
        </p:txBody>
      </p:sp>
      <p:sp>
        <p:nvSpPr>
          <p:cNvPr id="31" name="TextBox 30"/>
          <p:cNvSpPr txBox="1"/>
          <p:nvPr/>
        </p:nvSpPr>
        <p:spPr>
          <a:xfrm>
            <a:off x="9356140"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5 · Stop</a:t>
            </a:r>
          </a:p>
        </p:txBody>
      </p:sp>
      <p:sp>
        <p:nvSpPr>
          <p:cNvPr id="35" name="TextBox 34"/>
          <p:cNvSpPr txBox="1"/>
          <p:nvPr/>
        </p:nvSpPr>
        <p:spPr>
          <a:xfrm>
            <a:off x="9758476"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Rescue on demand for the rebound window; review at 4 and 12 weeks.</a:t>
            </a:r>
          </a:p>
        </p:txBody>
      </p:sp>
      <p:sp>
        <p:nvSpPr>
          <p:cNvPr id="36" name="TextBox 35"/>
          <p:cNvSpPr txBox="1"/>
          <p:nvPr/>
        </p:nvSpPr>
        <p:spPr>
          <a:xfrm>
            <a:off x="548640" y="4023360"/>
            <a:ext cx="11082528" cy="1783080"/>
          </a:xfrm>
          <a:prstGeom prst="rect">
            <a:avLst/>
          </a:prstGeom>
          <a:noFill/>
        </p:spPr>
        <p:txBody>
          <a:bodyPr wrap="square" lIns="45720" rIns="45720" tIns="27432" bIns="27432" anchor="t">
            <a:spAutoFit/>
          </a:bodyPr>
          <a:lstStyle/>
          <a:p>
            <a:r>
              <a:rPr sz="1250" b="1" i="0">
                <a:solidFill>
                  <a:srgbClr val="1B355E"/>
                </a:solidFill>
                <a:latin typeface="Abadi"/>
              </a:rPr>
              <a:t>Fit it to the child.   </a:t>
            </a:r>
            <a:r>
              <a:rPr sz="1250" b="0" i="0">
                <a:solidFill>
                  <a:srgbClr val="1A1A1A"/>
                </a:solidFill>
                <a:latin typeface="Abadi"/>
              </a:rPr>
              <a:t>A thriving infant on a short course can stop directly or over 2–4 weeks: the Melbourne handout uses half dose daily for two weeks, half dose every second day for a week, then stop. Children on years of high-dose therapy may need slower steps. Rescue options are an antacid or an occasional H2-receptor antagonist; avoid regular H2-receptor antagonists, which lose effect within weeks. Restart only for symptoms persisting beyond the rebound window.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DIFFERENT CHILDREN, DIFFERENT GOALS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ONE DRUG, FIVE DEPRESCRIBING PLANS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How the plan changes with age and underlying condition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Rosen 2018 · NICE NG1 · Størdal K, Ma A, Beck CE. BMJ 2024;385:e074588 · Targownik 2022</a:t>
            </a:r>
          </a:p>
        </p:txBody>
      </p:sp>
      <p:sp>
        <p:nvSpPr>
          <p:cNvPr id="12" name="Rectangle 11"/>
          <p:cNvSpPr/>
          <p:nvPr/>
        </p:nvSpPr>
        <p:spPr>
          <a:xfrm>
            <a:off x="548640" y="1773936"/>
            <a:ext cx="2070201" cy="22860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1500" b="1" i="0">
                <a:solidFill>
                  <a:srgbClr val="1E7A33"/>
                </a:solidFill>
                <a:latin typeface="Abadi"/>
              </a:rPr>
              <a:t>Infant</a:t>
            </a:r>
          </a:p>
        </p:txBody>
      </p:sp>
      <p:sp>
        <p:nvSpPr>
          <p:cNvPr id="15" name="TextBox 14"/>
          <p:cNvSpPr txBox="1"/>
          <p:nvPr/>
        </p:nvSpPr>
        <p:spPr>
          <a:xfrm>
            <a:off x="694944" y="2505456"/>
            <a:ext cx="1777593"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Regurgitation is physiology</a:t>
            </a:r>
          </a:p>
          <a:p>
            <a:pPr>
              <a:spcAft>
                <a:spcPts val="400"/>
              </a:spcAft>
            </a:pPr>
            <a:r>
              <a:rPr sz="1050" b="0" i="0">
                <a:solidFill>
                  <a:srgbClr val="1A1A1A"/>
                </a:solidFill>
                <a:latin typeface="Abadi"/>
              </a:rPr>
              <a:t>▪  Stop; short taper optional</a:t>
            </a:r>
          </a:p>
          <a:p>
            <a:pPr>
              <a:spcAft>
                <a:spcPts val="400"/>
              </a:spcAft>
            </a:pPr>
            <a:r>
              <a:rPr sz="1050" b="0" i="0">
                <a:solidFill>
                  <a:srgbClr val="1A1A1A"/>
                </a:solidFill>
                <a:latin typeface="Abadi"/>
              </a:rPr>
              <a:t>▪  Thickening, volumes, CMPA trial</a:t>
            </a:r>
          </a:p>
        </p:txBody>
      </p:sp>
      <p:sp>
        <p:nvSpPr>
          <p:cNvPr id="16" name="Rectangle 15"/>
          <p:cNvSpPr/>
          <p:nvPr/>
        </p:nvSpPr>
        <p:spPr>
          <a:xfrm>
            <a:off x="2801721" y="1773936"/>
            <a:ext cx="2070201" cy="22860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1500" b="1" i="0">
                <a:solidFill>
                  <a:srgbClr val="1B355E"/>
                </a:solidFill>
                <a:latin typeface="Abadi"/>
              </a:rPr>
              <a:t>Child</a:t>
            </a:r>
          </a:p>
        </p:txBody>
      </p:sp>
      <p:sp>
        <p:nvSpPr>
          <p:cNvPr id="19" name="TextBox 18"/>
          <p:cNvSpPr txBox="1"/>
          <p:nvPr/>
        </p:nvSpPr>
        <p:spPr>
          <a:xfrm>
            <a:off x="2948025" y="2505456"/>
            <a:ext cx="1777593"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Was the 4–8-week course completed?</a:t>
            </a:r>
          </a:p>
          <a:p>
            <a:pPr>
              <a:spcAft>
                <a:spcPts val="400"/>
              </a:spcAft>
            </a:pPr>
            <a:r>
              <a:rPr sz="1050" b="0" i="0">
                <a:solidFill>
                  <a:srgbClr val="1A1A1A"/>
                </a:solidFill>
                <a:latin typeface="Abadi"/>
              </a:rPr>
              <a:t>▪  Taper over 2–6 weeks</a:t>
            </a:r>
          </a:p>
          <a:p>
            <a:pPr>
              <a:spcAft>
                <a:spcPts val="400"/>
              </a:spcAft>
            </a:pPr>
            <a:r>
              <a:rPr sz="1050" b="0" i="0">
                <a:solidFill>
                  <a:srgbClr val="1A1A1A"/>
                </a:solidFill>
                <a:latin typeface="Abadi"/>
              </a:rPr>
              <a:t>▪  Endoscopy if relapse persists</a:t>
            </a:r>
          </a:p>
        </p:txBody>
      </p:sp>
      <p:sp>
        <p:nvSpPr>
          <p:cNvPr id="20" name="Rectangle 19"/>
          <p:cNvSpPr/>
          <p:nvPr/>
        </p:nvSpPr>
        <p:spPr>
          <a:xfrm>
            <a:off x="5054803" y="1773936"/>
            <a:ext cx="2070201" cy="22860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1500" b="1" i="0">
                <a:solidFill>
                  <a:srgbClr val="D97A0B"/>
                </a:solidFill>
                <a:latin typeface="Abadi"/>
              </a:rPr>
              <a:t>Adolescent</a:t>
            </a:r>
          </a:p>
        </p:txBody>
      </p:sp>
      <p:sp>
        <p:nvSpPr>
          <p:cNvPr id="23" name="TextBox 22"/>
          <p:cNvSpPr txBox="1"/>
          <p:nvPr/>
        </p:nvSpPr>
        <p:spPr>
          <a:xfrm>
            <a:off x="5201107" y="2505456"/>
            <a:ext cx="1777593"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Adult-pattern GERD</a:t>
            </a:r>
          </a:p>
          <a:p>
            <a:pPr>
              <a:spcAft>
                <a:spcPts val="400"/>
              </a:spcAft>
            </a:pPr>
            <a:r>
              <a:rPr sz="1050" b="0" i="0">
                <a:solidFill>
                  <a:srgbClr val="1A1A1A"/>
                </a:solidFill>
                <a:latin typeface="Abadi"/>
              </a:rPr>
              <a:t>▪  On-demand use acceptable</a:t>
            </a:r>
          </a:p>
          <a:p>
            <a:pPr>
              <a:spcAft>
                <a:spcPts val="400"/>
              </a:spcAft>
            </a:pPr>
            <a:r>
              <a:rPr sz="1050" b="0" i="0">
                <a:solidFill>
                  <a:srgbClr val="1A1A1A"/>
                </a:solidFill>
                <a:latin typeface="Abadi"/>
              </a:rPr>
              <a:t>▪  Lifestyle, weight, timing</a:t>
            </a:r>
          </a:p>
        </p:txBody>
      </p:sp>
      <p:sp>
        <p:nvSpPr>
          <p:cNvPr id="24" name="Rectangle 23"/>
          <p:cNvSpPr/>
          <p:nvPr/>
        </p:nvSpPr>
        <p:spPr>
          <a:xfrm>
            <a:off x="7307884" y="1773936"/>
            <a:ext cx="2070201"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1500" b="1" i="0">
                <a:solidFill>
                  <a:srgbClr val="B22222"/>
                </a:solidFill>
                <a:latin typeface="Abadi"/>
              </a:rPr>
              <a:t>Neuro-impaired</a:t>
            </a:r>
          </a:p>
        </p:txBody>
      </p:sp>
      <p:sp>
        <p:nvSpPr>
          <p:cNvPr id="27" name="TextBox 26"/>
          <p:cNvSpPr txBox="1"/>
          <p:nvPr/>
        </p:nvSpPr>
        <p:spPr>
          <a:xfrm>
            <a:off x="7454188" y="2505456"/>
            <a:ext cx="1777593"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Higher rate of true oesophagitis</a:t>
            </a:r>
          </a:p>
          <a:p>
            <a:pPr>
              <a:spcAft>
                <a:spcPts val="400"/>
              </a:spcAft>
            </a:pPr>
            <a:r>
              <a:rPr sz="1050" b="0" i="0">
                <a:solidFill>
                  <a:srgbClr val="1A1A1A"/>
                </a:solidFill>
                <a:latin typeface="Abadi"/>
              </a:rPr>
              <a:t>▪  Taper only with endoscopic or clinical clarity</a:t>
            </a:r>
          </a:p>
        </p:txBody>
      </p:sp>
      <p:sp>
        <p:nvSpPr>
          <p:cNvPr id="28" name="Rectangle 27"/>
          <p:cNvSpPr/>
          <p:nvPr/>
        </p:nvSpPr>
        <p:spPr>
          <a:xfrm>
            <a:off x="9560966" y="1773936"/>
            <a:ext cx="2070201" cy="22860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1500" b="1" i="0">
                <a:solidFill>
                  <a:srgbClr val="8A939B"/>
                </a:solidFill>
                <a:latin typeface="Abadi"/>
              </a:rPr>
              <a:t>After EA repair</a:t>
            </a:r>
          </a:p>
        </p:txBody>
      </p:sp>
      <p:sp>
        <p:nvSpPr>
          <p:cNvPr id="31" name="TextBox 30"/>
          <p:cNvSpPr txBox="1"/>
          <p:nvPr/>
        </p:nvSpPr>
        <p:spPr>
          <a:xfrm>
            <a:off x="9707270" y="2505456"/>
            <a:ext cx="1777593" cy="146304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Long-term risk of oesophagitis and Barrett's</a:t>
            </a:r>
          </a:p>
          <a:p>
            <a:pPr>
              <a:spcAft>
                <a:spcPts val="400"/>
              </a:spcAft>
            </a:pPr>
            <a:r>
              <a:rPr sz="1050" b="0" i="0">
                <a:solidFill>
                  <a:srgbClr val="1A1A1A"/>
                </a:solidFill>
                <a:latin typeface="Abadi"/>
              </a:rPr>
              <a:t>▪  Endoscopic surveillance guides it</a:t>
            </a:r>
          </a:p>
        </p:txBody>
      </p:sp>
      <p:sp>
        <p:nvSpPr>
          <p:cNvPr id="32" name="TextBox 31"/>
          <p:cNvSpPr txBox="1"/>
          <p:nvPr/>
        </p:nvSpPr>
        <p:spPr>
          <a:xfrm>
            <a:off x="548640" y="4251960"/>
            <a:ext cx="11082528" cy="1554480"/>
          </a:xfrm>
          <a:prstGeom prst="rect">
            <a:avLst/>
          </a:prstGeom>
          <a:noFill/>
        </p:spPr>
        <p:txBody>
          <a:bodyPr wrap="square" lIns="45720" rIns="45720" tIns="27432" bIns="27432" anchor="t">
            <a:spAutoFit/>
          </a:bodyPr>
          <a:lstStyle/>
          <a:p>
            <a:r>
              <a:rPr sz="1250" b="1" i="0">
                <a:solidFill>
                  <a:srgbClr val="1B355E"/>
                </a:solidFill>
                <a:latin typeface="Abadi"/>
              </a:rPr>
              <a:t>Interpretation.   </a:t>
            </a:r>
            <a:r>
              <a:rPr sz="1250" b="0" i="0">
                <a:solidFill>
                  <a:srgbClr val="1A1A1A"/>
                </a:solidFill>
                <a:latin typeface="Abadi"/>
              </a:rPr>
              <a:t>The thriving infant is the easiest and most common case: the drug never had an indication, and the plan is reassurance plus feeding advice. The neurologically impaired child and the child after oesophageal atresia are the hardest, because true oesophagitis is frequent and symptoms are hard to read; there, deprescribing follows endoscopic findings, not calendar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WHAT THE DOCUMENTS SAY ABOUT STOPPING</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Pediatric guidelines versus adult deprescribing guidance; ECCO not applicable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Rosen 2018 (NASPGHAN/ESPGHAN) · NICE NG1 · Targownik 2022 (AGA) · Katz PO, et al. Am J Gastroenterol 2022 (ACG) · Farrell 2017 · Quinonez RA, et al. J Hosp Med 2013;8:479–85</a:t>
            </a:r>
          </a:p>
        </p:txBody>
      </p:sp>
      <p:graphicFrame>
        <p:nvGraphicFramePr>
          <p:cNvPr id="12" name="Table 11"/>
          <p:cNvGraphicFramePr>
            <a:graphicFrameLocks noGrp="1"/>
          </p:cNvGraphicFramePr>
          <p:nvPr/>
        </p:nvGraphicFramePr>
        <p:xfrm>
          <a:off x="548640" y="1783080"/>
          <a:ext cx="11082528" cy="3328416"/>
        </p:xfrm>
        <a:graphic>
          <a:graphicData uri="http://schemas.openxmlformats.org/drawingml/2006/table">
            <a:tbl>
              <a:tblPr firstRow="0" bandRow="0">
                <a:tableStyleId>{5C22544A-7EE6-4342-B048-85BDC9FD1C3A}</a:tableStyleId>
              </a:tblPr>
              <a:tblGrid>
                <a:gridCol w="2103120"/>
                <a:gridCol w="2377440"/>
                <a:gridCol w="2194560"/>
                <a:gridCol w="3108960"/>
                <a:gridCol w="1298448"/>
              </a:tblGrid>
              <a:tr h="475488">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NASPGHAN/ESPGHAN 2018</a:t>
                      </a:r>
                    </a:p>
                  </a:txBody>
                  <a:tcPr marL="73152" marR="73152" marT="27432" marB="27432" anchor="ctr">
                    <a:solidFill>
                      <a:srgbClr val="1B355E"/>
                    </a:solidFill>
                  </a:tcPr>
                </a:tc>
                <a:tc>
                  <a:txBody>
                    <a:bodyPr wrap="square"/>
                    <a:lstStyle/>
                    <a:p>
                      <a:r>
                        <a:rPr sz="1050" b="1">
                          <a:solidFill>
                            <a:srgbClr val="FFFFFF"/>
                          </a:solidFill>
                          <a:latin typeface="Abadi"/>
                        </a:rPr>
                        <a:t>NICE NG1</a:t>
                      </a:r>
                    </a:p>
                  </a:txBody>
                  <a:tcPr marL="73152" marR="73152" marT="27432" marB="27432" anchor="ctr">
                    <a:solidFill>
                      <a:srgbClr val="1B355E"/>
                    </a:solidFill>
                  </a:tcPr>
                </a:tc>
                <a:tc>
                  <a:txBody>
                    <a:bodyPr wrap="square"/>
                    <a:lstStyle/>
                    <a:p>
                      <a:r>
                        <a:rPr sz="1050" b="1">
                          <a:solidFill>
                            <a:srgbClr val="FFFFFF"/>
                          </a:solidFill>
                          <a:latin typeface="Abadi"/>
                        </a:rPr>
                        <a:t>AGA 2022 · ACG 2022</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475488">
                <a:tc>
                  <a:txBody>
                    <a:bodyPr wrap="square"/>
                    <a:lstStyle/>
                    <a:p>
                      <a:r>
                        <a:rPr sz="1000" b="1">
                          <a:solidFill>
                            <a:srgbClr val="1A1A1A"/>
                          </a:solidFill>
                          <a:latin typeface="Abadi"/>
                        </a:rPr>
                        <a:t>Empirical PPI in infants</a:t>
                      </a:r>
                    </a:p>
                  </a:txBody>
                  <a:tcPr marL="73152" marR="73152" marT="27432" marB="27432" anchor="ctr">
                    <a:solidFill>
                      <a:srgbClr val="FFFFFF"/>
                    </a:solidFill>
                  </a:tcPr>
                </a:tc>
                <a:tc>
                  <a:txBody>
                    <a:bodyPr wrap="square"/>
                    <a:lstStyle/>
                    <a:p>
                      <a:r>
                        <a:rPr sz="1000" b="0">
                          <a:solidFill>
                            <a:srgbClr val="1A1A1A"/>
                          </a:solidFill>
                          <a:latin typeface="Abadi"/>
                        </a:rPr>
                        <a:t>Not for crying or fussing; not as a test</a:t>
                      </a:r>
                    </a:p>
                  </a:txBody>
                  <a:tcPr marL="73152" marR="73152" marT="27432" marB="27432" anchor="ctr">
                    <a:solidFill>
                      <a:srgbClr val="FFFFFF"/>
                    </a:solidFill>
                  </a:tcPr>
                </a:tc>
                <a:tc>
                  <a:txBody>
                    <a:bodyPr wrap="square"/>
                    <a:lstStyle/>
                    <a:p>
                      <a:r>
                        <a:rPr sz="1000" b="0">
                          <a:solidFill>
                            <a:srgbClr val="1A1A1A"/>
                          </a:solidFill>
                          <a:latin typeface="Abadi"/>
                        </a:rPr>
                        <a:t>Not for isolated regurgitation</a:t>
                      </a:r>
                    </a:p>
                  </a:txBody>
                  <a:tcPr marL="73152" marR="73152" marT="27432" marB="27432" anchor="ctr">
                    <a:solidFill>
                      <a:srgbClr val="FFFFFF"/>
                    </a:solidFill>
                  </a:tcPr>
                </a:tc>
                <a:tc>
                  <a:txBody>
                    <a:bodyPr wrap="square"/>
                    <a:lstStyle/>
                    <a:p>
                      <a:r>
                        <a:rPr sz="1000" b="0">
                          <a:solidFill>
                            <a:srgbClr val="1A1A1A"/>
                          </a:solidFill>
                          <a:latin typeface="Abadi"/>
                        </a:rPr>
                        <a:t>Not applicable (adults)</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75488">
                <a:tc>
                  <a:txBody>
                    <a:bodyPr wrap="square"/>
                    <a:lstStyle/>
                    <a:p>
                      <a:r>
                        <a:rPr sz="1000" b="1">
                          <a:solidFill>
                            <a:srgbClr val="1A1A1A"/>
                          </a:solidFill>
                          <a:latin typeface="Abadi"/>
                        </a:rPr>
                        <a:t>Length of a trial</a:t>
                      </a:r>
                    </a:p>
                  </a:txBody>
                  <a:tcPr marL="73152" marR="73152" marT="27432" marB="27432" anchor="ctr">
                    <a:solidFill>
                      <a:srgbClr val="F2F4F7"/>
                    </a:solidFill>
                  </a:tcPr>
                </a:tc>
                <a:tc>
                  <a:txBody>
                    <a:bodyPr wrap="square"/>
                    <a:lstStyle/>
                    <a:p>
                      <a:r>
                        <a:rPr sz="1000" b="0">
                          <a:solidFill>
                            <a:srgbClr val="1A1A1A"/>
                          </a:solidFill>
                          <a:latin typeface="Abadi"/>
                        </a:rPr>
                        <a:t>4–8 weeks</a:t>
                      </a:r>
                    </a:p>
                  </a:txBody>
                  <a:tcPr marL="73152" marR="73152" marT="27432" marB="27432" anchor="ctr">
                    <a:solidFill>
                      <a:srgbClr val="F2F4F7"/>
                    </a:solidFill>
                  </a:tcPr>
                </a:tc>
                <a:tc>
                  <a:txBody>
                    <a:bodyPr wrap="square"/>
                    <a:lstStyle/>
                    <a:p>
                      <a:r>
                        <a:rPr sz="1000" b="0">
                          <a:solidFill>
                            <a:srgbClr val="1A1A1A"/>
                          </a:solidFill>
                          <a:latin typeface="Abadi"/>
                        </a:rPr>
                        <a:t>4 weeks, then assess</a:t>
                      </a:r>
                    </a:p>
                  </a:txBody>
                  <a:tcPr marL="73152" marR="73152" marT="27432" marB="27432" anchor="ctr">
                    <a:solidFill>
                      <a:srgbClr val="F2F4F7"/>
                    </a:solidFill>
                  </a:tcPr>
                </a:tc>
                <a:tc>
                  <a:txBody>
                    <a:bodyPr wrap="square"/>
                    <a:lstStyle/>
                    <a:p>
                      <a:r>
                        <a:rPr sz="1000" b="0">
                          <a:solidFill>
                            <a:srgbClr val="1A1A1A"/>
                          </a:solidFill>
                          <a:latin typeface="Abadi"/>
                        </a:rPr>
                        <a:t>ACG: 8 weeks, then try to stop</a:t>
                      </a:r>
                    </a:p>
                  </a:txBody>
                  <a:tcPr marL="73152" marR="73152" marT="27432" marB="27432" anchor="ctr">
                    <a:solidFill>
                      <a:srgbClr val="F2F4F7"/>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75488">
                <a:tc>
                  <a:txBody>
                    <a:bodyPr wrap="square"/>
                    <a:lstStyle/>
                    <a:p>
                      <a:r>
                        <a:rPr sz="1000" b="1">
                          <a:solidFill>
                            <a:srgbClr val="1A1A1A"/>
                          </a:solidFill>
                          <a:latin typeface="Abadi"/>
                        </a:rPr>
                        <a:t>Reassess and wean</a:t>
                      </a:r>
                    </a:p>
                  </a:txBody>
                  <a:tcPr marL="73152" marR="73152" marT="27432" marB="27432" anchor="ctr">
                    <a:solidFill>
                      <a:srgbClr val="FFFFFF"/>
                    </a:solidFill>
                  </a:tcPr>
                </a:tc>
                <a:tc>
                  <a:txBody>
                    <a:bodyPr wrap="square"/>
                    <a:lstStyle/>
                    <a:p>
                      <a:r>
                        <a:rPr sz="1000" b="0">
                          <a:solidFill>
                            <a:srgbClr val="1A1A1A"/>
                          </a:solidFill>
                          <a:latin typeface="Abadi"/>
                        </a:rPr>
                        <a:t>Periodic weaning attempts</a:t>
                      </a:r>
                    </a:p>
                  </a:txBody>
                  <a:tcPr marL="73152" marR="73152" marT="27432" marB="27432" anchor="ctr">
                    <a:solidFill>
                      <a:srgbClr val="FFFFFF"/>
                    </a:solidFill>
                  </a:tcPr>
                </a:tc>
                <a:tc>
                  <a:txBody>
                    <a:bodyPr wrap="square"/>
                    <a:lstStyle/>
                    <a:p>
                      <a:r>
                        <a:rPr sz="1000" b="0">
                          <a:solidFill>
                            <a:srgbClr val="1A1A1A"/>
                          </a:solidFill>
                          <a:latin typeface="Abadi"/>
                        </a:rPr>
                        <a:t>Refer if symptoms recur on stopping</a:t>
                      </a:r>
                    </a:p>
                  </a:txBody>
                  <a:tcPr marL="73152" marR="73152" marT="27432" marB="27432" anchor="ctr">
                    <a:solidFill>
                      <a:srgbClr val="FFFFFF"/>
                    </a:solidFill>
                  </a:tcPr>
                </a:tc>
                <a:tc>
                  <a:txBody>
                    <a:bodyPr wrap="square"/>
                    <a:lstStyle/>
                    <a:p>
                      <a:r>
                        <a:rPr sz="1000" b="0">
                          <a:solidFill>
                            <a:srgbClr val="1A1A1A"/>
                          </a:solidFill>
                          <a:latin typeface="Abadi"/>
                        </a:rPr>
                        <a:t>Review the indication regularly</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75488">
                <a:tc>
                  <a:txBody>
                    <a:bodyPr wrap="square"/>
                    <a:lstStyle/>
                    <a:p>
                      <a:r>
                        <a:rPr sz="1000" b="1">
                          <a:solidFill>
                            <a:srgbClr val="1A1A1A"/>
                          </a:solidFill>
                          <a:latin typeface="Abadi"/>
                        </a:rPr>
                        <a:t>How to taper</a:t>
                      </a:r>
                    </a:p>
                  </a:txBody>
                  <a:tcPr marL="73152" marR="73152" marT="27432" marB="27432" anchor="ctr">
                    <a:solidFill>
                      <a:srgbClr val="F2F4F7"/>
                    </a:solidFill>
                  </a:tcPr>
                </a:tc>
                <a:tc>
                  <a:txBody>
                    <a:bodyPr wrap="square"/>
                    <a:lstStyle/>
                    <a:p>
                      <a:r>
                        <a:rPr sz="1000" b="0">
                          <a:solidFill>
                            <a:srgbClr val="1A1A1A"/>
                          </a:solidFill>
                          <a:latin typeface="Abadi"/>
                        </a:rPr>
                        <a:t>Not specified</a:t>
                      </a:r>
                    </a:p>
                  </a:txBody>
                  <a:tcPr marL="73152" marR="73152" marT="27432" marB="27432" anchor="ctr">
                    <a:solidFill>
                      <a:srgbClr val="F2F4F7"/>
                    </a:solidFill>
                  </a:tcPr>
                </a:tc>
                <a:tc>
                  <a:txBody>
                    <a:bodyPr wrap="square"/>
                    <a:lstStyle/>
                    <a:p>
                      <a:r>
                        <a:rPr sz="1000" b="0">
                          <a:solidFill>
                            <a:srgbClr val="1A1A1A"/>
                          </a:solidFill>
                          <a:latin typeface="Abadi"/>
                        </a:rPr>
                        <a:t>Not specified</a:t>
                      </a:r>
                    </a:p>
                  </a:txBody>
                  <a:tcPr marL="73152" marR="73152" marT="27432" marB="27432" anchor="ctr">
                    <a:solidFill>
                      <a:srgbClr val="F2F4F7"/>
                    </a:solidFill>
                  </a:tcPr>
                </a:tc>
                <a:tc>
                  <a:txBody>
                    <a:bodyPr wrap="square"/>
                    <a:lstStyle/>
                    <a:p>
                      <a:r>
                        <a:rPr sz="1000" b="0">
                          <a:solidFill>
                            <a:srgbClr val="1A1A1A"/>
                          </a:solidFill>
                          <a:latin typeface="Abadi"/>
                        </a:rPr>
                        <a:t>Taper or abrupt both acceptable</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75488">
                <a:tc>
                  <a:txBody>
                    <a:bodyPr wrap="square"/>
                    <a:lstStyle/>
                    <a:p>
                      <a:r>
                        <a:rPr sz="1000" b="1">
                          <a:solidFill>
                            <a:srgbClr val="1A1A1A"/>
                          </a:solidFill>
                          <a:latin typeface="Abadi"/>
                        </a:rPr>
                        <a:t>Warn about rebound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AGA: warn of transient symptoms</a:t>
                      </a:r>
                    </a:p>
                  </a:txBody>
                  <a:tcPr marL="73152" marR="73152" marT="27432" marB="27432" anchor="ctr">
                    <a:solidFill>
                      <a:srgbClr val="FFFFFF"/>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75488">
                <a:tc>
                  <a:txBody>
                    <a:bodyPr wrap="square"/>
                    <a:lstStyle/>
                    <a:p>
                      <a:r>
                        <a:rPr sz="1000" b="1">
                          <a:solidFill>
                            <a:srgbClr val="1A1A1A"/>
                          </a:solidFill>
                          <a:latin typeface="Abadi"/>
                        </a:rPr>
                        <a:t>Who should continue</a:t>
                      </a:r>
                    </a:p>
                  </a:txBody>
                  <a:tcPr marL="73152" marR="73152" marT="27432" marB="27432" anchor="ctr">
                    <a:solidFill>
                      <a:srgbClr val="F2F4F7"/>
                    </a:solidFill>
                  </a:tcPr>
                </a:tc>
                <a:tc>
                  <a:txBody>
                    <a:bodyPr wrap="square"/>
                    <a:lstStyle/>
                    <a:p>
                      <a:r>
                        <a:rPr sz="1000" b="0">
                          <a:solidFill>
                            <a:srgbClr val="1A1A1A"/>
                          </a:solidFill>
                          <a:latin typeface="Abadi"/>
                        </a:rPr>
                        <a:t>Not specified</a:t>
                      </a:r>
                    </a:p>
                  </a:txBody>
                  <a:tcPr marL="73152" marR="73152" marT="27432" marB="27432" anchor="ctr">
                    <a:solidFill>
                      <a:srgbClr val="F2F4F7"/>
                    </a:solidFill>
                  </a:tcPr>
                </a:tc>
                <a:tc>
                  <a:txBody>
                    <a:bodyPr wrap="square"/>
                    <a:lstStyle/>
                    <a:p>
                      <a:r>
                        <a:rPr sz="1000" b="0">
                          <a:solidFill>
                            <a:srgbClr val="1A1A1A"/>
                          </a:solidFill>
                          <a:latin typeface="Abadi"/>
                        </a:rPr>
                        <a:t>Not specified</a:t>
                      </a:r>
                    </a:p>
                  </a:txBody>
                  <a:tcPr marL="73152" marR="73152" marT="27432" marB="27432" anchor="ctr">
                    <a:solidFill>
                      <a:srgbClr val="F2F4F7"/>
                    </a:solidFill>
                  </a:tcPr>
                </a:tc>
                <a:tc>
                  <a:txBody>
                    <a:bodyPr wrap="square"/>
                    <a:lstStyle/>
                    <a:p>
                      <a:r>
                        <a:rPr sz="1000" b="0">
                          <a:solidFill>
                            <a:srgbClr val="1A1A1A"/>
                          </a:solidFill>
                          <a:latin typeface="Abadi"/>
                        </a:rPr>
                        <a:t>AGA: severe oesophagitis, Barrett's, EoE, bleeding risk</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bl>
          </a:graphicData>
        </a:graphic>
      </p:graphicFrame>
      <p:sp>
        <p:nvSpPr>
          <p:cNvPr id="13" name="TextBox 12"/>
          <p:cNvSpPr txBox="1"/>
          <p:nvPr/>
        </p:nvSpPr>
        <p:spPr>
          <a:xfrm>
            <a:off x="548640" y="5257800"/>
            <a:ext cx="11082528" cy="548640"/>
          </a:xfrm>
          <a:prstGeom prst="rect">
            <a:avLst/>
          </a:prstGeom>
          <a:noFill/>
        </p:spPr>
        <p:txBody>
          <a:bodyPr wrap="square" lIns="45720" rIns="45720" tIns="27432" bIns="27432" anchor="t">
            <a:spAutoFit/>
          </a:bodyPr>
          <a:lstStyle/>
          <a:p>
            <a:r>
              <a:rPr sz="1200" b="1" i="0">
                <a:solidFill>
                  <a:srgbClr val="1B355E"/>
                </a:solidFill>
                <a:latin typeface="Abadi"/>
              </a:rPr>
              <a:t>Material gap.   </a:t>
            </a:r>
            <a:r>
              <a:rPr sz="1200" b="0" i="0">
                <a:solidFill>
                  <a:srgbClr val="1A1A1A"/>
                </a:solidFill>
                <a:latin typeface="Abadi"/>
              </a:rPr>
              <a:t>Pediatric guidelines say when to start and when to reassess, but not how to stop: the taper, the rebound warning and the rescue plan are borrowed from adult guidance.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PRESCRIPTION AUDIT</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FIVE QUESTIONS FOR EVERY PPI ON THE LIST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A unit-level audit that can be run from pharmacy or electronic record data</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Targownik 2022 · Prot-Labarthe S, et al. PLoS One 2014;9:e101171 (POPI) · Angelidou A, et al. Pediatrics 2017 · Safer Care Victoria 2020</a:t>
            </a:r>
          </a:p>
        </p:txBody>
      </p:sp>
      <p:sp>
        <p:nvSpPr>
          <p:cNvPr id="12" name="Rectangle 11"/>
          <p:cNvSpPr/>
          <p:nvPr/>
        </p:nvSpPr>
        <p:spPr>
          <a:xfrm>
            <a:off x="548640"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Indication</a:t>
            </a:r>
          </a:p>
        </p:txBody>
      </p:sp>
      <p:sp>
        <p:nvSpPr>
          <p:cNvPr id="15" name="TextBox 14"/>
          <p:cNvSpPr txBox="1"/>
          <p:nvPr/>
        </p:nvSpPr>
        <p:spPr>
          <a:xfrm>
            <a:off x="658368"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Is a diagnosis documented, or only a symptom?</a:t>
            </a:r>
          </a:p>
        </p:txBody>
      </p:sp>
      <p:sp>
        <p:nvSpPr>
          <p:cNvPr id="16" name="TextBox 15"/>
          <p:cNvSpPr txBox="1"/>
          <p:nvPr/>
        </p:nvSpPr>
        <p:spPr>
          <a:xfrm>
            <a:off x="2531059"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Duration</a:t>
            </a:r>
          </a:p>
        </p:txBody>
      </p:sp>
      <p:sp>
        <p:nvSpPr>
          <p:cNvPr id="20" name="TextBox 19"/>
          <p:cNvSpPr txBox="1"/>
          <p:nvPr/>
        </p:nvSpPr>
        <p:spPr>
          <a:xfrm>
            <a:off x="2933395"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Has the planned 4–8-week course already ended?</a:t>
            </a:r>
          </a:p>
        </p:txBody>
      </p:sp>
      <p:sp>
        <p:nvSpPr>
          <p:cNvPr id="21" name="TextBox 20"/>
          <p:cNvSpPr txBox="1"/>
          <p:nvPr/>
        </p:nvSpPr>
        <p:spPr>
          <a:xfrm>
            <a:off x="4806086"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Dose</a:t>
            </a:r>
          </a:p>
        </p:txBody>
      </p:sp>
      <p:sp>
        <p:nvSpPr>
          <p:cNvPr id="25" name="TextBox 24"/>
          <p:cNvSpPr txBox="1"/>
          <p:nvPr/>
        </p:nvSpPr>
        <p:spPr>
          <a:xfrm>
            <a:off x="5208422"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Weight-appropriate, once daily, before a meal?</a:t>
            </a:r>
          </a:p>
        </p:txBody>
      </p:sp>
      <p:sp>
        <p:nvSpPr>
          <p:cNvPr id="26" name="TextBox 25"/>
          <p:cNvSpPr txBox="1"/>
          <p:nvPr/>
        </p:nvSpPr>
        <p:spPr>
          <a:xfrm>
            <a:off x="7081113"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Plan</a:t>
            </a:r>
          </a:p>
        </p:txBody>
      </p:sp>
      <p:sp>
        <p:nvSpPr>
          <p:cNvPr id="30" name="TextBox 29"/>
          <p:cNvSpPr txBox="1"/>
          <p:nvPr/>
        </p:nvSpPr>
        <p:spPr>
          <a:xfrm>
            <a:off x="7483449"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Does the discharge letter carry a stop date and a review?</a:t>
            </a:r>
          </a:p>
        </p:txBody>
      </p:sp>
      <p:sp>
        <p:nvSpPr>
          <p:cNvPr id="31" name="TextBox 30"/>
          <p:cNvSpPr txBox="1"/>
          <p:nvPr/>
        </p:nvSpPr>
        <p:spPr>
          <a:xfrm>
            <a:off x="9356140" y="2596896"/>
            <a:ext cx="292608" cy="365760"/>
          </a:xfrm>
          <a:prstGeom prst="rect">
            <a:avLst/>
          </a:prstGeom>
          <a:noFill/>
        </p:spPr>
        <p:txBody>
          <a:bodyPr wrap="square" lIns="45720" rIns="45720" tIns="27432" bIns="27432"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45720" rIns="45720" tIns="27432" bIns="27432" anchor="ctr">
            <a:spAutoFit/>
          </a:bodyPr>
          <a:lstStyle/>
          <a:p>
            <a:r>
              <a:rPr sz="1050" b="1" i="0">
                <a:solidFill>
                  <a:srgbClr val="FFFFFF"/>
                </a:solidFill>
                <a:latin typeface="Abadi"/>
              </a:rPr>
              <a:t>Owner</a:t>
            </a:r>
          </a:p>
        </p:txBody>
      </p:sp>
      <p:sp>
        <p:nvSpPr>
          <p:cNvPr id="35" name="TextBox 34"/>
          <p:cNvSpPr txBox="1"/>
          <p:nvPr/>
        </p:nvSpPr>
        <p:spPr>
          <a:xfrm>
            <a:off x="9758476" y="2185416"/>
            <a:ext cx="1762963" cy="1554480"/>
          </a:xfrm>
          <a:prstGeom prst="rect">
            <a:avLst/>
          </a:prstGeom>
          <a:noFill/>
        </p:spPr>
        <p:txBody>
          <a:bodyPr wrap="square" lIns="45720" rIns="45720" tIns="27432" bIns="27432" anchor="t">
            <a:spAutoFit/>
          </a:bodyPr>
          <a:lstStyle/>
          <a:p>
            <a:r>
              <a:rPr sz="1050" b="0" i="0">
                <a:solidFill>
                  <a:srgbClr val="1A1A1A"/>
                </a:solidFill>
                <a:latin typeface="Abadi"/>
              </a:rPr>
              <a:t>Who will make the decision: GP, pediatrician, gastroenterologist?</a:t>
            </a:r>
          </a:p>
        </p:txBody>
      </p:sp>
      <p:sp>
        <p:nvSpPr>
          <p:cNvPr id="36" name="TextBox 35"/>
          <p:cNvSpPr txBox="1"/>
          <p:nvPr/>
        </p:nvSpPr>
        <p:spPr>
          <a:xfrm>
            <a:off x="548640" y="4023360"/>
            <a:ext cx="11082528" cy="1783080"/>
          </a:xfrm>
          <a:prstGeom prst="rect">
            <a:avLst/>
          </a:prstGeom>
          <a:noFill/>
        </p:spPr>
        <p:txBody>
          <a:bodyPr wrap="square" lIns="45720" rIns="45720" tIns="27432" bIns="27432" anchor="t">
            <a:spAutoFit/>
          </a:bodyPr>
          <a:lstStyle/>
          <a:p>
            <a:r>
              <a:rPr sz="1250" b="1" i="0">
                <a:solidFill>
                  <a:srgbClr val="1B355E"/>
                </a:solidFill>
                <a:latin typeface="Abadi"/>
              </a:rPr>
              <a:t>How to use it.   </a:t>
            </a:r>
            <a:r>
              <a:rPr sz="1250" b="0" i="0">
                <a:solidFill>
                  <a:srgbClr val="1A1A1A"/>
                </a:solidFill>
                <a:latin typeface="Abadi"/>
              </a:rPr>
              <a:t>Run the audit at discharge from neonatal and intensive care units, where many prescriptions start, and at the first repeat prescription in primary care, where they persist. The French pediatric tool POPI, with 104 criteria for inappropriate prescribing and omissions in children, is one structured way to flag such prescriptions. Feed the results back to prescribers; the effect comes from the feedback loop, not the spreadsheet.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QUALITY IMPROVEMENT</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AUDITS CHANGE PRESCRIBING</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Results of pediatric acid-suppression reduction projects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Angelidou A, et al. Pediatrics 2017 (infant unit guideline) · Safer Care Victoria and Royal Children's Hospital Melbourne, 2018–2020</a:t>
            </a:r>
          </a:p>
        </p:txBody>
      </p:sp>
      <p:sp>
        <p:nvSpPr>
          <p:cNvPr id="12" name="TextBox 11"/>
          <p:cNvSpPr txBox="1"/>
          <p:nvPr/>
        </p:nvSpPr>
        <p:spPr>
          <a:xfrm>
            <a:off x="548640" y="196596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Non-indicated prescriptions per month · before</a:t>
            </a:r>
          </a:p>
        </p:txBody>
      </p:sp>
      <p:sp>
        <p:nvSpPr>
          <p:cNvPr id="13" name="Rectangle 12"/>
          <p:cNvSpPr/>
          <p:nvPr/>
        </p:nvSpPr>
        <p:spPr>
          <a:xfrm>
            <a:off x="3474720" y="2075688"/>
            <a:ext cx="2449285"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97157" y="196596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7.5</a:t>
            </a:r>
          </a:p>
        </p:txBody>
      </p:sp>
      <p:sp>
        <p:nvSpPr>
          <p:cNvPr id="15" name="TextBox 14"/>
          <p:cNvSpPr txBox="1"/>
          <p:nvPr/>
        </p:nvSpPr>
        <p:spPr>
          <a:xfrm>
            <a:off x="548640" y="2514600"/>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Non-indicated prescriptions per month · after</a:t>
            </a:r>
          </a:p>
        </p:txBody>
      </p:sp>
      <p:sp>
        <p:nvSpPr>
          <p:cNvPr id="16" name="Rectangle 15"/>
          <p:cNvSpPr/>
          <p:nvPr/>
        </p:nvSpPr>
        <p:spPr>
          <a:xfrm>
            <a:off x="3474720" y="2624328"/>
            <a:ext cx="45720"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93591" y="2514600"/>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0</a:t>
            </a:r>
          </a:p>
        </p:txBody>
      </p:sp>
      <p:sp>
        <p:nvSpPr>
          <p:cNvPr id="18" name="TextBox 17"/>
          <p:cNvSpPr txBox="1"/>
          <p:nvPr/>
        </p:nvSpPr>
        <p:spPr>
          <a:xfrm>
            <a:off x="548640" y="306323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All acid-suppression prescriptions per month · before</a:t>
            </a:r>
          </a:p>
        </p:txBody>
      </p:sp>
      <p:sp>
        <p:nvSpPr>
          <p:cNvPr id="19" name="Rectangle 18"/>
          <p:cNvSpPr/>
          <p:nvPr/>
        </p:nvSpPr>
        <p:spPr>
          <a:xfrm>
            <a:off x="3474720" y="3172968"/>
            <a:ext cx="3755571"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03443" y="306323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11.5</a:t>
            </a:r>
          </a:p>
        </p:txBody>
      </p:sp>
      <p:sp>
        <p:nvSpPr>
          <p:cNvPr id="21" name="TextBox 20"/>
          <p:cNvSpPr txBox="1"/>
          <p:nvPr/>
        </p:nvSpPr>
        <p:spPr>
          <a:xfrm>
            <a:off x="548640" y="3611879"/>
            <a:ext cx="2834640" cy="548640"/>
          </a:xfrm>
          <a:prstGeom prst="rect">
            <a:avLst/>
          </a:prstGeom>
          <a:noFill/>
        </p:spPr>
        <p:txBody>
          <a:bodyPr wrap="square" lIns="45720" rIns="45720" tIns="27432" bIns="27432" anchor="ctr">
            <a:spAutoFit/>
          </a:bodyPr>
          <a:lstStyle/>
          <a:p>
            <a:r>
              <a:rPr sz="1050" b="0" i="0">
                <a:solidFill>
                  <a:srgbClr val="1A1A1A"/>
                </a:solidFill>
                <a:latin typeface="Abadi"/>
              </a:rPr>
              <a:t>All acid-suppression prescriptions per month · after</a:t>
            </a:r>
          </a:p>
        </p:txBody>
      </p:sp>
      <p:sp>
        <p:nvSpPr>
          <p:cNvPr id="22" name="Rectangle 21"/>
          <p:cNvSpPr/>
          <p:nvPr/>
        </p:nvSpPr>
        <p:spPr>
          <a:xfrm>
            <a:off x="3474720" y="3721607"/>
            <a:ext cx="816428"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64300" y="3611879"/>
            <a:ext cx="2194560" cy="548640"/>
          </a:xfrm>
          <a:prstGeom prst="rect">
            <a:avLst/>
          </a:prstGeom>
          <a:noFill/>
        </p:spPr>
        <p:txBody>
          <a:bodyPr wrap="square" lIns="45720" rIns="45720" tIns="27432" bIns="27432" anchor="ctr">
            <a:spAutoFit/>
          </a:bodyPr>
          <a:lstStyle/>
          <a:p>
            <a:r>
              <a:rPr sz="1050" b="1" i="0">
                <a:solidFill>
                  <a:srgbClr val="1A1A1A"/>
                </a:solidFill>
                <a:latin typeface="Abadi"/>
              </a:rPr>
              <a:t>2.5</a:t>
            </a:r>
          </a:p>
        </p:txBody>
      </p:sp>
      <p:sp>
        <p:nvSpPr>
          <p:cNvPr id="24" name="TextBox 23"/>
          <p:cNvSpPr txBox="1"/>
          <p:nvPr/>
        </p:nvSpPr>
        <p:spPr>
          <a:xfrm>
            <a:off x="548640" y="4206240"/>
            <a:ext cx="7863840" cy="274320"/>
          </a:xfrm>
          <a:prstGeom prst="rect">
            <a:avLst/>
          </a:prstGeom>
          <a:noFill/>
        </p:spPr>
        <p:txBody>
          <a:bodyPr wrap="square" lIns="45720" rIns="45720" tIns="27432" bIns="27432" anchor="t">
            <a:spAutoFit/>
          </a:bodyPr>
          <a:lstStyle/>
          <a:p>
            <a:r>
              <a:rPr sz="950" b="0" i="0">
                <a:solidFill>
                  <a:srgbClr val="7F7F7F"/>
                </a:solidFill>
                <a:latin typeface="Abadi"/>
              </a:rPr>
              <a:t>Bars: Angelidou infant unit; balancing measures stable after the guideline.</a:t>
            </a:r>
          </a:p>
        </p:txBody>
      </p:sp>
      <p:sp>
        <p:nvSpPr>
          <p:cNvPr id="25" name="TextBox 24"/>
          <p:cNvSpPr txBox="1"/>
          <p:nvPr/>
        </p:nvSpPr>
        <p:spPr>
          <a:xfrm>
            <a:off x="548640" y="4526279"/>
            <a:ext cx="7955279" cy="1280160"/>
          </a:xfrm>
          <a:prstGeom prst="rect">
            <a:avLst/>
          </a:prstGeom>
          <a:noFill/>
        </p:spPr>
        <p:txBody>
          <a:bodyPr wrap="square" lIns="45720" rIns="45720" tIns="27432" bIns="27432" anchor="t">
            <a:spAutoFit/>
          </a:bodyPr>
          <a:lstStyle/>
          <a:p>
            <a:r>
              <a:rPr sz="1200" b="1" i="0">
                <a:solidFill>
                  <a:srgbClr val="1B355E"/>
                </a:solidFill>
                <a:latin typeface="Abadi"/>
              </a:rPr>
              <a:t>Read it as.   </a:t>
            </a:r>
            <a:r>
              <a:rPr sz="1200" b="0" i="0">
                <a:solidFill>
                  <a:srgbClr val="1A1A1A"/>
                </a:solidFill>
                <a:latin typeface="Abadi"/>
              </a:rPr>
              <a:t>A written guideline and feedback removed non-indicated prescribing on an infant unit without harm. Across three Victorian hospitals, prescriptions fell 21% and advice to stop rose 46%.</a:t>
            </a:r>
          </a:p>
        </p:txBody>
      </p:sp>
      <p:sp>
        <p:nvSpPr>
          <p:cNvPr id="26" name="TextBox 25"/>
          <p:cNvSpPr txBox="1"/>
          <p:nvPr/>
        </p:nvSpPr>
        <p:spPr>
          <a:xfrm>
            <a:off x="8778240" y="1783080"/>
            <a:ext cx="2834640" cy="3931920"/>
          </a:xfrm>
          <a:prstGeom prst="rect">
            <a:avLst/>
          </a:prstGeom>
          <a:noFill/>
        </p:spPr>
        <p:txBody>
          <a:bodyPr wrap="square" lIns="45720" rIns="45720" tIns="27432" bIns="27432" anchor="t">
            <a:spAutoFit/>
          </a:bodyPr>
          <a:lstStyle/>
          <a:p>
            <a:pPr>
              <a:spcAft>
                <a:spcPts val="400"/>
              </a:spcAft>
            </a:pPr>
            <a:r>
              <a:rPr sz="1500" b="1" i="0">
                <a:solidFill>
                  <a:srgbClr val="1B355E"/>
                </a:solidFill>
                <a:latin typeface="Abadi"/>
              </a:rPr>
              <a:t>Victoria</a:t>
            </a:r>
          </a:p>
          <a:p>
            <a:pPr>
              <a:spcAft>
                <a:spcPts val="400"/>
              </a:spcAft>
            </a:pPr>
            <a:r>
              <a:rPr sz="1050" b="0" i="0">
                <a:solidFill>
                  <a:srgbClr val="1A1A1A"/>
                </a:solidFill>
                <a:latin typeface="Abadi"/>
              </a:rPr>
              <a:t>Three hospitals: parent script and handouts; prescriptions −21%.</a:t>
            </a:r>
          </a:p>
          <a:p>
            <a:pPr>
              <a:spcAft>
                <a:spcPts val="400"/>
              </a:spcAft>
            </a:pPr>
            <a:r>
              <a:rPr sz="1500" b="1" i="0">
                <a:solidFill>
                  <a:srgbClr val="1B355E"/>
                </a:solidFill>
                <a:latin typeface="Abadi"/>
              </a:rPr>
              <a:t>Clinician advice</a:t>
            </a:r>
          </a:p>
          <a:p>
            <a:pPr>
              <a:spcAft>
                <a:spcPts val="400"/>
              </a:spcAft>
            </a:pPr>
            <a:r>
              <a:rPr sz="1050" b="0" i="0">
                <a:solidFill>
                  <a:srgbClr val="1A1A1A"/>
                </a:solidFill>
                <a:latin typeface="Abadi"/>
              </a:rPr>
              <a:t>Clinicians advising parents to stop: +46%.</a:t>
            </a:r>
          </a:p>
          <a:p>
            <a:pPr>
              <a:spcAft>
                <a:spcPts val="400"/>
              </a:spcAft>
            </a:pPr>
            <a:r>
              <a:rPr sz="1500" b="1" i="0">
                <a:solidFill>
                  <a:srgbClr val="1B355E"/>
                </a:solidFill>
                <a:latin typeface="Abadi"/>
              </a:rPr>
              <a:t>Ingredients</a:t>
            </a:r>
          </a:p>
          <a:p>
            <a:pPr>
              <a:spcAft>
                <a:spcPts val="400"/>
              </a:spcAft>
            </a:pPr>
            <a:r>
              <a:rPr sz="1050" b="0" i="0">
                <a:solidFill>
                  <a:srgbClr val="1A1A1A"/>
                </a:solidFill>
                <a:latin typeface="Abadi"/>
              </a:rPr>
              <a:t>Guideline, education, feedback, family materials.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THE CONVERSATION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THE LABEL DRIVES THE DEMAND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Why families resist stopping, and what the evidence on framing shows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Scherer LD, Zikmund-Fisher BJ, Fagerlin A, Tarini BA. Pediatrics 2013 (doi 10.1542/peds.2012-3070) · Størdal 2024 · Safer Care Victoria 2020</a:t>
            </a:r>
          </a:p>
        </p:txBody>
      </p:sp>
      <p:sp>
        <p:nvSpPr>
          <p:cNvPr id="12" name="Rectangle 11"/>
          <p:cNvSpPr/>
          <p:nvPr/>
        </p:nvSpPr>
        <p:spPr>
          <a:xfrm>
            <a:off x="548640" y="1773936"/>
            <a:ext cx="2633472" cy="21945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45720" rIns="45720" tIns="27432" bIns="27432" anchor="t">
            <a:spAutoFit/>
          </a:bodyPr>
          <a:lstStyle/>
          <a:p>
            <a:r>
              <a:rPr sz="1500" b="1" i="0">
                <a:solidFill>
                  <a:srgbClr val="B22222"/>
                </a:solidFill>
                <a:latin typeface="Abadi"/>
              </a:rPr>
              <a:t>The 'GERD' label</a:t>
            </a:r>
          </a:p>
        </p:txBody>
      </p:sp>
      <p:sp>
        <p:nvSpPr>
          <p:cNvPr id="15" name="TextBox 14"/>
          <p:cNvSpPr txBox="1"/>
          <p:nvPr/>
        </p:nvSpPr>
        <p:spPr>
          <a:xfrm>
            <a:off x="694944" y="2505456"/>
            <a:ext cx="2340864" cy="137160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175 parents: a disease label raised interest in medication</a:t>
            </a:r>
          </a:p>
          <a:p>
            <a:pPr>
              <a:spcAft>
                <a:spcPts val="400"/>
              </a:spcAft>
            </a:pPr>
            <a:r>
              <a:rPr sz="1050" b="0" i="0">
                <a:solidFill>
                  <a:srgbClr val="1A1A1A"/>
                </a:solidFill>
                <a:latin typeface="Abadi"/>
              </a:rPr>
              <a:t>▪  Even when told it was ineffective</a:t>
            </a:r>
          </a:p>
        </p:txBody>
      </p:sp>
      <p:sp>
        <p:nvSpPr>
          <p:cNvPr id="16" name="Rectangle 15"/>
          <p:cNvSpPr/>
          <p:nvPr/>
        </p:nvSpPr>
        <p:spPr>
          <a:xfrm>
            <a:off x="3364992" y="1773936"/>
            <a:ext cx="2633472" cy="21945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45720" rIns="45720" tIns="27432" bIns="27432" anchor="t">
            <a:spAutoFit/>
          </a:bodyPr>
          <a:lstStyle/>
          <a:p>
            <a:r>
              <a:rPr sz="1500" b="1" i="0">
                <a:solidFill>
                  <a:srgbClr val="1E7A33"/>
                </a:solidFill>
                <a:latin typeface="Abadi"/>
              </a:rPr>
              <a:t>No label</a:t>
            </a:r>
          </a:p>
        </p:txBody>
      </p:sp>
      <p:sp>
        <p:nvSpPr>
          <p:cNvPr id="19" name="TextBox 18"/>
          <p:cNvSpPr txBox="1"/>
          <p:nvPr/>
        </p:nvSpPr>
        <p:spPr>
          <a:xfrm>
            <a:off x="3511296" y="2505456"/>
            <a:ext cx="2340864" cy="137160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Interest in medication appeared only when efficacy was not discussed</a:t>
            </a:r>
          </a:p>
        </p:txBody>
      </p:sp>
      <p:sp>
        <p:nvSpPr>
          <p:cNvPr id="20" name="Rectangle 19"/>
          <p:cNvSpPr/>
          <p:nvPr/>
        </p:nvSpPr>
        <p:spPr>
          <a:xfrm>
            <a:off x="6181344" y="1773936"/>
            <a:ext cx="2633472" cy="21945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45720" rIns="45720" tIns="27432" bIns="27432" anchor="t">
            <a:spAutoFit/>
          </a:bodyPr>
          <a:lstStyle/>
          <a:p>
            <a:r>
              <a:rPr sz="1500" b="1" i="0">
                <a:solidFill>
                  <a:srgbClr val="D97A0B"/>
                </a:solidFill>
                <a:latin typeface="Abadi"/>
              </a:rPr>
              <a:t>Fear of relapse</a:t>
            </a:r>
          </a:p>
        </p:txBody>
      </p:sp>
      <p:sp>
        <p:nvSpPr>
          <p:cNvPr id="23" name="TextBox 22"/>
          <p:cNvSpPr txBox="1"/>
          <p:nvPr/>
        </p:nvSpPr>
        <p:spPr>
          <a:xfrm>
            <a:off x="6327648" y="2505456"/>
            <a:ext cx="2340864" cy="137160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Parents remember the crying weeks</a:t>
            </a:r>
          </a:p>
          <a:p>
            <a:pPr>
              <a:spcAft>
                <a:spcPts val="400"/>
              </a:spcAft>
            </a:pPr>
            <a:r>
              <a:rPr sz="1050" b="0" i="0">
                <a:solidFill>
                  <a:srgbClr val="1A1A1A"/>
                </a:solidFill>
                <a:latin typeface="Abadi"/>
              </a:rPr>
              <a:t>▪  Rebound confirms the fear</a:t>
            </a:r>
          </a:p>
        </p:txBody>
      </p:sp>
      <p:sp>
        <p:nvSpPr>
          <p:cNvPr id="24" name="Rectangle 23"/>
          <p:cNvSpPr/>
          <p:nvPr/>
        </p:nvSpPr>
        <p:spPr>
          <a:xfrm>
            <a:off x="8997696" y="1773936"/>
            <a:ext cx="2633472" cy="219456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45720" rIns="45720" tIns="27432" bIns="27432" anchor="t">
            <a:spAutoFit/>
          </a:bodyPr>
          <a:lstStyle/>
          <a:p>
            <a:r>
              <a:rPr sz="1500" b="1" i="0">
                <a:solidFill>
                  <a:srgbClr val="8A939B"/>
                </a:solidFill>
                <a:latin typeface="Abadi"/>
              </a:rPr>
              <a:t>Ownership</a:t>
            </a:r>
          </a:p>
        </p:txBody>
      </p:sp>
      <p:sp>
        <p:nvSpPr>
          <p:cNvPr id="27" name="TextBox 26"/>
          <p:cNvSpPr txBox="1"/>
          <p:nvPr/>
        </p:nvSpPr>
        <p:spPr>
          <a:xfrm>
            <a:off x="9144000" y="2505456"/>
            <a:ext cx="2340864" cy="137160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Specialist started it, GP renews it</a:t>
            </a:r>
          </a:p>
          <a:p>
            <a:pPr>
              <a:spcAft>
                <a:spcPts val="400"/>
              </a:spcAft>
            </a:pPr>
            <a:r>
              <a:rPr sz="1050" b="0" i="0">
                <a:solidFill>
                  <a:srgbClr val="1A1A1A"/>
                </a:solidFill>
                <a:latin typeface="Abadi"/>
              </a:rPr>
              <a:t>▪  Nobody stops it</a:t>
            </a:r>
          </a:p>
        </p:txBody>
      </p:sp>
      <p:sp>
        <p:nvSpPr>
          <p:cNvPr id="28" name="TextBox 27"/>
          <p:cNvSpPr txBox="1"/>
          <p:nvPr/>
        </p:nvSpPr>
        <p:spPr>
          <a:xfrm>
            <a:off x="548640" y="4160520"/>
            <a:ext cx="11082528" cy="1645920"/>
          </a:xfrm>
          <a:prstGeom prst="rect">
            <a:avLst/>
          </a:prstGeom>
          <a:noFill/>
        </p:spPr>
        <p:txBody>
          <a:bodyPr wrap="square" lIns="45720" rIns="45720" tIns="27432" bIns="27432" anchor="t">
            <a:spAutoFit/>
          </a:bodyPr>
          <a:lstStyle/>
          <a:p>
            <a:r>
              <a:rPr sz="1250" b="1" i="0">
                <a:solidFill>
                  <a:srgbClr val="1B355E"/>
                </a:solidFill>
                <a:latin typeface="Abadi"/>
              </a:rPr>
              <a:t>What to do with it.   </a:t>
            </a:r>
            <a:r>
              <a:rPr sz="1250" b="0" i="0">
                <a:solidFill>
                  <a:srgbClr val="1A1A1A"/>
                </a:solidFill>
                <a:latin typeface="Abadi"/>
              </a:rPr>
              <a:t>Describe infant regurgitation and crying as normal physiology rather than as a disease, explain that the medicine was no better than placebo in infants, predict the rebound in advance so that it is read as expected rather than as failure, give a written plan with a rescue option and a review date, and say who is responsible for the decision. A parent who has been warned about the second-week flare rarely restarts the drug.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WORDS THAT WORK</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SAYING IT SO IT STICKS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Phrases for the deprescribing visit; adapted from published parent materials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Størdal 2024 · Scherer 2013 · Royal Children's Hospital Melbourne parent information · Targownik 2022</a:t>
            </a:r>
          </a:p>
        </p:txBody>
      </p:sp>
      <p:graphicFrame>
        <p:nvGraphicFramePr>
          <p:cNvPr id="12" name="Table 11"/>
          <p:cNvGraphicFramePr>
            <a:graphicFrameLocks noGrp="1"/>
          </p:cNvGraphicFramePr>
          <p:nvPr/>
        </p:nvGraphicFramePr>
        <p:xfrm>
          <a:off x="548640" y="1783080"/>
          <a:ext cx="11082528" cy="3401568"/>
        </p:xfrm>
        <a:graphic>
          <a:graphicData uri="http://schemas.openxmlformats.org/drawingml/2006/table">
            <a:tbl>
              <a:tblPr firstRow="0" bandRow="0">
                <a:tableStyleId>{5C22544A-7EE6-4342-B048-85BDC9FD1C3A}</a:tableStyleId>
              </a:tblPr>
              <a:tblGrid>
                <a:gridCol w="3017520"/>
                <a:gridCol w="4572000"/>
                <a:gridCol w="3493008"/>
              </a:tblGrid>
              <a:tr h="566928">
                <a:tc>
                  <a:txBody>
                    <a:bodyPr wrap="square"/>
                    <a:lstStyle/>
                    <a:p>
                      <a:r>
                        <a:rPr sz="1050" b="1">
                          <a:solidFill>
                            <a:srgbClr val="FFFFFF"/>
                          </a:solidFill>
                          <a:latin typeface="Abadi"/>
                        </a:rPr>
                        <a:t>Instead of</a:t>
                      </a:r>
                    </a:p>
                  </a:txBody>
                  <a:tcPr marL="73152" marR="73152" marT="27432" marB="27432" anchor="ctr">
                    <a:solidFill>
                      <a:srgbClr val="1B355E"/>
                    </a:solidFill>
                  </a:tcPr>
                </a:tc>
                <a:tc>
                  <a:txBody>
                    <a:bodyPr wrap="square"/>
                    <a:lstStyle/>
                    <a:p>
                      <a:r>
                        <a:rPr sz="1050" b="1">
                          <a:solidFill>
                            <a:srgbClr val="FFFFFF"/>
                          </a:solidFill>
                          <a:latin typeface="Abadi"/>
                        </a:rPr>
                        <a:t>Try</a:t>
                      </a:r>
                    </a:p>
                  </a:txBody>
                  <a:tcPr marL="73152" marR="73152" marT="27432" marB="27432" anchor="ctr">
                    <a:solidFill>
                      <a:srgbClr val="1B355E"/>
                    </a:solidFill>
                  </a:tcPr>
                </a:tc>
                <a:tc>
                  <a:txBody>
                    <a:bodyPr wrap="square"/>
                    <a:lstStyle/>
                    <a:p>
                      <a:r>
                        <a:rPr sz="1050" b="1">
                          <a:solidFill>
                            <a:srgbClr val="FFFFFF"/>
                          </a:solidFill>
                          <a:latin typeface="Abadi"/>
                        </a:rPr>
                        <a:t>Why</a:t>
                      </a:r>
                    </a:p>
                  </a:txBody>
                  <a:tcPr marL="73152" marR="73152" marT="27432" marB="27432" anchor="ctr">
                    <a:solidFill>
                      <a:srgbClr val="1B355E"/>
                    </a:solidFill>
                  </a:tcPr>
                </a:tc>
              </a:tr>
              <a:tr h="566928">
                <a:tc>
                  <a:txBody>
                    <a:bodyPr wrap="square"/>
                    <a:lstStyle/>
                    <a:p>
                      <a:r>
                        <a:rPr sz="1050" b="1">
                          <a:solidFill>
                            <a:srgbClr val="1A1A1A"/>
                          </a:solidFill>
                          <a:latin typeface="Abadi"/>
                        </a:rPr>
                        <a:t>"She has reflux disease"</a:t>
                      </a:r>
                    </a:p>
                  </a:txBody>
                  <a:tcPr marL="73152" marR="73152" marT="27432" marB="27432" anchor="ctr">
                    <a:solidFill>
                      <a:srgbClr val="FFFFFF"/>
                    </a:solidFill>
                  </a:tcPr>
                </a:tc>
                <a:tc>
                  <a:txBody>
                    <a:bodyPr wrap="square"/>
                    <a:lstStyle/>
                    <a:p>
                      <a:r>
                        <a:rPr sz="1050" b="0">
                          <a:solidFill>
                            <a:srgbClr val="1A1A1A"/>
                          </a:solidFill>
                          <a:latin typeface="Abadi"/>
                        </a:rPr>
                        <a:t>"Spitting up is normal at this age and usually stops by 12–14 months"</a:t>
                      </a:r>
                    </a:p>
                  </a:txBody>
                  <a:tcPr marL="73152" marR="73152" marT="27432" marB="27432" anchor="ctr">
                    <a:solidFill>
                      <a:srgbClr val="FFFFFF"/>
                    </a:solidFill>
                  </a:tcPr>
                </a:tc>
                <a:tc>
                  <a:txBody>
                    <a:bodyPr wrap="square"/>
                    <a:lstStyle/>
                    <a:p>
                      <a:r>
                        <a:rPr sz="1050" b="0">
                          <a:solidFill>
                            <a:srgbClr val="1A1A1A"/>
                          </a:solidFill>
                          <a:latin typeface="Abadi"/>
                        </a:rPr>
                        <a:t>Disease labels raise demand for drugs</a:t>
                      </a:r>
                    </a:p>
                  </a:txBody>
                  <a:tcPr marL="73152" marR="73152" marT="27432" marB="27432" anchor="ctr">
                    <a:solidFill>
                      <a:srgbClr val="FFFFFF"/>
                    </a:solidFill>
                  </a:tcPr>
                </a:tc>
              </a:tr>
              <a:tr h="566928">
                <a:tc>
                  <a:txBody>
                    <a:bodyPr wrap="square"/>
                    <a:lstStyle/>
                    <a:p>
                      <a:r>
                        <a:rPr sz="1050" b="1">
                          <a:solidFill>
                            <a:srgbClr val="1A1A1A"/>
                          </a:solidFill>
                          <a:latin typeface="Abadi"/>
                        </a:rPr>
                        <a:t>"We'll see how she goes off it"</a:t>
                      </a:r>
                    </a:p>
                  </a:txBody>
                  <a:tcPr marL="73152" marR="73152" marT="27432" marB="27432" anchor="ctr">
                    <a:solidFill>
                      <a:srgbClr val="F2F4F7"/>
                    </a:solidFill>
                  </a:tcPr>
                </a:tc>
                <a:tc>
                  <a:txBody>
                    <a:bodyPr wrap="square"/>
                    <a:lstStyle/>
                    <a:p>
                      <a:r>
                        <a:rPr sz="1050" b="0">
                          <a:solidFill>
                            <a:srgbClr val="1A1A1A"/>
                          </a:solidFill>
                          <a:latin typeface="Abadi"/>
                        </a:rPr>
                        <a:t>"Expect a few worse days in the second week; it settles"</a:t>
                      </a:r>
                    </a:p>
                  </a:txBody>
                  <a:tcPr marL="73152" marR="73152" marT="27432" marB="27432" anchor="ctr">
                    <a:solidFill>
                      <a:srgbClr val="F2F4F7"/>
                    </a:solidFill>
                  </a:tcPr>
                </a:tc>
                <a:tc>
                  <a:txBody>
                    <a:bodyPr wrap="square"/>
                    <a:lstStyle/>
                    <a:p>
                      <a:r>
                        <a:rPr sz="1050" b="0">
                          <a:solidFill>
                            <a:srgbClr val="1A1A1A"/>
                          </a:solidFill>
                          <a:latin typeface="Abadi"/>
                        </a:rPr>
                        <a:t>Predicted rebound is not read as failure</a:t>
                      </a:r>
                    </a:p>
                  </a:txBody>
                  <a:tcPr marL="73152" marR="73152" marT="27432" marB="27432" anchor="ctr">
                    <a:solidFill>
                      <a:srgbClr val="F2F4F7"/>
                    </a:solidFill>
                  </a:tcPr>
                </a:tc>
              </a:tr>
              <a:tr h="566928">
                <a:tc>
                  <a:txBody>
                    <a:bodyPr wrap="square"/>
                    <a:lstStyle/>
                    <a:p>
                      <a:r>
                        <a:rPr sz="1050" b="1">
                          <a:solidFill>
                            <a:srgbClr val="1A1A1A"/>
                          </a:solidFill>
                          <a:latin typeface="Abadi"/>
                        </a:rPr>
                        <a:t>"Restart if it comes back"</a:t>
                      </a:r>
                    </a:p>
                  </a:txBody>
                  <a:tcPr marL="73152" marR="73152" marT="27432" marB="27432" anchor="ctr">
                    <a:solidFill>
                      <a:srgbClr val="FFFFFF"/>
                    </a:solidFill>
                  </a:tcPr>
                </a:tc>
                <a:tc>
                  <a:txBody>
                    <a:bodyPr wrap="square"/>
                    <a:lstStyle/>
                    <a:p>
                      <a:r>
                        <a:rPr sz="1050" b="0">
                          <a:solidFill>
                            <a:srgbClr val="1A1A1A"/>
                          </a:solidFill>
                          <a:latin typeface="Abadi"/>
                        </a:rPr>
                        <a:t>"Use the rescue dose and call at 4 weeks if it persists"</a:t>
                      </a:r>
                    </a:p>
                  </a:txBody>
                  <a:tcPr marL="73152" marR="73152" marT="27432" marB="27432" anchor="ctr">
                    <a:solidFill>
                      <a:srgbClr val="FFFFFF"/>
                    </a:solidFill>
                  </a:tcPr>
                </a:tc>
                <a:tc>
                  <a:txBody>
                    <a:bodyPr wrap="square"/>
                    <a:lstStyle/>
                    <a:p>
                      <a:r>
                        <a:rPr sz="1050" b="0">
                          <a:solidFill>
                            <a:srgbClr val="1A1A1A"/>
                          </a:solidFill>
                          <a:latin typeface="Abadi"/>
                        </a:rPr>
                        <a:t>Avoids restarting during the rebound window</a:t>
                      </a:r>
                    </a:p>
                  </a:txBody>
                  <a:tcPr marL="73152" marR="73152" marT="27432" marB="27432" anchor="ctr">
                    <a:solidFill>
                      <a:srgbClr val="FFFFFF"/>
                    </a:solidFill>
                  </a:tcPr>
                </a:tc>
              </a:tr>
              <a:tr h="566928">
                <a:tc>
                  <a:txBody>
                    <a:bodyPr wrap="square"/>
                    <a:lstStyle/>
                    <a:p>
                      <a:r>
                        <a:rPr sz="1050" b="1">
                          <a:solidFill>
                            <a:srgbClr val="1A1A1A"/>
                          </a:solidFill>
                          <a:latin typeface="Abadi"/>
                        </a:rPr>
                        <a:t>"These drugs are dangerous"</a:t>
                      </a:r>
                    </a:p>
                  </a:txBody>
                  <a:tcPr marL="73152" marR="73152" marT="27432" marB="27432" anchor="ctr">
                    <a:solidFill>
                      <a:srgbClr val="F2F4F7"/>
                    </a:solidFill>
                  </a:tcPr>
                </a:tc>
                <a:tc>
                  <a:txBody>
                    <a:bodyPr wrap="square"/>
                    <a:lstStyle/>
                    <a:p>
                      <a:r>
                        <a:rPr sz="1050" b="0">
                          <a:solidFill>
                            <a:srgbClr val="1A1A1A"/>
                          </a:solidFill>
                          <a:latin typeface="Abadi"/>
                        </a:rPr>
                        <a:t>"It is not helping now, and every medicine has some risk"</a:t>
                      </a:r>
                    </a:p>
                  </a:txBody>
                  <a:tcPr marL="73152" marR="73152" marT="27432" marB="27432" anchor="ctr">
                    <a:solidFill>
                      <a:srgbClr val="F2F4F7"/>
                    </a:solidFill>
                  </a:tcPr>
                </a:tc>
                <a:tc>
                  <a:txBody>
                    <a:bodyPr wrap="square"/>
                    <a:lstStyle/>
                    <a:p>
                      <a:r>
                        <a:rPr sz="1050" b="0">
                          <a:solidFill>
                            <a:srgbClr val="1A1A1A"/>
                          </a:solidFill>
                          <a:latin typeface="Abadi"/>
                        </a:rPr>
                        <a:t>Fear-based framing backfires when a drug is needed</a:t>
                      </a:r>
                    </a:p>
                  </a:txBody>
                  <a:tcPr marL="73152" marR="73152" marT="27432" marB="27432" anchor="ctr">
                    <a:solidFill>
                      <a:srgbClr val="F2F4F7"/>
                    </a:solidFill>
                  </a:tcPr>
                </a:tc>
              </a:tr>
              <a:tr h="566928">
                <a:tc>
                  <a:txBody>
                    <a:bodyPr wrap="square"/>
                    <a:lstStyle/>
                    <a:p>
                      <a:r>
                        <a:rPr sz="1050" b="1">
                          <a:solidFill>
                            <a:srgbClr val="1A1A1A"/>
                          </a:solidFill>
                          <a:latin typeface="Abadi"/>
                        </a:rPr>
                        <a:t>"Your GP will decide"</a:t>
                      </a:r>
                    </a:p>
                  </a:txBody>
                  <a:tcPr marL="73152" marR="73152" marT="27432" marB="27432" anchor="ctr">
                    <a:solidFill>
                      <a:srgbClr val="FFFFFF"/>
                    </a:solidFill>
                  </a:tcPr>
                </a:tc>
                <a:tc>
                  <a:txBody>
                    <a:bodyPr wrap="square"/>
                    <a:lstStyle/>
                    <a:p>
                      <a:r>
                        <a:rPr sz="1050" b="0">
                          <a:solidFill>
                            <a:srgbClr val="1A1A1A"/>
                          </a:solidFill>
                          <a:latin typeface="Abadi"/>
                        </a:rPr>
                        <a:t>"I will write the plan and the stop date in the letter"</a:t>
                      </a:r>
                    </a:p>
                  </a:txBody>
                  <a:tcPr marL="73152" marR="73152" marT="27432" marB="27432" anchor="ctr">
                    <a:solidFill>
                      <a:srgbClr val="FFFFFF"/>
                    </a:solidFill>
                  </a:tcPr>
                </a:tc>
                <a:tc>
                  <a:txBody>
                    <a:bodyPr wrap="square"/>
                    <a:lstStyle/>
                    <a:p>
                      <a:r>
                        <a:rPr sz="1050" b="0">
                          <a:solidFill>
                            <a:srgbClr val="1A1A1A"/>
                          </a:solidFill>
                          <a:latin typeface="Abadi"/>
                        </a:rPr>
                        <a:t>Ownership prevents indefinite renewal</a:t>
                      </a:r>
                    </a:p>
                  </a:txBody>
                  <a:tcPr marL="73152" marR="73152" marT="27432" marB="27432" anchor="ctr">
                    <a:solidFill>
                      <a:srgbClr val="FFFFFF"/>
                    </a:solidFill>
                  </a:tcPr>
                </a:tc>
              </a:tr>
            </a:tbl>
          </a:graphicData>
        </a:graphic>
      </p:graphicFrame>
      <p:sp>
        <p:nvSpPr>
          <p:cNvPr id="13" name="TextBox 12"/>
          <p:cNvSpPr txBox="1"/>
          <p:nvPr/>
        </p:nvSpPr>
        <p:spPr>
          <a:xfrm>
            <a:off x="548640" y="5349240"/>
            <a:ext cx="11082528" cy="411480"/>
          </a:xfrm>
          <a:prstGeom prst="rect">
            <a:avLst/>
          </a:prstGeom>
          <a:noFill/>
        </p:spPr>
        <p:txBody>
          <a:bodyPr wrap="square" lIns="45720" rIns="45720" tIns="27432" bIns="27432" anchor="t">
            <a:spAutoFit/>
          </a:bodyPr>
          <a:lstStyle/>
          <a:p>
            <a:r>
              <a:rPr sz="1200" b="1" i="0">
                <a:solidFill>
                  <a:srgbClr val="1B355E"/>
                </a:solidFill>
                <a:latin typeface="Abadi"/>
              </a:rPr>
              <a:t>Bottom line.   </a:t>
            </a:r>
            <a:r>
              <a:rPr sz="1200" b="0" i="0">
                <a:solidFill>
                  <a:srgbClr val="1A1A1A"/>
                </a:solidFill>
                <a:latin typeface="Abadi"/>
              </a:rPr>
              <a:t>Name the normal, predict the rebound, give a rescue and a date, and own the decision.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HOW DEPRESCRIBING FAILS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Errors that turn a planned stop into a lifelong prescription, or a harmful one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Reimer 2009 · Targownik 2022 · Lightdale JR, Gremse DA. Pediatrics 2013;131:e1684 · Rosen 2018</a:t>
            </a:r>
          </a:p>
        </p:txBody>
      </p:sp>
      <p:sp>
        <p:nvSpPr>
          <p:cNvPr id="12" name="Rectangle 11"/>
          <p:cNvSpPr/>
          <p:nvPr/>
        </p:nvSpPr>
        <p:spPr>
          <a:xfrm>
            <a:off x="548640"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45720" rIns="45720" tIns="27432" bIns="27432" anchor="t">
            <a:spAutoFit/>
          </a:bodyPr>
          <a:lstStyle/>
          <a:p>
            <a:r>
              <a:rPr sz="1300" b="1" i="0">
                <a:solidFill>
                  <a:srgbClr val="B22222"/>
                </a:solidFill>
                <a:latin typeface="Abadi"/>
              </a:rPr>
              <a:t>"It came back, so she needs it"</a:t>
            </a:r>
          </a:p>
        </p:txBody>
      </p:sp>
      <p:sp>
        <p:nvSpPr>
          <p:cNvPr id="15" name="TextBox 14"/>
          <p:cNvSpPr txBox="1"/>
          <p:nvPr/>
        </p:nvSpPr>
        <p:spPr>
          <a:xfrm>
            <a:off x="694944"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Day 5–14 symptoms are rebound</a:t>
            </a:r>
          </a:p>
          <a:p>
            <a:pPr>
              <a:spcAft>
                <a:spcPts val="400"/>
              </a:spcAft>
            </a:pPr>
            <a:r>
              <a:rPr sz="1050" b="0" i="0">
                <a:solidFill>
                  <a:srgbClr val="1A1A1A"/>
                </a:solidFill>
                <a:latin typeface="Abadi"/>
              </a:rPr>
              <a:t>▪  Judge at 4–12 weeks</a:t>
            </a:r>
          </a:p>
        </p:txBody>
      </p:sp>
      <p:sp>
        <p:nvSpPr>
          <p:cNvPr id="16" name="Rectangle 15"/>
          <p:cNvSpPr/>
          <p:nvPr/>
        </p:nvSpPr>
        <p:spPr>
          <a:xfrm>
            <a:off x="2801721"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45720" rIns="45720" tIns="27432" bIns="27432" anchor="t">
            <a:spAutoFit/>
          </a:bodyPr>
          <a:lstStyle/>
          <a:p>
            <a:r>
              <a:rPr sz="1300" b="1" i="0">
                <a:solidFill>
                  <a:srgbClr val="B22222"/>
                </a:solidFill>
                <a:latin typeface="Abadi"/>
              </a:rPr>
              <a:t>"Switch to an H2RA"</a:t>
            </a:r>
          </a:p>
        </p:txBody>
      </p:sp>
      <p:sp>
        <p:nvSpPr>
          <p:cNvPr id="19" name="TextBox 18"/>
          <p:cNvSpPr txBox="1"/>
          <p:nvPr/>
        </p:nvSpPr>
        <p:spPr>
          <a:xfrm>
            <a:off x="2948025"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Regular H2RA: tolerance within weeks</a:t>
            </a:r>
          </a:p>
          <a:p>
            <a:pPr>
              <a:spcAft>
                <a:spcPts val="400"/>
              </a:spcAft>
            </a:pPr>
            <a:r>
              <a:rPr sz="1050" b="0" i="0">
                <a:solidFill>
                  <a:srgbClr val="1A1A1A"/>
                </a:solidFill>
                <a:latin typeface="Abadi"/>
              </a:rPr>
              <a:t>▪  Use only as rescue</a:t>
            </a:r>
          </a:p>
        </p:txBody>
      </p:sp>
      <p:sp>
        <p:nvSpPr>
          <p:cNvPr id="20" name="Rectangle 19"/>
          <p:cNvSpPr/>
          <p:nvPr/>
        </p:nvSpPr>
        <p:spPr>
          <a:xfrm>
            <a:off x="5054803"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45720" rIns="45720" tIns="27432" bIns="27432" anchor="t">
            <a:spAutoFit/>
          </a:bodyPr>
          <a:lstStyle/>
          <a:p>
            <a:r>
              <a:rPr sz="1300" b="1" i="0">
                <a:solidFill>
                  <a:srgbClr val="D97A0B"/>
                </a:solidFill>
                <a:latin typeface="Abadi"/>
              </a:rPr>
              <a:t>"Stop everyone"</a:t>
            </a:r>
          </a:p>
        </p:txBody>
      </p:sp>
      <p:sp>
        <p:nvSpPr>
          <p:cNvPr id="23" name="TextBox 22"/>
          <p:cNvSpPr txBox="1"/>
          <p:nvPr/>
        </p:nvSpPr>
        <p:spPr>
          <a:xfrm>
            <a:off x="5201107"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EoE in remission, severe oesophagitis, Barrett's</a:t>
            </a:r>
          </a:p>
          <a:p>
            <a:pPr>
              <a:spcAft>
                <a:spcPts val="400"/>
              </a:spcAft>
            </a:pPr>
            <a:r>
              <a:rPr sz="1050" b="0" i="0">
                <a:solidFill>
                  <a:srgbClr val="1A1A1A"/>
                </a:solidFill>
                <a:latin typeface="Abadi"/>
              </a:rPr>
              <a:t>▪  These are indications</a:t>
            </a:r>
          </a:p>
        </p:txBody>
      </p:sp>
      <p:sp>
        <p:nvSpPr>
          <p:cNvPr id="24" name="Rectangle 23"/>
          <p:cNvSpPr/>
          <p:nvPr/>
        </p:nvSpPr>
        <p:spPr>
          <a:xfrm>
            <a:off x="7307884"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45720" rIns="45720" tIns="27432" bIns="27432" anchor="t">
            <a:spAutoFit/>
          </a:bodyPr>
          <a:lstStyle/>
          <a:p>
            <a:r>
              <a:rPr sz="1300" b="1" i="0">
                <a:solidFill>
                  <a:srgbClr val="D97A0B"/>
                </a:solidFill>
                <a:latin typeface="Abadi"/>
              </a:rPr>
              <a:t>"Stop without saying why"</a:t>
            </a:r>
          </a:p>
        </p:txBody>
      </p:sp>
      <p:sp>
        <p:nvSpPr>
          <p:cNvPr id="27" name="TextBox 26"/>
          <p:cNvSpPr txBox="1"/>
          <p:nvPr/>
        </p:nvSpPr>
        <p:spPr>
          <a:xfrm>
            <a:off x="7454188"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Family restarts at the first flare</a:t>
            </a:r>
          </a:p>
          <a:p>
            <a:pPr>
              <a:spcAft>
                <a:spcPts val="400"/>
              </a:spcAft>
            </a:pPr>
            <a:r>
              <a:rPr sz="1050" b="0" i="0">
                <a:solidFill>
                  <a:srgbClr val="1A1A1A"/>
                </a:solidFill>
                <a:latin typeface="Abadi"/>
              </a:rPr>
              <a:t>▪  Warn first</a:t>
            </a:r>
          </a:p>
        </p:txBody>
      </p:sp>
      <p:sp>
        <p:nvSpPr>
          <p:cNvPr id="28" name="Rectangle 27"/>
          <p:cNvSpPr/>
          <p:nvPr/>
        </p:nvSpPr>
        <p:spPr>
          <a:xfrm>
            <a:off x="9560966"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45720" rIns="45720" tIns="27432" bIns="27432" anchor="t">
            <a:spAutoFit/>
          </a:bodyPr>
          <a:lstStyle/>
          <a:p>
            <a:r>
              <a:rPr sz="1300" b="1" i="0">
                <a:solidFill>
                  <a:srgbClr val="8A939B"/>
                </a:solidFill>
                <a:latin typeface="Abadi"/>
              </a:rPr>
              <a:t>"No symptoms, so no oesophagitis"</a:t>
            </a:r>
          </a:p>
        </p:txBody>
      </p:sp>
      <p:sp>
        <p:nvSpPr>
          <p:cNvPr id="31" name="TextBox 30"/>
          <p:cNvSpPr txBox="1"/>
          <p:nvPr/>
        </p:nvSpPr>
        <p:spPr>
          <a:xfrm>
            <a:off x="9707270" y="2505456"/>
            <a:ext cx="1777593" cy="1508760"/>
          </a:xfrm>
          <a:prstGeom prst="rect">
            <a:avLst/>
          </a:prstGeom>
          <a:noFill/>
        </p:spPr>
        <p:txBody>
          <a:bodyPr wrap="square" lIns="45720" rIns="45720" tIns="27432" bIns="27432" anchor="t">
            <a:spAutoFit/>
          </a:bodyPr>
          <a:lstStyle/>
          <a:p>
            <a:pPr>
              <a:spcAft>
                <a:spcPts val="400"/>
              </a:spcAft>
            </a:pPr>
            <a:r>
              <a:rPr sz="1050" b="0" i="0">
                <a:solidFill>
                  <a:srgbClr val="1A1A1A"/>
                </a:solidFill>
                <a:latin typeface="Abadi"/>
              </a:rPr>
              <a:t>▪  Neurological impairment, repaired atresia</a:t>
            </a:r>
          </a:p>
          <a:p>
            <a:pPr>
              <a:spcAft>
                <a:spcPts val="400"/>
              </a:spcAft>
            </a:pPr>
            <a:r>
              <a:rPr sz="1050" b="0" i="0">
                <a:solidFill>
                  <a:srgbClr val="1A1A1A"/>
                </a:solidFill>
                <a:latin typeface="Abadi"/>
              </a:rPr>
              <a:t>▪  Endoscopy guides it</a:t>
            </a:r>
          </a:p>
        </p:txBody>
      </p:sp>
      <p:sp>
        <p:nvSpPr>
          <p:cNvPr id="32" name="TextBox 31"/>
          <p:cNvSpPr txBox="1"/>
          <p:nvPr/>
        </p:nvSpPr>
        <p:spPr>
          <a:xfrm>
            <a:off x="548640" y="4297680"/>
            <a:ext cx="11082528" cy="1508760"/>
          </a:xfrm>
          <a:prstGeom prst="rect">
            <a:avLst/>
          </a:prstGeom>
          <a:noFill/>
        </p:spPr>
        <p:txBody>
          <a:bodyPr wrap="square" lIns="45720" rIns="45720" tIns="27432" bIns="27432" anchor="t">
            <a:spAutoFit/>
          </a:bodyPr>
          <a:lstStyle/>
          <a:p>
            <a:r>
              <a:rPr sz="1250" b="1" i="0">
                <a:solidFill>
                  <a:srgbClr val="1B355E"/>
                </a:solidFill>
                <a:latin typeface="Abadi"/>
              </a:rPr>
              <a:t>And one more.   </a:t>
            </a:r>
            <a:r>
              <a:rPr sz="1250" b="0" i="0">
                <a:solidFill>
                  <a:srgbClr val="1A1A1A"/>
                </a:solidFill>
                <a:latin typeface="Abadi"/>
              </a:rPr>
              <a:t>Deprescribing the PPI while leaving the cause untouched: cow's milk protein allergy in an infant, overfeeding, obesity or late meals in an adolescent, or an eosinophilic oesophagitis that was never biopsied. Stopping the drug is the end of a diagnostic process, not a substitute for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XI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The numbers worth carrying into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Reimer 2009 · Niklasson 2010 · Namikawa 2024 · Farrell 2017 · Boghossian 2017 · Haastrup 2014 · Targownik 2022 · Rosen 2018 · Orenstein 2009 · Aznar-Lou 2019 · Angelidou 2017 · Scherer 2013</a:t>
            </a:r>
          </a:p>
        </p:txBody>
      </p:sp>
      <p:sp>
        <p:nvSpPr>
          <p:cNvPr id="12" name="TextBox 11"/>
          <p:cNvSpPr txBox="1"/>
          <p:nvPr/>
        </p:nvSpPr>
        <p:spPr>
          <a:xfrm>
            <a:off x="548640" y="1810512"/>
            <a:ext cx="11082528" cy="3931920"/>
          </a:xfrm>
          <a:prstGeom prst="rect">
            <a:avLst/>
          </a:prstGeom>
          <a:noFill/>
        </p:spPr>
        <p:txBody>
          <a:bodyPr wrap="square" lIns="45720" rIns="45720" tIns="27432" bIns="27432" anchor="t">
            <a:spAutoFit/>
          </a:bodyPr>
          <a:lstStyle/>
          <a:p>
            <a:pPr>
              <a:spcAft>
                <a:spcPts val="500"/>
              </a:spcAft>
            </a:pPr>
            <a:r>
              <a:rPr sz="1400" b="0" i="0">
                <a:solidFill>
                  <a:srgbClr val="1A1A1A"/>
                </a:solidFill>
                <a:latin typeface="Abadi"/>
              </a:rPr>
              <a:t>▪  After 8 weeks of a PPI, 44% of healthy volunteers had reflux symptoms on stopping (15% on placebo).</a:t>
            </a:r>
          </a:p>
          <a:p>
            <a:pPr>
              <a:spcAft>
                <a:spcPts val="500"/>
              </a:spcAft>
            </a:pPr>
            <a:r>
              <a:rPr sz="1400" b="0" i="0">
                <a:solidFill>
                  <a:srgbClr val="1A1A1A"/>
                </a:solidFill>
                <a:latin typeface="Abadi"/>
              </a:rPr>
              <a:t>▪  Rebound starts on days 5–14 and usually lasts days; after long use, hypersecretion can last 8–26 weeks.</a:t>
            </a:r>
          </a:p>
          <a:p>
            <a:pPr>
              <a:spcAft>
                <a:spcPts val="500"/>
              </a:spcAft>
            </a:pPr>
            <a:r>
              <a:rPr sz="1400" b="0" i="0">
                <a:solidFill>
                  <a:srgbClr val="1A1A1A"/>
                </a:solidFill>
                <a:latin typeface="Abadi"/>
              </a:rPr>
              <a:t>▪  Symptoms beyond about 2 months after stopping are not rebound.</a:t>
            </a:r>
          </a:p>
          <a:p>
            <a:pPr>
              <a:spcAft>
                <a:spcPts val="500"/>
              </a:spcAft>
            </a:pPr>
            <a:r>
              <a:rPr sz="1400" b="0" i="0">
                <a:solidFill>
                  <a:srgbClr val="1A1A1A"/>
                </a:solidFill>
                <a:latin typeface="Abadi"/>
              </a:rPr>
              <a:t>▪  Infant RCTs: lansoprazole 54% responders, placebo 54%; more lower respiratory infections on drug.</a:t>
            </a:r>
          </a:p>
          <a:p>
            <a:pPr>
              <a:spcAft>
                <a:spcPts val="500"/>
              </a:spcAft>
            </a:pPr>
            <a:r>
              <a:rPr sz="1400" b="0" i="0">
                <a:solidFill>
                  <a:srgbClr val="1A1A1A"/>
                </a:solidFill>
                <a:latin typeface="Abadi"/>
              </a:rPr>
              <a:t>▪  Observational aHRs: food allergy 2.59, asthma 1.57, serious infection 1.34, fracture 1.23.</a:t>
            </a:r>
          </a:p>
          <a:p>
            <a:pPr>
              <a:spcAft>
                <a:spcPts val="500"/>
              </a:spcAft>
            </a:pPr>
            <a:r>
              <a:rPr sz="1400" b="0" i="0">
                <a:solidFill>
                  <a:srgbClr val="1A1A1A"/>
                </a:solidFill>
                <a:latin typeface="Abadi"/>
              </a:rPr>
              <a:t>▪  Denmark: pediatric PPI use rose 8-fold; 14% of the youngest still on it a year later.</a:t>
            </a:r>
          </a:p>
          <a:p>
            <a:pPr>
              <a:spcAft>
                <a:spcPts val="500"/>
              </a:spcAft>
            </a:pPr>
            <a:r>
              <a:rPr sz="1400" b="0" i="0">
                <a:solidFill>
                  <a:srgbClr val="1A1A1A"/>
                </a:solidFill>
                <a:latin typeface="Abadi"/>
              </a:rPr>
              <a:t>▪  Lower dose relapse RR 1.16; on-demand 1.71; H2RA step-down 1.92 versus continuing.</a:t>
            </a:r>
          </a:p>
          <a:p>
            <a:pPr>
              <a:spcAft>
                <a:spcPts val="500"/>
              </a:spcAft>
            </a:pPr>
            <a:r>
              <a:rPr sz="1400" b="0" i="0">
                <a:solidFill>
                  <a:srgbClr val="1A1A1A"/>
                </a:solidFill>
                <a:latin typeface="Abadi"/>
              </a:rPr>
              <a:t>▪  No taper schedule is proven better; tapering beats abrupt stop in pooled adult data.</a:t>
            </a:r>
          </a:p>
          <a:p>
            <a:pPr>
              <a:spcAft>
                <a:spcPts val="500"/>
              </a:spcAft>
            </a:pPr>
            <a:r>
              <a:rPr sz="1400" b="0" i="0">
                <a:solidFill>
                  <a:srgbClr val="1A1A1A"/>
                </a:solidFill>
                <a:latin typeface="Abadi"/>
              </a:rPr>
              <a:t>▪  Continue for severe oesophagitis, stricture, Barrett's, EoE in remission, high bleeding risk.</a:t>
            </a:r>
          </a:p>
          <a:p>
            <a:pPr>
              <a:spcAft>
                <a:spcPts val="500"/>
              </a:spcAft>
            </a:pPr>
            <a:r>
              <a:rPr sz="1400" b="0" i="0">
                <a:solidFill>
                  <a:srgbClr val="1A1A1A"/>
                </a:solidFill>
                <a:latin typeface="Abadi"/>
              </a:rPr>
              <a:t>▪  A disease label makes parents want medicine, even when told it does not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XII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r>
              <a:rPr sz="1300" b="0" i="0">
                <a:solidFill>
                  <a:srgbClr val="555555"/>
                </a:solidFill>
                <a:latin typeface="Abadi"/>
              </a:rPr>
              <a:t>Applying the deprescribing logic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r>
              <a:rPr sz="1000" b="0" i="0">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83080"/>
          <a:ext cx="11082527" cy="3803904"/>
        </p:xfrm>
        <a:graphic>
          <a:graphicData uri="http://schemas.openxmlformats.org/drawingml/2006/table">
            <a:tbl>
              <a:tblPr firstRow="0" bandRow="0">
                <a:tableStyleId>{5C22544A-7EE6-4342-B048-85BDC9FD1C3A}</a:tableStyleId>
              </a:tblPr>
              <a:tblGrid>
                <a:gridCol w="3840480"/>
                <a:gridCol w="3566160"/>
                <a:gridCol w="3675887"/>
              </a:tblGrid>
              <a:tr h="475488">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Decision</a:t>
                      </a:r>
                    </a:p>
                  </a:txBody>
                  <a:tcPr marL="73152" marR="73152" marT="27432" marB="27432" anchor="ctr">
                    <a:solidFill>
                      <a:srgbClr val="1B355E"/>
                    </a:solidFill>
                  </a:tcPr>
                </a:tc>
                <a:tc>
                  <a:txBody>
                    <a:bodyPr wrap="square"/>
                    <a:lstStyle/>
                    <a:p>
                      <a:r>
                        <a:rPr sz="1050" b="1">
                          <a:solidFill>
                            <a:srgbClr val="FFFFFF"/>
                          </a:solidFill>
                          <a:latin typeface="Abadi"/>
                        </a:rPr>
                        <a:t>Why</a:t>
                      </a:r>
                    </a:p>
                  </a:txBody>
                  <a:tcPr marL="73152" marR="73152" marT="27432" marB="27432" anchor="ctr">
                    <a:solidFill>
                      <a:srgbClr val="1B355E"/>
                    </a:solidFill>
                  </a:tcPr>
                </a:tc>
              </a:tr>
              <a:tr h="475488">
                <a:tc>
                  <a:txBody>
                    <a:bodyPr wrap="square"/>
                    <a:lstStyle/>
                    <a:p>
                      <a:r>
                        <a:rPr sz="1000" b="1">
                          <a:solidFill>
                            <a:srgbClr val="1A1A1A"/>
                          </a:solidFill>
                          <a:latin typeface="Abadi"/>
                        </a:rPr>
                        <a:t>Thriving 14-month-old on omeprazole since 6 weeks</a:t>
                      </a:r>
                    </a:p>
                  </a:txBody>
                  <a:tcPr marL="73152" marR="73152" marT="27432" marB="27432" anchor="ctr">
                    <a:solidFill>
                      <a:srgbClr val="FFFFFF"/>
                    </a:solidFill>
                  </a:tcPr>
                </a:tc>
                <a:tc>
                  <a:txBody>
                    <a:bodyPr wrap="square"/>
                    <a:lstStyle/>
                    <a:p>
                      <a:r>
                        <a:rPr sz="1000" b="0">
                          <a:solidFill>
                            <a:srgbClr val="1A1A1A"/>
                          </a:solidFill>
                          <a:latin typeface="Abadi"/>
                        </a:rPr>
                        <a:t>Stop over 2–4 weeks; warn of rebound</a:t>
                      </a:r>
                    </a:p>
                  </a:txBody>
                  <a:tcPr marL="73152" marR="73152" marT="27432" marB="27432" anchor="ctr">
                    <a:solidFill>
                      <a:srgbClr val="FFFFFF"/>
                    </a:solidFill>
                  </a:tcPr>
                </a:tc>
                <a:tc>
                  <a:txBody>
                    <a:bodyPr wrap="square"/>
                    <a:lstStyle/>
                    <a:p>
                      <a:r>
                        <a:rPr sz="1000" b="0">
                          <a:solidFill>
                            <a:srgbClr val="1A1A1A"/>
                          </a:solidFill>
                          <a:latin typeface="Abadi"/>
                        </a:rPr>
                        <a:t>No indication; infant RCTs negative</a:t>
                      </a:r>
                    </a:p>
                  </a:txBody>
                  <a:tcPr marL="73152" marR="73152" marT="27432" marB="27432" anchor="ctr">
                    <a:solidFill>
                      <a:srgbClr val="FFFFFF"/>
                    </a:solidFill>
                  </a:tcPr>
                </a:tc>
              </a:tr>
              <a:tr h="475488">
                <a:tc>
                  <a:txBody>
                    <a:bodyPr wrap="square"/>
                    <a:lstStyle/>
                    <a:p>
                      <a:r>
                        <a:rPr sz="1000" b="1">
                          <a:solidFill>
                            <a:srgbClr val="1A1A1A"/>
                          </a:solidFill>
                          <a:latin typeface="Abadi"/>
                        </a:rPr>
                        <a:t>Mother calls on day 8: crying and spitting again</a:t>
                      </a:r>
                    </a:p>
                  </a:txBody>
                  <a:tcPr marL="73152" marR="73152" marT="27432" marB="27432" anchor="ctr">
                    <a:solidFill>
                      <a:srgbClr val="F2F4F7"/>
                    </a:solidFill>
                  </a:tcPr>
                </a:tc>
                <a:tc>
                  <a:txBody>
                    <a:bodyPr wrap="square"/>
                    <a:lstStyle/>
                    <a:p>
                      <a:r>
                        <a:rPr sz="1000" b="0">
                          <a:solidFill>
                            <a:srgbClr val="1A1A1A"/>
                          </a:solidFill>
                          <a:latin typeface="Abadi"/>
                        </a:rPr>
                        <a:t>Rescue, reassure, keep the plan</a:t>
                      </a:r>
                    </a:p>
                  </a:txBody>
                  <a:tcPr marL="73152" marR="73152" marT="27432" marB="27432" anchor="ctr">
                    <a:solidFill>
                      <a:srgbClr val="F2F4F7"/>
                    </a:solidFill>
                  </a:tcPr>
                </a:tc>
                <a:tc>
                  <a:txBody>
                    <a:bodyPr wrap="square"/>
                    <a:lstStyle/>
                    <a:p>
                      <a:r>
                        <a:rPr sz="1000" b="0">
                          <a:solidFill>
                            <a:srgbClr val="1A1A1A"/>
                          </a:solidFill>
                          <a:latin typeface="Abadi"/>
                        </a:rPr>
                        <a:t>Rebound window, days 5–14</a:t>
                      </a:r>
                    </a:p>
                  </a:txBody>
                  <a:tcPr marL="73152" marR="73152" marT="27432" marB="27432" anchor="ctr">
                    <a:solidFill>
                      <a:srgbClr val="F2F4F7"/>
                    </a:solidFill>
                  </a:tcPr>
                </a:tc>
              </a:tr>
              <a:tr h="475488">
                <a:tc>
                  <a:txBody>
                    <a:bodyPr wrap="square"/>
                    <a:lstStyle/>
                    <a:p>
                      <a:r>
                        <a:rPr sz="1000" b="1">
                          <a:solidFill>
                            <a:srgbClr val="1A1A1A"/>
                          </a:solidFill>
                          <a:latin typeface="Abadi"/>
                        </a:rPr>
                        <a:t>12-year-old, heartburn resolved after 8 weeks</a:t>
                      </a:r>
                    </a:p>
                  </a:txBody>
                  <a:tcPr marL="73152" marR="73152" marT="27432" marB="27432" anchor="ctr">
                    <a:solidFill>
                      <a:srgbClr val="FFFFFF"/>
                    </a:solidFill>
                  </a:tcPr>
                </a:tc>
                <a:tc>
                  <a:txBody>
                    <a:bodyPr wrap="square"/>
                    <a:lstStyle/>
                    <a:p>
                      <a:r>
                        <a:rPr sz="1000" b="0">
                          <a:solidFill>
                            <a:srgbClr val="1A1A1A"/>
                          </a:solidFill>
                          <a:latin typeface="Abadi"/>
                        </a:rPr>
                        <a:t>Halve, then stop; on-demand if needed</a:t>
                      </a:r>
                    </a:p>
                  </a:txBody>
                  <a:tcPr marL="73152" marR="73152" marT="27432" marB="27432" anchor="ctr">
                    <a:solidFill>
                      <a:srgbClr val="FFFFFF"/>
                    </a:solidFill>
                  </a:tcPr>
                </a:tc>
                <a:tc>
                  <a:txBody>
                    <a:bodyPr wrap="square"/>
                    <a:lstStyle/>
                    <a:p>
                      <a:r>
                        <a:rPr sz="1000" b="0">
                          <a:solidFill>
                            <a:srgbClr val="1A1A1A"/>
                          </a:solidFill>
                          <a:latin typeface="Abadi"/>
                        </a:rPr>
                        <a:t>ACG: try to stop after an 8-week course</a:t>
                      </a:r>
                    </a:p>
                  </a:txBody>
                  <a:tcPr marL="73152" marR="73152" marT="27432" marB="27432" anchor="ctr">
                    <a:solidFill>
                      <a:srgbClr val="FFFFFF"/>
                    </a:solidFill>
                  </a:tcPr>
                </a:tc>
              </a:tr>
              <a:tr h="475488">
                <a:tc>
                  <a:txBody>
                    <a:bodyPr wrap="square"/>
                    <a:lstStyle/>
                    <a:p>
                      <a:r>
                        <a:rPr sz="1000" b="1">
                          <a:solidFill>
                            <a:srgbClr val="1A1A1A"/>
                          </a:solidFill>
                          <a:latin typeface="Abadi"/>
                        </a:rPr>
                        <a:t>Adolescent with EoE in histological remission on PPI</a:t>
                      </a:r>
                    </a:p>
                  </a:txBody>
                  <a:tcPr marL="73152" marR="73152" marT="27432" marB="27432" anchor="ctr">
                    <a:solidFill>
                      <a:srgbClr val="F2F4F7"/>
                    </a:solidFill>
                  </a:tcPr>
                </a:tc>
                <a:tc>
                  <a:txBody>
                    <a:bodyPr wrap="square"/>
                    <a:lstStyle/>
                    <a:p>
                      <a:r>
                        <a:rPr sz="1000" b="0">
                          <a:solidFill>
                            <a:srgbClr val="1A1A1A"/>
                          </a:solidFill>
                          <a:latin typeface="Abadi"/>
                        </a:rPr>
                        <a:t>Continue; re-scope before any change</a:t>
                      </a:r>
                    </a:p>
                  </a:txBody>
                  <a:tcPr marL="73152" marR="73152" marT="27432" marB="27432" anchor="ctr">
                    <a:solidFill>
                      <a:srgbClr val="F2F4F7"/>
                    </a:solidFill>
                  </a:tcPr>
                </a:tc>
                <a:tc>
                  <a:txBody>
                    <a:bodyPr wrap="square"/>
                    <a:lstStyle/>
                    <a:p>
                      <a:r>
                        <a:rPr sz="1000" b="0">
                          <a:solidFill>
                            <a:srgbClr val="1A1A1A"/>
                          </a:solidFill>
                          <a:latin typeface="Abadi"/>
                        </a:rPr>
                        <a:t>PPI is the treatment</a:t>
                      </a:r>
                    </a:p>
                  </a:txBody>
                  <a:tcPr marL="73152" marR="73152" marT="27432" marB="27432" anchor="ctr">
                    <a:solidFill>
                      <a:srgbClr val="F2F4F7"/>
                    </a:solidFill>
                  </a:tcPr>
                </a:tc>
              </a:tr>
              <a:tr h="475488">
                <a:tc>
                  <a:txBody>
                    <a:bodyPr wrap="square"/>
                    <a:lstStyle/>
                    <a:p>
                      <a:r>
                        <a:rPr sz="1000" b="1">
                          <a:solidFill>
                            <a:srgbClr val="1A1A1A"/>
                          </a:solidFill>
                          <a:latin typeface="Abadi"/>
                        </a:rPr>
                        <a:t>Child after oesophageal atresia repair, LA grade C</a:t>
                      </a:r>
                    </a:p>
                  </a:txBody>
                  <a:tcPr marL="73152" marR="73152" marT="27432" marB="27432" anchor="ctr">
                    <a:solidFill>
                      <a:srgbClr val="FFFFFF"/>
                    </a:solidFill>
                  </a:tcPr>
                </a:tc>
                <a:tc>
                  <a:txBody>
                    <a:bodyPr wrap="square"/>
                    <a:lstStyle/>
                    <a:p>
                      <a:r>
                        <a:rPr sz="1000" b="0">
                          <a:solidFill>
                            <a:srgbClr val="1A1A1A"/>
                          </a:solidFill>
                          <a:latin typeface="Abadi"/>
                        </a:rPr>
                        <a:t>Continue; endoscopic surveillance</a:t>
                      </a:r>
                    </a:p>
                  </a:txBody>
                  <a:tcPr marL="73152" marR="73152" marT="27432" marB="27432" anchor="ctr">
                    <a:solidFill>
                      <a:srgbClr val="FFFFFF"/>
                    </a:solidFill>
                  </a:tcPr>
                </a:tc>
                <a:tc>
                  <a:txBody>
                    <a:bodyPr wrap="square"/>
                    <a:lstStyle/>
                    <a:p>
                      <a:r>
                        <a:rPr sz="1000" b="0">
                          <a:solidFill>
                            <a:srgbClr val="1A1A1A"/>
                          </a:solidFill>
                          <a:latin typeface="Abadi"/>
                        </a:rPr>
                        <a:t>Severe oesophagitis, Barrett's risk</a:t>
                      </a:r>
                    </a:p>
                  </a:txBody>
                  <a:tcPr marL="73152" marR="73152" marT="27432" marB="27432" anchor="ctr">
                    <a:solidFill>
                      <a:srgbClr val="FFFFFF"/>
                    </a:solidFill>
                  </a:tcPr>
                </a:tc>
              </a:tr>
              <a:tr h="475488">
                <a:tc>
                  <a:txBody>
                    <a:bodyPr wrap="square"/>
                    <a:lstStyle/>
                    <a:p>
                      <a:r>
                        <a:rPr sz="1000" b="1">
                          <a:solidFill>
                            <a:srgbClr val="1A1A1A"/>
                          </a:solidFill>
                          <a:latin typeface="Abadi"/>
                        </a:rPr>
                        <a:t>NICU graduate discharged on famotidine 'for reflux'</a:t>
                      </a:r>
                    </a:p>
                  </a:txBody>
                  <a:tcPr marL="73152" marR="73152" marT="27432" marB="27432" anchor="ctr">
                    <a:solidFill>
                      <a:srgbClr val="F2F4F7"/>
                    </a:solidFill>
                  </a:tcPr>
                </a:tc>
                <a:tc>
                  <a:txBody>
                    <a:bodyPr wrap="square"/>
                    <a:lstStyle/>
                    <a:p>
                      <a:r>
                        <a:rPr sz="1000" b="0">
                          <a:solidFill>
                            <a:srgbClr val="1A1A1A"/>
                          </a:solidFill>
                          <a:latin typeface="Abadi"/>
                        </a:rPr>
                        <a:t>Stop at discharge; write it in the letter</a:t>
                      </a:r>
                    </a:p>
                  </a:txBody>
                  <a:tcPr marL="73152" marR="73152" marT="27432" marB="27432" anchor="ctr">
                    <a:solidFill>
                      <a:srgbClr val="F2F4F7"/>
                    </a:solidFill>
                  </a:tcPr>
                </a:tc>
                <a:tc>
                  <a:txBody>
                    <a:bodyPr wrap="square"/>
                    <a:lstStyle/>
                    <a:p>
                      <a:r>
                        <a:rPr sz="1000" b="0">
                          <a:solidFill>
                            <a:srgbClr val="1A1A1A"/>
                          </a:solidFill>
                          <a:latin typeface="Abadi"/>
                        </a:rPr>
                        <a:t>Discharge is the entry point</a:t>
                      </a:r>
                    </a:p>
                  </a:txBody>
                  <a:tcPr marL="73152" marR="73152" marT="27432" marB="27432" anchor="ctr">
                    <a:solidFill>
                      <a:srgbClr val="F2F4F7"/>
                    </a:solidFill>
                  </a:tcPr>
                </a:tc>
              </a:tr>
              <a:tr h="475488">
                <a:tc>
                  <a:txBody>
                    <a:bodyPr wrap="square"/>
                    <a:lstStyle/>
                    <a:p>
                      <a:r>
                        <a:rPr sz="1000" b="1">
                          <a:solidFill>
                            <a:srgbClr val="1A1A1A"/>
                          </a:solidFill>
                          <a:latin typeface="Abadi"/>
                        </a:rPr>
                        <a:t>Symptoms persist 3 months after stopping</a:t>
                      </a:r>
                    </a:p>
                  </a:txBody>
                  <a:tcPr marL="73152" marR="73152" marT="27432" marB="27432" anchor="ctr">
                    <a:solidFill>
                      <a:srgbClr val="FFFFFF"/>
                    </a:solidFill>
                  </a:tcPr>
                </a:tc>
                <a:tc>
                  <a:txBody>
                    <a:bodyPr wrap="square"/>
                    <a:lstStyle/>
                    <a:p>
                      <a:r>
                        <a:rPr sz="1000" b="0">
                          <a:solidFill>
                            <a:srgbClr val="1A1A1A"/>
                          </a:solidFill>
                          <a:latin typeface="Abadi"/>
                        </a:rPr>
                        <a:t>Reassess: endoscopy, pH-impedance, diet</a:t>
                      </a:r>
                    </a:p>
                  </a:txBody>
                  <a:tcPr marL="73152" marR="73152" marT="27432" marB="27432" anchor="ctr">
                    <a:solidFill>
                      <a:srgbClr val="FFFFFF"/>
                    </a:solidFill>
                  </a:tcPr>
                </a:tc>
                <a:tc>
                  <a:txBody>
                    <a:bodyPr wrap="square"/>
                    <a:lstStyle/>
                    <a:p>
                      <a:r>
                        <a:rPr sz="1000" b="0">
                          <a:solidFill>
                            <a:srgbClr val="1A1A1A"/>
                          </a:solidFill>
                          <a:latin typeface="Abadi"/>
                        </a:rPr>
                        <a:t>Beyond rebound: real disease or not acid</a:t>
                      </a:r>
                    </a:p>
                  </a:txBody>
                  <a:tcPr marL="73152" marR="73152" marT="27432" marB="27432"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45720" rIns="45720" tIns="27432" bIns="27432" anchor="b">
            <a:spAutoFit/>
          </a:bodyPr>
          <a:lstStyle/>
          <a:p>
            <a:pPr algn="ctr"/>
            <a:r>
              <a:rPr sz="4000" b="1" i="0">
                <a:solidFill>
                  <a:srgbClr val="FFFFFF"/>
                </a:solidFill>
                <a:latin typeface="Abadi"/>
              </a:rPr>
              <a:t>Deprescribing Proton Pump Inhibitors — Rebound Hypersecretion, Tapering, Prescription Audit and the Conversation with Families</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