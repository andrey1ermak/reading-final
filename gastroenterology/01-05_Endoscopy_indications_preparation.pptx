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03120"/>
            <a:ext cx="11091672" cy="135331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badi"/>
              </a:rPr>
              <a:t>Paediatric Endoscopy I: Indications and Preparation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3703320"/>
            <a:ext cx="1828800" cy="18288"/>
          </a:xfrm>
          <a:prstGeom prst="rect">
            <a:avLst/>
          </a:prstGeom>
          <a:solidFill>
            <a:srgbClr val="F2C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995928"/>
            <a:ext cx="11091672" cy="26517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98848"/>
            <a:ext cx="11091672" cy="70408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CFD8E6"/>
                </a:solidFill>
                <a:latin typeface="Abadi"/>
              </a:rPr>
              <a:t>ESPGHAN/ESGE paediatric endoscopy guideline 2017 (Thomson, Tringali) · PEnQuIN 2022 · NASPGHAN bowel preparation report 2014 · ESPGHAN coeliac 2020 · ESPGHAN/NASPGHAN GERD 2018 and H. pylori 2023 · ESAIC paediatric fasting 2022</a:t>
            </a:r>
          </a:p>
          <a:p>
            <a:pPr algn="ctr"/>
            <a:r>
              <a:rPr sz="1100" b="0" i="0">
                <a:solidFill>
                  <a:srgbClr val="CFD8E6"/>
                </a:solidFill>
                <a:latin typeface="Abadi"/>
              </a:rPr>
              <a:t>When to scope · when not to · anaesthesia and airway · fasting · bowel preparation · choosing the instrument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THE QUESTION OF THE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WHO NEEDS A SCOPE, AND HOW TO PREPARE?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Four decisions made before the endoscope touches the patient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Thomson M, Tringali A, et al. JPGN 2017;64:133–53 · Tringali A, Thomson M, et al. Endoscopy 2017;49:83–91 · Walsh CM, et al. JPGN 2022;74(Suppl 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567178" cy="288036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567178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048255"/>
            <a:ext cx="2128266" cy="38404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Indicate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2542032"/>
            <a:ext cx="2128266" cy="19659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Alarm features, growth failure, bleeding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Suspected IBD, EoE, coeliac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Foreign body and caustic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1773936"/>
            <a:ext cx="2567178" cy="288036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1773936"/>
            <a:ext cx="2567178" cy="12801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9594" y="2048255"/>
            <a:ext cx="2128266" cy="38404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Avoid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9594" y="2542032"/>
            <a:ext cx="2128266" cy="19659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Uncomplicated reflux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Functional pain, constipation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Coeliac at 10× normal TGA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773936"/>
            <a:ext cx="2567178" cy="288036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1773936"/>
            <a:ext cx="25671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1092" y="2048255"/>
            <a:ext cx="2128266" cy="38404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Sedate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1092" y="2542032"/>
            <a:ext cx="2128266" cy="19659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General anaesthesia preferred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Deep sedation only if GA unavailable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Fast 6–4–3–1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1773936"/>
            <a:ext cx="2567178" cy="288036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1773936"/>
            <a:ext cx="2567178" cy="12801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2590" y="2048255"/>
            <a:ext cx="2128266" cy="38404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Prepare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2590" y="2542032"/>
            <a:ext cx="2128266" cy="19659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Low-volume PEG or picosulphate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 sodium phosphate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Scope chosen by weight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892040"/>
            <a:ext cx="11091672" cy="8229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A paediatric endoscopy almost always means a general anaesthetic, a fasting child and, for the colon, a day of laxatives. The guideline asks us to earn each of these with a real indication.</a:t>
            </a:r>
          </a:p>
          <a:p>
            <a:pPr algn="l">
              <a:spcAft>
                <a:spcPts val="40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The best-prepared endoscopy is still a bad one if it was not needed.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MUCOSA HIDES ITS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First diagnostic upper endoscopies in 1,000 children, Colorado: what the eye saw versus what histology found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Sheiko MA, Feinstein JA, Capocelli KE, Kramer RE. Gastrointest Endosc 2015;81:1385–91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1168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011680"/>
            <a:ext cx="2567178" cy="128016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331720"/>
            <a:ext cx="2292858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34.7%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182112"/>
            <a:ext cx="2292858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Endoscopically abnormal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201168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2011680"/>
            <a:ext cx="2567178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7298" y="2331720"/>
            <a:ext cx="2292858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40.4%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298" y="3182112"/>
            <a:ext cx="2292858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Histologically abnormal; agreement between the two only fair (kappa 0.32)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201168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2011680"/>
            <a:ext cx="2567178" cy="128016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8796" y="2331720"/>
            <a:ext cx="2292858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48.5%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182112"/>
            <a:ext cx="2292858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Of histological disease would be missed by biopsying only visible lesions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201168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2011680"/>
            <a:ext cx="25671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0294" y="2331720"/>
            <a:ext cx="2292858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30% · 43%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0294" y="3182112"/>
            <a:ext cx="2292858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Of eosinophilic oesophagitis and coeliac cases had normal-looking mucosa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43400"/>
            <a:ext cx="11091672" cy="8229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In children the diagnosis is made in the pathology laboratory more often than through the eyepiece. ESPGHAN/ESGE ask for at least three oesophageal levels for eosinophilic oesophagitis and four distal duodenal plus one bulb biopsy for coeliac disease.</a:t>
            </a:r>
          </a:p>
          <a:p>
            <a:pPr algn="l">
              <a:spcAft>
                <a:spcPts val="40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If the indication justifies a scope, it justifies systematic biopsies from normal mucosa.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INDICATIONS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THE GUIDELINE LISTS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Diagnostic indications, ESPGHAN/ESGE 2017 (weak recommendation, low-quality evidence)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Tringali A, Thomson M, et al. Endoscopy 2017;49:83–91, Tables 1 and 5 · Thomson M, Tringali A, et al. JPGN 2017;64:133–53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91672" cy="28346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4343400"/>
                <a:gridCol w="4370832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Domain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Upper endoscopy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Ileocolonoscopy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Growth and nutrition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Weight loss, poor growth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Unexplained poor growth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Blood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Unexplained anaemia; haematemesis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Unexplained anaemia; rectal bleeding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Symptoms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Dysphagia, odynophagia, recurrent vomiting, organic-sounding pain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Chronic diarrhoea; perianal lesions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Suspected disease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EoE, coeliac, peptic disease, Barrett surveillance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Inflammatory bowel disease (main indication)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Emergencies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Foreign body, caustic ingestion, upper GI bleeding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Lower GI bleeding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Special groups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Graft-versus-host disease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GVHD, intestinal transplant, polyposis, stricture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4709160"/>
            <a:ext cx="11091672" cy="8229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Against ileocolonoscopy: toxic megacolon, perforation within 28 days, resection within 7 days, functional disorders and constipation.</a:t>
            </a:r>
          </a:p>
          <a:p>
            <a:pPr algn="l">
              <a:spcAft>
                <a:spcPts val="40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Every listed indication is an organic question that biopsy can answer.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WHEN NOT TO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WHEN THE SCOPE ADDS NOTHING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Situations where guidelines advise a non-endoscopic path first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Rosen R, et al. JPGN 2018;66:516–54 · Husby S, et al. JPGN 2020;70:141–56 · Homan M, et al. JPGN 2024;79:758–85 · Tringali 2017 Endoscopy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567178" cy="301752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567178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048255"/>
            <a:ext cx="2128266" cy="38404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Reflux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2542032"/>
            <a:ext cx="2128266" cy="21031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 EGD to diagnose GERD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Scope for complications or before escalating therapy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 barium to diagnose GERD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1773936"/>
            <a:ext cx="2567178" cy="301752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1773936"/>
            <a:ext cx="2567178" cy="12801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9594" y="2048255"/>
            <a:ext cx="2128266" cy="38404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Functional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9594" y="2542032"/>
            <a:ext cx="2128266" cy="21031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Rome IV pain without alarm features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Normal calprotectin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Constipation is a non-indication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773936"/>
            <a:ext cx="2567178" cy="301752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1773936"/>
            <a:ext cx="25671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1092" y="2048255"/>
            <a:ext cx="2128266" cy="38404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Coeliac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1092" y="2542032"/>
            <a:ext cx="2128266" cy="21031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TGA-IgA ≥10× ULN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EMA positive on a second sample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 HLA, no biopsy needed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1773936"/>
            <a:ext cx="2567178" cy="301752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1773936"/>
            <a:ext cx="2567178" cy="12801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2590" y="2048255"/>
            <a:ext cx="2128266" cy="38404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H. pylori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2590" y="2542032"/>
            <a:ext cx="2128266" cy="21031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 test-and-treat in children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 testing in functional pain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If testing: endoscopy with culture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983480"/>
            <a:ext cx="11091672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The H. pylori rule runs the other way: if you test at all, test by endoscopy, so you can culture and choose therapy.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COELIAC WITHOUT BIOPSY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TEN TIMES NORMAL REPLACES THE BIOPSY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ProCeDE prospective validation of the ESPGHAN no-biopsy criteria, 707 children, 33 centres, 21 countries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Werkstetter KJ, et al. Gastroenterology 2017;153:924–35 · Husby S, et al. JPGN 2020;70:141–56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1168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011680"/>
            <a:ext cx="2567178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331720"/>
            <a:ext cx="2292858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707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182112"/>
            <a:ext cx="2292858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Children with positive coeliac serology enrolled prospectively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201168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2011680"/>
            <a:ext cx="2567178" cy="12801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7298" y="2331720"/>
            <a:ext cx="2292858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399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298" y="3182112"/>
            <a:ext cx="2292858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Met TGA ≥10× upper limit + EMA positive + any symptom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201168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2011680"/>
            <a:ext cx="2567178" cy="12801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8796" y="2331720"/>
            <a:ext cx="2292858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99.75%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182112"/>
            <a:ext cx="2292858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Positive predictive value (95% CI 98.6–99.99); 100% with malabsorption symptoms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201168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2011680"/>
            <a:ext cx="2567178" cy="128016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0294" y="2331720"/>
            <a:ext cx="2292858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&gt; 50%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0294" y="3182112"/>
            <a:ext cx="2292858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Of children could avoid endoscopy; HLA typing added nothing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43400"/>
            <a:ext cx="11091672" cy="8229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The 2020 ESPGHAN guideline dropped the HLA and symptom requirements. The safeguards that remain are a validated assay, a level of at least ten times the upper limit, and a positive endomysial antibody in a second blood sample.</a:t>
            </a:r>
          </a:p>
          <a:p>
            <a:pPr algn="l">
              <a:spcAft>
                <a:spcPts val="40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Below ten times normal, biopsy is still required: four distal duodenal and one bulb sample.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CALPROTECTIN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A STOOL TEST DECIDES WHO GETS COLONOSCOPY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Faecal calprotectin for suspected IBD, pooled sensitivity and specificity,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van Rheenen PF, Van de Vijver E, Fidler V. BMJ 2010;341:c3369 · Degraeuwe PL, et al. JPGN 2015;60:339–46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7551" y="2450592"/>
            <a:ext cx="630936" cy="294436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39" y="2176272"/>
            <a:ext cx="1051560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B355E"/>
                </a:solidFill>
                <a:latin typeface="Abadi"/>
              </a:rPr>
              <a:t>92%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73351" y="2962656"/>
            <a:ext cx="630936" cy="2432304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39" y="2688336"/>
            <a:ext cx="1051560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B355E"/>
                </a:solidFill>
                <a:latin typeface="Abadi"/>
              </a:rPr>
              <a:t>76%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440680"/>
            <a:ext cx="219456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1A1A1A"/>
                </a:solidFill>
                <a:latin typeface="Abadi"/>
              </a:rPr>
              <a:t>Children (7 studies, n = 371)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82112" y="2418588"/>
            <a:ext cx="630936" cy="297637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800" y="2144268"/>
            <a:ext cx="1051560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B355E"/>
                </a:solidFill>
                <a:latin typeface="Abadi"/>
              </a:rPr>
              <a:t>93%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67912" y="2322576"/>
            <a:ext cx="630936" cy="3072384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2048256"/>
            <a:ext cx="1051560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B355E"/>
                </a:solidFill>
                <a:latin typeface="Abadi"/>
              </a:rPr>
              <a:t>96%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5440680"/>
            <a:ext cx="219456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1A1A1A"/>
                </a:solidFill>
                <a:latin typeface="Abadi"/>
              </a:rPr>
              <a:t>Adults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76672" y="2290572"/>
            <a:ext cx="630936" cy="310438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6359" y="2016252"/>
            <a:ext cx="1051560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B355E"/>
                </a:solidFill>
                <a:latin typeface="Abadi"/>
              </a:rPr>
              <a:t>97%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62472" y="3154680"/>
            <a:ext cx="630936" cy="224028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52159" y="2880360"/>
            <a:ext cx="1051560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B355E"/>
                </a:solidFill>
                <a:latin typeface="Abadi"/>
              </a:rPr>
              <a:t>70%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59" y="5440680"/>
            <a:ext cx="219456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1A1A1A"/>
                </a:solidFill>
                <a:latin typeface="Abadi"/>
              </a:rPr>
              <a:t>Children, 2015 meta-analysis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394960"/>
            <a:ext cx="6583680" cy="1097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1837943"/>
            <a:ext cx="146304" cy="14630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1783080"/>
            <a:ext cx="2377440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Sensitivity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25980" y="1837943"/>
            <a:ext cx="146304" cy="146304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27148" y="1783080"/>
            <a:ext cx="2377440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Specificity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1828800"/>
            <a:ext cx="4114800" cy="3931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Abadi"/>
              </a:rPr>
              <a:t>65 of 100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Children would be scoped instead of 100 if calprotectin were used to select them.</a:t>
            </a:r>
          </a:p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Abadi"/>
              </a:rPr>
              <a:t>8%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Would have their diagnosis delayed by a false negative.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B355E"/>
                </a:solidFill>
                <a:latin typeface="Abadi"/>
              </a:rPr>
              <a:t>Lower specificity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In children, infection, NSAIDs, polyps and young age all raise calprotectin.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YIELD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ABDOMINAL PAIN AND THE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How often upper endoscopy finds something, and whether it changes the outcome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Thakkar K, et al. Dig Dis Sci 2011;56:488–93 · Thakkar 2014 and Bonilla, as summarised in Llanos-Chea A, Saps M. Gastroenterol Hepatol 2019;15 · Lee WS, et al. World J Gastroenterol 2013;19:9077–83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1168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011680"/>
            <a:ext cx="2567178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331720"/>
            <a:ext cx="2292858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B355E"/>
                </a:solidFill>
                <a:latin typeface="Abadi"/>
              </a:rPr>
              <a:t>38%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182112"/>
            <a:ext cx="2292858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Of EGDs for abdominal pain diagnostic; reflux oesophagitis the commonest finding (21%)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201168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2011680"/>
            <a:ext cx="2567178" cy="12801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7298" y="2331720"/>
            <a:ext cx="2292858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B355E"/>
                </a:solidFill>
                <a:latin typeface="Abadi"/>
              </a:rPr>
              <a:t>66%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298" y="3182112"/>
            <a:ext cx="2292858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Of children had management changed after EGD for abdominal pain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201168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2011680"/>
            <a:ext cx="2567178" cy="128016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8796" y="2331720"/>
            <a:ext cx="2292858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B355E"/>
                </a:solidFill>
                <a:latin typeface="Abadi"/>
              </a:rPr>
              <a:t>61 vs 64%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182112"/>
            <a:ext cx="2292858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Still had symptoms at follow-up, with versus without endoscopy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201168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2011680"/>
            <a:ext cx="2567178" cy="12801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0294" y="2331720"/>
            <a:ext cx="2292858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B355E"/>
                </a:solidFill>
                <a:latin typeface="Abadi"/>
              </a:rPr>
              <a:t>76%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0294" y="3182112"/>
            <a:ext cx="2292858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Positive findings when NASPGHAN/ASGE criteria were met (99.7% appropriate)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43400"/>
            <a:ext cx="11091672" cy="8229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Finding something is not the same as helping: mild oesophagitis or gastritis often does not explain the pain, and symptoms persisted just as often in children who were not scoped.</a:t>
            </a:r>
          </a:p>
          <a:p>
            <a:pPr algn="l">
              <a:spcAft>
                <a:spcPts val="40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In functional-sounding pain with normal calprotectin and no alarm features, the scope rarely changes the outcome.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ANAESTHESIA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GENERAL ANAESTHESIA HAS BECOME THE DEFAULT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Immediate complications of 10,236 paediatric EGDs by sedation type, PEDS-CORI,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Thakkar K, et al. Gastrointest Endosc 2007;65:213–21 · Tringali 2017 Endoscopy · Michaud L. Endoscopy 2005;37:167–70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13332" y="4541520"/>
            <a:ext cx="630936" cy="85344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03020" y="4267200"/>
            <a:ext cx="1051560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B355E"/>
                </a:solidFill>
                <a:latin typeface="Abadi"/>
              </a:rPr>
              <a:t>1.2%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440680"/>
            <a:ext cx="256032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1A1A1A"/>
                </a:solidFill>
                <a:latin typeface="Abadi"/>
              </a:rPr>
              <a:t>General anaesthesia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73652" y="2763520"/>
            <a:ext cx="630936" cy="263144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63339" y="2489200"/>
            <a:ext cx="1051560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B355E"/>
                </a:solidFill>
                <a:latin typeface="Abadi"/>
              </a:rPr>
              <a:t>3.7%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5440680"/>
            <a:ext cx="256032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1A1A1A"/>
                </a:solidFill>
                <a:latin typeface="Abadi"/>
              </a:rPr>
              <a:t>IV sedation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394960"/>
            <a:ext cx="5120640" cy="1097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1828800"/>
            <a:ext cx="5577840" cy="3931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E5A88"/>
                </a:solidFill>
                <a:latin typeface="Abadi"/>
              </a:rPr>
              <a:t>ESPGHAN/ESGE 2017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Perform EGD and ileocolonoscopy under general anaesthesia or, only if it is not available, under deep sedation in a carefully monitored setting.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E5A88"/>
                </a:solidFill>
                <a:latin typeface="Abadi"/>
              </a:rPr>
              <a:t>Why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Four in five complications were cardiopulmonary, mostly transient hypoxia. None were fatal. GA was used in 54% of the procedures.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E5A88"/>
                </a:solidFill>
                <a:latin typeface="Abadi"/>
              </a:rPr>
              <a:t>Where practice was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In a 2005 French-speaking survey, GA was used in 47% of children over 6 months and 22% under 6 months; many infants had no sedation.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E5A88"/>
                </a:solidFill>
                <a:latin typeface="Abadi"/>
              </a:rPr>
              <a:t>ERCP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General anaesthesia; deep or conscious sedation can be considered at 12–17 years.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WHERE THE AIRWAY EVENTS 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Adverse events in 12,030 paediatric endoscopies with sedation, Pediatric Sedation Research Consortium,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Biber JL, et al. Pediatr Crit Care Med 2015;16:e251–9 · Cravero JP, et al. Anesth Analg 2009;108:795–804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74519"/>
            <a:ext cx="5001768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Any adverse event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1901951"/>
            <a:ext cx="4564684" cy="192024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25404" y="1856231"/>
            <a:ext cx="173736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Abadi"/>
              </a:rPr>
              <a:t>4.8%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331720"/>
            <a:ext cx="5001768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Oxygen desaturation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2359151"/>
            <a:ext cx="1426464" cy="19202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87183" y="2313432"/>
            <a:ext cx="173736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Abadi"/>
              </a:rPr>
              <a:t>1.5%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788920"/>
            <a:ext cx="5001768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Airway obstruction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2816351"/>
            <a:ext cx="950976" cy="19202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11696" y="2770632"/>
            <a:ext cx="173736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Abadi"/>
              </a:rPr>
              <a:t>1.0%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246120"/>
            <a:ext cx="5001768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Coughing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3273551"/>
            <a:ext cx="855878" cy="19202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6598" y="3227832"/>
            <a:ext cx="173736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Abadi"/>
              </a:rPr>
              <a:t>0.9%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703320"/>
            <a:ext cx="5001768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Laryngospasm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3730752"/>
            <a:ext cx="570585" cy="19202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1305" y="3685032"/>
            <a:ext cx="173736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Abadi"/>
              </a:rPr>
              <a:t>0.6%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0" y="1783079"/>
            <a:ext cx="9144" cy="23317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343400"/>
            <a:ext cx="11091672" cy="8229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Propofol was used in 97% of these procedures, and there were no deaths and no cardiopulmonary resuscitations. Independent risk factors were age 5 years or less, ASA class 2 or higher, upper endoscopy, obesity and lower airway disease.</a:t>
            </a:r>
          </a:p>
          <a:p>
            <a:pPr algn="l">
              <a:spcAft>
                <a:spcPts val="40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The upper endoscopy in a small, obese or wheezy child is the case to plan the airway for.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AIRWAY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NATURAL OR SECURED AIRWAY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Choosing intubation and the provider for paediatric endoscopy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Hartjes KT, et al. Front Pediatr 2021;9:709433 · Front Pediatr 2020;8:619139 (Texas Children’s) · Biber 2015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91672" cy="27066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4206240"/>
                <a:gridCol w="4142232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Question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Data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Practical reading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How often is the airway secured?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19% intubated among 258 children (Boston)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Most procedures use a natural airway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Which procedures?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Upper endoscopy: odds ratio 4.33 for intubation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The scope shares the airway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What goes wrong?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Sedation adverse events 3.5%, including 3 laryngospasms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Anticipate laryngospasm at oesophageal intubation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Non-anaesthesiologist propofol?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3.4% adverse events vs 14.3% with GA; laryngospasm 7 vs 1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Different patients; selection drives the comparison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Who should intubate?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Young age, obesity, airway disease, bleeding, foreign body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Secure the airway when aspiration risk is high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4754880"/>
            <a:ext cx="11091672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Decide the airway with the anaesthetist before the list, not at the first desaturation.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FASTING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SIX, FOUR, THREE,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Pre-procedure fasting for children: European versus American guidance, hours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Frykholm P, et al. Eur J Anaesthesiol 2022;39:4–25 (ESAIC) · ASA practice guidelines. Anesthesiology 2017;126:376–93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91672" cy="243230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926080"/>
                <a:gridCol w="3291840"/>
                <a:gridCol w="3291840"/>
                <a:gridCol w="1581912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Intake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ESAIC 2022 (Europe)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ASA 2017 (United States)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Verdict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Clear fluids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1 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2 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Breast milk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3 h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4 h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Formula or light meal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4 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6 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Solid food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6 h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6 h or more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4343400"/>
            <a:ext cx="11091672" cy="8229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Long fasts make children thirsty, hypoglycaemic and hypovolaemic without lowering aspiration, which is rare in elective cases. Endoscopy adds one specific risk: a child after bowel preparation is already dry.</a:t>
            </a:r>
          </a:p>
          <a:p>
            <a:pPr algn="l">
              <a:spcAft>
                <a:spcPts val="40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Encourage clear fluids up to the European limit, especially on a colonoscopy list.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BOWEL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ONE IN FOUR COLONS IS NOT CLEAN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How often paediatric bowel preparation fails, and the standard to aim for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Hunter A, Mamula P. JPGN 2010;51:254–61 · Berger T, et al. Endosc Int Open 2016;4:E820–7 · Lightdale JR, Walsh CM, et al. JPGN 2022 (PEnQuIN)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1168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011680"/>
            <a:ext cx="2567178" cy="128016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331720"/>
            <a:ext cx="2292858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B355E"/>
                </a:solidFill>
                <a:latin typeface="Abadi"/>
              </a:rPr>
              <a:t>Up to 1 in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182112"/>
            <a:ext cx="2292858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Children inadequately prepared in published series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201168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2011680"/>
            <a:ext cx="2567178" cy="12801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7298" y="2331720"/>
            <a:ext cx="2292858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B355E"/>
                </a:solidFill>
                <a:latin typeface="Abadi"/>
              </a:rPr>
              <a:t>72.6%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298" y="3182112"/>
            <a:ext cx="2292858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Good or excellent preparation, 768 colonoscopies in 28 centres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201168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2011680"/>
            <a:ext cx="2567178" cy="12801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8796" y="2331720"/>
            <a:ext cx="2292858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B355E"/>
                </a:solidFill>
                <a:latin typeface="Abadi"/>
              </a:rPr>
              <a:t>≥ 80%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182112"/>
            <a:ext cx="2292858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PEnQuIN minimum target for adequate bowel preparation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201168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2011680"/>
            <a:ext cx="2567178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0294" y="2331720"/>
            <a:ext cx="2292858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B355E"/>
                </a:solidFill>
                <a:latin typeface="Abadi"/>
              </a:rPr>
              <a:t>≥ 85%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0294" y="3182112"/>
            <a:ext cx="2292858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PEnQuIN target for terminal ileal intubation; caecum ≥ 90%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43400"/>
            <a:ext cx="11091672" cy="8229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A poor preparation hides small ulcers in Crohn disease, lowers ileal intubation and often means a second anaesthetic. ESPGHAN/ESGE recommend low-volume polyethylene glycol with ascorbate, or sodium picosulphate with magnesium citrate, and recommend against sodium phosphate.</a:t>
            </a:r>
          </a:p>
          <a:p>
            <a:pPr algn="l">
              <a:spcAft>
                <a:spcPts val="40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Measure your own adequacy rate; the standard is at least four in five.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PEG 3350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FOUR DAYS, TWO DAYS OR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Polyethylene glycol 3350 without electrolytes: published regimens and 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Pashankar DS, et al. J Pediatr 2004;144:358–62 · Safder S, et al. GIE 2008;68:1131–5 · Elitsur R, et al. WJGE 2013;5:165–8 · Adamiak T, et al. GIE 2010;71 · Abbas MI, et al. JPGN 2013;56:220–4 · Sahn B, et al. JPGN 2016;63:19–24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91672" cy="30540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834640"/>
                <a:gridCol w="1554480"/>
                <a:gridCol w="1097280"/>
                <a:gridCol w="3291840"/>
                <a:gridCol w="2313432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Regimen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Study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Children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Result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Watch for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1.5 g/kg/day × 4 days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Pashankar 2004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46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Good or excellent: 91% right, 95% left colon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Nausea 13%, vomiting 11%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1.5 g/kg/day × 4 days (max 100 g)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Safder 2008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167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133 of 149 completers adequate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≥5 liquid stools/day predicts success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2 g/kg/day × 2 days + bisacodyl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Elitsur 2013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RCT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73.6% vs 57.5% for 4-day regimen (P = 0.21)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Not significantly different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1-day regimen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Adamiak 2010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272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Effective in 93%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Retrospective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238 g in 1.9 L sports drink, 8–18 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Abbas 2013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46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Effective 77%; ileum reached 84%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Nausea or vomiting 60%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4 g/kg in 1 day + stimulant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Sahn 2016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155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Chemistry before and after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Hypokalaemia 24% (none &lt;3.3)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4983480"/>
            <a:ext cx="11091672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Shorter regimens work as well as longer ones; check potassium and glucose in small or unwell children on 1-day PEG.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EVERY REGIMEN WORKS; TOLERABILITY DECIDES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Randomised and pooled data comparing bowel preparation agents in children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Di Nardo G, et al. Pediatrics 2014;134:249–56 · Gordon M, et al. BMJ Paediatr Open 2017;1:e000118 · Cuffari C, et al. World J Gastroenterol 2020;26:6260–9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1168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011680"/>
            <a:ext cx="2567178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331720"/>
            <a:ext cx="2292858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B355E"/>
                </a:solidFill>
                <a:latin typeface="Abadi"/>
              </a:rPr>
              <a:t>299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182112"/>
            <a:ext cx="2292858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Children in an RCT: PEG-simethicone, PEG-ascorbate and picosulphate all non-inferior to PEG-ELS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201168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2011680"/>
            <a:ext cx="2567178" cy="128016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7298" y="2331720"/>
            <a:ext cx="2292858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B355E"/>
                </a:solidFill>
                <a:latin typeface="Abadi"/>
              </a:rPr>
              <a:t>45 vs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298" y="3182112"/>
            <a:ext cx="2292858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Children needing a nasogastric tube: PEG-ELS (of 117) vs picosulphate (of 121)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201168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2011680"/>
            <a:ext cx="2567178" cy="12801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8796" y="2331720"/>
            <a:ext cx="2292858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B355E"/>
                </a:solidFill>
                <a:latin typeface="Abadi"/>
              </a:rPr>
              <a:t>87.5%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182112"/>
            <a:ext cx="2292858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Response to full-dose picosulphate at 9–12 y, vs 81.3% for PEG; half dose only 50%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201168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2011680"/>
            <a:ext cx="25671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0294" y="2331720"/>
            <a:ext cx="2292858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B355E"/>
                </a:solidFill>
                <a:latin typeface="Abadi"/>
              </a:rPr>
              <a:t>43.8 vs 20%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0294" y="3182112"/>
            <a:ext cx="2292858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‘Easy to drink’: picosulphate vs PEG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43400"/>
            <a:ext cx="11091672" cy="8229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Efficacy is similar across agents; volume and taste decide completion. Sodium picosulphate with magnesium citrate is approved in the United States from 9 years, and dosing by age matters: the half dose failed half of younger children.</a:t>
            </a:r>
          </a:p>
          <a:p>
            <a:pPr algn="l">
              <a:spcAft>
                <a:spcPts val="40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Choose the regimen the child will finish, then give it at full dose.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EQUIPMENT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CHOOSE THE SCOPE BY WEIGHT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Instrument selection, ESPGHAN/ESGE 2017 Table 4, compared with the ASGE Technology Committee 2012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Tringali A, Thomson M, et al. Endoscopy 2017;49:83–91 · Barth BA, et al. Gastrointest Endosc 2012;76:8–17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91672" cy="268833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3383280"/>
                <a:gridCol w="3108960"/>
                <a:gridCol w="2770632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Procedure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Under 10 kg or under 1 year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10 kg and over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ASGE 2012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Upper endoscopy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Gastroscope ≤6 mm; adult gastroscope if endotherapy needed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Standard adult gastroscope; therapeutic if needed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≥8 mm scopes in most children &gt;12 months or &gt;10–15 kg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Colonoscopy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≤6 mm or adult gastroscope, or paediatric colonoscope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Paediatric or adult colonoscope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Adult or paediatric colonoscope from 12–15 kg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ERCP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Paediatric 7.5 mm duodenoscope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Therapeutic duodenoscope (4.2 mm channel)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Similar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EUS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Miniprobe or 7.4 mm EBUS scope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Adult echoendoscope from 15 kg or 3 years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Echoendoscopes from 15 kg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4754880"/>
            <a:ext cx="11091672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Paediatric gastroscopes are 4.9–6.0 mm with a 2.0 mm channel, which limits suction, biopsy size and therapy. Therapeutic gastroscopes (10.9–12.9 mm) should be avoided below 10–15 kg.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THE DOCUMENTS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North America versus Europe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Tringali 2017 Endoscopy · Rosen 2018 JPGN · Husby 2020 JPGN · Hill ID, et al. JPGN 2016;63:156–65 · Homan 2024 JPGN · Levine A, et al. JPGN 2014;58:795–806 · ESAIC 2022 · ASA 2017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91672" cy="323697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3120"/>
                <a:gridCol w="3794760"/>
                <a:gridCol w="3794760"/>
                <a:gridCol w="1399032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Question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North America (NASPGHAN · ASGE · ASA)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Europe (ESPGHAN/ESGE · ECCO · ESAIC)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Verdict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Anaesthesia model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Anaesthesia-supported in most centres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GA preferred; deep sedation only if GA unavailable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Bowel preparation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PEG 3350 regimens; picosulphate from 9 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Low-volume PEG-ascorbate or picosulphate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Sodium phosphate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Avoided in children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Recommend against (strong)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Coeliac without biopsy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NASPGHAN 2016: biopsy still advised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ESPGHAN 2020: no biopsy at TGA ≥10× ULN + EMA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MATERIAL</a:t>
                      </a:r>
                    </a:p>
                  </a:txBody>
                  <a:tcPr marL="73152" marR="73152" marT="27432" marB="27432" anchor="ctr">
                    <a:solidFill>
                      <a:srgbClr val="B2222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Suspected IBD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Upper and lower endoscopy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Porto: EGD + ileocolonoscopy for all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H. pylori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Joint 2023 guideline: no test-and-treat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Same joint guideline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Clear fluids before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2 h (ASA)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1 h (ESAIC)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120640"/>
            <a:ext cx="11091672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The material difference is the coeliac biopsy: the same child gets an endoscopy in one system and not in the other.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PEARLS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EIGHT THINGS TO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The numbers worth carrying into clinic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Sheiko 2015 · Werkstetter 2017 · van Rheenen 2010 · Thakkar 2007 · Biber 2015 · Gordon 2017 · PEnQuIN 2022 · Tringali 2017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828800"/>
            <a:ext cx="10981944" cy="3931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A1A1A"/>
                </a:solidFill>
                <a:latin typeface="Abadi"/>
              </a:rPr>
              <a:t>▪  Biopsying only visible lesions misses about half of histological disease in children.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A1A1A"/>
                </a:solidFill>
                <a:latin typeface="Abadi"/>
              </a:rPr>
              <a:t>▪  No-biopsy coeliac diagnosis: TGA-IgA ≥10× ULN plus EMA on a second sample; PPV 99.75%.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A1A1A"/>
                </a:solidFill>
                <a:latin typeface="Abadi"/>
              </a:rPr>
              <a:t>▪  Calprotectin as a gate: 65 of 100 children scoped instead of 100, with 8% delayed.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A1A1A"/>
                </a:solidFill>
                <a:latin typeface="Abadi"/>
              </a:rPr>
              <a:t>▪  ESPGHAN/ESGE: general anaesthesia; deep sedation only where GA is unavailable.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A1A1A"/>
                </a:solidFill>
                <a:latin typeface="Abadi"/>
              </a:rPr>
              <a:t>▪  Sedation adverse events about 5%; upper endoscopy, age ≤5, obesity and airway disease raise risk.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A1A1A"/>
                </a:solidFill>
                <a:latin typeface="Abadi"/>
              </a:rPr>
              <a:t>▪  Fasting 6–4–3–1 in Europe: clear fluids until one hour before.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A1A1A"/>
                </a:solidFill>
                <a:latin typeface="Abadi"/>
              </a:rPr>
              <a:t>▪  Aim for ≥80% adequate preparation and ≥85% ileal intubation; picosulphate is the easiest to drink.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A1A1A"/>
                </a:solidFill>
                <a:latin typeface="Abadi"/>
              </a:rPr>
              <a:t>▪  Under 10 kg use a ≤6 mm gastroscope; adult scopes from about 10–15 kg.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SYNTHESIS — SCENARIO TO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FROM SCENARIO TO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Applying indications and preparation to common referrals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Tringali 2017 · Husby 2020 · Rosen 2018 · Homan 2024 · Levine 2014 · Frykholm 2022 · Pall H, et al. JPGN 2014;59:409–16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91672" cy="327355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023360"/>
                <a:gridCol w="2743200"/>
                <a:gridCol w="4325112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Scenario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Read as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Do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9-year-old, periumbilical pain, normal growth and calprotectin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Functional abdominal pain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 endoscopy; explain and treat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6-year-old, TGA-IgA 14× ULN, EMA positive on repeat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Coeliac disease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Diagnose without biopsy (ESPGHAN)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14-year-old, bloody diarrhoea, calprotectin 1,200 µg/g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Suspected IBD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EGD + ileocolonoscopy, picosulphate prep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Infant 7 kg with haematemesis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Upper GI bleeding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≤6 mm gastroscope under GA within 24 h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Parent asks for H. pylori breath test for pain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Test-and-treat request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Do not test; if needed, scope with culture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Toddler swallowed a button battery 1 hour ago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Oesophageal emergency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X-ray, honey if &gt;1 y, remove within 2 h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166360"/>
            <a:ext cx="11091672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Indication first, airway second, preparation third, instrument last.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03120"/>
            <a:ext cx="11091672" cy="135331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badi"/>
              </a:rPr>
              <a:t>Paediatric Endoscopy I: Indications and Preparation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3703320"/>
            <a:ext cx="1828800" cy="18288"/>
          </a:xfrm>
          <a:prstGeom prst="rect">
            <a:avLst/>
          </a:prstGeom>
          <a:solidFill>
            <a:srgbClr val="F2C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995928"/>
            <a:ext cx="11091672" cy="26517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