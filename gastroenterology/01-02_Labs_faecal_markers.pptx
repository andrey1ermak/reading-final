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Laboratory Tests and Faecal Markers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98848"/>
            <a:ext cx="1109167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Porto criteria 2014 (Levine) · ECCO–ESPGHAN paediatric UC 2018 and Crohn's 2021 · STRIDE-II 2021 · NICE DG11 · AGA 2023 biomarker guidelines · CACATU · Holtman IPD meta-analysis 2017</a:t>
            </a:r>
          </a:p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ESR, CRP, albumin · faecal calprotectin: cut-offs, age, drugs, assays · faecal elastase and watery stool · alpha-1 antitrypsin, serology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NORMAL BLOOD COUNT IS NOT A NORMAL GUT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Which test answers which question in the child with chronic GI symptoms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Mack DR, et al. Pediatrics 2007;119:1113–9 · Holtman GA, et al. JAMA Pediatr 2017;171:984–91 · Carroccio A, et al. Dig Dis Sci 2001;46:1335–42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Blood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Haemoglobin, platelets, ESR, CRP, albumin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Abnormal: raises suspicion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Normal: does not exclude mild IBD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Calprotectin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Neutrophils in the gut lumen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Best rule-out test for IBD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Age, drugs and assay move the number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Elastase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Pancreatic enzyme in stool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Screens for exocrine insufficiency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Falsely low in watery stool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Others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Alpha-1 antitrypsin for protein loss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ANCA and ASCA for IBD subtype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Each answers one narrow 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 marker is a measurement of one biological process. It is only as good as the question it is asked.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Order the test that answers the question; read it against age, drugs and the stool it came from.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EACH MARKER ACTUALLY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Source, kinetics and the blind spot of each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Pepys MB, Hirschfield GM. J Clin Invest 2003;111:1805–12 · Lehmann FS, et al. Ther Adv Gastroenterol 2015;8:23–36 · Kori M, et al. Arch Dis Child Fetal Neonatal Ed 2003;88:F106–8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69" cy="3240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74214"/>
                <a:gridCol w="2929875"/>
                <a:gridCol w="3766982"/>
                <a:gridCol w="2720598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Marker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Comes from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Behaviour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Blind spot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CRP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Liver, driven by interleukin-6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Rises by 6 h, peaks about 48 h; half-life about 19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Often normal in colitis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ESR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Plasma proteins, mainly fibrinogen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Slow to rise and slow to fall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Anaemia and many conditions move it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Albumin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Liver synthesis minus losses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Falls with inflammation and protein loss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Late; non-specific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Calprotectin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About 60% of neutrophil cytosolic protein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Stable in stool for up to 7 days at room temperature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Any neutrophil influx: infection, NSAIDs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Elastase-1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Pancreatic acinar cells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Survives gut transit; concentration per gram of stool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Diluted by watery stool; low in meconium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Alpha-1 antitrypsin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Plasma protein leaking into the gut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Resists digestion; marks enteric protein loss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Lab-specific units and cut-offs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BLOOD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MILD DISEASE HIDES FROM THE BLOOD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Children with all four tests normal (haemoglobin, platelets, ESR, albumin) at IBD diagnosis, %, n = 526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Mack DR, et al. Pediatrics 2007;119:1113–9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Mild ulcerative colitis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171700"/>
            <a:ext cx="4114800" cy="19202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214884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54%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4884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Mild Crohn's disease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771700"/>
            <a:ext cx="1600200" cy="19202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74884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21%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4884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Moderate or severe IBD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371700"/>
            <a:ext cx="304800" cy="19202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5520" y="334884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about 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2057400"/>
            <a:ext cx="9144" cy="18457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Mack studied 526 newly diagnosed children, 392 with Crohn's disease and 134 with ulcerative colitis. Normal tests were common exactly where the clinical picture is least obvious.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Normal blood tests cannot be used to exclude mild IBD, least of all ulcerative colitis.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CRP IS OFTEN SILENT IN COLITIS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Children with undetectable standard CRP (&lt; 5 mg/L) at colonoscopy, %, n = 39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Sidoroff M, et al. World J Gastroenterol 2010;16:2901–6 · Pepys MB, Hirschfield GM. J Clin Invest 2003;111:1805–12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16280" y="2964452"/>
            <a:ext cx="1005840" cy="136980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87680" y="273585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64%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98264"/>
            <a:ext cx="251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All IBD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8600" y="3371112"/>
            <a:ext cx="1005840" cy="96314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0000" y="314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45%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5360" y="4398264"/>
            <a:ext cx="251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Crohn's disease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40920" y="2536388"/>
            <a:ext cx="1005840" cy="179786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2320" y="230778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84%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7680" y="4398264"/>
            <a:ext cx="251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Ulcerative colitis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4334256"/>
            <a:ext cx="753696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17830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CRP is made in the liver in response to interleukin-6; transmural Crohn's inflammation is thought to drive it far more than mucosal colitis. High-sensitivity CRP did not separate active from quiet disease.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normal CRP in a child with bloody diarrhoea is the expected result, not a reassuring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CHEAP BLOOD TESTS, HONEST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Simple blood tests as a screen for IBD in referred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Sabery N, Bass D. Pediatrics 2007;119:e193–9 · Cabrera-Abreu JC, et al. Arch Dis Child 2004;89:69–71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83%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Sensitivity of ESR plus anaemia, 227 referred children, 40 with IBD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96%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Specificity of the same pair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Sensitivity of a commercial serology panel in the same children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90.8%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Sensitivity of 'one of two abnormal' for haemoglobin and platelets (153 children)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Even the best combination missed about one child in six. Serology added cost without adding sensitivity.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Blood tests raise the pre-test probability; they do not lower it far enough to skip the stool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CALPROTECTIN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BEST RULE-OUT TEST IN THE CLINIC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Diagnostic accuracy of faecal calprotectin for IBD in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van Rheenen PF, et al. BMJ 2010;341:c3369 · Henderson P, et al. Am J Gastroenterol 2014;109:637–45 · Degraeuwe PL, et al. JPGN 2015;60:339–46 · Holtman GA, et al. Ann Fam Med 2016;14:437–45 · Walker GJ, et al. Arch Dis Child 2020;105:957–63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69" cy="3020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44691"/>
                <a:gridCol w="2650222"/>
                <a:gridCol w="1177876"/>
                <a:gridCol w="1177876"/>
                <a:gridCol w="3141004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Study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Setting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Sensitivity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Specificity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Message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van Rheenen 2010, meta-analysis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371 children and teenagers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0.92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0.76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65% fewer endoscopies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Henderson 2014, meta-analysis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Paediatric studies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0.98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0.68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Excellent rule-out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Degraeuwe 2015, IPD meta-analysis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9 studies, 853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0.97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0.70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At 50 µg/g: 17% false positive, 2% false negative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Holtman 2016, referred cohort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90 children, 17 with IBD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0.99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AUC 0.98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Negative test rules out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Walker 2020, primary care, cut-off 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195 children, prevalence 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0.91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PPV 43%, NPV 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95000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Sensitivity is consistently above 90%; specificity is 70–90%, and the positive predictive value collapses where IBD is rare.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CALPROTECTIN SORTS THE WAITING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Risk classification by symptoms alone versus symptoms plus calprotectin, %, IPD meta-analysis of 1,120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Holtman GA, et al. JAMA Pediatr 2017;171:984–91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5604" y="3627951"/>
            <a:ext cx="822960" cy="706305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7004" y="3399351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33%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5996" y="2386565"/>
            <a:ext cx="822960" cy="1947691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7396" y="2157965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91%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398264"/>
            <a:ext cx="307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Non-IBD children correctly called low 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44084" y="3991805"/>
            <a:ext cx="822960" cy="342451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5484" y="3763205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6" y="4141628"/>
            <a:ext cx="822960" cy="19262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65876" y="391302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4398264"/>
            <a:ext cx="307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IBD children wrongly called low 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2564" y="3157080"/>
            <a:ext cx="822960" cy="117717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3964" y="292848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55%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72956" y="4205837"/>
            <a:ext cx="822960" cy="12841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44356" y="3977237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0" y="4398264"/>
            <a:ext cx="307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Children left at intermediate risk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4334256"/>
            <a:ext cx="923544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17830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38480" y="1819656"/>
            <a:ext cx="201168" cy="14630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4512" y="1783080"/>
            <a:ext cx="1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Symptoms plus calprotectin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78480" y="1819656"/>
            <a:ext cx="201168" cy="14630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4512" y="1783080"/>
            <a:ext cx="160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Symptoms alone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Adding calprotectin raised the area under the curve by 0.26; ESR, the next best, added 0.16. The intermediate group, the children who generate repeat visits, almost disappeared.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The value of calprotectin is not a diagnosis; it is fewer children left in limbo.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TEST THAT CHANGES REFERRALS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calprotectin-based triage did in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van Rheenen PF, et al. BMJ 2010;341:c3369 · Van de Vijver E, et al. Pediatrics 2020;146:e20192235 · Walker GJ, et al. Arch Dis Child 2020;105:957–63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65%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Fewer endoscopies in children if calprotectin screens first, at the cost of a few later diagnoses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14 per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Children sent for endoscopy by the CACATU strategy; 3 of them without IBD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Children with IBD missed by CACATU (193 children, 22 with IBD)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43%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Positive predictive value in primary care, IBD prevalence 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CACATU: non-bloody diarrhoea, ages 6–18; refer when symptoms plus CRP above 10 mg/L, low haemoglobin, or calprotectin of at least 250 µg/g; AUC 0.967.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In primary care a positive calprotectin usually means not IBD; a negative one almost always means not IBD.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BELOW FOUR, THE CUT-OFF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Pooled mean faecal calprotectin in healthy children, µg/g, 23 studies, 2,883 children aged 0–4 years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Zeng et al. PeerJ 2025;13:e19572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98320" y="2493581"/>
            <a:ext cx="868680" cy="1840675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69720" y="2264981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258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98264"/>
            <a:ext cx="153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Under 1 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629135"/>
            <a:ext cx="868680" cy="1705121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400535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239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2280" y="4398264"/>
            <a:ext cx="153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1–6 months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800" y="3506666"/>
            <a:ext cx="868680" cy="82759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8200" y="3278066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520" y="4398264"/>
            <a:ext cx="153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7–12 months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6040" y="3585144"/>
            <a:ext cx="868680" cy="749112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7440" y="3356544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398264"/>
            <a:ext cx="153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13–24 months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3799176"/>
            <a:ext cx="868680" cy="53508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3570576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0" y="4398264"/>
            <a:ext cx="153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25–36 months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94520" y="4091687"/>
            <a:ext cx="868680" cy="242569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5920" y="3863087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9240" y="4398264"/>
            <a:ext cx="153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37–48 months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4334256"/>
            <a:ext cx="923544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63040" y="3977536"/>
            <a:ext cx="9235440" cy="914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62488" y="3867808"/>
            <a:ext cx="1100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22222"/>
                </a:solidFill>
                <a:latin typeface="Abadi"/>
              </a:rPr>
              <a:t>Cut-off 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17830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µg/g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Healthy infants have mean values five times the adult cut-off. The values settle towards the older-child range only after the third birthday.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In a child under four, a calprotectin of 150 µg/g is not a reason for colonoscopy on its 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REFERENCE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NORMAL IS A MOVING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Upper reference limits and percentiles from healthy-child cohorts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Campeotto F, et al. Arch Dis Child Fetal Neonatal Ed 2004;89:F353–5 · Peura S, et al. Scand J Clin Lab Invest 2018;78:120–4 · Roca M, et al. Sci Rep 2020;10:20565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55E"/>
                </a:solidFill>
                <a:latin typeface="Abadi"/>
              </a:rPr>
              <a:t>167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Median µg/g in 69 term newborns on day 4; only 3 were below 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55E"/>
                </a:solidFill>
                <a:latin typeface="Abadi"/>
              </a:rPr>
              <a:t>615 → 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Upper limit, µg/g, at 6 months and at 24 months (Nordic cohort)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55E"/>
                </a:solidFill>
                <a:latin typeface="Abadi"/>
              </a:rPr>
              <a:t>187 → 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95th percentile, µg/g, at age 4 and at age 16 (212 children)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55E"/>
                </a:solidFill>
                <a:latin typeface="Abadi"/>
              </a:rPr>
              <a:t>1 in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Healthy children aged 4–16 above 50 µg/g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Even after age four, a single cut-off of 50 misclassifies healthy children; the authors proposed an age nomogram.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Interpret calprotectin against age, and treat 50–250 µg/g as a zone to repeat, not a diagnosis.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WHY CALPROTECTIN IS HIGH WITHOUT IBD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Drugs, infection, sampling and the assay itself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Tibble J, et al. Gut 1999;45:362–6 · Lundgren D, et al. Scand J Gastroenterol 2019 · Naismith GD, et al. Aliment Pharmacol Ther 2013;37:613–21 · Clin Chem Lab Med 2022 (doi 10.1515/cclm-2022-0126)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6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Drugs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60320"/>
            <a:ext cx="2128266" cy="168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NSAIDs: raised in 44% of 312 users; about a fifth in the IBD range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PPIs: adjusted OR 3.84 for &gt; 50 µg/g in 590 adults with normal colonoscopy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6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Infection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60320"/>
            <a:ext cx="2128266" cy="168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Bacterial gastroenteritis raises it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Repeat after recovery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Check stool pathogens first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6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Sampling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60320"/>
            <a:ext cx="2128266" cy="168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Day-to-day variation is real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ICC 0.84 across 3 days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Most variable at high values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6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Assay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60320"/>
            <a:ext cx="2128266" cy="168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Kits agree below 50 and above 150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Kappa only 0.22 in the 50–150 zone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Use the lab's own cut-offs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0000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Many pathways stop NSAIDs for several weeks and, where possible, the PPI before a repeat test, and use the first stool of the morning.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grey-zone result is a reason to remove the confounder and repeat, not to scope.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DIAGNOSIS TO TREATMENT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Calprotectin after diagnosis: what the treat-to-target documents ask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Turner D, et al. Gastroenterology 2021;160:1570–83 · Sarbagili-Shabat C, et al. JPGN 2021;72:569–73 · Ananthakrishnan AN, et al. Gastroenterology 2023;165:1367–99 · Singh S, et al. Gastroenterology 2023;164:344–72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55E"/>
                </a:solidFill>
                <a:latin typeface="Abadi"/>
              </a:rPr>
              <a:t>100–250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STRIDE-II intermediate target for calprotectin, µg/g, with CRP back to normal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55E"/>
                </a:solidFill>
                <a:latin typeface="Abadi"/>
              </a:rPr>
              <a:t>43%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Children with UC in clinical remission who had Mayo 0 mucosa; 50% had Mayo 2–3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55E"/>
                </a:solidFill>
                <a:latin typeface="Abadi"/>
              </a:rPr>
              <a:t>&lt; 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AGA 2023 (adults): with normal CRP, rules out active disease in symptomatic remission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55E"/>
                </a:solidFill>
                <a:latin typeface="Abadi"/>
              </a:rPr>
              <a:t>&lt; 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8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AGA 2023: excludes post-operative Crohn's recurrence in low-risk patients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children STRIDE-II adds restoration of normal growth as a long-term target. ECCO–ESPGHAN UC 2018 aims for PUCAI below 10 plus biochemical remission.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child who feels well can still have active mucosa: measure calprotectin, do not infer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FAECAL ELASTASE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ELASTASE: A PANCREAS TEST IN A GUT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Cut-offs and where elastase misleads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Carroccio A, et al. Dig Dis Sci 2001;46:1335–42 · Kori M, et al. Arch Dis Child Fetal Neonatal Ed 2003;88:F106–8 · Weiss FU, et al. PLoS One 2016;11:e0159363 · Lenicek Krleza J, et al. Diagnostics 2024;14:1166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1" cy="3420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59414"/>
                <a:gridCol w="5135033"/>
                <a:gridCol w="3697224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Point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Evidence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Practice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Cut-offs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&gt; 200 µg/g normal; 100–199 insufficiency; &lt; 100 severe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Lab-specific; confirm with clinical picture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Accuracy in cystic fibrosis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Sensitivity 100% for CF with maldigestion (137 subjects)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Excellent screening test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Small-bowel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Specificity falls to 86%: giardiasis, short bowel, coeliac disease, pseudo-obstruction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Low elastase plus villous disease is not pancreatic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Newborns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Meconium mean 45.9 µg/g; normal by day 3 at term, 2 weeks if &lt; 28 weeks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Do not test meconium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Enzyme therapy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cross-reactivity with porcine pancreatin (polyclonal assay)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need to stop enzymes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Kits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Monoclonal versus polyclonal: kappa 0.43; methods not commutable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Do not compare across labs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WATERY STOOL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WATER DILUTES ELASTASE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Faecal elastase in the newborn, mean µg/g, and the effect of stool water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Kori M, et al. Arch Dis Child Fetal Neonatal Ed 2003;88:F106–8 · Fischer B, et al. Scand J Gastroenterol 2001;36:771–4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08560" y="4006788"/>
            <a:ext cx="1005840" cy="32746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9960" y="377818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45.9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98264"/>
            <a:ext cx="252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Meconium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34240" y="2600597"/>
            <a:ext cx="1005840" cy="173365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5640" y="2371997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243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4320" y="4398264"/>
            <a:ext cx="252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Second stool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34256"/>
            <a:ext cx="505136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07376"/>
            <a:ext cx="5051360" cy="914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4008" y="2797648"/>
            <a:ext cx="1100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22222"/>
                </a:solidFill>
                <a:latin typeface="Abadi"/>
              </a:rPr>
              <a:t>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7830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µg/g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900000"/>
            <a:ext cx="5422392" cy="2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Fischer 2001: diarrhoeal stool</a:t>
            </a:r>
          </a:p>
          <a:p>
            <a:pPr algn="l">
              <a:spcAft>
                <a:spcPts val="72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Elastase is reported per gram of wet stool. Freeze-drying the same diarrhoeal samples raised the result.</a:t>
            </a:r>
          </a:p>
          <a:p>
            <a:pPr algn="l">
              <a:spcAft>
                <a:spcPts val="720"/>
              </a:spcAft>
            </a:pPr>
            <a:r>
              <a:rPr sz="1150" b="1" i="0">
                <a:solidFill>
                  <a:srgbClr val="1A1A1A"/>
                </a:solidFill>
                <a:latin typeface="Abadi"/>
              </a:rPr>
              <a:t>11% (16 of 151) of samples below 200 µg/g were above 200 after freeze-drying.</a:t>
            </a:r>
          </a:p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Practical rule</a:t>
            </a:r>
          </a:p>
          <a:p>
            <a:pPr algn="l">
              <a:spcAft>
                <a:spcPts val="72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Send a formed sample when you can; repeat a low result from watery stool before labelling pancreatic insufficiency.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low elastase in a child with secretory diarrhoea is a dilution until proven otherwise.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OTHER MARKERS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NARROW TESTS FOR NARROW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Alpha-1 antitrypsin, S100A12, lactoferrin and serology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Sidler MA, et al. Inflamm Bowel Dis 2008;14:359–66 · Lehmann FS, et al. 2015 · Reese GE, et al. Am J Gastroenterol 2006;101:2410–22 · Birimberg-Schwartz L, et al. Inflamm Bowel Dis 2016;22:1908–14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1" cy="3120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40444"/>
                <a:gridCol w="2950995"/>
                <a:gridCol w="3561546"/>
                <a:gridCol w="2238686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Marker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 it answers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Numbers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Caveat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Faecal alpha-1 antitrypsin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Is protein being lost into the gut?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Lab-specific; clearance usually &gt; 50 mL/24 h in protein-losing enteropathy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Fresh sample; units differ by lab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Faecal S100A12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Is there IBD-type neutrophil inflammation?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Sensitivity and specificity 97% at 10 mg/kg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widely available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Faecal lactoferrin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Alternative neutrophil marker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Sensitivity 56–100%; specificity 61–100%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Less stable than calprotectin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ASCA+/pANCA−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Crohn's disease rather than UC?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Sensitivity 54.6%; specificity 92.8%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Cannot classify IBD-U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pANCA+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UC rather than Crohn's disease?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Positive in 64% of UC versus 30% of Crohn's colitis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Overlap is wide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20000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Serology is a footnote to endoscopy and histology, never a substitute.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NICE DG11 2013 · Levine 2014 JPGN · Turner 2018 JPGN · van Rheenen 2021 JCC · Turner 2021 Gastroenterology · Ananthakrishnan 2023, Singh 2023 Gastroenterology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99616"/>
          <a:ext cx="11091670" cy="3920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6786"/>
                <a:gridCol w="4159377"/>
                <a:gridCol w="3268081"/>
                <a:gridCol w="1287426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Paediatric (NICE DG11 · Porto · ECCO–ESPGHAN · STRIDE-II)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Adult (AGA 2023 · STRIDE-II)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Calprotectin to triage suspected IBD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Recommended in children referred for specialist assessment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Recommended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Rule-out cut-off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NICE gives no number; paediatric studies use 50, 100 or 250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&lt; 150 with normal CRP in symptomatic remission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Age adjustment under 4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guideline gives age-specific values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relevant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Normal blood tests exclude IBD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Endoscopy at diagnosis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Porto: ileocolonoscopy and upper endoscopy for 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Biomarkers may guide treatment without endoscopy in some settings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Monitoring target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PUCAI &lt; 10 plus calprotectin remission; serial calprotectin in Crohn's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100–250 µg/g intermediate target; CRP normal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Elastase interpretation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addressed in IBD guidelines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Mack 2007 · Sidoroff 2010 · van Rheenen 2010 · Holtman 2017 · Zeng 2025 · Roca 2020 · Tibble 1999 · Fischer 2001 · Carroccio 2001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45336"/>
            <a:ext cx="11091672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Half of children with mild UC and a fifth with mild Crohn's had all four blood tests normal at diagnosis.</a:t>
            </a:r>
          </a:p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CRP was undetectable in 84% of children with UC at colonoscopy.</a:t>
            </a:r>
          </a:p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Calprotectin sensitivity for paediatric IBD is above 90%; specificity is 70–90%.</a:t>
            </a:r>
          </a:p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Calprotectin screening would cut paediatric endoscopies by about 65%.</a:t>
            </a:r>
          </a:p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Healthy infants run calprotectin of 100–250 µg/g; values settle after age three to four.</a:t>
            </a:r>
          </a:p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NSAIDs, PPIs and infection raise calprotectin; between kits, agreement in the 50–150 zone is poor.</a:t>
            </a:r>
          </a:p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Elastase is falsely low in watery stool and in meconium; repeat on a formed sample.</a:t>
            </a:r>
          </a:p>
          <a:p>
            <a:pPr algn="l"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Low elastase with small-bowel disease (coeliac, giardia, short bowel) is not proof of pancreatic failure.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Mack 2007 · Holtman 2017 · Van de Vijver 2020 · Zeng 2025 · Tibble 1999 · Fischer 2001 · Carroccio 2001 · Turner 2021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99616"/>
          <a:ext cx="11091670" cy="4200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48429"/>
                <a:gridCol w="2092768"/>
                <a:gridCol w="2720598"/>
                <a:gridCol w="2929875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Read it as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13-year-old, 3 months of loose stool, normal blood tests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Calprotectin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Blood cannot exclude mild IBD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Endoscopy if ≥ 250; repeat if 50–250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14-year-old on ibuprofen, calprotectin 180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Drug history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Possible NSAID effect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Stop NSAID, repeat in weeks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18-month-old, calprotectin 140, thriving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Age reference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Within healthy infant range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endoscopy for this alone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Bloody diarrhoea, CRP 3 mg/L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CRP, calprotectin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Normal CRP is usual in UC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Do not be reassured; scope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Watery diarrhoea, elastase 120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Stool form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Possible dilution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Repeat on formed stool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Coeliac disease, elastase 150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Villous disease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Secondary, not pancreatic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Treat coeliac; recheck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UC in clinical remission, calprotectin 600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Mucosal state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Active mucosa likely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Escalate or reassess endoscopically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Laboratory Tests and Faecal Markers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