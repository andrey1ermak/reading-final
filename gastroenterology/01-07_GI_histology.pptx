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lIns="0" rIns="0" tIns="18288" bIns="18288" anchor="b">
            <a:spAutoFit/>
          </a:bodyPr>
          <a:lstStyle/>
          <a:p>
            <a:pPr algn="ctr"/>
            <a:r>
              <a:rPr sz="4200" b="1" i="0">
                <a:solidFill>
                  <a:srgbClr val="FFFFFF"/>
                </a:solidFill>
                <a:latin typeface="Abadi"/>
              </a:rPr>
              <a:t>Reading the Biopsy: Paediatric GI Histology for the Gastroenterologist</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
        <p:nvSpPr>
          <p:cNvPr id="6" name="TextBox 5"/>
          <p:cNvSpPr txBox="1"/>
          <p:nvPr/>
        </p:nvSpPr>
        <p:spPr>
          <a:xfrm>
            <a:off x="548640" y="4498848"/>
            <a:ext cx="11091672" cy="704088"/>
          </a:xfrm>
          <a:prstGeom prst="rect">
            <a:avLst/>
          </a:prstGeom>
          <a:noFill/>
        </p:spPr>
        <p:txBody>
          <a:bodyPr wrap="square" lIns="0" rIns="0" tIns="18288" bIns="18288" anchor="t">
            <a:spAutoFit/>
          </a:bodyPr>
          <a:lstStyle/>
          <a:p>
            <a:pPr algn="ctr"/>
            <a:r>
              <a:rPr sz="1100" b="0" i="0">
                <a:solidFill>
                  <a:srgbClr val="CFD8E6"/>
                </a:solidFill>
                <a:latin typeface="Abadi"/>
              </a:rPr>
              <a:t>Hoofien 2022 · Collins 2014 · ESPGHAN/NASPGHAN EGID 2024 (Papadopoulou) · Dellon 2022 · ECCO-ESP 2013 (Magro) · Glickman 2004 · Porto 2014 (Levine) · NIH GVHD 2015 · Selbst 2009 · Oberhuber 1999 · Corazza 2007 · ESPGHAN 2020 · ACG 2023
Eosinophil norms · chronic vs acute colitis · granulomas · apoptosis · Marsh–Oberhuber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THE QUESTION OF THE DAY</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NORMAL, CHRONIC, OR DRUG?</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Five questions the gastroenterologist must be able to ask of every pathology report</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2</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Magro F, et al. J Crohns Colitis 2013;7:827–51 · Papadopoulou A, et al. JPGN 2024;78:122–52 · Husby S, et al. JPGN 2020;70:141–57</a:t>
            </a:r>
          </a:p>
        </p:txBody>
      </p:sp>
      <p:sp>
        <p:nvSpPr>
          <p:cNvPr id="12" name="Rectangle 11"/>
          <p:cNvSpPr/>
          <p:nvPr/>
        </p:nvSpPr>
        <p:spPr>
          <a:xfrm>
            <a:off x="548640" y="1773936"/>
            <a:ext cx="2035454" cy="24688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35454"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Eosinophils</a:t>
            </a:r>
          </a:p>
        </p:txBody>
      </p:sp>
      <p:sp>
        <p:nvSpPr>
          <p:cNvPr id="15" name="TextBox 14"/>
          <p:cNvSpPr txBox="1"/>
          <p:nvPr/>
        </p:nvSpPr>
        <p:spPr>
          <a:xfrm>
            <a:off x="749808" y="2523744"/>
            <a:ext cx="1633118"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Normal counts differ by segment</a:t>
            </a:r>
          </a:p>
          <a:p>
            <a:pPr algn="l">
              <a:spcAft>
                <a:spcPts val="500"/>
              </a:spcAft>
            </a:pPr>
            <a:r>
              <a:rPr sz="1250" b="0" i="0">
                <a:solidFill>
                  <a:srgbClr val="1A1A1A"/>
                </a:solidFill>
                <a:latin typeface="Abadi"/>
              </a:rPr>
              <a:t>▪  Right colon is highest</a:t>
            </a:r>
          </a:p>
          <a:p>
            <a:pPr algn="l">
              <a:spcAft>
                <a:spcPts val="500"/>
              </a:spcAft>
            </a:pPr>
            <a:r>
              <a:rPr sz="1250" b="0" i="0">
                <a:solidFill>
                  <a:srgbClr val="1A1A1A"/>
                </a:solidFill>
                <a:latin typeface="Abadi"/>
              </a:rPr>
              <a:t>▪  Report per mm²</a:t>
            </a:r>
          </a:p>
        </p:txBody>
      </p:sp>
      <p:sp>
        <p:nvSpPr>
          <p:cNvPr id="16" name="Rectangle 15"/>
          <p:cNvSpPr/>
          <p:nvPr/>
        </p:nvSpPr>
        <p:spPr>
          <a:xfrm>
            <a:off x="2812694" y="1773936"/>
            <a:ext cx="2035454" cy="24688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2694" y="1773936"/>
            <a:ext cx="2035454"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Chronicity</a:t>
            </a:r>
          </a:p>
        </p:txBody>
      </p:sp>
      <p:sp>
        <p:nvSpPr>
          <p:cNvPr id="19" name="TextBox 18"/>
          <p:cNvSpPr txBox="1"/>
          <p:nvPr/>
        </p:nvSpPr>
        <p:spPr>
          <a:xfrm>
            <a:off x="3013862" y="2523744"/>
            <a:ext cx="1633118"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Crypt architecture</a:t>
            </a:r>
          </a:p>
          <a:p>
            <a:pPr algn="l">
              <a:spcAft>
                <a:spcPts val="500"/>
              </a:spcAft>
            </a:pPr>
            <a:r>
              <a:rPr sz="1250" b="0" i="0">
                <a:solidFill>
                  <a:srgbClr val="1A1A1A"/>
                </a:solidFill>
                <a:latin typeface="Abadi"/>
              </a:rPr>
              <a:t>▪  Basal plasmacytosis comes first</a:t>
            </a:r>
          </a:p>
          <a:p>
            <a:pPr algn="l">
              <a:spcAft>
                <a:spcPts val="500"/>
              </a:spcAft>
            </a:pPr>
            <a:r>
              <a:rPr sz="1250" b="0" i="0">
                <a:solidFill>
                  <a:srgbClr val="1A1A1A"/>
                </a:solidFill>
                <a:latin typeface="Abadi"/>
              </a:rPr>
              <a:t>▪  Children may lack both</a:t>
            </a:r>
          </a:p>
        </p:txBody>
      </p:sp>
      <p:sp>
        <p:nvSpPr>
          <p:cNvPr id="20" name="Rectangle 19"/>
          <p:cNvSpPr/>
          <p:nvPr/>
        </p:nvSpPr>
        <p:spPr>
          <a:xfrm>
            <a:off x="5076748" y="1773936"/>
            <a:ext cx="2035454" cy="24688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6748" y="1773936"/>
            <a:ext cx="2035454"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77916"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Granulomas</a:t>
            </a:r>
          </a:p>
        </p:txBody>
      </p:sp>
      <p:sp>
        <p:nvSpPr>
          <p:cNvPr id="23" name="TextBox 22"/>
          <p:cNvSpPr txBox="1"/>
          <p:nvPr/>
        </p:nvSpPr>
        <p:spPr>
          <a:xfrm>
            <a:off x="5277916" y="2523744"/>
            <a:ext cx="1633118"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Where, and next to what</a:t>
            </a:r>
          </a:p>
          <a:p>
            <a:pPr algn="l">
              <a:spcAft>
                <a:spcPts val="500"/>
              </a:spcAft>
            </a:pPr>
            <a:r>
              <a:rPr sz="1250" b="0" i="0">
                <a:solidFill>
                  <a:srgbClr val="1A1A1A"/>
                </a:solidFill>
                <a:latin typeface="Abadi"/>
              </a:rPr>
              <a:t>▪  Crypt rupture does not count</a:t>
            </a:r>
          </a:p>
          <a:p>
            <a:pPr algn="l">
              <a:spcAft>
                <a:spcPts val="500"/>
              </a:spcAft>
            </a:pPr>
            <a:r>
              <a:rPr sz="1250" b="0" i="0">
                <a:solidFill>
                  <a:srgbClr val="1A1A1A"/>
                </a:solidFill>
                <a:latin typeface="Abadi"/>
              </a:rPr>
              <a:t>▪  Think CGD and TB</a:t>
            </a:r>
          </a:p>
        </p:txBody>
      </p:sp>
      <p:sp>
        <p:nvSpPr>
          <p:cNvPr id="24" name="Rectangle 23"/>
          <p:cNvSpPr/>
          <p:nvPr/>
        </p:nvSpPr>
        <p:spPr>
          <a:xfrm>
            <a:off x="7340803" y="1773936"/>
            <a:ext cx="2035454" cy="24688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0803" y="1773936"/>
            <a:ext cx="2035454"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1971"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Apoptosis</a:t>
            </a:r>
          </a:p>
        </p:txBody>
      </p:sp>
      <p:sp>
        <p:nvSpPr>
          <p:cNvPr id="27" name="TextBox 26"/>
          <p:cNvSpPr txBox="1"/>
          <p:nvPr/>
        </p:nvSpPr>
        <p:spPr>
          <a:xfrm>
            <a:off x="7541971" y="2523744"/>
            <a:ext cx="1633118"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GVHD, mycophenolate, CVID</a:t>
            </a:r>
          </a:p>
          <a:p>
            <a:pPr algn="l">
              <a:spcAft>
                <a:spcPts val="500"/>
              </a:spcAft>
            </a:pPr>
            <a:r>
              <a:rPr sz="1250" b="0" i="0">
                <a:solidFill>
                  <a:srgbClr val="1A1A1A"/>
                </a:solidFill>
                <a:latin typeface="Abadi"/>
              </a:rPr>
              <a:t>▪  Checkpoint inhibitors</a:t>
            </a:r>
          </a:p>
          <a:p>
            <a:pPr algn="l">
              <a:spcAft>
                <a:spcPts val="500"/>
              </a:spcAft>
            </a:pPr>
            <a:r>
              <a:rPr sz="1250" b="0" i="0">
                <a:solidFill>
                  <a:srgbClr val="1A1A1A"/>
                </a:solidFill>
                <a:latin typeface="Abadi"/>
              </a:rPr>
              <a:t>▪  Bowel preparation artefact</a:t>
            </a:r>
          </a:p>
        </p:txBody>
      </p:sp>
      <p:sp>
        <p:nvSpPr>
          <p:cNvPr id="28" name="Rectangle 27"/>
          <p:cNvSpPr/>
          <p:nvPr/>
        </p:nvSpPr>
        <p:spPr>
          <a:xfrm>
            <a:off x="9604857" y="1773936"/>
            <a:ext cx="2035454" cy="2468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04857" y="1773936"/>
            <a:ext cx="2035454" cy="1280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06025"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Villi</a:t>
            </a:r>
          </a:p>
        </p:txBody>
      </p:sp>
      <p:sp>
        <p:nvSpPr>
          <p:cNvPr id="31" name="TextBox 30"/>
          <p:cNvSpPr txBox="1"/>
          <p:nvPr/>
        </p:nvSpPr>
        <p:spPr>
          <a:xfrm>
            <a:off x="9806025" y="2523744"/>
            <a:ext cx="1633118" cy="157276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IEL over 25 per 100</a:t>
            </a:r>
          </a:p>
          <a:p>
            <a:pPr algn="l">
              <a:spcAft>
                <a:spcPts val="500"/>
              </a:spcAft>
            </a:pPr>
            <a:r>
              <a:rPr sz="1250" b="0" i="0">
                <a:solidFill>
                  <a:srgbClr val="1A1A1A"/>
                </a:solidFill>
                <a:latin typeface="Abadi"/>
              </a:rPr>
              <a:t>▪  Marsh 2–3 needed</a:t>
            </a:r>
          </a:p>
          <a:p>
            <a:pPr algn="l">
              <a:spcAft>
                <a:spcPts val="500"/>
              </a:spcAft>
            </a:pPr>
            <a:r>
              <a:rPr sz="1250" b="0" i="0">
                <a:solidFill>
                  <a:srgbClr val="1A1A1A"/>
                </a:solidFill>
                <a:latin typeface="Abadi"/>
              </a:rPr>
              <a:t>▪  Orientation decides grade</a:t>
            </a:r>
          </a:p>
        </p:txBody>
      </p:sp>
      <p:sp>
        <p:nvSpPr>
          <p:cNvPr id="32" name="TextBox 31"/>
          <p:cNvSpPr txBox="1"/>
          <p:nvPr/>
        </p:nvSpPr>
        <p:spPr>
          <a:xfrm>
            <a:off x="548640" y="4526280"/>
            <a:ext cx="11091672" cy="822960"/>
          </a:xfrm>
          <a:prstGeom prst="rect">
            <a:avLst/>
          </a:prstGeom>
          <a:noFill/>
        </p:spPr>
        <p:txBody>
          <a:bodyPr wrap="square" lIns="0" rIns="0" tIns="18288" bIns="18288" anchor="t">
            <a:spAutoFit/>
          </a:bodyPr>
          <a:lstStyle/>
          <a:p>
            <a:pPr algn="l"/>
            <a:r>
              <a:rPr sz="1250" b="0" i="0">
                <a:solidFill>
                  <a:srgbClr val="1A1A1A"/>
                </a:solidFill>
                <a:latin typeface="Abadi"/>
              </a:rPr>
              <a:t>Histology answers a clinical question only if it is asked. The requisition should state the question, the medication list, the transplant or immunodeficiency status, and the bowel preparation, because each of these changes how the same slide is read.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MECHANISM</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EACH FEATURE IS A CLOCK</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What the microscope features reflect biologically, and how fast they appear</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3</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Magro 2013 · Feakins RM. J Clin Pathol 2013;66:1005–26 · Surawicz CM, et al. Gastroenterology 1994;107:755–63 · Hayat M, et al. J Clin Pathol 2002;55:393–4</a:t>
            </a:r>
          </a:p>
        </p:txBody>
      </p:sp>
      <p:graphicFrame>
        <p:nvGraphicFramePr>
          <p:cNvPr id="12" name="Table 11"/>
          <p:cNvGraphicFramePr>
            <a:graphicFrameLocks noGrp="1"/>
          </p:cNvGraphicFramePr>
          <p:nvPr/>
        </p:nvGraphicFramePr>
        <p:xfrm>
          <a:off x="548640" y="1773936"/>
          <a:ext cx="11091672" cy="3200400"/>
        </p:xfrm>
        <a:graphic>
          <a:graphicData uri="http://schemas.openxmlformats.org/drawingml/2006/table">
            <a:tbl>
              <a:tblPr firstRow="0" bandRow="0">
                <a:tableStyleId>{5C22544A-7EE6-4342-B048-85BDC9FD1C3A}</a:tableStyleId>
              </a:tblPr>
              <a:tblGrid>
                <a:gridCol w="2468880"/>
                <a:gridCol w="3931920"/>
                <a:gridCol w="2194560"/>
                <a:gridCol w="2496312"/>
              </a:tblGrid>
              <a:tr h="457200">
                <a:tc>
                  <a:txBody>
                    <a:bodyPr wrap="square"/>
                    <a:lstStyle/>
                    <a:p>
                      <a:r>
                        <a:rPr sz="1200" b="1">
                          <a:solidFill>
                            <a:srgbClr val="FFFFFF"/>
                          </a:solidFill>
                          <a:latin typeface="Abadi"/>
                        </a:rPr>
                        <a:t>Feature</a:t>
                      </a:r>
                    </a:p>
                  </a:txBody>
                  <a:tcPr marL="73152" marR="73152" marT="27432" marB="27432" anchor="ctr">
                    <a:solidFill>
                      <a:srgbClr val="1B355E"/>
                    </a:solidFill>
                  </a:tcPr>
                </a:tc>
                <a:tc>
                  <a:txBody>
                    <a:bodyPr wrap="square"/>
                    <a:lstStyle/>
                    <a:p>
                      <a:r>
                        <a:rPr sz="1200" b="1">
                          <a:solidFill>
                            <a:srgbClr val="FFFFFF"/>
                          </a:solidFill>
                          <a:latin typeface="Abadi"/>
                        </a:rPr>
                        <a:t>What it reflects</a:t>
                      </a:r>
                    </a:p>
                  </a:txBody>
                  <a:tcPr marL="73152" marR="73152" marT="27432" marB="27432" anchor="ctr">
                    <a:solidFill>
                      <a:srgbClr val="1B355E"/>
                    </a:solidFill>
                  </a:tcPr>
                </a:tc>
                <a:tc>
                  <a:txBody>
                    <a:bodyPr wrap="square"/>
                    <a:lstStyle/>
                    <a:p>
                      <a:r>
                        <a:rPr sz="1200" b="1">
                          <a:solidFill>
                            <a:srgbClr val="FFFFFF"/>
                          </a:solidFill>
                          <a:latin typeface="Abadi"/>
                        </a:rPr>
                        <a:t>Time scale</a:t>
                      </a:r>
                    </a:p>
                  </a:txBody>
                  <a:tcPr marL="73152" marR="73152" marT="27432" marB="27432" anchor="ctr">
                    <a:solidFill>
                      <a:srgbClr val="1B355E"/>
                    </a:solidFill>
                  </a:tcPr>
                </a:tc>
                <a:tc>
                  <a:txBody>
                    <a:bodyPr wrap="square"/>
                    <a:lstStyle/>
                    <a:p>
                      <a:r>
                        <a:rPr sz="1200" b="1">
                          <a:solidFill>
                            <a:srgbClr val="FFFFFF"/>
                          </a:solidFill>
                          <a:latin typeface="Abadi"/>
                        </a:rPr>
                        <a:t>Leading reading</a:t>
                      </a:r>
                    </a:p>
                  </a:txBody>
                  <a:tcPr marL="73152" marR="73152" marT="27432" marB="27432" anchor="ctr">
                    <a:solidFill>
                      <a:srgbClr val="1B355E"/>
                    </a:solidFill>
                  </a:tcPr>
                </a:tc>
              </a:tr>
              <a:tr h="457200">
                <a:tc>
                  <a:txBody>
                    <a:bodyPr wrap="square"/>
                    <a:lstStyle/>
                    <a:p>
                      <a:r>
                        <a:rPr sz="1050" b="1">
                          <a:solidFill>
                            <a:srgbClr val="1A1A1A"/>
                          </a:solidFill>
                          <a:latin typeface="Abadi"/>
                        </a:rPr>
                        <a:t>Basal plasmacytosis</a:t>
                      </a:r>
                    </a:p>
                  </a:txBody>
                  <a:tcPr marL="73152" marR="73152" marT="27432" marB="27432" anchor="ctr">
                    <a:solidFill>
                      <a:srgbClr val="FFFFFF"/>
                    </a:solidFill>
                  </a:tcPr>
                </a:tc>
                <a:tc>
                  <a:txBody>
                    <a:bodyPr wrap="square"/>
                    <a:lstStyle/>
                    <a:p>
                      <a:r>
                        <a:rPr sz="1050" b="0">
                          <a:solidFill>
                            <a:srgbClr val="1A1A1A"/>
                          </a:solidFill>
                          <a:latin typeface="Abadi"/>
                        </a:rPr>
                        <a:t>Antigen-driven chronic immune response at the crypt base</a:t>
                      </a:r>
                    </a:p>
                  </a:txBody>
                  <a:tcPr marL="73152" marR="73152" marT="27432" marB="27432" anchor="ctr">
                    <a:solidFill>
                      <a:srgbClr val="FFFFFF"/>
                    </a:solidFill>
                  </a:tcPr>
                </a:tc>
                <a:tc>
                  <a:txBody>
                    <a:bodyPr wrap="square"/>
                    <a:lstStyle/>
                    <a:p>
                      <a:r>
                        <a:rPr sz="1050" b="0">
                          <a:solidFill>
                            <a:srgbClr val="1A1A1A"/>
                          </a:solidFill>
                          <a:latin typeface="Abadi"/>
                        </a:rPr>
                        <a:t>Days; earliest IBD feature</a:t>
                      </a:r>
                    </a:p>
                  </a:txBody>
                  <a:tcPr marL="73152" marR="73152" marT="27432" marB="27432" anchor="ctr">
                    <a:solidFill>
                      <a:srgbClr val="FFFFFF"/>
                    </a:solidFill>
                  </a:tcPr>
                </a:tc>
                <a:tc>
                  <a:txBody>
                    <a:bodyPr wrap="square"/>
                    <a:lstStyle/>
                    <a:p>
                      <a:r>
                        <a:rPr sz="1050" b="0">
                          <a:solidFill>
                            <a:srgbClr val="1A1A1A"/>
                          </a:solidFill>
                          <a:latin typeface="Abadi"/>
                        </a:rPr>
                        <a:t>Favours IBD over infection</a:t>
                      </a:r>
                    </a:p>
                  </a:txBody>
                  <a:tcPr marL="73152" marR="73152" marT="27432" marB="27432" anchor="ctr">
                    <a:solidFill>
                      <a:srgbClr val="FFFFFF"/>
                    </a:solidFill>
                  </a:tcPr>
                </a:tc>
              </a:tr>
              <a:tr h="457200">
                <a:tc>
                  <a:txBody>
                    <a:bodyPr wrap="square"/>
                    <a:lstStyle/>
                    <a:p>
                      <a:r>
                        <a:rPr sz="1050" b="1">
                          <a:solidFill>
                            <a:srgbClr val="1A1A1A"/>
                          </a:solidFill>
                          <a:latin typeface="Abadi"/>
                        </a:rPr>
                        <a:t>Crypt distortion</a:t>
                      </a:r>
                    </a:p>
                  </a:txBody>
                  <a:tcPr marL="73152" marR="73152" marT="27432" marB="27432" anchor="ctr">
                    <a:solidFill>
                      <a:srgbClr val="F2F2F2"/>
                    </a:solidFill>
                  </a:tcPr>
                </a:tc>
                <a:tc>
                  <a:txBody>
                    <a:bodyPr wrap="square"/>
                    <a:lstStyle/>
                    <a:p>
                      <a:r>
                        <a:rPr sz="1050" b="0">
                          <a:solidFill>
                            <a:srgbClr val="1A1A1A"/>
                          </a:solidFill>
                          <a:latin typeface="Abadi"/>
                        </a:rPr>
                        <a:t>Repeated crypt destruction and regeneration</a:t>
                      </a:r>
                    </a:p>
                  </a:txBody>
                  <a:tcPr marL="73152" marR="73152" marT="27432" marB="27432" anchor="ctr">
                    <a:solidFill>
                      <a:srgbClr val="F2F2F2"/>
                    </a:solidFill>
                  </a:tcPr>
                </a:tc>
                <a:tc>
                  <a:txBody>
                    <a:bodyPr wrap="square"/>
                    <a:lstStyle/>
                    <a:p>
                      <a:r>
                        <a:rPr sz="1050" b="0">
                          <a:solidFill>
                            <a:srgbClr val="1A1A1A"/>
                          </a:solidFill>
                          <a:latin typeface="Abadi"/>
                        </a:rPr>
                        <a:t>Weeks to months</a:t>
                      </a:r>
                    </a:p>
                  </a:txBody>
                  <a:tcPr marL="73152" marR="73152" marT="27432" marB="27432" anchor="ctr">
                    <a:solidFill>
                      <a:srgbClr val="F2F2F2"/>
                    </a:solidFill>
                  </a:tcPr>
                </a:tc>
                <a:tc>
                  <a:txBody>
                    <a:bodyPr wrap="square"/>
                    <a:lstStyle/>
                    <a:p>
                      <a:r>
                        <a:rPr sz="1050" b="0">
                          <a:solidFill>
                            <a:srgbClr val="1A1A1A"/>
                          </a:solidFill>
                          <a:latin typeface="Abadi"/>
                        </a:rPr>
                        <a:t>Chronic colitis</a:t>
                      </a:r>
                    </a:p>
                  </a:txBody>
                  <a:tcPr marL="73152" marR="73152" marT="27432" marB="27432" anchor="ctr">
                    <a:solidFill>
                      <a:srgbClr val="F2F2F2"/>
                    </a:solidFill>
                  </a:tcPr>
                </a:tc>
              </a:tr>
              <a:tr h="457200">
                <a:tc>
                  <a:txBody>
                    <a:bodyPr wrap="square"/>
                    <a:lstStyle/>
                    <a:p>
                      <a:r>
                        <a:rPr sz="1050" b="1">
                          <a:solidFill>
                            <a:srgbClr val="1A1A1A"/>
                          </a:solidFill>
                          <a:latin typeface="Abadi"/>
                        </a:rPr>
                        <a:t>Left-sided Paneth cell metaplasia</a:t>
                      </a:r>
                    </a:p>
                  </a:txBody>
                  <a:tcPr marL="73152" marR="73152" marT="27432" marB="27432" anchor="ctr">
                    <a:solidFill>
                      <a:srgbClr val="FFFFFF"/>
                    </a:solidFill>
                  </a:tcPr>
                </a:tc>
                <a:tc>
                  <a:txBody>
                    <a:bodyPr wrap="square"/>
                    <a:lstStyle/>
                    <a:p>
                      <a:r>
                        <a:rPr sz="1050" b="0">
                          <a:solidFill>
                            <a:srgbClr val="1A1A1A"/>
                          </a:solidFill>
                          <a:latin typeface="Abadi"/>
                        </a:rPr>
                        <a:t>Long-standing repair distal to the splenic flexure</a:t>
                      </a:r>
                    </a:p>
                  </a:txBody>
                  <a:tcPr marL="73152" marR="73152" marT="27432" marB="27432" anchor="ctr">
                    <a:solidFill>
                      <a:srgbClr val="FFFFFF"/>
                    </a:solidFill>
                  </a:tcPr>
                </a:tc>
                <a:tc>
                  <a:txBody>
                    <a:bodyPr wrap="square"/>
                    <a:lstStyle/>
                    <a:p>
                      <a:r>
                        <a:rPr sz="1050" b="0">
                          <a:solidFill>
                            <a:srgbClr val="1A1A1A"/>
                          </a:solidFill>
                          <a:latin typeface="Abadi"/>
                        </a:rPr>
                        <a:t>Months</a:t>
                      </a:r>
                    </a:p>
                  </a:txBody>
                  <a:tcPr marL="73152" marR="73152" marT="27432" marB="27432" anchor="ctr">
                    <a:solidFill>
                      <a:srgbClr val="FFFFFF"/>
                    </a:solidFill>
                  </a:tcPr>
                </a:tc>
                <a:tc>
                  <a:txBody>
                    <a:bodyPr wrap="square"/>
                    <a:lstStyle/>
                    <a:p>
                      <a:r>
                        <a:rPr sz="1050" b="0">
                          <a:solidFill>
                            <a:srgbClr val="1A1A1A"/>
                          </a:solidFill>
                          <a:latin typeface="Abadi"/>
                        </a:rPr>
                        <a:t>Chronicity, not a discriminator</a:t>
                      </a:r>
                    </a:p>
                  </a:txBody>
                  <a:tcPr marL="73152" marR="73152" marT="27432" marB="27432" anchor="ctr">
                    <a:solidFill>
                      <a:srgbClr val="FFFFFF"/>
                    </a:solidFill>
                  </a:tcPr>
                </a:tc>
              </a:tr>
              <a:tr h="457200">
                <a:tc>
                  <a:txBody>
                    <a:bodyPr wrap="square"/>
                    <a:lstStyle/>
                    <a:p>
                      <a:r>
                        <a:rPr sz="1050" b="1">
                          <a:solidFill>
                            <a:srgbClr val="1A1A1A"/>
                          </a:solidFill>
                          <a:latin typeface="Abadi"/>
                        </a:rPr>
                        <a:t>Non-necrotising granuloma</a:t>
                      </a:r>
                    </a:p>
                  </a:txBody>
                  <a:tcPr marL="73152" marR="73152" marT="27432" marB="27432" anchor="ctr">
                    <a:solidFill>
                      <a:srgbClr val="F2F2F2"/>
                    </a:solidFill>
                  </a:tcPr>
                </a:tc>
                <a:tc>
                  <a:txBody>
                    <a:bodyPr wrap="square"/>
                    <a:lstStyle/>
                    <a:p>
                      <a:r>
                        <a:rPr sz="1050" b="0">
                          <a:solidFill>
                            <a:srgbClr val="1A1A1A"/>
                          </a:solidFill>
                          <a:latin typeface="Abadi"/>
                        </a:rPr>
                        <a:t>Macrophage response to persistent antigen</a:t>
                      </a:r>
                    </a:p>
                  </a:txBody>
                  <a:tcPr marL="73152" marR="73152" marT="27432" marB="27432" anchor="ctr">
                    <a:solidFill>
                      <a:srgbClr val="F2F2F2"/>
                    </a:solidFill>
                  </a:tcPr>
                </a:tc>
                <a:tc>
                  <a:txBody>
                    <a:bodyPr wrap="square"/>
                    <a:lstStyle/>
                    <a:p>
                      <a:r>
                        <a:rPr sz="1050" b="0">
                          <a:solidFill>
                            <a:srgbClr val="1A1A1A"/>
                          </a:solidFill>
                          <a:latin typeface="Abadi"/>
                        </a:rPr>
                        <a:t>Variable</a:t>
                      </a:r>
                    </a:p>
                  </a:txBody>
                  <a:tcPr marL="73152" marR="73152" marT="27432" marB="27432" anchor="ctr">
                    <a:solidFill>
                      <a:srgbClr val="F2F2F2"/>
                    </a:solidFill>
                  </a:tcPr>
                </a:tc>
                <a:tc>
                  <a:txBody>
                    <a:bodyPr wrap="square"/>
                    <a:lstStyle/>
                    <a:p>
                      <a:r>
                        <a:rPr sz="1050" b="0">
                          <a:solidFill>
                            <a:srgbClr val="1A1A1A"/>
                          </a:solidFill>
                          <a:latin typeface="Abadi"/>
                        </a:rPr>
                        <a:t>Crohn's, if away from crypts</a:t>
                      </a:r>
                    </a:p>
                  </a:txBody>
                  <a:tcPr marL="73152" marR="73152" marT="27432" marB="27432" anchor="ctr">
                    <a:solidFill>
                      <a:srgbClr val="F2F2F2"/>
                    </a:solidFill>
                  </a:tcPr>
                </a:tc>
              </a:tr>
              <a:tr h="457200">
                <a:tc>
                  <a:txBody>
                    <a:bodyPr wrap="square"/>
                    <a:lstStyle/>
                    <a:p>
                      <a:r>
                        <a:rPr sz="1050" b="1">
                          <a:solidFill>
                            <a:srgbClr val="1A1A1A"/>
                          </a:solidFill>
                          <a:latin typeface="Abadi"/>
                        </a:rPr>
                        <a:t>Crypt apoptosis</a:t>
                      </a:r>
                    </a:p>
                  </a:txBody>
                  <a:tcPr marL="73152" marR="73152" marT="27432" marB="27432" anchor="ctr">
                    <a:solidFill>
                      <a:srgbClr val="FFFFFF"/>
                    </a:solidFill>
                  </a:tcPr>
                </a:tc>
                <a:tc>
                  <a:txBody>
                    <a:bodyPr wrap="square"/>
                    <a:lstStyle/>
                    <a:p>
                      <a:r>
                        <a:rPr sz="1050" b="0">
                          <a:solidFill>
                            <a:srgbClr val="1A1A1A"/>
                          </a:solidFill>
                          <a:latin typeface="Abadi"/>
                        </a:rPr>
                        <a:t>Cytotoxic or drug injury to the stem cell zone</a:t>
                      </a:r>
                    </a:p>
                  </a:txBody>
                  <a:tcPr marL="73152" marR="73152" marT="27432" marB="27432" anchor="ctr">
                    <a:solidFill>
                      <a:srgbClr val="FFFFFF"/>
                    </a:solidFill>
                  </a:tcPr>
                </a:tc>
                <a:tc>
                  <a:txBody>
                    <a:bodyPr wrap="square"/>
                    <a:lstStyle/>
                    <a:p>
                      <a:r>
                        <a:rPr sz="1050" b="0">
                          <a:solidFill>
                            <a:srgbClr val="1A1A1A"/>
                          </a:solidFill>
                          <a:latin typeface="Abadi"/>
                        </a:rPr>
                        <a:t>Days</a:t>
                      </a:r>
                    </a:p>
                  </a:txBody>
                  <a:tcPr marL="73152" marR="73152" marT="27432" marB="27432" anchor="ctr">
                    <a:solidFill>
                      <a:srgbClr val="FFFFFF"/>
                    </a:solidFill>
                  </a:tcPr>
                </a:tc>
                <a:tc>
                  <a:txBody>
                    <a:bodyPr wrap="square"/>
                    <a:lstStyle/>
                    <a:p>
                      <a:r>
                        <a:rPr sz="1050" b="0">
                          <a:solidFill>
                            <a:srgbClr val="1A1A1A"/>
                          </a:solidFill>
                          <a:latin typeface="Abadi"/>
                        </a:rPr>
                        <a:t>GVHD, drug, immunodeficiency</a:t>
                      </a:r>
                    </a:p>
                  </a:txBody>
                  <a:tcPr marL="73152" marR="73152" marT="27432" marB="27432" anchor="ctr">
                    <a:solidFill>
                      <a:srgbClr val="FFFFFF"/>
                    </a:solidFill>
                  </a:tcPr>
                </a:tc>
              </a:tr>
              <a:tr h="457200">
                <a:tc>
                  <a:txBody>
                    <a:bodyPr wrap="square"/>
                    <a:lstStyle/>
                    <a:p>
                      <a:r>
                        <a:rPr sz="1050" b="1">
                          <a:solidFill>
                            <a:srgbClr val="1A1A1A"/>
                          </a:solidFill>
                          <a:latin typeface="Abadi"/>
                        </a:rPr>
                        <a:t>Raised IEL, villous atrophy</a:t>
                      </a:r>
                    </a:p>
                  </a:txBody>
                  <a:tcPr marL="73152" marR="73152" marT="27432" marB="27432" anchor="ctr">
                    <a:solidFill>
                      <a:srgbClr val="F2F2F2"/>
                    </a:solidFill>
                  </a:tcPr>
                </a:tc>
                <a:tc>
                  <a:txBody>
                    <a:bodyPr wrap="square"/>
                    <a:lstStyle/>
                    <a:p>
                      <a:r>
                        <a:rPr sz="1050" b="0">
                          <a:solidFill>
                            <a:srgbClr val="1A1A1A"/>
                          </a:solidFill>
                          <a:latin typeface="Abadi"/>
                        </a:rPr>
                        <a:t>T-cell response to gluten; enterocyte loss outpaces crypts</a:t>
                      </a:r>
                    </a:p>
                  </a:txBody>
                  <a:tcPr marL="73152" marR="73152" marT="27432" marB="27432" anchor="ctr">
                    <a:solidFill>
                      <a:srgbClr val="F2F2F2"/>
                    </a:solidFill>
                  </a:tcPr>
                </a:tc>
                <a:tc>
                  <a:txBody>
                    <a:bodyPr wrap="square"/>
                    <a:lstStyle/>
                    <a:p>
                      <a:r>
                        <a:rPr sz="1050" b="0">
                          <a:solidFill>
                            <a:srgbClr val="1A1A1A"/>
                          </a:solidFill>
                          <a:latin typeface="Abadi"/>
                        </a:rPr>
                        <a:t>Weeks on gluten</a:t>
                      </a:r>
                    </a:p>
                  </a:txBody>
                  <a:tcPr marL="73152" marR="73152" marT="27432" marB="27432" anchor="ctr">
                    <a:solidFill>
                      <a:srgbClr val="F2F2F2"/>
                    </a:solidFill>
                  </a:tcPr>
                </a:tc>
                <a:tc>
                  <a:txBody>
                    <a:bodyPr wrap="square"/>
                    <a:lstStyle/>
                    <a:p>
                      <a:r>
                        <a:rPr sz="1050" b="0">
                          <a:solidFill>
                            <a:srgbClr val="1A1A1A"/>
                          </a:solidFill>
                          <a:latin typeface="Abadi"/>
                        </a:rPr>
                        <a:t>Coeliac disease and mimics</a:t>
                      </a:r>
                    </a:p>
                  </a:txBody>
                  <a:tcPr marL="73152" marR="73152" marT="27432" marB="27432" anchor="ctr">
                    <a:solidFill>
                      <a:srgbClr val="F2F2F2"/>
                    </a:solidFill>
                  </a:tcPr>
                </a:tc>
              </a:tr>
            </a:tbl>
          </a:graphicData>
        </a:graphic>
      </p:graphicFrame>
      <p:sp>
        <p:nvSpPr>
          <p:cNvPr id="13" name="TextBox 12"/>
          <p:cNvSpPr txBox="1"/>
          <p:nvPr/>
        </p:nvSpPr>
        <p:spPr>
          <a:xfrm>
            <a:off x="548640" y="5120640"/>
            <a:ext cx="11091672" cy="640080"/>
          </a:xfrm>
          <a:prstGeom prst="rect">
            <a:avLst/>
          </a:prstGeom>
          <a:noFill/>
        </p:spPr>
        <p:txBody>
          <a:bodyPr wrap="square" lIns="0" rIns="0" tIns="18288" bIns="18288" anchor="t">
            <a:spAutoFit/>
          </a:bodyPr>
          <a:lstStyle/>
          <a:p>
            <a:pPr algn="l"/>
            <a:r>
              <a:rPr sz="1250" b="0" i="0">
                <a:solidFill>
                  <a:srgbClr val="1A1A1A"/>
                </a:solidFill>
                <a:latin typeface="Abadi"/>
              </a:rPr>
              <a:t>Acute self-limited colitis keeps a normal crypt architecture with neutrophils high in the lamina propria. Chronic changes can appear as early as 7 days after onset of IBD (Surawicz 1994).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EOSINOPHILS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NORMAL IS NOT ZERO, AND NOT ONE NUMBER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Median eosinophils per mm² in 202 healthy children, three ESPGHAN centres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4</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Hoofien A, Oliva S, Auth MK-H, et al. Pediatr Dev Pathol 2022;25:99–106</a:t>
            </a:r>
          </a:p>
        </p:txBody>
      </p:sp>
      <p:sp>
        <p:nvSpPr>
          <p:cNvPr id="12" name="TextBox 11"/>
          <p:cNvSpPr txBox="1"/>
          <p:nvPr/>
        </p:nvSpPr>
        <p:spPr>
          <a:xfrm>
            <a:off x="548640" y="178308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Oesophagus</a:t>
            </a:r>
          </a:p>
        </p:txBody>
      </p:sp>
      <p:sp>
        <p:nvSpPr>
          <p:cNvPr id="13" name="Rectangle 12"/>
          <p:cNvSpPr/>
          <p:nvPr/>
        </p:nvSpPr>
        <p:spPr>
          <a:xfrm>
            <a:off x="3657600" y="1856231"/>
            <a:ext cx="36576" cy="16459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8308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0</a:t>
            </a:r>
          </a:p>
        </p:txBody>
      </p:sp>
      <p:sp>
        <p:nvSpPr>
          <p:cNvPr id="15" name="TextBox 14"/>
          <p:cNvSpPr txBox="1"/>
          <p:nvPr/>
        </p:nvSpPr>
        <p:spPr>
          <a:xfrm>
            <a:off x="548640" y="214884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Stomach</a:t>
            </a:r>
          </a:p>
        </p:txBody>
      </p:sp>
      <p:sp>
        <p:nvSpPr>
          <p:cNvPr id="16" name="Rectangle 15"/>
          <p:cNvSpPr/>
          <p:nvPr/>
        </p:nvSpPr>
        <p:spPr>
          <a:xfrm>
            <a:off x="3657600" y="2221992"/>
            <a:ext cx="36576" cy="16459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67328" y="214884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0</a:t>
            </a:r>
          </a:p>
        </p:txBody>
      </p:sp>
      <p:sp>
        <p:nvSpPr>
          <p:cNvPr id="18" name="TextBox 17"/>
          <p:cNvSpPr txBox="1"/>
          <p:nvPr/>
        </p:nvSpPr>
        <p:spPr>
          <a:xfrm>
            <a:off x="548640" y="251460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Duodenal bulb</a:t>
            </a:r>
          </a:p>
        </p:txBody>
      </p:sp>
      <p:sp>
        <p:nvSpPr>
          <p:cNvPr id="19" name="Rectangle 18"/>
          <p:cNvSpPr/>
          <p:nvPr/>
        </p:nvSpPr>
        <p:spPr>
          <a:xfrm>
            <a:off x="3657600" y="2587752"/>
            <a:ext cx="1197032" cy="16459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7784" y="251460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20</a:t>
            </a:r>
          </a:p>
        </p:txBody>
      </p:sp>
      <p:sp>
        <p:nvSpPr>
          <p:cNvPr id="21" name="TextBox 20"/>
          <p:cNvSpPr txBox="1"/>
          <p:nvPr/>
        </p:nvSpPr>
        <p:spPr>
          <a:xfrm>
            <a:off x="548640" y="288036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Second part of duodenum</a:t>
            </a:r>
          </a:p>
        </p:txBody>
      </p:sp>
      <p:sp>
        <p:nvSpPr>
          <p:cNvPr id="22" name="Rectangle 21"/>
          <p:cNvSpPr/>
          <p:nvPr/>
        </p:nvSpPr>
        <p:spPr>
          <a:xfrm>
            <a:off x="3657600" y="2953512"/>
            <a:ext cx="1197032" cy="16459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27784" y="288036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20</a:t>
            </a:r>
          </a:p>
        </p:txBody>
      </p:sp>
      <p:sp>
        <p:nvSpPr>
          <p:cNvPr id="24" name="TextBox 23"/>
          <p:cNvSpPr txBox="1"/>
          <p:nvPr/>
        </p:nvSpPr>
        <p:spPr>
          <a:xfrm>
            <a:off x="548640" y="324612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Terminal ileum</a:t>
            </a:r>
          </a:p>
        </p:txBody>
      </p:sp>
      <p:sp>
        <p:nvSpPr>
          <p:cNvPr id="25" name="Rectangle 24"/>
          <p:cNvSpPr/>
          <p:nvPr/>
        </p:nvSpPr>
        <p:spPr>
          <a:xfrm>
            <a:off x="3657600" y="3319272"/>
            <a:ext cx="1735697" cy="16459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66449" y="324612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29</a:t>
            </a:r>
          </a:p>
        </p:txBody>
      </p:sp>
      <p:sp>
        <p:nvSpPr>
          <p:cNvPr id="27" name="TextBox 26"/>
          <p:cNvSpPr txBox="1"/>
          <p:nvPr/>
        </p:nvSpPr>
        <p:spPr>
          <a:xfrm>
            <a:off x="548640" y="361188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Caecum</a:t>
            </a:r>
          </a:p>
        </p:txBody>
      </p:sp>
      <p:sp>
        <p:nvSpPr>
          <p:cNvPr id="28" name="Rectangle 27"/>
          <p:cNvSpPr/>
          <p:nvPr/>
        </p:nvSpPr>
        <p:spPr>
          <a:xfrm>
            <a:off x="3657600" y="3685032"/>
            <a:ext cx="3172136" cy="16459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2888" y="361188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53</a:t>
            </a:r>
          </a:p>
        </p:txBody>
      </p:sp>
      <p:sp>
        <p:nvSpPr>
          <p:cNvPr id="30" name="TextBox 29"/>
          <p:cNvSpPr txBox="1"/>
          <p:nvPr/>
        </p:nvSpPr>
        <p:spPr>
          <a:xfrm>
            <a:off x="548640" y="397764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Ascending colon</a:t>
            </a:r>
          </a:p>
        </p:txBody>
      </p:sp>
      <p:sp>
        <p:nvSpPr>
          <p:cNvPr id="31" name="Rectangle 30"/>
          <p:cNvSpPr/>
          <p:nvPr/>
        </p:nvSpPr>
        <p:spPr>
          <a:xfrm>
            <a:off x="3657600" y="4050792"/>
            <a:ext cx="3291840" cy="16459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22592" y="397764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55</a:t>
            </a:r>
          </a:p>
        </p:txBody>
      </p:sp>
      <p:sp>
        <p:nvSpPr>
          <p:cNvPr id="33" name="TextBox 32"/>
          <p:cNvSpPr txBox="1"/>
          <p:nvPr/>
        </p:nvSpPr>
        <p:spPr>
          <a:xfrm>
            <a:off x="548640" y="434340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Transverse colon</a:t>
            </a:r>
          </a:p>
        </p:txBody>
      </p:sp>
      <p:sp>
        <p:nvSpPr>
          <p:cNvPr id="34" name="Rectangle 33"/>
          <p:cNvSpPr/>
          <p:nvPr/>
        </p:nvSpPr>
        <p:spPr>
          <a:xfrm>
            <a:off x="3657600" y="4416552"/>
            <a:ext cx="2274362" cy="16459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05114" y="434340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38</a:t>
            </a:r>
          </a:p>
        </p:txBody>
      </p:sp>
      <p:sp>
        <p:nvSpPr>
          <p:cNvPr id="36" name="TextBox 35"/>
          <p:cNvSpPr txBox="1"/>
          <p:nvPr/>
        </p:nvSpPr>
        <p:spPr>
          <a:xfrm>
            <a:off x="548640" y="470916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Descending colon</a:t>
            </a:r>
          </a:p>
        </p:txBody>
      </p:sp>
      <p:sp>
        <p:nvSpPr>
          <p:cNvPr id="37" name="Rectangle 36"/>
          <p:cNvSpPr/>
          <p:nvPr/>
        </p:nvSpPr>
        <p:spPr>
          <a:xfrm>
            <a:off x="3657600" y="4782312"/>
            <a:ext cx="1735697" cy="16459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66449" y="470916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29</a:t>
            </a:r>
          </a:p>
        </p:txBody>
      </p:sp>
      <p:sp>
        <p:nvSpPr>
          <p:cNvPr id="39" name="TextBox 38"/>
          <p:cNvSpPr txBox="1"/>
          <p:nvPr/>
        </p:nvSpPr>
        <p:spPr>
          <a:xfrm>
            <a:off x="548640" y="507492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Sigmoid</a:t>
            </a:r>
          </a:p>
        </p:txBody>
      </p:sp>
      <p:sp>
        <p:nvSpPr>
          <p:cNvPr id="40" name="Rectangle 39"/>
          <p:cNvSpPr/>
          <p:nvPr/>
        </p:nvSpPr>
        <p:spPr>
          <a:xfrm>
            <a:off x="3657600" y="5148072"/>
            <a:ext cx="1496290" cy="16459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27042" y="507492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25</a:t>
            </a:r>
          </a:p>
        </p:txBody>
      </p:sp>
      <p:sp>
        <p:nvSpPr>
          <p:cNvPr id="42" name="TextBox 41"/>
          <p:cNvSpPr txBox="1"/>
          <p:nvPr/>
        </p:nvSpPr>
        <p:spPr>
          <a:xfrm>
            <a:off x="548640" y="5440680"/>
            <a:ext cx="2971800" cy="292608"/>
          </a:xfrm>
          <a:prstGeom prst="rect">
            <a:avLst/>
          </a:prstGeom>
          <a:noFill/>
        </p:spPr>
        <p:txBody>
          <a:bodyPr wrap="square" lIns="0" rIns="0" tIns="18288" bIns="18288" anchor="ctr">
            <a:spAutoFit/>
          </a:bodyPr>
          <a:lstStyle/>
          <a:p>
            <a:pPr algn="r"/>
            <a:r>
              <a:rPr sz="1100" b="0" i="0">
                <a:solidFill>
                  <a:srgbClr val="1A1A1A"/>
                </a:solidFill>
                <a:latin typeface="Abadi"/>
              </a:rPr>
              <a:t>Rectum</a:t>
            </a:r>
          </a:p>
        </p:txBody>
      </p:sp>
      <p:sp>
        <p:nvSpPr>
          <p:cNvPr id="43" name="Rectangle 42"/>
          <p:cNvSpPr/>
          <p:nvPr/>
        </p:nvSpPr>
        <p:spPr>
          <a:xfrm>
            <a:off x="3657600" y="5513832"/>
            <a:ext cx="778071" cy="16459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08823" y="5440680"/>
            <a:ext cx="1005840" cy="292608"/>
          </a:xfrm>
          <a:prstGeom prst="rect">
            <a:avLst/>
          </a:prstGeom>
          <a:noFill/>
        </p:spPr>
        <p:txBody>
          <a:bodyPr wrap="square" lIns="0" rIns="0" tIns="18288" bIns="18288" anchor="ctr">
            <a:spAutoFit/>
          </a:bodyPr>
          <a:lstStyle/>
          <a:p>
            <a:pPr algn="l"/>
            <a:r>
              <a:rPr sz="1100" b="1" i="0">
                <a:solidFill>
                  <a:srgbClr val="1A1A1A"/>
                </a:solidFill>
                <a:latin typeface="Abadi"/>
              </a:rPr>
              <a:t>13</a:t>
            </a:r>
          </a:p>
        </p:txBody>
      </p:sp>
      <p:sp>
        <p:nvSpPr>
          <p:cNvPr id="45" name="TextBox 44"/>
          <p:cNvSpPr txBox="1"/>
          <p:nvPr/>
        </p:nvSpPr>
        <p:spPr>
          <a:xfrm>
            <a:off x="7680960" y="1828800"/>
            <a:ext cx="393192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Right to left</a:t>
            </a:r>
          </a:p>
          <a:p>
            <a:pPr algn="l">
              <a:spcAft>
                <a:spcPts val="300"/>
              </a:spcAft>
            </a:pPr>
            <a:r>
              <a:rPr sz="1100" b="0" i="0">
                <a:solidFill>
                  <a:srgbClr val="1A1A1A"/>
                </a:solidFill>
                <a:latin typeface="Abadi"/>
              </a:rPr>
              <a:t>Counts fall from caecum to rectum: the same 40 per mm² is ordinary in the caecum and high in the rectum.</a:t>
            </a:r>
          </a:p>
          <a:p>
            <a:pPr algn="l">
              <a:spcAft>
                <a:spcPts val="300"/>
              </a:spcAft>
            </a:pPr>
            <a:r>
              <a:rPr sz="1700" b="1" i="0">
                <a:solidFill>
                  <a:srgbClr val="1B355E"/>
                </a:solidFill>
                <a:latin typeface="Abadi"/>
              </a:rPr>
              <a:t>Range matters</a:t>
            </a:r>
          </a:p>
          <a:p>
            <a:pPr algn="l">
              <a:spcAft>
                <a:spcPts val="300"/>
              </a:spcAft>
            </a:pPr>
            <a:r>
              <a:rPr sz="1100" b="0" i="0">
                <a:solidFill>
                  <a:srgbClr val="1A1A1A"/>
                </a:solidFill>
                <a:latin typeface="Abadi"/>
              </a:rPr>
              <a:t>Upper ranges reached 232 per mm² in the caecum and 247 in the ileum in healthy children.</a:t>
            </a:r>
          </a:p>
          <a:p>
            <a:pPr algn="l">
              <a:spcAft>
                <a:spcPts val="300"/>
              </a:spcAft>
            </a:pPr>
            <a:r>
              <a:rPr sz="1700" b="1" i="0">
                <a:solidFill>
                  <a:srgbClr val="1B355E"/>
                </a:solidFill>
                <a:latin typeface="Abadi"/>
              </a:rPr>
              <a:t>Geography</a:t>
            </a:r>
          </a:p>
          <a:p>
            <a:pPr algn="l">
              <a:spcAft>
                <a:spcPts val="300"/>
              </a:spcAft>
            </a:pPr>
            <a:r>
              <a:rPr sz="1100" b="0" i="0">
                <a:solidFill>
                  <a:srgbClr val="1A1A1A"/>
                </a:solidFill>
                <a:latin typeface="Abadi"/>
              </a:rPr>
              <a:t>Counts differed significantly between centres; they did not differ by age group or functional diagnosis.</a:t>
            </a:r>
          </a:p>
          <a:p>
            <a:pPr algn="l">
              <a:spcAft>
                <a:spcPts val="300"/>
              </a:spcAft>
            </a:pPr>
            <a:r>
              <a:rPr sz="1700" b="1" i="0">
                <a:solidFill>
                  <a:srgbClr val="1B355E"/>
                </a:solidFill>
                <a:latin typeface="Abadi"/>
              </a:rPr>
              <a:t>Oesophagus</a:t>
            </a:r>
          </a:p>
          <a:p>
            <a:pPr algn="l">
              <a:spcAft>
                <a:spcPts val="300"/>
              </a:spcAft>
            </a:pPr>
            <a:r>
              <a:rPr sz="1100" b="0" i="0">
                <a:solidFill>
                  <a:srgbClr val="1A1A1A"/>
                </a:solidFill>
                <a:latin typeface="Abadi"/>
              </a:rPr>
              <a:t>Median 0: any eosinophil in the squamous epithelium deserves a reason.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EOSINOPHILS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DISEASE BEGINS AT TWICE THE NORMAL MAXIMUM</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Eosinophils per high-power field: normal maximum, Collins 2014 threshold and joint paediatric guideline 2024</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5</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Collins MH. Gastroenterol Clin North Am 2014;43:257–68 · Papadopoulou A, et al. JPGN 2024;78:122–52 · DeBrosse CW, et al. Pediatr Dev Pathol 2006;9:210–8</a:t>
            </a:r>
          </a:p>
        </p:txBody>
      </p:sp>
      <p:sp>
        <p:nvSpPr>
          <p:cNvPr id="12" name="Rectangle 11"/>
          <p:cNvSpPr/>
          <p:nvPr/>
        </p:nvSpPr>
        <p:spPr>
          <a:xfrm>
            <a:off x="548640" y="1847088"/>
            <a:ext cx="137160" cy="1371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Normal maximum (2006 data)</a:t>
            </a:r>
          </a:p>
        </p:txBody>
      </p:sp>
      <p:sp>
        <p:nvSpPr>
          <p:cNvPr id="14" name="Rectangle 13"/>
          <p:cNvSpPr/>
          <p:nvPr/>
        </p:nvSpPr>
        <p:spPr>
          <a:xfrm>
            <a:off x="2971800" y="1847088"/>
            <a:ext cx="137160" cy="1371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296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Collins 2014 threshold</a:t>
            </a:r>
          </a:p>
        </p:txBody>
      </p:sp>
      <p:sp>
        <p:nvSpPr>
          <p:cNvPr id="16" name="Rectangle 15"/>
          <p:cNvSpPr/>
          <p:nvPr/>
        </p:nvSpPr>
        <p:spPr>
          <a:xfrm>
            <a:off x="5120640" y="1847088"/>
            <a:ext cx="137160" cy="1371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1807"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ESPGHAN/NASPGHAN 2024</a:t>
            </a:r>
          </a:p>
        </p:txBody>
      </p:sp>
      <p:sp>
        <p:nvSpPr>
          <p:cNvPr id="18" name="Rectangle 17"/>
          <p:cNvSpPr/>
          <p:nvPr/>
        </p:nvSpPr>
        <p:spPr>
          <a:xfrm>
            <a:off x="548640" y="5349240"/>
            <a:ext cx="731520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4288" y="4576156"/>
            <a:ext cx="247903" cy="773083"/>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8840" y="4320124"/>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30</a:t>
            </a:r>
          </a:p>
        </p:txBody>
      </p:sp>
      <p:sp>
        <p:nvSpPr>
          <p:cNvPr id="21" name="Rectangle 20"/>
          <p:cNvSpPr/>
          <p:nvPr/>
        </p:nvSpPr>
        <p:spPr>
          <a:xfrm>
            <a:off x="1318767" y="4576156"/>
            <a:ext cx="247903" cy="773083"/>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3320" y="4320124"/>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30</a:t>
            </a:r>
          </a:p>
        </p:txBody>
      </p:sp>
      <p:sp>
        <p:nvSpPr>
          <p:cNvPr id="23" name="TextBox 22"/>
          <p:cNvSpPr txBox="1"/>
          <p:nvPr/>
        </p:nvSpPr>
        <p:spPr>
          <a:xfrm>
            <a:off x="548640" y="5385816"/>
            <a:ext cx="1219200" cy="274320"/>
          </a:xfrm>
          <a:prstGeom prst="rect">
            <a:avLst/>
          </a:prstGeom>
          <a:noFill/>
        </p:spPr>
        <p:txBody>
          <a:bodyPr wrap="square" lIns="0" rIns="0" tIns="18288" bIns="18288" anchor="t">
            <a:spAutoFit/>
          </a:bodyPr>
          <a:lstStyle/>
          <a:p>
            <a:pPr algn="ctr"/>
            <a:r>
              <a:rPr sz="950" b="0" i="0">
                <a:solidFill>
                  <a:srgbClr val="1A1A1A"/>
                </a:solidFill>
                <a:latin typeface="Abadi"/>
              </a:rPr>
              <a:t>Stomach</a:t>
            </a:r>
          </a:p>
        </p:txBody>
      </p:sp>
      <p:sp>
        <p:nvSpPr>
          <p:cNvPr id="24" name="Rectangle 23"/>
          <p:cNvSpPr/>
          <p:nvPr/>
        </p:nvSpPr>
        <p:spPr>
          <a:xfrm>
            <a:off x="1969008" y="4679234"/>
            <a:ext cx="247903" cy="670005"/>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13560" y="4423202"/>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26</a:t>
            </a:r>
          </a:p>
        </p:txBody>
      </p:sp>
      <p:sp>
        <p:nvSpPr>
          <p:cNvPr id="26" name="Rectangle 25"/>
          <p:cNvSpPr/>
          <p:nvPr/>
        </p:nvSpPr>
        <p:spPr>
          <a:xfrm>
            <a:off x="2253488" y="4009228"/>
            <a:ext cx="247903" cy="1340011"/>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98040" y="3753196"/>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52</a:t>
            </a:r>
          </a:p>
        </p:txBody>
      </p:sp>
      <p:sp>
        <p:nvSpPr>
          <p:cNvPr id="28" name="Rectangle 27"/>
          <p:cNvSpPr/>
          <p:nvPr/>
        </p:nvSpPr>
        <p:spPr>
          <a:xfrm>
            <a:off x="2537968" y="4060767"/>
            <a:ext cx="247903" cy="1288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2520" y="3804735"/>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50</a:t>
            </a:r>
          </a:p>
        </p:txBody>
      </p:sp>
      <p:sp>
        <p:nvSpPr>
          <p:cNvPr id="30" name="TextBox 29"/>
          <p:cNvSpPr txBox="1"/>
          <p:nvPr/>
        </p:nvSpPr>
        <p:spPr>
          <a:xfrm>
            <a:off x="1767839" y="5385816"/>
            <a:ext cx="1219200" cy="274320"/>
          </a:xfrm>
          <a:prstGeom prst="rect">
            <a:avLst/>
          </a:prstGeom>
          <a:noFill/>
        </p:spPr>
        <p:txBody>
          <a:bodyPr wrap="square" lIns="0" rIns="0" tIns="18288" bIns="18288" anchor="t">
            <a:spAutoFit/>
          </a:bodyPr>
          <a:lstStyle/>
          <a:p>
            <a:pPr algn="ctr"/>
            <a:r>
              <a:rPr sz="950" b="0" i="0">
                <a:solidFill>
                  <a:srgbClr val="1A1A1A"/>
                </a:solidFill>
                <a:latin typeface="Abadi"/>
              </a:rPr>
              <a:t>Duodenum</a:t>
            </a:r>
          </a:p>
        </p:txBody>
      </p:sp>
      <p:sp>
        <p:nvSpPr>
          <p:cNvPr id="31" name="Rectangle 30"/>
          <p:cNvSpPr/>
          <p:nvPr/>
        </p:nvSpPr>
        <p:spPr>
          <a:xfrm>
            <a:off x="3188208" y="4627695"/>
            <a:ext cx="247903" cy="72154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32760" y="4371663"/>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28</a:t>
            </a:r>
          </a:p>
        </p:txBody>
      </p:sp>
      <p:sp>
        <p:nvSpPr>
          <p:cNvPr id="33" name="Rectangle 32"/>
          <p:cNvSpPr/>
          <p:nvPr/>
        </p:nvSpPr>
        <p:spPr>
          <a:xfrm>
            <a:off x="3472688" y="3906150"/>
            <a:ext cx="247903" cy="1443089"/>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17240" y="3650118"/>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56</a:t>
            </a:r>
          </a:p>
        </p:txBody>
      </p:sp>
      <p:sp>
        <p:nvSpPr>
          <p:cNvPr id="35" name="Rectangle 34"/>
          <p:cNvSpPr/>
          <p:nvPr/>
        </p:nvSpPr>
        <p:spPr>
          <a:xfrm>
            <a:off x="3757167" y="3803072"/>
            <a:ext cx="247903" cy="1546167"/>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01720" y="3547040"/>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60</a:t>
            </a:r>
          </a:p>
        </p:txBody>
      </p:sp>
      <p:sp>
        <p:nvSpPr>
          <p:cNvPr id="37" name="TextBox 36"/>
          <p:cNvSpPr txBox="1"/>
          <p:nvPr/>
        </p:nvSpPr>
        <p:spPr>
          <a:xfrm>
            <a:off x="2987040" y="5385816"/>
            <a:ext cx="1219200" cy="274320"/>
          </a:xfrm>
          <a:prstGeom prst="rect">
            <a:avLst/>
          </a:prstGeom>
          <a:noFill/>
        </p:spPr>
        <p:txBody>
          <a:bodyPr wrap="square" lIns="0" rIns="0" tIns="18288" bIns="18288" anchor="t">
            <a:spAutoFit/>
          </a:bodyPr>
          <a:lstStyle/>
          <a:p>
            <a:pPr algn="ctr"/>
            <a:r>
              <a:rPr sz="950" b="0" i="0">
                <a:solidFill>
                  <a:srgbClr val="1A1A1A"/>
                </a:solidFill>
                <a:latin typeface="Abadi"/>
              </a:rPr>
              <a:t>Ileum</a:t>
            </a:r>
          </a:p>
        </p:txBody>
      </p:sp>
      <p:sp>
        <p:nvSpPr>
          <p:cNvPr id="38" name="Rectangle 37"/>
          <p:cNvSpPr/>
          <p:nvPr/>
        </p:nvSpPr>
        <p:spPr>
          <a:xfrm>
            <a:off x="4407407" y="4060767"/>
            <a:ext cx="247903" cy="128847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51959" y="3804735"/>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50</a:t>
            </a:r>
          </a:p>
        </p:txBody>
      </p:sp>
      <p:sp>
        <p:nvSpPr>
          <p:cNvPr id="40" name="Rectangle 39"/>
          <p:cNvSpPr/>
          <p:nvPr/>
        </p:nvSpPr>
        <p:spPr>
          <a:xfrm>
            <a:off x="4691887" y="2772294"/>
            <a:ext cx="247903" cy="2576945"/>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36439" y="2516262"/>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100</a:t>
            </a:r>
          </a:p>
        </p:txBody>
      </p:sp>
      <p:sp>
        <p:nvSpPr>
          <p:cNvPr id="42" name="Rectangle 41"/>
          <p:cNvSpPr/>
          <p:nvPr/>
        </p:nvSpPr>
        <p:spPr>
          <a:xfrm>
            <a:off x="4976367" y="2772294"/>
            <a:ext cx="247903" cy="2576945"/>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20919" y="2516262"/>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100</a:t>
            </a:r>
          </a:p>
        </p:txBody>
      </p:sp>
      <p:sp>
        <p:nvSpPr>
          <p:cNvPr id="44" name="TextBox 43"/>
          <p:cNvSpPr txBox="1"/>
          <p:nvPr/>
        </p:nvSpPr>
        <p:spPr>
          <a:xfrm>
            <a:off x="4206240" y="5385816"/>
            <a:ext cx="1219200" cy="274320"/>
          </a:xfrm>
          <a:prstGeom prst="rect">
            <a:avLst/>
          </a:prstGeom>
          <a:noFill/>
        </p:spPr>
        <p:txBody>
          <a:bodyPr wrap="square" lIns="0" rIns="0" tIns="18288" bIns="18288" anchor="t">
            <a:spAutoFit/>
          </a:bodyPr>
          <a:lstStyle/>
          <a:p>
            <a:pPr algn="ctr"/>
            <a:r>
              <a:rPr sz="950" b="0" i="0">
                <a:solidFill>
                  <a:srgbClr val="1A1A1A"/>
                </a:solidFill>
                <a:latin typeface="Abadi"/>
              </a:rPr>
              <a:t>Caecum, ascending</a:t>
            </a:r>
          </a:p>
        </p:txBody>
      </p:sp>
      <p:sp>
        <p:nvSpPr>
          <p:cNvPr id="45" name="Rectangle 44"/>
          <p:cNvSpPr/>
          <p:nvPr/>
        </p:nvSpPr>
        <p:spPr>
          <a:xfrm>
            <a:off x="5626607" y="4266922"/>
            <a:ext cx="247903" cy="1082317"/>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71159" y="4010890"/>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42</a:t>
            </a:r>
          </a:p>
        </p:txBody>
      </p:sp>
      <p:sp>
        <p:nvSpPr>
          <p:cNvPr id="47" name="Rectangle 46"/>
          <p:cNvSpPr/>
          <p:nvPr/>
        </p:nvSpPr>
        <p:spPr>
          <a:xfrm>
            <a:off x="5911087" y="3184605"/>
            <a:ext cx="247903" cy="216463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55639" y="2928573"/>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84</a:t>
            </a:r>
          </a:p>
        </p:txBody>
      </p:sp>
      <p:sp>
        <p:nvSpPr>
          <p:cNvPr id="49" name="Rectangle 48"/>
          <p:cNvSpPr/>
          <p:nvPr/>
        </p:nvSpPr>
        <p:spPr>
          <a:xfrm>
            <a:off x="6195567" y="3287683"/>
            <a:ext cx="247903" cy="206155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40119" y="3031651"/>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80</a:t>
            </a:r>
          </a:p>
        </p:txBody>
      </p:sp>
      <p:sp>
        <p:nvSpPr>
          <p:cNvPr id="51" name="TextBox 50"/>
          <p:cNvSpPr txBox="1"/>
          <p:nvPr/>
        </p:nvSpPr>
        <p:spPr>
          <a:xfrm>
            <a:off x="5425439" y="5385816"/>
            <a:ext cx="1219200" cy="274320"/>
          </a:xfrm>
          <a:prstGeom prst="rect">
            <a:avLst/>
          </a:prstGeom>
          <a:noFill/>
        </p:spPr>
        <p:txBody>
          <a:bodyPr wrap="square" lIns="0" rIns="0" tIns="18288" bIns="18288" anchor="t">
            <a:spAutoFit/>
          </a:bodyPr>
          <a:lstStyle/>
          <a:p>
            <a:pPr algn="ctr"/>
            <a:r>
              <a:rPr sz="950" b="0" i="0">
                <a:solidFill>
                  <a:srgbClr val="1A1A1A"/>
                </a:solidFill>
                <a:latin typeface="Abadi"/>
              </a:rPr>
              <a:t>Transverse, descending</a:t>
            </a:r>
          </a:p>
        </p:txBody>
      </p:sp>
      <p:sp>
        <p:nvSpPr>
          <p:cNvPr id="52" name="Rectangle 51"/>
          <p:cNvSpPr/>
          <p:nvPr/>
        </p:nvSpPr>
        <p:spPr>
          <a:xfrm>
            <a:off x="6845807" y="4524617"/>
            <a:ext cx="247903" cy="82462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90359" y="4268585"/>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32</a:t>
            </a:r>
          </a:p>
        </p:txBody>
      </p:sp>
      <p:sp>
        <p:nvSpPr>
          <p:cNvPr id="54" name="Rectangle 53"/>
          <p:cNvSpPr/>
          <p:nvPr/>
        </p:nvSpPr>
        <p:spPr>
          <a:xfrm>
            <a:off x="7130287" y="3699994"/>
            <a:ext cx="247903" cy="1649245"/>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974839" y="3443962"/>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64</a:t>
            </a:r>
          </a:p>
        </p:txBody>
      </p:sp>
      <p:sp>
        <p:nvSpPr>
          <p:cNvPr id="56" name="Rectangle 55"/>
          <p:cNvSpPr/>
          <p:nvPr/>
        </p:nvSpPr>
        <p:spPr>
          <a:xfrm>
            <a:off x="7414767" y="3803072"/>
            <a:ext cx="247903" cy="1546167"/>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59319" y="3547040"/>
            <a:ext cx="558800" cy="228600"/>
          </a:xfrm>
          <a:prstGeom prst="rect">
            <a:avLst/>
          </a:prstGeom>
          <a:noFill/>
        </p:spPr>
        <p:txBody>
          <a:bodyPr wrap="square" lIns="0" rIns="0" tIns="18288" bIns="18288" anchor="t">
            <a:spAutoFit/>
          </a:bodyPr>
          <a:lstStyle/>
          <a:p>
            <a:pPr algn="ctr"/>
            <a:r>
              <a:rPr sz="950" b="1" i="0">
                <a:solidFill>
                  <a:srgbClr val="1B355E"/>
                </a:solidFill>
                <a:latin typeface="Abadi"/>
              </a:rPr>
              <a:t>60</a:t>
            </a:r>
          </a:p>
        </p:txBody>
      </p:sp>
      <p:sp>
        <p:nvSpPr>
          <p:cNvPr id="58" name="TextBox 57"/>
          <p:cNvSpPr txBox="1"/>
          <p:nvPr/>
        </p:nvSpPr>
        <p:spPr>
          <a:xfrm>
            <a:off x="6644639" y="5385816"/>
            <a:ext cx="1219200" cy="274320"/>
          </a:xfrm>
          <a:prstGeom prst="rect">
            <a:avLst/>
          </a:prstGeom>
          <a:noFill/>
        </p:spPr>
        <p:txBody>
          <a:bodyPr wrap="square" lIns="0" rIns="0" tIns="18288" bIns="18288" anchor="t">
            <a:spAutoFit/>
          </a:bodyPr>
          <a:lstStyle/>
          <a:p>
            <a:pPr algn="ctr"/>
            <a:r>
              <a:rPr sz="950" b="0" i="0">
                <a:solidFill>
                  <a:srgbClr val="1A1A1A"/>
                </a:solidFill>
                <a:latin typeface="Abadi"/>
              </a:rPr>
              <a:t>Rectosigmoid</a:t>
            </a:r>
          </a:p>
        </p:txBody>
      </p:sp>
      <p:sp>
        <p:nvSpPr>
          <p:cNvPr id="59" name="TextBox 58"/>
          <p:cNvSpPr txBox="1"/>
          <p:nvPr/>
        </p:nvSpPr>
        <p:spPr>
          <a:xfrm>
            <a:off x="8229600" y="1828800"/>
            <a:ext cx="338328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Stomach</a:t>
            </a:r>
          </a:p>
          <a:p>
            <a:pPr algn="l">
              <a:spcAft>
                <a:spcPts val="300"/>
              </a:spcAft>
            </a:pPr>
            <a:r>
              <a:rPr sz="1100" b="0" i="0">
                <a:solidFill>
                  <a:srgbClr val="1A1A1A"/>
                </a:solidFill>
                <a:latin typeface="Abadi"/>
              </a:rPr>
              <a:t>Collins: 30 or more per field in at least 5 fields, and 70 or more in at least 3.</a:t>
            </a:r>
          </a:p>
          <a:p>
            <a:pPr algn="l">
              <a:spcAft>
                <a:spcPts val="300"/>
              </a:spcAft>
            </a:pPr>
            <a:r>
              <a:rPr sz="1700" b="1" i="0">
                <a:solidFill>
                  <a:srgbClr val="1B355E"/>
                </a:solidFill>
                <a:latin typeface="Abadi"/>
              </a:rPr>
              <a:t>Adult trials</a:t>
            </a:r>
          </a:p>
          <a:p>
            <a:pPr algn="l">
              <a:spcAft>
                <a:spcPts val="300"/>
              </a:spcAft>
            </a:pPr>
            <a:r>
              <a:rPr sz="1100" b="0" i="0">
                <a:solidFill>
                  <a:srgbClr val="1A1A1A"/>
                </a:solidFill>
                <a:latin typeface="Abadi"/>
              </a:rPr>
              <a:t>Eosinophilic duodenitis at 30 or more per field in 3 fields, far below the paediatric 50.</a:t>
            </a:r>
          </a:p>
          <a:p>
            <a:pPr algn="l">
              <a:spcAft>
                <a:spcPts val="300"/>
              </a:spcAft>
            </a:pPr>
            <a:r>
              <a:rPr sz="1700" b="1" i="0">
                <a:solidFill>
                  <a:srgbClr val="1B355E"/>
                </a:solidFill>
                <a:latin typeface="Abadi"/>
              </a:rPr>
              <a:t>Not enough</a:t>
            </a:r>
          </a:p>
          <a:p>
            <a:pPr algn="l">
              <a:spcAft>
                <a:spcPts val="300"/>
              </a:spcAft>
            </a:pPr>
            <a:r>
              <a:rPr sz="1100" b="0" i="0">
                <a:solidFill>
                  <a:srgbClr val="1A1A1A"/>
                </a:solidFill>
                <a:latin typeface="Abadi"/>
              </a:rPr>
              <a:t>Counts need symptoms and exclusion of parasites, drugs, IBD and coeliac disease.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NAMES AND FIELDS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SAY THE SEGMENT, COUNT THE AREA</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International nomenclature and the field-size problem</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6</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Dellon ES, et al. Clin Gastroenterol Hepatol 2022;20:2474–84 · Dellon ES, et al. Gastroenterology 2018;155:1022–33 · Dellon ES, et al. Am J Gastroenterol 2007;102:2300–13</a:t>
            </a:r>
          </a:p>
        </p:txBody>
      </p:sp>
      <p:sp>
        <p:nvSpPr>
          <p:cNvPr id="12" name="Rectangle 11"/>
          <p:cNvSpPr/>
          <p:nvPr/>
        </p:nvSpPr>
        <p:spPr>
          <a:xfrm>
            <a:off x="548640"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810512"/>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30552"/>
            <a:ext cx="2292858" cy="777240"/>
          </a:xfrm>
          <a:prstGeom prst="rect">
            <a:avLst/>
          </a:prstGeom>
          <a:noFill/>
        </p:spPr>
        <p:txBody>
          <a:bodyPr wrap="square" lIns="0" rIns="0" tIns="18288" bIns="18288" anchor="t">
            <a:spAutoFit/>
          </a:bodyPr>
          <a:lstStyle/>
          <a:p>
            <a:pPr algn="l"/>
            <a:r>
              <a:rPr sz="2100" b="1" i="0">
                <a:solidFill>
                  <a:srgbClr val="1B355E"/>
                </a:solidFill>
                <a:latin typeface="Abadi"/>
              </a:rPr>
              <a:t>≥15 / hpf</a:t>
            </a:r>
          </a:p>
        </p:txBody>
      </p:sp>
      <p:sp>
        <p:nvSpPr>
          <p:cNvPr id="15" name="TextBox 14"/>
          <p:cNvSpPr txBox="1"/>
          <p:nvPr/>
        </p:nvSpPr>
        <p:spPr>
          <a:xfrm>
            <a:off x="685800"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Eosinophilic oesophagitis peak count, about 60 per mm² (AGREE 2018); a PPI trial is no longer required</a:t>
            </a:r>
          </a:p>
        </p:txBody>
      </p:sp>
      <p:sp>
        <p:nvSpPr>
          <p:cNvPr id="16" name="Rectangle 15"/>
          <p:cNvSpPr/>
          <p:nvPr/>
        </p:nvSpPr>
        <p:spPr>
          <a:xfrm>
            <a:off x="3390138"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810512"/>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7298" y="2130552"/>
            <a:ext cx="2292858" cy="777240"/>
          </a:xfrm>
          <a:prstGeom prst="rect">
            <a:avLst/>
          </a:prstGeom>
          <a:noFill/>
        </p:spPr>
        <p:txBody>
          <a:bodyPr wrap="square" lIns="0" rIns="0" tIns="18288" bIns="18288" anchor="t">
            <a:spAutoFit/>
          </a:bodyPr>
          <a:lstStyle/>
          <a:p>
            <a:pPr algn="l"/>
            <a:r>
              <a:rPr sz="2100" b="1" i="0">
                <a:solidFill>
                  <a:srgbClr val="1B355E"/>
                </a:solidFill>
                <a:latin typeface="Abadi"/>
              </a:rPr>
              <a:t>EoG, EoN, EoC</a:t>
            </a:r>
          </a:p>
        </p:txBody>
      </p:sp>
      <p:sp>
        <p:nvSpPr>
          <p:cNvPr id="19" name="TextBox 18"/>
          <p:cNvSpPr txBox="1"/>
          <p:nvPr/>
        </p:nvSpPr>
        <p:spPr>
          <a:xfrm>
            <a:off x="3527298"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Gastritis, enteritis (duodenitis, jejunitis, ileitis) and colitis; name every site involved</a:t>
            </a:r>
          </a:p>
        </p:txBody>
      </p:sp>
      <p:sp>
        <p:nvSpPr>
          <p:cNvPr id="20" name="Rectangle 19"/>
          <p:cNvSpPr/>
          <p:nvPr/>
        </p:nvSpPr>
        <p:spPr>
          <a:xfrm>
            <a:off x="6231636"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810512"/>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8796" y="2130552"/>
            <a:ext cx="2292858" cy="777240"/>
          </a:xfrm>
          <a:prstGeom prst="rect">
            <a:avLst/>
          </a:prstGeom>
          <a:noFill/>
        </p:spPr>
        <p:txBody>
          <a:bodyPr wrap="square" lIns="0" rIns="0" tIns="18288" bIns="18288" anchor="t">
            <a:spAutoFit/>
          </a:bodyPr>
          <a:lstStyle/>
          <a:p>
            <a:pPr algn="l"/>
            <a:r>
              <a:rPr sz="2100" b="1" i="0">
                <a:solidFill>
                  <a:srgbClr val="1B355E"/>
                </a:solidFill>
                <a:latin typeface="Abadi"/>
              </a:rPr>
              <a:t>96%</a:t>
            </a:r>
          </a:p>
        </p:txBody>
      </p:sp>
      <p:sp>
        <p:nvSpPr>
          <p:cNvPr id="23" name="TextBox 22"/>
          <p:cNvSpPr txBox="1"/>
          <p:nvPr/>
        </p:nvSpPr>
        <p:spPr>
          <a:xfrm>
            <a:off x="6368796"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Delphi agreement, 91 experts, to drop 'eosinophilic gastroenteritis' as the umbrella term</a:t>
            </a:r>
          </a:p>
        </p:txBody>
      </p:sp>
      <p:sp>
        <p:nvSpPr>
          <p:cNvPr id="24" name="Rectangle 23"/>
          <p:cNvSpPr/>
          <p:nvPr/>
        </p:nvSpPr>
        <p:spPr>
          <a:xfrm>
            <a:off x="9073134" y="1810512"/>
            <a:ext cx="2567178" cy="20116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810512"/>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0294" y="2130552"/>
            <a:ext cx="2292858" cy="777240"/>
          </a:xfrm>
          <a:prstGeom prst="rect">
            <a:avLst/>
          </a:prstGeom>
          <a:noFill/>
        </p:spPr>
        <p:txBody>
          <a:bodyPr wrap="square" lIns="0" rIns="0" tIns="18288" bIns="18288" anchor="t">
            <a:spAutoFit/>
          </a:bodyPr>
          <a:lstStyle/>
          <a:p>
            <a:pPr algn="l"/>
            <a:r>
              <a:rPr sz="2100" b="1" i="0">
                <a:solidFill>
                  <a:srgbClr val="1B355E"/>
                </a:solidFill>
                <a:latin typeface="Abadi"/>
              </a:rPr>
              <a:t>per mm²</a:t>
            </a:r>
          </a:p>
        </p:txBody>
      </p:sp>
      <p:sp>
        <p:nvSpPr>
          <p:cNvPr id="27" name="TextBox 26"/>
          <p:cNvSpPr txBox="1"/>
          <p:nvPr/>
        </p:nvSpPr>
        <p:spPr>
          <a:xfrm>
            <a:off x="9210294" y="2980944"/>
            <a:ext cx="2292858" cy="777240"/>
          </a:xfrm>
          <a:prstGeom prst="rect">
            <a:avLst/>
          </a:prstGeom>
          <a:noFill/>
        </p:spPr>
        <p:txBody>
          <a:bodyPr wrap="square" lIns="0" rIns="0" tIns="18288" bIns="18288" anchor="t">
            <a:spAutoFit/>
          </a:bodyPr>
          <a:lstStyle/>
          <a:p>
            <a:pPr algn="l"/>
            <a:r>
              <a:rPr sz="1100" b="0" i="0">
                <a:solidFill>
                  <a:srgbClr val="1A1A1A"/>
                </a:solidFill>
                <a:latin typeface="Abadi"/>
              </a:rPr>
              <a:t>High-power field area varies between microscopes and studies; ask for density</a:t>
            </a:r>
          </a:p>
        </p:txBody>
      </p:sp>
      <p:sp>
        <p:nvSpPr>
          <p:cNvPr id="28" name="TextBox 27"/>
          <p:cNvSpPr txBox="1"/>
          <p:nvPr/>
        </p:nvSpPr>
        <p:spPr>
          <a:xfrm>
            <a:off x="548640" y="4069080"/>
            <a:ext cx="11091672" cy="1691640"/>
          </a:xfrm>
          <a:prstGeom prst="rect">
            <a:avLst/>
          </a:prstGeom>
          <a:noFill/>
        </p:spPr>
        <p:txBody>
          <a:bodyPr wrap="square" lIns="0" rIns="0" tIns="18288" bIns="18288" anchor="t">
            <a:spAutoFit/>
          </a:bodyPr>
          <a:lstStyle/>
          <a:p>
            <a:pPr algn="l">
              <a:spcAft>
                <a:spcPts val="600"/>
              </a:spcAft>
            </a:pPr>
            <a:r>
              <a:rPr sz="1250" b="1" i="0">
                <a:solidFill>
                  <a:srgbClr val="1B355E"/>
                </a:solidFill>
                <a:latin typeface="Abadi"/>
              </a:rPr>
              <a:t>Why area matters.  </a:t>
            </a:r>
            <a:r>
              <a:rPr sz="1250" b="0" i="0">
                <a:solidFill>
                  <a:srgbClr val="1A1A1A"/>
                </a:solidFill>
                <a:latin typeface="Abadi"/>
              </a:rPr>
              <a:t>The AGREE equivalence of 15 per field and 60 per mm² implies a field of about 0.25 mm². A wider field on another microscope counts more cells for the same tissue, so the same biopsy can cross or miss a threshold.</a:t>
            </a:r>
          </a:p>
          <a:p>
            <a:pPr algn="l">
              <a:spcAft>
                <a:spcPts val="600"/>
              </a:spcAft>
            </a:pPr>
            <a:r>
              <a:rPr sz="1250" b="1" i="0">
                <a:solidFill>
                  <a:srgbClr val="1B355E"/>
                </a:solidFill>
                <a:latin typeface="Abadi"/>
              </a:rPr>
              <a:t>What to ask for.  </a:t>
            </a:r>
            <a:r>
              <a:rPr sz="1250" b="0" i="0">
                <a:solidFill>
                  <a:srgbClr val="1A1A1A"/>
                </a:solidFill>
                <a:latin typeface="Abadi"/>
              </a:rPr>
              <a:t>Peak density per mm², the number of fields above threshold, and the accompanying features: eosinophils in crypt epithelium, eosinophilic crypt abscesses, sheets in the lamina propria, and degranulation.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COLITIS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CHRONIC OR SELF-LIMITED?</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Features that separate inflammatory bowel disease from acute self-limited (usually infectious) colitis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7</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Magro 2013 (ECCO-ESP) · Feakins 2013 (BSG) · Surawicz 1994 · Le Berre N, et al. J Clin Pathol 1995;48:749–53</a:t>
            </a:r>
          </a:p>
        </p:txBody>
      </p:sp>
      <p:sp>
        <p:nvSpPr>
          <p:cNvPr id="12" name="Rectangle 11"/>
          <p:cNvSpPr/>
          <p:nvPr/>
        </p:nvSpPr>
        <p:spPr>
          <a:xfrm>
            <a:off x="548640" y="1773936"/>
            <a:ext cx="2567178" cy="27432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Architecture</a:t>
            </a:r>
          </a:p>
        </p:txBody>
      </p:sp>
      <p:sp>
        <p:nvSpPr>
          <p:cNvPr id="15" name="TextBox 14"/>
          <p:cNvSpPr txBox="1"/>
          <p:nvPr/>
        </p:nvSpPr>
        <p:spPr>
          <a:xfrm>
            <a:off x="749808"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Crypt branching, shortening, loss of parallel crypts</a:t>
            </a:r>
          </a:p>
          <a:p>
            <a:pPr algn="l">
              <a:spcAft>
                <a:spcPts val="500"/>
              </a:spcAft>
            </a:pPr>
            <a:r>
              <a:rPr sz="1250" b="0" i="0">
                <a:solidFill>
                  <a:srgbClr val="1A1A1A"/>
                </a:solidFill>
                <a:latin typeface="Abadi"/>
              </a:rPr>
              <a:t>▪  Atrophy alone is not distortion</a:t>
            </a:r>
          </a:p>
          <a:p>
            <a:pPr algn="l">
              <a:spcAft>
                <a:spcPts val="500"/>
              </a:spcAft>
            </a:pPr>
            <a:r>
              <a:rPr sz="1250" b="0" i="0">
                <a:solidFill>
                  <a:srgbClr val="1A1A1A"/>
                </a:solidFill>
                <a:latin typeface="Abadi"/>
              </a:rPr>
              <a:t>▪  Poor orientation mimics it</a:t>
            </a:r>
          </a:p>
        </p:txBody>
      </p:sp>
      <p:sp>
        <p:nvSpPr>
          <p:cNvPr id="16" name="Rectangle 15"/>
          <p:cNvSpPr/>
          <p:nvPr/>
        </p:nvSpPr>
        <p:spPr>
          <a:xfrm>
            <a:off x="3390138" y="1773936"/>
            <a:ext cx="2567178" cy="27432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1306"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Lamina propria</a:t>
            </a:r>
          </a:p>
        </p:txBody>
      </p:sp>
      <p:sp>
        <p:nvSpPr>
          <p:cNvPr id="19" name="TextBox 18"/>
          <p:cNvSpPr txBox="1"/>
          <p:nvPr/>
        </p:nvSpPr>
        <p:spPr>
          <a:xfrm>
            <a:off x="3591306"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Basal plasmacytosis: between crypt base and muscularis mucosae</a:t>
            </a:r>
          </a:p>
          <a:p>
            <a:pPr algn="l">
              <a:spcAft>
                <a:spcPts val="500"/>
              </a:spcAft>
            </a:pPr>
            <a:r>
              <a:rPr sz="1250" b="0" i="0">
                <a:solidFill>
                  <a:srgbClr val="1A1A1A"/>
                </a:solidFill>
                <a:latin typeface="Abadi"/>
              </a:rPr>
              <a:t>▪  Basal lymphoid aggregates</a:t>
            </a:r>
          </a:p>
          <a:p>
            <a:pPr algn="l">
              <a:spcAft>
                <a:spcPts val="500"/>
              </a:spcAft>
            </a:pPr>
            <a:r>
              <a:rPr sz="1250" b="0" i="0">
                <a:solidFill>
                  <a:srgbClr val="1A1A1A"/>
                </a:solidFill>
                <a:latin typeface="Abadi"/>
              </a:rPr>
              <a:t>▪  Transmucosal, not superficial, cellularity</a:t>
            </a:r>
          </a:p>
        </p:txBody>
      </p:sp>
      <p:sp>
        <p:nvSpPr>
          <p:cNvPr id="20" name="Rectangle 19"/>
          <p:cNvSpPr/>
          <p:nvPr/>
        </p:nvSpPr>
        <p:spPr>
          <a:xfrm>
            <a:off x="6231636" y="1773936"/>
            <a:ext cx="2567178" cy="27432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2803"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Epithelium</a:t>
            </a:r>
          </a:p>
        </p:txBody>
      </p:sp>
      <p:sp>
        <p:nvSpPr>
          <p:cNvPr id="23" name="TextBox 22"/>
          <p:cNvSpPr txBox="1"/>
          <p:nvPr/>
        </p:nvSpPr>
        <p:spPr>
          <a:xfrm>
            <a:off x="6432803"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Left-sided Paneth cell metaplasia</a:t>
            </a:r>
          </a:p>
          <a:p>
            <a:pPr algn="l">
              <a:spcAft>
                <a:spcPts val="500"/>
              </a:spcAft>
            </a:pPr>
            <a:r>
              <a:rPr sz="1250" b="0" i="0">
                <a:solidFill>
                  <a:srgbClr val="1A1A1A"/>
                </a:solidFill>
                <a:latin typeface="Abadi"/>
              </a:rPr>
              <a:t>▪  Mucin depletion</a:t>
            </a:r>
          </a:p>
          <a:p>
            <a:pPr algn="l">
              <a:spcAft>
                <a:spcPts val="500"/>
              </a:spcAft>
            </a:pPr>
            <a:r>
              <a:rPr sz="1250" b="0" i="0">
                <a:solidFill>
                  <a:srgbClr val="1A1A1A"/>
                </a:solidFill>
                <a:latin typeface="Abadi"/>
              </a:rPr>
              <a:t>▪  Cryptitis and crypt abscesses favour IBD too</a:t>
            </a:r>
          </a:p>
        </p:txBody>
      </p:sp>
      <p:sp>
        <p:nvSpPr>
          <p:cNvPr id="24" name="Rectangle 23"/>
          <p:cNvSpPr/>
          <p:nvPr/>
        </p:nvSpPr>
        <p:spPr>
          <a:xfrm>
            <a:off x="9073134" y="1773936"/>
            <a:ext cx="2567178" cy="27432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4302"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Self-limited colitis</a:t>
            </a:r>
          </a:p>
        </p:txBody>
      </p:sp>
      <p:sp>
        <p:nvSpPr>
          <p:cNvPr id="27" name="TextBox 26"/>
          <p:cNvSpPr txBox="1"/>
          <p:nvPr/>
        </p:nvSpPr>
        <p:spPr>
          <a:xfrm>
            <a:off x="9274302"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Normal architecture</a:t>
            </a:r>
          </a:p>
          <a:p>
            <a:pPr algn="l">
              <a:spcAft>
                <a:spcPts val="500"/>
              </a:spcAft>
            </a:pPr>
            <a:r>
              <a:rPr sz="1250" b="0" i="0">
                <a:solidFill>
                  <a:srgbClr val="1A1A1A"/>
                </a:solidFill>
                <a:latin typeface="Abadi"/>
              </a:rPr>
              <a:t>▪  Neutrophils in the upper lamina propria</a:t>
            </a:r>
          </a:p>
          <a:p>
            <a:pPr algn="l">
              <a:spcAft>
                <a:spcPts val="500"/>
              </a:spcAft>
            </a:pPr>
            <a:r>
              <a:rPr sz="1250" b="0" i="0">
                <a:solidFill>
                  <a:srgbClr val="1A1A1A"/>
                </a:solidFill>
                <a:latin typeface="Abadi"/>
              </a:rPr>
              <a:t>▪  Oedema; no basal plasma cells</a:t>
            </a:r>
          </a:p>
        </p:txBody>
      </p:sp>
      <p:sp>
        <p:nvSpPr>
          <p:cNvPr id="28" name="TextBox 27"/>
          <p:cNvSpPr txBox="1"/>
          <p:nvPr/>
        </p:nvSpPr>
        <p:spPr>
          <a:xfrm>
            <a:off x="548640" y="4709160"/>
            <a:ext cx="11091672" cy="822960"/>
          </a:xfrm>
          <a:prstGeom prst="rect">
            <a:avLst/>
          </a:prstGeom>
          <a:noFill/>
        </p:spPr>
        <p:txBody>
          <a:bodyPr wrap="square" lIns="0" rIns="0" tIns="18288" bIns="18288" anchor="t">
            <a:spAutoFit/>
          </a:bodyPr>
          <a:lstStyle/>
          <a:p>
            <a:pPr algn="l"/>
            <a:r>
              <a:rPr sz="1250" b="0" i="0">
                <a:solidFill>
                  <a:srgbClr val="1A1A1A"/>
                </a:solidFill>
                <a:latin typeface="Abadi"/>
              </a:rPr>
              <a:t>ECCO-ESP sampling: at least 2 biopsies from at least 5 sites including ileum and rectum, in separate labelled pots. Segmental biopsies raised diagnostic accuracy from 66% to 92%. A few intraepithelial neutrophils can be a bowel-preparation effect.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TIMING</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PLASMA CELLS BEFORE ARCHITECTURE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Frequency of basal plasmacytosis and crypt distortion, as tabulated in the ECCO-ESP consensus,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8</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Magro 2013, citing Schumacher G, et al. Scand J Gastroenterol 1994 · Surawicz 1994</a:t>
            </a:r>
          </a:p>
        </p:txBody>
      </p:sp>
      <p:sp>
        <p:nvSpPr>
          <p:cNvPr id="12" name="TextBox 11"/>
          <p:cNvSpPr txBox="1"/>
          <p:nvPr/>
        </p:nvSpPr>
        <p:spPr>
          <a:xfrm>
            <a:off x="548640" y="1874519"/>
            <a:ext cx="3657600" cy="475488"/>
          </a:xfrm>
          <a:prstGeom prst="rect">
            <a:avLst/>
          </a:prstGeom>
          <a:noFill/>
        </p:spPr>
        <p:txBody>
          <a:bodyPr wrap="square" lIns="0" rIns="0" tIns="18288" bIns="18288" anchor="ctr">
            <a:spAutoFit/>
          </a:bodyPr>
          <a:lstStyle/>
          <a:p>
            <a:pPr algn="r"/>
            <a:r>
              <a:rPr sz="1100" b="0" i="0">
                <a:solidFill>
                  <a:srgbClr val="1A1A1A"/>
                </a:solidFill>
                <a:latin typeface="Abadi"/>
              </a:rPr>
              <a:t>Basal plasmacytosis, UC first attack</a:t>
            </a:r>
          </a:p>
        </p:txBody>
      </p:sp>
      <p:sp>
        <p:nvSpPr>
          <p:cNvPr id="13" name="Rectangle 12"/>
          <p:cNvSpPr/>
          <p:nvPr/>
        </p:nvSpPr>
        <p:spPr>
          <a:xfrm>
            <a:off x="4343400" y="1947672"/>
            <a:ext cx="2743200"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59752" y="1874519"/>
            <a:ext cx="1005840" cy="475488"/>
          </a:xfrm>
          <a:prstGeom prst="rect">
            <a:avLst/>
          </a:prstGeom>
          <a:noFill/>
        </p:spPr>
        <p:txBody>
          <a:bodyPr wrap="square" lIns="0" rIns="0" tIns="18288" bIns="18288" anchor="ctr">
            <a:spAutoFit/>
          </a:bodyPr>
          <a:lstStyle/>
          <a:p>
            <a:pPr algn="l"/>
            <a:r>
              <a:rPr sz="1100" b="1" i="0">
                <a:solidFill>
                  <a:srgbClr val="1A1A1A"/>
                </a:solidFill>
                <a:latin typeface="Abadi"/>
              </a:rPr>
              <a:t>63%</a:t>
            </a:r>
          </a:p>
        </p:txBody>
      </p:sp>
      <p:sp>
        <p:nvSpPr>
          <p:cNvPr id="15" name="TextBox 14"/>
          <p:cNvSpPr txBox="1"/>
          <p:nvPr/>
        </p:nvSpPr>
        <p:spPr>
          <a:xfrm>
            <a:off x="548640" y="2423160"/>
            <a:ext cx="3657600" cy="475488"/>
          </a:xfrm>
          <a:prstGeom prst="rect">
            <a:avLst/>
          </a:prstGeom>
          <a:noFill/>
        </p:spPr>
        <p:txBody>
          <a:bodyPr wrap="square" lIns="0" rIns="0" tIns="18288" bIns="18288" anchor="ctr">
            <a:spAutoFit/>
          </a:bodyPr>
          <a:lstStyle/>
          <a:p>
            <a:pPr algn="r"/>
            <a:r>
              <a:rPr sz="1100" b="0" i="0">
                <a:solidFill>
                  <a:srgbClr val="1A1A1A"/>
                </a:solidFill>
                <a:latin typeface="Abadi"/>
              </a:rPr>
              <a:t>Basal plasmacytosis, Crohn's</a:t>
            </a:r>
          </a:p>
        </p:txBody>
      </p:sp>
      <p:sp>
        <p:nvSpPr>
          <p:cNvPr id="16" name="Rectangle 15"/>
          <p:cNvSpPr/>
          <p:nvPr/>
        </p:nvSpPr>
        <p:spPr>
          <a:xfrm>
            <a:off x="4343400" y="2496312"/>
            <a:ext cx="2699657"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16209" y="2423160"/>
            <a:ext cx="1005840" cy="475488"/>
          </a:xfrm>
          <a:prstGeom prst="rect">
            <a:avLst/>
          </a:prstGeom>
          <a:noFill/>
        </p:spPr>
        <p:txBody>
          <a:bodyPr wrap="square" lIns="0" rIns="0" tIns="18288" bIns="18288" anchor="ctr">
            <a:spAutoFit/>
          </a:bodyPr>
          <a:lstStyle/>
          <a:p>
            <a:pPr algn="l"/>
            <a:r>
              <a:rPr sz="1100" b="1" i="0">
                <a:solidFill>
                  <a:srgbClr val="1A1A1A"/>
                </a:solidFill>
                <a:latin typeface="Abadi"/>
              </a:rPr>
              <a:t>62%</a:t>
            </a:r>
          </a:p>
        </p:txBody>
      </p:sp>
      <p:sp>
        <p:nvSpPr>
          <p:cNvPr id="18" name="TextBox 17"/>
          <p:cNvSpPr txBox="1"/>
          <p:nvPr/>
        </p:nvSpPr>
        <p:spPr>
          <a:xfrm>
            <a:off x="548640" y="2971800"/>
            <a:ext cx="3657600" cy="475488"/>
          </a:xfrm>
          <a:prstGeom prst="rect">
            <a:avLst/>
          </a:prstGeom>
          <a:noFill/>
        </p:spPr>
        <p:txBody>
          <a:bodyPr wrap="square" lIns="0" rIns="0" tIns="18288" bIns="18288" anchor="ctr">
            <a:spAutoFit/>
          </a:bodyPr>
          <a:lstStyle/>
          <a:p>
            <a:pPr algn="r"/>
            <a:r>
              <a:rPr sz="1100" b="0" i="0">
                <a:solidFill>
                  <a:srgbClr val="1A1A1A"/>
                </a:solidFill>
                <a:latin typeface="Abadi"/>
              </a:rPr>
              <a:t>Basal plasmacytosis, children with UC</a:t>
            </a:r>
          </a:p>
        </p:txBody>
      </p:sp>
      <p:sp>
        <p:nvSpPr>
          <p:cNvPr id="19" name="Rectangle 18"/>
          <p:cNvSpPr/>
          <p:nvPr/>
        </p:nvSpPr>
        <p:spPr>
          <a:xfrm>
            <a:off x="4343400" y="3044952"/>
            <a:ext cx="2525485"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2037" y="2971800"/>
            <a:ext cx="1005840" cy="475488"/>
          </a:xfrm>
          <a:prstGeom prst="rect">
            <a:avLst/>
          </a:prstGeom>
          <a:noFill/>
        </p:spPr>
        <p:txBody>
          <a:bodyPr wrap="square" lIns="0" rIns="0" tIns="18288" bIns="18288" anchor="ctr">
            <a:spAutoFit/>
          </a:bodyPr>
          <a:lstStyle/>
          <a:p>
            <a:pPr algn="l"/>
            <a:r>
              <a:rPr sz="1100" b="1" i="0">
                <a:solidFill>
                  <a:srgbClr val="1A1A1A"/>
                </a:solidFill>
                <a:latin typeface="Abadi"/>
              </a:rPr>
              <a:t>58%</a:t>
            </a:r>
          </a:p>
        </p:txBody>
      </p:sp>
      <p:sp>
        <p:nvSpPr>
          <p:cNvPr id="21" name="TextBox 20"/>
          <p:cNvSpPr txBox="1"/>
          <p:nvPr/>
        </p:nvSpPr>
        <p:spPr>
          <a:xfrm>
            <a:off x="548640" y="3520439"/>
            <a:ext cx="3657600" cy="475488"/>
          </a:xfrm>
          <a:prstGeom prst="rect">
            <a:avLst/>
          </a:prstGeom>
          <a:noFill/>
        </p:spPr>
        <p:txBody>
          <a:bodyPr wrap="square" lIns="0" rIns="0" tIns="18288" bIns="18288" anchor="ctr">
            <a:spAutoFit/>
          </a:bodyPr>
          <a:lstStyle/>
          <a:p>
            <a:pPr algn="r"/>
            <a:r>
              <a:rPr sz="1100" b="0" i="0">
                <a:solidFill>
                  <a:srgbClr val="1A1A1A"/>
                </a:solidFill>
                <a:latin typeface="Abadi"/>
              </a:rPr>
              <a:t>Basal plasmacytosis within 2 weeks of onset</a:t>
            </a:r>
          </a:p>
        </p:txBody>
      </p:sp>
      <p:sp>
        <p:nvSpPr>
          <p:cNvPr id="22" name="Rectangle 21"/>
          <p:cNvSpPr/>
          <p:nvPr/>
        </p:nvSpPr>
        <p:spPr>
          <a:xfrm>
            <a:off x="4343400" y="3593591"/>
            <a:ext cx="1654628"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71180" y="3520439"/>
            <a:ext cx="1005840" cy="475488"/>
          </a:xfrm>
          <a:prstGeom prst="rect">
            <a:avLst/>
          </a:prstGeom>
          <a:noFill/>
        </p:spPr>
        <p:txBody>
          <a:bodyPr wrap="square" lIns="0" rIns="0" tIns="18288" bIns="18288" anchor="ctr">
            <a:spAutoFit/>
          </a:bodyPr>
          <a:lstStyle/>
          <a:p>
            <a:pPr algn="l"/>
            <a:r>
              <a:rPr sz="1100" b="1" i="0">
                <a:solidFill>
                  <a:srgbClr val="1A1A1A"/>
                </a:solidFill>
                <a:latin typeface="Abadi"/>
              </a:rPr>
              <a:t>38%</a:t>
            </a:r>
          </a:p>
        </p:txBody>
      </p:sp>
      <p:sp>
        <p:nvSpPr>
          <p:cNvPr id="24" name="TextBox 23"/>
          <p:cNvSpPr txBox="1"/>
          <p:nvPr/>
        </p:nvSpPr>
        <p:spPr>
          <a:xfrm>
            <a:off x="548640" y="4069079"/>
            <a:ext cx="3657600" cy="475488"/>
          </a:xfrm>
          <a:prstGeom prst="rect">
            <a:avLst/>
          </a:prstGeom>
          <a:noFill/>
        </p:spPr>
        <p:txBody>
          <a:bodyPr wrap="square" lIns="0" rIns="0" tIns="18288" bIns="18288" anchor="ctr">
            <a:spAutoFit/>
          </a:bodyPr>
          <a:lstStyle/>
          <a:p>
            <a:pPr algn="r"/>
            <a:r>
              <a:rPr sz="1100" b="0" i="0">
                <a:solidFill>
                  <a:srgbClr val="1A1A1A"/>
                </a:solidFill>
                <a:latin typeface="Abadi"/>
              </a:rPr>
              <a:t>Crypt distortion within 2 weeks of onset</a:t>
            </a:r>
          </a:p>
        </p:txBody>
      </p:sp>
      <p:sp>
        <p:nvSpPr>
          <p:cNvPr id="25" name="Rectangle 24"/>
          <p:cNvSpPr/>
          <p:nvPr/>
        </p:nvSpPr>
        <p:spPr>
          <a:xfrm>
            <a:off x="4343400" y="4142231"/>
            <a:ext cx="870857"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87409" y="4069079"/>
            <a:ext cx="1005840" cy="475488"/>
          </a:xfrm>
          <a:prstGeom prst="rect">
            <a:avLst/>
          </a:prstGeom>
          <a:noFill/>
        </p:spPr>
        <p:txBody>
          <a:bodyPr wrap="square" lIns="0" rIns="0" tIns="18288" bIns="18288" anchor="ctr">
            <a:spAutoFit/>
          </a:bodyPr>
          <a:lstStyle/>
          <a:p>
            <a:pPr algn="l"/>
            <a:r>
              <a:rPr sz="1100" b="1" i="0">
                <a:solidFill>
                  <a:srgbClr val="1A1A1A"/>
                </a:solidFill>
                <a:latin typeface="Abadi"/>
              </a:rPr>
              <a:t>20%</a:t>
            </a:r>
          </a:p>
        </p:txBody>
      </p:sp>
      <p:sp>
        <p:nvSpPr>
          <p:cNvPr id="27" name="TextBox 26"/>
          <p:cNvSpPr txBox="1"/>
          <p:nvPr/>
        </p:nvSpPr>
        <p:spPr>
          <a:xfrm>
            <a:off x="548640" y="4617720"/>
            <a:ext cx="3657600" cy="475488"/>
          </a:xfrm>
          <a:prstGeom prst="rect">
            <a:avLst/>
          </a:prstGeom>
          <a:noFill/>
        </p:spPr>
        <p:txBody>
          <a:bodyPr wrap="square" lIns="0" rIns="0" tIns="18288" bIns="18288" anchor="ctr">
            <a:spAutoFit/>
          </a:bodyPr>
          <a:lstStyle/>
          <a:p>
            <a:pPr algn="r"/>
            <a:r>
              <a:rPr sz="1100" b="0" i="0">
                <a:solidFill>
                  <a:srgbClr val="1A1A1A"/>
                </a:solidFill>
                <a:latin typeface="Abadi"/>
              </a:rPr>
              <a:t>Basal plasmacytosis, infectious colitis</a:t>
            </a:r>
          </a:p>
        </p:txBody>
      </p:sp>
      <p:sp>
        <p:nvSpPr>
          <p:cNvPr id="28" name="Rectangle 27"/>
          <p:cNvSpPr/>
          <p:nvPr/>
        </p:nvSpPr>
        <p:spPr>
          <a:xfrm>
            <a:off x="4343400" y="4690872"/>
            <a:ext cx="261257" cy="34747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77809" y="4617720"/>
            <a:ext cx="1005840" cy="475488"/>
          </a:xfrm>
          <a:prstGeom prst="rect">
            <a:avLst/>
          </a:prstGeom>
          <a:noFill/>
        </p:spPr>
        <p:txBody>
          <a:bodyPr wrap="square" lIns="0" rIns="0" tIns="18288" bIns="18288" anchor="ctr">
            <a:spAutoFit/>
          </a:bodyPr>
          <a:lstStyle/>
          <a:p>
            <a:pPr algn="l"/>
            <a:r>
              <a:rPr sz="1100" b="1" i="0">
                <a:solidFill>
                  <a:srgbClr val="1A1A1A"/>
                </a:solidFill>
                <a:latin typeface="Abadi"/>
              </a:rPr>
              <a:t>6%</a:t>
            </a:r>
          </a:p>
        </p:txBody>
      </p:sp>
      <p:sp>
        <p:nvSpPr>
          <p:cNvPr id="30" name="TextBox 29"/>
          <p:cNvSpPr txBox="1"/>
          <p:nvPr/>
        </p:nvSpPr>
        <p:spPr>
          <a:xfrm>
            <a:off x="7680960" y="1828800"/>
            <a:ext cx="393192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6% vs 63%</a:t>
            </a:r>
          </a:p>
          <a:p>
            <a:pPr algn="l">
              <a:spcAft>
                <a:spcPts val="300"/>
              </a:spcAft>
            </a:pPr>
            <a:r>
              <a:rPr sz="1100" b="0" i="0">
                <a:solidFill>
                  <a:srgbClr val="1A1A1A"/>
                </a:solidFill>
                <a:latin typeface="Abadi"/>
              </a:rPr>
              <a:t>Basal plasmacytosis is rare in infection; it is the single most useful early discriminator.</a:t>
            </a:r>
          </a:p>
          <a:p>
            <a:pPr algn="l">
              <a:spcAft>
                <a:spcPts val="300"/>
              </a:spcAft>
            </a:pPr>
            <a:r>
              <a:rPr sz="1700" b="1" i="0">
                <a:solidFill>
                  <a:srgbClr val="1B355E"/>
                </a:solidFill>
                <a:latin typeface="Abadi"/>
              </a:rPr>
              <a:t>20%</a:t>
            </a:r>
          </a:p>
          <a:p>
            <a:pPr algn="l">
              <a:spcAft>
                <a:spcPts val="300"/>
              </a:spcAft>
            </a:pPr>
            <a:r>
              <a:rPr sz="1100" b="0" i="0">
                <a:solidFill>
                  <a:srgbClr val="1A1A1A"/>
                </a:solidFill>
                <a:latin typeface="Abadi"/>
              </a:rPr>
              <a:t>Crypt distortion is usually absent in the first fortnight; absence does not exclude IBD.</a:t>
            </a:r>
          </a:p>
          <a:p>
            <a:pPr algn="l">
              <a:spcAft>
                <a:spcPts val="300"/>
              </a:spcAft>
            </a:pPr>
            <a:r>
              <a:rPr sz="1700" b="1" i="0">
                <a:solidFill>
                  <a:srgbClr val="1B355E"/>
                </a:solidFill>
                <a:latin typeface="Abadi"/>
              </a:rPr>
              <a:t>7 days</a:t>
            </a:r>
          </a:p>
          <a:p>
            <a:pPr algn="l">
              <a:spcAft>
                <a:spcPts val="300"/>
              </a:spcAft>
            </a:pPr>
            <a:r>
              <a:rPr sz="1100" b="0" i="0">
                <a:solidFill>
                  <a:srgbClr val="1A1A1A"/>
                </a:solidFill>
                <a:latin typeface="Abadi"/>
              </a:rPr>
              <a:t>Earliest chronic change seen after the onset of IBD symptoms (Surawicz 1994).</a:t>
            </a:r>
          </a:p>
          <a:p>
            <a:pPr algn="l">
              <a:spcAft>
                <a:spcPts val="300"/>
              </a:spcAft>
            </a:pPr>
            <a:r>
              <a:rPr sz="1700" b="1" i="0">
                <a:solidFill>
                  <a:srgbClr val="1B355E"/>
                </a:solidFill>
                <a:latin typeface="Abadi"/>
              </a:rPr>
              <a:t>Repeat</a:t>
            </a:r>
          </a:p>
          <a:p>
            <a:pPr algn="l">
              <a:spcAft>
                <a:spcPts val="300"/>
              </a:spcAft>
            </a:pPr>
            <a:r>
              <a:rPr sz="1100" b="0" i="0">
                <a:solidFill>
                  <a:srgbClr val="1A1A1A"/>
                </a:solidFill>
                <a:latin typeface="Abadi"/>
              </a:rPr>
              <a:t>If the first biopsy is early and equivocal, re-biopsy after the infectious work-up.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PAEDIATRIC UC</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CHILDREN BREAK THE ADULT RULES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Atypical findings in new-onset ulcerative colitis, 73 children vs 38 adults,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9</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Glickman JN, et al. Am J Surg Pathol 2004;28:190–7 · Robert ME, et al. Am J Surg Pathol 2004;28:183–9 · Levine A, et al. JPGN 2014;58:795–806</a:t>
            </a:r>
          </a:p>
        </p:txBody>
      </p:sp>
      <p:sp>
        <p:nvSpPr>
          <p:cNvPr id="12" name="Rectangle 11"/>
          <p:cNvSpPr/>
          <p:nvPr/>
        </p:nvSpPr>
        <p:spPr>
          <a:xfrm>
            <a:off x="548640" y="1847088"/>
            <a:ext cx="137160" cy="1371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Children</a:t>
            </a:r>
          </a:p>
        </p:txBody>
      </p:sp>
      <p:sp>
        <p:nvSpPr>
          <p:cNvPr id="14" name="Rectangle 13"/>
          <p:cNvSpPr/>
          <p:nvPr/>
        </p:nvSpPr>
        <p:spPr>
          <a:xfrm>
            <a:off x="1737360" y="1847088"/>
            <a:ext cx="137160" cy="13716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3852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Adults</a:t>
            </a:r>
          </a:p>
        </p:txBody>
      </p:sp>
      <p:sp>
        <p:nvSpPr>
          <p:cNvPr id="16" name="Rectangle 15"/>
          <p:cNvSpPr/>
          <p:nvPr/>
        </p:nvSpPr>
        <p:spPr>
          <a:xfrm>
            <a:off x="548640" y="5349240"/>
            <a:ext cx="658368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 y="4158691"/>
            <a:ext cx="539496" cy="119054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902659"/>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21%</a:t>
            </a:r>
          </a:p>
        </p:txBody>
      </p:sp>
      <p:sp>
        <p:nvSpPr>
          <p:cNvPr id="19" name="Rectangle 18"/>
          <p:cNvSpPr/>
          <p:nvPr/>
        </p:nvSpPr>
        <p:spPr>
          <a:xfrm>
            <a:off x="1389888" y="5330952"/>
            <a:ext cx="539496" cy="1828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5074920"/>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0%</a:t>
            </a:r>
          </a:p>
        </p:txBody>
      </p:sp>
      <p:sp>
        <p:nvSpPr>
          <p:cNvPr id="21" name="TextBox 20"/>
          <p:cNvSpPr txBox="1"/>
          <p:nvPr/>
        </p:nvSpPr>
        <p:spPr>
          <a:xfrm>
            <a:off x="548640" y="5385816"/>
            <a:ext cx="1645920" cy="274320"/>
          </a:xfrm>
          <a:prstGeom prst="rect">
            <a:avLst/>
          </a:prstGeom>
          <a:noFill/>
        </p:spPr>
        <p:txBody>
          <a:bodyPr wrap="square" lIns="0" rIns="0" tIns="18288" bIns="18288" anchor="t">
            <a:spAutoFit/>
          </a:bodyPr>
          <a:lstStyle/>
          <a:p>
            <a:pPr algn="ctr"/>
            <a:r>
              <a:rPr sz="950" b="0" i="0">
                <a:solidFill>
                  <a:srgbClr val="1A1A1A"/>
                </a:solidFill>
                <a:latin typeface="Abadi"/>
              </a:rPr>
              <a:t>Patchy chronicity</a:t>
            </a:r>
          </a:p>
        </p:txBody>
      </p:sp>
      <p:sp>
        <p:nvSpPr>
          <p:cNvPr id="22" name="Rectangle 21"/>
          <p:cNvSpPr/>
          <p:nvPr/>
        </p:nvSpPr>
        <p:spPr>
          <a:xfrm>
            <a:off x="2459736" y="4045305"/>
            <a:ext cx="539496" cy="130393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04288" y="3789273"/>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23%</a:t>
            </a:r>
          </a:p>
        </p:txBody>
      </p:sp>
      <p:sp>
        <p:nvSpPr>
          <p:cNvPr id="24" name="Rectangle 23"/>
          <p:cNvSpPr/>
          <p:nvPr/>
        </p:nvSpPr>
        <p:spPr>
          <a:xfrm>
            <a:off x="3035808" y="5330952"/>
            <a:ext cx="539496" cy="1828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80360" y="5074920"/>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0%</a:t>
            </a:r>
          </a:p>
        </p:txBody>
      </p:sp>
      <p:sp>
        <p:nvSpPr>
          <p:cNvPr id="26" name="TextBox 25"/>
          <p:cNvSpPr txBox="1"/>
          <p:nvPr/>
        </p:nvSpPr>
        <p:spPr>
          <a:xfrm>
            <a:off x="2194560" y="5385816"/>
            <a:ext cx="1645920" cy="274320"/>
          </a:xfrm>
          <a:prstGeom prst="rect">
            <a:avLst/>
          </a:prstGeom>
          <a:noFill/>
        </p:spPr>
        <p:txBody>
          <a:bodyPr wrap="square" lIns="0" rIns="0" tIns="18288" bIns="18288" anchor="t">
            <a:spAutoFit/>
          </a:bodyPr>
          <a:lstStyle/>
          <a:p>
            <a:pPr algn="ctr"/>
            <a:r>
              <a:rPr sz="950" b="0" i="0">
                <a:solidFill>
                  <a:srgbClr val="1A1A1A"/>
                </a:solidFill>
                <a:latin typeface="Abadi"/>
              </a:rPr>
              <a:t>Relative rectal sparing</a:t>
            </a:r>
          </a:p>
        </p:txBody>
      </p:sp>
      <p:sp>
        <p:nvSpPr>
          <p:cNvPr id="27" name="Rectangle 26"/>
          <p:cNvSpPr/>
          <p:nvPr/>
        </p:nvSpPr>
        <p:spPr>
          <a:xfrm>
            <a:off x="4105656" y="4895697"/>
            <a:ext cx="539496" cy="45354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50208" y="4639665"/>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8%</a:t>
            </a:r>
          </a:p>
        </p:txBody>
      </p:sp>
      <p:sp>
        <p:nvSpPr>
          <p:cNvPr id="29" name="Rectangle 28"/>
          <p:cNvSpPr/>
          <p:nvPr/>
        </p:nvSpPr>
        <p:spPr>
          <a:xfrm>
            <a:off x="4681728" y="5330952"/>
            <a:ext cx="539496" cy="1828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5074920"/>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0%</a:t>
            </a:r>
          </a:p>
        </p:txBody>
      </p:sp>
      <p:sp>
        <p:nvSpPr>
          <p:cNvPr id="31" name="TextBox 30"/>
          <p:cNvSpPr txBox="1"/>
          <p:nvPr/>
        </p:nvSpPr>
        <p:spPr>
          <a:xfrm>
            <a:off x="3840480" y="5385816"/>
            <a:ext cx="1645920" cy="274320"/>
          </a:xfrm>
          <a:prstGeom prst="rect">
            <a:avLst/>
          </a:prstGeom>
          <a:noFill/>
        </p:spPr>
        <p:txBody>
          <a:bodyPr wrap="square" lIns="0" rIns="0" tIns="18288" bIns="18288" anchor="t">
            <a:spAutoFit/>
          </a:bodyPr>
          <a:lstStyle/>
          <a:p>
            <a:pPr algn="ctr"/>
            <a:r>
              <a:rPr sz="950" b="0" i="0">
                <a:solidFill>
                  <a:srgbClr val="1A1A1A"/>
                </a:solidFill>
                <a:latin typeface="Abadi"/>
              </a:rPr>
              <a:t>Minimal crypt distortion</a:t>
            </a:r>
          </a:p>
        </p:txBody>
      </p:sp>
      <p:sp>
        <p:nvSpPr>
          <p:cNvPr id="32" name="Rectangle 31"/>
          <p:cNvSpPr/>
          <p:nvPr/>
        </p:nvSpPr>
        <p:spPr>
          <a:xfrm>
            <a:off x="5751575" y="2968142"/>
            <a:ext cx="539496" cy="2381097"/>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96127" y="2712110"/>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42%</a:t>
            </a:r>
          </a:p>
        </p:txBody>
      </p:sp>
      <p:sp>
        <p:nvSpPr>
          <p:cNvPr id="34" name="Rectangle 33"/>
          <p:cNvSpPr/>
          <p:nvPr/>
        </p:nvSpPr>
        <p:spPr>
          <a:xfrm>
            <a:off x="6327647" y="4725619"/>
            <a:ext cx="539496" cy="62362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199" y="4469587"/>
            <a:ext cx="850392" cy="228600"/>
          </a:xfrm>
          <a:prstGeom prst="rect">
            <a:avLst/>
          </a:prstGeom>
          <a:noFill/>
        </p:spPr>
        <p:txBody>
          <a:bodyPr wrap="square" lIns="0" rIns="0" tIns="18288" bIns="18288" anchor="t">
            <a:spAutoFit/>
          </a:bodyPr>
          <a:lstStyle/>
          <a:p>
            <a:pPr algn="ctr"/>
            <a:r>
              <a:rPr sz="950" b="1" i="0">
                <a:solidFill>
                  <a:srgbClr val="1B355E"/>
                </a:solidFill>
                <a:latin typeface="Abadi"/>
              </a:rPr>
              <a:t>11%</a:t>
            </a:r>
          </a:p>
        </p:txBody>
      </p:sp>
      <p:sp>
        <p:nvSpPr>
          <p:cNvPr id="36" name="TextBox 35"/>
          <p:cNvSpPr txBox="1"/>
          <p:nvPr/>
        </p:nvSpPr>
        <p:spPr>
          <a:xfrm>
            <a:off x="5486400" y="5385816"/>
            <a:ext cx="1645920" cy="274320"/>
          </a:xfrm>
          <a:prstGeom prst="rect">
            <a:avLst/>
          </a:prstGeom>
          <a:noFill/>
        </p:spPr>
        <p:txBody>
          <a:bodyPr wrap="square" lIns="0" rIns="0" tIns="18288" bIns="18288" anchor="t">
            <a:spAutoFit/>
          </a:bodyPr>
          <a:lstStyle/>
          <a:p>
            <a:pPr algn="ctr"/>
            <a:r>
              <a:rPr sz="950" b="0" i="0">
                <a:solidFill>
                  <a:srgbClr val="1A1A1A"/>
                </a:solidFill>
                <a:latin typeface="Abadi"/>
              </a:rPr>
              <a:t>Subtotal or pancolitis</a:t>
            </a:r>
          </a:p>
        </p:txBody>
      </p:sp>
      <p:sp>
        <p:nvSpPr>
          <p:cNvPr id="37" name="TextBox 36"/>
          <p:cNvSpPr txBox="1"/>
          <p:nvPr/>
        </p:nvSpPr>
        <p:spPr>
          <a:xfrm>
            <a:off x="7498079" y="1828800"/>
            <a:ext cx="411480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Under 10 years</a:t>
            </a:r>
          </a:p>
          <a:p>
            <a:pPr algn="l">
              <a:spcAft>
                <a:spcPts val="300"/>
              </a:spcAft>
            </a:pPr>
            <a:r>
              <a:rPr sz="1100" b="0" i="0">
                <a:solidFill>
                  <a:srgbClr val="1A1A1A"/>
                </a:solidFill>
                <a:latin typeface="Abadi"/>
              </a:rPr>
              <a:t>Less crypt branching, fewer plasma cells and less cryptitis than adults; adolescents look like adults (Robert 2004).</a:t>
            </a:r>
          </a:p>
          <a:p>
            <a:pPr algn="l">
              <a:spcAft>
                <a:spcPts val="300"/>
              </a:spcAft>
            </a:pPr>
            <a:r>
              <a:rPr sz="1700" b="1" i="0">
                <a:solidFill>
                  <a:srgbClr val="1B355E"/>
                </a:solidFill>
                <a:latin typeface="Abadi"/>
              </a:rPr>
              <a:t>Porto 2014</a:t>
            </a:r>
          </a:p>
          <a:p>
            <a:pPr algn="l">
              <a:spcAft>
                <a:spcPts val="300"/>
              </a:spcAft>
            </a:pPr>
            <a:r>
              <a:rPr sz="1100" b="0" i="0">
                <a:solidFill>
                  <a:srgbClr val="1A1A1A"/>
                </a:solidFill>
                <a:latin typeface="Abadi"/>
              </a:rPr>
              <a:t>Atypical UC: rectal sparing, short duration without chronicity, caecal patch, upper GI erosions without granulomas, acute severe colitis.</a:t>
            </a:r>
          </a:p>
          <a:p>
            <a:pPr algn="l">
              <a:spcAft>
                <a:spcPts val="300"/>
              </a:spcAft>
            </a:pPr>
            <a:r>
              <a:rPr sz="1700" b="1" i="0">
                <a:solidFill>
                  <a:srgbClr val="1B355E"/>
                </a:solidFill>
                <a:latin typeface="Abadi"/>
              </a:rPr>
              <a:t>Rule</a:t>
            </a:r>
          </a:p>
          <a:p>
            <a:pPr algn="l">
              <a:spcAft>
                <a:spcPts val="300"/>
              </a:spcAft>
            </a:pPr>
            <a:r>
              <a:rPr sz="1100" b="0" i="0">
                <a:solidFill>
                  <a:srgbClr val="1A1A1A"/>
                </a:solidFill>
                <a:latin typeface="Abadi"/>
              </a:rPr>
              <a:t>A normal rectum or absent distortion in a young child does not rule out UC.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GRANULOMAS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LOOK HIGH AND LOOK EARLY</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Granulomas in paediatric Crohn's disease, % of patients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10</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De Matos V, et al. JPGN 2008;46:392–8 · Rubio CA, et al. J Clin Pathol 2007;60:1268–72 · Rothschild B, et al. Scand J Gastroenterol 2017;52:716–21</a:t>
            </a:r>
          </a:p>
        </p:txBody>
      </p:sp>
      <p:sp>
        <p:nvSpPr>
          <p:cNvPr id="12" name="TextBox 11"/>
          <p:cNvSpPr txBox="1"/>
          <p:nvPr/>
        </p:nvSpPr>
        <p:spPr>
          <a:xfrm>
            <a:off x="548640" y="1828800"/>
            <a:ext cx="3474720" cy="438912"/>
          </a:xfrm>
          <a:prstGeom prst="rect">
            <a:avLst/>
          </a:prstGeom>
          <a:noFill/>
        </p:spPr>
        <p:txBody>
          <a:bodyPr wrap="square" lIns="0" rIns="0" tIns="18288" bIns="18288" anchor="ctr">
            <a:spAutoFit/>
          </a:bodyPr>
          <a:lstStyle/>
          <a:p>
            <a:pPr algn="r"/>
            <a:r>
              <a:rPr sz="1100" b="0" i="0">
                <a:solidFill>
                  <a:srgbClr val="1A1A1A"/>
                </a:solidFill>
                <a:latin typeface="Abadi"/>
              </a:rPr>
              <a:t>Untreated at diagnosis (De Matos)</a:t>
            </a:r>
          </a:p>
        </p:txBody>
      </p:sp>
      <p:sp>
        <p:nvSpPr>
          <p:cNvPr id="13" name="Rectangle 12"/>
          <p:cNvSpPr/>
          <p:nvPr/>
        </p:nvSpPr>
        <p:spPr>
          <a:xfrm>
            <a:off x="4160520" y="1901952"/>
            <a:ext cx="2490107"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3779" y="1828800"/>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61%</a:t>
            </a:r>
          </a:p>
        </p:txBody>
      </p:sp>
      <p:sp>
        <p:nvSpPr>
          <p:cNvPr id="15" name="TextBox 14"/>
          <p:cNvSpPr txBox="1"/>
          <p:nvPr/>
        </p:nvSpPr>
        <p:spPr>
          <a:xfrm>
            <a:off x="548640" y="2340864"/>
            <a:ext cx="3474720" cy="438912"/>
          </a:xfrm>
          <a:prstGeom prst="rect">
            <a:avLst/>
          </a:prstGeom>
          <a:noFill/>
        </p:spPr>
        <p:txBody>
          <a:bodyPr wrap="square" lIns="0" rIns="0" tIns="18288" bIns="18288" anchor="ctr">
            <a:spAutoFit/>
          </a:bodyPr>
          <a:lstStyle/>
          <a:p>
            <a:pPr algn="r"/>
            <a:r>
              <a:rPr sz="1100" b="0" i="0">
                <a:solidFill>
                  <a:srgbClr val="1A1A1A"/>
                </a:solidFill>
                <a:latin typeface="Abadi"/>
              </a:rPr>
              <a:t>Already treated (De Matos)</a:t>
            </a:r>
          </a:p>
        </p:txBody>
      </p:sp>
      <p:sp>
        <p:nvSpPr>
          <p:cNvPr id="16" name="Rectangle 15"/>
          <p:cNvSpPr/>
          <p:nvPr/>
        </p:nvSpPr>
        <p:spPr>
          <a:xfrm>
            <a:off x="4160520" y="2414016"/>
            <a:ext cx="1000125"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33797" y="2340864"/>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24.5%</a:t>
            </a:r>
          </a:p>
        </p:txBody>
      </p:sp>
      <p:sp>
        <p:nvSpPr>
          <p:cNvPr id="18" name="TextBox 17"/>
          <p:cNvSpPr txBox="1"/>
          <p:nvPr/>
        </p:nvSpPr>
        <p:spPr>
          <a:xfrm>
            <a:off x="548640" y="2852928"/>
            <a:ext cx="3474720" cy="438912"/>
          </a:xfrm>
          <a:prstGeom prst="rect">
            <a:avLst/>
          </a:prstGeom>
          <a:noFill/>
        </p:spPr>
        <p:txBody>
          <a:bodyPr wrap="square" lIns="0" rIns="0" tIns="18288" bIns="18288" anchor="ctr">
            <a:spAutoFit/>
          </a:bodyPr>
          <a:lstStyle/>
          <a:p>
            <a:pPr algn="r"/>
            <a:r>
              <a:rPr sz="1100" b="0" i="0">
                <a:solidFill>
                  <a:srgbClr val="1A1A1A"/>
                </a:solidFill>
                <a:latin typeface="Abadi"/>
              </a:rPr>
              <a:t>First colonoscopy, children (Rubio)</a:t>
            </a:r>
          </a:p>
        </p:txBody>
      </p:sp>
      <p:sp>
        <p:nvSpPr>
          <p:cNvPr id="19" name="Rectangle 18"/>
          <p:cNvSpPr/>
          <p:nvPr/>
        </p:nvSpPr>
        <p:spPr>
          <a:xfrm>
            <a:off x="4160520" y="2926080"/>
            <a:ext cx="2743200"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76872" y="2852928"/>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67.2%</a:t>
            </a:r>
          </a:p>
        </p:txBody>
      </p:sp>
      <p:sp>
        <p:nvSpPr>
          <p:cNvPr id="21" name="TextBox 20"/>
          <p:cNvSpPr txBox="1"/>
          <p:nvPr/>
        </p:nvSpPr>
        <p:spPr>
          <a:xfrm>
            <a:off x="548640" y="3364992"/>
            <a:ext cx="3474720" cy="438912"/>
          </a:xfrm>
          <a:prstGeom prst="rect">
            <a:avLst/>
          </a:prstGeom>
          <a:noFill/>
        </p:spPr>
        <p:txBody>
          <a:bodyPr wrap="square" lIns="0" rIns="0" tIns="18288" bIns="18288" anchor="ctr">
            <a:spAutoFit/>
          </a:bodyPr>
          <a:lstStyle/>
          <a:p>
            <a:pPr algn="r"/>
            <a:r>
              <a:rPr sz="1100" b="0" i="0">
                <a:solidFill>
                  <a:srgbClr val="1A1A1A"/>
                </a:solidFill>
                <a:latin typeface="Abadi"/>
              </a:rPr>
              <a:t>First colonoscopy, adults (Rubio)</a:t>
            </a:r>
          </a:p>
        </p:txBody>
      </p:sp>
      <p:sp>
        <p:nvSpPr>
          <p:cNvPr id="22" name="Rectangle 21"/>
          <p:cNvSpPr/>
          <p:nvPr/>
        </p:nvSpPr>
        <p:spPr>
          <a:xfrm>
            <a:off x="4160520" y="3438144"/>
            <a:ext cx="2690132"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23804" y="3364992"/>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65.9%</a:t>
            </a:r>
          </a:p>
        </p:txBody>
      </p:sp>
      <p:sp>
        <p:nvSpPr>
          <p:cNvPr id="24" name="TextBox 23"/>
          <p:cNvSpPr txBox="1"/>
          <p:nvPr/>
        </p:nvSpPr>
        <p:spPr>
          <a:xfrm>
            <a:off x="548640" y="3877056"/>
            <a:ext cx="3474720" cy="438912"/>
          </a:xfrm>
          <a:prstGeom prst="rect">
            <a:avLst/>
          </a:prstGeom>
          <a:noFill/>
        </p:spPr>
        <p:txBody>
          <a:bodyPr wrap="square" lIns="0" rIns="0" tIns="18288" bIns="18288" anchor="ctr">
            <a:spAutoFit/>
          </a:bodyPr>
          <a:lstStyle/>
          <a:p>
            <a:pPr algn="r"/>
            <a:r>
              <a:rPr sz="1100" b="0" i="0">
                <a:solidFill>
                  <a:srgbClr val="1A1A1A"/>
                </a:solidFill>
                <a:latin typeface="Abadi"/>
              </a:rPr>
              <a:t>Later colonoscopies, children (Rubio)</a:t>
            </a:r>
          </a:p>
        </p:txBody>
      </p:sp>
      <p:sp>
        <p:nvSpPr>
          <p:cNvPr id="25" name="Rectangle 24"/>
          <p:cNvSpPr/>
          <p:nvPr/>
        </p:nvSpPr>
        <p:spPr>
          <a:xfrm>
            <a:off x="4160520" y="3950208"/>
            <a:ext cx="2196192"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9864" y="3877056"/>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53.8%</a:t>
            </a:r>
          </a:p>
        </p:txBody>
      </p:sp>
      <p:sp>
        <p:nvSpPr>
          <p:cNvPr id="27" name="TextBox 26"/>
          <p:cNvSpPr txBox="1"/>
          <p:nvPr/>
        </p:nvSpPr>
        <p:spPr>
          <a:xfrm>
            <a:off x="548640" y="4389120"/>
            <a:ext cx="3474720" cy="438912"/>
          </a:xfrm>
          <a:prstGeom prst="rect">
            <a:avLst/>
          </a:prstGeom>
          <a:noFill/>
        </p:spPr>
        <p:txBody>
          <a:bodyPr wrap="square" lIns="0" rIns="0" tIns="18288" bIns="18288" anchor="ctr">
            <a:spAutoFit/>
          </a:bodyPr>
          <a:lstStyle/>
          <a:p>
            <a:pPr algn="r"/>
            <a:r>
              <a:rPr sz="1100" b="0" i="0">
                <a:solidFill>
                  <a:srgbClr val="1A1A1A"/>
                </a:solidFill>
                <a:latin typeface="Abadi"/>
              </a:rPr>
              <a:t>Later colonoscopies, adults (Rubio)</a:t>
            </a:r>
          </a:p>
        </p:txBody>
      </p:sp>
      <p:sp>
        <p:nvSpPr>
          <p:cNvPr id="28" name="Rectangle 27"/>
          <p:cNvSpPr/>
          <p:nvPr/>
        </p:nvSpPr>
        <p:spPr>
          <a:xfrm>
            <a:off x="4160520" y="4462272"/>
            <a:ext cx="718457"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129" y="4389120"/>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17.6%</a:t>
            </a:r>
          </a:p>
        </p:txBody>
      </p:sp>
      <p:sp>
        <p:nvSpPr>
          <p:cNvPr id="30" name="TextBox 29"/>
          <p:cNvSpPr txBox="1"/>
          <p:nvPr/>
        </p:nvSpPr>
        <p:spPr>
          <a:xfrm>
            <a:off x="548640" y="4901184"/>
            <a:ext cx="3474720" cy="438912"/>
          </a:xfrm>
          <a:prstGeom prst="rect">
            <a:avLst/>
          </a:prstGeom>
          <a:noFill/>
        </p:spPr>
        <p:txBody>
          <a:bodyPr wrap="square" lIns="0" rIns="0" tIns="18288" bIns="18288" anchor="ctr">
            <a:spAutoFit/>
          </a:bodyPr>
          <a:lstStyle/>
          <a:p>
            <a:pPr algn="r"/>
            <a:r>
              <a:rPr sz="1100" b="0" i="0">
                <a:solidFill>
                  <a:srgbClr val="1A1A1A"/>
                </a:solidFill>
                <a:latin typeface="Abadi"/>
              </a:rPr>
              <a:t>Israeli paediatric cohort (Rothschild)</a:t>
            </a:r>
          </a:p>
        </p:txBody>
      </p:sp>
      <p:sp>
        <p:nvSpPr>
          <p:cNvPr id="31" name="Rectangle 30"/>
          <p:cNvSpPr/>
          <p:nvPr/>
        </p:nvSpPr>
        <p:spPr>
          <a:xfrm>
            <a:off x="4160520" y="4974336"/>
            <a:ext cx="1387928"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21600" y="4901184"/>
            <a:ext cx="1005840" cy="438912"/>
          </a:xfrm>
          <a:prstGeom prst="rect">
            <a:avLst/>
          </a:prstGeom>
          <a:noFill/>
        </p:spPr>
        <p:txBody>
          <a:bodyPr wrap="square" lIns="0" rIns="0" tIns="18288" bIns="18288" anchor="ctr">
            <a:spAutoFit/>
          </a:bodyPr>
          <a:lstStyle/>
          <a:p>
            <a:pPr algn="l"/>
            <a:r>
              <a:rPr sz="1100" b="1" i="0">
                <a:solidFill>
                  <a:srgbClr val="1A1A1A"/>
                </a:solidFill>
                <a:latin typeface="Abadi"/>
              </a:rPr>
              <a:t>34%</a:t>
            </a:r>
          </a:p>
        </p:txBody>
      </p:sp>
      <p:sp>
        <p:nvSpPr>
          <p:cNvPr id="33" name="TextBox 32"/>
          <p:cNvSpPr txBox="1"/>
          <p:nvPr/>
        </p:nvSpPr>
        <p:spPr>
          <a:xfrm>
            <a:off x="7680960" y="1828800"/>
            <a:ext cx="393192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42%</a:t>
            </a:r>
          </a:p>
          <a:p>
            <a:pPr algn="l">
              <a:spcAft>
                <a:spcPts val="300"/>
              </a:spcAft>
            </a:pPr>
            <a:r>
              <a:rPr sz="1100" b="0" i="0">
                <a:solidFill>
                  <a:srgbClr val="1A1A1A"/>
                </a:solidFill>
                <a:latin typeface="Abadi"/>
              </a:rPr>
              <a:t>Of children with granulomas had them only in upper GI or terminal ileum biopsies (De Matos, 282 children).</a:t>
            </a:r>
          </a:p>
          <a:p>
            <a:pPr algn="l">
              <a:spcAft>
                <a:spcPts val="300"/>
              </a:spcAft>
            </a:pPr>
            <a:r>
              <a:rPr sz="1700" b="1" i="0">
                <a:solidFill>
                  <a:srgbClr val="1B355E"/>
                </a:solidFill>
                <a:latin typeface="Abadi"/>
              </a:rPr>
              <a:t>Treatment hides them</a:t>
            </a:r>
          </a:p>
          <a:p>
            <a:pPr algn="l">
              <a:spcAft>
                <a:spcPts val="300"/>
              </a:spcAft>
            </a:pPr>
            <a:r>
              <a:rPr sz="1100" b="0" i="0">
                <a:solidFill>
                  <a:srgbClr val="1A1A1A"/>
                </a:solidFill>
                <a:latin typeface="Abadi"/>
              </a:rPr>
              <a:t>61% untreated vs 24.5% treated: biopsy before steroids.</a:t>
            </a:r>
          </a:p>
          <a:p>
            <a:pPr algn="l">
              <a:spcAft>
                <a:spcPts val="300"/>
              </a:spcAft>
            </a:pPr>
            <a:r>
              <a:rPr sz="1700" b="1" i="0">
                <a:solidFill>
                  <a:srgbClr val="1B355E"/>
                </a:solidFill>
                <a:latin typeface="Abadi"/>
              </a:rPr>
              <a:t>Phenotype</a:t>
            </a:r>
          </a:p>
          <a:p>
            <a:pPr algn="l">
              <a:spcAft>
                <a:spcPts val="300"/>
              </a:spcAft>
            </a:pPr>
            <a:r>
              <a:rPr sz="1100" b="0" i="0">
                <a:solidFill>
                  <a:srgbClr val="1A1A1A"/>
                </a:solidFill>
                <a:latin typeface="Abadi"/>
              </a:rPr>
              <a:t>Granulomas travelled with perianal and upper GI disease and more biologic use.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WHICH GRANULOMA</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NOT EVERY GRANULOMA IS CROHN'S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Granulomas and focal gastritis in the differential diagnosis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11</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Magro 2013 · Feakins 2013 · Andrews AR, Putra J. Diagnostics 2025;15:831 · Alimchandani M, et al. Am J Surg Pathol 2013</a:t>
            </a:r>
          </a:p>
        </p:txBody>
      </p:sp>
      <p:sp>
        <p:nvSpPr>
          <p:cNvPr id="12" name="Rectangle 11"/>
          <p:cNvSpPr/>
          <p:nvPr/>
        </p:nvSpPr>
        <p:spPr>
          <a:xfrm>
            <a:off x="548640" y="1773936"/>
            <a:ext cx="2035454" cy="25146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35454"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Crohn's</a:t>
            </a:r>
          </a:p>
        </p:txBody>
      </p:sp>
      <p:sp>
        <p:nvSpPr>
          <p:cNvPr id="15" name="TextBox 14"/>
          <p:cNvSpPr txBox="1"/>
          <p:nvPr/>
        </p:nvSpPr>
        <p:spPr>
          <a:xfrm>
            <a:off x="749808" y="2523744"/>
            <a:ext cx="1633118" cy="1618488"/>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Non-necrotising, epithelioid</a:t>
            </a:r>
          </a:p>
          <a:p>
            <a:pPr algn="l">
              <a:spcAft>
                <a:spcPts val="500"/>
              </a:spcAft>
            </a:pPr>
            <a:r>
              <a:rPr sz="1200" b="0" i="0">
                <a:solidFill>
                  <a:srgbClr val="1A1A1A"/>
                </a:solidFill>
                <a:latin typeface="Abadi"/>
              </a:rPr>
              <a:t>▪  In lamina propria away from crypts</a:t>
            </a:r>
          </a:p>
          <a:p>
            <a:pPr algn="l">
              <a:spcAft>
                <a:spcPts val="500"/>
              </a:spcAft>
            </a:pPr>
            <a:r>
              <a:rPr sz="1200" b="0" i="0">
                <a:solidFill>
                  <a:srgbClr val="1A1A1A"/>
                </a:solidFill>
                <a:latin typeface="Abadi"/>
              </a:rPr>
              <a:t>▪  Often few and small</a:t>
            </a:r>
          </a:p>
        </p:txBody>
      </p:sp>
      <p:sp>
        <p:nvSpPr>
          <p:cNvPr id="16" name="Rectangle 15"/>
          <p:cNvSpPr/>
          <p:nvPr/>
        </p:nvSpPr>
        <p:spPr>
          <a:xfrm>
            <a:off x="2812694" y="1773936"/>
            <a:ext cx="2035454" cy="251460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2694" y="1773936"/>
            <a:ext cx="2035454" cy="1280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Crypt rupture</a:t>
            </a:r>
          </a:p>
        </p:txBody>
      </p:sp>
      <p:sp>
        <p:nvSpPr>
          <p:cNvPr id="19" name="TextBox 18"/>
          <p:cNvSpPr txBox="1"/>
          <p:nvPr/>
        </p:nvSpPr>
        <p:spPr>
          <a:xfrm>
            <a:off x="3013862" y="2523744"/>
            <a:ext cx="1633118" cy="1618488"/>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Histiocytes around mucin or a broken crypt</a:t>
            </a:r>
          </a:p>
          <a:p>
            <a:pPr algn="l">
              <a:spcAft>
                <a:spcPts val="500"/>
              </a:spcAft>
            </a:pPr>
            <a:r>
              <a:rPr sz="1200" b="0" i="0">
                <a:solidFill>
                  <a:srgbClr val="1A1A1A"/>
                </a:solidFill>
                <a:latin typeface="Abadi"/>
              </a:rPr>
              <a:t>▪  Seen in UC and infection</a:t>
            </a:r>
          </a:p>
          <a:p>
            <a:pPr algn="l">
              <a:spcAft>
                <a:spcPts val="500"/>
              </a:spcAft>
            </a:pPr>
            <a:r>
              <a:rPr sz="1200" b="0" i="0">
                <a:solidFill>
                  <a:srgbClr val="1A1A1A"/>
                </a:solidFill>
                <a:latin typeface="Abadi"/>
              </a:rPr>
              <a:t>▪  Not diagnostic</a:t>
            </a:r>
          </a:p>
        </p:txBody>
      </p:sp>
      <p:sp>
        <p:nvSpPr>
          <p:cNvPr id="20" name="Rectangle 19"/>
          <p:cNvSpPr/>
          <p:nvPr/>
        </p:nvSpPr>
        <p:spPr>
          <a:xfrm>
            <a:off x="5076748" y="1773936"/>
            <a:ext cx="2035454" cy="25146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6748" y="1773936"/>
            <a:ext cx="2035454"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77916"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CGD</a:t>
            </a:r>
          </a:p>
        </p:txBody>
      </p:sp>
      <p:sp>
        <p:nvSpPr>
          <p:cNvPr id="23" name="TextBox 22"/>
          <p:cNvSpPr txBox="1"/>
          <p:nvPr/>
        </p:nvSpPr>
        <p:spPr>
          <a:xfrm>
            <a:off x="5277916" y="2523744"/>
            <a:ext cx="1633118" cy="1618488"/>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Confluent granulomas</a:t>
            </a:r>
          </a:p>
          <a:p>
            <a:pPr algn="l">
              <a:spcAft>
                <a:spcPts val="500"/>
              </a:spcAft>
            </a:pPr>
            <a:r>
              <a:rPr sz="1200" b="0" i="0">
                <a:solidFill>
                  <a:srgbClr val="1A1A1A"/>
                </a:solidFill>
                <a:latin typeface="Abadi"/>
              </a:rPr>
              <a:t>▪  Pigment-laden macrophages</a:t>
            </a:r>
          </a:p>
          <a:p>
            <a:pPr algn="l">
              <a:spcAft>
                <a:spcPts val="500"/>
              </a:spcAft>
            </a:pPr>
            <a:r>
              <a:rPr sz="1200" b="0" i="0">
                <a:solidFill>
                  <a:srgbClr val="1A1A1A"/>
                </a:solidFill>
                <a:latin typeface="Abadi"/>
              </a:rPr>
              <a:t>▪  Check DHR in VEO-IBD</a:t>
            </a:r>
          </a:p>
        </p:txBody>
      </p:sp>
      <p:sp>
        <p:nvSpPr>
          <p:cNvPr id="24" name="Rectangle 23"/>
          <p:cNvSpPr/>
          <p:nvPr/>
        </p:nvSpPr>
        <p:spPr>
          <a:xfrm>
            <a:off x="7340803" y="1773936"/>
            <a:ext cx="2035454" cy="25146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0803" y="1773936"/>
            <a:ext cx="2035454"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1971"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Infection</a:t>
            </a:r>
          </a:p>
        </p:txBody>
      </p:sp>
      <p:sp>
        <p:nvSpPr>
          <p:cNvPr id="27" name="TextBox 26"/>
          <p:cNvSpPr txBox="1"/>
          <p:nvPr/>
        </p:nvSpPr>
        <p:spPr>
          <a:xfrm>
            <a:off x="7541971" y="2523744"/>
            <a:ext cx="1633118" cy="1618488"/>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Necrosis or caseation: TB</a:t>
            </a:r>
          </a:p>
          <a:p>
            <a:pPr algn="l">
              <a:spcAft>
                <a:spcPts val="500"/>
              </a:spcAft>
            </a:pPr>
            <a:r>
              <a:rPr sz="1200" b="0" i="0">
                <a:solidFill>
                  <a:srgbClr val="1A1A1A"/>
                </a:solidFill>
                <a:latin typeface="Abadi"/>
              </a:rPr>
              <a:t>▪  Yersinia, Actinomyces</a:t>
            </a:r>
          </a:p>
          <a:p>
            <a:pPr algn="l">
              <a:spcAft>
                <a:spcPts val="500"/>
              </a:spcAft>
            </a:pPr>
            <a:r>
              <a:rPr sz="1200" b="0" i="0">
                <a:solidFill>
                  <a:srgbClr val="1A1A1A"/>
                </a:solidFill>
                <a:latin typeface="Abadi"/>
              </a:rPr>
              <a:t>▪  Stain and culture</a:t>
            </a:r>
          </a:p>
        </p:txBody>
      </p:sp>
      <p:sp>
        <p:nvSpPr>
          <p:cNvPr id="28" name="Rectangle 27"/>
          <p:cNvSpPr/>
          <p:nvPr/>
        </p:nvSpPr>
        <p:spPr>
          <a:xfrm>
            <a:off x="9604857" y="1773936"/>
            <a:ext cx="2035454" cy="25146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04857" y="1773936"/>
            <a:ext cx="2035454"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06025" y="2029967"/>
            <a:ext cx="1633118" cy="384048"/>
          </a:xfrm>
          <a:prstGeom prst="rect">
            <a:avLst/>
          </a:prstGeom>
          <a:noFill/>
        </p:spPr>
        <p:txBody>
          <a:bodyPr wrap="square" lIns="0" rIns="0" tIns="18288" bIns="18288" anchor="t">
            <a:spAutoFit/>
          </a:bodyPr>
          <a:lstStyle/>
          <a:p>
            <a:pPr algn="l"/>
            <a:r>
              <a:rPr sz="1600" b="1" i="0">
                <a:solidFill>
                  <a:srgbClr val="1A1A1A"/>
                </a:solidFill>
                <a:latin typeface="Abadi"/>
              </a:rPr>
              <a:t>Other</a:t>
            </a:r>
          </a:p>
        </p:txBody>
      </p:sp>
      <p:sp>
        <p:nvSpPr>
          <p:cNvPr id="31" name="TextBox 30"/>
          <p:cNvSpPr txBox="1"/>
          <p:nvPr/>
        </p:nvSpPr>
        <p:spPr>
          <a:xfrm>
            <a:off x="9806025" y="2523744"/>
            <a:ext cx="1633118" cy="1618488"/>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Foreign body, refractile</a:t>
            </a:r>
          </a:p>
          <a:p>
            <a:pPr algn="l">
              <a:spcAft>
                <a:spcPts val="500"/>
              </a:spcAft>
            </a:pPr>
            <a:r>
              <a:rPr sz="1200" b="0" i="0">
                <a:solidFill>
                  <a:srgbClr val="1A1A1A"/>
                </a:solidFill>
                <a:latin typeface="Abadi"/>
              </a:rPr>
              <a:t>▪  CVID</a:t>
            </a:r>
          </a:p>
          <a:p>
            <a:pPr algn="l">
              <a:spcAft>
                <a:spcPts val="500"/>
              </a:spcAft>
            </a:pPr>
            <a:r>
              <a:rPr sz="1200" b="0" i="0">
                <a:solidFill>
                  <a:srgbClr val="1A1A1A"/>
                </a:solidFill>
                <a:latin typeface="Abadi"/>
              </a:rPr>
              <a:t>▪  Sarcoid is rare in children</a:t>
            </a:r>
          </a:p>
        </p:txBody>
      </p:sp>
      <p:sp>
        <p:nvSpPr>
          <p:cNvPr id="32" name="TextBox 31"/>
          <p:cNvSpPr txBox="1"/>
          <p:nvPr/>
        </p:nvSpPr>
        <p:spPr>
          <a:xfrm>
            <a:off x="548640" y="4572000"/>
            <a:ext cx="11091672" cy="822960"/>
          </a:xfrm>
          <a:prstGeom prst="rect">
            <a:avLst/>
          </a:prstGeom>
          <a:noFill/>
        </p:spPr>
        <p:txBody>
          <a:bodyPr wrap="square" lIns="0" rIns="0" tIns="18288" bIns="18288" anchor="t">
            <a:spAutoFit/>
          </a:bodyPr>
          <a:lstStyle/>
          <a:p>
            <a:pPr algn="l"/>
            <a:r>
              <a:rPr sz="1250" b="0" i="0">
                <a:solidFill>
                  <a:srgbClr val="1A1A1A"/>
                </a:solidFill>
                <a:latin typeface="Abadi"/>
              </a:rPr>
              <a:t>Focally enhanced gastritis without H. pylori is seen in 43–76% of children with Crohn's but also in 8–21% with UC. It supports IBD; it does not separate Crohn's from UC. Upper GI changes occur in up to 75% of children with UC.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APOPTOSIS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COUNTING DEAD CELLS IN THE CRYPT BASE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Graft-versus-host disease grading and the minimum criteria</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12</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Shulman HM, et al. Biol Blood Marrow Transplant 2015;21:589–603 (NIH) · Lin J, et al. Am J Surg Pathol 2013;37:539 · Lerner KG, et al. Transplant Proc 1974</a:t>
            </a:r>
          </a:p>
        </p:txBody>
      </p:sp>
      <p:sp>
        <p:nvSpPr>
          <p:cNvPr id="12" name="Rectangle 11"/>
          <p:cNvSpPr/>
          <p:nvPr/>
        </p:nvSpPr>
        <p:spPr>
          <a:xfrm>
            <a:off x="548640" y="1874519"/>
            <a:ext cx="2601468"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74519"/>
            <a:ext cx="2418588" cy="310896"/>
          </a:xfrm>
          <a:prstGeom prst="rect">
            <a:avLst/>
          </a:prstGeom>
          <a:noFill/>
        </p:spPr>
        <p:txBody>
          <a:bodyPr wrap="square" lIns="0" rIns="0" tIns="18288" bIns="18288" anchor="ctr">
            <a:spAutoFit/>
          </a:bodyPr>
          <a:lstStyle/>
          <a:p>
            <a:pPr algn="l"/>
            <a:r>
              <a:rPr sz="1150" b="1" i="0">
                <a:solidFill>
                  <a:srgbClr val="FFFFFF"/>
                </a:solidFill>
                <a:latin typeface="Abadi"/>
              </a:rPr>
              <a:t>Grade I</a:t>
            </a:r>
          </a:p>
        </p:txBody>
      </p:sp>
      <p:sp>
        <p:nvSpPr>
          <p:cNvPr id="14" name="Rectangle 13"/>
          <p:cNvSpPr/>
          <p:nvPr/>
        </p:nvSpPr>
        <p:spPr>
          <a:xfrm>
            <a:off x="548640" y="2185415"/>
            <a:ext cx="2601468" cy="1188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276856"/>
            <a:ext cx="2382012" cy="1042416"/>
          </a:xfrm>
          <a:prstGeom prst="rect">
            <a:avLst/>
          </a:prstGeom>
          <a:noFill/>
        </p:spPr>
        <p:txBody>
          <a:bodyPr wrap="square" lIns="0" rIns="0" tIns="18288" bIns="18288" anchor="t">
            <a:spAutoFit/>
          </a:bodyPr>
          <a:lstStyle/>
          <a:p>
            <a:pPr algn="l"/>
            <a:r>
              <a:rPr sz="1200" b="0" i="0">
                <a:solidFill>
                  <a:srgbClr val="1A1A1A"/>
                </a:solidFill>
                <a:latin typeface="Abadi"/>
              </a:rPr>
              <a:t>Crypt apoptosis without crypt loss</a:t>
            </a:r>
          </a:p>
        </p:txBody>
      </p:sp>
      <p:sp>
        <p:nvSpPr>
          <p:cNvPr id="16" name="Isosceles Triangle 15"/>
          <p:cNvSpPr/>
          <p:nvPr/>
        </p:nvSpPr>
        <p:spPr>
          <a:xfrm rot="5400000">
            <a:off x="3186684" y="2688335"/>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78708" y="1874519"/>
            <a:ext cx="2601468"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0148" y="1874519"/>
            <a:ext cx="2418588" cy="310896"/>
          </a:xfrm>
          <a:prstGeom prst="rect">
            <a:avLst/>
          </a:prstGeom>
          <a:noFill/>
        </p:spPr>
        <p:txBody>
          <a:bodyPr wrap="square" lIns="0" rIns="0" tIns="18288" bIns="18288" anchor="ctr">
            <a:spAutoFit/>
          </a:bodyPr>
          <a:lstStyle/>
          <a:p>
            <a:pPr algn="l"/>
            <a:r>
              <a:rPr sz="1150" b="1" i="0">
                <a:solidFill>
                  <a:srgbClr val="FFFFFF"/>
                </a:solidFill>
                <a:latin typeface="Abadi"/>
              </a:rPr>
              <a:t>Grade II</a:t>
            </a:r>
          </a:p>
        </p:txBody>
      </p:sp>
      <p:sp>
        <p:nvSpPr>
          <p:cNvPr id="19" name="Rectangle 18"/>
          <p:cNvSpPr/>
          <p:nvPr/>
        </p:nvSpPr>
        <p:spPr>
          <a:xfrm>
            <a:off x="3378708" y="2185415"/>
            <a:ext cx="2601468" cy="1188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88436" y="2276856"/>
            <a:ext cx="2382012" cy="1042416"/>
          </a:xfrm>
          <a:prstGeom prst="rect">
            <a:avLst/>
          </a:prstGeom>
          <a:noFill/>
        </p:spPr>
        <p:txBody>
          <a:bodyPr wrap="square" lIns="0" rIns="0" tIns="18288" bIns="18288" anchor="t">
            <a:spAutoFit/>
          </a:bodyPr>
          <a:lstStyle/>
          <a:p>
            <a:pPr algn="l"/>
            <a:r>
              <a:rPr sz="1200" b="0" i="0">
                <a:solidFill>
                  <a:srgbClr val="1A1A1A"/>
                </a:solidFill>
                <a:latin typeface="Abadi"/>
              </a:rPr>
              <a:t>Loss of individual crypts</a:t>
            </a:r>
          </a:p>
        </p:txBody>
      </p:sp>
      <p:sp>
        <p:nvSpPr>
          <p:cNvPr id="21" name="Isosceles Triangle 20"/>
          <p:cNvSpPr/>
          <p:nvPr/>
        </p:nvSpPr>
        <p:spPr>
          <a:xfrm rot="5400000">
            <a:off x="6016752" y="2688335"/>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1874519"/>
            <a:ext cx="2601468"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0216" y="1874519"/>
            <a:ext cx="2418588" cy="310896"/>
          </a:xfrm>
          <a:prstGeom prst="rect">
            <a:avLst/>
          </a:prstGeom>
          <a:noFill/>
        </p:spPr>
        <p:txBody>
          <a:bodyPr wrap="square" lIns="0" rIns="0" tIns="18288" bIns="18288" anchor="ctr">
            <a:spAutoFit/>
          </a:bodyPr>
          <a:lstStyle/>
          <a:p>
            <a:pPr algn="l"/>
            <a:r>
              <a:rPr sz="1150" b="1" i="0">
                <a:solidFill>
                  <a:srgbClr val="FFFFFF"/>
                </a:solidFill>
                <a:latin typeface="Abadi"/>
              </a:rPr>
              <a:t>Grade III</a:t>
            </a:r>
          </a:p>
        </p:txBody>
      </p:sp>
      <p:sp>
        <p:nvSpPr>
          <p:cNvPr id="24" name="Rectangle 23"/>
          <p:cNvSpPr/>
          <p:nvPr/>
        </p:nvSpPr>
        <p:spPr>
          <a:xfrm>
            <a:off x="6208776" y="2185415"/>
            <a:ext cx="2601468" cy="1188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8504" y="2276856"/>
            <a:ext cx="2382012" cy="1042416"/>
          </a:xfrm>
          <a:prstGeom prst="rect">
            <a:avLst/>
          </a:prstGeom>
          <a:noFill/>
        </p:spPr>
        <p:txBody>
          <a:bodyPr wrap="square" lIns="0" rIns="0" tIns="18288" bIns="18288" anchor="t">
            <a:spAutoFit/>
          </a:bodyPr>
          <a:lstStyle/>
          <a:p>
            <a:pPr algn="l"/>
            <a:r>
              <a:rPr sz="1200" b="0" i="0">
                <a:solidFill>
                  <a:srgbClr val="1A1A1A"/>
                </a:solidFill>
                <a:latin typeface="Abadi"/>
              </a:rPr>
              <a:t>Loss of two or more contiguous crypts</a:t>
            </a:r>
          </a:p>
        </p:txBody>
      </p:sp>
      <p:sp>
        <p:nvSpPr>
          <p:cNvPr id="26" name="Isosceles Triangle 25"/>
          <p:cNvSpPr/>
          <p:nvPr/>
        </p:nvSpPr>
        <p:spPr>
          <a:xfrm rot="5400000">
            <a:off x="8846819" y="2688335"/>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38844" y="1874519"/>
            <a:ext cx="2601468" cy="310896"/>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0284" y="1874519"/>
            <a:ext cx="2418588" cy="310896"/>
          </a:xfrm>
          <a:prstGeom prst="rect">
            <a:avLst/>
          </a:prstGeom>
          <a:noFill/>
        </p:spPr>
        <p:txBody>
          <a:bodyPr wrap="square" lIns="0" rIns="0" tIns="18288" bIns="18288" anchor="ctr">
            <a:spAutoFit/>
          </a:bodyPr>
          <a:lstStyle/>
          <a:p>
            <a:pPr algn="l"/>
            <a:r>
              <a:rPr sz="1150" b="1" i="0">
                <a:solidFill>
                  <a:srgbClr val="FFFFFF"/>
                </a:solidFill>
                <a:latin typeface="Abadi"/>
              </a:rPr>
              <a:t>Grade IV</a:t>
            </a:r>
          </a:p>
        </p:txBody>
      </p:sp>
      <p:sp>
        <p:nvSpPr>
          <p:cNvPr id="29" name="Rectangle 28"/>
          <p:cNvSpPr/>
          <p:nvPr/>
        </p:nvSpPr>
        <p:spPr>
          <a:xfrm>
            <a:off x="9038844" y="2185415"/>
            <a:ext cx="2601468" cy="1188720"/>
          </a:xfrm>
          <a:prstGeom prst="rect">
            <a:avLst/>
          </a:prstGeom>
          <a:solidFill>
            <a:srgbClr val="F2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8572" y="2276856"/>
            <a:ext cx="2382012" cy="1042416"/>
          </a:xfrm>
          <a:prstGeom prst="rect">
            <a:avLst/>
          </a:prstGeom>
          <a:noFill/>
        </p:spPr>
        <p:txBody>
          <a:bodyPr wrap="square" lIns="0" rIns="0" tIns="18288" bIns="18288" anchor="t">
            <a:spAutoFit/>
          </a:bodyPr>
          <a:lstStyle/>
          <a:p>
            <a:pPr algn="l"/>
            <a:r>
              <a:rPr sz="1200" b="0" i="0">
                <a:solidFill>
                  <a:srgbClr val="1A1A1A"/>
                </a:solidFill>
                <a:latin typeface="Abadi"/>
              </a:rPr>
              <a:t>Diffuse crypt loss with denuded mucosa</a:t>
            </a:r>
          </a:p>
        </p:txBody>
      </p:sp>
      <p:sp>
        <p:nvSpPr>
          <p:cNvPr id="31" name="Rectangle 30"/>
          <p:cNvSpPr/>
          <p:nvPr/>
        </p:nvSpPr>
        <p:spPr>
          <a:xfrm>
            <a:off x="548640" y="3657600"/>
            <a:ext cx="3514344" cy="17373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657600"/>
            <a:ext cx="3514344"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3977639"/>
            <a:ext cx="3240024" cy="777240"/>
          </a:xfrm>
          <a:prstGeom prst="rect">
            <a:avLst/>
          </a:prstGeom>
          <a:noFill/>
        </p:spPr>
        <p:txBody>
          <a:bodyPr wrap="square" lIns="0" rIns="0" tIns="18288" bIns="18288" anchor="t">
            <a:spAutoFit/>
          </a:bodyPr>
          <a:lstStyle/>
          <a:p>
            <a:pPr algn="l"/>
            <a:r>
              <a:rPr sz="2200" b="1" i="0">
                <a:solidFill>
                  <a:srgbClr val="1B355E"/>
                </a:solidFill>
                <a:latin typeface="Abadi"/>
              </a:rPr>
              <a:t>≥1 per fragment</a:t>
            </a:r>
          </a:p>
        </p:txBody>
      </p:sp>
      <p:sp>
        <p:nvSpPr>
          <p:cNvPr id="34" name="TextBox 33"/>
          <p:cNvSpPr txBox="1"/>
          <p:nvPr/>
        </p:nvSpPr>
        <p:spPr>
          <a:xfrm>
            <a:off x="685800" y="4828032"/>
            <a:ext cx="3240024" cy="502919"/>
          </a:xfrm>
          <a:prstGeom prst="rect">
            <a:avLst/>
          </a:prstGeom>
          <a:noFill/>
        </p:spPr>
        <p:txBody>
          <a:bodyPr wrap="square" lIns="0" rIns="0" tIns="18288" bIns="18288" anchor="t">
            <a:spAutoFit/>
          </a:bodyPr>
          <a:lstStyle/>
          <a:p>
            <a:pPr algn="l"/>
            <a:r>
              <a:rPr sz="1150" b="0" i="0">
                <a:solidFill>
                  <a:srgbClr val="1A1A1A"/>
                </a:solidFill>
                <a:latin typeface="Abadi"/>
              </a:rPr>
              <a:t>NIH 2014 minimum: one apoptotic crypt cell per biopsy piece, after review of serial levels</a:t>
            </a:r>
          </a:p>
        </p:txBody>
      </p:sp>
      <p:sp>
        <p:nvSpPr>
          <p:cNvPr id="35" name="Rectangle 34"/>
          <p:cNvSpPr/>
          <p:nvPr/>
        </p:nvSpPr>
        <p:spPr>
          <a:xfrm>
            <a:off x="4337304" y="3657600"/>
            <a:ext cx="3514344" cy="17373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37304" y="3657600"/>
            <a:ext cx="3514344"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4464" y="3977639"/>
            <a:ext cx="3240024" cy="777240"/>
          </a:xfrm>
          <a:prstGeom prst="rect">
            <a:avLst/>
          </a:prstGeom>
          <a:noFill/>
        </p:spPr>
        <p:txBody>
          <a:bodyPr wrap="square" lIns="0" rIns="0" tIns="18288" bIns="18288" anchor="t">
            <a:spAutoFit/>
          </a:bodyPr>
          <a:lstStyle/>
          <a:p>
            <a:pPr algn="l"/>
            <a:r>
              <a:rPr sz="2200" b="1" i="0">
                <a:solidFill>
                  <a:srgbClr val="1B355E"/>
                </a:solidFill>
                <a:latin typeface="Abadi"/>
              </a:rPr>
              <a:t>&gt; 6 per 10 crypts</a:t>
            </a:r>
          </a:p>
        </p:txBody>
      </p:sp>
      <p:sp>
        <p:nvSpPr>
          <p:cNvPr id="38" name="TextBox 37"/>
          <p:cNvSpPr txBox="1"/>
          <p:nvPr/>
        </p:nvSpPr>
        <p:spPr>
          <a:xfrm>
            <a:off x="4474464" y="4828032"/>
            <a:ext cx="3240024" cy="502919"/>
          </a:xfrm>
          <a:prstGeom prst="rect">
            <a:avLst/>
          </a:prstGeom>
          <a:noFill/>
        </p:spPr>
        <p:txBody>
          <a:bodyPr wrap="square" lIns="0" rIns="0" tIns="18288" bIns="18288" anchor="t">
            <a:spAutoFit/>
          </a:bodyPr>
          <a:lstStyle/>
          <a:p>
            <a:pPr algn="l"/>
            <a:r>
              <a:rPr sz="1150" b="0" i="0">
                <a:solidFill>
                  <a:srgbClr val="1A1A1A"/>
                </a:solidFill>
                <a:latin typeface="Abadi"/>
              </a:rPr>
              <a:t>Definitive in Lin 2013; 6 or fewer is indeterminate</a:t>
            </a:r>
          </a:p>
        </p:txBody>
      </p:sp>
      <p:sp>
        <p:nvSpPr>
          <p:cNvPr id="39" name="Rectangle 38"/>
          <p:cNvSpPr/>
          <p:nvPr/>
        </p:nvSpPr>
        <p:spPr>
          <a:xfrm>
            <a:off x="8125968" y="3657600"/>
            <a:ext cx="3514344" cy="173736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25968" y="3657600"/>
            <a:ext cx="3514344" cy="1280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63128" y="3977639"/>
            <a:ext cx="3240024" cy="777240"/>
          </a:xfrm>
          <a:prstGeom prst="rect">
            <a:avLst/>
          </a:prstGeom>
          <a:noFill/>
        </p:spPr>
        <p:txBody>
          <a:bodyPr wrap="square" lIns="0" rIns="0" tIns="18288" bIns="18288" anchor="t">
            <a:spAutoFit/>
          </a:bodyPr>
          <a:lstStyle/>
          <a:p>
            <a:pPr algn="l"/>
            <a:r>
              <a:rPr sz="2200" b="1" i="0">
                <a:solidFill>
                  <a:srgbClr val="1B355E"/>
                </a:solidFill>
                <a:latin typeface="Abadi"/>
              </a:rPr>
              <a:t>Grade ≠ outcome</a:t>
            </a:r>
          </a:p>
        </p:txBody>
      </p:sp>
      <p:sp>
        <p:nvSpPr>
          <p:cNvPr id="42" name="TextBox 41"/>
          <p:cNvSpPr txBox="1"/>
          <p:nvPr/>
        </p:nvSpPr>
        <p:spPr>
          <a:xfrm>
            <a:off x="8263128" y="4828032"/>
            <a:ext cx="3240024" cy="502919"/>
          </a:xfrm>
          <a:prstGeom prst="rect">
            <a:avLst/>
          </a:prstGeom>
          <a:noFill/>
        </p:spPr>
        <p:txBody>
          <a:bodyPr wrap="square" lIns="0" rIns="0" tIns="18288" bIns="18288" anchor="t">
            <a:spAutoFit/>
          </a:bodyPr>
          <a:lstStyle/>
          <a:p>
            <a:pPr algn="l"/>
            <a:r>
              <a:rPr sz="1150" b="0" i="0">
                <a:solidFill>
                  <a:srgbClr val="1A1A1A"/>
                </a:solidFill>
                <a:latin typeface="Abadi"/>
              </a:rPr>
              <a:t>Histological grade correlates poorly with clinical severity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DRUG INJURY</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MYCOPHENOLATE WEARS MANY MASKS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Histological patterns in mycophenolate-associated colitis, % of patients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13</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Selbst MK, et al. Mod Pathol 2009;22:737–43 · Lee S, et al. J Clin Pathol 2013;66:8–11 · Star KV, et al. Am J Surg Pathol 2013;37:1319–28</a:t>
            </a:r>
          </a:p>
        </p:txBody>
      </p:sp>
      <p:sp>
        <p:nvSpPr>
          <p:cNvPr id="12" name="TextBox 11"/>
          <p:cNvSpPr txBox="1"/>
          <p:nvPr/>
        </p:nvSpPr>
        <p:spPr>
          <a:xfrm>
            <a:off x="548640" y="1920240"/>
            <a:ext cx="2971800" cy="566928"/>
          </a:xfrm>
          <a:prstGeom prst="rect">
            <a:avLst/>
          </a:prstGeom>
          <a:noFill/>
        </p:spPr>
        <p:txBody>
          <a:bodyPr wrap="square" lIns="0" rIns="0" tIns="18288" bIns="18288" anchor="ctr">
            <a:spAutoFit/>
          </a:bodyPr>
          <a:lstStyle/>
          <a:p>
            <a:pPr algn="r"/>
            <a:r>
              <a:rPr sz="1100" b="0" i="0">
                <a:solidFill>
                  <a:srgbClr val="1A1A1A"/>
                </a:solidFill>
                <a:latin typeface="Abadi"/>
              </a:rPr>
              <a:t>Normal or near-normal</a:t>
            </a:r>
          </a:p>
        </p:txBody>
      </p:sp>
      <p:sp>
        <p:nvSpPr>
          <p:cNvPr id="13" name="Rectangle 12"/>
          <p:cNvSpPr/>
          <p:nvPr/>
        </p:nvSpPr>
        <p:spPr>
          <a:xfrm>
            <a:off x="3657600" y="1993392"/>
            <a:ext cx="3291840" cy="43891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1920240"/>
            <a:ext cx="1005840" cy="566928"/>
          </a:xfrm>
          <a:prstGeom prst="rect">
            <a:avLst/>
          </a:prstGeom>
          <a:noFill/>
        </p:spPr>
        <p:txBody>
          <a:bodyPr wrap="square" lIns="0" rIns="0" tIns="18288" bIns="18288" anchor="ctr">
            <a:spAutoFit/>
          </a:bodyPr>
          <a:lstStyle/>
          <a:p>
            <a:pPr algn="l"/>
            <a:r>
              <a:rPr sz="1100" b="1" i="0">
                <a:solidFill>
                  <a:srgbClr val="1A1A1A"/>
                </a:solidFill>
                <a:latin typeface="Abadi"/>
              </a:rPr>
              <a:t>31%</a:t>
            </a:r>
          </a:p>
        </p:txBody>
      </p:sp>
      <p:sp>
        <p:nvSpPr>
          <p:cNvPr id="15" name="TextBox 14"/>
          <p:cNvSpPr txBox="1"/>
          <p:nvPr/>
        </p:nvSpPr>
        <p:spPr>
          <a:xfrm>
            <a:off x="548640" y="2560320"/>
            <a:ext cx="2971800" cy="566928"/>
          </a:xfrm>
          <a:prstGeom prst="rect">
            <a:avLst/>
          </a:prstGeom>
          <a:noFill/>
        </p:spPr>
        <p:txBody>
          <a:bodyPr wrap="square" lIns="0" rIns="0" tIns="18288" bIns="18288" anchor="ctr">
            <a:spAutoFit/>
          </a:bodyPr>
          <a:lstStyle/>
          <a:p>
            <a:pPr algn="r"/>
            <a:r>
              <a:rPr sz="1100" b="0" i="0">
                <a:solidFill>
                  <a:srgbClr val="1A1A1A"/>
                </a:solidFill>
                <a:latin typeface="Abadi"/>
              </a:rPr>
              <a:t>IBD-like</a:t>
            </a:r>
          </a:p>
        </p:txBody>
      </p:sp>
      <p:sp>
        <p:nvSpPr>
          <p:cNvPr id="16" name="Rectangle 15"/>
          <p:cNvSpPr/>
          <p:nvPr/>
        </p:nvSpPr>
        <p:spPr>
          <a:xfrm>
            <a:off x="3657600" y="2633472"/>
            <a:ext cx="2973274" cy="43891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4026" y="2560320"/>
            <a:ext cx="1005840" cy="566928"/>
          </a:xfrm>
          <a:prstGeom prst="rect">
            <a:avLst/>
          </a:prstGeom>
          <a:noFill/>
        </p:spPr>
        <p:txBody>
          <a:bodyPr wrap="square" lIns="0" rIns="0" tIns="18288" bIns="18288" anchor="ctr">
            <a:spAutoFit/>
          </a:bodyPr>
          <a:lstStyle/>
          <a:p>
            <a:pPr algn="l"/>
            <a:r>
              <a:rPr sz="1100" b="1" i="0">
                <a:solidFill>
                  <a:srgbClr val="1A1A1A"/>
                </a:solidFill>
                <a:latin typeface="Abadi"/>
              </a:rPr>
              <a:t>28%</a:t>
            </a:r>
          </a:p>
        </p:txBody>
      </p:sp>
      <p:sp>
        <p:nvSpPr>
          <p:cNvPr id="18" name="TextBox 17"/>
          <p:cNvSpPr txBox="1"/>
          <p:nvPr/>
        </p:nvSpPr>
        <p:spPr>
          <a:xfrm>
            <a:off x="548640" y="3200400"/>
            <a:ext cx="2971800" cy="566928"/>
          </a:xfrm>
          <a:prstGeom prst="rect">
            <a:avLst/>
          </a:prstGeom>
          <a:noFill/>
        </p:spPr>
        <p:txBody>
          <a:bodyPr wrap="square" lIns="0" rIns="0" tIns="18288" bIns="18288" anchor="ctr">
            <a:spAutoFit/>
          </a:bodyPr>
          <a:lstStyle/>
          <a:p>
            <a:pPr algn="r"/>
            <a:r>
              <a:rPr sz="1100" b="0" i="0">
                <a:solidFill>
                  <a:srgbClr val="1A1A1A"/>
                </a:solidFill>
                <a:latin typeface="Abadi"/>
              </a:rPr>
              <a:t>GVHD-like</a:t>
            </a:r>
          </a:p>
        </p:txBody>
      </p:sp>
      <p:sp>
        <p:nvSpPr>
          <p:cNvPr id="19" name="Rectangle 18"/>
          <p:cNvSpPr/>
          <p:nvPr/>
        </p:nvSpPr>
        <p:spPr>
          <a:xfrm>
            <a:off x="3657600" y="3273552"/>
            <a:ext cx="2017579" cy="43891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48331" y="3200400"/>
            <a:ext cx="1005840" cy="566928"/>
          </a:xfrm>
          <a:prstGeom prst="rect">
            <a:avLst/>
          </a:prstGeom>
          <a:noFill/>
        </p:spPr>
        <p:txBody>
          <a:bodyPr wrap="square" lIns="0" rIns="0" tIns="18288" bIns="18288" anchor="ctr">
            <a:spAutoFit/>
          </a:bodyPr>
          <a:lstStyle/>
          <a:p>
            <a:pPr algn="l"/>
            <a:r>
              <a:rPr sz="1100" b="1" i="0">
                <a:solidFill>
                  <a:srgbClr val="1A1A1A"/>
                </a:solidFill>
                <a:latin typeface="Abadi"/>
              </a:rPr>
              <a:t>19%</a:t>
            </a:r>
          </a:p>
        </p:txBody>
      </p:sp>
      <p:sp>
        <p:nvSpPr>
          <p:cNvPr id="21" name="TextBox 20"/>
          <p:cNvSpPr txBox="1"/>
          <p:nvPr/>
        </p:nvSpPr>
        <p:spPr>
          <a:xfrm>
            <a:off x="548640" y="3840479"/>
            <a:ext cx="2971800" cy="566928"/>
          </a:xfrm>
          <a:prstGeom prst="rect">
            <a:avLst/>
          </a:prstGeom>
          <a:noFill/>
        </p:spPr>
        <p:txBody>
          <a:bodyPr wrap="square" lIns="0" rIns="0" tIns="18288" bIns="18288" anchor="ctr">
            <a:spAutoFit/>
          </a:bodyPr>
          <a:lstStyle/>
          <a:p>
            <a:pPr algn="r"/>
            <a:r>
              <a:rPr sz="1100" b="0" i="0">
                <a:solidFill>
                  <a:srgbClr val="1A1A1A"/>
                </a:solidFill>
                <a:latin typeface="Abadi"/>
              </a:rPr>
              <a:t>Acute self-limited colitis-like</a:t>
            </a:r>
          </a:p>
        </p:txBody>
      </p:sp>
      <p:sp>
        <p:nvSpPr>
          <p:cNvPr id="22" name="Rectangle 21"/>
          <p:cNvSpPr/>
          <p:nvPr/>
        </p:nvSpPr>
        <p:spPr>
          <a:xfrm>
            <a:off x="3657600" y="3913631"/>
            <a:ext cx="1699014" cy="43891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29766" y="3840479"/>
            <a:ext cx="1005840" cy="566928"/>
          </a:xfrm>
          <a:prstGeom prst="rect">
            <a:avLst/>
          </a:prstGeom>
          <a:noFill/>
        </p:spPr>
        <p:txBody>
          <a:bodyPr wrap="square" lIns="0" rIns="0" tIns="18288" bIns="18288" anchor="ctr">
            <a:spAutoFit/>
          </a:bodyPr>
          <a:lstStyle/>
          <a:p>
            <a:pPr algn="l"/>
            <a:r>
              <a:rPr sz="1100" b="1" i="0">
                <a:solidFill>
                  <a:srgbClr val="1A1A1A"/>
                </a:solidFill>
                <a:latin typeface="Abadi"/>
              </a:rPr>
              <a:t>16%</a:t>
            </a:r>
          </a:p>
        </p:txBody>
      </p:sp>
      <p:sp>
        <p:nvSpPr>
          <p:cNvPr id="24" name="TextBox 23"/>
          <p:cNvSpPr txBox="1"/>
          <p:nvPr/>
        </p:nvSpPr>
        <p:spPr>
          <a:xfrm>
            <a:off x="548640" y="4480560"/>
            <a:ext cx="2971800" cy="566928"/>
          </a:xfrm>
          <a:prstGeom prst="rect">
            <a:avLst/>
          </a:prstGeom>
          <a:noFill/>
        </p:spPr>
        <p:txBody>
          <a:bodyPr wrap="square" lIns="0" rIns="0" tIns="18288" bIns="18288" anchor="ctr">
            <a:spAutoFit/>
          </a:bodyPr>
          <a:lstStyle/>
          <a:p>
            <a:pPr algn="r"/>
            <a:r>
              <a:rPr sz="1100" b="0" i="0">
                <a:solidFill>
                  <a:srgbClr val="1A1A1A"/>
                </a:solidFill>
                <a:latin typeface="Abadi"/>
              </a:rPr>
              <a:t>Ischaemia-like</a:t>
            </a:r>
          </a:p>
        </p:txBody>
      </p:sp>
      <p:sp>
        <p:nvSpPr>
          <p:cNvPr id="25" name="Rectangle 24"/>
          <p:cNvSpPr/>
          <p:nvPr/>
        </p:nvSpPr>
        <p:spPr>
          <a:xfrm>
            <a:off x="3657600" y="4553712"/>
            <a:ext cx="318565" cy="43891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49317" y="4480560"/>
            <a:ext cx="1005840" cy="566928"/>
          </a:xfrm>
          <a:prstGeom prst="rect">
            <a:avLst/>
          </a:prstGeom>
          <a:noFill/>
        </p:spPr>
        <p:txBody>
          <a:bodyPr wrap="square" lIns="0" rIns="0" tIns="18288" bIns="18288" anchor="ctr">
            <a:spAutoFit/>
          </a:bodyPr>
          <a:lstStyle/>
          <a:p>
            <a:pPr algn="l"/>
            <a:r>
              <a:rPr sz="1100" b="1" i="0">
                <a:solidFill>
                  <a:srgbClr val="1A1A1A"/>
                </a:solidFill>
                <a:latin typeface="Abadi"/>
              </a:rPr>
              <a:t>3%</a:t>
            </a:r>
          </a:p>
        </p:txBody>
      </p:sp>
      <p:sp>
        <p:nvSpPr>
          <p:cNvPr id="27" name="TextBox 26"/>
          <p:cNvSpPr txBox="1"/>
          <p:nvPr/>
        </p:nvSpPr>
        <p:spPr>
          <a:xfrm>
            <a:off x="7680960" y="1828800"/>
            <a:ext cx="393192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26.5</a:t>
            </a:r>
          </a:p>
          <a:p>
            <a:pPr algn="l">
              <a:spcAft>
                <a:spcPts val="300"/>
              </a:spcAft>
            </a:pPr>
            <a:r>
              <a:rPr sz="1100" b="0" i="0">
                <a:solidFill>
                  <a:srgbClr val="1A1A1A"/>
                </a:solidFill>
                <a:latin typeface="Abadi"/>
              </a:rPr>
              <a:t>Mean crypt apoptotic bodies per 100 crypts in mycophenolate colitis (Lee 2013).</a:t>
            </a:r>
          </a:p>
          <a:p>
            <a:pPr algn="l">
              <a:spcAft>
                <a:spcPts val="300"/>
              </a:spcAft>
            </a:pPr>
            <a:r>
              <a:rPr sz="1700" b="1" i="0">
                <a:solidFill>
                  <a:srgbClr val="1B355E"/>
                </a:solidFill>
                <a:latin typeface="Abadi"/>
              </a:rPr>
              <a:t>&gt;15 per 10 fields</a:t>
            </a:r>
          </a:p>
          <a:p>
            <a:pPr algn="l">
              <a:spcAft>
                <a:spcPts val="300"/>
              </a:spcAft>
            </a:pPr>
            <a:r>
              <a:rPr sz="1100" b="0" i="0">
                <a:solidFill>
                  <a:srgbClr val="1A1A1A"/>
                </a:solidFill>
                <a:latin typeface="Abadi"/>
              </a:rPr>
              <a:t>Lamina propria eosinophils favour mycophenolate over GVHD (Star 2013).</a:t>
            </a:r>
          </a:p>
          <a:p>
            <a:pPr algn="l">
              <a:spcAft>
                <a:spcPts val="300"/>
              </a:spcAft>
            </a:pPr>
            <a:r>
              <a:rPr sz="1700" b="1" i="0">
                <a:solidFill>
                  <a:srgbClr val="1B355E"/>
                </a:solidFill>
                <a:latin typeface="Abadi"/>
              </a:rPr>
              <a:t>Transplant child</a:t>
            </a:r>
          </a:p>
          <a:p>
            <a:pPr algn="l">
              <a:spcAft>
                <a:spcPts val="300"/>
              </a:spcAft>
            </a:pPr>
            <a:r>
              <a:rPr sz="1100" b="0" i="0">
                <a:solidFill>
                  <a:srgbClr val="1A1A1A"/>
                </a:solidFill>
                <a:latin typeface="Abadi"/>
              </a:rPr>
              <a:t>GVHD, CMV and mycophenolate can coexist: stain for CMV and give the pathologist the drug list.</a:t>
            </a:r>
          </a:p>
          <a:p>
            <a:pPr algn="l">
              <a:spcAft>
                <a:spcPts val="300"/>
              </a:spcAft>
            </a:pPr>
            <a:r>
              <a:rPr sz="1700" b="1" i="0">
                <a:solidFill>
                  <a:srgbClr val="1B355E"/>
                </a:solidFill>
                <a:latin typeface="Abadi"/>
              </a:rPr>
              <a:t>Test</a:t>
            </a:r>
          </a:p>
          <a:p>
            <a:pPr algn="l">
              <a:spcAft>
                <a:spcPts val="300"/>
              </a:spcAft>
            </a:pPr>
            <a:r>
              <a:rPr sz="1100" b="0" i="0">
                <a:solidFill>
                  <a:srgbClr val="1A1A1A"/>
                </a:solidFill>
                <a:latin typeface="Abadi"/>
              </a:rPr>
              <a:t>Improvement after dose reduction is the practical proof.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IMMUNE PATTERNS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WHEN THE PLASMA CELLS ARE MISSING</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Apoptotic and immunodeficiency patterns that mimic IBD, coeliac disease or GVHD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14</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Daniels JA, et al. Am J Surg Pathol 2007;31:1800 · Chen JH, et al. Am J Surg Pathol 2017;41:643–54 · Weidner AS, et al. Am J Surg Pathol 2015;39:1661–7 · Andrews 2025</a:t>
            </a:r>
          </a:p>
        </p:txBody>
      </p:sp>
      <p:sp>
        <p:nvSpPr>
          <p:cNvPr id="12" name="Rectangle 11"/>
          <p:cNvSpPr/>
          <p:nvPr/>
        </p:nvSpPr>
        <p:spPr>
          <a:xfrm>
            <a:off x="548640" y="1773936"/>
            <a:ext cx="2567178" cy="27432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67178"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CVID</a:t>
            </a:r>
          </a:p>
        </p:txBody>
      </p:sp>
      <p:sp>
        <p:nvSpPr>
          <p:cNvPr id="15" name="TextBox 14"/>
          <p:cNvSpPr txBox="1"/>
          <p:nvPr/>
        </p:nvSpPr>
        <p:spPr>
          <a:xfrm>
            <a:off x="749808"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Plasma cells absent or scant in about two-thirds</a:t>
            </a:r>
          </a:p>
          <a:p>
            <a:pPr algn="l">
              <a:spcAft>
                <a:spcPts val="500"/>
              </a:spcAft>
            </a:pPr>
            <a:r>
              <a:rPr sz="1250" b="0" i="0">
                <a:solidFill>
                  <a:srgbClr val="1A1A1A"/>
                </a:solidFill>
                <a:latin typeface="Abadi"/>
              </a:rPr>
              <a:t>▪  Crypt apoptosis in about 20%</a:t>
            </a:r>
          </a:p>
          <a:p>
            <a:pPr algn="l">
              <a:spcAft>
                <a:spcPts val="500"/>
              </a:spcAft>
            </a:pPr>
            <a:r>
              <a:rPr sz="1250" b="0" i="0">
                <a:solidFill>
                  <a:srgbClr val="1A1A1A"/>
                </a:solidFill>
                <a:latin typeface="Abadi"/>
              </a:rPr>
              <a:t>▪  Coeliac-like villi, lymphoid hyperplasia, Giardia</a:t>
            </a:r>
          </a:p>
        </p:txBody>
      </p:sp>
      <p:sp>
        <p:nvSpPr>
          <p:cNvPr id="16" name="Rectangle 15"/>
          <p:cNvSpPr/>
          <p:nvPr/>
        </p:nvSpPr>
        <p:spPr>
          <a:xfrm>
            <a:off x="3390138" y="1773936"/>
            <a:ext cx="2567178" cy="27432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0138" y="1773936"/>
            <a:ext cx="2567178"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1306"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VEO-IBD</a:t>
            </a:r>
          </a:p>
        </p:txBody>
      </p:sp>
      <p:sp>
        <p:nvSpPr>
          <p:cNvPr id="19" name="TextBox 18"/>
          <p:cNvSpPr txBox="1"/>
          <p:nvPr/>
        </p:nvSpPr>
        <p:spPr>
          <a:xfrm>
            <a:off x="3591306"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Apoptotic, crypt-dropout pattern in TTC7A and XIAP defects</a:t>
            </a:r>
          </a:p>
          <a:p>
            <a:pPr algn="l">
              <a:spcAft>
                <a:spcPts val="500"/>
              </a:spcAft>
            </a:pPr>
            <a:r>
              <a:rPr sz="1250" b="0" i="0">
                <a:solidFill>
                  <a:srgbClr val="1A1A1A"/>
                </a:solidFill>
                <a:latin typeface="Abadi"/>
              </a:rPr>
              <a:t>▪  Crohn-like disease in IL-10 receptor defects</a:t>
            </a:r>
          </a:p>
          <a:p>
            <a:pPr algn="l">
              <a:spcAft>
                <a:spcPts val="500"/>
              </a:spcAft>
            </a:pPr>
            <a:r>
              <a:rPr sz="1250" b="0" i="0">
                <a:solidFill>
                  <a:srgbClr val="1A1A1A"/>
                </a:solidFill>
                <a:latin typeface="Abadi"/>
              </a:rPr>
              <a:t>▪  Genetics before biologics</a:t>
            </a:r>
          </a:p>
        </p:txBody>
      </p:sp>
      <p:sp>
        <p:nvSpPr>
          <p:cNvPr id="20" name="Rectangle 19"/>
          <p:cNvSpPr/>
          <p:nvPr/>
        </p:nvSpPr>
        <p:spPr>
          <a:xfrm>
            <a:off x="6231636" y="1773936"/>
            <a:ext cx="2567178" cy="27432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1773936"/>
            <a:ext cx="2567178"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2803"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Checkpoint inhibitors</a:t>
            </a:r>
          </a:p>
        </p:txBody>
      </p:sp>
      <p:sp>
        <p:nvSpPr>
          <p:cNvPr id="23" name="TextBox 22"/>
          <p:cNvSpPr txBox="1"/>
          <p:nvPr/>
        </p:nvSpPr>
        <p:spPr>
          <a:xfrm>
            <a:off x="6432803"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Active colitis with prominent crypt apoptosis</a:t>
            </a:r>
          </a:p>
          <a:p>
            <a:pPr algn="l">
              <a:spcAft>
                <a:spcPts val="500"/>
              </a:spcAft>
            </a:pPr>
            <a:r>
              <a:rPr sz="1250" b="0" i="0">
                <a:solidFill>
                  <a:srgbClr val="1A1A1A"/>
                </a:solidFill>
                <a:latin typeface="Abadi"/>
              </a:rPr>
              <a:t>▪  Lymphocytic or collagenous patterns</a:t>
            </a:r>
          </a:p>
          <a:p>
            <a:pPr algn="l">
              <a:spcAft>
                <a:spcPts val="500"/>
              </a:spcAft>
            </a:pPr>
            <a:r>
              <a:rPr sz="1250" b="0" i="0">
                <a:solidFill>
                  <a:srgbClr val="1A1A1A"/>
                </a:solidFill>
                <a:latin typeface="Abadi"/>
              </a:rPr>
              <a:t>▪  No basal plasmacytosis</a:t>
            </a:r>
          </a:p>
        </p:txBody>
      </p:sp>
      <p:sp>
        <p:nvSpPr>
          <p:cNvPr id="24" name="Rectangle 23"/>
          <p:cNvSpPr/>
          <p:nvPr/>
        </p:nvSpPr>
        <p:spPr>
          <a:xfrm>
            <a:off x="9073134" y="1773936"/>
            <a:ext cx="2567178" cy="27432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3134" y="1773936"/>
            <a:ext cx="2567178"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74302" y="2029967"/>
            <a:ext cx="2164842" cy="384048"/>
          </a:xfrm>
          <a:prstGeom prst="rect">
            <a:avLst/>
          </a:prstGeom>
          <a:noFill/>
        </p:spPr>
        <p:txBody>
          <a:bodyPr wrap="square" lIns="0" rIns="0" tIns="18288" bIns="18288" anchor="t">
            <a:spAutoFit/>
          </a:bodyPr>
          <a:lstStyle/>
          <a:p>
            <a:pPr algn="l"/>
            <a:r>
              <a:rPr sz="1600" b="1" i="0">
                <a:solidFill>
                  <a:srgbClr val="1A1A1A"/>
                </a:solidFill>
                <a:latin typeface="Abadi"/>
              </a:rPr>
              <a:t>PI3Kδ inhibition</a:t>
            </a:r>
          </a:p>
        </p:txBody>
      </p:sp>
      <p:sp>
        <p:nvSpPr>
          <p:cNvPr id="27" name="TextBox 26"/>
          <p:cNvSpPr txBox="1"/>
          <p:nvPr/>
        </p:nvSpPr>
        <p:spPr>
          <a:xfrm>
            <a:off x="9274302" y="2523744"/>
            <a:ext cx="2164842" cy="1847088"/>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Idelalisib: raised IEL, crypt apoptosis, cryptitis</a:t>
            </a:r>
          </a:p>
          <a:p>
            <a:pPr algn="l">
              <a:spcAft>
                <a:spcPts val="500"/>
              </a:spcAft>
            </a:pPr>
            <a:r>
              <a:rPr sz="1250" b="0" i="0">
                <a:solidFill>
                  <a:srgbClr val="1A1A1A"/>
                </a:solidFill>
                <a:latin typeface="Abadi"/>
              </a:rPr>
              <a:t>▪  Adult drug, paediatric lesson</a:t>
            </a:r>
          </a:p>
          <a:p>
            <a:pPr algn="l">
              <a:spcAft>
                <a:spcPts val="500"/>
              </a:spcAft>
            </a:pPr>
            <a:r>
              <a:rPr sz="1250" b="0" i="0">
                <a:solidFill>
                  <a:srgbClr val="1A1A1A"/>
                </a:solidFill>
                <a:latin typeface="Abadi"/>
              </a:rPr>
              <a:t>▪  Apoptosis plus lymphocytosis</a:t>
            </a:r>
          </a:p>
        </p:txBody>
      </p:sp>
      <p:sp>
        <p:nvSpPr>
          <p:cNvPr id="28" name="TextBox 27"/>
          <p:cNvSpPr txBox="1"/>
          <p:nvPr/>
        </p:nvSpPr>
        <p:spPr>
          <a:xfrm>
            <a:off x="548640" y="4709160"/>
            <a:ext cx="11091672" cy="822960"/>
          </a:xfrm>
          <a:prstGeom prst="rect">
            <a:avLst/>
          </a:prstGeom>
          <a:noFill/>
        </p:spPr>
        <p:txBody>
          <a:bodyPr wrap="square" lIns="0" rIns="0" tIns="18288" bIns="18288" anchor="t">
            <a:spAutoFit/>
          </a:bodyPr>
          <a:lstStyle/>
          <a:p>
            <a:pPr algn="l"/>
            <a:r>
              <a:rPr sz="1250" b="0" i="0">
                <a:solidFill>
                  <a:srgbClr val="1A1A1A"/>
                </a:solidFill>
                <a:latin typeface="Abadi"/>
              </a:rPr>
              <a:t>An 'IBD' biopsy without plasma cells is a clue, not a curiosity: measure immunoglobulins. Coeliac-like atrophy in CVID does not respond to gluten withdrawal, and serology is uninterpretable without IgG and IgA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COELIAC HISTOLOGY</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MARSH–OBERHUBER AND ITS SIMPLER HEIR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Grades of the duodenal coeliac lesion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15</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Oberhuber G, et al. Eur J Gastroenterol Hepatol 1999;11:1185–94 · Corazza GR, et al. Clin Gastroenterol Hepatol 2007;5:838–43 · Hayat 2002</a:t>
            </a:r>
          </a:p>
        </p:txBody>
      </p:sp>
      <p:graphicFrame>
        <p:nvGraphicFramePr>
          <p:cNvPr id="12" name="Table 11"/>
          <p:cNvGraphicFramePr>
            <a:graphicFrameLocks noGrp="1"/>
          </p:cNvGraphicFramePr>
          <p:nvPr/>
        </p:nvGraphicFramePr>
        <p:xfrm>
          <a:off x="548640" y="1773936"/>
          <a:ext cx="11091672" cy="3072384"/>
        </p:xfrm>
        <a:graphic>
          <a:graphicData uri="http://schemas.openxmlformats.org/drawingml/2006/table">
            <a:tbl>
              <a:tblPr firstRow="0" bandRow="0">
                <a:tableStyleId>{5C22544A-7EE6-4342-B048-85BDC9FD1C3A}</a:tableStyleId>
              </a:tblPr>
              <a:tblGrid>
                <a:gridCol w="1828800"/>
                <a:gridCol w="3108960"/>
                <a:gridCol w="1645920"/>
                <a:gridCol w="2377440"/>
                <a:gridCol w="2130552"/>
              </a:tblGrid>
              <a:tr h="438912">
                <a:tc>
                  <a:txBody>
                    <a:bodyPr wrap="square"/>
                    <a:lstStyle/>
                    <a:p>
                      <a:r>
                        <a:rPr sz="1200" b="1">
                          <a:solidFill>
                            <a:srgbClr val="FFFFFF"/>
                          </a:solidFill>
                          <a:latin typeface="Abadi"/>
                        </a:rPr>
                        <a:t>Marsh–Oberhuber</a:t>
                      </a:r>
                    </a:p>
                  </a:txBody>
                  <a:tcPr marL="73152" marR="73152" marT="27432" marB="27432" anchor="ctr">
                    <a:solidFill>
                      <a:srgbClr val="1B355E"/>
                    </a:solidFill>
                  </a:tcPr>
                </a:tc>
                <a:tc>
                  <a:txBody>
                    <a:bodyPr wrap="square"/>
                    <a:lstStyle/>
                    <a:p>
                      <a:r>
                        <a:rPr sz="1200" b="1">
                          <a:solidFill>
                            <a:srgbClr val="FFFFFF"/>
                          </a:solidFill>
                          <a:latin typeface="Abadi"/>
                        </a:rPr>
                        <a:t>Intraepithelial lymphocytes</a:t>
                      </a:r>
                    </a:p>
                  </a:txBody>
                  <a:tcPr marL="73152" marR="73152" marT="27432" marB="27432" anchor="ctr">
                    <a:solidFill>
                      <a:srgbClr val="1B355E"/>
                    </a:solidFill>
                  </a:tcPr>
                </a:tc>
                <a:tc>
                  <a:txBody>
                    <a:bodyPr wrap="square"/>
                    <a:lstStyle/>
                    <a:p>
                      <a:r>
                        <a:rPr sz="1200" b="1">
                          <a:solidFill>
                            <a:srgbClr val="FFFFFF"/>
                          </a:solidFill>
                          <a:latin typeface="Abadi"/>
                        </a:rPr>
                        <a:t>Crypts</a:t>
                      </a:r>
                    </a:p>
                  </a:txBody>
                  <a:tcPr marL="73152" marR="73152" marT="27432" marB="27432" anchor="ctr">
                    <a:solidFill>
                      <a:srgbClr val="1B355E"/>
                    </a:solidFill>
                  </a:tcPr>
                </a:tc>
                <a:tc>
                  <a:txBody>
                    <a:bodyPr wrap="square"/>
                    <a:lstStyle/>
                    <a:p>
                      <a:r>
                        <a:rPr sz="1200" b="1">
                          <a:solidFill>
                            <a:srgbClr val="FFFFFF"/>
                          </a:solidFill>
                          <a:latin typeface="Abadi"/>
                        </a:rPr>
                        <a:t>Villi</a:t>
                      </a:r>
                    </a:p>
                  </a:txBody>
                  <a:tcPr marL="73152" marR="73152" marT="27432" marB="27432" anchor="ctr">
                    <a:solidFill>
                      <a:srgbClr val="1B355E"/>
                    </a:solidFill>
                  </a:tcPr>
                </a:tc>
                <a:tc>
                  <a:txBody>
                    <a:bodyPr wrap="square"/>
                    <a:lstStyle/>
                    <a:p>
                      <a:r>
                        <a:rPr sz="1200" b="1">
                          <a:solidFill>
                            <a:srgbClr val="FFFFFF"/>
                          </a:solidFill>
                          <a:latin typeface="Abadi"/>
                        </a:rPr>
                        <a:t>Corazza–Villanacci</a:t>
                      </a:r>
                    </a:p>
                  </a:txBody>
                  <a:tcPr marL="73152" marR="73152" marT="27432" marB="27432" anchor="ctr">
                    <a:solidFill>
                      <a:srgbClr val="1B355E"/>
                    </a:solidFill>
                  </a:tcPr>
                </a:tc>
              </a:tr>
              <a:tr h="438912">
                <a:tc>
                  <a:txBody>
                    <a:bodyPr wrap="square"/>
                    <a:lstStyle/>
                    <a:p>
                      <a:r>
                        <a:rPr sz="1100" b="1">
                          <a:solidFill>
                            <a:srgbClr val="1A1A1A"/>
                          </a:solidFill>
                          <a:latin typeface="Abadi"/>
                        </a:rPr>
                        <a:t>0</a:t>
                      </a:r>
                    </a:p>
                  </a:txBody>
                  <a:tcPr marL="73152" marR="73152" marT="27432" marB="27432" anchor="ctr">
                    <a:solidFill>
                      <a:srgbClr val="FFFFFF"/>
                    </a:solidFill>
                  </a:tcPr>
                </a:tc>
                <a:tc>
                  <a:txBody>
                    <a:bodyPr wrap="square"/>
                    <a:lstStyle/>
                    <a:p>
                      <a:r>
                        <a:rPr sz="1100" b="0">
                          <a:solidFill>
                            <a:srgbClr val="1A1A1A"/>
                          </a:solidFill>
                          <a:latin typeface="Abadi"/>
                        </a:rPr>
                        <a:t>Normal</a:t>
                      </a:r>
                    </a:p>
                  </a:txBody>
                  <a:tcPr marL="73152" marR="73152" marT="27432" marB="27432" anchor="ctr">
                    <a:solidFill>
                      <a:srgbClr val="FFFFFF"/>
                    </a:solidFill>
                  </a:tcPr>
                </a:tc>
                <a:tc>
                  <a:txBody>
                    <a:bodyPr wrap="square"/>
                    <a:lstStyle/>
                    <a:p>
                      <a:r>
                        <a:rPr sz="1100" b="0">
                          <a:solidFill>
                            <a:srgbClr val="1A1A1A"/>
                          </a:solidFill>
                          <a:latin typeface="Abadi"/>
                        </a:rPr>
                        <a:t>Normal</a:t>
                      </a:r>
                    </a:p>
                  </a:txBody>
                  <a:tcPr marL="73152" marR="73152" marT="27432" marB="27432" anchor="ctr">
                    <a:solidFill>
                      <a:srgbClr val="FFFFFF"/>
                    </a:solidFill>
                  </a:tcPr>
                </a:tc>
                <a:tc>
                  <a:txBody>
                    <a:bodyPr wrap="square"/>
                    <a:lstStyle/>
                    <a:p>
                      <a:r>
                        <a:rPr sz="1100" b="0">
                          <a:solidFill>
                            <a:srgbClr val="1A1A1A"/>
                          </a:solidFill>
                          <a:latin typeface="Abadi"/>
                        </a:rPr>
                        <a:t>Normal</a:t>
                      </a:r>
                    </a:p>
                  </a:txBody>
                  <a:tcPr marL="73152" marR="73152" marT="27432" marB="27432" anchor="ctr">
                    <a:solidFill>
                      <a:srgbClr val="FFFFFF"/>
                    </a:solidFill>
                  </a:tcPr>
                </a:tc>
                <a:tc>
                  <a:txBody>
                    <a:bodyPr wrap="square"/>
                    <a:lstStyle/>
                    <a:p>
                      <a:r>
                        <a:rPr sz="1100" b="0">
                          <a:solidFill>
                            <a:srgbClr val="1A1A1A"/>
                          </a:solidFill>
                          <a:latin typeface="Abadi"/>
                        </a:rPr>
                        <a:t>—</a:t>
                      </a:r>
                    </a:p>
                  </a:txBody>
                  <a:tcPr marL="73152" marR="73152" marT="27432" marB="27432" anchor="ctr">
                    <a:solidFill>
                      <a:srgbClr val="FFFFFF"/>
                    </a:solidFill>
                  </a:tcPr>
                </a:tc>
              </a:tr>
              <a:tr h="438912">
                <a:tc>
                  <a:txBody>
                    <a:bodyPr wrap="square"/>
                    <a:lstStyle/>
                    <a:p>
                      <a:r>
                        <a:rPr sz="1100" b="1">
                          <a:solidFill>
                            <a:srgbClr val="1A1A1A"/>
                          </a:solidFill>
                          <a:latin typeface="Abadi"/>
                        </a:rPr>
                        <a:t>1</a:t>
                      </a:r>
                    </a:p>
                  </a:txBody>
                  <a:tcPr marL="73152" marR="73152" marT="27432" marB="27432" anchor="ctr">
                    <a:solidFill>
                      <a:srgbClr val="F2F2F2"/>
                    </a:solidFill>
                  </a:tcPr>
                </a:tc>
                <a:tc>
                  <a:txBody>
                    <a:bodyPr wrap="square"/>
                    <a:lstStyle/>
                    <a:p>
                      <a:r>
                        <a:rPr sz="1100" b="0">
                          <a:solidFill>
                            <a:srgbClr val="1A1A1A"/>
                          </a:solidFill>
                          <a:latin typeface="Abadi"/>
                        </a:rPr>
                        <a:t>Raised (over 25 per 100 enterocytes)</a:t>
                      </a:r>
                    </a:p>
                  </a:txBody>
                  <a:tcPr marL="73152" marR="73152" marT="27432" marB="27432" anchor="ctr">
                    <a:solidFill>
                      <a:srgbClr val="F2F2F2"/>
                    </a:solidFill>
                  </a:tcPr>
                </a:tc>
                <a:tc>
                  <a:txBody>
                    <a:bodyPr wrap="square"/>
                    <a:lstStyle/>
                    <a:p>
                      <a:r>
                        <a:rPr sz="1100" b="0">
                          <a:solidFill>
                            <a:srgbClr val="1A1A1A"/>
                          </a:solidFill>
                          <a:latin typeface="Abadi"/>
                        </a:rPr>
                        <a:t>Normal</a:t>
                      </a:r>
                    </a:p>
                  </a:txBody>
                  <a:tcPr marL="73152" marR="73152" marT="27432" marB="27432" anchor="ctr">
                    <a:solidFill>
                      <a:srgbClr val="F2F2F2"/>
                    </a:solidFill>
                  </a:tcPr>
                </a:tc>
                <a:tc>
                  <a:txBody>
                    <a:bodyPr wrap="square"/>
                    <a:lstStyle/>
                    <a:p>
                      <a:r>
                        <a:rPr sz="1100" b="0">
                          <a:solidFill>
                            <a:srgbClr val="1A1A1A"/>
                          </a:solidFill>
                          <a:latin typeface="Abadi"/>
                        </a:rPr>
                        <a:t>Normal</a:t>
                      </a:r>
                    </a:p>
                  </a:txBody>
                  <a:tcPr marL="73152" marR="73152" marT="27432" marB="27432" anchor="ctr">
                    <a:solidFill>
                      <a:srgbClr val="F2F2F2"/>
                    </a:solidFill>
                  </a:tcPr>
                </a:tc>
                <a:tc>
                  <a:txBody>
                    <a:bodyPr wrap="square"/>
                    <a:lstStyle/>
                    <a:p>
                      <a:r>
                        <a:rPr sz="1100" b="0">
                          <a:solidFill>
                            <a:srgbClr val="1A1A1A"/>
                          </a:solidFill>
                          <a:latin typeface="Abadi"/>
                        </a:rPr>
                        <a:t>A (non-atrophic)</a:t>
                      </a:r>
                    </a:p>
                  </a:txBody>
                  <a:tcPr marL="73152" marR="73152" marT="27432" marB="27432" anchor="ctr">
                    <a:solidFill>
                      <a:srgbClr val="F2F2F2"/>
                    </a:solidFill>
                  </a:tcPr>
                </a:tc>
              </a:tr>
              <a:tr h="438912">
                <a:tc>
                  <a:txBody>
                    <a:bodyPr wrap="square"/>
                    <a:lstStyle/>
                    <a:p>
                      <a:r>
                        <a:rPr sz="1100" b="1">
                          <a:solidFill>
                            <a:srgbClr val="1A1A1A"/>
                          </a:solidFill>
                          <a:latin typeface="Abadi"/>
                        </a:rPr>
                        <a:t>2</a:t>
                      </a:r>
                    </a:p>
                  </a:txBody>
                  <a:tcPr marL="73152" marR="73152" marT="27432" marB="27432" anchor="ctr">
                    <a:solidFill>
                      <a:srgbClr val="FFFFFF"/>
                    </a:solidFill>
                  </a:tcPr>
                </a:tc>
                <a:tc>
                  <a:txBody>
                    <a:bodyPr wrap="square"/>
                    <a:lstStyle/>
                    <a:p>
                      <a:r>
                        <a:rPr sz="1100" b="0">
                          <a:solidFill>
                            <a:srgbClr val="1A1A1A"/>
                          </a:solidFill>
                          <a:latin typeface="Abadi"/>
                        </a:rPr>
                        <a:t>Raised</a:t>
                      </a:r>
                    </a:p>
                  </a:txBody>
                  <a:tcPr marL="73152" marR="73152" marT="27432" marB="27432" anchor="ctr">
                    <a:solidFill>
                      <a:srgbClr val="FFFFFF"/>
                    </a:solidFill>
                  </a:tcPr>
                </a:tc>
                <a:tc>
                  <a:txBody>
                    <a:bodyPr wrap="square"/>
                    <a:lstStyle/>
                    <a:p>
                      <a:r>
                        <a:rPr sz="1100" b="0">
                          <a:solidFill>
                            <a:srgbClr val="1A1A1A"/>
                          </a:solidFill>
                          <a:latin typeface="Abadi"/>
                        </a:rPr>
                        <a:t>Hyperplastic</a:t>
                      </a:r>
                    </a:p>
                  </a:txBody>
                  <a:tcPr marL="73152" marR="73152" marT="27432" marB="27432" anchor="ctr">
                    <a:solidFill>
                      <a:srgbClr val="FFFFFF"/>
                    </a:solidFill>
                  </a:tcPr>
                </a:tc>
                <a:tc>
                  <a:txBody>
                    <a:bodyPr wrap="square"/>
                    <a:lstStyle/>
                    <a:p>
                      <a:r>
                        <a:rPr sz="1100" b="0">
                          <a:solidFill>
                            <a:srgbClr val="1A1A1A"/>
                          </a:solidFill>
                          <a:latin typeface="Abadi"/>
                        </a:rPr>
                        <a:t>Normal</a:t>
                      </a:r>
                    </a:p>
                  </a:txBody>
                  <a:tcPr marL="73152" marR="73152" marT="27432" marB="27432" anchor="ctr">
                    <a:solidFill>
                      <a:srgbClr val="FFFFFF"/>
                    </a:solidFill>
                  </a:tcPr>
                </a:tc>
                <a:tc>
                  <a:txBody>
                    <a:bodyPr wrap="square"/>
                    <a:lstStyle/>
                    <a:p>
                      <a:r>
                        <a:rPr sz="1100" b="0">
                          <a:solidFill>
                            <a:srgbClr val="1A1A1A"/>
                          </a:solidFill>
                          <a:latin typeface="Abadi"/>
                        </a:rPr>
                        <a:t>A (non-atrophic)</a:t>
                      </a:r>
                    </a:p>
                  </a:txBody>
                  <a:tcPr marL="73152" marR="73152" marT="27432" marB="27432" anchor="ctr">
                    <a:solidFill>
                      <a:srgbClr val="FFFFFF"/>
                    </a:solidFill>
                  </a:tcPr>
                </a:tc>
              </a:tr>
              <a:tr h="438912">
                <a:tc>
                  <a:txBody>
                    <a:bodyPr wrap="square"/>
                    <a:lstStyle/>
                    <a:p>
                      <a:r>
                        <a:rPr sz="1100" b="1">
                          <a:solidFill>
                            <a:srgbClr val="1A1A1A"/>
                          </a:solidFill>
                          <a:latin typeface="Abadi"/>
                        </a:rPr>
                        <a:t>3a</a:t>
                      </a:r>
                    </a:p>
                  </a:txBody>
                  <a:tcPr marL="73152" marR="73152" marT="27432" marB="27432" anchor="ctr">
                    <a:solidFill>
                      <a:srgbClr val="F2F2F2"/>
                    </a:solidFill>
                  </a:tcPr>
                </a:tc>
                <a:tc>
                  <a:txBody>
                    <a:bodyPr wrap="square"/>
                    <a:lstStyle/>
                    <a:p>
                      <a:r>
                        <a:rPr sz="1100" b="0">
                          <a:solidFill>
                            <a:srgbClr val="1A1A1A"/>
                          </a:solidFill>
                          <a:latin typeface="Abadi"/>
                        </a:rPr>
                        <a:t>Raised</a:t>
                      </a:r>
                    </a:p>
                  </a:txBody>
                  <a:tcPr marL="73152" marR="73152" marT="27432" marB="27432" anchor="ctr">
                    <a:solidFill>
                      <a:srgbClr val="F2F2F2"/>
                    </a:solidFill>
                  </a:tcPr>
                </a:tc>
                <a:tc>
                  <a:txBody>
                    <a:bodyPr wrap="square"/>
                    <a:lstStyle/>
                    <a:p>
                      <a:r>
                        <a:rPr sz="1100" b="0">
                          <a:solidFill>
                            <a:srgbClr val="1A1A1A"/>
                          </a:solidFill>
                          <a:latin typeface="Abadi"/>
                        </a:rPr>
                        <a:t>Hyperplastic</a:t>
                      </a:r>
                    </a:p>
                  </a:txBody>
                  <a:tcPr marL="73152" marR="73152" marT="27432" marB="27432" anchor="ctr">
                    <a:solidFill>
                      <a:srgbClr val="F2F2F2"/>
                    </a:solidFill>
                  </a:tcPr>
                </a:tc>
                <a:tc>
                  <a:txBody>
                    <a:bodyPr wrap="square"/>
                    <a:lstStyle/>
                    <a:p>
                      <a:r>
                        <a:rPr sz="1100" b="0">
                          <a:solidFill>
                            <a:srgbClr val="1A1A1A"/>
                          </a:solidFill>
                          <a:latin typeface="Abadi"/>
                        </a:rPr>
                        <a:t>Mild (partial) atrophy</a:t>
                      </a:r>
                    </a:p>
                  </a:txBody>
                  <a:tcPr marL="73152" marR="73152" marT="27432" marB="27432" anchor="ctr">
                    <a:solidFill>
                      <a:srgbClr val="F2F2F2"/>
                    </a:solidFill>
                  </a:tcPr>
                </a:tc>
                <a:tc>
                  <a:txBody>
                    <a:bodyPr wrap="square"/>
                    <a:lstStyle/>
                    <a:p>
                      <a:r>
                        <a:rPr sz="1100" b="0">
                          <a:solidFill>
                            <a:srgbClr val="1A1A1A"/>
                          </a:solidFill>
                          <a:latin typeface="Abadi"/>
                        </a:rPr>
                        <a:t>B1 (atrophic, villi visible)</a:t>
                      </a:r>
                    </a:p>
                  </a:txBody>
                  <a:tcPr marL="73152" marR="73152" marT="27432" marB="27432" anchor="ctr">
                    <a:solidFill>
                      <a:srgbClr val="F2F2F2"/>
                    </a:solidFill>
                  </a:tcPr>
                </a:tc>
              </a:tr>
              <a:tr h="438912">
                <a:tc>
                  <a:txBody>
                    <a:bodyPr wrap="square"/>
                    <a:lstStyle/>
                    <a:p>
                      <a:r>
                        <a:rPr sz="1100" b="1">
                          <a:solidFill>
                            <a:srgbClr val="1A1A1A"/>
                          </a:solidFill>
                          <a:latin typeface="Abadi"/>
                        </a:rPr>
                        <a:t>3b</a:t>
                      </a:r>
                    </a:p>
                  </a:txBody>
                  <a:tcPr marL="73152" marR="73152" marT="27432" marB="27432" anchor="ctr">
                    <a:solidFill>
                      <a:srgbClr val="FFFFFF"/>
                    </a:solidFill>
                  </a:tcPr>
                </a:tc>
                <a:tc>
                  <a:txBody>
                    <a:bodyPr wrap="square"/>
                    <a:lstStyle/>
                    <a:p>
                      <a:r>
                        <a:rPr sz="1100" b="0">
                          <a:solidFill>
                            <a:srgbClr val="1A1A1A"/>
                          </a:solidFill>
                          <a:latin typeface="Abadi"/>
                        </a:rPr>
                        <a:t>Raised</a:t>
                      </a:r>
                    </a:p>
                  </a:txBody>
                  <a:tcPr marL="73152" marR="73152" marT="27432" marB="27432" anchor="ctr">
                    <a:solidFill>
                      <a:srgbClr val="FFFFFF"/>
                    </a:solidFill>
                  </a:tcPr>
                </a:tc>
                <a:tc>
                  <a:txBody>
                    <a:bodyPr wrap="square"/>
                    <a:lstStyle/>
                    <a:p>
                      <a:r>
                        <a:rPr sz="1100" b="0">
                          <a:solidFill>
                            <a:srgbClr val="1A1A1A"/>
                          </a:solidFill>
                          <a:latin typeface="Abadi"/>
                        </a:rPr>
                        <a:t>Hyperplastic</a:t>
                      </a:r>
                    </a:p>
                  </a:txBody>
                  <a:tcPr marL="73152" marR="73152" marT="27432" marB="27432" anchor="ctr">
                    <a:solidFill>
                      <a:srgbClr val="FFFFFF"/>
                    </a:solidFill>
                  </a:tcPr>
                </a:tc>
                <a:tc>
                  <a:txBody>
                    <a:bodyPr wrap="square"/>
                    <a:lstStyle/>
                    <a:p>
                      <a:r>
                        <a:rPr sz="1100" b="0">
                          <a:solidFill>
                            <a:srgbClr val="1A1A1A"/>
                          </a:solidFill>
                          <a:latin typeface="Abadi"/>
                        </a:rPr>
                        <a:t>Marked (subtotal) atrophy</a:t>
                      </a:r>
                    </a:p>
                  </a:txBody>
                  <a:tcPr marL="73152" marR="73152" marT="27432" marB="27432" anchor="ctr">
                    <a:solidFill>
                      <a:srgbClr val="FFFFFF"/>
                    </a:solidFill>
                  </a:tcPr>
                </a:tc>
                <a:tc>
                  <a:txBody>
                    <a:bodyPr wrap="square"/>
                    <a:lstStyle/>
                    <a:p>
                      <a:r>
                        <a:rPr sz="1100" b="0">
                          <a:solidFill>
                            <a:srgbClr val="1A1A1A"/>
                          </a:solidFill>
                          <a:latin typeface="Abadi"/>
                        </a:rPr>
                        <a:t>B1 (atrophic, villi visible)</a:t>
                      </a:r>
                    </a:p>
                  </a:txBody>
                  <a:tcPr marL="73152" marR="73152" marT="27432" marB="27432" anchor="ctr">
                    <a:solidFill>
                      <a:srgbClr val="FFFFFF"/>
                    </a:solidFill>
                  </a:tcPr>
                </a:tc>
              </a:tr>
              <a:tr h="438912">
                <a:tc>
                  <a:txBody>
                    <a:bodyPr wrap="square"/>
                    <a:lstStyle/>
                    <a:p>
                      <a:r>
                        <a:rPr sz="1100" b="1">
                          <a:solidFill>
                            <a:srgbClr val="1A1A1A"/>
                          </a:solidFill>
                          <a:latin typeface="Abadi"/>
                        </a:rPr>
                        <a:t>3c</a:t>
                      </a:r>
                    </a:p>
                  </a:txBody>
                  <a:tcPr marL="73152" marR="73152" marT="27432" marB="27432" anchor="ctr">
                    <a:solidFill>
                      <a:srgbClr val="F2F2F2"/>
                    </a:solidFill>
                  </a:tcPr>
                </a:tc>
                <a:tc>
                  <a:txBody>
                    <a:bodyPr wrap="square"/>
                    <a:lstStyle/>
                    <a:p>
                      <a:r>
                        <a:rPr sz="1100" b="0">
                          <a:solidFill>
                            <a:srgbClr val="1A1A1A"/>
                          </a:solidFill>
                          <a:latin typeface="Abadi"/>
                        </a:rPr>
                        <a:t>Raised</a:t>
                      </a:r>
                    </a:p>
                  </a:txBody>
                  <a:tcPr marL="73152" marR="73152" marT="27432" marB="27432" anchor="ctr">
                    <a:solidFill>
                      <a:srgbClr val="F2F2F2"/>
                    </a:solidFill>
                  </a:tcPr>
                </a:tc>
                <a:tc>
                  <a:txBody>
                    <a:bodyPr wrap="square"/>
                    <a:lstStyle/>
                    <a:p>
                      <a:r>
                        <a:rPr sz="1100" b="0">
                          <a:solidFill>
                            <a:srgbClr val="1A1A1A"/>
                          </a:solidFill>
                          <a:latin typeface="Abadi"/>
                        </a:rPr>
                        <a:t>Hyperplastic</a:t>
                      </a:r>
                    </a:p>
                  </a:txBody>
                  <a:tcPr marL="73152" marR="73152" marT="27432" marB="27432" anchor="ctr">
                    <a:solidFill>
                      <a:srgbClr val="F2F2F2"/>
                    </a:solidFill>
                  </a:tcPr>
                </a:tc>
                <a:tc>
                  <a:txBody>
                    <a:bodyPr wrap="square"/>
                    <a:lstStyle/>
                    <a:p>
                      <a:r>
                        <a:rPr sz="1100" b="0">
                          <a:solidFill>
                            <a:srgbClr val="1A1A1A"/>
                          </a:solidFill>
                          <a:latin typeface="Abadi"/>
                        </a:rPr>
                        <a:t>Total atrophy, flat</a:t>
                      </a:r>
                    </a:p>
                  </a:txBody>
                  <a:tcPr marL="73152" marR="73152" marT="27432" marB="27432" anchor="ctr">
                    <a:solidFill>
                      <a:srgbClr val="F2F2F2"/>
                    </a:solidFill>
                  </a:tcPr>
                </a:tc>
                <a:tc>
                  <a:txBody>
                    <a:bodyPr wrap="square"/>
                    <a:lstStyle/>
                    <a:p>
                      <a:r>
                        <a:rPr sz="1100" b="0">
                          <a:solidFill>
                            <a:srgbClr val="1A1A1A"/>
                          </a:solidFill>
                          <a:latin typeface="Abadi"/>
                        </a:rPr>
                        <a:t>B2 (flat)</a:t>
                      </a:r>
                    </a:p>
                  </a:txBody>
                  <a:tcPr marL="73152" marR="73152" marT="27432" marB="27432" anchor="ctr">
                    <a:solidFill>
                      <a:srgbClr val="F2F2F2"/>
                    </a:solidFill>
                  </a:tcPr>
                </a:tc>
              </a:tr>
            </a:tbl>
          </a:graphicData>
        </a:graphic>
      </p:graphicFrame>
      <p:sp>
        <p:nvSpPr>
          <p:cNvPr id="13" name="TextBox 12"/>
          <p:cNvSpPr txBox="1"/>
          <p:nvPr/>
        </p:nvSpPr>
        <p:spPr>
          <a:xfrm>
            <a:off x="548640" y="5120640"/>
            <a:ext cx="11091672" cy="640080"/>
          </a:xfrm>
          <a:prstGeom prst="rect">
            <a:avLst/>
          </a:prstGeom>
          <a:noFill/>
        </p:spPr>
        <p:txBody>
          <a:bodyPr wrap="square" lIns="0" rIns="0" tIns="18288" bIns="18288" anchor="t">
            <a:spAutoFit/>
          </a:bodyPr>
          <a:lstStyle/>
          <a:p>
            <a:pPr algn="l"/>
            <a:r>
              <a:rPr sz="1250" b="0" i="0">
                <a:solidFill>
                  <a:srgbClr val="1A1A1A"/>
                </a:solidFill>
                <a:latin typeface="Abadi"/>
              </a:rPr>
              <a:t>Oberhuber's original IEL cut-off was 40 per 100; the modern 25 comes from Hayat 2002 (normal mean 11, range 1.8–26; villus to crypt ratio mean 1.82).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REPRODUCIBILITY</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THE GRADE DEPENDS ON WHO READS IT</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Interobserver agreement (kappa) for coeliac histology</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16</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Corazza 2007 · Arguelles-Grande C, et al. J Clin Pathol 2012;65:242–7 · Bonamico M, et al. JPGN 2008;47:618–22</a:t>
            </a:r>
          </a:p>
        </p:txBody>
      </p:sp>
      <p:sp>
        <p:nvSpPr>
          <p:cNvPr id="12" name="Rectangle 11"/>
          <p:cNvSpPr/>
          <p:nvPr/>
        </p:nvSpPr>
        <p:spPr>
          <a:xfrm>
            <a:off x="548640" y="1847088"/>
            <a:ext cx="137160" cy="1371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01368"/>
            <a:ext cx="2377440" cy="228600"/>
          </a:xfrm>
          <a:prstGeom prst="rect">
            <a:avLst/>
          </a:prstGeom>
          <a:noFill/>
        </p:spPr>
        <p:txBody>
          <a:bodyPr wrap="square" lIns="0" rIns="0" tIns="18288" bIns="18288" anchor="t">
            <a:spAutoFit/>
          </a:bodyPr>
          <a:lstStyle/>
          <a:p>
            <a:pPr algn="l"/>
            <a:r>
              <a:rPr sz="950" b="0" i="0">
                <a:solidFill>
                  <a:srgbClr val="1A1A1A"/>
                </a:solidFill>
                <a:latin typeface="Abadi"/>
              </a:rPr>
              <a:t>Kappa</a:t>
            </a:r>
          </a:p>
        </p:txBody>
      </p:sp>
      <p:sp>
        <p:nvSpPr>
          <p:cNvPr id="14" name="Rectangle 13"/>
          <p:cNvSpPr/>
          <p:nvPr/>
        </p:nvSpPr>
        <p:spPr>
          <a:xfrm>
            <a:off x="548640" y="5349240"/>
            <a:ext cx="676656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0684" y="4357116"/>
            <a:ext cx="649224" cy="99212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 y="4101084"/>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0.35</a:t>
            </a:r>
          </a:p>
        </p:txBody>
      </p:sp>
      <p:sp>
        <p:nvSpPr>
          <p:cNvPr id="17" name="TextBox 16"/>
          <p:cNvSpPr txBox="1"/>
          <p:nvPr/>
        </p:nvSpPr>
        <p:spPr>
          <a:xfrm>
            <a:off x="548640" y="5385816"/>
            <a:ext cx="1353312" cy="274320"/>
          </a:xfrm>
          <a:prstGeom prst="rect">
            <a:avLst/>
          </a:prstGeom>
          <a:noFill/>
        </p:spPr>
        <p:txBody>
          <a:bodyPr wrap="square" lIns="0" rIns="0" tIns="18288" bIns="18288" anchor="t">
            <a:spAutoFit/>
          </a:bodyPr>
          <a:lstStyle/>
          <a:p>
            <a:pPr algn="ctr"/>
            <a:r>
              <a:rPr sz="950" b="0" i="0">
                <a:solidFill>
                  <a:srgbClr val="1A1A1A"/>
                </a:solidFill>
                <a:latin typeface="Abadi"/>
              </a:rPr>
              <a:t>Marsh–Oberhuber</a:t>
            </a:r>
          </a:p>
        </p:txBody>
      </p:sp>
      <p:sp>
        <p:nvSpPr>
          <p:cNvPr id="18" name="Rectangle 17"/>
          <p:cNvSpPr/>
          <p:nvPr/>
        </p:nvSpPr>
        <p:spPr>
          <a:xfrm>
            <a:off x="2253996" y="3790187"/>
            <a:ext cx="649224" cy="15590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98548" y="3534155"/>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0.55</a:t>
            </a:r>
          </a:p>
        </p:txBody>
      </p:sp>
      <p:sp>
        <p:nvSpPr>
          <p:cNvPr id="20" name="TextBox 19"/>
          <p:cNvSpPr txBox="1"/>
          <p:nvPr/>
        </p:nvSpPr>
        <p:spPr>
          <a:xfrm>
            <a:off x="1901952" y="5385816"/>
            <a:ext cx="1353312" cy="274320"/>
          </a:xfrm>
          <a:prstGeom prst="rect">
            <a:avLst/>
          </a:prstGeom>
          <a:noFill/>
        </p:spPr>
        <p:txBody>
          <a:bodyPr wrap="square" lIns="0" rIns="0" tIns="18288" bIns="18288" anchor="t">
            <a:spAutoFit/>
          </a:bodyPr>
          <a:lstStyle/>
          <a:p>
            <a:pPr algn="ctr"/>
            <a:r>
              <a:rPr sz="950" b="0" i="0">
                <a:solidFill>
                  <a:srgbClr val="1A1A1A"/>
                </a:solidFill>
                <a:latin typeface="Abadi"/>
              </a:rPr>
              <a:t>Corazza–Villanacci</a:t>
            </a:r>
          </a:p>
        </p:txBody>
      </p:sp>
      <p:sp>
        <p:nvSpPr>
          <p:cNvPr id="21" name="Rectangle 20"/>
          <p:cNvSpPr/>
          <p:nvPr/>
        </p:nvSpPr>
        <p:spPr>
          <a:xfrm>
            <a:off x="3607308" y="4161525"/>
            <a:ext cx="649224" cy="118771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1860" y="3905493"/>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0.419</a:t>
            </a:r>
          </a:p>
        </p:txBody>
      </p:sp>
      <p:sp>
        <p:nvSpPr>
          <p:cNvPr id="23" name="TextBox 22"/>
          <p:cNvSpPr txBox="1"/>
          <p:nvPr/>
        </p:nvSpPr>
        <p:spPr>
          <a:xfrm>
            <a:off x="3255264" y="5385816"/>
            <a:ext cx="1353312" cy="274320"/>
          </a:xfrm>
          <a:prstGeom prst="rect">
            <a:avLst/>
          </a:prstGeom>
          <a:noFill/>
        </p:spPr>
        <p:txBody>
          <a:bodyPr wrap="square" lIns="0" rIns="0" tIns="18288" bIns="18288" anchor="t">
            <a:spAutoFit/>
          </a:bodyPr>
          <a:lstStyle/>
          <a:p>
            <a:pPr algn="ctr"/>
            <a:r>
              <a:rPr sz="950" b="0" i="0">
                <a:solidFill>
                  <a:srgbClr val="1A1A1A"/>
                </a:solidFill>
                <a:latin typeface="Abadi"/>
              </a:rPr>
              <a:t>Commercial lab vs expert</a:t>
            </a:r>
          </a:p>
        </p:txBody>
      </p:sp>
      <p:sp>
        <p:nvSpPr>
          <p:cNvPr id="24" name="Rectangle 23"/>
          <p:cNvSpPr/>
          <p:nvPr/>
        </p:nvSpPr>
        <p:spPr>
          <a:xfrm>
            <a:off x="4960619" y="4031132"/>
            <a:ext cx="649224" cy="1318107"/>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5171" y="3775100"/>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0.465</a:t>
            </a:r>
          </a:p>
        </p:txBody>
      </p:sp>
      <p:sp>
        <p:nvSpPr>
          <p:cNvPr id="26" name="TextBox 25"/>
          <p:cNvSpPr txBox="1"/>
          <p:nvPr/>
        </p:nvSpPr>
        <p:spPr>
          <a:xfrm>
            <a:off x="4608575" y="5385816"/>
            <a:ext cx="1353312" cy="274320"/>
          </a:xfrm>
          <a:prstGeom prst="rect">
            <a:avLst/>
          </a:prstGeom>
          <a:noFill/>
        </p:spPr>
        <p:txBody>
          <a:bodyPr wrap="square" lIns="0" rIns="0" tIns="18288" bIns="18288" anchor="t">
            <a:spAutoFit/>
          </a:bodyPr>
          <a:lstStyle/>
          <a:p>
            <a:pPr algn="ctr"/>
            <a:r>
              <a:rPr sz="950" b="0" i="0">
                <a:solidFill>
                  <a:srgbClr val="1A1A1A"/>
                </a:solidFill>
                <a:latin typeface="Abadi"/>
              </a:rPr>
              <a:t>Community vs expert</a:t>
            </a:r>
          </a:p>
        </p:txBody>
      </p:sp>
      <p:sp>
        <p:nvSpPr>
          <p:cNvPr id="27" name="Rectangle 26"/>
          <p:cNvSpPr/>
          <p:nvPr/>
        </p:nvSpPr>
        <p:spPr>
          <a:xfrm>
            <a:off x="6313931" y="2832079"/>
            <a:ext cx="649224" cy="25171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58483" y="2576047"/>
            <a:ext cx="960120" cy="228600"/>
          </a:xfrm>
          <a:prstGeom prst="rect">
            <a:avLst/>
          </a:prstGeom>
          <a:noFill/>
        </p:spPr>
        <p:txBody>
          <a:bodyPr wrap="square" lIns="0" rIns="0" tIns="18288" bIns="18288" anchor="t">
            <a:spAutoFit/>
          </a:bodyPr>
          <a:lstStyle/>
          <a:p>
            <a:pPr algn="ctr"/>
            <a:r>
              <a:rPr sz="950" b="1" i="0">
                <a:solidFill>
                  <a:srgbClr val="1B355E"/>
                </a:solidFill>
                <a:latin typeface="Abadi"/>
              </a:rPr>
              <a:t>0.888</a:t>
            </a:r>
          </a:p>
        </p:txBody>
      </p:sp>
      <p:sp>
        <p:nvSpPr>
          <p:cNvPr id="29" name="TextBox 28"/>
          <p:cNvSpPr txBox="1"/>
          <p:nvPr/>
        </p:nvSpPr>
        <p:spPr>
          <a:xfrm>
            <a:off x="5961888" y="5385816"/>
            <a:ext cx="1353312" cy="274320"/>
          </a:xfrm>
          <a:prstGeom prst="rect">
            <a:avLst/>
          </a:prstGeom>
          <a:noFill/>
        </p:spPr>
        <p:txBody>
          <a:bodyPr wrap="square" lIns="0" rIns="0" tIns="18288" bIns="18288" anchor="t">
            <a:spAutoFit/>
          </a:bodyPr>
          <a:lstStyle/>
          <a:p>
            <a:pPr algn="ctr"/>
            <a:r>
              <a:rPr sz="950" b="0" i="0">
                <a:solidFill>
                  <a:srgbClr val="1A1A1A"/>
                </a:solidFill>
                <a:latin typeface="Abadi"/>
              </a:rPr>
              <a:t>University vs expert</a:t>
            </a:r>
          </a:p>
        </p:txBody>
      </p:sp>
      <p:sp>
        <p:nvSpPr>
          <p:cNvPr id="30" name="TextBox 29"/>
          <p:cNvSpPr txBox="1"/>
          <p:nvPr/>
        </p:nvSpPr>
        <p:spPr>
          <a:xfrm>
            <a:off x="7680960" y="1828800"/>
            <a:ext cx="3931920" cy="3840480"/>
          </a:xfrm>
          <a:prstGeom prst="rect">
            <a:avLst/>
          </a:prstGeom>
          <a:noFill/>
        </p:spPr>
        <p:txBody>
          <a:bodyPr wrap="square" lIns="0" rIns="0" tIns="18288" bIns="18288" anchor="t">
            <a:spAutoFit/>
          </a:bodyPr>
          <a:lstStyle/>
          <a:p>
            <a:pPr algn="l">
              <a:spcAft>
                <a:spcPts val="300"/>
              </a:spcAft>
            </a:pPr>
            <a:r>
              <a:rPr sz="1700" b="1" i="0">
                <a:solidFill>
                  <a:srgbClr val="1B355E"/>
                </a:solidFill>
                <a:latin typeface="Abadi"/>
              </a:rPr>
              <a:t>25%</a:t>
            </a:r>
          </a:p>
          <a:p>
            <a:pPr algn="l">
              <a:spcAft>
                <a:spcPts val="300"/>
              </a:spcAft>
            </a:pPr>
            <a:r>
              <a:rPr sz="1100" b="0" i="0">
                <a:solidFill>
                  <a:srgbClr val="1A1A1A"/>
                </a:solidFill>
                <a:latin typeface="Abadi"/>
              </a:rPr>
              <a:t>Diagnoses changed on expert review of 102 slides; 67% of reports lacked a Marsh grade; 43% had one well-oriented piece.</a:t>
            </a:r>
          </a:p>
          <a:p>
            <a:pPr algn="l">
              <a:spcAft>
                <a:spcPts val="300"/>
              </a:spcAft>
            </a:pPr>
            <a:r>
              <a:rPr sz="1700" b="1" i="0">
                <a:solidFill>
                  <a:srgbClr val="1B355E"/>
                </a:solidFill>
                <a:latin typeface="Abadi"/>
              </a:rPr>
              <a:t>2.4%</a:t>
            </a:r>
          </a:p>
          <a:p>
            <a:pPr algn="l">
              <a:spcAft>
                <a:spcPts val="300"/>
              </a:spcAft>
            </a:pPr>
            <a:r>
              <a:rPr sz="1100" b="0" i="0">
                <a:solidFill>
                  <a:srgbClr val="1A1A1A"/>
                </a:solidFill>
                <a:latin typeface="Abadi"/>
              </a:rPr>
              <a:t>Of 665 coeliac children had atrophy only in the duodenal bulb.</a:t>
            </a:r>
          </a:p>
          <a:p>
            <a:pPr algn="l">
              <a:spcAft>
                <a:spcPts val="300"/>
              </a:spcAft>
            </a:pPr>
            <a:r>
              <a:rPr sz="1700" b="1" i="0">
                <a:solidFill>
                  <a:srgbClr val="1B355E"/>
                </a:solidFill>
                <a:latin typeface="Abadi"/>
              </a:rPr>
              <a:t>Orientation</a:t>
            </a:r>
          </a:p>
          <a:p>
            <a:pPr algn="l">
              <a:spcAft>
                <a:spcPts val="300"/>
              </a:spcAft>
            </a:pPr>
            <a:r>
              <a:rPr sz="1100" b="0" i="0">
                <a:solidFill>
                  <a:srgbClr val="1A1A1A"/>
                </a:solidFill>
                <a:latin typeface="Abadi"/>
              </a:rPr>
              <a:t>Ask for well-oriented pieces and a villus to crypt ratio; under 2 signals a lesion (ESPGHAN 2020).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GUIDELINES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WHAT THE DOCUMENTS SAY</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North America versus Europe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17</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Rubio-Tapia A, Am J Gastroenterol 2023;118:59–76 · Husby 2020 · Papadopoulou 2024 · Dellon 2018, 2022 · Magro 2013 · Levine 2014 · Dellon, NEJM 2020</a:t>
            </a:r>
          </a:p>
        </p:txBody>
      </p:sp>
      <p:graphicFrame>
        <p:nvGraphicFramePr>
          <p:cNvPr id="12" name="Table 11"/>
          <p:cNvGraphicFramePr>
            <a:graphicFrameLocks noGrp="1"/>
          </p:cNvGraphicFramePr>
          <p:nvPr/>
        </p:nvGraphicFramePr>
        <p:xfrm>
          <a:off x="548640" y="1773936"/>
          <a:ext cx="11091671" cy="3200400"/>
        </p:xfrm>
        <a:graphic>
          <a:graphicData uri="http://schemas.openxmlformats.org/drawingml/2006/table">
            <a:tbl>
              <a:tblPr firstRow="0" bandRow="0">
                <a:tableStyleId>{5C22544A-7EE6-4342-B048-85BDC9FD1C3A}</a:tableStyleId>
              </a:tblPr>
              <a:tblGrid>
                <a:gridCol w="2011680"/>
                <a:gridCol w="3749039"/>
                <a:gridCol w="3931920"/>
                <a:gridCol w="1399032"/>
              </a:tblGrid>
              <a:tr h="457200">
                <a:tc>
                  <a:txBody>
                    <a:bodyPr wrap="square"/>
                    <a:lstStyle/>
                    <a:p>
                      <a:r>
                        <a:rPr sz="1200" b="1">
                          <a:solidFill>
                            <a:srgbClr val="FFFFFF"/>
                          </a:solidFill>
                          <a:latin typeface="Abadi"/>
                        </a:rPr>
                        <a:t>Question</a:t>
                      </a:r>
                    </a:p>
                  </a:txBody>
                  <a:tcPr marL="73152" marR="73152" marT="27432" marB="27432" anchor="ctr">
                    <a:solidFill>
                      <a:srgbClr val="1B355E"/>
                    </a:solidFill>
                  </a:tcPr>
                </a:tc>
                <a:tc>
                  <a:txBody>
                    <a:bodyPr wrap="square"/>
                    <a:lstStyle/>
                    <a:p>
                      <a:r>
                        <a:rPr sz="1200" b="1">
                          <a:solidFill>
                            <a:srgbClr val="FFFFFF"/>
                          </a:solidFill>
                          <a:latin typeface="Abadi"/>
                        </a:rPr>
                        <a:t>North America (ACG · NASPGHAN)</a:t>
                      </a:r>
                    </a:p>
                  </a:txBody>
                  <a:tcPr marL="73152" marR="73152" marT="27432" marB="27432" anchor="ctr">
                    <a:solidFill>
                      <a:srgbClr val="1B355E"/>
                    </a:solidFill>
                  </a:tcPr>
                </a:tc>
                <a:tc>
                  <a:txBody>
                    <a:bodyPr wrap="square"/>
                    <a:lstStyle/>
                    <a:p>
                      <a:r>
                        <a:rPr sz="1200" b="1">
                          <a:solidFill>
                            <a:srgbClr val="FFFFFF"/>
                          </a:solidFill>
                          <a:latin typeface="Abadi"/>
                        </a:rPr>
                        <a:t>Europe (ESPGHAN · ECCO-ESP)</a:t>
                      </a:r>
                    </a:p>
                  </a:txBody>
                  <a:tcPr marL="73152" marR="73152" marT="27432" marB="27432" anchor="ctr">
                    <a:solidFill>
                      <a:srgbClr val="1B355E"/>
                    </a:solidFill>
                  </a:tcPr>
                </a:tc>
                <a:tc>
                  <a:txBody>
                    <a:bodyPr wrap="square"/>
                    <a:lstStyle/>
                    <a:p>
                      <a:r>
                        <a:rPr sz="1200" b="1">
                          <a:solidFill>
                            <a:srgbClr val="FFFFFF"/>
                          </a:solidFill>
                          <a:latin typeface="Abadi"/>
                        </a:rPr>
                        <a:t>Verdict</a:t>
                      </a:r>
                    </a:p>
                  </a:txBody>
                  <a:tcPr marL="73152" marR="73152" marT="27432" marB="27432" anchor="ctr">
                    <a:solidFill>
                      <a:srgbClr val="1B355E"/>
                    </a:solidFill>
                  </a:tcPr>
                </a:tc>
              </a:tr>
              <a:tr h="457200">
                <a:tc>
                  <a:txBody>
                    <a:bodyPr wrap="square"/>
                    <a:lstStyle/>
                    <a:p>
                      <a:r>
                        <a:rPr sz="1050" b="1">
                          <a:solidFill>
                            <a:srgbClr val="1A1A1A"/>
                          </a:solidFill>
                          <a:latin typeface="Abadi"/>
                        </a:rPr>
                        <a:t>Coeliac biopsies</a:t>
                      </a:r>
                    </a:p>
                  </a:txBody>
                  <a:tcPr marL="73152" marR="73152" marT="27432" marB="27432" anchor="ctr">
                    <a:solidFill>
                      <a:srgbClr val="FFFFFF"/>
                    </a:solidFill>
                  </a:tcPr>
                </a:tc>
                <a:tc>
                  <a:txBody>
                    <a:bodyPr wrap="square"/>
                    <a:lstStyle/>
                    <a:p>
                      <a:r>
                        <a:rPr sz="1050" b="0">
                          <a:solidFill>
                            <a:srgbClr val="1A1A1A"/>
                          </a:solidFill>
                          <a:latin typeface="Abadi"/>
                        </a:rPr>
                        <a:t>Bulb plus at least 4 distal (ACG 2023)</a:t>
                      </a:r>
                    </a:p>
                  </a:txBody>
                  <a:tcPr marL="73152" marR="73152" marT="27432" marB="27432" anchor="ctr">
                    <a:solidFill>
                      <a:srgbClr val="FFFFFF"/>
                    </a:solidFill>
                  </a:tcPr>
                </a:tc>
                <a:tc>
                  <a:txBody>
                    <a:bodyPr wrap="square"/>
                    <a:lstStyle/>
                    <a:p>
                      <a:r>
                        <a:rPr sz="1050" b="0">
                          <a:solidFill>
                            <a:srgbClr val="1A1A1A"/>
                          </a:solidFill>
                          <a:latin typeface="Abadi"/>
                        </a:rPr>
                        <a:t>At least 1 bulb plus 4 distal (ESPGHAN 2020)</a:t>
                      </a:r>
                    </a:p>
                  </a:txBody>
                  <a:tcPr marL="73152" marR="73152" marT="27432" marB="27432" anchor="ctr">
                    <a:solidFill>
                      <a:srgbClr val="FFFFFF"/>
                    </a:solidFill>
                  </a:tcPr>
                </a:tc>
                <a:tc>
                  <a:txBody>
                    <a:bodyPr wrap="square"/>
                    <a:lstStyle/>
                    <a:p>
                      <a:pPr algn="ctr"/>
                      <a:r>
                        <a:rPr sz="1050" b="1">
                          <a:solidFill>
                            <a:srgbClr val="FFFFFF"/>
                          </a:solidFill>
                          <a:latin typeface="Abadi"/>
                        </a:rPr>
                        <a:t>ALIGNED</a:t>
                      </a:r>
                    </a:p>
                  </a:txBody>
                  <a:tcPr marL="73152" marR="73152" marT="27432" marB="27432" anchor="ctr">
                    <a:solidFill>
                      <a:srgbClr val="1E7A33"/>
                    </a:solidFill>
                  </a:tcPr>
                </a:tc>
              </a:tr>
              <a:tr h="457200">
                <a:tc>
                  <a:txBody>
                    <a:bodyPr wrap="square"/>
                    <a:lstStyle/>
                    <a:p>
                      <a:r>
                        <a:rPr sz="1050" b="1">
                          <a:solidFill>
                            <a:srgbClr val="1A1A1A"/>
                          </a:solidFill>
                          <a:latin typeface="Abadi"/>
                        </a:rPr>
                        <a:t>Coeliac histology</a:t>
                      </a:r>
                    </a:p>
                  </a:txBody>
                  <a:tcPr marL="73152" marR="73152" marT="27432" marB="27432" anchor="ctr">
                    <a:solidFill>
                      <a:srgbClr val="F2F2F2"/>
                    </a:solidFill>
                  </a:tcPr>
                </a:tc>
                <a:tc>
                  <a:txBody>
                    <a:bodyPr wrap="square"/>
                    <a:lstStyle/>
                    <a:p>
                      <a:r>
                        <a:rPr sz="1050" b="0">
                          <a:solidFill>
                            <a:srgbClr val="1A1A1A"/>
                          </a:solidFill>
                          <a:latin typeface="Abadi"/>
                        </a:rPr>
                        <a:t>Lymphocytic duodenosis alone non-specific</a:t>
                      </a:r>
                    </a:p>
                  </a:txBody>
                  <a:tcPr marL="73152" marR="73152" marT="27432" marB="27432" anchor="ctr">
                    <a:solidFill>
                      <a:srgbClr val="F2F2F2"/>
                    </a:solidFill>
                  </a:tcPr>
                </a:tc>
                <a:tc>
                  <a:txBody>
                    <a:bodyPr wrap="square"/>
                    <a:lstStyle/>
                    <a:p>
                      <a:r>
                        <a:rPr sz="1050" b="0">
                          <a:solidFill>
                            <a:srgbClr val="1A1A1A"/>
                          </a:solidFill>
                          <a:latin typeface="Abadi"/>
                        </a:rPr>
                        <a:t>Marsh 2–3 required; Marsh 1 insufficient</a:t>
                      </a:r>
                    </a:p>
                  </a:txBody>
                  <a:tcPr marL="73152" marR="73152" marT="27432" marB="27432" anchor="ctr">
                    <a:solidFill>
                      <a:srgbClr val="F2F2F2"/>
                    </a:solidFill>
                  </a:tcPr>
                </a:tc>
                <a:tc>
                  <a:txBody>
                    <a:bodyPr wrap="square"/>
                    <a:lstStyle/>
                    <a:p>
                      <a:pPr algn="ctr"/>
                      <a:r>
                        <a:rPr sz="1050" b="1">
                          <a:solidFill>
                            <a:srgbClr val="FFFFFF"/>
                          </a:solidFill>
                          <a:latin typeface="Abadi"/>
                        </a:rPr>
                        <a:t>ALIGNED</a:t>
                      </a:r>
                    </a:p>
                  </a:txBody>
                  <a:tcPr marL="73152" marR="73152" marT="27432" marB="27432" anchor="ctr">
                    <a:solidFill>
                      <a:srgbClr val="1E7A33"/>
                    </a:solidFill>
                  </a:tcPr>
                </a:tc>
              </a:tr>
              <a:tr h="457200">
                <a:tc>
                  <a:txBody>
                    <a:bodyPr wrap="square"/>
                    <a:lstStyle/>
                    <a:p>
                      <a:r>
                        <a:rPr sz="1050" b="1">
                          <a:solidFill>
                            <a:srgbClr val="1A1A1A"/>
                          </a:solidFill>
                          <a:latin typeface="Abadi"/>
                        </a:rPr>
                        <a:t>No-biopsy route</a:t>
                      </a:r>
                    </a:p>
                  </a:txBody>
                  <a:tcPr marL="73152" marR="73152" marT="27432" marB="27432" anchor="ctr">
                    <a:solidFill>
                      <a:srgbClr val="FFFFFF"/>
                    </a:solidFill>
                  </a:tcPr>
                </a:tc>
                <a:tc>
                  <a:txBody>
                    <a:bodyPr wrap="square"/>
                    <a:lstStyle/>
                    <a:p>
                      <a:r>
                        <a:rPr sz="1050" b="0">
                          <a:solidFill>
                            <a:srgbClr val="1A1A1A"/>
                          </a:solidFill>
                          <a:latin typeface="Abadi"/>
                        </a:rPr>
                        <a:t>Children only, conditional; not adults</a:t>
                      </a:r>
                    </a:p>
                  </a:txBody>
                  <a:tcPr marL="73152" marR="73152" marT="27432" marB="27432" anchor="ctr">
                    <a:solidFill>
                      <a:srgbClr val="FFFFFF"/>
                    </a:solidFill>
                  </a:tcPr>
                </a:tc>
                <a:tc>
                  <a:txBody>
                    <a:bodyPr wrap="square"/>
                    <a:lstStyle/>
                    <a:p>
                      <a:r>
                        <a:rPr sz="1050" b="0">
                          <a:solidFill>
                            <a:srgbClr val="1A1A1A"/>
                          </a:solidFill>
                          <a:latin typeface="Abadi"/>
                        </a:rPr>
                        <a:t>Children: TGA-IgA ≥10× ULN plus EMA</a:t>
                      </a:r>
                    </a:p>
                  </a:txBody>
                  <a:tcPr marL="73152" marR="73152" marT="27432" marB="27432" anchor="ctr">
                    <a:solidFill>
                      <a:srgbClr val="FFFFFF"/>
                    </a:solidFill>
                  </a:tcPr>
                </a:tc>
                <a:tc>
                  <a:txBody>
                    <a:bodyPr wrap="square"/>
                    <a:lstStyle/>
                    <a:p>
                      <a:pPr algn="ctr"/>
                      <a:r>
                        <a:rPr sz="1050" b="1">
                          <a:solidFill>
                            <a:srgbClr val="FFFFFF"/>
                          </a:solidFill>
                          <a:latin typeface="Abadi"/>
                        </a:rPr>
                        <a:t>MATERIAL</a:t>
                      </a:r>
                    </a:p>
                  </a:txBody>
                  <a:tcPr marL="73152" marR="73152" marT="27432" marB="27432" anchor="ctr">
                    <a:solidFill>
                      <a:srgbClr val="B22222"/>
                    </a:solidFill>
                  </a:tcPr>
                </a:tc>
              </a:tr>
              <a:tr h="457200">
                <a:tc>
                  <a:txBody>
                    <a:bodyPr wrap="square"/>
                    <a:lstStyle/>
                    <a:p>
                      <a:r>
                        <a:rPr sz="1050" b="1">
                          <a:solidFill>
                            <a:srgbClr val="1A1A1A"/>
                          </a:solidFill>
                          <a:latin typeface="Abadi"/>
                        </a:rPr>
                        <a:t>EoE threshold</a:t>
                      </a:r>
                    </a:p>
                  </a:txBody>
                  <a:tcPr marL="73152" marR="73152" marT="27432" marB="27432" anchor="ctr">
                    <a:solidFill>
                      <a:srgbClr val="F2F2F2"/>
                    </a:solidFill>
                  </a:tcPr>
                </a:tc>
                <a:tc>
                  <a:txBody>
                    <a:bodyPr wrap="square"/>
                    <a:lstStyle/>
                    <a:p>
                      <a:r>
                        <a:rPr sz="1050" b="0">
                          <a:solidFill>
                            <a:srgbClr val="1A1A1A"/>
                          </a:solidFill>
                          <a:latin typeface="Abadi"/>
                        </a:rPr>
                        <a:t>AGREE 2018: ≥15 per field</a:t>
                      </a:r>
                    </a:p>
                  </a:txBody>
                  <a:tcPr marL="73152" marR="73152" marT="27432" marB="27432" anchor="ctr">
                    <a:solidFill>
                      <a:srgbClr val="F2F2F2"/>
                    </a:solidFill>
                  </a:tcPr>
                </a:tc>
                <a:tc>
                  <a:txBody>
                    <a:bodyPr wrap="square"/>
                    <a:lstStyle/>
                    <a:p>
                      <a:r>
                        <a:rPr sz="1050" b="0">
                          <a:solidFill>
                            <a:srgbClr val="1A1A1A"/>
                          </a:solidFill>
                          <a:latin typeface="Abadi"/>
                        </a:rPr>
                        <a:t>Same AGREE criteria</a:t>
                      </a:r>
                    </a:p>
                  </a:txBody>
                  <a:tcPr marL="73152" marR="73152" marT="27432" marB="27432" anchor="ctr">
                    <a:solidFill>
                      <a:srgbClr val="F2F2F2"/>
                    </a:solidFill>
                  </a:tcPr>
                </a:tc>
                <a:tc>
                  <a:txBody>
                    <a:bodyPr wrap="square"/>
                    <a:lstStyle/>
                    <a:p>
                      <a:pPr algn="ctr"/>
                      <a:r>
                        <a:rPr sz="1050" b="1">
                          <a:solidFill>
                            <a:srgbClr val="FFFFFF"/>
                          </a:solidFill>
                          <a:latin typeface="Abadi"/>
                        </a:rPr>
                        <a:t>ALIGNED</a:t>
                      </a:r>
                    </a:p>
                  </a:txBody>
                  <a:tcPr marL="73152" marR="73152" marT="27432" marB="27432" anchor="ctr">
                    <a:solidFill>
                      <a:srgbClr val="1E7A33"/>
                    </a:solidFill>
                  </a:tcPr>
                </a:tc>
              </a:tr>
              <a:tr h="457200">
                <a:tc>
                  <a:txBody>
                    <a:bodyPr wrap="square"/>
                    <a:lstStyle/>
                    <a:p>
                      <a:r>
                        <a:rPr sz="1050" b="1">
                          <a:solidFill>
                            <a:srgbClr val="1A1A1A"/>
                          </a:solidFill>
                          <a:latin typeface="Abadi"/>
                        </a:rPr>
                        <a:t>Non-EoE EGID</a:t>
                      </a:r>
                    </a:p>
                  </a:txBody>
                  <a:tcPr marL="73152" marR="73152" marT="27432" marB="27432" anchor="ctr">
                    <a:solidFill>
                      <a:srgbClr val="FFFFFF"/>
                    </a:solidFill>
                  </a:tcPr>
                </a:tc>
                <a:tc>
                  <a:txBody>
                    <a:bodyPr wrap="square"/>
                    <a:lstStyle/>
                    <a:p>
                      <a:r>
                        <a:rPr sz="1050" b="0">
                          <a:solidFill>
                            <a:srgbClr val="1A1A1A"/>
                          </a:solidFill>
                          <a:latin typeface="Abadi"/>
                        </a:rPr>
                        <a:t>Joint 2024 paediatric thresholds; adult trials use EoD ≥30</a:t>
                      </a:r>
                    </a:p>
                  </a:txBody>
                  <a:tcPr marL="73152" marR="73152" marT="27432" marB="27432" anchor="ctr">
                    <a:solidFill>
                      <a:srgbClr val="FFFFFF"/>
                    </a:solidFill>
                  </a:tcPr>
                </a:tc>
                <a:tc>
                  <a:txBody>
                    <a:bodyPr wrap="square"/>
                    <a:lstStyle/>
                    <a:p>
                      <a:r>
                        <a:rPr sz="1050" b="0">
                          <a:solidFill>
                            <a:srgbClr val="1A1A1A"/>
                          </a:solidFill>
                          <a:latin typeface="Abadi"/>
                        </a:rPr>
                        <a:t>Joint 2024 paediatric thresholds</a:t>
                      </a:r>
                    </a:p>
                  </a:txBody>
                  <a:tcPr marL="73152" marR="73152" marT="27432" marB="27432" anchor="ctr">
                    <a:solidFill>
                      <a:srgbClr val="FFFFFF"/>
                    </a:solidFill>
                  </a:tcPr>
                </a:tc>
                <a:tc>
                  <a:txBody>
                    <a:bodyPr wrap="square"/>
                    <a:lstStyle/>
                    <a:p>
                      <a:pPr algn="ctr"/>
                      <a:r>
                        <a:rPr sz="1050" b="1">
                          <a:solidFill>
                            <a:srgbClr val="FFFFFF"/>
                          </a:solidFill>
                          <a:latin typeface="Abadi"/>
                        </a:rPr>
                        <a:t>DIFFERS</a:t>
                      </a:r>
                    </a:p>
                  </a:txBody>
                  <a:tcPr marL="73152" marR="73152" marT="27432" marB="27432" anchor="ctr">
                    <a:solidFill>
                      <a:srgbClr val="D97A0B"/>
                    </a:solidFill>
                  </a:tcPr>
                </a:tc>
              </a:tr>
              <a:tr h="457200">
                <a:tc>
                  <a:txBody>
                    <a:bodyPr wrap="square"/>
                    <a:lstStyle/>
                    <a:p>
                      <a:r>
                        <a:rPr sz="1050" b="1">
                          <a:solidFill>
                            <a:srgbClr val="1A1A1A"/>
                          </a:solidFill>
                          <a:latin typeface="Abadi"/>
                        </a:rPr>
                        <a:t>IBD histology</a:t>
                      </a:r>
                    </a:p>
                  </a:txBody>
                  <a:tcPr marL="73152" marR="73152" marT="27432" marB="27432" anchor="ctr">
                    <a:solidFill>
                      <a:srgbClr val="F2F2F2"/>
                    </a:solidFill>
                  </a:tcPr>
                </a:tc>
                <a:tc>
                  <a:txBody>
                    <a:bodyPr wrap="square"/>
                    <a:lstStyle/>
                    <a:p>
                      <a:r>
                        <a:rPr sz="1050" b="0">
                          <a:solidFill>
                            <a:srgbClr val="1A1A1A"/>
                          </a:solidFill>
                          <a:latin typeface="Abadi"/>
                        </a:rPr>
                        <a:t>No dedicated paediatric histology standard</a:t>
                      </a:r>
                    </a:p>
                  </a:txBody>
                  <a:tcPr marL="73152" marR="73152" marT="27432" marB="27432" anchor="ctr">
                    <a:solidFill>
                      <a:srgbClr val="F2F2F2"/>
                    </a:solidFill>
                  </a:tcPr>
                </a:tc>
                <a:tc>
                  <a:txBody>
                    <a:bodyPr wrap="square"/>
                    <a:lstStyle/>
                    <a:p>
                      <a:r>
                        <a:rPr sz="1050" b="0">
                          <a:solidFill>
                            <a:srgbClr val="1A1A1A"/>
                          </a:solidFill>
                          <a:latin typeface="Abadi"/>
                        </a:rPr>
                        <a:t>ECCO-ESP 2013; Porto atypical UC</a:t>
                      </a:r>
                    </a:p>
                  </a:txBody>
                  <a:tcPr marL="73152" marR="73152" marT="27432" marB="27432" anchor="ctr">
                    <a:solidFill>
                      <a:srgbClr val="F2F2F2"/>
                    </a:solidFill>
                  </a:tcPr>
                </a:tc>
                <a:tc>
                  <a:txBody>
                    <a:bodyPr wrap="square"/>
                    <a:lstStyle/>
                    <a:p>
                      <a:pPr algn="ctr"/>
                      <a:r>
                        <a:rPr sz="1050" b="1">
                          <a:solidFill>
                            <a:srgbClr val="FFFFFF"/>
                          </a:solidFill>
                          <a:latin typeface="Abadi"/>
                        </a:rPr>
                        <a:t>DIFFERS</a:t>
                      </a:r>
                    </a:p>
                  </a:txBody>
                  <a:tcPr marL="73152" marR="73152" marT="27432" marB="27432" anchor="ctr">
                    <a:solidFill>
                      <a:srgbClr val="D97A0B"/>
                    </a:solidFill>
                  </a:tcPr>
                </a:tc>
              </a:tr>
            </a:tbl>
          </a:graphicData>
        </a:graphic>
      </p:graphicFrame>
      <p:sp>
        <p:nvSpPr>
          <p:cNvPr id="13" name="TextBox 12"/>
          <p:cNvSpPr txBox="1"/>
          <p:nvPr/>
        </p:nvSpPr>
        <p:spPr>
          <a:xfrm>
            <a:off x="548640" y="5166360"/>
            <a:ext cx="11091672" cy="457200"/>
          </a:xfrm>
          <a:prstGeom prst="rect">
            <a:avLst/>
          </a:prstGeom>
          <a:noFill/>
        </p:spPr>
        <p:txBody>
          <a:bodyPr wrap="square" lIns="0" rIns="0" tIns="18288" bIns="18288" anchor="t">
            <a:spAutoFit/>
          </a:bodyPr>
          <a:lstStyle/>
          <a:p>
            <a:pPr algn="l"/>
            <a:r>
              <a:rPr sz="1250" b="1" i="1">
                <a:solidFill>
                  <a:srgbClr val="1A1A1A"/>
                </a:solidFill>
                <a:latin typeface="Abadi"/>
              </a:rPr>
              <a:t>The material difference is at transition: a teenager diagnosed without biopsy in Europe meets adult North American services that require 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PEARLS</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EIGHT THINGS TO REMEMBER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The numbers worth carrying into the endoscopy suite and the pathology meeting</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18</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Hoofien 2022 · Collins 2014 · Magro 2013 · Glickman 2004 · De Matos 2008 · NIH 2015 · Hayat 2002 · Corazza 2007</a:t>
            </a:r>
          </a:p>
        </p:txBody>
      </p:sp>
      <p:sp>
        <p:nvSpPr>
          <p:cNvPr id="12" name="TextBox 11"/>
          <p:cNvSpPr txBox="1"/>
          <p:nvPr/>
        </p:nvSpPr>
        <p:spPr>
          <a:xfrm>
            <a:off x="658368" y="1828800"/>
            <a:ext cx="10981944" cy="3931920"/>
          </a:xfrm>
          <a:prstGeom prst="rect">
            <a:avLst/>
          </a:prstGeom>
          <a:noFill/>
        </p:spPr>
        <p:txBody>
          <a:bodyPr wrap="square" lIns="0" rIns="0" tIns="18288" bIns="18288" anchor="t">
            <a:spAutoFit/>
          </a:bodyPr>
          <a:lstStyle/>
          <a:p>
            <a:pPr algn="l">
              <a:spcAft>
                <a:spcPts val="700"/>
              </a:spcAft>
            </a:pPr>
            <a:r>
              <a:rPr sz="1500" b="0" i="0">
                <a:solidFill>
                  <a:srgbClr val="1A1A1A"/>
                </a:solidFill>
                <a:latin typeface="Abadi"/>
              </a:rPr>
              <a:t>▪  Healthy eosinophil density peaks in the caecum and ascending colon (median 53–55 per mm²) and is lowest in the rectum (13).</a:t>
            </a:r>
          </a:p>
          <a:p>
            <a:pPr algn="l">
              <a:spcAft>
                <a:spcPts val="700"/>
              </a:spcAft>
            </a:pPr>
            <a:r>
              <a:rPr sz="1500" b="0" i="0">
                <a:solidFill>
                  <a:srgbClr val="1A1A1A"/>
                </a:solidFill>
                <a:latin typeface="Abadi"/>
              </a:rPr>
              <a:t>▪  Disease thresholds are about twice the normal maximum: stomach 30, duodenum 50, ileum 60, right colon 100 per field.</a:t>
            </a:r>
          </a:p>
          <a:p>
            <a:pPr algn="l">
              <a:spcAft>
                <a:spcPts val="700"/>
              </a:spcAft>
            </a:pPr>
            <a:r>
              <a:rPr sz="1500" b="0" i="0">
                <a:solidFill>
                  <a:srgbClr val="1A1A1A"/>
                </a:solidFill>
                <a:latin typeface="Abadi"/>
              </a:rPr>
              <a:t>▪  Basal plasmacytosis is the earliest IBD feature: 63% in first-attack UC, 6% in infectious colitis.</a:t>
            </a:r>
          </a:p>
          <a:p>
            <a:pPr algn="l">
              <a:spcAft>
                <a:spcPts val="700"/>
              </a:spcAft>
            </a:pPr>
            <a:r>
              <a:rPr sz="1500" b="0" i="0">
                <a:solidFill>
                  <a:srgbClr val="1A1A1A"/>
                </a:solidFill>
                <a:latin typeface="Abadi"/>
              </a:rPr>
              <a:t>▪  Crypt distortion is present in only about 20% in the first two weeks; children may lack it and spare the rectum.</a:t>
            </a:r>
          </a:p>
          <a:p>
            <a:pPr algn="l">
              <a:spcAft>
                <a:spcPts val="700"/>
              </a:spcAft>
            </a:pPr>
            <a:r>
              <a:rPr sz="1500" b="0" i="0">
                <a:solidFill>
                  <a:srgbClr val="1A1A1A"/>
                </a:solidFill>
                <a:latin typeface="Abadi"/>
              </a:rPr>
              <a:t>▪  Granulomas: 61% of untreated children with Crohn's, 24.5% once treated; 42% are found only high or in the ileum.</a:t>
            </a:r>
          </a:p>
          <a:p>
            <a:pPr algn="l">
              <a:spcAft>
                <a:spcPts val="700"/>
              </a:spcAft>
            </a:pPr>
            <a:r>
              <a:rPr sz="1500" b="0" i="0">
                <a:solidFill>
                  <a:srgbClr val="1A1A1A"/>
                </a:solidFill>
                <a:latin typeface="Abadi"/>
              </a:rPr>
              <a:t>▪  GVHD minimum: one apoptotic body per fragment; more than 6 per 10 crypts is definitive.</a:t>
            </a:r>
          </a:p>
          <a:p>
            <a:pPr algn="l">
              <a:spcAft>
                <a:spcPts val="700"/>
              </a:spcAft>
            </a:pPr>
            <a:r>
              <a:rPr sz="1500" b="0" i="0">
                <a:solidFill>
                  <a:srgbClr val="1A1A1A"/>
                </a:solidFill>
                <a:latin typeface="Abadi"/>
              </a:rPr>
              <a:t>▪  No plasma cells in an 'IBD' biopsy: check immunoglobulins for CVID.</a:t>
            </a:r>
          </a:p>
          <a:p>
            <a:pPr algn="l">
              <a:spcAft>
                <a:spcPts val="700"/>
              </a:spcAft>
            </a:pPr>
            <a:r>
              <a:rPr sz="1500" b="0" i="0">
                <a:solidFill>
                  <a:srgbClr val="1A1A1A"/>
                </a:solidFill>
                <a:latin typeface="Abadi"/>
              </a:rPr>
              <a:t>▪  Coeliac: IEL over 25 per 100, Marsh 2–3 needed; kappa 0.35 for Marsh–Oberhuber, 0.888 between experts.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50424" cy="347472"/>
          </a:xfrm>
          <a:prstGeom prst="rect">
            <a:avLst/>
          </a:prstGeom>
          <a:noFill/>
        </p:spPr>
        <p:txBody>
          <a:bodyPr wrap="square" lIns="0" rIns="0" tIns="18288" bIns="18288" anchor="ctr">
            <a:spAutoFit/>
          </a:bodyPr>
          <a:lstStyle/>
          <a:p>
            <a:pPr algn="l"/>
            <a:r>
              <a:rPr sz="1200" b="1" i="0">
                <a:solidFill>
                  <a:srgbClr val="2E5A88"/>
                </a:solidFill>
                <a:latin typeface="Abadi"/>
              </a:rPr>
              <a:t>SYNTHESIS — SCENARIO TO PLAN</a:t>
            </a:r>
          </a:p>
        </p:txBody>
      </p:sp>
      <p:sp>
        <p:nvSpPr>
          <p:cNvPr id="5" name="TextBox 4"/>
          <p:cNvSpPr txBox="1"/>
          <p:nvPr/>
        </p:nvSpPr>
        <p:spPr>
          <a:xfrm>
            <a:off x="548640" y="758952"/>
            <a:ext cx="11091672" cy="557784"/>
          </a:xfrm>
          <a:prstGeom prst="rect">
            <a:avLst/>
          </a:prstGeom>
          <a:noFill/>
        </p:spPr>
        <p:txBody>
          <a:bodyPr wrap="square" lIns="0" rIns="0" tIns="18288" bIns="18288" anchor="ctr">
            <a:spAutoFit/>
          </a:bodyPr>
          <a:lstStyle/>
          <a:p>
            <a:pPr algn="l"/>
            <a:r>
              <a:rPr sz="3000" b="1" i="0">
                <a:solidFill>
                  <a:srgbClr val="1B355E"/>
                </a:solidFill>
                <a:latin typeface="Abadi"/>
              </a:rPr>
              <a:t>FROM SCENARIO TO DECISION</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Reading common reports back into clinical action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19</a:t>
            </a:r>
          </a:p>
        </p:txBody>
      </p:sp>
      <p:sp>
        <p:nvSpPr>
          <p:cNvPr id="11" name="TextBox 10"/>
          <p:cNvSpPr txBox="1"/>
          <p:nvPr/>
        </p:nvSpPr>
        <p:spPr>
          <a:xfrm>
            <a:off x="548640" y="5971032"/>
            <a:ext cx="10296144" cy="329184"/>
          </a:xfrm>
          <a:prstGeom prst="rect">
            <a:avLst/>
          </a:prstGeom>
          <a:noFill/>
        </p:spPr>
        <p:txBody>
          <a:bodyPr wrap="square" lIns="0" rIns="0" tIns="18288" bIns="18288" anchor="t">
            <a:spAutoFit/>
          </a:bodyPr>
          <a:lstStyle/>
          <a:p>
            <a:pPr algn="l"/>
            <a:r>
              <a:rPr sz="1000" b="0" i="1">
                <a:solidFill>
                  <a:srgbClr val="555555"/>
                </a:solidFill>
                <a:latin typeface="Abadi"/>
              </a:rPr>
              <a:t>Magro 2013 · Papadopoulou 2024 · Husby 2020 · Shulman 2015</a:t>
            </a:r>
          </a:p>
        </p:txBody>
      </p:sp>
      <p:graphicFrame>
        <p:nvGraphicFramePr>
          <p:cNvPr id="12" name="Table 11"/>
          <p:cNvGraphicFramePr>
            <a:graphicFrameLocks noGrp="1"/>
          </p:cNvGraphicFramePr>
          <p:nvPr/>
        </p:nvGraphicFramePr>
        <p:xfrm>
          <a:off x="548640" y="1773936"/>
          <a:ext cx="11091670" cy="3730752"/>
        </p:xfrm>
        <a:graphic>
          <a:graphicData uri="http://schemas.openxmlformats.org/drawingml/2006/table">
            <a:tbl>
              <a:tblPr firstRow="0" bandRow="0">
                <a:tableStyleId>{5C22544A-7EE6-4342-B048-85BDC9FD1C3A}</a:tableStyleId>
              </a:tblPr>
              <a:tblGrid>
                <a:gridCol w="3749039"/>
                <a:gridCol w="3291840"/>
                <a:gridCol w="4050791"/>
              </a:tblGrid>
              <a:tr h="621792">
                <a:tc>
                  <a:txBody>
                    <a:bodyPr wrap="square"/>
                    <a:lstStyle/>
                    <a:p>
                      <a:r>
                        <a:rPr sz="1200" b="1">
                          <a:solidFill>
                            <a:srgbClr val="FFFFFF"/>
                          </a:solidFill>
                          <a:latin typeface="Abadi"/>
                        </a:rPr>
                        <a:t>Report says</a:t>
                      </a:r>
                    </a:p>
                  </a:txBody>
                  <a:tcPr marL="73152" marR="73152" marT="27432" marB="27432" anchor="ctr">
                    <a:solidFill>
                      <a:srgbClr val="1B355E"/>
                    </a:solidFill>
                  </a:tcPr>
                </a:tc>
                <a:tc>
                  <a:txBody>
                    <a:bodyPr wrap="square"/>
                    <a:lstStyle/>
                    <a:p>
                      <a:r>
                        <a:rPr sz="1200" b="1">
                          <a:solidFill>
                            <a:srgbClr val="FFFFFF"/>
                          </a:solidFill>
                          <a:latin typeface="Abadi"/>
                        </a:rPr>
                        <a:t>Think</a:t>
                      </a:r>
                    </a:p>
                  </a:txBody>
                  <a:tcPr marL="73152" marR="73152" marT="27432" marB="27432" anchor="ctr">
                    <a:solidFill>
                      <a:srgbClr val="1B355E"/>
                    </a:solidFill>
                  </a:tcPr>
                </a:tc>
                <a:tc>
                  <a:txBody>
                    <a:bodyPr wrap="square"/>
                    <a:lstStyle/>
                    <a:p>
                      <a:r>
                        <a:rPr sz="1200" b="1">
                          <a:solidFill>
                            <a:srgbClr val="FFFFFF"/>
                          </a:solidFill>
                          <a:latin typeface="Abadi"/>
                        </a:rPr>
                        <a:t>Do</a:t>
                      </a:r>
                    </a:p>
                  </a:txBody>
                  <a:tcPr marL="73152" marR="73152" marT="27432" marB="27432" anchor="ctr">
                    <a:solidFill>
                      <a:srgbClr val="1B355E"/>
                    </a:solidFill>
                  </a:tcPr>
                </a:tc>
              </a:tr>
              <a:tr h="621792">
                <a:tc>
                  <a:txBody>
                    <a:bodyPr wrap="square"/>
                    <a:lstStyle/>
                    <a:p>
                      <a:r>
                        <a:rPr sz="1000" b="1">
                          <a:solidFill>
                            <a:srgbClr val="1A1A1A"/>
                          </a:solidFill>
                          <a:latin typeface="Abadi"/>
                        </a:rPr>
                        <a:t>Caecum 45 eosinophils per field, child with abdominal pain</a:t>
                      </a:r>
                    </a:p>
                  </a:txBody>
                  <a:tcPr marL="73152" marR="73152" marT="27432" marB="27432" anchor="ctr">
                    <a:solidFill>
                      <a:srgbClr val="FFFFFF"/>
                    </a:solidFill>
                  </a:tcPr>
                </a:tc>
                <a:tc>
                  <a:txBody>
                    <a:bodyPr wrap="square"/>
                    <a:lstStyle/>
                    <a:p>
                      <a:r>
                        <a:rPr sz="1000" b="0">
                          <a:solidFill>
                            <a:srgbClr val="1A1A1A"/>
                          </a:solidFill>
                          <a:latin typeface="Abadi"/>
                        </a:rPr>
                        <a:t>Within normal for the right colon</a:t>
                      </a:r>
                    </a:p>
                  </a:txBody>
                  <a:tcPr marL="73152" marR="73152" marT="27432" marB="27432" anchor="ctr">
                    <a:solidFill>
                      <a:srgbClr val="FFFFFF"/>
                    </a:solidFill>
                  </a:tcPr>
                </a:tc>
                <a:tc>
                  <a:txBody>
                    <a:bodyPr wrap="square"/>
                    <a:lstStyle/>
                    <a:p>
                      <a:r>
                        <a:rPr sz="1000" b="0">
                          <a:solidFill>
                            <a:srgbClr val="1A1A1A"/>
                          </a:solidFill>
                          <a:latin typeface="Abadi"/>
                        </a:rPr>
                        <a:t>No eosinophilic colitis label; look elsewhere for the cause</a:t>
                      </a:r>
                    </a:p>
                  </a:txBody>
                  <a:tcPr marL="73152" marR="73152" marT="27432" marB="27432" anchor="ctr">
                    <a:solidFill>
                      <a:srgbClr val="FFFFFF"/>
                    </a:solidFill>
                  </a:tcPr>
                </a:tc>
              </a:tr>
              <a:tr h="621792">
                <a:tc>
                  <a:txBody>
                    <a:bodyPr wrap="square"/>
                    <a:lstStyle/>
                    <a:p>
                      <a:r>
                        <a:rPr sz="1000" b="1">
                          <a:solidFill>
                            <a:srgbClr val="1A1A1A"/>
                          </a:solidFill>
                          <a:latin typeface="Abadi"/>
                        </a:rPr>
                        <a:t>Acute colitis, preserved architecture, day 5 of bloody diarrhoea</a:t>
                      </a:r>
                    </a:p>
                  </a:txBody>
                  <a:tcPr marL="73152" marR="73152" marT="27432" marB="27432" anchor="ctr">
                    <a:solidFill>
                      <a:srgbClr val="F2F2F2"/>
                    </a:solidFill>
                  </a:tcPr>
                </a:tc>
                <a:tc>
                  <a:txBody>
                    <a:bodyPr wrap="square"/>
                    <a:lstStyle/>
                    <a:p>
                      <a:r>
                        <a:rPr sz="1000" b="0">
                          <a:solidFill>
                            <a:srgbClr val="1A1A1A"/>
                          </a:solidFill>
                          <a:latin typeface="Abadi"/>
                        </a:rPr>
                        <a:t>Infection likely; IBD not excluded this early</a:t>
                      </a:r>
                    </a:p>
                  </a:txBody>
                  <a:tcPr marL="73152" marR="73152" marT="27432" marB="27432" anchor="ctr">
                    <a:solidFill>
                      <a:srgbClr val="F2F2F2"/>
                    </a:solidFill>
                  </a:tcPr>
                </a:tc>
                <a:tc>
                  <a:txBody>
                    <a:bodyPr wrap="square"/>
                    <a:lstStyle/>
                    <a:p>
                      <a:r>
                        <a:rPr sz="1000" b="0">
                          <a:solidFill>
                            <a:srgbClr val="1A1A1A"/>
                          </a:solidFill>
                          <a:latin typeface="Abadi"/>
                        </a:rPr>
                        <a:t>Stool tests; re-biopsy if symptoms persist beyond the infectious window</a:t>
                      </a:r>
                    </a:p>
                  </a:txBody>
                  <a:tcPr marL="73152" marR="73152" marT="27432" marB="27432" anchor="ctr">
                    <a:solidFill>
                      <a:srgbClr val="F2F2F2"/>
                    </a:solidFill>
                  </a:tcPr>
                </a:tc>
              </a:tr>
              <a:tr h="621792">
                <a:tc>
                  <a:txBody>
                    <a:bodyPr wrap="square"/>
                    <a:lstStyle/>
                    <a:p>
                      <a:r>
                        <a:rPr sz="1000" b="1">
                          <a:solidFill>
                            <a:srgbClr val="1A1A1A"/>
                          </a:solidFill>
                          <a:latin typeface="Abadi"/>
                        </a:rPr>
                        <a:t>Pancolitis with rectal sparing, 8-year-old, no granulomas</a:t>
                      </a:r>
                    </a:p>
                  </a:txBody>
                  <a:tcPr marL="73152" marR="73152" marT="27432" marB="27432" anchor="ctr">
                    <a:solidFill>
                      <a:srgbClr val="FFFFFF"/>
                    </a:solidFill>
                  </a:tcPr>
                </a:tc>
                <a:tc>
                  <a:txBody>
                    <a:bodyPr wrap="square"/>
                    <a:lstStyle/>
                    <a:p>
                      <a:r>
                        <a:rPr sz="1000" b="0">
                          <a:solidFill>
                            <a:srgbClr val="1A1A1A"/>
                          </a:solidFill>
                          <a:latin typeface="Abadi"/>
                        </a:rPr>
                        <a:t>Atypical paediatric UC (Porto)</a:t>
                      </a:r>
                    </a:p>
                  </a:txBody>
                  <a:tcPr marL="73152" marR="73152" marT="27432" marB="27432" anchor="ctr">
                    <a:solidFill>
                      <a:srgbClr val="FFFFFF"/>
                    </a:solidFill>
                  </a:tcPr>
                </a:tc>
                <a:tc>
                  <a:txBody>
                    <a:bodyPr wrap="square"/>
                    <a:lstStyle/>
                    <a:p>
                      <a:r>
                        <a:rPr sz="1000" b="0">
                          <a:solidFill>
                            <a:srgbClr val="1A1A1A"/>
                          </a:solidFill>
                          <a:latin typeface="Abadi"/>
                        </a:rPr>
                        <a:t>Do not relabel as Crohn's on rectal sparing alone; check the upper GI biopsies</a:t>
                      </a:r>
                    </a:p>
                  </a:txBody>
                  <a:tcPr marL="73152" marR="73152" marT="27432" marB="27432" anchor="ctr">
                    <a:solidFill>
                      <a:srgbClr val="FFFFFF"/>
                    </a:solidFill>
                  </a:tcPr>
                </a:tc>
              </a:tr>
              <a:tr h="621792">
                <a:tc>
                  <a:txBody>
                    <a:bodyPr wrap="square"/>
                    <a:lstStyle/>
                    <a:p>
                      <a:r>
                        <a:rPr sz="1000" b="1">
                          <a:solidFill>
                            <a:srgbClr val="1A1A1A"/>
                          </a:solidFill>
                          <a:latin typeface="Abadi"/>
                        </a:rPr>
                        <a:t>Colitis with no plasma cells and crypt apoptosis</a:t>
                      </a:r>
                    </a:p>
                  </a:txBody>
                  <a:tcPr marL="73152" marR="73152" marT="27432" marB="27432" anchor="ctr">
                    <a:solidFill>
                      <a:srgbClr val="F2F2F2"/>
                    </a:solidFill>
                  </a:tcPr>
                </a:tc>
                <a:tc>
                  <a:txBody>
                    <a:bodyPr wrap="square"/>
                    <a:lstStyle/>
                    <a:p>
                      <a:r>
                        <a:rPr sz="1000" b="0">
                          <a:solidFill>
                            <a:srgbClr val="1A1A1A"/>
                          </a:solidFill>
                          <a:latin typeface="Abadi"/>
                        </a:rPr>
                        <a:t>CVID or monogenic VEO-IBD</a:t>
                      </a:r>
                    </a:p>
                  </a:txBody>
                  <a:tcPr marL="73152" marR="73152" marT="27432" marB="27432" anchor="ctr">
                    <a:solidFill>
                      <a:srgbClr val="F2F2F2"/>
                    </a:solidFill>
                  </a:tcPr>
                </a:tc>
                <a:tc>
                  <a:txBody>
                    <a:bodyPr wrap="square"/>
                    <a:lstStyle/>
                    <a:p>
                      <a:r>
                        <a:rPr sz="1000" b="0">
                          <a:solidFill>
                            <a:srgbClr val="1A1A1A"/>
                          </a:solidFill>
                          <a:latin typeface="Abadi"/>
                        </a:rPr>
                        <a:t>Immunoglobulins, lymphocyte subsets, genetic panel</a:t>
                      </a:r>
                    </a:p>
                  </a:txBody>
                  <a:tcPr marL="73152" marR="73152" marT="27432" marB="27432" anchor="ctr">
                    <a:solidFill>
                      <a:srgbClr val="F2F2F2"/>
                    </a:solidFill>
                  </a:tcPr>
                </a:tc>
              </a:tr>
              <a:tr h="621792">
                <a:tc>
                  <a:txBody>
                    <a:bodyPr wrap="square"/>
                    <a:lstStyle/>
                    <a:p>
                      <a:r>
                        <a:rPr sz="1000" b="1">
                          <a:solidFill>
                            <a:srgbClr val="1A1A1A"/>
                          </a:solidFill>
                          <a:latin typeface="Abadi"/>
                        </a:rPr>
                        <a:t>Duodenum IEL 32 per 100, normal villi, positive tTG</a:t>
                      </a:r>
                    </a:p>
                  </a:txBody>
                  <a:tcPr marL="73152" marR="73152" marT="27432" marB="27432" anchor="ctr">
                    <a:solidFill>
                      <a:srgbClr val="FFFFFF"/>
                    </a:solidFill>
                  </a:tcPr>
                </a:tc>
                <a:tc>
                  <a:txBody>
                    <a:bodyPr wrap="square"/>
                    <a:lstStyle/>
                    <a:p>
                      <a:r>
                        <a:rPr sz="1000" b="0">
                          <a:solidFill>
                            <a:srgbClr val="1A1A1A"/>
                          </a:solidFill>
                          <a:latin typeface="Abadi"/>
                        </a:rPr>
                        <a:t>Marsh 1: not diagnostic</a:t>
                      </a:r>
                    </a:p>
                  </a:txBody>
                  <a:tcPr marL="73152" marR="73152" marT="27432" marB="27432" anchor="ctr">
                    <a:solidFill>
                      <a:srgbClr val="FFFFFF"/>
                    </a:solidFill>
                  </a:tcPr>
                </a:tc>
                <a:tc>
                  <a:txBody>
                    <a:bodyPr wrap="square"/>
                    <a:lstStyle/>
                    <a:p>
                      <a:r>
                        <a:rPr sz="1000" b="0">
                          <a:solidFill>
                            <a:srgbClr val="1A1A1A"/>
                          </a:solidFill>
                          <a:latin typeface="Abadi"/>
                        </a:rPr>
                        <a:t>Check orientation and the bulb; keep on gluten, repeat serology; no label on Marsh 1 alone</a:t>
                      </a:r>
                    </a:p>
                  </a:txBody>
                  <a:tcPr marL="73152" marR="73152" marT="27432" marB="27432"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353312"/>
          </a:xfrm>
          <a:prstGeom prst="rect">
            <a:avLst/>
          </a:prstGeom>
          <a:noFill/>
        </p:spPr>
        <p:txBody>
          <a:bodyPr wrap="square" lIns="0" rIns="0" tIns="18288" bIns="18288" anchor="b">
            <a:spAutoFit/>
          </a:bodyPr>
          <a:lstStyle/>
          <a:p>
            <a:pPr algn="ctr"/>
            <a:r>
              <a:rPr sz="4200" b="1" i="0">
                <a:solidFill>
                  <a:srgbClr val="FFFFFF"/>
                </a:solidFill>
                <a:latin typeface="Abadi"/>
              </a:rPr>
              <a:t>Reading the Biopsy: Paediatric GI Histology for the Gastroenterologist</a:t>
            </a:r>
          </a:p>
        </p:txBody>
      </p:sp>
      <p:sp>
        <p:nvSpPr>
          <p:cNvPr id="4" name="Rectangle 3"/>
          <p:cNvSpPr/>
          <p:nvPr/>
        </p:nvSpPr>
        <p:spPr>
          <a:xfrm>
            <a:off x="5184648" y="370332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95928"/>
            <a:ext cx="11091672" cy="265176"/>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