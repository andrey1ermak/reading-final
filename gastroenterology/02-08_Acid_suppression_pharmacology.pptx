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Pharmacology of Acid Suppression — PPI Dosing, CYP2C19, H2RA Tachyphylaxis, Vonoprazan and Prokinetics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Rosen 2018 (NASPGHAN/ESPGHAN) · Lima 2021 (CPIC) · Katz 2022 (ACG) · Patel 2024 (AGA P-CAB update) · Laine 2023 (PHALCON-EE) · Mulford 2026 · Nwokolo 1990 · Orenstein 2009 · Mitre 2018 · Malchodi 2019 · Eberly 2015 · EMA 2013/2014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dose by weight and age · before breakfast, not at bedtime · the gene sets the exposure · H2RAs fade within weeks · vonoprazan is adult medicine for now · prokinetics: almost never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DID THE PPI FAIL?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 9-year-old (28 kg) with LA grade B oesophagitis took omeprazole 10 mg at bedtime for 8 weeks; repeat endoscopy shows no healing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Rosen R, et al. JPGN 2018;66:516–54 · Lima JJ, et al. Clin Pharmacol Ther 2021;109:1417–23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1488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Dose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10 mg = 0.36 mg/kg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Label: 20 mg at ≥ 20 kg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Healing needs full dose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1488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Bedtime, no meal after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Pumps idle at night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Give 30 min before breakfast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1488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Genotype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CYP2C19 *17 carriers clear PPIs fast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~1 in 3 Europeans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1488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Adherence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Capsule opened and chewed?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Missed doses on school days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1488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Diagnosis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Eosinophilic oesophagitis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Pill injury, Crohn's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▪  Biopsy decides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11082528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main idea.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Acid suppression fails far more often because of pharmacology than because of resistant disease. A PPI is an acid-activated prodrug that only blocks pumps that are working, so dose per kilogram, timing before a meal, CYP2C19 genotype and formulation decide how much acid is suppressed. H2-receptor antagonists lose effect within weeks, vonoprazan is still an adult drug, and prokinetics have almost no place in paediatric reflux.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HOW A PPI SWITCHES OFF THE PUMP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Proton pump inhibitors are weak-base prodrugs activated only in the acid space of a secreting parietal cell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Shin JM, Sachs G. Curr Gastroenterol Rep 2008;10:528–34 · Katz PO, et al. Am J Gastroenterol 2022;117:27–56 · Litalien C, et al. Clin Pharmacokinet 2005;44:441–66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82419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82419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Absorbed intact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Enteric coating protects the drug from gastric acid; it is absorbed in the small bowel.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1059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3667" y="1773936"/>
            <a:ext cx="1982419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3667" y="1773936"/>
            <a:ext cx="1982419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5107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Trapped by acid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3395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 weak base (pKa ~4), it concentrates ~1000-fold in the acid canaliculus.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086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8694" y="1773936"/>
            <a:ext cx="1982419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8694" y="1773936"/>
            <a:ext cx="1982419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0134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Activated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8422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Acid converts it to a sulphenamide that binds cysteines of the H+/K+-ATPase.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1113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3721" y="1773936"/>
            <a:ext cx="1982419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3721" y="1773936"/>
            <a:ext cx="1982419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5161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Covalent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49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Only active pumps are blocked; the effect outlasts a plasma half-life of 1–2 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6140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8748" y="1773936"/>
            <a:ext cx="1982419" cy="19202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8748" y="1773936"/>
            <a:ext cx="1982419" cy="3108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0188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New pumps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8476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Pumps are replaced over ~2 days; steady inhibition takes 3–5 days.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1082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What follows in practice.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Give the dose 30–60 minutes before the first meal, when pumps are about to be recruited. A bedtime dose with no meal afterwards meets resting pumps and is wasted. Twice-daily dosing (before breakfast and dinner) raises the share of blocked pumps more than doubling a single dose.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Nocturnal acid breakthrough.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Pumps synthesised overnight escape a morning dose; this, not resistance, explains most night-time symptoms on a PPI.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DRUG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WAYS TO LOWER GASTRIC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Target, kinetics and paediatric status of each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Rosen 2018 · Lima 2021 · Laine L, et al. Gastroenterology 2023;164:61–71 · Nwokolo CU, et al. Aliment Pharmacol Ther 1990;4(Suppl 1):29–45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377440"/>
                <a:gridCol w="2331720"/>
                <a:gridCol w="2514600"/>
                <a:gridCol w="184708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PPI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H2-receptor antagonist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P-CAB (vonoprazan)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Antacid · alginate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H+/K+-ATPase, covalent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Histamine H2 receptor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H+/K+-ATPase, K+ site, reversible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Neutralises acid · raft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Needs acid activation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Yes: before meals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Onset of full effect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3–5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First dose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CYP2C19 dependence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Strong (omeprazole &gt; pantoprazole)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Minor (mainly CYP3A4)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Tolerance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Yes, within days to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status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Labelled from infancy for EE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Famotidine labelled; ranitidine withdrawn 2020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PK studies at 6–17 y only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Short-term symptom relief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94960"/>
            <a:ext cx="11082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Bottom line.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PPIs remain the paediatric workhorse; every other class is a niche or a bridge.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WEIGHT-BAND DOSING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BANDS HIDE A TWO-FOLD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Omeprazole label doses for children aged 1–16 years expressed per kilogram at the edges of each weight band, mg/kg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Omeprazole US prescribing information (Prilosec) · Litalien 2005 · Rosen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5 kg · 5 mg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29967"/>
            <a:ext cx="2838297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6169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1.0 mg/kg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9.9 kg · 5 mg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487168"/>
            <a:ext cx="1447531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5403" y="2423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0.5 mg/kg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10 kg · 10 mg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44368"/>
            <a:ext cx="2838297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6169" y="2880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1.0 mg/kg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19.9 kg · 10 mg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401568"/>
            <a:ext cx="1419148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7020" y="3337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0.5 mg/kg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20 kg · 20 mg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858768"/>
            <a:ext cx="2838297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6169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1.0 mg/kg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40 kg · 20 mg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315968"/>
            <a:ext cx="1419148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7020" y="4251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0.5 mg/kg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label dose divided by body weight; bands 5 to &lt; 10 kg, 10 to &lt; 20 kg, ≥ 20 kg.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56632"/>
            <a:ext cx="7955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child at the top of a band gets half the per-kilogram dose of a child at the bottom; for erosive disease, round up or move to twice daily rather than accept 0.5 mg/kg.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Ages 1–6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Faster clearance per kg than adolescents: they need relatively more drug.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Under 3 months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Immature CYP2C19 and CYP3A4: clearance very low, exposure high.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Adolescents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Adult doses from ~40 kg or 12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WHAT IS LICENSED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PAEDIATRIC DOSES BY DRUG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US labelling for children; doses are once daily unless stated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US prescribing information: omeprazole, esomeprazole, lansoprazole, pantoprazole, famotidine · Orenstein SR, et al. J Pediatr 2009;154:514–20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743200"/>
                <a:gridCol w="2743200"/>
                <a:gridCol w="1828800"/>
                <a:gridCol w="22128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Drug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Infants 1–12 months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Adolescents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Practical form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Omeprazole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EE only: 2.5 mg (3–&lt; 5 kg), 5 mg (5–&lt; 10 kg), 10 mg (≥ 10 kg)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5 mg (5–&lt; 10 kg), 10 mg (10–&lt; 20 kg), 20 mg (≥ 20 kg)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20 mg (adult dose)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Open capsule onto apple purée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Esomeprazole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EE only: 2.5, 5, 10 mg by weight (3–12 kg)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1–11 y: 10 mg (&lt; 20 kg); 10–20 mg (≥ 20 kg)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20–40 mg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Sachet granules; via tube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Lansoprazole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labelled (RCT negative)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15 mg (≤ 30 kg); 30 mg (&gt; 30 kg)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15 mg; 30 mg for 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Orodispersible tablet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Pantoprazole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labelled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From 5 y: 20 mg (15–&lt; 40 kg)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40 mg (≥ 40 kg)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Least CYP2C19-dependent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Famotidine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0.5 mg/kg daily (&lt; 3 mo); 0.5 mg/kg twice 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 mg/kg/day in 2 doses, max 40 mg twice 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20–40 mg twice daily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Reduce dose in renal impairment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49240"/>
            <a:ext cx="110825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B355E"/>
                </a:solidFill>
                <a:latin typeface="Abadi"/>
              </a:rPr>
              <a:t>Material point. 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No PPI is licensed for crying or regurgitation in infants: lansoprazole gave 54% response in both arms, with more lower respiratory infections (10 vs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TIMING AND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DOSE THAT NEVER REACHES THE PUMP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Common reasons a correctly prescribed PPI fails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Katz 2022 (ACG) · Rosen 2018 · Shin and Sachs 2008 · product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Before the meal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30–60 min before breakfast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Twice daily: before breakfast and dinner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Bedtime dose: least effective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Coating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Do not crush enteric granules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Open capsules onto soft acidic food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Do not chew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Tubes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Granules clog small tubes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Use orodispersible tablet or suspension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Jejunal tubes bypass nothing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Continuous feeds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No meal signal to recruit pumps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Give in a feed break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Consider twice daily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3317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Compounded liquids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Omeprazole in bicarbonate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Short stability, variable dose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Check the pharmacy recipe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110825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first question before escalating.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How, when and with what is the dose taken? Correcting timing and formulation is cheaper and safer than doubling the dose, and it is the step most often skipped.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CYP2C19 PHARMACOGENOMICS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GENE THAT SETS THE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CPIC 2021 recommendations for omeprazole, lansoprazole and pantoprazole by phenotype; they apply to children over about 3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Lima JJ, et al. CPIC guideline for CYP2C19 and PPI dosing. Clin Pharmacol Ther 2021;109:1417–23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4231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Ultrarapid · *17/*17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Lowest exposure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Increase starting dose by 100%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May divide twice 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4231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Rapid · *1/*17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Standard start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+50–100% for erosive oesophagitis or H. pylori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4231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Normal · *1/*1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Standard start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+50–100% for erosive oesophagitis or H. pylori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4231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Intermediate · *1/*2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Higher exposure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Standard start; after &gt; 12 wk of control, consider −50%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42316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Poor · *2/*2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Highest exposure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Standard start; after &gt; 12 wk, consider −50%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More infections reported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89120"/>
            <a:ext cx="110825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How to use it.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Genotype rarely changes the first prescription, but it explains failure at a full dose (rapid and ultrarapid) and supports stepping down in long-term use (intermediate and poor). Pantoprazole and rabeprazole depend less on CYP2C19; vonoprazan hardly at 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WHO CARRIES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ALLELE FREQUENCIES VARY BY ANCESTRY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Approximate frequency of the key CYP2C19 alleles,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Lima 2021 (CPIC) · Franciosi JP, et al. and Mougey EB, et al. (paediatric GERD and EoE cohorts) · Cicali EJ, et al. (pilot pragmatic trial)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*2 (no function) · European, African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84831"/>
            <a:ext cx="760258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8130" y="196596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~15%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*2 · Asian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1393806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1678" y="253288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25–30%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5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*2 · Oceanian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18687"/>
            <a:ext cx="3041033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8905" y="3099815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~60%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66744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*3 (no function) · Asian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85615"/>
            <a:ext cx="228077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5949" y="3666744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2–7%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33672"/>
            <a:ext cx="2880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*17 (increased function) · African, European, Near Eastern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352544"/>
            <a:ext cx="1013677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1549" y="4233672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~20%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allele frequency; a child with one *17 allele is a rapid metabolizer unless the other allele is *2.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48072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a European or African clinic about one child in three carries a *17 allele and clears PPIs faster; in East Asia poor metabolizers are common, which is why Asian PPI trials looked so good.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Children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Rapid and ultrarapid phenotypes linked to lower response in paediatric GERD and EoE.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Infections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Poor metabolizers on lansoprazole had more respiratory infections.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Trial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 pilot genotype-guided dosing trial in children was feasible; larger trials ongoing.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H2-RECEPTOR ANTAGONISTS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TOLERANCE WITHIN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Median nocturnal integrated intragastric acidity during 29 days of standard H2RA dosing, 48 healthy adults, mmol·h/L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Nwokolo CU, et al. Aliment Pharmacol Ther 1990;4(Suppl 1):29–45 · FDA ranitidine withdrawal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Baseline, no drug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84831"/>
            <a:ext cx="3309072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6944" y="196596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485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Day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238799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6671" y="253288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5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Day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18687"/>
            <a:ext cx="457129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01" y="3099815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66744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Day 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85615"/>
            <a:ext cx="798271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6143" y="3666744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nocturnal acidity; all four H2RAs (cimetidine, nizatidine, famotidine, ranitidine) behaved alike.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99431"/>
            <a:ext cx="79552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Acidity fell by 93% on the first night but had climbed back to a quarter of baseline by day 29: more than three times the day-1 level. Tolerance develops while gastrin stays high, and it cannot be overcome by raising the dose.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Where they fit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On-demand or short courses; when a PPI is unavailable or not tolerated.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Night-time add-on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Bedtime dose for nocturnal breakthrough fades within weeks.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Ranitidine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Withdrawn in 2020 (NDMA contamination); famotidine is the remaining choice.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POTASSIUM-COMPETITIVE ACID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BLOCKER THAT DOES NOT WAIT FOR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Vonoprazan binds the pump reversibly at the potassium site; no activation step, no meal dependence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Laine 2023 · Patel A, et al. Gastroenterology 2024 (AGA clinical practice update on P-CABs) · Mulford DJ, et al. JPGN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1982419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1982419" cy="3108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Acid-stable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 enteric coating needed; absorbed regardless of meals.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1059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3667" y="1773936"/>
            <a:ext cx="1982419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3667" y="1773936"/>
            <a:ext cx="1982419" cy="3108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5107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Concentrates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3395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Strong base (pKa ~9.3): accumulates in the canaliculus, active or resting.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6086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8694" y="1773936"/>
            <a:ext cx="1982419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8694" y="1773936"/>
            <a:ext cx="1982419" cy="3108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0134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Blocks K+ 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8422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Competes with potassium on active and resting pumps; reversible.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1113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3721" y="1773936"/>
            <a:ext cx="1982419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3721" y="1773936"/>
            <a:ext cx="1982419" cy="31089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5161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Fast, long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3449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Near-maximal effect from the first dose; half-life ~7 h, covers the night.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6140" y="255117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939B"/>
                </a:solidFill>
                <a:latin typeface="Abad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8748" y="1773936"/>
            <a:ext cx="1982419" cy="19202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8748" y="1773936"/>
            <a:ext cx="1982419" cy="3108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40188" y="1792224"/>
            <a:ext cx="17995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badi"/>
              </a:rPr>
              <a:t>Genotype-light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8476" y="2185416"/>
            <a:ext cx="176296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Mainly CYP3A4; CYP2C19 status matters little.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1082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Why it matters.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Vonoprazan removes the three classic PPI failure modes: timing, nocturnal breakthrough and rapid metabolism. The price is a higher gastrin rise and less long-term safety data, especially in children.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Regulatory status.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Approved in Japan since 2015 and in the United States since 2023 for adults with erosive oesophagitis; in children only pharmacokinetic studies have been completed.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VONOPRAZAN IN SEVERE OESOPHAGITIS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PHALCON-EE: 1,024 adults with erosive oesophagitis, vonoprazan 20 mg versus lansoprazole 30 mg, healing and maintenance,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Laine L, et al. Vonoprazan versus lansoprazole for healing and maintenance of healing of erosive esophagitis. Gastroenterology 2023;164:61–71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Healed at week 8 · vonoprazan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29967"/>
            <a:ext cx="3295973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3845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92.9%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Healed at week 8 · lansoprazole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487168"/>
            <a:ext cx="3001499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9371" y="2423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84.6%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LA C/D healed at week 2 · vonoprazan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44368"/>
            <a:ext cx="2490606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8478" y="2880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70.2%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LA C/D healed at week 2 · lansoprazole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401568"/>
            <a:ext cx="1866180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4052" y="3337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52.6%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Healing maintained at week 24 · vonoprazan 20 mg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858768"/>
            <a:ext cx="2863132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1004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80.7%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Healing maintained at week 24 · lansoprazole 15 mg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315968"/>
            <a:ext cx="2554467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2339" y="4251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72.0%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all comparisons significant (week 8 and week 24 p &lt; 0.0001; week 2 grade C/D p = 0.0008).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56632"/>
            <a:ext cx="7955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advantage is largest where acid control matters most: severe oesophagitis and the first two weeks. In milder disease the margin over a well-taken PPI is small.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AGA 2024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P-CABs for LA grade C/D and for documented GERD failing twice-daily PPI; not routine first choice.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Children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Two PK studies, 42 children aged 6–17, 10 or 20 mg for 14 days; no efficacy trial.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PROKINETICS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ALMOST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Each available prokinetic has a safety signal larger than its benefit in paediatric reflux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EMA metoclopramide referral 2013 · EMA/CMDh domperidone 2014 · FDA boxed warning, metoclopramide 2009 · Eberly MD, et al. Pediatrics 2015;135:483–8 · Rosen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Metoclopramide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FDA boxed warning: tardive dyskinesia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EMA: not under 1 year; ≤ 5 days; 0.1–0.15 mg/kg up to 3×/day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Not for GERD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4688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Domperidone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EMA 2014: nausea and vomiting only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0.25 mg/kg up to 3×/day, ≤ 1 week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QT prolongation; not US-approved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4688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Erythromycin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Motilin agonist, low dose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Pyloric stenosis in young infants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Antibiotic resistance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4688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Baclofen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GABA-B agonist, fewer transient LES relaxations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Sedation, seizure threshold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Second line, specialist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4688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Cisapride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Withdrawn in 2000 for fatal arrhythmias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Abadi"/>
              </a:rPr>
              <a:t>▪  Restricted access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34840"/>
            <a:ext cx="11082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The reasoning.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Reflux in children is driven by transient relaxations of the lower oesophageal sphincter, not by slow gastric emptying, so drugs that speed emptying have little to act on. NASPGHAN/ESPGHAN advise against prokinetics as first-line treatment; baclofen can be considered before surgery.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ERYTHROMYCIN AND THE PYLORUS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YOUNGEST INFANTS PAY THE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Adjusted odds ratio for infantile hypertrophic pyloric stenosis after macrolide exposure, by age at exposure, US military health system cohort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Eberly MD, Eide MB, Thompson JL, Nylund CM. Azithromycin in early infancy and pyloric stenosis. Pediatrics 2015;135:483–8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Erythromycin · days 0–14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84831"/>
            <a:ext cx="2621483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9355" y="196596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aOR 13.3 (6.8–25.9)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Azithromycin · days 0–14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51760"/>
            <a:ext cx="1628079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951" y="253288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aOR 8.26 (2.6–26.0)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5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Erythromycin · days 15–42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18687"/>
            <a:ext cx="808126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5998" y="3099815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aOR 4.10 (1.7–9.9)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66744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Azithromycin · days 15–42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785615"/>
            <a:ext cx="587369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5241" y="3666744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aOR 2.98 (1.2–7.2)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33672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Either · days 43–90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352544"/>
            <a:ext cx="197104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4976" y="4233672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No association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adjusted odds ratio; children born 2001–2012.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59"/>
            <a:ext cx="79552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motilin effect that makes erythromycin a prokinetic also drives pyloric hypertrophy in the first weeks of life. Avoid it as a prokinetic in the first six weeks, and warn parents if it is used for infection.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Preterm feeding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Used for feeding intolerance in neonatal units; benefit modest, evidence low quality.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Adult use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Single IV dose before endoscopy for upper GI bleeding clears the stomach.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SAFETY OF PROLONGED SUPPRESSION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PRICE OF ACID SUPPRESSION IN INFANCY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Adjusted hazard ratios after acid suppression in the first months of life, US military health system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Mitre E, et al. JAMA Pediatr 2018;172:e180315 · Malchodi L, et al. Pediatrics 2019;144:e20182625 · Orenstein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Food allergy · PPI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29967"/>
            <a:ext cx="3062996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0868" y="1965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HR 2.59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Food allergy · H2RA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487168"/>
            <a:ext cx="257812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5992" y="2423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HR 2.18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Anaphylaxis · PPI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944368"/>
            <a:ext cx="171480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2676" y="28803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HR 1.45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Anaphylaxis · H2RA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401568"/>
            <a:ext cx="1785762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3634" y="3337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HR 1.51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Fracture · PPI and H2RA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858768"/>
            <a:ext cx="1537411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5283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+30%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Fracture · PPI alone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315968"/>
            <a:ext cx="1430975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8847" y="42519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+21%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548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Abadi"/>
              </a:rPr>
              <a:t>Bars: Mitre 792,130 children (exposure in first 6 months); Malchodi 851,631 children (exposure in first year).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56632"/>
            <a:ext cx="795527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 it as.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Observational associations, open to confounding by indication, but consistent, dose-related and seen with both classes. They argue for short, indicated courses, not for avoiding treatment of real oesophagitis.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1783080"/>
            <a:ext cx="2834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Infections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Lansoprazole RCT in infants: serious lower respiratory infections 10 vs 2.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Other signals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Gastroenteritis, pneumonia, C. difficile, NEC in preterm infants on H2RAs.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Deprescribe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Review every course at 8–12 weeks.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INTERACTIONS IN TRANSPLANT AND IBD CLINICS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Acid suppression changes absorption or metabolism of drugs our patients already 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Lima 2021 (CPIC) · product information · Katz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7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206240"/>
                <a:gridCol w="4133087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Co-medication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Effect of acid suppression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to 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Tacrolimus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Omeprazole and lansoprazole raise levels, most in CYP2C19 poor metabolizers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Prefer pantoprazole or famotidine; check trough after starting or stopping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Mycophenolate mofetil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Higher gastric pH reduces mycophenolic acid absorption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Monitor; enteric-coated mycophenolate sodium is less affected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Iron, vitamin B12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Acid needed for absorption; deficiency with long courses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Check ferritin and B12 on long-term therapy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Itraconazole, posaconazole suspension, ketoconazole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Absorption falls when gastric pH rises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 tablets or alternative azole; separate dosing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Clopidogrel (adolescents, adults)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Omeprazole blocks CYP2C19 activation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Use pantoprazole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High-dose methotrexate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Delayed clearance reported with PPIs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Hold PPI around the infusion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Paediatric guidance (NASPGHAN/ESPGHAN 2018) versus adult ACG 2022, AGA 2024 and the pharmacogenomic CPIC 2021 guideline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Rosen 2018 · Katz PO, et al. Am J Gastroenterol 2022;117:27–56 · Patel 2024 (AGA) · Lima 2021 (CPIC)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514600"/>
                <a:gridCol w="2606040"/>
                <a:gridCol w="2286000"/>
                <a:gridCol w="129844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2018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ACG 2022 · AGA 2024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CPIC 2021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First line for erosive oesophagitis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PPI for 4–8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PPI 30–60 min before a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Genotype may raise dose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H2RA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If PPI unavailable or contraindicated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Bedtime add-on for night symptoms; tolerance noted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Prokinetics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first line; baclofen before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without gastroparesis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Vonoprazan (P-CAB)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 (pre-dates approval)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 C/D, PPI failure, H. pylori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needed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Genotype-guided dosing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Applies to children &gt; ~3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Duration and step-down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Trial 4–8 weeks, then wean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Lowest effective dose; deprescribe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−50% in poor metabolizers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94960"/>
            <a:ext cx="11082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Material gap. 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Paediatric guidance pre-dates P-CABs; any use in children is off-label and should be confined to refractory severe disease.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REASONING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Common prescribing errors in paediatric acid suppression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Rosen 2018 · Lima 2021 · Nwokolo 1990 · Orenstein 2009 · EMA 2013/2014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"Double the dose"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Fix timing and formulation first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Then split twice daily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8025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"Add ranitidine at night"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025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Withdrawn; famotidine fades in weeks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Use for short bridges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1107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"PPI for the crying baby"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7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Placebo equal; more infections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Treat oesophagitis, not irritability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4188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"A prokinetic will help"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188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Reflux is transient relaxation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Metoclopramide, domperidone restricted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33172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7270" y="1956816"/>
            <a:ext cx="17775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"PPI failure = refractory GERD"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7270" y="2505456"/>
            <a:ext cx="1777593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Check genotype, adherence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badi"/>
              </a:rPr>
              <a:t>▪  Biopsy for EoE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110825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And one more. 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Forgetting to stop: a 4–8 week trial that becomes years of therapy carries the infection, allergy and fracture signals without a reassessed indication.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The numbers worth carrying onto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Rosen 2018 · Lima 2021 · Laine 2023 · Patel 2024 · Nwokolo 1990 · Orenstein 2009 · Mitre 2018 · Malchodi 2019 · Eberly 2015 · EMA 2013/2014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1108252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 PPI blocks only active pumps: give it 30–60 minutes before breakfast; full effect in 3–5 days.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Weight bands give 0.5–1 mg/kg of omeprazole; children aged 1–6 clear PPIs faster and need relatively more.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No PPI is licensed for infant crying: lansoprazole 54% vs placebo 54%, serious respiratory infections 10 vs 2.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CYP2C19 *17/*17: increase starting dose by 100%; *2/*2: consider halving after 12 weeks of control.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About one in three European children carries *17; pantoprazole depends least on CYP2C19.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H2RA tolerance: nocturnal acidity fell 93% on day 1 but rose more than three-fold again by day 29.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Vonoprazan healed 92.9% vs 84.6% at 8 weeks and 70% vs 53% of LA C/D at 2 weeks, in adults.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Metoclopramide: not under 1 year, maximum 5 days; domperidone: 0.25 mg/kg up to three times daily, maximum 1 week.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Erythromycin in the first 14 days: pyloric stenosis aOR 13.3.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Early acid suppression: food allergy HR 2.59 (PPI) and 2.18 (H2RA); fracture +21% with PPI.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Abadi"/>
              </a:rPr>
              <a:t>Applying the pharmacology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4206240"/>
                <a:gridCol w="331012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9-year-old, LA B, omeprazole 10 mg at bedtime, not healed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20 mg before breakfast (or split twice daily), re-scope at 8–12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0.36 mg/kg at the wrong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Full dose before breakfast, still failing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Check adherence, consider CYP2C19 genotype, biopsy for EoE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Rapid metabolizers and EoE explain most failures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Liver transplant recipient on tacrolimus needs acid suppression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Pantoprazole or famotidine; recheck trough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Omeprazole raises tacrolimus exposure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3-week-old vomiting; erythromycin suggested as prokinetic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Avoid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Pyloric stenosis aOR 13.3 in the first 14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Adolescent, LA D, refractory to twice-daily PPI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Specialist off-label vonoprazan after counselling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Best adult data in severe disease; no paediatric efficacy trial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Infant on PPI for crying for 6 months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Stop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benefit over placebo; infection and allergy signals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Child with night symptoms on PPI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Twice-daily PPI rather than chronic bedtime H2RA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H2RA tolerance within 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Pharmacology of Acid Suppression — PPI Dosing, CYP2C19, H2RA Tachyphylaxis, Vonoprazan and Prokinetics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