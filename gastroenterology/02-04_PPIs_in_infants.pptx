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45720" rIns="45720" tIns="27432" bIns="27432" anchor="b">
            <a:spAutoFit/>
          </a:bodyPr>
          <a:lstStyle/>
          <a:p>
            <a:pPr algn="ctr"/>
            <a:r>
              <a:rPr sz="4000" b="1" i="0">
                <a:solidFill>
                  <a:srgbClr val="FFFFFF"/>
                </a:solidFill>
                <a:latin typeface="Abadi"/>
              </a:rPr>
              <a:t>Proton Pump Inhibitors in Infants: Why the Trials Failed, What the Drugs Cost, and When They Are Right</a:t>
            </a:r>
          </a:p>
        </p:txBody>
      </p:sp>
      <p:sp>
        <p:nvSpPr>
          <p:cNvPr id="4" name="Rectangle 3"/>
          <p:cNvSpPr/>
          <p:nvPr/>
        </p:nvSpPr>
        <p:spPr>
          <a:xfrm>
            <a:off x="5184648" y="3630168"/>
            <a:ext cx="182880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45720" rIns="45720" tIns="27432" bIns="27432" anchor="t">
            <a:spAutoFit/>
          </a:bodyPr>
          <a:lstStyle/>
          <a:p>
            <a:pPr algn="ctr"/>
            <a:r>
              <a:rPr sz="1700" b="1" i="0">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45720" rIns="45720" tIns="27432" bIns="27432" anchor="t">
            <a:spAutoFit/>
          </a:bodyPr>
          <a:lstStyle/>
          <a:p>
            <a:pPr algn="ctr"/>
            <a:r>
              <a:rPr sz="1100" b="0" i="0">
                <a:solidFill>
                  <a:srgbClr val="D9DEE7"/>
                </a:solidFill>
                <a:latin typeface="Abadi"/>
              </a:rPr>
              <a:t>Rosen 2018 (NASPGHAN/ESPGHAN) · NICE NG1 · Eichenwald 2018 (AAP) · Orenstein 2009 · Moore 2003 · Chen 2012 (FDA) · Gieruszczak-Białek 2015 · Lassalle 2023 · Malchodi 2019 · Mitre 2018 · Terrin 2012 · Guillet 2006 · Hirsch 2025</a:t>
            </a:r>
          </a:p>
        </p:txBody>
      </p:sp>
      <p:sp>
        <p:nvSpPr>
          <p:cNvPr id="7" name="TextBox 6"/>
          <p:cNvSpPr txBox="1"/>
          <p:nvPr/>
        </p:nvSpPr>
        <p:spPr>
          <a:xfrm>
            <a:off x="548640" y="5193792"/>
            <a:ext cx="11082528" cy="548640"/>
          </a:xfrm>
          <a:prstGeom prst="rect">
            <a:avLst/>
          </a:prstGeom>
          <a:noFill/>
        </p:spPr>
        <p:txBody>
          <a:bodyPr wrap="square" lIns="45720" rIns="45720" tIns="27432" bIns="27432" anchor="t">
            <a:spAutoFit/>
          </a:bodyPr>
          <a:lstStyle/>
          <a:p>
            <a:pPr algn="ctr"/>
            <a:r>
              <a:rPr sz="1100" b="0" i="1">
                <a:solidFill>
                  <a:srgbClr val="D9DEE7"/>
                </a:solidFill>
                <a:latin typeface="Abadi"/>
              </a:rPr>
              <a:t>54% versus 54% · the probe improved, the baby did not · acid is the infant's first immune organ · a trial is not a test · stop at the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A CRYING BABY IS NOT AN ACID PROBLEM</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Should a proton pump inhibitor ever be started for an otherwise healthy infant who cries or spits?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Rosen R, et al. JPGN 2018;66:516–54 · Orenstein SR, et al. J Pediatr 2009;154:514–20 · Lassalle M, et al. JAMA Pediatr 2023;177:1028–38</a:t>
            </a:r>
          </a:p>
        </p:txBody>
      </p:sp>
      <p:sp>
        <p:nvSpPr>
          <p:cNvPr id="12" name="Rectangle 11"/>
          <p:cNvSpPr/>
          <p:nvPr/>
        </p:nvSpPr>
        <p:spPr>
          <a:xfrm>
            <a:off x="548640" y="1773936"/>
            <a:ext cx="2070201"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1741017" cy="457200"/>
          </a:xfrm>
          <a:prstGeom prst="rect">
            <a:avLst/>
          </a:prstGeom>
          <a:noFill/>
        </p:spPr>
        <p:txBody>
          <a:bodyPr wrap="square" lIns="45720" rIns="45720" tIns="27432" bIns="27432" anchor="t">
            <a:spAutoFit/>
          </a:bodyPr>
          <a:lstStyle/>
          <a:p>
            <a:pPr algn="l"/>
            <a:r>
              <a:rPr sz="1500" b="1" i="0">
                <a:solidFill>
                  <a:srgbClr val="1B355E"/>
                </a:solidFill>
                <a:latin typeface="Abadi"/>
              </a:rPr>
              <a:t>Efficacy</a:t>
            </a:r>
          </a:p>
        </p:txBody>
      </p:sp>
      <p:sp>
        <p:nvSpPr>
          <p:cNvPr id="15" name="TextBox 14"/>
          <p:cNvSpPr txBox="1"/>
          <p:nvPr/>
        </p:nvSpPr>
        <p:spPr>
          <a:xfrm>
            <a:off x="713232" y="2523744"/>
            <a:ext cx="1741017"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Every infant RCT negative</a:t>
            </a:r>
          </a:p>
          <a:p>
            <a:pPr algn="l">
              <a:spcAft>
                <a:spcPts val="300"/>
              </a:spcAft>
            </a:pPr>
            <a:r>
              <a:rPr sz="1150" b="0" i="0">
                <a:solidFill>
                  <a:srgbClr val="1A1A1A"/>
                </a:solidFill>
                <a:latin typeface="Abadi"/>
              </a:rPr>
              <a:t>▪  Placebo response 54%</a:t>
            </a:r>
          </a:p>
          <a:p>
            <a:pPr algn="l">
              <a:spcAft>
                <a:spcPts val="300"/>
              </a:spcAft>
            </a:pPr>
            <a:r>
              <a:rPr sz="1150" b="0" i="0">
                <a:solidFill>
                  <a:srgbClr val="1A1A1A"/>
                </a:solidFill>
                <a:latin typeface="Abadi"/>
              </a:rPr>
              <a:t>▪  Acid falls, crying does not</a:t>
            </a:r>
          </a:p>
        </p:txBody>
      </p:sp>
      <p:sp>
        <p:nvSpPr>
          <p:cNvPr id="16" name="Rectangle 15"/>
          <p:cNvSpPr/>
          <p:nvPr/>
        </p:nvSpPr>
        <p:spPr>
          <a:xfrm>
            <a:off x="2801721" y="1773936"/>
            <a:ext cx="2070201"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66313" y="1984248"/>
            <a:ext cx="1741017" cy="457200"/>
          </a:xfrm>
          <a:prstGeom prst="rect">
            <a:avLst/>
          </a:prstGeom>
          <a:noFill/>
        </p:spPr>
        <p:txBody>
          <a:bodyPr wrap="square" lIns="45720" rIns="45720" tIns="27432" bIns="27432" anchor="t">
            <a:spAutoFit/>
          </a:bodyPr>
          <a:lstStyle/>
          <a:p>
            <a:pPr algn="l"/>
            <a:r>
              <a:rPr sz="1500" b="1" i="0">
                <a:solidFill>
                  <a:srgbClr val="7F7F7F"/>
                </a:solidFill>
                <a:latin typeface="Abadi"/>
              </a:rPr>
              <a:t>Mechanism</a:t>
            </a:r>
          </a:p>
        </p:txBody>
      </p:sp>
      <p:sp>
        <p:nvSpPr>
          <p:cNvPr id="19" name="TextBox 18"/>
          <p:cNvSpPr txBox="1"/>
          <p:nvPr/>
        </p:nvSpPr>
        <p:spPr>
          <a:xfrm>
            <a:off x="2966313" y="2523744"/>
            <a:ext cx="1741017"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Infant reflux is volume</a:t>
            </a:r>
          </a:p>
          <a:p>
            <a:pPr algn="l">
              <a:spcAft>
                <a:spcPts val="300"/>
              </a:spcAft>
            </a:pPr>
            <a:r>
              <a:rPr sz="1150" b="0" i="0">
                <a:solidFill>
                  <a:srgbClr val="1A1A1A"/>
                </a:solidFill>
                <a:latin typeface="Abadi"/>
              </a:rPr>
              <a:t>▪  Milk buffers the acid</a:t>
            </a:r>
          </a:p>
          <a:p>
            <a:pPr algn="l">
              <a:spcAft>
                <a:spcPts val="300"/>
              </a:spcAft>
            </a:pPr>
            <a:r>
              <a:rPr sz="1150" b="0" i="0">
                <a:solidFill>
                  <a:srgbClr val="1A1A1A"/>
                </a:solidFill>
                <a:latin typeface="Abadi"/>
              </a:rPr>
              <a:t>▪  PPI changes pH, not events</a:t>
            </a:r>
          </a:p>
        </p:txBody>
      </p:sp>
      <p:sp>
        <p:nvSpPr>
          <p:cNvPr id="20" name="Rectangle 19"/>
          <p:cNvSpPr/>
          <p:nvPr/>
        </p:nvSpPr>
        <p:spPr>
          <a:xfrm>
            <a:off x="5054803" y="1773936"/>
            <a:ext cx="2070201"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9395" y="1984248"/>
            <a:ext cx="1741017" cy="457200"/>
          </a:xfrm>
          <a:prstGeom prst="rect">
            <a:avLst/>
          </a:prstGeom>
          <a:noFill/>
        </p:spPr>
        <p:txBody>
          <a:bodyPr wrap="square" lIns="45720" rIns="45720" tIns="27432" bIns="27432" anchor="t">
            <a:spAutoFit/>
          </a:bodyPr>
          <a:lstStyle/>
          <a:p>
            <a:pPr algn="l"/>
            <a:r>
              <a:rPr sz="1500" b="1" i="0">
                <a:solidFill>
                  <a:srgbClr val="B22222"/>
                </a:solidFill>
                <a:latin typeface="Abadi"/>
              </a:rPr>
              <a:t>Harm</a:t>
            </a:r>
          </a:p>
        </p:txBody>
      </p:sp>
      <p:sp>
        <p:nvSpPr>
          <p:cNvPr id="23" name="TextBox 22"/>
          <p:cNvSpPr txBox="1"/>
          <p:nvPr/>
        </p:nvSpPr>
        <p:spPr>
          <a:xfrm>
            <a:off x="5219395" y="2523744"/>
            <a:ext cx="1741017"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Infections</a:t>
            </a:r>
          </a:p>
          <a:p>
            <a:pPr algn="l">
              <a:spcAft>
                <a:spcPts val="300"/>
              </a:spcAft>
            </a:pPr>
            <a:r>
              <a:rPr sz="1150" b="0" i="0">
                <a:solidFill>
                  <a:srgbClr val="1A1A1A"/>
                </a:solidFill>
                <a:latin typeface="Abadi"/>
              </a:rPr>
              <a:t>▪  Fractures</a:t>
            </a:r>
          </a:p>
          <a:p>
            <a:pPr algn="l">
              <a:spcAft>
                <a:spcPts val="300"/>
              </a:spcAft>
            </a:pPr>
            <a:r>
              <a:rPr sz="1150" b="0" i="0">
                <a:solidFill>
                  <a:srgbClr val="1A1A1A"/>
                </a:solidFill>
                <a:latin typeface="Abadi"/>
              </a:rPr>
              <a:t>▪  Allergy; NEC in preterms</a:t>
            </a:r>
          </a:p>
        </p:txBody>
      </p:sp>
      <p:sp>
        <p:nvSpPr>
          <p:cNvPr id="24" name="Rectangle 23"/>
          <p:cNvSpPr/>
          <p:nvPr/>
        </p:nvSpPr>
        <p:spPr>
          <a:xfrm>
            <a:off x="7307884" y="1773936"/>
            <a:ext cx="2070201"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2476" y="1984248"/>
            <a:ext cx="1741017" cy="457200"/>
          </a:xfrm>
          <a:prstGeom prst="rect">
            <a:avLst/>
          </a:prstGeom>
          <a:noFill/>
        </p:spPr>
        <p:txBody>
          <a:bodyPr wrap="square" lIns="45720" rIns="45720" tIns="27432" bIns="27432" anchor="t">
            <a:spAutoFit/>
          </a:bodyPr>
          <a:lstStyle/>
          <a:p>
            <a:pPr algn="l"/>
            <a:r>
              <a:rPr sz="1500" b="1" i="0">
                <a:solidFill>
                  <a:srgbClr val="D97A0B"/>
                </a:solidFill>
                <a:latin typeface="Abadi"/>
              </a:rPr>
              <a:t>Guidelines</a:t>
            </a:r>
          </a:p>
        </p:txBody>
      </p:sp>
      <p:sp>
        <p:nvSpPr>
          <p:cNvPr id="27" name="TextBox 26"/>
          <p:cNvSpPr txBox="1"/>
          <p:nvPr/>
        </p:nvSpPr>
        <p:spPr>
          <a:xfrm>
            <a:off x="7472476" y="2523744"/>
            <a:ext cx="1741017"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Not for crying</a:t>
            </a:r>
          </a:p>
          <a:p>
            <a:pPr algn="l">
              <a:spcAft>
                <a:spcPts val="300"/>
              </a:spcAft>
            </a:pPr>
            <a:r>
              <a:rPr sz="1150" b="0" i="0">
                <a:solidFill>
                  <a:srgbClr val="1A1A1A"/>
                </a:solidFill>
                <a:latin typeface="Abadi"/>
              </a:rPr>
              <a:t>▪  Not for spitting</a:t>
            </a:r>
          </a:p>
          <a:p>
            <a:pPr algn="l">
              <a:spcAft>
                <a:spcPts val="300"/>
              </a:spcAft>
            </a:pPr>
            <a:r>
              <a:rPr sz="1150" b="0" i="0">
                <a:solidFill>
                  <a:srgbClr val="1A1A1A"/>
                </a:solidFill>
                <a:latin typeface="Abadi"/>
              </a:rPr>
              <a:t>▪  Not as a diagnostic test</a:t>
            </a:r>
          </a:p>
        </p:txBody>
      </p:sp>
      <p:sp>
        <p:nvSpPr>
          <p:cNvPr id="28" name="Rectangle 27"/>
          <p:cNvSpPr/>
          <p:nvPr/>
        </p:nvSpPr>
        <p:spPr>
          <a:xfrm>
            <a:off x="9560966" y="1773936"/>
            <a:ext cx="2070201"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25558" y="1984248"/>
            <a:ext cx="1741017" cy="457200"/>
          </a:xfrm>
          <a:prstGeom prst="rect">
            <a:avLst/>
          </a:prstGeom>
          <a:noFill/>
        </p:spPr>
        <p:txBody>
          <a:bodyPr wrap="square" lIns="45720" rIns="45720" tIns="27432" bIns="27432" anchor="t">
            <a:spAutoFit/>
          </a:bodyPr>
          <a:lstStyle/>
          <a:p>
            <a:pPr algn="l"/>
            <a:r>
              <a:rPr sz="1500" b="1" i="0">
                <a:solidFill>
                  <a:srgbClr val="1E7A33"/>
                </a:solidFill>
                <a:latin typeface="Abadi"/>
              </a:rPr>
              <a:t>When right</a:t>
            </a:r>
          </a:p>
        </p:txBody>
      </p:sp>
      <p:sp>
        <p:nvSpPr>
          <p:cNvPr id="31" name="TextBox 30"/>
          <p:cNvSpPr txBox="1"/>
          <p:nvPr/>
        </p:nvSpPr>
        <p:spPr>
          <a:xfrm>
            <a:off x="9725558" y="2523744"/>
            <a:ext cx="1741017"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Erosive oesophagitis</a:t>
            </a:r>
          </a:p>
          <a:p>
            <a:pPr algn="l">
              <a:spcAft>
                <a:spcPts val="300"/>
              </a:spcAft>
            </a:pPr>
            <a:r>
              <a:rPr sz="1150" b="0" i="0">
                <a:solidFill>
                  <a:srgbClr val="1A1A1A"/>
                </a:solidFill>
                <a:latin typeface="Abadi"/>
              </a:rPr>
              <a:t>▪  Oesophageal atresia</a:t>
            </a:r>
          </a:p>
          <a:p>
            <a:pPr algn="l">
              <a:spcAft>
                <a:spcPts val="300"/>
              </a:spcAft>
            </a:pPr>
            <a:r>
              <a:rPr sz="1150" b="0" i="0">
                <a:solidFill>
                  <a:srgbClr val="1A1A1A"/>
                </a:solidFill>
                <a:latin typeface="Abadi"/>
              </a:rPr>
              <a:t>▪  Defined, reviewed course</a:t>
            </a:r>
          </a:p>
        </p:txBody>
      </p:sp>
      <p:sp>
        <p:nvSpPr>
          <p:cNvPr id="32" name="TextBox 31"/>
          <p:cNvSpPr txBox="1"/>
          <p:nvPr/>
        </p:nvSpPr>
        <p:spPr>
          <a:xfrm>
            <a:off x="548640" y="4114800"/>
            <a:ext cx="11082528" cy="1691640"/>
          </a:xfrm>
          <a:prstGeom prst="rect">
            <a:avLst/>
          </a:prstGeom>
          <a:noFill/>
        </p:spPr>
        <p:txBody>
          <a:bodyPr wrap="square" lIns="45720" rIns="45720" tIns="27432" bIns="27432" anchor="t">
            <a:spAutoFit/>
          </a:bodyPr>
          <a:lstStyle/>
          <a:p>
            <a:pPr algn="l">
              <a:spcAft>
                <a:spcPts val="600"/>
              </a:spcAft>
            </a:pPr>
            <a:r>
              <a:rPr sz="1300" b="1" i="0">
                <a:solidFill>
                  <a:srgbClr val="1B355E"/>
                </a:solidFill>
                <a:latin typeface="Abadi"/>
              </a:rPr>
              <a:t>The main idea.  </a:t>
            </a:r>
            <a:r>
              <a:rPr sz="1300" b="0" i="0">
                <a:solidFill>
                  <a:srgbClr val="1A1A1A"/>
                </a:solidFill>
                <a:latin typeface="Abadi"/>
              </a:rPr>
              <a:t>Infant regurgitation is a problem of volume and immaturity, not of acid. Proton pump inhibitors reliably raise gastric pH and reliably fail to change crying or spitting, and the price is paid in infections, fractures and allergy.</a:t>
            </a:r>
          </a:p>
          <a:p>
            <a:pPr algn="l">
              <a:spcAft>
                <a:spcPts val="600"/>
              </a:spcAft>
            </a:pPr>
            <a:r>
              <a:rPr sz="1300" b="1" i="0">
                <a:solidFill>
                  <a:srgbClr val="B22222"/>
                </a:solidFill>
                <a:latin typeface="Abadi"/>
              </a:rPr>
              <a:t>The clinical stake.  </a:t>
            </a:r>
            <a:r>
              <a:rPr sz="1300" b="0" i="0">
                <a:solidFill>
                  <a:srgbClr val="1A1A1A"/>
                </a:solidFill>
                <a:latin typeface="Abadi"/>
              </a:rPr>
              <a:t>In the only large placebo-controlled trial, 54% responded on lansoprazole and 54% on placebo, while serious adverse events, mostly lower respiratory infections, were 10 versus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WHY THE DRUG MISSES THE TARGET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From transient sphincter relaxation to a crying infant: where acid suppression acts, and where it does not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Rosen R, et al. JPGN 2018;66:516–54 · Moore DJ, et al. J Pediatr 2003;143:219–23 · Davies I, et al. BMJ 2015;350:g7703 (NICE NG1)</a:t>
            </a:r>
          </a:p>
        </p:txBody>
      </p:sp>
      <p:sp>
        <p:nvSpPr>
          <p:cNvPr id="12" name="Rectangle 11"/>
          <p:cNvSpPr/>
          <p:nvPr/>
        </p:nvSpPr>
        <p:spPr>
          <a:xfrm>
            <a:off x="548640" y="1773936"/>
            <a:ext cx="2011680" cy="19659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11680"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73936"/>
            <a:ext cx="1828800" cy="292608"/>
          </a:xfrm>
          <a:prstGeom prst="rect">
            <a:avLst/>
          </a:prstGeom>
          <a:noFill/>
        </p:spPr>
        <p:txBody>
          <a:bodyPr wrap="square" lIns="45720" rIns="45720" tIns="27432" bIns="27432" anchor="ctr">
            <a:spAutoFit/>
          </a:bodyPr>
          <a:lstStyle/>
          <a:p>
            <a:pPr algn="l"/>
            <a:r>
              <a:rPr sz="1150" b="1" i="0">
                <a:solidFill>
                  <a:srgbClr val="FFFFFF"/>
                </a:solidFill>
                <a:latin typeface="Abadi"/>
              </a:rPr>
              <a:t>1 · Relaxation</a:t>
            </a:r>
          </a:p>
        </p:txBody>
      </p:sp>
      <p:sp>
        <p:nvSpPr>
          <p:cNvPr id="15" name="TextBox 14"/>
          <p:cNvSpPr txBox="1"/>
          <p:nvPr/>
        </p:nvSpPr>
        <p:spPr>
          <a:xfrm>
            <a:off x="658368" y="2157984"/>
            <a:ext cx="1792224" cy="1508760"/>
          </a:xfrm>
          <a:prstGeom prst="rect">
            <a:avLst/>
          </a:prstGeom>
          <a:noFill/>
        </p:spPr>
        <p:txBody>
          <a:bodyPr wrap="square" lIns="45720" rIns="45720" tIns="27432" bIns="27432" anchor="t">
            <a:spAutoFit/>
          </a:bodyPr>
          <a:lstStyle/>
          <a:p>
            <a:pPr algn="l"/>
            <a:r>
              <a:rPr sz="1050" b="0" i="0">
                <a:solidFill>
                  <a:srgbClr val="1A1A1A"/>
                </a:solidFill>
                <a:latin typeface="Abadi"/>
              </a:rPr>
              <a:t>Transient relaxations of the lower oesophageal sphincter let the stomach empty upward.</a:t>
            </a:r>
          </a:p>
        </p:txBody>
      </p:sp>
      <p:sp>
        <p:nvSpPr>
          <p:cNvPr id="16" name="Isosceles Triangle 15"/>
          <p:cNvSpPr/>
          <p:nvPr/>
        </p:nvSpPr>
        <p:spPr>
          <a:xfrm rot="5400000">
            <a:off x="2624328" y="267462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773936"/>
            <a:ext cx="2011680" cy="196596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16352" y="1773936"/>
            <a:ext cx="2011680" cy="29260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07792" y="1773936"/>
            <a:ext cx="1828800" cy="292608"/>
          </a:xfrm>
          <a:prstGeom prst="rect">
            <a:avLst/>
          </a:prstGeom>
          <a:noFill/>
        </p:spPr>
        <p:txBody>
          <a:bodyPr wrap="square" lIns="45720" rIns="45720" tIns="27432" bIns="27432" anchor="ctr">
            <a:spAutoFit/>
          </a:bodyPr>
          <a:lstStyle/>
          <a:p>
            <a:pPr algn="l"/>
            <a:r>
              <a:rPr sz="1150" b="1" i="0">
                <a:solidFill>
                  <a:srgbClr val="FFFFFF"/>
                </a:solidFill>
                <a:latin typeface="Abadi"/>
              </a:rPr>
              <a:t>2 · Volume</a:t>
            </a:r>
          </a:p>
        </p:txBody>
      </p:sp>
      <p:sp>
        <p:nvSpPr>
          <p:cNvPr id="20" name="TextBox 19"/>
          <p:cNvSpPr txBox="1"/>
          <p:nvPr/>
        </p:nvSpPr>
        <p:spPr>
          <a:xfrm>
            <a:off x="2926080" y="2157984"/>
            <a:ext cx="1792224" cy="1508760"/>
          </a:xfrm>
          <a:prstGeom prst="rect">
            <a:avLst/>
          </a:prstGeom>
          <a:noFill/>
        </p:spPr>
        <p:txBody>
          <a:bodyPr wrap="square" lIns="45720" rIns="45720" tIns="27432" bIns="27432" anchor="t">
            <a:spAutoFit/>
          </a:bodyPr>
          <a:lstStyle/>
          <a:p>
            <a:pPr algn="l"/>
            <a:r>
              <a:rPr sz="1050" b="0" i="0">
                <a:solidFill>
                  <a:srgbClr val="1A1A1A"/>
                </a:solidFill>
                <a:latin typeface="Abadi"/>
              </a:rPr>
              <a:t>Large milk feeds, a short oesophagus and supine posture make reflux visible.</a:t>
            </a:r>
          </a:p>
        </p:txBody>
      </p:sp>
      <p:sp>
        <p:nvSpPr>
          <p:cNvPr id="21" name="Isosceles Triangle 20"/>
          <p:cNvSpPr/>
          <p:nvPr/>
        </p:nvSpPr>
        <p:spPr>
          <a:xfrm rot="5400000">
            <a:off x="4892040" y="267462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73936"/>
            <a:ext cx="2011680" cy="196596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773936"/>
            <a:ext cx="2011680" cy="29260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75504" y="1773936"/>
            <a:ext cx="1828800" cy="292608"/>
          </a:xfrm>
          <a:prstGeom prst="rect">
            <a:avLst/>
          </a:prstGeom>
          <a:noFill/>
        </p:spPr>
        <p:txBody>
          <a:bodyPr wrap="square" lIns="45720" rIns="45720" tIns="27432" bIns="27432" anchor="ctr">
            <a:spAutoFit/>
          </a:bodyPr>
          <a:lstStyle/>
          <a:p>
            <a:pPr algn="l"/>
            <a:r>
              <a:rPr sz="1150" b="1" i="0">
                <a:solidFill>
                  <a:srgbClr val="FFFFFF"/>
                </a:solidFill>
                <a:latin typeface="Abadi"/>
              </a:rPr>
              <a:t>3 · Buffered</a:t>
            </a:r>
          </a:p>
        </p:txBody>
      </p:sp>
      <p:sp>
        <p:nvSpPr>
          <p:cNvPr id="25" name="TextBox 24"/>
          <p:cNvSpPr txBox="1"/>
          <p:nvPr/>
        </p:nvSpPr>
        <p:spPr>
          <a:xfrm>
            <a:off x="5193792" y="2157984"/>
            <a:ext cx="1792224" cy="1508760"/>
          </a:xfrm>
          <a:prstGeom prst="rect">
            <a:avLst/>
          </a:prstGeom>
          <a:noFill/>
        </p:spPr>
        <p:txBody>
          <a:bodyPr wrap="square" lIns="45720" rIns="45720" tIns="27432" bIns="27432" anchor="t">
            <a:spAutoFit/>
          </a:bodyPr>
          <a:lstStyle/>
          <a:p>
            <a:pPr algn="l"/>
            <a:r>
              <a:rPr sz="1050" b="0" i="0">
                <a:solidFill>
                  <a:srgbClr val="1A1A1A"/>
                </a:solidFill>
                <a:latin typeface="Abadi"/>
              </a:rPr>
              <a:t>Milk neutralises gastric acid for much of the time after a feed: most infant reflux is weakly acidic.</a:t>
            </a:r>
          </a:p>
        </p:txBody>
      </p:sp>
      <p:sp>
        <p:nvSpPr>
          <p:cNvPr id="26" name="Isosceles Triangle 25"/>
          <p:cNvSpPr/>
          <p:nvPr/>
        </p:nvSpPr>
        <p:spPr>
          <a:xfrm rot="5400000">
            <a:off x="7159752" y="267462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1773936"/>
            <a:ext cx="2011680" cy="196596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73936"/>
            <a:ext cx="2011680"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3216" y="1773936"/>
            <a:ext cx="1828800" cy="292608"/>
          </a:xfrm>
          <a:prstGeom prst="rect">
            <a:avLst/>
          </a:prstGeom>
          <a:noFill/>
        </p:spPr>
        <p:txBody>
          <a:bodyPr wrap="square" lIns="45720" rIns="45720" tIns="27432" bIns="27432" anchor="ctr">
            <a:spAutoFit/>
          </a:bodyPr>
          <a:lstStyle/>
          <a:p>
            <a:pPr algn="l"/>
            <a:r>
              <a:rPr sz="1150" b="1" i="0">
                <a:solidFill>
                  <a:srgbClr val="FFFFFF"/>
                </a:solidFill>
                <a:latin typeface="Abadi"/>
              </a:rPr>
              <a:t>4 · PPI acts here</a:t>
            </a:r>
          </a:p>
        </p:txBody>
      </p:sp>
      <p:sp>
        <p:nvSpPr>
          <p:cNvPr id="30" name="TextBox 29"/>
          <p:cNvSpPr txBox="1"/>
          <p:nvPr/>
        </p:nvSpPr>
        <p:spPr>
          <a:xfrm>
            <a:off x="7461504" y="2157984"/>
            <a:ext cx="1792224" cy="1508760"/>
          </a:xfrm>
          <a:prstGeom prst="rect">
            <a:avLst/>
          </a:prstGeom>
          <a:noFill/>
        </p:spPr>
        <p:txBody>
          <a:bodyPr wrap="square" lIns="45720" rIns="45720" tIns="27432" bIns="27432" anchor="t">
            <a:spAutoFit/>
          </a:bodyPr>
          <a:lstStyle/>
          <a:p>
            <a:pPr algn="l"/>
            <a:r>
              <a:rPr sz="1050" b="0" i="0">
                <a:solidFill>
                  <a:srgbClr val="1A1A1A"/>
                </a:solidFill>
                <a:latin typeface="Abadi"/>
              </a:rPr>
              <a:t>Raises pH of what refluxes. Does not reduce the number, height or volume of events.</a:t>
            </a:r>
          </a:p>
        </p:txBody>
      </p:sp>
      <p:sp>
        <p:nvSpPr>
          <p:cNvPr id="31" name="Isosceles Triangle 30"/>
          <p:cNvSpPr/>
          <p:nvPr/>
        </p:nvSpPr>
        <p:spPr>
          <a:xfrm rot="5400000">
            <a:off x="9427464" y="267462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773936"/>
            <a:ext cx="2011680" cy="19659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19488" y="1773936"/>
            <a:ext cx="2011680" cy="29260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10928" y="1773936"/>
            <a:ext cx="1828800" cy="292608"/>
          </a:xfrm>
          <a:prstGeom prst="rect">
            <a:avLst/>
          </a:prstGeom>
          <a:noFill/>
        </p:spPr>
        <p:txBody>
          <a:bodyPr wrap="square" lIns="45720" rIns="45720" tIns="27432" bIns="27432" anchor="ctr">
            <a:spAutoFit/>
          </a:bodyPr>
          <a:lstStyle/>
          <a:p>
            <a:pPr algn="l"/>
            <a:r>
              <a:rPr sz="1150" b="1" i="0">
                <a:solidFill>
                  <a:srgbClr val="FFFFFF"/>
                </a:solidFill>
                <a:latin typeface="Abadi"/>
              </a:rPr>
              <a:t>5 · The cry</a:t>
            </a:r>
          </a:p>
        </p:txBody>
      </p:sp>
      <p:sp>
        <p:nvSpPr>
          <p:cNvPr id="35" name="TextBox 34"/>
          <p:cNvSpPr txBox="1"/>
          <p:nvPr/>
        </p:nvSpPr>
        <p:spPr>
          <a:xfrm>
            <a:off x="9729216" y="2157984"/>
            <a:ext cx="1792224" cy="1508760"/>
          </a:xfrm>
          <a:prstGeom prst="rect">
            <a:avLst/>
          </a:prstGeom>
          <a:noFill/>
        </p:spPr>
        <p:txBody>
          <a:bodyPr wrap="square" lIns="45720" rIns="45720" tIns="27432" bIns="27432" anchor="t">
            <a:spAutoFit/>
          </a:bodyPr>
          <a:lstStyle/>
          <a:p>
            <a:pPr algn="l"/>
            <a:r>
              <a:rPr sz="1050" b="0" i="0">
                <a:solidFill>
                  <a:srgbClr val="1A1A1A"/>
                </a:solidFill>
                <a:latin typeface="Abadi"/>
              </a:rPr>
              <a:t>Crying peaks at 6 weeks and follows its own clock; it rarely tracks acid exposure.</a:t>
            </a:r>
          </a:p>
        </p:txBody>
      </p:sp>
      <p:sp>
        <p:nvSpPr>
          <p:cNvPr id="36" name="Rectangle 35"/>
          <p:cNvSpPr/>
          <p:nvPr/>
        </p:nvSpPr>
        <p:spPr>
          <a:xfrm>
            <a:off x="548640" y="3931920"/>
            <a:ext cx="2633472" cy="18288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3931920"/>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 y="4160520"/>
            <a:ext cx="2304288" cy="502920"/>
          </a:xfrm>
          <a:prstGeom prst="rect">
            <a:avLst/>
          </a:prstGeom>
          <a:noFill/>
        </p:spPr>
        <p:txBody>
          <a:bodyPr wrap="square" lIns="45720" rIns="45720" tIns="27432" bIns="27432" anchor="t">
            <a:spAutoFit/>
          </a:bodyPr>
          <a:lstStyle/>
          <a:p>
            <a:pPr algn="l"/>
            <a:r>
              <a:rPr sz="1600" b="1" i="0">
                <a:solidFill>
                  <a:srgbClr val="1B355E"/>
                </a:solidFill>
                <a:latin typeface="Abadi"/>
              </a:rPr>
              <a:t>Before the feed</a:t>
            </a:r>
          </a:p>
        </p:txBody>
      </p:sp>
      <p:sp>
        <p:nvSpPr>
          <p:cNvPr id="39" name="TextBox 38"/>
          <p:cNvSpPr txBox="1"/>
          <p:nvPr/>
        </p:nvSpPr>
        <p:spPr>
          <a:xfrm>
            <a:off x="713232" y="4736592"/>
            <a:ext cx="2304288" cy="932688"/>
          </a:xfrm>
          <a:prstGeom prst="rect">
            <a:avLst/>
          </a:prstGeom>
          <a:noFill/>
        </p:spPr>
        <p:txBody>
          <a:bodyPr wrap="square" lIns="45720" rIns="45720" tIns="27432" bIns="27432" anchor="t">
            <a:spAutoFit/>
          </a:bodyPr>
          <a:lstStyle/>
          <a:p>
            <a:pPr algn="l"/>
            <a:r>
              <a:rPr sz="1050" b="0" i="0">
                <a:solidFill>
                  <a:srgbClr val="1A1A1A"/>
                </a:solidFill>
                <a:latin typeface="Abadi"/>
              </a:rPr>
              <a:t>PPIs block only active pumps: give 30 minutes before a feed, which the infant feeding on demand rarely allows.</a:t>
            </a:r>
          </a:p>
        </p:txBody>
      </p:sp>
      <p:sp>
        <p:nvSpPr>
          <p:cNvPr id="40" name="Rectangle 39"/>
          <p:cNvSpPr/>
          <p:nvPr/>
        </p:nvSpPr>
        <p:spPr>
          <a:xfrm>
            <a:off x="3364992" y="3931920"/>
            <a:ext cx="2633472" cy="182880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364992" y="3931920"/>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29584" y="4160520"/>
            <a:ext cx="2304288" cy="502920"/>
          </a:xfrm>
          <a:prstGeom prst="rect">
            <a:avLst/>
          </a:prstGeom>
          <a:noFill/>
        </p:spPr>
        <p:txBody>
          <a:bodyPr wrap="square" lIns="45720" rIns="45720" tIns="27432" bIns="27432" anchor="t">
            <a:spAutoFit/>
          </a:bodyPr>
          <a:lstStyle/>
          <a:p>
            <a:pPr algn="l"/>
            <a:r>
              <a:rPr sz="1600" b="1" i="0">
                <a:solidFill>
                  <a:srgbClr val="7F7F7F"/>
                </a:solidFill>
                <a:latin typeface="Abadi"/>
              </a:rPr>
              <a:t>Days, not hours</a:t>
            </a:r>
          </a:p>
        </p:txBody>
      </p:sp>
      <p:sp>
        <p:nvSpPr>
          <p:cNvPr id="43" name="TextBox 42"/>
          <p:cNvSpPr txBox="1"/>
          <p:nvPr/>
        </p:nvSpPr>
        <p:spPr>
          <a:xfrm>
            <a:off x="3529584" y="4736592"/>
            <a:ext cx="2304288" cy="932688"/>
          </a:xfrm>
          <a:prstGeom prst="rect">
            <a:avLst/>
          </a:prstGeom>
          <a:noFill/>
        </p:spPr>
        <p:txBody>
          <a:bodyPr wrap="square" lIns="45720" rIns="45720" tIns="27432" bIns="27432" anchor="t">
            <a:spAutoFit/>
          </a:bodyPr>
          <a:lstStyle/>
          <a:p>
            <a:pPr algn="l"/>
            <a:r>
              <a:rPr sz="1050" b="0" i="0">
                <a:solidFill>
                  <a:srgbClr val="1A1A1A"/>
                </a:solidFill>
                <a:latin typeface="Abadi"/>
              </a:rPr>
              <a:t>Full effect takes several days of dosing; a 'response' in 48 hours is natural history or placebo.</a:t>
            </a:r>
          </a:p>
        </p:txBody>
      </p:sp>
      <p:sp>
        <p:nvSpPr>
          <p:cNvPr id="44" name="Rectangle 43"/>
          <p:cNvSpPr/>
          <p:nvPr/>
        </p:nvSpPr>
        <p:spPr>
          <a:xfrm>
            <a:off x="6181344" y="3931920"/>
            <a:ext cx="2633472" cy="18288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81344" y="3931920"/>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45936" y="4160520"/>
            <a:ext cx="2304288" cy="502920"/>
          </a:xfrm>
          <a:prstGeom prst="rect">
            <a:avLst/>
          </a:prstGeom>
          <a:noFill/>
        </p:spPr>
        <p:txBody>
          <a:bodyPr wrap="square" lIns="45720" rIns="45720" tIns="27432" bIns="27432" anchor="t">
            <a:spAutoFit/>
          </a:bodyPr>
          <a:lstStyle/>
          <a:p>
            <a:pPr algn="l"/>
            <a:r>
              <a:rPr sz="1600" b="1" i="0">
                <a:solidFill>
                  <a:srgbClr val="D97A0B"/>
                </a:solidFill>
                <a:latin typeface="Abadi"/>
              </a:rPr>
              <a:t>CYP2C19</a:t>
            </a:r>
          </a:p>
        </p:txBody>
      </p:sp>
      <p:sp>
        <p:nvSpPr>
          <p:cNvPr id="47" name="TextBox 46"/>
          <p:cNvSpPr txBox="1"/>
          <p:nvPr/>
        </p:nvSpPr>
        <p:spPr>
          <a:xfrm>
            <a:off x="6345936" y="4736592"/>
            <a:ext cx="2304288" cy="932688"/>
          </a:xfrm>
          <a:prstGeom prst="rect">
            <a:avLst/>
          </a:prstGeom>
          <a:noFill/>
        </p:spPr>
        <p:txBody>
          <a:bodyPr wrap="square" lIns="45720" rIns="45720" tIns="27432" bIns="27432" anchor="t">
            <a:spAutoFit/>
          </a:bodyPr>
          <a:lstStyle/>
          <a:p>
            <a:pPr algn="l"/>
            <a:r>
              <a:rPr sz="1050" b="0" i="0">
                <a:solidFill>
                  <a:srgbClr val="1A1A1A"/>
                </a:solidFill>
                <a:latin typeface="Abadi"/>
              </a:rPr>
              <a:t>Clearance matures over infancy and varies by genotype: exposure at a fixed mg/kg dose is unpredictable.</a:t>
            </a:r>
          </a:p>
        </p:txBody>
      </p:sp>
      <p:sp>
        <p:nvSpPr>
          <p:cNvPr id="48" name="Rectangle 47"/>
          <p:cNvSpPr/>
          <p:nvPr/>
        </p:nvSpPr>
        <p:spPr>
          <a:xfrm>
            <a:off x="8997696" y="3931920"/>
            <a:ext cx="2633472" cy="18288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997696" y="3931920"/>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62288" y="4160520"/>
            <a:ext cx="2304288" cy="502920"/>
          </a:xfrm>
          <a:prstGeom prst="rect">
            <a:avLst/>
          </a:prstGeom>
          <a:noFill/>
        </p:spPr>
        <p:txBody>
          <a:bodyPr wrap="square" lIns="45720" rIns="45720" tIns="27432" bIns="27432" anchor="t">
            <a:spAutoFit/>
          </a:bodyPr>
          <a:lstStyle/>
          <a:p>
            <a:pPr algn="l"/>
            <a:r>
              <a:rPr sz="1600" b="1" i="0">
                <a:solidFill>
                  <a:srgbClr val="B22222"/>
                </a:solidFill>
                <a:latin typeface="Abadi"/>
              </a:rPr>
              <a:t>What is left</a:t>
            </a:r>
          </a:p>
        </p:txBody>
      </p:sp>
      <p:sp>
        <p:nvSpPr>
          <p:cNvPr id="51" name="TextBox 50"/>
          <p:cNvSpPr txBox="1"/>
          <p:nvPr/>
        </p:nvSpPr>
        <p:spPr>
          <a:xfrm>
            <a:off x="9162288" y="4736592"/>
            <a:ext cx="2304288" cy="932688"/>
          </a:xfrm>
          <a:prstGeom prst="rect">
            <a:avLst/>
          </a:prstGeom>
          <a:noFill/>
        </p:spPr>
        <p:txBody>
          <a:bodyPr wrap="square" lIns="45720" rIns="45720" tIns="27432" bIns="27432" anchor="t">
            <a:spAutoFit/>
          </a:bodyPr>
          <a:lstStyle/>
          <a:p>
            <a:pPr algn="l"/>
            <a:r>
              <a:rPr sz="1050" b="0" i="0">
                <a:solidFill>
                  <a:srgbClr val="1A1A1A"/>
                </a:solidFill>
                <a:latin typeface="Abadi"/>
              </a:rPr>
              <a:t>Higher gastric pH: the change that drives the harms on the following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PRESCRIBING WAVE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A DRUG IN SEARCH OF A DISEASE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PPI and H2-receptor antagonist prescribing in children under 2 with reflux or feeding disorders, single US centre,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Hirsch S, et al. J Pediatr 2025;283:114628 · Chen IL, et al. JPGN 2012;54:8–14 (FDA)</a:t>
            </a:r>
          </a:p>
        </p:txBody>
      </p:sp>
      <p:sp>
        <p:nvSpPr>
          <p:cNvPr id="12" name="TextBox 11"/>
          <p:cNvSpPr txBox="1"/>
          <p:nvPr/>
        </p:nvSpPr>
        <p:spPr>
          <a:xfrm>
            <a:off x="640080" y="1810512"/>
            <a:ext cx="2560320" cy="228600"/>
          </a:xfrm>
          <a:prstGeom prst="rect">
            <a:avLst/>
          </a:prstGeom>
          <a:noFill/>
        </p:spPr>
        <p:txBody>
          <a:bodyPr wrap="square" lIns="45720" rIns="45720" tIns="27432" bIns="27432" anchor="t">
            <a:spAutoFit/>
          </a:bodyPr>
          <a:lstStyle/>
          <a:p>
            <a:pPr algn="l"/>
            <a:r>
              <a:rPr sz="1000" b="0" i="1">
                <a:solidFill>
                  <a:srgbClr val="7F7F7F"/>
                </a:solidFill>
                <a:latin typeface="Abadi"/>
              </a:rPr>
              <a:t>Per cent of 49,483 children</a:t>
            </a:r>
          </a:p>
        </p:txBody>
      </p:sp>
      <p:sp>
        <p:nvSpPr>
          <p:cNvPr id="13" name="Rectangle 12"/>
          <p:cNvSpPr/>
          <p:nvPr/>
        </p:nvSpPr>
        <p:spPr>
          <a:xfrm>
            <a:off x="640080" y="5084064"/>
            <a:ext cx="6035040"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79551" y="2870880"/>
            <a:ext cx="829818" cy="2213183"/>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596560"/>
            <a:ext cx="1508760" cy="237744"/>
          </a:xfrm>
          <a:prstGeom prst="rect">
            <a:avLst/>
          </a:prstGeom>
          <a:noFill/>
        </p:spPr>
        <p:txBody>
          <a:bodyPr wrap="square" lIns="45720" rIns="45720" tIns="27432" bIns="27432" anchor="t">
            <a:spAutoFit/>
          </a:bodyPr>
          <a:lstStyle/>
          <a:p>
            <a:pPr algn="ctr"/>
            <a:r>
              <a:rPr sz="1100" b="1" i="0">
                <a:solidFill>
                  <a:srgbClr val="1A1A1A"/>
                </a:solidFill>
                <a:latin typeface="Abadi"/>
              </a:rPr>
              <a:t>25.3</a:t>
            </a:r>
          </a:p>
        </p:txBody>
      </p:sp>
      <p:sp>
        <p:nvSpPr>
          <p:cNvPr id="16" name="TextBox 15"/>
          <p:cNvSpPr txBox="1"/>
          <p:nvPr/>
        </p:nvSpPr>
        <p:spPr>
          <a:xfrm>
            <a:off x="658368" y="5138927"/>
            <a:ext cx="1472184" cy="566928"/>
          </a:xfrm>
          <a:prstGeom prst="rect">
            <a:avLst/>
          </a:prstGeom>
          <a:noFill/>
        </p:spPr>
        <p:txBody>
          <a:bodyPr wrap="square" lIns="45720" rIns="45720" tIns="27432" bIns="27432" anchor="t">
            <a:spAutoFit/>
          </a:bodyPr>
          <a:lstStyle/>
          <a:p>
            <a:pPr algn="ctr"/>
            <a:r>
              <a:rPr sz="1000" b="0" i="0">
                <a:solidFill>
                  <a:srgbClr val="555555"/>
                </a:solidFill>
                <a:latin typeface="Abadi"/>
              </a:rPr>
              <a:t>PPI, 2014</a:t>
            </a:r>
          </a:p>
        </p:txBody>
      </p:sp>
      <p:sp>
        <p:nvSpPr>
          <p:cNvPr id="17" name="Rectangle 16"/>
          <p:cNvSpPr/>
          <p:nvPr/>
        </p:nvSpPr>
        <p:spPr>
          <a:xfrm>
            <a:off x="2488311" y="4462973"/>
            <a:ext cx="829818" cy="62109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48839" y="4188653"/>
            <a:ext cx="1508760" cy="237744"/>
          </a:xfrm>
          <a:prstGeom prst="rect">
            <a:avLst/>
          </a:prstGeom>
          <a:noFill/>
        </p:spPr>
        <p:txBody>
          <a:bodyPr wrap="square" lIns="45720" rIns="45720" tIns="27432" bIns="27432" anchor="t">
            <a:spAutoFit/>
          </a:bodyPr>
          <a:lstStyle/>
          <a:p>
            <a:pPr algn="ctr"/>
            <a:r>
              <a:rPr sz="1100" b="1" i="0">
                <a:solidFill>
                  <a:srgbClr val="1A1A1A"/>
                </a:solidFill>
                <a:latin typeface="Abadi"/>
              </a:rPr>
              <a:t>7.1</a:t>
            </a:r>
          </a:p>
        </p:txBody>
      </p:sp>
      <p:sp>
        <p:nvSpPr>
          <p:cNvPr id="19" name="TextBox 18"/>
          <p:cNvSpPr txBox="1"/>
          <p:nvPr/>
        </p:nvSpPr>
        <p:spPr>
          <a:xfrm>
            <a:off x="2167127" y="5138927"/>
            <a:ext cx="1472184" cy="566928"/>
          </a:xfrm>
          <a:prstGeom prst="rect">
            <a:avLst/>
          </a:prstGeom>
          <a:noFill/>
        </p:spPr>
        <p:txBody>
          <a:bodyPr wrap="square" lIns="45720" rIns="45720" tIns="27432" bIns="27432" anchor="t">
            <a:spAutoFit/>
          </a:bodyPr>
          <a:lstStyle/>
          <a:p>
            <a:pPr algn="ctr"/>
            <a:r>
              <a:rPr sz="1000" b="0" i="0">
                <a:solidFill>
                  <a:srgbClr val="555555"/>
                </a:solidFill>
                <a:latin typeface="Abadi"/>
              </a:rPr>
              <a:t>PPI, 2023</a:t>
            </a:r>
          </a:p>
        </p:txBody>
      </p:sp>
      <p:sp>
        <p:nvSpPr>
          <p:cNvPr id="20" name="Rectangle 19"/>
          <p:cNvSpPr/>
          <p:nvPr/>
        </p:nvSpPr>
        <p:spPr>
          <a:xfrm>
            <a:off x="3997071" y="3596944"/>
            <a:ext cx="829818" cy="1487119"/>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0" y="3322624"/>
            <a:ext cx="1508760" cy="237744"/>
          </a:xfrm>
          <a:prstGeom prst="rect">
            <a:avLst/>
          </a:prstGeom>
          <a:noFill/>
        </p:spPr>
        <p:txBody>
          <a:bodyPr wrap="square" lIns="45720" rIns="45720" tIns="27432" bIns="27432" anchor="t">
            <a:spAutoFit/>
          </a:bodyPr>
          <a:lstStyle/>
          <a:p>
            <a:pPr algn="ctr"/>
            <a:r>
              <a:rPr sz="1100" b="1" i="0">
                <a:solidFill>
                  <a:srgbClr val="1A1A1A"/>
                </a:solidFill>
                <a:latin typeface="Abadi"/>
              </a:rPr>
              <a:t>17</a:t>
            </a:r>
          </a:p>
        </p:txBody>
      </p:sp>
      <p:sp>
        <p:nvSpPr>
          <p:cNvPr id="22" name="TextBox 21"/>
          <p:cNvSpPr txBox="1"/>
          <p:nvPr/>
        </p:nvSpPr>
        <p:spPr>
          <a:xfrm>
            <a:off x="3675887" y="5138927"/>
            <a:ext cx="1472184" cy="566928"/>
          </a:xfrm>
          <a:prstGeom prst="rect">
            <a:avLst/>
          </a:prstGeom>
          <a:noFill/>
        </p:spPr>
        <p:txBody>
          <a:bodyPr wrap="square" lIns="45720" rIns="45720" tIns="27432" bIns="27432" anchor="t">
            <a:spAutoFit/>
          </a:bodyPr>
          <a:lstStyle/>
          <a:p>
            <a:pPr algn="ctr"/>
            <a:r>
              <a:rPr sz="1000" b="0" i="0">
                <a:solidFill>
                  <a:srgbClr val="555555"/>
                </a:solidFill>
                <a:latin typeface="Abadi"/>
              </a:rPr>
              <a:t>H2RA, 2014</a:t>
            </a:r>
          </a:p>
        </p:txBody>
      </p:sp>
      <p:sp>
        <p:nvSpPr>
          <p:cNvPr id="23" name="Rectangle 22"/>
          <p:cNvSpPr/>
          <p:nvPr/>
        </p:nvSpPr>
        <p:spPr>
          <a:xfrm>
            <a:off x="5505830" y="4113062"/>
            <a:ext cx="829818" cy="971001"/>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59" y="3838742"/>
            <a:ext cx="1508760" cy="237744"/>
          </a:xfrm>
          <a:prstGeom prst="rect">
            <a:avLst/>
          </a:prstGeom>
          <a:noFill/>
        </p:spPr>
        <p:txBody>
          <a:bodyPr wrap="square" lIns="45720" rIns="45720" tIns="27432" bIns="27432" anchor="t">
            <a:spAutoFit/>
          </a:bodyPr>
          <a:lstStyle/>
          <a:p>
            <a:pPr algn="ctr"/>
            <a:r>
              <a:rPr sz="1100" b="1" i="0">
                <a:solidFill>
                  <a:srgbClr val="1A1A1A"/>
                </a:solidFill>
                <a:latin typeface="Abadi"/>
              </a:rPr>
              <a:t>11.1</a:t>
            </a:r>
          </a:p>
        </p:txBody>
      </p:sp>
      <p:sp>
        <p:nvSpPr>
          <p:cNvPr id="25" name="TextBox 24"/>
          <p:cNvSpPr txBox="1"/>
          <p:nvPr/>
        </p:nvSpPr>
        <p:spPr>
          <a:xfrm>
            <a:off x="5184647" y="5138927"/>
            <a:ext cx="1472184" cy="566928"/>
          </a:xfrm>
          <a:prstGeom prst="rect">
            <a:avLst/>
          </a:prstGeom>
          <a:noFill/>
        </p:spPr>
        <p:txBody>
          <a:bodyPr wrap="square" lIns="45720" rIns="45720" tIns="27432" bIns="27432" anchor="t">
            <a:spAutoFit/>
          </a:bodyPr>
          <a:lstStyle/>
          <a:p>
            <a:pPr algn="ctr"/>
            <a:r>
              <a:rPr sz="1000" b="0" i="0">
                <a:solidFill>
                  <a:srgbClr val="555555"/>
                </a:solidFill>
                <a:latin typeface="Abadi"/>
              </a:rPr>
              <a:t>H2RA, 2023</a:t>
            </a:r>
          </a:p>
        </p:txBody>
      </p:sp>
      <p:sp>
        <p:nvSpPr>
          <p:cNvPr id="26" name="TextBox 25"/>
          <p:cNvSpPr txBox="1"/>
          <p:nvPr/>
        </p:nvSpPr>
        <p:spPr>
          <a:xfrm>
            <a:off x="7178040" y="1773936"/>
            <a:ext cx="4453128" cy="4023360"/>
          </a:xfrm>
          <a:prstGeom prst="rect">
            <a:avLst/>
          </a:prstGeom>
          <a:noFill/>
        </p:spPr>
        <p:txBody>
          <a:bodyPr wrap="square" lIns="45720" rIns="45720" tIns="27432" bIns="27432" anchor="t">
            <a:spAutoFit/>
          </a:bodyPr>
          <a:lstStyle/>
          <a:p>
            <a:pPr algn="l"/>
            <a:r>
              <a:rPr sz="1700" b="1" i="0">
                <a:solidFill>
                  <a:srgbClr val="1B355E"/>
                </a:solidFill>
                <a:latin typeface="Abadi"/>
              </a:rPr>
              <a:t>11-fold</a:t>
            </a:r>
          </a:p>
          <a:p>
            <a:pPr algn="l">
              <a:spcAft>
                <a:spcPts val="900"/>
              </a:spcAft>
            </a:pPr>
            <a:r>
              <a:rPr sz="1000" b="0" i="0">
                <a:solidFill>
                  <a:srgbClr val="555555"/>
                </a:solidFill>
                <a:latin typeface="Abadi"/>
              </a:rPr>
              <a:t>Rise in US PPI use under 12 months from 2002 to 2009, per the FDA reviewers.</a:t>
            </a:r>
          </a:p>
          <a:p>
            <a:pPr algn="l"/>
            <a:r>
              <a:rPr sz="1700" b="1" i="0">
                <a:solidFill>
                  <a:srgbClr val="1B355E"/>
                </a:solidFill>
                <a:latin typeface="Abadi"/>
              </a:rPr>
              <a:t>≈ 145,000 infants</a:t>
            </a:r>
          </a:p>
          <a:p>
            <a:pPr algn="l">
              <a:spcAft>
                <a:spcPts val="900"/>
              </a:spcAft>
            </a:pPr>
            <a:r>
              <a:rPr sz="1000" b="0" i="0">
                <a:solidFill>
                  <a:srgbClr val="555555"/>
                </a:solidFill>
                <a:latin typeface="Abadi"/>
              </a:rPr>
              <a:t>Received about 404,000 PPI prescriptions in the USA in 2009.</a:t>
            </a:r>
          </a:p>
          <a:p>
            <a:pPr algn="l"/>
            <a:r>
              <a:rPr sz="1700" b="1" i="0">
                <a:solidFill>
                  <a:srgbClr val="1B355E"/>
                </a:solidFill>
                <a:latin typeface="Abadi"/>
              </a:rPr>
              <a:t>36.5% → 18.7%</a:t>
            </a:r>
          </a:p>
          <a:p>
            <a:pPr algn="l">
              <a:spcAft>
                <a:spcPts val="900"/>
              </a:spcAft>
            </a:pPr>
            <a:r>
              <a:rPr sz="1000" b="0" i="0">
                <a:solidFill>
                  <a:srgbClr val="555555"/>
                </a:solidFill>
                <a:latin typeface="Abadi"/>
              </a:rPr>
              <a:t>Any reflux drug prescribed, 2014 versus 2023: the guideline is working.</a:t>
            </a:r>
          </a:p>
          <a:p>
            <a:pPr algn="l"/>
            <a:r>
              <a:rPr sz="1700" b="1" i="0">
                <a:solidFill>
                  <a:srgbClr val="1B355E"/>
                </a:solidFill>
                <a:latin typeface="Abadi"/>
              </a:rPr>
              <a:t>Still 1 in 14</a:t>
            </a:r>
          </a:p>
          <a:p>
            <a:pPr algn="l">
              <a:spcAft>
                <a:spcPts val="900"/>
              </a:spcAft>
            </a:pPr>
            <a:r>
              <a:rPr sz="1000" b="0" i="0">
                <a:solidFill>
                  <a:srgbClr val="555555"/>
                </a:solidFill>
                <a:latin typeface="Abadi"/>
              </a:rPr>
              <a:t>Infants with a reflux or feeding diagnosis on a PPI in 2023.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LANDMARK TRIAL</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54% VERSUS 54%</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Lansoprazole versus placebo for 4 weeks in 162 infants aged 1–12 months with persisting symptoms after ≥ 1 week of conservative care,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Orenstein SR, Hassall E, Furmaga-Jablonska W, et al. J Pediatr 2009;154:514–20</a:t>
            </a:r>
          </a:p>
        </p:txBody>
      </p:sp>
      <p:sp>
        <p:nvSpPr>
          <p:cNvPr id="12" name="TextBox 11"/>
          <p:cNvSpPr txBox="1"/>
          <p:nvPr/>
        </p:nvSpPr>
        <p:spPr>
          <a:xfrm>
            <a:off x="640080" y="1810512"/>
            <a:ext cx="2560320" cy="228600"/>
          </a:xfrm>
          <a:prstGeom prst="rect">
            <a:avLst/>
          </a:prstGeom>
          <a:noFill/>
        </p:spPr>
        <p:txBody>
          <a:bodyPr wrap="square" lIns="45720" rIns="45720" tIns="27432" bIns="27432" anchor="t">
            <a:spAutoFit/>
          </a:bodyPr>
          <a:lstStyle/>
          <a:p>
            <a:pPr algn="l"/>
            <a:r>
              <a:rPr sz="1000" b="0" i="1">
                <a:solidFill>
                  <a:srgbClr val="7F7F7F"/>
                </a:solidFill>
                <a:latin typeface="Abadi"/>
              </a:rPr>
              <a:t>Per cent of infants</a:t>
            </a:r>
          </a:p>
        </p:txBody>
      </p:sp>
      <p:sp>
        <p:nvSpPr>
          <p:cNvPr id="13" name="Rectangle 12"/>
          <p:cNvSpPr/>
          <p:nvPr/>
        </p:nvSpPr>
        <p:spPr>
          <a:xfrm>
            <a:off x="640080" y="5084064"/>
            <a:ext cx="6766560"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93825" y="3059582"/>
            <a:ext cx="620268" cy="2024481"/>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785262"/>
            <a:ext cx="1127760" cy="237744"/>
          </a:xfrm>
          <a:prstGeom prst="rect">
            <a:avLst/>
          </a:prstGeom>
          <a:noFill/>
        </p:spPr>
        <p:txBody>
          <a:bodyPr wrap="square" lIns="45720" rIns="45720" tIns="27432" bIns="27432" anchor="t">
            <a:spAutoFit/>
          </a:bodyPr>
          <a:lstStyle/>
          <a:p>
            <a:pPr algn="ctr"/>
            <a:r>
              <a:rPr sz="1100" b="1" i="0">
                <a:solidFill>
                  <a:srgbClr val="1A1A1A"/>
                </a:solidFill>
                <a:latin typeface="Abadi"/>
              </a:rPr>
              <a:t>54</a:t>
            </a:r>
          </a:p>
        </p:txBody>
      </p:sp>
      <p:sp>
        <p:nvSpPr>
          <p:cNvPr id="16" name="TextBox 15"/>
          <p:cNvSpPr txBox="1"/>
          <p:nvPr/>
        </p:nvSpPr>
        <p:spPr>
          <a:xfrm>
            <a:off x="658368" y="5138927"/>
            <a:ext cx="1091184" cy="566928"/>
          </a:xfrm>
          <a:prstGeom prst="rect">
            <a:avLst/>
          </a:prstGeom>
          <a:noFill/>
        </p:spPr>
        <p:txBody>
          <a:bodyPr wrap="square" lIns="45720" rIns="45720" tIns="27432" bIns="27432" anchor="t">
            <a:spAutoFit/>
          </a:bodyPr>
          <a:lstStyle/>
          <a:p>
            <a:pPr algn="ctr"/>
            <a:r>
              <a:rPr sz="950" b="0" i="0">
                <a:solidFill>
                  <a:srgbClr val="555555"/>
                </a:solidFill>
                <a:latin typeface="Abadi"/>
              </a:rPr>
              <a:t>Responders, lansoprazole</a:t>
            </a:r>
          </a:p>
        </p:txBody>
      </p:sp>
      <p:sp>
        <p:nvSpPr>
          <p:cNvPr id="17" name="Rectangle 16"/>
          <p:cNvSpPr/>
          <p:nvPr/>
        </p:nvSpPr>
        <p:spPr>
          <a:xfrm>
            <a:off x="2021585" y="3059582"/>
            <a:ext cx="620268" cy="2024481"/>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67839" y="2785262"/>
            <a:ext cx="1127760" cy="237744"/>
          </a:xfrm>
          <a:prstGeom prst="rect">
            <a:avLst/>
          </a:prstGeom>
          <a:noFill/>
        </p:spPr>
        <p:txBody>
          <a:bodyPr wrap="square" lIns="45720" rIns="45720" tIns="27432" bIns="27432" anchor="t">
            <a:spAutoFit/>
          </a:bodyPr>
          <a:lstStyle/>
          <a:p>
            <a:pPr algn="ctr"/>
            <a:r>
              <a:rPr sz="1100" b="1" i="0">
                <a:solidFill>
                  <a:srgbClr val="1A1A1A"/>
                </a:solidFill>
                <a:latin typeface="Abadi"/>
              </a:rPr>
              <a:t>54</a:t>
            </a:r>
          </a:p>
        </p:txBody>
      </p:sp>
      <p:sp>
        <p:nvSpPr>
          <p:cNvPr id="19" name="TextBox 18"/>
          <p:cNvSpPr txBox="1"/>
          <p:nvPr/>
        </p:nvSpPr>
        <p:spPr>
          <a:xfrm>
            <a:off x="1786127" y="5138927"/>
            <a:ext cx="1091184" cy="566928"/>
          </a:xfrm>
          <a:prstGeom prst="rect">
            <a:avLst/>
          </a:prstGeom>
          <a:noFill/>
        </p:spPr>
        <p:txBody>
          <a:bodyPr wrap="square" lIns="45720" rIns="45720" tIns="27432" bIns="27432" anchor="t">
            <a:spAutoFit/>
          </a:bodyPr>
          <a:lstStyle/>
          <a:p>
            <a:pPr algn="ctr"/>
            <a:r>
              <a:rPr sz="950" b="0" i="0">
                <a:solidFill>
                  <a:srgbClr val="555555"/>
                </a:solidFill>
                <a:latin typeface="Abadi"/>
              </a:rPr>
              <a:t>Responders, placebo</a:t>
            </a:r>
          </a:p>
        </p:txBody>
      </p:sp>
      <p:sp>
        <p:nvSpPr>
          <p:cNvPr id="20" name="Rectangle 19"/>
          <p:cNvSpPr/>
          <p:nvPr/>
        </p:nvSpPr>
        <p:spPr>
          <a:xfrm>
            <a:off x="3149346" y="2759659"/>
            <a:ext cx="620268" cy="232440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95600" y="2485339"/>
            <a:ext cx="1127760" cy="237744"/>
          </a:xfrm>
          <a:prstGeom prst="rect">
            <a:avLst/>
          </a:prstGeom>
          <a:noFill/>
        </p:spPr>
        <p:txBody>
          <a:bodyPr wrap="square" lIns="45720" rIns="45720" tIns="27432" bIns="27432" anchor="t">
            <a:spAutoFit/>
          </a:bodyPr>
          <a:lstStyle/>
          <a:p>
            <a:pPr algn="ctr"/>
            <a:r>
              <a:rPr sz="1100" b="1" i="0">
                <a:solidFill>
                  <a:srgbClr val="1A1A1A"/>
                </a:solidFill>
                <a:latin typeface="Abadi"/>
              </a:rPr>
              <a:t>62</a:t>
            </a:r>
          </a:p>
        </p:txBody>
      </p:sp>
      <p:sp>
        <p:nvSpPr>
          <p:cNvPr id="22" name="TextBox 21"/>
          <p:cNvSpPr txBox="1"/>
          <p:nvPr/>
        </p:nvSpPr>
        <p:spPr>
          <a:xfrm>
            <a:off x="2913888" y="5138927"/>
            <a:ext cx="1091184" cy="566928"/>
          </a:xfrm>
          <a:prstGeom prst="rect">
            <a:avLst/>
          </a:prstGeom>
          <a:noFill/>
        </p:spPr>
        <p:txBody>
          <a:bodyPr wrap="square" lIns="45720" rIns="45720" tIns="27432" bIns="27432" anchor="t">
            <a:spAutoFit/>
          </a:bodyPr>
          <a:lstStyle/>
          <a:p>
            <a:pPr algn="ctr"/>
            <a:r>
              <a:rPr sz="950" b="0" i="0">
                <a:solidFill>
                  <a:srgbClr val="555555"/>
                </a:solidFill>
                <a:latin typeface="Abadi"/>
              </a:rPr>
              <a:t>Any adverse event, lansoprazole</a:t>
            </a:r>
          </a:p>
        </p:txBody>
      </p:sp>
      <p:sp>
        <p:nvSpPr>
          <p:cNvPr id="23" name="Rectangle 22"/>
          <p:cNvSpPr/>
          <p:nvPr/>
        </p:nvSpPr>
        <p:spPr>
          <a:xfrm>
            <a:off x="4277106" y="3359505"/>
            <a:ext cx="620268" cy="172455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23360" y="3085185"/>
            <a:ext cx="1127760" cy="237744"/>
          </a:xfrm>
          <a:prstGeom prst="rect">
            <a:avLst/>
          </a:prstGeom>
          <a:noFill/>
        </p:spPr>
        <p:txBody>
          <a:bodyPr wrap="square" lIns="45720" rIns="45720" tIns="27432" bIns="27432" anchor="t">
            <a:spAutoFit/>
          </a:bodyPr>
          <a:lstStyle/>
          <a:p>
            <a:pPr algn="ctr"/>
            <a:r>
              <a:rPr sz="1100" b="1" i="0">
                <a:solidFill>
                  <a:srgbClr val="1A1A1A"/>
                </a:solidFill>
                <a:latin typeface="Abadi"/>
              </a:rPr>
              <a:t>46</a:t>
            </a:r>
          </a:p>
        </p:txBody>
      </p:sp>
      <p:sp>
        <p:nvSpPr>
          <p:cNvPr id="25" name="TextBox 24"/>
          <p:cNvSpPr txBox="1"/>
          <p:nvPr/>
        </p:nvSpPr>
        <p:spPr>
          <a:xfrm>
            <a:off x="4041648" y="5138927"/>
            <a:ext cx="1091184" cy="566928"/>
          </a:xfrm>
          <a:prstGeom prst="rect">
            <a:avLst/>
          </a:prstGeom>
          <a:noFill/>
        </p:spPr>
        <p:txBody>
          <a:bodyPr wrap="square" lIns="45720" rIns="45720" tIns="27432" bIns="27432" anchor="t">
            <a:spAutoFit/>
          </a:bodyPr>
          <a:lstStyle/>
          <a:p>
            <a:pPr algn="ctr"/>
            <a:r>
              <a:rPr sz="950" b="0" i="0">
                <a:solidFill>
                  <a:srgbClr val="555555"/>
                </a:solidFill>
                <a:latin typeface="Abadi"/>
              </a:rPr>
              <a:t>Any adverse event, placebo</a:t>
            </a:r>
          </a:p>
        </p:txBody>
      </p:sp>
      <p:sp>
        <p:nvSpPr>
          <p:cNvPr id="26" name="Rectangle 25"/>
          <p:cNvSpPr/>
          <p:nvPr/>
        </p:nvSpPr>
        <p:spPr>
          <a:xfrm>
            <a:off x="5404866" y="4622932"/>
            <a:ext cx="620268" cy="461131"/>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51120" y="4348612"/>
            <a:ext cx="1127760" cy="237744"/>
          </a:xfrm>
          <a:prstGeom prst="rect">
            <a:avLst/>
          </a:prstGeom>
          <a:noFill/>
        </p:spPr>
        <p:txBody>
          <a:bodyPr wrap="square" lIns="45720" rIns="45720" tIns="27432" bIns="27432" anchor="t">
            <a:spAutoFit/>
          </a:bodyPr>
          <a:lstStyle/>
          <a:p>
            <a:pPr algn="ctr"/>
            <a:r>
              <a:rPr sz="1100" b="1" i="0">
                <a:solidFill>
                  <a:srgbClr val="1A1A1A"/>
                </a:solidFill>
                <a:latin typeface="Abadi"/>
              </a:rPr>
              <a:t>12.3</a:t>
            </a:r>
          </a:p>
        </p:txBody>
      </p:sp>
      <p:sp>
        <p:nvSpPr>
          <p:cNvPr id="28" name="TextBox 27"/>
          <p:cNvSpPr txBox="1"/>
          <p:nvPr/>
        </p:nvSpPr>
        <p:spPr>
          <a:xfrm>
            <a:off x="5169407" y="5138927"/>
            <a:ext cx="1091184" cy="566928"/>
          </a:xfrm>
          <a:prstGeom prst="rect">
            <a:avLst/>
          </a:prstGeom>
          <a:noFill/>
        </p:spPr>
        <p:txBody>
          <a:bodyPr wrap="square" lIns="45720" rIns="45720" tIns="27432" bIns="27432" anchor="t">
            <a:spAutoFit/>
          </a:bodyPr>
          <a:lstStyle/>
          <a:p>
            <a:pPr algn="ctr"/>
            <a:r>
              <a:rPr sz="950" b="0" i="0">
                <a:solidFill>
                  <a:srgbClr val="555555"/>
                </a:solidFill>
                <a:latin typeface="Abadi"/>
              </a:rPr>
              <a:t>Serious event, lansoprazole</a:t>
            </a:r>
          </a:p>
        </p:txBody>
      </p:sp>
      <p:sp>
        <p:nvSpPr>
          <p:cNvPr id="29" name="Rectangle 28"/>
          <p:cNvSpPr/>
          <p:nvPr/>
        </p:nvSpPr>
        <p:spPr>
          <a:xfrm>
            <a:off x="6532626" y="4990338"/>
            <a:ext cx="620268" cy="93725"/>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78880" y="4716018"/>
            <a:ext cx="1127760" cy="237744"/>
          </a:xfrm>
          <a:prstGeom prst="rect">
            <a:avLst/>
          </a:prstGeom>
          <a:noFill/>
        </p:spPr>
        <p:txBody>
          <a:bodyPr wrap="square" lIns="45720" rIns="45720" tIns="27432" bIns="27432" anchor="t">
            <a:spAutoFit/>
          </a:bodyPr>
          <a:lstStyle/>
          <a:p>
            <a:pPr algn="ctr"/>
            <a:r>
              <a:rPr sz="1100" b="1" i="0">
                <a:solidFill>
                  <a:srgbClr val="1A1A1A"/>
                </a:solidFill>
                <a:latin typeface="Abadi"/>
              </a:rPr>
              <a:t>2.5</a:t>
            </a:r>
          </a:p>
        </p:txBody>
      </p:sp>
      <p:sp>
        <p:nvSpPr>
          <p:cNvPr id="31" name="TextBox 30"/>
          <p:cNvSpPr txBox="1"/>
          <p:nvPr/>
        </p:nvSpPr>
        <p:spPr>
          <a:xfrm>
            <a:off x="6297168" y="5138927"/>
            <a:ext cx="1091184" cy="566928"/>
          </a:xfrm>
          <a:prstGeom prst="rect">
            <a:avLst/>
          </a:prstGeom>
          <a:noFill/>
        </p:spPr>
        <p:txBody>
          <a:bodyPr wrap="square" lIns="45720" rIns="45720" tIns="27432" bIns="27432" anchor="t">
            <a:spAutoFit/>
          </a:bodyPr>
          <a:lstStyle/>
          <a:p>
            <a:pPr algn="ctr"/>
            <a:r>
              <a:rPr sz="950" b="0" i="0">
                <a:solidFill>
                  <a:srgbClr val="555555"/>
                </a:solidFill>
                <a:latin typeface="Abadi"/>
              </a:rPr>
              <a:t>Serious event, placebo</a:t>
            </a:r>
          </a:p>
        </p:txBody>
      </p:sp>
      <p:sp>
        <p:nvSpPr>
          <p:cNvPr id="32" name="TextBox 31"/>
          <p:cNvSpPr txBox="1"/>
          <p:nvPr/>
        </p:nvSpPr>
        <p:spPr>
          <a:xfrm>
            <a:off x="7635240" y="1773936"/>
            <a:ext cx="3995928" cy="4023360"/>
          </a:xfrm>
          <a:prstGeom prst="rect">
            <a:avLst/>
          </a:prstGeom>
          <a:noFill/>
        </p:spPr>
        <p:txBody>
          <a:bodyPr wrap="square" lIns="45720" rIns="45720" tIns="27432" bIns="27432" anchor="t">
            <a:spAutoFit/>
          </a:bodyPr>
          <a:lstStyle/>
          <a:p>
            <a:pPr algn="l"/>
            <a:r>
              <a:rPr sz="1700" b="1" i="0">
                <a:solidFill>
                  <a:srgbClr val="1B355E"/>
                </a:solidFill>
                <a:latin typeface="Abadi"/>
              </a:rPr>
              <a:t>44 of 81 vs 44 of 81</a:t>
            </a:r>
          </a:p>
          <a:p>
            <a:pPr algn="l">
              <a:spcAft>
                <a:spcPts val="900"/>
              </a:spcAft>
            </a:pPr>
            <a:r>
              <a:rPr sz="1000" b="0" i="0">
                <a:solidFill>
                  <a:srgbClr val="555555"/>
                </a:solidFill>
                <a:latin typeface="Abadi"/>
              </a:rPr>
              <a:t>Infants with ≥ 50% less feeding-related crying: identical in both arms.</a:t>
            </a:r>
          </a:p>
          <a:p>
            <a:pPr algn="l"/>
            <a:r>
              <a:rPr sz="1700" b="1" i="0">
                <a:solidFill>
                  <a:srgbClr val="1B355E"/>
                </a:solidFill>
                <a:latin typeface="Abadi"/>
              </a:rPr>
              <a:t>10 vs 2</a:t>
            </a:r>
          </a:p>
          <a:p>
            <a:pPr algn="l">
              <a:spcAft>
                <a:spcPts val="900"/>
              </a:spcAft>
            </a:pPr>
            <a:r>
              <a:rPr sz="1000" b="0" i="0">
                <a:solidFill>
                  <a:srgbClr val="555555"/>
                </a:solidFill>
                <a:latin typeface="Abadi"/>
              </a:rPr>
              <a:t>Serious adverse events, mostly lower respiratory infections (P = .032).</a:t>
            </a:r>
          </a:p>
          <a:p>
            <a:pPr algn="l"/>
            <a:r>
              <a:rPr sz="1700" b="1" i="0">
                <a:solidFill>
                  <a:srgbClr val="1B355E"/>
                </a:solidFill>
                <a:latin typeface="Abadi"/>
              </a:rPr>
              <a:t>NNH ≈ 10</a:t>
            </a:r>
          </a:p>
          <a:p>
            <a:pPr algn="l">
              <a:spcAft>
                <a:spcPts val="900"/>
              </a:spcAft>
            </a:pPr>
            <a:r>
              <a:rPr sz="1000" b="0" i="0">
                <a:solidFill>
                  <a:srgbClr val="555555"/>
                </a:solidFill>
                <a:latin typeface="Abadi"/>
              </a:rPr>
              <a:t>One serious event for every ten infants treated for four weeks.</a:t>
            </a:r>
          </a:p>
          <a:p>
            <a:pPr algn="l"/>
            <a:r>
              <a:rPr sz="1700" b="1" i="0">
                <a:solidFill>
                  <a:srgbClr val="1B355E"/>
                </a:solidFill>
                <a:latin typeface="Abadi"/>
              </a:rPr>
              <a:t>No secondary win</a:t>
            </a:r>
          </a:p>
          <a:p>
            <a:pPr algn="l">
              <a:spcAft>
                <a:spcPts val="900"/>
              </a:spcAft>
            </a:pPr>
            <a:r>
              <a:rPr sz="1000" b="0" i="0">
                <a:solidFill>
                  <a:srgbClr val="555555"/>
                </a:solidFill>
                <a:latin typeface="Abadi"/>
              </a:rPr>
              <a:t>Regurgitation, arching, feed refusal and global scores all equal.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ACID VERSUS BEHAVIOUR</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THE PROBE IMPROVED, THE BABY DID NOT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Omeprazole versus placebo, 2-week crossover, 30 irritable infants aged 3–12 months with proven reflux disease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Moore DJ, et al. J Pediatr 2003;143:219–23 · Gieruszczak-Białek D, et al. J Pediatr 2015;166:767–70</a:t>
            </a:r>
          </a:p>
        </p:txBody>
      </p:sp>
      <p:sp>
        <p:nvSpPr>
          <p:cNvPr id="12" name="Rectangle 11"/>
          <p:cNvSpPr/>
          <p:nvPr/>
        </p:nvSpPr>
        <p:spPr>
          <a:xfrm>
            <a:off x="548640" y="1773936"/>
            <a:ext cx="2578608" cy="1874519"/>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78608"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73936"/>
            <a:ext cx="2395727" cy="292608"/>
          </a:xfrm>
          <a:prstGeom prst="rect">
            <a:avLst/>
          </a:prstGeom>
          <a:noFill/>
        </p:spPr>
        <p:txBody>
          <a:bodyPr wrap="square" lIns="45720" rIns="45720" tIns="27432" bIns="27432" anchor="ctr">
            <a:spAutoFit/>
          </a:bodyPr>
          <a:lstStyle/>
          <a:p>
            <a:pPr algn="l"/>
            <a:r>
              <a:rPr sz="1150" b="1" i="0">
                <a:solidFill>
                  <a:srgbClr val="FFFFFF"/>
                </a:solidFill>
                <a:latin typeface="Abadi"/>
              </a:rPr>
              <a:t>Selected for acid</a:t>
            </a:r>
          </a:p>
        </p:txBody>
      </p:sp>
      <p:sp>
        <p:nvSpPr>
          <p:cNvPr id="15" name="TextBox 14"/>
          <p:cNvSpPr txBox="1"/>
          <p:nvPr/>
        </p:nvSpPr>
        <p:spPr>
          <a:xfrm>
            <a:off x="658368" y="2157984"/>
            <a:ext cx="2359152" cy="1417319"/>
          </a:xfrm>
          <a:prstGeom prst="rect">
            <a:avLst/>
          </a:prstGeom>
          <a:noFill/>
        </p:spPr>
        <p:txBody>
          <a:bodyPr wrap="square" lIns="45720" rIns="45720" tIns="27432" bIns="27432" anchor="t">
            <a:spAutoFit/>
          </a:bodyPr>
          <a:lstStyle/>
          <a:p>
            <a:pPr algn="l"/>
            <a:r>
              <a:rPr sz="1050" b="0" i="0">
                <a:solidFill>
                  <a:srgbClr val="1A1A1A"/>
                </a:solidFill>
                <a:latin typeface="Abadi"/>
              </a:rPr>
              <a:t>Every infant had abnormal pH monitoring or oesophagitis on biopsy: the best case for a PPI.</a:t>
            </a:r>
          </a:p>
        </p:txBody>
      </p:sp>
      <p:sp>
        <p:nvSpPr>
          <p:cNvPr id="16" name="Isosceles Triangle 15"/>
          <p:cNvSpPr/>
          <p:nvPr/>
        </p:nvSpPr>
        <p:spPr>
          <a:xfrm rot="5400000">
            <a:off x="3191256" y="262890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79" y="1773936"/>
            <a:ext cx="2578608" cy="1874519"/>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83279" y="1773936"/>
            <a:ext cx="2578608" cy="29260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1773936"/>
            <a:ext cx="2395727" cy="292608"/>
          </a:xfrm>
          <a:prstGeom prst="rect">
            <a:avLst/>
          </a:prstGeom>
          <a:noFill/>
        </p:spPr>
        <p:txBody>
          <a:bodyPr wrap="square" lIns="45720" rIns="45720" tIns="27432" bIns="27432" anchor="ctr">
            <a:spAutoFit/>
          </a:bodyPr>
          <a:lstStyle/>
          <a:p>
            <a:pPr algn="l"/>
            <a:r>
              <a:rPr sz="1150" b="1" i="0">
                <a:solidFill>
                  <a:srgbClr val="FFFFFF"/>
                </a:solidFill>
                <a:latin typeface="Abadi"/>
              </a:rPr>
              <a:t>Acid fell</a:t>
            </a:r>
          </a:p>
        </p:txBody>
      </p:sp>
      <p:sp>
        <p:nvSpPr>
          <p:cNvPr id="20" name="TextBox 19"/>
          <p:cNvSpPr txBox="1"/>
          <p:nvPr/>
        </p:nvSpPr>
        <p:spPr>
          <a:xfrm>
            <a:off x="3493008" y="2157984"/>
            <a:ext cx="2359152" cy="1417319"/>
          </a:xfrm>
          <a:prstGeom prst="rect">
            <a:avLst/>
          </a:prstGeom>
          <a:noFill/>
        </p:spPr>
        <p:txBody>
          <a:bodyPr wrap="square" lIns="45720" rIns="45720" tIns="27432" bIns="27432" anchor="t">
            <a:spAutoFit/>
          </a:bodyPr>
          <a:lstStyle/>
          <a:p>
            <a:pPr algn="l"/>
            <a:r>
              <a:rPr sz="1050" b="0" i="0">
                <a:solidFill>
                  <a:srgbClr val="1A1A1A"/>
                </a:solidFill>
                <a:latin typeface="Abadi"/>
              </a:rPr>
              <a:t>The oesophageal acid index fell significantly on omeprazole.</a:t>
            </a:r>
          </a:p>
        </p:txBody>
      </p:sp>
      <p:sp>
        <p:nvSpPr>
          <p:cNvPr id="21" name="Isosceles Triangle 20"/>
          <p:cNvSpPr/>
          <p:nvPr/>
        </p:nvSpPr>
        <p:spPr>
          <a:xfrm rot="5400000">
            <a:off x="6025895" y="262890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19" y="1773936"/>
            <a:ext cx="2578608" cy="1874519"/>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19" y="1773936"/>
            <a:ext cx="2578608" cy="29260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59" y="1773936"/>
            <a:ext cx="2395727" cy="292608"/>
          </a:xfrm>
          <a:prstGeom prst="rect">
            <a:avLst/>
          </a:prstGeom>
          <a:noFill/>
        </p:spPr>
        <p:txBody>
          <a:bodyPr wrap="square" lIns="45720" rIns="45720" tIns="27432" bIns="27432" anchor="ctr">
            <a:spAutoFit/>
          </a:bodyPr>
          <a:lstStyle/>
          <a:p>
            <a:pPr algn="l"/>
            <a:r>
              <a:rPr sz="1150" b="1" i="0">
                <a:solidFill>
                  <a:srgbClr val="FFFFFF"/>
                </a:solidFill>
                <a:latin typeface="Abadi"/>
              </a:rPr>
              <a:t>Crying did not</a:t>
            </a:r>
          </a:p>
        </p:txBody>
      </p:sp>
      <p:sp>
        <p:nvSpPr>
          <p:cNvPr id="25" name="TextBox 24"/>
          <p:cNvSpPr txBox="1"/>
          <p:nvPr/>
        </p:nvSpPr>
        <p:spPr>
          <a:xfrm>
            <a:off x="6327647" y="2157984"/>
            <a:ext cx="2359152" cy="1417319"/>
          </a:xfrm>
          <a:prstGeom prst="rect">
            <a:avLst/>
          </a:prstGeom>
          <a:noFill/>
        </p:spPr>
        <p:txBody>
          <a:bodyPr wrap="square" lIns="45720" rIns="45720" tIns="27432" bIns="27432" anchor="t">
            <a:spAutoFit/>
          </a:bodyPr>
          <a:lstStyle/>
          <a:p>
            <a:pPr algn="l"/>
            <a:r>
              <a:rPr sz="1050" b="0" i="0">
                <a:solidFill>
                  <a:srgbClr val="1A1A1A"/>
                </a:solidFill>
                <a:latin typeface="Abadi"/>
              </a:rPr>
              <a:t>Cry and fuss time and irritability scores were the same on drug and placebo.</a:t>
            </a:r>
          </a:p>
        </p:txBody>
      </p:sp>
      <p:sp>
        <p:nvSpPr>
          <p:cNvPr id="26" name="Isosceles Triangle 25"/>
          <p:cNvSpPr/>
          <p:nvPr/>
        </p:nvSpPr>
        <p:spPr>
          <a:xfrm rot="5400000">
            <a:off x="8860536" y="262890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52559" y="1773936"/>
            <a:ext cx="2578608" cy="1874519"/>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59" y="1773936"/>
            <a:ext cx="2578608"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3999" y="1773936"/>
            <a:ext cx="2395727" cy="292608"/>
          </a:xfrm>
          <a:prstGeom prst="rect">
            <a:avLst/>
          </a:prstGeom>
          <a:noFill/>
        </p:spPr>
        <p:txBody>
          <a:bodyPr wrap="square" lIns="45720" rIns="45720" tIns="27432" bIns="27432" anchor="ctr">
            <a:spAutoFit/>
          </a:bodyPr>
          <a:lstStyle/>
          <a:p>
            <a:pPr algn="l"/>
            <a:r>
              <a:rPr sz="1150" b="1" i="0">
                <a:solidFill>
                  <a:srgbClr val="FFFFFF"/>
                </a:solidFill>
                <a:latin typeface="Abadi"/>
              </a:rPr>
              <a:t>Both improved</a:t>
            </a:r>
          </a:p>
        </p:txBody>
      </p:sp>
      <p:sp>
        <p:nvSpPr>
          <p:cNvPr id="30" name="TextBox 29"/>
          <p:cNvSpPr txBox="1"/>
          <p:nvPr/>
        </p:nvSpPr>
        <p:spPr>
          <a:xfrm>
            <a:off x="9162287" y="2157984"/>
            <a:ext cx="2359152" cy="1417319"/>
          </a:xfrm>
          <a:prstGeom prst="rect">
            <a:avLst/>
          </a:prstGeom>
          <a:noFill/>
        </p:spPr>
        <p:txBody>
          <a:bodyPr wrap="square" lIns="45720" rIns="45720" tIns="27432" bIns="27432" anchor="t">
            <a:spAutoFit/>
          </a:bodyPr>
          <a:lstStyle/>
          <a:p>
            <a:pPr algn="l"/>
            <a:r>
              <a:rPr sz="1050" b="0" i="0">
                <a:solidFill>
                  <a:srgbClr val="1A1A1A"/>
                </a:solidFill>
                <a:latin typeface="Abadi"/>
              </a:rPr>
              <a:t>Crying fell in both periods: the natural history of infant crying.</a:t>
            </a:r>
          </a:p>
        </p:txBody>
      </p:sp>
      <p:sp>
        <p:nvSpPr>
          <p:cNvPr id="31" name="TextBox 30"/>
          <p:cNvSpPr txBox="1"/>
          <p:nvPr/>
        </p:nvSpPr>
        <p:spPr>
          <a:xfrm>
            <a:off x="548640" y="3886200"/>
            <a:ext cx="11082528" cy="1920240"/>
          </a:xfrm>
          <a:prstGeom prst="rect">
            <a:avLst/>
          </a:prstGeom>
          <a:noFill/>
        </p:spPr>
        <p:txBody>
          <a:bodyPr wrap="square" lIns="45720" rIns="45720" tIns="27432" bIns="27432" anchor="t">
            <a:spAutoFit/>
          </a:bodyPr>
          <a:lstStyle/>
          <a:p>
            <a:pPr algn="l">
              <a:spcAft>
                <a:spcPts val="600"/>
              </a:spcAft>
            </a:pPr>
            <a:r>
              <a:rPr sz="1300" b="1" i="0">
                <a:solidFill>
                  <a:srgbClr val="1B355E"/>
                </a:solidFill>
                <a:latin typeface="Abadi"/>
              </a:rPr>
              <a:t>The lesson.  </a:t>
            </a:r>
            <a:r>
              <a:rPr sz="1300" b="0" i="0">
                <a:solidFill>
                  <a:srgbClr val="1A1A1A"/>
                </a:solidFill>
                <a:latin typeface="Abadi"/>
              </a:rPr>
              <a:t>Even in infants with proven acid reflux, acid suppression corrected the measurement and not the symptom. If it fails here, it cannot succeed in the unselected crying infant.</a:t>
            </a:r>
          </a:p>
          <a:p>
            <a:pPr algn="l">
              <a:spcAft>
                <a:spcPts val="600"/>
              </a:spcAft>
            </a:pPr>
            <a:r>
              <a:rPr sz="1300" b="1" i="0">
                <a:solidFill>
                  <a:srgbClr val="B22222"/>
                </a:solidFill>
                <a:latin typeface="Abadi"/>
              </a:rPr>
              <a:t>The synthesis.  </a:t>
            </a:r>
            <a:r>
              <a:rPr sz="1300" b="0" i="0">
                <a:solidFill>
                  <a:srgbClr val="1A1A1A"/>
                </a:solidFill>
                <a:latin typeface="Abadi"/>
              </a:rPr>
              <a:t>A 2015 systematic review of randomised trials (Gieruszczak-Białek, Szajewska and colleagues) concluded that the data do not support PPIs to reduce infant crying and irritability.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WHOLE EVIDENCE BASE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EVERY INFANT TRIAL SAYS THE SAME</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Placebo-controlled and randomised-withdrawal trials of acid suppression in infants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Moore DJ, J Pediatr 2003 · Orenstein SR, J Pediatr 2009 · Winter 2010, Hussain 2014, Winter 2015 as summarised in CFPC Tools for Practice #340, 2023 · Chen IL, et al. JPGN 2012;54:8–14</a:t>
            </a:r>
          </a:p>
        </p:txBody>
      </p:sp>
      <p:graphicFrame>
        <p:nvGraphicFramePr>
          <p:cNvPr id="12" name="Table 11"/>
          <p:cNvGraphicFramePr>
            <a:graphicFrameLocks noGrp="1"/>
          </p:cNvGraphicFramePr>
          <p:nvPr/>
        </p:nvGraphicFramePr>
        <p:xfrm>
          <a:off x="548640" y="1773936"/>
          <a:ext cx="11082528" cy="3328416"/>
        </p:xfrm>
        <a:graphic>
          <a:graphicData uri="http://schemas.openxmlformats.org/drawingml/2006/table">
            <a:tbl>
              <a:tblPr firstRow="0" bandRow="0">
                <a:tableStyleId>{5C22544A-7EE6-4342-B048-85BDC9FD1C3A}</a:tableStyleId>
              </a:tblPr>
              <a:tblGrid>
                <a:gridCol w="2743200"/>
                <a:gridCol w="3200400"/>
                <a:gridCol w="2560320"/>
                <a:gridCol w="2578608"/>
              </a:tblGrid>
              <a:tr h="475488">
                <a:tc>
                  <a:txBody>
                    <a:bodyPr wrap="square"/>
                    <a:lstStyle/>
                    <a:p>
                      <a:pPr algn="l"/>
                      <a:r>
                        <a:rPr sz="1050" b="1">
                          <a:solidFill>
                            <a:srgbClr val="FFFFFF"/>
                          </a:solidFill>
                          <a:latin typeface="Abadi"/>
                        </a:rPr>
                        <a:t>Trial</a:t>
                      </a:r>
                    </a:p>
                  </a:txBody>
                  <a:tcPr marL="73152" marR="73152" marT="27432" marB="27432" anchor="ctr">
                    <a:solidFill>
                      <a:srgbClr val="1B355E"/>
                    </a:solidFill>
                  </a:tcPr>
                </a:tc>
                <a:tc>
                  <a:txBody>
                    <a:bodyPr wrap="square"/>
                    <a:lstStyle/>
                    <a:p>
                      <a:pPr algn="l"/>
                      <a:r>
                        <a:rPr sz="1050" b="1">
                          <a:solidFill>
                            <a:srgbClr val="FFFFFF"/>
                          </a:solidFill>
                          <a:latin typeface="Abadi"/>
                        </a:rPr>
                        <a:t>Design</a:t>
                      </a:r>
                    </a:p>
                  </a:txBody>
                  <a:tcPr marL="73152" marR="73152" marT="27432" marB="27432" anchor="ctr">
                    <a:solidFill>
                      <a:srgbClr val="1B355E"/>
                    </a:solidFill>
                  </a:tcPr>
                </a:tc>
                <a:tc>
                  <a:txBody>
                    <a:bodyPr wrap="square"/>
                    <a:lstStyle/>
                    <a:p>
                      <a:pPr algn="l"/>
                      <a:r>
                        <a:rPr sz="1050" b="1">
                          <a:solidFill>
                            <a:srgbClr val="FFFFFF"/>
                          </a:solidFill>
                          <a:latin typeface="Abadi"/>
                        </a:rPr>
                        <a:t>Infants</a:t>
                      </a:r>
                    </a:p>
                  </a:txBody>
                  <a:tcPr marL="73152" marR="73152" marT="27432" marB="27432" anchor="ctr">
                    <a:solidFill>
                      <a:srgbClr val="1B355E"/>
                    </a:solidFill>
                  </a:tcPr>
                </a:tc>
                <a:tc>
                  <a:txBody>
                    <a:bodyPr wrap="square"/>
                    <a:lstStyle/>
                    <a:p>
                      <a:pPr algn="l"/>
                      <a:r>
                        <a:rPr sz="1050" b="1">
                          <a:solidFill>
                            <a:srgbClr val="FFFFFF"/>
                          </a:solidFill>
                          <a:latin typeface="Abadi"/>
                        </a:rPr>
                        <a:t>Result</a:t>
                      </a:r>
                    </a:p>
                  </a:txBody>
                  <a:tcPr marL="73152" marR="73152" marT="27432" marB="27432" anchor="ctr">
                    <a:solidFill>
                      <a:srgbClr val="1B355E"/>
                    </a:solidFill>
                  </a:tcPr>
                </a:tc>
              </a:tr>
              <a:tr h="475488">
                <a:tc>
                  <a:txBody>
                    <a:bodyPr wrap="square"/>
                    <a:lstStyle/>
                    <a:p>
                      <a:pPr algn="l"/>
                      <a:r>
                        <a:rPr sz="1050" b="1">
                          <a:solidFill>
                            <a:srgbClr val="1A1A1A"/>
                          </a:solidFill>
                          <a:latin typeface="Abadi"/>
                        </a:rPr>
                        <a:t>Moore 2003, omeprazole</a:t>
                      </a:r>
                    </a:p>
                  </a:txBody>
                  <a:tcPr marL="73152" marR="73152" marT="27432" marB="27432" anchor="ctr">
                    <a:solidFill>
                      <a:srgbClr val="FFFFFF"/>
                    </a:solidFill>
                  </a:tcPr>
                </a:tc>
                <a:tc>
                  <a:txBody>
                    <a:bodyPr wrap="square"/>
                    <a:lstStyle/>
                    <a:p>
                      <a:pPr algn="l"/>
                      <a:r>
                        <a:rPr sz="1050" b="0">
                          <a:solidFill>
                            <a:srgbClr val="1A1A1A"/>
                          </a:solidFill>
                          <a:latin typeface="Abadi"/>
                        </a:rPr>
                        <a:t>Crossover, placebo</a:t>
                      </a:r>
                    </a:p>
                  </a:txBody>
                  <a:tcPr marL="73152" marR="73152" marT="27432" marB="27432" anchor="ctr">
                    <a:solidFill>
                      <a:srgbClr val="FFFFFF"/>
                    </a:solidFill>
                  </a:tcPr>
                </a:tc>
                <a:tc>
                  <a:txBody>
                    <a:bodyPr wrap="square"/>
                    <a:lstStyle/>
                    <a:p>
                      <a:pPr algn="l"/>
                      <a:r>
                        <a:rPr sz="1050" b="0">
                          <a:solidFill>
                            <a:srgbClr val="1A1A1A"/>
                          </a:solidFill>
                          <a:latin typeface="Abadi"/>
                        </a:rPr>
                        <a:t>30, 3–12 months, proven GERD</a:t>
                      </a:r>
                    </a:p>
                  </a:txBody>
                  <a:tcPr marL="73152" marR="73152" marT="27432" marB="27432" anchor="ctr">
                    <a:solidFill>
                      <a:srgbClr val="FFFFFF"/>
                    </a:solidFill>
                  </a:tcPr>
                </a:tc>
                <a:tc>
                  <a:txBody>
                    <a:bodyPr wrap="square"/>
                    <a:lstStyle/>
                    <a:p>
                      <a:pPr algn="l"/>
                      <a:r>
                        <a:rPr sz="1050" b="0">
                          <a:solidFill>
                            <a:srgbClr val="1A1A1A"/>
                          </a:solidFill>
                          <a:latin typeface="Abadi"/>
                        </a:rPr>
                        <a:t>Acid index fell; crying unchanged</a:t>
                      </a:r>
                    </a:p>
                  </a:txBody>
                  <a:tcPr marL="73152" marR="73152" marT="27432" marB="27432" anchor="ctr">
                    <a:solidFill>
                      <a:srgbClr val="FFFFFF"/>
                    </a:solidFill>
                  </a:tcPr>
                </a:tc>
              </a:tr>
              <a:tr h="475488">
                <a:tc>
                  <a:txBody>
                    <a:bodyPr wrap="square"/>
                    <a:lstStyle/>
                    <a:p>
                      <a:pPr algn="l"/>
                      <a:r>
                        <a:rPr sz="1050" b="1">
                          <a:solidFill>
                            <a:srgbClr val="1A1A1A"/>
                          </a:solidFill>
                          <a:latin typeface="Abadi"/>
                        </a:rPr>
                        <a:t>Orenstein 2009, lansoprazole</a:t>
                      </a:r>
                    </a:p>
                  </a:txBody>
                  <a:tcPr marL="73152" marR="73152" marT="27432" marB="27432" anchor="ctr">
                    <a:solidFill>
                      <a:srgbClr val="F2F2F2"/>
                    </a:solidFill>
                  </a:tcPr>
                </a:tc>
                <a:tc>
                  <a:txBody>
                    <a:bodyPr wrap="square"/>
                    <a:lstStyle/>
                    <a:p>
                      <a:pPr algn="l"/>
                      <a:r>
                        <a:rPr sz="1050" b="0">
                          <a:solidFill>
                            <a:srgbClr val="1A1A1A"/>
                          </a:solidFill>
                          <a:latin typeface="Abadi"/>
                        </a:rPr>
                        <a:t>Parallel, placebo, 4 weeks</a:t>
                      </a:r>
                    </a:p>
                  </a:txBody>
                  <a:tcPr marL="73152" marR="73152" marT="27432" marB="27432" anchor="ctr">
                    <a:solidFill>
                      <a:srgbClr val="F2F2F2"/>
                    </a:solidFill>
                  </a:tcPr>
                </a:tc>
                <a:tc>
                  <a:txBody>
                    <a:bodyPr wrap="square"/>
                    <a:lstStyle/>
                    <a:p>
                      <a:pPr algn="l"/>
                      <a:r>
                        <a:rPr sz="1050" b="0">
                          <a:solidFill>
                            <a:srgbClr val="1A1A1A"/>
                          </a:solidFill>
                          <a:latin typeface="Abadi"/>
                        </a:rPr>
                        <a:t>162, 1–12 months</a:t>
                      </a:r>
                    </a:p>
                  </a:txBody>
                  <a:tcPr marL="73152" marR="73152" marT="27432" marB="27432" anchor="ctr">
                    <a:solidFill>
                      <a:srgbClr val="F2F2F2"/>
                    </a:solidFill>
                  </a:tcPr>
                </a:tc>
                <a:tc>
                  <a:txBody>
                    <a:bodyPr wrap="square"/>
                    <a:lstStyle/>
                    <a:p>
                      <a:pPr algn="l"/>
                      <a:r>
                        <a:rPr sz="1050" b="0">
                          <a:solidFill>
                            <a:srgbClr val="1A1A1A"/>
                          </a:solidFill>
                          <a:latin typeface="Abadi"/>
                        </a:rPr>
                        <a:t>54% vs 54% responders; serious events 10 vs 2</a:t>
                      </a:r>
                    </a:p>
                  </a:txBody>
                  <a:tcPr marL="73152" marR="73152" marT="27432" marB="27432" anchor="ctr">
                    <a:solidFill>
                      <a:srgbClr val="F2F2F2"/>
                    </a:solidFill>
                  </a:tcPr>
                </a:tc>
              </a:tr>
              <a:tr h="475488">
                <a:tc>
                  <a:txBody>
                    <a:bodyPr wrap="square"/>
                    <a:lstStyle/>
                    <a:p>
                      <a:pPr algn="l"/>
                      <a:r>
                        <a:rPr sz="1050" b="1">
                          <a:solidFill>
                            <a:srgbClr val="1A1A1A"/>
                          </a:solidFill>
                          <a:latin typeface="Abadi"/>
                        </a:rPr>
                        <a:t>Winter 2010, pantoprazole</a:t>
                      </a:r>
                    </a:p>
                  </a:txBody>
                  <a:tcPr marL="73152" marR="73152" marT="27432" marB="27432" anchor="ctr">
                    <a:solidFill>
                      <a:srgbClr val="FFFFFF"/>
                    </a:solidFill>
                  </a:tcPr>
                </a:tc>
                <a:tc>
                  <a:txBody>
                    <a:bodyPr wrap="square"/>
                    <a:lstStyle/>
                    <a:p>
                      <a:pPr algn="l"/>
                      <a:r>
                        <a:rPr sz="1050" b="0">
                          <a:solidFill>
                            <a:srgbClr val="1A1A1A"/>
                          </a:solidFill>
                          <a:latin typeface="Abadi"/>
                        </a:rPr>
                        <a:t>Open-label then randomised withdrawal</a:t>
                      </a:r>
                    </a:p>
                  </a:txBody>
                  <a:tcPr marL="73152" marR="73152" marT="27432" marB="27432" anchor="ctr">
                    <a:solidFill>
                      <a:srgbClr val="FFFFFF"/>
                    </a:solidFill>
                  </a:tcPr>
                </a:tc>
                <a:tc>
                  <a:txBody>
                    <a:bodyPr wrap="square"/>
                    <a:lstStyle/>
                    <a:p>
                      <a:pPr algn="l"/>
                      <a:r>
                        <a:rPr sz="1050" b="0">
                          <a:solidFill>
                            <a:srgbClr val="1A1A1A"/>
                          </a:solidFill>
                          <a:latin typeface="Abadi"/>
                        </a:rPr>
                        <a:t>1–11 months</a:t>
                      </a:r>
                    </a:p>
                  </a:txBody>
                  <a:tcPr marL="73152" marR="73152" marT="27432" marB="27432" anchor="ctr">
                    <a:solidFill>
                      <a:srgbClr val="FFFFFF"/>
                    </a:solidFill>
                  </a:tcPr>
                </a:tc>
                <a:tc>
                  <a:txBody>
                    <a:bodyPr wrap="square"/>
                    <a:lstStyle/>
                    <a:p>
                      <a:pPr algn="l"/>
                      <a:r>
                        <a:rPr sz="1050" b="0">
                          <a:solidFill>
                            <a:srgbClr val="1A1A1A"/>
                          </a:solidFill>
                          <a:latin typeface="Abadi"/>
                        </a:rPr>
                        <a:t>No difference after withdrawal</a:t>
                      </a:r>
                    </a:p>
                  </a:txBody>
                  <a:tcPr marL="73152" marR="73152" marT="27432" marB="27432" anchor="ctr">
                    <a:solidFill>
                      <a:srgbClr val="FFFFFF"/>
                    </a:solidFill>
                  </a:tcPr>
                </a:tc>
              </a:tr>
              <a:tr h="475488">
                <a:tc>
                  <a:txBody>
                    <a:bodyPr wrap="square"/>
                    <a:lstStyle/>
                    <a:p>
                      <a:pPr algn="l"/>
                      <a:r>
                        <a:rPr sz="1050" b="1">
                          <a:solidFill>
                            <a:srgbClr val="1A1A1A"/>
                          </a:solidFill>
                          <a:latin typeface="Abadi"/>
                        </a:rPr>
                        <a:t>Hussain 2014, rabeprazole</a:t>
                      </a:r>
                    </a:p>
                  </a:txBody>
                  <a:tcPr marL="73152" marR="73152" marT="27432" marB="27432" anchor="ctr">
                    <a:solidFill>
                      <a:srgbClr val="F2F2F2"/>
                    </a:solidFill>
                  </a:tcPr>
                </a:tc>
                <a:tc>
                  <a:txBody>
                    <a:bodyPr wrap="square"/>
                    <a:lstStyle/>
                    <a:p>
                      <a:pPr algn="l"/>
                      <a:r>
                        <a:rPr sz="1050" b="0">
                          <a:solidFill>
                            <a:srgbClr val="1A1A1A"/>
                          </a:solidFill>
                          <a:latin typeface="Abadi"/>
                        </a:rPr>
                        <a:t>Open-label then randomised withdrawal</a:t>
                      </a:r>
                    </a:p>
                  </a:txBody>
                  <a:tcPr marL="73152" marR="73152" marT="27432" marB="27432" anchor="ctr">
                    <a:solidFill>
                      <a:srgbClr val="F2F2F2"/>
                    </a:solidFill>
                  </a:tcPr>
                </a:tc>
                <a:tc>
                  <a:txBody>
                    <a:bodyPr wrap="square"/>
                    <a:lstStyle/>
                    <a:p>
                      <a:pPr algn="l"/>
                      <a:r>
                        <a:rPr sz="1050" b="0">
                          <a:solidFill>
                            <a:srgbClr val="1A1A1A"/>
                          </a:solidFill>
                          <a:latin typeface="Abadi"/>
                        </a:rPr>
                        <a:t>1–11 months</a:t>
                      </a:r>
                    </a:p>
                  </a:txBody>
                  <a:tcPr marL="73152" marR="73152" marT="27432" marB="27432" anchor="ctr">
                    <a:solidFill>
                      <a:srgbClr val="F2F2F2"/>
                    </a:solidFill>
                  </a:tcPr>
                </a:tc>
                <a:tc>
                  <a:txBody>
                    <a:bodyPr wrap="square"/>
                    <a:lstStyle/>
                    <a:p>
                      <a:pPr algn="l"/>
                      <a:r>
                        <a:rPr sz="1050" b="0">
                          <a:solidFill>
                            <a:srgbClr val="1A1A1A"/>
                          </a:solidFill>
                          <a:latin typeface="Abadi"/>
                        </a:rPr>
                        <a:t>No difference in symptoms or weight</a:t>
                      </a:r>
                    </a:p>
                  </a:txBody>
                  <a:tcPr marL="73152" marR="73152" marT="27432" marB="27432" anchor="ctr">
                    <a:solidFill>
                      <a:srgbClr val="F2F2F2"/>
                    </a:solidFill>
                  </a:tcPr>
                </a:tc>
              </a:tr>
              <a:tr h="475488">
                <a:tc>
                  <a:txBody>
                    <a:bodyPr wrap="square"/>
                    <a:lstStyle/>
                    <a:p>
                      <a:pPr algn="l"/>
                      <a:r>
                        <a:rPr sz="1050" b="1">
                          <a:solidFill>
                            <a:srgbClr val="1A1A1A"/>
                          </a:solidFill>
                          <a:latin typeface="Abadi"/>
                        </a:rPr>
                        <a:t>Winter 2015, esomeprazole</a:t>
                      </a:r>
                    </a:p>
                  </a:txBody>
                  <a:tcPr marL="73152" marR="73152" marT="27432" marB="27432" anchor="ctr">
                    <a:solidFill>
                      <a:srgbClr val="FFFFFF"/>
                    </a:solidFill>
                  </a:tcPr>
                </a:tc>
                <a:tc>
                  <a:txBody>
                    <a:bodyPr wrap="square"/>
                    <a:lstStyle/>
                    <a:p>
                      <a:pPr algn="l"/>
                      <a:r>
                        <a:rPr sz="1050" b="0">
                          <a:solidFill>
                            <a:srgbClr val="1A1A1A"/>
                          </a:solidFill>
                          <a:latin typeface="Abadi"/>
                        </a:rPr>
                        <a:t>Open-label then randomised withdrawal</a:t>
                      </a:r>
                    </a:p>
                  </a:txBody>
                  <a:tcPr marL="73152" marR="73152" marT="27432" marB="27432" anchor="ctr">
                    <a:solidFill>
                      <a:srgbClr val="FFFFFF"/>
                    </a:solidFill>
                  </a:tcPr>
                </a:tc>
                <a:tc>
                  <a:txBody>
                    <a:bodyPr wrap="square"/>
                    <a:lstStyle/>
                    <a:p>
                      <a:pPr algn="l"/>
                      <a:r>
                        <a:rPr sz="1050" b="0">
                          <a:solidFill>
                            <a:srgbClr val="1A1A1A"/>
                          </a:solidFill>
                          <a:latin typeface="Abadi"/>
                        </a:rPr>
                        <a:t>1–11 months</a:t>
                      </a:r>
                    </a:p>
                  </a:txBody>
                  <a:tcPr marL="73152" marR="73152" marT="27432" marB="27432" anchor="ctr">
                    <a:solidFill>
                      <a:srgbClr val="FFFFFF"/>
                    </a:solidFill>
                  </a:tcPr>
                </a:tc>
                <a:tc>
                  <a:txBody>
                    <a:bodyPr wrap="square"/>
                    <a:lstStyle/>
                    <a:p>
                      <a:pPr algn="l"/>
                      <a:r>
                        <a:rPr sz="1050" b="0">
                          <a:solidFill>
                            <a:srgbClr val="1A1A1A"/>
                          </a:solidFill>
                          <a:latin typeface="Abadi"/>
                        </a:rPr>
                        <a:t>No difference in symptom outcomes</a:t>
                      </a:r>
                    </a:p>
                  </a:txBody>
                  <a:tcPr marL="73152" marR="73152" marT="27432" marB="27432" anchor="ctr">
                    <a:solidFill>
                      <a:srgbClr val="FFFFFF"/>
                    </a:solidFill>
                  </a:tcPr>
                </a:tc>
              </a:tr>
              <a:tr h="475488">
                <a:tc>
                  <a:txBody>
                    <a:bodyPr wrap="square"/>
                    <a:lstStyle/>
                    <a:p>
                      <a:pPr algn="l"/>
                      <a:r>
                        <a:rPr sz="1050" b="1">
                          <a:solidFill>
                            <a:srgbClr val="1A1A1A"/>
                          </a:solidFill>
                          <a:latin typeface="Abadi"/>
                        </a:rPr>
                        <a:t>FDA review, Chen 2012</a:t>
                      </a:r>
                    </a:p>
                  </a:txBody>
                  <a:tcPr marL="73152" marR="73152" marT="27432" marB="27432" anchor="ctr">
                    <a:solidFill>
                      <a:srgbClr val="F2F2F2"/>
                    </a:solidFill>
                  </a:tcPr>
                </a:tc>
                <a:tc>
                  <a:txBody>
                    <a:bodyPr wrap="square"/>
                    <a:lstStyle/>
                    <a:p>
                      <a:pPr algn="l"/>
                      <a:r>
                        <a:rPr sz="1050" b="0">
                          <a:solidFill>
                            <a:srgbClr val="1A1A1A"/>
                          </a:solidFill>
                          <a:latin typeface="Abadi"/>
                        </a:rPr>
                        <a:t>Four infant RCTs submitted for labelling</a:t>
                      </a:r>
                    </a:p>
                  </a:txBody>
                  <a:tcPr marL="73152" marR="73152" marT="27432" marB="27432" anchor="ctr">
                    <a:solidFill>
                      <a:srgbClr val="F2F2F2"/>
                    </a:solidFill>
                  </a:tcPr>
                </a:tc>
                <a:tc>
                  <a:txBody>
                    <a:bodyPr wrap="square"/>
                    <a:lstStyle/>
                    <a:p>
                      <a:pPr algn="l"/>
                      <a:r>
                        <a:rPr sz="1050" b="0">
                          <a:solidFill>
                            <a:srgbClr val="1A1A1A"/>
                          </a:solidFill>
                          <a:latin typeface="Abadi"/>
                        </a:rPr>
                        <a:t>All four</a:t>
                      </a:r>
                    </a:p>
                  </a:txBody>
                  <a:tcPr marL="73152" marR="73152" marT="27432" marB="27432" anchor="ctr">
                    <a:solidFill>
                      <a:srgbClr val="F2F2F2"/>
                    </a:solidFill>
                  </a:tcPr>
                </a:tc>
                <a:tc>
                  <a:txBody>
                    <a:bodyPr wrap="square"/>
                    <a:lstStyle/>
                    <a:p>
                      <a:pPr algn="l"/>
                      <a:r>
                        <a:rPr sz="1050" b="0">
                          <a:solidFill>
                            <a:srgbClr val="1A1A1A"/>
                          </a:solidFill>
                          <a:latin typeface="Abadi"/>
                        </a:rPr>
                        <a:t>None showed efficacy for GERD symptoms</a:t>
                      </a:r>
                    </a:p>
                  </a:txBody>
                  <a:tcPr marL="73152" marR="73152" marT="27432" marB="27432" anchor="ctr">
                    <a:solidFill>
                      <a:srgbClr val="F2F2F2"/>
                    </a:solidFill>
                  </a:tcPr>
                </a:tc>
              </a:tr>
            </a:tbl>
          </a:graphicData>
        </a:graphic>
      </p:graphicFrame>
      <p:sp>
        <p:nvSpPr>
          <p:cNvPr id="13" name="TextBox 12"/>
          <p:cNvSpPr txBox="1"/>
          <p:nvPr/>
        </p:nvSpPr>
        <p:spPr>
          <a:xfrm>
            <a:off x="548640" y="5257800"/>
            <a:ext cx="11082528" cy="548640"/>
          </a:xfrm>
          <a:prstGeom prst="rect">
            <a:avLst/>
          </a:prstGeom>
          <a:noFill/>
        </p:spPr>
        <p:txBody>
          <a:bodyPr wrap="square" lIns="45720" rIns="45720" tIns="27432" bIns="27432" anchor="t">
            <a:spAutoFit/>
          </a:bodyPr>
          <a:lstStyle/>
          <a:p>
            <a:pPr algn="l">
              <a:spcAft>
                <a:spcPts val="600"/>
              </a:spcAft>
            </a:pPr>
            <a:r>
              <a:rPr sz="1200" b="1" i="0">
                <a:solidFill>
                  <a:srgbClr val="1B355E"/>
                </a:solidFill>
                <a:latin typeface="Abadi"/>
              </a:rPr>
              <a:t>Note.  </a:t>
            </a:r>
            <a:r>
              <a:rPr sz="1200" b="0" i="0">
                <a:solidFill>
                  <a:srgbClr val="1A1A1A"/>
                </a:solidFill>
                <a:latin typeface="Abadi"/>
              </a:rPr>
              <a:t>Most trials were industry funded and designed to find an effect. The FDA reviewers advised limiting infant PPIs to endoscopically proven oesophagitis.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HARM I: INFECTION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ACID IS THE INFANT'S FIRST IMMUNE ORGAN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Serious infections after PPI exposure in 1.26 million French children born 2010–18: adjusted hazard ratio, 95% CI</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Lassalle M, Zureik M, Dray-Spira R. JAMA Pediatr 2023;177:1028–38 · Canani RB, et al. Pediatrics 2006;117:e817–20</a:t>
            </a:r>
          </a:p>
        </p:txBody>
      </p:sp>
      <p:sp>
        <p:nvSpPr>
          <p:cNvPr id="12" name="Rectangle 11"/>
          <p:cNvSpPr/>
          <p:nvPr/>
        </p:nvSpPr>
        <p:spPr>
          <a:xfrm>
            <a:off x="3063240" y="5312664"/>
            <a:ext cx="3657600"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53972" y="1828799"/>
            <a:ext cx="13716" cy="3483863"/>
          </a:xfrm>
          <a:prstGeom prst="rect">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88920" y="5340096"/>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0.8</a:t>
            </a:r>
          </a:p>
        </p:txBody>
      </p:sp>
      <p:sp>
        <p:nvSpPr>
          <p:cNvPr id="15" name="TextBox 14"/>
          <p:cNvSpPr txBox="1"/>
          <p:nvPr/>
        </p:nvSpPr>
        <p:spPr>
          <a:xfrm>
            <a:off x="3679652" y="5340096"/>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1</a:t>
            </a:r>
          </a:p>
        </p:txBody>
      </p:sp>
      <p:sp>
        <p:nvSpPr>
          <p:cNvPr id="16" name="TextBox 15"/>
          <p:cNvSpPr txBox="1"/>
          <p:nvPr/>
        </p:nvSpPr>
        <p:spPr>
          <a:xfrm>
            <a:off x="4570384" y="5340096"/>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1.25</a:t>
            </a:r>
          </a:p>
        </p:txBody>
      </p:sp>
      <p:sp>
        <p:nvSpPr>
          <p:cNvPr id="17" name="TextBox 16"/>
          <p:cNvSpPr txBox="1"/>
          <p:nvPr/>
        </p:nvSpPr>
        <p:spPr>
          <a:xfrm>
            <a:off x="5298166" y="5340096"/>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1.5</a:t>
            </a:r>
          </a:p>
        </p:txBody>
      </p:sp>
      <p:sp>
        <p:nvSpPr>
          <p:cNvPr id="18" name="TextBox 17"/>
          <p:cNvSpPr txBox="1"/>
          <p:nvPr/>
        </p:nvSpPr>
        <p:spPr>
          <a:xfrm>
            <a:off x="6446520" y="5340096"/>
            <a:ext cx="548640" cy="228600"/>
          </a:xfrm>
          <a:prstGeom prst="rect">
            <a:avLst/>
          </a:prstGeom>
          <a:noFill/>
        </p:spPr>
        <p:txBody>
          <a:bodyPr wrap="square" lIns="45720" rIns="45720" tIns="27432" bIns="27432" anchor="t">
            <a:spAutoFit/>
          </a:bodyPr>
          <a:lstStyle/>
          <a:p>
            <a:pPr algn="ctr"/>
            <a:r>
              <a:rPr sz="900" b="0" i="0">
                <a:solidFill>
                  <a:srgbClr val="555555"/>
                </a:solidFill>
                <a:latin typeface="Abadi"/>
              </a:rPr>
              <a:t>2</a:t>
            </a:r>
          </a:p>
        </p:txBody>
      </p:sp>
      <p:sp>
        <p:nvSpPr>
          <p:cNvPr id="19" name="TextBox 18"/>
          <p:cNvSpPr txBox="1"/>
          <p:nvPr/>
        </p:nvSpPr>
        <p:spPr>
          <a:xfrm>
            <a:off x="548640" y="1874519"/>
            <a:ext cx="2423160" cy="429768"/>
          </a:xfrm>
          <a:prstGeom prst="rect">
            <a:avLst/>
          </a:prstGeom>
          <a:noFill/>
        </p:spPr>
        <p:txBody>
          <a:bodyPr wrap="square" lIns="45720" rIns="45720" tIns="27432" bIns="27432" anchor="ctr">
            <a:spAutoFit/>
          </a:bodyPr>
          <a:lstStyle/>
          <a:p>
            <a:pPr algn="l"/>
            <a:r>
              <a:rPr sz="1050" b="0" i="0">
                <a:solidFill>
                  <a:srgbClr val="1A1A1A"/>
                </a:solidFill>
                <a:latin typeface="Abadi"/>
              </a:rPr>
              <a:t>Bacterial infections</a:t>
            </a:r>
          </a:p>
        </p:txBody>
      </p:sp>
      <p:sp>
        <p:nvSpPr>
          <p:cNvPr id="20" name="Rectangle 19"/>
          <p:cNvSpPr/>
          <p:nvPr/>
        </p:nvSpPr>
        <p:spPr>
          <a:xfrm>
            <a:off x="5572486" y="2080260"/>
            <a:ext cx="331773" cy="228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iamond 20"/>
          <p:cNvSpPr/>
          <p:nvPr/>
        </p:nvSpPr>
        <p:spPr>
          <a:xfrm>
            <a:off x="5655893" y="2016251"/>
            <a:ext cx="146304" cy="146304"/>
          </a:xfrm>
          <a:prstGeom prst="diamond">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12279" y="1874519"/>
            <a:ext cx="2011680" cy="429768"/>
          </a:xfrm>
          <a:prstGeom prst="rect">
            <a:avLst/>
          </a:prstGeom>
          <a:noFill/>
        </p:spPr>
        <p:txBody>
          <a:bodyPr wrap="square" lIns="45720" rIns="45720" tIns="27432" bIns="27432" anchor="ctr">
            <a:spAutoFit/>
          </a:bodyPr>
          <a:lstStyle/>
          <a:p>
            <a:pPr algn="l"/>
            <a:r>
              <a:rPr sz="1000" b="1" i="0">
                <a:solidFill>
                  <a:srgbClr val="1A1A1A"/>
                </a:solidFill>
                <a:latin typeface="Abadi"/>
              </a:rPr>
              <a:t>1.56 (1.50–1.63)</a:t>
            </a:r>
          </a:p>
        </p:txBody>
      </p:sp>
      <p:sp>
        <p:nvSpPr>
          <p:cNvPr id="23" name="TextBox 22"/>
          <p:cNvSpPr txBox="1"/>
          <p:nvPr/>
        </p:nvSpPr>
        <p:spPr>
          <a:xfrm>
            <a:off x="548640" y="2304287"/>
            <a:ext cx="2423160" cy="429768"/>
          </a:xfrm>
          <a:prstGeom prst="rect">
            <a:avLst/>
          </a:prstGeom>
          <a:noFill/>
        </p:spPr>
        <p:txBody>
          <a:bodyPr wrap="square" lIns="45720" rIns="45720" tIns="27432" bIns="27432" anchor="ctr">
            <a:spAutoFit/>
          </a:bodyPr>
          <a:lstStyle/>
          <a:p>
            <a:pPr algn="l"/>
            <a:r>
              <a:rPr sz="1050" b="0" i="0">
                <a:solidFill>
                  <a:srgbClr val="1A1A1A"/>
                </a:solidFill>
                <a:latin typeface="Abadi"/>
              </a:rPr>
              <a:t>Digestive tract</a:t>
            </a:r>
          </a:p>
        </p:txBody>
      </p:sp>
      <p:sp>
        <p:nvSpPr>
          <p:cNvPr id="24" name="Rectangle 23"/>
          <p:cNvSpPr/>
          <p:nvPr/>
        </p:nvSpPr>
        <p:spPr>
          <a:xfrm>
            <a:off x="5518904" y="2510027"/>
            <a:ext cx="184469" cy="228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iamond 24"/>
          <p:cNvSpPr/>
          <p:nvPr/>
        </p:nvSpPr>
        <p:spPr>
          <a:xfrm>
            <a:off x="5552205" y="2446019"/>
            <a:ext cx="146304" cy="146304"/>
          </a:xfrm>
          <a:prstGeom prst="diamond">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2279" y="2304287"/>
            <a:ext cx="2011680" cy="429768"/>
          </a:xfrm>
          <a:prstGeom prst="rect">
            <a:avLst/>
          </a:prstGeom>
          <a:noFill/>
        </p:spPr>
        <p:txBody>
          <a:bodyPr wrap="square" lIns="45720" rIns="45720" tIns="27432" bIns="27432" anchor="ctr">
            <a:spAutoFit/>
          </a:bodyPr>
          <a:lstStyle/>
          <a:p>
            <a:pPr algn="l"/>
            <a:r>
              <a:rPr sz="1000" b="1" i="0">
                <a:solidFill>
                  <a:srgbClr val="1A1A1A"/>
                </a:solidFill>
                <a:latin typeface="Abadi"/>
              </a:rPr>
              <a:t>1.52 (1.48–1.55)</a:t>
            </a:r>
          </a:p>
        </p:txBody>
      </p:sp>
      <p:sp>
        <p:nvSpPr>
          <p:cNvPr id="27" name="TextBox 26"/>
          <p:cNvSpPr txBox="1"/>
          <p:nvPr/>
        </p:nvSpPr>
        <p:spPr>
          <a:xfrm>
            <a:off x="548640" y="2734056"/>
            <a:ext cx="2423160" cy="429768"/>
          </a:xfrm>
          <a:prstGeom prst="rect">
            <a:avLst/>
          </a:prstGeom>
          <a:noFill/>
        </p:spPr>
        <p:txBody>
          <a:bodyPr wrap="square" lIns="45720" rIns="45720" tIns="27432" bIns="27432" anchor="ctr">
            <a:spAutoFit/>
          </a:bodyPr>
          <a:lstStyle/>
          <a:p>
            <a:pPr algn="l"/>
            <a:r>
              <a:rPr sz="1050" b="0" i="0">
                <a:solidFill>
                  <a:srgbClr val="1A1A1A"/>
                </a:solidFill>
                <a:latin typeface="Abadi"/>
              </a:rPr>
              <a:t>Ear, nose and throat</a:t>
            </a:r>
          </a:p>
        </p:txBody>
      </p:sp>
      <p:sp>
        <p:nvSpPr>
          <p:cNvPr id="28" name="Rectangle 27"/>
          <p:cNvSpPr/>
          <p:nvPr/>
        </p:nvSpPr>
        <p:spPr>
          <a:xfrm>
            <a:off x="5325495" y="2939796"/>
            <a:ext cx="299862" cy="228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iamond 28"/>
          <p:cNvSpPr/>
          <p:nvPr/>
        </p:nvSpPr>
        <p:spPr>
          <a:xfrm>
            <a:off x="5418690" y="2875787"/>
            <a:ext cx="146304" cy="146304"/>
          </a:xfrm>
          <a:prstGeom prst="diamond">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12279" y="2734056"/>
            <a:ext cx="2011680" cy="429768"/>
          </a:xfrm>
          <a:prstGeom prst="rect">
            <a:avLst/>
          </a:prstGeom>
          <a:noFill/>
        </p:spPr>
        <p:txBody>
          <a:bodyPr wrap="square" lIns="45720" rIns="45720" tIns="27432" bIns="27432" anchor="ctr">
            <a:spAutoFit/>
          </a:bodyPr>
          <a:lstStyle/>
          <a:p>
            <a:pPr algn="l"/>
            <a:r>
              <a:rPr sz="1000" b="1" i="0">
                <a:solidFill>
                  <a:srgbClr val="1A1A1A"/>
                </a:solidFill>
                <a:latin typeface="Abadi"/>
              </a:rPr>
              <a:t>1.47 (1.41–1.52)</a:t>
            </a:r>
          </a:p>
        </p:txBody>
      </p:sp>
      <p:sp>
        <p:nvSpPr>
          <p:cNvPr id="31" name="TextBox 30"/>
          <p:cNvSpPr txBox="1"/>
          <p:nvPr/>
        </p:nvSpPr>
        <p:spPr>
          <a:xfrm>
            <a:off x="548640" y="3163824"/>
            <a:ext cx="2423160" cy="429768"/>
          </a:xfrm>
          <a:prstGeom prst="rect">
            <a:avLst/>
          </a:prstGeom>
          <a:noFill/>
        </p:spPr>
        <p:txBody>
          <a:bodyPr wrap="square" lIns="45720" rIns="45720" tIns="27432" bIns="27432" anchor="ctr">
            <a:spAutoFit/>
          </a:bodyPr>
          <a:lstStyle/>
          <a:p>
            <a:pPr algn="l"/>
            <a:r>
              <a:rPr sz="1050" b="0" i="0">
                <a:solidFill>
                  <a:srgbClr val="1A1A1A"/>
                </a:solidFill>
                <a:latin typeface="Abadi"/>
              </a:rPr>
              <a:t>All serious infections</a:t>
            </a:r>
          </a:p>
        </p:txBody>
      </p:sp>
      <p:sp>
        <p:nvSpPr>
          <p:cNvPr id="32" name="Rectangle 31"/>
          <p:cNvSpPr/>
          <p:nvPr/>
        </p:nvSpPr>
        <p:spPr>
          <a:xfrm>
            <a:off x="5062207" y="3369564"/>
            <a:ext cx="119165" cy="2286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iamond 32"/>
          <p:cNvSpPr/>
          <p:nvPr/>
        </p:nvSpPr>
        <p:spPr>
          <a:xfrm>
            <a:off x="5049083" y="3305556"/>
            <a:ext cx="146304" cy="146304"/>
          </a:xfrm>
          <a:prstGeom prst="diamond">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12279" y="3163824"/>
            <a:ext cx="2011680" cy="429768"/>
          </a:xfrm>
          <a:prstGeom prst="rect">
            <a:avLst/>
          </a:prstGeom>
          <a:noFill/>
        </p:spPr>
        <p:txBody>
          <a:bodyPr wrap="square" lIns="45720" rIns="45720" tIns="27432" bIns="27432" anchor="ctr">
            <a:spAutoFit/>
          </a:bodyPr>
          <a:lstStyle/>
          <a:p>
            <a:pPr algn="l"/>
            <a:r>
              <a:rPr sz="1000" b="1" i="0">
                <a:solidFill>
                  <a:srgbClr val="1A1A1A"/>
                </a:solidFill>
                <a:latin typeface="Abadi"/>
              </a:rPr>
              <a:t>1.34 (1.32–1.36)</a:t>
            </a:r>
          </a:p>
        </p:txBody>
      </p:sp>
      <p:sp>
        <p:nvSpPr>
          <p:cNvPr id="35" name="TextBox 34"/>
          <p:cNvSpPr txBox="1"/>
          <p:nvPr/>
        </p:nvSpPr>
        <p:spPr>
          <a:xfrm>
            <a:off x="548640" y="3593591"/>
            <a:ext cx="2423160" cy="429768"/>
          </a:xfrm>
          <a:prstGeom prst="rect">
            <a:avLst/>
          </a:prstGeom>
          <a:noFill/>
        </p:spPr>
        <p:txBody>
          <a:bodyPr wrap="square" lIns="45720" rIns="45720" tIns="27432" bIns="27432" anchor="ctr">
            <a:spAutoFit/>
          </a:bodyPr>
          <a:lstStyle/>
          <a:p>
            <a:pPr algn="l"/>
            <a:r>
              <a:rPr sz="1050" b="0" i="0">
                <a:solidFill>
                  <a:srgbClr val="1A1A1A"/>
                </a:solidFill>
                <a:latin typeface="Abadi"/>
              </a:rPr>
              <a:t>Nervous system</a:t>
            </a:r>
          </a:p>
        </p:txBody>
      </p:sp>
      <p:sp>
        <p:nvSpPr>
          <p:cNvPr id="36" name="Rectangle 35"/>
          <p:cNvSpPr/>
          <p:nvPr/>
        </p:nvSpPr>
        <p:spPr>
          <a:xfrm>
            <a:off x="4370551" y="3799332"/>
            <a:ext cx="1306987" cy="228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Diamond 36"/>
          <p:cNvSpPr/>
          <p:nvPr/>
        </p:nvSpPr>
        <p:spPr>
          <a:xfrm>
            <a:off x="4958700" y="3735324"/>
            <a:ext cx="146304" cy="146304"/>
          </a:xfrm>
          <a:prstGeom prst="diamond">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12279" y="3593591"/>
            <a:ext cx="2011680" cy="429768"/>
          </a:xfrm>
          <a:prstGeom prst="rect">
            <a:avLst/>
          </a:prstGeom>
          <a:noFill/>
        </p:spPr>
        <p:txBody>
          <a:bodyPr wrap="square" lIns="45720" rIns="45720" tIns="27432" bIns="27432" anchor="ctr">
            <a:spAutoFit/>
          </a:bodyPr>
          <a:lstStyle/>
          <a:p>
            <a:pPr algn="l"/>
            <a:r>
              <a:rPr sz="1000" b="1" i="0">
                <a:solidFill>
                  <a:srgbClr val="1A1A1A"/>
                </a:solidFill>
                <a:latin typeface="Abadi"/>
              </a:rPr>
              <a:t>1.31 (1.11–1.54)</a:t>
            </a:r>
          </a:p>
        </p:txBody>
      </p:sp>
      <p:sp>
        <p:nvSpPr>
          <p:cNvPr id="39" name="TextBox 38"/>
          <p:cNvSpPr txBox="1"/>
          <p:nvPr/>
        </p:nvSpPr>
        <p:spPr>
          <a:xfrm>
            <a:off x="548640" y="4023359"/>
            <a:ext cx="2423160" cy="429768"/>
          </a:xfrm>
          <a:prstGeom prst="rect">
            <a:avLst/>
          </a:prstGeom>
          <a:noFill/>
        </p:spPr>
        <p:txBody>
          <a:bodyPr wrap="square" lIns="45720" rIns="45720" tIns="27432" bIns="27432" anchor="ctr">
            <a:spAutoFit/>
          </a:bodyPr>
          <a:lstStyle/>
          <a:p>
            <a:pPr algn="l"/>
            <a:r>
              <a:rPr sz="1050" b="0" i="0">
                <a:solidFill>
                  <a:srgbClr val="1A1A1A"/>
                </a:solidFill>
                <a:latin typeface="Abadi"/>
              </a:rPr>
              <a:t>Viral infections</a:t>
            </a:r>
          </a:p>
        </p:txBody>
      </p:sp>
      <p:sp>
        <p:nvSpPr>
          <p:cNvPr id="40" name="Rectangle 39"/>
          <p:cNvSpPr/>
          <p:nvPr/>
        </p:nvSpPr>
        <p:spPr>
          <a:xfrm>
            <a:off x="4939375" y="4229100"/>
            <a:ext cx="152959" cy="228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Diamond 40"/>
          <p:cNvSpPr/>
          <p:nvPr/>
        </p:nvSpPr>
        <p:spPr>
          <a:xfrm>
            <a:off x="4928111" y="4165091"/>
            <a:ext cx="146304" cy="146304"/>
          </a:xfrm>
          <a:prstGeom prst="diamond">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12279" y="4023359"/>
            <a:ext cx="2011680" cy="429768"/>
          </a:xfrm>
          <a:prstGeom prst="rect">
            <a:avLst/>
          </a:prstGeom>
          <a:noFill/>
        </p:spPr>
        <p:txBody>
          <a:bodyPr wrap="square" lIns="45720" rIns="45720" tIns="27432" bIns="27432" anchor="ctr">
            <a:spAutoFit/>
          </a:bodyPr>
          <a:lstStyle/>
          <a:p>
            <a:pPr algn="l"/>
            <a:r>
              <a:rPr sz="1000" b="1" i="0">
                <a:solidFill>
                  <a:srgbClr val="1A1A1A"/>
                </a:solidFill>
                <a:latin typeface="Abadi"/>
              </a:rPr>
              <a:t>1.30 (1.28–1.33)</a:t>
            </a:r>
          </a:p>
        </p:txBody>
      </p:sp>
      <p:sp>
        <p:nvSpPr>
          <p:cNvPr id="43" name="TextBox 42"/>
          <p:cNvSpPr txBox="1"/>
          <p:nvPr/>
        </p:nvSpPr>
        <p:spPr>
          <a:xfrm>
            <a:off x="548640" y="4453127"/>
            <a:ext cx="2423160" cy="429768"/>
          </a:xfrm>
          <a:prstGeom prst="rect">
            <a:avLst/>
          </a:prstGeom>
          <a:noFill/>
        </p:spPr>
        <p:txBody>
          <a:bodyPr wrap="square" lIns="45720" rIns="45720" tIns="27432" bIns="27432" anchor="ctr">
            <a:spAutoFit/>
          </a:bodyPr>
          <a:lstStyle/>
          <a:p>
            <a:pPr algn="l"/>
            <a:r>
              <a:rPr sz="1050" b="0" i="0">
                <a:solidFill>
                  <a:srgbClr val="1A1A1A"/>
                </a:solidFill>
                <a:latin typeface="Abadi"/>
              </a:rPr>
              <a:t>Lower respiratory tract</a:t>
            </a:r>
          </a:p>
        </p:txBody>
      </p:sp>
      <p:sp>
        <p:nvSpPr>
          <p:cNvPr id="44" name="Rectangle 43"/>
          <p:cNvSpPr/>
          <p:nvPr/>
        </p:nvSpPr>
        <p:spPr>
          <a:xfrm>
            <a:off x="4648349" y="4658868"/>
            <a:ext cx="196354" cy="228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Diamond 44"/>
          <p:cNvSpPr/>
          <p:nvPr/>
        </p:nvSpPr>
        <p:spPr>
          <a:xfrm>
            <a:off x="4674582" y="4594859"/>
            <a:ext cx="146304" cy="146304"/>
          </a:xfrm>
          <a:prstGeom prst="diamond">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12279" y="4453127"/>
            <a:ext cx="2011680" cy="429768"/>
          </a:xfrm>
          <a:prstGeom prst="rect">
            <a:avLst/>
          </a:prstGeom>
          <a:noFill/>
        </p:spPr>
        <p:txBody>
          <a:bodyPr wrap="square" lIns="45720" rIns="45720" tIns="27432" bIns="27432" anchor="ctr">
            <a:spAutoFit/>
          </a:bodyPr>
          <a:lstStyle/>
          <a:p>
            <a:pPr algn="l"/>
            <a:r>
              <a:rPr sz="1000" b="1" i="0">
                <a:solidFill>
                  <a:srgbClr val="1A1A1A"/>
                </a:solidFill>
                <a:latin typeface="Abadi"/>
              </a:rPr>
              <a:t>1.22 (1.19–1.25)</a:t>
            </a:r>
          </a:p>
        </p:txBody>
      </p:sp>
      <p:sp>
        <p:nvSpPr>
          <p:cNvPr id="47" name="TextBox 46"/>
          <p:cNvSpPr txBox="1"/>
          <p:nvPr/>
        </p:nvSpPr>
        <p:spPr>
          <a:xfrm>
            <a:off x="548640" y="4882896"/>
            <a:ext cx="2423160" cy="429768"/>
          </a:xfrm>
          <a:prstGeom prst="rect">
            <a:avLst/>
          </a:prstGeom>
          <a:noFill/>
        </p:spPr>
        <p:txBody>
          <a:bodyPr wrap="square" lIns="45720" rIns="45720" tIns="27432" bIns="27432" anchor="ctr">
            <a:spAutoFit/>
          </a:bodyPr>
          <a:lstStyle/>
          <a:p>
            <a:pPr algn="l"/>
            <a:r>
              <a:rPr sz="1050" b="0" i="0">
                <a:solidFill>
                  <a:srgbClr val="1A1A1A"/>
                </a:solidFill>
                <a:latin typeface="Abadi"/>
              </a:rPr>
              <a:t>Kidney and urinary tract</a:t>
            </a:r>
          </a:p>
        </p:txBody>
      </p:sp>
      <p:sp>
        <p:nvSpPr>
          <p:cNvPr id="48" name="Rectangle 47"/>
          <p:cNvSpPr/>
          <p:nvPr/>
        </p:nvSpPr>
        <p:spPr>
          <a:xfrm>
            <a:off x="4511866" y="5088636"/>
            <a:ext cx="332838" cy="228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iamond 48"/>
          <p:cNvSpPr/>
          <p:nvPr/>
        </p:nvSpPr>
        <p:spPr>
          <a:xfrm>
            <a:off x="4608601" y="5024628"/>
            <a:ext cx="146304" cy="146304"/>
          </a:xfrm>
          <a:prstGeom prst="diamond">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12279" y="4882896"/>
            <a:ext cx="2011680" cy="429768"/>
          </a:xfrm>
          <a:prstGeom prst="rect">
            <a:avLst/>
          </a:prstGeom>
          <a:noFill/>
        </p:spPr>
        <p:txBody>
          <a:bodyPr wrap="square" lIns="45720" rIns="45720" tIns="27432" bIns="27432" anchor="ctr">
            <a:spAutoFit/>
          </a:bodyPr>
          <a:lstStyle/>
          <a:p>
            <a:pPr algn="l"/>
            <a:r>
              <a:rPr sz="1000" b="1" i="0">
                <a:solidFill>
                  <a:srgbClr val="1A1A1A"/>
                </a:solidFill>
                <a:latin typeface="Abadi"/>
              </a:rPr>
              <a:t>1.20 (1.15–1.25)</a:t>
            </a:r>
          </a:p>
        </p:txBody>
      </p:sp>
      <p:sp>
        <p:nvSpPr>
          <p:cNvPr id="51" name="TextBox 50"/>
          <p:cNvSpPr txBox="1"/>
          <p:nvPr/>
        </p:nvSpPr>
        <p:spPr>
          <a:xfrm>
            <a:off x="8915400" y="1773936"/>
            <a:ext cx="2715768" cy="4023360"/>
          </a:xfrm>
          <a:prstGeom prst="rect">
            <a:avLst/>
          </a:prstGeom>
          <a:noFill/>
        </p:spPr>
        <p:txBody>
          <a:bodyPr wrap="square" lIns="45720" rIns="45720" tIns="27432" bIns="27432" anchor="t">
            <a:spAutoFit/>
          </a:bodyPr>
          <a:lstStyle/>
          <a:p>
            <a:pPr algn="l"/>
            <a:r>
              <a:rPr sz="1700" b="1" i="0">
                <a:solidFill>
                  <a:srgbClr val="1B355E"/>
                </a:solidFill>
                <a:latin typeface="Abadi"/>
              </a:rPr>
              <a:t>606,645 exposed</a:t>
            </a:r>
          </a:p>
          <a:p>
            <a:pPr algn="l">
              <a:spcAft>
                <a:spcPts val="900"/>
              </a:spcAft>
            </a:pPr>
            <a:r>
              <a:rPr sz="1000" b="0" i="0">
                <a:solidFill>
                  <a:srgbClr val="555555"/>
                </a:solidFill>
                <a:latin typeface="Abadi"/>
              </a:rPr>
              <a:t>Median age at first PPI 88 days; follow-up 3.8 years.</a:t>
            </a:r>
          </a:p>
          <a:p>
            <a:pPr algn="l"/>
            <a:r>
              <a:rPr sz="1700" b="1" i="0">
                <a:solidFill>
                  <a:srgbClr val="1B355E"/>
                </a:solidFill>
                <a:latin typeface="Abadi"/>
              </a:rPr>
              <a:t>12% vs 2%</a:t>
            </a:r>
          </a:p>
          <a:p>
            <a:pPr algn="l">
              <a:spcAft>
                <a:spcPts val="900"/>
              </a:spcAft>
            </a:pPr>
            <a:r>
              <a:rPr sz="1000" b="0" i="0">
                <a:solidFill>
                  <a:srgbClr val="555555"/>
                </a:solidFill>
                <a:latin typeface="Abadi"/>
              </a:rPr>
              <a:t>Pneumonia in 4 months after acid suppression vs healthy controls (Canani 2006; NNH 11).</a:t>
            </a:r>
          </a:p>
          <a:p>
            <a:pPr algn="l"/>
            <a:r>
              <a:rPr sz="1700" b="1" i="0">
                <a:solidFill>
                  <a:srgbClr val="1B355E"/>
                </a:solidFill>
                <a:latin typeface="Abadi"/>
              </a:rPr>
              <a:t>Observational</a:t>
            </a:r>
          </a:p>
          <a:p>
            <a:pPr algn="l">
              <a:spcAft>
                <a:spcPts val="900"/>
              </a:spcAft>
            </a:pPr>
            <a:r>
              <a:rPr sz="1000" b="0" i="0">
                <a:solidFill>
                  <a:srgbClr val="555555"/>
                </a:solidFill>
                <a:latin typeface="Abadi"/>
              </a:rPr>
              <a:t>Confounding by indication remains; the trial signal points the same 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HARM II: BONE</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THE FRACTURE APPEARS YEARS LATER</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851,631 US Military Health System children; acid suppression in the first year and fracture to age 2+</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Malchodi L, Wagner K, Susi A, et al. Pediatrics 2019;144:e20182625</a:t>
            </a:r>
          </a:p>
        </p:txBody>
      </p:sp>
      <p:sp>
        <p:nvSpPr>
          <p:cNvPr id="12" name="TextBox 11"/>
          <p:cNvSpPr txBox="1"/>
          <p:nvPr/>
        </p:nvSpPr>
        <p:spPr>
          <a:xfrm>
            <a:off x="640080" y="1810512"/>
            <a:ext cx="2560320" cy="228600"/>
          </a:xfrm>
          <a:prstGeom prst="rect">
            <a:avLst/>
          </a:prstGeom>
          <a:noFill/>
        </p:spPr>
        <p:txBody>
          <a:bodyPr wrap="square" lIns="45720" rIns="45720" tIns="27432" bIns="27432" anchor="t">
            <a:spAutoFit/>
          </a:bodyPr>
          <a:lstStyle/>
          <a:p>
            <a:pPr algn="l"/>
            <a:r>
              <a:rPr sz="1000" b="0" i="1">
                <a:solidFill>
                  <a:srgbClr val="7F7F7F"/>
                </a:solidFill>
                <a:latin typeface="Abadi"/>
              </a:rPr>
              <a:t>Increase in fracture hazard, %</a:t>
            </a:r>
          </a:p>
        </p:txBody>
      </p:sp>
      <p:sp>
        <p:nvSpPr>
          <p:cNvPr id="13" name="Rectangle 12"/>
          <p:cNvSpPr/>
          <p:nvPr/>
        </p:nvSpPr>
        <p:spPr>
          <a:xfrm>
            <a:off x="640080" y="5084064"/>
            <a:ext cx="5852160"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81099" y="3509467"/>
            <a:ext cx="868680" cy="15745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235147"/>
            <a:ext cx="1950720" cy="237744"/>
          </a:xfrm>
          <a:prstGeom prst="rect">
            <a:avLst/>
          </a:prstGeom>
          <a:noFill/>
        </p:spPr>
        <p:txBody>
          <a:bodyPr wrap="square" lIns="45720" rIns="45720" tIns="27432" bIns="27432" anchor="t">
            <a:spAutoFit/>
          </a:bodyPr>
          <a:lstStyle/>
          <a:p>
            <a:pPr algn="ctr"/>
            <a:r>
              <a:rPr sz="1100" b="1" i="0">
                <a:solidFill>
                  <a:srgbClr val="1A1A1A"/>
                </a:solidFill>
                <a:latin typeface="Abadi"/>
              </a:rPr>
              <a:t>+21%</a:t>
            </a:r>
          </a:p>
        </p:txBody>
      </p:sp>
      <p:sp>
        <p:nvSpPr>
          <p:cNvPr id="16" name="TextBox 15"/>
          <p:cNvSpPr txBox="1"/>
          <p:nvPr/>
        </p:nvSpPr>
        <p:spPr>
          <a:xfrm>
            <a:off x="658368" y="5138927"/>
            <a:ext cx="1914144" cy="566928"/>
          </a:xfrm>
          <a:prstGeom prst="rect">
            <a:avLst/>
          </a:prstGeom>
          <a:noFill/>
        </p:spPr>
        <p:txBody>
          <a:bodyPr wrap="square" lIns="45720" rIns="45720" tIns="27432" bIns="27432" anchor="t">
            <a:spAutoFit/>
          </a:bodyPr>
          <a:lstStyle/>
          <a:p>
            <a:pPr algn="ctr"/>
            <a:r>
              <a:rPr sz="1000" b="0" i="0">
                <a:solidFill>
                  <a:srgbClr val="555555"/>
                </a:solidFill>
                <a:latin typeface="Abadi"/>
              </a:rPr>
              <a:t>PPI alone</a:t>
            </a:r>
          </a:p>
        </p:txBody>
      </p:sp>
      <p:sp>
        <p:nvSpPr>
          <p:cNvPr id="17" name="Rectangle 16"/>
          <p:cNvSpPr/>
          <p:nvPr/>
        </p:nvSpPr>
        <p:spPr>
          <a:xfrm>
            <a:off x="3131819" y="2834639"/>
            <a:ext cx="868680" cy="224942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90799" y="2560320"/>
            <a:ext cx="1950720" cy="237744"/>
          </a:xfrm>
          <a:prstGeom prst="rect">
            <a:avLst/>
          </a:prstGeom>
          <a:noFill/>
        </p:spPr>
        <p:txBody>
          <a:bodyPr wrap="square" lIns="45720" rIns="45720" tIns="27432" bIns="27432" anchor="t">
            <a:spAutoFit/>
          </a:bodyPr>
          <a:lstStyle/>
          <a:p>
            <a:pPr algn="ctr"/>
            <a:r>
              <a:rPr sz="1100" b="1" i="0">
                <a:solidFill>
                  <a:srgbClr val="1A1A1A"/>
                </a:solidFill>
                <a:latin typeface="Abadi"/>
              </a:rPr>
              <a:t>+30%</a:t>
            </a:r>
          </a:p>
        </p:txBody>
      </p:sp>
      <p:sp>
        <p:nvSpPr>
          <p:cNvPr id="19" name="TextBox 18"/>
          <p:cNvSpPr txBox="1"/>
          <p:nvPr/>
        </p:nvSpPr>
        <p:spPr>
          <a:xfrm>
            <a:off x="2609087" y="5138927"/>
            <a:ext cx="1914144" cy="566928"/>
          </a:xfrm>
          <a:prstGeom prst="rect">
            <a:avLst/>
          </a:prstGeom>
          <a:noFill/>
        </p:spPr>
        <p:txBody>
          <a:bodyPr wrap="square" lIns="45720" rIns="45720" tIns="27432" bIns="27432" anchor="t">
            <a:spAutoFit/>
          </a:bodyPr>
          <a:lstStyle/>
          <a:p>
            <a:pPr algn="ctr"/>
            <a:r>
              <a:rPr sz="1000" b="0" i="0">
                <a:solidFill>
                  <a:srgbClr val="555555"/>
                </a:solidFill>
                <a:latin typeface="Abadi"/>
              </a:rPr>
              <a:t>PPI plus H2RA</a:t>
            </a:r>
          </a:p>
        </p:txBody>
      </p:sp>
      <p:sp>
        <p:nvSpPr>
          <p:cNvPr id="20" name="Rectangle 19"/>
          <p:cNvSpPr/>
          <p:nvPr/>
        </p:nvSpPr>
        <p:spPr>
          <a:xfrm>
            <a:off x="5082540" y="5056631"/>
            <a:ext cx="868680" cy="27432"/>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1520" y="4782312"/>
            <a:ext cx="1950720" cy="237744"/>
          </a:xfrm>
          <a:prstGeom prst="rect">
            <a:avLst/>
          </a:prstGeom>
          <a:noFill/>
        </p:spPr>
        <p:txBody>
          <a:bodyPr wrap="square" lIns="45720" rIns="45720" tIns="27432" bIns="27432" anchor="t">
            <a:spAutoFit/>
          </a:bodyPr>
          <a:lstStyle/>
          <a:p>
            <a:pPr algn="ctr"/>
            <a:r>
              <a:rPr sz="1100" b="1" i="0">
                <a:solidFill>
                  <a:srgbClr val="1A1A1A"/>
                </a:solidFill>
                <a:latin typeface="Abadi"/>
              </a:rPr>
              <a:t>+0%</a:t>
            </a:r>
          </a:p>
        </p:txBody>
      </p:sp>
      <p:sp>
        <p:nvSpPr>
          <p:cNvPr id="22" name="TextBox 21"/>
          <p:cNvSpPr txBox="1"/>
          <p:nvPr/>
        </p:nvSpPr>
        <p:spPr>
          <a:xfrm>
            <a:off x="4559808" y="5138927"/>
            <a:ext cx="1914144" cy="566928"/>
          </a:xfrm>
          <a:prstGeom prst="rect">
            <a:avLst/>
          </a:prstGeom>
          <a:noFill/>
        </p:spPr>
        <p:txBody>
          <a:bodyPr wrap="square" lIns="45720" rIns="45720" tIns="27432" bIns="27432" anchor="t">
            <a:spAutoFit/>
          </a:bodyPr>
          <a:lstStyle/>
          <a:p>
            <a:pPr algn="ctr"/>
            <a:r>
              <a:rPr sz="1000" b="0" i="0">
                <a:solidFill>
                  <a:srgbClr val="555555"/>
                </a:solidFill>
                <a:latin typeface="Abadi"/>
              </a:rPr>
              <a:t>H2RA alone</a:t>
            </a:r>
          </a:p>
        </p:txBody>
      </p:sp>
      <p:sp>
        <p:nvSpPr>
          <p:cNvPr id="23" name="TextBox 22"/>
          <p:cNvSpPr txBox="1"/>
          <p:nvPr/>
        </p:nvSpPr>
        <p:spPr>
          <a:xfrm>
            <a:off x="7178040" y="1773936"/>
            <a:ext cx="4453128" cy="4023360"/>
          </a:xfrm>
          <a:prstGeom prst="rect">
            <a:avLst/>
          </a:prstGeom>
          <a:noFill/>
        </p:spPr>
        <p:txBody>
          <a:bodyPr wrap="square" lIns="45720" rIns="45720" tIns="27432" bIns="27432" anchor="t">
            <a:spAutoFit/>
          </a:bodyPr>
          <a:lstStyle/>
          <a:p>
            <a:pPr algn="l"/>
            <a:r>
              <a:rPr sz="1700" b="1" i="0">
                <a:solidFill>
                  <a:srgbClr val="1B355E"/>
                </a:solidFill>
                <a:latin typeface="Abadi"/>
              </a:rPr>
              <a:t>11% exposed</a:t>
            </a:r>
          </a:p>
          <a:p>
            <a:pPr algn="l">
              <a:spcAft>
                <a:spcPts val="900"/>
              </a:spcAft>
            </a:pPr>
            <a:r>
              <a:rPr sz="1000" b="0" i="0">
                <a:solidFill>
                  <a:srgbClr val="555555"/>
                </a:solidFill>
                <a:latin typeface="Abadi"/>
              </a:rPr>
              <a:t>97,286 infants received acid suppression in the first year; PPI alone 0.9%, both 2%.</a:t>
            </a:r>
          </a:p>
          <a:p>
            <a:pPr algn="l"/>
            <a:r>
              <a:rPr sz="1700" b="1" i="0">
                <a:solidFill>
                  <a:srgbClr val="1B355E"/>
                </a:solidFill>
                <a:latin typeface="Abadi"/>
              </a:rPr>
              <a:t>3.9 vs 4.5 years</a:t>
            </a:r>
          </a:p>
          <a:p>
            <a:pPr algn="l">
              <a:spcAft>
                <a:spcPts val="900"/>
              </a:spcAft>
            </a:pPr>
            <a:r>
              <a:rPr sz="1000" b="0" i="0">
                <a:solidFill>
                  <a:srgbClr val="555555"/>
                </a:solidFill>
                <a:latin typeface="Abadi"/>
              </a:rPr>
              <a:t>Median age at first fracture, exposed versus unexposed.</a:t>
            </a:r>
          </a:p>
          <a:p>
            <a:pPr algn="l"/>
            <a:r>
              <a:rPr sz="1700" b="1" i="0">
                <a:solidFill>
                  <a:srgbClr val="1B355E"/>
                </a:solidFill>
                <a:latin typeface="Abadi"/>
              </a:rPr>
              <a:t>Dose and timing</a:t>
            </a:r>
          </a:p>
          <a:p>
            <a:pPr algn="l">
              <a:spcAft>
                <a:spcPts val="900"/>
              </a:spcAft>
            </a:pPr>
            <a:r>
              <a:rPr sz="1000" b="0" i="0">
                <a:solidFill>
                  <a:srgbClr val="555555"/>
                </a:solidFill>
                <a:latin typeface="Abadi"/>
              </a:rPr>
              <a:t>Hazard rose with more days of use and with earlier first use.</a:t>
            </a:r>
          </a:p>
          <a:p>
            <a:pPr algn="l"/>
            <a:r>
              <a:rPr sz="1700" b="1" i="0">
                <a:solidFill>
                  <a:srgbClr val="1B355E"/>
                </a:solidFill>
                <a:latin typeface="Abadi"/>
              </a:rPr>
              <a:t>Plausible</a:t>
            </a:r>
          </a:p>
          <a:p>
            <a:pPr algn="l">
              <a:spcAft>
                <a:spcPts val="900"/>
              </a:spcAft>
            </a:pPr>
            <a:r>
              <a:rPr sz="1000" b="0" i="0">
                <a:solidFill>
                  <a:srgbClr val="555555"/>
                </a:solidFill>
                <a:latin typeface="Abadi"/>
              </a:rPr>
              <a:t>Less calcium absorbed at higher gastric pH, in the years of fastest bone accrual.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HARM III: ALLERGY</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UNDIGESTED PROTEIN, EDUCATED IMMUNE SYSTEM</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Acid suppression in the first 6 months and later allergic disease, 792,130 children: adjusted hazard ratio</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Mitre E, Susi A, Kropp LE, et al. JAMA Pediatr 2018;172:e180315</a:t>
            </a:r>
          </a:p>
        </p:txBody>
      </p:sp>
      <p:sp>
        <p:nvSpPr>
          <p:cNvPr id="12" name="TextBox 11"/>
          <p:cNvSpPr txBox="1"/>
          <p:nvPr/>
        </p:nvSpPr>
        <p:spPr>
          <a:xfrm>
            <a:off x="548640" y="1828800"/>
            <a:ext cx="2743200" cy="429768"/>
          </a:xfrm>
          <a:prstGeom prst="rect">
            <a:avLst/>
          </a:prstGeom>
          <a:noFill/>
        </p:spPr>
        <p:txBody>
          <a:bodyPr wrap="square" lIns="45720" rIns="45720" tIns="27432" bIns="27432" anchor="ctr">
            <a:spAutoFit/>
          </a:bodyPr>
          <a:lstStyle/>
          <a:p>
            <a:pPr algn="l"/>
            <a:r>
              <a:rPr sz="1100" b="0" i="0">
                <a:solidFill>
                  <a:srgbClr val="1A1A1A"/>
                </a:solidFill>
                <a:latin typeface="Abadi"/>
              </a:rPr>
              <a:t>Food allergy — PPI</a:t>
            </a:r>
          </a:p>
        </p:txBody>
      </p:sp>
      <p:sp>
        <p:nvSpPr>
          <p:cNvPr id="13" name="Rectangle 12"/>
          <p:cNvSpPr/>
          <p:nvPr/>
        </p:nvSpPr>
        <p:spPr>
          <a:xfrm>
            <a:off x="3383280" y="1914753"/>
            <a:ext cx="3044952" cy="2578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1384" y="1828800"/>
            <a:ext cx="1463040" cy="429768"/>
          </a:xfrm>
          <a:prstGeom prst="rect">
            <a:avLst/>
          </a:prstGeom>
          <a:noFill/>
        </p:spPr>
        <p:txBody>
          <a:bodyPr wrap="square" lIns="45720" rIns="45720" tIns="27432" bIns="27432" anchor="ctr">
            <a:spAutoFit/>
          </a:bodyPr>
          <a:lstStyle/>
          <a:p>
            <a:pPr algn="l"/>
            <a:r>
              <a:rPr sz="1100" b="1" i="0">
                <a:solidFill>
                  <a:srgbClr val="1A1A1A"/>
                </a:solidFill>
                <a:latin typeface="Abadi"/>
              </a:rPr>
              <a:t>2.59</a:t>
            </a:r>
          </a:p>
        </p:txBody>
      </p:sp>
      <p:sp>
        <p:nvSpPr>
          <p:cNvPr id="15" name="TextBox 14"/>
          <p:cNvSpPr txBox="1"/>
          <p:nvPr/>
        </p:nvSpPr>
        <p:spPr>
          <a:xfrm>
            <a:off x="548640" y="2258568"/>
            <a:ext cx="2743200" cy="429768"/>
          </a:xfrm>
          <a:prstGeom prst="rect">
            <a:avLst/>
          </a:prstGeom>
          <a:noFill/>
        </p:spPr>
        <p:txBody>
          <a:bodyPr wrap="square" lIns="45720" rIns="45720" tIns="27432" bIns="27432" anchor="ctr">
            <a:spAutoFit/>
          </a:bodyPr>
          <a:lstStyle/>
          <a:p>
            <a:pPr algn="l"/>
            <a:r>
              <a:rPr sz="1100" b="0" i="0">
                <a:solidFill>
                  <a:srgbClr val="1A1A1A"/>
                </a:solidFill>
                <a:latin typeface="Abadi"/>
              </a:rPr>
              <a:t>Food allergy — H2RA</a:t>
            </a:r>
          </a:p>
        </p:txBody>
      </p:sp>
      <p:sp>
        <p:nvSpPr>
          <p:cNvPr id="16" name="Rectangle 15"/>
          <p:cNvSpPr/>
          <p:nvPr/>
        </p:nvSpPr>
        <p:spPr>
          <a:xfrm>
            <a:off x="3383280" y="2344521"/>
            <a:ext cx="2562932" cy="2578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19364" y="2258568"/>
            <a:ext cx="1463040" cy="429768"/>
          </a:xfrm>
          <a:prstGeom prst="rect">
            <a:avLst/>
          </a:prstGeom>
          <a:noFill/>
        </p:spPr>
        <p:txBody>
          <a:bodyPr wrap="square" lIns="45720" rIns="45720" tIns="27432" bIns="27432" anchor="ctr">
            <a:spAutoFit/>
          </a:bodyPr>
          <a:lstStyle/>
          <a:p>
            <a:pPr algn="l"/>
            <a:r>
              <a:rPr sz="1100" b="1" i="0">
                <a:solidFill>
                  <a:srgbClr val="1A1A1A"/>
                </a:solidFill>
                <a:latin typeface="Abadi"/>
              </a:rPr>
              <a:t>2.18</a:t>
            </a:r>
          </a:p>
        </p:txBody>
      </p:sp>
      <p:sp>
        <p:nvSpPr>
          <p:cNvPr id="18" name="TextBox 17"/>
          <p:cNvSpPr txBox="1"/>
          <p:nvPr/>
        </p:nvSpPr>
        <p:spPr>
          <a:xfrm>
            <a:off x="548640" y="2688336"/>
            <a:ext cx="2743200" cy="429768"/>
          </a:xfrm>
          <a:prstGeom prst="rect">
            <a:avLst/>
          </a:prstGeom>
          <a:noFill/>
        </p:spPr>
        <p:txBody>
          <a:bodyPr wrap="square" lIns="45720" rIns="45720" tIns="27432" bIns="27432" anchor="ctr">
            <a:spAutoFit/>
          </a:bodyPr>
          <a:lstStyle/>
          <a:p>
            <a:pPr algn="l"/>
            <a:r>
              <a:rPr sz="1100" b="0" i="0">
                <a:solidFill>
                  <a:srgbClr val="1A1A1A"/>
                </a:solidFill>
                <a:latin typeface="Abadi"/>
              </a:rPr>
              <a:t>Medication allergy — PPI</a:t>
            </a:r>
          </a:p>
        </p:txBody>
      </p:sp>
      <p:sp>
        <p:nvSpPr>
          <p:cNvPr id="19" name="Rectangle 18"/>
          <p:cNvSpPr/>
          <p:nvPr/>
        </p:nvSpPr>
        <p:spPr>
          <a:xfrm>
            <a:off x="3383280" y="2774289"/>
            <a:ext cx="2163209" cy="2578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19641" y="2688336"/>
            <a:ext cx="1463040" cy="429768"/>
          </a:xfrm>
          <a:prstGeom prst="rect">
            <a:avLst/>
          </a:prstGeom>
          <a:noFill/>
        </p:spPr>
        <p:txBody>
          <a:bodyPr wrap="square" lIns="45720" rIns="45720" tIns="27432" bIns="27432" anchor="ctr">
            <a:spAutoFit/>
          </a:bodyPr>
          <a:lstStyle/>
          <a:p>
            <a:pPr algn="l"/>
            <a:r>
              <a:rPr sz="1100" b="1" i="0">
                <a:solidFill>
                  <a:srgbClr val="1A1A1A"/>
                </a:solidFill>
                <a:latin typeface="Abadi"/>
              </a:rPr>
              <a:t>1.84</a:t>
            </a:r>
          </a:p>
        </p:txBody>
      </p:sp>
      <p:sp>
        <p:nvSpPr>
          <p:cNvPr id="21" name="TextBox 20"/>
          <p:cNvSpPr txBox="1"/>
          <p:nvPr/>
        </p:nvSpPr>
        <p:spPr>
          <a:xfrm>
            <a:off x="548640" y="3118104"/>
            <a:ext cx="2743200" cy="429768"/>
          </a:xfrm>
          <a:prstGeom prst="rect">
            <a:avLst/>
          </a:prstGeom>
          <a:noFill/>
        </p:spPr>
        <p:txBody>
          <a:bodyPr wrap="square" lIns="45720" rIns="45720" tIns="27432" bIns="27432" anchor="ctr">
            <a:spAutoFit/>
          </a:bodyPr>
          <a:lstStyle/>
          <a:p>
            <a:pPr algn="l"/>
            <a:r>
              <a:rPr sz="1100" b="0" i="0">
                <a:solidFill>
                  <a:srgbClr val="1A1A1A"/>
                </a:solidFill>
                <a:latin typeface="Abadi"/>
              </a:rPr>
              <a:t>Medication allergy — H2RA</a:t>
            </a:r>
          </a:p>
        </p:txBody>
      </p:sp>
      <p:sp>
        <p:nvSpPr>
          <p:cNvPr id="22" name="Rectangle 21"/>
          <p:cNvSpPr/>
          <p:nvPr/>
        </p:nvSpPr>
        <p:spPr>
          <a:xfrm>
            <a:off x="3383280" y="3204057"/>
            <a:ext cx="1998617" cy="2578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55049" y="3118104"/>
            <a:ext cx="1463040" cy="429768"/>
          </a:xfrm>
          <a:prstGeom prst="rect">
            <a:avLst/>
          </a:prstGeom>
          <a:noFill/>
        </p:spPr>
        <p:txBody>
          <a:bodyPr wrap="square" lIns="45720" rIns="45720" tIns="27432" bIns="27432" anchor="ctr">
            <a:spAutoFit/>
          </a:bodyPr>
          <a:lstStyle/>
          <a:p>
            <a:pPr algn="l"/>
            <a:r>
              <a:rPr sz="1100" b="1" i="0">
                <a:solidFill>
                  <a:srgbClr val="1A1A1A"/>
                </a:solidFill>
                <a:latin typeface="Abadi"/>
              </a:rPr>
              <a:t>1.70</a:t>
            </a:r>
          </a:p>
        </p:txBody>
      </p:sp>
      <p:sp>
        <p:nvSpPr>
          <p:cNvPr id="24" name="TextBox 23"/>
          <p:cNvSpPr txBox="1"/>
          <p:nvPr/>
        </p:nvSpPr>
        <p:spPr>
          <a:xfrm>
            <a:off x="548640" y="3547872"/>
            <a:ext cx="2743200" cy="429768"/>
          </a:xfrm>
          <a:prstGeom prst="rect">
            <a:avLst/>
          </a:prstGeom>
          <a:noFill/>
        </p:spPr>
        <p:txBody>
          <a:bodyPr wrap="square" lIns="45720" rIns="45720" tIns="27432" bIns="27432" anchor="ctr">
            <a:spAutoFit/>
          </a:bodyPr>
          <a:lstStyle/>
          <a:p>
            <a:pPr algn="l"/>
            <a:r>
              <a:rPr sz="1100" b="0" i="0">
                <a:solidFill>
                  <a:srgbClr val="1A1A1A"/>
                </a:solidFill>
                <a:latin typeface="Abadi"/>
              </a:rPr>
              <a:t>Anaphylaxis — PPI</a:t>
            </a:r>
          </a:p>
        </p:txBody>
      </p:sp>
      <p:sp>
        <p:nvSpPr>
          <p:cNvPr id="25" name="Rectangle 24"/>
          <p:cNvSpPr/>
          <p:nvPr/>
        </p:nvSpPr>
        <p:spPr>
          <a:xfrm>
            <a:off x="3383280" y="3633825"/>
            <a:ext cx="1704702" cy="2578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61134" y="3547872"/>
            <a:ext cx="1463040" cy="429768"/>
          </a:xfrm>
          <a:prstGeom prst="rect">
            <a:avLst/>
          </a:prstGeom>
          <a:noFill/>
        </p:spPr>
        <p:txBody>
          <a:bodyPr wrap="square" lIns="45720" rIns="45720" tIns="27432" bIns="27432" anchor="ctr">
            <a:spAutoFit/>
          </a:bodyPr>
          <a:lstStyle/>
          <a:p>
            <a:pPr algn="l"/>
            <a:r>
              <a:rPr sz="1100" b="1" i="0">
                <a:solidFill>
                  <a:srgbClr val="1A1A1A"/>
                </a:solidFill>
                <a:latin typeface="Abadi"/>
              </a:rPr>
              <a:t>1.45</a:t>
            </a:r>
          </a:p>
        </p:txBody>
      </p:sp>
      <p:sp>
        <p:nvSpPr>
          <p:cNvPr id="27" name="TextBox 26"/>
          <p:cNvSpPr txBox="1"/>
          <p:nvPr/>
        </p:nvSpPr>
        <p:spPr>
          <a:xfrm>
            <a:off x="548640" y="3977639"/>
            <a:ext cx="2743200" cy="429768"/>
          </a:xfrm>
          <a:prstGeom prst="rect">
            <a:avLst/>
          </a:prstGeom>
          <a:noFill/>
        </p:spPr>
        <p:txBody>
          <a:bodyPr wrap="square" lIns="45720" rIns="45720" tIns="27432" bIns="27432" anchor="ctr">
            <a:spAutoFit/>
          </a:bodyPr>
          <a:lstStyle/>
          <a:p>
            <a:pPr algn="l"/>
            <a:r>
              <a:rPr sz="1100" b="0" i="0">
                <a:solidFill>
                  <a:srgbClr val="1A1A1A"/>
                </a:solidFill>
                <a:latin typeface="Abadi"/>
              </a:rPr>
              <a:t>Anaphylaxis — H2RA</a:t>
            </a:r>
          </a:p>
        </p:txBody>
      </p:sp>
      <p:sp>
        <p:nvSpPr>
          <p:cNvPr id="28" name="Rectangle 27"/>
          <p:cNvSpPr/>
          <p:nvPr/>
        </p:nvSpPr>
        <p:spPr>
          <a:xfrm>
            <a:off x="3383280" y="4063593"/>
            <a:ext cx="1775242" cy="2578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31674" y="3977639"/>
            <a:ext cx="1463040" cy="429768"/>
          </a:xfrm>
          <a:prstGeom prst="rect">
            <a:avLst/>
          </a:prstGeom>
          <a:noFill/>
        </p:spPr>
        <p:txBody>
          <a:bodyPr wrap="square" lIns="45720" rIns="45720" tIns="27432" bIns="27432" anchor="ctr">
            <a:spAutoFit/>
          </a:bodyPr>
          <a:lstStyle/>
          <a:p>
            <a:pPr algn="l"/>
            <a:r>
              <a:rPr sz="1100" b="1" i="0">
                <a:solidFill>
                  <a:srgbClr val="1A1A1A"/>
                </a:solidFill>
                <a:latin typeface="Abadi"/>
              </a:rPr>
              <a:t>1.51</a:t>
            </a:r>
          </a:p>
        </p:txBody>
      </p:sp>
      <p:sp>
        <p:nvSpPr>
          <p:cNvPr id="30" name="TextBox 29"/>
          <p:cNvSpPr txBox="1"/>
          <p:nvPr/>
        </p:nvSpPr>
        <p:spPr>
          <a:xfrm>
            <a:off x="548640" y="4407408"/>
            <a:ext cx="2743200" cy="429768"/>
          </a:xfrm>
          <a:prstGeom prst="rect">
            <a:avLst/>
          </a:prstGeom>
          <a:noFill/>
        </p:spPr>
        <p:txBody>
          <a:bodyPr wrap="square" lIns="45720" rIns="45720" tIns="27432" bIns="27432" anchor="ctr">
            <a:spAutoFit/>
          </a:bodyPr>
          <a:lstStyle/>
          <a:p>
            <a:pPr algn="l"/>
            <a:r>
              <a:rPr sz="1100" b="0" i="0">
                <a:solidFill>
                  <a:srgbClr val="1A1A1A"/>
                </a:solidFill>
                <a:latin typeface="Abadi"/>
              </a:rPr>
              <a:t>Allergic rhinitis — PPI</a:t>
            </a:r>
          </a:p>
        </p:txBody>
      </p:sp>
      <p:sp>
        <p:nvSpPr>
          <p:cNvPr id="31" name="Rectangle 30"/>
          <p:cNvSpPr/>
          <p:nvPr/>
        </p:nvSpPr>
        <p:spPr>
          <a:xfrm>
            <a:off x="3383280" y="4493361"/>
            <a:ext cx="1692946" cy="25786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49378" y="4407408"/>
            <a:ext cx="1463040" cy="429768"/>
          </a:xfrm>
          <a:prstGeom prst="rect">
            <a:avLst/>
          </a:prstGeom>
          <a:noFill/>
        </p:spPr>
        <p:txBody>
          <a:bodyPr wrap="square" lIns="45720" rIns="45720" tIns="27432" bIns="27432" anchor="ctr">
            <a:spAutoFit/>
          </a:bodyPr>
          <a:lstStyle/>
          <a:p>
            <a:pPr algn="l"/>
            <a:r>
              <a:rPr sz="1100" b="1" i="0">
                <a:solidFill>
                  <a:srgbClr val="1A1A1A"/>
                </a:solidFill>
                <a:latin typeface="Abadi"/>
              </a:rPr>
              <a:t>1.44</a:t>
            </a:r>
          </a:p>
        </p:txBody>
      </p:sp>
      <p:sp>
        <p:nvSpPr>
          <p:cNvPr id="33" name="TextBox 32"/>
          <p:cNvSpPr txBox="1"/>
          <p:nvPr/>
        </p:nvSpPr>
        <p:spPr>
          <a:xfrm>
            <a:off x="548640" y="4837176"/>
            <a:ext cx="2743200" cy="429768"/>
          </a:xfrm>
          <a:prstGeom prst="rect">
            <a:avLst/>
          </a:prstGeom>
          <a:noFill/>
        </p:spPr>
        <p:txBody>
          <a:bodyPr wrap="square" lIns="45720" rIns="45720" tIns="27432" bIns="27432" anchor="ctr">
            <a:spAutoFit/>
          </a:bodyPr>
          <a:lstStyle/>
          <a:p>
            <a:pPr algn="l"/>
            <a:r>
              <a:rPr sz="1100" b="0" i="0">
                <a:solidFill>
                  <a:srgbClr val="1A1A1A"/>
                </a:solidFill>
                <a:latin typeface="Abadi"/>
              </a:rPr>
              <a:t>Allergic rhinitis — H2RA</a:t>
            </a:r>
          </a:p>
        </p:txBody>
      </p:sp>
      <p:sp>
        <p:nvSpPr>
          <p:cNvPr id="34" name="Rectangle 33"/>
          <p:cNvSpPr/>
          <p:nvPr/>
        </p:nvSpPr>
        <p:spPr>
          <a:xfrm>
            <a:off x="3383280" y="4923129"/>
            <a:ext cx="1763485" cy="25786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19917" y="4837176"/>
            <a:ext cx="1463040" cy="429768"/>
          </a:xfrm>
          <a:prstGeom prst="rect">
            <a:avLst/>
          </a:prstGeom>
          <a:noFill/>
        </p:spPr>
        <p:txBody>
          <a:bodyPr wrap="square" lIns="45720" rIns="45720" tIns="27432" bIns="27432" anchor="ctr">
            <a:spAutoFit/>
          </a:bodyPr>
          <a:lstStyle/>
          <a:p>
            <a:pPr algn="l"/>
            <a:r>
              <a:rPr sz="1100" b="1" i="0">
                <a:solidFill>
                  <a:srgbClr val="1A1A1A"/>
                </a:solidFill>
                <a:latin typeface="Abadi"/>
              </a:rPr>
              <a:t>1.50</a:t>
            </a:r>
          </a:p>
        </p:txBody>
      </p:sp>
      <p:sp>
        <p:nvSpPr>
          <p:cNvPr id="36" name="TextBox 35"/>
          <p:cNvSpPr txBox="1"/>
          <p:nvPr/>
        </p:nvSpPr>
        <p:spPr>
          <a:xfrm>
            <a:off x="8092440" y="1773936"/>
            <a:ext cx="3538728" cy="4023360"/>
          </a:xfrm>
          <a:prstGeom prst="rect">
            <a:avLst/>
          </a:prstGeom>
          <a:noFill/>
        </p:spPr>
        <p:txBody>
          <a:bodyPr wrap="square" lIns="45720" rIns="45720" tIns="27432" bIns="27432" anchor="t">
            <a:spAutoFit/>
          </a:bodyPr>
          <a:lstStyle/>
          <a:p>
            <a:pPr algn="l"/>
            <a:r>
              <a:rPr sz="1700" b="1" i="0">
                <a:solidFill>
                  <a:srgbClr val="1B355E"/>
                </a:solidFill>
                <a:latin typeface="Abadi"/>
              </a:rPr>
              <a:t>Mechanism</a:t>
            </a:r>
          </a:p>
          <a:p>
            <a:pPr algn="l">
              <a:spcAft>
                <a:spcPts val="900"/>
              </a:spcAft>
            </a:pPr>
            <a:r>
              <a:rPr sz="1000" b="0" i="0">
                <a:solidFill>
                  <a:srgbClr val="555555"/>
                </a:solidFill>
                <a:latin typeface="Abadi"/>
              </a:rPr>
              <a:t>Pepsin needs acid: at high pH, dietary proteins reach the gut less digested and more allergenic.</a:t>
            </a:r>
          </a:p>
          <a:p>
            <a:pPr algn="l"/>
            <a:r>
              <a:rPr sz="1700" b="1" i="0">
                <a:solidFill>
                  <a:srgbClr val="1B355E"/>
                </a:solidFill>
                <a:latin typeface="Abadi"/>
              </a:rPr>
              <a:t>Duration</a:t>
            </a:r>
          </a:p>
          <a:p>
            <a:pPr algn="l">
              <a:spcAft>
                <a:spcPts val="900"/>
              </a:spcAft>
            </a:pPr>
            <a:r>
              <a:rPr sz="1000" b="0" i="0">
                <a:solidFill>
                  <a:srgbClr val="555555"/>
                </a:solidFill>
                <a:latin typeface="Abadi"/>
              </a:rPr>
              <a:t>PPI use beyond 60 days carried more food allergy than 1–60 days.</a:t>
            </a:r>
          </a:p>
          <a:p>
            <a:pPr algn="l"/>
            <a:r>
              <a:rPr sz="1700" b="1" i="0">
                <a:solidFill>
                  <a:srgbClr val="1B355E"/>
                </a:solidFill>
                <a:latin typeface="Abadi"/>
              </a:rPr>
              <a:t>The irony</a:t>
            </a:r>
          </a:p>
          <a:p>
            <a:pPr algn="l">
              <a:spcAft>
                <a:spcPts val="900"/>
              </a:spcAft>
            </a:pPr>
            <a:r>
              <a:rPr sz="1000" b="0" i="0">
                <a:solidFill>
                  <a:srgbClr val="555555"/>
                </a:solidFill>
                <a:latin typeface="Abadi"/>
              </a:rPr>
              <a:t>A PPI given for presumed reflux may help create the milk allergy that mimics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HARM IV: THE PRETERM INFANT</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THE NICU PAID FIRST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Acid suppression in very low birth weight infants: infection, necrotising enterocolitis and death</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Terrin G, et al. Pediatrics 2012;129:e40–5 · Guillet R, et al. Pediatrics 2006;117:e137–42 · Eichenwald EC, AAP Committee on Fetus and Newborn. Pediatrics 2018;142:e20181061</a:t>
            </a:r>
          </a:p>
        </p:txBody>
      </p:sp>
      <p:sp>
        <p:nvSpPr>
          <p:cNvPr id="12" name="TextBox 11"/>
          <p:cNvSpPr txBox="1"/>
          <p:nvPr/>
        </p:nvSpPr>
        <p:spPr>
          <a:xfrm>
            <a:off x="640080" y="1810512"/>
            <a:ext cx="2560320" cy="228600"/>
          </a:xfrm>
          <a:prstGeom prst="rect">
            <a:avLst/>
          </a:prstGeom>
          <a:noFill/>
        </p:spPr>
        <p:txBody>
          <a:bodyPr wrap="square" lIns="45720" rIns="45720" tIns="27432" bIns="27432" anchor="t">
            <a:spAutoFit/>
          </a:bodyPr>
          <a:lstStyle/>
          <a:p>
            <a:pPr algn="l"/>
            <a:r>
              <a:rPr sz="1000" b="0" i="1">
                <a:solidFill>
                  <a:srgbClr val="7F7F7F"/>
                </a:solidFill>
                <a:latin typeface="Abadi"/>
              </a:rPr>
              <a:t>Per cent, 274 VLBW infants (Terrin 2012)</a:t>
            </a:r>
          </a:p>
        </p:txBody>
      </p:sp>
      <p:sp>
        <p:nvSpPr>
          <p:cNvPr id="13" name="Rectangle 12"/>
          <p:cNvSpPr/>
          <p:nvPr/>
        </p:nvSpPr>
        <p:spPr>
          <a:xfrm>
            <a:off x="640080" y="5084064"/>
            <a:ext cx="5852160"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9264" y="2747162"/>
            <a:ext cx="804672" cy="2336901"/>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472842"/>
            <a:ext cx="1463040" cy="237744"/>
          </a:xfrm>
          <a:prstGeom prst="rect">
            <a:avLst/>
          </a:prstGeom>
          <a:noFill/>
        </p:spPr>
        <p:txBody>
          <a:bodyPr wrap="square" lIns="45720" rIns="45720" tIns="27432" bIns="27432" anchor="t">
            <a:spAutoFit/>
          </a:bodyPr>
          <a:lstStyle/>
          <a:p>
            <a:pPr algn="ctr"/>
            <a:r>
              <a:rPr sz="1100" b="1" i="0">
                <a:solidFill>
                  <a:srgbClr val="1A1A1A"/>
                </a:solidFill>
                <a:latin typeface="Abadi"/>
              </a:rPr>
              <a:t>37.4</a:t>
            </a:r>
          </a:p>
        </p:txBody>
      </p:sp>
      <p:sp>
        <p:nvSpPr>
          <p:cNvPr id="16" name="TextBox 15"/>
          <p:cNvSpPr txBox="1"/>
          <p:nvPr/>
        </p:nvSpPr>
        <p:spPr>
          <a:xfrm>
            <a:off x="658368" y="5138927"/>
            <a:ext cx="1426464" cy="566928"/>
          </a:xfrm>
          <a:prstGeom prst="rect">
            <a:avLst/>
          </a:prstGeom>
          <a:noFill/>
        </p:spPr>
        <p:txBody>
          <a:bodyPr wrap="square" lIns="45720" rIns="45720" tIns="27432" bIns="27432" anchor="t">
            <a:spAutoFit/>
          </a:bodyPr>
          <a:lstStyle/>
          <a:p>
            <a:pPr algn="ctr"/>
            <a:r>
              <a:rPr sz="1000" b="0" i="0">
                <a:solidFill>
                  <a:srgbClr val="555555"/>
                </a:solidFill>
                <a:latin typeface="Abadi"/>
              </a:rPr>
              <a:t>Infection, ranitidine</a:t>
            </a:r>
          </a:p>
        </p:txBody>
      </p:sp>
      <p:sp>
        <p:nvSpPr>
          <p:cNvPr id="17" name="Rectangle 16"/>
          <p:cNvSpPr/>
          <p:nvPr/>
        </p:nvSpPr>
        <p:spPr>
          <a:xfrm>
            <a:off x="2432303" y="4471720"/>
            <a:ext cx="804672" cy="612343"/>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03120" y="4197400"/>
            <a:ext cx="1463040" cy="237744"/>
          </a:xfrm>
          <a:prstGeom prst="rect">
            <a:avLst/>
          </a:prstGeom>
          <a:noFill/>
        </p:spPr>
        <p:txBody>
          <a:bodyPr wrap="square" lIns="45720" rIns="45720" tIns="27432" bIns="27432" anchor="t">
            <a:spAutoFit/>
          </a:bodyPr>
          <a:lstStyle/>
          <a:p>
            <a:pPr algn="ctr"/>
            <a:r>
              <a:rPr sz="1100" b="1" i="0">
                <a:solidFill>
                  <a:srgbClr val="1A1A1A"/>
                </a:solidFill>
                <a:latin typeface="Abadi"/>
              </a:rPr>
              <a:t>9.8</a:t>
            </a:r>
          </a:p>
        </p:txBody>
      </p:sp>
      <p:sp>
        <p:nvSpPr>
          <p:cNvPr id="19" name="TextBox 18"/>
          <p:cNvSpPr txBox="1"/>
          <p:nvPr/>
        </p:nvSpPr>
        <p:spPr>
          <a:xfrm>
            <a:off x="2121408" y="5138927"/>
            <a:ext cx="1426464" cy="566928"/>
          </a:xfrm>
          <a:prstGeom prst="rect">
            <a:avLst/>
          </a:prstGeom>
          <a:noFill/>
        </p:spPr>
        <p:txBody>
          <a:bodyPr wrap="square" lIns="45720" rIns="45720" tIns="27432" bIns="27432" anchor="t">
            <a:spAutoFit/>
          </a:bodyPr>
          <a:lstStyle/>
          <a:p>
            <a:pPr algn="ctr"/>
            <a:r>
              <a:rPr sz="1000" b="0" i="0">
                <a:solidFill>
                  <a:srgbClr val="555555"/>
                </a:solidFill>
                <a:latin typeface="Abadi"/>
              </a:rPr>
              <a:t>Infection, unexposed</a:t>
            </a:r>
          </a:p>
        </p:txBody>
      </p:sp>
      <p:sp>
        <p:nvSpPr>
          <p:cNvPr id="20" name="Rectangle 19"/>
          <p:cNvSpPr/>
          <p:nvPr/>
        </p:nvSpPr>
        <p:spPr>
          <a:xfrm>
            <a:off x="3895344" y="4465472"/>
            <a:ext cx="804672" cy="618591"/>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60" y="4191152"/>
            <a:ext cx="1463040" cy="237744"/>
          </a:xfrm>
          <a:prstGeom prst="rect">
            <a:avLst/>
          </a:prstGeom>
          <a:noFill/>
        </p:spPr>
        <p:txBody>
          <a:bodyPr wrap="square" lIns="45720" rIns="45720" tIns="27432" bIns="27432" anchor="t">
            <a:spAutoFit/>
          </a:bodyPr>
          <a:lstStyle/>
          <a:p>
            <a:pPr algn="ctr"/>
            <a:r>
              <a:rPr sz="1100" b="1" i="0">
                <a:solidFill>
                  <a:srgbClr val="1A1A1A"/>
                </a:solidFill>
                <a:latin typeface="Abadi"/>
              </a:rPr>
              <a:t>9.9</a:t>
            </a:r>
          </a:p>
        </p:txBody>
      </p:sp>
      <p:sp>
        <p:nvSpPr>
          <p:cNvPr id="22" name="TextBox 21"/>
          <p:cNvSpPr txBox="1"/>
          <p:nvPr/>
        </p:nvSpPr>
        <p:spPr>
          <a:xfrm>
            <a:off x="3584448" y="5138927"/>
            <a:ext cx="1426464" cy="566928"/>
          </a:xfrm>
          <a:prstGeom prst="rect">
            <a:avLst/>
          </a:prstGeom>
          <a:noFill/>
        </p:spPr>
        <p:txBody>
          <a:bodyPr wrap="square" lIns="45720" rIns="45720" tIns="27432" bIns="27432" anchor="t">
            <a:spAutoFit/>
          </a:bodyPr>
          <a:lstStyle/>
          <a:p>
            <a:pPr algn="ctr"/>
            <a:r>
              <a:rPr sz="1000" b="0" i="0">
                <a:solidFill>
                  <a:srgbClr val="555555"/>
                </a:solidFill>
                <a:latin typeface="Abadi"/>
              </a:rPr>
              <a:t>Death, ranitidine</a:t>
            </a:r>
          </a:p>
        </p:txBody>
      </p:sp>
      <p:sp>
        <p:nvSpPr>
          <p:cNvPr id="23" name="Rectangle 22"/>
          <p:cNvSpPr/>
          <p:nvPr/>
        </p:nvSpPr>
        <p:spPr>
          <a:xfrm>
            <a:off x="5358384" y="4984089"/>
            <a:ext cx="804672" cy="9997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0" y="4709769"/>
            <a:ext cx="1463040" cy="237744"/>
          </a:xfrm>
          <a:prstGeom prst="rect">
            <a:avLst/>
          </a:prstGeom>
          <a:noFill/>
        </p:spPr>
        <p:txBody>
          <a:bodyPr wrap="square" lIns="45720" rIns="45720" tIns="27432" bIns="27432" anchor="t">
            <a:spAutoFit/>
          </a:bodyPr>
          <a:lstStyle/>
          <a:p>
            <a:pPr algn="ctr"/>
            <a:r>
              <a:rPr sz="1100" b="1" i="0">
                <a:solidFill>
                  <a:srgbClr val="1A1A1A"/>
                </a:solidFill>
                <a:latin typeface="Abadi"/>
              </a:rPr>
              <a:t>1.6</a:t>
            </a:r>
          </a:p>
        </p:txBody>
      </p:sp>
      <p:sp>
        <p:nvSpPr>
          <p:cNvPr id="25" name="TextBox 24"/>
          <p:cNvSpPr txBox="1"/>
          <p:nvPr/>
        </p:nvSpPr>
        <p:spPr>
          <a:xfrm>
            <a:off x="5047488" y="5138927"/>
            <a:ext cx="1426464" cy="566928"/>
          </a:xfrm>
          <a:prstGeom prst="rect">
            <a:avLst/>
          </a:prstGeom>
          <a:noFill/>
        </p:spPr>
        <p:txBody>
          <a:bodyPr wrap="square" lIns="45720" rIns="45720" tIns="27432" bIns="27432" anchor="t">
            <a:spAutoFit/>
          </a:bodyPr>
          <a:lstStyle/>
          <a:p>
            <a:pPr algn="ctr"/>
            <a:r>
              <a:rPr sz="1000" b="0" i="0">
                <a:solidFill>
                  <a:srgbClr val="555555"/>
                </a:solidFill>
                <a:latin typeface="Abadi"/>
              </a:rPr>
              <a:t>Death, unexposed</a:t>
            </a:r>
          </a:p>
        </p:txBody>
      </p:sp>
      <p:sp>
        <p:nvSpPr>
          <p:cNvPr id="26" name="TextBox 25"/>
          <p:cNvSpPr txBox="1"/>
          <p:nvPr/>
        </p:nvSpPr>
        <p:spPr>
          <a:xfrm>
            <a:off x="7178040" y="1773936"/>
            <a:ext cx="4453128" cy="4023360"/>
          </a:xfrm>
          <a:prstGeom prst="rect">
            <a:avLst/>
          </a:prstGeom>
          <a:noFill/>
        </p:spPr>
        <p:txBody>
          <a:bodyPr wrap="square" lIns="45720" rIns="45720" tIns="27432" bIns="27432" anchor="t">
            <a:spAutoFit/>
          </a:bodyPr>
          <a:lstStyle/>
          <a:p>
            <a:pPr algn="l"/>
            <a:r>
              <a:rPr sz="1700" b="1" i="0">
                <a:solidFill>
                  <a:srgbClr val="1B355E"/>
                </a:solidFill>
                <a:latin typeface="Abadi"/>
              </a:rPr>
              <a:t>OR 5.5</a:t>
            </a:r>
          </a:p>
          <a:p>
            <a:pPr algn="l">
              <a:spcAft>
                <a:spcPts val="900"/>
              </a:spcAft>
            </a:pPr>
            <a:r>
              <a:rPr sz="1000" b="0" i="0">
                <a:solidFill>
                  <a:srgbClr val="555555"/>
                </a:solidFill>
                <a:latin typeface="Abadi"/>
              </a:rPr>
              <a:t>For infection on ranitidine (2.9–10.4).</a:t>
            </a:r>
          </a:p>
          <a:p>
            <a:pPr algn="l"/>
            <a:r>
              <a:rPr sz="1700" b="1" i="0">
                <a:solidFill>
                  <a:srgbClr val="1B355E"/>
                </a:solidFill>
                <a:latin typeface="Abadi"/>
              </a:rPr>
              <a:t>6.6-fold</a:t>
            </a:r>
          </a:p>
          <a:p>
            <a:pPr algn="l">
              <a:spcAft>
                <a:spcPts val="900"/>
              </a:spcAft>
            </a:pPr>
            <a:r>
              <a:rPr sz="1000" b="0" i="0">
                <a:solidFill>
                  <a:srgbClr val="555555"/>
                </a:solidFill>
                <a:latin typeface="Abadi"/>
              </a:rPr>
              <a:t>Higher risk of necrotising enterocolitis with ranitidine (1.7–25.0).</a:t>
            </a:r>
          </a:p>
          <a:p>
            <a:pPr algn="l"/>
            <a:r>
              <a:rPr sz="1700" b="1" i="0">
                <a:solidFill>
                  <a:srgbClr val="1B355E"/>
                </a:solidFill>
                <a:latin typeface="Abadi"/>
              </a:rPr>
              <a:t>1.71</a:t>
            </a:r>
          </a:p>
          <a:p>
            <a:pPr algn="l">
              <a:spcAft>
                <a:spcPts val="900"/>
              </a:spcAft>
            </a:pPr>
            <a:r>
              <a:rPr sz="1000" b="0" i="0">
                <a:solidFill>
                  <a:srgbClr val="555555"/>
                </a:solidFill>
                <a:latin typeface="Abadi"/>
              </a:rPr>
              <a:t>NEC with H2 blockers in more than 11,000 VLBW infants (Guillet 2006).</a:t>
            </a:r>
          </a:p>
          <a:p>
            <a:pPr algn="l"/>
            <a:r>
              <a:rPr sz="1700" b="1" i="0">
                <a:solidFill>
                  <a:srgbClr val="1B355E"/>
                </a:solidFill>
                <a:latin typeface="Abadi"/>
              </a:rPr>
              <a:t>AAP 2018</a:t>
            </a:r>
          </a:p>
          <a:p>
            <a:pPr algn="l">
              <a:spcAft>
                <a:spcPts val="900"/>
              </a:spcAft>
            </a:pPr>
            <a:r>
              <a:rPr sz="1000" b="0" i="0">
                <a:solidFill>
                  <a:srgbClr val="555555"/>
                </a:solidFill>
                <a:latin typeface="Abadi"/>
              </a:rPr>
              <a:t>Reflux in preterm infants is normal; acid blockade lacks efficacy and carries significant harm.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LEGITIMATE INDICATIONS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WHEN A PPI IS THE RIGHT DRUG</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Indications with a rationale, and how to run the course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Rosen R, et al. JPGN 2018;66:516–54 · NICE NG1 (2015, updated 2019) · Krishnan U, et al. JPGN 2016;63:550–70 · Chen IL, et al. JPGN 2012;54:8–14</a:t>
            </a:r>
          </a:p>
        </p:txBody>
      </p:sp>
      <p:sp>
        <p:nvSpPr>
          <p:cNvPr id="12" name="Rectangle 11"/>
          <p:cNvSpPr/>
          <p:nvPr/>
        </p:nvSpPr>
        <p:spPr>
          <a:xfrm>
            <a:off x="548640" y="1773936"/>
            <a:ext cx="2633472"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2304288" cy="457200"/>
          </a:xfrm>
          <a:prstGeom prst="rect">
            <a:avLst/>
          </a:prstGeom>
          <a:noFill/>
        </p:spPr>
        <p:txBody>
          <a:bodyPr wrap="square" lIns="45720" rIns="45720" tIns="27432" bIns="27432" anchor="t">
            <a:spAutoFit/>
          </a:bodyPr>
          <a:lstStyle/>
          <a:p>
            <a:pPr algn="l"/>
            <a:r>
              <a:rPr sz="1500" b="1" i="0">
                <a:solidFill>
                  <a:srgbClr val="1E7A33"/>
                </a:solidFill>
                <a:latin typeface="Abadi"/>
              </a:rPr>
              <a:t>Erosive oesophagitis</a:t>
            </a:r>
          </a:p>
        </p:txBody>
      </p:sp>
      <p:sp>
        <p:nvSpPr>
          <p:cNvPr id="15" name="TextBox 14"/>
          <p:cNvSpPr txBox="1"/>
          <p:nvPr/>
        </p:nvSpPr>
        <p:spPr>
          <a:xfrm>
            <a:off x="713232" y="2523744"/>
            <a:ext cx="2304288"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Seen at endoscopy</a:t>
            </a:r>
          </a:p>
          <a:p>
            <a:pPr algn="l">
              <a:spcAft>
                <a:spcPts val="300"/>
              </a:spcAft>
            </a:pPr>
            <a:r>
              <a:rPr sz="1150" b="0" i="0">
                <a:solidFill>
                  <a:srgbClr val="1A1A1A"/>
                </a:solidFill>
                <a:latin typeface="Abadi"/>
              </a:rPr>
              <a:t>▪  NICE: offer PPI or H2RA</a:t>
            </a:r>
          </a:p>
          <a:p>
            <a:pPr algn="l">
              <a:spcAft>
                <a:spcPts val="300"/>
              </a:spcAft>
            </a:pPr>
            <a:r>
              <a:rPr sz="1150" b="0" i="0">
                <a:solidFill>
                  <a:srgbClr val="1A1A1A"/>
                </a:solidFill>
                <a:latin typeface="Abadi"/>
              </a:rPr>
              <a:t>▪  Esomeprazole is labelled for it</a:t>
            </a:r>
          </a:p>
        </p:txBody>
      </p:sp>
      <p:sp>
        <p:nvSpPr>
          <p:cNvPr id="16" name="Rectangle 15"/>
          <p:cNvSpPr/>
          <p:nvPr/>
        </p:nvSpPr>
        <p:spPr>
          <a:xfrm>
            <a:off x="3364992" y="1773936"/>
            <a:ext cx="2633472"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984248"/>
            <a:ext cx="2304288" cy="457200"/>
          </a:xfrm>
          <a:prstGeom prst="rect">
            <a:avLst/>
          </a:prstGeom>
          <a:noFill/>
        </p:spPr>
        <p:txBody>
          <a:bodyPr wrap="square" lIns="45720" rIns="45720" tIns="27432" bIns="27432" anchor="t">
            <a:spAutoFit/>
          </a:bodyPr>
          <a:lstStyle/>
          <a:p>
            <a:pPr algn="l"/>
            <a:r>
              <a:rPr sz="1500" b="1" i="0">
                <a:solidFill>
                  <a:srgbClr val="1B355E"/>
                </a:solidFill>
                <a:latin typeface="Abadi"/>
              </a:rPr>
              <a:t>Oesophageal atresia</a:t>
            </a:r>
          </a:p>
        </p:txBody>
      </p:sp>
      <p:sp>
        <p:nvSpPr>
          <p:cNvPr id="19" name="TextBox 18"/>
          <p:cNvSpPr txBox="1"/>
          <p:nvPr/>
        </p:nvSpPr>
        <p:spPr>
          <a:xfrm>
            <a:off x="3529584" y="2523744"/>
            <a:ext cx="2304288"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Start in the neonatal period</a:t>
            </a:r>
          </a:p>
          <a:p>
            <a:pPr algn="l">
              <a:spcAft>
                <a:spcPts val="300"/>
              </a:spcAft>
            </a:pPr>
            <a:r>
              <a:rPr sz="1150" b="0" i="0">
                <a:solidFill>
                  <a:srgbClr val="1A1A1A"/>
                </a:solidFill>
                <a:latin typeface="Abadi"/>
              </a:rPr>
              <a:t>▪  To 12 months or longer if GERD</a:t>
            </a:r>
          </a:p>
          <a:p>
            <a:pPr algn="l">
              <a:spcAft>
                <a:spcPts val="300"/>
              </a:spcAft>
            </a:pPr>
            <a:r>
              <a:rPr sz="1150" b="0" i="0">
                <a:solidFill>
                  <a:srgbClr val="1A1A1A"/>
                </a:solidFill>
                <a:latin typeface="Abadi"/>
              </a:rPr>
              <a:t>▪  Low-quality evidence</a:t>
            </a:r>
          </a:p>
        </p:txBody>
      </p:sp>
      <p:sp>
        <p:nvSpPr>
          <p:cNvPr id="20" name="Rectangle 19"/>
          <p:cNvSpPr/>
          <p:nvPr/>
        </p:nvSpPr>
        <p:spPr>
          <a:xfrm>
            <a:off x="6181344" y="1773936"/>
            <a:ext cx="2633472"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2304288" cy="457200"/>
          </a:xfrm>
          <a:prstGeom prst="rect">
            <a:avLst/>
          </a:prstGeom>
          <a:noFill/>
        </p:spPr>
        <p:txBody>
          <a:bodyPr wrap="square" lIns="45720" rIns="45720" tIns="27432" bIns="27432" anchor="t">
            <a:spAutoFit/>
          </a:bodyPr>
          <a:lstStyle/>
          <a:p>
            <a:pPr algn="l"/>
            <a:r>
              <a:rPr sz="1500" b="1" i="0">
                <a:solidFill>
                  <a:srgbClr val="D97A0B"/>
                </a:solidFill>
                <a:latin typeface="Abadi"/>
              </a:rPr>
              <a:t>Acid injury</a:t>
            </a:r>
          </a:p>
        </p:txBody>
      </p:sp>
      <p:sp>
        <p:nvSpPr>
          <p:cNvPr id="23" name="TextBox 22"/>
          <p:cNvSpPr txBox="1"/>
          <p:nvPr/>
        </p:nvSpPr>
        <p:spPr>
          <a:xfrm>
            <a:off x="6345936" y="2523744"/>
            <a:ext cx="2304288"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Haematemesis with oesophagitis</a:t>
            </a:r>
          </a:p>
          <a:p>
            <a:pPr algn="l">
              <a:spcAft>
                <a:spcPts val="300"/>
              </a:spcAft>
            </a:pPr>
            <a:r>
              <a:rPr sz="1150" b="0" i="0">
                <a:solidFill>
                  <a:srgbClr val="1A1A1A"/>
                </a:solidFill>
                <a:latin typeface="Abadi"/>
              </a:rPr>
              <a:t>▪  Peptic stricture</a:t>
            </a:r>
          </a:p>
          <a:p>
            <a:pPr algn="l">
              <a:spcAft>
                <a:spcPts val="300"/>
              </a:spcAft>
            </a:pPr>
            <a:r>
              <a:rPr sz="1150" b="0" i="0">
                <a:solidFill>
                  <a:srgbClr val="1A1A1A"/>
                </a:solidFill>
                <a:latin typeface="Abadi"/>
              </a:rPr>
              <a:t>▪  Not a coffee-ground spit-up</a:t>
            </a:r>
          </a:p>
        </p:txBody>
      </p:sp>
      <p:sp>
        <p:nvSpPr>
          <p:cNvPr id="24" name="Rectangle 23"/>
          <p:cNvSpPr/>
          <p:nvPr/>
        </p:nvSpPr>
        <p:spPr>
          <a:xfrm>
            <a:off x="8997696" y="1773936"/>
            <a:ext cx="2633472"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1984248"/>
            <a:ext cx="2304288" cy="457200"/>
          </a:xfrm>
          <a:prstGeom prst="rect">
            <a:avLst/>
          </a:prstGeom>
          <a:noFill/>
        </p:spPr>
        <p:txBody>
          <a:bodyPr wrap="square" lIns="45720" rIns="45720" tIns="27432" bIns="27432" anchor="t">
            <a:spAutoFit/>
          </a:bodyPr>
          <a:lstStyle/>
          <a:p>
            <a:pPr algn="l"/>
            <a:r>
              <a:rPr sz="1500" b="1" i="0">
                <a:solidFill>
                  <a:srgbClr val="7F7F7F"/>
                </a:solidFill>
                <a:latin typeface="Abadi"/>
              </a:rPr>
              <a:t>How to run it</a:t>
            </a:r>
          </a:p>
        </p:txBody>
      </p:sp>
      <p:sp>
        <p:nvSpPr>
          <p:cNvPr id="27" name="TextBox 26"/>
          <p:cNvSpPr txBox="1"/>
          <p:nvPr/>
        </p:nvSpPr>
        <p:spPr>
          <a:xfrm>
            <a:off x="9162288" y="2523744"/>
            <a:ext cx="2304288"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About 1 mg/kg/day omeprazole</a:t>
            </a:r>
          </a:p>
          <a:p>
            <a:pPr algn="l">
              <a:spcAft>
                <a:spcPts val="300"/>
              </a:spcAft>
            </a:pPr>
            <a:r>
              <a:rPr sz="1150" b="0" i="0">
                <a:solidFill>
                  <a:srgbClr val="1A1A1A"/>
                </a:solidFill>
                <a:latin typeface="Abadi"/>
              </a:rPr>
              <a:t>▪  Before a feed, once daily</a:t>
            </a:r>
          </a:p>
          <a:p>
            <a:pPr algn="l">
              <a:spcAft>
                <a:spcPts val="300"/>
              </a:spcAft>
            </a:pPr>
            <a:r>
              <a:rPr sz="1150" b="0" i="0">
                <a:solidFill>
                  <a:srgbClr val="1A1A1A"/>
                </a:solidFill>
                <a:latin typeface="Abadi"/>
              </a:rPr>
              <a:t>▪  Fixed stop date</a:t>
            </a:r>
          </a:p>
        </p:txBody>
      </p:sp>
      <p:sp>
        <p:nvSpPr>
          <p:cNvPr id="28" name="TextBox 27"/>
          <p:cNvSpPr txBox="1"/>
          <p:nvPr/>
        </p:nvSpPr>
        <p:spPr>
          <a:xfrm>
            <a:off x="548640" y="4160520"/>
            <a:ext cx="11082528" cy="1645920"/>
          </a:xfrm>
          <a:prstGeom prst="rect">
            <a:avLst/>
          </a:prstGeom>
          <a:noFill/>
        </p:spPr>
        <p:txBody>
          <a:bodyPr wrap="square" lIns="45720" rIns="45720" tIns="27432" bIns="27432" anchor="t">
            <a:spAutoFit/>
          </a:bodyPr>
          <a:lstStyle/>
          <a:p>
            <a:pPr algn="l">
              <a:spcAft>
                <a:spcPts val="600"/>
              </a:spcAft>
            </a:pPr>
            <a:r>
              <a:rPr sz="1300" b="1" i="0">
                <a:solidFill>
                  <a:srgbClr val="1B355E"/>
                </a:solidFill>
                <a:latin typeface="Abadi"/>
              </a:rPr>
              <a:t>The rule.  </a:t>
            </a:r>
            <a:r>
              <a:rPr sz="1300" b="0" i="0">
                <a:solidFill>
                  <a:srgbClr val="1A1A1A"/>
                </a:solidFill>
                <a:latin typeface="Abadi"/>
              </a:rPr>
              <a:t>Treat a lesion, not a behaviour. If there is no oesophagitis, no oesophageal atresia and no bleeding, the infant has no indication that a trial has ever supported.</a:t>
            </a:r>
          </a:p>
          <a:p>
            <a:pPr algn="l">
              <a:spcAft>
                <a:spcPts val="600"/>
              </a:spcAft>
            </a:pPr>
            <a:r>
              <a:rPr sz="1300" b="1" i="0">
                <a:solidFill>
                  <a:srgbClr val="B22222"/>
                </a:solidFill>
                <a:latin typeface="Abadi"/>
              </a:rPr>
              <a:t>Before any PPI.  </a:t>
            </a:r>
            <a:r>
              <a:rPr sz="1300" b="0" i="0">
                <a:solidFill>
                  <a:srgbClr val="1A1A1A"/>
                </a:solidFill>
                <a:latin typeface="Abadi"/>
              </a:rPr>
              <a:t>Re-check red flags, growth and the feeding history; consider cow's milk protein allergy with a 2–4 week extensively hydrolysed formula trial.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THE EMPIRICAL TRIAL</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A TRIAL IS NOT A TEST</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Why an infant 'responds' to a PPI, and why that response diagnoses nothing</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Rosen R, et al. JPGN 2018;66:516–54 (recommendation 3.13) · NICE NG1 · Orenstein 2009 · Rosen 2018 key points</a:t>
            </a:r>
          </a:p>
        </p:txBody>
      </p:sp>
      <p:sp>
        <p:nvSpPr>
          <p:cNvPr id="12" name="Rectangle 11"/>
          <p:cNvSpPr/>
          <p:nvPr/>
        </p:nvSpPr>
        <p:spPr>
          <a:xfrm>
            <a:off x="548640" y="1773936"/>
            <a:ext cx="2633472" cy="16916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002536"/>
            <a:ext cx="2304288" cy="502920"/>
          </a:xfrm>
          <a:prstGeom prst="rect">
            <a:avLst/>
          </a:prstGeom>
          <a:noFill/>
        </p:spPr>
        <p:txBody>
          <a:bodyPr wrap="square" lIns="45720" rIns="45720" tIns="27432" bIns="27432" anchor="t">
            <a:spAutoFit/>
          </a:bodyPr>
          <a:lstStyle/>
          <a:p>
            <a:pPr algn="l"/>
            <a:r>
              <a:rPr sz="2000" b="1" i="0">
                <a:solidFill>
                  <a:srgbClr val="7F7F7F"/>
                </a:solidFill>
                <a:latin typeface="Abadi"/>
              </a:rPr>
              <a:t>54%</a:t>
            </a:r>
          </a:p>
        </p:txBody>
      </p:sp>
      <p:sp>
        <p:nvSpPr>
          <p:cNvPr id="15" name="TextBox 14"/>
          <p:cNvSpPr txBox="1"/>
          <p:nvPr/>
        </p:nvSpPr>
        <p:spPr>
          <a:xfrm>
            <a:off x="713232" y="2578608"/>
            <a:ext cx="2304288" cy="795528"/>
          </a:xfrm>
          <a:prstGeom prst="rect">
            <a:avLst/>
          </a:prstGeom>
          <a:noFill/>
        </p:spPr>
        <p:txBody>
          <a:bodyPr wrap="square" lIns="45720" rIns="45720" tIns="27432" bIns="27432" anchor="t">
            <a:spAutoFit/>
          </a:bodyPr>
          <a:lstStyle/>
          <a:p>
            <a:pPr algn="l"/>
            <a:r>
              <a:rPr sz="1100" b="0" i="0">
                <a:solidFill>
                  <a:srgbClr val="1A1A1A"/>
                </a:solidFill>
                <a:latin typeface="Abadi"/>
              </a:rPr>
              <a:t>Placebo responders in four weeks: the bar any infant 'response' has to clear.</a:t>
            </a:r>
          </a:p>
        </p:txBody>
      </p:sp>
      <p:sp>
        <p:nvSpPr>
          <p:cNvPr id="16" name="Rectangle 15"/>
          <p:cNvSpPr/>
          <p:nvPr/>
        </p:nvSpPr>
        <p:spPr>
          <a:xfrm>
            <a:off x="3364992" y="1773936"/>
            <a:ext cx="2633472" cy="16916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2002536"/>
            <a:ext cx="2304288" cy="502920"/>
          </a:xfrm>
          <a:prstGeom prst="rect">
            <a:avLst/>
          </a:prstGeom>
          <a:noFill/>
        </p:spPr>
        <p:txBody>
          <a:bodyPr wrap="square" lIns="45720" rIns="45720" tIns="27432" bIns="27432" anchor="t">
            <a:spAutoFit/>
          </a:bodyPr>
          <a:lstStyle/>
          <a:p>
            <a:pPr algn="l"/>
            <a:r>
              <a:rPr sz="2000" b="1" i="0">
                <a:solidFill>
                  <a:srgbClr val="1B355E"/>
                </a:solidFill>
                <a:latin typeface="Abadi"/>
              </a:rPr>
              <a:t>Peak at 6 weeks</a:t>
            </a:r>
          </a:p>
        </p:txBody>
      </p:sp>
      <p:sp>
        <p:nvSpPr>
          <p:cNvPr id="19" name="TextBox 18"/>
          <p:cNvSpPr txBox="1"/>
          <p:nvPr/>
        </p:nvSpPr>
        <p:spPr>
          <a:xfrm>
            <a:off x="3529584" y="2578608"/>
            <a:ext cx="2304288" cy="795528"/>
          </a:xfrm>
          <a:prstGeom prst="rect">
            <a:avLst/>
          </a:prstGeom>
          <a:noFill/>
        </p:spPr>
        <p:txBody>
          <a:bodyPr wrap="square" lIns="45720" rIns="45720" tIns="27432" bIns="27432" anchor="t">
            <a:spAutoFit/>
          </a:bodyPr>
          <a:lstStyle/>
          <a:p>
            <a:pPr algn="l"/>
            <a:r>
              <a:rPr sz="1100" b="0" i="0">
                <a:solidFill>
                  <a:srgbClr val="1A1A1A"/>
                </a:solidFill>
                <a:latin typeface="Abadi"/>
              </a:rPr>
              <a:t>Crying declines after the second month whatever is given.</a:t>
            </a:r>
          </a:p>
        </p:txBody>
      </p:sp>
      <p:sp>
        <p:nvSpPr>
          <p:cNvPr id="20" name="Rectangle 19"/>
          <p:cNvSpPr/>
          <p:nvPr/>
        </p:nvSpPr>
        <p:spPr>
          <a:xfrm>
            <a:off x="6181344" y="1773936"/>
            <a:ext cx="2633472" cy="16916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2002536"/>
            <a:ext cx="2304288" cy="502920"/>
          </a:xfrm>
          <a:prstGeom prst="rect">
            <a:avLst/>
          </a:prstGeom>
          <a:noFill/>
        </p:spPr>
        <p:txBody>
          <a:bodyPr wrap="square" lIns="45720" rIns="45720" tIns="27432" bIns="27432" anchor="t">
            <a:spAutoFit/>
          </a:bodyPr>
          <a:lstStyle/>
          <a:p>
            <a:pPr algn="l"/>
            <a:r>
              <a:rPr sz="2000" b="1" i="0">
                <a:solidFill>
                  <a:srgbClr val="D97A0B"/>
                </a:solidFill>
                <a:latin typeface="Abadi"/>
              </a:rPr>
              <a:t>≈ 90%</a:t>
            </a:r>
          </a:p>
        </p:txBody>
      </p:sp>
      <p:sp>
        <p:nvSpPr>
          <p:cNvPr id="23" name="TextBox 22"/>
          <p:cNvSpPr txBox="1"/>
          <p:nvPr/>
        </p:nvSpPr>
        <p:spPr>
          <a:xfrm>
            <a:off x="6345936" y="2578608"/>
            <a:ext cx="2304288" cy="795528"/>
          </a:xfrm>
          <a:prstGeom prst="rect">
            <a:avLst/>
          </a:prstGeom>
          <a:noFill/>
        </p:spPr>
        <p:txBody>
          <a:bodyPr wrap="square" lIns="45720" rIns="45720" tIns="27432" bIns="27432" anchor="t">
            <a:spAutoFit/>
          </a:bodyPr>
          <a:lstStyle/>
          <a:p>
            <a:pPr algn="l"/>
            <a:r>
              <a:rPr sz="1100" b="0" i="0">
                <a:solidFill>
                  <a:srgbClr val="1A1A1A"/>
                </a:solidFill>
                <a:latin typeface="Abadi"/>
              </a:rPr>
              <a:t>Of frequent regurgitators resolve by 12 months.</a:t>
            </a:r>
          </a:p>
        </p:txBody>
      </p:sp>
      <p:sp>
        <p:nvSpPr>
          <p:cNvPr id="24" name="Rectangle 23"/>
          <p:cNvSpPr/>
          <p:nvPr/>
        </p:nvSpPr>
        <p:spPr>
          <a:xfrm>
            <a:off x="8997696" y="1773936"/>
            <a:ext cx="2633472" cy="16916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2002536"/>
            <a:ext cx="2304288" cy="502920"/>
          </a:xfrm>
          <a:prstGeom prst="rect">
            <a:avLst/>
          </a:prstGeom>
          <a:noFill/>
        </p:spPr>
        <p:txBody>
          <a:bodyPr wrap="square" lIns="45720" rIns="45720" tIns="27432" bIns="27432" anchor="t">
            <a:spAutoFit/>
          </a:bodyPr>
          <a:lstStyle/>
          <a:p>
            <a:pPr algn="l"/>
            <a:r>
              <a:rPr sz="2000" b="1" i="0">
                <a:solidFill>
                  <a:srgbClr val="B22222"/>
                </a:solidFill>
                <a:latin typeface="Abadi"/>
              </a:rPr>
              <a:t>Regression</a:t>
            </a:r>
          </a:p>
        </p:txBody>
      </p:sp>
      <p:sp>
        <p:nvSpPr>
          <p:cNvPr id="27" name="TextBox 26"/>
          <p:cNvSpPr txBox="1"/>
          <p:nvPr/>
        </p:nvSpPr>
        <p:spPr>
          <a:xfrm>
            <a:off x="9162288" y="2578608"/>
            <a:ext cx="2304288" cy="795528"/>
          </a:xfrm>
          <a:prstGeom prst="rect">
            <a:avLst/>
          </a:prstGeom>
          <a:noFill/>
        </p:spPr>
        <p:txBody>
          <a:bodyPr wrap="square" lIns="45720" rIns="45720" tIns="27432" bIns="27432" anchor="t">
            <a:spAutoFit/>
          </a:bodyPr>
          <a:lstStyle/>
          <a:p>
            <a:pPr algn="l"/>
            <a:r>
              <a:rPr sz="1100" b="0" i="0">
                <a:solidFill>
                  <a:srgbClr val="1A1A1A"/>
                </a:solidFill>
                <a:latin typeface="Abadi"/>
              </a:rPr>
              <a:t>Parents seek help at the worst week; the next week is usually better.</a:t>
            </a:r>
          </a:p>
        </p:txBody>
      </p:sp>
      <p:sp>
        <p:nvSpPr>
          <p:cNvPr id="28" name="TextBox 27"/>
          <p:cNvSpPr txBox="1"/>
          <p:nvPr/>
        </p:nvSpPr>
        <p:spPr>
          <a:xfrm>
            <a:off x="548640" y="3703320"/>
            <a:ext cx="11082528" cy="2103120"/>
          </a:xfrm>
          <a:prstGeom prst="rect">
            <a:avLst/>
          </a:prstGeom>
          <a:noFill/>
        </p:spPr>
        <p:txBody>
          <a:bodyPr wrap="square" lIns="45720" rIns="45720" tIns="27432" bIns="27432" anchor="t">
            <a:spAutoFit/>
          </a:bodyPr>
          <a:lstStyle/>
          <a:p>
            <a:pPr algn="l">
              <a:spcAft>
                <a:spcPts val="600"/>
              </a:spcAft>
            </a:pPr>
            <a:r>
              <a:rPr sz="1300" b="1" i="0">
                <a:solidFill>
                  <a:srgbClr val="1B355E"/>
                </a:solidFill>
                <a:latin typeface="Abadi"/>
              </a:rPr>
              <a:t>NASPGHAN/ESPGHAN.  </a:t>
            </a:r>
            <a:r>
              <a:rPr sz="1300" b="0" i="0">
                <a:solidFill>
                  <a:srgbClr val="1A1A1A"/>
                </a:solidFill>
                <a:latin typeface="Abadi"/>
              </a:rPr>
              <a:t>Suggests not using a PPI trial as a diagnostic test for GERD in infants; a 4–8 week trial is reserved for typical symptoms in older children.</a:t>
            </a:r>
          </a:p>
          <a:p>
            <a:pPr algn="l">
              <a:spcAft>
                <a:spcPts val="600"/>
              </a:spcAft>
            </a:pPr>
            <a:r>
              <a:rPr sz="1300" b="1" i="0">
                <a:solidFill>
                  <a:srgbClr val="D97A0B"/>
                </a:solidFill>
                <a:latin typeface="Abadi"/>
              </a:rPr>
              <a:t>NICE.  </a:t>
            </a:r>
            <a:r>
              <a:rPr sz="1300" b="0" i="0">
                <a:solidFill>
                  <a:srgbClr val="1A1A1A"/>
                </a:solidFill>
                <a:latin typeface="Abadi"/>
              </a:rPr>
              <a:t>Allows a 4-week PPI or H2RA trial in infants who cannot describe symptoms when there are unexplained feeding difficulties, distressed behaviour or faltering growth, with review at 4 weeks.</a:t>
            </a:r>
          </a:p>
          <a:p>
            <a:pPr algn="l">
              <a:spcAft>
                <a:spcPts val="600"/>
              </a:spcAft>
            </a:pPr>
            <a:r>
              <a:rPr sz="1300" b="1" i="0">
                <a:solidFill>
                  <a:srgbClr val="B22222"/>
                </a:solidFill>
                <a:latin typeface="Abadi"/>
              </a:rPr>
              <a:t>If you must.  </a:t>
            </a:r>
            <a:r>
              <a:rPr sz="1300" b="0" i="0">
                <a:solidFill>
                  <a:srgbClr val="1A1A1A"/>
                </a:solidFill>
                <a:latin typeface="Abadi"/>
              </a:rPr>
              <a:t>Write the outcome you expect, the date you will stop, and the plan if symptoms return: then stop.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DEPRESCRIBING</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STOP AT THE REVIEW</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Withdrawal of acid suppression in infants who started without an indication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Reimer C, et al. Gastroenterology 2009;137:80–7 · NICE NG1 · Winter 2010, 2015 · Hussain 2014 (randomised withdrawal)</a:t>
            </a:r>
          </a:p>
        </p:txBody>
      </p:sp>
      <p:sp>
        <p:nvSpPr>
          <p:cNvPr id="12" name="Rectangle 11"/>
          <p:cNvSpPr/>
          <p:nvPr/>
        </p:nvSpPr>
        <p:spPr>
          <a:xfrm>
            <a:off x="548640" y="1773936"/>
            <a:ext cx="2578608" cy="1874519"/>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78608" cy="29260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73936"/>
            <a:ext cx="2395727" cy="292608"/>
          </a:xfrm>
          <a:prstGeom prst="rect">
            <a:avLst/>
          </a:prstGeom>
          <a:noFill/>
        </p:spPr>
        <p:txBody>
          <a:bodyPr wrap="square" lIns="45720" rIns="45720" tIns="27432" bIns="27432" anchor="ctr">
            <a:spAutoFit/>
          </a:bodyPr>
          <a:lstStyle/>
          <a:p>
            <a:pPr algn="l"/>
            <a:r>
              <a:rPr sz="1150" b="1" i="0">
                <a:solidFill>
                  <a:srgbClr val="FFFFFF"/>
                </a:solidFill>
                <a:latin typeface="Abadi"/>
              </a:rPr>
              <a:t>Find them</a:t>
            </a:r>
          </a:p>
        </p:txBody>
      </p:sp>
      <p:sp>
        <p:nvSpPr>
          <p:cNvPr id="15" name="TextBox 14"/>
          <p:cNvSpPr txBox="1"/>
          <p:nvPr/>
        </p:nvSpPr>
        <p:spPr>
          <a:xfrm>
            <a:off x="658368" y="2157984"/>
            <a:ext cx="2359152" cy="1417319"/>
          </a:xfrm>
          <a:prstGeom prst="rect">
            <a:avLst/>
          </a:prstGeom>
          <a:noFill/>
        </p:spPr>
        <p:txBody>
          <a:bodyPr wrap="square" lIns="45720" rIns="45720" tIns="27432" bIns="27432" anchor="t">
            <a:spAutoFit/>
          </a:bodyPr>
          <a:lstStyle/>
          <a:p>
            <a:pPr algn="l"/>
            <a:r>
              <a:rPr sz="1050" b="0" i="0">
                <a:solidFill>
                  <a:srgbClr val="1A1A1A"/>
                </a:solidFill>
                <a:latin typeface="Abadi"/>
              </a:rPr>
              <a:t>Every infant on a PPI at each visit: indication, start date, dose by weight, reviewer.</a:t>
            </a:r>
          </a:p>
        </p:txBody>
      </p:sp>
      <p:sp>
        <p:nvSpPr>
          <p:cNvPr id="16" name="Isosceles Triangle 15"/>
          <p:cNvSpPr/>
          <p:nvPr/>
        </p:nvSpPr>
        <p:spPr>
          <a:xfrm rot="5400000">
            <a:off x="3191256" y="262890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79" y="1773936"/>
            <a:ext cx="2578608" cy="1874519"/>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83279" y="1773936"/>
            <a:ext cx="2578608" cy="292608"/>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4720" y="1773936"/>
            <a:ext cx="2395727" cy="292608"/>
          </a:xfrm>
          <a:prstGeom prst="rect">
            <a:avLst/>
          </a:prstGeom>
          <a:noFill/>
        </p:spPr>
        <p:txBody>
          <a:bodyPr wrap="square" lIns="45720" rIns="45720" tIns="27432" bIns="27432" anchor="ctr">
            <a:spAutoFit/>
          </a:bodyPr>
          <a:lstStyle/>
          <a:p>
            <a:pPr algn="l"/>
            <a:r>
              <a:rPr sz="1150" b="1" i="0">
                <a:solidFill>
                  <a:srgbClr val="FFFFFF"/>
                </a:solidFill>
                <a:latin typeface="Abadi"/>
              </a:rPr>
              <a:t>Re-label</a:t>
            </a:r>
          </a:p>
        </p:txBody>
      </p:sp>
      <p:sp>
        <p:nvSpPr>
          <p:cNvPr id="20" name="TextBox 19"/>
          <p:cNvSpPr txBox="1"/>
          <p:nvPr/>
        </p:nvSpPr>
        <p:spPr>
          <a:xfrm>
            <a:off x="3493008" y="2157984"/>
            <a:ext cx="2359152" cy="1417319"/>
          </a:xfrm>
          <a:prstGeom prst="rect">
            <a:avLst/>
          </a:prstGeom>
          <a:noFill/>
        </p:spPr>
        <p:txBody>
          <a:bodyPr wrap="square" lIns="45720" rIns="45720" tIns="27432" bIns="27432" anchor="t">
            <a:spAutoFit/>
          </a:bodyPr>
          <a:lstStyle/>
          <a:p>
            <a:pPr algn="l"/>
            <a:r>
              <a:rPr sz="1050" b="0" i="0">
                <a:solidFill>
                  <a:srgbClr val="1A1A1A"/>
                </a:solidFill>
                <a:latin typeface="Abadi"/>
              </a:rPr>
              <a:t>Explain the natural history; name the diagnosis as reflux, not disease.</a:t>
            </a:r>
          </a:p>
        </p:txBody>
      </p:sp>
      <p:sp>
        <p:nvSpPr>
          <p:cNvPr id="21" name="Isosceles Triangle 20"/>
          <p:cNvSpPr/>
          <p:nvPr/>
        </p:nvSpPr>
        <p:spPr>
          <a:xfrm rot="5400000">
            <a:off x="6025895" y="262890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19" y="1773936"/>
            <a:ext cx="2578608" cy="1874519"/>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19" y="1773936"/>
            <a:ext cx="2578608" cy="29260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59" y="1773936"/>
            <a:ext cx="2395727" cy="292608"/>
          </a:xfrm>
          <a:prstGeom prst="rect">
            <a:avLst/>
          </a:prstGeom>
          <a:noFill/>
        </p:spPr>
        <p:txBody>
          <a:bodyPr wrap="square" lIns="45720" rIns="45720" tIns="27432" bIns="27432" anchor="ctr">
            <a:spAutoFit/>
          </a:bodyPr>
          <a:lstStyle/>
          <a:p>
            <a:pPr algn="l"/>
            <a:r>
              <a:rPr sz="1150" b="1" i="0">
                <a:solidFill>
                  <a:srgbClr val="FFFFFF"/>
                </a:solidFill>
                <a:latin typeface="Abadi"/>
              </a:rPr>
              <a:t>Stop</a:t>
            </a:r>
          </a:p>
        </p:txBody>
      </p:sp>
      <p:sp>
        <p:nvSpPr>
          <p:cNvPr id="25" name="TextBox 24"/>
          <p:cNvSpPr txBox="1"/>
          <p:nvPr/>
        </p:nvSpPr>
        <p:spPr>
          <a:xfrm>
            <a:off x="6327647" y="2157984"/>
            <a:ext cx="2359152" cy="1417319"/>
          </a:xfrm>
          <a:prstGeom prst="rect">
            <a:avLst/>
          </a:prstGeom>
          <a:noFill/>
        </p:spPr>
        <p:txBody>
          <a:bodyPr wrap="square" lIns="45720" rIns="45720" tIns="27432" bIns="27432" anchor="t">
            <a:spAutoFit/>
          </a:bodyPr>
          <a:lstStyle/>
          <a:p>
            <a:pPr algn="l"/>
            <a:r>
              <a:rPr sz="1050" b="0" i="0">
                <a:solidFill>
                  <a:srgbClr val="1A1A1A"/>
                </a:solidFill>
                <a:latin typeface="Abadi"/>
              </a:rPr>
              <a:t>No indication: stop at the review. After long use, halve for 1–2 weeks (expert practice).</a:t>
            </a:r>
          </a:p>
        </p:txBody>
      </p:sp>
      <p:sp>
        <p:nvSpPr>
          <p:cNvPr id="26" name="Isosceles Triangle 25"/>
          <p:cNvSpPr/>
          <p:nvPr/>
        </p:nvSpPr>
        <p:spPr>
          <a:xfrm rot="5400000">
            <a:off x="8860536" y="2628900"/>
            <a:ext cx="128016" cy="164592"/>
          </a:xfrm>
          <a:prstGeom prst="triangle">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52559" y="1773936"/>
            <a:ext cx="2578608" cy="1874519"/>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59" y="1773936"/>
            <a:ext cx="2578608" cy="29260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3999" y="1773936"/>
            <a:ext cx="2395727" cy="292608"/>
          </a:xfrm>
          <a:prstGeom prst="rect">
            <a:avLst/>
          </a:prstGeom>
          <a:noFill/>
        </p:spPr>
        <p:txBody>
          <a:bodyPr wrap="square" lIns="45720" rIns="45720" tIns="27432" bIns="27432" anchor="ctr">
            <a:spAutoFit/>
          </a:bodyPr>
          <a:lstStyle/>
          <a:p>
            <a:pPr algn="l"/>
            <a:r>
              <a:rPr sz="1150" b="1" i="0">
                <a:solidFill>
                  <a:srgbClr val="FFFFFF"/>
                </a:solidFill>
                <a:latin typeface="Abadi"/>
              </a:rPr>
              <a:t>Expect a blip</a:t>
            </a:r>
          </a:p>
        </p:txBody>
      </p:sp>
      <p:sp>
        <p:nvSpPr>
          <p:cNvPr id="30" name="TextBox 29"/>
          <p:cNvSpPr txBox="1"/>
          <p:nvPr/>
        </p:nvSpPr>
        <p:spPr>
          <a:xfrm>
            <a:off x="9162287" y="2157984"/>
            <a:ext cx="2359152" cy="1417319"/>
          </a:xfrm>
          <a:prstGeom prst="rect">
            <a:avLst/>
          </a:prstGeom>
          <a:noFill/>
        </p:spPr>
        <p:txBody>
          <a:bodyPr wrap="square" lIns="45720" rIns="45720" tIns="27432" bIns="27432" anchor="t">
            <a:spAutoFit/>
          </a:bodyPr>
          <a:lstStyle/>
          <a:p>
            <a:pPr algn="l"/>
            <a:r>
              <a:rPr sz="1050" b="0" i="0">
                <a:solidFill>
                  <a:srgbClr val="1A1A1A"/>
                </a:solidFill>
                <a:latin typeface="Abadi"/>
              </a:rPr>
              <a:t>Some rebound acid symptoms are physiological and pass within weeks.</a:t>
            </a:r>
          </a:p>
        </p:txBody>
      </p:sp>
      <p:sp>
        <p:nvSpPr>
          <p:cNvPr id="31" name="Rectangle 30"/>
          <p:cNvSpPr/>
          <p:nvPr/>
        </p:nvSpPr>
        <p:spPr>
          <a:xfrm>
            <a:off x="548640" y="3886200"/>
            <a:ext cx="3572255" cy="1874519"/>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3886200"/>
            <a:ext cx="3572255"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4114800"/>
            <a:ext cx="3243072" cy="502920"/>
          </a:xfrm>
          <a:prstGeom prst="rect">
            <a:avLst/>
          </a:prstGeom>
          <a:noFill/>
        </p:spPr>
        <p:txBody>
          <a:bodyPr wrap="square" lIns="45720" rIns="45720" tIns="27432" bIns="27432" anchor="t">
            <a:spAutoFit/>
          </a:bodyPr>
          <a:lstStyle/>
          <a:p>
            <a:pPr algn="l"/>
            <a:r>
              <a:rPr sz="1900" b="1" i="0">
                <a:solidFill>
                  <a:srgbClr val="B22222"/>
                </a:solidFill>
                <a:latin typeface="Abadi"/>
              </a:rPr>
              <a:t>44% vs 15%</a:t>
            </a:r>
          </a:p>
        </p:txBody>
      </p:sp>
      <p:sp>
        <p:nvSpPr>
          <p:cNvPr id="34" name="TextBox 33"/>
          <p:cNvSpPr txBox="1"/>
          <p:nvPr/>
        </p:nvSpPr>
        <p:spPr>
          <a:xfrm>
            <a:off x="713232" y="4690872"/>
            <a:ext cx="3243072" cy="978407"/>
          </a:xfrm>
          <a:prstGeom prst="rect">
            <a:avLst/>
          </a:prstGeom>
          <a:noFill/>
        </p:spPr>
        <p:txBody>
          <a:bodyPr wrap="square" lIns="45720" rIns="45720" tIns="27432" bIns="27432" anchor="t">
            <a:spAutoFit/>
          </a:bodyPr>
          <a:lstStyle/>
          <a:p>
            <a:pPr algn="l"/>
            <a:r>
              <a:rPr sz="1100" b="0" i="0">
                <a:solidFill>
                  <a:srgbClr val="1A1A1A"/>
                </a:solidFill>
                <a:latin typeface="Abadi"/>
              </a:rPr>
              <a:t>Healthy adults with new acid symptoms after 8 weeks of esomeprazole versus placebo: rebound exists.</a:t>
            </a:r>
          </a:p>
        </p:txBody>
      </p:sp>
      <p:sp>
        <p:nvSpPr>
          <p:cNvPr id="35" name="Rectangle 34"/>
          <p:cNvSpPr/>
          <p:nvPr/>
        </p:nvSpPr>
        <p:spPr>
          <a:xfrm>
            <a:off x="4303775" y="3886200"/>
            <a:ext cx="3572255" cy="1874519"/>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03775" y="3886200"/>
            <a:ext cx="3572255"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68367" y="4114800"/>
            <a:ext cx="3243072" cy="502920"/>
          </a:xfrm>
          <a:prstGeom prst="rect">
            <a:avLst/>
          </a:prstGeom>
          <a:noFill/>
        </p:spPr>
        <p:txBody>
          <a:bodyPr wrap="square" lIns="45720" rIns="45720" tIns="27432" bIns="27432" anchor="t">
            <a:spAutoFit/>
          </a:bodyPr>
          <a:lstStyle/>
          <a:p>
            <a:pPr algn="l"/>
            <a:r>
              <a:rPr sz="1900" b="1" i="0">
                <a:solidFill>
                  <a:srgbClr val="1B355E"/>
                </a:solidFill>
                <a:latin typeface="Abadi"/>
              </a:rPr>
              <a:t>No difference</a:t>
            </a:r>
          </a:p>
        </p:txBody>
      </p:sp>
      <p:sp>
        <p:nvSpPr>
          <p:cNvPr id="38" name="TextBox 37"/>
          <p:cNvSpPr txBox="1"/>
          <p:nvPr/>
        </p:nvSpPr>
        <p:spPr>
          <a:xfrm>
            <a:off x="4468367" y="4690872"/>
            <a:ext cx="3243072" cy="978407"/>
          </a:xfrm>
          <a:prstGeom prst="rect">
            <a:avLst/>
          </a:prstGeom>
          <a:noFill/>
        </p:spPr>
        <p:txBody>
          <a:bodyPr wrap="square" lIns="45720" rIns="45720" tIns="27432" bIns="27432" anchor="t">
            <a:spAutoFit/>
          </a:bodyPr>
          <a:lstStyle/>
          <a:p>
            <a:pPr algn="l"/>
            <a:r>
              <a:rPr sz="1100" b="0" i="0">
                <a:solidFill>
                  <a:srgbClr val="1A1A1A"/>
                </a:solidFill>
                <a:latin typeface="Abadi"/>
              </a:rPr>
              <a:t>Infant withdrawal trials found no worsening when responders were switched to placebo.</a:t>
            </a:r>
          </a:p>
        </p:txBody>
      </p:sp>
      <p:sp>
        <p:nvSpPr>
          <p:cNvPr id="39" name="Rectangle 38"/>
          <p:cNvSpPr/>
          <p:nvPr/>
        </p:nvSpPr>
        <p:spPr>
          <a:xfrm>
            <a:off x="8058911" y="3886200"/>
            <a:ext cx="3572255" cy="1874519"/>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58911" y="3886200"/>
            <a:ext cx="3572255"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3503" y="4114800"/>
            <a:ext cx="3243072" cy="502920"/>
          </a:xfrm>
          <a:prstGeom prst="rect">
            <a:avLst/>
          </a:prstGeom>
          <a:noFill/>
        </p:spPr>
        <p:txBody>
          <a:bodyPr wrap="square" lIns="45720" rIns="45720" tIns="27432" bIns="27432" anchor="t">
            <a:spAutoFit/>
          </a:bodyPr>
          <a:lstStyle/>
          <a:p>
            <a:pPr algn="l"/>
            <a:r>
              <a:rPr sz="1900" b="1" i="0">
                <a:solidFill>
                  <a:srgbClr val="1E7A33"/>
                </a:solidFill>
                <a:latin typeface="Abadi"/>
              </a:rPr>
              <a:t>Under 6 months</a:t>
            </a:r>
          </a:p>
        </p:txBody>
      </p:sp>
      <p:sp>
        <p:nvSpPr>
          <p:cNvPr id="42" name="TextBox 41"/>
          <p:cNvSpPr txBox="1"/>
          <p:nvPr/>
        </p:nvSpPr>
        <p:spPr>
          <a:xfrm>
            <a:off x="8223503" y="4690872"/>
            <a:ext cx="3243072" cy="978407"/>
          </a:xfrm>
          <a:prstGeom prst="rect">
            <a:avLst/>
          </a:prstGeom>
          <a:noFill/>
        </p:spPr>
        <p:txBody>
          <a:bodyPr wrap="square" lIns="45720" rIns="45720" tIns="27432" bIns="27432" anchor="t">
            <a:spAutoFit/>
          </a:bodyPr>
          <a:lstStyle/>
          <a:p>
            <a:pPr algn="l"/>
            <a:r>
              <a:rPr sz="1100" b="0" i="0">
                <a:solidFill>
                  <a:srgbClr val="1A1A1A"/>
                </a:solidFill>
                <a:latin typeface="Abadi"/>
              </a:rPr>
              <a:t>Thickened feeds have a stop date too (NICE); review every treatment.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WHAT THE DOCUMENTS SAY</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NASPGHAN/ESPGHAN 2018 versus NICE NG1; AAP 2018 for the preterm infant; no ACG/AGA guidance covers infants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Rosen R, et al. JPGN 2018;66:516–54 · NICE NG1 2015, updated 2019 · Eichenwald EC. Pediatrics 2018;142:e20181061 · Krishnan U, et al. JPGN 2016;63:550–70</a:t>
            </a:r>
          </a:p>
        </p:txBody>
      </p:sp>
      <p:graphicFrame>
        <p:nvGraphicFramePr>
          <p:cNvPr id="12" name="Table 11"/>
          <p:cNvGraphicFramePr>
            <a:graphicFrameLocks noGrp="1"/>
          </p:cNvGraphicFramePr>
          <p:nvPr/>
        </p:nvGraphicFramePr>
        <p:xfrm>
          <a:off x="548640" y="1737360"/>
          <a:ext cx="11082528" cy="3621024"/>
        </p:xfrm>
        <a:graphic>
          <a:graphicData uri="http://schemas.openxmlformats.org/drawingml/2006/table">
            <a:tbl>
              <a:tblPr firstRow="0" bandRow="0">
                <a:tableStyleId>{5C22544A-7EE6-4342-B048-85BDC9FD1C3A}</a:tableStyleId>
              </a:tblPr>
              <a:tblGrid>
                <a:gridCol w="2377440"/>
                <a:gridCol w="3291840"/>
                <a:gridCol w="4114800"/>
                <a:gridCol w="1298448"/>
              </a:tblGrid>
              <a:tr h="402336">
                <a:tc>
                  <a:txBody>
                    <a:bodyPr wrap="square"/>
                    <a:lstStyle/>
                    <a:p>
                      <a:pPr algn="l"/>
                      <a:r>
                        <a:rPr sz="1000" b="1">
                          <a:solidFill>
                            <a:srgbClr val="FFFFFF"/>
                          </a:solidFill>
                          <a:latin typeface="Abadi"/>
                        </a:rPr>
                        <a:t>Question</a:t>
                      </a:r>
                    </a:p>
                  </a:txBody>
                  <a:tcPr marL="73152" marR="73152" marT="27432" marB="27432" anchor="ctr">
                    <a:solidFill>
                      <a:srgbClr val="1B355E"/>
                    </a:solidFill>
                  </a:tcPr>
                </a:tc>
                <a:tc>
                  <a:txBody>
                    <a:bodyPr wrap="square"/>
                    <a:lstStyle/>
                    <a:p>
                      <a:pPr algn="l"/>
                      <a:r>
                        <a:rPr sz="1000" b="1">
                          <a:solidFill>
                            <a:srgbClr val="FFFFFF"/>
                          </a:solidFill>
                          <a:latin typeface="Abadi"/>
                        </a:rPr>
                        <a:t>NASPGHAN/ESPGHAN 2018</a:t>
                      </a:r>
                    </a:p>
                  </a:txBody>
                  <a:tcPr marL="73152" marR="73152" marT="27432" marB="27432" anchor="ctr">
                    <a:solidFill>
                      <a:srgbClr val="1B355E"/>
                    </a:solidFill>
                  </a:tcPr>
                </a:tc>
                <a:tc>
                  <a:txBody>
                    <a:bodyPr wrap="square"/>
                    <a:lstStyle/>
                    <a:p>
                      <a:pPr algn="l"/>
                      <a:r>
                        <a:rPr sz="1000" b="1">
                          <a:solidFill>
                            <a:srgbClr val="FFFFFF"/>
                          </a:solidFill>
                          <a:latin typeface="Abadi"/>
                        </a:rPr>
                        <a:t>NICE NG1</a:t>
                      </a:r>
                    </a:p>
                  </a:txBody>
                  <a:tcPr marL="73152" marR="73152" marT="27432" marB="27432" anchor="ctr">
                    <a:solidFill>
                      <a:srgbClr val="1B355E"/>
                    </a:solidFill>
                  </a:tcPr>
                </a:tc>
                <a:tc>
                  <a:txBody>
                    <a:bodyPr wrap="square"/>
                    <a:lstStyle/>
                    <a:p>
                      <a:pPr algn="l"/>
                      <a:r>
                        <a:rPr sz="1000" b="1">
                          <a:solidFill>
                            <a:srgbClr val="FFFFFF"/>
                          </a:solidFill>
                          <a:latin typeface="Abadi"/>
                        </a:rPr>
                        <a:t>Verdict</a:t>
                      </a:r>
                    </a:p>
                  </a:txBody>
                  <a:tcPr marL="73152" marR="73152" marT="27432" marB="27432" anchor="ctr">
                    <a:solidFill>
                      <a:srgbClr val="1B355E"/>
                    </a:solidFill>
                  </a:tcPr>
                </a:tc>
              </a:tr>
              <a:tr h="402336">
                <a:tc>
                  <a:txBody>
                    <a:bodyPr wrap="square"/>
                    <a:lstStyle/>
                    <a:p>
                      <a:pPr algn="l"/>
                      <a:r>
                        <a:rPr sz="1000" b="1">
                          <a:solidFill>
                            <a:srgbClr val="1A1A1A"/>
                          </a:solidFill>
                          <a:latin typeface="Abadi"/>
                        </a:rPr>
                        <a:t>Crying or distress</a:t>
                      </a:r>
                    </a:p>
                  </a:txBody>
                  <a:tcPr marL="73152" marR="73152" marT="27432" marB="27432" anchor="ctr">
                    <a:solidFill>
                      <a:srgbClr val="FFFFFF"/>
                    </a:solidFill>
                  </a:tcPr>
                </a:tc>
                <a:tc>
                  <a:txBody>
                    <a:bodyPr wrap="square"/>
                    <a:lstStyle/>
                    <a:p>
                      <a:pPr algn="l"/>
                      <a:r>
                        <a:rPr sz="1000" b="0">
                          <a:solidFill>
                            <a:srgbClr val="1A1A1A"/>
                          </a:solidFill>
                          <a:latin typeface="Abadi"/>
                        </a:rPr>
                        <a:t>Recommend not to use H2RA or PPI</a:t>
                      </a:r>
                    </a:p>
                  </a:txBody>
                  <a:tcPr marL="73152" marR="73152" marT="27432" marB="27432" anchor="ctr">
                    <a:solidFill>
                      <a:srgbClr val="FFFFFF"/>
                    </a:solidFill>
                  </a:tcPr>
                </a:tc>
                <a:tc>
                  <a:txBody>
                    <a:bodyPr wrap="square"/>
                    <a:lstStyle/>
                    <a:p>
                      <a:pPr algn="l"/>
                      <a:r>
                        <a:rPr sz="1000" b="0">
                          <a:solidFill>
                            <a:srgbClr val="1A1A1A"/>
                          </a:solidFill>
                          <a:latin typeface="Abadi"/>
                        </a:rPr>
                        <a:t>Distressed behaviour can justify a 4-week trial</a:t>
                      </a:r>
                    </a:p>
                  </a:txBody>
                  <a:tcPr marL="73152" marR="73152" marT="27432" marB="27432" anchor="ctr">
                    <a:solidFill>
                      <a:srgbClr val="FFFFFF"/>
                    </a:solidFill>
                  </a:tcPr>
                </a:tc>
                <a:tc>
                  <a:txBody>
                    <a:bodyPr wrap="square"/>
                    <a:lstStyle/>
                    <a:p>
                      <a:pPr algn="ctr"/>
                      <a:r>
                        <a:rPr sz="800" b="1">
                          <a:solidFill>
                            <a:srgbClr val="FFFFFF"/>
                          </a:solidFill>
                          <a:latin typeface="Abadi"/>
                        </a:rPr>
                        <a:t>MATERIAL</a:t>
                      </a:r>
                    </a:p>
                  </a:txBody>
                  <a:tcPr marL="73152" marR="73152" marT="27432" marB="27432" anchor="ctr">
                    <a:solidFill>
                      <a:srgbClr val="B22222"/>
                    </a:solidFill>
                  </a:tcPr>
                </a:tc>
              </a:tr>
              <a:tr h="402336">
                <a:tc>
                  <a:txBody>
                    <a:bodyPr wrap="square"/>
                    <a:lstStyle/>
                    <a:p>
                      <a:pPr algn="l"/>
                      <a:r>
                        <a:rPr sz="1000" b="1">
                          <a:solidFill>
                            <a:srgbClr val="1A1A1A"/>
                          </a:solidFill>
                          <a:latin typeface="Abadi"/>
                        </a:rPr>
                        <a:t>Visible regurgitation</a:t>
                      </a:r>
                    </a:p>
                  </a:txBody>
                  <a:tcPr marL="73152" marR="73152" marT="27432" marB="27432" anchor="ctr">
                    <a:solidFill>
                      <a:srgbClr val="F2F2F2"/>
                    </a:solidFill>
                  </a:tcPr>
                </a:tc>
                <a:tc>
                  <a:txBody>
                    <a:bodyPr wrap="square"/>
                    <a:lstStyle/>
                    <a:p>
                      <a:pPr algn="l"/>
                      <a:r>
                        <a:rPr sz="1000" b="0">
                          <a:solidFill>
                            <a:srgbClr val="1A1A1A"/>
                          </a:solidFill>
                          <a:latin typeface="Abadi"/>
                        </a:rPr>
                        <a:t>Recommend not to use H2RA or PPI</a:t>
                      </a:r>
                    </a:p>
                  </a:txBody>
                  <a:tcPr marL="73152" marR="73152" marT="27432" marB="27432" anchor="ctr">
                    <a:solidFill>
                      <a:srgbClr val="F2F2F2"/>
                    </a:solidFill>
                  </a:tcPr>
                </a:tc>
                <a:tc>
                  <a:txBody>
                    <a:bodyPr wrap="square"/>
                    <a:lstStyle/>
                    <a:p>
                      <a:pPr algn="l"/>
                      <a:r>
                        <a:rPr sz="1000" b="0">
                          <a:solidFill>
                            <a:srgbClr val="1A1A1A"/>
                          </a:solidFill>
                          <a:latin typeface="Abadi"/>
                        </a:rPr>
                        <a:t>Do not offer for overt regurgitation in isolation</a:t>
                      </a:r>
                    </a:p>
                  </a:txBody>
                  <a:tcPr marL="73152" marR="73152" marT="27432" marB="27432" anchor="ctr">
                    <a:solidFill>
                      <a:srgbClr val="F2F2F2"/>
                    </a:solidFill>
                  </a:tcPr>
                </a:tc>
                <a:tc>
                  <a:txBody>
                    <a:bodyPr wrap="square"/>
                    <a:lstStyle/>
                    <a:p>
                      <a:pPr algn="ctr"/>
                      <a:r>
                        <a:rPr sz="800" b="1">
                          <a:solidFill>
                            <a:srgbClr val="FFFFFF"/>
                          </a:solidFill>
                          <a:latin typeface="Abadi"/>
                        </a:rPr>
                        <a:t>ALIGNED</a:t>
                      </a:r>
                    </a:p>
                  </a:txBody>
                  <a:tcPr marL="73152" marR="73152" marT="27432" marB="27432" anchor="ctr">
                    <a:solidFill>
                      <a:srgbClr val="1E7A33"/>
                    </a:solidFill>
                  </a:tcPr>
                </a:tc>
              </a:tr>
              <a:tr h="402336">
                <a:tc>
                  <a:txBody>
                    <a:bodyPr wrap="square"/>
                    <a:lstStyle/>
                    <a:p>
                      <a:pPr algn="l"/>
                      <a:r>
                        <a:rPr sz="1000" b="1">
                          <a:solidFill>
                            <a:srgbClr val="1A1A1A"/>
                          </a:solidFill>
                          <a:latin typeface="Abadi"/>
                        </a:rPr>
                        <a:t>Empirical trial in infants</a:t>
                      </a:r>
                    </a:p>
                  </a:txBody>
                  <a:tcPr marL="73152" marR="73152" marT="27432" marB="27432" anchor="ctr">
                    <a:solidFill>
                      <a:srgbClr val="FFFFFF"/>
                    </a:solidFill>
                  </a:tcPr>
                </a:tc>
                <a:tc>
                  <a:txBody>
                    <a:bodyPr wrap="square"/>
                    <a:lstStyle/>
                    <a:p>
                      <a:pPr algn="l"/>
                      <a:r>
                        <a:rPr sz="1000" b="0">
                          <a:solidFill>
                            <a:srgbClr val="1A1A1A"/>
                          </a:solidFill>
                          <a:latin typeface="Abadi"/>
                        </a:rPr>
                        <a:t>Not as a diagnostic test</a:t>
                      </a:r>
                    </a:p>
                  </a:txBody>
                  <a:tcPr marL="73152" marR="73152" marT="27432" marB="27432" anchor="ctr">
                    <a:solidFill>
                      <a:srgbClr val="FFFFFF"/>
                    </a:solidFill>
                  </a:tcPr>
                </a:tc>
                <a:tc>
                  <a:txBody>
                    <a:bodyPr wrap="square"/>
                    <a:lstStyle/>
                    <a:p>
                      <a:pPr algn="l"/>
                      <a:r>
                        <a:rPr sz="1000" b="0">
                          <a:solidFill>
                            <a:srgbClr val="1A1A1A"/>
                          </a:solidFill>
                          <a:latin typeface="Abadi"/>
                        </a:rPr>
                        <a:t>Allowed: 4 weeks, then review or refer</a:t>
                      </a:r>
                    </a:p>
                  </a:txBody>
                  <a:tcPr marL="73152" marR="73152" marT="27432" marB="27432" anchor="ctr">
                    <a:solidFill>
                      <a:srgbClr val="FFFFFF"/>
                    </a:solidFill>
                  </a:tcPr>
                </a:tc>
                <a:tc>
                  <a:txBody>
                    <a:bodyPr wrap="square"/>
                    <a:lstStyle/>
                    <a:p>
                      <a:pPr algn="ctr"/>
                      <a:r>
                        <a:rPr sz="800" b="1">
                          <a:solidFill>
                            <a:srgbClr val="FFFFFF"/>
                          </a:solidFill>
                          <a:latin typeface="Abadi"/>
                        </a:rPr>
                        <a:t>DIFFERS</a:t>
                      </a:r>
                    </a:p>
                  </a:txBody>
                  <a:tcPr marL="73152" marR="73152" marT="27432" marB="27432" anchor="ctr">
                    <a:solidFill>
                      <a:srgbClr val="D97A0B"/>
                    </a:solidFill>
                  </a:tcPr>
                </a:tc>
              </a:tr>
              <a:tr h="402336">
                <a:tc>
                  <a:txBody>
                    <a:bodyPr wrap="square"/>
                    <a:lstStyle/>
                    <a:p>
                      <a:pPr algn="l"/>
                      <a:r>
                        <a:rPr sz="1000" b="1">
                          <a:solidFill>
                            <a:srgbClr val="1A1A1A"/>
                          </a:solidFill>
                          <a:latin typeface="Abadi"/>
                        </a:rPr>
                        <a:t>Erosive oesophagitis</a:t>
                      </a:r>
                    </a:p>
                  </a:txBody>
                  <a:tcPr marL="73152" marR="73152" marT="27432" marB="27432" anchor="ctr">
                    <a:solidFill>
                      <a:srgbClr val="F2F2F2"/>
                    </a:solidFill>
                  </a:tcPr>
                </a:tc>
                <a:tc>
                  <a:txBody>
                    <a:bodyPr wrap="square"/>
                    <a:lstStyle/>
                    <a:p>
                      <a:pPr algn="l"/>
                      <a:r>
                        <a:rPr sz="1000" b="0">
                          <a:solidFill>
                            <a:srgbClr val="1A1A1A"/>
                          </a:solidFill>
                          <a:latin typeface="Abadi"/>
                        </a:rPr>
                        <a:t>PPI first line</a:t>
                      </a:r>
                    </a:p>
                  </a:txBody>
                  <a:tcPr marL="73152" marR="73152" marT="27432" marB="27432" anchor="ctr">
                    <a:solidFill>
                      <a:srgbClr val="F2F2F2"/>
                    </a:solidFill>
                  </a:tcPr>
                </a:tc>
                <a:tc>
                  <a:txBody>
                    <a:bodyPr wrap="square"/>
                    <a:lstStyle/>
                    <a:p>
                      <a:pPr algn="l"/>
                      <a:r>
                        <a:rPr sz="1000" b="0">
                          <a:solidFill>
                            <a:srgbClr val="1A1A1A"/>
                          </a:solidFill>
                          <a:latin typeface="Abadi"/>
                        </a:rPr>
                        <a:t>Offer PPI or H2RA if endoscopy proven</a:t>
                      </a:r>
                    </a:p>
                  </a:txBody>
                  <a:tcPr marL="73152" marR="73152" marT="27432" marB="27432" anchor="ctr">
                    <a:solidFill>
                      <a:srgbClr val="F2F2F2"/>
                    </a:solidFill>
                  </a:tcPr>
                </a:tc>
                <a:tc>
                  <a:txBody>
                    <a:bodyPr wrap="square"/>
                    <a:lstStyle/>
                    <a:p>
                      <a:pPr algn="ctr"/>
                      <a:r>
                        <a:rPr sz="800" b="1">
                          <a:solidFill>
                            <a:srgbClr val="FFFFFF"/>
                          </a:solidFill>
                          <a:latin typeface="Abadi"/>
                        </a:rPr>
                        <a:t>ALIGNED</a:t>
                      </a:r>
                    </a:p>
                  </a:txBody>
                  <a:tcPr marL="73152" marR="73152" marT="27432" marB="27432" anchor="ctr">
                    <a:solidFill>
                      <a:srgbClr val="1E7A33"/>
                    </a:solidFill>
                  </a:tcPr>
                </a:tc>
              </a:tr>
              <a:tr h="402336">
                <a:tc>
                  <a:txBody>
                    <a:bodyPr wrap="square"/>
                    <a:lstStyle/>
                    <a:p>
                      <a:pPr algn="l"/>
                      <a:r>
                        <a:rPr sz="1000" b="1">
                          <a:solidFill>
                            <a:srgbClr val="1A1A1A"/>
                          </a:solidFill>
                          <a:latin typeface="Abadi"/>
                        </a:rPr>
                        <a:t>Antacids, alginates</a:t>
                      </a:r>
                    </a:p>
                  </a:txBody>
                  <a:tcPr marL="73152" marR="73152" marT="27432" marB="27432" anchor="ctr">
                    <a:solidFill>
                      <a:srgbClr val="FFFFFF"/>
                    </a:solidFill>
                  </a:tcPr>
                </a:tc>
                <a:tc>
                  <a:txBody>
                    <a:bodyPr wrap="square"/>
                    <a:lstStyle/>
                    <a:p>
                      <a:pPr algn="l"/>
                      <a:r>
                        <a:rPr sz="1000" b="0">
                          <a:solidFill>
                            <a:srgbClr val="1A1A1A"/>
                          </a:solidFill>
                          <a:latin typeface="Abadi"/>
                        </a:rPr>
                        <a:t>Not for chronic use</a:t>
                      </a:r>
                    </a:p>
                  </a:txBody>
                  <a:tcPr marL="73152" marR="73152" marT="27432" marB="27432" anchor="ctr">
                    <a:solidFill>
                      <a:srgbClr val="FFFFFF"/>
                    </a:solidFill>
                  </a:tcPr>
                </a:tc>
                <a:tc>
                  <a:txBody>
                    <a:bodyPr wrap="square"/>
                    <a:lstStyle/>
                    <a:p>
                      <a:pPr algn="l"/>
                      <a:r>
                        <a:rPr sz="1000" b="0">
                          <a:solidFill>
                            <a:srgbClr val="1A1A1A"/>
                          </a:solidFill>
                          <a:latin typeface="Abadi"/>
                        </a:rPr>
                        <a:t>1–2 week alginate trial after feed changes</a:t>
                      </a:r>
                    </a:p>
                  </a:txBody>
                  <a:tcPr marL="73152" marR="73152" marT="27432" marB="27432" anchor="ctr">
                    <a:solidFill>
                      <a:srgbClr val="FFFFFF"/>
                    </a:solidFill>
                  </a:tcPr>
                </a:tc>
                <a:tc>
                  <a:txBody>
                    <a:bodyPr wrap="square"/>
                    <a:lstStyle/>
                    <a:p>
                      <a:pPr algn="ctr"/>
                      <a:r>
                        <a:rPr sz="800" b="1">
                          <a:solidFill>
                            <a:srgbClr val="FFFFFF"/>
                          </a:solidFill>
                          <a:latin typeface="Abadi"/>
                        </a:rPr>
                        <a:t>DIFFERS</a:t>
                      </a:r>
                    </a:p>
                  </a:txBody>
                  <a:tcPr marL="73152" marR="73152" marT="27432" marB="27432" anchor="ctr">
                    <a:solidFill>
                      <a:srgbClr val="D97A0B"/>
                    </a:solidFill>
                  </a:tcPr>
                </a:tc>
              </a:tr>
              <a:tr h="402336">
                <a:tc>
                  <a:txBody>
                    <a:bodyPr wrap="square"/>
                    <a:lstStyle/>
                    <a:p>
                      <a:pPr algn="l"/>
                      <a:r>
                        <a:rPr sz="1000" b="1">
                          <a:solidFill>
                            <a:srgbClr val="1A1A1A"/>
                          </a:solidFill>
                          <a:latin typeface="Abadi"/>
                        </a:rPr>
                        <a:t>Prokinetics</a:t>
                      </a:r>
                    </a:p>
                  </a:txBody>
                  <a:tcPr marL="73152" marR="73152" marT="27432" marB="27432" anchor="ctr">
                    <a:solidFill>
                      <a:srgbClr val="F2F2F2"/>
                    </a:solidFill>
                  </a:tcPr>
                </a:tc>
                <a:tc>
                  <a:txBody>
                    <a:bodyPr wrap="square"/>
                    <a:lstStyle/>
                    <a:p>
                      <a:pPr algn="l"/>
                      <a:r>
                        <a:rPr sz="1000" b="0">
                          <a:solidFill>
                            <a:srgbClr val="1A1A1A"/>
                          </a:solidFill>
                          <a:latin typeface="Abadi"/>
                        </a:rPr>
                        <a:t>Not recommended</a:t>
                      </a:r>
                    </a:p>
                  </a:txBody>
                  <a:tcPr marL="73152" marR="73152" marT="27432" marB="27432" anchor="ctr">
                    <a:solidFill>
                      <a:srgbClr val="F2F2F2"/>
                    </a:solidFill>
                  </a:tcPr>
                </a:tc>
                <a:tc>
                  <a:txBody>
                    <a:bodyPr wrap="square"/>
                    <a:lstStyle/>
                    <a:p>
                      <a:pPr algn="l"/>
                      <a:r>
                        <a:rPr sz="1000" b="0">
                          <a:solidFill>
                            <a:srgbClr val="1A1A1A"/>
                          </a:solidFill>
                          <a:latin typeface="Abadi"/>
                        </a:rPr>
                        <a:t>Only with specialist agreement</a:t>
                      </a:r>
                    </a:p>
                  </a:txBody>
                  <a:tcPr marL="73152" marR="73152" marT="27432" marB="27432" anchor="ctr">
                    <a:solidFill>
                      <a:srgbClr val="F2F2F2"/>
                    </a:solidFill>
                  </a:tcPr>
                </a:tc>
                <a:tc>
                  <a:txBody>
                    <a:bodyPr wrap="square"/>
                    <a:lstStyle/>
                    <a:p>
                      <a:pPr algn="ctr"/>
                      <a:r>
                        <a:rPr sz="800" b="1">
                          <a:solidFill>
                            <a:srgbClr val="FFFFFF"/>
                          </a:solidFill>
                          <a:latin typeface="Abadi"/>
                        </a:rPr>
                        <a:t>ALIGNED</a:t>
                      </a:r>
                    </a:p>
                  </a:txBody>
                  <a:tcPr marL="73152" marR="73152" marT="27432" marB="27432" anchor="ctr">
                    <a:solidFill>
                      <a:srgbClr val="1E7A33"/>
                    </a:solidFill>
                  </a:tcPr>
                </a:tc>
              </a:tr>
              <a:tr h="402336">
                <a:tc>
                  <a:txBody>
                    <a:bodyPr wrap="square"/>
                    <a:lstStyle/>
                    <a:p>
                      <a:pPr algn="l"/>
                      <a:r>
                        <a:rPr sz="1000" b="1">
                          <a:solidFill>
                            <a:srgbClr val="1A1A1A"/>
                          </a:solidFill>
                          <a:latin typeface="Abadi"/>
                        </a:rPr>
                        <a:t>Preterm infants</a:t>
                      </a:r>
                    </a:p>
                  </a:txBody>
                  <a:tcPr marL="73152" marR="73152" marT="27432" marB="27432" anchor="ctr">
                    <a:solidFill>
                      <a:srgbClr val="FFFFFF"/>
                    </a:solidFill>
                  </a:tcPr>
                </a:tc>
                <a:tc>
                  <a:txBody>
                    <a:bodyPr wrap="square"/>
                    <a:lstStyle/>
                    <a:p>
                      <a:pPr algn="l"/>
                      <a:r>
                        <a:rPr sz="1000" b="0">
                          <a:solidFill>
                            <a:srgbClr val="1A1A1A"/>
                          </a:solidFill>
                          <a:latin typeface="Abadi"/>
                        </a:rPr>
                        <a:t>Outside scope</a:t>
                      </a:r>
                    </a:p>
                  </a:txBody>
                  <a:tcPr marL="73152" marR="73152" marT="27432" marB="27432" anchor="ctr">
                    <a:solidFill>
                      <a:srgbClr val="FFFFFF"/>
                    </a:solidFill>
                  </a:tcPr>
                </a:tc>
                <a:tc>
                  <a:txBody>
                    <a:bodyPr wrap="square"/>
                    <a:lstStyle/>
                    <a:p>
                      <a:pPr algn="l"/>
                      <a:r>
                        <a:rPr sz="1000" b="0">
                          <a:solidFill>
                            <a:srgbClr val="1A1A1A"/>
                          </a:solidFill>
                          <a:latin typeface="Abadi"/>
                        </a:rPr>
                        <a:t>Outside scope; AAP 2018: limit acid blockade</a:t>
                      </a:r>
                    </a:p>
                  </a:txBody>
                  <a:tcPr marL="73152" marR="73152" marT="27432" marB="27432" anchor="ctr">
                    <a:solidFill>
                      <a:srgbClr val="FFFFFF"/>
                    </a:solidFill>
                  </a:tcPr>
                </a:tc>
                <a:tc>
                  <a:txBody>
                    <a:bodyPr wrap="square"/>
                    <a:lstStyle/>
                    <a:p>
                      <a:pPr algn="ctr"/>
                      <a:r>
                        <a:rPr sz="800" b="1">
                          <a:solidFill>
                            <a:srgbClr val="FFFFFF"/>
                          </a:solidFill>
                          <a:latin typeface="Abadi"/>
                        </a:rPr>
                        <a:t>GAP</a:t>
                      </a:r>
                    </a:p>
                  </a:txBody>
                  <a:tcPr marL="73152" marR="73152" marT="27432" marB="27432" anchor="ctr">
                    <a:solidFill>
                      <a:srgbClr val="8A939B"/>
                    </a:solidFill>
                  </a:tcPr>
                </a:tc>
              </a:tr>
              <a:tr h="402336">
                <a:tc>
                  <a:txBody>
                    <a:bodyPr wrap="square"/>
                    <a:lstStyle/>
                    <a:p>
                      <a:pPr algn="l"/>
                      <a:r>
                        <a:rPr sz="1000" b="1">
                          <a:solidFill>
                            <a:srgbClr val="1A1A1A"/>
                          </a:solidFill>
                          <a:latin typeface="Abadi"/>
                        </a:rPr>
                        <a:t>Stopping</a:t>
                      </a:r>
                    </a:p>
                  </a:txBody>
                  <a:tcPr marL="73152" marR="73152" marT="27432" marB="27432" anchor="ctr">
                    <a:solidFill>
                      <a:srgbClr val="F2F2F2"/>
                    </a:solidFill>
                  </a:tcPr>
                </a:tc>
                <a:tc>
                  <a:txBody>
                    <a:bodyPr wrap="square"/>
                    <a:lstStyle/>
                    <a:p>
                      <a:pPr algn="l"/>
                      <a:r>
                        <a:rPr sz="1000" b="0">
                          <a:solidFill>
                            <a:srgbClr val="1A1A1A"/>
                          </a:solidFill>
                          <a:latin typeface="Abadi"/>
                        </a:rPr>
                        <a:t>Reassess, no protocol</a:t>
                      </a:r>
                    </a:p>
                  </a:txBody>
                  <a:tcPr marL="73152" marR="73152" marT="27432" marB="27432" anchor="ctr">
                    <a:solidFill>
                      <a:srgbClr val="F2F2F2"/>
                    </a:solidFill>
                  </a:tcPr>
                </a:tc>
                <a:tc>
                  <a:txBody>
                    <a:bodyPr wrap="square"/>
                    <a:lstStyle/>
                    <a:p>
                      <a:pPr algn="l"/>
                      <a:r>
                        <a:rPr sz="1000" b="0">
                          <a:solidFill>
                            <a:srgbClr val="1A1A1A"/>
                          </a:solidFill>
                          <a:latin typeface="Abadi"/>
                        </a:rPr>
                        <a:t>Review at 4 weeks; stop at intervals</a:t>
                      </a:r>
                    </a:p>
                  </a:txBody>
                  <a:tcPr marL="73152" marR="73152" marT="27432" marB="27432" anchor="ctr">
                    <a:solidFill>
                      <a:srgbClr val="F2F2F2"/>
                    </a:solidFill>
                  </a:tcPr>
                </a:tc>
                <a:tc>
                  <a:txBody>
                    <a:bodyPr wrap="square"/>
                    <a:lstStyle/>
                    <a:p>
                      <a:pPr algn="ctr"/>
                      <a:r>
                        <a:rPr sz="800" b="1">
                          <a:solidFill>
                            <a:srgbClr val="FFFFFF"/>
                          </a:solidFill>
                          <a:latin typeface="Abadi"/>
                        </a:rPr>
                        <a:t>GAP</a:t>
                      </a:r>
                    </a:p>
                  </a:txBody>
                  <a:tcPr marL="73152" marR="73152" marT="27432" marB="27432" anchor="ctr">
                    <a:solidFill>
                      <a:srgbClr val="8A939B"/>
                    </a:solidFill>
                  </a:tcPr>
                </a:tc>
              </a:tr>
            </a:tbl>
          </a:graphicData>
        </a:graphic>
      </p:graphicFrame>
      <p:sp>
        <p:nvSpPr>
          <p:cNvPr id="13" name="TextBox 12"/>
          <p:cNvSpPr txBox="1"/>
          <p:nvPr/>
        </p:nvSpPr>
        <p:spPr>
          <a:xfrm>
            <a:off x="548640" y="5440680"/>
            <a:ext cx="11082528" cy="411480"/>
          </a:xfrm>
          <a:prstGeom prst="rect">
            <a:avLst/>
          </a:prstGeom>
          <a:noFill/>
        </p:spPr>
        <p:txBody>
          <a:bodyPr wrap="square" lIns="45720" rIns="45720" tIns="27432" bIns="27432" anchor="t">
            <a:spAutoFit/>
          </a:bodyPr>
          <a:lstStyle/>
          <a:p>
            <a:pPr algn="l">
              <a:spcAft>
                <a:spcPts val="600"/>
              </a:spcAft>
            </a:pPr>
            <a:r>
              <a:rPr sz="1200" b="1" i="0">
                <a:solidFill>
                  <a:srgbClr val="B22222"/>
                </a:solidFill>
                <a:latin typeface="Abadi"/>
              </a:rPr>
              <a:t>Material difference.  </a:t>
            </a:r>
            <a:r>
              <a:rPr sz="1200" b="0" i="0">
                <a:solidFill>
                  <a:srgbClr val="1A1A1A"/>
                </a:solidFill>
                <a:latin typeface="Abadi"/>
              </a:rPr>
              <a:t>NICE still opens a door to an empirical infant trial that the joint North American–European guideline closes.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WHERE THE PRESCRIPTION GOES WRONG</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Common routes to an unindicated infant PPI</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Rosen 2018 · NICE NG1 · Orenstein 2009 · Mitre 2018 · Lassalle 2023 · Chen 2012</a:t>
            </a:r>
          </a:p>
        </p:txBody>
      </p:sp>
      <p:sp>
        <p:nvSpPr>
          <p:cNvPr id="12" name="Rectangle 11"/>
          <p:cNvSpPr/>
          <p:nvPr/>
        </p:nvSpPr>
        <p:spPr>
          <a:xfrm>
            <a:off x="548640" y="1773936"/>
            <a:ext cx="2633472"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84248"/>
            <a:ext cx="2304288" cy="457200"/>
          </a:xfrm>
          <a:prstGeom prst="rect">
            <a:avLst/>
          </a:prstGeom>
          <a:noFill/>
        </p:spPr>
        <p:txBody>
          <a:bodyPr wrap="square" lIns="45720" rIns="45720" tIns="27432" bIns="27432" anchor="t">
            <a:spAutoFit/>
          </a:bodyPr>
          <a:lstStyle/>
          <a:p>
            <a:pPr algn="l"/>
            <a:r>
              <a:rPr sz="1500" b="1" i="0">
                <a:solidFill>
                  <a:srgbClr val="B22222"/>
                </a:solidFill>
                <a:latin typeface="Abadi"/>
              </a:rPr>
              <a:t>'It worked'</a:t>
            </a:r>
          </a:p>
        </p:txBody>
      </p:sp>
      <p:sp>
        <p:nvSpPr>
          <p:cNvPr id="15" name="TextBox 14"/>
          <p:cNvSpPr txBox="1"/>
          <p:nvPr/>
        </p:nvSpPr>
        <p:spPr>
          <a:xfrm>
            <a:off x="713232" y="2523744"/>
            <a:ext cx="2304288"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Placebo 54%</a:t>
            </a:r>
          </a:p>
          <a:p>
            <a:pPr algn="l">
              <a:spcAft>
                <a:spcPts val="300"/>
              </a:spcAft>
            </a:pPr>
            <a:r>
              <a:rPr sz="1150" b="0" i="0">
                <a:solidFill>
                  <a:srgbClr val="1A1A1A"/>
                </a:solidFill>
                <a:latin typeface="Abadi"/>
              </a:rPr>
              <a:t>▪  Crying falls anyway</a:t>
            </a:r>
          </a:p>
          <a:p>
            <a:pPr algn="l">
              <a:spcAft>
                <a:spcPts val="300"/>
              </a:spcAft>
            </a:pPr>
            <a:r>
              <a:rPr sz="1150" b="0" i="0">
                <a:solidFill>
                  <a:srgbClr val="1A1A1A"/>
                </a:solidFill>
                <a:latin typeface="Abadi"/>
              </a:rPr>
              <a:t>▪  Response is not diagnosis</a:t>
            </a:r>
          </a:p>
        </p:txBody>
      </p:sp>
      <p:sp>
        <p:nvSpPr>
          <p:cNvPr id="16" name="Rectangle 15"/>
          <p:cNvSpPr/>
          <p:nvPr/>
        </p:nvSpPr>
        <p:spPr>
          <a:xfrm>
            <a:off x="3364992" y="1773936"/>
            <a:ext cx="2633472"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984248"/>
            <a:ext cx="2304288" cy="457200"/>
          </a:xfrm>
          <a:prstGeom prst="rect">
            <a:avLst/>
          </a:prstGeom>
          <a:noFill/>
        </p:spPr>
        <p:txBody>
          <a:bodyPr wrap="square" lIns="45720" rIns="45720" tIns="27432" bIns="27432" anchor="t">
            <a:spAutoFit/>
          </a:bodyPr>
          <a:lstStyle/>
          <a:p>
            <a:pPr algn="l"/>
            <a:r>
              <a:rPr sz="1500" b="1" i="0">
                <a:solidFill>
                  <a:srgbClr val="D97A0B"/>
                </a:solidFill>
                <a:latin typeface="Abadi"/>
              </a:rPr>
              <a:t>'Silent reflux'</a:t>
            </a:r>
          </a:p>
        </p:txBody>
      </p:sp>
      <p:sp>
        <p:nvSpPr>
          <p:cNvPr id="19" name="TextBox 18"/>
          <p:cNvSpPr txBox="1"/>
          <p:nvPr/>
        </p:nvSpPr>
        <p:spPr>
          <a:xfrm>
            <a:off x="3529584" y="2523744"/>
            <a:ext cx="2304288"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No test confirms it</a:t>
            </a:r>
          </a:p>
          <a:p>
            <a:pPr algn="l">
              <a:spcAft>
                <a:spcPts val="300"/>
              </a:spcAft>
            </a:pPr>
            <a:r>
              <a:rPr sz="1150" b="0" i="0">
                <a:solidFill>
                  <a:srgbClr val="1A1A1A"/>
                </a:solidFill>
                <a:latin typeface="Abadi"/>
              </a:rPr>
              <a:t>▪  Questionnaires overcall</a:t>
            </a:r>
          </a:p>
          <a:p>
            <a:pPr algn="l">
              <a:spcAft>
                <a:spcPts val="300"/>
              </a:spcAft>
            </a:pPr>
            <a:r>
              <a:rPr sz="1150" b="0" i="0">
                <a:solidFill>
                  <a:srgbClr val="1A1A1A"/>
                </a:solidFill>
                <a:latin typeface="Abadi"/>
              </a:rPr>
              <a:t>▪  Ask about milk allergy</a:t>
            </a:r>
          </a:p>
        </p:txBody>
      </p:sp>
      <p:sp>
        <p:nvSpPr>
          <p:cNvPr id="20" name="Rectangle 19"/>
          <p:cNvSpPr/>
          <p:nvPr/>
        </p:nvSpPr>
        <p:spPr>
          <a:xfrm>
            <a:off x="6181344" y="1773936"/>
            <a:ext cx="2633472"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84248"/>
            <a:ext cx="2304288" cy="457200"/>
          </a:xfrm>
          <a:prstGeom prst="rect">
            <a:avLst/>
          </a:prstGeom>
          <a:noFill/>
        </p:spPr>
        <p:txBody>
          <a:bodyPr wrap="square" lIns="45720" rIns="45720" tIns="27432" bIns="27432" anchor="t">
            <a:spAutoFit/>
          </a:bodyPr>
          <a:lstStyle/>
          <a:p>
            <a:pPr algn="l"/>
            <a:r>
              <a:rPr sz="1500" b="1" i="0">
                <a:solidFill>
                  <a:srgbClr val="1B355E"/>
                </a:solidFill>
                <a:latin typeface="Abadi"/>
              </a:rPr>
              <a:t>'Just in case'</a:t>
            </a:r>
          </a:p>
        </p:txBody>
      </p:sp>
      <p:sp>
        <p:nvSpPr>
          <p:cNvPr id="23" name="TextBox 22"/>
          <p:cNvSpPr txBox="1"/>
          <p:nvPr/>
        </p:nvSpPr>
        <p:spPr>
          <a:xfrm>
            <a:off x="6345936" y="2523744"/>
            <a:ext cx="2304288"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Infections aHR 1.34</a:t>
            </a:r>
          </a:p>
          <a:p>
            <a:pPr algn="l">
              <a:spcAft>
                <a:spcPts val="300"/>
              </a:spcAft>
            </a:pPr>
            <a:r>
              <a:rPr sz="1150" b="0" i="0">
                <a:solidFill>
                  <a:srgbClr val="1A1A1A"/>
                </a:solidFill>
                <a:latin typeface="Abadi"/>
              </a:rPr>
              <a:t>▪  Food allergy aHR 2.59</a:t>
            </a:r>
          </a:p>
          <a:p>
            <a:pPr algn="l">
              <a:spcAft>
                <a:spcPts val="300"/>
              </a:spcAft>
            </a:pPr>
            <a:r>
              <a:rPr sz="1150" b="0" i="0">
                <a:solidFill>
                  <a:srgbClr val="1A1A1A"/>
                </a:solidFill>
                <a:latin typeface="Abadi"/>
              </a:rPr>
              <a:t>▪  Fractures +21%</a:t>
            </a:r>
          </a:p>
        </p:txBody>
      </p:sp>
      <p:sp>
        <p:nvSpPr>
          <p:cNvPr id="24" name="Rectangle 23"/>
          <p:cNvSpPr/>
          <p:nvPr/>
        </p:nvSpPr>
        <p:spPr>
          <a:xfrm>
            <a:off x="8997696" y="1773936"/>
            <a:ext cx="2633472"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1984248"/>
            <a:ext cx="2304288" cy="457200"/>
          </a:xfrm>
          <a:prstGeom prst="rect">
            <a:avLst/>
          </a:prstGeom>
          <a:noFill/>
        </p:spPr>
        <p:txBody>
          <a:bodyPr wrap="square" lIns="45720" rIns="45720" tIns="27432" bIns="27432" anchor="t">
            <a:spAutoFit/>
          </a:bodyPr>
          <a:lstStyle/>
          <a:p>
            <a:pPr algn="l"/>
            <a:r>
              <a:rPr sz="1500" b="1" i="0">
                <a:solidFill>
                  <a:srgbClr val="7F7F7F"/>
                </a:solidFill>
                <a:latin typeface="Abadi"/>
              </a:rPr>
              <a:t>'Nobody stopped it'</a:t>
            </a:r>
          </a:p>
        </p:txBody>
      </p:sp>
      <p:sp>
        <p:nvSpPr>
          <p:cNvPr id="27" name="TextBox 26"/>
          <p:cNvSpPr txBox="1"/>
          <p:nvPr/>
        </p:nvSpPr>
        <p:spPr>
          <a:xfrm>
            <a:off x="9162288" y="2523744"/>
            <a:ext cx="2304288" cy="1307592"/>
          </a:xfrm>
          <a:prstGeom prst="rect">
            <a:avLst/>
          </a:prstGeom>
          <a:noFill/>
        </p:spPr>
        <p:txBody>
          <a:bodyPr wrap="square" lIns="45720" rIns="45720" tIns="27432" bIns="27432" anchor="t">
            <a:spAutoFit/>
          </a:bodyPr>
          <a:lstStyle/>
          <a:p>
            <a:pPr algn="l">
              <a:spcAft>
                <a:spcPts val="300"/>
              </a:spcAft>
            </a:pPr>
            <a:r>
              <a:rPr sz="1150" b="0" i="0">
                <a:solidFill>
                  <a:srgbClr val="1A1A1A"/>
                </a:solidFill>
                <a:latin typeface="Abadi"/>
              </a:rPr>
              <a:t>▪  Started in hospital</a:t>
            </a:r>
          </a:p>
          <a:p>
            <a:pPr algn="l">
              <a:spcAft>
                <a:spcPts val="300"/>
              </a:spcAft>
            </a:pPr>
            <a:r>
              <a:rPr sz="1150" b="0" i="0">
                <a:solidFill>
                  <a:srgbClr val="1A1A1A"/>
                </a:solidFill>
                <a:latin typeface="Abadi"/>
              </a:rPr>
              <a:t>▪  Renewed by default</a:t>
            </a:r>
          </a:p>
          <a:p>
            <a:pPr algn="l">
              <a:spcAft>
                <a:spcPts val="300"/>
              </a:spcAft>
            </a:pPr>
            <a:r>
              <a:rPr sz="1150" b="0" i="0">
                <a:solidFill>
                  <a:srgbClr val="1A1A1A"/>
                </a:solidFill>
                <a:latin typeface="Abadi"/>
              </a:rPr>
              <a:t>▪  Review at every visit</a:t>
            </a:r>
          </a:p>
        </p:txBody>
      </p:sp>
      <p:sp>
        <p:nvSpPr>
          <p:cNvPr id="28" name="TextBox 27"/>
          <p:cNvSpPr txBox="1"/>
          <p:nvPr/>
        </p:nvSpPr>
        <p:spPr>
          <a:xfrm>
            <a:off x="548640" y="4160520"/>
            <a:ext cx="11082528" cy="1097280"/>
          </a:xfrm>
          <a:prstGeom prst="rect">
            <a:avLst/>
          </a:prstGeom>
          <a:noFill/>
        </p:spPr>
        <p:txBody>
          <a:bodyPr wrap="square" lIns="45720" rIns="45720" tIns="27432" bIns="27432" anchor="t">
            <a:spAutoFit/>
          </a:bodyPr>
          <a:lstStyle/>
          <a:p>
            <a:pPr algn="l">
              <a:spcAft>
                <a:spcPts val="600"/>
              </a:spcAft>
            </a:pPr>
            <a:r>
              <a:rPr sz="1300" b="1" i="0">
                <a:solidFill>
                  <a:srgbClr val="1B355E"/>
                </a:solidFill>
                <a:latin typeface="Abadi"/>
              </a:rPr>
              <a:t>And two more.  </a:t>
            </a:r>
            <a:r>
              <a:rPr sz="1300" b="0" i="0">
                <a:solidFill>
                  <a:srgbClr val="1A1A1A"/>
                </a:solidFill>
                <a:latin typeface="Abadi"/>
              </a:rPr>
              <a:t>Doubling the dose when the first did nothing, and adding an H2RA at night; both raise exposure to a drug that had no target.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The numbers worth carrying into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Orenstein 2009 · Moore 2003 · Chen 2012 · Rosen 2018 · NICE NG1 · Lassalle 2023 · Malchodi 2019 · Mitre 2018 · Terrin 2012 · Guillet 2006 · Hirsch 2025</a:t>
            </a:r>
          </a:p>
        </p:txBody>
      </p:sp>
      <p:sp>
        <p:nvSpPr>
          <p:cNvPr id="12" name="TextBox 11"/>
          <p:cNvSpPr txBox="1"/>
          <p:nvPr/>
        </p:nvSpPr>
        <p:spPr>
          <a:xfrm>
            <a:off x="548640" y="1810512"/>
            <a:ext cx="11082528" cy="3977639"/>
          </a:xfrm>
          <a:prstGeom prst="rect">
            <a:avLst/>
          </a:prstGeom>
          <a:noFill/>
        </p:spPr>
        <p:txBody>
          <a:bodyPr wrap="square" lIns="45720" rIns="45720" tIns="27432" bIns="27432" anchor="t">
            <a:spAutoFit/>
          </a:bodyPr>
          <a:lstStyle/>
          <a:p>
            <a:pPr algn="l">
              <a:spcAft>
                <a:spcPts val="600"/>
              </a:spcAft>
            </a:pPr>
            <a:r>
              <a:rPr sz="1400" b="0" i="0">
                <a:solidFill>
                  <a:srgbClr val="1A1A1A"/>
                </a:solidFill>
                <a:latin typeface="Abadi"/>
              </a:rPr>
              <a:t>▪  Lansoprazole versus placebo: 54% versus 54% responders; serious events 10 versus 2, mostly chest infections.</a:t>
            </a:r>
          </a:p>
          <a:p>
            <a:pPr algn="l">
              <a:spcAft>
                <a:spcPts val="600"/>
              </a:spcAft>
            </a:pPr>
            <a:r>
              <a:rPr sz="1400" b="0" i="0">
                <a:solidFill>
                  <a:srgbClr val="1A1A1A"/>
                </a:solidFill>
                <a:latin typeface="Abadi"/>
              </a:rPr>
              <a:t>▪  Omeprazole lowered the acid index in proven GERD but did not change crying.</a:t>
            </a:r>
          </a:p>
          <a:p>
            <a:pPr algn="l">
              <a:spcAft>
                <a:spcPts val="600"/>
              </a:spcAft>
            </a:pPr>
            <a:r>
              <a:rPr sz="1400" b="0" i="0">
                <a:solidFill>
                  <a:srgbClr val="1A1A1A"/>
                </a:solidFill>
                <a:latin typeface="Abadi"/>
              </a:rPr>
              <a:t>▪  The FDA found no infant PPI trial showing efficacy for GERD symptoms.</a:t>
            </a:r>
          </a:p>
          <a:p>
            <a:pPr algn="l">
              <a:spcAft>
                <a:spcPts val="600"/>
              </a:spcAft>
            </a:pPr>
            <a:r>
              <a:rPr sz="1400" b="0" i="0">
                <a:solidFill>
                  <a:srgbClr val="1A1A1A"/>
                </a:solidFill>
                <a:latin typeface="Abadi"/>
              </a:rPr>
              <a:t>▪  Guidelines: no H2RA or PPI for crying, distress or visible regurgitation in healthy infants.</a:t>
            </a:r>
          </a:p>
          <a:p>
            <a:pPr algn="l">
              <a:spcAft>
                <a:spcPts val="600"/>
              </a:spcAft>
            </a:pPr>
            <a:r>
              <a:rPr sz="1400" b="0" i="0">
                <a:solidFill>
                  <a:srgbClr val="1A1A1A"/>
                </a:solidFill>
                <a:latin typeface="Abadi"/>
              </a:rPr>
              <a:t>▪  No PPI trial as a diagnostic test in infants (NASPGHAN/ESPGHAN); NICE allows a reviewed 4-week trial.</a:t>
            </a:r>
          </a:p>
          <a:p>
            <a:pPr algn="l">
              <a:spcAft>
                <a:spcPts val="600"/>
              </a:spcAft>
            </a:pPr>
            <a:r>
              <a:rPr sz="1400" b="0" i="0">
                <a:solidFill>
                  <a:srgbClr val="1A1A1A"/>
                </a:solidFill>
                <a:latin typeface="Abadi"/>
              </a:rPr>
              <a:t>▪  Serious infections aHR 1.34 in 1.26 million French children; bacterial 1.56.</a:t>
            </a:r>
          </a:p>
          <a:p>
            <a:pPr algn="l">
              <a:spcAft>
                <a:spcPts val="600"/>
              </a:spcAft>
            </a:pPr>
            <a:r>
              <a:rPr sz="1400" b="0" i="0">
                <a:solidFill>
                  <a:srgbClr val="1A1A1A"/>
                </a:solidFill>
                <a:latin typeface="Abadi"/>
              </a:rPr>
              <a:t>▪  Fracture hazard +21% with PPI and +30% with PPI plus H2RA in the first year.</a:t>
            </a:r>
          </a:p>
          <a:p>
            <a:pPr algn="l">
              <a:spcAft>
                <a:spcPts val="600"/>
              </a:spcAft>
            </a:pPr>
            <a:r>
              <a:rPr sz="1400" b="0" i="0">
                <a:solidFill>
                  <a:srgbClr val="1A1A1A"/>
                </a:solidFill>
                <a:latin typeface="Abadi"/>
              </a:rPr>
              <a:t>▪  Food allergy aHR 2.59 after PPI in the first 6 months; anaphylaxis 1.45.</a:t>
            </a:r>
          </a:p>
          <a:p>
            <a:pPr algn="l">
              <a:spcAft>
                <a:spcPts val="600"/>
              </a:spcAft>
            </a:pPr>
            <a:r>
              <a:rPr sz="1400" b="0" i="0">
                <a:solidFill>
                  <a:srgbClr val="1A1A1A"/>
                </a:solidFill>
                <a:latin typeface="Abadi"/>
              </a:rPr>
              <a:t>▪  Preterm ranitidine: infection 37% vs 10%, NEC 6.6-fold, death 9.9% vs 1.6%.</a:t>
            </a:r>
          </a:p>
          <a:p>
            <a:pPr algn="l">
              <a:spcAft>
                <a:spcPts val="600"/>
              </a:spcAft>
            </a:pPr>
            <a:r>
              <a:rPr sz="1400" b="0" i="0">
                <a:solidFill>
                  <a:srgbClr val="1A1A1A"/>
                </a:solidFill>
                <a:latin typeface="Abadi"/>
              </a:rPr>
              <a:t>▪  Legitimate: erosive oesophagitis, oesophageal atresia, acid injury; about 1 mg/kg/day, with a stop date.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45720" rIns="45720" tIns="27432" bIns="27432" anchor="ctr">
            <a:spAutoFit/>
          </a:bodyPr>
          <a:lstStyle/>
          <a:p>
            <a:pPr algn="ctr"/>
            <a:r>
              <a:rPr sz="1500" b="1" i="0">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45720" rIns="45720" tIns="27432" bIns="27432" anchor="ctr">
            <a:spAutoFit/>
          </a:bodyPr>
          <a:lstStyle/>
          <a:p>
            <a:pPr algn="l"/>
            <a:r>
              <a:rPr sz="1200" b="1" i="0">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45720" rIns="45720" tIns="27432" bIns="27432" anchor="t">
            <a:spAutoFit/>
          </a:bodyPr>
          <a:lstStyle/>
          <a:p>
            <a:pPr algn="l"/>
            <a:r>
              <a:rPr sz="3000" b="1" i="0">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45720" rIns="45720" tIns="27432" bIns="27432" anchor="t">
            <a:spAutoFit/>
          </a:bodyPr>
          <a:lstStyle/>
          <a:p>
            <a:pPr algn="l"/>
            <a:r>
              <a:rPr sz="1300" b="0" i="1">
                <a:solidFill>
                  <a:srgbClr val="555555"/>
                </a:solidFill>
                <a:latin typeface="Abadi"/>
              </a:rPr>
              <a:t>Applying the evidence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45720" rIns="45720" tIns="27432" bIns="27432" anchor="t">
            <a:spAutoFit/>
          </a:bodyPr>
          <a:lstStyle/>
          <a:p>
            <a:pPr algn="r"/>
            <a:r>
              <a:rPr sz="1200" b="0" i="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45720" rIns="45720" tIns="27432" bIns="27432" anchor="t">
            <a:spAutoFit/>
          </a:bodyPr>
          <a:lstStyle/>
          <a:p>
            <a:pPr algn="l"/>
            <a:r>
              <a:rPr sz="1000" b="0" i="1">
                <a:solidFill>
                  <a:srgbClr val="7F7F7F"/>
                </a:solidFill>
                <a:latin typeface="Abadi"/>
              </a:rPr>
              <a:t>Synthesis of the sources above</a:t>
            </a:r>
          </a:p>
        </p:txBody>
      </p:sp>
      <p:graphicFrame>
        <p:nvGraphicFramePr>
          <p:cNvPr id="12" name="Table 11"/>
          <p:cNvGraphicFramePr>
            <a:graphicFrameLocks noGrp="1"/>
          </p:cNvGraphicFramePr>
          <p:nvPr/>
        </p:nvGraphicFramePr>
        <p:xfrm>
          <a:off x="548640" y="1773936"/>
          <a:ext cx="11082528" cy="3968496"/>
        </p:xfrm>
        <a:graphic>
          <a:graphicData uri="http://schemas.openxmlformats.org/drawingml/2006/table">
            <a:tbl>
              <a:tblPr firstRow="0" bandRow="0">
                <a:tableStyleId>{5C22544A-7EE6-4342-B048-85BDC9FD1C3A}</a:tableStyleId>
              </a:tblPr>
              <a:tblGrid>
                <a:gridCol w="5120640"/>
                <a:gridCol w="5961888"/>
              </a:tblGrid>
              <a:tr h="566928">
                <a:tc>
                  <a:txBody>
                    <a:bodyPr wrap="square"/>
                    <a:lstStyle/>
                    <a:p>
                      <a:pPr algn="l"/>
                      <a:r>
                        <a:rPr sz="1050" b="1">
                          <a:solidFill>
                            <a:srgbClr val="FFFFFF"/>
                          </a:solidFill>
                          <a:latin typeface="Abadi"/>
                        </a:rPr>
                        <a:t>Scenario</a:t>
                      </a:r>
                    </a:p>
                  </a:txBody>
                  <a:tcPr marL="73152" marR="73152" marT="27432" marB="27432" anchor="ctr">
                    <a:solidFill>
                      <a:srgbClr val="1B355E"/>
                    </a:solidFill>
                  </a:tcPr>
                </a:tc>
                <a:tc>
                  <a:txBody>
                    <a:bodyPr wrap="square"/>
                    <a:lstStyle/>
                    <a:p>
                      <a:pPr algn="l"/>
                      <a:r>
                        <a:rPr sz="1050" b="1">
                          <a:solidFill>
                            <a:srgbClr val="FFFFFF"/>
                          </a:solidFill>
                          <a:latin typeface="Abadi"/>
                        </a:rPr>
                        <a:t>Decision</a:t>
                      </a:r>
                    </a:p>
                  </a:txBody>
                  <a:tcPr marL="73152" marR="73152" marT="27432" marB="27432" anchor="ctr">
                    <a:solidFill>
                      <a:srgbClr val="1B355E"/>
                    </a:solidFill>
                  </a:tcPr>
                </a:tc>
              </a:tr>
              <a:tr h="566928">
                <a:tc>
                  <a:txBody>
                    <a:bodyPr wrap="square"/>
                    <a:lstStyle/>
                    <a:p>
                      <a:pPr algn="l"/>
                      <a:r>
                        <a:rPr sz="1050" b="1">
                          <a:solidFill>
                            <a:srgbClr val="1A1A1A"/>
                          </a:solidFill>
                          <a:latin typeface="Abadi"/>
                        </a:rPr>
                        <a:t>7-week-old, thriving, crying 3 hours a day, arches after feeds</a:t>
                      </a:r>
                    </a:p>
                  </a:txBody>
                  <a:tcPr marL="73152" marR="73152" marT="27432" marB="27432" anchor="ctr">
                    <a:solidFill>
                      <a:srgbClr val="FFFFFF"/>
                    </a:solidFill>
                  </a:tcPr>
                </a:tc>
                <a:tc>
                  <a:txBody>
                    <a:bodyPr wrap="square"/>
                    <a:lstStyle/>
                    <a:p>
                      <a:pPr algn="l"/>
                      <a:r>
                        <a:rPr sz="1050" b="0">
                          <a:solidFill>
                            <a:srgbClr val="1A1A1A"/>
                          </a:solidFill>
                          <a:latin typeface="Abadi"/>
                        </a:rPr>
                        <a:t>No PPI: explain the crying curve, check feeding, review in 2 weeks</a:t>
                      </a:r>
                    </a:p>
                  </a:txBody>
                  <a:tcPr marL="73152" marR="73152" marT="27432" marB="27432" anchor="ctr">
                    <a:solidFill>
                      <a:srgbClr val="FFFFFF"/>
                    </a:solidFill>
                  </a:tcPr>
                </a:tc>
              </a:tr>
              <a:tr h="566928">
                <a:tc>
                  <a:txBody>
                    <a:bodyPr wrap="square"/>
                    <a:lstStyle/>
                    <a:p>
                      <a:pPr algn="l"/>
                      <a:r>
                        <a:rPr sz="1050" b="1">
                          <a:solidFill>
                            <a:srgbClr val="1A1A1A"/>
                          </a:solidFill>
                          <a:latin typeface="Abadi"/>
                        </a:rPr>
                        <a:t>3-month-old on omeprazole since a 2-week admission; 'it worked'</a:t>
                      </a:r>
                    </a:p>
                  </a:txBody>
                  <a:tcPr marL="73152" marR="73152" marT="27432" marB="27432" anchor="ctr">
                    <a:solidFill>
                      <a:srgbClr val="F2F2F2"/>
                    </a:solidFill>
                  </a:tcPr>
                </a:tc>
                <a:tc>
                  <a:txBody>
                    <a:bodyPr wrap="square"/>
                    <a:lstStyle/>
                    <a:p>
                      <a:pPr algn="l"/>
                      <a:r>
                        <a:rPr sz="1050" b="0">
                          <a:solidFill>
                            <a:srgbClr val="1A1A1A"/>
                          </a:solidFill>
                          <a:latin typeface="Abadi"/>
                        </a:rPr>
                        <a:t>No indication documented: stop now and explain the placebo response</a:t>
                      </a:r>
                    </a:p>
                  </a:txBody>
                  <a:tcPr marL="73152" marR="73152" marT="27432" marB="27432" anchor="ctr">
                    <a:solidFill>
                      <a:srgbClr val="F2F2F2"/>
                    </a:solidFill>
                  </a:tcPr>
                </a:tc>
              </a:tr>
              <a:tr h="566928">
                <a:tc>
                  <a:txBody>
                    <a:bodyPr wrap="square"/>
                    <a:lstStyle/>
                    <a:p>
                      <a:pPr algn="l"/>
                      <a:r>
                        <a:rPr sz="1050" b="1">
                          <a:solidFill>
                            <a:srgbClr val="1A1A1A"/>
                          </a:solidFill>
                          <a:latin typeface="Abadi"/>
                        </a:rPr>
                        <a:t>4-month-old, eczema, blood-streaked stools, spitting, slow weight gain</a:t>
                      </a:r>
                    </a:p>
                  </a:txBody>
                  <a:tcPr marL="73152" marR="73152" marT="27432" marB="27432" anchor="ctr">
                    <a:solidFill>
                      <a:srgbClr val="FFFFFF"/>
                    </a:solidFill>
                  </a:tcPr>
                </a:tc>
                <a:tc>
                  <a:txBody>
                    <a:bodyPr wrap="square"/>
                    <a:lstStyle/>
                    <a:p>
                      <a:pPr algn="l"/>
                      <a:r>
                        <a:rPr sz="1050" b="0">
                          <a:solidFill>
                            <a:srgbClr val="1A1A1A"/>
                          </a:solidFill>
                          <a:latin typeface="Abadi"/>
                        </a:rPr>
                        <a:t>Milk protein allergy first: 2–4 week extensively hydrolysed formula, not a PPI</a:t>
                      </a:r>
                    </a:p>
                  </a:txBody>
                  <a:tcPr marL="73152" marR="73152" marT="27432" marB="27432" anchor="ctr">
                    <a:solidFill>
                      <a:srgbClr val="FFFFFF"/>
                    </a:solidFill>
                  </a:tcPr>
                </a:tc>
              </a:tr>
              <a:tr h="566928">
                <a:tc>
                  <a:txBody>
                    <a:bodyPr wrap="square"/>
                    <a:lstStyle/>
                    <a:p>
                      <a:pPr algn="l"/>
                      <a:r>
                        <a:rPr sz="1050" b="1">
                          <a:solidFill>
                            <a:srgbClr val="1A1A1A"/>
                          </a:solidFill>
                          <a:latin typeface="Abadi"/>
                        </a:rPr>
                        <a:t>Ex-28-week infant in the NICU with desaturations after feeds</a:t>
                      </a:r>
                    </a:p>
                  </a:txBody>
                  <a:tcPr marL="73152" marR="73152" marT="27432" marB="27432" anchor="ctr">
                    <a:solidFill>
                      <a:srgbClr val="F2F2F2"/>
                    </a:solidFill>
                  </a:tcPr>
                </a:tc>
                <a:tc>
                  <a:txBody>
                    <a:bodyPr wrap="square"/>
                    <a:lstStyle/>
                    <a:p>
                      <a:pPr algn="l"/>
                      <a:r>
                        <a:rPr sz="1050" b="0">
                          <a:solidFill>
                            <a:srgbClr val="1A1A1A"/>
                          </a:solidFill>
                          <a:latin typeface="Abadi"/>
                        </a:rPr>
                        <a:t>No acid blockade: reflux does not cause most events; harm is documented</a:t>
                      </a:r>
                    </a:p>
                  </a:txBody>
                  <a:tcPr marL="73152" marR="73152" marT="27432" marB="27432" anchor="ctr">
                    <a:solidFill>
                      <a:srgbClr val="F2F2F2"/>
                    </a:solidFill>
                  </a:tcPr>
                </a:tc>
              </a:tr>
              <a:tr h="566928">
                <a:tc>
                  <a:txBody>
                    <a:bodyPr wrap="square"/>
                    <a:lstStyle/>
                    <a:p>
                      <a:pPr algn="l"/>
                      <a:r>
                        <a:rPr sz="1050" b="1">
                          <a:solidFill>
                            <a:srgbClr val="1A1A1A"/>
                          </a:solidFill>
                          <a:latin typeface="Abadi"/>
                        </a:rPr>
                        <a:t>Repaired oesophageal atresia, day 10</a:t>
                      </a:r>
                    </a:p>
                  </a:txBody>
                  <a:tcPr marL="73152" marR="73152" marT="27432" marB="27432" anchor="ctr">
                    <a:solidFill>
                      <a:srgbClr val="FFFFFF"/>
                    </a:solidFill>
                  </a:tcPr>
                </a:tc>
                <a:tc>
                  <a:txBody>
                    <a:bodyPr wrap="square"/>
                    <a:lstStyle/>
                    <a:p>
                      <a:pPr algn="l"/>
                      <a:r>
                        <a:rPr sz="1050" b="0">
                          <a:solidFill>
                            <a:srgbClr val="1A1A1A"/>
                          </a:solidFill>
                          <a:latin typeface="Abadi"/>
                        </a:rPr>
                        <a:t>PPI is reasonable to 12 months or longer if GERD persists; review at each visit</a:t>
                      </a:r>
                    </a:p>
                  </a:txBody>
                  <a:tcPr marL="73152" marR="73152" marT="27432" marB="27432" anchor="ctr">
                    <a:solidFill>
                      <a:srgbClr val="FFFFFF"/>
                    </a:solidFill>
                  </a:tcPr>
                </a:tc>
              </a:tr>
              <a:tr h="566928">
                <a:tc>
                  <a:txBody>
                    <a:bodyPr wrap="square"/>
                    <a:lstStyle/>
                    <a:p>
                      <a:pPr algn="l"/>
                      <a:r>
                        <a:rPr sz="1050" b="1">
                          <a:solidFill>
                            <a:srgbClr val="1A1A1A"/>
                          </a:solidFill>
                          <a:latin typeface="Abadi"/>
                        </a:rPr>
                        <a:t>Haematemesis with ulcerative oesophagitis at endoscopy</a:t>
                      </a:r>
                    </a:p>
                  </a:txBody>
                  <a:tcPr marL="73152" marR="73152" marT="27432" marB="27432" anchor="ctr">
                    <a:solidFill>
                      <a:srgbClr val="F2F2F2"/>
                    </a:solidFill>
                  </a:tcPr>
                </a:tc>
                <a:tc>
                  <a:txBody>
                    <a:bodyPr wrap="square"/>
                    <a:lstStyle/>
                    <a:p>
                      <a:pPr algn="l"/>
                      <a:r>
                        <a:rPr sz="1050" b="0">
                          <a:solidFill>
                            <a:srgbClr val="1A1A1A"/>
                          </a:solidFill>
                          <a:latin typeface="Abadi"/>
                        </a:rPr>
                        <a:t>Treat: omeprazole about 1 mg/kg/day for 8–12 weeks, then reassess</a:t>
                      </a:r>
                    </a:p>
                  </a:txBody>
                  <a:tcPr marL="73152" marR="73152" marT="27432" marB="27432" anchor="ctr">
                    <a:solidFill>
                      <a:srgbClr val="F2F2F2"/>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11082528" cy="2194560"/>
          </a:xfrm>
          <a:prstGeom prst="rect">
            <a:avLst/>
          </a:prstGeom>
          <a:noFill/>
        </p:spPr>
        <p:txBody>
          <a:bodyPr wrap="square" lIns="45720" rIns="45720" tIns="27432" bIns="27432" anchor="ctr">
            <a:spAutoFit/>
          </a:bodyPr>
          <a:lstStyle/>
          <a:p>
            <a:pPr algn="ctr"/>
            <a:r>
              <a:rPr sz="4000" b="1" i="0">
                <a:solidFill>
                  <a:srgbClr val="FFFFFF"/>
                </a:solidFill>
                <a:latin typeface="Abadi"/>
              </a:rPr>
              <a:t>Proton Pump Inhibitors in Infants: Why the Trials Failed, What the Drugs Cost, and When They Are Right</a:t>
            </a:r>
          </a:p>
        </p:txBody>
      </p:sp>
      <p:sp>
        <p:nvSpPr>
          <p:cNvPr id="4" name="TextBox 3"/>
          <p:cNvSpPr txBox="1"/>
          <p:nvPr/>
        </p:nvSpPr>
        <p:spPr>
          <a:xfrm>
            <a:off x="548640" y="4434840"/>
            <a:ext cx="11082528" cy="292608"/>
          </a:xfrm>
          <a:prstGeom prst="rect">
            <a:avLst/>
          </a:prstGeom>
          <a:noFill/>
        </p:spPr>
        <p:txBody>
          <a:bodyPr wrap="square" lIns="45720" rIns="45720" tIns="27432" bIns="27432" anchor="t">
            <a:spAutoFit/>
          </a:bodyPr>
          <a:lstStyle/>
          <a:p>
            <a:pPr algn="ctr"/>
            <a:r>
              <a:rPr sz="1700" b="1" i="0">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