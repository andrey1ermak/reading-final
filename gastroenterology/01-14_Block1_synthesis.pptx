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27048"/>
            <a:ext cx="11082528" cy="19659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badi"/>
              </a:rPr>
              <a:t>Block 1 Synthesis: The Gastroenterologist's Toolkit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630168"/>
            <a:ext cx="182880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31336"/>
            <a:ext cx="110825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43400"/>
            <a:ext cx="1108252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D9DEE7"/>
                </a:solidFill>
                <a:latin typeface="Abadi"/>
              </a:rPr>
              <a:t>ESPGHAN/ESGE 2017 (Thomson, Tringali) · PEnQuIN 2022 (Walsh, Lightdale) · North American breath testing consensus 2017 (Rezaie) · Wenzl 2012 · lessons 01-01 to 01-13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02352"/>
            <a:ext cx="11082528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D9DEE7"/>
                </a:solidFill>
                <a:latin typeface="Abadi"/>
              </a:rPr>
              <a:t>guideline comparison · five difficult cases · twenty pearls · what we still do not know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THE QUESTION OF THE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WHICH TEST ANSWERS WHICH QUESTION?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Thirteen lessons, four families of tools, one rule: name the question before ordering the test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Hyams 2016 (Rome IV) · Thomson M, et al. JPGN 2017;64:133–53 · Walsh CM, et al. JPGN 2022;74:S3–15 · Rezaie A, et al. Am J Gastroenterol 2017;112:775–84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564892" cy="22860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564892" cy="1005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84248"/>
            <a:ext cx="22357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355E"/>
                </a:solidFill>
                <a:latin typeface="Abadi"/>
              </a:rPr>
              <a:t>Growth and 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615184"/>
            <a:ext cx="2235708" cy="1339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▪  Trajectory beats a point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z-scores, not centiles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Alarm features target tests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7852" y="1773936"/>
            <a:ext cx="2564892" cy="228600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7852" y="1773936"/>
            <a:ext cx="2564892" cy="10058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52444" y="1984248"/>
            <a:ext cx="22357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7A33"/>
                </a:solidFill>
                <a:latin typeface="Abadi"/>
              </a:rPr>
              <a:t>Blood and stool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2444" y="2615184"/>
            <a:ext cx="2235708" cy="1339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▪  Calprotectin triages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Normal bloods exclude nothing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A PCR hit is a detection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7064" y="1773936"/>
            <a:ext cx="2564892" cy="228600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27064" y="1773936"/>
            <a:ext cx="2564892" cy="1005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1656" y="1984248"/>
            <a:ext cx="22357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97A0B"/>
                </a:solidFill>
                <a:latin typeface="Abadi"/>
              </a:rPr>
              <a:t>Physiology tests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6" y="2615184"/>
            <a:ext cx="2235708" cy="1339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▪  Breath, pH-impedance, manometry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Adult norms mislabel children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Fermentation is not disease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66276" y="1773936"/>
            <a:ext cx="2564892" cy="228600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66276" y="1773936"/>
            <a:ext cx="2564892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0868" y="1984248"/>
            <a:ext cx="22357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B22222"/>
                </a:solidFill>
                <a:latin typeface="Abadi"/>
              </a:rPr>
              <a:t>Scope, tissue, image, gene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0868" y="2615184"/>
            <a:ext cx="2235708" cy="1339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▪  Biopsy the normal mucosa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Ultrasound and MRE, not CT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Trio genome when the onset is early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251960"/>
            <a:ext cx="11082528" cy="1545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355E"/>
                </a:solidFill>
                <a:latin typeface="Abadi"/>
              </a:rPr>
              <a:t>The main idea.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Every tool in this block answers one question well and the others badly. The skill is choosing the order, not knowing the menu.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B22222"/>
                </a:solidFill>
                <a:latin typeface="Abadi"/>
              </a:rPr>
              <a:t>Before every order: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what is the question, what would change, and what could fool this test?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EVERY TEST HAS A BLIND SPOT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What each tool measures, what fools it, and what it can never tell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Lessons 01-01 to 01-13 · Rezaie 2017 · Rosen 2018 · Rodriguez 2017 · Becker 2014 · Shuhart 2019 (ISCD)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82526" cy="3905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20322"/>
                <a:gridCol w="2929863"/>
                <a:gridCol w="3184634"/>
                <a:gridCol w="2547707"/>
              </a:tblGrid>
              <a:tr h="355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Tool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Measures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Fooled by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Cannot tell you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355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Faecal calprotectin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Neutrophils in the gut lumen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Age &lt; 4 y, NSAIDs, PPIs, infection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Which disease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5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Faecal elastase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Pancreatic enzyme output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Watery stool, small-bowel disease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Cause of insufficiency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355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Multiplex stool PCR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Pathogen nucleic acid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Carriage, shedding after illness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Whether it is causal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5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H2/CH4 breath test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Colonic or bacterial fermentation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Rapid transit, non-producers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Small-bowel overgrowth reliably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355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pH-impedance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Reflux events and acid exposure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 paediatric normal values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Whether reflux causes symptoms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5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High-resolution manometry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Pressure and propagation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Adult thresholds in small children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Visceral sensation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355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Anorectal manometry (RAIR)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Internal sphincter relaxation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Anaesthesia, small rectum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Ganglion cells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5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Endoscopy and biopsy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Mucosal architecture and cells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Only biopsying visible lesions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Transmural disease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355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Intestinal ultrasound / MRE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Wall thickness, blood flow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Adult wall cut-offs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Histology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5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Gene panel / exome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Variants in genes chosen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VUS, phase unknown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Genes not on the panel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ANCHOR DOCUMENTS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What each paper is, what it rests on, and the line worth quoting from memory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Thomson M, et al. JPGN 2017;64:133–53 · Tringali A, et al. Endoscopy 2017;49:83–91 · Walsh CM, et al. JPGN 2022;74:S3–15 · Lightdale JR, et al. JPGN 2022;74:S30–43 · Walsh CM, et al. JPGN 2022;74:S44–52 · Rezaie 2017 · Wenzl T, et al. JPGN 2012;55:230–4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82526" cy="3360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74728"/>
                <a:gridCol w="2910562"/>
                <a:gridCol w="2350839"/>
                <a:gridCol w="3246397"/>
              </a:tblGrid>
              <a:tr h="56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Document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Scope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Evidence base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The line to remember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ESPGHAN/ESGE 2017 (Thomson; Tringali)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Diagnostic and therapeutic endoscopy, 0–18 y; PEG and IBD excluded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GRADE; mostly weak, low-quality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GA, or deep sedation only if GA unavailable; biopsy normal mucosa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PEnQuIN 2022 (Walsh, Lightdale)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Facilities, procedures, endoscopists, patient experience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49 standards, 47 indicators; 45 conditional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Prep ≥ 80%, caecum ≥ 90%, ileum ≥ 85%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North American breath consensus 2017 (Rezaie)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H2/CH4 testing in adults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Delphi; 26 of 28 statements agreed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Rise ≥ 20 ppm by 90 min; CH4 ≥ 10 ppm; no transit testing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ESPGHAN–NASPGHAN pH-impedance (Wenzl 2012)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MII-pH method and reading in children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Expert consensus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Paediatric normal values do not exist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ASPEN/AND 2014 (Becker)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Paediatric malnutrition diagnosis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Consensus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One indicator suffices; z −1 / −2 / −3 grades severity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GUIDELINES — SCOPE AND TISSUE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WHERE THE SCOPE DOCUMENTS DISAGREE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North America (NASPGHAN, ACG, ASA, FDA) versus Europe (ESPGHAN, ESGE, ESAIC); verdicts from lessons 01-05 to 01-09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Tringali 2017 · Thomson 2017 · Husby 2020 · Hill 2016 · Rubio-Tapia 2023 · Dellon 2025 (ACG) · Amil-Dias 2024 · ESGE 2023 · ACR 2022 · Kucharzik 2025 · ESAIC 2022 · ASA 2017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82527" cy="3645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86673"/>
                <a:gridCol w="3582231"/>
                <a:gridCol w="3582231"/>
                <a:gridCol w="1231392"/>
              </a:tblGrid>
              <a:tr h="405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Question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North America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Europe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Verdict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405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Anaesthesia model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Anaesthesia-supported in most centres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GA; deep sedation only if GA unavailable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405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Clear fluids before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2 hours (ASA)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1 hour (ESAIC)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405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Coeliac without biopsy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NASPGHAN 2016: biopsy advised; ACG 2023: children, conditional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TGA-IgA ≥ 10× ULN plus EMA on second sample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MATERIAL</a:t>
                      </a:r>
                    </a:p>
                  </a:txBody>
                  <a:tcPr marL="73152" marR="73152" marT="27432" marB="27432" anchor="ctr">
                    <a:solidFill>
                      <a:srgbClr val="B22222"/>
                    </a:solidFill>
                  </a:tcPr>
                </a:tc>
              </a:tr>
              <a:tr h="405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Biopsy number: EoE / coeliac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≥ 6 from 2 levels / 4 distal + bulb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Same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405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Patency capsule in known Crohn's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 paediatric mandate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ESGE 2023: strong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405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CT enterography in children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ACR: usually appropriate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Avoid; emergencies only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MATERIAL</a:t>
                      </a:r>
                    </a:p>
                  </a:txBody>
                  <a:tcPr marL="73152" marR="73152" marT="27432" marB="27432" anchor="ctr">
                    <a:solidFill>
                      <a:srgbClr val="B22222"/>
                    </a:solidFill>
                  </a:tcPr>
                </a:tc>
              </a:tr>
              <a:tr h="405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Intestinal ultrasound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Adjunct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First-line (ECCO-ESGAR 2025)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405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Quality indicator for biopsy counts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None (PEnQuIN)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None (PEnQuIN)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GAP</a:t>
                      </a:r>
                    </a:p>
                  </a:txBody>
                  <a:tcPr marL="73152" marR="73152" marT="27432" marB="27432" anchor="ctr">
                    <a:solidFill>
                      <a:srgbClr val="8A939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GUIDELINES — PHYSIOLOGY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WHERE THE FUNCTION TESTS SPLIT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Breath, pH-impedance, manometry and stool; verdicts from lessons 01-02 to 01-04 and 01-10 to 01-11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Rezaie 2017 · Hammer 2022 · Broekaert 2022 (ESPGHAN) · Rosen 2018 · Gyawali 2024 (Lyon 2.0) · Yadlapati 2021 · Rodriguez 2017 · McDonald 2018 · Johnson 2021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82526" cy="3645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910562"/>
                <a:gridCol w="3358341"/>
                <a:gridCol w="3582231"/>
                <a:gridCol w="1231392"/>
              </a:tblGrid>
              <a:tr h="405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Question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North America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Europe / international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Verdict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405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Breath test for orocaecal transit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Should not be used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Not recommended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405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Paediatric substrate dose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Not addressed; listed as a gap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Lactose 1 g/kg (max 25 g); fructose varies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MATERIAL</a:t>
                      </a:r>
                    </a:p>
                  </a:txBody>
                  <a:tcPr marL="73152" marR="73152" marT="27432" marB="27432" anchor="ctr">
                    <a:solidFill>
                      <a:srgbClr val="B22222"/>
                    </a:solidFill>
                  </a:tcPr>
                </a:tc>
              </a:tr>
              <a:tr h="405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Malabsorption vs intolerance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H2 rise ≥ 20 ppm defines malabsorption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Symptoms needed to call intolerance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405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Acid exposure cut-off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Joint 2018 quotes &gt; 10% infant, &gt; 5%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Lyon 2.0 adult: &lt; 4% normal, &gt; 6% abnormal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405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Oesophageal motility classification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 paediatric criteria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Chicago v4.0 adult; children over-called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MATERIAL</a:t>
                      </a:r>
                    </a:p>
                  </a:txBody>
                  <a:tcPr marL="73152" marR="73152" marT="27432" marB="27432" anchor="ctr">
                    <a:solidFill>
                      <a:srgbClr val="B22222"/>
                    </a:solidFill>
                  </a:tcPr>
                </a:tc>
              </a:tr>
              <a:tr h="405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Dyssynergia on anorectal manometry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Interpret cautiously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London adult criteria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MATERIAL</a:t>
                      </a:r>
                    </a:p>
                  </a:txBody>
                  <a:tcPr marL="73152" marR="73152" marT="27432" marB="27432" anchor="ctr">
                    <a:solidFill>
                      <a:srgbClr val="B22222"/>
                    </a:solidFill>
                  </a:tcPr>
                </a:tc>
              </a:tr>
              <a:tr h="405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C. difficile first-line drug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Metronidazole or vancomycin (2017)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Fidaxomicin preferred (2021)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MATERIAL</a:t>
                      </a:r>
                    </a:p>
                  </a:txBody>
                  <a:tcPr marL="73152" marR="73152" marT="27432" marB="27432" anchor="ctr">
                    <a:solidFill>
                      <a:srgbClr val="B22222"/>
                    </a:solidFill>
                  </a:tcPr>
                </a:tc>
              </a:tr>
              <a:tr h="405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Faecal α1-antitrypsin, elastase reading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 guideline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 guideline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GAP</a:t>
                      </a:r>
                    </a:p>
                  </a:txBody>
                  <a:tcPr marL="73152" marR="73152" marT="27432" marB="27432" anchor="ctr">
                    <a:solidFill>
                      <a:srgbClr val="8A939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EVIDENCE — THE BLOCK IN ONE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AGREEMENT IS HALF THE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Verdicts in the guideline tables of lessons 01-01 to 01-13, number of questions (n = 93)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Tally of the verdict tables in lessons 01-01 to 01-13 of this series; figure drawn for this lesson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19656"/>
            <a:ext cx="3100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Aligned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31520" y="1963674"/>
            <a:ext cx="3700000" cy="35204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4672" y="1819656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43 (46%)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459736"/>
            <a:ext cx="3100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Differ in detail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31520" y="2603754"/>
            <a:ext cx="2065116" cy="35204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69788" y="2459736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24 (26%)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099816"/>
            <a:ext cx="3100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Material difference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31520" y="3243834"/>
            <a:ext cx="1118604" cy="35204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3276" y="3099816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13 (14%)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739896"/>
            <a:ext cx="3100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No data anywhere (gap)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31520" y="3883914"/>
            <a:ext cx="1118604" cy="35204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3276" y="3739896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13 (14%)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480560"/>
            <a:ext cx="11082528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B355E"/>
                </a:solidFill>
                <a:latin typeface="Abadi"/>
              </a:rPr>
              <a:t>Reading the chart.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About half the questions had the same answer in North America and Europe. Almost every material difference came from applying adult numbers to children or from radiation and anaesthesia policy.</a:t>
            </a:r>
          </a:p>
          <a:p>
            <a:pPr algn="l">
              <a:spcBef>
                <a:spcPts val="600"/>
              </a:spcBef>
            </a:pPr>
            <a:r>
              <a:rPr sz="1200" b="1" i="0">
                <a:solidFill>
                  <a:srgbClr val="B22222"/>
                </a:solidFill>
                <a:latin typeface="Abadi"/>
              </a:rPr>
              <a:t>Compared with the hepatology toolkit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block, where 28% agreed, GI tools are better harmonised, mostly because PEnQuIN and the joint ESPGHAN–NASPGHAN documents were written together.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EVIDENCE — TESTS HEAD TO 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SENSITIVITY, TEST BY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Sensitivity, %, for the target condition, as reported in the studies the block relied 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Lessons 01-02, 01-04, 01-08, 01-11 · de Lorijn F, et al. JPGN 2006;42:496–505 · Hryhorczuk AL, Strouse PJ. Pediatr Radiol 2009 · malrotation ultrasound meta-analysis 2021 · Losurdo G, et al. J Neurogastroenterol Motil 2020;26:16–28 · Yu D, et al. Gut 2011;60:334–40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65376"/>
            <a:ext cx="3300000" cy="4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US for intussusception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31520" y="1973376"/>
            <a:ext cx="3234000" cy="26400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38672" y="1865376"/>
            <a:ext cx="1371600" cy="4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98%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345376"/>
            <a:ext cx="3300000" cy="4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US for malrotation, expert hands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31520" y="2453376"/>
            <a:ext cx="3102000" cy="26400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6672" y="2345376"/>
            <a:ext cx="1371600" cy="4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94%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825376"/>
            <a:ext cx="3300000" cy="4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Suction rectal biopsy, Hirschsprung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31520" y="2933376"/>
            <a:ext cx="3069000" cy="264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3672" y="2825376"/>
            <a:ext cx="1371600" cy="4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93%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305376"/>
            <a:ext cx="3300000" cy="4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Anorectal manometry, Hirschsprung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31520" y="3413376"/>
            <a:ext cx="3003000" cy="264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07672" y="3305376"/>
            <a:ext cx="1371600" cy="4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91%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785376"/>
            <a:ext cx="3300000" cy="4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MRE for active ileal Crohn's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31520" y="3893376"/>
            <a:ext cx="2772000" cy="264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76672" y="3785376"/>
            <a:ext cx="1371600" cy="4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84%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265376"/>
            <a:ext cx="3300000" cy="4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Contrast enema, Hirschsprung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31520" y="4373376"/>
            <a:ext cx="2310000" cy="264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4672" y="4265376"/>
            <a:ext cx="1371600" cy="4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70%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745376"/>
            <a:ext cx="3300000" cy="4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Glucose breath test vs culture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31520" y="4853376"/>
            <a:ext cx="1815000" cy="2640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19672" y="4745376"/>
            <a:ext cx="1371600" cy="4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55%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225376"/>
            <a:ext cx="3300000" cy="4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Lactulose breath test vs culture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31520" y="5333376"/>
            <a:ext cx="1386000" cy="2640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90672" y="5225376"/>
            <a:ext cx="1371600" cy="4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42%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1773936"/>
            <a:ext cx="2944368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B355E"/>
                </a:solidFill>
                <a:latin typeface="Abadi"/>
              </a:rPr>
              <a:t>Specificity flips it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Suction biopsy 98%, malrotation US 100%, MRE 97%; glucose breath only 83%.</a:t>
            </a:r>
          </a:p>
          <a:p>
            <a:pPr algn="l">
              <a:spcBef>
                <a:spcPts val="300"/>
              </a:spcBef>
            </a:pPr>
            <a:r>
              <a:rPr sz="1800" b="1" i="0">
                <a:solidFill>
                  <a:srgbClr val="1B355E"/>
                </a:solidFill>
                <a:latin typeface="Abadi"/>
              </a:rPr>
              <a:t>88%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Positive lactulose tests in which the meal had already reached the caecum.</a:t>
            </a:r>
          </a:p>
          <a:p>
            <a:pPr algn="l">
              <a:spcBef>
                <a:spcPts val="300"/>
              </a:spcBef>
            </a:pPr>
            <a:r>
              <a:rPr sz="1800" b="1" i="0">
                <a:solidFill>
                  <a:srgbClr val="1B355E"/>
                </a:solidFill>
                <a:latin typeface="Abadi"/>
              </a:rPr>
              <a:t>&gt; 90%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Calprotectin sensitivity for paediatric IBD, with specificity 70–90%.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EVIDENCE — NUMBERS THAT MOVE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FOUR NUMBERS FROM THIS BLOCK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Each one changes what happens next to a real child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Sheiko 2015 (biopsy yield) · van Rheenen 2010 (calprotectin) · Singendonk 2014; Banasiuk 2021 (adult criteria in children) · Crowley 2020 (monogenic IBD)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564892" cy="210312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564892" cy="1005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84248"/>
            <a:ext cx="22357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B355E"/>
                </a:solidFill>
                <a:latin typeface="Abadi"/>
              </a:rPr>
              <a:t>≈ 50%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551176"/>
            <a:ext cx="2235708" cy="122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Histological disease missed if only visible lesions are biopsied.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7852" y="1773936"/>
            <a:ext cx="2564892" cy="210312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7852" y="1773936"/>
            <a:ext cx="2564892" cy="10058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52444" y="1984248"/>
            <a:ext cx="22357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E7A33"/>
                </a:solidFill>
                <a:latin typeface="Abadi"/>
              </a:rPr>
              <a:t>65 of 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2444" y="2551176"/>
            <a:ext cx="2235708" cy="122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Children scoped when calprotectin gates endoscopy; 8% delayed diagnoses.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7064" y="1773936"/>
            <a:ext cx="2564892" cy="210312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27064" y="1773936"/>
            <a:ext cx="2564892" cy="1005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1656" y="1984248"/>
            <a:ext cx="22357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D97A0B"/>
                </a:solidFill>
                <a:latin typeface="Abadi"/>
              </a:rPr>
              <a:t>66% · 46%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6" y="2551176"/>
            <a:ext cx="2235708" cy="122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Children called abnormal by adult oesophageal criteria; healthy children called dyssynergic by adult anorectal criteria.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66276" y="1773936"/>
            <a:ext cx="2564892" cy="210312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66276" y="1773936"/>
            <a:ext cx="2564892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0868" y="1984248"/>
            <a:ext cx="22357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B22222"/>
                </a:solidFill>
                <a:latin typeface="Abadi"/>
              </a:rPr>
              <a:t>3% vs 13–41%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0868" y="2551176"/>
            <a:ext cx="2235708" cy="122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Monogenic IBD in all paediatric IBD versus infantile onset.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114800"/>
            <a:ext cx="11082528" cy="1682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B355E"/>
                </a:solidFill>
                <a:latin typeface="Abadi"/>
              </a:rPr>
              <a:t>Translation.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Take biopsies from normal mucosa; let calprotectin decide who is scoped; never apply an adult motility threshold to a child without saying so; sequence by age of onset, not by severity.</a:t>
            </a:r>
          </a:p>
          <a:p>
            <a:pPr algn="l">
              <a:spcBef>
                <a:spcPts val="600"/>
              </a:spcBef>
            </a:pPr>
            <a:r>
              <a:rPr sz="1200" b="1" i="0">
                <a:solidFill>
                  <a:srgbClr val="B22222"/>
                </a:solidFill>
                <a:latin typeface="Abadi"/>
              </a:rPr>
              <a:t>Know the denominator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behind every number you quote: who was tested, against what, and at what 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CASE 1 — THE TODDLER'S CALPROTECTIN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A CALPROTECTIN OF 380 IN A THRIVING 3-YEAR-OLD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Two months of loose stools, referred as 'possible IBD'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Lesson 01-02 · Roca 2020 · van Rheenen 2010 · NICE DG11 2013 · Hyams 2016 · Lesson 01-03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4572000" cy="393192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64008" cy="393192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911096"/>
            <a:ext cx="4251960" cy="37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B355E"/>
                </a:solidFill>
                <a:latin typeface="Abadi"/>
              </a:rPr>
              <a:t>The child</a:t>
            </a:r>
          </a:p>
          <a:p>
            <a:pPr algn="l">
              <a:spcBef>
                <a:spcPts val="6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Boy, 3 years. Four loose stools a day for 8 weeks, undigested food, no blood, no night stools.</a:t>
            </a:r>
          </a:p>
          <a:p>
            <a:pPr algn="l">
              <a:spcBef>
                <a:spcPts val="6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Weight and height on the 50th centile, unchanged since infancy.</a:t>
            </a:r>
          </a:p>
          <a:p>
            <a:pPr algn="l">
              <a:spcBef>
                <a:spcPts val="6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Haemoglobin, CRP, albumin normal. Calprotectin 380 µg/g. Ibuprofen twice last week for a cold.</a:t>
            </a:r>
          </a:p>
          <a:p>
            <a:pPr algn="l">
              <a:spcBef>
                <a:spcPts val="6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Stool PCR panel: norovirus positive.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1911096"/>
            <a:ext cx="6236208" cy="379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B355E"/>
                </a:solidFill>
                <a:latin typeface="Abadi"/>
              </a:rPr>
              <a:t>Reading the evidence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Healthy children under 4 run calprotectin of 100–250 µg/g; NSAIDs and infection raise it further.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Norovirus is found in about 4% of healthy US children under 5: a detection is not a cause.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Normal growth and no alarm features argue for functional diarrhoea of childhood (Rome IV).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Normal bloods do not exclude IBD, so the answer is a repeat test, not a scope today.</a:t>
            </a:r>
          </a:p>
          <a:p>
            <a:pPr algn="l">
              <a:spcBef>
                <a:spcPts val="500"/>
              </a:spcBef>
            </a:pPr>
            <a:r>
              <a:rPr sz="1200" b="1" i="0">
                <a:solidFill>
                  <a:srgbClr val="B22222"/>
                </a:solidFill>
                <a:latin typeface="Abadi"/>
              </a:rPr>
              <a:t>Decision</a:t>
            </a:r>
          </a:p>
          <a:p>
            <a:pPr algn="l">
              <a:spcBef>
                <a:spcPts val="500"/>
              </a:spcBef>
            </a:pPr>
            <a:r>
              <a:rPr sz="1150" b="1" i="0">
                <a:solidFill>
                  <a:srgbClr val="1A1A1A"/>
                </a:solidFill>
                <a:latin typeface="Abadi"/>
              </a:rPr>
              <a:t>Stop NSAIDs, repeat calprotectin on a formed sample in 4–6 weeks; scope only if it stays high or growth falters.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CASE 2 — THE POSITIVE BREATH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TWO POSITIVE BREATH TESTS AND NO DISEASE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Bloating and abdominal pain in a well-grown 9-year-old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Rezaie 2017 · Lesson 01-04 · Jones HF, et al. JPGN 2011;52:581–4 · Yu D, et al. Gut 2011;60:334–40 · Losurdo 2020 · Hyams 2016 (Rome IV)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4572000" cy="393192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64008" cy="393192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911096"/>
            <a:ext cx="4251960" cy="37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B355E"/>
                </a:solidFill>
                <a:latin typeface="Abadi"/>
              </a:rPr>
              <a:t>The child</a:t>
            </a:r>
          </a:p>
          <a:p>
            <a:pPr algn="l">
              <a:spcBef>
                <a:spcPts val="6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Girl, 9 years. Post-prandial bloating and periumbilical pain for a year; normal growth.</a:t>
            </a:r>
          </a:p>
          <a:p>
            <a:pPr algn="l">
              <a:spcBef>
                <a:spcPts val="6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Fructose breath test (25 g): H2 rise 40 ppm with bloating.</a:t>
            </a:r>
          </a:p>
          <a:p>
            <a:pPr algn="l">
              <a:spcBef>
                <a:spcPts val="6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Lactulose breath test: H2 rise of 22 ppm at 75 minutes; labelled 'SIBO'.</a:t>
            </a:r>
          </a:p>
          <a:p>
            <a:pPr algn="l">
              <a:spcBef>
                <a:spcPts val="6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Coeliac serology, calprotectin and blood count normal.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1911096"/>
            <a:ext cx="6236208" cy="379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B355E"/>
                </a:solidFill>
                <a:latin typeface="Abadi"/>
              </a:rPr>
              <a:t>Reading the evidence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Fructose tests are positive in 59% of healthy children: a 25 g load is physiology.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In 88% of positive lactulose tests the meal had already reached the caecum.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Against culture, lactulose testing is 42% sensitive and 71% specific.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Rome IV allows a positive diagnosis after appropriate evaluation, not exhaustive exclusion.</a:t>
            </a:r>
          </a:p>
          <a:p>
            <a:pPr algn="l">
              <a:spcBef>
                <a:spcPts val="500"/>
              </a:spcBef>
            </a:pPr>
            <a:r>
              <a:rPr sz="1200" b="1" i="0">
                <a:solidFill>
                  <a:srgbClr val="B22222"/>
                </a:solidFill>
                <a:latin typeface="Abadi"/>
              </a:rPr>
              <a:t>Decision</a:t>
            </a:r>
          </a:p>
          <a:p>
            <a:pPr algn="l">
              <a:spcBef>
                <a:spcPts val="500"/>
              </a:spcBef>
            </a:pPr>
            <a:r>
              <a:rPr sz="1150" b="1" i="0">
                <a:solidFill>
                  <a:srgbClr val="1A1A1A"/>
                </a:solidFill>
                <a:latin typeface="Abadi"/>
              </a:rPr>
              <a:t>Functional abdominal pain with bloating; no antibiotics for 'SIBO'; dietary advice and explanation, not elimination.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CASE 3 — THE ABSENT REFLEX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NO RECTOANAL INHIBITORY REFLEX AT 7 MONTHS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Constipation since the first weeks of life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de Lorijn 2006 · Lesson 01-11 · Kyrklund 2020 (ERNICA) · Rodriguez 2017 (ANMS–NASPGHAN) · Freeman 2009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4572000" cy="393192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64008" cy="393192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911096"/>
            <a:ext cx="4251960" cy="37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B355E"/>
                </a:solidFill>
                <a:latin typeface="Abadi"/>
              </a:rPr>
              <a:t>The child</a:t>
            </a:r>
          </a:p>
          <a:p>
            <a:pPr algn="l">
              <a:spcBef>
                <a:spcPts val="6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Boy, 7 months, Down syndrome. Meconium passed at 52 hours; constipation since week 2, two episodes of distension.</a:t>
            </a:r>
          </a:p>
          <a:p>
            <a:pPr algn="l">
              <a:spcBef>
                <a:spcPts val="6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Contrast enema: no clear transition zone.</a:t>
            </a:r>
          </a:p>
          <a:p>
            <a:pPr algn="l">
              <a:spcBef>
                <a:spcPts val="6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Anorectal manometry awake: RAIR not seen.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1911096"/>
            <a:ext cx="6236208" cy="379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B355E"/>
                </a:solidFill>
                <a:latin typeface="Abadi"/>
              </a:rPr>
              <a:t>Reading the evidence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Contrast enema sensitivity for Hirschsprung is only 70%: a normal enema does not exclude it.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RAIR is present from birth, preterm included; its absence is the signal.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Suction biopsy: 93% sensitive, 98% specific; take 2–3 samples ≥ 2 cm above the dentate line with calretinin.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Hirschsprung is more common in Down syndrome (0.8% in the national projects).</a:t>
            </a:r>
          </a:p>
          <a:p>
            <a:pPr algn="l">
              <a:spcBef>
                <a:spcPts val="500"/>
              </a:spcBef>
            </a:pPr>
            <a:r>
              <a:rPr sz="1200" b="1" i="0">
                <a:solidFill>
                  <a:srgbClr val="B22222"/>
                </a:solidFill>
                <a:latin typeface="Abadi"/>
              </a:rPr>
              <a:t>Decision</a:t>
            </a:r>
          </a:p>
          <a:p>
            <a:pPr algn="l">
              <a:spcBef>
                <a:spcPts val="500"/>
              </a:spcBef>
            </a:pPr>
            <a:r>
              <a:rPr sz="1150" b="1" i="0">
                <a:solidFill>
                  <a:srgbClr val="1A1A1A"/>
                </a:solidFill>
                <a:latin typeface="Abadi"/>
              </a:rPr>
              <a:t>Suction rectal biopsy with calretinin now; surgical referral if aganglionic; do not repeat manometry first.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CASE 4 — THE NO-BIOPSY COELIAC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TGA 12 TIMES NORMAL, AND A MOVE TO ANOTHER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 diagnosis that is complete in one system and incomplete in the other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Husby S, et al. JPGN 2020;70:141–56 · Hill ID, et al. JPGN 2016;63:156–65 · Rubio-Tapia A, et al. Am J Gastroenterol 2023;118:59–76 · Lessons 01-01, 01-06, 01-13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4572000" cy="393192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64008" cy="393192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911096"/>
            <a:ext cx="4251960" cy="37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B355E"/>
                </a:solidFill>
                <a:latin typeface="Abadi"/>
              </a:rPr>
              <a:t>The child</a:t>
            </a:r>
          </a:p>
          <a:p>
            <a:pPr algn="l">
              <a:spcBef>
                <a:spcPts val="6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Girl, 14 years. Height z −2.1, falling from −0.8 at age 10; delayed puberty.</a:t>
            </a:r>
          </a:p>
          <a:p>
            <a:pPr algn="l">
              <a:spcBef>
                <a:spcPts val="6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TGA-IgA 12 × upper limit of normal; EMA positive on a second sample; total IgA normal.</a:t>
            </a:r>
          </a:p>
          <a:p>
            <a:pPr algn="l">
              <a:spcBef>
                <a:spcPts val="6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Family declines endoscopy. They move to a North American adult service next year.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1911096"/>
            <a:ext cx="6236208" cy="379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B355E"/>
                </a:solidFill>
                <a:latin typeface="Abadi"/>
              </a:rPr>
              <a:t>Reading the evidence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ESPGHAN 2020: TGA-IgA ≥ 10× ULN plus EMA on a second sample allows diagnosis without biopsy (PPV 99.75%).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NASPGHAN 2016 still advised biopsy; ACG 2023 accepts no-biopsy only in children, conditionally.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About 1 in 14 short children has coeliac disease; a falling height z is malnutrition by trajectory.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DXA: report Z-scores adjusted for height-for-age Z, never T-scores.</a:t>
            </a:r>
          </a:p>
          <a:p>
            <a:pPr algn="l">
              <a:spcBef>
                <a:spcPts val="500"/>
              </a:spcBef>
            </a:pPr>
            <a:r>
              <a:rPr sz="1200" b="1" i="0">
                <a:solidFill>
                  <a:srgbClr val="B22222"/>
                </a:solidFill>
                <a:latin typeface="Abadi"/>
              </a:rPr>
              <a:t>Decision</a:t>
            </a:r>
          </a:p>
          <a:p>
            <a:pPr algn="l">
              <a:spcBef>
                <a:spcPts val="500"/>
              </a:spcBef>
            </a:pPr>
            <a:r>
              <a:rPr sz="1150" b="1" i="0">
                <a:solidFill>
                  <a:srgbClr val="1A1A1A"/>
                </a:solidFill>
                <a:latin typeface="Abadi"/>
              </a:rPr>
              <a:t>Diagnose without biopsy, start a gluten-free diet, document both sera, and flag the decision in the transition letter.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CASE 5 — THE INFANT WITH COLITIS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COLITIS AT 14 MONTHS WITH A PERIANAL FISTULA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Very-early-onset IBD: what to send before the scope result is back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Lesson 01-12 · Uhlig HH, et al. JPGN 2021 · Kelsen JR, et al. JPGN 2020 · Levine 2014 (Porto) · Lessons 01-06, 01-08, 01-13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4572000" cy="393192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64008" cy="393192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911096"/>
            <a:ext cx="4251960" cy="37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B355E"/>
                </a:solidFill>
                <a:latin typeface="Abadi"/>
              </a:rPr>
              <a:t>The child</a:t>
            </a:r>
          </a:p>
          <a:p>
            <a:pPr algn="l">
              <a:spcBef>
                <a:spcPts val="6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Boy, 14 months. Bloody diarrhoea since 9 months, perianal fistula, recurrent skin abscesses.</a:t>
            </a:r>
          </a:p>
          <a:p>
            <a:pPr algn="l">
              <a:spcBef>
                <a:spcPts val="6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Weight-for-length z −2.4, MUAC z −2.2.</a:t>
            </a:r>
          </a:p>
          <a:p>
            <a:pPr algn="l">
              <a:spcBef>
                <a:spcPts val="6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Calprotectin &gt; 1,800 µg/g; albumin 26 g/L.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1911096"/>
            <a:ext cx="6236208" cy="379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B355E"/>
                </a:solidFill>
                <a:latin typeface="Abadi"/>
              </a:rPr>
              <a:t>Reading the evidence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Monogenic disease in 13–41% of infantile-onset IBD; perianal and skin disease raise the odds.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Screen first: blood count, immunoglobulins, lymphocyte subsets and DHR for chronic granulomatous disease.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Trio genome or exome; only haematopoietic defects are cured by HSCT.</a:t>
            </a:r>
          </a:p>
          <a:p>
            <a:pPr algn="l">
              <a:spcBef>
                <a:spcPts val="5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Moderate malnutrition by ASPEN/AND (z −2 to −2.9); every segment biopsied in its own jar.</a:t>
            </a:r>
          </a:p>
          <a:p>
            <a:pPr algn="l">
              <a:spcBef>
                <a:spcPts val="500"/>
              </a:spcBef>
            </a:pPr>
            <a:r>
              <a:rPr sz="1200" b="1" i="0">
                <a:solidFill>
                  <a:srgbClr val="B22222"/>
                </a:solidFill>
                <a:latin typeface="Abadi"/>
              </a:rPr>
              <a:t>Decision</a:t>
            </a:r>
          </a:p>
          <a:p>
            <a:pPr algn="l">
              <a:spcBef>
                <a:spcPts val="500"/>
              </a:spcBef>
            </a:pPr>
            <a:r>
              <a:rPr sz="1150" b="1" i="0">
                <a:solidFill>
                  <a:srgbClr val="1A1A1A"/>
                </a:solidFill>
                <a:latin typeface="Abadi"/>
              </a:rPr>
              <a:t>Immunology screen and trio sequencing on day 1, ileocolonoscopy and EGD under GA, nutrition plan now.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PEARLS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TWENTY PEARLS OF THE BLOCK (1–10)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Lessons 01-01 to 01-07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Hyams 2016 · Mack 2007 · Sidoroff 2010 · Liu 2016 · Tougas 2021 · Rezaie 2017 · Yu 2011 · Sheiko 2015 · Husby 2020 · Collins 2014 · Glickman 2004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73936"/>
            <a:ext cx="11082528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Abadi"/>
              </a:rPr>
              <a:t>1.  Alarm features were as common in functional as in organic pain (61% vs 56%): they target tests, not diagnoses.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Abadi"/>
              </a:rPr>
              <a:t>2.  Height velocity was already reduced in 88% of children before Crohn's disease was diagnosed.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Abadi"/>
              </a:rPr>
              <a:t>3.  Half of children with mild UC had all four routine blood tests normal at diagnosis.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Abadi"/>
              </a:rPr>
              <a:t>4.  Healthy infants run calprotectin of 100–250 µg/g; values settle after age 3–4.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Abadi"/>
              </a:rPr>
              <a:t>5.  Elastase is falsely low in watery stool; repeat on a formed sample.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Abadi"/>
              </a:rPr>
              <a:t>6.  41% of healthy infants carry C. difficile, 14% toxigenic: do not test under 12 months.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Abadi"/>
              </a:rPr>
              <a:t>7.  Breath tests: H2 rise ≥ 20 ppm, CH4 ≥ 10 ppm; stop antibiotics 4 weeks, not PPIs.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Abadi"/>
              </a:rPr>
              <a:t>8.  Fructose breath tests are positive in 88% of infants and 59% of healthy children.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Abadi"/>
              </a:rPr>
              <a:t>9.  Biopsying only visible lesions misses about half of histological disease.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Abadi"/>
              </a:rPr>
              <a:t>10.  Basal plasmacytosis: 63% of first-attack UC, 6% of infectious colitis.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PEARLS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TWENTY PEARLS OF THE BLOCK (11–20)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Lessons 01-08 to 01-13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van Wassenaer 2020 · Giles 2013 · Cohen 2011 · López-Alonso 2006 · Singendonk 2014 · de Lorijn 2006 · Crowley 2020 · Becker 2014 · Mramba 2017 · Shuhart 2019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73936"/>
            <a:ext cx="11082528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Abadi"/>
              </a:rPr>
              <a:t>11.  Normal paediatric bowel wall is ≤ 1.9 mm; the adult 3 mm cut-off misses inflamed ilea.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Abadi"/>
              </a:rPr>
              <a:t>12.  MRE: 84% sensitive, 97% specific for active ileal Crohn's; add gadolinium for perianal disease.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Abadi"/>
              </a:rPr>
              <a:t>13.  Capsule retention 2.6% overall, 5.2% in known IBD; a patency capsule lowers but does not abolish risk.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Abadi"/>
              </a:rPr>
              <a:t>14.  Non-acid reflux is 45–89% of paediatric episodes; pH alone misses it.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Abadi"/>
              </a:rPr>
              <a:t>15.  Adult Chicago criteria label 66% of children abnormal; spasm falls from 14% to 1% with age adjustment.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Abadi"/>
              </a:rPr>
              <a:t>16.  RAIR is a ≥ 15% drop in sphincter pressure; absent RAIR means suction biopsy with calretinin.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Abadi"/>
              </a:rPr>
              <a:t>17.  Gastric emptying: &gt; 10% retained at 4 hours is delayed; 2-hour studies miss about half.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Abadi"/>
              </a:rPr>
              <a:t>18.  Monogenic IBD: about 3% overall, 7.8% under 6 years, 13–41% with infantile onset.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Abadi"/>
              </a:rPr>
              <a:t>19.  ASPEN/AND: one indicator suffices; height-for-age counts only at ≤ −3, WHO stunting at ≤ −2.</a:t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1A1A1A"/>
                </a:solidFill>
                <a:latin typeface="Abadi"/>
              </a:rPr>
              <a:t>20.  MUAC predicts mortality better than BMI (AUC 0.73 vs 0.58) and ignores oedema.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THE BLOCK COULD NOT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Questions where the evidence in children is absent, borrowed or too small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Rezaie 2017 (knowledge gaps) · Walsh 2022 (PEnQuIN research priorities) · Rosen 2018 · Rodriguez 2017 · Lessons 01-02 to 01-13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82527" cy="3780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447897"/>
                <a:gridCol w="3694176"/>
                <a:gridCol w="3940454"/>
              </a:tblGrid>
              <a:tr h="42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Gap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Why it matters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What would close it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Calprotectin cut-offs under 4 years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Over-referral of healthy toddlers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Age-banded reference ranges with one assay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Paediatric breath-test doses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Fructose positive in most healthy toddlers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Weight-based dosing validated against symptoms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Normal MII-pH values in children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Every abnormal study is a judgement call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Healthy-volunteer cohorts by age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Paediatric HRM and HRAM thresholds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Adult criteria over-call disease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Age-specific normative data per device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Weight floor for balloon enteroscopy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Practice follows centre experience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Multicentre registry of small children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Intestinal ultrasound cut-offs by age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Adult 3 mm misses VEO-IBD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Normative wall thickness by age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Paediatric GLIM-style malnutrition criteria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 global standard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Validation against outcomes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PEnQuIN indicators against outcomes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45 of 49 standards conditional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Audit linked to clinical outcomes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SELF-TEST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TEN QUESTIONS FOR THE MIRROR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Answer aloud before reading the right-hand column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Synthesis of lessons 01-01 to 01-13 and the anchor documents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82527" cy="3905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037512"/>
                <a:gridCol w="6045015"/>
              </a:tblGrid>
              <a:tr h="355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Question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Answer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355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Rome IV: diagnosis after what?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After appropriate medical evaluation, not exhaustive exclusion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5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Calprotectin 200 µg/g at 18 months: meaning?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Within the physiological range for age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355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SIBO by breath test: positive criterion?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H2 rise ≥ 20 ppm above baseline by 90 minutes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5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Clear fluids before anaesthesia in Europe?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Until 1 hour before (ESAIC); 2 hours in ASA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355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EoE biopsy protocol?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≥ 6 biopsies from ≥ 2 levels, plus stomach and duodenum at first EGD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5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PEnQuIN ileal intubation target?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≥ 85%; caecal ≥ 90%; adequate preparation ≥ 80%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355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Normal bowel wall in a small child?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≤ 1.9 mm; adult 3 mm misses inflammation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5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Paediatric MII-pH normal values?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None exist; read the study against the clinical question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355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Absent RAIR: next step?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Suction rectal biopsy ≥ 2 cm above the dentate line, calretinin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5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DXA in a short child: what to report?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Z-score adjusted for height-for-age Z; never a T-score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SYNTHESIS — WHAT CHANGES IN CLINIC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I WILL DO DIFFERENTLY TOMORROW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The block in eight habits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Synthesis of lessons 01-01 to 01-13 and the anchor documents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73936"/>
            <a:ext cx="11082528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Abadi"/>
              </a:rPr>
              <a:t>▪  Plot every child as z-scores over time; act on a fall of one z-score, not on a single centile.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Read calprotectin with age, drugs and infection in mind; repeat before scoping a thriving toddler.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Treat a PCR hit or a positive breath test as a finding to explain, not a diagnosis.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Biopsy normal mucosa by protocol; one jar per segment; ask for peak counts and field area.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Choose ultrasound and MRE over CT, and age-appropriate cut-offs over adult ones.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Name the adult threshold out loud whenever I apply it to a child's motility study.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Sequence by age of onset and red flags, after an immunology screen; plan re-analysis.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Audit my own scopes against PEnQuIN: preparation, caecum, ileum, adverse events.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27048"/>
            <a:ext cx="11082528" cy="19659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badi"/>
              </a:rPr>
              <a:t>Block 1 Synthesis: The Gastroenterologist's Toolkit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630168"/>
            <a:ext cx="182880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31336"/>
            <a:ext cx="110825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