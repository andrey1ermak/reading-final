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27048"/>
            <a:ext cx="11082528" cy="1965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Nutritional Assessment in Paediatric Gastroenterology: Z-Scores, MUAC, ASPEN/AND Criteria, Bone Age and DXA Adjusted for Height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825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Grummer-Strawn 2010 (CDC/AAP) · de Onis 2007 (WHO) · Mehta 2013 · Becker 2014 (ASPEN/AND) · Bouma 2017 · Hulst 2022 (ESPGHAN) · Hecht 2015 · Chourdakis 2016 · Mramba 2017 · Addo 2017 · Silva 2016 · Evans 2021 · Zemel 2010, 2011 · ISCD 2019 · Gupta 2012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02352"/>
            <a:ext cx="1108252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z-scores not percentiles · trajectory beats a point · MUAC ignores oedema · one indicator is enough · albumin is inflammation · bone age is growth potential · adjust DXA for height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IS THIS CHILD MALNOURISHED, AND HOW BADLY?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diagnosis with a grade, a cause and a time course, not an impression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Mehta NM, et al. JPEN 2013;37:460–81 · Becker P, et al. J Acad Nutr Diet 2014;114:1988–2000 · Hulst JM, et al. JPGN 2022;74:693–705 · Hecht C, et al. Clin Nutr 2015;34:53–9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Z-scores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24942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Weight, length, BMI as SD from the median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WHO under 2, CDC 2–19 (US)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The change matters more than the 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1773936"/>
            <a:ext cx="2578608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MUAC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615184"/>
            <a:ext cx="224942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Mid-upper arm circumference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Unaffected by oedema and ascites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Predicts death better than BMI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9" y="1773936"/>
            <a:ext cx="2578608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9" y="1773936"/>
            <a:ext cx="2578608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1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ASPEN/AND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2615184"/>
            <a:ext cx="224942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Mild, moderate, severe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Acute or chronic; illness-related or not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One indicator is enough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1773936"/>
            <a:ext cx="2578608" cy="23774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59" y="1773936"/>
            <a:ext cx="2578608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1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7A33"/>
                </a:solidFill>
                <a:latin typeface="Abadi"/>
              </a:rPr>
              <a:t>The skeleton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2615184"/>
            <a:ext cx="224942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Bone age: how much growth is left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DXA: Z ≤ −2 is low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Always adjust for short stature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34256"/>
            <a:ext cx="11082528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Nutritional assessment in a GI clinic is a measurement problem: correct charts, z-scores, a trajectory over time, an arm measurement where weight lies, and the skeleton read in the light of the child's height.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2,567 European inpatients, 7.0% had BMI below −2 SDS on admission (10.8% of infants), and moderate and severe malnutrition added 1.3 and 1.6 days to the stay.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GROWTH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WHICH CHART, AT WHICH AGE,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Standards describe how children should grow; references describe how a population did grow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Grummer-Strawn LM, et al. MMWR Recomm Rep 2010;59(RR-9) · de Onis M, et al. Bull World Health Organ 2007;85:660–7 · CDC extended BMI-for-age charts, December 2022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7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1720"/>
                <a:gridCol w="1234440"/>
                <a:gridCol w="3840480"/>
                <a:gridCol w="3675887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Chart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Ages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What it is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Practical use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WHO 2006 standards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0–5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Prescriptive: healthy breastfed infants, 100% breastfed to 12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CDC/AAP: use for every child under 24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CDC 2000 references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2–19 years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Descriptive US sample; about half ever breastfed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US: switch at 24 months, with length to height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WHO 2007 reference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5–19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1977 NCHS data merged with WHO sample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Outside the US; BMI +1 and +2 SD meet adult 25 and 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CDC extended BMI 2022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2–19 years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Adds 98th to 99.99th centiles, BMI up to 60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Severe obesity: ≥120% of 95th centile or ≥35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Condition-specific charts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Varies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Down syndrome, Turner and others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Plot on both; decisions on the general chart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66360"/>
            <a:ext cx="11082528" cy="630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Why it matters.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With the CDC reference, 7–11% of US children aged 6–23 months are labelled low weight-for-age, versus under 3% with the WHO standard: the chart can create or erase malnutrition.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Z-SCORES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FOUR NUMBERS THAT REPLACE THE PERCENTILE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Why gastroenterologists should think in standard deviations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Grummer-Strawn 2010 · Hulst JM, et al. JPGN 2022;74:693–705 · Tanner JM, et al. Arch Dis Child 1970;45:755–62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−2 = 2.3rd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51176"/>
            <a:ext cx="224942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 z-score of −2 sits at the 2.3rd centile; WHO charts label it the 2nd. CDC charts traditionally flag the 5th.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1773936"/>
            <a:ext cx="2578608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≤ −3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551176"/>
            <a:ext cx="224942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Below the last printed centile a percentile stops changing; a z-score keeps falling and shows the depth of deficit.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9" y="1773936"/>
            <a:ext cx="2578608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9" y="1773936"/>
            <a:ext cx="2578608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1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≥ 1 z fall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2551176"/>
            <a:ext cx="224942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ESPGHAN 2022: an unintentional fall of one z-score or more should prompt a full assessment.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1773936"/>
            <a:ext cx="2578608" cy="23774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59" y="1773936"/>
            <a:ext cx="2578608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1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7A33"/>
                </a:solidFill>
                <a:latin typeface="Abadi"/>
              </a:rPr>
              <a:t>± 8.5 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2551176"/>
            <a:ext cx="224942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Target height: (father + mother ± 13 cm) / 2; the range is about ±2 SD around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8252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Trajectory.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 child on the 3rd centile who has always been there is usually healthy; a child who has fallen from the 75th to the 25th is not. Both the ASPEN/AND and the ESPGHAN criteria encode this as a decline in z-score.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D97A0B"/>
                </a:solidFill>
                <a:latin typeface="Abadi"/>
              </a:rPr>
              <a:t>Height in context.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Interpret height against the parents: a z-score of −1.5 is reassuring with short parents and alarming with tall 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BURDEN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MALNUTRITION LENGTHENS EVERY ADMISSION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European multicentre study of disease-associated malnutrition in hospitalised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Hecht C, et al. Clin Nutr 2015;34:53–9 · Silva FV, et al. J Pediatr (Rio J) 2016;92:197–205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1031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2,567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51176"/>
            <a:ext cx="2249424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Children aged 1 month to 18 years in 14 hospitals across 12 countries.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1773936"/>
            <a:ext cx="2578608" cy="21031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7.0%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551176"/>
            <a:ext cx="2249424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BMI below −2 SDS on admission (range 4.0–9.3% between centres).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9" y="1773936"/>
            <a:ext cx="2578608" cy="21031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9" y="1773936"/>
            <a:ext cx="2578608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1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10.8%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2551176"/>
            <a:ext cx="2249424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Infants: the highest prevalence of any age group.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1773936"/>
            <a:ext cx="2578608" cy="21031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59" y="1773936"/>
            <a:ext cx="2578608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1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7A33"/>
                </a:solidFill>
                <a:latin typeface="Abadi"/>
              </a:rPr>
              <a:t>+1.6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2551176"/>
            <a:ext cx="2249424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Extra length of stay with severe malnutrition; +1.3 days with moderate (P &lt; 0.001).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1082528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hidden part.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BMI misses children whose weight is inflated by oedema, ascites or organomegaly. In 91 Brazilian children with cholestasis, weight-for-height flagged 12% while arm circumference flagged 43.8%.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For the GI service.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Our patients, with IBD, liver disease, intestinal failure and feeding disorders, are the group in which weight-based indices most often underestimate the deficit.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WEIGHT FALLS FIRST, HEIGHT FOLLOWS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order in which undernutrition shows up in the measurements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Mehta NM, et al. JPEN 2013 · Becker P, et al. 2014 · Bouma S. Nutr Clin Pract 2017;32:52–67 · Gupta N, et al. Inflamm Bowel Dis 2012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04364" cy="19202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04364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Deficit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Intake, absorption or utilisation falls short of needs; inflammation raises needs and lowers appetite.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8724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8180" y="1773936"/>
            <a:ext cx="2004364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3936"/>
            <a:ext cx="2004364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Weight 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620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Weight gain slows first; in infants this is the earliest measurable sign.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68265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7721" y="1773936"/>
            <a:ext cx="2004364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7721" y="1773936"/>
            <a:ext cx="2004364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0873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Wasting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Weight-for-height and MUAC fall: fat, then muscle, is consumed.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6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7262" y="1773936"/>
            <a:ext cx="2004364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7262" y="1773936"/>
            <a:ext cx="20043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0414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Stunting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702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After months, linear growth slows: height-for-age falls and the deficit is chronic (&gt;3 months).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7347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6803" y="1773936"/>
            <a:ext cx="2004364" cy="19202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26803" y="1773936"/>
            <a:ext cx="2004364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Skeleton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8243" y="2157984"/>
            <a:ext cx="18214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Bone age and puberty are delayed; bone mass lags. Delay preserves some catch-up potential.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22776"/>
            <a:ext cx="11082528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Acute or chronic.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ASPEN/AND call malnutrition acute under 3 months and chronic beyond 3 months, and separate illness-related (an acute event or chronic disease) from non-illness-related (environment or behaviour).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Why IBD is special.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Crohn's disease, cytokines suppress the growth hormone and IGF-1 axis directly, so height can fall before weight does: linear growth failure is a disease activity marker.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ASPEN/AND: ONE DATA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WHEN YOU SEE THE CHILD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Primary indicators when only a single measurement is available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Becker P, et al. J Acad Nutr Diet 2014;114:1988–2000; Nutr Clin Pract 2015;30:147–61 · ASPEN malnutrition FAQ · Bouma S. Nutr Clin Pract 2017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251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7328"/>
                <a:gridCol w="2441448"/>
                <a:gridCol w="2441448"/>
                <a:gridCol w="243230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Indicator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Mild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Moderate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Severe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Weight-for-height 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−1 to −1.9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−2 to −2.9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≤ −3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BMI-for-age z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−1 to −1.9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−2 to −2.9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≤ −3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Length / height-for-age 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 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 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≤ −3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MUAC z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−1 to −1.9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−2 to −2.9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≤ −3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480560"/>
            <a:ext cx="11082528" cy="1316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Stunting.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The workgroup found insufficient data to grade height-for-age at −2, so only ≤ −3 counts; WHO defines stunting at ≤ −2, and Bouma recommends adding a moderate grade.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D97A0B"/>
                </a:solidFill>
                <a:latin typeface="Abadi"/>
              </a:rPr>
              <a:t>MUAC.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Recommended for ages 6 months to 6 years, the range of the WHO reference; older children need the newer references.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ASPEN/AND: TWO OR MORE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WHEN YOU CAN SEE THE TRAJECTORY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Indicators that need serial data; one is enough for the diagnosis, the most severe sets the grade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Becker P, et al. J Acad Nutr Diet 2014;114:1988–2000 · Bouma S. Nutr Clin Pract 2017;32:52–67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251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7328"/>
                <a:gridCol w="2441448"/>
                <a:gridCol w="2441448"/>
                <a:gridCol w="243230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Indicator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Mild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Moderate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Severe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Weight gain velocity (&lt;2 years)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&lt; 75% of norm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&lt; 50% of norm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&lt; 25% of norm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Weight loss (2–20 years), % usual weight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5%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7.5%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Decline in weight-for-length/height 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 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2 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3 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Intake, % of estimated needs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51–75%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26–50%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≤ 25%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480560"/>
            <a:ext cx="11082528" cy="1316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One indicator.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Unlike the adult criteria, which need two characteristics, a single paediatric indicator makes the diagnosis.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D97A0B"/>
                </a:solidFill>
                <a:latin typeface="Abadi"/>
              </a:rPr>
              <a:t>Intake counts.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Inadequate intake is an indicator in its own right; in an at-risk child the deficit can begin within 2–3 days of poor intake, long before the weight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MUAC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THE ARM PREDICTS DEATH BETTER THAN THE BMI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Area under the curve for 1-year mortality, children 5–19 years, Kenya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Mramba L, et al. BMJ 2017;358:j3423 · Mwangome MK, et al. Trop Med Int Health 2012;17:622–9 · WHO/UNICEF joint statement 2009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MUAC-for-age 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071116"/>
            <a:ext cx="3170682" cy="50292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2794" y="1865376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AUC 0.73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79776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BMI-for-age 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985516"/>
            <a:ext cx="2519171" cy="50292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1283" y="2779776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AUC 0.58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773936"/>
            <a:ext cx="404164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HR 5.15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Mortality hazard with MUAC z below −3 in the Kenyan cohort; AUC difference P = 0.0002.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ICC 0.96 vs 0.71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Reliability of MUAC versus weight-for-length z in infants under 6 months measured by community health workers.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115 mm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WHO cut-off for severe acute malnutrition, 6–60 months, raised from 110 mm in 2009.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110825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Why it works.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The arm has little fluid, no organs and no ascites: it measures fat and muscle directly. Steroids, oedema, hepatosplenomegaly and ascites inflate weight but not the arm.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MUAC IN LIVER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WEIGHT HIDES WHAT THE ARM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Children with cholestasis: share classified as undernourished by each measure,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Silva FV, et al. J Pediatr (Rio J) 2016;92:197–205 · Sokol RJ, Stall C. Am J Clin Nutr 1990;52:203–8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Weight-for-height &lt; −2 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71116"/>
            <a:ext cx="493776" cy="3657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865376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42616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BMI &lt; −2 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848356"/>
            <a:ext cx="658368" cy="3657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642616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19856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Arm circumference depleted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625596"/>
            <a:ext cx="1802282" cy="36576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0154" y="3419856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43.8%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97096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Arm muscle circumference depleted*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4402836"/>
            <a:ext cx="2925622" cy="36576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494" y="4197096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71.1%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* subgroup over 1 year of age, n = 45; total n = 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773936"/>
            <a:ext cx="404164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3.6-fold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Arm circumference identified more than three times as many undernourished children as weight-for-height.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Sokol and Stall 1990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The classic paper on anthropometry in children with chronic liver disease: arm measures reflect fat and protein stores better than weight.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Skinfold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Triceps skinfold adds a fat estimate; arm muscle area is derived from MUAC and skinfold (Frisancho norms).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MUAC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NUMBER NEEDS A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Arm anthropometry references that allow z-scores across childhood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WHO 2006/2007 · Abdel-Rahman SM, et al. Nutr Clin Pract 2017;32:68–76 · Addo OY, et al. Am J Clin Nutr 2017;105:111–20 · Mramba L, et al. BMJ 2017 · Frisancho AR. Am J Clin Nutr 1981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182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1920240"/>
                <a:gridCol w="3291840"/>
                <a:gridCol w="3493008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Reference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Ages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Data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Note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WHO MUAC-for-age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3–60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WHO Multicentre Growth Reference Study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Basis of the ASPEN/AND 6 months–6 years range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Abdel-Rahman 2017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 months–18 years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NHANES 1999–2012, n = 28,995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US LMS values; externally validated in 1,438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Addo 2017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1–20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NHANES, about 33,000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Also arm muscle and fat areas, height-adjusted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Mramba 2017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5–19 years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WHO-based MUAC-for-age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Validated against 1-year mortality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Frisancho 1981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1–74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NHANES I, n = 19,097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Triceps skinfold, arm muscle and fat areas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29200"/>
            <a:ext cx="11082528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In clinic.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Measure at the midpoint between acromion and olecranon, left arm, arm relaxed; record the value and its z-score at every visit, like weight.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THREE TOOLS, THREE DIFFERENT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Share of 2,567 inpatients rated high risk by each tool,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Chourdakis M, et al. Am J Clin Nutr 2016;103:1301–10 · Gerasimidis K, et al. Br J Nutr 2010;104:751–6 · Hulst J, et al. Clin Nutr 2010;29:106–11 · Bell K, et al. JPEN 2016;40:392–8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7393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Per cent rated high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385816"/>
            <a:ext cx="5943600" cy="914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28927" y="2795016"/>
            <a:ext cx="555223" cy="25908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0327" y="2548128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31536"/>
            <a:ext cx="1981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PYMS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7" y="3002280"/>
            <a:ext cx="555223" cy="238353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81527" y="2755392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1279" y="5431536"/>
            <a:ext cx="1981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STAMP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1328" y="4349496"/>
            <a:ext cx="555223" cy="103632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2728" y="4102608"/>
            <a:ext cx="10607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2480" y="5431536"/>
            <a:ext cx="1981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STRONGkids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773936"/>
            <a:ext cx="468172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41%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Overall agreement between the three tools in the same children.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+1.4 to +1.8 days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Extra length of stay for high-risk versus low-risk children, for every tool.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59%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Sensitivity of nurse-rated PYMS against full dietetic assessment (kappa 0.46).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77.8% / 82.1%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Sensitivity and specificity of PNST against paediatric subjective global assessment.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LABORATORY MARKERS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ALBUMIN MEASURES INFLAMMATION, NOT NUTRITION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the blood can and cannot tell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Evans DC, et al. Nutr Clin Pract 2021;36:22–8 (ASPEN) · Galeazzi T, et al. Nutrients 2025;17:1425 · Demay MB, et al. J Clin Endocrinol Metab 2024;109:1907–47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5146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Albumin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51176"/>
            <a:ext cx="224942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ASPEN 2021: albumin and prealbumin fall with inflammation and capillary leak; they predict risk but are not proxies for body protein.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1773936"/>
            <a:ext cx="2578608" cy="25146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77–90%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551176"/>
            <a:ext cx="224942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Paediatric IBD: iron depleted at diagnosis. Ferritin &lt;30 µg/L in remission, up to &lt;100 µg/L with inflammation.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9" y="1773936"/>
            <a:ext cx="2578608" cy="25146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9" y="1773936"/>
            <a:ext cx="2578608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1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17–51%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2551176"/>
            <a:ext cx="224942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Zinc deficiency in paediatric IBD; worst at diagnosis, in Crohn's disease and with high-output stomas.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1773936"/>
            <a:ext cx="2578608" cy="25146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59" y="1773936"/>
            <a:ext cx="2578608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1" y="197510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7A33"/>
                </a:solidFill>
                <a:latin typeface="Abadi"/>
              </a:rPr>
              <a:t>19–43%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2551176"/>
            <a:ext cx="224942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Vitamin D deficiency in paediatric IBD; ESPGHAN supplements below 20 ng/mL.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26280"/>
            <a:ext cx="11082528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Vitamin D thresholds.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The 2024 Endocrine Society guideline dropped the 30 ng/mL target and all cut-offs for generally healthy people; it does not govern malabsorption, IBD or cholestasis, where measuring and treating remains standard.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D97A0B"/>
                </a:solidFill>
                <a:latin typeface="Abadi"/>
              </a:rPr>
              <a:t>B12.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Expect deficiency with terminal ileal disease or resection of more than about 30 cm; it is uncommon at paediatric diagnosis.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BODY COMPOSITION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WEIGHT IS THE SUM; COMPOSITION IS THE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Tools for fat, lean mass and energy needs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Kyle UG, et al. Eur J Clin Nutr 2015;69:1298–305 · Mehta NM, et al. Pediatr Crit Care Med 2017;18:675–715 (ASPEN/SCCM) · Schofield WN. Hum Nutr Clin Nutr 1985;39 Suppl 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182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2377440"/>
                <a:gridCol w="2926080"/>
                <a:gridCol w="3264408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Tool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Measures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Strength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Limitation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MUAC and triceps skinfold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Arm muscle and fat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Bedside, cheap, oedema-resistant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Observer training; skinfold less reliable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Bioelectrical impedance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Fat-free mass, phase angle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Quick, portable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Assumes normal hydration; age- and ethnicity-specific equations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DXA body composition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Fat, lean and bone mass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Regional detail, low radiation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Hydration affects lean mass; needs references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Indirect calorimetry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Measured energy expenditure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ASPEN/SCCM: use where feasible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Equipment, steady state needed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Schofield equations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Predicted basal metabolic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Simple, widely used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Under- or overestimate in illness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29200"/>
            <a:ext cx="11082528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E7A33"/>
                </a:solidFill>
                <a:latin typeface="Abadi"/>
              </a:rPr>
              <a:t>Catch-up growth.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Energy for catch-up is commonly estimated from needs for the ideal weight-for-height divided by actual weight; recalculate as the child gains, and watch phosphate in severe deficit.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BONE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BONE AGE TELLS YOU HOW MUCH GROWTH IS LEFT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Variability of skeletal age methods, years (smaller is better)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Arch Dis Child 1999;81:172 (Greulich–Pyle vs TW2) · Thodberg HH, et al. IEEE Trans Med Imaging 2009;28:52–66 · Gupta N, et al. Inflamm Bowel Dis 2012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Greulich–Pyle, intra-observer limits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071116"/>
            <a:ext cx="2669344" cy="3657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096" y="1865376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± 2.3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42616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TW2, intra-observer limits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848356"/>
            <a:ext cx="1624818" cy="3657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5570" y="2642616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± 1.4 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19856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BoneXpert vs Greulich–Pyle atlas, SD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625596"/>
            <a:ext cx="487445" cy="36576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18197" y="3419856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± 0.42 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97096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BoneXpert precision, SD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402836"/>
            <a:ext cx="197299" cy="36576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28051" y="4197096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± 0.17 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773936"/>
            <a:ext cx="404164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41%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Children with Crohn's disease (n = 49) whose bone age z-score was below −2; mean bone age 12.2 vs chronological 13.1 years.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Delay = potential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 delayed bone age means open growth plates: treating the disease can still recover height.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Same method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Greulich–Pyle and TW2 are not interchangeable; use one method, ideally automated, for serial films.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DXA: ISCD 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CHILD'S DXA IS NOT AN ADULT'S DXA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International Society for Clinical Densitometry 2019 paediatric official 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Shuhart CR, et al. J Clin Densitom 2019;22:453–71 · ISCD 2019 Pediatric Positions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7432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24942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Lumbar spine and total body less head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Spine from 0–5 years; whole body from 3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Hip, 33% radius, lateral distal femur in special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1773936"/>
            <a:ext cx="2578608" cy="27432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Z, never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615184"/>
            <a:ext cx="224942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Z ≤ −2.0 = low bone mineral mass or density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 T-scores, no 'osteopenia'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9" y="1773936"/>
            <a:ext cx="2578608" cy="27432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9" y="1773936"/>
            <a:ext cx="2578608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1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Osteoporosis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2615184"/>
            <a:ext cx="224942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Any low-energy vertebral fracture, or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Z ≤ −2 plus ≥2 long-bone fractures by 10 or ≥3 by 19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Never from DXA alone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1773936"/>
            <a:ext cx="2578608" cy="27432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59" y="1773936"/>
            <a:ext cx="2578608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1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7A33"/>
                </a:solidFill>
                <a:latin typeface="Abadi"/>
              </a:rPr>
              <a:t>Short stature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2615184"/>
            <a:ext cx="224942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Spine: BMAD or height Z adjustment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TBLH: height Z adjustment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11082528" cy="1088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Why the rules differ.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In children, bone size, puberty and body size change faster than bone density; a threshold that ignores them labels the small, late-maturing child with chronic disease as osteoporotic.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HEIGHT ADJUSTMENT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SMALL BONES LOOK LESS DENSE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Why areal BMD underestimates bone in short children, and how to correct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Zemel BS, et al. J Clin Endocrinol Metab 2010;95:1265–73 · Zemel BS, et al. J Clin Endocrinol Metab 2011;96:3160–9 · Kirsaçlıoğlu CT, et al. Turk J Med Sci 2016;46:1816–21 · Jois A, et al. Pediatr Gastroenterol Hepatol Nutr 2022;25:473–80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04364" cy="21031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04364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Short child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21484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Chronic IBD, coeliac disease or liver disease slows linear growth.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8724" y="273405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8180" y="1773936"/>
            <a:ext cx="2004364" cy="21031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3936"/>
            <a:ext cx="2004364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Small bones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620" y="2157984"/>
            <a:ext cx="1821484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DXA projects a 3-D bone onto 2-D: areal BMD rises with bone size even at equal true density.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68265" y="273405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7721" y="1773936"/>
            <a:ext cx="2004364" cy="21031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7721" y="1773936"/>
            <a:ext cx="20043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0873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False low 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2157984"/>
            <a:ext cx="1821484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Compared with age-matched peers of normal height, the Z-score is biased downward.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6" y="273405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7262" y="1773936"/>
            <a:ext cx="2004364" cy="21031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7262" y="1773936"/>
            <a:ext cx="2004364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0414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Adjust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702" y="2157984"/>
            <a:ext cx="1821484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Zemel 2010: height-for-age Z adjustment was the least biased method (BMDCS, 1,546 children plus 650 validation).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7347" y="273405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6803" y="1773936"/>
            <a:ext cx="2004364" cy="21031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26803" y="1773936"/>
            <a:ext cx="2004364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Re-read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8243" y="2157984"/>
            <a:ext cx="1821484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Many 'low BMD' results in short children normalise after adjustment.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114800"/>
            <a:ext cx="11082528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Coeliac disease.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37 Turkish children, low BMD was much more common by chronological-age Z than by height-age Z (P = 0.006), and BMD rose in the first year on a gluten-free diet.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IBD in practice.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239 Australian children with IBD only 30% had DXA; 14 of 72 scanned had spine Z ≤ −2, and the height-adjusted Z was usually not recorded.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D97A0B"/>
                </a:solidFill>
                <a:latin typeface="Abadi"/>
              </a:rPr>
              <a:t>Reference data.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Use the Bone Mineral Density in Childhood Study curves (about 2,000 children aged 5–20, separate for Black and non-Black children) with the online height-adjustment calculator.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TEN-MINUTE NUTRITIONAL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sequence for every new GI clinic patient, scaled up when chronic disease is suspected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Becker 2014 · Hulst 2022 · ISCD 2019 · Zemel 2010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04364" cy="21945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04364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214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Weight, length or height (stadiometer), head circumference under 2, MUAC; parents' heights.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8724" y="2779775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8180" y="1773936"/>
            <a:ext cx="2004364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3936"/>
            <a:ext cx="2004364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Plot and 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620" y="2157984"/>
            <a:ext cx="18214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WHO under 2, CDC 2–19 (US); record z-scores, not just centiles.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68265" y="2779775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7721" y="1773936"/>
            <a:ext cx="2004364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7721" y="1773936"/>
            <a:ext cx="2004364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0873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Trajectory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9161" y="2157984"/>
            <a:ext cx="18214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Weight velocity, change in z since last visit, height velocity over 6–12 months.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6" y="2779775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7262" y="1773936"/>
            <a:ext cx="2004364" cy="21945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7262" y="1773936"/>
            <a:ext cx="20043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0414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Intake and cause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702" y="2157984"/>
            <a:ext cx="18214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Intake as % of needs; illness-related or not; acute or chronic.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7347" y="2779775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6803" y="1773936"/>
            <a:ext cx="2004364" cy="21945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26803" y="1773936"/>
            <a:ext cx="2004364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9955" y="1773936"/>
            <a:ext cx="18580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Skeleton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8243" y="2157984"/>
            <a:ext cx="18214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If chronic or stunted: bone age, puberty staging, DXA with height adjustment.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06240"/>
            <a:ext cx="1108252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Write the diagnosis.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For example: moderate chronic illness-related malnutrition (Crohn's disease), weight-for-height z −2.3, decline of 1.2 z over 4 months, MUAC z −2.1.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Then act on it.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Dietitian referral, an energy target, micronutrient replacement, and a date for the next measurement; malnutrition is a diagnosis with a follow-up plan.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(ASPEN/AND, CDC/AAP) versus Europe and WHO (ESPGHAN 2022, WHO); ISCD is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Becker 2014 · Grummer-Strawn 2010 · Hulst 2022 (ESPGHAN SIG Clinical Malnutrition) · WHO 2006, 2009 · Shuhart 2019 (ISCD) · Cederholm 2025 (GLIM)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145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3611880"/>
                <a:gridCol w="3858768"/>
                <a:gridCol w="123444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Europe / WHO / international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Use a decline in z-score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ASPEN/AND: fall of 1, 2, 3 z grades severity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ESPGHAN: fall of ≥1 z prompts assessment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Core single cut-off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Graded −1 / −2 / −3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ESPGHAN: z below −2 is the common criterion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Stunting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Height-for-age counted only at ≤ −3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WHO: stunting at ≤ −2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Growth chart over 2 years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CDC 2000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WHO 2007 reference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Albumin as nutrition marker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ASPEN 2021: 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part of ESPGHAN criteria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Paediatric GLIM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None in the 2025 GLIM update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DXA reporting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ISCD 2019: Z ≤ −2, adjust for height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 ISCD positions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29200"/>
            <a:ext cx="11082528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Material point: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 child with height-for-age z −2.5 and normal weight-for-height is stunted by WHO but has no malnutrition diagnosis on a single ASPEN/AND measurement; in a GI clinic, treat that as chronic malnutrition until the trajectory says otherwise.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ASSESSMENT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a missed or wrong nutritional diagnosis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Becker 2014 · Silva 2016 · Evans 2021 · Zemel 2010 · Grummer-Strawn 2010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4688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Weighing the ascites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Weight and BMI normal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Ascites, organomegaly, steroids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Measure MUAC and skinfold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1773936"/>
            <a:ext cx="2578608" cy="24688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Albumin as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615184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Low albumin = inflammation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Normal albumin ≠ well nourished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Use anthropometry and intake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9" y="1773936"/>
            <a:ext cx="2578608" cy="24688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9" y="1773936"/>
            <a:ext cx="2578608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1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Unadjusted DXA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2615184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Short child, Z −2.4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Height-adjusted Z −1.1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Wrong label, wrong drug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1773936"/>
            <a:ext cx="2578608" cy="24688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59" y="1773936"/>
            <a:ext cx="2578608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1" y="1984248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Wrong chart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2615184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CDC under 2 overcalls underweight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Percentile hides depth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Plot z-scores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34840"/>
            <a:ext cx="11082528" cy="1362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D97A0B"/>
                </a:solidFill>
                <a:latin typeface="Abadi"/>
              </a:rPr>
              <a:t>And one more: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 single visit. A normal z-score that has fallen by one SD since the last visit is a diagnosis, and only a growth chart with every previous point shows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Grummer-Strawn 2010 · Becker 2014 · Hecht 2015 · Chourdakis 2016 · Mramba 2017 · Silva 2016 · Evans 2021 · Zemel 2010 · ISCD 2019 · Gupta 2012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11082528" cy="3986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WHO charts under 24 months, CDC 2–19 years in the US; a z-score of −2 is the 2.3rd centile.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ASPEN/AND: one indicator is enough; mild −1 to −1.9, moderate −2 to −2.9, severe ≤ −3.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Height-for-age counts only at ≤ −3 in ASPEN/AND; WHO calls ≤ −2 stunting.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Serial data: weight velocity &lt;75/50/25%, weight loss 5/7.5/10%, z decline 1/2/3, intake 51–75/26–50/≤25%.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7% of European inpatients have BMI below −2 SDS; severe malnutrition adds 1.6 days.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MUAC predicts mortality better than BMI (AUC 0.73 vs 0.58) and ignores oedema and ascites.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In cholestasis, arm circumference flags 3.6 times more undernutrition than weight-for-height.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Screening tools agree only 41% of the time; albumin and prealbumin measure inflammation.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Bone age below −2 z in 41% of children with Crohn's disease: delay means growth still possible.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DXA: Z ≤ −2 is low; never T-scores; always adjust for height-for-age Z in short children.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logic in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Synthesis of the sources above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712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0"/>
                <a:gridCol w="5596128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9-month-old with biliary atresia, weight z −0.8, ascites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MUAC and triceps skinfold; grade on MUAC z; energy target, MCT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13-year-old with Crohn's disease, BMI z −1.5, height z fell 0.8 in a year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Moderate chronic malnutrition; bone age, puberty staging, nutritional therapy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15-year-old, 8% weight loss in 2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Moderate acute malnutrition; intake history, disease activity, refeeding risk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11-year-old with coeliac disease, height z −2.3, spine BMD Z −2.4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Height-adjust before labelling; repeat after a year gluten-free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Toddler on the 3rd centile since birth, parents short, normal velocity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Likely constitutional; plot target height, reassure, re-measure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Inpatient with albumin 2.4 g/dL, normal anthropometry, CRP 80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Inflammation, not malnutrition; screen intake, reassess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82528" cy="1828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Nutritional Assessment in Paediatric Gastroenterology: Z-Scores, MUAC, ASPEN/AND Criteria, Bone Age and DXA Adjusted for Height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49039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82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