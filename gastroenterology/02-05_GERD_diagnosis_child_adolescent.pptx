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GERD in the Child and Adolescent: Making the Diagnosis — Empiric PPI Trial, pH-Impedance by Lyon 2.0, Endoscopy and the Limits of Paediatric Norms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Rosen 2018 (NASPGHAN/ESPGHAN) · Gyawali 2018, 2024 (Lyon 1.0, 2.0) · Katz 2022 (ACG) · Yadlapati 2022 (AGA) · Numans 2004 · Wenzl 2012 (EURO-PIG) · Pilic 2011 · Pop 2024 · Lundell 1999 · Gilger 2008 · El-Serag 2002 · Nguyen 2011 · Mahoney 2017 · Rome V paediatric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response is not proof · six, four and the grey zone · children have no normal controls · impedance sees what pH misses · B is now enough · most heartburn with a normal scope is not acid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IS IT REALLY REFLUX DISEASE?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Heartburn in a 14-year-old: what each test can and cannot tell you, and in what order to use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Gyawali CP, et al. Gut 2024;73:361–71 · Katz PO, et al. Am J Gastroenterol 2022;117:27–56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14884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Symptoms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Heartburn, retrosternal pain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Reliable only from ~8 years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a diagnosis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14884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6313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PPI 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4–8 weeks, typical symptoms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in infants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Response ≠ proof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14884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9395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pH-impedance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395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Acid exposure time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Reflux episodes, MNBI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Symptom association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14884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476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Endoscopy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476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 grade B–D conclusive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Biopsies exclude EoE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Off PPI 2–4 weeks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14884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8" y="1984248"/>
            <a:ext cx="1741017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Phenotype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8" y="2523744"/>
            <a:ext cx="1741017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NERD vs hypersensitivity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vs functional pain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Decides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 older children and adolescents a short empiric PPI trial is reasonable for typical symptoms, but a response does not prove GERD. Proof comes from erosive oesophagitis (LA B or worse) or abnormal reflux monitoring, and paediatric thresholds are borrowed, not validated.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Most adolescents with heartburn and a normal endoscopy do not have excess acid exposure. Without testing they stay on PPIs for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SYMPTOM, FOUR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the same heartburn needs different tests: the spectrum from erosive disease to functional pain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Gyawali CP, et al. Gut 2024;73:361–71 · Aziz Q, et al. Gastroenterology 2016;150:1368–79 · Rome V paediatric upper GI disorders, Gastroenterology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05740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Erosive oesophagitis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2359152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Acid injures the mucosa: visible breaks. LA grade B–D, stricture or Barrett's prove GERD.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191256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205740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1773936"/>
            <a:ext cx="257860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Non-erosive GERD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157984"/>
            <a:ext cx="2359152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Normal mucosa, but abnormal acid exposure time on monitoring off PPI.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6025896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1773936"/>
            <a:ext cx="2578608" cy="20574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1773936"/>
            <a:ext cx="2578608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Reflux hypersensitivity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2157984"/>
            <a:ext cx="2359152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Normal acid exposure; symptoms still track physiological reflux events.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8860536" y="272034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59" y="1773936"/>
            <a:ext cx="2578608" cy="205740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59" y="1773936"/>
            <a:ext cx="2578608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399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Functional pain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7" y="2157984"/>
            <a:ext cx="2359152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Normal exposure, no association (functional heartburn; in children, reflux-negative oesophageal pain).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Reading the spectrum.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Only the first two are GERD in the strict sense. The last two are disorders of gut–brain interaction in which acid is a trigger at most; they respond to PPIs inconsistently and to neuromodulation and behavioural therapy better.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Why it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PPI trial cannot separate these four. pH-impedance and endoscopy can, and that is their real job in the adolescent.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TESTS THAT DO NOT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GUIDELINE REJECTS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 and specificity for GERD of tests reviewed in the NASPGHAN/ESPGHAN 2018 guideline,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(accuracy figures as summarised in the guideline) · Numans ME, et al. Ann Intern Med 2004;140:518–27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Ultrasound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901952"/>
            <a:ext cx="4169663" cy="22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4" y="186537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76272"/>
            <a:ext cx="482803" cy="228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8843" y="213969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Scintigraphy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633472"/>
            <a:ext cx="3028492" cy="22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4532" y="259689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69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907791"/>
            <a:ext cx="3423513" cy="228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9553" y="2871215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Salivary pepsin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3364992"/>
            <a:ext cx="3160166" cy="22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6206" y="332841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72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639312"/>
            <a:ext cx="3116275" cy="228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2315" y="360273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pH reflux index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096512"/>
            <a:ext cx="2194560" cy="22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405993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4370832"/>
            <a:ext cx="3599078" cy="228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5118" y="433425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54880"/>
            <a:ext cx="20116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PPI trial (adults)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4828032"/>
            <a:ext cx="3423513" cy="22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9553" y="479145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5102352"/>
            <a:ext cx="2370124" cy="228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6164" y="5065776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badi"/>
              </a:rPr>
              <a:t>54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5577840"/>
            <a:ext cx="228600" cy="14630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5532120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577840"/>
            <a:ext cx="228600" cy="14630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532120"/>
            <a:ext cx="1188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1783080"/>
            <a:ext cx="347472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Not to diagnose GERD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Barium, ultrasound, scintigraphy, manometry, pepsin and endoscopy alone: each 100% panel agreement.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Still useful for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Barium and ultrasound exclude anatomy; manometry when a motility disorder is suspected.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Airway findings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Laryngeal appearance and lipid-laden macrophages do not correlate with pathological reflux.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EMPIRIC PPI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TRIAL, NOT A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Where each document places the empiric PPI trial; the paediatric guideline confines it to older children with typical symptoms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(recs 3.13–3.15) · Katz PO, et al. Am J Gastroenterol 2022;117:27–56 · Yadlapati R, et al. Clin Gastroenterol Hepatol 2022;20:984–94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78308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7A33"/>
                </a:solidFill>
                <a:latin typeface="Abadi"/>
              </a:rPr>
              <a:t>4–8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Trial for typical symptoms (heartburn, retrosternal or epigastric pain) in children: 90% agreement.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78308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Not in infants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 PPI trial should not be used as a diagnostic test in infants: 80% agreement.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78308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No cough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No PPI trial to diagnose cough, wheeze, hoarseness or dental erosion: 100% agreement.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78308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ACG: 8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Once daily; ACG 2022 for classic symptoms without alarm features; then try to stop if it works.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3749039"/>
          <a:ext cx="11082528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572000"/>
                <a:gridCol w="340156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Adolescent dosing (FDA labels)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Typical GERD dose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Erosive oesophagitis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Omeprazole, 1–16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 mg (5–&lt;10 kg), 10 mg (10–&lt;20 kg), 20 mg (≥ 20 kg)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Same, 4–8 weeks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Esomeprazole, 12–17 years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20 mg daily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20 or 40 mg daily, 4–8 weeks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Lansoprazole, 12–17 years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15 mg daily, up to 8 weeks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30 mg daily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Pantoprazole, ≥ 5 years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20 mg (15–40 kg), 40 mg (≥ 40 kg)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Same, up to 8 weeks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5596128"/>
            <a:ext cx="11064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Give 30 minutes before breakfast; check current labels before prescribing.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WHY RESPONSE IS NOT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RESPONSE BARELY MOVES THE NEEDLE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Post-test probability of GERD after an empiric PPI trial, using pooled adult accuracy (sensitivity 78%, specificity 54%)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Numans ME, et al. Ann Intern Med 2004;140:518–27 · Rosen R, et al. JPGN 2018;66:516–54 · Gyawali CP, et al. Gut 2024;73:361–71 · probabilities calculated from LR+ 1.7, LR− 0.41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1"/>
            <a:ext cx="6766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Probability of GERD, starting from a 50% prior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676656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02080" y="3497580"/>
            <a:ext cx="914400" cy="17145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320" y="322326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Prior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051810"/>
            <a:ext cx="914400" cy="216027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77749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704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After response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0" y="4217670"/>
            <a:ext cx="914400" cy="99440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60" y="394335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29%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56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After no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783080"/>
            <a:ext cx="365760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LR+ 1.6–1.9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 positive trial is a weak test: placebo response, natural fluctuation and hypersensitivity all respond.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&gt; 50% do not respond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The paediatric guideline notes that over half with typical symptoms may not respond to acid suppression.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Lyon 2.0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Response to an empiric PPI trial alone is insufficient for a conclusive GERD diagnosis.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No adolescent study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Accuracy has never been measured in adolescents; the figures are adult.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REFLUX MONITORING OFF PPI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SIX, FOUR AND THE GREY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Lyon Consensus 2.0 thresholds for unproven GERD, catheter pH or pH-impedance off PPI (adult consensus)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Gyawali CP, et al. Gut 2024;73:361–71 · Gyawali CP, et al. Gut 2018;67:1351–62 (Lyon 1.0)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Acid exposure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874519"/>
            <a:ext cx="2788920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874519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&lt; 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31136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Physiological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79" y="1874519"/>
            <a:ext cx="278892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79" y="1874519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4–6%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231136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Inconclusive: needs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874519"/>
            <a:ext cx="278892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874519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&gt; 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31136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Conclusive for GERD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Reflux episodes / 24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770632"/>
            <a:ext cx="2788920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770632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&lt; 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127248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Against GERD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79" y="2770632"/>
            <a:ext cx="278892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79" y="2770632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40–80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127248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Inconclusive alone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770632"/>
            <a:ext cx="278892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770632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&gt; 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127248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Supportive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21024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Mean nocturnal baseline impedance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666744"/>
            <a:ext cx="2788920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666744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&gt; 2500 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023360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Against GERD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79" y="3666744"/>
            <a:ext cx="278892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79" y="3666744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1500–2500 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4023360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Inconclusive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78240" y="3666744"/>
            <a:ext cx="278892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666744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&lt; 1500 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023360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Supportive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17136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Symptom association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562855"/>
            <a:ext cx="2788920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562855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SI &lt; 50%, SAP &lt; 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919472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No link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79" y="4562855"/>
            <a:ext cx="278892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79" y="4562855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One positive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4919472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Weak link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78240" y="4562855"/>
            <a:ext cx="278892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4562855"/>
            <a:ext cx="27889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badi"/>
              </a:rPr>
              <a:t>SI ≥ 50% and SAP ≥ 95%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919472"/>
            <a:ext cx="2788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Raises confidence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Read it as.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Only acid exposure time is diagnostic. The other metrics break ties in the 4–6% zone; symptom association is supportive, never diagnostic on its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LYON 2.0: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 IS NOW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Changes from Lyon 1.0 (2018) to Lyon 2.0 (2024), and the new on-therapy and wireless criteria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Gyawali CP, et al. Gut 2024;73:361–71 · Gyawali CP, et al. Gut 2018;67:1351–62 · Yadlapati R, et al. Clin Gastroenterol Hepatol 2022;20:984–94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Endoscopy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 grade B now conclusive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 A borderline: 5–7.5% of healthy adults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Hiatus hernia only supportive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1945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On PPI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Proven GERD, still symptomatic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AET &gt; 4% and &gt; 80 episodes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= actionable refractory GERD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Wireless, 96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&gt; 6% on ≥ 2 days: GERD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&lt; 4% all days: excluded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&lt; 4% + association: hypersensitivity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Retired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PSPW index to research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Routine biopsy, mucosal impedance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Chicago v3.0 → v4.0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Actionable GERD.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Conclusive endoscopy and/or abnormal reflux monitoring plus compatible troublesome symptoms: enough to justify long-term acid suppression, escalation or surgery (94% agreement).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paediatric caveat.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Lyon 2.0 was written by 21 adult experts and does not mention children. Its numbers are a reasonable frame for adolescents, not a validated norm.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PAEDIATRIC NORMS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CHILDREN HAVE NO NORMAL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Thresholds used in paediatric pH and pH-impedance reports, and where each comes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Wenzl TG, et al. JPGN 2012;55:230–4 (EURO-PIG) · Pilic D, et al. J Pediatr 2011;158:650–4 · Vandenplas Y, et al. JPGN 2009;49:498–547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377440"/>
                <a:gridCol w="3657600"/>
                <a:gridCol w="276148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Adult (Lyon 2.0)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Paediatric convention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Source of the paediatric value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Acid exposure (reflux index)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6% abnormal, &lt; 4% normal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10% under 1 year; &gt; 5% over 1 year (2018 text); ≤ 7% normal over 1 year (2009)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Expert consensus in symptomatic children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Reflux episodes / 24 h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80 supportive, &lt; 40 against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100 under 1 year, &gt; 70 over 1 year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German Paediatric Impedance Group, defined 'arbitrarily'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Symptom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 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 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EURO-PIG standard protocol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Symptom association probability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 95%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&gt; 95% (2-minute window)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EURO-PIG standard protocol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Baseline impedance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&lt; 1500 supportive, &gt; 2500 against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validated cut-off; 2,000–4,000 Ω typical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Small single-centre series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Recording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Off PPI; wireless 96 h preferred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24 h catheter; wireless rarely used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Practice, not evidence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Why.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Studying healthy children with a nasal catheter is not ethically feasible, so every paediatric 'norm' comes from symptomatic children.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WHAT IMPEDANCE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IMPEDANCE SEES WHAT PH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700 children studied with pH-impedance, German Paediatric Impedance Group: which method detected the 270 abnormal studies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Pilic D, et al. J Pediatr 2011;158:650–4 · Rosen R, et al. JPGN 2018;66:516–54 (recs 3.16–3.17)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65176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Abnormal by impedance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22287"/>
            <a:ext cx="3209544" cy="3628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920240"/>
            <a:ext cx="14630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45%  (120)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265176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Abnormal by both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589215"/>
            <a:ext cx="2638958" cy="362833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4222" y="2487168"/>
            <a:ext cx="14630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37%  (101)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265176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Abnormal by pH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156143"/>
            <a:ext cx="1283817" cy="362833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9081" y="3054096"/>
            <a:ext cx="14630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18%  (49)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Neurological indication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968496"/>
            <a:ext cx="356616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Pulmonary indication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425696"/>
            <a:ext cx="285292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434340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Gastrointestinal indication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882896"/>
            <a:ext cx="2496312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51576" y="480060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35%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611880"/>
            <a:ext cx="7589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Share of studies abnormal, by referral indication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783080"/>
            <a:ext cx="310896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Weakly acidic reflux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Impedance detects bolus movement whatever its pH, which matters after feeds and on PPI.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Indications (89%)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Correlate troublesome symptoms with acid and non-acid reflux; clarify reflux in oesophagitis; judge therapy.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Phenotyping (73%)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Separating NERD, hypersensitivity and functional heartburn fell short of consensus in 2018.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BASELINE IMPEDANCE IN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MUCOSA KEEPS A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Mean nocturnal baseline impedance (MNBI) as a marker of chronic acid exposure in 49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Pop RS, et al. Children 2024;11:773 · Gyawali CP, et al. Gut 2024;73:361–71 · Sequeira Gomes R, et al. Front Pediatr 2025;13:1675149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82880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2222"/>
                </a:solidFill>
                <a:latin typeface="Abadi"/>
              </a:rPr>
              <a:t>1,457 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487168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Cut-off separating NERD from others: area under the curve 0.864, sensitivity 89%, specificity 75%.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82880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355E"/>
                </a:solidFill>
                <a:latin typeface="Abadi"/>
              </a:rPr>
              <a:t>2,563 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487168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Cut-off identifying functional heartburn: area under the curve 0.802, sensitivity 84%, specificity 81%.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82880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97A0B"/>
                </a:solidFill>
                <a:latin typeface="Abadi"/>
              </a:rPr>
              <a:t>1,500 / 2,500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487168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Lyon 2.0 adult thresholds: supportive below 1,500 Ω, against GERD above 2,500 Ω.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82880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56816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7F7F7F"/>
                </a:solidFill>
                <a:latin typeface="Abadi"/>
              </a:rPr>
              <a:t>PSPW 65%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487168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Post-reflux swallow-induced peristaltic wave index separated functional heartburn from hypersensitivity (AUC 0.87).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4048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Interpretation.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Low nocturnal impedance reflects a leaky, acid-damaged mucosa and is less vulnerable to day-to-day variation than acid exposure time. The paediatric cut-offs land close to the adult ones, which is reassuring.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caveat.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One centre and 49 children: use MNBI to break ties in the grey zone, not as a stand-alone diagnosis.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ENDOSCOPY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LOS ANGELES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Grading mucosal breaks, and what each grade means for the diagnosis under Lyon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Lundell LR, et al. Gut 1999;45:172–80 · Gyawali CP, et al. Gut 2024;73:361–71 · Katz PO, et al. Am J Gastroenterol 2022;117:27–56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78608" cy="201168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78608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Grade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One or more mucosal breaks ≤ 5 mm, not extending between the tops of two folds. Borderline; seen in healthy people.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19125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1773936"/>
            <a:ext cx="2578608" cy="201168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1773936"/>
            <a:ext cx="2578608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Grade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At least one break &gt; 5 mm, not continuous between the tops of two folds. Now conclusive (Lyon 2.0).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602589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19" y="1773936"/>
            <a:ext cx="2578608" cy="201168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1773936"/>
            <a:ext cx="25786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Grade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Breaks continuous between the tops of two or more folds, &lt; 75% of the circumference. Conclusive.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8860536" y="269748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59" y="1773936"/>
            <a:ext cx="2578608" cy="201168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59" y="1773936"/>
            <a:ext cx="2578608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3999" y="1773936"/>
            <a:ext cx="2395727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Grade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7" y="2157984"/>
            <a:ext cx="235915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Breaks involving ≥ 75% of the circumference. Conclusive; look for stricture.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2336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Also conclusive.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Biopsy-proven Barrett's oesophagus and peptic stricture. ACG 2022 requires Barrett's longer than 3 cm with intestinal metaplasia; AGA uses 3 cm or more.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Timing.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 unproven GERD, endoscopy should be done at least 2, preferably 4, weeks off PPI; healing on treatment hides grade A and B disease.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ENDOSCOPY IN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EROSIONS ARE THE 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Prevalence of erosive oesophagitis and Barrett's oesophagus in children undergoing endoscopy,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Gilger MA, et al. JPGN 2008;47:141–6 · El-Serag HB, et al. Am J Gastroenterol 2002;97:1635–9 · Nguyen DM, et al. Gastrointest Endosc 2011;73:875–80 · Rosen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1"/>
            <a:ext cx="7132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Per cent of children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713232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5860" y="4361688"/>
            <a:ext cx="914400" cy="85039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099" y="4087368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12.4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48656"/>
            <a:ext cx="1783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Erosive, all EGDs
(~7,200)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8940" y="2839212"/>
            <a:ext cx="914400" cy="23728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3180" y="2564892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34.6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248656"/>
            <a:ext cx="1783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Erosive, GERD
symptoms (402)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2020" y="5114010"/>
            <a:ext cx="914400" cy="9806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6259" y="483969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1.43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248656"/>
            <a:ext cx="1783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Barrett's
suspected (840)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5099" y="5203850"/>
            <a:ext cx="914400" cy="822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39" y="492953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0.12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5248656"/>
            <a:ext cx="1783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Barrett's
confirmed (840)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783080"/>
            <a:ext cx="33832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15–71%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Range of erosive oesophagitis across paediatric studies of troublesome symptoms: referral bias dominates.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One child in 840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Confirmed Barrett's in a large paediatric series; mean age 9.5 years.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Who to scope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Dysphagia, odynophagia, bleeding, weight loss, PPI failure, or before escalating therapy (90%).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HISTOLOGY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BIOPSIES EXCLUDE, THEY RARELY INCLUDE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oesophageal biopsies add in a child investigated for reflux symptoms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R, et al. JPGN 2018;66:516–54 · Dellon ES, et al. Gastroenterology 2018;155:1022–33 · Gyawali CP, et al. Gut 2024;73:361–71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Microscopic oesophagitis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Basal cell hyperplasia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Papillary lengthening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Non-specific; not diagnostic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Eosinophilic oesophagitis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≥ 15 eosinophils per high-power field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Up to 8% of extra-oesophageal referrals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Changes treatment entirely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Normal biopsy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Does not exclude GERD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NERD is common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Proceed to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1945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at every paediatric EGD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Proximal and distal oesophagus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Off PPI if possible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Bottom line.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2018 guideline gives biopsy the role of ruling out other disease; Lyon 2.0 removed routine biopsy from the diagnostic criteria. In children, the most important finding a biopsy can make is not reflux at all, but eosinophilic oesophagitis.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PHENOTYPES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MOST HEARTBURN WITH A NORMAL SCOPE IS NOT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aged 5 years or older with heartburn and normal endoscopy, classified by pH-impedance (n = 45),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Mahoney LB, Nurko S, Rosen R. J Pediatr 2017;189:86–91 · Aziz Q, et al. Gastroenterology 2016;150:1368–79 · Rome V paediatric criteria, Gastroenterology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56231"/>
            <a:ext cx="67665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F7F7F"/>
                </a:solidFill>
                <a:latin typeface="Abadi"/>
              </a:rPr>
              <a:t>Per cent of children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80"/>
            <a:ext cx="676656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02080" y="3865418"/>
            <a:ext cx="914400" cy="134666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320" y="3591098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Non-erosive GERD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765665"/>
            <a:ext cx="914400" cy="144641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91345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704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Reflux hypersensitivity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3120" y="3017520"/>
            <a:ext cx="914400" cy="21945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60" y="2743200"/>
            <a:ext cx="16459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1A1A1A"/>
                </a:solidFill>
                <a:latin typeface="Abadi"/>
              </a:rPr>
              <a:t>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560" y="5248656"/>
            <a:ext cx="22555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Abadi"/>
              </a:rPr>
              <a:t>Functional heartburn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783080"/>
            <a:ext cx="365760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Three in four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Did not have abnormal acid exposure; most would have stayed on PPIs without testing.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Rome V for children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Adds reflux hypersensitivity and reflux-negative oesophageal pain disorder; symptoms ≥ 3 days a week for 2 months.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55E"/>
                </a:solidFill>
                <a:latin typeface="Abadi"/>
              </a:rPr>
              <a:t>Treatment differs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555555"/>
                </a:solidFill>
                <a:latin typeface="Abadi"/>
              </a:rPr>
              <a:t>Hypersensitivity and functional pain: neuromodulators and behavioural therapy rather than escalated acid suppression.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Paediatric NASPGHAN/ESPGHAN 2018 versus adult Lyon 2.0, ACG 2022 and AGA 2022 on diagnosis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2018 · Gyawali 2024 · Katz 2022 · Yadlapati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55648"/>
          <a:ext cx="11082528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657600"/>
                <a:gridCol w="3931920"/>
                <a:gridCol w="1389888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NASPGHAN/ESPGHAN 2018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Lyon 2.0 · ACG · AGA (adult)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Empiric PPI trial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4–8 weeks, typical symptoms, older children; not infants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ACG 8 weeks; AGA 4–8 weeks; Lyon: response not conclusive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Extra-oesophageal symptoms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PPI trial as diagnostic test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AGA: test up front rather than empiric PPI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Abnormal acid 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Reflux index &gt; 10% (&lt; 1 y), &gt; 5% (&gt; 1 y); no norms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AET &gt; 6% conclusive, &lt; 4% normal, 4–6% grey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7432" marB="27432" anchor="ctr">
                    <a:solidFill>
                      <a:srgbClr val="D97A0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Endoscopy to diagnose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to diagnose; for complications and before escalation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 B–D, Barrett's, stricture conclusive; first test if PPI fails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7432" marB="27432" anchor="ctr">
                    <a:solidFill>
                      <a:srgbClr val="D97A0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LA 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cited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Standard; B now conclusive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8A939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Histology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Mainly to exclude other disease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diagnostic; biopsy for EoE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Off- vs on-PPI testing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Insufficient data; off PPI for symptom correlation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Off PPI if unproven; on PPI if proven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7432" marB="27432" anchor="ctr">
                    <a:solidFill>
                      <a:srgbClr val="1E7A3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Wireless monitoring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96 h preferred if available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7432" marB="27432" anchor="ctr">
                    <a:solidFill>
                      <a:srgbClr val="8A939B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Functional phenotypes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Separating them below consensus (73%)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Rome IV adult; Rome V paediatric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54864" marR="54864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541264"/>
            <a:ext cx="11064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The paediatric guideline predates Lyon 2.0 and Rome V; its authors are writing for a population with no normal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ADOLESCENT WITH HEARTBURN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combining the paediatric guideline with Lyon 2.0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2018 · Gyawali 2024 · Katz 2022 · Yadlapati 2022 · Mahoney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11680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1168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1 ·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Alarm features (dysphagia, bleeding, weight loss, vomiting)? Go straight to endoscopy with biopsies.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4328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773936"/>
            <a:ext cx="2011680" cy="21945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6352" y="1773936"/>
            <a:ext cx="201168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2 · Trial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None: PPI once daily before breakfast for 4–8 weeks. Responds: stop or taper; relapse means test.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92040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773936"/>
            <a:ext cx="2011680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1773936"/>
            <a:ext cx="201168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5504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3 ·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 response or relapse: EGD 2–4 weeks off PPI, biopsies for EoE. LA B–D: GERD proven.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59752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1773936"/>
            <a:ext cx="2011680" cy="2194560"/>
          </a:xfrm>
          <a:prstGeom prst="rect">
            <a:avLst/>
          </a:prstGeom>
          <a:solidFill>
            <a:srgbClr val="CDE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6" y="1773936"/>
            <a:ext cx="201168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4 ·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504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Normal scope: pH-impedance off PPI for 24 h. Read AET, episodes, MNBI and association.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27464" y="2788920"/>
            <a:ext cx="128016" cy="164592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73936"/>
            <a:ext cx="2011680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19488" y="1773936"/>
            <a:ext cx="2011680" cy="29260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1773936"/>
            <a:ext cx="18288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badi"/>
              </a:rPr>
              <a:t>5 · Phenotype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2157984"/>
            <a:ext cx="1792224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badi"/>
              </a:rPr>
              <a:t>NERD: treat as GERD. Hypersensitivity or functional: neuromodulation, behavioural therapy.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Do not skip.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Before fundoplication or long-term PPI in an adolescent without erosive disease, document abnormal acid exposure; Lyon calls this actionable GERD.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Do not repeat.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second, higher-dose PPI trial after a failed first one rarely answers the question; testing does.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reasoning errors with the child or adolescent investigated for reflux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2018 · Gyawali 2024 · Numans 2004 · Mahoney 2017 · Pilic 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194560"/>
          </a:xfrm>
          <a:prstGeom prst="rect">
            <a:avLst/>
          </a:prstGeom>
          <a:solidFill>
            <a:srgbClr val="F6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'She got better on PPI, so it is GERD'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98063"/>
            <a:ext cx="230428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LR+ about 1.7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Placebo and natural course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Stop and see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194560"/>
          </a:xfrm>
          <a:prstGeom prst="rect">
            <a:avLst/>
          </a:prstGeom>
          <a:solidFill>
            <a:srgbClr val="FBE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'Normal pH study, so no reflux'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Weakly acidic reflux missed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45% detected by impedance only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Read the association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194560"/>
          </a:xfrm>
          <a:prstGeom prst="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'LA A on the scope'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Borderline, not conclusive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Seen in healthy adults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Needs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194560"/>
          </a:xfrm>
          <a:prstGeom prst="rect">
            <a:avLst/>
          </a:pr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7F7F7F"/>
                </a:solidFill>
                <a:latin typeface="Abadi"/>
              </a:rPr>
              <a:t>'Cough, so try a PPI'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23744"/>
            <a:ext cx="2304288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diagnostic PPI trial for extra-oesophageal symptoms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Test or look elsewhere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8252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And two more.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Scoping on a PPI, which heals grade A and B lesions and lowers the yield, and applying adult AET thresholds to a toddler as if they were validated: in young children the numbers are conventions agreed in symptomatic patients.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Rosen 2018 · Gyawali 2018, 2024 · Katz 2022 · Yadlapati 2022 · Numans 2004 · Pilic 2011 · Pop 2024 · Gilger 2008 · Nguyen 2011 · Mahoney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11082528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Empiric PPI trial: 4–8 weeks for typical symptoms in older children (90%); never as a test in infants (80%).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 PPI response is weak evidence: sensitivity 78%, specificity 54%, LR+ about 1.7.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Lyon 2.0 off PPI: AET &gt; 6% conclusive, &lt; 4% physiological, 4–6% inconclusive.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Tie-breakers: &gt; 80 episodes supportive, &lt; 40 against; MNBI &lt; 1500 Ω supportive, &gt; 2500 Ω against.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LA grade B is now conclusive; grade A is borderline (5–7.5% of healthy adults).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On PPI, AET &gt; 4% plus &gt; 80 episodes defines actionable refractory GERD.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Paediatric norms come from symptomatic children; reflux index &gt; 10% (&lt; 1 year) or &gt; 5% (&gt; 1 year).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Impedance alone found 45% of abnormal paediatric studies that pH missed.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Erosive oesophagitis in 12.4% of paediatric EGDs; confirmed Barrett's in 1 of 840 children.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With heartburn and a normal scope: NERD 27%, hypersensitivity 29%, functional heartburn 44%.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diagnostic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82528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632764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54864" marR="54864" marT="27432" marB="27432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15-year-old, heartburn twice a week, no alarm features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Omeprazole 20 mg before breakfast for 4–8 weeks; if better, stop and watch for relapse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Same girl, relapses within a month of stopping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EGD off PPI 2–4 weeks with biopsies; if normal, pH-impedance off PPI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AET 5.1%, 92 episodes, MNBI 1,300 Ω, SAP 98%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Grey-zone AET with supportive metrics: treat as GERD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AET 2.4%, SI 70%, SAP 97%, normal EGD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Reflux hypersensitivity: limit PPI, consider neuromodulator and behavioural therapy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12-year-old with chronic cough, no heartburn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empiric PPI as a test; pH-impedance only if reflux remains plausible after airway work-up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Dysphagia and food impaction in a 13-year-old boy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Endoscopy first with biopsies; eosinophilic oesophagitis until proven otherwise</a:t>
                      </a:r>
                    </a:p>
                  </a:txBody>
                  <a:tcPr marL="54864" marR="54864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82528" cy="219456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GERD in the Child and Adolescent: Making the Diagnosis — Empiric PPI Trial, pH-Impedance by Lyon 2.0, Endoscopy and the Limits of Paediatric Norms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108252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