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18288" bIns="18288" anchor="b">
            <a:spAutoFit/>
          </a:bodyPr>
          <a:lstStyle/>
          <a:p>
            <a:pPr algn="ctr"/>
            <a:r>
              <a:rPr sz="4000" b="1">
                <a:solidFill>
                  <a:srgbClr val="FFFFFF"/>
                </a:solidFill>
                <a:latin typeface="Abadi"/>
              </a:rPr>
              <a:t>Oesophagitis and Its Complications — Strictures, Barrett's Oesophagus in At-Risk Children and the Eosinophilic Differential</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18288" bIns="18288" anchor="t">
            <a:spAutoFit/>
          </a:bodyPr>
          <a:lstStyle/>
          <a:p>
            <a:pPr algn="ctr"/>
            <a:r>
              <a:rPr sz="1700" b="1">
                <a:solidFill>
                  <a:srgbClr val="FFFFFF"/>
                </a:solidFill>
                <a:latin typeface="Abadi"/>
              </a:rPr>
              <a:t>Andrey Ermak, MD</a:t>
            </a:r>
          </a:p>
        </p:txBody>
      </p:sp>
      <p:sp>
        <p:nvSpPr>
          <p:cNvPr id="6" name="TextBox 5"/>
          <p:cNvSpPr txBox="1"/>
          <p:nvPr/>
        </p:nvSpPr>
        <p:spPr>
          <a:xfrm>
            <a:off x="548640" y="4343400"/>
            <a:ext cx="11082528" cy="685800"/>
          </a:xfrm>
          <a:prstGeom prst="rect">
            <a:avLst/>
          </a:prstGeom>
          <a:noFill/>
        </p:spPr>
        <p:txBody>
          <a:bodyPr wrap="square" lIns="0" rIns="0" tIns="18288" bIns="18288" anchor="t">
            <a:spAutoFit/>
          </a:bodyPr>
          <a:lstStyle/>
          <a:p>
            <a:pPr algn="ctr"/>
            <a:r>
              <a:rPr sz="1100" b="0">
                <a:solidFill>
                  <a:srgbClr val="D9DEE7"/>
                </a:solidFill>
                <a:latin typeface="Abadi"/>
              </a:rPr>
              <a:t>Rosen 2018 (NASPGHAN/ESPGHAN) · Krishnan 2016 (EA guideline) · Amil-Dias 2024 (ESPGHAN EoE) · Dellon 2018 (AGREE) · Shaheen 2022 (ACG) · Gilger 2008 · El-Serag 2002 · Nguyen 2011 · Tolia 2010 · Edwards 2022 · Vergouwe 2019 · Tullie 2021 · Schneider 2016 · Maestri 2022 · Knotts 2018</a:t>
            </a:r>
          </a:p>
        </p:txBody>
      </p:sp>
      <p:sp>
        <p:nvSpPr>
          <p:cNvPr id="7" name="TextBox 6"/>
          <p:cNvSpPr txBox="1"/>
          <p:nvPr/>
        </p:nvSpPr>
        <p:spPr>
          <a:xfrm>
            <a:off x="548640" y="5193792"/>
            <a:ext cx="11082528" cy="548640"/>
          </a:xfrm>
          <a:prstGeom prst="rect">
            <a:avLst/>
          </a:prstGeom>
          <a:noFill/>
        </p:spPr>
        <p:txBody>
          <a:bodyPr wrap="square" lIns="0" rIns="0" tIns="18288" bIns="18288" anchor="t">
            <a:spAutoFit/>
          </a:bodyPr>
          <a:lstStyle/>
          <a:p>
            <a:pPr algn="ctr"/>
            <a:r>
              <a:rPr sz="1100" b="0" i="1">
                <a:solidFill>
                  <a:srgbClr val="D9DEE7"/>
                </a:solidFill>
                <a:latin typeface="Abadi"/>
              </a:rPr>
              <a:t>most erosions heal · scars belong to the at-risk child · Barrett's is a lifelong question in atresia · squamous cancer is the atresia surprise · every stricture gets biopsies for eosinophils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THE QUESTION OF THE DAY</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WHEN DOES REFLUX LEAVE A SCAR?</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A 14-year-old repaired for oesophageal atresia, no symptoms, never scoped since infancy: what are we looking for?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2</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Rosen R, et al. JPGN 2018;66:516–54 · Krishnan U, et al. JPGN 2016;63:550–70 · Amil-Dias J, et al. JPGN 2024;79:394–437</a:t>
            </a:r>
          </a:p>
        </p:txBody>
      </p:sp>
      <p:sp>
        <p:nvSpPr>
          <p:cNvPr id="12" name="Rectangle 11"/>
          <p:cNvSpPr/>
          <p:nvPr/>
        </p:nvSpPr>
        <p:spPr>
          <a:xfrm>
            <a:off x="548640" y="1773936"/>
            <a:ext cx="2070201" cy="21031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070201"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1777593" cy="502920"/>
          </a:xfrm>
          <a:prstGeom prst="rect">
            <a:avLst/>
          </a:prstGeom>
          <a:noFill/>
        </p:spPr>
        <p:txBody>
          <a:bodyPr wrap="square" lIns="0" rIns="0" tIns="18288" bIns="18288" anchor="t">
            <a:spAutoFit/>
          </a:bodyPr>
          <a:lstStyle/>
          <a:p>
            <a:pPr algn="l"/>
            <a:r>
              <a:rPr sz="1500" b="1">
                <a:solidFill>
                  <a:srgbClr val="D97A0B"/>
                </a:solidFill>
                <a:latin typeface="Abadi"/>
              </a:rPr>
              <a:t>Erosions</a:t>
            </a:r>
          </a:p>
        </p:txBody>
      </p:sp>
      <p:sp>
        <p:nvSpPr>
          <p:cNvPr id="15" name="TextBox 14"/>
          <p:cNvSpPr txBox="1"/>
          <p:nvPr/>
        </p:nvSpPr>
        <p:spPr>
          <a:xfrm>
            <a:off x="694944" y="2505456"/>
            <a:ext cx="1777593" cy="128016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About 1 in 8 paediatric EGDs</a:t>
            </a:r>
          </a:p>
          <a:p>
            <a:pPr algn="l">
              <a:spcAft>
                <a:spcPts val="300"/>
              </a:spcAft>
            </a:pPr>
            <a:r>
              <a:rPr sz="1100" b="0">
                <a:solidFill>
                  <a:srgbClr val="1A1A1A"/>
                </a:solidFill>
                <a:latin typeface="Abadi"/>
              </a:rPr>
              <a:t>▪  Heals with PPI in most</a:t>
            </a:r>
          </a:p>
        </p:txBody>
      </p:sp>
      <p:sp>
        <p:nvSpPr>
          <p:cNvPr id="16" name="Rectangle 15"/>
          <p:cNvSpPr/>
          <p:nvPr/>
        </p:nvSpPr>
        <p:spPr>
          <a:xfrm>
            <a:off x="2801721" y="1773936"/>
            <a:ext cx="2070201" cy="21031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01721" y="1773936"/>
            <a:ext cx="2070201"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48025" y="1956816"/>
            <a:ext cx="1777593" cy="502920"/>
          </a:xfrm>
          <a:prstGeom prst="rect">
            <a:avLst/>
          </a:prstGeom>
          <a:noFill/>
        </p:spPr>
        <p:txBody>
          <a:bodyPr wrap="square" lIns="0" rIns="0" tIns="18288" bIns="18288" anchor="t">
            <a:spAutoFit/>
          </a:bodyPr>
          <a:lstStyle/>
          <a:p>
            <a:pPr algn="l"/>
            <a:r>
              <a:rPr sz="1500" b="1">
                <a:solidFill>
                  <a:srgbClr val="B22222"/>
                </a:solidFill>
                <a:latin typeface="Abadi"/>
              </a:rPr>
              <a:t>Stricture</a:t>
            </a:r>
          </a:p>
        </p:txBody>
      </p:sp>
      <p:sp>
        <p:nvSpPr>
          <p:cNvPr id="19" name="TextBox 18"/>
          <p:cNvSpPr txBox="1"/>
          <p:nvPr/>
        </p:nvSpPr>
        <p:spPr>
          <a:xfrm>
            <a:off x="2948025" y="2505456"/>
            <a:ext cx="1777593" cy="128016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Peptic, anastomotic or eosinophilic</a:t>
            </a:r>
          </a:p>
          <a:p>
            <a:pPr algn="l">
              <a:spcAft>
                <a:spcPts val="300"/>
              </a:spcAft>
            </a:pPr>
            <a:r>
              <a:rPr sz="1100" b="0">
                <a:solidFill>
                  <a:srgbClr val="1A1A1A"/>
                </a:solidFill>
                <a:latin typeface="Abadi"/>
              </a:rPr>
              <a:t>▪  Dysphagia, impaction</a:t>
            </a:r>
          </a:p>
        </p:txBody>
      </p:sp>
      <p:sp>
        <p:nvSpPr>
          <p:cNvPr id="20" name="Rectangle 19"/>
          <p:cNvSpPr/>
          <p:nvPr/>
        </p:nvSpPr>
        <p:spPr>
          <a:xfrm>
            <a:off x="5054803" y="1773936"/>
            <a:ext cx="2070201" cy="21031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054803" y="1773936"/>
            <a:ext cx="2070201"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201107" y="1956816"/>
            <a:ext cx="1777593" cy="502920"/>
          </a:xfrm>
          <a:prstGeom prst="rect">
            <a:avLst/>
          </a:prstGeom>
          <a:noFill/>
        </p:spPr>
        <p:txBody>
          <a:bodyPr wrap="square" lIns="0" rIns="0" tIns="18288" bIns="18288" anchor="t">
            <a:spAutoFit/>
          </a:bodyPr>
          <a:lstStyle/>
          <a:p>
            <a:pPr algn="l"/>
            <a:r>
              <a:rPr sz="1500" b="1">
                <a:solidFill>
                  <a:srgbClr val="1B355E"/>
                </a:solidFill>
                <a:latin typeface="Abadi"/>
              </a:rPr>
              <a:t>Barrett's</a:t>
            </a:r>
          </a:p>
        </p:txBody>
      </p:sp>
      <p:sp>
        <p:nvSpPr>
          <p:cNvPr id="23" name="TextBox 22"/>
          <p:cNvSpPr txBox="1"/>
          <p:nvPr/>
        </p:nvSpPr>
        <p:spPr>
          <a:xfrm>
            <a:off x="5201107" y="2505456"/>
            <a:ext cx="1777593" cy="128016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Rare in healthy children</a:t>
            </a:r>
          </a:p>
          <a:p>
            <a:pPr algn="l">
              <a:spcAft>
                <a:spcPts val="300"/>
              </a:spcAft>
            </a:pPr>
            <a:r>
              <a:rPr sz="1100" b="0">
                <a:solidFill>
                  <a:srgbClr val="1A1A1A"/>
                </a:solidFill>
                <a:latin typeface="Abadi"/>
              </a:rPr>
              <a:t>▪  Common after atresia repair</a:t>
            </a:r>
          </a:p>
        </p:txBody>
      </p:sp>
      <p:sp>
        <p:nvSpPr>
          <p:cNvPr id="24" name="Rectangle 23"/>
          <p:cNvSpPr/>
          <p:nvPr/>
        </p:nvSpPr>
        <p:spPr>
          <a:xfrm>
            <a:off x="7307884" y="1773936"/>
            <a:ext cx="2070201" cy="21031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07884" y="1773936"/>
            <a:ext cx="2070201"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54188" y="1956816"/>
            <a:ext cx="1777593" cy="502920"/>
          </a:xfrm>
          <a:prstGeom prst="rect">
            <a:avLst/>
          </a:prstGeom>
          <a:noFill/>
        </p:spPr>
        <p:txBody>
          <a:bodyPr wrap="square" lIns="0" rIns="0" tIns="18288" bIns="18288" anchor="t">
            <a:spAutoFit/>
          </a:bodyPr>
          <a:lstStyle/>
          <a:p>
            <a:pPr algn="l"/>
            <a:r>
              <a:rPr sz="1500" b="1">
                <a:solidFill>
                  <a:srgbClr val="1E7A33"/>
                </a:solidFill>
                <a:latin typeface="Abadi"/>
              </a:rPr>
              <a:t>The mimic</a:t>
            </a:r>
          </a:p>
        </p:txBody>
      </p:sp>
      <p:sp>
        <p:nvSpPr>
          <p:cNvPr id="27" name="TextBox 26"/>
          <p:cNvSpPr txBox="1"/>
          <p:nvPr/>
        </p:nvSpPr>
        <p:spPr>
          <a:xfrm>
            <a:off x="7454188" y="2505456"/>
            <a:ext cx="1777593" cy="128016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Eosinophilic oesophagitis</a:t>
            </a:r>
          </a:p>
          <a:p>
            <a:pPr algn="l">
              <a:spcAft>
                <a:spcPts val="300"/>
              </a:spcAft>
            </a:pPr>
            <a:r>
              <a:rPr sz="1100" b="0">
                <a:solidFill>
                  <a:srgbClr val="1A1A1A"/>
                </a:solidFill>
                <a:latin typeface="Abadi"/>
              </a:rPr>
              <a:t>▪  Also responds to PPI</a:t>
            </a:r>
          </a:p>
        </p:txBody>
      </p:sp>
      <p:sp>
        <p:nvSpPr>
          <p:cNvPr id="28" name="Rectangle 27"/>
          <p:cNvSpPr/>
          <p:nvPr/>
        </p:nvSpPr>
        <p:spPr>
          <a:xfrm>
            <a:off x="9560966" y="1773936"/>
            <a:ext cx="2070201" cy="21031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9560966" y="1773936"/>
            <a:ext cx="2070201"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07270" y="1956816"/>
            <a:ext cx="1777593" cy="502920"/>
          </a:xfrm>
          <a:prstGeom prst="rect">
            <a:avLst/>
          </a:prstGeom>
          <a:noFill/>
        </p:spPr>
        <p:txBody>
          <a:bodyPr wrap="square" lIns="0" rIns="0" tIns="18288" bIns="18288" anchor="t">
            <a:spAutoFit/>
          </a:bodyPr>
          <a:lstStyle/>
          <a:p>
            <a:pPr algn="l"/>
            <a:r>
              <a:rPr sz="1500" b="1">
                <a:solidFill>
                  <a:srgbClr val="8A939B"/>
                </a:solidFill>
                <a:latin typeface="Abadi"/>
              </a:rPr>
              <a:t>At-risk child</a:t>
            </a:r>
          </a:p>
        </p:txBody>
      </p:sp>
      <p:sp>
        <p:nvSpPr>
          <p:cNvPr id="31" name="TextBox 30"/>
          <p:cNvSpPr txBox="1"/>
          <p:nvPr/>
        </p:nvSpPr>
        <p:spPr>
          <a:xfrm>
            <a:off x="9707270" y="2505456"/>
            <a:ext cx="1777593" cy="128016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Atresia, neurological impairment, cystic fibrosis</a:t>
            </a:r>
          </a:p>
        </p:txBody>
      </p:sp>
      <p:sp>
        <p:nvSpPr>
          <p:cNvPr id="32" name="TextBox 31"/>
          <p:cNvSpPr txBox="1"/>
          <p:nvPr/>
        </p:nvSpPr>
        <p:spPr>
          <a:xfrm>
            <a:off x="548640" y="4069080"/>
            <a:ext cx="11082528" cy="173736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The main idea.  </a:t>
            </a:r>
            <a:r>
              <a:rPr sz="1250" b="0">
                <a:solidFill>
                  <a:srgbClr val="1A1A1A"/>
                </a:solidFill>
                <a:latin typeface="Abadi"/>
              </a:rPr>
              <a:t>In an otherwise healthy child, reflux oesophagitis is common, shallow and heals. Scarring complications (stricture, columnar metaplasia) cluster in children whose anatomy, motility or airway disease makes reflux severe and lifelong. In them, symptoms are a poor guide, surveillance is scheduled rather than symptom-driven, and every biopsy also looks for eosinophilic oesophagitis.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MECHANISM</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FROM INJURY TO SCAR OR METAPLASIA</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The squamous epithelium heals one of two ways when injury is repeated: by fibrosis or by changing cell type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3</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Rosen 2018 · Shaheen NJ, et al. Am J Gastroenterol 2022;117:559–87 · Krishnan 2016</a:t>
            </a:r>
          </a:p>
        </p:txBody>
      </p:sp>
      <p:sp>
        <p:nvSpPr>
          <p:cNvPr id="12" name="Rectangle 11"/>
          <p:cNvSpPr/>
          <p:nvPr/>
        </p:nvSpPr>
        <p:spPr>
          <a:xfrm>
            <a:off x="548640" y="1773936"/>
            <a:ext cx="1982419" cy="19659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Exposure</a:t>
            </a:r>
          </a:p>
        </p:txBody>
      </p:sp>
      <p:sp>
        <p:nvSpPr>
          <p:cNvPr id="15" name="TextBox 14"/>
          <p:cNvSpPr txBox="1"/>
          <p:nvPr/>
        </p:nvSpPr>
        <p:spPr>
          <a:xfrm>
            <a:off x="658368" y="2185416"/>
            <a:ext cx="1762963" cy="1508760"/>
          </a:xfrm>
          <a:prstGeom prst="rect">
            <a:avLst/>
          </a:prstGeom>
          <a:noFill/>
        </p:spPr>
        <p:txBody>
          <a:bodyPr wrap="square" lIns="0" rIns="0" tIns="18288" bIns="18288" anchor="t">
            <a:spAutoFit/>
          </a:bodyPr>
          <a:lstStyle/>
          <a:p>
            <a:pPr algn="l"/>
            <a:r>
              <a:rPr sz="1050" b="0">
                <a:solidFill>
                  <a:srgbClr val="1A1A1A"/>
                </a:solidFill>
                <a:latin typeface="Abadi"/>
              </a:rPr>
              <a:t>Acid, pepsin and bile reach the oesophagus; clearance is slow (dysmotility, supine, hernia).</a:t>
            </a:r>
          </a:p>
        </p:txBody>
      </p:sp>
      <p:sp>
        <p:nvSpPr>
          <p:cNvPr id="16" name="TextBox 15"/>
          <p:cNvSpPr txBox="1"/>
          <p:nvPr/>
        </p:nvSpPr>
        <p:spPr>
          <a:xfrm>
            <a:off x="2531059" y="257403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17" name="Rectangle 16"/>
          <p:cNvSpPr/>
          <p:nvPr/>
        </p:nvSpPr>
        <p:spPr>
          <a:xfrm>
            <a:off x="2823667" y="1773936"/>
            <a:ext cx="1982419" cy="19659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Injury</a:t>
            </a:r>
          </a:p>
        </p:txBody>
      </p:sp>
      <p:sp>
        <p:nvSpPr>
          <p:cNvPr id="20" name="TextBox 19"/>
          <p:cNvSpPr txBox="1"/>
          <p:nvPr/>
        </p:nvSpPr>
        <p:spPr>
          <a:xfrm>
            <a:off x="2933395" y="2185416"/>
            <a:ext cx="1762963" cy="1508760"/>
          </a:xfrm>
          <a:prstGeom prst="rect">
            <a:avLst/>
          </a:prstGeom>
          <a:noFill/>
        </p:spPr>
        <p:txBody>
          <a:bodyPr wrap="square" lIns="0" rIns="0" tIns="18288" bIns="18288" anchor="t">
            <a:spAutoFit/>
          </a:bodyPr>
          <a:lstStyle/>
          <a:p>
            <a:pPr algn="l"/>
            <a:r>
              <a:rPr sz="1050" b="0">
                <a:solidFill>
                  <a:srgbClr val="1A1A1A"/>
                </a:solidFill>
                <a:latin typeface="Abadi"/>
              </a:rPr>
              <a:t>Basal cell hyperplasia, dilated intercellular spaces, then erosions and ulcers.</a:t>
            </a:r>
          </a:p>
        </p:txBody>
      </p:sp>
      <p:sp>
        <p:nvSpPr>
          <p:cNvPr id="21" name="TextBox 20"/>
          <p:cNvSpPr txBox="1"/>
          <p:nvPr/>
        </p:nvSpPr>
        <p:spPr>
          <a:xfrm>
            <a:off x="4806086" y="257403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2" name="Rectangle 21"/>
          <p:cNvSpPr/>
          <p:nvPr/>
        </p:nvSpPr>
        <p:spPr>
          <a:xfrm>
            <a:off x="5098694" y="1773936"/>
            <a:ext cx="1982419" cy="19659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Fibrosis</a:t>
            </a:r>
          </a:p>
        </p:txBody>
      </p:sp>
      <p:sp>
        <p:nvSpPr>
          <p:cNvPr id="25" name="TextBox 24"/>
          <p:cNvSpPr txBox="1"/>
          <p:nvPr/>
        </p:nvSpPr>
        <p:spPr>
          <a:xfrm>
            <a:off x="5208422" y="2185416"/>
            <a:ext cx="1762963" cy="1508760"/>
          </a:xfrm>
          <a:prstGeom prst="rect">
            <a:avLst/>
          </a:prstGeom>
          <a:noFill/>
        </p:spPr>
        <p:txBody>
          <a:bodyPr wrap="square" lIns="0" rIns="0" tIns="18288" bIns="18288" anchor="t">
            <a:spAutoFit/>
          </a:bodyPr>
          <a:lstStyle/>
          <a:p>
            <a:pPr algn="l"/>
            <a:r>
              <a:rPr sz="1050" b="0">
                <a:solidFill>
                  <a:srgbClr val="1A1A1A"/>
                </a:solidFill>
                <a:latin typeface="Abadi"/>
              </a:rPr>
              <a:t>Deep ulcer heals with collagen: a short distal peptic stricture.</a:t>
            </a:r>
          </a:p>
        </p:txBody>
      </p:sp>
      <p:sp>
        <p:nvSpPr>
          <p:cNvPr id="26" name="TextBox 25"/>
          <p:cNvSpPr txBox="1"/>
          <p:nvPr/>
        </p:nvSpPr>
        <p:spPr>
          <a:xfrm>
            <a:off x="7081113" y="257403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7" name="Rectangle 26"/>
          <p:cNvSpPr/>
          <p:nvPr/>
        </p:nvSpPr>
        <p:spPr>
          <a:xfrm>
            <a:off x="7373721" y="1773936"/>
            <a:ext cx="1982419" cy="19659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Metaplasia</a:t>
            </a:r>
          </a:p>
        </p:txBody>
      </p:sp>
      <p:sp>
        <p:nvSpPr>
          <p:cNvPr id="30" name="TextBox 29"/>
          <p:cNvSpPr txBox="1"/>
          <p:nvPr/>
        </p:nvSpPr>
        <p:spPr>
          <a:xfrm>
            <a:off x="7483449" y="2185416"/>
            <a:ext cx="1762963" cy="1508760"/>
          </a:xfrm>
          <a:prstGeom prst="rect">
            <a:avLst/>
          </a:prstGeom>
          <a:noFill/>
        </p:spPr>
        <p:txBody>
          <a:bodyPr wrap="square" lIns="0" rIns="0" tIns="18288" bIns="18288" anchor="t">
            <a:spAutoFit/>
          </a:bodyPr>
          <a:lstStyle/>
          <a:p>
            <a:pPr algn="l"/>
            <a:r>
              <a:rPr sz="1050" b="0">
                <a:solidFill>
                  <a:srgbClr val="1A1A1A"/>
                </a:solidFill>
                <a:latin typeface="Abadi"/>
              </a:rPr>
              <a:t>Columnar cells replace squamous: gastric (cardiac) first, intestinal later.</a:t>
            </a:r>
          </a:p>
        </p:txBody>
      </p:sp>
      <p:sp>
        <p:nvSpPr>
          <p:cNvPr id="31" name="TextBox 30"/>
          <p:cNvSpPr txBox="1"/>
          <p:nvPr/>
        </p:nvSpPr>
        <p:spPr>
          <a:xfrm>
            <a:off x="9356140" y="257403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32" name="Rectangle 31"/>
          <p:cNvSpPr/>
          <p:nvPr/>
        </p:nvSpPr>
        <p:spPr>
          <a:xfrm>
            <a:off x="9648748" y="1773936"/>
            <a:ext cx="1982419" cy="196596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Neoplasia</a:t>
            </a:r>
          </a:p>
        </p:txBody>
      </p:sp>
      <p:sp>
        <p:nvSpPr>
          <p:cNvPr id="35" name="TextBox 34"/>
          <p:cNvSpPr txBox="1"/>
          <p:nvPr/>
        </p:nvSpPr>
        <p:spPr>
          <a:xfrm>
            <a:off x="9758476" y="2185416"/>
            <a:ext cx="1762963" cy="1508760"/>
          </a:xfrm>
          <a:prstGeom prst="rect">
            <a:avLst/>
          </a:prstGeom>
          <a:noFill/>
        </p:spPr>
        <p:txBody>
          <a:bodyPr wrap="square" lIns="0" rIns="0" tIns="18288" bIns="18288" anchor="t">
            <a:spAutoFit/>
          </a:bodyPr>
          <a:lstStyle/>
          <a:p>
            <a:pPr algn="l"/>
            <a:r>
              <a:rPr sz="1050" b="0">
                <a:solidFill>
                  <a:srgbClr val="1A1A1A"/>
                </a:solidFill>
                <a:latin typeface="Abadi"/>
              </a:rPr>
              <a:t>Dysplasia and adenocarcinoma: adulthood, decades of exposure.</a:t>
            </a:r>
          </a:p>
        </p:txBody>
      </p:sp>
      <p:sp>
        <p:nvSpPr>
          <p:cNvPr id="36" name="TextBox 35"/>
          <p:cNvSpPr txBox="1"/>
          <p:nvPr/>
        </p:nvSpPr>
        <p:spPr>
          <a:xfrm>
            <a:off x="548640" y="4023360"/>
            <a:ext cx="11082528" cy="178308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Reading the chain.  </a:t>
            </a:r>
            <a:r>
              <a:rPr sz="1200" b="0">
                <a:solidFill>
                  <a:srgbClr val="1A1A1A"/>
                </a:solidFill>
                <a:latin typeface="Abadi"/>
              </a:rPr>
              <a:t>Children rarely reach the right-hand end because the exposure has been short. The exceptions are those with years of severe reflux from infancy: atresia (abnormal motility and a displaced junction), neurological impairment (supine, spastic, poor clearance) and cystic fibrosis (cough, hyperinflation).</a:t>
            </a:r>
          </a:p>
          <a:p>
            <a:pPr algn="l">
              <a:spcAft>
                <a:spcPts val="600"/>
              </a:spcAft>
            </a:pPr>
            <a:r>
              <a:rPr sz="1200" b="1">
                <a:solidFill>
                  <a:srgbClr val="1B355E"/>
                </a:solidFill>
                <a:latin typeface="Abadi"/>
              </a:rPr>
              <a:t>Paediatric point.  </a:t>
            </a:r>
            <a:r>
              <a:rPr sz="1200" b="0">
                <a:solidFill>
                  <a:srgbClr val="1A1A1A"/>
                </a:solidFill>
                <a:latin typeface="Abadi"/>
              </a:rPr>
              <a:t>Gastric-type metaplasia is the usual paediatric finding; intestinal metaplasia, the adult definition of Barrett's, appears years later.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EROSIVE OESOPHAGITIS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HOW OFTEN, AND IN WHOM</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Prevalence of erosive oesophagitis in three paediatric endoscopy settings,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4</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Gilger MA, et al. JPGN 2008;47:141–6 · El-Serag HB, et al. Am J Gastroenterol 2002;97:1635–9 · Edwards JD, et al. Ann Palliat Med 2022;11:3620–5</a:t>
            </a:r>
          </a:p>
        </p:txBody>
      </p:sp>
      <p:sp>
        <p:nvSpPr>
          <p:cNvPr id="12" name="TextBox 11"/>
          <p:cNvSpPr txBox="1"/>
          <p:nvPr/>
        </p:nvSpPr>
        <p:spPr>
          <a:xfrm>
            <a:off x="548640" y="1965960"/>
            <a:ext cx="2926080" cy="566928"/>
          </a:xfrm>
          <a:prstGeom prst="rect">
            <a:avLst/>
          </a:prstGeom>
          <a:noFill/>
        </p:spPr>
        <p:txBody>
          <a:bodyPr wrap="square" lIns="0" rIns="0" tIns="18288" bIns="18288" anchor="ctr">
            <a:spAutoFit/>
          </a:bodyPr>
          <a:lstStyle/>
          <a:p>
            <a:pPr algn="l"/>
            <a:r>
              <a:rPr sz="1050" b="0">
                <a:solidFill>
                  <a:srgbClr val="1A1A1A"/>
                </a:solidFill>
                <a:latin typeface="Abadi"/>
              </a:rPr>
              <a:t>All diagnostic EGDs, single centre (3,286)</a:t>
            </a:r>
          </a:p>
        </p:txBody>
      </p:sp>
      <p:sp>
        <p:nvSpPr>
          <p:cNvPr id="13" name="Rectangle 12"/>
          <p:cNvSpPr/>
          <p:nvPr/>
        </p:nvSpPr>
        <p:spPr>
          <a:xfrm>
            <a:off x="3566160" y="2084831"/>
            <a:ext cx="144018"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83330" y="1965960"/>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1.5%</a:t>
            </a:r>
          </a:p>
        </p:txBody>
      </p:sp>
      <p:sp>
        <p:nvSpPr>
          <p:cNvPr id="15" name="TextBox 14"/>
          <p:cNvSpPr txBox="1"/>
          <p:nvPr/>
        </p:nvSpPr>
        <p:spPr>
          <a:xfrm>
            <a:off x="548640" y="2532888"/>
            <a:ext cx="2926080" cy="566928"/>
          </a:xfrm>
          <a:prstGeom prst="rect">
            <a:avLst/>
          </a:prstGeom>
          <a:noFill/>
        </p:spPr>
        <p:txBody>
          <a:bodyPr wrap="square" lIns="0" rIns="0" tIns="18288" bIns="18288" anchor="ctr">
            <a:spAutoFit/>
          </a:bodyPr>
          <a:lstStyle/>
          <a:p>
            <a:pPr algn="l"/>
            <a:r>
              <a:rPr sz="1050" b="0">
                <a:solidFill>
                  <a:srgbClr val="1A1A1A"/>
                </a:solidFill>
                <a:latin typeface="Abadi"/>
              </a:rPr>
              <a:t>Paediatric EGD database (≈ 7,200)</a:t>
            </a:r>
          </a:p>
        </p:txBody>
      </p:sp>
      <p:sp>
        <p:nvSpPr>
          <p:cNvPr id="16" name="Rectangle 15"/>
          <p:cNvSpPr/>
          <p:nvPr/>
        </p:nvSpPr>
        <p:spPr>
          <a:xfrm>
            <a:off x="3566160" y="2651760"/>
            <a:ext cx="1190548"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29860" y="2532888"/>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12.4%</a:t>
            </a:r>
          </a:p>
        </p:txBody>
      </p:sp>
      <p:sp>
        <p:nvSpPr>
          <p:cNvPr id="18" name="TextBox 17"/>
          <p:cNvSpPr txBox="1"/>
          <p:nvPr/>
        </p:nvSpPr>
        <p:spPr>
          <a:xfrm>
            <a:off x="548640" y="3099815"/>
            <a:ext cx="2926080" cy="566928"/>
          </a:xfrm>
          <a:prstGeom prst="rect">
            <a:avLst/>
          </a:prstGeom>
          <a:noFill/>
        </p:spPr>
        <p:txBody>
          <a:bodyPr wrap="square" lIns="0" rIns="0" tIns="18288" bIns="18288" anchor="ctr">
            <a:spAutoFit/>
          </a:bodyPr>
          <a:lstStyle/>
          <a:p>
            <a:pPr algn="l"/>
            <a:r>
              <a:rPr sz="1050" b="0">
                <a:solidFill>
                  <a:srgbClr val="1A1A1A"/>
                </a:solidFill>
                <a:latin typeface="Abadi"/>
              </a:rPr>
              <a:t>Neurologically normal children with GERD (402)</a:t>
            </a:r>
          </a:p>
        </p:txBody>
      </p:sp>
      <p:sp>
        <p:nvSpPr>
          <p:cNvPr id="19" name="Rectangle 18"/>
          <p:cNvSpPr/>
          <p:nvPr/>
        </p:nvSpPr>
        <p:spPr>
          <a:xfrm>
            <a:off x="3566160" y="3218687"/>
            <a:ext cx="3322015"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61327" y="3099815"/>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34.6%</a:t>
            </a:r>
          </a:p>
        </p:txBody>
      </p:sp>
      <p:sp>
        <p:nvSpPr>
          <p:cNvPr id="21" name="TextBox 20"/>
          <p:cNvSpPr txBox="1"/>
          <p:nvPr/>
        </p:nvSpPr>
        <p:spPr>
          <a:xfrm>
            <a:off x="548640" y="3712463"/>
            <a:ext cx="7863840" cy="274320"/>
          </a:xfrm>
          <a:prstGeom prst="rect">
            <a:avLst/>
          </a:prstGeom>
          <a:noFill/>
        </p:spPr>
        <p:txBody>
          <a:bodyPr wrap="square" lIns="0" rIns="0" tIns="18288" bIns="18288" anchor="t">
            <a:spAutoFit/>
          </a:bodyPr>
          <a:lstStyle/>
          <a:p>
            <a:pPr algn="l"/>
            <a:r>
              <a:rPr sz="950" b="0">
                <a:solidFill>
                  <a:srgbClr val="7F7F7F"/>
                </a:solidFill>
                <a:latin typeface="Abadi"/>
              </a:rPr>
              <a:t>Bars: proportion with mucosal breaks at endoscopy.</a:t>
            </a:r>
          </a:p>
        </p:txBody>
      </p:sp>
      <p:sp>
        <p:nvSpPr>
          <p:cNvPr id="22" name="TextBox 21"/>
          <p:cNvSpPr txBox="1"/>
          <p:nvPr/>
        </p:nvSpPr>
        <p:spPr>
          <a:xfrm>
            <a:off x="548640" y="4069080"/>
            <a:ext cx="7955279" cy="173736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Read it as.  </a:t>
            </a:r>
            <a:r>
              <a:rPr sz="1200" b="0">
                <a:solidFill>
                  <a:srgbClr val="1A1A1A"/>
                </a:solidFill>
                <a:latin typeface="Abadi"/>
              </a:rPr>
              <a:t>The yield depends on who is scoped: a third of selected children with reflux symptoms, one in eight of all paediatric endoscopies in a large database, very few in an unselected series.</a:t>
            </a:r>
          </a:p>
          <a:p>
            <a:pPr algn="l">
              <a:spcAft>
                <a:spcPts val="600"/>
              </a:spcAft>
            </a:pPr>
            <a:r>
              <a:rPr sz="1200" b="1">
                <a:solidFill>
                  <a:srgbClr val="1B355E"/>
                </a:solidFill>
                <a:latin typeface="Abadi"/>
              </a:rPr>
              <a:t>In the 3,286 series.  </a:t>
            </a:r>
            <a:r>
              <a:rPr sz="1200" b="0">
                <a:solidFill>
                  <a:srgbClr val="1A1A1A"/>
                </a:solidFill>
                <a:latin typeface="Abadi"/>
              </a:rPr>
              <a:t>Of 47 children with erosive disease, 55% were neurologically impaired.</a:t>
            </a:r>
          </a:p>
        </p:txBody>
      </p:sp>
      <p:sp>
        <p:nvSpPr>
          <p:cNvPr id="23" name="TextBox 22"/>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Barrett's, healthy</a:t>
            </a:r>
          </a:p>
          <a:p>
            <a:pPr algn="l">
              <a:spcAft>
                <a:spcPts val="400"/>
              </a:spcAft>
            </a:pPr>
            <a:r>
              <a:rPr sz="1050" b="0">
                <a:solidFill>
                  <a:srgbClr val="555555"/>
                </a:solidFill>
                <a:latin typeface="Abadi"/>
              </a:rPr>
              <a:t>El-Serag 2002: suspected in 11 of 402 (2.7%), intestinal metaplasia in none.</a:t>
            </a:r>
          </a:p>
          <a:p>
            <a:pPr algn="l">
              <a:spcAft>
                <a:spcPts val="400"/>
              </a:spcAft>
            </a:pPr>
            <a:r>
              <a:rPr sz="1500" b="1">
                <a:solidFill>
                  <a:srgbClr val="1B355E"/>
                </a:solidFill>
                <a:latin typeface="Abadi"/>
              </a:rPr>
              <a:t>Nguyen 2011</a:t>
            </a:r>
          </a:p>
          <a:p>
            <a:pPr algn="l">
              <a:spcAft>
                <a:spcPts val="400"/>
              </a:spcAft>
            </a:pPr>
            <a:r>
              <a:rPr sz="1050" b="0">
                <a:solidFill>
                  <a:srgbClr val="555555"/>
                </a:solidFill>
                <a:latin typeface="Abadi"/>
              </a:rPr>
              <a:t>840 children without neurological or oesophageal anomalies: suspected 1.43%, confirmed 0.12% (one child).</a:t>
            </a:r>
          </a:p>
          <a:p>
            <a:pPr algn="l">
              <a:spcAft>
                <a:spcPts val="400"/>
              </a:spcAft>
            </a:pPr>
            <a:r>
              <a:rPr sz="1500" b="1">
                <a:solidFill>
                  <a:srgbClr val="1B355E"/>
                </a:solidFill>
                <a:latin typeface="Abadi"/>
              </a:rPr>
              <a:t>Meaning</a:t>
            </a:r>
          </a:p>
          <a:p>
            <a:pPr algn="l">
              <a:spcAft>
                <a:spcPts val="400"/>
              </a:spcAft>
            </a:pPr>
            <a:r>
              <a:rPr sz="1050" b="0">
                <a:solidFill>
                  <a:srgbClr val="555555"/>
                </a:solidFill>
                <a:latin typeface="Abadi"/>
              </a:rPr>
              <a:t>In a healthy child Barrett's is a rarity; look for a reason.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GRADING AND HEALING</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PAEDIATRIC OESOPHAGITIS IS MOSTLY SHALLOW</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Los Angeles grade at baseline in 53 children aged 1–11 with erosive oesophagitis, esomeprazole trial</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5</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Tolia V, et al. BMC Pediatr 2010;10:41 · Shaheen NJ, et al. Am J Gastroenterol 2022;117:559–87</a:t>
            </a:r>
          </a:p>
        </p:txBody>
      </p:sp>
      <p:sp>
        <p:nvSpPr>
          <p:cNvPr id="12" name="TextBox 11"/>
          <p:cNvSpPr txBox="1"/>
          <p:nvPr/>
        </p:nvSpPr>
        <p:spPr>
          <a:xfrm>
            <a:off x="731520" y="1856231"/>
            <a:ext cx="6949440" cy="228600"/>
          </a:xfrm>
          <a:prstGeom prst="rect">
            <a:avLst/>
          </a:prstGeom>
          <a:noFill/>
        </p:spPr>
        <p:txBody>
          <a:bodyPr wrap="square" lIns="0" rIns="0" tIns="18288" bIns="18288" anchor="t">
            <a:spAutoFit/>
          </a:bodyPr>
          <a:lstStyle/>
          <a:p>
            <a:pPr algn="l"/>
            <a:r>
              <a:rPr sz="950" b="0">
                <a:solidFill>
                  <a:srgbClr val="7F7F7F"/>
                </a:solidFill>
                <a:latin typeface="Abadi"/>
              </a:rPr>
              <a:t>Children per LA grade (n = 53)</a:t>
            </a:r>
          </a:p>
        </p:txBody>
      </p:sp>
      <p:sp>
        <p:nvSpPr>
          <p:cNvPr id="13" name="Rectangle 12"/>
          <p:cNvSpPr/>
          <p:nvPr/>
        </p:nvSpPr>
        <p:spPr>
          <a:xfrm>
            <a:off x="731520" y="5148072"/>
            <a:ext cx="6949440"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43000" y="2709672"/>
            <a:ext cx="914400" cy="2438400"/>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2435352"/>
            <a:ext cx="1645920" cy="256032"/>
          </a:xfrm>
          <a:prstGeom prst="rect">
            <a:avLst/>
          </a:prstGeom>
          <a:noFill/>
        </p:spPr>
        <p:txBody>
          <a:bodyPr wrap="square" lIns="0" rIns="0" tIns="18288" bIns="18288" anchor="t">
            <a:spAutoFit/>
          </a:bodyPr>
          <a:lstStyle/>
          <a:p>
            <a:pPr algn="ctr"/>
            <a:r>
              <a:rPr sz="1050" b="1">
                <a:solidFill>
                  <a:srgbClr val="1A1A1A"/>
                </a:solidFill>
                <a:latin typeface="Abadi"/>
              </a:rPr>
              <a:t>32</a:t>
            </a:r>
          </a:p>
        </p:txBody>
      </p:sp>
      <p:sp>
        <p:nvSpPr>
          <p:cNvPr id="16" name="TextBox 15"/>
          <p:cNvSpPr txBox="1"/>
          <p:nvPr/>
        </p:nvSpPr>
        <p:spPr>
          <a:xfrm>
            <a:off x="777240" y="5184648"/>
            <a:ext cx="1645919" cy="457200"/>
          </a:xfrm>
          <a:prstGeom prst="rect">
            <a:avLst/>
          </a:prstGeom>
          <a:noFill/>
        </p:spPr>
        <p:txBody>
          <a:bodyPr wrap="square" lIns="0" rIns="0" tIns="18288" bIns="18288" anchor="t">
            <a:spAutoFit/>
          </a:bodyPr>
          <a:lstStyle/>
          <a:p>
            <a:pPr algn="ctr"/>
            <a:r>
              <a:rPr sz="950" b="0">
                <a:solidFill>
                  <a:srgbClr val="555555"/>
                </a:solidFill>
                <a:latin typeface="Abadi"/>
              </a:rPr>
              <a:t>Grade A</a:t>
            </a:r>
          </a:p>
        </p:txBody>
      </p:sp>
      <p:sp>
        <p:nvSpPr>
          <p:cNvPr id="17" name="Rectangle 16"/>
          <p:cNvSpPr/>
          <p:nvPr/>
        </p:nvSpPr>
        <p:spPr>
          <a:xfrm>
            <a:off x="2880360" y="3700272"/>
            <a:ext cx="914400" cy="1447800"/>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514600" y="3425952"/>
            <a:ext cx="1645920" cy="256032"/>
          </a:xfrm>
          <a:prstGeom prst="rect">
            <a:avLst/>
          </a:prstGeom>
          <a:noFill/>
        </p:spPr>
        <p:txBody>
          <a:bodyPr wrap="square" lIns="0" rIns="0" tIns="18288" bIns="18288" anchor="t">
            <a:spAutoFit/>
          </a:bodyPr>
          <a:lstStyle/>
          <a:p>
            <a:pPr algn="ctr"/>
            <a:r>
              <a:rPr sz="1050" b="1">
                <a:solidFill>
                  <a:srgbClr val="1A1A1A"/>
                </a:solidFill>
                <a:latin typeface="Abadi"/>
              </a:rPr>
              <a:t>19</a:t>
            </a:r>
          </a:p>
        </p:txBody>
      </p:sp>
      <p:sp>
        <p:nvSpPr>
          <p:cNvPr id="19" name="TextBox 18"/>
          <p:cNvSpPr txBox="1"/>
          <p:nvPr/>
        </p:nvSpPr>
        <p:spPr>
          <a:xfrm>
            <a:off x="2514600" y="5184648"/>
            <a:ext cx="1645919" cy="457200"/>
          </a:xfrm>
          <a:prstGeom prst="rect">
            <a:avLst/>
          </a:prstGeom>
          <a:noFill/>
        </p:spPr>
        <p:txBody>
          <a:bodyPr wrap="square" lIns="0" rIns="0" tIns="18288" bIns="18288" anchor="t">
            <a:spAutoFit/>
          </a:bodyPr>
          <a:lstStyle/>
          <a:p>
            <a:pPr algn="ctr"/>
            <a:r>
              <a:rPr sz="950" b="0">
                <a:solidFill>
                  <a:srgbClr val="555555"/>
                </a:solidFill>
                <a:latin typeface="Abadi"/>
              </a:rPr>
              <a:t>Grade B</a:t>
            </a:r>
          </a:p>
        </p:txBody>
      </p:sp>
      <p:sp>
        <p:nvSpPr>
          <p:cNvPr id="20" name="Rectangle 19"/>
          <p:cNvSpPr/>
          <p:nvPr/>
        </p:nvSpPr>
        <p:spPr>
          <a:xfrm>
            <a:off x="4617720" y="5071872"/>
            <a:ext cx="914400" cy="762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51959" y="4797552"/>
            <a:ext cx="1645920" cy="256032"/>
          </a:xfrm>
          <a:prstGeom prst="rect">
            <a:avLst/>
          </a:prstGeom>
          <a:noFill/>
        </p:spPr>
        <p:txBody>
          <a:bodyPr wrap="square" lIns="0" rIns="0" tIns="18288" bIns="18288" anchor="t">
            <a:spAutoFit/>
          </a:bodyPr>
          <a:lstStyle/>
          <a:p>
            <a:pPr algn="ctr"/>
            <a:r>
              <a:rPr sz="1050" b="1">
                <a:solidFill>
                  <a:srgbClr val="1A1A1A"/>
                </a:solidFill>
                <a:latin typeface="Abadi"/>
              </a:rPr>
              <a:t>1</a:t>
            </a:r>
          </a:p>
        </p:txBody>
      </p:sp>
      <p:sp>
        <p:nvSpPr>
          <p:cNvPr id="22" name="TextBox 21"/>
          <p:cNvSpPr txBox="1"/>
          <p:nvPr/>
        </p:nvSpPr>
        <p:spPr>
          <a:xfrm>
            <a:off x="4251959" y="5184648"/>
            <a:ext cx="1645919" cy="457200"/>
          </a:xfrm>
          <a:prstGeom prst="rect">
            <a:avLst/>
          </a:prstGeom>
          <a:noFill/>
        </p:spPr>
        <p:txBody>
          <a:bodyPr wrap="square" lIns="0" rIns="0" tIns="18288" bIns="18288" anchor="t">
            <a:spAutoFit/>
          </a:bodyPr>
          <a:lstStyle/>
          <a:p>
            <a:pPr algn="ctr"/>
            <a:r>
              <a:rPr sz="950" b="0">
                <a:solidFill>
                  <a:srgbClr val="555555"/>
                </a:solidFill>
                <a:latin typeface="Abadi"/>
              </a:rPr>
              <a:t>Grade C</a:t>
            </a:r>
          </a:p>
        </p:txBody>
      </p:sp>
      <p:sp>
        <p:nvSpPr>
          <p:cNvPr id="23" name="Rectangle 22"/>
          <p:cNvSpPr/>
          <p:nvPr/>
        </p:nvSpPr>
        <p:spPr>
          <a:xfrm>
            <a:off x="6355079" y="5071872"/>
            <a:ext cx="914400" cy="76200"/>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89319" y="4797552"/>
            <a:ext cx="1645920" cy="256032"/>
          </a:xfrm>
          <a:prstGeom prst="rect">
            <a:avLst/>
          </a:prstGeom>
          <a:noFill/>
        </p:spPr>
        <p:txBody>
          <a:bodyPr wrap="square" lIns="0" rIns="0" tIns="18288" bIns="18288" anchor="t">
            <a:spAutoFit/>
          </a:bodyPr>
          <a:lstStyle/>
          <a:p>
            <a:pPr algn="ctr"/>
            <a:r>
              <a:rPr sz="1050" b="1">
                <a:solidFill>
                  <a:srgbClr val="1A1A1A"/>
                </a:solidFill>
                <a:latin typeface="Abadi"/>
              </a:rPr>
              <a:t>1</a:t>
            </a:r>
          </a:p>
        </p:txBody>
      </p:sp>
      <p:sp>
        <p:nvSpPr>
          <p:cNvPr id="25" name="TextBox 24"/>
          <p:cNvSpPr txBox="1"/>
          <p:nvPr/>
        </p:nvSpPr>
        <p:spPr>
          <a:xfrm>
            <a:off x="5989319" y="5184648"/>
            <a:ext cx="1645919" cy="457200"/>
          </a:xfrm>
          <a:prstGeom prst="rect">
            <a:avLst/>
          </a:prstGeom>
          <a:noFill/>
        </p:spPr>
        <p:txBody>
          <a:bodyPr wrap="square" lIns="0" rIns="0" tIns="18288" bIns="18288" anchor="t">
            <a:spAutoFit/>
          </a:bodyPr>
          <a:lstStyle/>
          <a:p>
            <a:pPr algn="ctr"/>
            <a:r>
              <a:rPr sz="950" b="0">
                <a:solidFill>
                  <a:srgbClr val="555555"/>
                </a:solidFill>
                <a:latin typeface="Abadi"/>
              </a:rPr>
              <a:t>Grade D</a:t>
            </a:r>
          </a:p>
        </p:txBody>
      </p:sp>
      <p:sp>
        <p:nvSpPr>
          <p:cNvPr id="26" name="TextBox 25"/>
          <p:cNvSpPr txBox="1"/>
          <p:nvPr/>
        </p:nvSpPr>
        <p:spPr>
          <a:xfrm>
            <a:off x="8138160" y="1783080"/>
            <a:ext cx="347472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89% healed</a:t>
            </a:r>
          </a:p>
          <a:p>
            <a:pPr algn="l">
              <a:spcAft>
                <a:spcPts val="400"/>
              </a:spcAft>
            </a:pPr>
            <a:r>
              <a:rPr sz="1050" b="0">
                <a:solidFill>
                  <a:srgbClr val="555555"/>
                </a:solidFill>
                <a:latin typeface="Abadi"/>
              </a:rPr>
              <a:t>40 of 45 re-scoped children healed after 8 weeks of once-daily esomeprazole, similar across doses of 0.2–1.0 mg/kg.</a:t>
            </a:r>
          </a:p>
          <a:p>
            <a:pPr algn="l">
              <a:spcAft>
                <a:spcPts val="400"/>
              </a:spcAft>
            </a:pPr>
            <a:r>
              <a:rPr sz="1500" b="1">
                <a:solidFill>
                  <a:srgbClr val="1B355E"/>
                </a:solidFill>
                <a:latin typeface="Abadi"/>
              </a:rPr>
              <a:t>Severe is rare</a:t>
            </a:r>
          </a:p>
          <a:p>
            <a:pPr algn="l">
              <a:spcAft>
                <a:spcPts val="400"/>
              </a:spcAft>
            </a:pPr>
            <a:r>
              <a:rPr sz="1050" b="0">
                <a:solidFill>
                  <a:srgbClr val="555555"/>
                </a:solidFill>
                <a:latin typeface="Abadi"/>
              </a:rPr>
              <a:t>Grades C and D: 2 of 53. A child with C or D needs a reason: hernia, atresia, neurological impairment.</a:t>
            </a:r>
          </a:p>
          <a:p>
            <a:pPr algn="l">
              <a:spcAft>
                <a:spcPts val="400"/>
              </a:spcAft>
            </a:pPr>
            <a:r>
              <a:rPr sz="1500" b="1">
                <a:solidFill>
                  <a:srgbClr val="1B355E"/>
                </a:solidFill>
                <a:latin typeface="Abadi"/>
              </a:rPr>
              <a:t>Adult rule</a:t>
            </a:r>
          </a:p>
          <a:p>
            <a:pPr algn="l">
              <a:spcAft>
                <a:spcPts val="400"/>
              </a:spcAft>
            </a:pPr>
            <a:r>
              <a:rPr sz="1050" b="0">
                <a:solidFill>
                  <a:srgbClr val="555555"/>
                </a:solidFill>
                <a:latin typeface="Abadi"/>
              </a:rPr>
              <a:t>ACG 2022: re-scope 8–12 weeks after PPI to see underlying Barrett's; found in 17.4% after grade C/D vs 9.4% after A/B.</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THE NEUROLOGICALLY IMPAIRED CHILD</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SILENT UNTIL IT BLEEDS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Erosive oesophagitis in 26 neurologically impaired vs 21 other children, single-centre series,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6</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Edwards JD, et al. Clinical presentations of erosive esophagitis found at endoscopy in neurologically impaired children. Ann Palliat Med 2022;11:3620–5</a:t>
            </a:r>
          </a:p>
        </p:txBody>
      </p:sp>
      <p:sp>
        <p:nvSpPr>
          <p:cNvPr id="12" name="TextBox 11"/>
          <p:cNvSpPr txBox="1"/>
          <p:nvPr/>
        </p:nvSpPr>
        <p:spPr>
          <a:xfrm>
            <a:off x="548640" y="1828800"/>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Haematemesis prompted EGD</a:t>
            </a:r>
          </a:p>
        </p:txBody>
      </p:sp>
      <p:sp>
        <p:nvSpPr>
          <p:cNvPr id="13" name="Rectangle 12"/>
          <p:cNvSpPr/>
          <p:nvPr/>
        </p:nvSpPr>
        <p:spPr>
          <a:xfrm>
            <a:off x="3566160" y="1865376"/>
            <a:ext cx="2332268" cy="24688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53292" y="1828800"/>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NI 65.4%</a:t>
            </a:r>
          </a:p>
        </p:txBody>
      </p:sp>
      <p:sp>
        <p:nvSpPr>
          <p:cNvPr id="15" name="Rectangle 14"/>
          <p:cNvSpPr/>
          <p:nvPr/>
        </p:nvSpPr>
        <p:spPr>
          <a:xfrm>
            <a:off x="3566160" y="2167128"/>
            <a:ext cx="848746" cy="2468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9770" y="2130552"/>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other 23.8%</a:t>
            </a:r>
          </a:p>
        </p:txBody>
      </p:sp>
      <p:sp>
        <p:nvSpPr>
          <p:cNvPr id="17" name="TextBox 16"/>
          <p:cNvSpPr txBox="1"/>
          <p:nvPr/>
        </p:nvSpPr>
        <p:spPr>
          <a:xfrm>
            <a:off x="548640" y="2487168"/>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Any blood loss</a:t>
            </a:r>
          </a:p>
        </p:txBody>
      </p:sp>
      <p:sp>
        <p:nvSpPr>
          <p:cNvPr id="18" name="Rectangle 17"/>
          <p:cNvSpPr/>
          <p:nvPr/>
        </p:nvSpPr>
        <p:spPr>
          <a:xfrm>
            <a:off x="3566160" y="2523744"/>
            <a:ext cx="3016971" cy="24688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7995" y="2487168"/>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NI 84.6%</a:t>
            </a:r>
          </a:p>
        </p:txBody>
      </p:sp>
      <p:sp>
        <p:nvSpPr>
          <p:cNvPr id="20" name="Rectangle 19"/>
          <p:cNvSpPr/>
          <p:nvPr/>
        </p:nvSpPr>
        <p:spPr>
          <a:xfrm>
            <a:off x="3566160" y="2825496"/>
            <a:ext cx="1019921" cy="2468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40945" y="2788920"/>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other 28.6%</a:t>
            </a:r>
          </a:p>
        </p:txBody>
      </p:sp>
      <p:sp>
        <p:nvSpPr>
          <p:cNvPr id="22" name="TextBox 21"/>
          <p:cNvSpPr txBox="1"/>
          <p:nvPr/>
        </p:nvSpPr>
        <p:spPr>
          <a:xfrm>
            <a:off x="548640" y="3145536"/>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Severe (Hetzel–Dent 3–4)</a:t>
            </a:r>
          </a:p>
        </p:txBody>
      </p:sp>
      <p:sp>
        <p:nvSpPr>
          <p:cNvPr id="23" name="Rectangle 22"/>
          <p:cNvSpPr/>
          <p:nvPr/>
        </p:nvSpPr>
        <p:spPr>
          <a:xfrm>
            <a:off x="3566160" y="3182112"/>
            <a:ext cx="2817266" cy="24688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38290" y="3145536"/>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NI 79%</a:t>
            </a:r>
          </a:p>
        </p:txBody>
      </p:sp>
      <p:sp>
        <p:nvSpPr>
          <p:cNvPr id="25" name="Rectangle 24"/>
          <p:cNvSpPr/>
          <p:nvPr/>
        </p:nvSpPr>
        <p:spPr>
          <a:xfrm>
            <a:off x="3566160" y="3483864"/>
            <a:ext cx="2104034" cy="2468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725058" y="3447288"/>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other 59%</a:t>
            </a:r>
          </a:p>
        </p:txBody>
      </p:sp>
      <p:sp>
        <p:nvSpPr>
          <p:cNvPr id="27" name="TextBox 26"/>
          <p:cNvSpPr txBox="1"/>
          <p:nvPr/>
        </p:nvSpPr>
        <p:spPr>
          <a:xfrm>
            <a:off x="548640" y="3803904"/>
            <a:ext cx="2926080" cy="603504"/>
          </a:xfrm>
          <a:prstGeom prst="rect">
            <a:avLst/>
          </a:prstGeom>
          <a:noFill/>
        </p:spPr>
        <p:txBody>
          <a:bodyPr wrap="square" lIns="0" rIns="0" tIns="18288" bIns="18288" anchor="ctr">
            <a:spAutoFit/>
          </a:bodyPr>
          <a:lstStyle/>
          <a:p>
            <a:pPr algn="l"/>
            <a:r>
              <a:rPr sz="1000" b="0">
                <a:solidFill>
                  <a:srgbClr val="1A1A1A"/>
                </a:solidFill>
                <a:latin typeface="Abadi"/>
              </a:rPr>
              <a:t>Fundoplication afterwards</a:t>
            </a:r>
          </a:p>
        </p:txBody>
      </p:sp>
      <p:sp>
        <p:nvSpPr>
          <p:cNvPr id="28" name="Rectangle 27"/>
          <p:cNvSpPr/>
          <p:nvPr/>
        </p:nvSpPr>
        <p:spPr>
          <a:xfrm>
            <a:off x="3566160" y="3840480"/>
            <a:ext cx="1508485" cy="246888"/>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129509" y="3803904"/>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NI 42.3%</a:t>
            </a:r>
          </a:p>
        </p:txBody>
      </p:sp>
      <p:sp>
        <p:nvSpPr>
          <p:cNvPr id="30" name="Rectangle 29"/>
          <p:cNvSpPr/>
          <p:nvPr/>
        </p:nvSpPr>
        <p:spPr>
          <a:xfrm>
            <a:off x="3566160" y="4142232"/>
            <a:ext cx="171175" cy="246888"/>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92199" y="4105656"/>
            <a:ext cx="2103120" cy="301752"/>
          </a:xfrm>
          <a:prstGeom prst="rect">
            <a:avLst/>
          </a:prstGeom>
          <a:noFill/>
        </p:spPr>
        <p:txBody>
          <a:bodyPr wrap="square" lIns="0" rIns="0" tIns="18288" bIns="18288" anchor="ctr">
            <a:spAutoFit/>
          </a:bodyPr>
          <a:lstStyle/>
          <a:p>
            <a:pPr algn="l"/>
            <a:r>
              <a:rPr sz="1000" b="0">
                <a:solidFill>
                  <a:srgbClr val="1A1A1A"/>
                </a:solidFill>
                <a:latin typeface="Abadi"/>
              </a:rPr>
              <a:t>other 4.8%</a:t>
            </a:r>
          </a:p>
        </p:txBody>
      </p:sp>
      <p:sp>
        <p:nvSpPr>
          <p:cNvPr id="32" name="TextBox 31"/>
          <p:cNvSpPr txBox="1"/>
          <p:nvPr/>
        </p:nvSpPr>
        <p:spPr>
          <a:xfrm>
            <a:off x="548640" y="4572000"/>
            <a:ext cx="7955279" cy="123444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Read it as.  </a:t>
            </a:r>
            <a:r>
              <a:rPr sz="1200" b="0">
                <a:solidFill>
                  <a:srgbClr val="1A1A1A"/>
                </a:solidFill>
                <a:latin typeface="Abadi"/>
              </a:rPr>
              <a:t>Children who cannot report pain present with blood, anaemia, food refusal or behaviour change. No neurologically impaired child presented with abdominal pain.</a:t>
            </a:r>
          </a:p>
        </p:txBody>
      </p:sp>
      <p:sp>
        <p:nvSpPr>
          <p:cNvPr id="33" name="TextBox 32"/>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Stool test</a:t>
            </a:r>
          </a:p>
          <a:p>
            <a:pPr algn="l">
              <a:spcAft>
                <a:spcPts val="400"/>
              </a:spcAft>
            </a:pPr>
            <a:r>
              <a:rPr sz="1050" b="0">
                <a:solidFill>
                  <a:srgbClr val="555555"/>
                </a:solidFill>
                <a:latin typeface="Abadi"/>
              </a:rPr>
              <a:t>Faecal occult blood positive in 91.7% of impaired children with oesophagitis vs 33.3% of others.</a:t>
            </a:r>
          </a:p>
          <a:p>
            <a:pPr algn="l">
              <a:spcAft>
                <a:spcPts val="400"/>
              </a:spcAft>
            </a:pPr>
            <a:r>
              <a:rPr sz="1500" b="1">
                <a:solidFill>
                  <a:srgbClr val="1B355E"/>
                </a:solidFill>
                <a:latin typeface="Abadi"/>
              </a:rPr>
              <a:t>Who</a:t>
            </a:r>
          </a:p>
          <a:p>
            <a:pPr algn="l">
              <a:spcAft>
                <a:spcPts val="400"/>
              </a:spcAft>
            </a:pPr>
            <a:r>
              <a:rPr sz="1050" b="0">
                <a:solidFill>
                  <a:srgbClr val="555555"/>
                </a:solidFill>
                <a:latin typeface="Abadi"/>
              </a:rPr>
              <a:t>Cerebral palsy 69%; reflux documented in 77%.</a:t>
            </a:r>
          </a:p>
          <a:p>
            <a:pPr algn="l">
              <a:spcAft>
                <a:spcPts val="400"/>
              </a:spcAft>
            </a:pPr>
            <a:r>
              <a:rPr sz="1500" b="1">
                <a:solidFill>
                  <a:srgbClr val="1B355E"/>
                </a:solidFill>
                <a:latin typeface="Abadi"/>
              </a:rPr>
              <a:t>Caveat</a:t>
            </a:r>
          </a:p>
          <a:p>
            <a:pPr algn="l">
              <a:spcAft>
                <a:spcPts val="400"/>
              </a:spcAft>
            </a:pPr>
            <a:r>
              <a:rPr sz="1050" b="0">
                <a:solidFill>
                  <a:srgbClr val="555555"/>
                </a:solidFill>
                <a:latin typeface="Abadi"/>
              </a:rPr>
              <a:t>Small retrospective series; a signal, not a rate.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STRICTURES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THREE STRICTURES, THREE BIOLOGIES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Location and shape point to the cause; biopsy decides it</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7</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Krishnan 2016 · Amil-Dias 2024 · Vergouwe FWT, et al. Arch Dis Child 2019;104:152–7 · Rosen 2018</a:t>
            </a:r>
          </a:p>
        </p:txBody>
      </p:sp>
      <p:sp>
        <p:nvSpPr>
          <p:cNvPr id="12" name="Rectangle 11"/>
          <p:cNvSpPr/>
          <p:nvPr/>
        </p:nvSpPr>
        <p:spPr>
          <a:xfrm>
            <a:off x="548640" y="1773936"/>
            <a:ext cx="2633472" cy="228600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502920"/>
          </a:xfrm>
          <a:prstGeom prst="rect">
            <a:avLst/>
          </a:prstGeom>
          <a:noFill/>
        </p:spPr>
        <p:txBody>
          <a:bodyPr wrap="square" lIns="0" rIns="0" tIns="18288" bIns="18288" anchor="t">
            <a:spAutoFit/>
          </a:bodyPr>
          <a:lstStyle/>
          <a:p>
            <a:pPr algn="l"/>
            <a:r>
              <a:rPr sz="1500" b="1">
                <a:solidFill>
                  <a:srgbClr val="B22222"/>
                </a:solidFill>
                <a:latin typeface="Abadi"/>
              </a:rPr>
              <a:t>Peptic</a:t>
            </a:r>
          </a:p>
        </p:txBody>
      </p:sp>
      <p:sp>
        <p:nvSpPr>
          <p:cNvPr id="15" name="TextBox 14"/>
          <p:cNvSpPr txBox="1"/>
          <p:nvPr/>
        </p:nvSpPr>
        <p:spPr>
          <a:xfrm>
            <a:off x="694944" y="2505456"/>
            <a:ext cx="2340864" cy="14630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Distal, short, at the junction</a:t>
            </a:r>
          </a:p>
          <a:p>
            <a:pPr algn="l">
              <a:spcAft>
                <a:spcPts val="300"/>
              </a:spcAft>
            </a:pPr>
            <a:r>
              <a:rPr sz="1150" b="0">
                <a:solidFill>
                  <a:srgbClr val="1A1A1A"/>
                </a:solidFill>
                <a:latin typeface="Abadi"/>
              </a:rPr>
              <a:t>▪  Erosive oesophagitis above</a:t>
            </a:r>
          </a:p>
          <a:p>
            <a:pPr algn="l">
              <a:spcAft>
                <a:spcPts val="300"/>
              </a:spcAft>
            </a:pPr>
            <a:r>
              <a:rPr sz="1150" b="0">
                <a:solidFill>
                  <a:srgbClr val="1A1A1A"/>
                </a:solidFill>
                <a:latin typeface="Abadi"/>
              </a:rPr>
              <a:t>▪  Hernia, NI child, atresia</a:t>
            </a:r>
          </a:p>
        </p:txBody>
      </p:sp>
      <p:sp>
        <p:nvSpPr>
          <p:cNvPr id="16" name="Rectangle 15"/>
          <p:cNvSpPr/>
          <p:nvPr/>
        </p:nvSpPr>
        <p:spPr>
          <a:xfrm>
            <a:off x="3364992" y="1773936"/>
            <a:ext cx="2633472" cy="22860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502920"/>
          </a:xfrm>
          <a:prstGeom prst="rect">
            <a:avLst/>
          </a:prstGeom>
          <a:noFill/>
        </p:spPr>
        <p:txBody>
          <a:bodyPr wrap="square" lIns="0" rIns="0" tIns="18288" bIns="18288" anchor="t">
            <a:spAutoFit/>
          </a:bodyPr>
          <a:lstStyle/>
          <a:p>
            <a:pPr algn="l"/>
            <a:r>
              <a:rPr sz="1500" b="1">
                <a:solidFill>
                  <a:srgbClr val="D97A0B"/>
                </a:solidFill>
                <a:latin typeface="Abadi"/>
              </a:rPr>
              <a:t>Anastomotic</a:t>
            </a:r>
          </a:p>
        </p:txBody>
      </p:sp>
      <p:sp>
        <p:nvSpPr>
          <p:cNvPr id="19" name="TextBox 18"/>
          <p:cNvSpPr txBox="1"/>
          <p:nvPr/>
        </p:nvSpPr>
        <p:spPr>
          <a:xfrm>
            <a:off x="3511296" y="2505456"/>
            <a:ext cx="2340864" cy="14630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Mid-oesophagus, at the repair</a:t>
            </a:r>
          </a:p>
          <a:p>
            <a:pPr algn="l">
              <a:spcAft>
                <a:spcPts val="300"/>
              </a:spcAft>
            </a:pPr>
            <a:r>
              <a:rPr sz="1150" b="0">
                <a:solidFill>
                  <a:srgbClr val="1A1A1A"/>
                </a:solidFill>
                <a:latin typeface="Abadi"/>
              </a:rPr>
              <a:t>▪  Up to 60% after atresia</a:t>
            </a:r>
          </a:p>
          <a:p>
            <a:pPr algn="l">
              <a:spcAft>
                <a:spcPts val="300"/>
              </a:spcAft>
            </a:pPr>
            <a:r>
              <a:rPr sz="1150" b="0">
                <a:solidFill>
                  <a:srgbClr val="1A1A1A"/>
                </a:solidFill>
                <a:latin typeface="Abadi"/>
              </a:rPr>
              <a:t>▪  Leak and tension raise risk</a:t>
            </a:r>
          </a:p>
        </p:txBody>
      </p:sp>
      <p:sp>
        <p:nvSpPr>
          <p:cNvPr id="20" name="Rectangle 19"/>
          <p:cNvSpPr/>
          <p:nvPr/>
        </p:nvSpPr>
        <p:spPr>
          <a:xfrm>
            <a:off x="6181344" y="1773936"/>
            <a:ext cx="2633472" cy="22860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502920"/>
          </a:xfrm>
          <a:prstGeom prst="rect">
            <a:avLst/>
          </a:prstGeom>
          <a:noFill/>
        </p:spPr>
        <p:txBody>
          <a:bodyPr wrap="square" lIns="0" rIns="0" tIns="18288" bIns="18288" anchor="t">
            <a:spAutoFit/>
          </a:bodyPr>
          <a:lstStyle/>
          <a:p>
            <a:pPr algn="l"/>
            <a:r>
              <a:rPr sz="1500" b="1">
                <a:solidFill>
                  <a:srgbClr val="1E7A33"/>
                </a:solidFill>
                <a:latin typeface="Abadi"/>
              </a:rPr>
              <a:t>Eosinophilic</a:t>
            </a:r>
          </a:p>
        </p:txBody>
      </p:sp>
      <p:sp>
        <p:nvSpPr>
          <p:cNvPr id="23" name="TextBox 22"/>
          <p:cNvSpPr txBox="1"/>
          <p:nvPr/>
        </p:nvSpPr>
        <p:spPr>
          <a:xfrm>
            <a:off x="6327648" y="2505456"/>
            <a:ext cx="2340864" cy="14630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Long, narrow calibre, rings</a:t>
            </a:r>
          </a:p>
          <a:p>
            <a:pPr algn="l">
              <a:spcAft>
                <a:spcPts val="300"/>
              </a:spcAft>
            </a:pPr>
            <a:r>
              <a:rPr sz="1150" b="0">
                <a:solidFill>
                  <a:srgbClr val="1A1A1A"/>
                </a:solidFill>
                <a:latin typeface="Abadi"/>
              </a:rPr>
              <a:t>▪  Furrows, exudates</a:t>
            </a:r>
          </a:p>
          <a:p>
            <a:pPr algn="l">
              <a:spcAft>
                <a:spcPts val="300"/>
              </a:spcAft>
            </a:pPr>
            <a:r>
              <a:rPr sz="1150" b="0">
                <a:solidFill>
                  <a:srgbClr val="1A1A1A"/>
                </a:solidFill>
                <a:latin typeface="Abadi"/>
              </a:rPr>
              <a:t>▪  Food impaction in adolescents</a:t>
            </a:r>
          </a:p>
        </p:txBody>
      </p:sp>
      <p:sp>
        <p:nvSpPr>
          <p:cNvPr id="24" name="Rectangle 23"/>
          <p:cNvSpPr/>
          <p:nvPr/>
        </p:nvSpPr>
        <p:spPr>
          <a:xfrm>
            <a:off x="8997696" y="1773936"/>
            <a:ext cx="2633472" cy="228600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502920"/>
          </a:xfrm>
          <a:prstGeom prst="rect">
            <a:avLst/>
          </a:prstGeom>
          <a:noFill/>
        </p:spPr>
        <p:txBody>
          <a:bodyPr wrap="square" lIns="0" rIns="0" tIns="18288" bIns="18288" anchor="t">
            <a:spAutoFit/>
          </a:bodyPr>
          <a:lstStyle/>
          <a:p>
            <a:pPr algn="l"/>
            <a:r>
              <a:rPr sz="1500" b="1">
                <a:solidFill>
                  <a:srgbClr val="8A939B"/>
                </a:solidFill>
                <a:latin typeface="Abadi"/>
              </a:rPr>
              <a:t>Others</a:t>
            </a:r>
          </a:p>
        </p:txBody>
      </p:sp>
      <p:sp>
        <p:nvSpPr>
          <p:cNvPr id="27" name="TextBox 26"/>
          <p:cNvSpPr txBox="1"/>
          <p:nvPr/>
        </p:nvSpPr>
        <p:spPr>
          <a:xfrm>
            <a:off x="9144000" y="2505456"/>
            <a:ext cx="2340864" cy="146304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Caustic ingestion</a:t>
            </a:r>
          </a:p>
          <a:p>
            <a:pPr algn="l">
              <a:spcAft>
                <a:spcPts val="300"/>
              </a:spcAft>
            </a:pPr>
            <a:r>
              <a:rPr sz="1150" b="0">
                <a:solidFill>
                  <a:srgbClr val="1A1A1A"/>
                </a:solidFill>
                <a:latin typeface="Abadi"/>
              </a:rPr>
              <a:t>▪  Epidermolysis bullosa</a:t>
            </a:r>
          </a:p>
          <a:p>
            <a:pPr algn="l">
              <a:spcAft>
                <a:spcPts val="300"/>
              </a:spcAft>
            </a:pPr>
            <a:r>
              <a:rPr sz="1150" b="0">
                <a:solidFill>
                  <a:srgbClr val="1A1A1A"/>
                </a:solidFill>
                <a:latin typeface="Abadi"/>
              </a:rPr>
              <a:t>▪  Pill, radiation, surgery</a:t>
            </a:r>
          </a:p>
        </p:txBody>
      </p:sp>
      <p:sp>
        <p:nvSpPr>
          <p:cNvPr id="28" name="TextBox 27"/>
          <p:cNvSpPr txBox="1"/>
          <p:nvPr/>
        </p:nvSpPr>
        <p:spPr>
          <a:xfrm>
            <a:off x="548640" y="4251960"/>
            <a:ext cx="11082528" cy="155448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Bottom line.  </a:t>
            </a:r>
            <a:r>
              <a:rPr sz="1250" b="0">
                <a:solidFill>
                  <a:srgbClr val="1A1A1A"/>
                </a:solidFill>
                <a:latin typeface="Abadi"/>
              </a:rPr>
              <a:t>Never dilate blind to cause. Biopsy above and at the stricture: active oesophagitis needs acid suppression, eosinophils need eosinophilic treatment, and a dilation done into an untreated inflammatory stricture will be repeated.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ANASTOMOTIC STRICTURE AFTER ATRESIA</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WHO BECOMES REFRACTORY</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Risk factors for refractory stricture, 436 children with end-to-end repair, Dutch national cohort, adjusted odds ratio</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8</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Vergouwe FWT, et al. Risk factors for refractory anastomotic strictures after oesophageal atresia repair: a multicentre study. Arch Dis Child 2019;104:152–7</a:t>
            </a:r>
          </a:p>
        </p:txBody>
      </p:sp>
      <p:sp>
        <p:nvSpPr>
          <p:cNvPr id="12" name="TextBox 11"/>
          <p:cNvSpPr txBox="1"/>
          <p:nvPr/>
        </p:nvSpPr>
        <p:spPr>
          <a:xfrm>
            <a:off x="548640" y="1965960"/>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Dilation within 28 days of repair</a:t>
            </a:r>
          </a:p>
        </p:txBody>
      </p:sp>
      <p:sp>
        <p:nvSpPr>
          <p:cNvPr id="13" name="Rectangle 12"/>
          <p:cNvSpPr/>
          <p:nvPr/>
        </p:nvSpPr>
        <p:spPr>
          <a:xfrm>
            <a:off x="3474720" y="2084831"/>
            <a:ext cx="3473196"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21068" y="1965960"/>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OR 15.9</a:t>
            </a:r>
          </a:p>
        </p:txBody>
      </p:sp>
      <p:sp>
        <p:nvSpPr>
          <p:cNvPr id="15" name="TextBox 14"/>
          <p:cNvSpPr txBox="1"/>
          <p:nvPr/>
        </p:nvSpPr>
        <p:spPr>
          <a:xfrm>
            <a:off x="548640" y="2532888"/>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Isolated atresia (long gap)</a:t>
            </a:r>
          </a:p>
        </p:txBody>
      </p:sp>
      <p:sp>
        <p:nvSpPr>
          <p:cNvPr id="16" name="Rectangle 15"/>
          <p:cNvSpPr/>
          <p:nvPr/>
        </p:nvSpPr>
        <p:spPr>
          <a:xfrm>
            <a:off x="3474720" y="2651760"/>
            <a:ext cx="1245108"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792980" y="2532888"/>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OR 5.7</a:t>
            </a:r>
          </a:p>
        </p:txBody>
      </p:sp>
      <p:sp>
        <p:nvSpPr>
          <p:cNvPr id="18" name="TextBox 17"/>
          <p:cNvSpPr txBox="1"/>
          <p:nvPr/>
        </p:nvSpPr>
        <p:spPr>
          <a:xfrm>
            <a:off x="548640" y="3099815"/>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Anastomotic leak (13% of repairs)</a:t>
            </a:r>
          </a:p>
        </p:txBody>
      </p:sp>
      <p:sp>
        <p:nvSpPr>
          <p:cNvPr id="19" name="Rectangle 18"/>
          <p:cNvSpPr/>
          <p:nvPr/>
        </p:nvSpPr>
        <p:spPr>
          <a:xfrm>
            <a:off x="3474720" y="3218687"/>
            <a:ext cx="1092200"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40072" y="3099815"/>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OR 5.0</a:t>
            </a:r>
          </a:p>
        </p:txBody>
      </p:sp>
      <p:sp>
        <p:nvSpPr>
          <p:cNvPr id="21" name="TextBox 20"/>
          <p:cNvSpPr txBox="1"/>
          <p:nvPr/>
        </p:nvSpPr>
        <p:spPr>
          <a:xfrm>
            <a:off x="548640" y="3712463"/>
            <a:ext cx="7863840" cy="274320"/>
          </a:xfrm>
          <a:prstGeom prst="rect">
            <a:avLst/>
          </a:prstGeom>
          <a:noFill/>
        </p:spPr>
        <p:txBody>
          <a:bodyPr wrap="square" lIns="0" rIns="0" tIns="18288" bIns="18288" anchor="t">
            <a:spAutoFit/>
          </a:bodyPr>
          <a:lstStyle/>
          <a:p>
            <a:pPr algn="l"/>
            <a:r>
              <a:rPr sz="950" b="0">
                <a:solidFill>
                  <a:srgbClr val="7F7F7F"/>
                </a:solidFill>
                <a:latin typeface="Abadi"/>
              </a:rPr>
              <a:t>Bars: multivariable odds ratio for refractory stricture.</a:t>
            </a:r>
          </a:p>
        </p:txBody>
      </p:sp>
      <p:sp>
        <p:nvSpPr>
          <p:cNvPr id="22" name="TextBox 21"/>
          <p:cNvSpPr txBox="1"/>
          <p:nvPr/>
        </p:nvSpPr>
        <p:spPr>
          <a:xfrm>
            <a:off x="548640" y="3931920"/>
            <a:ext cx="7955279" cy="1874519"/>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Read it as.  </a:t>
            </a:r>
            <a:r>
              <a:rPr sz="1200" b="0">
                <a:solidFill>
                  <a:srgbClr val="1A1A1A"/>
                </a:solidFill>
                <a:latin typeface="Abadi"/>
              </a:rPr>
              <a:t>58% developed a stricture (median 3 dilations); 7% became refractory (median 10, up to 34). An early stricture, a tense long-gap anastomosis and a leak predict the hard cases.</a:t>
            </a:r>
          </a:p>
          <a:p>
            <a:pPr algn="l">
              <a:spcAft>
                <a:spcPts val="600"/>
              </a:spcAft>
            </a:pPr>
            <a:r>
              <a:rPr sz="1200" b="1">
                <a:solidFill>
                  <a:srgbClr val="1B355E"/>
                </a:solidFill>
                <a:latin typeface="Abadi"/>
              </a:rPr>
              <a:t>Definition.  </a:t>
            </a:r>
            <a:r>
              <a:rPr sz="1200" b="0">
                <a:solidFill>
                  <a:srgbClr val="1A1A1A"/>
                </a:solidFill>
                <a:latin typeface="Abadi"/>
              </a:rPr>
              <a:t>Refractory (ESPGHAN): dysphagia from a narrowing without inflammation after at least five dilations at intervals of four weeks or less.</a:t>
            </a:r>
          </a:p>
        </p:txBody>
      </p:sp>
      <p:sp>
        <p:nvSpPr>
          <p:cNvPr id="23" name="TextBox 22"/>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PPI prophylaxis</a:t>
            </a:r>
          </a:p>
          <a:p>
            <a:pPr algn="l">
              <a:spcAft>
                <a:spcPts val="400"/>
              </a:spcAft>
            </a:pPr>
            <a:r>
              <a:rPr sz="1050" b="0">
                <a:solidFill>
                  <a:srgbClr val="555555"/>
                </a:solidFill>
                <a:latin typeface="Abadi"/>
              </a:rPr>
              <a:t>Does not prevent anastomotic stricture; treat proven reflux, not the anastomosis.</a:t>
            </a:r>
          </a:p>
          <a:p>
            <a:pPr algn="l">
              <a:spcAft>
                <a:spcPts val="400"/>
              </a:spcAft>
            </a:pPr>
            <a:r>
              <a:rPr sz="1500" b="1">
                <a:solidFill>
                  <a:srgbClr val="1B355E"/>
                </a:solidFill>
                <a:latin typeface="Abadi"/>
              </a:rPr>
              <a:t>STEPS-EA</a:t>
            </a:r>
          </a:p>
          <a:p>
            <a:pPr algn="l">
              <a:spcAft>
                <a:spcPts val="400"/>
              </a:spcAft>
            </a:pPr>
            <a:r>
              <a:rPr sz="1050" b="0">
                <a:solidFill>
                  <a:srgbClr val="555555"/>
                </a:solidFill>
                <a:latin typeface="Abadi"/>
              </a:rPr>
              <a:t>International RCT of intralesional steroid injection to prevent refractory strictures.</a:t>
            </a:r>
          </a:p>
          <a:p>
            <a:pPr algn="l">
              <a:spcAft>
                <a:spcPts val="400"/>
              </a:spcAft>
            </a:pPr>
            <a:r>
              <a:rPr sz="1500" b="1">
                <a:solidFill>
                  <a:srgbClr val="1B355E"/>
                </a:solidFill>
                <a:latin typeface="Abadi"/>
              </a:rPr>
              <a:t>Fundoplication</a:t>
            </a:r>
          </a:p>
          <a:p>
            <a:pPr algn="l">
              <a:spcAft>
                <a:spcPts val="400"/>
              </a:spcAft>
            </a:pPr>
            <a:r>
              <a:rPr sz="1050" b="0">
                <a:solidFill>
                  <a:srgbClr val="555555"/>
                </a:solidFill>
                <a:latin typeface="Abadi"/>
              </a:rPr>
              <a:t>Accepted for recurrent strictures with reflux uncontrolled by maximal PPI (2016 guideline).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STRICTURE MANAGEMENT</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TREAT THE CAUSE, THEN STRETCH</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A stepwise approach to the symptomatic stricture in a child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9</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Krishnan 2016 · Amil-Dias 2024 · Vergouwe 2019 · Rosen 2018</a:t>
            </a:r>
          </a:p>
        </p:txBody>
      </p:sp>
      <p:sp>
        <p:nvSpPr>
          <p:cNvPr id="12" name="Rectangle 11"/>
          <p:cNvSpPr/>
          <p:nvPr/>
        </p:nvSpPr>
        <p:spPr>
          <a:xfrm>
            <a:off x="548640" y="1773936"/>
            <a:ext cx="1982419" cy="21031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1982419"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Define</a:t>
            </a:r>
          </a:p>
        </p:txBody>
      </p:sp>
      <p:sp>
        <p:nvSpPr>
          <p:cNvPr id="15" name="TextBox 14"/>
          <p:cNvSpPr txBox="1"/>
          <p:nvPr/>
        </p:nvSpPr>
        <p:spPr>
          <a:xfrm>
            <a:off x="658368" y="2185416"/>
            <a:ext cx="1762963" cy="1645919"/>
          </a:xfrm>
          <a:prstGeom prst="rect">
            <a:avLst/>
          </a:prstGeom>
          <a:noFill/>
        </p:spPr>
        <p:txBody>
          <a:bodyPr wrap="square" lIns="0" rIns="0" tIns="18288" bIns="18288" anchor="t">
            <a:spAutoFit/>
          </a:bodyPr>
          <a:lstStyle/>
          <a:p>
            <a:pPr algn="l"/>
            <a:r>
              <a:rPr sz="1050" b="0">
                <a:solidFill>
                  <a:srgbClr val="1A1A1A"/>
                </a:solidFill>
                <a:latin typeface="Abadi"/>
              </a:rPr>
              <a:t>Contrast study for length and number; EGD with biopsies above and at the narrowing.</a:t>
            </a:r>
          </a:p>
        </p:txBody>
      </p:sp>
      <p:sp>
        <p:nvSpPr>
          <p:cNvPr id="16" name="TextBox 15"/>
          <p:cNvSpPr txBox="1"/>
          <p:nvPr/>
        </p:nvSpPr>
        <p:spPr>
          <a:xfrm>
            <a:off x="2531059" y="264261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17" name="Rectangle 16"/>
          <p:cNvSpPr/>
          <p:nvPr/>
        </p:nvSpPr>
        <p:spPr>
          <a:xfrm>
            <a:off x="2823667" y="1773936"/>
            <a:ext cx="1982419" cy="21031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823667" y="1773936"/>
            <a:ext cx="1982419"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15107"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Treat cause</a:t>
            </a:r>
          </a:p>
        </p:txBody>
      </p:sp>
      <p:sp>
        <p:nvSpPr>
          <p:cNvPr id="20" name="TextBox 19"/>
          <p:cNvSpPr txBox="1"/>
          <p:nvPr/>
        </p:nvSpPr>
        <p:spPr>
          <a:xfrm>
            <a:off x="2933395" y="2185416"/>
            <a:ext cx="1762963" cy="1645919"/>
          </a:xfrm>
          <a:prstGeom prst="rect">
            <a:avLst/>
          </a:prstGeom>
          <a:noFill/>
        </p:spPr>
        <p:txBody>
          <a:bodyPr wrap="square" lIns="0" rIns="0" tIns="18288" bIns="18288" anchor="t">
            <a:spAutoFit/>
          </a:bodyPr>
          <a:lstStyle/>
          <a:p>
            <a:pPr algn="l"/>
            <a:r>
              <a:rPr sz="1050" b="0">
                <a:solidFill>
                  <a:srgbClr val="1A1A1A"/>
                </a:solidFill>
                <a:latin typeface="Abadi"/>
              </a:rPr>
              <a:t>PPI for erosive disease; diet, PPI or topical steroid for eosinophilic disease.</a:t>
            </a:r>
          </a:p>
        </p:txBody>
      </p:sp>
      <p:sp>
        <p:nvSpPr>
          <p:cNvPr id="21" name="TextBox 20"/>
          <p:cNvSpPr txBox="1"/>
          <p:nvPr/>
        </p:nvSpPr>
        <p:spPr>
          <a:xfrm>
            <a:off x="4806086" y="264261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2" name="Rectangle 21"/>
          <p:cNvSpPr/>
          <p:nvPr/>
        </p:nvSpPr>
        <p:spPr>
          <a:xfrm>
            <a:off x="5098694" y="1773936"/>
            <a:ext cx="1982419" cy="21031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98694" y="1773936"/>
            <a:ext cx="1982419"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190134"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Dilate</a:t>
            </a:r>
          </a:p>
        </p:txBody>
      </p:sp>
      <p:sp>
        <p:nvSpPr>
          <p:cNvPr id="25" name="TextBox 24"/>
          <p:cNvSpPr txBox="1"/>
          <p:nvPr/>
        </p:nvSpPr>
        <p:spPr>
          <a:xfrm>
            <a:off x="5208422" y="2185416"/>
            <a:ext cx="1762963" cy="1645919"/>
          </a:xfrm>
          <a:prstGeom prst="rect">
            <a:avLst/>
          </a:prstGeom>
          <a:noFill/>
        </p:spPr>
        <p:txBody>
          <a:bodyPr wrap="square" lIns="0" rIns="0" tIns="18288" bIns="18288" anchor="t">
            <a:spAutoFit/>
          </a:bodyPr>
          <a:lstStyle/>
          <a:p>
            <a:pPr algn="l"/>
            <a:r>
              <a:rPr sz="1050" b="0">
                <a:solidFill>
                  <a:srgbClr val="1A1A1A"/>
                </a:solidFill>
                <a:latin typeface="Abadi"/>
              </a:rPr>
              <a:t>Balloon or bougie; small increments; only if symptomatic.</a:t>
            </a:r>
          </a:p>
        </p:txBody>
      </p:sp>
      <p:sp>
        <p:nvSpPr>
          <p:cNvPr id="26" name="TextBox 25"/>
          <p:cNvSpPr txBox="1"/>
          <p:nvPr/>
        </p:nvSpPr>
        <p:spPr>
          <a:xfrm>
            <a:off x="7081113" y="264261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7" name="Rectangle 26"/>
          <p:cNvSpPr/>
          <p:nvPr/>
        </p:nvSpPr>
        <p:spPr>
          <a:xfrm>
            <a:off x="7373721" y="1773936"/>
            <a:ext cx="1982419" cy="21031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373721" y="1773936"/>
            <a:ext cx="1982419"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65161"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If refractory</a:t>
            </a:r>
          </a:p>
        </p:txBody>
      </p:sp>
      <p:sp>
        <p:nvSpPr>
          <p:cNvPr id="30" name="TextBox 29"/>
          <p:cNvSpPr txBox="1"/>
          <p:nvPr/>
        </p:nvSpPr>
        <p:spPr>
          <a:xfrm>
            <a:off x="7483449" y="2185416"/>
            <a:ext cx="1762963" cy="1645919"/>
          </a:xfrm>
          <a:prstGeom prst="rect">
            <a:avLst/>
          </a:prstGeom>
          <a:noFill/>
        </p:spPr>
        <p:txBody>
          <a:bodyPr wrap="square" lIns="0" rIns="0" tIns="18288" bIns="18288" anchor="t">
            <a:spAutoFit/>
          </a:bodyPr>
          <a:lstStyle/>
          <a:p>
            <a:pPr algn="l"/>
            <a:r>
              <a:rPr sz="1050" b="0">
                <a:solidFill>
                  <a:srgbClr val="1A1A1A"/>
                </a:solidFill>
                <a:latin typeface="Abadi"/>
              </a:rPr>
              <a:t>Intralesional steroid, mitomycin C, stent, incision; evidence weak.</a:t>
            </a:r>
          </a:p>
        </p:txBody>
      </p:sp>
      <p:sp>
        <p:nvSpPr>
          <p:cNvPr id="31" name="TextBox 30"/>
          <p:cNvSpPr txBox="1"/>
          <p:nvPr/>
        </p:nvSpPr>
        <p:spPr>
          <a:xfrm>
            <a:off x="9356140" y="264261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32" name="Rectangle 31"/>
          <p:cNvSpPr/>
          <p:nvPr/>
        </p:nvSpPr>
        <p:spPr>
          <a:xfrm>
            <a:off x="9648748" y="1773936"/>
            <a:ext cx="1982419" cy="210312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648748" y="1773936"/>
            <a:ext cx="1982419" cy="310896"/>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40188" y="1792224"/>
            <a:ext cx="1799539" cy="274320"/>
          </a:xfrm>
          <a:prstGeom prst="rect">
            <a:avLst/>
          </a:prstGeom>
          <a:noFill/>
        </p:spPr>
        <p:txBody>
          <a:bodyPr wrap="square" lIns="0" rIns="0" tIns="18288" bIns="18288" anchor="ctr">
            <a:spAutoFit/>
          </a:bodyPr>
          <a:lstStyle/>
          <a:p>
            <a:pPr algn="l"/>
            <a:r>
              <a:rPr sz="1050" b="1">
                <a:solidFill>
                  <a:srgbClr val="FFFFFF"/>
                </a:solidFill>
                <a:latin typeface="Abadi"/>
              </a:rPr>
              <a:t>Surgery</a:t>
            </a:r>
          </a:p>
        </p:txBody>
      </p:sp>
      <p:sp>
        <p:nvSpPr>
          <p:cNvPr id="35" name="TextBox 34"/>
          <p:cNvSpPr txBox="1"/>
          <p:nvPr/>
        </p:nvSpPr>
        <p:spPr>
          <a:xfrm>
            <a:off x="9758476" y="2185416"/>
            <a:ext cx="1762963" cy="1645919"/>
          </a:xfrm>
          <a:prstGeom prst="rect">
            <a:avLst/>
          </a:prstGeom>
          <a:noFill/>
        </p:spPr>
        <p:txBody>
          <a:bodyPr wrap="square" lIns="0" rIns="0" tIns="18288" bIns="18288" anchor="t">
            <a:spAutoFit/>
          </a:bodyPr>
          <a:lstStyle/>
          <a:p>
            <a:pPr algn="l"/>
            <a:r>
              <a:rPr sz="1050" b="0">
                <a:solidFill>
                  <a:srgbClr val="1A1A1A"/>
                </a:solidFill>
                <a:latin typeface="Abadi"/>
              </a:rPr>
              <a:t>Fundoplication for reflux-driven recurrence; resection is a last resort.</a:t>
            </a:r>
          </a:p>
        </p:txBody>
      </p:sp>
      <p:sp>
        <p:nvSpPr>
          <p:cNvPr id="36" name="TextBox 35"/>
          <p:cNvSpPr txBox="1"/>
          <p:nvPr/>
        </p:nvSpPr>
        <p:spPr>
          <a:xfrm>
            <a:off x="548640" y="4160520"/>
            <a:ext cx="11082528" cy="164592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Eosinophilic strictures.  </a:t>
            </a:r>
            <a:r>
              <a:rPr sz="1200" b="0">
                <a:solidFill>
                  <a:srgbClr val="1A1A1A"/>
                </a:solidFill>
                <a:latin typeface="Abadi"/>
              </a:rPr>
              <a:t>The 2024 ESPGHAN guideline allows systemic steroids before dilation to soften an eosinophilic stricture; untreated inflammation makes dilation less durable and riskier.</a:t>
            </a:r>
          </a:p>
          <a:p>
            <a:pPr algn="l">
              <a:spcAft>
                <a:spcPts val="600"/>
              </a:spcAft>
            </a:pPr>
            <a:r>
              <a:rPr sz="1200" b="1">
                <a:solidFill>
                  <a:srgbClr val="1B355E"/>
                </a:solidFill>
                <a:latin typeface="Abadi"/>
              </a:rPr>
              <a:t>Do not.  </a:t>
            </a:r>
            <a:r>
              <a:rPr sz="1200" b="0">
                <a:solidFill>
                  <a:srgbClr val="1A1A1A"/>
                </a:solidFill>
                <a:latin typeface="Abadi"/>
              </a:rPr>
              <a:t>Do not screen-dilate asymptomatic atresia anastomoses; the 2016 guideline finds no support for routine dilation without symptoms.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BARRETT'S OESOPHAGUS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WHAT COUNTS AS BARRETT'S?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Definitions differ between societies, and no paediatric society has its own</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10</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Shaheen NJ, et al. Am J Gastroenterol 2022;117:559–87 · Fitzgerald RC, et al. Gut 2014;63:7–42 (BSG) · Tullie 2021 · Schneider 2016</a:t>
            </a:r>
          </a:p>
        </p:txBody>
      </p:sp>
      <p:graphicFrame>
        <p:nvGraphicFramePr>
          <p:cNvPr id="12" name="Table 11"/>
          <p:cNvGraphicFramePr>
            <a:graphicFrameLocks noGrp="1"/>
          </p:cNvGraphicFramePr>
          <p:nvPr/>
        </p:nvGraphicFramePr>
        <p:xfrm>
          <a:off x="548640" y="1783080"/>
          <a:ext cx="11082528" cy="2743200"/>
        </p:xfrm>
        <a:graphic>
          <a:graphicData uri="http://schemas.openxmlformats.org/drawingml/2006/table">
            <a:tbl>
              <a:tblPr firstRow="0" bandRow="0">
                <a:tableStyleId>{5940675A-B579-460E-94D1-54222C63F5DA}</a:tableStyleId>
              </a:tblPr>
              <a:tblGrid>
                <a:gridCol w="2377440"/>
                <a:gridCol w="2651760"/>
                <a:gridCol w="2011680"/>
                <a:gridCol w="4041648"/>
              </a:tblGrid>
              <a:tr h="548640">
                <a:tc>
                  <a:txBody>
                    <a:bodyPr wrap="square"/>
                    <a:lstStyle/>
                    <a:p>
                      <a:r>
                        <a:rPr sz="1050" b="1">
                          <a:solidFill>
                            <a:srgbClr val="FFFFFF"/>
                          </a:solidFill>
                          <a:latin typeface="Abadi"/>
                        </a:rPr>
                        <a:t>Source</a:t>
                      </a:r>
                    </a:p>
                  </a:txBody>
                  <a:tcPr marL="73152" marR="73152" marT="27432" marB="27432" anchor="ctr">
                    <a:solidFill>
                      <a:srgbClr val="1B355E"/>
                    </a:solidFill>
                  </a:tcPr>
                </a:tc>
                <a:tc>
                  <a:txBody>
                    <a:bodyPr wrap="square"/>
                    <a:lstStyle/>
                    <a:p>
                      <a:r>
                        <a:rPr sz="1050" b="1">
                          <a:solidFill>
                            <a:srgbClr val="FFFFFF"/>
                          </a:solidFill>
                          <a:latin typeface="Abadi"/>
                        </a:rPr>
                        <a:t>Columnar length</a:t>
                      </a:r>
                    </a:p>
                  </a:txBody>
                  <a:tcPr marL="73152" marR="73152" marT="27432" marB="27432" anchor="ctr">
                    <a:solidFill>
                      <a:srgbClr val="1B355E"/>
                    </a:solidFill>
                  </a:tcPr>
                </a:tc>
                <a:tc>
                  <a:txBody>
                    <a:bodyPr wrap="square"/>
                    <a:lstStyle/>
                    <a:p>
                      <a:r>
                        <a:rPr sz="1050" b="1">
                          <a:solidFill>
                            <a:srgbClr val="FFFFFF"/>
                          </a:solidFill>
                          <a:latin typeface="Abadi"/>
                        </a:rPr>
                        <a:t>Intestinal metaplasia</a:t>
                      </a:r>
                    </a:p>
                  </a:txBody>
                  <a:tcPr marL="73152" marR="73152" marT="27432" marB="27432" anchor="ctr">
                    <a:solidFill>
                      <a:srgbClr val="1B355E"/>
                    </a:solidFill>
                  </a:tcPr>
                </a:tc>
                <a:tc>
                  <a:txBody>
                    <a:bodyPr wrap="square"/>
                    <a:lstStyle/>
                    <a:p>
                      <a:r>
                        <a:rPr sz="1050" b="1">
                          <a:solidFill>
                            <a:srgbClr val="FFFFFF"/>
                          </a:solidFill>
                          <a:latin typeface="Abadi"/>
                        </a:rPr>
                        <a:t>What it means for children</a:t>
                      </a:r>
                    </a:p>
                  </a:txBody>
                  <a:tcPr marL="73152" marR="73152" marT="27432" marB="27432" anchor="ctr">
                    <a:solidFill>
                      <a:srgbClr val="1B355E"/>
                    </a:solidFill>
                  </a:tcPr>
                </a:tc>
              </a:tr>
              <a:tr h="548640">
                <a:tc>
                  <a:txBody>
                    <a:bodyPr wrap="square"/>
                    <a:lstStyle/>
                    <a:p>
                      <a:r>
                        <a:rPr sz="1050" b="1">
                          <a:solidFill>
                            <a:srgbClr val="1A1A1A"/>
                          </a:solidFill>
                          <a:latin typeface="Abadi"/>
                        </a:rPr>
                        <a:t>ACG 2022</a:t>
                      </a:r>
                    </a:p>
                  </a:txBody>
                  <a:tcPr marL="73152" marR="73152" marT="27432" marB="27432" anchor="ctr">
                    <a:solidFill>
                      <a:srgbClr val="FFFFFF"/>
                    </a:solidFill>
                  </a:tcPr>
                </a:tc>
                <a:tc>
                  <a:txBody>
                    <a:bodyPr wrap="square"/>
                    <a:lstStyle/>
                    <a:p>
                      <a:r>
                        <a:rPr sz="1050" b="0">
                          <a:solidFill>
                            <a:srgbClr val="1A1A1A"/>
                          </a:solidFill>
                          <a:latin typeface="Abadi"/>
                        </a:rPr>
                        <a:t>≥ 1 cm above the gastric folds</a:t>
                      </a:r>
                    </a:p>
                  </a:txBody>
                  <a:tcPr marL="73152" marR="73152" marT="27432" marB="27432" anchor="ctr">
                    <a:solidFill>
                      <a:srgbClr val="FFFFFF"/>
                    </a:solidFill>
                  </a:tcPr>
                </a:tc>
                <a:tc>
                  <a:txBody>
                    <a:bodyPr wrap="square"/>
                    <a:lstStyle/>
                    <a:p>
                      <a:r>
                        <a:rPr sz="1050" b="0">
                          <a:solidFill>
                            <a:srgbClr val="1A1A1A"/>
                          </a:solidFill>
                          <a:latin typeface="Abadi"/>
                        </a:rPr>
                        <a:t>Required</a:t>
                      </a:r>
                    </a:p>
                  </a:txBody>
                  <a:tcPr marL="73152" marR="73152" marT="27432" marB="27432" anchor="ctr">
                    <a:solidFill>
                      <a:srgbClr val="FFFFFF"/>
                    </a:solidFill>
                  </a:tcPr>
                </a:tc>
                <a:tc>
                  <a:txBody>
                    <a:bodyPr wrap="square"/>
                    <a:lstStyle/>
                    <a:p>
                      <a:r>
                        <a:rPr sz="1050" b="0">
                          <a:solidFill>
                            <a:srgbClr val="1A1A1A"/>
                          </a:solidFill>
                          <a:latin typeface="Abadi"/>
                        </a:rPr>
                        <a:t>Most paediatric 'Barrett's' would not qualify</a:t>
                      </a:r>
                    </a:p>
                  </a:txBody>
                  <a:tcPr marL="73152" marR="73152" marT="27432" marB="27432" anchor="ctr">
                    <a:solidFill>
                      <a:srgbClr val="FFFFFF"/>
                    </a:solidFill>
                  </a:tcPr>
                </a:tc>
              </a:tr>
              <a:tr h="548640">
                <a:tc>
                  <a:txBody>
                    <a:bodyPr wrap="square"/>
                    <a:lstStyle/>
                    <a:p>
                      <a:r>
                        <a:rPr sz="1050" b="1">
                          <a:solidFill>
                            <a:srgbClr val="1A1A1A"/>
                          </a:solidFill>
                          <a:latin typeface="Abadi"/>
                        </a:rPr>
                        <a:t>BSG 2014</a:t>
                      </a:r>
                    </a:p>
                  </a:txBody>
                  <a:tcPr marL="73152" marR="73152" marT="27432" marB="27432" anchor="ctr">
                    <a:solidFill>
                      <a:srgbClr val="F2F4F7"/>
                    </a:solidFill>
                  </a:tcPr>
                </a:tc>
                <a:tc>
                  <a:txBody>
                    <a:bodyPr wrap="square"/>
                    <a:lstStyle/>
                    <a:p>
                      <a:r>
                        <a:rPr sz="1050" b="0">
                          <a:solidFill>
                            <a:srgbClr val="1A1A1A"/>
                          </a:solidFill>
                          <a:latin typeface="Abadi"/>
                        </a:rPr>
                        <a:t>≥ 1 cm</a:t>
                      </a:r>
                    </a:p>
                  </a:txBody>
                  <a:tcPr marL="73152" marR="73152" marT="27432" marB="27432" anchor="ctr">
                    <a:solidFill>
                      <a:srgbClr val="F2F4F7"/>
                    </a:solidFill>
                  </a:tcPr>
                </a:tc>
                <a:tc>
                  <a:txBody>
                    <a:bodyPr wrap="square"/>
                    <a:lstStyle/>
                    <a:p>
                      <a:r>
                        <a:rPr sz="1050" b="0">
                          <a:solidFill>
                            <a:srgbClr val="1A1A1A"/>
                          </a:solidFill>
                          <a:latin typeface="Abadi"/>
                        </a:rPr>
                        <a:t>Not required</a:t>
                      </a:r>
                    </a:p>
                  </a:txBody>
                  <a:tcPr marL="73152" marR="73152" marT="27432" marB="27432" anchor="ctr">
                    <a:solidFill>
                      <a:srgbClr val="F2F4F7"/>
                    </a:solidFill>
                  </a:tcPr>
                </a:tc>
                <a:tc>
                  <a:txBody>
                    <a:bodyPr wrap="square"/>
                    <a:lstStyle/>
                    <a:p>
                      <a:r>
                        <a:rPr sz="1050" b="0">
                          <a:solidFill>
                            <a:srgbClr val="1A1A1A"/>
                          </a:solidFill>
                          <a:latin typeface="Abadi"/>
                        </a:rPr>
                        <a:t>Gastric metaplasia counts; reported prevalence rises</a:t>
                      </a:r>
                    </a:p>
                  </a:txBody>
                  <a:tcPr marL="73152" marR="73152" marT="27432" marB="27432" anchor="ctr">
                    <a:solidFill>
                      <a:srgbClr val="F2F4F7"/>
                    </a:solidFill>
                  </a:tcPr>
                </a:tc>
              </a:tr>
              <a:tr h="548640">
                <a:tc>
                  <a:txBody>
                    <a:bodyPr wrap="square"/>
                    <a:lstStyle/>
                    <a:p>
                      <a:r>
                        <a:rPr sz="1050" b="1">
                          <a:solidFill>
                            <a:srgbClr val="1A1A1A"/>
                          </a:solidFill>
                          <a:latin typeface="Abadi"/>
                        </a:rPr>
                        <a:t>Paediatric series (EA)</a:t>
                      </a:r>
                    </a:p>
                  </a:txBody>
                  <a:tcPr marL="73152" marR="73152" marT="27432" marB="27432" anchor="ctr">
                    <a:solidFill>
                      <a:srgbClr val="FFFFFF"/>
                    </a:solidFill>
                  </a:tcPr>
                </a:tc>
                <a:tc>
                  <a:txBody>
                    <a:bodyPr wrap="square"/>
                    <a:lstStyle/>
                    <a:p>
                      <a:r>
                        <a:rPr sz="1050" b="0">
                          <a:solidFill>
                            <a:srgbClr val="1A1A1A"/>
                          </a:solidFill>
                          <a:latin typeface="Abadi"/>
                        </a:rPr>
                        <a:t>Variable, often any columnar tongue</a:t>
                      </a:r>
                    </a:p>
                  </a:txBody>
                  <a:tcPr marL="73152" marR="73152" marT="27432" marB="27432" anchor="ctr">
                    <a:solidFill>
                      <a:srgbClr val="FFFFFF"/>
                    </a:solidFill>
                  </a:tcPr>
                </a:tc>
                <a:tc>
                  <a:txBody>
                    <a:bodyPr wrap="square"/>
                    <a:lstStyle/>
                    <a:p>
                      <a:r>
                        <a:rPr sz="1050" b="0">
                          <a:solidFill>
                            <a:srgbClr val="1A1A1A"/>
                          </a:solidFill>
                          <a:latin typeface="Abadi"/>
                        </a:rPr>
                        <a:t>Usually gastric type</a:t>
                      </a:r>
                    </a:p>
                  </a:txBody>
                  <a:tcPr marL="73152" marR="73152" marT="27432" marB="27432" anchor="ctr">
                    <a:solidFill>
                      <a:srgbClr val="FFFFFF"/>
                    </a:solidFill>
                  </a:tcPr>
                </a:tc>
                <a:tc>
                  <a:txBody>
                    <a:bodyPr wrap="square"/>
                    <a:lstStyle/>
                    <a:p>
                      <a:r>
                        <a:rPr sz="1050" b="0">
                          <a:solidFill>
                            <a:srgbClr val="1A1A1A"/>
                          </a:solidFill>
                          <a:latin typeface="Abadi"/>
                        </a:rPr>
                        <a:t>Tullie: 227 gastric vs 54 intestinal among 317 cases</a:t>
                      </a:r>
                    </a:p>
                  </a:txBody>
                  <a:tcPr marL="73152" marR="73152" marT="27432" marB="27432" anchor="ctr">
                    <a:solidFill>
                      <a:srgbClr val="FFFFFF"/>
                    </a:solidFill>
                  </a:tcPr>
                </a:tc>
              </a:tr>
              <a:tr h="548640">
                <a:tc>
                  <a:txBody>
                    <a:bodyPr wrap="square"/>
                    <a:lstStyle/>
                    <a:p>
                      <a:r>
                        <a:rPr sz="1050" b="1">
                          <a:solidFill>
                            <a:srgbClr val="1A1A1A"/>
                          </a:solidFill>
                          <a:latin typeface="Abadi"/>
                        </a:rPr>
                        <a:t>NASPGHAN/ESPGHAN 2018</a:t>
                      </a:r>
                    </a:p>
                  </a:txBody>
                  <a:tcPr marL="73152" marR="73152" marT="27432" marB="27432" anchor="ctr">
                    <a:solidFill>
                      <a:srgbClr val="F2F4F7"/>
                    </a:solidFill>
                  </a:tcPr>
                </a:tc>
                <a:tc>
                  <a:txBody>
                    <a:bodyPr wrap="square"/>
                    <a:lstStyle/>
                    <a:p>
                      <a:r>
                        <a:rPr sz="1050" b="0">
                          <a:solidFill>
                            <a:srgbClr val="1A1A1A"/>
                          </a:solidFill>
                          <a:latin typeface="Abadi"/>
                        </a:rPr>
                        <a:t>Not defined</a:t>
                      </a:r>
                    </a:p>
                  </a:txBody>
                  <a:tcPr marL="73152" marR="73152" marT="27432" marB="27432" anchor="ctr">
                    <a:solidFill>
                      <a:srgbClr val="F2F4F7"/>
                    </a:solidFill>
                  </a:tcPr>
                </a:tc>
                <a:tc>
                  <a:txBody>
                    <a:bodyPr wrap="square"/>
                    <a:lstStyle/>
                    <a:p>
                      <a:r>
                        <a:rPr sz="1050" b="0">
                          <a:solidFill>
                            <a:srgbClr val="1A1A1A"/>
                          </a:solidFill>
                          <a:latin typeface="Abadi"/>
                        </a:rPr>
                        <a:t>Not defined</a:t>
                      </a:r>
                    </a:p>
                  </a:txBody>
                  <a:tcPr marL="73152" marR="73152" marT="27432" marB="27432" anchor="ctr">
                    <a:solidFill>
                      <a:srgbClr val="F2F4F7"/>
                    </a:solidFill>
                  </a:tcPr>
                </a:tc>
                <a:tc>
                  <a:txBody>
                    <a:bodyPr wrap="square"/>
                    <a:lstStyle/>
                    <a:p>
                      <a:r>
                        <a:rPr sz="1050" b="0">
                          <a:solidFill>
                            <a:srgbClr val="1A1A1A"/>
                          </a:solidFill>
                          <a:latin typeface="Abadi"/>
                        </a:rPr>
                        <a:t>Barrett's listed as a complication EGD can find</a:t>
                      </a:r>
                    </a:p>
                  </a:txBody>
                  <a:tcPr marL="73152" marR="73152" marT="27432" marB="27432" anchor="ctr">
                    <a:solidFill>
                      <a:srgbClr val="F2F4F7"/>
                    </a:solidFill>
                  </a:tcPr>
                </a:tc>
              </a:tr>
            </a:tbl>
          </a:graphicData>
        </a:graphic>
      </p:graphicFrame>
      <p:sp>
        <p:nvSpPr>
          <p:cNvPr id="13" name="TextBox 12"/>
          <p:cNvSpPr txBox="1"/>
          <p:nvPr/>
        </p:nvSpPr>
        <p:spPr>
          <a:xfrm>
            <a:off x="548640" y="4754880"/>
            <a:ext cx="11082528" cy="1051560"/>
          </a:xfrm>
          <a:prstGeom prst="rect">
            <a:avLst/>
          </a:prstGeom>
          <a:noFill/>
        </p:spPr>
        <p:txBody>
          <a:bodyPr wrap="square" lIns="0" rIns="0" tIns="18288" bIns="18288" anchor="t">
            <a:spAutoFit/>
          </a:bodyPr>
          <a:lstStyle/>
          <a:p>
            <a:pPr algn="l">
              <a:spcAft>
                <a:spcPts val="600"/>
              </a:spcAft>
            </a:pPr>
            <a:r>
              <a:rPr sz="1150" b="1">
                <a:solidFill>
                  <a:srgbClr val="1B355E"/>
                </a:solidFill>
                <a:latin typeface="Abadi"/>
              </a:rPr>
              <a:t>Material point.  </a:t>
            </a:r>
            <a:r>
              <a:rPr sz="1150" b="0">
                <a:solidFill>
                  <a:srgbClr val="1A1A1A"/>
                </a:solidFill>
                <a:latin typeface="Abadi"/>
              </a:rPr>
              <a:t>Before quoting a Barrett's rate in children ask which definition was used. Biopsy by the Seattle protocol (four quadrants every 2 cm), and report gastric and intestinal metaplasia separately. Adult surveillance for non-dysplastic Barrett's: every 5 years below 3 cm, every 3 years at 3 cm or more.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BARRETT'S AFTER ATRESIA REPAIR</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A LIFELONG QUESTION</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Systematic review of 6,282 patients followed more than 2 years after oesophageal atresia repair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11</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Tullie L, et al. Barrett's oesophagus and oesophageal cancer following oesophageal atresia repair: a systematic review. BJS Open 2021;5:zrab069</a:t>
            </a:r>
          </a:p>
        </p:txBody>
      </p:sp>
      <p:sp>
        <p:nvSpPr>
          <p:cNvPr id="12" name="Rectangle 11"/>
          <p:cNvSpPr/>
          <p:nvPr/>
        </p:nvSpPr>
        <p:spPr>
          <a:xfrm>
            <a:off x="548640" y="1773936"/>
            <a:ext cx="2633472" cy="201168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56816"/>
            <a:ext cx="2304288" cy="457200"/>
          </a:xfrm>
          <a:prstGeom prst="rect">
            <a:avLst/>
          </a:prstGeom>
          <a:noFill/>
        </p:spPr>
        <p:txBody>
          <a:bodyPr wrap="square" lIns="0" rIns="0" tIns="18288" bIns="18288" anchor="t">
            <a:spAutoFit/>
          </a:bodyPr>
          <a:lstStyle/>
          <a:p>
            <a:pPr algn="l"/>
            <a:r>
              <a:rPr sz="2200" b="1">
                <a:solidFill>
                  <a:srgbClr val="1B355E"/>
                </a:solidFill>
                <a:latin typeface="Abadi"/>
              </a:rPr>
              <a:t>5.0%</a:t>
            </a:r>
          </a:p>
        </p:txBody>
      </p:sp>
      <p:sp>
        <p:nvSpPr>
          <p:cNvPr id="15" name="TextBox 14"/>
          <p:cNvSpPr txBox="1"/>
          <p:nvPr/>
        </p:nvSpPr>
        <p:spPr>
          <a:xfrm>
            <a:off x="713232"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Barrett's in all reported patients (317 of 6,282).</a:t>
            </a:r>
          </a:p>
        </p:txBody>
      </p:sp>
      <p:sp>
        <p:nvSpPr>
          <p:cNvPr id="16" name="Rectangle 15"/>
          <p:cNvSpPr/>
          <p:nvPr/>
        </p:nvSpPr>
        <p:spPr>
          <a:xfrm>
            <a:off x="3364992" y="1773936"/>
            <a:ext cx="2633472" cy="201168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29584" y="1956816"/>
            <a:ext cx="2304288" cy="457200"/>
          </a:xfrm>
          <a:prstGeom prst="rect">
            <a:avLst/>
          </a:prstGeom>
          <a:noFill/>
        </p:spPr>
        <p:txBody>
          <a:bodyPr wrap="square" lIns="0" rIns="0" tIns="18288" bIns="18288" anchor="t">
            <a:spAutoFit/>
          </a:bodyPr>
          <a:lstStyle/>
          <a:p>
            <a:pPr algn="l"/>
            <a:r>
              <a:rPr sz="2200" b="1">
                <a:solidFill>
                  <a:srgbClr val="D97A0B"/>
                </a:solidFill>
                <a:latin typeface="Abadi"/>
              </a:rPr>
              <a:t>12.8%</a:t>
            </a:r>
          </a:p>
        </p:txBody>
      </p:sp>
      <p:sp>
        <p:nvSpPr>
          <p:cNvPr id="19" name="TextBox 18"/>
          <p:cNvSpPr txBox="1"/>
          <p:nvPr/>
        </p:nvSpPr>
        <p:spPr>
          <a:xfrm>
            <a:off x="3529584"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Barrett's when patients were actively scoped (221 of 1,727).</a:t>
            </a:r>
          </a:p>
        </p:txBody>
      </p:sp>
      <p:sp>
        <p:nvSpPr>
          <p:cNvPr id="20" name="Rectangle 19"/>
          <p:cNvSpPr/>
          <p:nvPr/>
        </p:nvSpPr>
        <p:spPr>
          <a:xfrm>
            <a:off x="6181344" y="1773936"/>
            <a:ext cx="2633472" cy="201168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45936" y="1956816"/>
            <a:ext cx="2304288" cy="457200"/>
          </a:xfrm>
          <a:prstGeom prst="rect">
            <a:avLst/>
          </a:prstGeom>
          <a:noFill/>
        </p:spPr>
        <p:txBody>
          <a:bodyPr wrap="square" lIns="0" rIns="0" tIns="18288" bIns="18288" anchor="t">
            <a:spAutoFit/>
          </a:bodyPr>
          <a:lstStyle/>
          <a:p>
            <a:pPr algn="l"/>
            <a:r>
              <a:rPr sz="2200" b="1">
                <a:solidFill>
                  <a:srgbClr val="1E7A33"/>
                </a:solidFill>
                <a:latin typeface="Abadi"/>
              </a:rPr>
              <a:t>13.8 y</a:t>
            </a:r>
          </a:p>
        </p:txBody>
      </p:sp>
      <p:sp>
        <p:nvSpPr>
          <p:cNvPr id="23" name="TextBox 22"/>
          <p:cNvSpPr txBox="1"/>
          <p:nvPr/>
        </p:nvSpPr>
        <p:spPr>
          <a:xfrm>
            <a:off x="6345936"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Mean age at Barrett's; intestinal type found at a mean of 38.5 years.</a:t>
            </a:r>
          </a:p>
        </p:txBody>
      </p:sp>
      <p:sp>
        <p:nvSpPr>
          <p:cNvPr id="24" name="Rectangle 23"/>
          <p:cNvSpPr/>
          <p:nvPr/>
        </p:nvSpPr>
        <p:spPr>
          <a:xfrm>
            <a:off x="8997696" y="1773936"/>
            <a:ext cx="2633472" cy="201168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7315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62288" y="1956816"/>
            <a:ext cx="2304288" cy="457200"/>
          </a:xfrm>
          <a:prstGeom prst="rect">
            <a:avLst/>
          </a:prstGeom>
          <a:noFill/>
        </p:spPr>
        <p:txBody>
          <a:bodyPr wrap="square" lIns="0" rIns="0" tIns="18288" bIns="18288" anchor="t">
            <a:spAutoFit/>
          </a:bodyPr>
          <a:lstStyle/>
          <a:p>
            <a:pPr algn="l"/>
            <a:r>
              <a:rPr sz="2200" b="1">
                <a:solidFill>
                  <a:srgbClr val="B22222"/>
                </a:solidFill>
                <a:latin typeface="Abadi"/>
              </a:rPr>
              <a:t>13</a:t>
            </a:r>
          </a:p>
        </p:txBody>
      </p:sp>
      <p:sp>
        <p:nvSpPr>
          <p:cNvPr id="27" name="TextBox 26"/>
          <p:cNvSpPr txBox="1"/>
          <p:nvPr/>
        </p:nvSpPr>
        <p:spPr>
          <a:xfrm>
            <a:off x="9162288" y="2487168"/>
            <a:ext cx="2304288" cy="1188720"/>
          </a:xfrm>
          <a:prstGeom prst="rect">
            <a:avLst/>
          </a:prstGeom>
          <a:noFill/>
        </p:spPr>
        <p:txBody>
          <a:bodyPr wrap="square" lIns="0" rIns="0" tIns="18288" bIns="18288" anchor="t">
            <a:spAutoFit/>
          </a:bodyPr>
          <a:lstStyle/>
          <a:p>
            <a:pPr algn="l"/>
            <a:r>
              <a:rPr sz="1050" b="0">
                <a:solidFill>
                  <a:srgbClr val="1A1A1A"/>
                </a:solidFill>
                <a:latin typeface="Abadi"/>
              </a:rPr>
              <a:t>Oesophageal cancers: 9 squamous, 4 adenocarcinoma; mean age 40.5 years.</a:t>
            </a:r>
          </a:p>
        </p:txBody>
      </p:sp>
      <p:sp>
        <p:nvSpPr>
          <p:cNvPr id="28" name="TextBox 27"/>
          <p:cNvSpPr txBox="1"/>
          <p:nvPr/>
        </p:nvSpPr>
        <p:spPr>
          <a:xfrm>
            <a:off x="548640" y="4023360"/>
            <a:ext cx="11082528" cy="178308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Interpretation.  </a:t>
            </a:r>
            <a:r>
              <a:rPr sz="1200" b="0">
                <a:solidFill>
                  <a:srgbClr val="1A1A1A"/>
                </a:solidFill>
                <a:latin typeface="Abadi"/>
              </a:rPr>
              <a:t>The more you look, the more you find: Barrett's is under-counted where nobody scopes. Metaplasia starts in childhood but becomes intestinal in adulthood.</a:t>
            </a:r>
          </a:p>
          <a:p>
            <a:pPr algn="l">
              <a:spcAft>
                <a:spcPts val="600"/>
              </a:spcAft>
            </a:pPr>
            <a:r>
              <a:rPr sz="1200" b="1">
                <a:solidFill>
                  <a:srgbClr val="1B355E"/>
                </a:solidFill>
                <a:latin typeface="Abadi"/>
              </a:rPr>
              <a:t>The surprise.  </a:t>
            </a:r>
            <a:r>
              <a:rPr sz="1200" b="0">
                <a:solidFill>
                  <a:srgbClr val="1A1A1A"/>
                </a:solidFill>
                <a:latin typeface="Abadi"/>
              </a:rPr>
              <a:t>Most cancers after atresia were squamous, not adenocarcinoma, and arose at 20 to 47 years: surveillance must inspect the whole squamous oesophagus, including the anastomosis, not just the junction.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ADOLESCENTS WITH ATRESIA</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SYMPTOMS DO NOT FIND IT</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Prospective French multicentre endoscopy of 120 adolescents aged 15–19 with repaired atresia, %</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12</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Schneider A, et al. Prevalence of Barrett esophagus in adolescents and young adults with esophageal atresia. Ann Surg 2016;264:1004–8</a:t>
            </a:r>
          </a:p>
        </p:txBody>
      </p:sp>
      <p:sp>
        <p:nvSpPr>
          <p:cNvPr id="12" name="TextBox 11"/>
          <p:cNvSpPr txBox="1"/>
          <p:nvPr/>
        </p:nvSpPr>
        <p:spPr>
          <a:xfrm>
            <a:off x="548640" y="1965960"/>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GERD symptoms at evaluation</a:t>
            </a:r>
          </a:p>
        </p:txBody>
      </p:sp>
      <p:sp>
        <p:nvSpPr>
          <p:cNvPr id="13" name="Rectangle 12"/>
          <p:cNvSpPr/>
          <p:nvPr/>
        </p:nvSpPr>
        <p:spPr>
          <a:xfrm>
            <a:off x="3474720" y="2084831"/>
            <a:ext cx="2015109" cy="3291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62981" y="1965960"/>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41%</a:t>
            </a:r>
          </a:p>
        </p:txBody>
      </p:sp>
      <p:sp>
        <p:nvSpPr>
          <p:cNvPr id="15" name="TextBox 14"/>
          <p:cNvSpPr txBox="1"/>
          <p:nvPr/>
        </p:nvSpPr>
        <p:spPr>
          <a:xfrm>
            <a:off x="548640" y="2532888"/>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Oesophagitis on histology</a:t>
            </a:r>
          </a:p>
        </p:txBody>
      </p:sp>
      <p:sp>
        <p:nvSpPr>
          <p:cNvPr id="16" name="Rectangle 15"/>
          <p:cNvSpPr/>
          <p:nvPr/>
        </p:nvSpPr>
        <p:spPr>
          <a:xfrm>
            <a:off x="3474720" y="2651760"/>
            <a:ext cx="3292982" cy="3291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40854" y="2532888"/>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67%</a:t>
            </a:r>
          </a:p>
        </p:txBody>
      </p:sp>
      <p:sp>
        <p:nvSpPr>
          <p:cNvPr id="18" name="TextBox 17"/>
          <p:cNvSpPr txBox="1"/>
          <p:nvPr/>
        </p:nvSpPr>
        <p:spPr>
          <a:xfrm>
            <a:off x="548640" y="3099815"/>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Barrett's on histology</a:t>
            </a:r>
          </a:p>
        </p:txBody>
      </p:sp>
      <p:sp>
        <p:nvSpPr>
          <p:cNvPr id="19" name="Rectangle 18"/>
          <p:cNvSpPr/>
          <p:nvPr/>
        </p:nvSpPr>
        <p:spPr>
          <a:xfrm>
            <a:off x="3474720" y="3218687"/>
            <a:ext cx="2113407" cy="3291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1279" y="3099815"/>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43%</a:t>
            </a:r>
          </a:p>
        </p:txBody>
      </p:sp>
      <p:sp>
        <p:nvSpPr>
          <p:cNvPr id="21" name="TextBox 20"/>
          <p:cNvSpPr txBox="1"/>
          <p:nvPr/>
        </p:nvSpPr>
        <p:spPr>
          <a:xfrm>
            <a:off x="548640" y="3666744"/>
            <a:ext cx="2834640" cy="566928"/>
          </a:xfrm>
          <a:prstGeom prst="rect">
            <a:avLst/>
          </a:prstGeom>
          <a:noFill/>
        </p:spPr>
        <p:txBody>
          <a:bodyPr wrap="square" lIns="0" rIns="0" tIns="18288" bIns="18288" anchor="ctr">
            <a:spAutoFit/>
          </a:bodyPr>
          <a:lstStyle/>
          <a:p>
            <a:pPr algn="l"/>
            <a:r>
              <a:rPr sz="1050" b="0">
                <a:solidFill>
                  <a:srgbClr val="1A1A1A"/>
                </a:solidFill>
                <a:latin typeface="Abadi"/>
              </a:rPr>
              <a:t>Intestinal metaplasia</a:t>
            </a:r>
          </a:p>
        </p:txBody>
      </p:sp>
      <p:sp>
        <p:nvSpPr>
          <p:cNvPr id="22" name="Rectangle 21"/>
          <p:cNvSpPr/>
          <p:nvPr/>
        </p:nvSpPr>
        <p:spPr>
          <a:xfrm>
            <a:off x="3474720" y="3785615"/>
            <a:ext cx="45720" cy="3291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593591" y="3666744"/>
            <a:ext cx="2011680" cy="566928"/>
          </a:xfrm>
          <a:prstGeom prst="rect">
            <a:avLst/>
          </a:prstGeom>
          <a:noFill/>
        </p:spPr>
        <p:txBody>
          <a:bodyPr wrap="square" lIns="0" rIns="0" tIns="18288" bIns="18288" anchor="ctr">
            <a:spAutoFit/>
          </a:bodyPr>
          <a:lstStyle/>
          <a:p>
            <a:pPr algn="l"/>
            <a:r>
              <a:rPr sz="1050" b="1">
                <a:solidFill>
                  <a:srgbClr val="1A1A1A"/>
                </a:solidFill>
                <a:latin typeface="Abadi"/>
              </a:rPr>
              <a:t>1 of 120</a:t>
            </a:r>
          </a:p>
        </p:txBody>
      </p:sp>
      <p:sp>
        <p:nvSpPr>
          <p:cNvPr id="24" name="TextBox 23"/>
          <p:cNvSpPr txBox="1"/>
          <p:nvPr/>
        </p:nvSpPr>
        <p:spPr>
          <a:xfrm>
            <a:off x="548640" y="4279392"/>
            <a:ext cx="7863840" cy="274320"/>
          </a:xfrm>
          <a:prstGeom prst="rect">
            <a:avLst/>
          </a:prstGeom>
          <a:noFill/>
        </p:spPr>
        <p:txBody>
          <a:bodyPr wrap="square" lIns="0" rIns="0" tIns="18288" bIns="18288" anchor="t">
            <a:spAutoFit/>
          </a:bodyPr>
          <a:lstStyle/>
          <a:p>
            <a:pPr algn="l"/>
            <a:r>
              <a:rPr sz="950" b="0">
                <a:solidFill>
                  <a:srgbClr val="7F7F7F"/>
                </a:solidFill>
                <a:latin typeface="Abadi"/>
              </a:rPr>
              <a:t>Bars: proportion of the 120 adolescents.</a:t>
            </a:r>
          </a:p>
        </p:txBody>
      </p:sp>
      <p:sp>
        <p:nvSpPr>
          <p:cNvPr id="25" name="TextBox 24"/>
          <p:cNvSpPr txBox="1"/>
          <p:nvPr/>
        </p:nvSpPr>
        <p:spPr>
          <a:xfrm>
            <a:off x="548640" y="4434840"/>
            <a:ext cx="7955279" cy="137160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Read it as.  </a:t>
            </a:r>
            <a:r>
              <a:rPr sz="1200" b="0">
                <a:solidFill>
                  <a:srgbClr val="1A1A1A"/>
                </a:solidFill>
                <a:latin typeface="Abadi"/>
              </a:rPr>
              <a:t>Almost half had columnar metaplasia (50 gastric, 1 intestinal) and symptoms did not predict it. Risk factors: atresia without fistula, repeated antireflux surgery, prior dilation, histological oesophagitis.</a:t>
            </a:r>
          </a:p>
        </p:txBody>
      </p:sp>
      <p:sp>
        <p:nvSpPr>
          <p:cNvPr id="26" name="TextBox 25"/>
          <p:cNvSpPr txBox="1"/>
          <p:nvPr/>
        </p:nvSpPr>
        <p:spPr>
          <a:xfrm>
            <a:off x="8778240" y="1783080"/>
            <a:ext cx="2834640" cy="3931920"/>
          </a:xfrm>
          <a:prstGeom prst="rect">
            <a:avLst/>
          </a:prstGeom>
          <a:noFill/>
        </p:spPr>
        <p:txBody>
          <a:bodyPr wrap="square" lIns="0" rIns="0" tIns="18288" bIns="18288" anchor="t">
            <a:spAutoFit/>
          </a:bodyPr>
          <a:lstStyle/>
          <a:p>
            <a:pPr algn="l">
              <a:spcAft>
                <a:spcPts val="400"/>
              </a:spcAft>
            </a:pPr>
            <a:r>
              <a:rPr sz="1500" b="1">
                <a:solidFill>
                  <a:srgbClr val="1B355E"/>
                </a:solidFill>
                <a:latin typeface="Abadi"/>
              </a:rPr>
              <a:t>Background</a:t>
            </a:r>
          </a:p>
          <a:p>
            <a:pPr algn="l">
              <a:spcAft>
                <a:spcPts val="400"/>
              </a:spcAft>
            </a:pPr>
            <a:r>
              <a:rPr sz="1050" b="0">
                <a:solidFill>
                  <a:srgbClr val="555555"/>
                </a:solidFill>
                <a:latin typeface="Abadi"/>
              </a:rPr>
              <a:t>70% treated for reflux in infancy; 41% had antireflux surgery.</a:t>
            </a:r>
          </a:p>
          <a:p>
            <a:pPr algn="l">
              <a:spcAft>
                <a:spcPts val="400"/>
              </a:spcAft>
            </a:pPr>
            <a:r>
              <a:rPr sz="1500" b="1">
                <a:solidFill>
                  <a:srgbClr val="1B355E"/>
                </a:solidFill>
                <a:latin typeface="Abadi"/>
              </a:rPr>
              <a:t>Anastomosis</a:t>
            </a:r>
          </a:p>
          <a:p>
            <a:pPr algn="l">
              <a:spcAft>
                <a:spcPts val="400"/>
              </a:spcAft>
            </a:pPr>
            <a:r>
              <a:rPr sz="1050" b="0">
                <a:solidFill>
                  <a:srgbClr val="555555"/>
                </a:solidFill>
                <a:latin typeface="Abadi"/>
              </a:rPr>
              <a:t>No abnormality found at the anastomosis itself.</a:t>
            </a:r>
          </a:p>
          <a:p>
            <a:pPr algn="l">
              <a:spcAft>
                <a:spcPts val="400"/>
              </a:spcAft>
            </a:pPr>
            <a:r>
              <a:rPr sz="1500" b="1">
                <a:solidFill>
                  <a:srgbClr val="1B355E"/>
                </a:solidFill>
                <a:latin typeface="Abadi"/>
              </a:rPr>
              <a:t>Lesson</a:t>
            </a:r>
          </a:p>
          <a:p>
            <a:pPr algn="l">
              <a:spcAft>
                <a:spcPts val="400"/>
              </a:spcAft>
            </a:pPr>
            <a:r>
              <a:rPr sz="1050" b="0">
                <a:solidFill>
                  <a:srgbClr val="555555"/>
                </a:solidFill>
                <a:latin typeface="Abadi"/>
              </a:rPr>
              <a:t>Schedule endoscopy; do not wait for heartburn.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SURVEILLANCE IN ATRESIA</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SCOPE BY THE CALENDAR</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The 2016 joint guideline schedule and what adult follow-up adds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13</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Krishnan U, et al. JPGN 2016;63:550–70 · Tullie 2021 · Maestri F, et al. Biomedicines 2022;10:2836 · Shaheen 2022</a:t>
            </a:r>
          </a:p>
        </p:txBody>
      </p:sp>
      <p:sp>
        <p:nvSpPr>
          <p:cNvPr id="12" name="Rectangle 11"/>
          <p:cNvSpPr/>
          <p:nvPr/>
        </p:nvSpPr>
        <p:spPr>
          <a:xfrm>
            <a:off x="548640" y="1773936"/>
            <a:ext cx="2551176" cy="173736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551176" cy="310896"/>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1792224"/>
            <a:ext cx="2368296" cy="274320"/>
          </a:xfrm>
          <a:prstGeom prst="rect">
            <a:avLst/>
          </a:prstGeom>
          <a:noFill/>
        </p:spPr>
        <p:txBody>
          <a:bodyPr wrap="square" lIns="0" rIns="0" tIns="18288" bIns="18288" anchor="ctr">
            <a:spAutoFit/>
          </a:bodyPr>
          <a:lstStyle/>
          <a:p>
            <a:pPr algn="l"/>
            <a:r>
              <a:rPr sz="1050" b="1">
                <a:solidFill>
                  <a:srgbClr val="FFFFFF"/>
                </a:solidFill>
                <a:latin typeface="Abadi"/>
              </a:rPr>
              <a:t>Stop PPI</a:t>
            </a:r>
          </a:p>
        </p:txBody>
      </p:sp>
      <p:sp>
        <p:nvSpPr>
          <p:cNvPr id="15" name="TextBox 14"/>
          <p:cNvSpPr txBox="1"/>
          <p:nvPr/>
        </p:nvSpPr>
        <p:spPr>
          <a:xfrm>
            <a:off x="658368" y="2185416"/>
            <a:ext cx="2331720" cy="1280160"/>
          </a:xfrm>
          <a:prstGeom prst="rect">
            <a:avLst/>
          </a:prstGeom>
          <a:noFill/>
        </p:spPr>
        <p:txBody>
          <a:bodyPr wrap="square" lIns="0" rIns="0" tIns="18288" bIns="18288" anchor="t">
            <a:spAutoFit/>
          </a:bodyPr>
          <a:lstStyle/>
          <a:p>
            <a:pPr algn="l"/>
            <a:r>
              <a:rPr sz="1050" b="0">
                <a:solidFill>
                  <a:srgbClr val="1A1A1A"/>
                </a:solidFill>
                <a:latin typeface="Abadi"/>
              </a:rPr>
              <a:t>Endoscopy with biopsies after stopping acid suppression (first year or later).</a:t>
            </a:r>
          </a:p>
        </p:txBody>
      </p:sp>
      <p:sp>
        <p:nvSpPr>
          <p:cNvPr id="16" name="TextBox 15"/>
          <p:cNvSpPr txBox="1"/>
          <p:nvPr/>
        </p:nvSpPr>
        <p:spPr>
          <a:xfrm>
            <a:off x="3099816" y="245973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17" name="Rectangle 16"/>
          <p:cNvSpPr/>
          <p:nvPr/>
        </p:nvSpPr>
        <p:spPr>
          <a:xfrm>
            <a:off x="3392424" y="1773936"/>
            <a:ext cx="2551176" cy="173736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392424" y="1773936"/>
            <a:ext cx="2551176" cy="310896"/>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483864" y="1792224"/>
            <a:ext cx="2368296" cy="274320"/>
          </a:xfrm>
          <a:prstGeom prst="rect">
            <a:avLst/>
          </a:prstGeom>
          <a:noFill/>
        </p:spPr>
        <p:txBody>
          <a:bodyPr wrap="square" lIns="0" rIns="0" tIns="18288" bIns="18288" anchor="ctr">
            <a:spAutoFit/>
          </a:bodyPr>
          <a:lstStyle/>
          <a:p>
            <a:pPr algn="l"/>
            <a:r>
              <a:rPr sz="1050" b="1">
                <a:solidFill>
                  <a:srgbClr val="FFFFFF"/>
                </a:solidFill>
                <a:latin typeface="Abadi"/>
              </a:rPr>
              <a:t>Before age 10</a:t>
            </a:r>
          </a:p>
        </p:txBody>
      </p:sp>
      <p:sp>
        <p:nvSpPr>
          <p:cNvPr id="20" name="TextBox 19"/>
          <p:cNvSpPr txBox="1"/>
          <p:nvPr/>
        </p:nvSpPr>
        <p:spPr>
          <a:xfrm>
            <a:off x="3502152" y="2185416"/>
            <a:ext cx="2331720" cy="1280160"/>
          </a:xfrm>
          <a:prstGeom prst="rect">
            <a:avLst/>
          </a:prstGeom>
          <a:noFill/>
        </p:spPr>
        <p:txBody>
          <a:bodyPr wrap="square" lIns="0" rIns="0" tIns="18288" bIns="18288" anchor="t">
            <a:spAutoFit/>
          </a:bodyPr>
          <a:lstStyle/>
          <a:p>
            <a:pPr algn="l"/>
            <a:r>
              <a:rPr sz="1050" b="0">
                <a:solidFill>
                  <a:srgbClr val="1A1A1A"/>
                </a:solidFill>
                <a:latin typeface="Abadi"/>
              </a:rPr>
              <a:t>Second routine endoscopy, even if well.</a:t>
            </a:r>
          </a:p>
        </p:txBody>
      </p:sp>
      <p:sp>
        <p:nvSpPr>
          <p:cNvPr id="21" name="TextBox 20"/>
          <p:cNvSpPr txBox="1"/>
          <p:nvPr/>
        </p:nvSpPr>
        <p:spPr>
          <a:xfrm>
            <a:off x="5943600" y="245973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2" name="Rectangle 21"/>
          <p:cNvSpPr/>
          <p:nvPr/>
        </p:nvSpPr>
        <p:spPr>
          <a:xfrm>
            <a:off x="6236207" y="1773936"/>
            <a:ext cx="2551176" cy="173736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7" y="1773936"/>
            <a:ext cx="2551176" cy="310896"/>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27647" y="1792224"/>
            <a:ext cx="2368296" cy="274320"/>
          </a:xfrm>
          <a:prstGeom prst="rect">
            <a:avLst/>
          </a:prstGeom>
          <a:noFill/>
        </p:spPr>
        <p:txBody>
          <a:bodyPr wrap="square" lIns="0" rIns="0" tIns="18288" bIns="18288" anchor="ctr">
            <a:spAutoFit/>
          </a:bodyPr>
          <a:lstStyle/>
          <a:p>
            <a:pPr algn="l"/>
            <a:r>
              <a:rPr sz="1050" b="1">
                <a:solidFill>
                  <a:srgbClr val="FFFFFF"/>
                </a:solidFill>
                <a:latin typeface="Abadi"/>
              </a:rPr>
              <a:t>Transition</a:t>
            </a:r>
          </a:p>
        </p:txBody>
      </p:sp>
      <p:sp>
        <p:nvSpPr>
          <p:cNvPr id="25" name="TextBox 24"/>
          <p:cNvSpPr txBox="1"/>
          <p:nvPr/>
        </p:nvSpPr>
        <p:spPr>
          <a:xfrm>
            <a:off x="6345936" y="2185416"/>
            <a:ext cx="2331720" cy="1280160"/>
          </a:xfrm>
          <a:prstGeom prst="rect">
            <a:avLst/>
          </a:prstGeom>
          <a:noFill/>
        </p:spPr>
        <p:txBody>
          <a:bodyPr wrap="square" lIns="0" rIns="0" tIns="18288" bIns="18288" anchor="t">
            <a:spAutoFit/>
          </a:bodyPr>
          <a:lstStyle/>
          <a:p>
            <a:pPr algn="l"/>
            <a:r>
              <a:rPr sz="1050" b="0">
                <a:solidFill>
                  <a:srgbClr val="1A1A1A"/>
                </a:solidFill>
                <a:latin typeface="Abadi"/>
              </a:rPr>
              <a:t>Third endoscopy as care moves to adult services.</a:t>
            </a:r>
          </a:p>
        </p:txBody>
      </p:sp>
      <p:sp>
        <p:nvSpPr>
          <p:cNvPr id="26" name="TextBox 25"/>
          <p:cNvSpPr txBox="1"/>
          <p:nvPr/>
        </p:nvSpPr>
        <p:spPr>
          <a:xfrm>
            <a:off x="8787384" y="2459735"/>
            <a:ext cx="292608" cy="365760"/>
          </a:xfrm>
          <a:prstGeom prst="rect">
            <a:avLst/>
          </a:prstGeom>
          <a:noFill/>
        </p:spPr>
        <p:txBody>
          <a:bodyPr wrap="square" lIns="0" rIns="0" tIns="18288" bIns="18288" anchor="t">
            <a:spAutoFit/>
          </a:bodyPr>
          <a:lstStyle/>
          <a:p>
            <a:pPr algn="ctr"/>
            <a:r>
              <a:rPr sz="1200" b="0">
                <a:solidFill>
                  <a:srgbClr val="8A939B"/>
                </a:solidFill>
                <a:latin typeface="Abadi"/>
              </a:rPr>
              <a:t>▶</a:t>
            </a:r>
          </a:p>
        </p:txBody>
      </p:sp>
      <p:sp>
        <p:nvSpPr>
          <p:cNvPr id="27" name="Rectangle 26"/>
          <p:cNvSpPr/>
          <p:nvPr/>
        </p:nvSpPr>
        <p:spPr>
          <a:xfrm>
            <a:off x="9079992" y="1773936"/>
            <a:ext cx="2551176" cy="173736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79992" y="1773936"/>
            <a:ext cx="2551176" cy="310896"/>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71432" y="1792224"/>
            <a:ext cx="2368296" cy="274320"/>
          </a:xfrm>
          <a:prstGeom prst="rect">
            <a:avLst/>
          </a:prstGeom>
          <a:noFill/>
        </p:spPr>
        <p:txBody>
          <a:bodyPr wrap="square" lIns="0" rIns="0" tIns="18288" bIns="18288" anchor="ctr">
            <a:spAutoFit/>
          </a:bodyPr>
          <a:lstStyle/>
          <a:p>
            <a:pPr algn="l"/>
            <a:r>
              <a:rPr sz="1050" b="1">
                <a:solidFill>
                  <a:srgbClr val="FFFFFF"/>
                </a:solidFill>
                <a:latin typeface="Abadi"/>
              </a:rPr>
              <a:t>Adulthood</a:t>
            </a:r>
          </a:p>
        </p:txBody>
      </p:sp>
      <p:sp>
        <p:nvSpPr>
          <p:cNvPr id="30" name="TextBox 29"/>
          <p:cNvSpPr txBox="1"/>
          <p:nvPr/>
        </p:nvSpPr>
        <p:spPr>
          <a:xfrm>
            <a:off x="9189719" y="2185416"/>
            <a:ext cx="2331720" cy="1280160"/>
          </a:xfrm>
          <a:prstGeom prst="rect">
            <a:avLst/>
          </a:prstGeom>
          <a:noFill/>
        </p:spPr>
        <p:txBody>
          <a:bodyPr wrap="square" lIns="0" rIns="0" tIns="18288" bIns="18288" anchor="t">
            <a:spAutoFit/>
          </a:bodyPr>
          <a:lstStyle/>
          <a:p>
            <a:pPr algn="l"/>
            <a:r>
              <a:rPr sz="1050" b="0">
                <a:solidFill>
                  <a:srgbClr val="1A1A1A"/>
                </a:solidFill>
                <a:latin typeface="Abadi"/>
              </a:rPr>
              <a:t>Lifelong follow-up; intervals uncertain; Barrett's intervals if found.</a:t>
            </a:r>
          </a:p>
        </p:txBody>
      </p:sp>
      <p:sp>
        <p:nvSpPr>
          <p:cNvPr id="31" name="Rectangle 30"/>
          <p:cNvSpPr/>
          <p:nvPr/>
        </p:nvSpPr>
        <p:spPr>
          <a:xfrm>
            <a:off x="548640" y="3749039"/>
            <a:ext cx="2499359" cy="146304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548640" y="3749039"/>
            <a:ext cx="2499359"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13232" y="3931920"/>
            <a:ext cx="2170175" cy="457200"/>
          </a:xfrm>
          <a:prstGeom prst="rect">
            <a:avLst/>
          </a:prstGeom>
          <a:noFill/>
        </p:spPr>
        <p:txBody>
          <a:bodyPr wrap="square" lIns="0" rIns="0" tIns="18288" bIns="18288" anchor="t">
            <a:spAutoFit/>
          </a:bodyPr>
          <a:lstStyle/>
          <a:p>
            <a:pPr algn="l"/>
            <a:r>
              <a:rPr sz="1800" b="1">
                <a:solidFill>
                  <a:srgbClr val="D97A0B"/>
                </a:solidFill>
                <a:latin typeface="Abadi"/>
              </a:rPr>
              <a:t>72%</a:t>
            </a:r>
          </a:p>
        </p:txBody>
      </p:sp>
      <p:sp>
        <p:nvSpPr>
          <p:cNvPr id="34" name="TextBox 33"/>
          <p:cNvSpPr txBox="1"/>
          <p:nvPr/>
        </p:nvSpPr>
        <p:spPr>
          <a:xfrm>
            <a:off x="713232" y="4462272"/>
            <a:ext cx="2170175" cy="640080"/>
          </a:xfrm>
          <a:prstGeom prst="rect">
            <a:avLst/>
          </a:prstGeom>
          <a:noFill/>
        </p:spPr>
        <p:txBody>
          <a:bodyPr wrap="square" lIns="0" rIns="0" tIns="18288" bIns="18288" anchor="t">
            <a:spAutoFit/>
          </a:bodyPr>
          <a:lstStyle/>
          <a:p>
            <a:pPr algn="l"/>
            <a:r>
              <a:rPr sz="1050" b="0">
                <a:solidFill>
                  <a:srgbClr val="1A1A1A"/>
                </a:solidFill>
                <a:latin typeface="Abadi"/>
              </a:rPr>
              <a:t>Maestri 2022: histological oesophagitis in 75 children scoped by this schedule.</a:t>
            </a:r>
          </a:p>
        </p:txBody>
      </p:sp>
      <p:sp>
        <p:nvSpPr>
          <p:cNvPr id="35" name="Rectangle 34"/>
          <p:cNvSpPr/>
          <p:nvPr/>
        </p:nvSpPr>
        <p:spPr>
          <a:xfrm>
            <a:off x="3230880" y="3749039"/>
            <a:ext cx="2499359" cy="146304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3230880" y="3749039"/>
            <a:ext cx="2499359"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395472" y="3931920"/>
            <a:ext cx="2170175" cy="457200"/>
          </a:xfrm>
          <a:prstGeom prst="rect">
            <a:avLst/>
          </a:prstGeom>
          <a:noFill/>
        </p:spPr>
        <p:txBody>
          <a:bodyPr wrap="square" lIns="0" rIns="0" tIns="18288" bIns="18288" anchor="t">
            <a:spAutoFit/>
          </a:bodyPr>
          <a:lstStyle/>
          <a:p>
            <a:pPr algn="l"/>
            <a:r>
              <a:rPr sz="1800" b="1">
                <a:solidFill>
                  <a:srgbClr val="1E7A33"/>
                </a:solidFill>
                <a:latin typeface="Abadi"/>
              </a:rPr>
              <a:t>12%</a:t>
            </a:r>
          </a:p>
        </p:txBody>
      </p:sp>
      <p:sp>
        <p:nvSpPr>
          <p:cNvPr id="38" name="TextBox 37"/>
          <p:cNvSpPr txBox="1"/>
          <p:nvPr/>
        </p:nvSpPr>
        <p:spPr>
          <a:xfrm>
            <a:off x="3395472" y="4462272"/>
            <a:ext cx="2170175" cy="640080"/>
          </a:xfrm>
          <a:prstGeom prst="rect">
            <a:avLst/>
          </a:prstGeom>
          <a:noFill/>
        </p:spPr>
        <p:txBody>
          <a:bodyPr wrap="square" lIns="0" rIns="0" tIns="18288" bIns="18288" anchor="t">
            <a:spAutoFit/>
          </a:bodyPr>
          <a:lstStyle/>
          <a:p>
            <a:pPr algn="l"/>
            <a:r>
              <a:rPr sz="1050" b="0">
                <a:solidFill>
                  <a:srgbClr val="1A1A1A"/>
                </a:solidFill>
                <a:latin typeface="Abadi"/>
              </a:rPr>
              <a:t>Eosinophilic oesophagitis (9 of 75); 4 of 35 asymptomatic children had it.</a:t>
            </a:r>
          </a:p>
        </p:txBody>
      </p:sp>
      <p:sp>
        <p:nvSpPr>
          <p:cNvPr id="39" name="Rectangle 38"/>
          <p:cNvSpPr/>
          <p:nvPr/>
        </p:nvSpPr>
        <p:spPr>
          <a:xfrm>
            <a:off x="5913119" y="3749039"/>
            <a:ext cx="2499359" cy="14630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913119" y="3749039"/>
            <a:ext cx="2499359"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077711" y="3931920"/>
            <a:ext cx="2170175" cy="457200"/>
          </a:xfrm>
          <a:prstGeom prst="rect">
            <a:avLst/>
          </a:prstGeom>
          <a:noFill/>
        </p:spPr>
        <p:txBody>
          <a:bodyPr wrap="square" lIns="0" rIns="0" tIns="18288" bIns="18288" anchor="t">
            <a:spAutoFit/>
          </a:bodyPr>
          <a:lstStyle/>
          <a:p>
            <a:pPr algn="l"/>
            <a:r>
              <a:rPr sz="1800" b="1">
                <a:solidFill>
                  <a:srgbClr val="1B355E"/>
                </a:solidFill>
                <a:latin typeface="Abadi"/>
              </a:rPr>
              <a:t>Mandatory</a:t>
            </a:r>
          </a:p>
        </p:txBody>
      </p:sp>
      <p:sp>
        <p:nvSpPr>
          <p:cNvPr id="42" name="TextBox 41"/>
          <p:cNvSpPr txBox="1"/>
          <p:nvPr/>
        </p:nvSpPr>
        <p:spPr>
          <a:xfrm>
            <a:off x="6077711" y="4462272"/>
            <a:ext cx="2170175" cy="640080"/>
          </a:xfrm>
          <a:prstGeom prst="rect">
            <a:avLst/>
          </a:prstGeom>
          <a:noFill/>
        </p:spPr>
        <p:txBody>
          <a:bodyPr wrap="square" lIns="0" rIns="0" tIns="18288" bIns="18288" anchor="t">
            <a:spAutoFit/>
          </a:bodyPr>
          <a:lstStyle/>
          <a:p>
            <a:pPr algn="l"/>
            <a:r>
              <a:rPr sz="1050" b="0">
                <a:solidFill>
                  <a:srgbClr val="1A1A1A"/>
                </a:solidFill>
                <a:latin typeface="Abadi"/>
              </a:rPr>
              <a:t>2016 guideline: endoscopy with biopsies is required to monitor reflux in atresia.</a:t>
            </a:r>
          </a:p>
        </p:txBody>
      </p:sp>
      <p:sp>
        <p:nvSpPr>
          <p:cNvPr id="43" name="TextBox 42"/>
          <p:cNvSpPr txBox="1"/>
          <p:nvPr/>
        </p:nvSpPr>
        <p:spPr>
          <a:xfrm>
            <a:off x="8595360" y="3703320"/>
            <a:ext cx="3017520" cy="2103120"/>
          </a:xfrm>
          <a:prstGeom prst="rect">
            <a:avLst/>
          </a:prstGeom>
          <a:noFill/>
        </p:spPr>
        <p:txBody>
          <a:bodyPr wrap="square" lIns="0" rIns="0" tIns="18288" bIns="18288" anchor="t">
            <a:spAutoFit/>
          </a:bodyPr>
          <a:lstStyle/>
          <a:p>
            <a:pPr algn="l">
              <a:spcAft>
                <a:spcPts val="400"/>
              </a:spcAft>
            </a:pPr>
            <a:r>
              <a:rPr sz="1400" b="1">
                <a:solidFill>
                  <a:srgbClr val="1B355E"/>
                </a:solidFill>
                <a:latin typeface="Abadi"/>
              </a:rPr>
              <a:t>Adult gap</a:t>
            </a:r>
          </a:p>
          <a:p>
            <a:pPr algn="l">
              <a:spcAft>
                <a:spcPts val="400"/>
              </a:spcAft>
            </a:pPr>
            <a:r>
              <a:rPr sz="1050" b="0">
                <a:solidFill>
                  <a:srgbClr val="555555"/>
                </a:solidFill>
                <a:latin typeface="Abadi"/>
              </a:rPr>
              <a:t>No agreed adult interval; some advise starting regular screening in the teens or early twenties.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OTHER AT-RISK CHILDREN</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CYSTIC FIBROSIS AND NEUROLOGICAL IMPAIRMENT</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Why these groups carry more severe reflux and earlier complications</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14</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Knotts RM, et al. J Cyst Fibros 2018 (online) · Edwards 2022 · Rosen 2018</a:t>
            </a:r>
          </a:p>
        </p:txBody>
      </p:sp>
      <p:sp>
        <p:nvSpPr>
          <p:cNvPr id="12" name="Rectangle 11"/>
          <p:cNvSpPr/>
          <p:nvPr/>
        </p:nvSpPr>
        <p:spPr>
          <a:xfrm>
            <a:off x="548640" y="1773936"/>
            <a:ext cx="3572255" cy="237744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357225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3279648" cy="502920"/>
          </a:xfrm>
          <a:prstGeom prst="rect">
            <a:avLst/>
          </a:prstGeom>
          <a:noFill/>
        </p:spPr>
        <p:txBody>
          <a:bodyPr wrap="square" lIns="0" rIns="0" tIns="18288" bIns="18288" anchor="t">
            <a:spAutoFit/>
          </a:bodyPr>
          <a:lstStyle/>
          <a:p>
            <a:pPr algn="l"/>
            <a:r>
              <a:rPr sz="1500" b="1">
                <a:solidFill>
                  <a:srgbClr val="1B355E"/>
                </a:solidFill>
                <a:latin typeface="Abadi"/>
              </a:rPr>
              <a:t>Cystic fibrosis</a:t>
            </a:r>
          </a:p>
        </p:txBody>
      </p:sp>
      <p:sp>
        <p:nvSpPr>
          <p:cNvPr id="15" name="TextBox 14"/>
          <p:cNvSpPr txBox="1"/>
          <p:nvPr/>
        </p:nvSpPr>
        <p:spPr>
          <a:xfrm>
            <a:off x="694944" y="2505456"/>
            <a:ext cx="3279648" cy="1554479"/>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Cough and hyperinflation raise gastric pressure</a:t>
            </a:r>
          </a:p>
          <a:p>
            <a:pPr algn="l">
              <a:spcAft>
                <a:spcPts val="300"/>
              </a:spcAft>
            </a:pPr>
            <a:r>
              <a:rPr sz="1150" b="0">
                <a:solidFill>
                  <a:srgbClr val="1A1A1A"/>
                </a:solidFill>
                <a:latin typeface="Abadi"/>
              </a:rPr>
              <a:t>▪  Slow clearance, frequent transient relaxations</a:t>
            </a:r>
          </a:p>
          <a:p>
            <a:pPr algn="l">
              <a:spcAft>
                <a:spcPts val="300"/>
              </a:spcAft>
            </a:pPr>
            <a:r>
              <a:rPr sz="1150" b="0">
                <a:solidFill>
                  <a:srgbClr val="1A1A1A"/>
                </a:solidFill>
                <a:latin typeface="Abadi"/>
              </a:rPr>
              <a:t>▪  Adults: about 3-fold risk of Barrett's or cancer, at younger ages</a:t>
            </a:r>
          </a:p>
        </p:txBody>
      </p:sp>
      <p:sp>
        <p:nvSpPr>
          <p:cNvPr id="16" name="Rectangle 15"/>
          <p:cNvSpPr/>
          <p:nvPr/>
        </p:nvSpPr>
        <p:spPr>
          <a:xfrm>
            <a:off x="4303775" y="1773936"/>
            <a:ext cx="3572255" cy="237744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03775" y="1773936"/>
            <a:ext cx="3572255"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0080" y="1956816"/>
            <a:ext cx="3279648" cy="502920"/>
          </a:xfrm>
          <a:prstGeom prst="rect">
            <a:avLst/>
          </a:prstGeom>
          <a:noFill/>
        </p:spPr>
        <p:txBody>
          <a:bodyPr wrap="square" lIns="0" rIns="0" tIns="18288" bIns="18288" anchor="t">
            <a:spAutoFit/>
          </a:bodyPr>
          <a:lstStyle/>
          <a:p>
            <a:pPr algn="l"/>
            <a:r>
              <a:rPr sz="1500" b="1">
                <a:solidFill>
                  <a:srgbClr val="B22222"/>
                </a:solidFill>
                <a:latin typeface="Abadi"/>
              </a:rPr>
              <a:t>Neurological impairment</a:t>
            </a:r>
          </a:p>
        </p:txBody>
      </p:sp>
      <p:sp>
        <p:nvSpPr>
          <p:cNvPr id="19" name="TextBox 18"/>
          <p:cNvSpPr txBox="1"/>
          <p:nvPr/>
        </p:nvSpPr>
        <p:spPr>
          <a:xfrm>
            <a:off x="4450080" y="2505456"/>
            <a:ext cx="3279648" cy="1554479"/>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Supine, spastic, poor swallow</a:t>
            </a:r>
          </a:p>
          <a:p>
            <a:pPr algn="l">
              <a:spcAft>
                <a:spcPts val="300"/>
              </a:spcAft>
            </a:pPr>
            <a:r>
              <a:rPr sz="1150" b="0">
                <a:solidFill>
                  <a:srgbClr val="1A1A1A"/>
                </a:solidFill>
                <a:latin typeface="Abadi"/>
              </a:rPr>
              <a:t>▪  Hiatal hernia and scoliosis</a:t>
            </a:r>
          </a:p>
          <a:p>
            <a:pPr algn="l">
              <a:spcAft>
                <a:spcPts val="300"/>
              </a:spcAft>
            </a:pPr>
            <a:r>
              <a:rPr sz="1150" b="0">
                <a:solidFill>
                  <a:srgbClr val="1A1A1A"/>
                </a:solidFill>
                <a:latin typeface="Abadi"/>
              </a:rPr>
              <a:t>▪  Presents with blood, not pain</a:t>
            </a:r>
          </a:p>
        </p:txBody>
      </p:sp>
      <p:sp>
        <p:nvSpPr>
          <p:cNvPr id="20" name="Rectangle 19"/>
          <p:cNvSpPr/>
          <p:nvPr/>
        </p:nvSpPr>
        <p:spPr>
          <a:xfrm>
            <a:off x="8058911" y="1773936"/>
            <a:ext cx="3572255" cy="2377440"/>
          </a:xfrm>
          <a:prstGeom prst="rect">
            <a:avLst/>
          </a:prstGeom>
          <a:solidFill>
            <a:srgbClr val="E7E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58911" y="1773936"/>
            <a:ext cx="3572255" cy="100584"/>
          </a:xfrm>
          <a:prstGeom prst="rect">
            <a:avLst/>
          </a:prstGeom>
          <a:solidFill>
            <a:srgbClr val="8A939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05215" y="1956816"/>
            <a:ext cx="3279648" cy="502920"/>
          </a:xfrm>
          <a:prstGeom prst="rect">
            <a:avLst/>
          </a:prstGeom>
          <a:noFill/>
        </p:spPr>
        <p:txBody>
          <a:bodyPr wrap="square" lIns="0" rIns="0" tIns="18288" bIns="18288" anchor="t">
            <a:spAutoFit/>
          </a:bodyPr>
          <a:lstStyle/>
          <a:p>
            <a:pPr algn="l"/>
            <a:r>
              <a:rPr sz="1500" b="1">
                <a:solidFill>
                  <a:srgbClr val="8A939B"/>
                </a:solidFill>
                <a:latin typeface="Abadi"/>
              </a:rPr>
              <a:t>Others</a:t>
            </a:r>
          </a:p>
        </p:txBody>
      </p:sp>
      <p:sp>
        <p:nvSpPr>
          <p:cNvPr id="23" name="TextBox 22"/>
          <p:cNvSpPr txBox="1"/>
          <p:nvPr/>
        </p:nvSpPr>
        <p:spPr>
          <a:xfrm>
            <a:off x="8205215" y="2505456"/>
            <a:ext cx="3279648" cy="1554479"/>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Hiatal hernia</a:t>
            </a:r>
          </a:p>
          <a:p>
            <a:pPr algn="l">
              <a:spcAft>
                <a:spcPts val="300"/>
              </a:spcAft>
            </a:pPr>
            <a:r>
              <a:rPr sz="1150" b="0">
                <a:solidFill>
                  <a:srgbClr val="1A1A1A"/>
                </a:solidFill>
                <a:latin typeface="Abadi"/>
              </a:rPr>
              <a:t>▪  Chronic lung disease, transplant</a:t>
            </a:r>
          </a:p>
          <a:p>
            <a:pPr algn="l">
              <a:spcAft>
                <a:spcPts val="300"/>
              </a:spcAft>
            </a:pPr>
            <a:r>
              <a:rPr sz="1150" b="0">
                <a:solidFill>
                  <a:srgbClr val="1A1A1A"/>
                </a:solidFill>
                <a:latin typeface="Abadi"/>
              </a:rPr>
              <a:t>▪  Obesity in adolescents</a:t>
            </a:r>
          </a:p>
        </p:txBody>
      </p:sp>
      <p:sp>
        <p:nvSpPr>
          <p:cNvPr id="24" name="TextBox 23"/>
          <p:cNvSpPr txBox="1"/>
          <p:nvPr/>
        </p:nvSpPr>
        <p:spPr>
          <a:xfrm>
            <a:off x="548640" y="4343400"/>
            <a:ext cx="11082528" cy="146304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Clinical rule.  </a:t>
            </a:r>
            <a:r>
              <a:rPr sz="1250" b="0">
                <a:solidFill>
                  <a:srgbClr val="1A1A1A"/>
                </a:solidFill>
                <a:latin typeface="Abadi"/>
              </a:rPr>
              <a:t>In these children, a first endoscopy is justified by bleeding, anaemia, feeding refusal or before gastrostomy and fundoplication decisions; long-segment columnar change in a teenager with CF is a referral to an adult Barrett's programme, not a curiosity.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THE EOSINOPHILIC DIFFERENTIAL</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REFLUX OR EOSINOPHILIC OESOPHAGITIS?</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Features that separate the two, none of them perfect alone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15</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Dellon ES, et al. Gastroenterology 2018;155:1022–33 (AGREE) · Amil-Dias J, et al. JPGN 2024;79:394–437 · Rosen 2018</a:t>
            </a:r>
          </a:p>
        </p:txBody>
      </p:sp>
      <p:graphicFrame>
        <p:nvGraphicFramePr>
          <p:cNvPr id="12" name="Table 11"/>
          <p:cNvGraphicFramePr>
            <a:graphicFrameLocks noGrp="1"/>
          </p:cNvGraphicFramePr>
          <p:nvPr/>
        </p:nvGraphicFramePr>
        <p:xfrm>
          <a:off x="548640" y="1783080"/>
          <a:ext cx="11082528" cy="3200400"/>
        </p:xfrm>
        <a:graphic>
          <a:graphicData uri="http://schemas.openxmlformats.org/drawingml/2006/table">
            <a:tbl>
              <a:tblPr firstRow="0" bandRow="0">
                <a:tableStyleId>{5940675A-B579-460E-94D1-54222C63F5DA}</a:tableStyleId>
              </a:tblPr>
              <a:tblGrid>
                <a:gridCol w="2377440"/>
                <a:gridCol w="4023360"/>
                <a:gridCol w="4681728"/>
              </a:tblGrid>
              <a:tr h="457200">
                <a:tc>
                  <a:txBody>
                    <a:bodyPr wrap="square"/>
                    <a:lstStyle/>
                    <a:p>
                      <a:r>
                        <a:rPr sz="1050" b="1">
                          <a:solidFill>
                            <a:srgbClr val="FFFFFF"/>
                          </a:solidFill>
                          <a:latin typeface="Abadi"/>
                        </a:rPr>
                        <a:t>Feature</a:t>
                      </a:r>
                    </a:p>
                  </a:txBody>
                  <a:tcPr marL="73152" marR="73152" marT="27432" marB="27432" anchor="ctr">
                    <a:solidFill>
                      <a:srgbClr val="1B355E"/>
                    </a:solidFill>
                  </a:tcPr>
                </a:tc>
                <a:tc>
                  <a:txBody>
                    <a:bodyPr wrap="square"/>
                    <a:lstStyle/>
                    <a:p>
                      <a:r>
                        <a:rPr sz="1050" b="1">
                          <a:solidFill>
                            <a:srgbClr val="FFFFFF"/>
                          </a:solidFill>
                          <a:latin typeface="Abadi"/>
                        </a:rPr>
                        <a:t>Reflux oesophagitis</a:t>
                      </a:r>
                    </a:p>
                  </a:txBody>
                  <a:tcPr marL="73152" marR="73152" marT="27432" marB="27432" anchor="ctr">
                    <a:solidFill>
                      <a:srgbClr val="1B355E"/>
                    </a:solidFill>
                  </a:tcPr>
                </a:tc>
                <a:tc>
                  <a:txBody>
                    <a:bodyPr wrap="square"/>
                    <a:lstStyle/>
                    <a:p>
                      <a:r>
                        <a:rPr sz="1050" b="1">
                          <a:solidFill>
                            <a:srgbClr val="FFFFFF"/>
                          </a:solidFill>
                          <a:latin typeface="Abadi"/>
                        </a:rPr>
                        <a:t>Eosinophilic oesophagitis</a:t>
                      </a:r>
                    </a:p>
                  </a:txBody>
                  <a:tcPr marL="73152" marR="73152" marT="27432" marB="27432" anchor="ctr">
                    <a:solidFill>
                      <a:srgbClr val="1B355E"/>
                    </a:solidFill>
                  </a:tcPr>
                </a:tc>
              </a:tr>
              <a:tr h="457200">
                <a:tc>
                  <a:txBody>
                    <a:bodyPr wrap="square"/>
                    <a:lstStyle/>
                    <a:p>
                      <a:r>
                        <a:rPr sz="1050" b="1">
                          <a:solidFill>
                            <a:srgbClr val="1A1A1A"/>
                          </a:solidFill>
                          <a:latin typeface="Abadi"/>
                        </a:rPr>
                        <a:t>Typical patient</a:t>
                      </a:r>
                    </a:p>
                  </a:txBody>
                  <a:tcPr marL="73152" marR="73152" marT="27432" marB="27432" anchor="ctr">
                    <a:solidFill>
                      <a:srgbClr val="FFFFFF"/>
                    </a:solidFill>
                  </a:tcPr>
                </a:tc>
                <a:tc>
                  <a:txBody>
                    <a:bodyPr wrap="square"/>
                    <a:lstStyle/>
                    <a:p>
                      <a:r>
                        <a:rPr sz="1050" b="0">
                          <a:solidFill>
                            <a:srgbClr val="1A1A1A"/>
                          </a:solidFill>
                          <a:latin typeface="Abadi"/>
                        </a:rPr>
                        <a:t>Infant regurgitation; heartburn in older child</a:t>
                      </a:r>
                    </a:p>
                  </a:txBody>
                  <a:tcPr marL="73152" marR="73152" marT="27432" marB="27432" anchor="ctr">
                    <a:solidFill>
                      <a:srgbClr val="FFFFFF"/>
                    </a:solidFill>
                  </a:tcPr>
                </a:tc>
                <a:tc>
                  <a:txBody>
                    <a:bodyPr wrap="square"/>
                    <a:lstStyle/>
                    <a:p>
                      <a:r>
                        <a:rPr sz="1050" b="0">
                          <a:solidFill>
                            <a:srgbClr val="1A1A1A"/>
                          </a:solidFill>
                          <a:latin typeface="Abadi"/>
                        </a:rPr>
                        <a:t>Atopic boy; dysphagia, food impaction</a:t>
                      </a:r>
                    </a:p>
                  </a:txBody>
                  <a:tcPr marL="73152" marR="73152" marT="27432" marB="27432" anchor="ctr">
                    <a:solidFill>
                      <a:srgbClr val="FFFFFF"/>
                    </a:solidFill>
                  </a:tcPr>
                </a:tc>
              </a:tr>
              <a:tr h="457200">
                <a:tc>
                  <a:txBody>
                    <a:bodyPr wrap="square"/>
                    <a:lstStyle/>
                    <a:p>
                      <a:r>
                        <a:rPr sz="1050" b="1">
                          <a:solidFill>
                            <a:srgbClr val="1A1A1A"/>
                          </a:solidFill>
                          <a:latin typeface="Abadi"/>
                        </a:rPr>
                        <a:t>Endoscopy</a:t>
                      </a:r>
                    </a:p>
                  </a:txBody>
                  <a:tcPr marL="73152" marR="73152" marT="27432" marB="27432" anchor="ctr">
                    <a:solidFill>
                      <a:srgbClr val="F2F4F7"/>
                    </a:solidFill>
                  </a:tcPr>
                </a:tc>
                <a:tc>
                  <a:txBody>
                    <a:bodyPr wrap="square"/>
                    <a:lstStyle/>
                    <a:p>
                      <a:r>
                        <a:rPr sz="1050" b="0">
                          <a:solidFill>
                            <a:srgbClr val="1A1A1A"/>
                          </a:solidFill>
                          <a:latin typeface="Abadi"/>
                        </a:rPr>
                        <a:t>Distal erosions; LA grading</a:t>
                      </a:r>
                    </a:p>
                  </a:txBody>
                  <a:tcPr marL="73152" marR="73152" marT="27432" marB="27432" anchor="ctr">
                    <a:solidFill>
                      <a:srgbClr val="F2F4F7"/>
                    </a:solidFill>
                  </a:tcPr>
                </a:tc>
                <a:tc>
                  <a:txBody>
                    <a:bodyPr wrap="square"/>
                    <a:lstStyle/>
                    <a:p>
                      <a:r>
                        <a:rPr sz="1050" b="0">
                          <a:solidFill>
                            <a:srgbClr val="1A1A1A"/>
                          </a:solidFill>
                          <a:latin typeface="Abadi"/>
                        </a:rPr>
                        <a:t>Rings, furrows, exudates, narrow calibre (EREFS)</a:t>
                      </a:r>
                    </a:p>
                  </a:txBody>
                  <a:tcPr marL="73152" marR="73152" marT="27432" marB="27432" anchor="ctr">
                    <a:solidFill>
                      <a:srgbClr val="F2F4F7"/>
                    </a:solidFill>
                  </a:tcPr>
                </a:tc>
              </a:tr>
              <a:tr h="457200">
                <a:tc>
                  <a:txBody>
                    <a:bodyPr wrap="square"/>
                    <a:lstStyle/>
                    <a:p>
                      <a:r>
                        <a:rPr sz="1050" b="1">
                          <a:solidFill>
                            <a:srgbClr val="1A1A1A"/>
                          </a:solidFill>
                          <a:latin typeface="Abadi"/>
                        </a:rPr>
                        <a:t>Eosinophils</a:t>
                      </a:r>
                    </a:p>
                  </a:txBody>
                  <a:tcPr marL="73152" marR="73152" marT="27432" marB="27432" anchor="ctr">
                    <a:solidFill>
                      <a:srgbClr val="FFFFFF"/>
                    </a:solidFill>
                  </a:tcPr>
                </a:tc>
                <a:tc>
                  <a:txBody>
                    <a:bodyPr wrap="square"/>
                    <a:lstStyle/>
                    <a:p>
                      <a:r>
                        <a:rPr sz="1050" b="0">
                          <a:solidFill>
                            <a:srgbClr val="1A1A1A"/>
                          </a:solidFill>
                          <a:latin typeface="Abadi"/>
                        </a:rPr>
                        <a:t>Few, distal oesophagus</a:t>
                      </a:r>
                    </a:p>
                  </a:txBody>
                  <a:tcPr marL="73152" marR="73152" marT="27432" marB="27432" anchor="ctr">
                    <a:solidFill>
                      <a:srgbClr val="FFFFFF"/>
                    </a:solidFill>
                  </a:tcPr>
                </a:tc>
                <a:tc>
                  <a:txBody>
                    <a:bodyPr wrap="square"/>
                    <a:lstStyle/>
                    <a:p>
                      <a:r>
                        <a:rPr sz="1050" b="0">
                          <a:solidFill>
                            <a:srgbClr val="1A1A1A"/>
                          </a:solidFill>
                          <a:latin typeface="Abadi"/>
                        </a:rPr>
                        <a:t>≥ 15 per high-power field, proximal and distal</a:t>
                      </a:r>
                    </a:p>
                  </a:txBody>
                  <a:tcPr marL="73152" marR="73152" marT="27432" marB="27432" anchor="ctr">
                    <a:solidFill>
                      <a:srgbClr val="FFFFFF"/>
                    </a:solidFill>
                  </a:tcPr>
                </a:tc>
              </a:tr>
              <a:tr h="457200">
                <a:tc>
                  <a:txBody>
                    <a:bodyPr wrap="square"/>
                    <a:lstStyle/>
                    <a:p>
                      <a:r>
                        <a:rPr sz="1050" b="1">
                          <a:solidFill>
                            <a:srgbClr val="1A1A1A"/>
                          </a:solidFill>
                          <a:latin typeface="Abadi"/>
                        </a:rPr>
                        <a:t>Distribution</a:t>
                      </a:r>
                    </a:p>
                  </a:txBody>
                  <a:tcPr marL="73152" marR="73152" marT="27432" marB="27432" anchor="ctr">
                    <a:solidFill>
                      <a:srgbClr val="F2F4F7"/>
                    </a:solidFill>
                  </a:tcPr>
                </a:tc>
                <a:tc>
                  <a:txBody>
                    <a:bodyPr wrap="square"/>
                    <a:lstStyle/>
                    <a:p>
                      <a:r>
                        <a:rPr sz="1050" b="0">
                          <a:solidFill>
                            <a:srgbClr val="1A1A1A"/>
                          </a:solidFill>
                          <a:latin typeface="Abadi"/>
                        </a:rPr>
                        <a:t>Gradient towards the junction</a:t>
                      </a:r>
                    </a:p>
                  </a:txBody>
                  <a:tcPr marL="73152" marR="73152" marT="27432" marB="27432" anchor="ctr">
                    <a:solidFill>
                      <a:srgbClr val="F2F4F7"/>
                    </a:solidFill>
                  </a:tcPr>
                </a:tc>
                <a:tc>
                  <a:txBody>
                    <a:bodyPr wrap="square"/>
                    <a:lstStyle/>
                    <a:p>
                      <a:r>
                        <a:rPr sz="1050" b="0">
                          <a:solidFill>
                            <a:srgbClr val="1A1A1A"/>
                          </a:solidFill>
                          <a:latin typeface="Abadi"/>
                        </a:rPr>
                        <a:t>Patchy, whole oesophagus: take ≥ 6 biopsies from 2 levels</a:t>
                      </a:r>
                    </a:p>
                  </a:txBody>
                  <a:tcPr marL="73152" marR="73152" marT="27432" marB="27432" anchor="ctr">
                    <a:solidFill>
                      <a:srgbClr val="F2F4F7"/>
                    </a:solidFill>
                  </a:tcPr>
                </a:tc>
              </a:tr>
              <a:tr h="457200">
                <a:tc>
                  <a:txBody>
                    <a:bodyPr wrap="square"/>
                    <a:lstStyle/>
                    <a:p>
                      <a:r>
                        <a:rPr sz="1050" b="1">
                          <a:solidFill>
                            <a:srgbClr val="1A1A1A"/>
                          </a:solidFill>
                          <a:latin typeface="Abadi"/>
                        </a:rPr>
                        <a:t>PPI response</a:t>
                      </a:r>
                    </a:p>
                  </a:txBody>
                  <a:tcPr marL="73152" marR="73152" marT="27432" marB="27432" anchor="ctr">
                    <a:solidFill>
                      <a:srgbClr val="FFFFFF"/>
                    </a:solidFill>
                  </a:tcPr>
                </a:tc>
                <a:tc>
                  <a:txBody>
                    <a:bodyPr wrap="square"/>
                    <a:lstStyle/>
                    <a:p>
                      <a:r>
                        <a:rPr sz="1050" b="0">
                          <a:solidFill>
                            <a:srgbClr val="1A1A1A"/>
                          </a:solidFill>
                          <a:latin typeface="Abadi"/>
                        </a:rPr>
                        <a:t>Yes</a:t>
                      </a:r>
                    </a:p>
                  </a:txBody>
                  <a:tcPr marL="73152" marR="73152" marT="27432" marB="27432" anchor="ctr">
                    <a:solidFill>
                      <a:srgbClr val="FFFFFF"/>
                    </a:solidFill>
                  </a:tcPr>
                </a:tc>
                <a:tc>
                  <a:txBody>
                    <a:bodyPr wrap="square"/>
                    <a:lstStyle/>
                    <a:p>
                      <a:r>
                        <a:rPr sz="1050" b="0">
                          <a:solidFill>
                            <a:srgbClr val="1A1A1A"/>
                          </a:solidFill>
                          <a:latin typeface="Abadi"/>
                        </a:rPr>
                        <a:t>Yes in about half: no longer a separate entity (AGREE 2018)</a:t>
                      </a:r>
                    </a:p>
                  </a:txBody>
                  <a:tcPr marL="73152" marR="73152" marT="27432" marB="27432" anchor="ctr">
                    <a:solidFill>
                      <a:srgbClr val="FFFFFF"/>
                    </a:solidFill>
                  </a:tcPr>
                </a:tc>
              </a:tr>
              <a:tr h="457200">
                <a:tc>
                  <a:txBody>
                    <a:bodyPr wrap="square"/>
                    <a:lstStyle/>
                    <a:p>
                      <a:r>
                        <a:rPr sz="1050" b="1">
                          <a:solidFill>
                            <a:srgbClr val="1A1A1A"/>
                          </a:solidFill>
                          <a:latin typeface="Abadi"/>
                        </a:rPr>
                        <a:t>Stricture</a:t>
                      </a:r>
                    </a:p>
                  </a:txBody>
                  <a:tcPr marL="73152" marR="73152" marT="27432" marB="27432" anchor="ctr">
                    <a:solidFill>
                      <a:srgbClr val="F2F4F7"/>
                    </a:solidFill>
                  </a:tcPr>
                </a:tc>
                <a:tc>
                  <a:txBody>
                    <a:bodyPr wrap="square"/>
                    <a:lstStyle/>
                    <a:p>
                      <a:r>
                        <a:rPr sz="1050" b="0">
                          <a:solidFill>
                            <a:srgbClr val="1A1A1A"/>
                          </a:solidFill>
                          <a:latin typeface="Abadi"/>
                        </a:rPr>
                        <a:t>Short, distal</a:t>
                      </a:r>
                    </a:p>
                  </a:txBody>
                  <a:tcPr marL="73152" marR="73152" marT="27432" marB="27432" anchor="ctr">
                    <a:solidFill>
                      <a:srgbClr val="F2F4F7"/>
                    </a:solidFill>
                  </a:tcPr>
                </a:tc>
                <a:tc>
                  <a:txBody>
                    <a:bodyPr wrap="square"/>
                    <a:lstStyle/>
                    <a:p>
                      <a:r>
                        <a:rPr sz="1050" b="0">
                          <a:solidFill>
                            <a:srgbClr val="1A1A1A"/>
                          </a:solidFill>
                          <a:latin typeface="Abadi"/>
                        </a:rPr>
                        <a:t>Long or small-calibre; mucosal tears at dilation</a:t>
                      </a:r>
                    </a:p>
                  </a:txBody>
                  <a:tcPr marL="73152" marR="73152" marT="27432" marB="27432" anchor="ctr">
                    <a:solidFill>
                      <a:srgbClr val="F2F4F7"/>
                    </a:solidFill>
                  </a:tcPr>
                </a:tc>
              </a:tr>
            </a:tbl>
          </a:graphicData>
        </a:graphic>
      </p:graphicFrame>
      <p:sp>
        <p:nvSpPr>
          <p:cNvPr id="13" name="TextBox 12"/>
          <p:cNvSpPr txBox="1"/>
          <p:nvPr/>
        </p:nvSpPr>
        <p:spPr>
          <a:xfrm>
            <a:off x="548640" y="5166360"/>
            <a:ext cx="11082528" cy="64008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Key change.  </a:t>
            </a:r>
            <a:r>
              <a:rPr sz="1200" b="0">
                <a:solidFill>
                  <a:srgbClr val="1A1A1A"/>
                </a:solidFill>
                <a:latin typeface="Abadi"/>
              </a:rPr>
              <a:t>Since AGREE 2018, a PPI response does not exclude eosinophilic oesophagitis; PPI is one of its first-line treatments.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OVERLAP</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BOTH CAN BE TRUE</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Reflux and eosinophilic oesophagitis coexist, especially after atresia repair</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16</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Maestri 2022 · Krishnan 2016 · Dellon 2018 · Amil-Dias 2024</a:t>
            </a:r>
          </a:p>
        </p:txBody>
      </p:sp>
      <p:sp>
        <p:nvSpPr>
          <p:cNvPr id="12" name="Rectangle 11"/>
          <p:cNvSpPr/>
          <p:nvPr/>
        </p:nvSpPr>
        <p:spPr>
          <a:xfrm>
            <a:off x="548640" y="1773936"/>
            <a:ext cx="3572255" cy="18288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3572255" cy="73152"/>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1956816"/>
            <a:ext cx="3243072" cy="457200"/>
          </a:xfrm>
          <a:prstGeom prst="rect">
            <a:avLst/>
          </a:prstGeom>
          <a:noFill/>
        </p:spPr>
        <p:txBody>
          <a:bodyPr wrap="square" lIns="0" rIns="0" tIns="18288" bIns="18288" anchor="t">
            <a:spAutoFit/>
          </a:bodyPr>
          <a:lstStyle/>
          <a:p>
            <a:pPr algn="l"/>
            <a:r>
              <a:rPr sz="2000" b="1">
                <a:solidFill>
                  <a:srgbClr val="1E7A33"/>
                </a:solidFill>
                <a:latin typeface="Abadi"/>
              </a:rPr>
              <a:t>12%</a:t>
            </a:r>
          </a:p>
        </p:txBody>
      </p:sp>
      <p:sp>
        <p:nvSpPr>
          <p:cNvPr id="15" name="TextBox 14"/>
          <p:cNvSpPr txBox="1"/>
          <p:nvPr/>
        </p:nvSpPr>
        <p:spPr>
          <a:xfrm>
            <a:off x="713232" y="2487168"/>
            <a:ext cx="3243072" cy="1005840"/>
          </a:xfrm>
          <a:prstGeom prst="rect">
            <a:avLst/>
          </a:prstGeom>
          <a:noFill/>
        </p:spPr>
        <p:txBody>
          <a:bodyPr wrap="square" lIns="0" rIns="0" tIns="18288" bIns="18288" anchor="t">
            <a:spAutoFit/>
          </a:bodyPr>
          <a:lstStyle/>
          <a:p>
            <a:pPr algn="l"/>
            <a:r>
              <a:rPr sz="1050" b="0">
                <a:solidFill>
                  <a:srgbClr val="1A1A1A"/>
                </a:solidFill>
                <a:latin typeface="Abadi"/>
              </a:rPr>
              <a:t>Eosinophilic oesophagitis in children with atresia under surveillance, far above the general population.</a:t>
            </a:r>
          </a:p>
        </p:txBody>
      </p:sp>
      <p:sp>
        <p:nvSpPr>
          <p:cNvPr id="16" name="Rectangle 15"/>
          <p:cNvSpPr/>
          <p:nvPr/>
        </p:nvSpPr>
        <p:spPr>
          <a:xfrm>
            <a:off x="4303775" y="1773936"/>
            <a:ext cx="3572255" cy="18288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303775" y="1773936"/>
            <a:ext cx="3572255" cy="73152"/>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68367" y="1956816"/>
            <a:ext cx="3243072" cy="457200"/>
          </a:xfrm>
          <a:prstGeom prst="rect">
            <a:avLst/>
          </a:prstGeom>
          <a:noFill/>
        </p:spPr>
        <p:txBody>
          <a:bodyPr wrap="square" lIns="0" rIns="0" tIns="18288" bIns="18288" anchor="t">
            <a:spAutoFit/>
          </a:bodyPr>
          <a:lstStyle/>
          <a:p>
            <a:pPr algn="l"/>
            <a:r>
              <a:rPr sz="2000" b="1">
                <a:solidFill>
                  <a:srgbClr val="D97A0B"/>
                </a:solidFill>
                <a:latin typeface="Abadi"/>
              </a:rPr>
              <a:t>3 of 7</a:t>
            </a:r>
          </a:p>
        </p:txBody>
      </p:sp>
      <p:sp>
        <p:nvSpPr>
          <p:cNvPr id="19" name="TextBox 18"/>
          <p:cNvSpPr txBox="1"/>
          <p:nvPr/>
        </p:nvSpPr>
        <p:spPr>
          <a:xfrm>
            <a:off x="4468367" y="2487168"/>
            <a:ext cx="3243072" cy="1005840"/>
          </a:xfrm>
          <a:prstGeom prst="rect">
            <a:avLst/>
          </a:prstGeom>
          <a:noFill/>
        </p:spPr>
        <p:txBody>
          <a:bodyPr wrap="square" lIns="0" rIns="0" tIns="18288" bIns="18288" anchor="t">
            <a:spAutoFit/>
          </a:bodyPr>
          <a:lstStyle/>
          <a:p>
            <a:pPr algn="l"/>
            <a:r>
              <a:rPr sz="1050" b="0">
                <a:solidFill>
                  <a:srgbClr val="1A1A1A"/>
                </a:solidFill>
                <a:latin typeface="Abadi"/>
              </a:rPr>
              <a:t>Types A and B (no distal fistula) had EoE, vs 9% of types C and D.</a:t>
            </a:r>
          </a:p>
        </p:txBody>
      </p:sp>
      <p:sp>
        <p:nvSpPr>
          <p:cNvPr id="20" name="Rectangle 19"/>
          <p:cNvSpPr/>
          <p:nvPr/>
        </p:nvSpPr>
        <p:spPr>
          <a:xfrm>
            <a:off x="8058911" y="1773936"/>
            <a:ext cx="3572255" cy="18288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058911" y="1773936"/>
            <a:ext cx="3572255" cy="7315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3503" y="1956816"/>
            <a:ext cx="3243072" cy="457200"/>
          </a:xfrm>
          <a:prstGeom prst="rect">
            <a:avLst/>
          </a:prstGeom>
          <a:noFill/>
        </p:spPr>
        <p:txBody>
          <a:bodyPr wrap="square" lIns="0" rIns="0" tIns="18288" bIns="18288" anchor="t">
            <a:spAutoFit/>
          </a:bodyPr>
          <a:lstStyle/>
          <a:p>
            <a:pPr algn="l"/>
            <a:r>
              <a:rPr sz="2000" b="1">
                <a:solidFill>
                  <a:srgbClr val="1B355E"/>
                </a:solidFill>
                <a:latin typeface="Abadi"/>
              </a:rPr>
              <a:t>Same rules</a:t>
            </a:r>
          </a:p>
        </p:txBody>
      </p:sp>
      <p:sp>
        <p:nvSpPr>
          <p:cNvPr id="23" name="TextBox 22"/>
          <p:cNvSpPr txBox="1"/>
          <p:nvPr/>
        </p:nvSpPr>
        <p:spPr>
          <a:xfrm>
            <a:off x="8223503" y="2487168"/>
            <a:ext cx="3243072" cy="1005840"/>
          </a:xfrm>
          <a:prstGeom prst="rect">
            <a:avLst/>
          </a:prstGeom>
          <a:noFill/>
        </p:spPr>
        <p:txBody>
          <a:bodyPr wrap="square" lIns="0" rIns="0" tIns="18288" bIns="18288" anchor="t">
            <a:spAutoFit/>
          </a:bodyPr>
          <a:lstStyle/>
          <a:p>
            <a:pPr algn="l"/>
            <a:r>
              <a:rPr sz="1050" b="0">
                <a:solidFill>
                  <a:srgbClr val="1A1A1A"/>
                </a:solidFill>
                <a:latin typeface="Abadi"/>
              </a:rPr>
              <a:t>2016 guideline: manage eosinophilic oesophagitis in atresia exactly as in other children.</a:t>
            </a:r>
          </a:p>
        </p:txBody>
      </p:sp>
      <p:sp>
        <p:nvSpPr>
          <p:cNvPr id="24" name="Rectangle 23"/>
          <p:cNvSpPr/>
          <p:nvPr/>
        </p:nvSpPr>
        <p:spPr>
          <a:xfrm>
            <a:off x="548640" y="3794760"/>
            <a:ext cx="3572255" cy="182880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794760"/>
            <a:ext cx="3572255"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4944" y="3977640"/>
            <a:ext cx="3279648" cy="502920"/>
          </a:xfrm>
          <a:prstGeom prst="rect">
            <a:avLst/>
          </a:prstGeom>
          <a:noFill/>
        </p:spPr>
        <p:txBody>
          <a:bodyPr wrap="square" lIns="0" rIns="0" tIns="18288" bIns="18288" anchor="t">
            <a:spAutoFit/>
          </a:bodyPr>
          <a:lstStyle/>
          <a:p>
            <a:pPr algn="l"/>
            <a:r>
              <a:rPr sz="1500" b="1">
                <a:solidFill>
                  <a:srgbClr val="D97A0B"/>
                </a:solidFill>
                <a:latin typeface="Abadi"/>
              </a:rPr>
              <a:t>Reflux damages the barrier</a:t>
            </a:r>
          </a:p>
        </p:txBody>
      </p:sp>
      <p:sp>
        <p:nvSpPr>
          <p:cNvPr id="27" name="TextBox 26"/>
          <p:cNvSpPr txBox="1"/>
          <p:nvPr/>
        </p:nvSpPr>
        <p:spPr>
          <a:xfrm>
            <a:off x="694944" y="4526280"/>
            <a:ext cx="3279648" cy="100584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Antigens enter</a:t>
            </a:r>
          </a:p>
          <a:p>
            <a:pPr algn="l">
              <a:spcAft>
                <a:spcPts val="300"/>
              </a:spcAft>
            </a:pPr>
            <a:r>
              <a:rPr sz="1100" b="0">
                <a:solidFill>
                  <a:srgbClr val="1A1A1A"/>
                </a:solidFill>
                <a:latin typeface="Abadi"/>
              </a:rPr>
              <a:t>▪  Eosinophilic response may follow</a:t>
            </a:r>
          </a:p>
        </p:txBody>
      </p:sp>
      <p:sp>
        <p:nvSpPr>
          <p:cNvPr id="28" name="Rectangle 27"/>
          <p:cNvSpPr/>
          <p:nvPr/>
        </p:nvSpPr>
        <p:spPr>
          <a:xfrm>
            <a:off x="4303775" y="3794760"/>
            <a:ext cx="3572255" cy="182880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303775" y="3794760"/>
            <a:ext cx="3572255"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50080" y="3977640"/>
            <a:ext cx="3279648" cy="502920"/>
          </a:xfrm>
          <a:prstGeom prst="rect">
            <a:avLst/>
          </a:prstGeom>
          <a:noFill/>
        </p:spPr>
        <p:txBody>
          <a:bodyPr wrap="square" lIns="0" rIns="0" tIns="18288" bIns="18288" anchor="t">
            <a:spAutoFit/>
          </a:bodyPr>
          <a:lstStyle/>
          <a:p>
            <a:pPr algn="l"/>
            <a:r>
              <a:rPr sz="1500" b="1">
                <a:solidFill>
                  <a:srgbClr val="1E7A33"/>
                </a:solidFill>
                <a:latin typeface="Abadi"/>
              </a:rPr>
              <a:t>Eosinophils impair clearance</a:t>
            </a:r>
          </a:p>
        </p:txBody>
      </p:sp>
      <p:sp>
        <p:nvSpPr>
          <p:cNvPr id="31" name="TextBox 30"/>
          <p:cNvSpPr txBox="1"/>
          <p:nvPr/>
        </p:nvSpPr>
        <p:spPr>
          <a:xfrm>
            <a:off x="4450080" y="4526280"/>
            <a:ext cx="3279648" cy="100584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Stiff wall, poor motility</a:t>
            </a:r>
          </a:p>
          <a:p>
            <a:pPr algn="l">
              <a:spcAft>
                <a:spcPts val="300"/>
              </a:spcAft>
            </a:pPr>
            <a:r>
              <a:rPr sz="1100" b="0">
                <a:solidFill>
                  <a:srgbClr val="1A1A1A"/>
                </a:solidFill>
                <a:latin typeface="Abadi"/>
              </a:rPr>
              <a:t>▪  More reflux contact</a:t>
            </a:r>
          </a:p>
        </p:txBody>
      </p:sp>
      <p:sp>
        <p:nvSpPr>
          <p:cNvPr id="32" name="Rectangle 31"/>
          <p:cNvSpPr/>
          <p:nvPr/>
        </p:nvSpPr>
        <p:spPr>
          <a:xfrm>
            <a:off x="8058911" y="3794760"/>
            <a:ext cx="3572255" cy="182880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058911" y="3794760"/>
            <a:ext cx="3572255"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05215" y="3977640"/>
            <a:ext cx="3279648" cy="502920"/>
          </a:xfrm>
          <a:prstGeom prst="rect">
            <a:avLst/>
          </a:prstGeom>
          <a:noFill/>
        </p:spPr>
        <p:txBody>
          <a:bodyPr wrap="square" lIns="0" rIns="0" tIns="18288" bIns="18288" anchor="t">
            <a:spAutoFit/>
          </a:bodyPr>
          <a:lstStyle/>
          <a:p>
            <a:pPr algn="l"/>
            <a:r>
              <a:rPr sz="1500" b="1">
                <a:solidFill>
                  <a:srgbClr val="1B355E"/>
                </a:solidFill>
                <a:latin typeface="Abadi"/>
              </a:rPr>
              <a:t>Practical consequence</a:t>
            </a:r>
          </a:p>
        </p:txBody>
      </p:sp>
      <p:sp>
        <p:nvSpPr>
          <p:cNvPr id="35" name="TextBox 34"/>
          <p:cNvSpPr txBox="1"/>
          <p:nvPr/>
        </p:nvSpPr>
        <p:spPr>
          <a:xfrm>
            <a:off x="8205215" y="4526280"/>
            <a:ext cx="3279648" cy="1005840"/>
          </a:xfrm>
          <a:prstGeom prst="rect">
            <a:avLst/>
          </a:prstGeom>
          <a:noFill/>
        </p:spPr>
        <p:txBody>
          <a:bodyPr wrap="square" lIns="0" rIns="0" tIns="18288" bIns="18288" anchor="t">
            <a:spAutoFit/>
          </a:bodyPr>
          <a:lstStyle/>
          <a:p>
            <a:pPr algn="l">
              <a:spcAft>
                <a:spcPts val="300"/>
              </a:spcAft>
            </a:pPr>
            <a:r>
              <a:rPr sz="1100" b="0">
                <a:solidFill>
                  <a:srgbClr val="1A1A1A"/>
                </a:solidFill>
                <a:latin typeface="Abadi"/>
              </a:rPr>
              <a:t>▪  Biopsy every stricture</a:t>
            </a:r>
          </a:p>
          <a:p>
            <a:pPr algn="l">
              <a:spcAft>
                <a:spcPts val="300"/>
              </a:spcAft>
            </a:pPr>
            <a:r>
              <a:rPr sz="1100" b="0">
                <a:solidFill>
                  <a:srgbClr val="1A1A1A"/>
                </a:solidFill>
                <a:latin typeface="Abadi"/>
              </a:rPr>
              <a:t>▪  Re-biopsy on PPI before calling it reflux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GUIDELINES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WHAT THE DOCUMENTS SAY</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Paediatric guidance (NASPGHAN/ESPGHAN 2018, atresia 2016, ESPGHAN EoE 2024) versus adult ACG, BSG and AGREE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17</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Rosen 2018 · Krishnan 2016 · Amil-Dias 2024 · Shaheen 2022 (ACG) · Fitzgerald 2014 (BSG) · Dellon 2018 · ten Kate CA, et al. BMJ Open 2019;9:e033030</a:t>
            </a:r>
          </a:p>
        </p:txBody>
      </p:sp>
      <p:graphicFrame>
        <p:nvGraphicFramePr>
          <p:cNvPr id="12" name="Table 11"/>
          <p:cNvGraphicFramePr>
            <a:graphicFrameLocks noGrp="1"/>
          </p:cNvGraphicFramePr>
          <p:nvPr/>
        </p:nvGraphicFramePr>
        <p:xfrm>
          <a:off x="548640" y="1783080"/>
          <a:ext cx="11082528" cy="3072384"/>
        </p:xfrm>
        <a:graphic>
          <a:graphicData uri="http://schemas.openxmlformats.org/drawingml/2006/table">
            <a:tbl>
              <a:tblPr firstRow="0" bandRow="0">
                <a:tableStyleId>{5940675A-B579-460E-94D1-54222C63F5DA}</a:tableStyleId>
              </a:tblPr>
              <a:tblGrid>
                <a:gridCol w="2377440"/>
                <a:gridCol w="3657600"/>
                <a:gridCol w="3840480"/>
                <a:gridCol w="1207008"/>
              </a:tblGrid>
              <a:tr h="438912">
                <a:tc>
                  <a:txBody>
                    <a:bodyPr wrap="square"/>
                    <a:lstStyle/>
                    <a:p>
                      <a:r>
                        <a:rPr sz="1050" b="1">
                          <a:solidFill>
                            <a:srgbClr val="FFFFFF"/>
                          </a:solidFill>
                          <a:latin typeface="Abadi"/>
                        </a:rPr>
                        <a:t>Question</a:t>
                      </a:r>
                    </a:p>
                  </a:txBody>
                  <a:tcPr marL="73152" marR="73152" marT="27432" marB="27432" anchor="ctr">
                    <a:solidFill>
                      <a:srgbClr val="1B355E"/>
                    </a:solidFill>
                  </a:tcPr>
                </a:tc>
                <a:tc>
                  <a:txBody>
                    <a:bodyPr wrap="square"/>
                    <a:lstStyle/>
                    <a:p>
                      <a:r>
                        <a:rPr sz="1050" b="1">
                          <a:solidFill>
                            <a:srgbClr val="FFFFFF"/>
                          </a:solidFill>
                          <a:latin typeface="Abadi"/>
                        </a:rPr>
                        <a:t>Paediatric documents</a:t>
                      </a:r>
                    </a:p>
                  </a:txBody>
                  <a:tcPr marL="73152" marR="73152" marT="27432" marB="27432" anchor="ctr">
                    <a:solidFill>
                      <a:srgbClr val="1B355E"/>
                    </a:solidFill>
                  </a:tcPr>
                </a:tc>
                <a:tc>
                  <a:txBody>
                    <a:bodyPr wrap="square"/>
                    <a:lstStyle/>
                    <a:p>
                      <a:r>
                        <a:rPr sz="1050" b="1">
                          <a:solidFill>
                            <a:srgbClr val="FFFFFF"/>
                          </a:solidFill>
                          <a:latin typeface="Abadi"/>
                        </a:rPr>
                        <a:t>Adult documents</a:t>
                      </a:r>
                    </a:p>
                  </a:txBody>
                  <a:tcPr marL="73152" marR="73152" marT="27432" marB="27432" anchor="ctr">
                    <a:solidFill>
                      <a:srgbClr val="1B355E"/>
                    </a:solidFill>
                  </a:tcPr>
                </a:tc>
                <a:tc>
                  <a:txBody>
                    <a:bodyPr wrap="square"/>
                    <a:lstStyle/>
                    <a:p>
                      <a:r>
                        <a:rPr sz="1050" b="1">
                          <a:solidFill>
                            <a:srgbClr val="FFFFFF"/>
                          </a:solidFill>
                          <a:latin typeface="Abadi"/>
                        </a:rPr>
                        <a:t>Verdict</a:t>
                      </a:r>
                    </a:p>
                  </a:txBody>
                  <a:tcPr marL="73152" marR="73152" marT="27432" marB="27432" anchor="ctr">
                    <a:solidFill>
                      <a:srgbClr val="1B355E"/>
                    </a:solidFill>
                  </a:tcPr>
                </a:tc>
              </a:tr>
              <a:tr h="438912">
                <a:tc>
                  <a:txBody>
                    <a:bodyPr wrap="square"/>
                    <a:lstStyle/>
                    <a:p>
                      <a:r>
                        <a:rPr sz="1000" b="1">
                          <a:solidFill>
                            <a:srgbClr val="1A1A1A"/>
                          </a:solidFill>
                          <a:latin typeface="Abadi"/>
                        </a:rPr>
                        <a:t>Role of EGD</a:t>
                      </a:r>
                    </a:p>
                  </a:txBody>
                  <a:tcPr marL="73152" marR="73152" marT="27432" marB="27432" anchor="ctr">
                    <a:solidFill>
                      <a:srgbClr val="FFFFFF"/>
                    </a:solidFill>
                  </a:tcPr>
                </a:tc>
                <a:tc>
                  <a:txBody>
                    <a:bodyPr wrap="square"/>
                    <a:lstStyle/>
                    <a:p>
                      <a:r>
                        <a:rPr sz="1000" b="0">
                          <a:solidFill>
                            <a:srgbClr val="1A1A1A"/>
                          </a:solidFill>
                          <a:latin typeface="Abadi"/>
                        </a:rPr>
                        <a:t>Assess complications, exclude EoE; not to diagnose reflux alone</a:t>
                      </a:r>
                    </a:p>
                  </a:txBody>
                  <a:tcPr marL="73152" marR="73152" marT="27432" marB="27432" anchor="ctr">
                    <a:solidFill>
                      <a:srgbClr val="FFFFFF"/>
                    </a:solidFill>
                  </a:tcPr>
                </a:tc>
                <a:tc>
                  <a:txBody>
                    <a:bodyPr wrap="square"/>
                    <a:lstStyle/>
                    <a:p>
                      <a:r>
                        <a:rPr sz="1000" b="0">
                          <a:solidFill>
                            <a:srgbClr val="1A1A1A"/>
                          </a:solidFill>
                          <a:latin typeface="Abadi"/>
                        </a:rPr>
                        <a:t>Erosive grade B–D, Barrett's, stricture are proof of reflux</a:t>
                      </a:r>
                    </a:p>
                  </a:txBody>
                  <a:tcPr marL="73152" marR="73152" marT="27432" marB="27432" anchor="ctr">
                    <a:solidFill>
                      <a:srgbClr val="FFFFFF"/>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r h="438912">
                <a:tc>
                  <a:txBody>
                    <a:bodyPr wrap="square"/>
                    <a:lstStyle/>
                    <a:p>
                      <a:r>
                        <a:rPr sz="1000" b="1">
                          <a:solidFill>
                            <a:srgbClr val="1A1A1A"/>
                          </a:solidFill>
                          <a:latin typeface="Abadi"/>
                        </a:rPr>
                        <a:t>Healing check after severe oesophagitis</a:t>
                      </a:r>
                    </a:p>
                  </a:txBody>
                  <a:tcPr marL="73152" marR="73152" marT="27432" marB="27432" anchor="ctr">
                    <a:solidFill>
                      <a:srgbClr val="F2F4F7"/>
                    </a:solidFill>
                  </a:tcPr>
                </a:tc>
                <a:tc>
                  <a:txBody>
                    <a:bodyPr wrap="square"/>
                    <a:lstStyle/>
                    <a:p>
                      <a:r>
                        <a:rPr sz="1000" b="0">
                          <a:solidFill>
                            <a:srgbClr val="1A1A1A"/>
                          </a:solidFill>
                          <a:latin typeface="Abadi"/>
                        </a:rPr>
                        <a:t>Not specified</a:t>
                      </a:r>
                    </a:p>
                  </a:txBody>
                  <a:tcPr marL="73152" marR="73152" marT="27432" marB="27432" anchor="ctr">
                    <a:solidFill>
                      <a:srgbClr val="F2F4F7"/>
                    </a:solidFill>
                  </a:tcPr>
                </a:tc>
                <a:tc>
                  <a:txBody>
                    <a:bodyPr wrap="square"/>
                    <a:lstStyle/>
                    <a:p>
                      <a:r>
                        <a:rPr sz="1000" b="0">
                          <a:solidFill>
                            <a:srgbClr val="1A1A1A"/>
                          </a:solidFill>
                          <a:latin typeface="Abadi"/>
                        </a:rPr>
                        <a:t>ACG: repeat EGD 8–12 weeks after PPI to look for Barrett's</a:t>
                      </a:r>
                    </a:p>
                  </a:txBody>
                  <a:tcPr marL="73152" marR="73152" marT="27432" marB="27432" anchor="ctr">
                    <a:solidFill>
                      <a:srgbClr val="F2F4F7"/>
                    </a:solidFill>
                  </a:tcPr>
                </a:tc>
                <a:tc>
                  <a:txBody>
                    <a:bodyPr wrap="square"/>
                    <a:lstStyle/>
                    <a:p>
                      <a:pPr algn="ctr"/>
                      <a:r>
                        <a:rPr sz="850" b="1">
                          <a:solidFill>
                            <a:srgbClr val="FFFFFF"/>
                          </a:solidFill>
                          <a:latin typeface="Abadi"/>
                        </a:rPr>
                        <a:t>GAP</a:t>
                      </a:r>
                    </a:p>
                  </a:txBody>
                  <a:tcPr marL="73152" marR="73152" marT="27432" marB="27432" anchor="ctr">
                    <a:solidFill>
                      <a:srgbClr val="8A939B"/>
                    </a:solidFill>
                  </a:tcPr>
                </a:tc>
              </a:tr>
              <a:tr h="438912">
                <a:tc>
                  <a:txBody>
                    <a:bodyPr wrap="square"/>
                    <a:lstStyle/>
                    <a:p>
                      <a:r>
                        <a:rPr sz="1000" b="1">
                          <a:solidFill>
                            <a:srgbClr val="1A1A1A"/>
                          </a:solidFill>
                          <a:latin typeface="Abadi"/>
                        </a:rPr>
                        <a:t>Barrett's definition</a:t>
                      </a:r>
                    </a:p>
                  </a:txBody>
                  <a:tcPr marL="73152" marR="73152" marT="27432" marB="27432" anchor="ctr">
                    <a:solidFill>
                      <a:srgbClr val="FFFFFF"/>
                    </a:solidFill>
                  </a:tcPr>
                </a:tc>
                <a:tc>
                  <a:txBody>
                    <a:bodyPr wrap="square"/>
                    <a:lstStyle/>
                    <a:p>
                      <a:r>
                        <a:rPr sz="1000" b="0">
                          <a:solidFill>
                            <a:srgbClr val="1A1A1A"/>
                          </a:solidFill>
                          <a:latin typeface="Abadi"/>
                        </a:rPr>
                        <a:t>None</a:t>
                      </a:r>
                    </a:p>
                  </a:txBody>
                  <a:tcPr marL="73152" marR="73152" marT="27432" marB="27432" anchor="ctr">
                    <a:solidFill>
                      <a:srgbClr val="FFFFFF"/>
                    </a:solidFill>
                  </a:tcPr>
                </a:tc>
                <a:tc>
                  <a:txBody>
                    <a:bodyPr wrap="square"/>
                    <a:lstStyle/>
                    <a:p>
                      <a:r>
                        <a:rPr sz="1000" b="0">
                          <a:solidFill>
                            <a:srgbClr val="1A1A1A"/>
                          </a:solidFill>
                          <a:latin typeface="Abadi"/>
                        </a:rPr>
                        <a:t>ACG: ≥ 1 cm with intestinal metaplasia; BSG: metaplasia not required</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38912">
                <a:tc>
                  <a:txBody>
                    <a:bodyPr wrap="square"/>
                    <a:lstStyle/>
                    <a:p>
                      <a:r>
                        <a:rPr sz="1000" b="1">
                          <a:solidFill>
                            <a:srgbClr val="1A1A1A"/>
                          </a:solidFill>
                          <a:latin typeface="Abadi"/>
                        </a:rPr>
                        <a:t>Surveillance in atresia</a:t>
                      </a:r>
                    </a:p>
                  </a:txBody>
                  <a:tcPr marL="73152" marR="73152" marT="27432" marB="27432" anchor="ctr">
                    <a:solidFill>
                      <a:srgbClr val="F2F4F7"/>
                    </a:solidFill>
                  </a:tcPr>
                </a:tc>
                <a:tc>
                  <a:txBody>
                    <a:bodyPr wrap="square"/>
                    <a:lstStyle/>
                    <a:p>
                      <a:r>
                        <a:rPr sz="1000" b="0">
                          <a:solidFill>
                            <a:srgbClr val="1A1A1A"/>
                          </a:solidFill>
                          <a:latin typeface="Abadi"/>
                        </a:rPr>
                        <a:t>Three scopes: off PPI, before 10, at transition</a:t>
                      </a:r>
                    </a:p>
                  </a:txBody>
                  <a:tcPr marL="73152" marR="73152" marT="27432" marB="27432" anchor="ctr">
                    <a:solidFill>
                      <a:srgbClr val="F2F4F7"/>
                    </a:solidFill>
                  </a:tcPr>
                </a:tc>
                <a:tc>
                  <a:txBody>
                    <a:bodyPr wrap="square"/>
                    <a:lstStyle/>
                    <a:p>
                      <a:r>
                        <a:rPr sz="1000" b="0">
                          <a:solidFill>
                            <a:srgbClr val="1A1A1A"/>
                          </a:solidFill>
                          <a:latin typeface="Abadi"/>
                        </a:rPr>
                        <a:t>No adult atresia schedule; Barrett's 3–5 yearly</a:t>
                      </a:r>
                    </a:p>
                  </a:txBody>
                  <a:tcPr marL="73152" marR="73152" marT="27432" marB="27432" anchor="ctr">
                    <a:solidFill>
                      <a:srgbClr val="F2F4F7"/>
                    </a:solidFill>
                  </a:tcPr>
                </a:tc>
                <a:tc>
                  <a:txBody>
                    <a:bodyPr wrap="square"/>
                    <a:lstStyle/>
                    <a:p>
                      <a:pPr algn="ctr"/>
                      <a:r>
                        <a:rPr sz="850" b="1">
                          <a:solidFill>
                            <a:srgbClr val="FFFFFF"/>
                          </a:solidFill>
                          <a:latin typeface="Abadi"/>
                        </a:rPr>
                        <a:t>MATERIAL</a:t>
                      </a:r>
                    </a:p>
                  </a:txBody>
                  <a:tcPr marL="73152" marR="73152" marT="27432" marB="27432" anchor="ctr">
                    <a:solidFill>
                      <a:srgbClr val="B22222"/>
                    </a:solidFill>
                  </a:tcPr>
                </a:tc>
              </a:tr>
              <a:tr h="438912">
                <a:tc>
                  <a:txBody>
                    <a:bodyPr wrap="square"/>
                    <a:lstStyle/>
                    <a:p>
                      <a:r>
                        <a:rPr sz="1000" b="1">
                          <a:solidFill>
                            <a:srgbClr val="1A1A1A"/>
                          </a:solidFill>
                          <a:latin typeface="Abadi"/>
                        </a:rPr>
                        <a:t>Refractory stricture</a:t>
                      </a:r>
                    </a:p>
                  </a:txBody>
                  <a:tcPr marL="73152" marR="73152" marT="27432" marB="27432" anchor="ctr">
                    <a:solidFill>
                      <a:srgbClr val="FFFFFF"/>
                    </a:solidFill>
                  </a:tcPr>
                </a:tc>
                <a:tc>
                  <a:txBody>
                    <a:bodyPr wrap="square"/>
                    <a:lstStyle/>
                    <a:p>
                      <a:r>
                        <a:rPr sz="1000" b="0">
                          <a:solidFill>
                            <a:srgbClr val="1A1A1A"/>
                          </a:solidFill>
                          <a:latin typeface="Abadi"/>
                        </a:rPr>
                        <a:t>≥ 5 dilations at ≤ 4-week intervals, no inflammation</a:t>
                      </a:r>
                    </a:p>
                  </a:txBody>
                  <a:tcPr marL="73152" marR="73152" marT="27432" marB="27432" anchor="ctr">
                    <a:solidFill>
                      <a:srgbClr val="FFFFFF"/>
                    </a:solidFill>
                  </a:tcPr>
                </a:tc>
                <a:tc>
                  <a:txBody>
                    <a:bodyPr wrap="square"/>
                    <a:lstStyle/>
                    <a:p>
                      <a:r>
                        <a:rPr sz="1000" b="0">
                          <a:solidFill>
                            <a:srgbClr val="1A1A1A"/>
                          </a:solidFill>
                          <a:latin typeface="Abadi"/>
                        </a:rPr>
                        <a:t>Kochman: 14 mm not reached in 5 sessions at 2-week intervals</a:t>
                      </a:r>
                    </a:p>
                  </a:txBody>
                  <a:tcPr marL="73152" marR="73152" marT="27432" marB="27432" anchor="ctr">
                    <a:solidFill>
                      <a:srgbClr val="FFFFFF"/>
                    </a:solidFill>
                  </a:tcPr>
                </a:tc>
                <a:tc>
                  <a:txBody>
                    <a:bodyPr wrap="square"/>
                    <a:lstStyle/>
                    <a:p>
                      <a:pPr algn="ctr"/>
                      <a:r>
                        <a:rPr sz="850" b="1">
                          <a:solidFill>
                            <a:srgbClr val="FFFFFF"/>
                          </a:solidFill>
                          <a:latin typeface="Abadi"/>
                        </a:rPr>
                        <a:t>DIFFERS</a:t>
                      </a:r>
                    </a:p>
                  </a:txBody>
                  <a:tcPr marL="73152" marR="73152" marT="27432" marB="27432" anchor="ctr">
                    <a:solidFill>
                      <a:srgbClr val="D97A0B"/>
                    </a:solidFill>
                  </a:tcPr>
                </a:tc>
              </a:tr>
              <a:tr h="438912">
                <a:tc>
                  <a:txBody>
                    <a:bodyPr wrap="square"/>
                    <a:lstStyle/>
                    <a:p>
                      <a:r>
                        <a:rPr sz="1000" b="1">
                          <a:solidFill>
                            <a:srgbClr val="1A1A1A"/>
                          </a:solidFill>
                          <a:latin typeface="Abadi"/>
                        </a:rPr>
                        <a:t>PPI-responsive eosinophilia</a:t>
                      </a:r>
                    </a:p>
                  </a:txBody>
                  <a:tcPr marL="73152" marR="73152" marT="27432" marB="27432" anchor="ctr">
                    <a:solidFill>
                      <a:srgbClr val="F2F4F7"/>
                    </a:solidFill>
                  </a:tcPr>
                </a:tc>
                <a:tc>
                  <a:txBody>
                    <a:bodyPr wrap="square"/>
                    <a:lstStyle/>
                    <a:p>
                      <a:r>
                        <a:rPr sz="1000" b="0">
                          <a:solidFill>
                            <a:srgbClr val="1A1A1A"/>
                          </a:solidFill>
                          <a:latin typeface="Abadi"/>
                        </a:rPr>
                        <a:t>EoE; PPI is first-line treatment</a:t>
                      </a:r>
                    </a:p>
                  </a:txBody>
                  <a:tcPr marL="73152" marR="73152" marT="27432" marB="27432" anchor="ctr">
                    <a:solidFill>
                      <a:srgbClr val="F2F4F7"/>
                    </a:solidFill>
                  </a:tcPr>
                </a:tc>
                <a:tc>
                  <a:txBody>
                    <a:bodyPr wrap="square"/>
                    <a:lstStyle/>
                    <a:p>
                      <a:r>
                        <a:rPr sz="1000" b="0">
                          <a:solidFill>
                            <a:srgbClr val="1A1A1A"/>
                          </a:solidFill>
                          <a:latin typeface="Abadi"/>
                        </a:rPr>
                        <a:t>AGREE: same; no separate entity</a:t>
                      </a:r>
                    </a:p>
                  </a:txBody>
                  <a:tcPr marL="73152" marR="73152" marT="27432" marB="27432" anchor="ctr">
                    <a:solidFill>
                      <a:srgbClr val="F2F4F7"/>
                    </a:solidFill>
                  </a:tcPr>
                </a:tc>
                <a:tc>
                  <a:txBody>
                    <a:bodyPr wrap="square"/>
                    <a:lstStyle/>
                    <a:p>
                      <a:pPr algn="ctr"/>
                      <a:r>
                        <a:rPr sz="850" b="1">
                          <a:solidFill>
                            <a:srgbClr val="FFFFFF"/>
                          </a:solidFill>
                          <a:latin typeface="Abadi"/>
                        </a:rPr>
                        <a:t>ALIGNED</a:t>
                      </a:r>
                    </a:p>
                  </a:txBody>
                  <a:tcPr marL="73152" marR="73152" marT="27432" marB="27432" anchor="ctr">
                    <a:solidFill>
                      <a:srgbClr val="1E7A33"/>
                    </a:solidFill>
                  </a:tcPr>
                </a:tc>
              </a:tr>
            </a:tbl>
          </a:graphicData>
        </a:graphic>
      </p:graphicFrame>
      <p:sp>
        <p:nvSpPr>
          <p:cNvPr id="13" name="TextBox 12"/>
          <p:cNvSpPr txBox="1"/>
          <p:nvPr/>
        </p:nvSpPr>
        <p:spPr>
          <a:xfrm>
            <a:off x="548640" y="5029200"/>
            <a:ext cx="11082528" cy="777240"/>
          </a:xfrm>
          <a:prstGeom prst="rect">
            <a:avLst/>
          </a:prstGeom>
          <a:noFill/>
        </p:spPr>
        <p:txBody>
          <a:bodyPr wrap="square" lIns="0" rIns="0" tIns="18288" bIns="18288" anchor="t">
            <a:spAutoFit/>
          </a:bodyPr>
          <a:lstStyle/>
          <a:p>
            <a:pPr algn="l">
              <a:spcAft>
                <a:spcPts val="600"/>
              </a:spcAft>
            </a:pPr>
            <a:r>
              <a:rPr sz="1200" b="1">
                <a:solidFill>
                  <a:srgbClr val="1B355E"/>
                </a:solidFill>
                <a:latin typeface="Abadi"/>
              </a:rPr>
              <a:t>Material gap.  </a:t>
            </a:r>
            <a:r>
              <a:rPr sz="1200" b="0">
                <a:solidFill>
                  <a:srgbClr val="1A1A1A"/>
                </a:solidFill>
                <a:latin typeface="Abadi"/>
              </a:rPr>
              <a:t>Children with atresia graduate into adult services with a known metaplasia risk, a squamous cancer risk, and no agreed adult surveillance schedule.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TRAPS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WHERE THE REASONING GOES WRONG</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Errors that miss complications or treat the wrong disease</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18</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Schneider 2016 · Tullie 2021 · Maestri 2022 · Dellon 2018 · Vergouwe 2019</a:t>
            </a:r>
          </a:p>
        </p:txBody>
      </p:sp>
      <p:sp>
        <p:nvSpPr>
          <p:cNvPr id="12" name="Rectangle 11"/>
          <p:cNvSpPr/>
          <p:nvPr/>
        </p:nvSpPr>
        <p:spPr>
          <a:xfrm>
            <a:off x="548640" y="1773936"/>
            <a:ext cx="2633472" cy="2331720"/>
          </a:xfrm>
          <a:prstGeom prst="rect">
            <a:avLst/>
          </a:prstGeom>
          <a:solidFill>
            <a:srgbClr val="F6D2D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773936"/>
            <a:ext cx="2633472" cy="100584"/>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4944" y="1956816"/>
            <a:ext cx="2340864" cy="731520"/>
          </a:xfrm>
          <a:prstGeom prst="rect">
            <a:avLst/>
          </a:prstGeom>
          <a:noFill/>
        </p:spPr>
        <p:txBody>
          <a:bodyPr wrap="square" lIns="0" rIns="0" tIns="18288" bIns="18288" anchor="t">
            <a:spAutoFit/>
          </a:bodyPr>
          <a:lstStyle/>
          <a:p>
            <a:pPr algn="l"/>
            <a:r>
              <a:rPr sz="1400" b="1">
                <a:solidFill>
                  <a:srgbClr val="B22222"/>
                </a:solidFill>
                <a:latin typeface="Abadi"/>
              </a:rPr>
              <a:t>"He has no symptoms"</a:t>
            </a:r>
          </a:p>
        </p:txBody>
      </p:sp>
      <p:sp>
        <p:nvSpPr>
          <p:cNvPr id="15" name="TextBox 14"/>
          <p:cNvSpPr txBox="1"/>
          <p:nvPr/>
        </p:nvSpPr>
        <p:spPr>
          <a:xfrm>
            <a:off x="694944" y="2734056"/>
            <a:ext cx="2340864" cy="128016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Atresia: symptoms do not predict Barrett's</a:t>
            </a:r>
          </a:p>
          <a:p>
            <a:pPr algn="l">
              <a:spcAft>
                <a:spcPts val="300"/>
              </a:spcAft>
            </a:pPr>
            <a:r>
              <a:rPr sz="1150" b="0">
                <a:solidFill>
                  <a:srgbClr val="1A1A1A"/>
                </a:solidFill>
                <a:latin typeface="Abadi"/>
              </a:rPr>
              <a:t>▪  Scope on schedule</a:t>
            </a:r>
          </a:p>
        </p:txBody>
      </p:sp>
      <p:sp>
        <p:nvSpPr>
          <p:cNvPr id="16" name="Rectangle 15"/>
          <p:cNvSpPr/>
          <p:nvPr/>
        </p:nvSpPr>
        <p:spPr>
          <a:xfrm>
            <a:off x="3364992" y="1773936"/>
            <a:ext cx="2633472" cy="2331720"/>
          </a:xfrm>
          <a:prstGeom prst="rect">
            <a:avLst/>
          </a:prstGeom>
          <a:solidFill>
            <a:srgbClr val="FBEFB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64992" y="1773936"/>
            <a:ext cx="2633472" cy="100584"/>
          </a:xfrm>
          <a:prstGeom prst="rect">
            <a:avLst/>
          </a:prstGeom>
          <a:solidFill>
            <a:srgbClr val="D97A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511296" y="1956816"/>
            <a:ext cx="2340864" cy="731520"/>
          </a:xfrm>
          <a:prstGeom prst="rect">
            <a:avLst/>
          </a:prstGeom>
          <a:noFill/>
        </p:spPr>
        <p:txBody>
          <a:bodyPr wrap="square" lIns="0" rIns="0" tIns="18288" bIns="18288" anchor="t">
            <a:spAutoFit/>
          </a:bodyPr>
          <a:lstStyle/>
          <a:p>
            <a:pPr algn="l"/>
            <a:r>
              <a:rPr sz="1400" b="1">
                <a:solidFill>
                  <a:srgbClr val="D97A0B"/>
                </a:solidFill>
                <a:latin typeface="Abadi"/>
              </a:rPr>
              <a:t>"Salmon tongue = Barrett's"</a:t>
            </a:r>
          </a:p>
        </p:txBody>
      </p:sp>
      <p:sp>
        <p:nvSpPr>
          <p:cNvPr id="19" name="TextBox 18"/>
          <p:cNvSpPr txBox="1"/>
          <p:nvPr/>
        </p:nvSpPr>
        <p:spPr>
          <a:xfrm>
            <a:off x="3511296" y="2734056"/>
            <a:ext cx="2340864" cy="128016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Hernia and irregular Z line mislead</a:t>
            </a:r>
          </a:p>
          <a:p>
            <a:pPr algn="l">
              <a:spcAft>
                <a:spcPts val="300"/>
              </a:spcAft>
            </a:pPr>
            <a:r>
              <a:rPr sz="1150" b="0">
                <a:solidFill>
                  <a:srgbClr val="1A1A1A"/>
                </a:solidFill>
                <a:latin typeface="Abadi"/>
              </a:rPr>
              <a:t>▪  Biopsy; name the metaplasia type</a:t>
            </a:r>
          </a:p>
        </p:txBody>
      </p:sp>
      <p:sp>
        <p:nvSpPr>
          <p:cNvPr id="20" name="Rectangle 19"/>
          <p:cNvSpPr/>
          <p:nvPr/>
        </p:nvSpPr>
        <p:spPr>
          <a:xfrm>
            <a:off x="6181344" y="1773936"/>
            <a:ext cx="2633472" cy="2331720"/>
          </a:xfrm>
          <a:prstGeom prst="rect">
            <a:avLst/>
          </a:prstGeom>
          <a:solidFill>
            <a:srgbClr val="CDE7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181344" y="1773936"/>
            <a:ext cx="2633472" cy="100584"/>
          </a:xfrm>
          <a:prstGeom prst="rect">
            <a:avLst/>
          </a:prstGeom>
          <a:solidFill>
            <a:srgbClr val="1E7A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27648" y="1956816"/>
            <a:ext cx="2340864" cy="731520"/>
          </a:xfrm>
          <a:prstGeom prst="rect">
            <a:avLst/>
          </a:prstGeom>
          <a:noFill/>
        </p:spPr>
        <p:txBody>
          <a:bodyPr wrap="square" lIns="0" rIns="0" tIns="18288" bIns="18288" anchor="t">
            <a:spAutoFit/>
          </a:bodyPr>
          <a:lstStyle/>
          <a:p>
            <a:pPr algn="l"/>
            <a:r>
              <a:rPr sz="1400" b="1">
                <a:solidFill>
                  <a:srgbClr val="1E7A33"/>
                </a:solidFill>
                <a:latin typeface="Abadi"/>
              </a:rPr>
              <a:t>"PPI worked, so it was reflux"</a:t>
            </a:r>
          </a:p>
        </p:txBody>
      </p:sp>
      <p:sp>
        <p:nvSpPr>
          <p:cNvPr id="23" name="TextBox 22"/>
          <p:cNvSpPr txBox="1"/>
          <p:nvPr/>
        </p:nvSpPr>
        <p:spPr>
          <a:xfrm>
            <a:off x="6327648" y="2734056"/>
            <a:ext cx="2340864" cy="128016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EoE responds to PPI</a:t>
            </a:r>
          </a:p>
          <a:p>
            <a:pPr algn="l">
              <a:spcAft>
                <a:spcPts val="300"/>
              </a:spcAft>
            </a:pPr>
            <a:r>
              <a:rPr sz="1150" b="0">
                <a:solidFill>
                  <a:srgbClr val="1A1A1A"/>
                </a:solidFill>
                <a:latin typeface="Abadi"/>
              </a:rPr>
              <a:t>▪  Biopsy decides</a:t>
            </a:r>
          </a:p>
        </p:txBody>
      </p:sp>
      <p:sp>
        <p:nvSpPr>
          <p:cNvPr id="24" name="Rectangle 23"/>
          <p:cNvSpPr/>
          <p:nvPr/>
        </p:nvSpPr>
        <p:spPr>
          <a:xfrm>
            <a:off x="8997696" y="1773936"/>
            <a:ext cx="2633472" cy="2331720"/>
          </a:xfrm>
          <a:prstGeom prst="rect">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997696" y="1773936"/>
            <a:ext cx="2633472" cy="100584"/>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0" y="1956816"/>
            <a:ext cx="2340864" cy="731520"/>
          </a:xfrm>
          <a:prstGeom prst="rect">
            <a:avLst/>
          </a:prstGeom>
          <a:noFill/>
        </p:spPr>
        <p:txBody>
          <a:bodyPr wrap="square" lIns="0" rIns="0" tIns="18288" bIns="18288" anchor="t">
            <a:spAutoFit/>
          </a:bodyPr>
          <a:lstStyle/>
          <a:p>
            <a:pPr algn="l"/>
            <a:r>
              <a:rPr sz="1400" b="1">
                <a:solidFill>
                  <a:srgbClr val="1B355E"/>
                </a:solidFill>
                <a:latin typeface="Abadi"/>
              </a:rPr>
              <a:t>"Dilate and see"</a:t>
            </a:r>
          </a:p>
        </p:txBody>
      </p:sp>
      <p:sp>
        <p:nvSpPr>
          <p:cNvPr id="27" name="TextBox 26"/>
          <p:cNvSpPr txBox="1"/>
          <p:nvPr/>
        </p:nvSpPr>
        <p:spPr>
          <a:xfrm>
            <a:off x="9144000" y="2734056"/>
            <a:ext cx="2340864" cy="1280160"/>
          </a:xfrm>
          <a:prstGeom prst="rect">
            <a:avLst/>
          </a:prstGeom>
          <a:noFill/>
        </p:spPr>
        <p:txBody>
          <a:bodyPr wrap="square" lIns="0" rIns="0" tIns="18288" bIns="18288" anchor="t">
            <a:spAutoFit/>
          </a:bodyPr>
          <a:lstStyle/>
          <a:p>
            <a:pPr algn="l">
              <a:spcAft>
                <a:spcPts val="300"/>
              </a:spcAft>
            </a:pPr>
            <a:r>
              <a:rPr sz="1150" b="0">
                <a:solidFill>
                  <a:srgbClr val="1A1A1A"/>
                </a:solidFill>
                <a:latin typeface="Abadi"/>
              </a:rPr>
              <a:t>▪  Untreated inflammation recurs</a:t>
            </a:r>
          </a:p>
          <a:p>
            <a:pPr algn="l">
              <a:spcAft>
                <a:spcPts val="300"/>
              </a:spcAft>
            </a:pPr>
            <a:r>
              <a:rPr sz="1150" b="0">
                <a:solidFill>
                  <a:srgbClr val="1A1A1A"/>
                </a:solidFill>
                <a:latin typeface="Abadi"/>
              </a:rPr>
              <a:t>▪  Early dilation predicts refractoriness</a:t>
            </a:r>
          </a:p>
        </p:txBody>
      </p:sp>
      <p:sp>
        <p:nvSpPr>
          <p:cNvPr id="28" name="TextBox 27"/>
          <p:cNvSpPr txBox="1"/>
          <p:nvPr/>
        </p:nvSpPr>
        <p:spPr>
          <a:xfrm>
            <a:off x="548640" y="4343400"/>
            <a:ext cx="11082528" cy="1463040"/>
          </a:xfrm>
          <a:prstGeom prst="rect">
            <a:avLst/>
          </a:prstGeom>
          <a:noFill/>
        </p:spPr>
        <p:txBody>
          <a:bodyPr wrap="square" lIns="0" rIns="0" tIns="18288" bIns="18288" anchor="t">
            <a:spAutoFit/>
          </a:bodyPr>
          <a:lstStyle/>
          <a:p>
            <a:pPr algn="l">
              <a:spcAft>
                <a:spcPts val="600"/>
              </a:spcAft>
            </a:pPr>
            <a:r>
              <a:rPr sz="1250" b="1">
                <a:solidFill>
                  <a:srgbClr val="1B355E"/>
                </a:solidFill>
                <a:latin typeface="Abadi"/>
              </a:rPr>
              <a:t>And one more.  </a:t>
            </a:r>
            <a:r>
              <a:rPr sz="1250" b="0">
                <a:solidFill>
                  <a:srgbClr val="1A1A1A"/>
                </a:solidFill>
                <a:latin typeface="Abadi"/>
              </a:rPr>
              <a:t>Looking only at the junction in an adult survivor of atresia: most cancers after repair were squamous, and the scar, the pouch and the whole squamous lining deserve the same attention as the cardia.</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VIII</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PEARLS</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TEN THINGS TO REMEMBER</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The numbers worth carrying onto the ward</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19</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Gilger 2008 · El-Serag 2002 · Nguyen 2011 · Tolia 2010 · Edwards 2022 · Vergouwe 2019 · Tullie 2021 · Schneider 2016 · Maestri 2022 · Krishnan 2016</a:t>
            </a:r>
          </a:p>
        </p:txBody>
      </p:sp>
      <p:sp>
        <p:nvSpPr>
          <p:cNvPr id="12" name="TextBox 11"/>
          <p:cNvSpPr txBox="1"/>
          <p:nvPr/>
        </p:nvSpPr>
        <p:spPr>
          <a:xfrm>
            <a:off x="548640" y="1810512"/>
            <a:ext cx="11082528" cy="3931920"/>
          </a:xfrm>
          <a:prstGeom prst="rect">
            <a:avLst/>
          </a:prstGeom>
          <a:noFill/>
        </p:spPr>
        <p:txBody>
          <a:bodyPr wrap="square" lIns="0" rIns="0" tIns="18288" bIns="18288" anchor="t">
            <a:spAutoFit/>
          </a:bodyPr>
          <a:lstStyle/>
          <a:p>
            <a:pPr algn="l">
              <a:spcAft>
                <a:spcPts val="900"/>
              </a:spcAft>
            </a:pPr>
            <a:r>
              <a:rPr sz="1500" b="0">
                <a:solidFill>
                  <a:srgbClr val="1A1A1A"/>
                </a:solidFill>
                <a:latin typeface="Abadi"/>
              </a:rPr>
              <a:t>▪  Erosive oesophagitis: 12.4% of paediatric EGDs; mostly LA grade A or B; 89% heal in 8 weeks of PPI.</a:t>
            </a:r>
          </a:p>
          <a:p>
            <a:pPr algn="l">
              <a:spcAft>
                <a:spcPts val="900"/>
              </a:spcAft>
            </a:pPr>
            <a:r>
              <a:rPr sz="1500" b="0">
                <a:solidFill>
                  <a:srgbClr val="1A1A1A"/>
                </a:solidFill>
                <a:latin typeface="Abadi"/>
              </a:rPr>
              <a:t>▪  Barrett's in healthy children: 0.12% (1 of 840); suspected columnar change is usually not intestinal.</a:t>
            </a:r>
          </a:p>
          <a:p>
            <a:pPr algn="l">
              <a:spcAft>
                <a:spcPts val="900"/>
              </a:spcAft>
            </a:pPr>
            <a:r>
              <a:rPr sz="1500" b="0">
                <a:solidFill>
                  <a:srgbClr val="1A1A1A"/>
                </a:solidFill>
                <a:latin typeface="Abadi"/>
              </a:rPr>
              <a:t>▪  Neurologically impaired children present with blood: haematemesis 65%, any blood loss 85%.</a:t>
            </a:r>
          </a:p>
          <a:p>
            <a:pPr algn="l">
              <a:spcAft>
                <a:spcPts val="900"/>
              </a:spcAft>
            </a:pPr>
            <a:r>
              <a:rPr sz="1500" b="0">
                <a:solidFill>
                  <a:srgbClr val="1A1A1A"/>
                </a:solidFill>
                <a:latin typeface="Abadi"/>
              </a:rPr>
              <a:t>▪  Atresia: stricture in 58%, refractory in 7%; early dilation OR 15.9, long gap OR 5.7, leak OR 5.0.</a:t>
            </a:r>
          </a:p>
          <a:p>
            <a:pPr algn="l">
              <a:spcAft>
                <a:spcPts val="900"/>
              </a:spcAft>
            </a:pPr>
            <a:r>
              <a:rPr sz="1500" b="0">
                <a:solidFill>
                  <a:srgbClr val="1A1A1A"/>
                </a:solidFill>
                <a:latin typeface="Abadi"/>
              </a:rPr>
              <a:t>▪  Refractory (ESPGHAN): ≥ 5 dilations at ≤ 4-week intervals without inflammation.</a:t>
            </a:r>
          </a:p>
          <a:p>
            <a:pPr algn="l">
              <a:spcAft>
                <a:spcPts val="900"/>
              </a:spcAft>
            </a:pPr>
            <a:r>
              <a:rPr sz="1500" b="0">
                <a:solidFill>
                  <a:srgbClr val="1A1A1A"/>
                </a:solidFill>
                <a:latin typeface="Abadi"/>
              </a:rPr>
              <a:t>▪  Atresia Barrett's: 5.0% reported, 12.8% when scoped; intestinal type appears in adulthood.</a:t>
            </a:r>
          </a:p>
          <a:p>
            <a:pPr algn="l">
              <a:spcAft>
                <a:spcPts val="900"/>
              </a:spcAft>
            </a:pPr>
            <a:r>
              <a:rPr sz="1500" b="0">
                <a:solidFill>
                  <a:srgbClr val="1A1A1A"/>
                </a:solidFill>
                <a:latin typeface="Abadi"/>
              </a:rPr>
              <a:t>▪  Adolescents with atresia: Barrett's (mostly gastric) 43%; symptoms do not predict it.</a:t>
            </a:r>
          </a:p>
          <a:p>
            <a:pPr algn="l">
              <a:spcAft>
                <a:spcPts val="900"/>
              </a:spcAft>
            </a:pPr>
            <a:r>
              <a:rPr sz="1500" b="0">
                <a:solidFill>
                  <a:srgbClr val="1A1A1A"/>
                </a:solidFill>
                <a:latin typeface="Abadi"/>
              </a:rPr>
              <a:t>▪  Cancer after atresia: 13 reported, 9 squamous; mean age 40.5 years.</a:t>
            </a:r>
          </a:p>
          <a:p>
            <a:pPr algn="l">
              <a:spcAft>
                <a:spcPts val="900"/>
              </a:spcAft>
            </a:pPr>
            <a:r>
              <a:rPr sz="1500" b="0">
                <a:solidFill>
                  <a:srgbClr val="1A1A1A"/>
                </a:solidFill>
                <a:latin typeface="Abadi"/>
              </a:rPr>
              <a:t>▪  Surveillance: off PPI, before age 10, at transition; endoscopy with biopsies is mandatory.</a:t>
            </a:r>
          </a:p>
          <a:p>
            <a:pPr algn="l">
              <a:spcAft>
                <a:spcPts val="900"/>
              </a:spcAft>
            </a:pPr>
            <a:r>
              <a:rPr sz="1500" b="0">
                <a:solidFill>
                  <a:srgbClr val="1A1A1A"/>
                </a:solidFill>
                <a:latin typeface="Abadi"/>
              </a:rPr>
              <a:t>▪  Every stricture gets biopsies for eosinophils; PPI response does not exclude EoE.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48640" y="292608"/>
            <a:ext cx="630936" cy="347472"/>
          </a:xfrm>
          <a:prstGeom prst="rect">
            <a:avLst/>
          </a:prstGeom>
          <a:solidFill>
            <a:srgbClr val="B22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92608"/>
            <a:ext cx="630936" cy="347472"/>
          </a:xfrm>
          <a:prstGeom prst="rect">
            <a:avLst/>
          </a:prstGeom>
          <a:noFill/>
        </p:spPr>
        <p:txBody>
          <a:bodyPr wrap="square" lIns="0" rIns="0" tIns="18288" bIns="18288" anchor="ctr">
            <a:spAutoFit/>
          </a:bodyPr>
          <a:lstStyle/>
          <a:p>
            <a:pPr algn="ctr"/>
            <a:r>
              <a:rPr sz="1500" b="1">
                <a:solidFill>
                  <a:srgbClr val="FFFFFF"/>
                </a:solidFill>
                <a:latin typeface="Abadi"/>
              </a:rPr>
              <a:t>IX</a:t>
            </a:r>
          </a:p>
        </p:txBody>
      </p:sp>
      <p:sp>
        <p:nvSpPr>
          <p:cNvPr id="4" name="TextBox 3"/>
          <p:cNvSpPr txBox="1"/>
          <p:nvPr/>
        </p:nvSpPr>
        <p:spPr>
          <a:xfrm>
            <a:off x="1380744" y="292608"/>
            <a:ext cx="10232136" cy="347472"/>
          </a:xfrm>
          <a:prstGeom prst="rect">
            <a:avLst/>
          </a:prstGeom>
          <a:noFill/>
        </p:spPr>
        <p:txBody>
          <a:bodyPr wrap="square" lIns="0" rIns="0" tIns="18288" bIns="18288" anchor="ctr">
            <a:spAutoFit/>
          </a:bodyPr>
          <a:lstStyle/>
          <a:p>
            <a:pPr algn="l"/>
            <a:r>
              <a:rPr sz="1200" b="1">
                <a:solidFill>
                  <a:srgbClr val="B22222"/>
                </a:solidFill>
                <a:latin typeface="Abadi"/>
              </a:rPr>
              <a:t>SYNTHESIS — SCENARIO TO DECISION</a:t>
            </a:r>
          </a:p>
        </p:txBody>
      </p:sp>
      <p:sp>
        <p:nvSpPr>
          <p:cNvPr id="5" name="TextBox 4"/>
          <p:cNvSpPr txBox="1"/>
          <p:nvPr/>
        </p:nvSpPr>
        <p:spPr>
          <a:xfrm>
            <a:off x="548640" y="722376"/>
            <a:ext cx="11082528" cy="548640"/>
          </a:xfrm>
          <a:prstGeom prst="rect">
            <a:avLst/>
          </a:prstGeom>
          <a:noFill/>
        </p:spPr>
        <p:txBody>
          <a:bodyPr wrap="square" lIns="0" rIns="0" tIns="18288" bIns="18288" anchor="t">
            <a:spAutoFit/>
          </a:bodyPr>
          <a:lstStyle/>
          <a:p>
            <a:pPr algn="l"/>
            <a:r>
              <a:rPr sz="3000" b="1">
                <a:solidFill>
                  <a:srgbClr val="1B355E"/>
                </a:solidFill>
                <a:latin typeface="Abadi"/>
              </a:rPr>
              <a:t>FROM SCENARIO TO DECISION</a:t>
            </a:r>
          </a:p>
        </p:txBody>
      </p:sp>
      <p:sp>
        <p:nvSpPr>
          <p:cNvPr id="6" name="TextBox 5"/>
          <p:cNvSpPr txBox="1"/>
          <p:nvPr/>
        </p:nvSpPr>
        <p:spPr>
          <a:xfrm>
            <a:off x="548640" y="1307592"/>
            <a:ext cx="11082528" cy="265176"/>
          </a:xfrm>
          <a:prstGeom prst="rect">
            <a:avLst/>
          </a:prstGeom>
          <a:noFill/>
        </p:spPr>
        <p:txBody>
          <a:bodyPr wrap="square" lIns="0" rIns="0" tIns="18288" bIns="18288" anchor="t">
            <a:spAutoFit/>
          </a:bodyPr>
          <a:lstStyle/>
          <a:p>
            <a:pPr algn="l"/>
            <a:r>
              <a:rPr sz="1300" b="0">
                <a:solidFill>
                  <a:srgbClr val="555555"/>
                </a:solidFill>
                <a:latin typeface="Abadi"/>
              </a:rPr>
              <a:t>Applying the complications logic in clinic</a:t>
            </a:r>
          </a:p>
        </p:txBody>
      </p:sp>
      <p:sp>
        <p:nvSpPr>
          <p:cNvPr id="7" name="Rectangle 6"/>
          <p:cNvSpPr/>
          <p:nvPr/>
        </p:nvSpPr>
        <p:spPr>
          <a:xfrm>
            <a:off x="548640" y="1600200"/>
            <a:ext cx="11082528" cy="27432"/>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48640" y="1655064"/>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5888736"/>
            <a:ext cx="11082528" cy="9144"/>
          </a:xfrm>
          <a:prstGeom prst="rect">
            <a:avLst/>
          </a:prstGeom>
          <a:solidFill>
            <a:srgbClr val="BBBBB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936224" y="5971032"/>
            <a:ext cx="694944" cy="292608"/>
          </a:xfrm>
          <a:prstGeom prst="rect">
            <a:avLst/>
          </a:prstGeom>
          <a:noFill/>
        </p:spPr>
        <p:txBody>
          <a:bodyPr wrap="square" lIns="0" rIns="0" tIns="18288" bIns="18288" anchor="t">
            <a:spAutoFit/>
          </a:bodyPr>
          <a:lstStyle/>
          <a:p>
            <a:pPr algn="r"/>
            <a:r>
              <a:rPr sz="1200" b="0">
                <a:solidFill>
                  <a:srgbClr val="555555"/>
                </a:solidFill>
                <a:latin typeface="Abadi"/>
              </a:rPr>
              <a:t>20</a:t>
            </a:r>
          </a:p>
        </p:txBody>
      </p:sp>
      <p:sp>
        <p:nvSpPr>
          <p:cNvPr id="11" name="TextBox 10"/>
          <p:cNvSpPr txBox="1"/>
          <p:nvPr/>
        </p:nvSpPr>
        <p:spPr>
          <a:xfrm>
            <a:off x="548640" y="5971032"/>
            <a:ext cx="10287000" cy="457200"/>
          </a:xfrm>
          <a:prstGeom prst="rect">
            <a:avLst/>
          </a:prstGeom>
          <a:noFill/>
        </p:spPr>
        <p:txBody>
          <a:bodyPr wrap="square" lIns="0" rIns="0" tIns="18288" bIns="18288" anchor="t">
            <a:spAutoFit/>
          </a:bodyPr>
          <a:lstStyle/>
          <a:p>
            <a:pPr algn="l"/>
            <a:r>
              <a:rPr sz="1000" b="0">
                <a:solidFill>
                  <a:srgbClr val="7F7F7F"/>
                </a:solidFill>
                <a:latin typeface="Abadi"/>
              </a:rPr>
              <a:t>Synthesis of the sources above</a:t>
            </a:r>
          </a:p>
        </p:txBody>
      </p:sp>
      <p:graphicFrame>
        <p:nvGraphicFramePr>
          <p:cNvPr id="12" name="Table 11"/>
          <p:cNvGraphicFramePr>
            <a:graphicFrameLocks noGrp="1"/>
          </p:cNvGraphicFramePr>
          <p:nvPr/>
        </p:nvGraphicFramePr>
        <p:xfrm>
          <a:off x="548640" y="1783080"/>
          <a:ext cx="11082528" cy="3840480"/>
        </p:xfrm>
        <a:graphic>
          <a:graphicData uri="http://schemas.openxmlformats.org/drawingml/2006/table">
            <a:tbl>
              <a:tblPr firstRow="0" bandRow="0">
                <a:tableStyleId>{5940675A-B579-460E-94D1-54222C63F5DA}</a:tableStyleId>
              </a:tblPr>
              <a:tblGrid>
                <a:gridCol w="5577840"/>
                <a:gridCol w="5504688"/>
              </a:tblGrid>
              <a:tr h="548640">
                <a:tc>
                  <a:txBody>
                    <a:bodyPr wrap="square"/>
                    <a:lstStyle/>
                    <a:p>
                      <a:r>
                        <a:rPr sz="1100" b="1">
                          <a:solidFill>
                            <a:srgbClr val="FFFFFF"/>
                          </a:solidFill>
                          <a:latin typeface="Abadi"/>
                        </a:rPr>
                        <a:t>Scenario</a:t>
                      </a:r>
                    </a:p>
                  </a:txBody>
                  <a:tcPr marL="73152" marR="73152" marT="27432" marB="27432" anchor="ctr">
                    <a:solidFill>
                      <a:srgbClr val="1B355E"/>
                    </a:solidFill>
                  </a:tcPr>
                </a:tc>
                <a:tc>
                  <a:txBody>
                    <a:bodyPr wrap="square"/>
                    <a:lstStyle/>
                    <a:p>
                      <a:r>
                        <a:rPr sz="1100" b="1">
                          <a:solidFill>
                            <a:srgbClr val="FFFFFF"/>
                          </a:solidFill>
                          <a:latin typeface="Abadi"/>
                        </a:rPr>
                        <a:t>Decision</a:t>
                      </a:r>
                    </a:p>
                  </a:txBody>
                  <a:tcPr marL="73152" marR="73152" marT="27432" marB="27432" anchor="ctr">
                    <a:solidFill>
                      <a:srgbClr val="1B355E"/>
                    </a:solidFill>
                  </a:tcPr>
                </a:tc>
              </a:tr>
              <a:tr h="548640">
                <a:tc>
                  <a:txBody>
                    <a:bodyPr wrap="square"/>
                    <a:lstStyle/>
                    <a:p>
                      <a:r>
                        <a:rPr sz="1100" b="1">
                          <a:solidFill>
                            <a:srgbClr val="1A1A1A"/>
                          </a:solidFill>
                          <a:latin typeface="Abadi"/>
                        </a:rPr>
                        <a:t>14-year-old after atresia repair, asymptomatic, last scope in infancy</a:t>
                      </a:r>
                    </a:p>
                  </a:txBody>
                  <a:tcPr marL="73152" marR="73152" marT="27432" marB="27432" anchor="ctr">
                    <a:solidFill>
                      <a:srgbClr val="FFFFFF"/>
                    </a:solidFill>
                  </a:tcPr>
                </a:tc>
                <a:tc>
                  <a:txBody>
                    <a:bodyPr wrap="square"/>
                    <a:lstStyle/>
                    <a:p>
                      <a:r>
                        <a:rPr sz="1100" b="0">
                          <a:solidFill>
                            <a:srgbClr val="1A1A1A"/>
                          </a:solidFill>
                          <a:latin typeface="Abadi"/>
                        </a:rPr>
                        <a:t>Transition endoscopy now with biopsies; inspect the whole oesophagus; plan adult follow-up</a:t>
                      </a:r>
                    </a:p>
                  </a:txBody>
                  <a:tcPr marL="73152" marR="73152" marT="27432" marB="27432" anchor="ctr">
                    <a:solidFill>
                      <a:srgbClr val="FFFFFF"/>
                    </a:solidFill>
                  </a:tcPr>
                </a:tc>
              </a:tr>
              <a:tr h="548640">
                <a:tc>
                  <a:txBody>
                    <a:bodyPr wrap="square"/>
                    <a:lstStyle/>
                    <a:p>
                      <a:r>
                        <a:rPr sz="1100" b="1">
                          <a:solidFill>
                            <a:srgbClr val="1A1A1A"/>
                          </a:solidFill>
                          <a:latin typeface="Abadi"/>
                        </a:rPr>
                        <a:t>9-year-old, heartburn, LA grade B oesophagitis</a:t>
                      </a:r>
                    </a:p>
                  </a:txBody>
                  <a:tcPr marL="73152" marR="73152" marT="27432" marB="27432" anchor="ctr">
                    <a:solidFill>
                      <a:srgbClr val="F2F4F7"/>
                    </a:solidFill>
                  </a:tcPr>
                </a:tc>
                <a:tc>
                  <a:txBody>
                    <a:bodyPr wrap="square"/>
                    <a:lstStyle/>
                    <a:p>
                      <a:r>
                        <a:rPr sz="1100" b="0">
                          <a:solidFill>
                            <a:srgbClr val="1A1A1A"/>
                          </a:solidFill>
                          <a:latin typeface="Abadi"/>
                        </a:rPr>
                        <a:t>PPI 8 weeks; no routine re-scope if symptoms resolve</a:t>
                      </a:r>
                    </a:p>
                  </a:txBody>
                  <a:tcPr marL="73152" marR="73152" marT="27432" marB="27432" anchor="ctr">
                    <a:solidFill>
                      <a:srgbClr val="F2F4F7"/>
                    </a:solidFill>
                  </a:tcPr>
                </a:tc>
              </a:tr>
              <a:tr h="548640">
                <a:tc>
                  <a:txBody>
                    <a:bodyPr wrap="square"/>
                    <a:lstStyle/>
                    <a:p>
                      <a:r>
                        <a:rPr sz="1100" b="1">
                          <a:solidFill>
                            <a:srgbClr val="1A1A1A"/>
                          </a:solidFill>
                          <a:latin typeface="Abadi"/>
                        </a:rPr>
                        <a:t>Teen with cerebral palsy, iron-deficiency anaemia, no complaints</a:t>
                      </a:r>
                    </a:p>
                  </a:txBody>
                  <a:tcPr marL="73152" marR="73152" marT="27432" marB="27432" anchor="ctr">
                    <a:solidFill>
                      <a:srgbClr val="FFFFFF"/>
                    </a:solidFill>
                  </a:tcPr>
                </a:tc>
                <a:tc>
                  <a:txBody>
                    <a:bodyPr wrap="square"/>
                    <a:lstStyle/>
                    <a:p>
                      <a:r>
                        <a:rPr sz="1100" b="0">
                          <a:solidFill>
                            <a:srgbClr val="1A1A1A"/>
                          </a:solidFill>
                          <a:latin typeface="Abadi"/>
                        </a:rPr>
                        <a:t>Endoscopy: severe oesophagitis likely; PPI; review feeding position and hernia</a:t>
                      </a:r>
                    </a:p>
                  </a:txBody>
                  <a:tcPr marL="73152" marR="73152" marT="27432" marB="27432" anchor="ctr">
                    <a:solidFill>
                      <a:srgbClr val="FFFFFF"/>
                    </a:solidFill>
                  </a:tcPr>
                </a:tc>
              </a:tr>
              <a:tr h="548640">
                <a:tc>
                  <a:txBody>
                    <a:bodyPr wrap="square"/>
                    <a:lstStyle/>
                    <a:p>
                      <a:r>
                        <a:rPr sz="1100" b="1">
                          <a:solidFill>
                            <a:srgbClr val="1A1A1A"/>
                          </a:solidFill>
                          <a:latin typeface="Abadi"/>
                        </a:rPr>
                        <a:t>3-year-old after atresia, food sticking, stricture at anastomosis</a:t>
                      </a:r>
                    </a:p>
                  </a:txBody>
                  <a:tcPr marL="73152" marR="73152" marT="27432" marB="27432" anchor="ctr">
                    <a:solidFill>
                      <a:srgbClr val="F2F4F7"/>
                    </a:solidFill>
                  </a:tcPr>
                </a:tc>
                <a:tc>
                  <a:txBody>
                    <a:bodyPr wrap="square"/>
                    <a:lstStyle/>
                    <a:p>
                      <a:r>
                        <a:rPr sz="1100" b="0">
                          <a:solidFill>
                            <a:srgbClr val="1A1A1A"/>
                          </a:solidFill>
                          <a:latin typeface="Abadi"/>
                        </a:rPr>
                        <a:t>Biopsies above and at stricture; treat reflux or EoE; then dilate</a:t>
                      </a:r>
                    </a:p>
                  </a:txBody>
                  <a:tcPr marL="73152" marR="73152" marT="27432" marB="27432" anchor="ctr">
                    <a:solidFill>
                      <a:srgbClr val="F2F4F7"/>
                    </a:solidFill>
                  </a:tcPr>
                </a:tc>
              </a:tr>
              <a:tr h="548640">
                <a:tc>
                  <a:txBody>
                    <a:bodyPr wrap="square"/>
                    <a:lstStyle/>
                    <a:p>
                      <a:r>
                        <a:rPr sz="1100" b="1">
                          <a:solidFill>
                            <a:srgbClr val="1A1A1A"/>
                          </a:solidFill>
                          <a:latin typeface="Abadi"/>
                        </a:rPr>
                        <a:t>Third recurrence in 6 weeks despite PPI, reflux on pH-impedance</a:t>
                      </a:r>
                    </a:p>
                  </a:txBody>
                  <a:tcPr marL="73152" marR="73152" marT="27432" marB="27432" anchor="ctr">
                    <a:solidFill>
                      <a:srgbClr val="FFFFFF"/>
                    </a:solidFill>
                  </a:tcPr>
                </a:tc>
                <a:tc>
                  <a:txBody>
                    <a:bodyPr wrap="square"/>
                    <a:lstStyle/>
                    <a:p>
                      <a:r>
                        <a:rPr sz="1100" b="0">
                          <a:solidFill>
                            <a:srgbClr val="1A1A1A"/>
                          </a:solidFill>
                          <a:latin typeface="Abadi"/>
                        </a:rPr>
                        <a:t>Refractory pathway; discuss fundoplication or intralesional steroid</a:t>
                      </a:r>
                    </a:p>
                  </a:txBody>
                  <a:tcPr marL="73152" marR="73152" marT="27432" marB="27432" anchor="ctr">
                    <a:solidFill>
                      <a:srgbClr val="FFFFFF"/>
                    </a:solidFill>
                  </a:tcPr>
                </a:tc>
              </a:tr>
              <a:tr h="548640">
                <a:tc>
                  <a:txBody>
                    <a:bodyPr wrap="square"/>
                    <a:lstStyle/>
                    <a:p>
                      <a:r>
                        <a:rPr sz="1100" b="1">
                          <a:solidFill>
                            <a:srgbClr val="1A1A1A"/>
                          </a:solidFill>
                          <a:latin typeface="Abadi"/>
                        </a:rPr>
                        <a:t>Adolescent, dysphagia, rings and furrows, improved on PPI</a:t>
                      </a:r>
                    </a:p>
                  </a:txBody>
                  <a:tcPr marL="73152" marR="73152" marT="27432" marB="27432" anchor="ctr">
                    <a:solidFill>
                      <a:srgbClr val="F2F4F7"/>
                    </a:solidFill>
                  </a:tcPr>
                </a:tc>
                <a:tc>
                  <a:txBody>
                    <a:bodyPr wrap="square"/>
                    <a:lstStyle/>
                    <a:p>
                      <a:r>
                        <a:rPr sz="1100" b="0">
                          <a:solidFill>
                            <a:srgbClr val="1A1A1A"/>
                          </a:solidFill>
                          <a:latin typeface="Abadi"/>
                        </a:rPr>
                        <a:t>Eosinophilic oesophagitis until biopsies say otherwise</a:t>
                      </a:r>
                    </a:p>
                  </a:txBody>
                  <a:tcPr marL="73152" marR="73152" marT="27432" marB="27432" anchor="ctr">
                    <a:solidFill>
                      <a:srgbClr val="F2F4F7"/>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B35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0"/>
            <a:ext cx="11082528" cy="2194560"/>
          </a:xfrm>
          <a:prstGeom prst="rect">
            <a:avLst/>
          </a:prstGeom>
          <a:noFill/>
        </p:spPr>
        <p:txBody>
          <a:bodyPr wrap="square" lIns="0" rIns="0" tIns="18288" bIns="18288" anchor="b">
            <a:spAutoFit/>
          </a:bodyPr>
          <a:lstStyle/>
          <a:p>
            <a:pPr algn="ctr"/>
            <a:r>
              <a:rPr sz="4000" b="1">
                <a:solidFill>
                  <a:srgbClr val="FFFFFF"/>
                </a:solidFill>
                <a:latin typeface="Abadi"/>
              </a:rPr>
              <a:t>Oesophagitis and Its Complications — Strictures, Barrett's Oesophagus in At-Risk Children and the Eosinophilic Differential</a:t>
            </a:r>
          </a:p>
        </p:txBody>
      </p:sp>
      <p:sp>
        <p:nvSpPr>
          <p:cNvPr id="4" name="Rectangle 3"/>
          <p:cNvSpPr/>
          <p:nvPr/>
        </p:nvSpPr>
        <p:spPr>
          <a:xfrm>
            <a:off x="5184648" y="3630168"/>
            <a:ext cx="1828800" cy="18288"/>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31336"/>
            <a:ext cx="11082528" cy="292608"/>
          </a:xfrm>
          <a:prstGeom prst="rect">
            <a:avLst/>
          </a:prstGeom>
          <a:noFill/>
        </p:spPr>
        <p:txBody>
          <a:bodyPr wrap="square" lIns="0" rIns="0" tIns="18288" bIns="18288" anchor="t">
            <a:spAutoFit/>
          </a:bodyPr>
          <a:lstStyle/>
          <a:p>
            <a:pPr algn="ctr"/>
            <a:r>
              <a:rPr sz="1700" b="1">
                <a:solidFill>
                  <a:srgbClr val="FFFFFF"/>
                </a:solidFill>
                <a:latin typeface="Abadi"/>
              </a:rPr>
              <a:t>Andrey Ermak, MD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