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82528" cy="21945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Gastro-oesophageal Reflux in Infants and Children: Physiology, Natural History and Where GER Becomes GERD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825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Rosen 2018 (NASPGHAN/ESPGHAN) · Sherman 2009 global consensus · Benninga 2016 (Rome IV) · NICE NG1 2015/2019 · Omari 1997, 1998, 2002, 2004 · Kawahara 1997 · Nelson 1997, 2000 · Martin 2002 · Campanozzi 2009 · Steutel 2020 · Orenstein 2009 · Malchodi 2019 · Gyawali 2024 (Lyon 2.0)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93792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the sphincter opens on purpose · milk hides the acid · peak at 4 months · 'troublesome' is the boundary · crying is not reflux · adult thresholds do not transfer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SPITTING BABY: PHYSIOLOGY OR DISEASE?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Where does normal reflux end and gastro-oesophageal reflux disease begin?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R, et al. JPGN 2018;66:516–54 · Nelson SP, et al. Arch Pediatr Adolesc Med 1997;151:569–72 · Omari T, et al. Gut 1997;40:370–5 · Orenstein SR, et al. J Pediatr 2009;154:514–20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2402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174101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Transient LES relaxations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Not a weak sphincter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Same in health and disease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2402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6313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Milk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6313" y="2615184"/>
            <a:ext cx="174101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Buffers gastric acid for hours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Most infant reflux not acid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pH probe sees little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3" y="1773936"/>
            <a:ext cx="2070201" cy="224028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3" y="1773936"/>
            <a:ext cx="207020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9395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Natural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9395" y="2615184"/>
            <a:ext cx="174101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Daily spitting peaks at 4 months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67% at 4 mo, 5% at 10–12 mo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Gone by 12–14 months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4" y="1773936"/>
            <a:ext cx="2070201" cy="22402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4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2476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2476" y="2615184"/>
            <a:ext cx="174101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'Troublesome' or complications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Regurgitation alone is not GERD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Crying alone is not GERD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6" y="1773936"/>
            <a:ext cx="2070201" cy="22402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6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5558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Treatment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5558" y="2615184"/>
            <a:ext cx="174101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PPI = placebo for infant crying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More infections on PPI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Prescribing still rising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24528"/>
            <a:ext cx="1108252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Reflux is a normal physiological event driven by a vagal reflex that opens the sphincter on purpose. In infants it is frequent, mostly non-acid and self-limiting. Disease is defined by consequences, not by the reflux itself.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Up to two-thirds of 4-month-olds spit daily; treating the physiology exposes them to drugs that did no better than placebo and caused more serious adverse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SPHINCTER OPENS ON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Transient lower oesophageal sphincter relaxation (TLESR): a vago-vagal reflex, not a swallow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Holloway RH, et al. Am J Physiol 1995;268:G128–33 · Rosen R, et al. JPGN 2018;66:516–54 · Omari T, et al. Gut 1997;40:370–5 · Omari T, et al. J Pediatr 1998;133:650–4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40940" cy="20116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40940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580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Gastric distension after a feed stretches the proximal stomach and cardia.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17012" y="268833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9036" y="1773936"/>
            <a:ext cx="2040940" cy="20116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09036" y="1773936"/>
            <a:ext cx="2040940" cy="29260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2188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Afferent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476" y="2157984"/>
            <a:ext cx="18580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Vagal afferents carry the signal to the brainstem (nucleus tractus solitarius).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7409" y="268833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9433" y="1773936"/>
            <a:ext cx="2040940" cy="20116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9433" y="1773936"/>
            <a:ext cx="2040940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2585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Relaxation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0873" y="2157984"/>
            <a:ext cx="18580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No swallow; LES falls ≥ 1 mmHg/s to a nadir ≤ 2 mmHg within 10 s, then stays open.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6" y="268833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9830" y="1773936"/>
            <a:ext cx="2040940" cy="20116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9830" y="1773936"/>
            <a:ext cx="2040940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2982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Reflux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1270" y="2157984"/>
            <a:ext cx="18580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With the sphincter open, gastric content and gas enter the oesophagus: a 'common cavity'.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398203" y="268833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0227" y="1773936"/>
            <a:ext cx="2040940" cy="201168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90227" y="1773936"/>
            <a:ext cx="2040940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63379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Clearance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1667" y="2157984"/>
            <a:ext cx="18580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Swallow-induced peristalsis and saliva clear the bolus; milk buffers what remains.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86784"/>
            <a:ext cx="3572255" cy="15544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3986784"/>
            <a:ext cx="3572255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187952"/>
            <a:ext cx="3243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355E"/>
                </a:solidFill>
                <a:latin typeface="Abadi"/>
              </a:rPr>
              <a:t>11–15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4791456"/>
            <a:ext cx="32430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Mean TLESR duration in preterm infants, against 5–6 s for a swallow-induced relaxation.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03775" y="3986784"/>
            <a:ext cx="3572255" cy="15544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03775" y="3986784"/>
            <a:ext cx="3572255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68367" y="4187952"/>
            <a:ext cx="3243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7A0B"/>
                </a:solidFill>
                <a:latin typeface="Abadi"/>
              </a:rPr>
              <a:t>0.8 mmHg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8367" y="4791456"/>
            <a:ext cx="32430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Nadir LES pressure during TLESR versus 2.3 mmHg with swallows (Omari 1998).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8911" y="3986784"/>
            <a:ext cx="3572255" cy="155448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58911" y="3986784"/>
            <a:ext cx="3572255" cy="7315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3503" y="4187952"/>
            <a:ext cx="3243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E7A33"/>
                </a:solidFill>
                <a:latin typeface="Abadi"/>
              </a:rPr>
              <a:t>Gas venting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3503" y="4791456"/>
            <a:ext cx="32430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The same reflex vents swallowed air: belching is its physiological purpose.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577840"/>
            <a:ext cx="11082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22222"/>
                </a:solidFill>
                <a:latin typeface="Abadi"/>
              </a:rPr>
              <a:t>Note.  </a:t>
            </a:r>
            <a:r>
              <a:rPr sz="1100" b="0" i="0">
                <a:solidFill>
                  <a:srgbClr val="1A1A1A"/>
                </a:solidFill>
                <a:latin typeface="Abadi"/>
              </a:rPr>
              <a:t>Holloway's 10 s criterion is time to complete relaxation, not duration.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MOST REFLUX RIDES ON A TLESR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Share of reflux episodes occurring during a transient LES relaxation,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Omari T, et al. Gut 1997;40:370–5 · Omari T, et al. J Pediatr 1998;133:650–4 · Omari T, et al. Gut 2002;51:475–9 · Omari T, et al. J Pediatr 2004;145:194–200 · Kawahara H, et al. Gastroenterology 1997;113:399–408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3383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Healthy preterm · Omari 1997 · n =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965594"/>
            <a:ext cx="2651759" cy="34820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828800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94%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50592"/>
            <a:ext cx="3383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Infants with GORD · Omari 2002 (median)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587386"/>
            <a:ext cx="2581234" cy="348203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9186" y="2450592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91.5%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72384"/>
            <a:ext cx="3383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Preterm, positioning study · Omari 2004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209178"/>
            <a:ext cx="2341447" cy="34820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9399" y="3072384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83%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94176"/>
            <a:ext cx="3383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Healthy preterm · Omari 1998 · n = 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830970"/>
            <a:ext cx="2313237" cy="34820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189" y="3694176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82%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15968"/>
            <a:ext cx="3383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Children without GER · Kawahara 1997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4452762"/>
            <a:ext cx="1946504" cy="348203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4456" y="4315968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69%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3383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Children with pathological GER · Kawahara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5074554"/>
            <a:ext cx="1636192" cy="348203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4144" y="4937760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58%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773936"/>
            <a:ext cx="404164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Not more TLESRs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Infants with GORD had the same number of TLESRs as controls; more of them carried acid (16.5% vs 5.7%, P &lt; 0.001).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Absent tone: rare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Persistently low LES pressure explained 8% of episodes, only in children with pathological GER.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Swallow-related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 further 19–23% in children followed swallow-induced relaxations.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Therapeutic lesson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Acid suppression does not touch the mechanism; it only changes what refluxes.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INFANT PHYSIOLOGY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WHY INFANTS ARE BUILT TO REFLUX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Four features of early life that favour regurgitation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Rybak A, et al. Int J Mol Sci 2017;18:1671 · Benninga MA, et al. Gastroenterology 2016;150:1443–55 · Omari T, et al. J Pediatr 2004;145:194–200 · Mitchell DJ, et al. Arch Dis Child 2001;84:273–6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286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Anatomy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Short gastro-oesophageal junction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Angle of His not yet acute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Small oesophageal volume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286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Diet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Liquid milk only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Frequent, large feeds for size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Overfeeding amplifies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28600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Mostly recumbent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Right side: more reflux, faster emptying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Left side: less reflux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286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Buffering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Gastric pH &gt; 4 for ≈ 130 min after a feed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Acid reflux hidden from the probe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Reflux index looks 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51960"/>
            <a:ext cx="1108252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Positioning study.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In preterm infants, right-lateral position increased reflux but sped gastric emptying; left-lateral reduced reflux. Prone or lateral sleeping is not recommended for infants because of sudden infant death risk; supine sleep stands.</a:t>
            </a:r>
          </a:p>
          <a:p>
            <a:pPr algn="l">
              <a:spcBef>
                <a:spcPts val="600"/>
              </a:spcBef>
            </a:pPr>
            <a:r>
              <a:rPr sz="1250" b="1" i="0">
                <a:solidFill>
                  <a:srgbClr val="1E7A33"/>
                </a:solidFill>
                <a:latin typeface="Abadi"/>
              </a:rPr>
              <a:t>Maturation.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These features change with upright posture, solid food and growth, which is why the natural history is so predictable.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ACID OR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MOST INFANT REFLUX IS NOT ACID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Reflux events by pH category in 21 healthy preterm neonates, pH-impedance,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López-Alonso M, et al. Pediatrics 2006;118:e299–308 · Mitchell DJ, et al. Arch Dis Child 2001;84:273–6 · Wenzl TG, et al. JPGN 2012;55:230–4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739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248656"/>
            <a:ext cx="603504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99616" y="4325432"/>
            <a:ext cx="658368" cy="923223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0511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25.4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312664"/>
            <a:ext cx="193852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Acid (pH &lt; 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11295" y="2598930"/>
            <a:ext cx="658368" cy="2649725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39" y="232461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72.9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5" y="5312664"/>
            <a:ext cx="193852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Weakly acidic (pH 4–7)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2975" y="5230368"/>
            <a:ext cx="658368" cy="1828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495604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2896" y="5312664"/>
            <a:ext cx="193852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Weakly alkaline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773936"/>
            <a:ext cx="404164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71 per day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reflux events per 24 hours in healthy preterm infants.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90%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Of episodes reached the proximal oesophagus.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69.3%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Of the time gastric pH was above 4.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1.0% → 2.6%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Reflux index in infants rose when counted only while the stomach was acid: a low index can mean buffering, not absence of reflux.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NATURAL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CURVE THAT REASSURES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Infants regurgitating at least once a day, by age, %: 948 parents in 19 US practices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Nelson SP, et al. Arch Pediatr Adolesc Med 1997;151:569–72 · Martin AJ, et al. Pediatrics 2002;109:1061–7 · Sherman PM, et al. Am J Gastroenterol 2009;104:1278–95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739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248656"/>
            <a:ext cx="640080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3856" y="3078661"/>
            <a:ext cx="658368" cy="216999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04341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≈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312664"/>
            <a:ext cx="12070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0–3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4016" y="2340864"/>
            <a:ext cx="658368" cy="290779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06654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5312664"/>
            <a:ext cx="12070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4 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94175" y="2601263"/>
            <a:ext cx="658368" cy="264739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19" y="2326943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5" y="5312664"/>
            <a:ext cx="12070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6 months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4336" y="4337258"/>
            <a:ext cx="658368" cy="911397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06293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5312664"/>
            <a:ext cx="12070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7 months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4496" y="5031656"/>
            <a:ext cx="658368" cy="216999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75733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0176" y="5312664"/>
            <a:ext cx="12070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10–12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773936"/>
            <a:ext cx="395020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Peak at 4 months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Two-thirds of 4-month-olds spit daily; the fall after 6 months is abrupt.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23% at 6 months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Parents call it a problem most often when it is already about to resolve.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41% → &lt; 5%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Spilling most feeds in Adelaide: 41% at 3–4 months, under 5% by 13–14 months.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0.2%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Of US infants received medication in 1997: the practice since has changed, the biology has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NINETY PERCENT ARE GONE BY THE FIRST BIRTHDAY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Cumulative resolution of Rome II infant regurgitation, 210 Italian infants followed prospectively,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Campanozzi A, et al. Pediatrics 2009;123:779–83 · Benninga MA, et al. Gastroenterology 2016;150:1443–55 · NICE NG1, 2015 (updated 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By 6 months (56 infants)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81174"/>
            <a:ext cx="878921" cy="409651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3913" y="192024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26.7%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By 12 months (184)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812694"/>
            <a:ext cx="2883651" cy="409651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643" y="265176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87.6%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By 18 months (207)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544214"/>
            <a:ext cx="3245754" cy="409651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0746" y="3383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98.6%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148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By 24 months (210)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4275734"/>
            <a:ext cx="3291840" cy="409651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1" y="411480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773936"/>
            <a:ext cx="404164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12% of 2642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Infants seen by 59 Italian paediatricians met Rome II criteria for regurgitation.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1 of 210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Was eventually diagnosed with GERD: 0.5%.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8.2 vs 9.6 mo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Breastfed infants resolved earlier than formula-fed.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90% by age 1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Rome IV and NICE give the same message to parents.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NOT ENTIRELY BENIGN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FREQUENT SPILLING PREDICTS SYMPTOMS AT 9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Relative risk of reflux symptoms at about 9 years after ≥ 90 days of frequent infant spilling, Adelaide cohort (693 children)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Martin AJ, et al. Pediatrics 2002;109:1061–7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Acid regurgitation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081174"/>
            <a:ext cx="2743200" cy="409651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192024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RR 4.7 (1.6–14.0)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Heartburn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812694"/>
            <a:ext cx="2684834" cy="409651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6946" y="265176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RR 4.6 (1.5–13.8)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Vomiting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544214"/>
            <a:ext cx="1575880" cy="409651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7992" y="3383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RR 2.7 (1.4–5.5)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148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Any reflux symptom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275734"/>
            <a:ext cx="1342417" cy="409651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4529" y="411480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RR 2.3 (1.3–4.0)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773936"/>
            <a:ext cx="404164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83% follow-up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693 of 836 children traced from infancy to about 9 years.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A marker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Prolonged spilling identifies a child at risk; it does not prove that infant treatment prevents later disease.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No trial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No study shows that treating infant regurgitation changes the outcome at 9 years.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PREVALENCE BY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NUMBER DEPENDS ON THE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Infant regurgitation meeting Rome IV criteria (≥ 2 per day for ≥ 3 weeks),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Steutel NF, et al. J Pediatr 2020;221:107–14 · Robin SG, et al. J Pediatr 2018 · Muhardi L, et al. Front Pediatr 2022;9:778747 · Nelson SP, et al. Arch Pediatr Adolesc Med 1997;151:569–72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China · 0–6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965594"/>
            <a:ext cx="3108960" cy="34820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1828800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33.9%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50592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United States · 0–12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587386"/>
            <a:ext cx="2210204" cy="34820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8076" y="2450592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24.1%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72384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Europe · 1698 infants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09178"/>
            <a:ext cx="1265594" cy="348203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3466" y="3072384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13.8%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94176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Türkiye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830970"/>
            <a:ext cx="1228910" cy="348203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6782" y="3694176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13.4%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15968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Malaysia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452762"/>
            <a:ext cx="962952" cy="348203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0824" y="4315968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10.5%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China · 7–12 months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5074554"/>
            <a:ext cx="311813" cy="348203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59685" y="4937760"/>
            <a:ext cx="1371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3.4%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773936"/>
            <a:ext cx="404164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67% vs 14–34%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Daily spitting at 4 months (Nelson) against Rome IV regurgitation over the first year: frequency and duration criteria cut the count.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Formula feeding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Associated with Rome IV regurgitation in the European cohort (P = 0.045).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For research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Quote the definition with the number; prevalence figures are not interchangeable.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OLDER CHILDREN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AFTER INFANCY, SYMPTOMS TURN ADULT-LIKE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Reflux symptom prevalence in US children, %: parent report versus adolescent self-report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Nelson SP, et al. Arch Pediatr Adolesc Med 2000;154:150–4 · Antono B, Dotson A. Am Fam Physician 2025;111:62–72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17556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2779776"/>
                <a:gridCol w="2779776"/>
                <a:gridCol w="2779776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Symptom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Parent report, 3–9 years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Parent report, 10–17 years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Self-report, 10–17 years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Heartburn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3.5%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5.2%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Epigastric pain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7.2%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3.0%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5.0%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Regurgitation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2.3%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8.2%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48640" y="3785615"/>
            <a:ext cx="3572255" cy="18288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85615"/>
            <a:ext cx="3572255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986783"/>
            <a:ext cx="3243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355E"/>
                </a:solidFill>
                <a:latin typeface="Abadi"/>
              </a:rPr>
              <a:t>Self &gt; parent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590288"/>
            <a:ext cx="32430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Adolescents report up to six times more regurgitation than their parents see.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3775" y="3785615"/>
            <a:ext cx="3572255" cy="18288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3785615"/>
            <a:ext cx="3572255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8367" y="3986783"/>
            <a:ext cx="3243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2222"/>
                </a:solidFill>
                <a:latin typeface="Abadi"/>
              </a:rPr>
              <a:t>OR 6.5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8367" y="4590288"/>
            <a:ext cx="32430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Heartburn in adolescents was associated with cigarette smoking (95% CI 2–21).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8911" y="3785615"/>
            <a:ext cx="3572255" cy="182880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58911" y="3785615"/>
            <a:ext cx="3572255" cy="7315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3503" y="3986783"/>
            <a:ext cx="3243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8A939B"/>
                </a:solidFill>
                <a:latin typeface="Abadi"/>
              </a:rPr>
              <a:t>≈ 2–8%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3503" y="4590288"/>
            <a:ext cx="32430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Range of GERD symptom prevalence quoted for children and adolescents.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HIGH-RISK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REFLUX IS DISEASE FROM THE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Children in whom GERD is common, severe or persistent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Krishnan U, et al. JPGN 2016;63:550–70 · Lauriti G, et al. Pediatr Surg Int 2018;34:1139–49 · Romano C, et al. JPGN 2017;65:242–64 · Rybak A, et al. Int J Mol Sci 2017;18:1671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5146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Oesophageal atresia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30428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GER in 22–45% after repair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Commonest GI complication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Acid suppression in the first year (ESPGHAN–NASPGHAN 2016)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5146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Neurological impairment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615184"/>
            <a:ext cx="230428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Vomiting or rumination in 20–30%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Post-fundoplication recurrence 14.2% vs 9.4%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Redo surgery 12.6% vs 9.1%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5146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Congenital anomalies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615184"/>
            <a:ext cx="230428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CDH, abdominal wall defects, malrotation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GERD reported in 50–84%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Long-term oesophageal follow-up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51460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Preterm infants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615184"/>
            <a:ext cx="230428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Same TLESR mechanism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Mostly non-acid reflux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Rarely the cause of apnoea or bradycardia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80560"/>
            <a:ext cx="1108252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Why it matters.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In these groups the natural history curve does not apply: reflux persists, complications such as oesophagitis, aspiration and stricture are common, and the threshold for investigation is lower.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B22222"/>
                </a:solidFill>
                <a:latin typeface="Abadi"/>
              </a:rPr>
              <a:t>Caveat.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Prevalence figures in congenital anomalies come from narrative reviews and small series; numbers for cystic fibrosis and obesity vary too widely to quote.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FOUR DOCUMENTS, ONE BOUNDARY, FOUR WORDINGS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each source defines reflux and reflux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R, et al. JPGN 2018;66:516–54 · Sherman PM, et al. Am J Gastroenterol 2009;104:1278–95 · Benninga MA, et al. Gastroenterology 2016;150:1443–55 · NICE NG1, 2015 (updated 2019)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017520"/>
                <a:gridCol w="3017520"/>
                <a:gridCol w="2852928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Reflux (GER)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Reflux disease (GERD)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NASPGHAN/ESPGHAN 2018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Passage of gastric contents into the oesophagus, with or without regurgitation and vomiting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GER causing troublesome symptoms affecting daily functioning and/or complications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Refractory = no response after 8 weeks of optimal treatment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Global consensus 2009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Passage of gastric contents into the oesophagus or oropharynx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Symptoms and complications secondary to persistent GER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Regurgitation neither necessary nor sufficient for GERD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Rome IV 2016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Infant regurgitation: ≥ 2 per day for ≥ 3 weeks, 3 weeks–12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Excluded by red flags; not defined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Deliberately dropped 'troublesome'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NICE NG1 2015/2019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Passage of gastric contents into the oesophagus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Symptoms severe enough to merit treatment, or complications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Do not treat isolated overt regurgitation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40680"/>
            <a:ext cx="11082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boundary.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Every definition places disease in consequences: troublesome symptoms, complications or failure to thrive, never in the number of spits.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ROME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FUNCTIONAL REGURGITATION HAS A DEFINITION TOO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Infant regurgitation, Rome IV: all criteria in an otherwise healthy infant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Benninga MA, et al. Gastroenterology 2016;150:1443–55 · Rosen R, et al. JPGN 2018;66:516–54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2402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3 weeks to 12 months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Otherwise healthy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Thriving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24028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615184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≥ 2 regurgitations a day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For ≥ 3 weeks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Effortless, not projectile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2402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Absent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615184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Retching, haematemesis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Aspiration, apnoea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Failure to thrive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2402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Also absent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615184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Feeding or swallowing difficulty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Abnormal posturing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'troublesome' criterion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24528"/>
            <a:ext cx="1108252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22222"/>
                </a:solidFill>
                <a:latin typeface="Abadi"/>
              </a:rPr>
              <a:t>Red flags that leave the functional box.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Bilious vomiting, onset after 6 months or persistence beyond 12–18 months, haematemesis, fever, lethargy, bulging fontanelle, macro- or microcephaly, abdominal distension, chronic diarrhoea and weight loss send you to a differential diagnosis, not to an acid suppressant.</a:t>
            </a:r>
          </a:p>
          <a:p>
            <a:pPr algn="l">
              <a:spcBef>
                <a:spcPts val="600"/>
              </a:spcBef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practical difference.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Rome IV labels a frequent spitter without red flags as functional, whether or not the parents are troubled; NASPGHAN/ESPGHAN would call the same infant GERD if the symptoms are troublesome.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CRYING IS NOT REFLUX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ACID SUPPRESSION DOES NOT TREAT INFANT CRYING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Lansoprazole versus placebo in 162 infants with symptoms attributed to GERD,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Orenstein SR, et al. J Pediatr 2009;154:514–20 · Moore DJ, et al. J Pediatr 2003;143:219–23 · Gieruszczak-Białek D, et al. J Pediatr 2015;166:767–70 · Rosen R, et al. JPGN 2018;66:516–54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739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 responders; serious adverse events, number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248656"/>
            <a:ext cx="621792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71016" y="2340864"/>
            <a:ext cx="658368" cy="290779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06654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312664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Responders, lansoprazole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5496" y="2340864"/>
            <a:ext cx="658368" cy="290779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06654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4016" y="5312664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Responders, placebo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5" y="4710176"/>
            <a:ext cx="658368" cy="53848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44358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5312664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Serious AEs, lansoprazole (n)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34455" y="5140960"/>
            <a:ext cx="658368" cy="1076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486664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2976" y="5312664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Serious AEs, placebo (n)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773936"/>
            <a:ext cx="404164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P = 0.032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More serious adverse events on lansoprazole, mainly lower respiratory tract infections.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−8.9% vs −1.9%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Omeprazole cut the reflux index far more than placebo (Moore 2003), yet irritability did not change.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Systematic review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Randomised trials do not support PPIs to reduce infant crying and irritability.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Guideline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Irritability as the single manifestation is unlikely to be GERD; no diagnostic PPI trial in infants.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MEASURING THE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ADULT THRESHOLDS DO NOT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Objective markers of reflux disease and their status in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R, et al. JPGN 2018;66:516–54 · Gyawali CP, et al. Gut 2024;73:361–71 (Lyon 2.0) · Wenzl TG, et al. JPGN 2012;55:230–4 · Pilic D, et al. J Pediatr 2011;158:650–4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072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3566160"/>
                <a:gridCol w="2834640"/>
                <a:gridCol w="1572768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Marker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Threshold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In children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pH-metry reflux index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 10% under 1 year; &gt; 5% over 1 year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NASPGHAN/ESPGHAN 2018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Acid exposure time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 6% conclusive; &lt; 4% excludes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Lyon 2.0 (adult)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Reflux episodes per day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 80 supports; &lt; 40 argues against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Lyon 2.0 (adult)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Mean nocturnal baseline impedance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&lt; 1500 Ω supports; &gt; 2500 Ω against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Lyon 2.0 (adult)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Erosive oesophagitis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LA grade B or worse conclusive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Lyon 2.0 (adult)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Impedance normal values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established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Wenzl 2012; Pilic 2011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937760"/>
            <a:ext cx="110825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355E"/>
                </a:solidFill>
                <a:latin typeface="Abadi"/>
              </a:rPr>
              <a:t>Reading the table.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The paediatric reflux index agreed poorly with history and examination (sensitivity 50%, specificity 82%). Lyon 2.0 does not mention children; infants have more reflux episodes than older children, so episode counts cannot be borrowed.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B22222"/>
                </a:solidFill>
                <a:latin typeface="Abadi"/>
              </a:rPr>
              <a:t>Verdict key.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GAP = adult threshold not validated in children; MATERIAL = no paediatric normal values, so impedance reads by symptom association, not by number.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OVERTREATMENT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PHYSIOLOGY IS BEING TREATED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Proton pump inhibitor exposure in infancy and its measured harms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Lassalle M, et al. J Pediatr Clin Pract 2026;21:200214 · Malchodi L, et al. Pediatrics 2019;144:e20182625 · Wang Y, et al. JAMA Pediatr 2020 · Orenstein SR, et al. J Pediatr 2009;154:514–20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1945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B22222"/>
                </a:solidFill>
                <a:latin typeface="Abadi"/>
              </a:rPr>
              <a:t>703,891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78608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Of 8.2 million French children born 2010–2021 received a PPI before age 1 (8.6%).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7A0B"/>
                </a:solidFill>
                <a:latin typeface="Abadi"/>
              </a:rPr>
              <a:t>+63.6%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578608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Rise in PPI incidence without a hospital GERD diagnosis over 2010–2021.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1945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HR 1.21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578608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Fracture risk with PPI in the first year, 851,631 US children; 1.30 with PPI plus H2RA.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19456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7315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8A939B"/>
                </a:solidFill>
                <a:latin typeface="Abadi"/>
              </a:rPr>
              <a:t>HR 1.34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78608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Fracture risk with ≥ 365 days of PPI use in a Swedish matched cohort (overall HR 1.11).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87952"/>
            <a:ext cx="1108252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Pattern.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In the US cohort, 11% received acid suppression in year one; fracture risk rose with earlier and longer exposure, and H2RA alone carried no increase.</a:t>
            </a:r>
          </a:p>
          <a:p>
            <a:pPr algn="l">
              <a:spcBef>
                <a:spcPts val="600"/>
              </a:spcBef>
            </a:pPr>
            <a:r>
              <a:rPr sz="1250" b="1" i="0">
                <a:solidFill>
                  <a:srgbClr val="B22222"/>
                </a:solidFill>
                <a:latin typeface="Abadi"/>
              </a:rPr>
              <a:t>Infections.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Lower respiratory tract infections were the main serious adverse event on lansoprazole in the infant RCT.</a:t>
            </a:r>
          </a:p>
          <a:p>
            <a:pPr algn="l">
              <a:spcBef>
                <a:spcPts val="600"/>
              </a:spcBef>
            </a:pPr>
            <a:r>
              <a:rPr sz="1250" b="1" i="0">
                <a:solidFill>
                  <a:srgbClr val="D97A0B"/>
                </a:solidFill>
                <a:latin typeface="Abadi"/>
              </a:rPr>
              <a:t>Caveat.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cohorts are observational: confounding by indication is possible, but the benefit side of the ledger in infants is empty.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and Europe (NASPGHAN/ESPGHAN 2018) versus the UK (NICE NG1) and Rome IV; no newer joint guideline as of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R, et al. JPGN 2018;66:516–54 · NICE NG1, 2015 (updated 2019) · Benninga MA, et al. Gastroenterology 2016;150:1443–55 · Salvatore S, et al. Ital J Pediatr 2026 (SIP/SIGENP)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3657600"/>
                <a:gridCol w="3950208"/>
                <a:gridCol w="118872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NASPGHAN/ESPGHAN 2018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NICE NG1 / Rome IV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Where GERD begins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Troublesome symptoms affecting daily function, or complications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NICE: severe enough to merit treatment; Rome IV: no 'troublesome'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Isolated regurgitation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Reassure; no acid suppression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NICE: no PPI or H2RA for isolated overt regurgitation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Crying or irritability alone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Unlikely to be GERD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NICE: do not investigate or treat distress alone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Before acid suppression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Feed changes, then a 2–4 week hydrolysed or amino acid formula trial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NICE: smaller frequent feeds, thickener; 1–2 week alginate trial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Diagnostic PPI trial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in infants; 4–8 weeks for typical symptoms in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NICE: no empirical PPI for regurgitation alone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Adult pH-impedance criteria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Paediatric index; impedance norms lacking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94960"/>
            <a:ext cx="11082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22222"/>
                </a:solidFill>
                <a:latin typeface="Abadi"/>
              </a:rPr>
              <a:t>Where they part.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Before any acid suppressant, NASPGHAN/ESPGHAN tests for milk-protein allergy, NICE tries an alginate; the 2026 Italian consensus allows a brief trial of alginate, thickened formula or cow's-milk elimination.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GER–GERD CALL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over- or under-diagnosis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2018 · Benninga 2016 · Orenstein 2009 · López-Alonso 2006 · Mitchell 2001 · Martin 2002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286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'Crying = reflux'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Irritability as sole symptom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PPI started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benefit, more infections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286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'Normal pH study'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Probe after a milk feed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Acid buffered for 2 hours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Non-acid reflux missed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286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'Just reflux'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Bilious vomit or onset &gt; 6 months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Pyloric stenosis, malrotation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Red flags not asked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28600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'It will settle'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Repaired oesophageal atresia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Neurological impairment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Natural history does not apply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97680"/>
            <a:ext cx="110825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22222"/>
                </a:solidFill>
                <a:latin typeface="Abadi"/>
              </a:rPr>
              <a:t>And one more: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using adult Lyon numbers to label a child's impedance study abnormal or normal; paediatric normal values do not exist.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Omari 1997, 1998, 2002 · Kawahara 1997 · López-Alonso 2006 · Nelson 1997, 2000 · Martin 2002 · Campanozzi 2009 · Rosen 2018 · Orenstein 2009 · Malchodi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1108252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badi"/>
              </a:rPr>
              <a:t>▪  TLESRs carry 82–94% of reflux in infants; GORD infants do not have more TLESRs, only more acid in each.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A TLESR is a vagal reflex triggered by gastric distension; it also vents swallowed air.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Three-quarters of preterm reflux is weakly acidic; milk keeps gastric pH above 4 for about 2 hours.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Daily regurgitation: about half at 0–3 months, 67% at 4 months, 5% at 10–12 months.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About 9 in 10 resolve by 12 months; in Italy 1 of 210 regurgitating infants had GERD.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Frequent spilling for ≥ 90 days predicted heartburn at 9 years (RR 4.6).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GERD = troublesome symptoms or complications; regurgitation alone is neither necessary nor sufficient.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Lansoprazole and placebo: 54% responders each; serious adverse events 10 versus 2.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Reflux index &gt; 10% under 1 year, &gt; 5% over 1 year; adult Lyon thresholds are not validated in children.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Repaired oesophageal atresia, neurological impairment and congenital anomalies are GERD until proven otherwise.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logic in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961888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3-month-old, spits 6 times a day, thriving, content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Physiological GER; reassure, show the curve; no tests, no drugs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4-month-old, cries after feeds, spits, gaining weight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GERD by crying alone; feeding review; consider brief milk-protein or alginate trial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5-month-old, spitting, arching, refusing feeds, weight falling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Troublesome with complications: GERD likely; exclude red flags, then treat and reassess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7-month-old, new-onset projectile or bilious vomiting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reflux until proven otherwise; urgent differential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18-month-old, still regurgitating daily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Outside natural history: evaluate (EoE, anatomy, rumination)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Infant after oesophageal atresia repair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Acid suppression through the first year; surveillance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14-year-old, recurrent heartburn, smoker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Adult-type GERD: 4–8 week PPI trial, stop smoking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82528" cy="20116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Gastro-oesophageal Reflux in Infants and Children: Physiology, Natural History and Where GER Becomes GERD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