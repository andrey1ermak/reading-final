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1091672" cy="135331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badi"/>
              </a:rPr>
              <a:t>Stool Testing: Infections and Malabsorption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703320"/>
            <a:ext cx="1828800" cy="18288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95928"/>
            <a:ext cx="110916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98848"/>
            <a:ext cx="11091672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FD8E6"/>
                </a:solidFill>
                <a:latin typeface="Abadi"/>
              </a:rPr>
              <a:t>IDSA 2017 infectious diarrhoea (Shane) · IDSA/SHEA 2017 C. difficile (McDonald) · AAP 2013 · ESPGHAN/ESPID 2014 · ACG 2021 · AGA 1999 · BSG 2018</a:t>
            </a:r>
          </a:p>
          <a:p>
            <a:pPr algn="ctr"/>
            <a:r>
              <a:rPr sz="1100" b="0" i="0">
                <a:solidFill>
                  <a:srgbClr val="CFD8E6"/>
                </a:solidFill>
                <a:latin typeface="Abadi"/>
              </a:rPr>
              <a:t>Multiplex PCR: carriage vs infection · C. difficile under 2 · osmotic gap · faecal alpha-1 antitrypsin · fat and parasites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QUESTION OF THE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 POSITIVE STOOL TEST IS A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Four questions a stool sample can answer, and the trap hidden in each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Shane AL, et al. Clin Infect Dis 2017;65:e45–80 · McDonald LC, et al. Clin Infect Dis 2018;66:e1–48 · AGA technical review. Gastroenterology 1999;116:1464–86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7178" cy="288036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Which pathogen?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Multiplex PCR detects DNA, not disease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Well children carry pathogens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Load and clinical picture decide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1773936"/>
            <a:ext cx="2567178" cy="288036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1773936"/>
            <a:ext cx="2567178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9594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C. difficile?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9594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Infants are colonised, not ill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Age decides whether to test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Toxin, not gene, anchors disease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773936"/>
            <a:ext cx="2567178" cy="28803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773936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1092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Osmotic or secretory?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1092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Stool Na and K, gap from 290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pH and reducing substances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Never the measured osmolality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1773936"/>
            <a:ext cx="2567178" cy="288036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1773936"/>
            <a:ext cx="25671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2590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Protein or fat lost?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2590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Alpha-1 antitrypsin for protein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Elastase and fat for malabsorption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Acid and water distort both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9204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The stool is a sample of everything the child has swallowed, made, shed and carried. Most tests find something; the skill is knowing whether it explains the illness.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Ask the question first; a stool test without a question finds an answer that does not matter.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EACH STOOL TEST MEASURES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Target, what fools it, and the question it should be sent for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Shane 2017 Clin Infect Dis · McDonald 2018 Clin Infect Dis · AGA 1999 Gastroenterology · Florent C, et al. Gastroenterology 1981;81:777–80 · Arasaradnam RP, et al. Gut 2018;67:1380–99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2" cy="395935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2743200"/>
                <a:gridCol w="3108960"/>
                <a:gridCol w="3136392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Test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Measures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Fooled by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Send it for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Multiplex PCR panel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Nucleic acid of about 20 targets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Carriage, dead organisms, shedding after recovery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Fever, blood, severe illness, outbreak, travel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Stool culture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Viable bacteria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Prior antibiotics; low sensitivity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An isolate for susceptibility and public health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C. difficile NAAT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Toxin gene (tcdB)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Colonisation, above all in infants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Rule-out; a positive needs a toxin test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GDH and toxin EIA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Organism antigen; free toxin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Low sensitivity of toxin EIA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Confirming active disease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Stool Na, 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Electrolytes in faecal water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Formed or contaminated samples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The osmotic gap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pH, reducing substances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Fermentation of unabsorbed sugar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Sucrose is not a reducing sugar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Carbohydrate malabsorption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Alpha-1 antitrypsin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 plasma protein in stool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Acid below pH 3, blood, urine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Protein-losing enteropathy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Elastase, faecal fat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Pancreatic output; fat excretion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Dilution in watery stool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Fat malabsorption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Giardia antigen, O&amp;P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Parasite antigen or morphology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Intermittent shedding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Diarrhoea lasting 14 days or more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MULTIPLEX PCR — CARRIAGE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HEALTHY CHILDREN CARRY PATHOGENS TOO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Detection in children with gastroenteritis versus healthy controls,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Payne DC, et al. N Engl J Med 2013;368:1121–30 · Adenovirus in APPETITE, J Clin Microbiol 2021;59:e02287-20 · Alsuwaidi AR, et al. BMC Infect Dis 2021;21:7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80794" y="3384159"/>
            <a:ext cx="822960" cy="8678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2194" y="3155559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21%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31186" y="4086664"/>
            <a:ext cx="822960" cy="165295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2586" y="3858064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315968"/>
            <a:ext cx="23088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Norovirus, US under 5 (Payne)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89654" y="3475071"/>
            <a:ext cx="822960" cy="77688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61054" y="3246471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18.8%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40046" y="3954428"/>
            <a:ext cx="822960" cy="297531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11446" y="372582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7.2%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1900" y="4315968"/>
            <a:ext cx="23088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Adenovirus (APPETITE)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98514" y="2483299"/>
            <a:ext cx="822960" cy="176866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69914" y="2254699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42.8%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48906" y="3289114"/>
            <a:ext cx="822960" cy="962845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20306" y="3060514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23.3%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4315968"/>
            <a:ext cx="23088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Any pathogen (UAE)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07374" y="3520527"/>
            <a:ext cx="822960" cy="731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8774" y="3291927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17.7%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57765" y="3913104"/>
            <a:ext cx="822960" cy="338855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9165" y="3684504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8.2%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9619" y="4315968"/>
            <a:ext cx="23088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EPEC (UAE)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63040" y="4251960"/>
            <a:ext cx="9235440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63040" y="1828799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badi"/>
              </a:rPr>
              <a:t>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0" y="1865376"/>
            <a:ext cx="201168" cy="14630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05472" y="1828799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Cases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23959" y="1865376"/>
            <a:ext cx="201168" cy="14630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79991" y="1828799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Healthy controls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89204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In the UAE case–control study none of the 13 bacterial targets, including C. difficile, Campylobacter and EPEC, differed significantly between cases and controls, and 28% of children had more than one organism.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Weigh every positive against how often well children carry the same organism.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MULTIPLEX PCR — QUANTITY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LOAD SEPARATES CAUSE FROM PASSENGER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Quantitative PCR reanalysis of GEMS: 5,304 matched case–control pairs, children under 5, Africa and Asia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Liu J, Platts-Mills JA, et al. Lancet 2016;388:1291–301 · Kotloff KL, et al. Lancet 2013;382:209–22 · Adenovirus in APPETITE, J Clin Microbiol 2021;59:e02287-20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7178" cy="22402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093976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1B355E"/>
                </a:solidFill>
                <a:latin typeface="Abadi"/>
              </a:rPr>
              <a:t>89.3%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44368"/>
            <a:ext cx="229285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Diarrhoea attributable to a pathogen by quantitative PCR, against 51.5% with the original methods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1773936"/>
            <a:ext cx="2567178" cy="22402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1773936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2093976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1B355E"/>
                </a:solidFill>
                <a:latin typeface="Abadi"/>
              </a:rPr>
              <a:t>77.8%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2944368"/>
            <a:ext cx="229285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Of attributable diarrhoea explained by six pathogens: Shigella, rotavirus, adenovirus 40/41, ST-ETEC, Cryptosporidium, Campylobacter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773936"/>
            <a:ext cx="2567178" cy="22402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773936"/>
            <a:ext cx="2567178" cy="12801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2093976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1B355E"/>
                </a:solidFill>
                <a:latin typeface="Abadi"/>
              </a:rPr>
              <a:t>2.7 × 10⁹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2944368"/>
            <a:ext cx="229285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Copies per gram of typical EPEC needed before it counted as the cause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1773936"/>
            <a:ext cx="2567178" cy="22402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1773936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093976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1B355E"/>
                </a:solidFill>
                <a:latin typeface="Abadi"/>
              </a:rPr>
              <a:t>96% vs 52%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2944368"/>
            <a:ext cx="229285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Attributable fraction of adenovirus F40/41 versus non-enteric types C1/C2/C5/C6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29768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Each pathogen had its own quantity threshold, from 7.3 × 10³ copies/g for V. cholerae to 2.7 × 10⁹ for typical EPEC; detections above a cycle threshold of 35 were treated as negative. Two or more attributable pathogens were present in 38.9% of cases.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A low-load EPEC or non-enteric adenovirus on a qualitative panel is usually a passenger.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MULTIPLEX PCR —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MORE POSITIVES, NOT SHORTER STAYS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What multiplex panels changed in paediatric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Cotter JM, et al. Pediatrics 2021;147:e2020036954 · Stockmann C, et al. J Pediatric Infect Dis Soc 2016 (doi 10.1093/jpids/piw020) · Truong J, et al. Arch Dis Child 2022;107:601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03604" y="3555187"/>
            <a:ext cx="914400" cy="422452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5004" y="3326587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11%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45436" y="2441448"/>
            <a:ext cx="914400" cy="153619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16836" y="2212848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4164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Stool tests positive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38244" y="3904670"/>
            <a:ext cx="914400" cy="72969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09644" y="3676070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1.9%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80076" y="3835542"/>
            <a:ext cx="914400" cy="142097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1476" y="3606942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3.7%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04164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Treated for a bacterial or parasitic pathogen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977639"/>
            <a:ext cx="5669280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178308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badi"/>
              </a:rPr>
              <a:t>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1819656"/>
            <a:ext cx="201168" cy="14630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90672" y="178308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Conventional era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9160" y="1819656"/>
            <a:ext cx="201168" cy="14630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65192" y="178308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Panel era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1828800"/>
            <a:ext cx="4599432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Cotter 2021: 8,720 encounters</a:t>
            </a:r>
          </a:p>
          <a:p>
            <a:pPr algn="l">
              <a:spcAft>
                <a:spcPts val="72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Testing rose 21%. Overall length of stay and charges did not change; only the treated subgroup gained (5.1 to 3.1 days).</a:t>
            </a:r>
          </a:p>
          <a:p>
            <a:pPr algn="l">
              <a:spcAft>
                <a:spcPts val="72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Stockmann 2016: 1,089 episodes</a:t>
            </a:r>
          </a:p>
          <a:p>
            <a:pPr algn="l">
              <a:spcAft>
                <a:spcPts val="72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52% positive; toxigenic C. difficile 16%, diarrhoeagenic E. coli 15%, norovirus 11%; co-detection 15%; C. difficile in 21% of infants under 1 year, with no controls.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98348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A panel buys speed and breadth; it does not buy interpretation.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GUIDELINES — WHEN TO SEND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WHEN THE STOOL SHOULD GO TO THE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IDSA 2017 infectious diarrhoea guideline and ESPGHAN/ESPID 2014 acute gastroenteritis guideline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Shane AL, et al. Clin Infect Dis 2017;65:e45–80 · Guarino A, et al. JPGN 2014;59:132–52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2" cy="400507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931920"/>
                <a:gridCol w="5330952"/>
                <a:gridCol w="182880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Situation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Recommendation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Strength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Fever, bloody or mucoid stool, severe cramps or tenderness, sepsis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Test stool for enteric pathogens (IDSA 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Strong, moderate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Healthy child with watery diarrhoea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Testing generally not warranted (IDSA text); investigations not needed (ESPGHAN 2014)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Consensus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Multiplex panel result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Interpret with the clinical picture (IDSA 14)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Strong, low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Bacterial pathogen found by PCR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Culture to obtain an isolate when public health needs one (IDSA 15)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Strong, low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Diarrhoea ≥ 14 days after travel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Evaluate for parasites (IDSA 13)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Strong, moderate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Age &gt; 2 years, antibiotics or healthcare exposure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C. difficile testing may be considered; one stool only (IDSA 18)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Weak, high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Symptoms resolved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 test of cure, except for public-health clearance (IDSA 26)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Strong, moderate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C. DIFFICILE — THE INFANT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INFANT GUT IS A RESERVOIR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Asymptomatic carriage of C. difficile in children: meta-analysis of 95 studies, 19,186 children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Tougas SR, et al. JAMA Pediatr 2021;175:e212328 · Stockmann C, et al. J Pediatric Infect Dis Soc 2016 · Schutze GE, Willoughby RE. Pediatrics 2013;131:196–200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7178" cy="21031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093976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41%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44368"/>
            <a:ext cx="2292858" cy="886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Any C. difficile in healthy infants aged 6–12 months (95% CI 32–50%)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1773936"/>
            <a:ext cx="2567178" cy="21031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1773936"/>
            <a:ext cx="2567178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2093976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14%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2944368"/>
            <a:ext cx="2292858" cy="886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Toxigenic C. difficile in healthy infants aged 6–12 months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773936"/>
            <a:ext cx="2567178" cy="21031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773936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2093976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12%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2944368"/>
            <a:ext cx="2292858" cy="886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Any C. difficile in healthy children aged 5–18 years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1773936"/>
            <a:ext cx="2567178" cy="21031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1773936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093976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21%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2944368"/>
            <a:ext cx="2292858" cy="886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Infants under 1 year with C. difficile on a clinical multiplex panel (Utah)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20624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Infants carry toxigenic strains without colitis, probably because their immature epithelium lacks the toxin receptors that adults have. Carriage falls through childhood towards adult rates.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In a child under 2, a positive C. difficile test is most often a finding about the microbiome, not the cause of the diarrhoea.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C. DIFFICILE — WHO TO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AGE DECIDES WHETHER TO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Paediatric positions on C. difficile testing by 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McDonald LC, et al. Clin Infect Dis 2018;66:e1–48 · Schutze GE, Willoughby RE. Pediatrics 2013;131:196–200 · Shane AL, et al. Clin Infect Dis 2017;65:e45–80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2" cy="34381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20240"/>
                <a:gridCol w="3108960"/>
                <a:gridCol w="3291840"/>
                <a:gridCol w="2770632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Age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IDSA/SHEA 2017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AAP 2013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IDSA 2017 diarrhoea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12 months or less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Never routinely (strong, moderate)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Only with Hirschsprung disease, severe motility disorder or an outbreak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addressed below 2 years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1 to 2 years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routinely; only after other causes excluded (weak, low)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 positive means possible CDI; look for other causes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recommended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2 to 3 years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Test if prolonged or worsening diarrhoea with risk factors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Still only possible CDI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May be considered after antibiotics or healthcare (weak, high)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Over 3 years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As above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 positive means probable CDI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As above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Any 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 repeat within 7 days; no test of cure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 test of cure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One stool only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C. DIFFICILE — THE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TOXIN, NOT GENE, MEANS DISEASE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Outcomes by test result in 1,416 hospitalised adults,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Polage CR, et al. JAMA Intern Med 2015;175:1792–801 · McDonald LC, et al. Clin Infect Dis 2018;66:e1–48 · Kelly CR, et al. Am J Gastroenterol 2021;116:1124–47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03604" y="4096512"/>
            <a:ext cx="914400" cy="18288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5004" y="3867912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45436" y="2585923"/>
            <a:ext cx="914400" cy="152887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16836" y="2357323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7.6%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7880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CDI-related complications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38244" y="3994099"/>
            <a:ext cx="914400" cy="12070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09644" y="3765499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0.6%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80076" y="2424988"/>
            <a:ext cx="914400" cy="1689811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1476" y="2196388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8.4%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17880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CDI-related deaths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114800"/>
            <a:ext cx="5669280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1828799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badi"/>
              </a:rPr>
              <a:t>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1865376"/>
            <a:ext cx="201168" cy="14630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90672" y="1828799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Toxin –, PCR +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9160" y="1865376"/>
            <a:ext cx="201168" cy="14630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65192" y="1828799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Toxin +, PCR 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1828800"/>
            <a:ext cx="4599432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What the guidelines ask</a:t>
            </a:r>
          </a:p>
          <a:p>
            <a:pPr algn="l">
              <a:spcAft>
                <a:spcPts val="72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IDSA/SHEA 2017: without strict stool-submission criteria, use a multistep algorithm that includes a toxin test, not NAAT alone.</a:t>
            </a:r>
          </a:p>
          <a:p>
            <a:pPr algn="l">
              <a:spcAft>
                <a:spcPts val="72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ACG 2021: NAAT or GDH first, then toxin EIA; no test of cure.</a:t>
            </a:r>
          </a:p>
          <a:p>
            <a:pPr algn="l">
              <a:spcAft>
                <a:spcPts val="72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Why it matters in children</a:t>
            </a:r>
          </a:p>
          <a:p>
            <a:pPr algn="l">
              <a:spcAft>
                <a:spcPts val="72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The adult toxin-negative group had no complications; in a colonised toddler, a lone positive PCR deserves even less weight.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02920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Treat the toxin-positive, symptomatic child; explain the PCR-only positive.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C. DIFFICILE — TREATMENT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FIDAXOMICIN IN CHILDREN: SUNSHINE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Fidaxomicin versus vancomycin in 142 treated children under 18 years (30 under 2),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Wolf J, et al. Clin Infect Dis 2020;71:2581–8 · McDonald LC, et al. Clin Infect Dis 2018;66:e1–48 · Johnson S, et al. Clin Infect Dis 2021;73:e1029–44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03604" y="2392883"/>
            <a:ext cx="914400" cy="181335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5004" y="2164283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77.6%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45436" y="2558796"/>
            <a:ext cx="914400" cy="1647443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16836" y="2330196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70.5%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7024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Clinical response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38244" y="2607868"/>
            <a:ext cx="914400" cy="1598371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09644" y="2379268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68.4%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80076" y="3037839"/>
            <a:ext cx="914400" cy="116840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1476" y="2809239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50%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27024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Global cure at 30 days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206240"/>
            <a:ext cx="5669280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1828799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badi"/>
              </a:rPr>
              <a:t>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1865376"/>
            <a:ext cx="201168" cy="14630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90672" y="1828799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Fidaxomicin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9160" y="1865376"/>
            <a:ext cx="201168" cy="14630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65192" y="1828799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Vancomycin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1828800"/>
            <a:ext cx="4599432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Reading the trial</a:t>
            </a:r>
          </a:p>
          <a:p>
            <a:pPr algn="l">
              <a:spcAft>
                <a:spcPts val="72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Randomised 2:1, single-blind. Response was similar; sustained cure was 18 points higher (adjusted difference 18.8%, 95% CI 1.5–35.3), because fewer children relapsed.</a:t>
            </a:r>
          </a:p>
          <a:p>
            <a:pPr algn="l">
              <a:spcAft>
                <a:spcPts val="72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Where the guidelines stand</a:t>
            </a:r>
          </a:p>
          <a:p>
            <a:pPr algn="l">
              <a:spcAft>
                <a:spcPts val="72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Children (IDSA/SHEA 2017): metronidazole or vancomycin for a non-severe first episode; oral vancomycin when severe. Adults (IDSA/SHEA 2021): fidaxomicin preferred.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02920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The paediatric evidence has moved past the paediatric guideline.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C. DIFFICILE — RECURRENCE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FAECAL TRANSPLANT IN CHILDREN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Multicentre cohort of 372 children receiving FMT for C. difficile, 18 centres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Nicholson MR, et al. Clin Gastroenterol Hepatol 2020;18 (doi 10.1016/j.cgh.2019.04.037) · Davidovics ZH, et al. JPGN 2019;68:130–43 · Peery AF, et al. Gastroenterology 2024;166:409–34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7178" cy="20116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093976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81%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44368"/>
            <a:ext cx="2292858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Success after a single FMT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1773936"/>
            <a:ext cx="2567178" cy="20116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1773936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2093976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86.6%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2944368"/>
            <a:ext cx="2292858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Success after one or more FMTs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773936"/>
            <a:ext cx="2567178" cy="20116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773936"/>
            <a:ext cx="2567178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2093976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4.7%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2944368"/>
            <a:ext cx="2292858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Serious adverse events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1773936"/>
            <a:ext cx="2567178" cy="20116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1773936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093976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OR 2.66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2944368"/>
            <a:ext cx="2292858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Fresh rather than frozen stool predicted success; colonoscopic delivery OR 2.41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11480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The joint NASPGHAN/ESPGHAN position paper of 2019 notes that no controlled trial of FMT for recurrent C. difficile has been done in children. Adult guidance (AGA 2024) supports microbiota-based therapy after antibiotics for recurrence, and advises against it in severe immunocompromise.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Confirm toxin-positive recurrence, and look for IBD, before the first faecal transplant.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STOOL ELECTROLYTES —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GAP COUNTS WHAT IS NOT SALT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Osmotic gap = 290 − 2 × (Na⁺ + K⁺), mOsm/kg, in two invented examples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AGA technical review. Gastroenterology 1999;116:1464–86 · Eherer AJ, Fordtran JS. Gastroenterology 1992;103:545–51 · Mayo Clinic Laboratories, faecal osmolality test catalogue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0195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Abadi"/>
              </a:rPr>
              <a:t>Secretory: Na 110, K 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94560"/>
            <a:ext cx="4061197" cy="41148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09837" y="2194560"/>
            <a:ext cx="145042" cy="41148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2677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355E"/>
                </a:solidFill>
                <a:latin typeface="Abadi"/>
              </a:rPr>
              <a:t>Gap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90779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Abadi"/>
              </a:rPr>
              <a:t>Osmotic: Na 30, K 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00400"/>
            <a:ext cx="1595470" cy="41148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44110" y="3200400"/>
            <a:ext cx="2610769" cy="41148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32735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355E"/>
                </a:solidFill>
                <a:latin typeface="Abadi"/>
              </a:rPr>
              <a:t>Gap 180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badi"/>
              </a:rPr>
              <a:t>Blue: 2 × (Na + K)   Orange: unmeasured osmoles (sugars, Mg, SO₄, PO₄)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828800"/>
            <a:ext cx="5239512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Why 290, not the measured value</a:t>
            </a:r>
          </a:p>
          <a:p>
            <a:pPr algn="l">
              <a:spcAft>
                <a:spcPts val="72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Faecal osmolality rises in the pot within minutes as bacteria ferment sugar, so the plasma value of 290 is used.</a:t>
            </a:r>
          </a:p>
          <a:p>
            <a:pPr algn="l">
              <a:spcAft>
                <a:spcPts val="72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Thresholds</a:t>
            </a:r>
          </a:p>
          <a:p>
            <a:pPr algn="l">
              <a:spcAft>
                <a:spcPts val="72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Above 125: osmotic; below 50: secretory; 50–125: mixed (AGA 1999). Some use above 100 (infants) or above 50.</a:t>
            </a:r>
          </a:p>
          <a:p>
            <a:pPr algn="l">
              <a:spcAft>
                <a:spcPts val="72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When the measured value helps</a:t>
            </a:r>
          </a:p>
          <a:p>
            <a:pPr algn="l">
              <a:spcAft>
                <a:spcPts val="72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Below 290 means water or dilute urine was added; Mayo uses below 220. A gap above 75 can mean magnesium.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9204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Two electrolytes and one subtraction sort diarrhoea into salt or sugar.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STOOL CHEMISTRY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GAP, pH AND SUGARS ADD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Bedside chemistry for the infant with chronic diarrhoea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AGA 1999 Gastroenterology · Thiagarajah JR, et al. Gastroenterology 2018 · Mayo Clinic Laboratories · Abdullah AM, et al. Ann Trop Paediatr 1990;10:71–4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2" cy="38587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2377440"/>
                <a:gridCol w="3291840"/>
                <a:gridCol w="3319272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Finding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Threshold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Meaning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Next step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Osmotic gap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&gt; 125 (&gt; 100 in infant series)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Osmotic or diet-induced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Fasting trial; stool sugars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Osmotic gap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&lt; 50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Secretory or transport defect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Stool Cl and Na; consider genetics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Stool pH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&lt; 5.3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Carbohydrate malabsorption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Reducing substances; withdraw the sugar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Reducing substances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&gt; 0.5%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Unabsorbed glucose, galactose or lactose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Sucrose needs hydrolysis first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Stool chloride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&gt; 90 mmol/L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Congenital chloride diarrhoea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SLC26A3 testing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Measured osmolality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&lt; 290 (Mayo &lt; 220)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Dilution with water or urine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Supervised collection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Diarrhoea on fasting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Stops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Diet-induced (osmotic)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Identify the nutrient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Diarrhoea on fasting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Persists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Secretory or transport defect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Electrolytes, endoscopy, genetics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PROTEIN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ALPHA-1 ANTITRYPSIN SURVIVES THE GUT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 plasma protein that resists digestion, so its stool clearance tracks enteric protein loss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Florent C, et al. Gastroenterology 1981;81:777–80 · Mayo Clinic Laboratories and Children's Minnesota test catalogues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7178" cy="20116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093976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1B355E"/>
                </a:solidFill>
                <a:latin typeface="Abadi"/>
              </a:rPr>
              <a:t>r = 0.96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44368"/>
            <a:ext cx="2292858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Correlation of A1AT clearance with ⁵¹Cr-albumin clearance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1773936"/>
            <a:ext cx="2567178" cy="20116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1773936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2093976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1B355E"/>
                </a:solidFill>
                <a:latin typeface="Abadi"/>
              </a:rPr>
              <a:t>93% / 90%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2944368"/>
            <a:ext cx="2292858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Sensitivity and specificity against the isotope standard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773936"/>
            <a:ext cx="2567178" cy="20116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773936"/>
            <a:ext cx="2567178" cy="12801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2093976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1B355E"/>
                </a:solidFill>
                <a:latin typeface="Abadi"/>
              </a:rPr>
              <a:t>≤ 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2944368"/>
            <a:ext cx="2292858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Normal 24-hour A1AT clearance, mL; protein-losing enteropathy usually above 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1773936"/>
            <a:ext cx="2567178" cy="20116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1773936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093976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1B355E"/>
                </a:solidFill>
                <a:latin typeface="Abadi"/>
              </a:rPr>
              <a:t>pH &lt;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2944368"/>
            <a:ext cx="2292858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Destroys A1AT: no A1AT detectable in acid gastric juice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11480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Random stool concentration is only a surrogate for the 24-hour clearance, which needs a timed stool and a serum level. Blood in the stool and urine contamination raise the value. Gastric protein loss, as in Ménétrier disease, is missed unless the test is repeated on acid suppression.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For the child with low albumin and oedema after a Fontan, send a timed clearance, not a random pot.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FAT AND PARASITES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OLD TESTS, NEW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Faecal fat, steatocrit and parasite testing: the numbers and their caveats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AGA 1999 Gastroenterology · Wieczorek-Filipiak M, et al. J Med Sci 2019;88:82–90 · Arasaradnam RP, et al. Gut 2018;67:1380–99 · CDC parasite diagnostics · Shane 2017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2" cy="400507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4023360"/>
                <a:gridCol w="4325112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Test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Number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Caveat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Faecal fat (72-hour)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&gt; 7 g/day abnormal; ≥ 14 g/day more specific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7–14 g/day is non-specific, often secondary to diarrhoea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Faecal fat concentration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≥ 9.5 g per 100 g stool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Suggests pancreatic or biliary steatorrhoea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Acid steatocrit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95th centile 23.9% at 1 month, 12.9% at 24 months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Poorly reflects faecal fat in infants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UK practice (BSG 2018)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Three-day fat no longer performed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Elastase recommended (grade 1, strong); falsely low in liquid stool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Ova, cysts and parasites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Three fresh stools: sensitivity about 60–90%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Labour-intensive; shedding is intermittent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Giardia stool ELISA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Sensitivity 92%, specificity 98%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Antigen and PCR panels have replaced microscopy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Cryptosporidium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in routine O&amp;P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Must be requested, or use a PCR panel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DOCUMENTS SAY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74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Shane 2017 · Guarino 2014 · McDonald 2018 · Schutze 2013 · Johnson 2021 · Kelly 2021 · van Prehn 2021 (ESCMID) · AGA 1999 · Thiagarajah 2018 · Arasaradnam 2018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499616"/>
          <a:ext cx="11091672" cy="426110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86000"/>
                <a:gridCol w="4023360"/>
                <a:gridCol w="3474720"/>
                <a:gridCol w="1307592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Paediatric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Adult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When to send a panel or culture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ESPGHAN 2014: generally not needed; IDSA 2017: fever, blood, sepsis, travel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IDSA 2017 (all ages) same triggers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C. difficile testing under 3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IDSA/SHEA: never &lt; 12 months, 1–2 y only after other causes; AAP: possible CDI to age 3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Not applicable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C. difficile test method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IDSA/SHEA 2017: toxin in a multistep algorithm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ACG 2021: NAAT or GDH, then toxin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First-line treatment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Metronidazole or vancomycin (IDSA/SHEA 2017; AAP 2013)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Fidaxomicin preferred (IDSA/SHEA 2021, ESCMID 2021)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Repeat test / test of cure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No repeat within 7 days; no test of cure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No test of cure (ACG 2021)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Osmotic gap cut-off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Thiagarajah 2018: &gt; 100 for diet-induced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AGA 1999: &gt; 125 osmotic, &lt; 50 secretory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Faecal A1AT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No guideline; laboratory practice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No guideline; laboratory practice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EIGHT THINGS TO REMEMBER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74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Liu 2016 · Payne 2013 · Cotter 2021 · APPETITE 2021 · Tougas 2021 · Polage 2015 · Wolf 2020 · AGA 1999 · Florent 1981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45336"/>
            <a:ext cx="11091672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3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A positive panel is a detection: norovirus was found in 4% of healthy US children under 5.</a:t>
            </a:r>
          </a:p>
          <a:p>
            <a:pPr algn="l">
              <a:spcAft>
                <a:spcPts val="13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Load matters: typical EPEC needed 2.7 × 10⁹ copies/g before GEMS counted it as the cause.</a:t>
            </a:r>
          </a:p>
          <a:p>
            <a:pPr algn="l">
              <a:spcAft>
                <a:spcPts val="13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Panels raised positivity from 11% to 40% without shortening the overall stay.</a:t>
            </a:r>
          </a:p>
          <a:p>
            <a:pPr algn="l">
              <a:spcAft>
                <a:spcPts val="13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Adenovirus F40/41 is almost always causal (96%); non-enteric types often are not (52%).</a:t>
            </a:r>
          </a:p>
          <a:p>
            <a:pPr algn="l">
              <a:spcAft>
                <a:spcPts val="13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41% of healthy infants aged 6–12 months carry C. difficile, 14% toxigenic: do not test them.</a:t>
            </a:r>
          </a:p>
          <a:p>
            <a:pPr algn="l">
              <a:spcAft>
                <a:spcPts val="13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Toxin-negative, PCR-positive adults had no CDI complications; trust the toxin.</a:t>
            </a:r>
          </a:p>
          <a:p>
            <a:pPr algn="l">
              <a:spcAft>
                <a:spcPts val="13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Fidaxomicin raised sustained cure from 50% to 68% in children (SUNSHINE).</a:t>
            </a:r>
          </a:p>
          <a:p>
            <a:pPr algn="l">
              <a:spcAft>
                <a:spcPts val="13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Calculate the gap from 290; a measured osmolality below 290 means dilution, and A1AT dies below pH 3.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SYNTHESIS — SCENARIO TO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FROM SCENARIO TO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74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Shane 2017 · McDonald 2018 · Schutze 2013 · Wolf 2020 · AGA 1999 · Florent 1981 · Liu 2016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499616"/>
          <a:ext cx="11091672" cy="38221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91840"/>
                <a:gridCol w="2194560"/>
                <a:gridCol w="2560320"/>
                <a:gridCol w="3044952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Test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Read it as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Do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7-month-old, watery stools, GDH and toxin positive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None should have been sent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Colonisation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Do not treat; look for viruses, diet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18-month-old after amoxicillin; norovirus and C. difficile PCR positive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Panel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Norovirus explains it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Supportive care; no C. difficile treatment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9-year-old with Crohn's, toxin-positive, non-severe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GDH/toxin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True CDI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Oral vancomycin, or fidaxomicin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4-year-old, bloody diarrhoea and fever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Panel or culture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STEC must be excluded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Reflex culture; no antibiotics until STEC excluded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Infant: stool Na 40, K 20, pH 5.0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Gap 290 − 120 = 170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Osmotic, carbohydrate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Reducing substances; stop the sugar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Fontan, oedema, albumin 2.1 g/dL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24-hour A1AT clearance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Protein-losing enteropathy if &gt; 27 mL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Repeat on a PPI if gastric loss suspected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1091672" cy="135331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badi"/>
              </a:rPr>
              <a:t>Stool Testing: Infections and Malabsorption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703320"/>
            <a:ext cx="1828800" cy="18288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95928"/>
            <a:ext cx="110916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