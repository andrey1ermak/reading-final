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280160"/>
            <a:ext cx="11082528" cy="2194560"/>
          </a:xfrm>
          <a:prstGeom prst="rect">
            <a:avLst/>
          </a:prstGeom>
          <a:noFill/>
        </p:spPr>
        <p:txBody>
          <a:bodyPr wrap="square" lIns="36576" rIns="36576" tIns="36576" bIns="36576" anchor="b">
            <a:spAutoFit/>
          </a:bodyPr>
          <a:lstStyle/>
          <a:p>
            <a:pPr algn="ctr"/>
            <a:r>
              <a:rPr sz="4000" b="1" i="0">
                <a:solidFill>
                  <a:srgbClr val="FFFFFF"/>
                </a:solidFill>
                <a:latin typeface="Abadi"/>
              </a:rPr>
              <a:t>Antireflux Surgery and Its Alternatives — Nissen versus Partial Wraps, Recurrence, Jejunal Feeding and Outcomes in Neurological Impairment</a:t>
            </a:r>
          </a:p>
        </p:txBody>
      </p:sp>
      <p:sp>
        <p:nvSpPr>
          <p:cNvPr id="4" name="Rectangle 3"/>
          <p:cNvSpPr/>
          <p:nvPr/>
        </p:nvSpPr>
        <p:spPr>
          <a:xfrm>
            <a:off x="5184648" y="3630168"/>
            <a:ext cx="1828800" cy="1828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3831336"/>
            <a:ext cx="11082528" cy="292608"/>
          </a:xfrm>
          <a:prstGeom prst="rect">
            <a:avLst/>
          </a:prstGeom>
          <a:noFill/>
        </p:spPr>
        <p:txBody>
          <a:bodyPr wrap="square" lIns="36576" rIns="36576" tIns="36576" bIns="36576" anchor="t">
            <a:spAutoFit/>
          </a:bodyPr>
          <a:lstStyle/>
          <a:p>
            <a:pPr algn="ctr"/>
            <a:r>
              <a:rPr sz="1700" b="1" i="0">
                <a:solidFill>
                  <a:srgbClr val="FFFFFF"/>
                </a:solidFill>
                <a:latin typeface="Abadi"/>
              </a:rPr>
              <a:t>Andrey Ermak, MD</a:t>
            </a:r>
          </a:p>
        </p:txBody>
      </p:sp>
      <p:sp>
        <p:nvSpPr>
          <p:cNvPr id="6" name="TextBox 5"/>
          <p:cNvSpPr txBox="1"/>
          <p:nvPr/>
        </p:nvSpPr>
        <p:spPr>
          <a:xfrm>
            <a:off x="548640" y="4343400"/>
            <a:ext cx="11082528" cy="685800"/>
          </a:xfrm>
          <a:prstGeom prst="rect">
            <a:avLst/>
          </a:prstGeom>
          <a:noFill/>
        </p:spPr>
        <p:txBody>
          <a:bodyPr wrap="square" lIns="36576" rIns="36576" tIns="36576" bIns="36576" anchor="t">
            <a:spAutoFit/>
          </a:bodyPr>
          <a:lstStyle/>
          <a:p>
            <a:pPr algn="ctr"/>
            <a:r>
              <a:rPr sz="1100" b="0" i="0">
                <a:solidFill>
                  <a:srgbClr val="D5DDE8"/>
                </a:solidFill>
                <a:latin typeface="Abadi"/>
              </a:rPr>
              <a:t>Rosen 2018 (NASPGHAN/ESPGHAN) · Romano 2017 (ESPGHAN NI) · Broekaert 2019 (ESPGHAN jejunal feeding) · Katz 2022 (ACG) · Yadlapati 2022 (AGA) · Slater 2023 (SAGES) · Kubiak 2011 · Broeders 2010 · Mauritz 2011 · Glen 2014 · St Peter 2011 · Pacilli 2014 · Fyhn 2015, 2022 · Martin 2014 · Srivastava 2007, 2009 · Lansdale 2015 · Chen 2012 · Lasser 2006 · Goldin 2009 · Cochrane 2026</a:t>
            </a:r>
          </a:p>
        </p:txBody>
      </p:sp>
      <p:sp>
        <p:nvSpPr>
          <p:cNvPr id="7" name="TextBox 6"/>
          <p:cNvSpPr txBox="1"/>
          <p:nvPr/>
        </p:nvSpPr>
        <p:spPr>
          <a:xfrm>
            <a:off x="548640" y="5193792"/>
            <a:ext cx="11082528" cy="548640"/>
          </a:xfrm>
          <a:prstGeom prst="rect">
            <a:avLst/>
          </a:prstGeom>
          <a:noFill/>
        </p:spPr>
        <p:txBody>
          <a:bodyPr wrap="square" lIns="36576" rIns="36576" tIns="36576" bIns="36576" anchor="t">
            <a:spAutoFit/>
          </a:bodyPr>
          <a:lstStyle/>
          <a:p>
            <a:pPr algn="ctr"/>
            <a:r>
              <a:rPr sz="1100" b="0" i="1">
                <a:solidFill>
                  <a:srgbClr val="D5DDE8"/>
                </a:solidFill>
                <a:latin typeface="Abadi"/>
              </a:rPr>
              <a:t>surgery is for complications, refractory disease and high-risk children · Nissen lasts longer, partial wraps swallow better · laparoscopy recurs more in the long run · jejunal feeding is a real alternative · no randomised trial compares them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292608"/>
            <a:ext cx="630936" cy="347472"/>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630936" cy="347472"/>
          </a:xfrm>
          <a:prstGeom prst="rect">
            <a:avLst/>
          </a:prstGeom>
          <a:noFill/>
        </p:spPr>
        <p:txBody>
          <a:bodyPr wrap="square" lIns="36576" rIns="36576" tIns="36576" bIns="36576" anchor="ctr">
            <a:spAutoFit/>
          </a:bodyPr>
          <a:lstStyle/>
          <a:p>
            <a:pPr algn="ctr"/>
            <a:r>
              <a:rPr sz="1500" b="1" i="0">
                <a:solidFill>
                  <a:srgbClr val="FFFFFF"/>
                </a:solidFill>
                <a:latin typeface="Abadi"/>
              </a:rPr>
              <a:t>I</a:t>
            </a:r>
          </a:p>
        </p:txBody>
      </p:sp>
      <p:sp>
        <p:nvSpPr>
          <p:cNvPr id="4" name="TextBox 3"/>
          <p:cNvSpPr txBox="1"/>
          <p:nvPr/>
        </p:nvSpPr>
        <p:spPr>
          <a:xfrm>
            <a:off x="1380744" y="292608"/>
            <a:ext cx="10232136" cy="347472"/>
          </a:xfrm>
          <a:prstGeom prst="rect">
            <a:avLst/>
          </a:prstGeom>
          <a:noFill/>
        </p:spPr>
        <p:txBody>
          <a:bodyPr wrap="square" lIns="36576" rIns="36576" tIns="36576" bIns="36576" anchor="ctr">
            <a:spAutoFit/>
          </a:bodyPr>
          <a:lstStyle/>
          <a:p>
            <a:pPr algn="l"/>
            <a:r>
              <a:rPr sz="1200" b="1" i="0">
                <a:solidFill>
                  <a:srgbClr val="B22222"/>
                </a:solidFill>
                <a:latin typeface="Abadi"/>
              </a:rPr>
              <a:t>THE QUESTION OF THE DAY</a:t>
            </a:r>
          </a:p>
        </p:txBody>
      </p:sp>
      <p:sp>
        <p:nvSpPr>
          <p:cNvPr id="5" name="TextBox 4"/>
          <p:cNvSpPr txBox="1"/>
          <p:nvPr/>
        </p:nvSpPr>
        <p:spPr>
          <a:xfrm>
            <a:off x="548640" y="722376"/>
            <a:ext cx="11082528" cy="548640"/>
          </a:xfrm>
          <a:prstGeom prst="rect">
            <a:avLst/>
          </a:prstGeom>
          <a:noFill/>
        </p:spPr>
        <p:txBody>
          <a:bodyPr wrap="square" lIns="36576" rIns="36576" tIns="36576" bIns="36576" anchor="ctr">
            <a:spAutoFit/>
          </a:bodyPr>
          <a:lstStyle/>
          <a:p>
            <a:pPr algn="l"/>
            <a:r>
              <a:rPr sz="3000" b="1" i="0">
                <a:solidFill>
                  <a:srgbClr val="1B355E"/>
                </a:solidFill>
                <a:latin typeface="Abadi"/>
              </a:rPr>
              <a:t>THE WRAP OR THE TUBE</a:t>
            </a:r>
          </a:p>
        </p:txBody>
      </p:sp>
      <p:sp>
        <p:nvSpPr>
          <p:cNvPr id="6" name="TextBox 5"/>
          <p:cNvSpPr txBox="1"/>
          <p:nvPr/>
        </p:nvSpPr>
        <p:spPr>
          <a:xfrm>
            <a:off x="548640" y="1307592"/>
            <a:ext cx="11082528" cy="265176"/>
          </a:xfrm>
          <a:prstGeom prst="rect">
            <a:avLst/>
          </a:prstGeom>
          <a:noFill/>
        </p:spPr>
        <p:txBody>
          <a:bodyPr wrap="square" lIns="36576" rIns="36576" tIns="36576" bIns="36576" anchor="t">
            <a:spAutoFit/>
          </a:bodyPr>
          <a:lstStyle/>
          <a:p>
            <a:pPr algn="l"/>
            <a:r>
              <a:rPr sz="1300" b="0" i="0">
                <a:solidFill>
                  <a:srgbClr val="555555"/>
                </a:solidFill>
                <a:latin typeface="Abadi"/>
              </a:rPr>
              <a:t>A 7-year-old with cerebral palsy (GMFCS V), a gastrostomy and two aspiration pneumonias this year: is a Nissen the best option?</a:t>
            </a:r>
          </a:p>
        </p:txBody>
      </p:sp>
      <p:sp>
        <p:nvSpPr>
          <p:cNvPr id="7" name="Rectangle 6"/>
          <p:cNvSpPr/>
          <p:nvPr/>
        </p:nvSpPr>
        <p:spPr>
          <a:xfrm>
            <a:off x="548640" y="1600200"/>
            <a:ext cx="11082528" cy="27432"/>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55064"/>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5888736"/>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36224" y="5971032"/>
            <a:ext cx="694944" cy="292608"/>
          </a:xfrm>
          <a:prstGeom prst="rect">
            <a:avLst/>
          </a:prstGeom>
          <a:noFill/>
        </p:spPr>
        <p:txBody>
          <a:bodyPr wrap="square" lIns="36576" rIns="36576" tIns="36576" bIns="36576" anchor="t">
            <a:spAutoFit/>
          </a:bodyPr>
          <a:lstStyle/>
          <a:p>
            <a:pPr algn="r"/>
            <a:r>
              <a:rPr sz="1200" b="0" i="0">
                <a:solidFill>
                  <a:srgbClr val="555555"/>
                </a:solidFill>
                <a:latin typeface="Abadi"/>
              </a:rPr>
              <a:t>2</a:t>
            </a:r>
          </a:p>
        </p:txBody>
      </p:sp>
      <p:sp>
        <p:nvSpPr>
          <p:cNvPr id="11" name="TextBox 10"/>
          <p:cNvSpPr txBox="1"/>
          <p:nvPr/>
        </p:nvSpPr>
        <p:spPr>
          <a:xfrm>
            <a:off x="548640" y="5971032"/>
            <a:ext cx="10287000" cy="457200"/>
          </a:xfrm>
          <a:prstGeom prst="rect">
            <a:avLst/>
          </a:prstGeom>
          <a:noFill/>
        </p:spPr>
        <p:txBody>
          <a:bodyPr wrap="square" lIns="36576" rIns="36576" tIns="36576" bIns="36576" anchor="t">
            <a:spAutoFit/>
          </a:bodyPr>
          <a:lstStyle/>
          <a:p>
            <a:pPr algn="l"/>
            <a:r>
              <a:rPr sz="1000" b="0" i="0">
                <a:solidFill>
                  <a:srgbClr val="8A939B"/>
                </a:solidFill>
                <a:latin typeface="Abadi"/>
              </a:rPr>
              <a:t>Rosen R, et al. JPGN 2018;66:516–54 · Romano C, et al. JPGN 2017;65:242–64 · Kubiak R, et al. Ann Surg 2011;253:44–9 · Fyhn TJ, et al. Surg Endosc 2023;37:189–99 · Cochrane CD015007, 2026</a:t>
            </a:r>
          </a:p>
        </p:txBody>
      </p:sp>
      <p:sp>
        <p:nvSpPr>
          <p:cNvPr id="12" name="Rectangle 11"/>
          <p:cNvSpPr/>
          <p:nvPr/>
        </p:nvSpPr>
        <p:spPr>
          <a:xfrm>
            <a:off x="548640" y="1773936"/>
            <a:ext cx="2070201" cy="2148840"/>
          </a:xfrm>
          <a:prstGeom prst="rect">
            <a:avLst/>
          </a:prstGeom>
          <a:solidFill>
            <a:srgbClr val="DCE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1773936"/>
            <a:ext cx="2070201" cy="100584"/>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94944" y="1956816"/>
            <a:ext cx="1777593" cy="502920"/>
          </a:xfrm>
          <a:prstGeom prst="rect">
            <a:avLst/>
          </a:prstGeom>
          <a:noFill/>
        </p:spPr>
        <p:txBody>
          <a:bodyPr wrap="square" lIns="36576" rIns="36576" tIns="36576" bIns="36576" anchor="t">
            <a:spAutoFit/>
          </a:bodyPr>
          <a:lstStyle/>
          <a:p>
            <a:pPr algn="l"/>
            <a:r>
              <a:rPr sz="1500" b="1" i="0">
                <a:solidFill>
                  <a:srgbClr val="1B355E"/>
                </a:solidFill>
                <a:latin typeface="Abadi"/>
              </a:rPr>
              <a:t>Who</a:t>
            </a:r>
          </a:p>
        </p:txBody>
      </p:sp>
      <p:sp>
        <p:nvSpPr>
          <p:cNvPr id="15" name="TextBox 14"/>
          <p:cNvSpPr txBox="1"/>
          <p:nvPr/>
        </p:nvSpPr>
        <p:spPr>
          <a:xfrm>
            <a:off x="694944" y="2487168"/>
            <a:ext cx="1777593" cy="1344168"/>
          </a:xfrm>
          <a:prstGeom prst="rect">
            <a:avLst/>
          </a:prstGeom>
          <a:noFill/>
        </p:spPr>
        <p:txBody>
          <a:bodyPr wrap="square" lIns="36576" rIns="36576" tIns="36576" bIns="36576" anchor="t">
            <a:spAutoFit/>
          </a:bodyPr>
          <a:lstStyle/>
          <a:p>
            <a:pPr algn="l">
              <a:spcAft>
                <a:spcPts val="400"/>
              </a:spcAft>
            </a:pPr>
            <a:r>
              <a:rPr sz="1100" b="0" i="0">
                <a:solidFill>
                  <a:srgbClr val="1A1A1A"/>
                </a:solidFill>
                <a:latin typeface="Abadi"/>
              </a:rPr>
              <a:t>▪  Life-threatening complications</a:t>
            </a:r>
          </a:p>
          <a:p>
            <a:pPr algn="l">
              <a:spcAft>
                <a:spcPts val="400"/>
              </a:spcAft>
            </a:pPr>
            <a:r>
              <a:rPr sz="1100" b="0" i="0">
                <a:solidFill>
                  <a:srgbClr val="1A1A1A"/>
                </a:solidFill>
                <a:latin typeface="Abadi"/>
              </a:rPr>
              <a:t>▪  Refractory to optimal therapy</a:t>
            </a:r>
          </a:p>
          <a:p>
            <a:pPr algn="l">
              <a:spcAft>
                <a:spcPts val="400"/>
              </a:spcAft>
            </a:pPr>
            <a:r>
              <a:rPr sz="1100" b="0" i="0">
                <a:solidFill>
                  <a:srgbClr val="1A1A1A"/>
                </a:solidFill>
                <a:latin typeface="Abadi"/>
              </a:rPr>
              <a:t>▪  High-risk chronic conditions</a:t>
            </a:r>
          </a:p>
        </p:txBody>
      </p:sp>
      <p:sp>
        <p:nvSpPr>
          <p:cNvPr id="16" name="Rectangle 15"/>
          <p:cNvSpPr/>
          <p:nvPr/>
        </p:nvSpPr>
        <p:spPr>
          <a:xfrm>
            <a:off x="2801721" y="1773936"/>
            <a:ext cx="2070201" cy="2148840"/>
          </a:xfrm>
          <a:prstGeom prst="rect">
            <a:avLst/>
          </a:prstGeom>
          <a:solidFill>
            <a:srgbClr val="F6D2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801721" y="1773936"/>
            <a:ext cx="2070201" cy="100584"/>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948025" y="1956816"/>
            <a:ext cx="1777593" cy="502920"/>
          </a:xfrm>
          <a:prstGeom prst="rect">
            <a:avLst/>
          </a:prstGeom>
          <a:noFill/>
        </p:spPr>
        <p:txBody>
          <a:bodyPr wrap="square" lIns="36576" rIns="36576" tIns="36576" bIns="36576" anchor="t">
            <a:spAutoFit/>
          </a:bodyPr>
          <a:lstStyle/>
          <a:p>
            <a:pPr algn="l"/>
            <a:r>
              <a:rPr sz="1500" b="1" i="0">
                <a:solidFill>
                  <a:srgbClr val="B22222"/>
                </a:solidFill>
                <a:latin typeface="Abadi"/>
              </a:rPr>
              <a:t>Which wrap</a:t>
            </a:r>
          </a:p>
        </p:txBody>
      </p:sp>
      <p:sp>
        <p:nvSpPr>
          <p:cNvPr id="19" name="TextBox 18"/>
          <p:cNvSpPr txBox="1"/>
          <p:nvPr/>
        </p:nvSpPr>
        <p:spPr>
          <a:xfrm>
            <a:off x="2948025" y="2487168"/>
            <a:ext cx="1777593" cy="1344168"/>
          </a:xfrm>
          <a:prstGeom prst="rect">
            <a:avLst/>
          </a:prstGeom>
          <a:noFill/>
        </p:spPr>
        <p:txBody>
          <a:bodyPr wrap="square" lIns="36576" rIns="36576" tIns="36576" bIns="36576" anchor="t">
            <a:spAutoFit/>
          </a:bodyPr>
          <a:lstStyle/>
          <a:p>
            <a:pPr algn="l">
              <a:spcAft>
                <a:spcPts val="400"/>
              </a:spcAft>
            </a:pPr>
            <a:r>
              <a:rPr sz="1100" b="0" i="0">
                <a:solidFill>
                  <a:srgbClr val="1A1A1A"/>
                </a:solidFill>
                <a:latin typeface="Abadi"/>
              </a:rPr>
              <a:t>▪  Nissen: failure 5.9% vs Thal 15.9%</a:t>
            </a:r>
          </a:p>
          <a:p>
            <a:pPr algn="l">
              <a:spcAft>
                <a:spcPts val="400"/>
              </a:spcAft>
            </a:pPr>
            <a:r>
              <a:rPr sz="1100" b="0" i="0">
                <a:solidFill>
                  <a:srgbClr val="1A1A1A"/>
                </a:solidFill>
                <a:latin typeface="Abadi"/>
              </a:rPr>
              <a:t>▪  Severe dysphagia 11.8% vs 2.4%</a:t>
            </a:r>
          </a:p>
        </p:txBody>
      </p:sp>
      <p:sp>
        <p:nvSpPr>
          <p:cNvPr id="20" name="Rectangle 19"/>
          <p:cNvSpPr/>
          <p:nvPr/>
        </p:nvSpPr>
        <p:spPr>
          <a:xfrm>
            <a:off x="5054803" y="1773936"/>
            <a:ext cx="2070201" cy="2148840"/>
          </a:xfrm>
          <a:prstGeom prst="rect">
            <a:avLst/>
          </a:prstGeom>
          <a:solidFill>
            <a:srgbClr val="FBEF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054803" y="1773936"/>
            <a:ext cx="2070201" cy="100584"/>
          </a:xfrm>
          <a:prstGeom prst="rect">
            <a:avLst/>
          </a:prstGeom>
          <a:solidFill>
            <a:srgbClr val="D97A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201107" y="1956816"/>
            <a:ext cx="1777593" cy="502920"/>
          </a:xfrm>
          <a:prstGeom prst="rect">
            <a:avLst/>
          </a:prstGeom>
          <a:noFill/>
        </p:spPr>
        <p:txBody>
          <a:bodyPr wrap="square" lIns="36576" rIns="36576" tIns="36576" bIns="36576" anchor="t">
            <a:spAutoFit/>
          </a:bodyPr>
          <a:lstStyle/>
          <a:p>
            <a:pPr algn="l"/>
            <a:r>
              <a:rPr sz="1500" b="1" i="0">
                <a:solidFill>
                  <a:srgbClr val="D97A0B"/>
                </a:solidFill>
                <a:latin typeface="Abadi"/>
              </a:rPr>
              <a:t>Which route</a:t>
            </a:r>
          </a:p>
        </p:txBody>
      </p:sp>
      <p:sp>
        <p:nvSpPr>
          <p:cNvPr id="23" name="TextBox 22"/>
          <p:cNvSpPr txBox="1"/>
          <p:nvPr/>
        </p:nvSpPr>
        <p:spPr>
          <a:xfrm>
            <a:off x="5201107" y="2487168"/>
            <a:ext cx="1777593" cy="1344168"/>
          </a:xfrm>
          <a:prstGeom prst="rect">
            <a:avLst/>
          </a:prstGeom>
          <a:noFill/>
        </p:spPr>
        <p:txBody>
          <a:bodyPr wrap="square" lIns="36576" rIns="36576" tIns="36576" bIns="36576" anchor="t">
            <a:spAutoFit/>
          </a:bodyPr>
          <a:lstStyle/>
          <a:p>
            <a:pPr algn="l">
              <a:spcAft>
                <a:spcPts val="400"/>
              </a:spcAft>
            </a:pPr>
            <a:r>
              <a:rPr sz="1100" b="0" i="0">
                <a:solidFill>
                  <a:srgbClr val="1A1A1A"/>
                </a:solidFill>
                <a:latin typeface="Abadi"/>
              </a:rPr>
              <a:t>▪  12-year recurrence 56% laparoscopic vs 31% open</a:t>
            </a:r>
          </a:p>
          <a:p>
            <a:pPr algn="l">
              <a:spcAft>
                <a:spcPts val="400"/>
              </a:spcAft>
            </a:pPr>
            <a:r>
              <a:rPr sz="1100" b="0" i="0">
                <a:solidFill>
                  <a:srgbClr val="1A1A1A"/>
                </a:solidFill>
                <a:latin typeface="Abadi"/>
              </a:rPr>
              <a:t>▪  Shorter stay, less retching</a:t>
            </a:r>
          </a:p>
        </p:txBody>
      </p:sp>
      <p:sp>
        <p:nvSpPr>
          <p:cNvPr id="24" name="Rectangle 23"/>
          <p:cNvSpPr/>
          <p:nvPr/>
        </p:nvSpPr>
        <p:spPr>
          <a:xfrm>
            <a:off x="7307884" y="1773936"/>
            <a:ext cx="2070201" cy="2148840"/>
          </a:xfrm>
          <a:prstGeom prst="rect">
            <a:avLst/>
          </a:prstGeom>
          <a:solidFill>
            <a:srgbClr val="CDE7C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307884" y="1773936"/>
            <a:ext cx="2070201" cy="100584"/>
          </a:xfrm>
          <a:prstGeom prst="rect">
            <a:avLst/>
          </a:prstGeom>
          <a:solidFill>
            <a:srgbClr val="1E7A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54188" y="1956816"/>
            <a:ext cx="1777593" cy="502920"/>
          </a:xfrm>
          <a:prstGeom prst="rect">
            <a:avLst/>
          </a:prstGeom>
          <a:noFill/>
        </p:spPr>
        <p:txBody>
          <a:bodyPr wrap="square" lIns="36576" rIns="36576" tIns="36576" bIns="36576" anchor="t">
            <a:spAutoFit/>
          </a:bodyPr>
          <a:lstStyle/>
          <a:p>
            <a:pPr algn="l"/>
            <a:r>
              <a:rPr sz="1500" b="1" i="0">
                <a:solidFill>
                  <a:srgbClr val="1E7A33"/>
                </a:solidFill>
                <a:latin typeface="Abadi"/>
              </a:rPr>
              <a:t>Alternative</a:t>
            </a:r>
          </a:p>
        </p:txBody>
      </p:sp>
      <p:sp>
        <p:nvSpPr>
          <p:cNvPr id="27" name="TextBox 26"/>
          <p:cNvSpPr txBox="1"/>
          <p:nvPr/>
        </p:nvSpPr>
        <p:spPr>
          <a:xfrm>
            <a:off x="7454188" y="2487168"/>
            <a:ext cx="1777593" cy="1344168"/>
          </a:xfrm>
          <a:prstGeom prst="rect">
            <a:avLst/>
          </a:prstGeom>
          <a:noFill/>
        </p:spPr>
        <p:txBody>
          <a:bodyPr wrap="square" lIns="36576" rIns="36576" tIns="36576" bIns="36576" anchor="t">
            <a:spAutoFit/>
          </a:bodyPr>
          <a:lstStyle/>
          <a:p>
            <a:pPr algn="l">
              <a:spcAft>
                <a:spcPts val="400"/>
              </a:spcAft>
            </a:pPr>
            <a:r>
              <a:rPr sz="1100" b="0" i="0">
                <a:solidFill>
                  <a:srgbClr val="1A1A1A"/>
                </a:solidFill>
                <a:latin typeface="Abadi"/>
              </a:rPr>
              <a:t>▪  Gastrojejunal feeding</a:t>
            </a:r>
          </a:p>
          <a:p>
            <a:pPr algn="l">
              <a:spcAft>
                <a:spcPts val="400"/>
              </a:spcAft>
            </a:pPr>
            <a:r>
              <a:rPr sz="1100" b="0" i="0">
                <a:solidFill>
                  <a:srgbClr val="1A1A1A"/>
                </a:solidFill>
                <a:latin typeface="Abadi"/>
              </a:rPr>
              <a:t>▪  Cochrane 2026: no RCTs, little difference in pneumonia</a:t>
            </a:r>
          </a:p>
        </p:txBody>
      </p:sp>
      <p:sp>
        <p:nvSpPr>
          <p:cNvPr id="28" name="Rectangle 27"/>
          <p:cNvSpPr/>
          <p:nvPr/>
        </p:nvSpPr>
        <p:spPr>
          <a:xfrm>
            <a:off x="9560966" y="1773936"/>
            <a:ext cx="2070201" cy="2148840"/>
          </a:xfrm>
          <a:prstGeom prst="rect">
            <a:avLst/>
          </a:prstGeom>
          <a:solidFill>
            <a:srgbClr val="E7E9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9560966" y="1773936"/>
            <a:ext cx="2070201" cy="100584"/>
          </a:xfrm>
          <a:prstGeom prst="rect">
            <a:avLst/>
          </a:prstGeom>
          <a:solidFill>
            <a:srgbClr val="8A93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707270" y="1956816"/>
            <a:ext cx="1777593" cy="502920"/>
          </a:xfrm>
          <a:prstGeom prst="rect">
            <a:avLst/>
          </a:prstGeom>
          <a:noFill/>
        </p:spPr>
        <p:txBody>
          <a:bodyPr wrap="square" lIns="36576" rIns="36576" tIns="36576" bIns="36576" anchor="t">
            <a:spAutoFit/>
          </a:bodyPr>
          <a:lstStyle/>
          <a:p>
            <a:pPr algn="l"/>
            <a:r>
              <a:rPr sz="1500" b="1" i="0">
                <a:solidFill>
                  <a:srgbClr val="8A939B"/>
                </a:solidFill>
                <a:latin typeface="Abadi"/>
              </a:rPr>
              <a:t>Last resort</a:t>
            </a:r>
          </a:p>
        </p:txBody>
      </p:sp>
      <p:sp>
        <p:nvSpPr>
          <p:cNvPr id="31" name="TextBox 30"/>
          <p:cNvSpPr txBox="1"/>
          <p:nvPr/>
        </p:nvSpPr>
        <p:spPr>
          <a:xfrm>
            <a:off x="9707270" y="2487168"/>
            <a:ext cx="1777593" cy="1344168"/>
          </a:xfrm>
          <a:prstGeom prst="rect">
            <a:avLst/>
          </a:prstGeom>
          <a:noFill/>
        </p:spPr>
        <p:txBody>
          <a:bodyPr wrap="square" lIns="36576" rIns="36576" tIns="36576" bIns="36576" anchor="t">
            <a:spAutoFit/>
          </a:bodyPr>
          <a:lstStyle/>
          <a:p>
            <a:pPr algn="l">
              <a:spcAft>
                <a:spcPts val="400"/>
              </a:spcAft>
            </a:pPr>
            <a:r>
              <a:rPr sz="1100" b="0" i="0">
                <a:solidFill>
                  <a:srgbClr val="1A1A1A"/>
                </a:solidFill>
                <a:latin typeface="Abadi"/>
              </a:rPr>
              <a:t>▪  Oesophagogastric dissociation</a:t>
            </a:r>
          </a:p>
          <a:p>
            <a:pPr algn="l">
              <a:spcAft>
                <a:spcPts val="400"/>
              </a:spcAft>
            </a:pPr>
            <a:r>
              <a:rPr sz="1100" b="0" i="0">
                <a:solidFill>
                  <a:srgbClr val="1A1A1A"/>
                </a:solidFill>
                <a:latin typeface="Abadi"/>
              </a:rPr>
              <a:t>▪  Very selected cases</a:t>
            </a:r>
          </a:p>
        </p:txBody>
      </p:sp>
      <p:sp>
        <p:nvSpPr>
          <p:cNvPr id="32" name="TextBox 31"/>
          <p:cNvSpPr txBox="1"/>
          <p:nvPr/>
        </p:nvSpPr>
        <p:spPr>
          <a:xfrm>
            <a:off x="548640" y="4114800"/>
            <a:ext cx="11082528" cy="1691640"/>
          </a:xfrm>
          <a:prstGeom prst="rect">
            <a:avLst/>
          </a:prstGeom>
          <a:noFill/>
        </p:spPr>
        <p:txBody>
          <a:bodyPr wrap="square" lIns="36576" rIns="36576" tIns="36576" bIns="36576" anchor="t">
            <a:spAutoFit/>
          </a:bodyPr>
          <a:lstStyle/>
          <a:p>
            <a:pPr algn="l"/>
            <a:r>
              <a:rPr sz="1250" b="1" i="0">
                <a:solidFill>
                  <a:srgbClr val="1B355E"/>
                </a:solidFill>
                <a:latin typeface="Abadi"/>
              </a:rPr>
              <a:t>The main idea.   </a:t>
            </a:r>
            <a:r>
              <a:rPr sz="1250" b="0" i="0">
                <a:solidFill>
                  <a:srgbClr val="1A1A1A"/>
                </a:solidFill>
                <a:latin typeface="Abadi"/>
              </a:rPr>
              <a:t>Antireflux surgery in children is reserved for complications, reflux refractory to proper medical treatment, and chronic conditions with a high risk of harm. In the only paediatric randomised trial, a total Nissen wrap failed less often than a partial wrap but caused more severe dysphagia, and almost all failures were in neurologically impaired children. Laparoscopic wraps recur more often than open ones over a decade. For the neurologically impaired child, gastrojejunal feeding is a legitimate alternative, and no randomised trial tells us which route is better: the choice is made with the family.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292608"/>
            <a:ext cx="630936" cy="347472"/>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630936" cy="347472"/>
          </a:xfrm>
          <a:prstGeom prst="rect">
            <a:avLst/>
          </a:prstGeom>
          <a:noFill/>
        </p:spPr>
        <p:txBody>
          <a:bodyPr wrap="square" lIns="36576" rIns="36576" tIns="36576" bIns="36576" anchor="ctr">
            <a:spAutoFit/>
          </a:bodyPr>
          <a:lstStyle/>
          <a:p>
            <a:pPr algn="ctr"/>
            <a:r>
              <a:rPr sz="1500" b="1" i="0">
                <a:solidFill>
                  <a:srgbClr val="FFFFFF"/>
                </a:solidFill>
                <a:latin typeface="Abadi"/>
              </a:rPr>
              <a:t>I</a:t>
            </a:r>
          </a:p>
        </p:txBody>
      </p:sp>
      <p:sp>
        <p:nvSpPr>
          <p:cNvPr id="4" name="TextBox 3"/>
          <p:cNvSpPr txBox="1"/>
          <p:nvPr/>
        </p:nvSpPr>
        <p:spPr>
          <a:xfrm>
            <a:off x="1380744" y="292608"/>
            <a:ext cx="10232136" cy="347472"/>
          </a:xfrm>
          <a:prstGeom prst="rect">
            <a:avLst/>
          </a:prstGeom>
          <a:noFill/>
        </p:spPr>
        <p:txBody>
          <a:bodyPr wrap="square" lIns="36576" rIns="36576" tIns="36576" bIns="36576" anchor="ctr">
            <a:spAutoFit/>
          </a:bodyPr>
          <a:lstStyle/>
          <a:p>
            <a:pPr algn="l"/>
            <a:r>
              <a:rPr sz="1200" b="1" i="0">
                <a:solidFill>
                  <a:srgbClr val="B22222"/>
                </a:solidFill>
                <a:latin typeface="Abadi"/>
              </a:rPr>
              <a:t>MECHANISM</a:t>
            </a:r>
          </a:p>
        </p:txBody>
      </p:sp>
      <p:sp>
        <p:nvSpPr>
          <p:cNvPr id="5" name="TextBox 4"/>
          <p:cNvSpPr txBox="1"/>
          <p:nvPr/>
        </p:nvSpPr>
        <p:spPr>
          <a:xfrm>
            <a:off x="548640" y="722376"/>
            <a:ext cx="11082528" cy="548640"/>
          </a:xfrm>
          <a:prstGeom prst="rect">
            <a:avLst/>
          </a:prstGeom>
          <a:noFill/>
        </p:spPr>
        <p:txBody>
          <a:bodyPr wrap="square" lIns="36576" rIns="36576" tIns="36576" bIns="36576" anchor="ctr">
            <a:spAutoFit/>
          </a:bodyPr>
          <a:lstStyle/>
          <a:p>
            <a:pPr algn="l"/>
            <a:r>
              <a:rPr sz="3000" b="1" i="0">
                <a:solidFill>
                  <a:srgbClr val="1B355E"/>
                </a:solidFill>
                <a:latin typeface="Abadi"/>
              </a:rPr>
              <a:t>WHAT A WRAP DOES, AND WHAT IT COSTS</a:t>
            </a:r>
          </a:p>
        </p:txBody>
      </p:sp>
      <p:sp>
        <p:nvSpPr>
          <p:cNvPr id="6" name="TextBox 5"/>
          <p:cNvSpPr txBox="1"/>
          <p:nvPr/>
        </p:nvSpPr>
        <p:spPr>
          <a:xfrm>
            <a:off x="548640" y="1307592"/>
            <a:ext cx="11082528" cy="265176"/>
          </a:xfrm>
          <a:prstGeom prst="rect">
            <a:avLst/>
          </a:prstGeom>
          <a:noFill/>
        </p:spPr>
        <p:txBody>
          <a:bodyPr wrap="square" lIns="36576" rIns="36576" tIns="36576" bIns="36576" anchor="t">
            <a:spAutoFit/>
          </a:bodyPr>
          <a:lstStyle/>
          <a:p>
            <a:pPr algn="l"/>
            <a:r>
              <a:rPr sz="1300" b="0" i="0">
                <a:solidFill>
                  <a:srgbClr val="555555"/>
                </a:solidFill>
                <a:latin typeface="Abadi"/>
              </a:rPr>
              <a:t>Fundoplication rebuilds the antireflux barrier; each benefit carries a matching side effect</a:t>
            </a:r>
          </a:p>
        </p:txBody>
      </p:sp>
      <p:sp>
        <p:nvSpPr>
          <p:cNvPr id="7" name="Rectangle 6"/>
          <p:cNvSpPr/>
          <p:nvPr/>
        </p:nvSpPr>
        <p:spPr>
          <a:xfrm>
            <a:off x="548640" y="1600200"/>
            <a:ext cx="11082528" cy="27432"/>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55064"/>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5888736"/>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36224" y="5971032"/>
            <a:ext cx="694944" cy="292608"/>
          </a:xfrm>
          <a:prstGeom prst="rect">
            <a:avLst/>
          </a:prstGeom>
          <a:noFill/>
        </p:spPr>
        <p:txBody>
          <a:bodyPr wrap="square" lIns="36576" rIns="36576" tIns="36576" bIns="36576" anchor="t">
            <a:spAutoFit/>
          </a:bodyPr>
          <a:lstStyle/>
          <a:p>
            <a:pPr algn="r"/>
            <a:r>
              <a:rPr sz="1200" b="0" i="0">
                <a:solidFill>
                  <a:srgbClr val="555555"/>
                </a:solidFill>
                <a:latin typeface="Abadi"/>
              </a:rPr>
              <a:t>3</a:t>
            </a:r>
          </a:p>
        </p:txBody>
      </p:sp>
      <p:sp>
        <p:nvSpPr>
          <p:cNvPr id="11" name="TextBox 10"/>
          <p:cNvSpPr txBox="1"/>
          <p:nvPr/>
        </p:nvSpPr>
        <p:spPr>
          <a:xfrm>
            <a:off x="548640" y="5971032"/>
            <a:ext cx="10287000" cy="457200"/>
          </a:xfrm>
          <a:prstGeom prst="rect">
            <a:avLst/>
          </a:prstGeom>
          <a:noFill/>
        </p:spPr>
        <p:txBody>
          <a:bodyPr wrap="square" lIns="36576" rIns="36576" tIns="36576" bIns="36576" anchor="t">
            <a:spAutoFit/>
          </a:bodyPr>
          <a:lstStyle/>
          <a:p>
            <a:pPr algn="l"/>
            <a:r>
              <a:rPr sz="1000" b="0" i="0">
                <a:solidFill>
                  <a:srgbClr val="8A939B"/>
                </a:solidFill>
                <a:latin typeface="Abadi"/>
              </a:rPr>
              <a:t>Rosen 2018 · Broeders JA, et al. Br J Surg 2010;97:1318–30 · Romano 2017</a:t>
            </a:r>
          </a:p>
        </p:txBody>
      </p:sp>
      <p:sp>
        <p:nvSpPr>
          <p:cNvPr id="12" name="Rectangle 11"/>
          <p:cNvSpPr/>
          <p:nvPr/>
        </p:nvSpPr>
        <p:spPr>
          <a:xfrm>
            <a:off x="548640" y="1773936"/>
            <a:ext cx="2011680" cy="1645920"/>
          </a:xfrm>
          <a:prstGeom prst="rect">
            <a:avLst/>
          </a:prstGeom>
          <a:solidFill>
            <a:srgbClr val="DCE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1773936"/>
            <a:ext cx="2011680" cy="365760"/>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1792" y="1773936"/>
            <a:ext cx="1865376" cy="365760"/>
          </a:xfrm>
          <a:prstGeom prst="rect">
            <a:avLst/>
          </a:prstGeom>
          <a:noFill/>
        </p:spPr>
        <p:txBody>
          <a:bodyPr wrap="square" lIns="36576" rIns="36576" tIns="36576" bIns="36576" anchor="ctr">
            <a:spAutoFit/>
          </a:bodyPr>
          <a:lstStyle/>
          <a:p>
            <a:pPr algn="l"/>
            <a:r>
              <a:rPr sz="1150" b="1" i="0">
                <a:solidFill>
                  <a:srgbClr val="FFFFFF"/>
                </a:solidFill>
                <a:latin typeface="Abadi"/>
              </a:rPr>
              <a:t>Pressure</a:t>
            </a:r>
          </a:p>
        </p:txBody>
      </p:sp>
      <p:sp>
        <p:nvSpPr>
          <p:cNvPr id="15" name="TextBox 14"/>
          <p:cNvSpPr txBox="1"/>
          <p:nvPr/>
        </p:nvSpPr>
        <p:spPr>
          <a:xfrm>
            <a:off x="658368" y="2231136"/>
            <a:ext cx="1792224" cy="1115568"/>
          </a:xfrm>
          <a:prstGeom prst="rect">
            <a:avLst/>
          </a:prstGeom>
          <a:noFill/>
        </p:spPr>
        <p:txBody>
          <a:bodyPr wrap="square" lIns="36576" rIns="36576" tIns="36576" bIns="36576" anchor="t">
            <a:spAutoFit/>
          </a:bodyPr>
          <a:lstStyle/>
          <a:p>
            <a:pPr algn="l"/>
            <a:r>
              <a:rPr sz="1100" b="0" i="0">
                <a:solidFill>
                  <a:srgbClr val="1A1A1A"/>
                </a:solidFill>
                <a:latin typeface="Abadi"/>
              </a:rPr>
              <a:t>The wrap raises basal pressure at the lower oesophageal sphincter.</a:t>
            </a:r>
          </a:p>
        </p:txBody>
      </p:sp>
      <p:sp>
        <p:nvSpPr>
          <p:cNvPr id="16" name="TextBox 15"/>
          <p:cNvSpPr txBox="1"/>
          <p:nvPr/>
        </p:nvSpPr>
        <p:spPr>
          <a:xfrm>
            <a:off x="2560320" y="2459736"/>
            <a:ext cx="256032" cy="274320"/>
          </a:xfrm>
          <a:prstGeom prst="rect">
            <a:avLst/>
          </a:prstGeom>
          <a:noFill/>
        </p:spPr>
        <p:txBody>
          <a:bodyPr wrap="square" lIns="36576" rIns="36576" tIns="36576" bIns="36576" anchor="t">
            <a:spAutoFit/>
          </a:bodyPr>
          <a:lstStyle/>
          <a:p>
            <a:pPr algn="ctr"/>
            <a:r>
              <a:rPr sz="900" b="0" i="0">
                <a:solidFill>
                  <a:srgbClr val="8A939B"/>
                </a:solidFill>
                <a:latin typeface="Abadi"/>
              </a:rPr>
              <a:t>▶</a:t>
            </a:r>
          </a:p>
        </p:txBody>
      </p:sp>
      <p:sp>
        <p:nvSpPr>
          <p:cNvPr id="17" name="Rectangle 16"/>
          <p:cNvSpPr/>
          <p:nvPr/>
        </p:nvSpPr>
        <p:spPr>
          <a:xfrm>
            <a:off x="2816352" y="1773936"/>
            <a:ext cx="2011680" cy="1645920"/>
          </a:xfrm>
          <a:prstGeom prst="rect">
            <a:avLst/>
          </a:prstGeom>
          <a:solidFill>
            <a:srgbClr val="DCE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2816352" y="1773936"/>
            <a:ext cx="2011680" cy="365760"/>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889504" y="1773936"/>
            <a:ext cx="1865376" cy="365760"/>
          </a:xfrm>
          <a:prstGeom prst="rect">
            <a:avLst/>
          </a:prstGeom>
          <a:noFill/>
        </p:spPr>
        <p:txBody>
          <a:bodyPr wrap="square" lIns="36576" rIns="36576" tIns="36576" bIns="36576" anchor="ctr">
            <a:spAutoFit/>
          </a:bodyPr>
          <a:lstStyle/>
          <a:p>
            <a:pPr algn="l"/>
            <a:r>
              <a:rPr sz="1150" b="1" i="0">
                <a:solidFill>
                  <a:srgbClr val="FFFFFF"/>
                </a:solidFill>
                <a:latin typeface="Abadi"/>
              </a:rPr>
              <a:t>Length</a:t>
            </a:r>
          </a:p>
        </p:txBody>
      </p:sp>
      <p:sp>
        <p:nvSpPr>
          <p:cNvPr id="20" name="TextBox 19"/>
          <p:cNvSpPr txBox="1"/>
          <p:nvPr/>
        </p:nvSpPr>
        <p:spPr>
          <a:xfrm>
            <a:off x="2926080" y="2231136"/>
            <a:ext cx="1792224" cy="1115568"/>
          </a:xfrm>
          <a:prstGeom prst="rect">
            <a:avLst/>
          </a:prstGeom>
          <a:noFill/>
        </p:spPr>
        <p:txBody>
          <a:bodyPr wrap="square" lIns="36576" rIns="36576" tIns="36576" bIns="36576" anchor="t">
            <a:spAutoFit/>
          </a:bodyPr>
          <a:lstStyle/>
          <a:p>
            <a:pPr algn="l"/>
            <a:r>
              <a:rPr sz="1100" b="0" i="0">
                <a:solidFill>
                  <a:srgbClr val="1A1A1A"/>
                </a:solidFill>
                <a:latin typeface="Abadi"/>
              </a:rPr>
              <a:t>It restores an intra-abdominal segment of oesophagus, exposed to positive abdominal pressure.</a:t>
            </a:r>
          </a:p>
        </p:txBody>
      </p:sp>
      <p:sp>
        <p:nvSpPr>
          <p:cNvPr id="21" name="TextBox 20"/>
          <p:cNvSpPr txBox="1"/>
          <p:nvPr/>
        </p:nvSpPr>
        <p:spPr>
          <a:xfrm>
            <a:off x="4828032" y="2459736"/>
            <a:ext cx="256032" cy="274320"/>
          </a:xfrm>
          <a:prstGeom prst="rect">
            <a:avLst/>
          </a:prstGeom>
          <a:noFill/>
        </p:spPr>
        <p:txBody>
          <a:bodyPr wrap="square" lIns="36576" rIns="36576" tIns="36576" bIns="36576" anchor="t">
            <a:spAutoFit/>
          </a:bodyPr>
          <a:lstStyle/>
          <a:p>
            <a:pPr algn="ctr"/>
            <a:r>
              <a:rPr sz="900" b="0" i="0">
                <a:solidFill>
                  <a:srgbClr val="8A939B"/>
                </a:solidFill>
                <a:latin typeface="Abadi"/>
              </a:rPr>
              <a:t>▶</a:t>
            </a:r>
          </a:p>
        </p:txBody>
      </p:sp>
      <p:sp>
        <p:nvSpPr>
          <p:cNvPr id="22" name="Rectangle 21"/>
          <p:cNvSpPr/>
          <p:nvPr/>
        </p:nvSpPr>
        <p:spPr>
          <a:xfrm>
            <a:off x="5084064" y="1773936"/>
            <a:ext cx="2011680" cy="1645920"/>
          </a:xfrm>
          <a:prstGeom prst="rect">
            <a:avLst/>
          </a:prstGeom>
          <a:solidFill>
            <a:srgbClr val="CDE7C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084064" y="1773936"/>
            <a:ext cx="2011680" cy="365760"/>
          </a:xfrm>
          <a:prstGeom prst="rect">
            <a:avLst/>
          </a:prstGeom>
          <a:solidFill>
            <a:srgbClr val="1E7A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157216" y="1773936"/>
            <a:ext cx="1865376" cy="365760"/>
          </a:xfrm>
          <a:prstGeom prst="rect">
            <a:avLst/>
          </a:prstGeom>
          <a:noFill/>
        </p:spPr>
        <p:txBody>
          <a:bodyPr wrap="square" lIns="36576" rIns="36576" tIns="36576" bIns="36576" anchor="ctr">
            <a:spAutoFit/>
          </a:bodyPr>
          <a:lstStyle/>
          <a:p>
            <a:pPr algn="l"/>
            <a:r>
              <a:rPr sz="1150" b="1" i="0">
                <a:solidFill>
                  <a:srgbClr val="FFFFFF"/>
                </a:solidFill>
                <a:latin typeface="Abadi"/>
              </a:rPr>
              <a:t>Relaxations</a:t>
            </a:r>
          </a:p>
        </p:txBody>
      </p:sp>
      <p:sp>
        <p:nvSpPr>
          <p:cNvPr id="25" name="TextBox 24"/>
          <p:cNvSpPr txBox="1"/>
          <p:nvPr/>
        </p:nvSpPr>
        <p:spPr>
          <a:xfrm>
            <a:off x="5193792" y="2231136"/>
            <a:ext cx="1792224" cy="1115568"/>
          </a:xfrm>
          <a:prstGeom prst="rect">
            <a:avLst/>
          </a:prstGeom>
          <a:noFill/>
        </p:spPr>
        <p:txBody>
          <a:bodyPr wrap="square" lIns="36576" rIns="36576" tIns="36576" bIns="36576" anchor="t">
            <a:spAutoFit/>
          </a:bodyPr>
          <a:lstStyle/>
          <a:p>
            <a:pPr algn="l"/>
            <a:r>
              <a:rPr sz="1100" b="0" i="0">
                <a:solidFill>
                  <a:srgbClr val="1A1A1A"/>
                </a:solidFill>
                <a:latin typeface="Abadi"/>
              </a:rPr>
              <a:t>It reduces transient lower oesophageal sphincter relaxations, the main reflux mechanism.</a:t>
            </a:r>
          </a:p>
        </p:txBody>
      </p:sp>
      <p:sp>
        <p:nvSpPr>
          <p:cNvPr id="26" name="TextBox 25"/>
          <p:cNvSpPr txBox="1"/>
          <p:nvPr/>
        </p:nvSpPr>
        <p:spPr>
          <a:xfrm>
            <a:off x="7095744" y="2459736"/>
            <a:ext cx="256032" cy="274320"/>
          </a:xfrm>
          <a:prstGeom prst="rect">
            <a:avLst/>
          </a:prstGeom>
          <a:noFill/>
        </p:spPr>
        <p:txBody>
          <a:bodyPr wrap="square" lIns="36576" rIns="36576" tIns="36576" bIns="36576" anchor="t">
            <a:spAutoFit/>
          </a:bodyPr>
          <a:lstStyle/>
          <a:p>
            <a:pPr algn="ctr"/>
            <a:r>
              <a:rPr sz="900" b="0" i="0">
                <a:solidFill>
                  <a:srgbClr val="8A939B"/>
                </a:solidFill>
                <a:latin typeface="Abadi"/>
              </a:rPr>
              <a:t>▶</a:t>
            </a:r>
          </a:p>
        </p:txBody>
      </p:sp>
      <p:sp>
        <p:nvSpPr>
          <p:cNvPr id="27" name="Rectangle 26"/>
          <p:cNvSpPr/>
          <p:nvPr/>
        </p:nvSpPr>
        <p:spPr>
          <a:xfrm>
            <a:off x="7351776" y="1773936"/>
            <a:ext cx="2011680" cy="1645920"/>
          </a:xfrm>
          <a:prstGeom prst="rect">
            <a:avLst/>
          </a:prstGeom>
          <a:solidFill>
            <a:srgbClr val="CDE7C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351776" y="1773936"/>
            <a:ext cx="2011680" cy="365760"/>
          </a:xfrm>
          <a:prstGeom prst="rect">
            <a:avLst/>
          </a:prstGeom>
          <a:solidFill>
            <a:srgbClr val="1E7A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424928" y="1773936"/>
            <a:ext cx="1865376" cy="365760"/>
          </a:xfrm>
          <a:prstGeom prst="rect">
            <a:avLst/>
          </a:prstGeom>
          <a:noFill/>
        </p:spPr>
        <p:txBody>
          <a:bodyPr wrap="square" lIns="36576" rIns="36576" tIns="36576" bIns="36576" anchor="ctr">
            <a:spAutoFit/>
          </a:bodyPr>
          <a:lstStyle/>
          <a:p>
            <a:pPr algn="l"/>
            <a:r>
              <a:rPr sz="1150" b="1" i="0">
                <a:solidFill>
                  <a:srgbClr val="FFFFFF"/>
                </a:solidFill>
                <a:latin typeface="Abadi"/>
              </a:rPr>
              <a:t>Hiatus</a:t>
            </a:r>
          </a:p>
        </p:txBody>
      </p:sp>
      <p:sp>
        <p:nvSpPr>
          <p:cNvPr id="30" name="TextBox 29"/>
          <p:cNvSpPr txBox="1"/>
          <p:nvPr/>
        </p:nvSpPr>
        <p:spPr>
          <a:xfrm>
            <a:off x="7461504" y="2231136"/>
            <a:ext cx="1792224" cy="1115568"/>
          </a:xfrm>
          <a:prstGeom prst="rect">
            <a:avLst/>
          </a:prstGeom>
          <a:noFill/>
        </p:spPr>
        <p:txBody>
          <a:bodyPr wrap="square" lIns="36576" rIns="36576" tIns="36576" bIns="36576" anchor="t">
            <a:spAutoFit/>
          </a:bodyPr>
          <a:lstStyle/>
          <a:p>
            <a:pPr algn="l"/>
            <a:r>
              <a:rPr sz="1100" b="0" i="0">
                <a:solidFill>
                  <a:srgbClr val="1A1A1A"/>
                </a:solidFill>
                <a:latin typeface="Abadi"/>
              </a:rPr>
              <a:t>Crural repair closes the hiatus and recreates the angle of His.</a:t>
            </a:r>
          </a:p>
        </p:txBody>
      </p:sp>
      <p:sp>
        <p:nvSpPr>
          <p:cNvPr id="31" name="TextBox 30"/>
          <p:cNvSpPr txBox="1"/>
          <p:nvPr/>
        </p:nvSpPr>
        <p:spPr>
          <a:xfrm>
            <a:off x="9363456" y="2459736"/>
            <a:ext cx="256032" cy="274320"/>
          </a:xfrm>
          <a:prstGeom prst="rect">
            <a:avLst/>
          </a:prstGeom>
          <a:noFill/>
        </p:spPr>
        <p:txBody>
          <a:bodyPr wrap="square" lIns="36576" rIns="36576" tIns="36576" bIns="36576" anchor="t">
            <a:spAutoFit/>
          </a:bodyPr>
          <a:lstStyle/>
          <a:p>
            <a:pPr algn="ctr"/>
            <a:r>
              <a:rPr sz="900" b="0" i="0">
                <a:solidFill>
                  <a:srgbClr val="8A939B"/>
                </a:solidFill>
                <a:latin typeface="Abadi"/>
              </a:rPr>
              <a:t>▶</a:t>
            </a:r>
          </a:p>
        </p:txBody>
      </p:sp>
      <p:sp>
        <p:nvSpPr>
          <p:cNvPr id="32" name="Rectangle 31"/>
          <p:cNvSpPr/>
          <p:nvPr/>
        </p:nvSpPr>
        <p:spPr>
          <a:xfrm>
            <a:off x="9619488" y="1773936"/>
            <a:ext cx="2011680" cy="1645920"/>
          </a:xfrm>
          <a:prstGeom prst="rect">
            <a:avLst/>
          </a:prstGeom>
          <a:solidFill>
            <a:srgbClr val="F6D2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9619488" y="1773936"/>
            <a:ext cx="2011680" cy="365760"/>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692640" y="1773936"/>
            <a:ext cx="1865376" cy="365760"/>
          </a:xfrm>
          <a:prstGeom prst="rect">
            <a:avLst/>
          </a:prstGeom>
          <a:noFill/>
        </p:spPr>
        <p:txBody>
          <a:bodyPr wrap="square" lIns="36576" rIns="36576" tIns="36576" bIns="36576" anchor="ctr">
            <a:spAutoFit/>
          </a:bodyPr>
          <a:lstStyle/>
          <a:p>
            <a:pPr algn="l"/>
            <a:r>
              <a:rPr sz="1150" b="1" i="0">
                <a:solidFill>
                  <a:srgbClr val="FFFFFF"/>
                </a:solidFill>
                <a:latin typeface="Abadi"/>
              </a:rPr>
              <a:t>Price</a:t>
            </a:r>
          </a:p>
        </p:txBody>
      </p:sp>
      <p:sp>
        <p:nvSpPr>
          <p:cNvPr id="35" name="TextBox 34"/>
          <p:cNvSpPr txBox="1"/>
          <p:nvPr/>
        </p:nvSpPr>
        <p:spPr>
          <a:xfrm>
            <a:off x="9729216" y="2231136"/>
            <a:ext cx="1792224" cy="1115568"/>
          </a:xfrm>
          <a:prstGeom prst="rect">
            <a:avLst/>
          </a:prstGeom>
          <a:noFill/>
        </p:spPr>
        <p:txBody>
          <a:bodyPr wrap="square" lIns="36576" rIns="36576" tIns="36576" bIns="36576" anchor="t">
            <a:spAutoFit/>
          </a:bodyPr>
          <a:lstStyle/>
          <a:p>
            <a:pPr algn="l"/>
            <a:r>
              <a:rPr sz="1100" b="0" i="0">
                <a:solidFill>
                  <a:srgbClr val="1A1A1A"/>
                </a:solidFill>
                <a:latin typeface="Abadi"/>
              </a:rPr>
              <a:t>Less belching and vomiting: gas bloat, dysphagia, retching, dumping.</a:t>
            </a:r>
          </a:p>
        </p:txBody>
      </p:sp>
      <p:sp>
        <p:nvSpPr>
          <p:cNvPr id="36" name="TextBox 35"/>
          <p:cNvSpPr txBox="1"/>
          <p:nvPr/>
        </p:nvSpPr>
        <p:spPr>
          <a:xfrm>
            <a:off x="548640" y="3749039"/>
            <a:ext cx="11082528" cy="1280160"/>
          </a:xfrm>
          <a:prstGeom prst="rect">
            <a:avLst/>
          </a:prstGeom>
          <a:noFill/>
        </p:spPr>
        <p:txBody>
          <a:bodyPr wrap="square" lIns="36576" rIns="36576" tIns="36576" bIns="36576" anchor="t">
            <a:spAutoFit/>
          </a:bodyPr>
          <a:lstStyle/>
          <a:p>
            <a:pPr algn="l"/>
            <a:r>
              <a:rPr sz="1250" b="1" i="0">
                <a:solidFill>
                  <a:srgbClr val="1B355E"/>
                </a:solidFill>
                <a:latin typeface="Abadi"/>
              </a:rPr>
              <a:t>What a wrap cannot do.   </a:t>
            </a:r>
            <a:r>
              <a:rPr sz="1250" b="0" i="0">
                <a:solidFill>
                  <a:srgbClr val="1A1A1A"/>
                </a:solidFill>
                <a:latin typeface="Abadi"/>
              </a:rPr>
              <a:t>A wrap stops gastric content from coming up. It does not stop the child from aspirating saliva, does not fix oropharyngeal dysphagia, does not treat gastric dysmotility or retching of central origin, and can unmask them. In neurologically impaired children, much of the respiratory harm is from above, not from the stomach, which is why outcomes after a technically good wrap can still disappoint.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292608"/>
            <a:ext cx="630936" cy="347472"/>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630936" cy="347472"/>
          </a:xfrm>
          <a:prstGeom prst="rect">
            <a:avLst/>
          </a:prstGeom>
          <a:noFill/>
        </p:spPr>
        <p:txBody>
          <a:bodyPr wrap="square" lIns="36576" rIns="36576" tIns="36576" bIns="36576" anchor="ctr">
            <a:spAutoFit/>
          </a:bodyPr>
          <a:lstStyle/>
          <a:p>
            <a:pPr algn="ctr"/>
            <a:r>
              <a:rPr sz="1500" b="1" i="0">
                <a:solidFill>
                  <a:srgbClr val="FFFFFF"/>
                </a:solidFill>
                <a:latin typeface="Abadi"/>
              </a:rPr>
              <a:t>II</a:t>
            </a:r>
          </a:p>
        </p:txBody>
      </p:sp>
      <p:sp>
        <p:nvSpPr>
          <p:cNvPr id="4" name="TextBox 3"/>
          <p:cNvSpPr txBox="1"/>
          <p:nvPr/>
        </p:nvSpPr>
        <p:spPr>
          <a:xfrm>
            <a:off x="1380744" y="292608"/>
            <a:ext cx="10232136" cy="347472"/>
          </a:xfrm>
          <a:prstGeom prst="rect">
            <a:avLst/>
          </a:prstGeom>
          <a:noFill/>
        </p:spPr>
        <p:txBody>
          <a:bodyPr wrap="square" lIns="36576" rIns="36576" tIns="36576" bIns="36576" anchor="ctr">
            <a:spAutoFit/>
          </a:bodyPr>
          <a:lstStyle/>
          <a:p>
            <a:pPr algn="l"/>
            <a:r>
              <a:rPr sz="1200" b="1" i="0">
                <a:solidFill>
                  <a:srgbClr val="B22222"/>
                </a:solidFill>
                <a:latin typeface="Abadi"/>
              </a:rPr>
              <a:t>INDICATIONS</a:t>
            </a:r>
          </a:p>
        </p:txBody>
      </p:sp>
      <p:sp>
        <p:nvSpPr>
          <p:cNvPr id="5" name="TextBox 4"/>
          <p:cNvSpPr txBox="1"/>
          <p:nvPr/>
        </p:nvSpPr>
        <p:spPr>
          <a:xfrm>
            <a:off x="548640" y="722376"/>
            <a:ext cx="11082528" cy="548640"/>
          </a:xfrm>
          <a:prstGeom prst="rect">
            <a:avLst/>
          </a:prstGeom>
          <a:noFill/>
        </p:spPr>
        <p:txBody>
          <a:bodyPr wrap="square" lIns="36576" rIns="36576" tIns="36576" bIns="36576" anchor="ctr">
            <a:spAutoFit/>
          </a:bodyPr>
          <a:lstStyle/>
          <a:p>
            <a:pPr algn="l"/>
            <a:r>
              <a:rPr sz="3000" b="1" i="0">
                <a:solidFill>
                  <a:srgbClr val="1B355E"/>
                </a:solidFill>
                <a:latin typeface="Abadi"/>
              </a:rPr>
              <a:t>WHO SHOULD BE CONSIDERED FOR SURGERY</a:t>
            </a:r>
          </a:p>
        </p:txBody>
      </p:sp>
      <p:sp>
        <p:nvSpPr>
          <p:cNvPr id="6" name="TextBox 5"/>
          <p:cNvSpPr txBox="1"/>
          <p:nvPr/>
        </p:nvSpPr>
        <p:spPr>
          <a:xfrm>
            <a:off x="548640" y="1307592"/>
            <a:ext cx="11082528" cy="265176"/>
          </a:xfrm>
          <a:prstGeom prst="rect">
            <a:avLst/>
          </a:prstGeom>
          <a:noFill/>
        </p:spPr>
        <p:txBody>
          <a:bodyPr wrap="square" lIns="36576" rIns="36576" tIns="36576" bIns="36576" anchor="t">
            <a:spAutoFit/>
          </a:bodyPr>
          <a:lstStyle/>
          <a:p>
            <a:pPr algn="l"/>
            <a:r>
              <a:rPr sz="1300" b="0" i="0">
                <a:solidFill>
                  <a:srgbClr val="555555"/>
                </a:solidFill>
                <a:latin typeface="Abadi"/>
              </a:rPr>
              <a:t>The 2018 paediatric guideline and the 2017 ESPGHAN guideline for neurologically impaired children</a:t>
            </a:r>
          </a:p>
        </p:txBody>
      </p:sp>
      <p:sp>
        <p:nvSpPr>
          <p:cNvPr id="7" name="Rectangle 6"/>
          <p:cNvSpPr/>
          <p:nvPr/>
        </p:nvSpPr>
        <p:spPr>
          <a:xfrm>
            <a:off x="548640" y="1600200"/>
            <a:ext cx="11082528" cy="27432"/>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55064"/>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5888736"/>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36224" y="5971032"/>
            <a:ext cx="694944" cy="292608"/>
          </a:xfrm>
          <a:prstGeom prst="rect">
            <a:avLst/>
          </a:prstGeom>
          <a:noFill/>
        </p:spPr>
        <p:txBody>
          <a:bodyPr wrap="square" lIns="36576" rIns="36576" tIns="36576" bIns="36576" anchor="t">
            <a:spAutoFit/>
          </a:bodyPr>
          <a:lstStyle/>
          <a:p>
            <a:pPr algn="r"/>
            <a:r>
              <a:rPr sz="1200" b="0" i="0">
                <a:solidFill>
                  <a:srgbClr val="555555"/>
                </a:solidFill>
                <a:latin typeface="Abadi"/>
              </a:rPr>
              <a:t>4</a:t>
            </a:r>
          </a:p>
        </p:txBody>
      </p:sp>
      <p:sp>
        <p:nvSpPr>
          <p:cNvPr id="11" name="TextBox 10"/>
          <p:cNvSpPr txBox="1"/>
          <p:nvPr/>
        </p:nvSpPr>
        <p:spPr>
          <a:xfrm>
            <a:off x="548640" y="5971032"/>
            <a:ext cx="10287000" cy="457200"/>
          </a:xfrm>
          <a:prstGeom prst="rect">
            <a:avLst/>
          </a:prstGeom>
          <a:noFill/>
        </p:spPr>
        <p:txBody>
          <a:bodyPr wrap="square" lIns="36576" rIns="36576" tIns="36576" bIns="36576" anchor="t">
            <a:spAutoFit/>
          </a:bodyPr>
          <a:lstStyle/>
          <a:p>
            <a:pPr algn="l"/>
            <a:r>
              <a:rPr sz="1000" b="0" i="0">
                <a:solidFill>
                  <a:srgbClr val="8A939B"/>
                </a:solidFill>
                <a:latin typeface="Abadi"/>
              </a:rPr>
              <a:t>Rosen 2018 · Romano 2017 (statements 24, 27, 28, 29)</a:t>
            </a:r>
          </a:p>
        </p:txBody>
      </p:sp>
      <p:sp>
        <p:nvSpPr>
          <p:cNvPr id="12" name="Rectangle 11"/>
          <p:cNvSpPr/>
          <p:nvPr/>
        </p:nvSpPr>
        <p:spPr>
          <a:xfrm>
            <a:off x="548640" y="1773936"/>
            <a:ext cx="2070201" cy="2148840"/>
          </a:xfrm>
          <a:prstGeom prst="rect">
            <a:avLst/>
          </a:prstGeom>
          <a:solidFill>
            <a:srgbClr val="F6D2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1773936"/>
            <a:ext cx="2070201" cy="100584"/>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94944" y="1956816"/>
            <a:ext cx="1777593" cy="502920"/>
          </a:xfrm>
          <a:prstGeom prst="rect">
            <a:avLst/>
          </a:prstGeom>
          <a:noFill/>
        </p:spPr>
        <p:txBody>
          <a:bodyPr wrap="square" lIns="36576" rIns="36576" tIns="36576" bIns="36576" anchor="t">
            <a:spAutoFit/>
          </a:bodyPr>
          <a:lstStyle/>
          <a:p>
            <a:pPr algn="l"/>
            <a:r>
              <a:rPr sz="1500" b="1" i="0">
                <a:solidFill>
                  <a:srgbClr val="B22222"/>
                </a:solidFill>
                <a:latin typeface="Abadi"/>
              </a:rPr>
              <a:t>Life-threatening</a:t>
            </a:r>
          </a:p>
        </p:txBody>
      </p:sp>
      <p:sp>
        <p:nvSpPr>
          <p:cNvPr id="15" name="TextBox 14"/>
          <p:cNvSpPr txBox="1"/>
          <p:nvPr/>
        </p:nvSpPr>
        <p:spPr>
          <a:xfrm>
            <a:off x="694944" y="2487168"/>
            <a:ext cx="1777593" cy="1344168"/>
          </a:xfrm>
          <a:prstGeom prst="rect">
            <a:avLst/>
          </a:prstGeom>
          <a:noFill/>
        </p:spPr>
        <p:txBody>
          <a:bodyPr wrap="square" lIns="36576" rIns="36576" tIns="36576" bIns="36576" anchor="t">
            <a:spAutoFit/>
          </a:bodyPr>
          <a:lstStyle/>
          <a:p>
            <a:pPr algn="l"/>
            <a:r>
              <a:rPr sz="1100" b="0" i="0">
                <a:solidFill>
                  <a:srgbClr val="1A1A1A"/>
                </a:solidFill>
                <a:latin typeface="Abadi"/>
              </a:rPr>
              <a:t>Complications of GERD that threaten life, after other causes are excluded.</a:t>
            </a:r>
          </a:p>
        </p:txBody>
      </p:sp>
      <p:sp>
        <p:nvSpPr>
          <p:cNvPr id="16" name="Rectangle 15"/>
          <p:cNvSpPr/>
          <p:nvPr/>
        </p:nvSpPr>
        <p:spPr>
          <a:xfrm>
            <a:off x="2801721" y="1773936"/>
            <a:ext cx="2070201" cy="2148840"/>
          </a:xfrm>
          <a:prstGeom prst="rect">
            <a:avLst/>
          </a:prstGeom>
          <a:solidFill>
            <a:srgbClr val="FBEF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801721" y="1773936"/>
            <a:ext cx="2070201" cy="100584"/>
          </a:xfrm>
          <a:prstGeom prst="rect">
            <a:avLst/>
          </a:prstGeom>
          <a:solidFill>
            <a:srgbClr val="D97A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948025" y="1956816"/>
            <a:ext cx="1777593" cy="502920"/>
          </a:xfrm>
          <a:prstGeom prst="rect">
            <a:avLst/>
          </a:prstGeom>
          <a:noFill/>
        </p:spPr>
        <p:txBody>
          <a:bodyPr wrap="square" lIns="36576" rIns="36576" tIns="36576" bIns="36576" anchor="t">
            <a:spAutoFit/>
          </a:bodyPr>
          <a:lstStyle/>
          <a:p>
            <a:pPr algn="l"/>
            <a:r>
              <a:rPr sz="1500" b="1" i="0">
                <a:solidFill>
                  <a:srgbClr val="D97A0B"/>
                </a:solidFill>
                <a:latin typeface="Abadi"/>
              </a:rPr>
              <a:t>Refractory</a:t>
            </a:r>
          </a:p>
        </p:txBody>
      </p:sp>
      <p:sp>
        <p:nvSpPr>
          <p:cNvPr id="19" name="TextBox 18"/>
          <p:cNvSpPr txBox="1"/>
          <p:nvPr/>
        </p:nvSpPr>
        <p:spPr>
          <a:xfrm>
            <a:off x="2948025" y="2487168"/>
            <a:ext cx="1777593" cy="1344168"/>
          </a:xfrm>
          <a:prstGeom prst="rect">
            <a:avLst/>
          </a:prstGeom>
          <a:noFill/>
        </p:spPr>
        <p:txBody>
          <a:bodyPr wrap="square" lIns="36576" rIns="36576" tIns="36576" bIns="36576" anchor="t">
            <a:spAutoFit/>
          </a:bodyPr>
          <a:lstStyle/>
          <a:p>
            <a:pPr algn="l"/>
            <a:r>
              <a:rPr sz="1100" b="0" i="0">
                <a:solidFill>
                  <a:srgbClr val="1A1A1A"/>
                </a:solidFill>
                <a:latin typeface="Abadi"/>
              </a:rPr>
              <a:t>Symptoms refractory to optimal therapy, after appropriate evaluation for other diseases.</a:t>
            </a:r>
          </a:p>
        </p:txBody>
      </p:sp>
      <p:sp>
        <p:nvSpPr>
          <p:cNvPr id="20" name="Rectangle 19"/>
          <p:cNvSpPr/>
          <p:nvPr/>
        </p:nvSpPr>
        <p:spPr>
          <a:xfrm>
            <a:off x="5054803" y="1773936"/>
            <a:ext cx="2070201" cy="2148840"/>
          </a:xfrm>
          <a:prstGeom prst="rect">
            <a:avLst/>
          </a:prstGeom>
          <a:solidFill>
            <a:srgbClr val="DCE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054803" y="1773936"/>
            <a:ext cx="2070201" cy="100584"/>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201107" y="1956816"/>
            <a:ext cx="1777593" cy="502920"/>
          </a:xfrm>
          <a:prstGeom prst="rect">
            <a:avLst/>
          </a:prstGeom>
          <a:noFill/>
        </p:spPr>
        <p:txBody>
          <a:bodyPr wrap="square" lIns="36576" rIns="36576" tIns="36576" bIns="36576" anchor="t">
            <a:spAutoFit/>
          </a:bodyPr>
          <a:lstStyle/>
          <a:p>
            <a:pPr algn="l"/>
            <a:r>
              <a:rPr sz="1500" b="1" i="0">
                <a:solidFill>
                  <a:srgbClr val="1B355E"/>
                </a:solidFill>
                <a:latin typeface="Abadi"/>
              </a:rPr>
              <a:t>High-risk</a:t>
            </a:r>
          </a:p>
        </p:txBody>
      </p:sp>
      <p:sp>
        <p:nvSpPr>
          <p:cNvPr id="23" name="TextBox 22"/>
          <p:cNvSpPr txBox="1"/>
          <p:nvPr/>
        </p:nvSpPr>
        <p:spPr>
          <a:xfrm>
            <a:off x="5201107" y="2487168"/>
            <a:ext cx="1777593" cy="1344168"/>
          </a:xfrm>
          <a:prstGeom prst="rect">
            <a:avLst/>
          </a:prstGeom>
          <a:noFill/>
        </p:spPr>
        <p:txBody>
          <a:bodyPr wrap="square" lIns="36576" rIns="36576" tIns="36576" bIns="36576" anchor="t">
            <a:spAutoFit/>
          </a:bodyPr>
          <a:lstStyle/>
          <a:p>
            <a:pPr algn="l"/>
            <a:r>
              <a:rPr sz="1100" b="0" i="0">
                <a:solidFill>
                  <a:srgbClr val="1A1A1A"/>
                </a:solidFill>
                <a:latin typeface="Abadi"/>
              </a:rPr>
              <a:t>Chronic conditions such as neurological impairment or cystic fibrosis with a significant risk of GERD-related complications.</a:t>
            </a:r>
          </a:p>
        </p:txBody>
      </p:sp>
      <p:sp>
        <p:nvSpPr>
          <p:cNvPr id="24" name="Rectangle 23"/>
          <p:cNvSpPr/>
          <p:nvPr/>
        </p:nvSpPr>
        <p:spPr>
          <a:xfrm>
            <a:off x="7307884" y="1773936"/>
            <a:ext cx="2070201" cy="2148840"/>
          </a:xfrm>
          <a:prstGeom prst="rect">
            <a:avLst/>
          </a:prstGeom>
          <a:solidFill>
            <a:srgbClr val="CDE7C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307884" y="1773936"/>
            <a:ext cx="2070201" cy="100584"/>
          </a:xfrm>
          <a:prstGeom prst="rect">
            <a:avLst/>
          </a:prstGeom>
          <a:solidFill>
            <a:srgbClr val="1E7A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54188" y="1956816"/>
            <a:ext cx="1777593" cy="502920"/>
          </a:xfrm>
          <a:prstGeom prst="rect">
            <a:avLst/>
          </a:prstGeom>
          <a:noFill/>
        </p:spPr>
        <p:txBody>
          <a:bodyPr wrap="square" lIns="36576" rIns="36576" tIns="36576" bIns="36576" anchor="t">
            <a:spAutoFit/>
          </a:bodyPr>
          <a:lstStyle/>
          <a:p>
            <a:pPr algn="l"/>
            <a:r>
              <a:rPr sz="1500" b="1" i="0">
                <a:solidFill>
                  <a:srgbClr val="1E7A33"/>
                </a:solidFill>
                <a:latin typeface="Abadi"/>
              </a:rPr>
              <a:t>Dependence</a:t>
            </a:r>
          </a:p>
        </p:txBody>
      </p:sp>
      <p:sp>
        <p:nvSpPr>
          <p:cNvPr id="27" name="TextBox 26"/>
          <p:cNvSpPr txBox="1"/>
          <p:nvPr/>
        </p:nvSpPr>
        <p:spPr>
          <a:xfrm>
            <a:off x="7454188" y="2487168"/>
            <a:ext cx="1777593" cy="1344168"/>
          </a:xfrm>
          <a:prstGeom prst="rect">
            <a:avLst/>
          </a:prstGeom>
          <a:noFill/>
        </p:spPr>
        <p:txBody>
          <a:bodyPr wrap="square" lIns="36576" rIns="36576" tIns="36576" bIns="36576" anchor="t">
            <a:spAutoFit/>
          </a:bodyPr>
          <a:lstStyle/>
          <a:p>
            <a:pPr algn="l"/>
            <a:r>
              <a:rPr sz="1100" b="0" i="0">
                <a:solidFill>
                  <a:srgbClr val="1A1A1A"/>
                </a:solidFill>
                <a:latin typeface="Abadi"/>
              </a:rPr>
              <a:t>Need for chronic pharmacotherapy to control signs or symptoms.</a:t>
            </a:r>
          </a:p>
        </p:txBody>
      </p:sp>
      <p:sp>
        <p:nvSpPr>
          <p:cNvPr id="28" name="Rectangle 27"/>
          <p:cNvSpPr/>
          <p:nvPr/>
        </p:nvSpPr>
        <p:spPr>
          <a:xfrm>
            <a:off x="9560966" y="1773936"/>
            <a:ext cx="2070201" cy="2148840"/>
          </a:xfrm>
          <a:prstGeom prst="rect">
            <a:avLst/>
          </a:prstGeom>
          <a:solidFill>
            <a:srgbClr val="E7E9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9560966" y="1773936"/>
            <a:ext cx="2070201" cy="100584"/>
          </a:xfrm>
          <a:prstGeom prst="rect">
            <a:avLst/>
          </a:prstGeom>
          <a:solidFill>
            <a:srgbClr val="8A93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707270" y="1956816"/>
            <a:ext cx="1777593" cy="502920"/>
          </a:xfrm>
          <a:prstGeom prst="rect">
            <a:avLst/>
          </a:prstGeom>
          <a:noFill/>
        </p:spPr>
        <p:txBody>
          <a:bodyPr wrap="square" lIns="36576" rIns="36576" tIns="36576" bIns="36576" anchor="t">
            <a:spAutoFit/>
          </a:bodyPr>
          <a:lstStyle/>
          <a:p>
            <a:pPr algn="l"/>
            <a:r>
              <a:rPr sz="1500" b="1" i="0">
                <a:solidFill>
                  <a:srgbClr val="8A939B"/>
                </a:solidFill>
                <a:latin typeface="Abadi"/>
              </a:rPr>
              <a:t>Not routine</a:t>
            </a:r>
          </a:p>
        </p:txBody>
      </p:sp>
      <p:sp>
        <p:nvSpPr>
          <p:cNvPr id="31" name="TextBox 30"/>
          <p:cNvSpPr txBox="1"/>
          <p:nvPr/>
        </p:nvSpPr>
        <p:spPr>
          <a:xfrm>
            <a:off x="9707270" y="2487168"/>
            <a:ext cx="1777593" cy="1344168"/>
          </a:xfrm>
          <a:prstGeom prst="rect">
            <a:avLst/>
          </a:prstGeom>
          <a:noFill/>
        </p:spPr>
        <p:txBody>
          <a:bodyPr wrap="square" lIns="36576" rIns="36576" tIns="36576" bIns="36576" anchor="t">
            <a:spAutoFit/>
          </a:bodyPr>
          <a:lstStyle/>
          <a:p>
            <a:pPr algn="l"/>
            <a:r>
              <a:rPr sz="1100" b="0" i="0">
                <a:solidFill>
                  <a:srgbClr val="1A1A1A"/>
                </a:solidFill>
                <a:latin typeface="Abadi"/>
              </a:rPr>
              <a:t>ESPGHAN NI: no routine antireflux procedure at gastrostomy (high evidence, strong).</a:t>
            </a:r>
          </a:p>
        </p:txBody>
      </p:sp>
      <p:sp>
        <p:nvSpPr>
          <p:cNvPr id="32" name="TextBox 31"/>
          <p:cNvSpPr txBox="1"/>
          <p:nvPr/>
        </p:nvSpPr>
        <p:spPr>
          <a:xfrm>
            <a:off x="548640" y="4114800"/>
            <a:ext cx="11082528" cy="1280160"/>
          </a:xfrm>
          <a:prstGeom prst="rect">
            <a:avLst/>
          </a:prstGeom>
          <a:noFill/>
        </p:spPr>
        <p:txBody>
          <a:bodyPr wrap="square" lIns="36576" rIns="36576" tIns="36576" bIns="36576" anchor="t">
            <a:spAutoFit/>
          </a:bodyPr>
          <a:lstStyle/>
          <a:p>
            <a:pPr algn="l"/>
            <a:r>
              <a:rPr sz="1250" b="1" i="0">
                <a:solidFill>
                  <a:srgbClr val="1B355E"/>
                </a:solidFill>
                <a:latin typeface="Abadi"/>
              </a:rPr>
              <a:t>Neurologically impaired children.   </a:t>
            </a:r>
            <a:r>
              <a:rPr sz="1250" b="0" i="0">
                <a:solidFill>
                  <a:srgbClr val="1A1A1A"/>
                </a:solidFill>
                <a:latin typeface="Abadi"/>
              </a:rPr>
              <a:t>ESPGHAN 2017 suggests considering fundoplication when optimised medical therapy fails (strong), jejunal feeding when aspiration is due to reflux (weak), and restricting total oesophagogastric dissociation to very selected cases (weak). The 2018 guideline also lists transpyloric or jejunal feeding as an alternative to surgery, but not as a test to diagnose GERD.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292608"/>
            <a:ext cx="630936" cy="347472"/>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630936" cy="347472"/>
          </a:xfrm>
          <a:prstGeom prst="rect">
            <a:avLst/>
          </a:prstGeom>
          <a:noFill/>
        </p:spPr>
        <p:txBody>
          <a:bodyPr wrap="square" lIns="36576" rIns="36576" tIns="36576" bIns="36576" anchor="ctr">
            <a:spAutoFit/>
          </a:bodyPr>
          <a:lstStyle/>
          <a:p>
            <a:pPr algn="ctr"/>
            <a:r>
              <a:rPr sz="1500" b="1" i="0">
                <a:solidFill>
                  <a:srgbClr val="FFFFFF"/>
                </a:solidFill>
                <a:latin typeface="Abadi"/>
              </a:rPr>
              <a:t>II</a:t>
            </a:r>
          </a:p>
        </p:txBody>
      </p:sp>
      <p:sp>
        <p:nvSpPr>
          <p:cNvPr id="4" name="TextBox 3"/>
          <p:cNvSpPr txBox="1"/>
          <p:nvPr/>
        </p:nvSpPr>
        <p:spPr>
          <a:xfrm>
            <a:off x="1380744" y="292608"/>
            <a:ext cx="10232136" cy="347472"/>
          </a:xfrm>
          <a:prstGeom prst="rect">
            <a:avLst/>
          </a:prstGeom>
          <a:noFill/>
        </p:spPr>
        <p:txBody>
          <a:bodyPr wrap="square" lIns="36576" rIns="36576" tIns="36576" bIns="36576" anchor="ctr">
            <a:spAutoFit/>
          </a:bodyPr>
          <a:lstStyle/>
          <a:p>
            <a:pPr algn="l"/>
            <a:r>
              <a:rPr sz="1200" b="1" i="0">
                <a:solidFill>
                  <a:srgbClr val="B22222"/>
                </a:solidFill>
                <a:latin typeface="Abadi"/>
              </a:rPr>
              <a:t>THE WORK-UP</a:t>
            </a:r>
          </a:p>
        </p:txBody>
      </p:sp>
      <p:sp>
        <p:nvSpPr>
          <p:cNvPr id="5" name="TextBox 4"/>
          <p:cNvSpPr txBox="1"/>
          <p:nvPr/>
        </p:nvSpPr>
        <p:spPr>
          <a:xfrm>
            <a:off x="548640" y="722376"/>
            <a:ext cx="11082528" cy="548640"/>
          </a:xfrm>
          <a:prstGeom prst="rect">
            <a:avLst/>
          </a:prstGeom>
          <a:noFill/>
        </p:spPr>
        <p:txBody>
          <a:bodyPr wrap="square" lIns="36576" rIns="36576" tIns="36576" bIns="36576" anchor="ctr">
            <a:spAutoFit/>
          </a:bodyPr>
          <a:lstStyle/>
          <a:p>
            <a:pPr algn="l"/>
            <a:r>
              <a:rPr sz="3000" b="1" i="0">
                <a:solidFill>
                  <a:srgbClr val="1B355E"/>
                </a:solidFill>
                <a:latin typeface="Abadi"/>
              </a:rPr>
              <a:t>BEFORE YOU BOOK THE THEATRE</a:t>
            </a:r>
          </a:p>
        </p:txBody>
      </p:sp>
      <p:sp>
        <p:nvSpPr>
          <p:cNvPr id="6" name="TextBox 5"/>
          <p:cNvSpPr txBox="1"/>
          <p:nvPr/>
        </p:nvSpPr>
        <p:spPr>
          <a:xfrm>
            <a:off x="548640" y="1307592"/>
            <a:ext cx="11082528" cy="265176"/>
          </a:xfrm>
          <a:prstGeom prst="rect">
            <a:avLst/>
          </a:prstGeom>
          <a:noFill/>
        </p:spPr>
        <p:txBody>
          <a:bodyPr wrap="square" lIns="36576" rIns="36576" tIns="36576" bIns="36576" anchor="t">
            <a:spAutoFit/>
          </a:bodyPr>
          <a:lstStyle/>
          <a:p>
            <a:pPr algn="l"/>
            <a:r>
              <a:rPr sz="1300" b="0" i="0">
                <a:solidFill>
                  <a:srgbClr val="555555"/>
                </a:solidFill>
                <a:latin typeface="Abadi"/>
              </a:rPr>
              <a:t>The steps that prevent an unnecessary or failing wrap; a frame drawn from the guidelines</a:t>
            </a:r>
          </a:p>
        </p:txBody>
      </p:sp>
      <p:sp>
        <p:nvSpPr>
          <p:cNvPr id="7" name="Rectangle 6"/>
          <p:cNvSpPr/>
          <p:nvPr/>
        </p:nvSpPr>
        <p:spPr>
          <a:xfrm>
            <a:off x="548640" y="1600200"/>
            <a:ext cx="11082528" cy="27432"/>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55064"/>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5888736"/>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36224" y="5971032"/>
            <a:ext cx="694944" cy="292608"/>
          </a:xfrm>
          <a:prstGeom prst="rect">
            <a:avLst/>
          </a:prstGeom>
          <a:noFill/>
        </p:spPr>
        <p:txBody>
          <a:bodyPr wrap="square" lIns="36576" rIns="36576" tIns="36576" bIns="36576" anchor="t">
            <a:spAutoFit/>
          </a:bodyPr>
          <a:lstStyle/>
          <a:p>
            <a:pPr algn="r"/>
            <a:r>
              <a:rPr sz="1200" b="0" i="0">
                <a:solidFill>
                  <a:srgbClr val="555555"/>
                </a:solidFill>
                <a:latin typeface="Abadi"/>
              </a:rPr>
              <a:t>5</a:t>
            </a:r>
          </a:p>
        </p:txBody>
      </p:sp>
      <p:sp>
        <p:nvSpPr>
          <p:cNvPr id="11" name="TextBox 10"/>
          <p:cNvSpPr txBox="1"/>
          <p:nvPr/>
        </p:nvSpPr>
        <p:spPr>
          <a:xfrm>
            <a:off x="548640" y="5971032"/>
            <a:ext cx="10287000" cy="457200"/>
          </a:xfrm>
          <a:prstGeom prst="rect">
            <a:avLst/>
          </a:prstGeom>
          <a:noFill/>
        </p:spPr>
        <p:txBody>
          <a:bodyPr wrap="square" lIns="36576" rIns="36576" tIns="36576" bIns="36576" anchor="t">
            <a:spAutoFit/>
          </a:bodyPr>
          <a:lstStyle/>
          <a:p>
            <a:pPr algn="l"/>
            <a:r>
              <a:rPr sz="1000" b="0" i="0">
                <a:solidFill>
                  <a:srgbClr val="8A939B"/>
                </a:solidFill>
                <a:latin typeface="Abadi"/>
              </a:rPr>
              <a:t>Rosen 2018 · Romano 2017 · Broekaert IJ, et al. JPGN 2019;69:239–58</a:t>
            </a:r>
          </a:p>
        </p:txBody>
      </p:sp>
      <p:sp>
        <p:nvSpPr>
          <p:cNvPr id="12" name="Rectangle 11"/>
          <p:cNvSpPr/>
          <p:nvPr/>
        </p:nvSpPr>
        <p:spPr>
          <a:xfrm>
            <a:off x="548640" y="1773936"/>
            <a:ext cx="2011680" cy="1783080"/>
          </a:xfrm>
          <a:prstGeom prst="rect">
            <a:avLst/>
          </a:prstGeom>
          <a:solidFill>
            <a:srgbClr val="DCE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1773936"/>
            <a:ext cx="2011680" cy="365760"/>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1792" y="1773936"/>
            <a:ext cx="1865376" cy="365760"/>
          </a:xfrm>
          <a:prstGeom prst="rect">
            <a:avLst/>
          </a:prstGeom>
          <a:noFill/>
        </p:spPr>
        <p:txBody>
          <a:bodyPr wrap="square" lIns="36576" rIns="36576" tIns="36576" bIns="36576" anchor="ctr">
            <a:spAutoFit/>
          </a:bodyPr>
          <a:lstStyle/>
          <a:p>
            <a:pPr algn="l"/>
            <a:r>
              <a:rPr sz="1150" b="1" i="0">
                <a:solidFill>
                  <a:srgbClr val="FFFFFF"/>
                </a:solidFill>
                <a:latin typeface="Abadi"/>
              </a:rPr>
              <a:t>Prove reflux</a:t>
            </a:r>
          </a:p>
        </p:txBody>
      </p:sp>
      <p:sp>
        <p:nvSpPr>
          <p:cNvPr id="15" name="TextBox 14"/>
          <p:cNvSpPr txBox="1"/>
          <p:nvPr/>
        </p:nvSpPr>
        <p:spPr>
          <a:xfrm>
            <a:off x="658368" y="2231136"/>
            <a:ext cx="1792224" cy="1252728"/>
          </a:xfrm>
          <a:prstGeom prst="rect">
            <a:avLst/>
          </a:prstGeom>
          <a:noFill/>
        </p:spPr>
        <p:txBody>
          <a:bodyPr wrap="square" lIns="36576" rIns="36576" tIns="36576" bIns="36576" anchor="t">
            <a:spAutoFit/>
          </a:bodyPr>
          <a:lstStyle/>
          <a:p>
            <a:pPr algn="l"/>
            <a:r>
              <a:rPr sz="1100" b="0" i="0">
                <a:solidFill>
                  <a:srgbClr val="1A1A1A"/>
                </a:solidFill>
                <a:latin typeface="Abadi"/>
              </a:rPr>
              <a:t>pH-impedance or endoscopy: objective evidence, not symptoms alone.</a:t>
            </a:r>
          </a:p>
        </p:txBody>
      </p:sp>
      <p:sp>
        <p:nvSpPr>
          <p:cNvPr id="16" name="TextBox 15"/>
          <p:cNvSpPr txBox="1"/>
          <p:nvPr/>
        </p:nvSpPr>
        <p:spPr>
          <a:xfrm>
            <a:off x="2560320" y="2528316"/>
            <a:ext cx="256032" cy="274320"/>
          </a:xfrm>
          <a:prstGeom prst="rect">
            <a:avLst/>
          </a:prstGeom>
          <a:noFill/>
        </p:spPr>
        <p:txBody>
          <a:bodyPr wrap="square" lIns="36576" rIns="36576" tIns="36576" bIns="36576" anchor="t">
            <a:spAutoFit/>
          </a:bodyPr>
          <a:lstStyle/>
          <a:p>
            <a:pPr algn="ctr"/>
            <a:r>
              <a:rPr sz="900" b="0" i="0">
                <a:solidFill>
                  <a:srgbClr val="8A939B"/>
                </a:solidFill>
                <a:latin typeface="Abadi"/>
              </a:rPr>
              <a:t>▶</a:t>
            </a:r>
          </a:p>
        </p:txBody>
      </p:sp>
      <p:sp>
        <p:nvSpPr>
          <p:cNvPr id="17" name="Rectangle 16"/>
          <p:cNvSpPr/>
          <p:nvPr/>
        </p:nvSpPr>
        <p:spPr>
          <a:xfrm>
            <a:off x="2816352" y="1773936"/>
            <a:ext cx="2011680" cy="1783080"/>
          </a:xfrm>
          <a:prstGeom prst="rect">
            <a:avLst/>
          </a:prstGeom>
          <a:solidFill>
            <a:srgbClr val="F6D2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2816352" y="1773936"/>
            <a:ext cx="2011680" cy="365760"/>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889504" y="1773936"/>
            <a:ext cx="1865376" cy="365760"/>
          </a:xfrm>
          <a:prstGeom prst="rect">
            <a:avLst/>
          </a:prstGeom>
          <a:noFill/>
        </p:spPr>
        <p:txBody>
          <a:bodyPr wrap="square" lIns="36576" rIns="36576" tIns="36576" bIns="36576" anchor="ctr">
            <a:spAutoFit/>
          </a:bodyPr>
          <a:lstStyle/>
          <a:p>
            <a:pPr algn="l"/>
            <a:r>
              <a:rPr sz="1150" b="1" i="0">
                <a:solidFill>
                  <a:srgbClr val="FFFFFF"/>
                </a:solidFill>
                <a:latin typeface="Abadi"/>
              </a:rPr>
              <a:t>Exclude mimics</a:t>
            </a:r>
          </a:p>
        </p:txBody>
      </p:sp>
      <p:sp>
        <p:nvSpPr>
          <p:cNvPr id="20" name="TextBox 19"/>
          <p:cNvSpPr txBox="1"/>
          <p:nvPr/>
        </p:nvSpPr>
        <p:spPr>
          <a:xfrm>
            <a:off x="2926080" y="2231136"/>
            <a:ext cx="1792224" cy="1252728"/>
          </a:xfrm>
          <a:prstGeom prst="rect">
            <a:avLst/>
          </a:prstGeom>
          <a:noFill/>
        </p:spPr>
        <p:txBody>
          <a:bodyPr wrap="square" lIns="36576" rIns="36576" tIns="36576" bIns="36576" anchor="t">
            <a:spAutoFit/>
          </a:bodyPr>
          <a:lstStyle/>
          <a:p>
            <a:pPr algn="l"/>
            <a:r>
              <a:rPr sz="1100" b="0" i="0">
                <a:solidFill>
                  <a:srgbClr val="1A1A1A"/>
                </a:solidFill>
                <a:latin typeface="Abadi"/>
              </a:rPr>
              <a:t>Eosinophilic oesophagitis, rumination, constipation, cow's milk allergy, gastroparesis.</a:t>
            </a:r>
          </a:p>
        </p:txBody>
      </p:sp>
      <p:sp>
        <p:nvSpPr>
          <p:cNvPr id="21" name="TextBox 20"/>
          <p:cNvSpPr txBox="1"/>
          <p:nvPr/>
        </p:nvSpPr>
        <p:spPr>
          <a:xfrm>
            <a:off x="4828032" y="2528316"/>
            <a:ext cx="256032" cy="274320"/>
          </a:xfrm>
          <a:prstGeom prst="rect">
            <a:avLst/>
          </a:prstGeom>
          <a:noFill/>
        </p:spPr>
        <p:txBody>
          <a:bodyPr wrap="square" lIns="36576" rIns="36576" tIns="36576" bIns="36576" anchor="t">
            <a:spAutoFit/>
          </a:bodyPr>
          <a:lstStyle/>
          <a:p>
            <a:pPr algn="ctr"/>
            <a:r>
              <a:rPr sz="900" b="0" i="0">
                <a:solidFill>
                  <a:srgbClr val="8A939B"/>
                </a:solidFill>
                <a:latin typeface="Abadi"/>
              </a:rPr>
              <a:t>▶</a:t>
            </a:r>
          </a:p>
        </p:txBody>
      </p:sp>
      <p:sp>
        <p:nvSpPr>
          <p:cNvPr id="22" name="Rectangle 21"/>
          <p:cNvSpPr/>
          <p:nvPr/>
        </p:nvSpPr>
        <p:spPr>
          <a:xfrm>
            <a:off x="5084064" y="1773936"/>
            <a:ext cx="2011680" cy="1783080"/>
          </a:xfrm>
          <a:prstGeom prst="rect">
            <a:avLst/>
          </a:prstGeom>
          <a:solidFill>
            <a:srgbClr val="FBEF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084064" y="1773936"/>
            <a:ext cx="2011680" cy="365760"/>
          </a:xfrm>
          <a:prstGeom prst="rect">
            <a:avLst/>
          </a:prstGeom>
          <a:solidFill>
            <a:srgbClr val="D97A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157216" y="1773936"/>
            <a:ext cx="1865376" cy="365760"/>
          </a:xfrm>
          <a:prstGeom prst="rect">
            <a:avLst/>
          </a:prstGeom>
          <a:noFill/>
        </p:spPr>
        <p:txBody>
          <a:bodyPr wrap="square" lIns="36576" rIns="36576" tIns="36576" bIns="36576" anchor="ctr">
            <a:spAutoFit/>
          </a:bodyPr>
          <a:lstStyle/>
          <a:p>
            <a:pPr algn="l"/>
            <a:r>
              <a:rPr sz="1150" b="1" i="0">
                <a:solidFill>
                  <a:srgbClr val="FFFFFF"/>
                </a:solidFill>
                <a:latin typeface="Abadi"/>
              </a:rPr>
              <a:t>Anatomy</a:t>
            </a:r>
          </a:p>
        </p:txBody>
      </p:sp>
      <p:sp>
        <p:nvSpPr>
          <p:cNvPr id="25" name="TextBox 24"/>
          <p:cNvSpPr txBox="1"/>
          <p:nvPr/>
        </p:nvSpPr>
        <p:spPr>
          <a:xfrm>
            <a:off x="5193792" y="2231136"/>
            <a:ext cx="1792224" cy="1252728"/>
          </a:xfrm>
          <a:prstGeom prst="rect">
            <a:avLst/>
          </a:prstGeom>
          <a:noFill/>
        </p:spPr>
        <p:txBody>
          <a:bodyPr wrap="square" lIns="36576" rIns="36576" tIns="36576" bIns="36576" anchor="t">
            <a:spAutoFit/>
          </a:bodyPr>
          <a:lstStyle/>
          <a:p>
            <a:pPr algn="l"/>
            <a:r>
              <a:rPr sz="1100" b="0" i="0">
                <a:solidFill>
                  <a:srgbClr val="1A1A1A"/>
                </a:solidFill>
                <a:latin typeface="Abadi"/>
              </a:rPr>
              <a:t>Contrast study: malrotation, hiatal hernia, gastric outlet obstruction.</a:t>
            </a:r>
          </a:p>
        </p:txBody>
      </p:sp>
      <p:sp>
        <p:nvSpPr>
          <p:cNvPr id="26" name="TextBox 25"/>
          <p:cNvSpPr txBox="1"/>
          <p:nvPr/>
        </p:nvSpPr>
        <p:spPr>
          <a:xfrm>
            <a:off x="7095744" y="2528316"/>
            <a:ext cx="256032" cy="274320"/>
          </a:xfrm>
          <a:prstGeom prst="rect">
            <a:avLst/>
          </a:prstGeom>
          <a:noFill/>
        </p:spPr>
        <p:txBody>
          <a:bodyPr wrap="square" lIns="36576" rIns="36576" tIns="36576" bIns="36576" anchor="t">
            <a:spAutoFit/>
          </a:bodyPr>
          <a:lstStyle/>
          <a:p>
            <a:pPr algn="ctr"/>
            <a:r>
              <a:rPr sz="900" b="0" i="0">
                <a:solidFill>
                  <a:srgbClr val="8A939B"/>
                </a:solidFill>
                <a:latin typeface="Abadi"/>
              </a:rPr>
              <a:t>▶</a:t>
            </a:r>
          </a:p>
        </p:txBody>
      </p:sp>
      <p:sp>
        <p:nvSpPr>
          <p:cNvPr id="27" name="Rectangle 26"/>
          <p:cNvSpPr/>
          <p:nvPr/>
        </p:nvSpPr>
        <p:spPr>
          <a:xfrm>
            <a:off x="7351776" y="1773936"/>
            <a:ext cx="2011680" cy="1783080"/>
          </a:xfrm>
          <a:prstGeom prst="rect">
            <a:avLst/>
          </a:prstGeom>
          <a:solidFill>
            <a:srgbClr val="CDE7C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351776" y="1773936"/>
            <a:ext cx="2011680" cy="365760"/>
          </a:xfrm>
          <a:prstGeom prst="rect">
            <a:avLst/>
          </a:prstGeom>
          <a:solidFill>
            <a:srgbClr val="1E7A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424928" y="1773936"/>
            <a:ext cx="1865376" cy="365760"/>
          </a:xfrm>
          <a:prstGeom prst="rect">
            <a:avLst/>
          </a:prstGeom>
          <a:noFill/>
        </p:spPr>
        <p:txBody>
          <a:bodyPr wrap="square" lIns="36576" rIns="36576" tIns="36576" bIns="36576" anchor="ctr">
            <a:spAutoFit/>
          </a:bodyPr>
          <a:lstStyle/>
          <a:p>
            <a:pPr algn="l"/>
            <a:r>
              <a:rPr sz="1150" b="1" i="0">
                <a:solidFill>
                  <a:srgbClr val="FFFFFF"/>
                </a:solidFill>
                <a:latin typeface="Abadi"/>
              </a:rPr>
              <a:t>Swallow</a:t>
            </a:r>
          </a:p>
        </p:txBody>
      </p:sp>
      <p:sp>
        <p:nvSpPr>
          <p:cNvPr id="30" name="TextBox 29"/>
          <p:cNvSpPr txBox="1"/>
          <p:nvPr/>
        </p:nvSpPr>
        <p:spPr>
          <a:xfrm>
            <a:off x="7461504" y="2231136"/>
            <a:ext cx="1792224" cy="1252728"/>
          </a:xfrm>
          <a:prstGeom prst="rect">
            <a:avLst/>
          </a:prstGeom>
          <a:noFill/>
        </p:spPr>
        <p:txBody>
          <a:bodyPr wrap="square" lIns="36576" rIns="36576" tIns="36576" bIns="36576" anchor="t">
            <a:spAutoFit/>
          </a:bodyPr>
          <a:lstStyle/>
          <a:p>
            <a:pPr algn="l"/>
            <a:r>
              <a:rPr sz="1100" b="0" i="0">
                <a:solidFill>
                  <a:srgbClr val="1A1A1A"/>
                </a:solidFill>
                <a:latin typeface="Abadi"/>
              </a:rPr>
              <a:t>Is aspiration from above? A videofluoroscopic swallow changes the goal.</a:t>
            </a:r>
          </a:p>
        </p:txBody>
      </p:sp>
      <p:sp>
        <p:nvSpPr>
          <p:cNvPr id="31" name="TextBox 30"/>
          <p:cNvSpPr txBox="1"/>
          <p:nvPr/>
        </p:nvSpPr>
        <p:spPr>
          <a:xfrm>
            <a:off x="9363456" y="2528316"/>
            <a:ext cx="256032" cy="274320"/>
          </a:xfrm>
          <a:prstGeom prst="rect">
            <a:avLst/>
          </a:prstGeom>
          <a:noFill/>
        </p:spPr>
        <p:txBody>
          <a:bodyPr wrap="square" lIns="36576" rIns="36576" tIns="36576" bIns="36576" anchor="t">
            <a:spAutoFit/>
          </a:bodyPr>
          <a:lstStyle/>
          <a:p>
            <a:pPr algn="ctr"/>
            <a:r>
              <a:rPr sz="900" b="0" i="0">
                <a:solidFill>
                  <a:srgbClr val="8A939B"/>
                </a:solidFill>
                <a:latin typeface="Abadi"/>
              </a:rPr>
              <a:t>▶</a:t>
            </a:r>
          </a:p>
        </p:txBody>
      </p:sp>
      <p:sp>
        <p:nvSpPr>
          <p:cNvPr id="32" name="Rectangle 31"/>
          <p:cNvSpPr/>
          <p:nvPr/>
        </p:nvSpPr>
        <p:spPr>
          <a:xfrm>
            <a:off x="9619488" y="1773936"/>
            <a:ext cx="2011680" cy="1783080"/>
          </a:xfrm>
          <a:prstGeom prst="rect">
            <a:avLst/>
          </a:prstGeom>
          <a:solidFill>
            <a:srgbClr val="E7E9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9619488" y="1773936"/>
            <a:ext cx="2011680" cy="365760"/>
          </a:xfrm>
          <a:prstGeom prst="rect">
            <a:avLst/>
          </a:prstGeom>
          <a:solidFill>
            <a:srgbClr val="8A93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692640" y="1773936"/>
            <a:ext cx="1865376" cy="365760"/>
          </a:xfrm>
          <a:prstGeom prst="rect">
            <a:avLst/>
          </a:prstGeom>
          <a:noFill/>
        </p:spPr>
        <p:txBody>
          <a:bodyPr wrap="square" lIns="36576" rIns="36576" tIns="36576" bIns="36576" anchor="ctr">
            <a:spAutoFit/>
          </a:bodyPr>
          <a:lstStyle/>
          <a:p>
            <a:pPr algn="l"/>
            <a:r>
              <a:rPr sz="1150" b="1" i="0">
                <a:solidFill>
                  <a:srgbClr val="FFFFFF"/>
                </a:solidFill>
                <a:latin typeface="Abadi"/>
              </a:rPr>
              <a:t>Retching</a:t>
            </a:r>
          </a:p>
        </p:txBody>
      </p:sp>
      <p:sp>
        <p:nvSpPr>
          <p:cNvPr id="35" name="TextBox 34"/>
          <p:cNvSpPr txBox="1"/>
          <p:nvPr/>
        </p:nvSpPr>
        <p:spPr>
          <a:xfrm>
            <a:off x="9729216" y="2231136"/>
            <a:ext cx="1792224" cy="1252728"/>
          </a:xfrm>
          <a:prstGeom prst="rect">
            <a:avLst/>
          </a:prstGeom>
          <a:noFill/>
        </p:spPr>
        <p:txBody>
          <a:bodyPr wrap="square" lIns="36576" rIns="36576" tIns="36576" bIns="36576" anchor="t">
            <a:spAutoFit/>
          </a:bodyPr>
          <a:lstStyle/>
          <a:p>
            <a:pPr algn="l"/>
            <a:r>
              <a:rPr sz="1100" b="0" i="0">
                <a:solidFill>
                  <a:srgbClr val="1A1A1A"/>
                </a:solidFill>
                <a:latin typeface="Abadi"/>
              </a:rPr>
              <a:t>Retching or delayed emptying predict a poor result; consider jejunal feeding first.</a:t>
            </a:r>
          </a:p>
        </p:txBody>
      </p:sp>
      <p:sp>
        <p:nvSpPr>
          <p:cNvPr id="36" name="TextBox 35"/>
          <p:cNvSpPr txBox="1"/>
          <p:nvPr/>
        </p:nvSpPr>
        <p:spPr>
          <a:xfrm>
            <a:off x="548640" y="3886200"/>
            <a:ext cx="11082528" cy="822960"/>
          </a:xfrm>
          <a:prstGeom prst="rect">
            <a:avLst/>
          </a:prstGeom>
          <a:noFill/>
        </p:spPr>
        <p:txBody>
          <a:bodyPr wrap="square" lIns="36576" rIns="36576" tIns="36576" bIns="36576" anchor="t">
            <a:spAutoFit/>
          </a:bodyPr>
          <a:lstStyle/>
          <a:p>
            <a:pPr algn="l"/>
            <a:r>
              <a:rPr sz="1250" b="1" i="0">
                <a:solidFill>
                  <a:srgbClr val="1B355E"/>
                </a:solidFill>
                <a:latin typeface="Abadi"/>
              </a:rPr>
              <a:t>Jejunal trial.   </a:t>
            </a:r>
            <a:r>
              <a:rPr sz="1250" b="0" i="0">
                <a:solidFill>
                  <a:srgbClr val="1A1A1A"/>
                </a:solidFill>
                <a:latin typeface="Abadi"/>
              </a:rPr>
              <a:t>A trial of jejunal feeding should not be used to diagnose GERD (2018 guideline, moderate). It can be used to show the family how a child behaves when nothing enters the stomach, and some will choose to stay on it.</a:t>
            </a:r>
          </a:p>
        </p:txBody>
      </p:sp>
      <p:sp>
        <p:nvSpPr>
          <p:cNvPr id="37" name="TextBox 36"/>
          <p:cNvSpPr txBox="1"/>
          <p:nvPr/>
        </p:nvSpPr>
        <p:spPr>
          <a:xfrm>
            <a:off x="548640" y="4754880"/>
            <a:ext cx="11082528" cy="640080"/>
          </a:xfrm>
          <a:prstGeom prst="rect">
            <a:avLst/>
          </a:prstGeom>
          <a:noFill/>
        </p:spPr>
        <p:txBody>
          <a:bodyPr wrap="square" lIns="36576" rIns="36576" tIns="36576" bIns="36576" anchor="t">
            <a:spAutoFit/>
          </a:bodyPr>
          <a:lstStyle/>
          <a:p>
            <a:pPr algn="l"/>
            <a:r>
              <a:rPr sz="1250" b="1" i="0">
                <a:solidFill>
                  <a:srgbClr val="1B355E"/>
                </a:solidFill>
                <a:latin typeface="Abadi"/>
              </a:rPr>
              <a:t>Practical point.   </a:t>
            </a:r>
            <a:r>
              <a:rPr sz="1250" b="0" i="0">
                <a:solidFill>
                  <a:srgbClr val="1A1A1A"/>
                </a:solidFill>
                <a:latin typeface="Abadi"/>
              </a:rPr>
              <a:t>Most failed wraps in the literature were done in children with neurological impairment and retching: identify them before surgery.</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292608"/>
            <a:ext cx="630936" cy="347472"/>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630936" cy="347472"/>
          </a:xfrm>
          <a:prstGeom prst="rect">
            <a:avLst/>
          </a:prstGeom>
          <a:noFill/>
        </p:spPr>
        <p:txBody>
          <a:bodyPr wrap="square" lIns="36576" rIns="36576" tIns="36576" bIns="36576" anchor="ctr">
            <a:spAutoFit/>
          </a:bodyPr>
          <a:lstStyle/>
          <a:p>
            <a:pPr algn="ctr"/>
            <a:r>
              <a:rPr sz="1500" b="1" i="0">
                <a:solidFill>
                  <a:srgbClr val="FFFFFF"/>
                </a:solidFill>
                <a:latin typeface="Abadi"/>
              </a:rPr>
              <a:t>III</a:t>
            </a:r>
          </a:p>
        </p:txBody>
      </p:sp>
      <p:sp>
        <p:nvSpPr>
          <p:cNvPr id="4" name="TextBox 3"/>
          <p:cNvSpPr txBox="1"/>
          <p:nvPr/>
        </p:nvSpPr>
        <p:spPr>
          <a:xfrm>
            <a:off x="1380744" y="292608"/>
            <a:ext cx="10232136" cy="347472"/>
          </a:xfrm>
          <a:prstGeom prst="rect">
            <a:avLst/>
          </a:prstGeom>
          <a:noFill/>
        </p:spPr>
        <p:txBody>
          <a:bodyPr wrap="square" lIns="36576" rIns="36576" tIns="36576" bIns="36576" anchor="ctr">
            <a:spAutoFit/>
          </a:bodyPr>
          <a:lstStyle/>
          <a:p>
            <a:pPr algn="l"/>
            <a:r>
              <a:rPr sz="1200" b="1" i="0">
                <a:solidFill>
                  <a:srgbClr val="B22222"/>
                </a:solidFill>
                <a:latin typeface="Abadi"/>
              </a:rPr>
              <a:t>WRAP ANATOMY</a:t>
            </a:r>
          </a:p>
        </p:txBody>
      </p:sp>
      <p:sp>
        <p:nvSpPr>
          <p:cNvPr id="5" name="TextBox 4"/>
          <p:cNvSpPr txBox="1"/>
          <p:nvPr/>
        </p:nvSpPr>
        <p:spPr>
          <a:xfrm>
            <a:off x="548640" y="722376"/>
            <a:ext cx="11082528" cy="548640"/>
          </a:xfrm>
          <a:prstGeom prst="rect">
            <a:avLst/>
          </a:prstGeom>
          <a:noFill/>
        </p:spPr>
        <p:txBody>
          <a:bodyPr wrap="square" lIns="36576" rIns="36576" tIns="36576" bIns="36576" anchor="ctr">
            <a:spAutoFit/>
          </a:bodyPr>
          <a:lstStyle/>
          <a:p>
            <a:pPr algn="l"/>
            <a:r>
              <a:rPr sz="3000" b="1" i="0">
                <a:solidFill>
                  <a:srgbClr val="1B355E"/>
                </a:solidFill>
                <a:latin typeface="Abadi"/>
              </a:rPr>
              <a:t>TOTAL AND PARTIAL FUNDOPLICATION</a:t>
            </a:r>
          </a:p>
        </p:txBody>
      </p:sp>
      <p:sp>
        <p:nvSpPr>
          <p:cNvPr id="6" name="TextBox 5"/>
          <p:cNvSpPr txBox="1"/>
          <p:nvPr/>
        </p:nvSpPr>
        <p:spPr>
          <a:xfrm>
            <a:off x="548640" y="1307592"/>
            <a:ext cx="11082528" cy="265176"/>
          </a:xfrm>
          <a:prstGeom prst="rect">
            <a:avLst/>
          </a:prstGeom>
          <a:noFill/>
        </p:spPr>
        <p:txBody>
          <a:bodyPr wrap="square" lIns="36576" rIns="36576" tIns="36576" bIns="36576" anchor="t">
            <a:spAutoFit/>
          </a:bodyPr>
          <a:lstStyle/>
          <a:p>
            <a:pPr algn="l"/>
            <a:r>
              <a:rPr sz="1300" b="0" i="0">
                <a:solidFill>
                  <a:srgbClr val="555555"/>
                </a:solidFill>
                <a:latin typeface="Abadi"/>
              </a:rPr>
              <a:t>The wraps used in children differ in circumference and position</a:t>
            </a:r>
          </a:p>
        </p:txBody>
      </p:sp>
      <p:sp>
        <p:nvSpPr>
          <p:cNvPr id="7" name="Rectangle 6"/>
          <p:cNvSpPr/>
          <p:nvPr/>
        </p:nvSpPr>
        <p:spPr>
          <a:xfrm>
            <a:off x="548640" y="1600200"/>
            <a:ext cx="11082528" cy="27432"/>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55064"/>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5888736"/>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36224" y="5971032"/>
            <a:ext cx="694944" cy="292608"/>
          </a:xfrm>
          <a:prstGeom prst="rect">
            <a:avLst/>
          </a:prstGeom>
          <a:noFill/>
        </p:spPr>
        <p:txBody>
          <a:bodyPr wrap="square" lIns="36576" rIns="36576" tIns="36576" bIns="36576" anchor="t">
            <a:spAutoFit/>
          </a:bodyPr>
          <a:lstStyle/>
          <a:p>
            <a:pPr algn="r"/>
            <a:r>
              <a:rPr sz="1200" b="0" i="0">
                <a:solidFill>
                  <a:srgbClr val="555555"/>
                </a:solidFill>
                <a:latin typeface="Abadi"/>
              </a:rPr>
              <a:t>6</a:t>
            </a:r>
          </a:p>
        </p:txBody>
      </p:sp>
      <p:sp>
        <p:nvSpPr>
          <p:cNvPr id="11" name="TextBox 10"/>
          <p:cNvSpPr txBox="1"/>
          <p:nvPr/>
        </p:nvSpPr>
        <p:spPr>
          <a:xfrm>
            <a:off x="548640" y="5971032"/>
            <a:ext cx="10287000" cy="457200"/>
          </a:xfrm>
          <a:prstGeom prst="rect">
            <a:avLst/>
          </a:prstGeom>
          <a:noFill/>
        </p:spPr>
        <p:txBody>
          <a:bodyPr wrap="square" lIns="36576" rIns="36576" tIns="36576" bIns="36576" anchor="t">
            <a:spAutoFit/>
          </a:bodyPr>
          <a:lstStyle/>
          <a:p>
            <a:pPr algn="l"/>
            <a:r>
              <a:rPr sz="1000" b="0" i="0">
                <a:solidFill>
                  <a:srgbClr val="8A939B"/>
                </a:solidFill>
                <a:latin typeface="Abadi"/>
              </a:rPr>
              <a:t>Kubiak 2011 · Mauritz FA, et al. J Gastrointest Surg 2011 · Slater BJ, et al. Surg Endosc 2023;37:781–806</a:t>
            </a:r>
          </a:p>
        </p:txBody>
      </p:sp>
      <p:sp>
        <p:nvSpPr>
          <p:cNvPr id="12" name="Rectangle 11"/>
          <p:cNvSpPr/>
          <p:nvPr/>
        </p:nvSpPr>
        <p:spPr>
          <a:xfrm>
            <a:off x="548640" y="1773936"/>
            <a:ext cx="2633472" cy="2148840"/>
          </a:xfrm>
          <a:prstGeom prst="rect">
            <a:avLst/>
          </a:prstGeom>
          <a:solidFill>
            <a:srgbClr val="DCE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1773936"/>
            <a:ext cx="2633472" cy="100584"/>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94944" y="1956816"/>
            <a:ext cx="2340864" cy="502920"/>
          </a:xfrm>
          <a:prstGeom prst="rect">
            <a:avLst/>
          </a:prstGeom>
          <a:noFill/>
        </p:spPr>
        <p:txBody>
          <a:bodyPr wrap="square" lIns="36576" rIns="36576" tIns="36576" bIns="36576" anchor="t">
            <a:spAutoFit/>
          </a:bodyPr>
          <a:lstStyle/>
          <a:p>
            <a:pPr algn="l"/>
            <a:r>
              <a:rPr sz="1500" b="1" i="0">
                <a:solidFill>
                  <a:srgbClr val="1B355E"/>
                </a:solidFill>
                <a:latin typeface="Abadi"/>
              </a:rPr>
              <a:t>Nissen</a:t>
            </a:r>
          </a:p>
        </p:txBody>
      </p:sp>
      <p:sp>
        <p:nvSpPr>
          <p:cNvPr id="15" name="TextBox 14"/>
          <p:cNvSpPr txBox="1"/>
          <p:nvPr/>
        </p:nvSpPr>
        <p:spPr>
          <a:xfrm>
            <a:off x="694944" y="2487168"/>
            <a:ext cx="2340864" cy="1344168"/>
          </a:xfrm>
          <a:prstGeom prst="rect">
            <a:avLst/>
          </a:prstGeom>
          <a:noFill/>
        </p:spPr>
        <p:txBody>
          <a:bodyPr wrap="square" lIns="36576" rIns="36576" tIns="36576" bIns="36576" anchor="t">
            <a:spAutoFit/>
          </a:bodyPr>
          <a:lstStyle/>
          <a:p>
            <a:pPr algn="l">
              <a:spcAft>
                <a:spcPts val="400"/>
              </a:spcAft>
            </a:pPr>
            <a:r>
              <a:rPr sz="1150" b="0" i="0">
                <a:solidFill>
                  <a:srgbClr val="1A1A1A"/>
                </a:solidFill>
                <a:latin typeface="Abadi"/>
              </a:rPr>
              <a:t>▪  360°, posterior</a:t>
            </a:r>
          </a:p>
          <a:p>
            <a:pPr algn="l">
              <a:spcAft>
                <a:spcPts val="400"/>
              </a:spcAft>
            </a:pPr>
            <a:r>
              <a:rPr sz="1150" b="0" i="0">
                <a:solidFill>
                  <a:srgbClr val="1A1A1A"/>
                </a:solidFill>
                <a:latin typeface="Abadi"/>
              </a:rPr>
              <a:t>▪  Floppy, short wrap</a:t>
            </a:r>
          </a:p>
          <a:p>
            <a:pPr algn="l">
              <a:spcAft>
                <a:spcPts val="400"/>
              </a:spcAft>
            </a:pPr>
            <a:r>
              <a:rPr sz="1150" b="0" i="0">
                <a:solidFill>
                  <a:srgbClr val="1A1A1A"/>
                </a:solidFill>
                <a:latin typeface="Abadi"/>
              </a:rPr>
              <a:t>▪  Most durable; most dysphagia and gas bloat</a:t>
            </a:r>
          </a:p>
        </p:txBody>
      </p:sp>
      <p:sp>
        <p:nvSpPr>
          <p:cNvPr id="16" name="Rectangle 15"/>
          <p:cNvSpPr/>
          <p:nvPr/>
        </p:nvSpPr>
        <p:spPr>
          <a:xfrm>
            <a:off x="3364992" y="1773936"/>
            <a:ext cx="2633472" cy="2148840"/>
          </a:xfrm>
          <a:prstGeom prst="rect">
            <a:avLst/>
          </a:prstGeom>
          <a:solidFill>
            <a:srgbClr val="CDE7C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364992" y="1773936"/>
            <a:ext cx="2633472" cy="100584"/>
          </a:xfrm>
          <a:prstGeom prst="rect">
            <a:avLst/>
          </a:prstGeom>
          <a:solidFill>
            <a:srgbClr val="1E7A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511296" y="1956816"/>
            <a:ext cx="2340864" cy="502920"/>
          </a:xfrm>
          <a:prstGeom prst="rect">
            <a:avLst/>
          </a:prstGeom>
          <a:noFill/>
        </p:spPr>
        <p:txBody>
          <a:bodyPr wrap="square" lIns="36576" rIns="36576" tIns="36576" bIns="36576" anchor="t">
            <a:spAutoFit/>
          </a:bodyPr>
          <a:lstStyle/>
          <a:p>
            <a:pPr algn="l"/>
            <a:r>
              <a:rPr sz="1500" b="1" i="0">
                <a:solidFill>
                  <a:srgbClr val="1E7A33"/>
                </a:solidFill>
                <a:latin typeface="Abadi"/>
              </a:rPr>
              <a:t>Toupet</a:t>
            </a:r>
          </a:p>
        </p:txBody>
      </p:sp>
      <p:sp>
        <p:nvSpPr>
          <p:cNvPr id="19" name="TextBox 18"/>
          <p:cNvSpPr txBox="1"/>
          <p:nvPr/>
        </p:nvSpPr>
        <p:spPr>
          <a:xfrm>
            <a:off x="3511296" y="2487168"/>
            <a:ext cx="2340864" cy="1344168"/>
          </a:xfrm>
          <a:prstGeom prst="rect">
            <a:avLst/>
          </a:prstGeom>
          <a:noFill/>
        </p:spPr>
        <p:txBody>
          <a:bodyPr wrap="square" lIns="36576" rIns="36576" tIns="36576" bIns="36576" anchor="t">
            <a:spAutoFit/>
          </a:bodyPr>
          <a:lstStyle/>
          <a:p>
            <a:pPr algn="l">
              <a:spcAft>
                <a:spcPts val="400"/>
              </a:spcAft>
            </a:pPr>
            <a:r>
              <a:rPr sz="1150" b="0" i="0">
                <a:solidFill>
                  <a:srgbClr val="1A1A1A"/>
                </a:solidFill>
                <a:latin typeface="Abadi"/>
              </a:rPr>
              <a:t>▪  270°, posterior</a:t>
            </a:r>
          </a:p>
          <a:p>
            <a:pPr algn="l">
              <a:spcAft>
                <a:spcPts val="400"/>
              </a:spcAft>
            </a:pPr>
            <a:r>
              <a:rPr sz="1150" b="0" i="0">
                <a:solidFill>
                  <a:srgbClr val="1A1A1A"/>
                </a:solidFill>
                <a:latin typeface="Abadi"/>
              </a:rPr>
              <a:t>▪  Preferred partial wrap in adults</a:t>
            </a:r>
          </a:p>
          <a:p>
            <a:pPr algn="l">
              <a:spcAft>
                <a:spcPts val="400"/>
              </a:spcAft>
            </a:pPr>
            <a:r>
              <a:rPr sz="1150" b="0" i="0">
                <a:solidFill>
                  <a:srgbClr val="1A1A1A"/>
                </a:solidFill>
                <a:latin typeface="Abadi"/>
              </a:rPr>
              <a:t>▪  Belching preserved</a:t>
            </a:r>
          </a:p>
        </p:txBody>
      </p:sp>
      <p:sp>
        <p:nvSpPr>
          <p:cNvPr id="20" name="Rectangle 19"/>
          <p:cNvSpPr/>
          <p:nvPr/>
        </p:nvSpPr>
        <p:spPr>
          <a:xfrm>
            <a:off x="6181344" y="1773936"/>
            <a:ext cx="2633472" cy="2148840"/>
          </a:xfrm>
          <a:prstGeom prst="rect">
            <a:avLst/>
          </a:prstGeom>
          <a:solidFill>
            <a:srgbClr val="FBEF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181344" y="1773936"/>
            <a:ext cx="2633472" cy="100584"/>
          </a:xfrm>
          <a:prstGeom prst="rect">
            <a:avLst/>
          </a:prstGeom>
          <a:solidFill>
            <a:srgbClr val="D97A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27648" y="1956816"/>
            <a:ext cx="2340864" cy="502920"/>
          </a:xfrm>
          <a:prstGeom prst="rect">
            <a:avLst/>
          </a:prstGeom>
          <a:noFill/>
        </p:spPr>
        <p:txBody>
          <a:bodyPr wrap="square" lIns="36576" rIns="36576" tIns="36576" bIns="36576" anchor="t">
            <a:spAutoFit/>
          </a:bodyPr>
          <a:lstStyle/>
          <a:p>
            <a:pPr algn="l"/>
            <a:r>
              <a:rPr sz="1500" b="1" i="0">
                <a:solidFill>
                  <a:srgbClr val="D97A0B"/>
                </a:solidFill>
                <a:latin typeface="Abadi"/>
              </a:rPr>
              <a:t>Thal</a:t>
            </a:r>
          </a:p>
        </p:txBody>
      </p:sp>
      <p:sp>
        <p:nvSpPr>
          <p:cNvPr id="23" name="TextBox 22"/>
          <p:cNvSpPr txBox="1"/>
          <p:nvPr/>
        </p:nvSpPr>
        <p:spPr>
          <a:xfrm>
            <a:off x="6327648" y="2487168"/>
            <a:ext cx="2340864" cy="1344168"/>
          </a:xfrm>
          <a:prstGeom prst="rect">
            <a:avLst/>
          </a:prstGeom>
          <a:noFill/>
        </p:spPr>
        <p:txBody>
          <a:bodyPr wrap="square" lIns="36576" rIns="36576" tIns="36576" bIns="36576" anchor="t">
            <a:spAutoFit/>
          </a:bodyPr>
          <a:lstStyle/>
          <a:p>
            <a:pPr algn="l">
              <a:spcAft>
                <a:spcPts val="400"/>
              </a:spcAft>
            </a:pPr>
            <a:r>
              <a:rPr sz="1150" b="0" i="0">
                <a:solidFill>
                  <a:srgbClr val="1A1A1A"/>
                </a:solidFill>
                <a:latin typeface="Abadi"/>
              </a:rPr>
              <a:t>▪  Anterior partial wrap</a:t>
            </a:r>
          </a:p>
          <a:p>
            <a:pPr algn="l">
              <a:spcAft>
                <a:spcPts val="400"/>
              </a:spcAft>
            </a:pPr>
            <a:r>
              <a:rPr sz="1150" b="0" i="0">
                <a:solidFill>
                  <a:srgbClr val="1A1A1A"/>
                </a:solidFill>
                <a:latin typeface="Abadi"/>
              </a:rPr>
              <a:t>▪  Used in UK paediatric practice</a:t>
            </a:r>
          </a:p>
          <a:p>
            <a:pPr algn="l">
              <a:spcAft>
                <a:spcPts val="400"/>
              </a:spcAft>
            </a:pPr>
            <a:r>
              <a:rPr sz="1150" b="0" i="0">
                <a:solidFill>
                  <a:srgbClr val="1A1A1A"/>
                </a:solidFill>
                <a:latin typeface="Abadi"/>
              </a:rPr>
              <a:t>▪  Compared with Nissen in the RCT</a:t>
            </a:r>
          </a:p>
        </p:txBody>
      </p:sp>
      <p:sp>
        <p:nvSpPr>
          <p:cNvPr id="24" name="Rectangle 23"/>
          <p:cNvSpPr/>
          <p:nvPr/>
        </p:nvSpPr>
        <p:spPr>
          <a:xfrm>
            <a:off x="8997696" y="1773936"/>
            <a:ext cx="2633472" cy="2148840"/>
          </a:xfrm>
          <a:prstGeom prst="rect">
            <a:avLst/>
          </a:prstGeom>
          <a:solidFill>
            <a:srgbClr val="E7E9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997696" y="1773936"/>
            <a:ext cx="2633472" cy="100584"/>
          </a:xfrm>
          <a:prstGeom prst="rect">
            <a:avLst/>
          </a:prstGeom>
          <a:solidFill>
            <a:srgbClr val="8A93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144000" y="1956816"/>
            <a:ext cx="2340864" cy="502920"/>
          </a:xfrm>
          <a:prstGeom prst="rect">
            <a:avLst/>
          </a:prstGeom>
          <a:noFill/>
        </p:spPr>
        <p:txBody>
          <a:bodyPr wrap="square" lIns="36576" rIns="36576" tIns="36576" bIns="36576" anchor="t">
            <a:spAutoFit/>
          </a:bodyPr>
          <a:lstStyle/>
          <a:p>
            <a:pPr algn="l"/>
            <a:r>
              <a:rPr sz="1500" b="1" i="0">
                <a:solidFill>
                  <a:srgbClr val="8A939B"/>
                </a:solidFill>
                <a:latin typeface="Abadi"/>
              </a:rPr>
              <a:t>Dor</a:t>
            </a:r>
          </a:p>
        </p:txBody>
      </p:sp>
      <p:sp>
        <p:nvSpPr>
          <p:cNvPr id="27" name="TextBox 26"/>
          <p:cNvSpPr txBox="1"/>
          <p:nvPr/>
        </p:nvSpPr>
        <p:spPr>
          <a:xfrm>
            <a:off x="9144000" y="2487168"/>
            <a:ext cx="2340864" cy="1344168"/>
          </a:xfrm>
          <a:prstGeom prst="rect">
            <a:avLst/>
          </a:prstGeom>
          <a:noFill/>
        </p:spPr>
        <p:txBody>
          <a:bodyPr wrap="square" lIns="36576" rIns="36576" tIns="36576" bIns="36576" anchor="t">
            <a:spAutoFit/>
          </a:bodyPr>
          <a:lstStyle/>
          <a:p>
            <a:pPr algn="l">
              <a:spcAft>
                <a:spcPts val="400"/>
              </a:spcAft>
            </a:pPr>
            <a:r>
              <a:rPr sz="1150" b="0" i="0">
                <a:solidFill>
                  <a:srgbClr val="1A1A1A"/>
                </a:solidFill>
                <a:latin typeface="Abadi"/>
              </a:rPr>
              <a:t>▪  180°, anterior</a:t>
            </a:r>
          </a:p>
          <a:p>
            <a:pPr algn="l">
              <a:spcAft>
                <a:spcPts val="400"/>
              </a:spcAft>
            </a:pPr>
            <a:r>
              <a:rPr sz="1150" b="0" i="0">
                <a:solidFill>
                  <a:srgbClr val="1A1A1A"/>
                </a:solidFill>
                <a:latin typeface="Abadi"/>
              </a:rPr>
              <a:t>▪  Often after myotomy</a:t>
            </a:r>
          </a:p>
          <a:p>
            <a:pPr algn="l">
              <a:spcAft>
                <a:spcPts val="400"/>
              </a:spcAft>
            </a:pPr>
            <a:r>
              <a:rPr sz="1150" b="0" i="0">
                <a:solidFill>
                  <a:srgbClr val="1A1A1A"/>
                </a:solidFill>
                <a:latin typeface="Abadi"/>
              </a:rPr>
              <a:t>▪  Rarely primary in children</a:t>
            </a:r>
          </a:p>
        </p:txBody>
      </p:sp>
      <p:sp>
        <p:nvSpPr>
          <p:cNvPr id="28" name="TextBox 27"/>
          <p:cNvSpPr txBox="1"/>
          <p:nvPr/>
        </p:nvSpPr>
        <p:spPr>
          <a:xfrm>
            <a:off x="548640" y="4114800"/>
            <a:ext cx="11082528" cy="1005840"/>
          </a:xfrm>
          <a:prstGeom prst="rect">
            <a:avLst/>
          </a:prstGeom>
          <a:noFill/>
        </p:spPr>
        <p:txBody>
          <a:bodyPr wrap="square" lIns="36576" rIns="36576" tIns="36576" bIns="36576" anchor="t">
            <a:spAutoFit/>
          </a:bodyPr>
          <a:lstStyle/>
          <a:p>
            <a:pPr algn="l"/>
            <a:r>
              <a:rPr sz="1250" b="1" i="0">
                <a:solidFill>
                  <a:srgbClr val="1B355E"/>
                </a:solidFill>
                <a:latin typeface="Abadi"/>
              </a:rPr>
              <a:t>Why it matters.   </a:t>
            </a:r>
            <a:r>
              <a:rPr sz="1250" b="0" i="0">
                <a:solidFill>
                  <a:srgbClr val="1A1A1A"/>
                </a:solidFill>
                <a:latin typeface="Abadi"/>
              </a:rPr>
              <a:t>The wrap is a trade between control of reflux and ease of swallowing and belching. In a child who cannot report dysphagia or vomit safely, the balance is different from that in an adult with heartburn, and the evidence in children is far thinner.</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292608"/>
            <a:ext cx="630936" cy="347472"/>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630936" cy="347472"/>
          </a:xfrm>
          <a:prstGeom prst="rect">
            <a:avLst/>
          </a:prstGeom>
          <a:noFill/>
        </p:spPr>
        <p:txBody>
          <a:bodyPr wrap="square" lIns="36576" rIns="36576" tIns="36576" bIns="36576" anchor="ctr">
            <a:spAutoFit/>
          </a:bodyPr>
          <a:lstStyle/>
          <a:p>
            <a:pPr algn="ctr"/>
            <a:r>
              <a:rPr sz="1500" b="1" i="0">
                <a:solidFill>
                  <a:srgbClr val="FFFFFF"/>
                </a:solidFill>
                <a:latin typeface="Abadi"/>
              </a:rPr>
              <a:t>III</a:t>
            </a:r>
          </a:p>
        </p:txBody>
      </p:sp>
      <p:sp>
        <p:nvSpPr>
          <p:cNvPr id="4" name="TextBox 3"/>
          <p:cNvSpPr txBox="1"/>
          <p:nvPr/>
        </p:nvSpPr>
        <p:spPr>
          <a:xfrm>
            <a:off x="1380744" y="292608"/>
            <a:ext cx="10232136" cy="347472"/>
          </a:xfrm>
          <a:prstGeom prst="rect">
            <a:avLst/>
          </a:prstGeom>
          <a:noFill/>
        </p:spPr>
        <p:txBody>
          <a:bodyPr wrap="square" lIns="36576" rIns="36576" tIns="36576" bIns="36576" anchor="ctr">
            <a:spAutoFit/>
          </a:bodyPr>
          <a:lstStyle/>
          <a:p>
            <a:pPr algn="l"/>
            <a:r>
              <a:rPr sz="1200" b="1" i="0">
                <a:solidFill>
                  <a:srgbClr val="B22222"/>
                </a:solidFill>
                <a:latin typeface="Abadi"/>
              </a:rPr>
              <a:t>THE PAEDIATRIC TRIAL</a:t>
            </a:r>
          </a:p>
        </p:txBody>
      </p:sp>
      <p:sp>
        <p:nvSpPr>
          <p:cNvPr id="5" name="TextBox 4"/>
          <p:cNvSpPr txBox="1"/>
          <p:nvPr/>
        </p:nvSpPr>
        <p:spPr>
          <a:xfrm>
            <a:off x="548640" y="722376"/>
            <a:ext cx="11082528" cy="548640"/>
          </a:xfrm>
          <a:prstGeom prst="rect">
            <a:avLst/>
          </a:prstGeom>
          <a:noFill/>
        </p:spPr>
        <p:txBody>
          <a:bodyPr wrap="square" lIns="36576" rIns="36576" tIns="36576" bIns="36576" anchor="ctr">
            <a:spAutoFit/>
          </a:bodyPr>
          <a:lstStyle/>
          <a:p>
            <a:pPr algn="l"/>
            <a:r>
              <a:rPr sz="3000" b="1" i="0">
                <a:solidFill>
                  <a:srgbClr val="1B355E"/>
                </a:solidFill>
                <a:latin typeface="Abadi"/>
              </a:rPr>
              <a:t>NISSEN VERSUS THAL IN CHILDREN</a:t>
            </a:r>
          </a:p>
        </p:txBody>
      </p:sp>
      <p:sp>
        <p:nvSpPr>
          <p:cNvPr id="6" name="TextBox 5"/>
          <p:cNvSpPr txBox="1"/>
          <p:nvPr/>
        </p:nvSpPr>
        <p:spPr>
          <a:xfrm>
            <a:off x="548640" y="1307592"/>
            <a:ext cx="11082528" cy="265176"/>
          </a:xfrm>
          <a:prstGeom prst="rect">
            <a:avLst/>
          </a:prstGeom>
          <a:noFill/>
        </p:spPr>
        <p:txBody>
          <a:bodyPr wrap="square" lIns="36576" rIns="36576" tIns="36576" bIns="36576" anchor="t">
            <a:spAutoFit/>
          </a:bodyPr>
          <a:lstStyle/>
          <a:p>
            <a:pPr algn="l"/>
            <a:r>
              <a:rPr sz="1300" b="0" i="0">
                <a:solidFill>
                  <a:srgbClr val="555555"/>
                </a:solidFill>
                <a:latin typeface="Abadi"/>
              </a:rPr>
              <a:t>Single-surgeon randomised trial, Oxford: 175 randomised, 167 analysed, median follow-up 30 months, %</a:t>
            </a:r>
          </a:p>
        </p:txBody>
      </p:sp>
      <p:sp>
        <p:nvSpPr>
          <p:cNvPr id="7" name="Rectangle 6"/>
          <p:cNvSpPr/>
          <p:nvPr/>
        </p:nvSpPr>
        <p:spPr>
          <a:xfrm>
            <a:off x="548640" y="1600200"/>
            <a:ext cx="11082528" cy="27432"/>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55064"/>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5888736"/>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36224" y="5971032"/>
            <a:ext cx="694944" cy="292608"/>
          </a:xfrm>
          <a:prstGeom prst="rect">
            <a:avLst/>
          </a:prstGeom>
          <a:noFill/>
        </p:spPr>
        <p:txBody>
          <a:bodyPr wrap="square" lIns="36576" rIns="36576" tIns="36576" bIns="36576" anchor="t">
            <a:spAutoFit/>
          </a:bodyPr>
          <a:lstStyle/>
          <a:p>
            <a:pPr algn="r"/>
            <a:r>
              <a:rPr sz="1200" b="0" i="0">
                <a:solidFill>
                  <a:srgbClr val="555555"/>
                </a:solidFill>
                <a:latin typeface="Abadi"/>
              </a:rPr>
              <a:t>7</a:t>
            </a:r>
          </a:p>
        </p:txBody>
      </p:sp>
      <p:sp>
        <p:nvSpPr>
          <p:cNvPr id="11" name="TextBox 10"/>
          <p:cNvSpPr txBox="1"/>
          <p:nvPr/>
        </p:nvSpPr>
        <p:spPr>
          <a:xfrm>
            <a:off x="548640" y="5971032"/>
            <a:ext cx="10287000" cy="457200"/>
          </a:xfrm>
          <a:prstGeom prst="rect">
            <a:avLst/>
          </a:prstGeom>
          <a:noFill/>
        </p:spPr>
        <p:txBody>
          <a:bodyPr wrap="square" lIns="36576" rIns="36576" tIns="36576" bIns="36576" anchor="t">
            <a:spAutoFit/>
          </a:bodyPr>
          <a:lstStyle/>
          <a:p>
            <a:pPr algn="l"/>
            <a:r>
              <a:rPr sz="1000" b="0" i="0">
                <a:solidFill>
                  <a:srgbClr val="8A939B"/>
                </a:solidFill>
                <a:latin typeface="Abadi"/>
              </a:rPr>
              <a:t>Kubiak R, Andrews J, Grant HW. Ann Surg 2011;253:44–9 (doi 10.1097/SLA.0b013e3181fc98a0)</a:t>
            </a:r>
          </a:p>
        </p:txBody>
      </p:sp>
      <p:sp>
        <p:nvSpPr>
          <p:cNvPr id="12" name="TextBox 11"/>
          <p:cNvSpPr txBox="1"/>
          <p:nvPr/>
        </p:nvSpPr>
        <p:spPr>
          <a:xfrm>
            <a:off x="548640" y="1810512"/>
            <a:ext cx="2834640" cy="384048"/>
          </a:xfrm>
          <a:prstGeom prst="rect">
            <a:avLst/>
          </a:prstGeom>
          <a:noFill/>
        </p:spPr>
        <p:txBody>
          <a:bodyPr wrap="square" lIns="36576" rIns="36576" tIns="36576" bIns="36576" anchor="ctr">
            <a:spAutoFit/>
          </a:bodyPr>
          <a:lstStyle/>
          <a:p>
            <a:pPr algn="l"/>
            <a:r>
              <a:rPr sz="1050" b="0" i="0">
                <a:solidFill>
                  <a:srgbClr val="1A1A1A"/>
                </a:solidFill>
                <a:latin typeface="Abadi"/>
              </a:rPr>
              <a:t>Absolute failure · Nissen</a:t>
            </a:r>
          </a:p>
        </p:txBody>
      </p:sp>
      <p:sp>
        <p:nvSpPr>
          <p:cNvPr id="13" name="Rectangle 12"/>
          <p:cNvSpPr/>
          <p:nvPr/>
        </p:nvSpPr>
        <p:spPr>
          <a:xfrm>
            <a:off x="3474720" y="1837943"/>
            <a:ext cx="899160" cy="329184"/>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447032" y="1810512"/>
            <a:ext cx="1463040" cy="384048"/>
          </a:xfrm>
          <a:prstGeom prst="rect">
            <a:avLst/>
          </a:prstGeom>
          <a:noFill/>
        </p:spPr>
        <p:txBody>
          <a:bodyPr wrap="square" lIns="36576" rIns="36576" tIns="36576" bIns="36576" anchor="ctr">
            <a:spAutoFit/>
          </a:bodyPr>
          <a:lstStyle/>
          <a:p>
            <a:pPr algn="l"/>
            <a:r>
              <a:rPr sz="1050" b="1" i="0">
                <a:solidFill>
                  <a:srgbClr val="1A1A1A"/>
                </a:solidFill>
                <a:latin typeface="Abadi"/>
              </a:rPr>
              <a:t>5.9%</a:t>
            </a:r>
          </a:p>
        </p:txBody>
      </p:sp>
      <p:sp>
        <p:nvSpPr>
          <p:cNvPr id="15" name="TextBox 14"/>
          <p:cNvSpPr txBox="1"/>
          <p:nvPr/>
        </p:nvSpPr>
        <p:spPr>
          <a:xfrm>
            <a:off x="548640" y="2194560"/>
            <a:ext cx="2834640" cy="384048"/>
          </a:xfrm>
          <a:prstGeom prst="rect">
            <a:avLst/>
          </a:prstGeom>
          <a:noFill/>
        </p:spPr>
        <p:txBody>
          <a:bodyPr wrap="square" lIns="36576" rIns="36576" tIns="36576" bIns="36576" anchor="ctr">
            <a:spAutoFit/>
          </a:bodyPr>
          <a:lstStyle/>
          <a:p>
            <a:pPr algn="l"/>
            <a:r>
              <a:rPr sz="1050" b="0" i="0">
                <a:solidFill>
                  <a:srgbClr val="1A1A1A"/>
                </a:solidFill>
                <a:latin typeface="Abadi"/>
              </a:rPr>
              <a:t>Absolute failure · Thal</a:t>
            </a:r>
          </a:p>
        </p:txBody>
      </p:sp>
      <p:sp>
        <p:nvSpPr>
          <p:cNvPr id="16" name="Rectangle 15"/>
          <p:cNvSpPr/>
          <p:nvPr/>
        </p:nvSpPr>
        <p:spPr>
          <a:xfrm>
            <a:off x="3474720" y="2221991"/>
            <a:ext cx="2423160" cy="329184"/>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971031" y="2194560"/>
            <a:ext cx="1463040" cy="384048"/>
          </a:xfrm>
          <a:prstGeom prst="rect">
            <a:avLst/>
          </a:prstGeom>
          <a:noFill/>
        </p:spPr>
        <p:txBody>
          <a:bodyPr wrap="square" lIns="36576" rIns="36576" tIns="36576" bIns="36576" anchor="ctr">
            <a:spAutoFit/>
          </a:bodyPr>
          <a:lstStyle/>
          <a:p>
            <a:pPr algn="l"/>
            <a:r>
              <a:rPr sz="1050" b="1" i="0">
                <a:solidFill>
                  <a:srgbClr val="1A1A1A"/>
                </a:solidFill>
                <a:latin typeface="Abadi"/>
              </a:rPr>
              <a:t>15.9%  (P = .038)</a:t>
            </a:r>
          </a:p>
        </p:txBody>
      </p:sp>
      <p:sp>
        <p:nvSpPr>
          <p:cNvPr id="18" name="TextBox 17"/>
          <p:cNvSpPr txBox="1"/>
          <p:nvPr/>
        </p:nvSpPr>
        <p:spPr>
          <a:xfrm>
            <a:off x="548640" y="2578608"/>
            <a:ext cx="2834640" cy="384048"/>
          </a:xfrm>
          <a:prstGeom prst="rect">
            <a:avLst/>
          </a:prstGeom>
          <a:noFill/>
        </p:spPr>
        <p:txBody>
          <a:bodyPr wrap="square" lIns="36576" rIns="36576" tIns="36576" bIns="36576" anchor="ctr">
            <a:spAutoFit/>
          </a:bodyPr>
          <a:lstStyle/>
          <a:p>
            <a:pPr algn="l"/>
            <a:r>
              <a:rPr sz="1050" b="0" i="0">
                <a:solidFill>
                  <a:srgbClr val="1A1A1A"/>
                </a:solidFill>
                <a:latin typeface="Abadi"/>
              </a:rPr>
              <a:t>Redo fundoplication · Nissen</a:t>
            </a:r>
          </a:p>
        </p:txBody>
      </p:sp>
      <p:sp>
        <p:nvSpPr>
          <p:cNvPr id="19" name="Rectangle 18"/>
          <p:cNvSpPr/>
          <p:nvPr/>
        </p:nvSpPr>
        <p:spPr>
          <a:xfrm>
            <a:off x="3474720" y="2606039"/>
            <a:ext cx="716280" cy="329184"/>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264152" y="2578608"/>
            <a:ext cx="1463040" cy="384048"/>
          </a:xfrm>
          <a:prstGeom prst="rect">
            <a:avLst/>
          </a:prstGeom>
          <a:noFill/>
        </p:spPr>
        <p:txBody>
          <a:bodyPr wrap="square" lIns="36576" rIns="36576" tIns="36576" bIns="36576" anchor="ctr">
            <a:spAutoFit/>
          </a:bodyPr>
          <a:lstStyle/>
          <a:p>
            <a:pPr algn="l"/>
            <a:r>
              <a:rPr sz="1050" b="1" i="0">
                <a:solidFill>
                  <a:srgbClr val="1A1A1A"/>
                </a:solidFill>
                <a:latin typeface="Abadi"/>
              </a:rPr>
              <a:t>4.7%</a:t>
            </a:r>
          </a:p>
        </p:txBody>
      </p:sp>
      <p:sp>
        <p:nvSpPr>
          <p:cNvPr id="21" name="TextBox 20"/>
          <p:cNvSpPr txBox="1"/>
          <p:nvPr/>
        </p:nvSpPr>
        <p:spPr>
          <a:xfrm>
            <a:off x="548640" y="2962656"/>
            <a:ext cx="2834640" cy="384048"/>
          </a:xfrm>
          <a:prstGeom prst="rect">
            <a:avLst/>
          </a:prstGeom>
          <a:noFill/>
        </p:spPr>
        <p:txBody>
          <a:bodyPr wrap="square" lIns="36576" rIns="36576" tIns="36576" bIns="36576" anchor="ctr">
            <a:spAutoFit/>
          </a:bodyPr>
          <a:lstStyle/>
          <a:p>
            <a:pPr algn="l"/>
            <a:r>
              <a:rPr sz="1050" b="0" i="0">
                <a:solidFill>
                  <a:srgbClr val="1A1A1A"/>
                </a:solidFill>
                <a:latin typeface="Abadi"/>
              </a:rPr>
              <a:t>Redo fundoplication · Thal</a:t>
            </a:r>
          </a:p>
        </p:txBody>
      </p:sp>
      <p:sp>
        <p:nvSpPr>
          <p:cNvPr id="22" name="Rectangle 21"/>
          <p:cNvSpPr/>
          <p:nvPr/>
        </p:nvSpPr>
        <p:spPr>
          <a:xfrm>
            <a:off x="3474720" y="2990088"/>
            <a:ext cx="2225040" cy="329184"/>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772911" y="2962656"/>
            <a:ext cx="1463040" cy="384048"/>
          </a:xfrm>
          <a:prstGeom prst="rect">
            <a:avLst/>
          </a:prstGeom>
          <a:noFill/>
        </p:spPr>
        <p:txBody>
          <a:bodyPr wrap="square" lIns="36576" rIns="36576" tIns="36576" bIns="36576" anchor="ctr">
            <a:spAutoFit/>
          </a:bodyPr>
          <a:lstStyle/>
          <a:p>
            <a:pPr algn="l"/>
            <a:r>
              <a:rPr sz="1050" b="1" i="0">
                <a:solidFill>
                  <a:srgbClr val="1A1A1A"/>
                </a:solidFill>
                <a:latin typeface="Abadi"/>
              </a:rPr>
              <a:t>14.6%</a:t>
            </a:r>
          </a:p>
        </p:txBody>
      </p:sp>
      <p:sp>
        <p:nvSpPr>
          <p:cNvPr id="24" name="TextBox 23"/>
          <p:cNvSpPr txBox="1"/>
          <p:nvPr/>
        </p:nvSpPr>
        <p:spPr>
          <a:xfrm>
            <a:off x="548640" y="3346704"/>
            <a:ext cx="2834640" cy="384048"/>
          </a:xfrm>
          <a:prstGeom prst="rect">
            <a:avLst/>
          </a:prstGeom>
          <a:noFill/>
        </p:spPr>
        <p:txBody>
          <a:bodyPr wrap="square" lIns="36576" rIns="36576" tIns="36576" bIns="36576" anchor="ctr">
            <a:spAutoFit/>
          </a:bodyPr>
          <a:lstStyle/>
          <a:p>
            <a:pPr algn="l"/>
            <a:r>
              <a:rPr sz="1050" b="0" i="0">
                <a:solidFill>
                  <a:srgbClr val="1A1A1A"/>
                </a:solidFill>
                <a:latin typeface="Abadi"/>
              </a:rPr>
              <a:t>Severe dysphagia · Nissen</a:t>
            </a:r>
          </a:p>
        </p:txBody>
      </p:sp>
      <p:sp>
        <p:nvSpPr>
          <p:cNvPr id="25" name="Rectangle 24"/>
          <p:cNvSpPr/>
          <p:nvPr/>
        </p:nvSpPr>
        <p:spPr>
          <a:xfrm>
            <a:off x="3474720" y="3374136"/>
            <a:ext cx="1798320" cy="329184"/>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346192" y="3346704"/>
            <a:ext cx="1463040" cy="384048"/>
          </a:xfrm>
          <a:prstGeom prst="rect">
            <a:avLst/>
          </a:prstGeom>
          <a:noFill/>
        </p:spPr>
        <p:txBody>
          <a:bodyPr wrap="square" lIns="36576" rIns="36576" tIns="36576" bIns="36576" anchor="ctr">
            <a:spAutoFit/>
          </a:bodyPr>
          <a:lstStyle/>
          <a:p>
            <a:pPr algn="l"/>
            <a:r>
              <a:rPr sz="1050" b="1" i="0">
                <a:solidFill>
                  <a:srgbClr val="1A1A1A"/>
                </a:solidFill>
                <a:latin typeface="Abadi"/>
              </a:rPr>
              <a:t>11.8%  (P = .02)</a:t>
            </a:r>
          </a:p>
        </p:txBody>
      </p:sp>
      <p:sp>
        <p:nvSpPr>
          <p:cNvPr id="27" name="TextBox 26"/>
          <p:cNvSpPr txBox="1"/>
          <p:nvPr/>
        </p:nvSpPr>
        <p:spPr>
          <a:xfrm>
            <a:off x="548640" y="3730752"/>
            <a:ext cx="2834640" cy="384048"/>
          </a:xfrm>
          <a:prstGeom prst="rect">
            <a:avLst/>
          </a:prstGeom>
          <a:noFill/>
        </p:spPr>
        <p:txBody>
          <a:bodyPr wrap="square" lIns="36576" rIns="36576" tIns="36576" bIns="36576" anchor="ctr">
            <a:spAutoFit/>
          </a:bodyPr>
          <a:lstStyle/>
          <a:p>
            <a:pPr algn="l"/>
            <a:r>
              <a:rPr sz="1050" b="0" i="0">
                <a:solidFill>
                  <a:srgbClr val="1A1A1A"/>
                </a:solidFill>
                <a:latin typeface="Abadi"/>
              </a:rPr>
              <a:t>Severe dysphagia · Thal</a:t>
            </a:r>
          </a:p>
        </p:txBody>
      </p:sp>
      <p:sp>
        <p:nvSpPr>
          <p:cNvPr id="28" name="Rectangle 27"/>
          <p:cNvSpPr/>
          <p:nvPr/>
        </p:nvSpPr>
        <p:spPr>
          <a:xfrm>
            <a:off x="3474720" y="3758184"/>
            <a:ext cx="365759" cy="329184"/>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913632" y="3730752"/>
            <a:ext cx="1463040" cy="384048"/>
          </a:xfrm>
          <a:prstGeom prst="rect">
            <a:avLst/>
          </a:prstGeom>
          <a:noFill/>
        </p:spPr>
        <p:txBody>
          <a:bodyPr wrap="square" lIns="36576" rIns="36576" tIns="36576" bIns="36576" anchor="ctr">
            <a:spAutoFit/>
          </a:bodyPr>
          <a:lstStyle/>
          <a:p>
            <a:pPr algn="l"/>
            <a:r>
              <a:rPr sz="1050" b="1" i="0">
                <a:solidFill>
                  <a:srgbClr val="1A1A1A"/>
                </a:solidFill>
                <a:latin typeface="Abadi"/>
              </a:rPr>
              <a:t>2.4%</a:t>
            </a:r>
          </a:p>
        </p:txBody>
      </p:sp>
      <p:sp>
        <p:nvSpPr>
          <p:cNvPr id="30" name="TextBox 29"/>
          <p:cNvSpPr txBox="1"/>
          <p:nvPr/>
        </p:nvSpPr>
        <p:spPr>
          <a:xfrm>
            <a:off x="548640" y="4114800"/>
            <a:ext cx="2834640" cy="384048"/>
          </a:xfrm>
          <a:prstGeom prst="rect">
            <a:avLst/>
          </a:prstGeom>
          <a:noFill/>
        </p:spPr>
        <p:txBody>
          <a:bodyPr wrap="square" lIns="36576" rIns="36576" tIns="36576" bIns="36576" anchor="ctr">
            <a:spAutoFit/>
          </a:bodyPr>
          <a:lstStyle/>
          <a:p>
            <a:pPr algn="l"/>
            <a:r>
              <a:rPr sz="1050" b="0" i="0">
                <a:solidFill>
                  <a:srgbClr val="1A1A1A"/>
                </a:solidFill>
                <a:latin typeface="Abadi"/>
              </a:rPr>
              <a:t>Any dysphagia · Nissen</a:t>
            </a:r>
          </a:p>
        </p:txBody>
      </p:sp>
      <p:sp>
        <p:nvSpPr>
          <p:cNvPr id="31" name="Rectangle 30"/>
          <p:cNvSpPr/>
          <p:nvPr/>
        </p:nvSpPr>
        <p:spPr>
          <a:xfrm>
            <a:off x="3474720" y="4142232"/>
            <a:ext cx="3581400" cy="329184"/>
          </a:xfrm>
          <a:prstGeom prst="rect">
            <a:avLst/>
          </a:prstGeom>
          <a:solidFill>
            <a:srgbClr val="8A93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129272" y="4114800"/>
            <a:ext cx="1463040" cy="384048"/>
          </a:xfrm>
          <a:prstGeom prst="rect">
            <a:avLst/>
          </a:prstGeom>
          <a:noFill/>
        </p:spPr>
        <p:txBody>
          <a:bodyPr wrap="square" lIns="36576" rIns="36576" tIns="36576" bIns="36576" anchor="ctr">
            <a:spAutoFit/>
          </a:bodyPr>
          <a:lstStyle/>
          <a:p>
            <a:pPr algn="l"/>
            <a:r>
              <a:rPr sz="1050" b="1" i="0">
                <a:solidFill>
                  <a:srgbClr val="1A1A1A"/>
                </a:solidFill>
                <a:latin typeface="Abadi"/>
              </a:rPr>
              <a:t>23.5%</a:t>
            </a:r>
          </a:p>
        </p:txBody>
      </p:sp>
      <p:sp>
        <p:nvSpPr>
          <p:cNvPr id="33" name="TextBox 32"/>
          <p:cNvSpPr txBox="1"/>
          <p:nvPr/>
        </p:nvSpPr>
        <p:spPr>
          <a:xfrm>
            <a:off x="548640" y="4498848"/>
            <a:ext cx="2834640" cy="384048"/>
          </a:xfrm>
          <a:prstGeom prst="rect">
            <a:avLst/>
          </a:prstGeom>
          <a:noFill/>
        </p:spPr>
        <p:txBody>
          <a:bodyPr wrap="square" lIns="36576" rIns="36576" tIns="36576" bIns="36576" anchor="ctr">
            <a:spAutoFit/>
          </a:bodyPr>
          <a:lstStyle/>
          <a:p>
            <a:pPr algn="l"/>
            <a:r>
              <a:rPr sz="1050" b="0" i="0">
                <a:solidFill>
                  <a:srgbClr val="1A1A1A"/>
                </a:solidFill>
                <a:latin typeface="Abadi"/>
              </a:rPr>
              <a:t>Any dysphagia · Thal</a:t>
            </a:r>
          </a:p>
        </p:txBody>
      </p:sp>
      <p:sp>
        <p:nvSpPr>
          <p:cNvPr id="34" name="Rectangle 33"/>
          <p:cNvSpPr/>
          <p:nvPr/>
        </p:nvSpPr>
        <p:spPr>
          <a:xfrm>
            <a:off x="3474720" y="4526280"/>
            <a:ext cx="3337560" cy="329184"/>
          </a:xfrm>
          <a:prstGeom prst="rect">
            <a:avLst/>
          </a:prstGeom>
          <a:solidFill>
            <a:srgbClr val="8A93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885431" y="4498848"/>
            <a:ext cx="1463040" cy="384048"/>
          </a:xfrm>
          <a:prstGeom prst="rect">
            <a:avLst/>
          </a:prstGeom>
          <a:noFill/>
        </p:spPr>
        <p:txBody>
          <a:bodyPr wrap="square" lIns="36576" rIns="36576" tIns="36576" bIns="36576" anchor="ctr">
            <a:spAutoFit/>
          </a:bodyPr>
          <a:lstStyle/>
          <a:p>
            <a:pPr algn="l"/>
            <a:r>
              <a:rPr sz="1050" b="1" i="0">
                <a:solidFill>
                  <a:srgbClr val="1A1A1A"/>
                </a:solidFill>
                <a:latin typeface="Abadi"/>
              </a:rPr>
              <a:t>21.9%</a:t>
            </a:r>
          </a:p>
        </p:txBody>
      </p:sp>
      <p:sp>
        <p:nvSpPr>
          <p:cNvPr id="36" name="TextBox 35"/>
          <p:cNvSpPr txBox="1"/>
          <p:nvPr/>
        </p:nvSpPr>
        <p:spPr>
          <a:xfrm>
            <a:off x="548640" y="4910328"/>
            <a:ext cx="7863840" cy="274320"/>
          </a:xfrm>
          <a:prstGeom prst="rect">
            <a:avLst/>
          </a:prstGeom>
          <a:noFill/>
        </p:spPr>
        <p:txBody>
          <a:bodyPr wrap="square" lIns="36576" rIns="36576" tIns="36576" bIns="36576" anchor="t">
            <a:spAutoFit/>
          </a:bodyPr>
          <a:lstStyle/>
          <a:p>
            <a:pPr algn="l"/>
            <a:r>
              <a:rPr sz="950" b="0" i="0">
                <a:solidFill>
                  <a:srgbClr val="8A939B"/>
                </a:solidFill>
                <a:latin typeface="Abadi"/>
              </a:rPr>
              <a:t>Absolute failure: redo fundoplication or transgastric jejunostomy. Severe dysphagia: needing endoscopy or dilatation.</a:t>
            </a:r>
          </a:p>
        </p:txBody>
      </p:sp>
      <p:sp>
        <p:nvSpPr>
          <p:cNvPr id="37" name="TextBox 36"/>
          <p:cNvSpPr txBox="1"/>
          <p:nvPr/>
        </p:nvSpPr>
        <p:spPr>
          <a:xfrm>
            <a:off x="8778240" y="1783080"/>
            <a:ext cx="2834640" cy="3931920"/>
          </a:xfrm>
          <a:prstGeom prst="rect">
            <a:avLst/>
          </a:prstGeom>
          <a:noFill/>
        </p:spPr>
        <p:txBody>
          <a:bodyPr wrap="square" lIns="36576" rIns="36576" tIns="36576" bIns="36576" anchor="t">
            <a:spAutoFit/>
          </a:bodyPr>
          <a:lstStyle/>
          <a:p>
            <a:pPr algn="l">
              <a:spcAft>
                <a:spcPts val="300"/>
              </a:spcAft>
            </a:pPr>
            <a:r>
              <a:rPr sz="1500" b="1" i="0">
                <a:solidFill>
                  <a:srgbClr val="1B355E"/>
                </a:solidFill>
                <a:latin typeface="Abadi"/>
              </a:rPr>
              <a:t>17 of 18</a:t>
            </a:r>
          </a:p>
          <a:p>
            <a:pPr algn="l">
              <a:spcAft>
                <a:spcPts val="300"/>
              </a:spcAft>
            </a:pPr>
            <a:r>
              <a:rPr sz="1050" b="0" i="0">
                <a:solidFill>
                  <a:srgbClr val="1A1A1A"/>
                </a:solidFill>
                <a:latin typeface="Abadi"/>
              </a:rPr>
              <a:t>Absolute failures occurred in neurologically impaired children.</a:t>
            </a:r>
          </a:p>
          <a:p>
            <a:pPr algn="l">
              <a:spcAft>
                <a:spcPts val="300"/>
              </a:spcAft>
            </a:pPr>
            <a:r>
              <a:rPr sz="1500" b="1" i="0">
                <a:solidFill>
                  <a:srgbClr val="1B355E"/>
                </a:solidFill>
                <a:latin typeface="Abadi"/>
              </a:rPr>
              <a:t>Normal children</a:t>
            </a:r>
          </a:p>
          <a:p>
            <a:pPr algn="l">
              <a:spcAft>
                <a:spcPts val="300"/>
              </a:spcAft>
            </a:pPr>
            <a:r>
              <a:rPr sz="1050" b="0" i="0">
                <a:solidFill>
                  <a:srgbClr val="1A1A1A"/>
                </a:solidFill>
                <a:latin typeface="Abadi"/>
              </a:rPr>
              <a:t>0 of 18 Nissen vs 1 of 22 Thal failed.</a:t>
            </a:r>
          </a:p>
          <a:p>
            <a:pPr algn="l">
              <a:spcAft>
                <a:spcPts val="300"/>
              </a:spcAft>
            </a:pPr>
            <a:r>
              <a:rPr sz="1500" b="1" i="0">
                <a:solidFill>
                  <a:srgbClr val="1B355E"/>
                </a:solidFill>
                <a:latin typeface="Abadi"/>
              </a:rPr>
              <a:t>Medication</a:t>
            </a:r>
          </a:p>
          <a:p>
            <a:pPr algn="l">
              <a:spcAft>
                <a:spcPts val="300"/>
              </a:spcAft>
            </a:pPr>
            <a:r>
              <a:rPr sz="1050" b="0" i="0">
                <a:solidFill>
                  <a:srgbClr val="1A1A1A"/>
                </a:solidFill>
                <a:latin typeface="Abadi"/>
              </a:rPr>
              <a:t>Restarted in 12.9% vs 9.8%, not different.</a:t>
            </a:r>
          </a:p>
        </p:txBody>
      </p:sp>
      <p:sp>
        <p:nvSpPr>
          <p:cNvPr id="38" name="TextBox 37"/>
          <p:cNvSpPr txBox="1"/>
          <p:nvPr/>
        </p:nvSpPr>
        <p:spPr>
          <a:xfrm>
            <a:off x="548640" y="5303520"/>
            <a:ext cx="7955279" cy="548640"/>
          </a:xfrm>
          <a:prstGeom prst="rect">
            <a:avLst/>
          </a:prstGeom>
          <a:noFill/>
        </p:spPr>
        <p:txBody>
          <a:bodyPr wrap="square" lIns="36576" rIns="36576" tIns="36576" bIns="36576" anchor="t">
            <a:spAutoFit/>
          </a:bodyPr>
          <a:lstStyle/>
          <a:p>
            <a:pPr algn="l"/>
            <a:r>
              <a:rPr sz="1250" b="1" i="0">
                <a:solidFill>
                  <a:srgbClr val="1B355E"/>
                </a:solidFill>
                <a:latin typeface="Abadi"/>
              </a:rPr>
              <a:t>Read it as.   </a:t>
            </a:r>
            <a:r>
              <a:rPr sz="1250" b="0" i="0">
                <a:solidFill>
                  <a:srgbClr val="1A1A1A"/>
                </a:solidFill>
                <a:latin typeface="Abadi"/>
              </a:rPr>
              <a:t>Nissen is more durable in impaired children, at the cost of more dilatations.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292608"/>
            <a:ext cx="630936" cy="347472"/>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630936" cy="347472"/>
          </a:xfrm>
          <a:prstGeom prst="rect">
            <a:avLst/>
          </a:prstGeom>
          <a:noFill/>
        </p:spPr>
        <p:txBody>
          <a:bodyPr wrap="square" lIns="36576" rIns="36576" tIns="36576" bIns="36576" anchor="ctr">
            <a:spAutoFit/>
          </a:bodyPr>
          <a:lstStyle/>
          <a:p>
            <a:pPr algn="ctr"/>
            <a:r>
              <a:rPr sz="1500" b="1" i="0">
                <a:solidFill>
                  <a:srgbClr val="FFFFFF"/>
                </a:solidFill>
                <a:latin typeface="Abadi"/>
              </a:rPr>
              <a:t>III</a:t>
            </a:r>
          </a:p>
        </p:txBody>
      </p:sp>
      <p:sp>
        <p:nvSpPr>
          <p:cNvPr id="4" name="TextBox 3"/>
          <p:cNvSpPr txBox="1"/>
          <p:nvPr/>
        </p:nvSpPr>
        <p:spPr>
          <a:xfrm>
            <a:off x="1380744" y="292608"/>
            <a:ext cx="10232136" cy="347472"/>
          </a:xfrm>
          <a:prstGeom prst="rect">
            <a:avLst/>
          </a:prstGeom>
          <a:noFill/>
        </p:spPr>
        <p:txBody>
          <a:bodyPr wrap="square" lIns="36576" rIns="36576" tIns="36576" bIns="36576" anchor="ctr">
            <a:spAutoFit/>
          </a:bodyPr>
          <a:lstStyle/>
          <a:p>
            <a:pPr algn="l"/>
            <a:r>
              <a:rPr sz="1200" b="1" i="0">
                <a:solidFill>
                  <a:srgbClr val="B22222"/>
                </a:solidFill>
                <a:latin typeface="Abadi"/>
              </a:rPr>
              <a:t>ADULT BENCHMARK</a:t>
            </a:r>
          </a:p>
        </p:txBody>
      </p:sp>
      <p:sp>
        <p:nvSpPr>
          <p:cNvPr id="5" name="TextBox 4"/>
          <p:cNvSpPr txBox="1"/>
          <p:nvPr/>
        </p:nvSpPr>
        <p:spPr>
          <a:xfrm>
            <a:off x="548640" y="722376"/>
            <a:ext cx="11082528" cy="548640"/>
          </a:xfrm>
          <a:prstGeom prst="rect">
            <a:avLst/>
          </a:prstGeom>
          <a:noFill/>
        </p:spPr>
        <p:txBody>
          <a:bodyPr wrap="square" lIns="36576" rIns="36576" tIns="36576" bIns="36576" anchor="ctr">
            <a:spAutoFit/>
          </a:bodyPr>
          <a:lstStyle/>
          <a:p>
            <a:pPr algn="l"/>
            <a:r>
              <a:rPr sz="3000" b="1" i="0">
                <a:solidFill>
                  <a:srgbClr val="1B355E"/>
                </a:solidFill>
                <a:latin typeface="Abadi"/>
              </a:rPr>
              <a:t>PARTIAL WRAPS SWALLOW BETTER</a:t>
            </a:r>
          </a:p>
        </p:txBody>
      </p:sp>
      <p:sp>
        <p:nvSpPr>
          <p:cNvPr id="6" name="TextBox 5"/>
          <p:cNvSpPr txBox="1"/>
          <p:nvPr/>
        </p:nvSpPr>
        <p:spPr>
          <a:xfrm>
            <a:off x="548640" y="1307592"/>
            <a:ext cx="11082528" cy="265176"/>
          </a:xfrm>
          <a:prstGeom prst="rect">
            <a:avLst/>
          </a:prstGeom>
          <a:noFill/>
        </p:spPr>
        <p:txBody>
          <a:bodyPr wrap="square" lIns="36576" rIns="36576" tIns="36576" bIns="36576" anchor="t">
            <a:spAutoFit/>
          </a:bodyPr>
          <a:lstStyle/>
          <a:p>
            <a:pPr algn="l"/>
            <a:r>
              <a:rPr sz="1300" b="0" i="0">
                <a:solidFill>
                  <a:srgbClr val="555555"/>
                </a:solidFill>
                <a:latin typeface="Abadi"/>
              </a:rPr>
              <a:t>Meta-analysis of 7 adult RCTs, Nissen (n = 404) versus Toupet (n = 388): risk ratio, Nissen relative to Toupet</a:t>
            </a:r>
          </a:p>
        </p:txBody>
      </p:sp>
      <p:sp>
        <p:nvSpPr>
          <p:cNvPr id="7" name="Rectangle 6"/>
          <p:cNvSpPr/>
          <p:nvPr/>
        </p:nvSpPr>
        <p:spPr>
          <a:xfrm>
            <a:off x="548640" y="1600200"/>
            <a:ext cx="11082528" cy="27432"/>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55064"/>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5888736"/>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36224" y="5971032"/>
            <a:ext cx="694944" cy="292608"/>
          </a:xfrm>
          <a:prstGeom prst="rect">
            <a:avLst/>
          </a:prstGeom>
          <a:noFill/>
        </p:spPr>
        <p:txBody>
          <a:bodyPr wrap="square" lIns="36576" rIns="36576" tIns="36576" bIns="36576" anchor="t">
            <a:spAutoFit/>
          </a:bodyPr>
          <a:lstStyle/>
          <a:p>
            <a:pPr algn="r"/>
            <a:r>
              <a:rPr sz="1200" b="0" i="0">
                <a:solidFill>
                  <a:srgbClr val="555555"/>
                </a:solidFill>
                <a:latin typeface="Abadi"/>
              </a:rPr>
              <a:t>8</a:t>
            </a:r>
          </a:p>
        </p:txBody>
      </p:sp>
      <p:sp>
        <p:nvSpPr>
          <p:cNvPr id="11" name="TextBox 10"/>
          <p:cNvSpPr txBox="1"/>
          <p:nvPr/>
        </p:nvSpPr>
        <p:spPr>
          <a:xfrm>
            <a:off x="548640" y="5971032"/>
            <a:ext cx="10287000" cy="457200"/>
          </a:xfrm>
          <a:prstGeom prst="rect">
            <a:avLst/>
          </a:prstGeom>
          <a:noFill/>
        </p:spPr>
        <p:txBody>
          <a:bodyPr wrap="square" lIns="36576" rIns="36576" tIns="36576" bIns="36576" anchor="t">
            <a:spAutoFit/>
          </a:bodyPr>
          <a:lstStyle/>
          <a:p>
            <a:pPr algn="l"/>
            <a:r>
              <a:rPr sz="1000" b="0" i="0">
                <a:solidFill>
                  <a:srgbClr val="8A939B"/>
                </a:solidFill>
                <a:latin typeface="Abadi"/>
              </a:rPr>
              <a:t>Broeders JA, et al. Br J Surg 2010;97:1318–30 · Glen P, et al. PLoS One 2014;9:e112417 · Mauritz 2011 · Slater 2023 (SAGES)</a:t>
            </a:r>
          </a:p>
        </p:txBody>
      </p:sp>
      <p:sp>
        <p:nvSpPr>
          <p:cNvPr id="12" name="TextBox 11"/>
          <p:cNvSpPr txBox="1"/>
          <p:nvPr/>
        </p:nvSpPr>
        <p:spPr>
          <a:xfrm>
            <a:off x="548640" y="1828800"/>
            <a:ext cx="2743200" cy="429768"/>
          </a:xfrm>
          <a:prstGeom prst="rect">
            <a:avLst/>
          </a:prstGeom>
          <a:noFill/>
        </p:spPr>
        <p:txBody>
          <a:bodyPr wrap="square" lIns="36576" rIns="36576" tIns="36576" bIns="36576" anchor="ctr">
            <a:spAutoFit/>
          </a:bodyPr>
          <a:lstStyle/>
          <a:p>
            <a:pPr algn="l"/>
            <a:r>
              <a:rPr sz="1050" b="0" i="0">
                <a:solidFill>
                  <a:srgbClr val="1A1A1A"/>
                </a:solidFill>
                <a:latin typeface="Abadi"/>
              </a:rPr>
              <a:t>Dilatation</a:t>
            </a:r>
          </a:p>
        </p:txBody>
      </p:sp>
      <p:sp>
        <p:nvSpPr>
          <p:cNvPr id="13" name="Rectangle 12"/>
          <p:cNvSpPr/>
          <p:nvPr/>
        </p:nvSpPr>
        <p:spPr>
          <a:xfrm>
            <a:off x="3474720" y="1856231"/>
            <a:ext cx="3446584" cy="374904"/>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994456" y="1828800"/>
            <a:ext cx="1463040" cy="429768"/>
          </a:xfrm>
          <a:prstGeom prst="rect">
            <a:avLst/>
          </a:prstGeom>
          <a:noFill/>
        </p:spPr>
        <p:txBody>
          <a:bodyPr wrap="square" lIns="36576" rIns="36576" tIns="36576" bIns="36576" anchor="ctr">
            <a:spAutoFit/>
          </a:bodyPr>
          <a:lstStyle/>
          <a:p>
            <a:pPr algn="l"/>
            <a:r>
              <a:rPr sz="1050" b="1" i="0">
                <a:solidFill>
                  <a:srgbClr val="1A1A1A"/>
                </a:solidFill>
                <a:latin typeface="Abadi"/>
              </a:rPr>
              <a:t>RR 2.45 (1.06–5.68)</a:t>
            </a:r>
          </a:p>
        </p:txBody>
      </p:sp>
      <p:sp>
        <p:nvSpPr>
          <p:cNvPr id="15" name="TextBox 14"/>
          <p:cNvSpPr txBox="1"/>
          <p:nvPr/>
        </p:nvSpPr>
        <p:spPr>
          <a:xfrm>
            <a:off x="548640" y="2258568"/>
            <a:ext cx="2743200" cy="429768"/>
          </a:xfrm>
          <a:prstGeom prst="rect">
            <a:avLst/>
          </a:prstGeom>
          <a:noFill/>
        </p:spPr>
        <p:txBody>
          <a:bodyPr wrap="square" lIns="36576" rIns="36576" tIns="36576" bIns="36576" anchor="ctr">
            <a:spAutoFit/>
          </a:bodyPr>
          <a:lstStyle/>
          <a:p>
            <a:pPr algn="l"/>
            <a:r>
              <a:rPr sz="1050" b="0" i="0">
                <a:solidFill>
                  <a:srgbClr val="1A1A1A"/>
                </a:solidFill>
                <a:latin typeface="Abadi"/>
              </a:rPr>
              <a:t>Reoperation</a:t>
            </a:r>
          </a:p>
        </p:txBody>
      </p:sp>
      <p:sp>
        <p:nvSpPr>
          <p:cNvPr id="16" name="Rectangle 15"/>
          <p:cNvSpPr/>
          <p:nvPr/>
        </p:nvSpPr>
        <p:spPr>
          <a:xfrm>
            <a:off x="3474720" y="2285999"/>
            <a:ext cx="3080824" cy="374904"/>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628696" y="2258568"/>
            <a:ext cx="1463040" cy="429768"/>
          </a:xfrm>
          <a:prstGeom prst="rect">
            <a:avLst/>
          </a:prstGeom>
          <a:noFill/>
        </p:spPr>
        <p:txBody>
          <a:bodyPr wrap="square" lIns="36576" rIns="36576" tIns="36576" bIns="36576" anchor="ctr">
            <a:spAutoFit/>
          </a:bodyPr>
          <a:lstStyle/>
          <a:p>
            <a:pPr algn="l"/>
            <a:r>
              <a:rPr sz="1050" b="1" i="0">
                <a:solidFill>
                  <a:srgbClr val="1A1A1A"/>
                </a:solidFill>
                <a:latin typeface="Abadi"/>
              </a:rPr>
              <a:t>RR 2.19 (1.09–4.40)</a:t>
            </a:r>
          </a:p>
        </p:txBody>
      </p:sp>
      <p:sp>
        <p:nvSpPr>
          <p:cNvPr id="18" name="TextBox 17"/>
          <p:cNvSpPr txBox="1"/>
          <p:nvPr/>
        </p:nvSpPr>
        <p:spPr>
          <a:xfrm>
            <a:off x="548640" y="2688336"/>
            <a:ext cx="2743200" cy="429768"/>
          </a:xfrm>
          <a:prstGeom prst="rect">
            <a:avLst/>
          </a:prstGeom>
          <a:noFill/>
        </p:spPr>
        <p:txBody>
          <a:bodyPr wrap="square" lIns="36576" rIns="36576" tIns="36576" bIns="36576" anchor="ctr">
            <a:spAutoFit/>
          </a:bodyPr>
          <a:lstStyle/>
          <a:p>
            <a:pPr algn="l"/>
            <a:r>
              <a:rPr sz="1050" b="0" i="0">
                <a:solidFill>
                  <a:srgbClr val="1A1A1A"/>
                </a:solidFill>
                <a:latin typeface="Abadi"/>
              </a:rPr>
              <a:t>Inability to belch</a:t>
            </a:r>
          </a:p>
        </p:txBody>
      </p:sp>
      <p:sp>
        <p:nvSpPr>
          <p:cNvPr id="19" name="Rectangle 18"/>
          <p:cNvSpPr/>
          <p:nvPr/>
        </p:nvSpPr>
        <p:spPr>
          <a:xfrm>
            <a:off x="3474720" y="2715768"/>
            <a:ext cx="2869809" cy="374904"/>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17681" y="2688336"/>
            <a:ext cx="1463040" cy="429768"/>
          </a:xfrm>
          <a:prstGeom prst="rect">
            <a:avLst/>
          </a:prstGeom>
          <a:noFill/>
        </p:spPr>
        <p:txBody>
          <a:bodyPr wrap="square" lIns="36576" rIns="36576" tIns="36576" bIns="36576" anchor="ctr">
            <a:spAutoFit/>
          </a:bodyPr>
          <a:lstStyle/>
          <a:p>
            <a:pPr algn="l"/>
            <a:r>
              <a:rPr sz="1050" b="1" i="0">
                <a:solidFill>
                  <a:srgbClr val="1A1A1A"/>
                </a:solidFill>
                <a:latin typeface="Abadi"/>
              </a:rPr>
              <a:t>RR 2.04 (1.19–3.49)</a:t>
            </a:r>
          </a:p>
        </p:txBody>
      </p:sp>
      <p:sp>
        <p:nvSpPr>
          <p:cNvPr id="21" name="TextBox 20"/>
          <p:cNvSpPr txBox="1"/>
          <p:nvPr/>
        </p:nvSpPr>
        <p:spPr>
          <a:xfrm>
            <a:off x="548640" y="3118104"/>
            <a:ext cx="2743200" cy="429768"/>
          </a:xfrm>
          <a:prstGeom prst="rect">
            <a:avLst/>
          </a:prstGeom>
          <a:noFill/>
        </p:spPr>
        <p:txBody>
          <a:bodyPr wrap="square" lIns="36576" rIns="36576" tIns="36576" bIns="36576" anchor="ctr">
            <a:spAutoFit/>
          </a:bodyPr>
          <a:lstStyle/>
          <a:p>
            <a:pPr algn="l"/>
            <a:r>
              <a:rPr sz="1050" b="0" i="0">
                <a:solidFill>
                  <a:srgbClr val="1A1A1A"/>
                </a:solidFill>
                <a:latin typeface="Abadi"/>
              </a:rPr>
              <a:t>Dysphagia</a:t>
            </a:r>
          </a:p>
        </p:txBody>
      </p:sp>
      <p:sp>
        <p:nvSpPr>
          <p:cNvPr id="22" name="Rectangle 21"/>
          <p:cNvSpPr/>
          <p:nvPr/>
        </p:nvSpPr>
        <p:spPr>
          <a:xfrm>
            <a:off x="3474720" y="3145536"/>
            <a:ext cx="2264898" cy="374904"/>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812770" y="3118104"/>
            <a:ext cx="1463040" cy="429768"/>
          </a:xfrm>
          <a:prstGeom prst="rect">
            <a:avLst/>
          </a:prstGeom>
          <a:noFill/>
        </p:spPr>
        <p:txBody>
          <a:bodyPr wrap="square" lIns="36576" rIns="36576" tIns="36576" bIns="36576" anchor="ctr">
            <a:spAutoFit/>
          </a:bodyPr>
          <a:lstStyle/>
          <a:p>
            <a:pPr algn="l"/>
            <a:r>
              <a:rPr sz="1050" b="1" i="0">
                <a:solidFill>
                  <a:srgbClr val="1A1A1A"/>
                </a:solidFill>
                <a:latin typeface="Abadi"/>
              </a:rPr>
              <a:t>RR 1.61 (1.06–2.44)</a:t>
            </a:r>
          </a:p>
        </p:txBody>
      </p:sp>
      <p:sp>
        <p:nvSpPr>
          <p:cNvPr id="24" name="TextBox 23"/>
          <p:cNvSpPr txBox="1"/>
          <p:nvPr/>
        </p:nvSpPr>
        <p:spPr>
          <a:xfrm>
            <a:off x="548640" y="3547872"/>
            <a:ext cx="2743200" cy="429768"/>
          </a:xfrm>
          <a:prstGeom prst="rect">
            <a:avLst/>
          </a:prstGeom>
          <a:noFill/>
        </p:spPr>
        <p:txBody>
          <a:bodyPr wrap="square" lIns="36576" rIns="36576" tIns="36576" bIns="36576" anchor="ctr">
            <a:spAutoFit/>
          </a:bodyPr>
          <a:lstStyle/>
          <a:p>
            <a:pPr algn="l"/>
            <a:r>
              <a:rPr sz="1050" b="0" i="0">
                <a:solidFill>
                  <a:srgbClr val="1A1A1A"/>
                </a:solidFill>
                <a:latin typeface="Abadi"/>
              </a:rPr>
              <a:t>Gas bloat</a:t>
            </a:r>
          </a:p>
        </p:txBody>
      </p:sp>
      <p:sp>
        <p:nvSpPr>
          <p:cNvPr id="25" name="Rectangle 24"/>
          <p:cNvSpPr/>
          <p:nvPr/>
        </p:nvSpPr>
        <p:spPr>
          <a:xfrm>
            <a:off x="3474720" y="3575303"/>
            <a:ext cx="2222695" cy="374904"/>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770567" y="3547872"/>
            <a:ext cx="1463040" cy="429768"/>
          </a:xfrm>
          <a:prstGeom prst="rect">
            <a:avLst/>
          </a:prstGeom>
          <a:noFill/>
        </p:spPr>
        <p:txBody>
          <a:bodyPr wrap="square" lIns="36576" rIns="36576" tIns="36576" bIns="36576" anchor="ctr">
            <a:spAutoFit/>
          </a:bodyPr>
          <a:lstStyle/>
          <a:p>
            <a:pPr algn="l"/>
            <a:r>
              <a:rPr sz="1050" b="1" i="0">
                <a:solidFill>
                  <a:srgbClr val="1A1A1A"/>
                </a:solidFill>
                <a:latin typeface="Abadi"/>
              </a:rPr>
              <a:t>RR 1.58 (1.21–2.05)</a:t>
            </a:r>
          </a:p>
        </p:txBody>
      </p:sp>
      <p:sp>
        <p:nvSpPr>
          <p:cNvPr id="27" name="TextBox 26"/>
          <p:cNvSpPr txBox="1"/>
          <p:nvPr/>
        </p:nvSpPr>
        <p:spPr>
          <a:xfrm>
            <a:off x="548640" y="3977639"/>
            <a:ext cx="2743200" cy="429768"/>
          </a:xfrm>
          <a:prstGeom prst="rect">
            <a:avLst/>
          </a:prstGeom>
          <a:noFill/>
        </p:spPr>
        <p:txBody>
          <a:bodyPr wrap="square" lIns="36576" rIns="36576" tIns="36576" bIns="36576" anchor="ctr">
            <a:spAutoFit/>
          </a:bodyPr>
          <a:lstStyle/>
          <a:p>
            <a:pPr algn="l"/>
            <a:r>
              <a:rPr sz="1050" b="0" i="0">
                <a:solidFill>
                  <a:srgbClr val="1A1A1A"/>
                </a:solidFill>
                <a:latin typeface="Abadi"/>
              </a:rPr>
              <a:t>Recurrent reflux</a:t>
            </a:r>
          </a:p>
        </p:txBody>
      </p:sp>
      <p:sp>
        <p:nvSpPr>
          <p:cNvPr id="28" name="Rectangle 27"/>
          <p:cNvSpPr/>
          <p:nvPr/>
        </p:nvSpPr>
        <p:spPr>
          <a:xfrm>
            <a:off x="3474720" y="4005072"/>
            <a:ext cx="1772529" cy="374904"/>
          </a:xfrm>
          <a:prstGeom prst="rect">
            <a:avLst/>
          </a:prstGeom>
          <a:solidFill>
            <a:srgbClr val="8A93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320401" y="3977639"/>
            <a:ext cx="1463040" cy="429768"/>
          </a:xfrm>
          <a:prstGeom prst="rect">
            <a:avLst/>
          </a:prstGeom>
          <a:noFill/>
        </p:spPr>
        <p:txBody>
          <a:bodyPr wrap="square" lIns="36576" rIns="36576" tIns="36576" bIns="36576" anchor="ctr">
            <a:spAutoFit/>
          </a:bodyPr>
          <a:lstStyle/>
          <a:p>
            <a:pPr algn="l"/>
            <a:r>
              <a:rPr sz="1050" b="1" i="0">
                <a:solidFill>
                  <a:srgbClr val="1A1A1A"/>
                </a:solidFill>
                <a:latin typeface="Abadi"/>
              </a:rPr>
              <a:t>RR 1.26 (0.82–1.95)</a:t>
            </a:r>
          </a:p>
        </p:txBody>
      </p:sp>
      <p:sp>
        <p:nvSpPr>
          <p:cNvPr id="30" name="TextBox 29"/>
          <p:cNvSpPr txBox="1"/>
          <p:nvPr/>
        </p:nvSpPr>
        <p:spPr>
          <a:xfrm>
            <a:off x="548640" y="4434840"/>
            <a:ext cx="7863840" cy="274320"/>
          </a:xfrm>
          <a:prstGeom prst="rect">
            <a:avLst/>
          </a:prstGeom>
          <a:noFill/>
        </p:spPr>
        <p:txBody>
          <a:bodyPr wrap="square" lIns="36576" rIns="36576" tIns="36576" bIns="36576" anchor="t">
            <a:spAutoFit/>
          </a:bodyPr>
          <a:lstStyle/>
          <a:p>
            <a:pPr algn="l"/>
            <a:r>
              <a:rPr sz="950" b="0" i="0">
                <a:solidFill>
                  <a:srgbClr val="8A939B"/>
                </a:solidFill>
                <a:latin typeface="Abadi"/>
              </a:rPr>
              <a:t>Grey: not significant. A risk ratio above 1 means more events after Nissen.</a:t>
            </a:r>
          </a:p>
        </p:txBody>
      </p:sp>
      <p:sp>
        <p:nvSpPr>
          <p:cNvPr id="31" name="TextBox 30"/>
          <p:cNvSpPr txBox="1"/>
          <p:nvPr/>
        </p:nvSpPr>
        <p:spPr>
          <a:xfrm>
            <a:off x="8778240" y="1783080"/>
            <a:ext cx="2834640" cy="3931920"/>
          </a:xfrm>
          <a:prstGeom prst="rect">
            <a:avLst/>
          </a:prstGeom>
          <a:noFill/>
        </p:spPr>
        <p:txBody>
          <a:bodyPr wrap="square" lIns="36576" rIns="36576" tIns="36576" bIns="36576" anchor="t">
            <a:spAutoFit/>
          </a:bodyPr>
          <a:lstStyle/>
          <a:p>
            <a:pPr algn="l">
              <a:spcAft>
                <a:spcPts val="300"/>
              </a:spcAft>
            </a:pPr>
            <a:r>
              <a:rPr sz="1500" b="1" i="0">
                <a:solidFill>
                  <a:srgbClr val="1B355E"/>
                </a:solidFill>
                <a:latin typeface="Abadi"/>
              </a:rPr>
              <a:t>Children</a:t>
            </a:r>
          </a:p>
          <a:p>
            <a:pPr algn="l">
              <a:spcAft>
                <a:spcPts val="300"/>
              </a:spcAft>
            </a:pPr>
            <a:r>
              <a:rPr sz="1050" b="0" i="0">
                <a:solidFill>
                  <a:srgbClr val="1A1A1A"/>
                </a:solidFill>
                <a:latin typeface="Abadi"/>
              </a:rPr>
              <a:t>Meta-analysis of 2 paediatric RCTs: success OR 1.33 (0.67–2.66), no difference; NI subgroup OR 1.68 (0.41–6.81).</a:t>
            </a:r>
          </a:p>
          <a:p>
            <a:pPr algn="l">
              <a:spcAft>
                <a:spcPts val="300"/>
              </a:spcAft>
            </a:pPr>
            <a:r>
              <a:rPr sz="1500" b="1" i="0">
                <a:solidFill>
                  <a:srgbClr val="1B355E"/>
                </a:solidFill>
                <a:latin typeface="Abadi"/>
              </a:rPr>
              <a:t>Prospective series</a:t>
            </a:r>
          </a:p>
          <a:p>
            <a:pPr algn="l">
              <a:spcAft>
                <a:spcPts val="300"/>
              </a:spcAft>
            </a:pPr>
            <a:r>
              <a:rPr sz="1050" b="0" i="0">
                <a:solidFill>
                  <a:srgbClr val="1A1A1A"/>
                </a:solidFill>
                <a:latin typeface="Abadi"/>
              </a:rPr>
              <a:t>Median success 86% (57–100%); less dysphagia after partial wraps.</a:t>
            </a:r>
          </a:p>
          <a:p>
            <a:pPr algn="l">
              <a:spcAft>
                <a:spcPts val="300"/>
              </a:spcAft>
            </a:pPr>
            <a:r>
              <a:rPr sz="1500" b="1" i="0">
                <a:solidFill>
                  <a:srgbClr val="1B355E"/>
                </a:solidFill>
                <a:latin typeface="Abadi"/>
              </a:rPr>
              <a:t>SAGES 2023</a:t>
            </a:r>
          </a:p>
          <a:p>
            <a:pPr algn="l">
              <a:spcAft>
                <a:spcPts val="300"/>
              </a:spcAft>
            </a:pPr>
            <a:r>
              <a:rPr sz="1050" b="0" i="0">
                <a:solidFill>
                  <a:srgbClr val="1A1A1A"/>
                </a:solidFill>
                <a:latin typeface="Abadi"/>
              </a:rPr>
              <a:t>Partial preferred over complete fundoplication in adults (conditional).</a:t>
            </a:r>
          </a:p>
        </p:txBody>
      </p:sp>
      <p:sp>
        <p:nvSpPr>
          <p:cNvPr id="32" name="TextBox 31"/>
          <p:cNvSpPr txBox="1"/>
          <p:nvPr/>
        </p:nvSpPr>
        <p:spPr>
          <a:xfrm>
            <a:off x="548640" y="5074920"/>
            <a:ext cx="7955279" cy="640080"/>
          </a:xfrm>
          <a:prstGeom prst="rect">
            <a:avLst/>
          </a:prstGeom>
          <a:noFill/>
        </p:spPr>
        <p:txBody>
          <a:bodyPr wrap="square" lIns="36576" rIns="36576" tIns="36576" bIns="36576" anchor="t">
            <a:spAutoFit/>
          </a:bodyPr>
          <a:lstStyle/>
          <a:p>
            <a:pPr algn="l"/>
            <a:r>
              <a:rPr sz="1250" b="1" i="0">
                <a:solidFill>
                  <a:srgbClr val="1B355E"/>
                </a:solidFill>
                <a:latin typeface="Abadi"/>
              </a:rPr>
              <a:t>Read it as.   </a:t>
            </a:r>
            <a:r>
              <a:rPr sz="1250" b="0" i="0">
                <a:solidFill>
                  <a:srgbClr val="1A1A1A"/>
                </a:solidFill>
                <a:latin typeface="Abadi"/>
              </a:rPr>
              <a:t>In adults, Toupet controls reflux as well with fewer side effects; in children the evidence is too thin to settle the choice.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292608"/>
            <a:ext cx="630936" cy="347472"/>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630936" cy="347472"/>
          </a:xfrm>
          <a:prstGeom prst="rect">
            <a:avLst/>
          </a:prstGeom>
          <a:noFill/>
        </p:spPr>
        <p:txBody>
          <a:bodyPr wrap="square" lIns="36576" rIns="36576" tIns="36576" bIns="36576" anchor="ctr">
            <a:spAutoFit/>
          </a:bodyPr>
          <a:lstStyle/>
          <a:p>
            <a:pPr algn="ctr"/>
            <a:r>
              <a:rPr sz="1500" b="1" i="0">
                <a:solidFill>
                  <a:srgbClr val="FFFFFF"/>
                </a:solidFill>
                <a:latin typeface="Abadi"/>
              </a:rPr>
              <a:t>IV</a:t>
            </a:r>
          </a:p>
        </p:txBody>
      </p:sp>
      <p:sp>
        <p:nvSpPr>
          <p:cNvPr id="4" name="TextBox 3"/>
          <p:cNvSpPr txBox="1"/>
          <p:nvPr/>
        </p:nvSpPr>
        <p:spPr>
          <a:xfrm>
            <a:off x="1380744" y="292608"/>
            <a:ext cx="10232136" cy="347472"/>
          </a:xfrm>
          <a:prstGeom prst="rect">
            <a:avLst/>
          </a:prstGeom>
          <a:noFill/>
        </p:spPr>
        <p:txBody>
          <a:bodyPr wrap="square" lIns="36576" rIns="36576" tIns="36576" bIns="36576" anchor="ctr">
            <a:spAutoFit/>
          </a:bodyPr>
          <a:lstStyle/>
          <a:p>
            <a:pPr algn="l"/>
            <a:r>
              <a:rPr sz="1200" b="1" i="0">
                <a:solidFill>
                  <a:srgbClr val="B22222"/>
                </a:solidFill>
                <a:latin typeface="Abadi"/>
              </a:rPr>
              <a:t>APPROACH</a:t>
            </a:r>
          </a:p>
        </p:txBody>
      </p:sp>
      <p:sp>
        <p:nvSpPr>
          <p:cNvPr id="5" name="TextBox 4"/>
          <p:cNvSpPr txBox="1"/>
          <p:nvPr/>
        </p:nvSpPr>
        <p:spPr>
          <a:xfrm>
            <a:off x="548640" y="722376"/>
            <a:ext cx="11082528" cy="548640"/>
          </a:xfrm>
          <a:prstGeom prst="rect">
            <a:avLst/>
          </a:prstGeom>
          <a:noFill/>
        </p:spPr>
        <p:txBody>
          <a:bodyPr wrap="square" lIns="36576" rIns="36576" tIns="36576" bIns="36576" anchor="ctr">
            <a:spAutoFit/>
          </a:bodyPr>
          <a:lstStyle/>
          <a:p>
            <a:pPr algn="l"/>
            <a:r>
              <a:rPr sz="3000" b="1" i="0">
                <a:solidFill>
                  <a:srgbClr val="1B355E"/>
                </a:solidFill>
                <a:latin typeface="Abadi"/>
              </a:rPr>
              <a:t>LAPAROSCOPIC WRAPS RECUR MORE</a:t>
            </a:r>
          </a:p>
        </p:txBody>
      </p:sp>
      <p:sp>
        <p:nvSpPr>
          <p:cNvPr id="6" name="TextBox 5"/>
          <p:cNvSpPr txBox="1"/>
          <p:nvPr/>
        </p:nvSpPr>
        <p:spPr>
          <a:xfrm>
            <a:off x="548640" y="1307592"/>
            <a:ext cx="11082528" cy="265176"/>
          </a:xfrm>
          <a:prstGeom prst="rect">
            <a:avLst/>
          </a:prstGeom>
          <a:noFill/>
        </p:spPr>
        <p:txBody>
          <a:bodyPr wrap="square" lIns="36576" rIns="36576" tIns="36576" bIns="36576" anchor="t">
            <a:spAutoFit/>
          </a:bodyPr>
          <a:lstStyle/>
          <a:p>
            <a:pPr algn="l"/>
            <a:r>
              <a:rPr sz="1300" b="0" i="0">
                <a:solidFill>
                  <a:srgbClr val="555555"/>
                </a:solidFill>
                <a:latin typeface="Abadi"/>
              </a:rPr>
              <a:t>Randomised trials of laparoscopic versus open fundoplication in children, %</a:t>
            </a:r>
          </a:p>
        </p:txBody>
      </p:sp>
      <p:sp>
        <p:nvSpPr>
          <p:cNvPr id="7" name="Rectangle 6"/>
          <p:cNvSpPr/>
          <p:nvPr/>
        </p:nvSpPr>
        <p:spPr>
          <a:xfrm>
            <a:off x="548640" y="1600200"/>
            <a:ext cx="11082528" cy="27432"/>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55064"/>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5888736"/>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36224" y="5971032"/>
            <a:ext cx="694944" cy="292608"/>
          </a:xfrm>
          <a:prstGeom prst="rect">
            <a:avLst/>
          </a:prstGeom>
          <a:noFill/>
        </p:spPr>
        <p:txBody>
          <a:bodyPr wrap="square" lIns="36576" rIns="36576" tIns="36576" bIns="36576" anchor="t">
            <a:spAutoFit/>
          </a:bodyPr>
          <a:lstStyle/>
          <a:p>
            <a:pPr algn="r"/>
            <a:r>
              <a:rPr sz="1200" b="0" i="0">
                <a:solidFill>
                  <a:srgbClr val="555555"/>
                </a:solidFill>
                <a:latin typeface="Abadi"/>
              </a:rPr>
              <a:t>9</a:t>
            </a:r>
          </a:p>
        </p:txBody>
      </p:sp>
      <p:sp>
        <p:nvSpPr>
          <p:cNvPr id="11" name="TextBox 10"/>
          <p:cNvSpPr txBox="1"/>
          <p:nvPr/>
        </p:nvSpPr>
        <p:spPr>
          <a:xfrm>
            <a:off x="548640" y="5971032"/>
            <a:ext cx="10287000" cy="457200"/>
          </a:xfrm>
          <a:prstGeom prst="rect">
            <a:avLst/>
          </a:prstGeom>
          <a:noFill/>
        </p:spPr>
        <p:txBody>
          <a:bodyPr wrap="square" lIns="36576" rIns="36576" tIns="36576" bIns="36576" anchor="t">
            <a:spAutoFit/>
          </a:bodyPr>
          <a:lstStyle/>
          <a:p>
            <a:pPr algn="l"/>
            <a:r>
              <a:rPr sz="1000" b="0" i="0">
                <a:solidFill>
                  <a:srgbClr val="8A939B"/>
                </a:solidFill>
                <a:latin typeface="Abadi"/>
              </a:rPr>
              <a:t>Fyhn TJ, et al. Ann Surg 2015;261:1061–7 · Fyhn TJ, et al. Surg Endosc 2023;37:189–99 · Pacilli M, et al. Arch Dis Child 2014;99:516</a:t>
            </a:r>
          </a:p>
        </p:txBody>
      </p:sp>
      <p:sp>
        <p:nvSpPr>
          <p:cNvPr id="12" name="TextBox 11"/>
          <p:cNvSpPr txBox="1"/>
          <p:nvPr/>
        </p:nvSpPr>
        <p:spPr>
          <a:xfrm>
            <a:off x="548640" y="1810512"/>
            <a:ext cx="3200400" cy="384048"/>
          </a:xfrm>
          <a:prstGeom prst="rect">
            <a:avLst/>
          </a:prstGeom>
          <a:noFill/>
        </p:spPr>
        <p:txBody>
          <a:bodyPr wrap="square" lIns="36576" rIns="36576" tIns="36576" bIns="36576" anchor="ctr">
            <a:spAutoFit/>
          </a:bodyPr>
          <a:lstStyle/>
          <a:p>
            <a:pPr algn="l"/>
            <a:r>
              <a:rPr sz="1000" b="0" i="0">
                <a:solidFill>
                  <a:srgbClr val="1A1A1A"/>
                </a:solidFill>
                <a:latin typeface="Abadi"/>
              </a:rPr>
              <a:t>Oslo · recurrence at 4 y · laparoscopic</a:t>
            </a:r>
          </a:p>
        </p:txBody>
      </p:sp>
      <p:sp>
        <p:nvSpPr>
          <p:cNvPr id="13" name="Rectangle 12"/>
          <p:cNvSpPr/>
          <p:nvPr/>
        </p:nvSpPr>
        <p:spPr>
          <a:xfrm>
            <a:off x="3840480" y="1837943"/>
            <a:ext cx="2416628" cy="329184"/>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30260" y="1810512"/>
            <a:ext cx="1463040" cy="384048"/>
          </a:xfrm>
          <a:prstGeom prst="rect">
            <a:avLst/>
          </a:prstGeom>
          <a:noFill/>
        </p:spPr>
        <p:txBody>
          <a:bodyPr wrap="square" lIns="36576" rIns="36576" tIns="36576" bIns="36576" anchor="ctr">
            <a:spAutoFit/>
          </a:bodyPr>
          <a:lstStyle/>
          <a:p>
            <a:pPr algn="l"/>
            <a:r>
              <a:rPr sz="1000" b="1" i="0">
                <a:solidFill>
                  <a:srgbClr val="1A1A1A"/>
                </a:solidFill>
                <a:latin typeface="Abadi"/>
              </a:rPr>
              <a:t>37%</a:t>
            </a:r>
          </a:p>
        </p:txBody>
      </p:sp>
      <p:sp>
        <p:nvSpPr>
          <p:cNvPr id="15" name="TextBox 14"/>
          <p:cNvSpPr txBox="1"/>
          <p:nvPr/>
        </p:nvSpPr>
        <p:spPr>
          <a:xfrm>
            <a:off x="548640" y="2194560"/>
            <a:ext cx="3200400" cy="384048"/>
          </a:xfrm>
          <a:prstGeom prst="rect">
            <a:avLst/>
          </a:prstGeom>
          <a:noFill/>
        </p:spPr>
        <p:txBody>
          <a:bodyPr wrap="square" lIns="36576" rIns="36576" tIns="36576" bIns="36576" anchor="ctr">
            <a:spAutoFit/>
          </a:bodyPr>
          <a:lstStyle/>
          <a:p>
            <a:pPr algn="l"/>
            <a:r>
              <a:rPr sz="1000" b="0" i="0">
                <a:solidFill>
                  <a:srgbClr val="1A1A1A"/>
                </a:solidFill>
                <a:latin typeface="Abadi"/>
              </a:rPr>
              <a:t>Oslo · recurrence at 4 y · open</a:t>
            </a:r>
          </a:p>
        </p:txBody>
      </p:sp>
      <p:sp>
        <p:nvSpPr>
          <p:cNvPr id="16" name="Rectangle 15"/>
          <p:cNvSpPr/>
          <p:nvPr/>
        </p:nvSpPr>
        <p:spPr>
          <a:xfrm>
            <a:off x="3840480" y="2221991"/>
            <a:ext cx="457200" cy="329184"/>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370832" y="2194560"/>
            <a:ext cx="1463040" cy="384048"/>
          </a:xfrm>
          <a:prstGeom prst="rect">
            <a:avLst/>
          </a:prstGeom>
          <a:noFill/>
        </p:spPr>
        <p:txBody>
          <a:bodyPr wrap="square" lIns="36576" rIns="36576" tIns="36576" bIns="36576" anchor="ctr">
            <a:spAutoFit/>
          </a:bodyPr>
          <a:lstStyle/>
          <a:p>
            <a:pPr algn="l"/>
            <a:r>
              <a:rPr sz="1000" b="1" i="0">
                <a:solidFill>
                  <a:srgbClr val="1A1A1A"/>
                </a:solidFill>
                <a:latin typeface="Abadi"/>
              </a:rPr>
              <a:t>7%  (RR 5.2)</a:t>
            </a:r>
          </a:p>
        </p:txBody>
      </p:sp>
      <p:sp>
        <p:nvSpPr>
          <p:cNvPr id="18" name="TextBox 17"/>
          <p:cNvSpPr txBox="1"/>
          <p:nvPr/>
        </p:nvSpPr>
        <p:spPr>
          <a:xfrm>
            <a:off x="548640" y="2578608"/>
            <a:ext cx="3200400" cy="384048"/>
          </a:xfrm>
          <a:prstGeom prst="rect">
            <a:avLst/>
          </a:prstGeom>
          <a:noFill/>
        </p:spPr>
        <p:txBody>
          <a:bodyPr wrap="square" lIns="36576" rIns="36576" tIns="36576" bIns="36576" anchor="ctr">
            <a:spAutoFit/>
          </a:bodyPr>
          <a:lstStyle/>
          <a:p>
            <a:pPr algn="l"/>
            <a:r>
              <a:rPr sz="1000" b="0" i="0">
                <a:solidFill>
                  <a:srgbClr val="1A1A1A"/>
                </a:solidFill>
                <a:latin typeface="Abadi"/>
              </a:rPr>
              <a:t>Oslo · recurrence at 12 y · laparoscopic</a:t>
            </a:r>
          </a:p>
        </p:txBody>
      </p:sp>
      <p:sp>
        <p:nvSpPr>
          <p:cNvPr id="19" name="Rectangle 18"/>
          <p:cNvSpPr/>
          <p:nvPr/>
        </p:nvSpPr>
        <p:spPr>
          <a:xfrm>
            <a:off x="3840480" y="2606039"/>
            <a:ext cx="3657600" cy="329184"/>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571231" y="2578608"/>
            <a:ext cx="1463040" cy="384048"/>
          </a:xfrm>
          <a:prstGeom prst="rect">
            <a:avLst/>
          </a:prstGeom>
          <a:noFill/>
        </p:spPr>
        <p:txBody>
          <a:bodyPr wrap="square" lIns="36576" rIns="36576" tIns="36576" bIns="36576" anchor="ctr">
            <a:spAutoFit/>
          </a:bodyPr>
          <a:lstStyle/>
          <a:p>
            <a:pPr algn="l"/>
            <a:r>
              <a:rPr sz="1000" b="1" i="0">
                <a:solidFill>
                  <a:srgbClr val="1A1A1A"/>
                </a:solidFill>
                <a:latin typeface="Abadi"/>
              </a:rPr>
              <a:t>56%</a:t>
            </a:r>
          </a:p>
        </p:txBody>
      </p:sp>
      <p:sp>
        <p:nvSpPr>
          <p:cNvPr id="21" name="TextBox 20"/>
          <p:cNvSpPr txBox="1"/>
          <p:nvPr/>
        </p:nvSpPr>
        <p:spPr>
          <a:xfrm>
            <a:off x="548640" y="2962656"/>
            <a:ext cx="3200400" cy="384048"/>
          </a:xfrm>
          <a:prstGeom prst="rect">
            <a:avLst/>
          </a:prstGeom>
          <a:noFill/>
        </p:spPr>
        <p:txBody>
          <a:bodyPr wrap="square" lIns="36576" rIns="36576" tIns="36576" bIns="36576" anchor="ctr">
            <a:spAutoFit/>
          </a:bodyPr>
          <a:lstStyle/>
          <a:p>
            <a:pPr algn="l"/>
            <a:r>
              <a:rPr sz="1000" b="0" i="0">
                <a:solidFill>
                  <a:srgbClr val="1A1A1A"/>
                </a:solidFill>
                <a:latin typeface="Abadi"/>
              </a:rPr>
              <a:t>Oslo · recurrence at 12 y · open</a:t>
            </a:r>
          </a:p>
        </p:txBody>
      </p:sp>
      <p:sp>
        <p:nvSpPr>
          <p:cNvPr id="22" name="Rectangle 21"/>
          <p:cNvSpPr/>
          <p:nvPr/>
        </p:nvSpPr>
        <p:spPr>
          <a:xfrm>
            <a:off x="3840480" y="2990088"/>
            <a:ext cx="2024742" cy="329184"/>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938374" y="2962656"/>
            <a:ext cx="1463040" cy="384048"/>
          </a:xfrm>
          <a:prstGeom prst="rect">
            <a:avLst/>
          </a:prstGeom>
          <a:noFill/>
        </p:spPr>
        <p:txBody>
          <a:bodyPr wrap="square" lIns="36576" rIns="36576" tIns="36576" bIns="36576" anchor="ctr">
            <a:spAutoFit/>
          </a:bodyPr>
          <a:lstStyle/>
          <a:p>
            <a:pPr algn="l"/>
            <a:r>
              <a:rPr sz="1000" b="1" i="0">
                <a:solidFill>
                  <a:srgbClr val="1A1A1A"/>
                </a:solidFill>
                <a:latin typeface="Abadi"/>
              </a:rPr>
              <a:t>31%  (HR 2.58)</a:t>
            </a:r>
          </a:p>
        </p:txBody>
      </p:sp>
      <p:sp>
        <p:nvSpPr>
          <p:cNvPr id="24" name="TextBox 23"/>
          <p:cNvSpPr txBox="1"/>
          <p:nvPr/>
        </p:nvSpPr>
        <p:spPr>
          <a:xfrm>
            <a:off x="548640" y="3346704"/>
            <a:ext cx="3200400" cy="384048"/>
          </a:xfrm>
          <a:prstGeom prst="rect">
            <a:avLst/>
          </a:prstGeom>
          <a:noFill/>
        </p:spPr>
        <p:txBody>
          <a:bodyPr wrap="square" lIns="36576" rIns="36576" tIns="36576" bIns="36576" anchor="ctr">
            <a:spAutoFit/>
          </a:bodyPr>
          <a:lstStyle/>
          <a:p>
            <a:pPr algn="l"/>
            <a:r>
              <a:rPr sz="1000" b="0" i="0">
                <a:solidFill>
                  <a:srgbClr val="1A1A1A"/>
                </a:solidFill>
                <a:latin typeface="Abadi"/>
              </a:rPr>
              <a:t>Oslo · redo at 12 y · laparoscopic</a:t>
            </a:r>
          </a:p>
        </p:txBody>
      </p:sp>
      <p:sp>
        <p:nvSpPr>
          <p:cNvPr id="25" name="Rectangle 24"/>
          <p:cNvSpPr/>
          <p:nvPr/>
        </p:nvSpPr>
        <p:spPr>
          <a:xfrm>
            <a:off x="3840480" y="3374136"/>
            <a:ext cx="1240971" cy="329184"/>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154603" y="3346704"/>
            <a:ext cx="1463040" cy="384048"/>
          </a:xfrm>
          <a:prstGeom prst="rect">
            <a:avLst/>
          </a:prstGeom>
          <a:noFill/>
        </p:spPr>
        <p:txBody>
          <a:bodyPr wrap="square" lIns="36576" rIns="36576" tIns="36576" bIns="36576" anchor="ctr">
            <a:spAutoFit/>
          </a:bodyPr>
          <a:lstStyle/>
          <a:p>
            <a:pPr algn="l"/>
            <a:r>
              <a:rPr sz="1000" b="1" i="0">
                <a:solidFill>
                  <a:srgbClr val="1A1A1A"/>
                </a:solidFill>
                <a:latin typeface="Abadi"/>
              </a:rPr>
              <a:t>19%</a:t>
            </a:r>
          </a:p>
        </p:txBody>
      </p:sp>
      <p:sp>
        <p:nvSpPr>
          <p:cNvPr id="27" name="TextBox 26"/>
          <p:cNvSpPr txBox="1"/>
          <p:nvPr/>
        </p:nvSpPr>
        <p:spPr>
          <a:xfrm>
            <a:off x="548640" y="3730752"/>
            <a:ext cx="3200400" cy="384048"/>
          </a:xfrm>
          <a:prstGeom prst="rect">
            <a:avLst/>
          </a:prstGeom>
          <a:noFill/>
        </p:spPr>
        <p:txBody>
          <a:bodyPr wrap="square" lIns="36576" rIns="36576" tIns="36576" bIns="36576" anchor="ctr">
            <a:spAutoFit/>
          </a:bodyPr>
          <a:lstStyle/>
          <a:p>
            <a:pPr algn="l"/>
            <a:r>
              <a:rPr sz="1000" b="0" i="0">
                <a:solidFill>
                  <a:srgbClr val="1A1A1A"/>
                </a:solidFill>
                <a:latin typeface="Abadi"/>
              </a:rPr>
              <a:t>Oslo · redo at 12 y · open</a:t>
            </a:r>
          </a:p>
        </p:txBody>
      </p:sp>
      <p:sp>
        <p:nvSpPr>
          <p:cNvPr id="28" name="Rectangle 27"/>
          <p:cNvSpPr/>
          <p:nvPr/>
        </p:nvSpPr>
        <p:spPr>
          <a:xfrm>
            <a:off x="3840480" y="3758184"/>
            <a:ext cx="457200" cy="329184"/>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370832" y="3730752"/>
            <a:ext cx="1463040" cy="384048"/>
          </a:xfrm>
          <a:prstGeom prst="rect">
            <a:avLst/>
          </a:prstGeom>
          <a:noFill/>
        </p:spPr>
        <p:txBody>
          <a:bodyPr wrap="square" lIns="36576" rIns="36576" tIns="36576" bIns="36576" anchor="ctr">
            <a:spAutoFit/>
          </a:bodyPr>
          <a:lstStyle/>
          <a:p>
            <a:pPr algn="l"/>
            <a:r>
              <a:rPr sz="1000" b="1" i="0">
                <a:solidFill>
                  <a:srgbClr val="1A1A1A"/>
                </a:solidFill>
                <a:latin typeface="Abadi"/>
              </a:rPr>
              <a:t>7%  (P = .094)</a:t>
            </a:r>
          </a:p>
        </p:txBody>
      </p:sp>
      <p:sp>
        <p:nvSpPr>
          <p:cNvPr id="30" name="TextBox 29"/>
          <p:cNvSpPr txBox="1"/>
          <p:nvPr/>
        </p:nvSpPr>
        <p:spPr>
          <a:xfrm>
            <a:off x="548640" y="4114800"/>
            <a:ext cx="3200400" cy="384048"/>
          </a:xfrm>
          <a:prstGeom prst="rect">
            <a:avLst/>
          </a:prstGeom>
          <a:noFill/>
        </p:spPr>
        <p:txBody>
          <a:bodyPr wrap="square" lIns="36576" rIns="36576" tIns="36576" bIns="36576" anchor="ctr">
            <a:spAutoFit/>
          </a:bodyPr>
          <a:lstStyle/>
          <a:p>
            <a:pPr algn="l"/>
            <a:r>
              <a:rPr sz="1000" b="0" i="0">
                <a:solidFill>
                  <a:srgbClr val="1A1A1A"/>
                </a:solidFill>
                <a:latin typeface="Abadi"/>
              </a:rPr>
              <a:t>London · retching at 4 y · laparoscopic</a:t>
            </a:r>
          </a:p>
        </p:txBody>
      </p:sp>
      <p:sp>
        <p:nvSpPr>
          <p:cNvPr id="31" name="Rectangle 30"/>
          <p:cNvSpPr/>
          <p:nvPr/>
        </p:nvSpPr>
        <p:spPr>
          <a:xfrm>
            <a:off x="3840480" y="4142232"/>
            <a:ext cx="457200" cy="329184"/>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370832" y="4114800"/>
            <a:ext cx="1463040" cy="384048"/>
          </a:xfrm>
          <a:prstGeom prst="rect">
            <a:avLst/>
          </a:prstGeom>
          <a:noFill/>
        </p:spPr>
        <p:txBody>
          <a:bodyPr wrap="square" lIns="36576" rIns="36576" tIns="36576" bIns="36576" anchor="ctr">
            <a:spAutoFit/>
          </a:bodyPr>
          <a:lstStyle/>
          <a:p>
            <a:pPr algn="l"/>
            <a:r>
              <a:rPr sz="1000" b="1" i="0">
                <a:solidFill>
                  <a:srgbClr val="1A1A1A"/>
                </a:solidFill>
                <a:latin typeface="Abadi"/>
              </a:rPr>
              <a:t>7%</a:t>
            </a:r>
          </a:p>
        </p:txBody>
      </p:sp>
      <p:sp>
        <p:nvSpPr>
          <p:cNvPr id="33" name="TextBox 32"/>
          <p:cNvSpPr txBox="1"/>
          <p:nvPr/>
        </p:nvSpPr>
        <p:spPr>
          <a:xfrm>
            <a:off x="548640" y="4498848"/>
            <a:ext cx="3200400" cy="384048"/>
          </a:xfrm>
          <a:prstGeom prst="rect">
            <a:avLst/>
          </a:prstGeom>
          <a:noFill/>
        </p:spPr>
        <p:txBody>
          <a:bodyPr wrap="square" lIns="36576" rIns="36576" tIns="36576" bIns="36576" anchor="ctr">
            <a:spAutoFit/>
          </a:bodyPr>
          <a:lstStyle/>
          <a:p>
            <a:pPr algn="l"/>
            <a:r>
              <a:rPr sz="1000" b="0" i="0">
                <a:solidFill>
                  <a:srgbClr val="1A1A1A"/>
                </a:solidFill>
                <a:latin typeface="Abadi"/>
              </a:rPr>
              <a:t>London · retching at 4 y · open</a:t>
            </a:r>
          </a:p>
        </p:txBody>
      </p:sp>
      <p:sp>
        <p:nvSpPr>
          <p:cNvPr id="34" name="Rectangle 33"/>
          <p:cNvSpPr/>
          <p:nvPr/>
        </p:nvSpPr>
        <p:spPr>
          <a:xfrm>
            <a:off x="3840480" y="4526280"/>
            <a:ext cx="3265714" cy="329184"/>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179346" y="4498848"/>
            <a:ext cx="1463040" cy="384048"/>
          </a:xfrm>
          <a:prstGeom prst="rect">
            <a:avLst/>
          </a:prstGeom>
          <a:noFill/>
        </p:spPr>
        <p:txBody>
          <a:bodyPr wrap="square" lIns="36576" rIns="36576" tIns="36576" bIns="36576" anchor="ctr">
            <a:spAutoFit/>
          </a:bodyPr>
          <a:lstStyle/>
          <a:p>
            <a:pPr algn="l"/>
            <a:r>
              <a:rPr sz="1000" b="1" i="0">
                <a:solidFill>
                  <a:srgbClr val="1A1A1A"/>
                </a:solidFill>
                <a:latin typeface="Abadi"/>
              </a:rPr>
              <a:t>50%  (P = .01)</a:t>
            </a:r>
          </a:p>
        </p:txBody>
      </p:sp>
      <p:sp>
        <p:nvSpPr>
          <p:cNvPr id="36" name="TextBox 35"/>
          <p:cNvSpPr txBox="1"/>
          <p:nvPr/>
        </p:nvSpPr>
        <p:spPr>
          <a:xfrm>
            <a:off x="8778240" y="1783080"/>
            <a:ext cx="2834640" cy="3931920"/>
          </a:xfrm>
          <a:prstGeom prst="rect">
            <a:avLst/>
          </a:prstGeom>
          <a:noFill/>
        </p:spPr>
        <p:txBody>
          <a:bodyPr wrap="square" lIns="36576" rIns="36576" tIns="36576" bIns="36576" anchor="t">
            <a:spAutoFit/>
          </a:bodyPr>
          <a:lstStyle/>
          <a:p>
            <a:pPr algn="l">
              <a:spcAft>
                <a:spcPts val="300"/>
              </a:spcAft>
            </a:pPr>
            <a:r>
              <a:rPr sz="1500" b="1" i="0">
                <a:solidFill>
                  <a:srgbClr val="1B355E"/>
                </a:solidFill>
                <a:latin typeface="Abadi"/>
              </a:rPr>
              <a:t>Oslo RCT</a:t>
            </a:r>
          </a:p>
          <a:p>
            <a:pPr algn="l">
              <a:spcAft>
                <a:spcPts val="300"/>
              </a:spcAft>
            </a:pPr>
            <a:r>
              <a:rPr sz="1050" b="0" i="0">
                <a:solidFill>
                  <a:srgbClr val="1A1A1A"/>
                </a:solidFill>
                <a:latin typeface="Abadi"/>
              </a:rPr>
              <a:t>87 children; 12-year follow-up 85. Median time to recurrence 1.0 vs 5.1 years.</a:t>
            </a:r>
          </a:p>
          <a:p>
            <a:pPr algn="l">
              <a:spcAft>
                <a:spcPts val="300"/>
              </a:spcAft>
            </a:pPr>
            <a:r>
              <a:rPr sz="1500" b="1" i="0">
                <a:solidFill>
                  <a:srgbClr val="1B355E"/>
                </a:solidFill>
                <a:latin typeface="Abadi"/>
              </a:rPr>
              <a:t>Satisfaction</a:t>
            </a:r>
          </a:p>
          <a:p>
            <a:pPr algn="l">
              <a:spcAft>
                <a:spcPts val="300"/>
              </a:spcAft>
            </a:pPr>
            <a:r>
              <a:rPr sz="1050" b="0" i="0">
                <a:solidFill>
                  <a:srgbClr val="1A1A1A"/>
                </a:solidFill>
                <a:latin typeface="Abadi"/>
              </a:rPr>
              <a:t>86% had no reflux symptoms; 81% vs 88% fully satisfied.</a:t>
            </a:r>
          </a:p>
          <a:p>
            <a:pPr algn="l">
              <a:spcAft>
                <a:spcPts val="300"/>
              </a:spcAft>
            </a:pPr>
            <a:r>
              <a:rPr sz="1500" b="1" i="0">
                <a:solidFill>
                  <a:srgbClr val="1B355E"/>
                </a:solidFill>
                <a:latin typeface="Abadi"/>
              </a:rPr>
              <a:t>London RCT</a:t>
            </a:r>
          </a:p>
          <a:p>
            <a:pPr algn="l">
              <a:spcAft>
                <a:spcPts val="300"/>
              </a:spcAft>
            </a:pPr>
            <a:r>
              <a:rPr sz="1050" b="0" i="0">
                <a:solidFill>
                  <a:srgbClr val="1A1A1A"/>
                </a:solidFill>
                <a:latin typeface="Abadi"/>
              </a:rPr>
              <a:t>Mostly impaired children; recurrence 20% vs 12.5%, not significant.</a:t>
            </a:r>
          </a:p>
        </p:txBody>
      </p:sp>
      <p:sp>
        <p:nvSpPr>
          <p:cNvPr id="37" name="TextBox 36"/>
          <p:cNvSpPr txBox="1"/>
          <p:nvPr/>
        </p:nvSpPr>
        <p:spPr>
          <a:xfrm>
            <a:off x="548640" y="5349240"/>
            <a:ext cx="7955279" cy="548640"/>
          </a:xfrm>
          <a:prstGeom prst="rect">
            <a:avLst/>
          </a:prstGeom>
          <a:noFill/>
        </p:spPr>
        <p:txBody>
          <a:bodyPr wrap="square" lIns="36576" rIns="36576" tIns="36576" bIns="36576" anchor="t">
            <a:spAutoFit/>
          </a:bodyPr>
          <a:lstStyle/>
          <a:p>
            <a:pPr algn="l"/>
            <a:r>
              <a:rPr sz="1250" b="1" i="0">
                <a:solidFill>
                  <a:srgbClr val="1B355E"/>
                </a:solidFill>
                <a:latin typeface="Abadi"/>
              </a:rPr>
              <a:t>Read it as.   </a:t>
            </a:r>
            <a:r>
              <a:rPr sz="1250" b="0" i="0">
                <a:solidFill>
                  <a:srgbClr val="1A1A1A"/>
                </a:solidFill>
                <a:latin typeface="Abadi"/>
              </a:rPr>
              <a:t>Laparoscopy is still standard, but families should hear that a wrap is not a lifetime guarantee.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292608"/>
            <a:ext cx="630936" cy="347472"/>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630936" cy="347472"/>
          </a:xfrm>
          <a:prstGeom prst="rect">
            <a:avLst/>
          </a:prstGeom>
          <a:noFill/>
        </p:spPr>
        <p:txBody>
          <a:bodyPr wrap="square" lIns="36576" rIns="36576" tIns="36576" bIns="36576" anchor="ctr">
            <a:spAutoFit/>
          </a:bodyPr>
          <a:lstStyle/>
          <a:p>
            <a:pPr algn="ctr"/>
            <a:r>
              <a:rPr sz="1500" b="1" i="0">
                <a:solidFill>
                  <a:srgbClr val="FFFFFF"/>
                </a:solidFill>
                <a:latin typeface="Abadi"/>
              </a:rPr>
              <a:t>IV</a:t>
            </a:r>
          </a:p>
        </p:txBody>
      </p:sp>
      <p:sp>
        <p:nvSpPr>
          <p:cNvPr id="4" name="TextBox 3"/>
          <p:cNvSpPr txBox="1"/>
          <p:nvPr/>
        </p:nvSpPr>
        <p:spPr>
          <a:xfrm>
            <a:off x="1380744" y="292608"/>
            <a:ext cx="10232136" cy="347472"/>
          </a:xfrm>
          <a:prstGeom prst="rect">
            <a:avLst/>
          </a:prstGeom>
          <a:noFill/>
        </p:spPr>
        <p:txBody>
          <a:bodyPr wrap="square" lIns="36576" rIns="36576" tIns="36576" bIns="36576" anchor="ctr">
            <a:spAutoFit/>
          </a:bodyPr>
          <a:lstStyle/>
          <a:p>
            <a:pPr algn="l"/>
            <a:r>
              <a:rPr sz="1200" b="1" i="0">
                <a:solidFill>
                  <a:srgbClr val="B22222"/>
                </a:solidFill>
                <a:latin typeface="Abadi"/>
              </a:rPr>
              <a:t>TECHNIQUE</a:t>
            </a:r>
          </a:p>
        </p:txBody>
      </p:sp>
      <p:sp>
        <p:nvSpPr>
          <p:cNvPr id="5" name="TextBox 4"/>
          <p:cNvSpPr txBox="1"/>
          <p:nvPr/>
        </p:nvSpPr>
        <p:spPr>
          <a:xfrm>
            <a:off x="548640" y="722376"/>
            <a:ext cx="11082528" cy="548640"/>
          </a:xfrm>
          <a:prstGeom prst="rect">
            <a:avLst/>
          </a:prstGeom>
          <a:noFill/>
        </p:spPr>
        <p:txBody>
          <a:bodyPr wrap="square" lIns="36576" rIns="36576" tIns="36576" bIns="36576" anchor="ctr">
            <a:spAutoFit/>
          </a:bodyPr>
          <a:lstStyle/>
          <a:p>
            <a:pPr algn="l"/>
            <a:r>
              <a:rPr sz="3000" b="1" i="0">
                <a:solidFill>
                  <a:srgbClr val="1B355E"/>
                </a:solidFill>
                <a:latin typeface="Abadi"/>
              </a:rPr>
              <a:t>HOW THE WRAP IS BUILT MATTERS</a:t>
            </a:r>
          </a:p>
        </p:txBody>
      </p:sp>
      <p:sp>
        <p:nvSpPr>
          <p:cNvPr id="6" name="TextBox 5"/>
          <p:cNvSpPr txBox="1"/>
          <p:nvPr/>
        </p:nvSpPr>
        <p:spPr>
          <a:xfrm>
            <a:off x="548640" y="1307592"/>
            <a:ext cx="11082528" cy="265176"/>
          </a:xfrm>
          <a:prstGeom prst="rect">
            <a:avLst/>
          </a:prstGeom>
          <a:noFill/>
        </p:spPr>
        <p:txBody>
          <a:bodyPr wrap="square" lIns="36576" rIns="36576" tIns="36576" bIns="36576" anchor="t">
            <a:spAutoFit/>
          </a:bodyPr>
          <a:lstStyle/>
          <a:p>
            <a:pPr algn="l"/>
            <a:r>
              <a:rPr sz="1300" b="0" i="0">
                <a:solidFill>
                  <a:srgbClr val="555555"/>
                </a:solidFill>
                <a:latin typeface="Abadi"/>
              </a:rPr>
              <a:t>Technical choices with randomised or large-series evidence in children</a:t>
            </a:r>
          </a:p>
        </p:txBody>
      </p:sp>
      <p:sp>
        <p:nvSpPr>
          <p:cNvPr id="7" name="Rectangle 6"/>
          <p:cNvSpPr/>
          <p:nvPr/>
        </p:nvSpPr>
        <p:spPr>
          <a:xfrm>
            <a:off x="548640" y="1600200"/>
            <a:ext cx="11082528" cy="27432"/>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55064"/>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5888736"/>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36224" y="5971032"/>
            <a:ext cx="694944" cy="292608"/>
          </a:xfrm>
          <a:prstGeom prst="rect">
            <a:avLst/>
          </a:prstGeom>
          <a:noFill/>
        </p:spPr>
        <p:txBody>
          <a:bodyPr wrap="square" lIns="36576" rIns="36576" tIns="36576" bIns="36576" anchor="t">
            <a:spAutoFit/>
          </a:bodyPr>
          <a:lstStyle/>
          <a:p>
            <a:pPr algn="r"/>
            <a:r>
              <a:rPr sz="1200" b="0" i="0">
                <a:solidFill>
                  <a:srgbClr val="555555"/>
                </a:solidFill>
                <a:latin typeface="Abadi"/>
              </a:rPr>
              <a:t>10</a:t>
            </a:r>
          </a:p>
        </p:txBody>
      </p:sp>
      <p:sp>
        <p:nvSpPr>
          <p:cNvPr id="11" name="TextBox 10"/>
          <p:cNvSpPr txBox="1"/>
          <p:nvPr/>
        </p:nvSpPr>
        <p:spPr>
          <a:xfrm>
            <a:off x="548640" y="5971032"/>
            <a:ext cx="10287000" cy="457200"/>
          </a:xfrm>
          <a:prstGeom prst="rect">
            <a:avLst/>
          </a:prstGeom>
          <a:noFill/>
        </p:spPr>
        <p:txBody>
          <a:bodyPr wrap="square" lIns="36576" rIns="36576" tIns="36576" bIns="36576" anchor="t">
            <a:spAutoFit/>
          </a:bodyPr>
          <a:lstStyle/>
          <a:p>
            <a:pPr algn="l"/>
            <a:r>
              <a:rPr sz="1000" b="0" i="0">
                <a:solidFill>
                  <a:srgbClr val="8A939B"/>
                </a:solidFill>
                <a:latin typeface="Abadi"/>
              </a:rPr>
              <a:t>St Peter SD, et al. J Pediatr Surg 2011;46:163–8 · Rothenberg SS. J Pediatr Surg 2005 (1,050 laparoscopic Nissens) · Martin K, et al. Can J Gastroenterol Hepatol 2014;28:97–102</a:t>
            </a:r>
          </a:p>
        </p:txBody>
      </p:sp>
      <p:sp>
        <p:nvSpPr>
          <p:cNvPr id="12" name="Rectangle 11"/>
          <p:cNvSpPr/>
          <p:nvPr/>
        </p:nvSpPr>
        <p:spPr>
          <a:xfrm>
            <a:off x="548640" y="1773936"/>
            <a:ext cx="2070201" cy="2148840"/>
          </a:xfrm>
          <a:prstGeom prst="rect">
            <a:avLst/>
          </a:prstGeom>
          <a:solidFill>
            <a:srgbClr val="CDE7C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1773936"/>
            <a:ext cx="2070201" cy="100584"/>
          </a:xfrm>
          <a:prstGeom prst="rect">
            <a:avLst/>
          </a:prstGeom>
          <a:solidFill>
            <a:srgbClr val="1E7A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94944" y="1956816"/>
            <a:ext cx="1777593" cy="502920"/>
          </a:xfrm>
          <a:prstGeom prst="rect">
            <a:avLst/>
          </a:prstGeom>
          <a:noFill/>
        </p:spPr>
        <p:txBody>
          <a:bodyPr wrap="square" lIns="36576" rIns="36576" tIns="36576" bIns="36576" anchor="t">
            <a:spAutoFit/>
          </a:bodyPr>
          <a:lstStyle/>
          <a:p>
            <a:pPr algn="l"/>
            <a:r>
              <a:rPr sz="1500" b="1" i="0">
                <a:solidFill>
                  <a:srgbClr val="1E7A33"/>
                </a:solidFill>
                <a:latin typeface="Abadi"/>
              </a:rPr>
              <a:t>7.8% vs 30%</a:t>
            </a:r>
          </a:p>
        </p:txBody>
      </p:sp>
      <p:sp>
        <p:nvSpPr>
          <p:cNvPr id="15" name="TextBox 14"/>
          <p:cNvSpPr txBox="1"/>
          <p:nvPr/>
        </p:nvSpPr>
        <p:spPr>
          <a:xfrm>
            <a:off x="694944" y="2487168"/>
            <a:ext cx="1777593" cy="1344168"/>
          </a:xfrm>
          <a:prstGeom prst="rect">
            <a:avLst/>
          </a:prstGeom>
          <a:noFill/>
        </p:spPr>
        <p:txBody>
          <a:bodyPr wrap="square" lIns="36576" rIns="36576" tIns="36576" bIns="36576" anchor="t">
            <a:spAutoFit/>
          </a:bodyPr>
          <a:lstStyle/>
          <a:p>
            <a:pPr algn="l"/>
            <a:r>
              <a:rPr sz="1100" b="0" i="0">
                <a:solidFill>
                  <a:srgbClr val="1A1A1A"/>
                </a:solidFill>
                <a:latin typeface="Abadi"/>
              </a:rPr>
              <a:t>RCT, 177 children: wrap herniation after minimal versus extensive oesophageal mobilisation (P = .002).</a:t>
            </a:r>
          </a:p>
        </p:txBody>
      </p:sp>
      <p:sp>
        <p:nvSpPr>
          <p:cNvPr id="16" name="Rectangle 15"/>
          <p:cNvSpPr/>
          <p:nvPr/>
        </p:nvSpPr>
        <p:spPr>
          <a:xfrm>
            <a:off x="2801721" y="1773936"/>
            <a:ext cx="2070201" cy="2148840"/>
          </a:xfrm>
          <a:prstGeom prst="rect">
            <a:avLst/>
          </a:prstGeom>
          <a:solidFill>
            <a:srgbClr val="CDE7C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801721" y="1773936"/>
            <a:ext cx="2070201" cy="100584"/>
          </a:xfrm>
          <a:prstGeom prst="rect">
            <a:avLst/>
          </a:prstGeom>
          <a:solidFill>
            <a:srgbClr val="1E7A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948025" y="1956816"/>
            <a:ext cx="1777593" cy="502920"/>
          </a:xfrm>
          <a:prstGeom prst="rect">
            <a:avLst/>
          </a:prstGeom>
          <a:noFill/>
        </p:spPr>
        <p:txBody>
          <a:bodyPr wrap="square" lIns="36576" rIns="36576" tIns="36576" bIns="36576" anchor="t">
            <a:spAutoFit/>
          </a:bodyPr>
          <a:lstStyle/>
          <a:p>
            <a:pPr algn="l"/>
            <a:r>
              <a:rPr sz="1500" b="1" i="0">
                <a:solidFill>
                  <a:srgbClr val="1E7A33"/>
                </a:solidFill>
                <a:latin typeface="Abadi"/>
              </a:rPr>
              <a:t>3.3% vs 18.4%</a:t>
            </a:r>
          </a:p>
        </p:txBody>
      </p:sp>
      <p:sp>
        <p:nvSpPr>
          <p:cNvPr id="19" name="TextBox 18"/>
          <p:cNvSpPr txBox="1"/>
          <p:nvPr/>
        </p:nvSpPr>
        <p:spPr>
          <a:xfrm>
            <a:off x="2948025" y="2487168"/>
            <a:ext cx="1777593" cy="1344168"/>
          </a:xfrm>
          <a:prstGeom prst="rect">
            <a:avLst/>
          </a:prstGeom>
          <a:noFill/>
        </p:spPr>
        <p:txBody>
          <a:bodyPr wrap="square" lIns="36576" rIns="36576" tIns="36576" bIns="36576" anchor="t">
            <a:spAutoFit/>
          </a:bodyPr>
          <a:lstStyle/>
          <a:p>
            <a:pPr algn="l"/>
            <a:r>
              <a:rPr sz="1100" b="0" i="0">
                <a:solidFill>
                  <a:srgbClr val="1A1A1A"/>
                </a:solidFill>
                <a:latin typeface="Abadi"/>
              </a:rPr>
              <a:t>Same trial: reoperation after minimal versus extensive mobilisation (P = .006).</a:t>
            </a:r>
          </a:p>
        </p:txBody>
      </p:sp>
      <p:sp>
        <p:nvSpPr>
          <p:cNvPr id="20" name="Rectangle 19"/>
          <p:cNvSpPr/>
          <p:nvPr/>
        </p:nvSpPr>
        <p:spPr>
          <a:xfrm>
            <a:off x="5054803" y="1773936"/>
            <a:ext cx="2070201" cy="2148840"/>
          </a:xfrm>
          <a:prstGeom prst="rect">
            <a:avLst/>
          </a:prstGeom>
          <a:solidFill>
            <a:srgbClr val="DCE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054803" y="1773936"/>
            <a:ext cx="2070201" cy="100584"/>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201107" y="1956816"/>
            <a:ext cx="1777593" cy="502920"/>
          </a:xfrm>
          <a:prstGeom prst="rect">
            <a:avLst/>
          </a:prstGeom>
          <a:noFill/>
        </p:spPr>
        <p:txBody>
          <a:bodyPr wrap="square" lIns="36576" rIns="36576" tIns="36576" bIns="36576" anchor="t">
            <a:spAutoFit/>
          </a:bodyPr>
          <a:lstStyle/>
          <a:p>
            <a:pPr algn="l"/>
            <a:r>
              <a:rPr sz="1500" b="1" i="0">
                <a:solidFill>
                  <a:srgbClr val="1B355E"/>
                </a:solidFill>
                <a:latin typeface="Abadi"/>
              </a:rPr>
              <a:t>4.0%</a:t>
            </a:r>
          </a:p>
        </p:txBody>
      </p:sp>
      <p:sp>
        <p:nvSpPr>
          <p:cNvPr id="23" name="TextBox 22"/>
          <p:cNvSpPr txBox="1"/>
          <p:nvPr/>
        </p:nvSpPr>
        <p:spPr>
          <a:xfrm>
            <a:off x="5201107" y="2487168"/>
            <a:ext cx="1777593" cy="1344168"/>
          </a:xfrm>
          <a:prstGeom prst="rect">
            <a:avLst/>
          </a:prstGeom>
          <a:noFill/>
        </p:spPr>
        <p:txBody>
          <a:bodyPr wrap="square" lIns="36576" rIns="36576" tIns="36576" bIns="36576" anchor="t">
            <a:spAutoFit/>
          </a:bodyPr>
          <a:lstStyle/>
          <a:p>
            <a:pPr algn="l"/>
            <a:r>
              <a:rPr sz="1100" b="0" i="0">
                <a:solidFill>
                  <a:srgbClr val="1A1A1A"/>
                </a:solidFill>
                <a:latin typeface="Abadi"/>
              </a:rPr>
              <a:t>Single-surgeon series of 1,050 laparoscopic Nissens: wrap failure; postoperative complications 4.0%; mean stay 1.1 days.</a:t>
            </a:r>
          </a:p>
        </p:txBody>
      </p:sp>
      <p:sp>
        <p:nvSpPr>
          <p:cNvPr id="24" name="Rectangle 23"/>
          <p:cNvSpPr/>
          <p:nvPr/>
        </p:nvSpPr>
        <p:spPr>
          <a:xfrm>
            <a:off x="7307884" y="1773936"/>
            <a:ext cx="2070201" cy="2148840"/>
          </a:xfrm>
          <a:prstGeom prst="rect">
            <a:avLst/>
          </a:prstGeom>
          <a:solidFill>
            <a:srgbClr val="FBEF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307884" y="1773936"/>
            <a:ext cx="2070201" cy="100584"/>
          </a:xfrm>
          <a:prstGeom prst="rect">
            <a:avLst/>
          </a:prstGeom>
          <a:solidFill>
            <a:srgbClr val="D97A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54188" y="1956816"/>
            <a:ext cx="1777593" cy="502920"/>
          </a:xfrm>
          <a:prstGeom prst="rect">
            <a:avLst/>
          </a:prstGeom>
          <a:noFill/>
        </p:spPr>
        <p:txBody>
          <a:bodyPr wrap="square" lIns="36576" rIns="36576" tIns="36576" bIns="36576" anchor="t">
            <a:spAutoFit/>
          </a:bodyPr>
          <a:lstStyle/>
          <a:p>
            <a:pPr algn="l"/>
            <a:r>
              <a:rPr sz="1500" b="1" i="0">
                <a:solidFill>
                  <a:srgbClr val="D97A0B"/>
                </a:solidFill>
                <a:latin typeface="Abadi"/>
              </a:rPr>
              <a:t>0–48%</a:t>
            </a:r>
          </a:p>
        </p:txBody>
      </p:sp>
      <p:sp>
        <p:nvSpPr>
          <p:cNvPr id="27" name="TextBox 26"/>
          <p:cNvSpPr txBox="1"/>
          <p:nvPr/>
        </p:nvSpPr>
        <p:spPr>
          <a:xfrm>
            <a:off x="7454188" y="2487168"/>
            <a:ext cx="1777593" cy="1344168"/>
          </a:xfrm>
          <a:prstGeom prst="rect">
            <a:avLst/>
          </a:prstGeom>
          <a:noFill/>
        </p:spPr>
        <p:txBody>
          <a:bodyPr wrap="square" lIns="36576" rIns="36576" tIns="36576" bIns="36576" anchor="t">
            <a:spAutoFit/>
          </a:bodyPr>
          <a:lstStyle/>
          <a:p>
            <a:pPr algn="l"/>
            <a:r>
              <a:rPr sz="1100" b="0" i="0">
                <a:solidFill>
                  <a:srgbClr val="1A1A1A"/>
                </a:solidFill>
                <a:latin typeface="Abadi"/>
              </a:rPr>
              <a:t>Review of 36 studies: recurrence range; only 17% of studies defined recurrence.</a:t>
            </a:r>
          </a:p>
        </p:txBody>
      </p:sp>
      <p:sp>
        <p:nvSpPr>
          <p:cNvPr id="28" name="Rectangle 27"/>
          <p:cNvSpPr/>
          <p:nvPr/>
        </p:nvSpPr>
        <p:spPr>
          <a:xfrm>
            <a:off x="9560966" y="1773936"/>
            <a:ext cx="2070201" cy="2148840"/>
          </a:xfrm>
          <a:prstGeom prst="rect">
            <a:avLst/>
          </a:prstGeom>
          <a:solidFill>
            <a:srgbClr val="F6D2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9560966" y="1773936"/>
            <a:ext cx="2070201" cy="100584"/>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707270" y="1956816"/>
            <a:ext cx="1777593" cy="502920"/>
          </a:xfrm>
          <a:prstGeom prst="rect">
            <a:avLst/>
          </a:prstGeom>
          <a:noFill/>
        </p:spPr>
        <p:txBody>
          <a:bodyPr wrap="square" lIns="36576" rIns="36576" tIns="36576" bIns="36576" anchor="t">
            <a:spAutoFit/>
          </a:bodyPr>
          <a:lstStyle/>
          <a:p>
            <a:pPr algn="l"/>
            <a:r>
              <a:rPr sz="1500" b="1" i="0">
                <a:solidFill>
                  <a:srgbClr val="B22222"/>
                </a:solidFill>
                <a:latin typeface="Abadi"/>
              </a:rPr>
              <a:t>0–24%</a:t>
            </a:r>
          </a:p>
        </p:txBody>
      </p:sp>
      <p:sp>
        <p:nvSpPr>
          <p:cNvPr id="31" name="TextBox 30"/>
          <p:cNvSpPr txBox="1"/>
          <p:nvPr/>
        </p:nvSpPr>
        <p:spPr>
          <a:xfrm>
            <a:off x="9707270" y="2487168"/>
            <a:ext cx="1777593" cy="1344168"/>
          </a:xfrm>
          <a:prstGeom prst="rect">
            <a:avLst/>
          </a:prstGeom>
          <a:noFill/>
        </p:spPr>
        <p:txBody>
          <a:bodyPr wrap="square" lIns="36576" rIns="36576" tIns="36576" bIns="36576" anchor="t">
            <a:spAutoFit/>
          </a:bodyPr>
          <a:lstStyle/>
          <a:p>
            <a:pPr algn="l"/>
            <a:r>
              <a:rPr sz="1100" b="0" i="0">
                <a:solidFill>
                  <a:srgbClr val="1A1A1A"/>
                </a:solidFill>
                <a:latin typeface="Abadi"/>
              </a:rPr>
              <a:t>Same review: mortality range, driven by the comorbidity of the populations operated.</a:t>
            </a:r>
          </a:p>
        </p:txBody>
      </p:sp>
      <p:sp>
        <p:nvSpPr>
          <p:cNvPr id="32" name="TextBox 31"/>
          <p:cNvSpPr txBox="1"/>
          <p:nvPr/>
        </p:nvSpPr>
        <p:spPr>
          <a:xfrm>
            <a:off x="548640" y="4114800"/>
            <a:ext cx="11082528" cy="1005840"/>
          </a:xfrm>
          <a:prstGeom prst="rect">
            <a:avLst/>
          </a:prstGeom>
          <a:noFill/>
        </p:spPr>
        <p:txBody>
          <a:bodyPr wrap="square" lIns="36576" rIns="36576" tIns="36576" bIns="36576" anchor="t">
            <a:spAutoFit/>
          </a:bodyPr>
          <a:lstStyle/>
          <a:p>
            <a:pPr algn="l"/>
            <a:r>
              <a:rPr sz="1250" b="1" i="0">
                <a:solidFill>
                  <a:srgbClr val="1B355E"/>
                </a:solidFill>
                <a:latin typeface="Abadi"/>
              </a:rPr>
              <a:t>Interpretation.   </a:t>
            </a:r>
            <a:r>
              <a:rPr sz="1250" b="0" i="0">
                <a:solidFill>
                  <a:srgbClr val="1A1A1A"/>
                </a:solidFill>
                <a:latin typeface="Abadi"/>
              </a:rPr>
              <a:t>Keep the phreno-oesophageal attachments, close the crura, and choose an experienced surgeon. Published recurrence rates vary because definitions vary, not only because surgeons do: ask how recurrence was measured before quoting a number.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292608"/>
            <a:ext cx="630936" cy="347472"/>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630936" cy="347472"/>
          </a:xfrm>
          <a:prstGeom prst="rect">
            <a:avLst/>
          </a:prstGeom>
          <a:noFill/>
        </p:spPr>
        <p:txBody>
          <a:bodyPr wrap="square" lIns="36576" rIns="36576" tIns="36576" bIns="36576" anchor="ctr">
            <a:spAutoFit/>
          </a:bodyPr>
          <a:lstStyle/>
          <a:p>
            <a:pPr algn="ctr"/>
            <a:r>
              <a:rPr sz="1500" b="1" i="0">
                <a:solidFill>
                  <a:srgbClr val="FFFFFF"/>
                </a:solidFill>
                <a:latin typeface="Abadi"/>
              </a:rPr>
              <a:t>IV</a:t>
            </a:r>
          </a:p>
        </p:txBody>
      </p:sp>
      <p:sp>
        <p:nvSpPr>
          <p:cNvPr id="4" name="TextBox 3"/>
          <p:cNvSpPr txBox="1"/>
          <p:nvPr/>
        </p:nvSpPr>
        <p:spPr>
          <a:xfrm>
            <a:off x="1380744" y="292608"/>
            <a:ext cx="10232136" cy="347472"/>
          </a:xfrm>
          <a:prstGeom prst="rect">
            <a:avLst/>
          </a:prstGeom>
          <a:noFill/>
        </p:spPr>
        <p:txBody>
          <a:bodyPr wrap="square" lIns="36576" rIns="36576" tIns="36576" bIns="36576" anchor="ctr">
            <a:spAutoFit/>
          </a:bodyPr>
          <a:lstStyle/>
          <a:p>
            <a:pPr algn="l"/>
            <a:r>
              <a:rPr sz="1200" b="1" i="0">
                <a:solidFill>
                  <a:srgbClr val="B22222"/>
                </a:solidFill>
                <a:latin typeface="Abadi"/>
              </a:rPr>
              <a:t>AFTER THE WRAP</a:t>
            </a:r>
          </a:p>
        </p:txBody>
      </p:sp>
      <p:sp>
        <p:nvSpPr>
          <p:cNvPr id="5" name="TextBox 4"/>
          <p:cNvSpPr txBox="1"/>
          <p:nvPr/>
        </p:nvSpPr>
        <p:spPr>
          <a:xfrm>
            <a:off x="548640" y="722376"/>
            <a:ext cx="11082528" cy="548640"/>
          </a:xfrm>
          <a:prstGeom prst="rect">
            <a:avLst/>
          </a:prstGeom>
          <a:noFill/>
        </p:spPr>
        <p:txBody>
          <a:bodyPr wrap="square" lIns="36576" rIns="36576" tIns="36576" bIns="36576" anchor="ctr">
            <a:spAutoFit/>
          </a:bodyPr>
          <a:lstStyle/>
          <a:p>
            <a:pPr algn="l"/>
            <a:r>
              <a:rPr sz="3000" b="1" i="0">
                <a:solidFill>
                  <a:srgbClr val="1B355E"/>
                </a:solidFill>
                <a:latin typeface="Abadi"/>
              </a:rPr>
              <a:t>COMPLICATIONS FAMILIES SHOULD HEAR ABOUT</a:t>
            </a:r>
          </a:p>
        </p:txBody>
      </p:sp>
      <p:sp>
        <p:nvSpPr>
          <p:cNvPr id="6" name="TextBox 5"/>
          <p:cNvSpPr txBox="1"/>
          <p:nvPr/>
        </p:nvSpPr>
        <p:spPr>
          <a:xfrm>
            <a:off x="548640" y="1307592"/>
            <a:ext cx="11082528" cy="265176"/>
          </a:xfrm>
          <a:prstGeom prst="rect">
            <a:avLst/>
          </a:prstGeom>
          <a:noFill/>
        </p:spPr>
        <p:txBody>
          <a:bodyPr wrap="square" lIns="36576" rIns="36576" tIns="36576" bIns="36576" anchor="t">
            <a:spAutoFit/>
          </a:bodyPr>
          <a:lstStyle/>
          <a:p>
            <a:pPr algn="l"/>
            <a:r>
              <a:rPr sz="1300" b="0" i="0">
                <a:solidFill>
                  <a:srgbClr val="555555"/>
                </a:solidFill>
                <a:latin typeface="Abadi"/>
              </a:rPr>
              <a:t>Side effects and failure modes of fundoplication in children</a:t>
            </a:r>
          </a:p>
        </p:txBody>
      </p:sp>
      <p:sp>
        <p:nvSpPr>
          <p:cNvPr id="7" name="Rectangle 6"/>
          <p:cNvSpPr/>
          <p:nvPr/>
        </p:nvSpPr>
        <p:spPr>
          <a:xfrm>
            <a:off x="548640" y="1600200"/>
            <a:ext cx="11082528" cy="27432"/>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55064"/>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5888736"/>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36224" y="5971032"/>
            <a:ext cx="694944" cy="292608"/>
          </a:xfrm>
          <a:prstGeom prst="rect">
            <a:avLst/>
          </a:prstGeom>
          <a:noFill/>
        </p:spPr>
        <p:txBody>
          <a:bodyPr wrap="square" lIns="36576" rIns="36576" tIns="36576" bIns="36576" anchor="t">
            <a:spAutoFit/>
          </a:bodyPr>
          <a:lstStyle/>
          <a:p>
            <a:pPr algn="r"/>
            <a:r>
              <a:rPr sz="1200" b="0" i="0">
                <a:solidFill>
                  <a:srgbClr val="555555"/>
                </a:solidFill>
                <a:latin typeface="Abadi"/>
              </a:rPr>
              <a:t>11</a:t>
            </a:r>
          </a:p>
        </p:txBody>
      </p:sp>
      <p:sp>
        <p:nvSpPr>
          <p:cNvPr id="11" name="TextBox 10"/>
          <p:cNvSpPr txBox="1"/>
          <p:nvPr/>
        </p:nvSpPr>
        <p:spPr>
          <a:xfrm>
            <a:off x="548640" y="5971032"/>
            <a:ext cx="10287000" cy="457200"/>
          </a:xfrm>
          <a:prstGeom prst="rect">
            <a:avLst/>
          </a:prstGeom>
          <a:noFill/>
        </p:spPr>
        <p:txBody>
          <a:bodyPr wrap="square" lIns="36576" rIns="36576" tIns="36576" bIns="36576" anchor="t">
            <a:spAutoFit/>
          </a:bodyPr>
          <a:lstStyle/>
          <a:p>
            <a:pPr algn="l"/>
            <a:r>
              <a:rPr sz="1000" b="0" i="0">
                <a:solidFill>
                  <a:srgbClr val="8A939B"/>
                </a:solidFill>
                <a:latin typeface="Abadi"/>
              </a:rPr>
              <a:t>Kubiak 2011 · Pediatr Surg Int 2021 (dumping, n = 190; doi 10.1007/s00383-020-04783-0) · J Pediatr Surg 2021 (redo series, n = 24) · Broeders 2010</a:t>
            </a:r>
          </a:p>
        </p:txBody>
      </p:sp>
      <p:sp>
        <p:nvSpPr>
          <p:cNvPr id="12" name="Rectangle 11"/>
          <p:cNvSpPr/>
          <p:nvPr/>
        </p:nvSpPr>
        <p:spPr>
          <a:xfrm>
            <a:off x="548640" y="1773936"/>
            <a:ext cx="2070201" cy="2148840"/>
          </a:xfrm>
          <a:prstGeom prst="rect">
            <a:avLst/>
          </a:prstGeom>
          <a:solidFill>
            <a:srgbClr val="FBEF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1773936"/>
            <a:ext cx="2070201" cy="100584"/>
          </a:xfrm>
          <a:prstGeom prst="rect">
            <a:avLst/>
          </a:prstGeom>
          <a:solidFill>
            <a:srgbClr val="D97A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94944" y="1956816"/>
            <a:ext cx="1777593" cy="502920"/>
          </a:xfrm>
          <a:prstGeom prst="rect">
            <a:avLst/>
          </a:prstGeom>
          <a:noFill/>
        </p:spPr>
        <p:txBody>
          <a:bodyPr wrap="square" lIns="36576" rIns="36576" tIns="36576" bIns="36576" anchor="t">
            <a:spAutoFit/>
          </a:bodyPr>
          <a:lstStyle/>
          <a:p>
            <a:pPr algn="l"/>
            <a:r>
              <a:rPr sz="1500" b="1" i="0">
                <a:solidFill>
                  <a:srgbClr val="D97A0B"/>
                </a:solidFill>
                <a:latin typeface="Abadi"/>
              </a:rPr>
              <a:t>Dysphagia</a:t>
            </a:r>
          </a:p>
        </p:txBody>
      </p:sp>
      <p:sp>
        <p:nvSpPr>
          <p:cNvPr id="15" name="TextBox 14"/>
          <p:cNvSpPr txBox="1"/>
          <p:nvPr/>
        </p:nvSpPr>
        <p:spPr>
          <a:xfrm>
            <a:off x="694944" y="2487168"/>
            <a:ext cx="1777593" cy="1344168"/>
          </a:xfrm>
          <a:prstGeom prst="rect">
            <a:avLst/>
          </a:prstGeom>
          <a:noFill/>
        </p:spPr>
        <p:txBody>
          <a:bodyPr wrap="square" lIns="36576" rIns="36576" tIns="36576" bIns="36576" anchor="t">
            <a:spAutoFit/>
          </a:bodyPr>
          <a:lstStyle/>
          <a:p>
            <a:pPr algn="l">
              <a:spcAft>
                <a:spcPts val="400"/>
              </a:spcAft>
            </a:pPr>
            <a:r>
              <a:rPr sz="1100" b="0" i="0">
                <a:solidFill>
                  <a:srgbClr val="1A1A1A"/>
                </a:solidFill>
                <a:latin typeface="Abadi"/>
              </a:rPr>
              <a:t>▪  Severe 11.8% after Nissen</a:t>
            </a:r>
          </a:p>
          <a:p>
            <a:pPr algn="l">
              <a:spcAft>
                <a:spcPts val="400"/>
              </a:spcAft>
            </a:pPr>
            <a:r>
              <a:rPr sz="1100" b="0" i="0">
                <a:solidFill>
                  <a:srgbClr val="1A1A1A"/>
                </a:solidFill>
                <a:latin typeface="Abadi"/>
              </a:rPr>
              <a:t>▪  Most settle; some need dilatation</a:t>
            </a:r>
          </a:p>
        </p:txBody>
      </p:sp>
      <p:sp>
        <p:nvSpPr>
          <p:cNvPr id="16" name="Rectangle 15"/>
          <p:cNvSpPr/>
          <p:nvPr/>
        </p:nvSpPr>
        <p:spPr>
          <a:xfrm>
            <a:off x="2801721" y="1773936"/>
            <a:ext cx="2070201" cy="2148840"/>
          </a:xfrm>
          <a:prstGeom prst="rect">
            <a:avLst/>
          </a:prstGeom>
          <a:solidFill>
            <a:srgbClr val="FBEF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801721" y="1773936"/>
            <a:ext cx="2070201" cy="100584"/>
          </a:xfrm>
          <a:prstGeom prst="rect">
            <a:avLst/>
          </a:prstGeom>
          <a:solidFill>
            <a:srgbClr val="D97A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948025" y="1956816"/>
            <a:ext cx="1777593" cy="502920"/>
          </a:xfrm>
          <a:prstGeom prst="rect">
            <a:avLst/>
          </a:prstGeom>
          <a:noFill/>
        </p:spPr>
        <p:txBody>
          <a:bodyPr wrap="square" lIns="36576" rIns="36576" tIns="36576" bIns="36576" anchor="t">
            <a:spAutoFit/>
          </a:bodyPr>
          <a:lstStyle/>
          <a:p>
            <a:pPr algn="l"/>
            <a:r>
              <a:rPr sz="1500" b="1" i="0">
                <a:solidFill>
                  <a:srgbClr val="D97A0B"/>
                </a:solidFill>
                <a:latin typeface="Abadi"/>
              </a:rPr>
              <a:t>Gas bloat</a:t>
            </a:r>
          </a:p>
        </p:txBody>
      </p:sp>
      <p:sp>
        <p:nvSpPr>
          <p:cNvPr id="19" name="TextBox 18"/>
          <p:cNvSpPr txBox="1"/>
          <p:nvPr/>
        </p:nvSpPr>
        <p:spPr>
          <a:xfrm>
            <a:off x="2948025" y="2487168"/>
            <a:ext cx="1777593" cy="1344168"/>
          </a:xfrm>
          <a:prstGeom prst="rect">
            <a:avLst/>
          </a:prstGeom>
          <a:noFill/>
        </p:spPr>
        <p:txBody>
          <a:bodyPr wrap="square" lIns="36576" rIns="36576" tIns="36576" bIns="36576" anchor="t">
            <a:spAutoFit/>
          </a:bodyPr>
          <a:lstStyle/>
          <a:p>
            <a:pPr algn="l">
              <a:spcAft>
                <a:spcPts val="400"/>
              </a:spcAft>
            </a:pPr>
            <a:r>
              <a:rPr sz="1100" b="0" i="0">
                <a:solidFill>
                  <a:srgbClr val="1A1A1A"/>
                </a:solidFill>
                <a:latin typeface="Abadi"/>
              </a:rPr>
              <a:t>▪  Cannot belch or vomit</a:t>
            </a:r>
          </a:p>
          <a:p>
            <a:pPr algn="l">
              <a:spcAft>
                <a:spcPts val="400"/>
              </a:spcAft>
            </a:pPr>
            <a:r>
              <a:rPr sz="1100" b="0" i="0">
                <a:solidFill>
                  <a:srgbClr val="1A1A1A"/>
                </a:solidFill>
                <a:latin typeface="Abadi"/>
              </a:rPr>
              <a:t>▪  Venting gastrostomy helps</a:t>
            </a:r>
          </a:p>
        </p:txBody>
      </p:sp>
      <p:sp>
        <p:nvSpPr>
          <p:cNvPr id="20" name="Rectangle 19"/>
          <p:cNvSpPr/>
          <p:nvPr/>
        </p:nvSpPr>
        <p:spPr>
          <a:xfrm>
            <a:off x="5054803" y="1773936"/>
            <a:ext cx="2070201" cy="2148840"/>
          </a:xfrm>
          <a:prstGeom prst="rect">
            <a:avLst/>
          </a:prstGeom>
          <a:solidFill>
            <a:srgbClr val="F6D2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054803" y="1773936"/>
            <a:ext cx="2070201" cy="100584"/>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201107" y="1956816"/>
            <a:ext cx="1777593" cy="502920"/>
          </a:xfrm>
          <a:prstGeom prst="rect">
            <a:avLst/>
          </a:prstGeom>
          <a:noFill/>
        </p:spPr>
        <p:txBody>
          <a:bodyPr wrap="square" lIns="36576" rIns="36576" tIns="36576" bIns="36576" anchor="t">
            <a:spAutoFit/>
          </a:bodyPr>
          <a:lstStyle/>
          <a:p>
            <a:pPr algn="l"/>
            <a:r>
              <a:rPr sz="1500" b="1" i="0">
                <a:solidFill>
                  <a:srgbClr val="B22222"/>
                </a:solidFill>
                <a:latin typeface="Abadi"/>
              </a:rPr>
              <a:t>Retching</a:t>
            </a:r>
          </a:p>
        </p:txBody>
      </p:sp>
      <p:sp>
        <p:nvSpPr>
          <p:cNvPr id="23" name="TextBox 22"/>
          <p:cNvSpPr txBox="1"/>
          <p:nvPr/>
        </p:nvSpPr>
        <p:spPr>
          <a:xfrm>
            <a:off x="5201107" y="2487168"/>
            <a:ext cx="1777593" cy="1344168"/>
          </a:xfrm>
          <a:prstGeom prst="rect">
            <a:avLst/>
          </a:prstGeom>
          <a:noFill/>
        </p:spPr>
        <p:txBody>
          <a:bodyPr wrap="square" lIns="36576" rIns="36576" tIns="36576" bIns="36576" anchor="t">
            <a:spAutoFit/>
          </a:bodyPr>
          <a:lstStyle/>
          <a:p>
            <a:pPr algn="l">
              <a:spcAft>
                <a:spcPts val="400"/>
              </a:spcAft>
            </a:pPr>
            <a:r>
              <a:rPr sz="1100" b="0" i="0">
                <a:solidFill>
                  <a:srgbClr val="1A1A1A"/>
                </a:solidFill>
                <a:latin typeface="Abadi"/>
              </a:rPr>
              <a:t>▪  Persists or appears</a:t>
            </a:r>
          </a:p>
          <a:p>
            <a:pPr algn="l">
              <a:spcAft>
                <a:spcPts val="400"/>
              </a:spcAft>
            </a:pPr>
            <a:r>
              <a:rPr sz="1100" b="0" i="0">
                <a:solidFill>
                  <a:srgbClr val="1A1A1A"/>
                </a:solidFill>
                <a:latin typeface="Abadi"/>
              </a:rPr>
              <a:t>▪  Central, not reflux</a:t>
            </a:r>
          </a:p>
        </p:txBody>
      </p:sp>
      <p:sp>
        <p:nvSpPr>
          <p:cNvPr id="24" name="Rectangle 23"/>
          <p:cNvSpPr/>
          <p:nvPr/>
        </p:nvSpPr>
        <p:spPr>
          <a:xfrm>
            <a:off x="7307884" y="1773936"/>
            <a:ext cx="2070201" cy="2148840"/>
          </a:xfrm>
          <a:prstGeom prst="rect">
            <a:avLst/>
          </a:prstGeom>
          <a:solidFill>
            <a:srgbClr val="F6D2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307884" y="1773936"/>
            <a:ext cx="2070201" cy="100584"/>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54188" y="1956816"/>
            <a:ext cx="1777593" cy="502920"/>
          </a:xfrm>
          <a:prstGeom prst="rect">
            <a:avLst/>
          </a:prstGeom>
          <a:noFill/>
        </p:spPr>
        <p:txBody>
          <a:bodyPr wrap="square" lIns="36576" rIns="36576" tIns="36576" bIns="36576" anchor="t">
            <a:spAutoFit/>
          </a:bodyPr>
          <a:lstStyle/>
          <a:p>
            <a:pPr algn="l"/>
            <a:r>
              <a:rPr sz="1500" b="1" i="0">
                <a:solidFill>
                  <a:srgbClr val="B22222"/>
                </a:solidFill>
                <a:latin typeface="Abadi"/>
              </a:rPr>
              <a:t>Dumping</a:t>
            </a:r>
          </a:p>
        </p:txBody>
      </p:sp>
      <p:sp>
        <p:nvSpPr>
          <p:cNvPr id="27" name="TextBox 26"/>
          <p:cNvSpPr txBox="1"/>
          <p:nvPr/>
        </p:nvSpPr>
        <p:spPr>
          <a:xfrm>
            <a:off x="7454188" y="2487168"/>
            <a:ext cx="1777593" cy="1344168"/>
          </a:xfrm>
          <a:prstGeom prst="rect">
            <a:avLst/>
          </a:prstGeom>
          <a:noFill/>
        </p:spPr>
        <p:txBody>
          <a:bodyPr wrap="square" lIns="36576" rIns="36576" tIns="36576" bIns="36576" anchor="t">
            <a:spAutoFit/>
          </a:bodyPr>
          <a:lstStyle/>
          <a:p>
            <a:pPr algn="l">
              <a:spcAft>
                <a:spcPts val="400"/>
              </a:spcAft>
            </a:pPr>
            <a:r>
              <a:rPr sz="1100" b="0" i="0">
                <a:solidFill>
                  <a:srgbClr val="1A1A1A"/>
                </a:solidFill>
                <a:latin typeface="Abadi"/>
              </a:rPr>
              <a:t>▪  9% of 190 children</a:t>
            </a:r>
          </a:p>
          <a:p>
            <a:pPr algn="l">
              <a:spcAft>
                <a:spcPts val="400"/>
              </a:spcAft>
            </a:pPr>
            <a:r>
              <a:rPr sz="1100" b="0" i="0">
                <a:solidFill>
                  <a:srgbClr val="1A1A1A"/>
                </a:solidFill>
                <a:latin typeface="Abadi"/>
              </a:rPr>
              <a:t>▪  Surgery &lt; 12 months aOR 10.3</a:t>
            </a:r>
          </a:p>
          <a:p>
            <a:pPr algn="l">
              <a:spcAft>
                <a:spcPts val="400"/>
              </a:spcAft>
            </a:pPr>
            <a:r>
              <a:rPr sz="1100" b="0" i="0">
                <a:solidFill>
                  <a:srgbClr val="1A1A1A"/>
                </a:solidFill>
                <a:latin typeface="Abadi"/>
              </a:rPr>
              <a:t>▪  Severe scoliosis aOR 19.3</a:t>
            </a:r>
          </a:p>
        </p:txBody>
      </p:sp>
      <p:sp>
        <p:nvSpPr>
          <p:cNvPr id="28" name="Rectangle 27"/>
          <p:cNvSpPr/>
          <p:nvPr/>
        </p:nvSpPr>
        <p:spPr>
          <a:xfrm>
            <a:off x="9560966" y="1773936"/>
            <a:ext cx="2070201" cy="2148840"/>
          </a:xfrm>
          <a:prstGeom prst="rect">
            <a:avLst/>
          </a:prstGeom>
          <a:solidFill>
            <a:srgbClr val="E7E9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9560966" y="1773936"/>
            <a:ext cx="2070201" cy="100584"/>
          </a:xfrm>
          <a:prstGeom prst="rect">
            <a:avLst/>
          </a:prstGeom>
          <a:solidFill>
            <a:srgbClr val="8A93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707270" y="1956816"/>
            <a:ext cx="1777593" cy="502920"/>
          </a:xfrm>
          <a:prstGeom prst="rect">
            <a:avLst/>
          </a:prstGeom>
          <a:noFill/>
        </p:spPr>
        <p:txBody>
          <a:bodyPr wrap="square" lIns="36576" rIns="36576" tIns="36576" bIns="36576" anchor="t">
            <a:spAutoFit/>
          </a:bodyPr>
          <a:lstStyle/>
          <a:p>
            <a:pPr algn="l"/>
            <a:r>
              <a:rPr sz="1500" b="1" i="0">
                <a:solidFill>
                  <a:srgbClr val="8A939B"/>
                </a:solidFill>
                <a:latin typeface="Abadi"/>
              </a:rPr>
              <a:t>Redo</a:t>
            </a:r>
          </a:p>
        </p:txBody>
      </p:sp>
      <p:sp>
        <p:nvSpPr>
          <p:cNvPr id="31" name="TextBox 30"/>
          <p:cNvSpPr txBox="1"/>
          <p:nvPr/>
        </p:nvSpPr>
        <p:spPr>
          <a:xfrm>
            <a:off x="9707270" y="2487168"/>
            <a:ext cx="1777593" cy="1344168"/>
          </a:xfrm>
          <a:prstGeom prst="rect">
            <a:avLst/>
          </a:prstGeom>
          <a:noFill/>
        </p:spPr>
        <p:txBody>
          <a:bodyPr wrap="square" lIns="36576" rIns="36576" tIns="36576" bIns="36576" anchor="t">
            <a:spAutoFit/>
          </a:bodyPr>
          <a:lstStyle/>
          <a:p>
            <a:pPr algn="l">
              <a:spcAft>
                <a:spcPts val="400"/>
              </a:spcAft>
            </a:pPr>
            <a:r>
              <a:rPr sz="1100" b="0" i="0">
                <a:solidFill>
                  <a:srgbClr val="1A1A1A"/>
                </a:solidFill>
                <a:latin typeface="Abadi"/>
              </a:rPr>
              <a:t>▪  Recurrence after redo 21%</a:t>
            </a:r>
          </a:p>
          <a:p>
            <a:pPr algn="l">
              <a:spcAft>
                <a:spcPts val="400"/>
              </a:spcAft>
            </a:pPr>
            <a:r>
              <a:rPr sz="1100" b="0" i="0">
                <a:solidFill>
                  <a:srgbClr val="1A1A1A"/>
                </a:solidFill>
                <a:latin typeface="Abadi"/>
              </a:rPr>
              <a:t>▪  Early major complications 25%</a:t>
            </a:r>
          </a:p>
        </p:txBody>
      </p:sp>
      <p:sp>
        <p:nvSpPr>
          <p:cNvPr id="32" name="TextBox 31"/>
          <p:cNvSpPr txBox="1"/>
          <p:nvPr/>
        </p:nvSpPr>
        <p:spPr>
          <a:xfrm>
            <a:off x="548640" y="4114800"/>
            <a:ext cx="11082528" cy="1005840"/>
          </a:xfrm>
          <a:prstGeom prst="rect">
            <a:avLst/>
          </a:prstGeom>
          <a:noFill/>
        </p:spPr>
        <p:txBody>
          <a:bodyPr wrap="square" lIns="36576" rIns="36576" tIns="36576" bIns="36576" anchor="t">
            <a:spAutoFit/>
          </a:bodyPr>
          <a:lstStyle/>
          <a:p>
            <a:pPr algn="l"/>
            <a:r>
              <a:rPr sz="1250" b="1" i="0">
                <a:solidFill>
                  <a:srgbClr val="1B355E"/>
                </a:solidFill>
                <a:latin typeface="Abadi"/>
              </a:rPr>
              <a:t>Dumping is missed.   </a:t>
            </a:r>
            <a:r>
              <a:rPr sz="1250" b="0" i="0">
                <a:solidFill>
                  <a:srgbClr val="1A1A1A"/>
                </a:solidFill>
                <a:latin typeface="Abadi"/>
              </a:rPr>
              <a:t>A fundoplication accelerates gastric emptying. Pallor, sweating, lethargy or seizures an hour or two after feeds can be reactive hypoglycaemia, not a neurological event. Check glucose after a feed in any child who changes after a wrap.</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292608"/>
            <a:ext cx="630936" cy="347472"/>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630936" cy="347472"/>
          </a:xfrm>
          <a:prstGeom prst="rect">
            <a:avLst/>
          </a:prstGeom>
          <a:noFill/>
        </p:spPr>
        <p:txBody>
          <a:bodyPr wrap="square" lIns="36576" rIns="36576" tIns="36576" bIns="36576" anchor="ctr">
            <a:spAutoFit/>
          </a:bodyPr>
          <a:lstStyle/>
          <a:p>
            <a:pPr algn="ctr"/>
            <a:r>
              <a:rPr sz="1500" b="1" i="0">
                <a:solidFill>
                  <a:srgbClr val="FFFFFF"/>
                </a:solidFill>
                <a:latin typeface="Abadi"/>
              </a:rPr>
              <a:t>V</a:t>
            </a:r>
          </a:p>
        </p:txBody>
      </p:sp>
      <p:sp>
        <p:nvSpPr>
          <p:cNvPr id="4" name="TextBox 3"/>
          <p:cNvSpPr txBox="1"/>
          <p:nvPr/>
        </p:nvSpPr>
        <p:spPr>
          <a:xfrm>
            <a:off x="1380744" y="292608"/>
            <a:ext cx="10232136" cy="347472"/>
          </a:xfrm>
          <a:prstGeom prst="rect">
            <a:avLst/>
          </a:prstGeom>
          <a:noFill/>
        </p:spPr>
        <p:txBody>
          <a:bodyPr wrap="square" lIns="36576" rIns="36576" tIns="36576" bIns="36576" anchor="ctr">
            <a:spAutoFit/>
          </a:bodyPr>
          <a:lstStyle/>
          <a:p>
            <a:pPr algn="l"/>
            <a:r>
              <a:rPr sz="1200" b="1" i="0">
                <a:solidFill>
                  <a:srgbClr val="B22222"/>
                </a:solidFill>
                <a:latin typeface="Abadi"/>
              </a:rPr>
              <a:t>JEJUNAL FEEDING</a:t>
            </a:r>
          </a:p>
        </p:txBody>
      </p:sp>
      <p:sp>
        <p:nvSpPr>
          <p:cNvPr id="5" name="TextBox 4"/>
          <p:cNvSpPr txBox="1"/>
          <p:nvPr/>
        </p:nvSpPr>
        <p:spPr>
          <a:xfrm>
            <a:off x="548640" y="722376"/>
            <a:ext cx="11082528" cy="548640"/>
          </a:xfrm>
          <a:prstGeom prst="rect">
            <a:avLst/>
          </a:prstGeom>
          <a:noFill/>
        </p:spPr>
        <p:txBody>
          <a:bodyPr wrap="square" lIns="36576" rIns="36576" tIns="36576" bIns="36576" anchor="ctr">
            <a:spAutoFit/>
          </a:bodyPr>
          <a:lstStyle/>
          <a:p>
            <a:pPr algn="l"/>
            <a:r>
              <a:rPr sz="3000" b="1" i="0">
                <a:solidFill>
                  <a:srgbClr val="1B355E"/>
                </a:solidFill>
                <a:latin typeface="Abadi"/>
              </a:rPr>
              <a:t>THE ALTERNATIVE TO A WRAP</a:t>
            </a:r>
          </a:p>
        </p:txBody>
      </p:sp>
      <p:sp>
        <p:nvSpPr>
          <p:cNvPr id="6" name="TextBox 5"/>
          <p:cNvSpPr txBox="1"/>
          <p:nvPr/>
        </p:nvSpPr>
        <p:spPr>
          <a:xfrm>
            <a:off x="548640" y="1307592"/>
            <a:ext cx="11082528" cy="265176"/>
          </a:xfrm>
          <a:prstGeom prst="rect">
            <a:avLst/>
          </a:prstGeom>
          <a:noFill/>
        </p:spPr>
        <p:txBody>
          <a:bodyPr wrap="square" lIns="36576" rIns="36576" tIns="36576" bIns="36576" anchor="t">
            <a:spAutoFit/>
          </a:bodyPr>
          <a:lstStyle/>
          <a:p>
            <a:pPr algn="l"/>
            <a:r>
              <a:rPr sz="1300" b="0" i="0">
                <a:solidFill>
                  <a:srgbClr val="555555"/>
                </a:solidFill>
                <a:latin typeface="Abadi"/>
              </a:rPr>
              <a:t>Comparative evidence in neurologically impaired children: gastrostomy plus fundoplication versus gastrojejunal tube</a:t>
            </a:r>
          </a:p>
        </p:txBody>
      </p:sp>
      <p:sp>
        <p:nvSpPr>
          <p:cNvPr id="7" name="Rectangle 6"/>
          <p:cNvSpPr/>
          <p:nvPr/>
        </p:nvSpPr>
        <p:spPr>
          <a:xfrm>
            <a:off x="548640" y="1600200"/>
            <a:ext cx="11082528" cy="27432"/>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55064"/>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5888736"/>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36224" y="5971032"/>
            <a:ext cx="694944" cy="292608"/>
          </a:xfrm>
          <a:prstGeom prst="rect">
            <a:avLst/>
          </a:prstGeom>
          <a:noFill/>
        </p:spPr>
        <p:txBody>
          <a:bodyPr wrap="square" lIns="36576" rIns="36576" tIns="36576" bIns="36576" anchor="t">
            <a:spAutoFit/>
          </a:bodyPr>
          <a:lstStyle/>
          <a:p>
            <a:pPr algn="r"/>
            <a:r>
              <a:rPr sz="1200" b="0" i="0">
                <a:solidFill>
                  <a:srgbClr val="555555"/>
                </a:solidFill>
                <a:latin typeface="Abadi"/>
              </a:rPr>
              <a:t>12</a:t>
            </a:r>
          </a:p>
        </p:txBody>
      </p:sp>
      <p:sp>
        <p:nvSpPr>
          <p:cNvPr id="11" name="TextBox 10"/>
          <p:cNvSpPr txBox="1"/>
          <p:nvPr/>
        </p:nvSpPr>
        <p:spPr>
          <a:xfrm>
            <a:off x="548640" y="5971032"/>
            <a:ext cx="10287000" cy="457200"/>
          </a:xfrm>
          <a:prstGeom prst="rect">
            <a:avLst/>
          </a:prstGeom>
          <a:noFill/>
        </p:spPr>
        <p:txBody>
          <a:bodyPr wrap="square" lIns="36576" rIns="36576" tIns="36576" bIns="36576" anchor="t">
            <a:spAutoFit/>
          </a:bodyPr>
          <a:lstStyle/>
          <a:p>
            <a:pPr algn="l"/>
            <a:r>
              <a:rPr sz="1000" b="0" i="0">
                <a:solidFill>
                  <a:srgbClr val="8A939B"/>
                </a:solidFill>
                <a:latin typeface="Abadi"/>
              </a:rPr>
              <a:t>Cochrane CD015007 (Flores JC … Cohen E), 2026 · Hosp Pediatr 2017 (PHIS, PMID 28159744) · Srivastava R, et al. Pediatrics 2009;123:338–45</a:t>
            </a:r>
          </a:p>
        </p:txBody>
      </p:sp>
      <p:sp>
        <p:nvSpPr>
          <p:cNvPr id="12" name="Rectangle 11"/>
          <p:cNvSpPr/>
          <p:nvPr/>
        </p:nvSpPr>
        <p:spPr>
          <a:xfrm>
            <a:off x="548640" y="1773936"/>
            <a:ext cx="2633472" cy="2148840"/>
          </a:xfrm>
          <a:prstGeom prst="rect">
            <a:avLst/>
          </a:prstGeom>
          <a:solidFill>
            <a:srgbClr val="E7E9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1773936"/>
            <a:ext cx="2633472" cy="100584"/>
          </a:xfrm>
          <a:prstGeom prst="rect">
            <a:avLst/>
          </a:prstGeom>
          <a:solidFill>
            <a:srgbClr val="8A93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94944" y="1956816"/>
            <a:ext cx="2340864" cy="502920"/>
          </a:xfrm>
          <a:prstGeom prst="rect">
            <a:avLst/>
          </a:prstGeom>
          <a:noFill/>
        </p:spPr>
        <p:txBody>
          <a:bodyPr wrap="square" lIns="36576" rIns="36576" tIns="36576" bIns="36576" anchor="t">
            <a:spAutoFit/>
          </a:bodyPr>
          <a:lstStyle/>
          <a:p>
            <a:pPr algn="l"/>
            <a:r>
              <a:rPr sz="1500" b="1" i="0">
                <a:solidFill>
                  <a:srgbClr val="8A939B"/>
                </a:solidFill>
                <a:latin typeface="Abadi"/>
              </a:rPr>
              <a:t>No RCTs</a:t>
            </a:r>
          </a:p>
        </p:txBody>
      </p:sp>
      <p:sp>
        <p:nvSpPr>
          <p:cNvPr id="15" name="TextBox 14"/>
          <p:cNvSpPr txBox="1"/>
          <p:nvPr/>
        </p:nvSpPr>
        <p:spPr>
          <a:xfrm>
            <a:off x="694944" y="2487168"/>
            <a:ext cx="2340864" cy="1344168"/>
          </a:xfrm>
          <a:prstGeom prst="rect">
            <a:avLst/>
          </a:prstGeom>
          <a:noFill/>
        </p:spPr>
        <p:txBody>
          <a:bodyPr wrap="square" lIns="36576" rIns="36576" tIns="36576" bIns="36576" anchor="t">
            <a:spAutoFit/>
          </a:bodyPr>
          <a:lstStyle/>
          <a:p>
            <a:pPr algn="l"/>
            <a:r>
              <a:rPr sz="1150" b="0" i="0">
                <a:solidFill>
                  <a:srgbClr val="1A1A1A"/>
                </a:solidFill>
                <a:latin typeface="Abadi"/>
              </a:rPr>
              <a:t>Cochrane 2026: 11 non-randomised studies, 3,122 children. Pneumonia: little or no difference. Certainty very low to low.</a:t>
            </a:r>
          </a:p>
        </p:txBody>
      </p:sp>
      <p:sp>
        <p:nvSpPr>
          <p:cNvPr id="16" name="Rectangle 15"/>
          <p:cNvSpPr/>
          <p:nvPr/>
        </p:nvSpPr>
        <p:spPr>
          <a:xfrm>
            <a:off x="3364992" y="1773936"/>
            <a:ext cx="2633472" cy="2148840"/>
          </a:xfrm>
          <a:prstGeom prst="rect">
            <a:avLst/>
          </a:prstGeom>
          <a:solidFill>
            <a:srgbClr val="DCE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364992" y="1773936"/>
            <a:ext cx="2633472" cy="100584"/>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511296" y="1956816"/>
            <a:ext cx="2340864" cy="502920"/>
          </a:xfrm>
          <a:prstGeom prst="rect">
            <a:avLst/>
          </a:prstGeom>
          <a:noFill/>
        </p:spPr>
        <p:txBody>
          <a:bodyPr wrap="square" lIns="36576" rIns="36576" tIns="36576" bIns="36576" anchor="t">
            <a:spAutoFit/>
          </a:bodyPr>
          <a:lstStyle/>
          <a:p>
            <a:pPr algn="l"/>
            <a:r>
              <a:rPr sz="1500" b="1" i="0">
                <a:solidFill>
                  <a:srgbClr val="1B355E"/>
                </a:solidFill>
                <a:latin typeface="Abadi"/>
              </a:rPr>
              <a:t>2.07 vs 1.67</a:t>
            </a:r>
          </a:p>
        </p:txBody>
      </p:sp>
      <p:sp>
        <p:nvSpPr>
          <p:cNvPr id="19" name="TextBox 18"/>
          <p:cNvSpPr txBox="1"/>
          <p:nvPr/>
        </p:nvSpPr>
        <p:spPr>
          <a:xfrm>
            <a:off x="3511296" y="2487168"/>
            <a:ext cx="2340864" cy="1344168"/>
          </a:xfrm>
          <a:prstGeom prst="rect">
            <a:avLst/>
          </a:prstGeom>
          <a:noFill/>
        </p:spPr>
        <p:txBody>
          <a:bodyPr wrap="square" lIns="36576" rIns="36576" tIns="36576" bIns="36576" anchor="t">
            <a:spAutoFit/>
          </a:bodyPr>
          <a:lstStyle/>
          <a:p>
            <a:pPr algn="l"/>
            <a:r>
              <a:rPr sz="1150" b="0" i="0">
                <a:solidFill>
                  <a:srgbClr val="1A1A1A"/>
                </a:solidFill>
                <a:latin typeface="Abadi"/>
              </a:rPr>
              <a:t>US children's hospitals, 114 matched pairs: reflux-related admissions per child-year, GJ vs fundoplication (P = .19).</a:t>
            </a:r>
          </a:p>
        </p:txBody>
      </p:sp>
      <p:sp>
        <p:nvSpPr>
          <p:cNvPr id="20" name="Rectangle 19"/>
          <p:cNvSpPr/>
          <p:nvPr/>
        </p:nvSpPr>
        <p:spPr>
          <a:xfrm>
            <a:off x="6181344" y="1773936"/>
            <a:ext cx="2633472" cy="2148840"/>
          </a:xfrm>
          <a:prstGeom prst="rect">
            <a:avLst/>
          </a:prstGeom>
          <a:solidFill>
            <a:srgbClr val="CDE7C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181344" y="1773936"/>
            <a:ext cx="2633472" cy="100584"/>
          </a:xfrm>
          <a:prstGeom prst="rect">
            <a:avLst/>
          </a:prstGeom>
          <a:solidFill>
            <a:srgbClr val="1E7A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27648" y="1956816"/>
            <a:ext cx="2340864" cy="502920"/>
          </a:xfrm>
          <a:prstGeom prst="rect">
            <a:avLst/>
          </a:prstGeom>
          <a:noFill/>
        </p:spPr>
        <p:txBody>
          <a:bodyPr wrap="square" lIns="36576" rIns="36576" tIns="36576" bIns="36576" anchor="t">
            <a:spAutoFit/>
          </a:bodyPr>
          <a:lstStyle/>
          <a:p>
            <a:pPr algn="l"/>
            <a:r>
              <a:rPr sz="1500" b="1" i="0">
                <a:solidFill>
                  <a:srgbClr val="1E7A33"/>
                </a:solidFill>
                <a:latin typeface="Abadi"/>
              </a:rPr>
              <a:t>HR 0.71</a:t>
            </a:r>
          </a:p>
        </p:txBody>
      </p:sp>
      <p:sp>
        <p:nvSpPr>
          <p:cNvPr id="23" name="TextBox 22"/>
          <p:cNvSpPr txBox="1"/>
          <p:nvPr/>
        </p:nvSpPr>
        <p:spPr>
          <a:xfrm>
            <a:off x="6327648" y="2487168"/>
            <a:ext cx="2340864" cy="1344168"/>
          </a:xfrm>
          <a:prstGeom prst="rect">
            <a:avLst/>
          </a:prstGeom>
          <a:noFill/>
        </p:spPr>
        <p:txBody>
          <a:bodyPr wrap="square" lIns="36576" rIns="36576" tIns="36576" bIns="36576" anchor="t">
            <a:spAutoFit/>
          </a:bodyPr>
          <a:lstStyle/>
          <a:p>
            <a:pPr algn="l"/>
            <a:r>
              <a:rPr sz="1150" b="0" i="0">
                <a:solidFill>
                  <a:srgbClr val="1A1A1A"/>
                </a:solidFill>
                <a:latin typeface="Abadi"/>
              </a:rPr>
              <a:t>Ontario, 366 children: aspiration pneumonia after fundoplication vs GJ (0.21–1.69), not significant.</a:t>
            </a:r>
          </a:p>
        </p:txBody>
      </p:sp>
      <p:sp>
        <p:nvSpPr>
          <p:cNvPr id="24" name="Rectangle 23"/>
          <p:cNvSpPr/>
          <p:nvPr/>
        </p:nvSpPr>
        <p:spPr>
          <a:xfrm>
            <a:off x="8997696" y="1773936"/>
            <a:ext cx="2633472" cy="2148840"/>
          </a:xfrm>
          <a:prstGeom prst="rect">
            <a:avLst/>
          </a:prstGeom>
          <a:solidFill>
            <a:srgbClr val="FBEF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997696" y="1773936"/>
            <a:ext cx="2633472" cy="100584"/>
          </a:xfrm>
          <a:prstGeom prst="rect">
            <a:avLst/>
          </a:prstGeom>
          <a:solidFill>
            <a:srgbClr val="D97A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144000" y="1956816"/>
            <a:ext cx="2340864" cy="502920"/>
          </a:xfrm>
          <a:prstGeom prst="rect">
            <a:avLst/>
          </a:prstGeom>
          <a:noFill/>
        </p:spPr>
        <p:txBody>
          <a:bodyPr wrap="square" lIns="36576" rIns="36576" tIns="36576" bIns="36576" anchor="t">
            <a:spAutoFit/>
          </a:bodyPr>
          <a:lstStyle/>
          <a:p>
            <a:pPr algn="l"/>
            <a:r>
              <a:rPr sz="1500" b="1" i="0">
                <a:solidFill>
                  <a:srgbClr val="D97A0B"/>
                </a:solidFill>
                <a:latin typeface="Abadi"/>
              </a:rPr>
              <a:t>HR 0.49</a:t>
            </a:r>
          </a:p>
        </p:txBody>
      </p:sp>
      <p:sp>
        <p:nvSpPr>
          <p:cNvPr id="27" name="TextBox 26"/>
          <p:cNvSpPr txBox="1"/>
          <p:nvPr/>
        </p:nvSpPr>
        <p:spPr>
          <a:xfrm>
            <a:off x="9144000" y="2487168"/>
            <a:ext cx="2340864" cy="1344168"/>
          </a:xfrm>
          <a:prstGeom prst="rect">
            <a:avLst/>
          </a:prstGeom>
          <a:noFill/>
        </p:spPr>
        <p:txBody>
          <a:bodyPr wrap="square" lIns="36576" rIns="36576" tIns="36576" bIns="36576" anchor="t">
            <a:spAutoFit/>
          </a:bodyPr>
          <a:lstStyle/>
          <a:p>
            <a:pPr algn="l"/>
            <a:r>
              <a:rPr sz="1150" b="0" i="0">
                <a:solidFill>
                  <a:srgbClr val="1A1A1A"/>
                </a:solidFill>
                <a:latin typeface="Abadi"/>
              </a:rPr>
              <a:t>Same cohort: mortality after fundoplication vs GJ (0.23–1.03), not significant.</a:t>
            </a:r>
          </a:p>
        </p:txBody>
      </p:sp>
      <p:sp>
        <p:nvSpPr>
          <p:cNvPr id="28" name="TextBox 27"/>
          <p:cNvSpPr txBox="1"/>
          <p:nvPr/>
        </p:nvSpPr>
        <p:spPr>
          <a:xfrm>
            <a:off x="548640" y="4114800"/>
            <a:ext cx="11082528" cy="1097280"/>
          </a:xfrm>
          <a:prstGeom prst="rect">
            <a:avLst/>
          </a:prstGeom>
          <a:noFill/>
        </p:spPr>
        <p:txBody>
          <a:bodyPr wrap="square" lIns="36576" rIns="36576" tIns="36576" bIns="36576" anchor="t">
            <a:spAutoFit/>
          </a:bodyPr>
          <a:lstStyle/>
          <a:p>
            <a:pPr algn="l"/>
            <a:r>
              <a:rPr sz="1250" b="1" i="0">
                <a:solidFill>
                  <a:srgbClr val="1B355E"/>
                </a:solidFill>
                <a:latin typeface="Abadi"/>
              </a:rPr>
              <a:t>Where this leaves us.   </a:t>
            </a:r>
            <a:r>
              <a:rPr sz="1250" b="0" i="0">
                <a:solidFill>
                  <a:srgbClr val="1A1A1A"/>
                </a:solidFill>
                <a:latin typeface="Abadi"/>
              </a:rPr>
              <a:t>Neither route clearly prevents more pneumonia or death. The guidelines therefore accept both, and the choice depends on what the family can live with: one operation that may fail, or a tube that bypasses the stomach but needs regular replacement and continuous feeding.</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292608"/>
            <a:ext cx="630936" cy="347472"/>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630936" cy="347472"/>
          </a:xfrm>
          <a:prstGeom prst="rect">
            <a:avLst/>
          </a:prstGeom>
          <a:noFill/>
        </p:spPr>
        <p:txBody>
          <a:bodyPr wrap="square" lIns="36576" rIns="36576" tIns="36576" bIns="36576" anchor="ctr">
            <a:spAutoFit/>
          </a:bodyPr>
          <a:lstStyle/>
          <a:p>
            <a:pPr algn="ctr"/>
            <a:r>
              <a:rPr sz="1500" b="1" i="0">
                <a:solidFill>
                  <a:srgbClr val="FFFFFF"/>
                </a:solidFill>
                <a:latin typeface="Abadi"/>
              </a:rPr>
              <a:t>V</a:t>
            </a:r>
          </a:p>
        </p:txBody>
      </p:sp>
      <p:sp>
        <p:nvSpPr>
          <p:cNvPr id="4" name="TextBox 3"/>
          <p:cNvSpPr txBox="1"/>
          <p:nvPr/>
        </p:nvSpPr>
        <p:spPr>
          <a:xfrm>
            <a:off x="1380744" y="292608"/>
            <a:ext cx="10232136" cy="347472"/>
          </a:xfrm>
          <a:prstGeom prst="rect">
            <a:avLst/>
          </a:prstGeom>
          <a:noFill/>
        </p:spPr>
        <p:txBody>
          <a:bodyPr wrap="square" lIns="36576" rIns="36576" tIns="36576" bIns="36576" anchor="ctr">
            <a:spAutoFit/>
          </a:bodyPr>
          <a:lstStyle/>
          <a:p>
            <a:pPr algn="l"/>
            <a:r>
              <a:rPr sz="1200" b="1" i="0">
                <a:solidFill>
                  <a:srgbClr val="B22222"/>
                </a:solidFill>
                <a:latin typeface="Abadi"/>
              </a:rPr>
              <a:t>THE PRICE OF THE TUBE</a:t>
            </a:r>
          </a:p>
        </p:txBody>
      </p:sp>
      <p:sp>
        <p:nvSpPr>
          <p:cNvPr id="5" name="TextBox 4"/>
          <p:cNvSpPr txBox="1"/>
          <p:nvPr/>
        </p:nvSpPr>
        <p:spPr>
          <a:xfrm>
            <a:off x="548640" y="722376"/>
            <a:ext cx="11082528" cy="548640"/>
          </a:xfrm>
          <a:prstGeom prst="rect">
            <a:avLst/>
          </a:prstGeom>
          <a:noFill/>
        </p:spPr>
        <p:txBody>
          <a:bodyPr wrap="square" lIns="36576" rIns="36576" tIns="36576" bIns="36576" anchor="ctr">
            <a:spAutoFit/>
          </a:bodyPr>
          <a:lstStyle/>
          <a:p>
            <a:pPr algn="l"/>
            <a:r>
              <a:rPr sz="3000" b="1" i="0">
                <a:solidFill>
                  <a:srgbClr val="1B355E"/>
                </a:solidFill>
                <a:latin typeface="Abadi"/>
              </a:rPr>
              <a:t>WHAT GASTROJEJUNAL TUBES COST</a:t>
            </a:r>
          </a:p>
        </p:txBody>
      </p:sp>
      <p:sp>
        <p:nvSpPr>
          <p:cNvPr id="6" name="TextBox 5"/>
          <p:cNvSpPr txBox="1"/>
          <p:nvPr/>
        </p:nvSpPr>
        <p:spPr>
          <a:xfrm>
            <a:off x="548640" y="1307592"/>
            <a:ext cx="11082528" cy="265176"/>
          </a:xfrm>
          <a:prstGeom prst="rect">
            <a:avLst/>
          </a:prstGeom>
          <a:noFill/>
        </p:spPr>
        <p:txBody>
          <a:bodyPr wrap="square" lIns="36576" rIns="36576" tIns="36576" bIns="36576" anchor="t">
            <a:spAutoFit/>
          </a:bodyPr>
          <a:lstStyle/>
          <a:p>
            <a:pPr algn="l"/>
            <a:r>
              <a:rPr sz="1300" b="0" i="0">
                <a:solidFill>
                  <a:srgbClr val="555555"/>
                </a:solidFill>
                <a:latin typeface="Abadi"/>
              </a:rPr>
              <a:t>Complications and burden of gastrojejunal feeding in children</a:t>
            </a:r>
          </a:p>
        </p:txBody>
      </p:sp>
      <p:sp>
        <p:nvSpPr>
          <p:cNvPr id="7" name="Rectangle 6"/>
          <p:cNvSpPr/>
          <p:nvPr/>
        </p:nvSpPr>
        <p:spPr>
          <a:xfrm>
            <a:off x="548640" y="1600200"/>
            <a:ext cx="11082528" cy="27432"/>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55064"/>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5888736"/>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36224" y="5971032"/>
            <a:ext cx="694944" cy="292608"/>
          </a:xfrm>
          <a:prstGeom prst="rect">
            <a:avLst/>
          </a:prstGeom>
          <a:noFill/>
        </p:spPr>
        <p:txBody>
          <a:bodyPr wrap="square" lIns="36576" rIns="36576" tIns="36576" bIns="36576" anchor="t">
            <a:spAutoFit/>
          </a:bodyPr>
          <a:lstStyle/>
          <a:p>
            <a:pPr algn="r"/>
            <a:r>
              <a:rPr sz="1200" b="0" i="0">
                <a:solidFill>
                  <a:srgbClr val="555555"/>
                </a:solidFill>
                <a:latin typeface="Abadi"/>
              </a:rPr>
              <a:t>13</a:t>
            </a:r>
          </a:p>
        </p:txBody>
      </p:sp>
      <p:sp>
        <p:nvSpPr>
          <p:cNvPr id="11" name="TextBox 10"/>
          <p:cNvSpPr txBox="1"/>
          <p:nvPr/>
        </p:nvSpPr>
        <p:spPr>
          <a:xfrm>
            <a:off x="548640" y="5971032"/>
            <a:ext cx="10287000" cy="457200"/>
          </a:xfrm>
          <a:prstGeom prst="rect">
            <a:avLst/>
          </a:prstGeom>
          <a:noFill/>
        </p:spPr>
        <p:txBody>
          <a:bodyPr wrap="square" lIns="36576" rIns="36576" tIns="36576" bIns="36576" anchor="t">
            <a:spAutoFit/>
          </a:bodyPr>
          <a:lstStyle/>
          <a:p>
            <a:pPr algn="l"/>
            <a:r>
              <a:rPr sz="1000" b="0" i="0">
                <a:solidFill>
                  <a:srgbClr val="8A939B"/>
                </a:solidFill>
                <a:latin typeface="Abadi"/>
              </a:rPr>
              <a:t>J Pediatr Surg 2017 systematic review (doi 10.1016/j.jpedsurg.2017.01.026) · JPGN 2014;58:518–24 · JPGN 2013;56:523–7 · Broekaert 2019</a:t>
            </a:r>
          </a:p>
        </p:txBody>
      </p:sp>
      <p:sp>
        <p:nvSpPr>
          <p:cNvPr id="12" name="TextBox 11"/>
          <p:cNvSpPr txBox="1"/>
          <p:nvPr/>
        </p:nvSpPr>
        <p:spPr>
          <a:xfrm>
            <a:off x="548640" y="1828800"/>
            <a:ext cx="2834640" cy="457200"/>
          </a:xfrm>
          <a:prstGeom prst="rect">
            <a:avLst/>
          </a:prstGeom>
          <a:noFill/>
        </p:spPr>
        <p:txBody>
          <a:bodyPr wrap="square" lIns="36576" rIns="36576" tIns="36576" bIns="36576" anchor="ctr">
            <a:spAutoFit/>
          </a:bodyPr>
          <a:lstStyle/>
          <a:p>
            <a:pPr algn="l"/>
            <a:r>
              <a:rPr sz="1050" b="0" i="0">
                <a:solidFill>
                  <a:srgbClr val="1A1A1A"/>
                </a:solidFill>
                <a:latin typeface="Abadi"/>
              </a:rPr>
              <a:t>Perforation · all procedures</a:t>
            </a:r>
          </a:p>
        </p:txBody>
      </p:sp>
      <p:sp>
        <p:nvSpPr>
          <p:cNvPr id="13" name="Rectangle 12"/>
          <p:cNvSpPr/>
          <p:nvPr/>
        </p:nvSpPr>
        <p:spPr>
          <a:xfrm>
            <a:off x="3474720" y="1856231"/>
            <a:ext cx="2327563" cy="402336"/>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875435" y="1828800"/>
            <a:ext cx="1463040" cy="457200"/>
          </a:xfrm>
          <a:prstGeom prst="rect">
            <a:avLst/>
          </a:prstGeom>
          <a:noFill/>
        </p:spPr>
        <p:txBody>
          <a:bodyPr wrap="square" lIns="36576" rIns="36576" tIns="36576" bIns="36576" anchor="ctr">
            <a:spAutoFit/>
          </a:bodyPr>
          <a:lstStyle/>
          <a:p>
            <a:pPr algn="l"/>
            <a:r>
              <a:rPr sz="1050" b="1" i="0">
                <a:solidFill>
                  <a:srgbClr val="1A1A1A"/>
                </a:solidFill>
                <a:latin typeface="Abadi"/>
              </a:rPr>
              <a:t>2.1%</a:t>
            </a:r>
          </a:p>
        </p:txBody>
      </p:sp>
      <p:sp>
        <p:nvSpPr>
          <p:cNvPr id="15" name="TextBox 14"/>
          <p:cNvSpPr txBox="1"/>
          <p:nvPr/>
        </p:nvSpPr>
        <p:spPr>
          <a:xfrm>
            <a:off x="548640" y="2286000"/>
            <a:ext cx="2834640" cy="457200"/>
          </a:xfrm>
          <a:prstGeom prst="rect">
            <a:avLst/>
          </a:prstGeom>
          <a:noFill/>
        </p:spPr>
        <p:txBody>
          <a:bodyPr wrap="square" lIns="36576" rIns="36576" tIns="36576" bIns="36576" anchor="ctr">
            <a:spAutoFit/>
          </a:bodyPr>
          <a:lstStyle/>
          <a:p>
            <a:pPr algn="l"/>
            <a:r>
              <a:rPr sz="1050" b="0" i="0">
                <a:solidFill>
                  <a:srgbClr val="1A1A1A"/>
                </a:solidFill>
                <a:latin typeface="Abadi"/>
              </a:rPr>
              <a:t>Perforation · child &lt; 10 kg</a:t>
            </a:r>
          </a:p>
        </p:txBody>
      </p:sp>
      <p:sp>
        <p:nvSpPr>
          <p:cNvPr id="16" name="Rectangle 15"/>
          <p:cNvSpPr/>
          <p:nvPr/>
        </p:nvSpPr>
        <p:spPr>
          <a:xfrm>
            <a:off x="3474720" y="2313432"/>
            <a:ext cx="3435927" cy="402336"/>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983799" y="2286000"/>
            <a:ext cx="1463040" cy="457200"/>
          </a:xfrm>
          <a:prstGeom prst="rect">
            <a:avLst/>
          </a:prstGeom>
          <a:noFill/>
        </p:spPr>
        <p:txBody>
          <a:bodyPr wrap="square" lIns="36576" rIns="36576" tIns="36576" bIns="36576" anchor="ctr">
            <a:spAutoFit/>
          </a:bodyPr>
          <a:lstStyle/>
          <a:p>
            <a:pPr algn="l"/>
            <a:r>
              <a:rPr sz="1050" b="1" i="0">
                <a:solidFill>
                  <a:srgbClr val="1A1A1A"/>
                </a:solidFill>
                <a:latin typeface="Abadi"/>
              </a:rPr>
              <a:t>3.1%</a:t>
            </a:r>
          </a:p>
        </p:txBody>
      </p:sp>
      <p:sp>
        <p:nvSpPr>
          <p:cNvPr id="18" name="TextBox 17"/>
          <p:cNvSpPr txBox="1"/>
          <p:nvPr/>
        </p:nvSpPr>
        <p:spPr>
          <a:xfrm>
            <a:off x="548640" y="2743200"/>
            <a:ext cx="2834640" cy="457200"/>
          </a:xfrm>
          <a:prstGeom prst="rect">
            <a:avLst/>
          </a:prstGeom>
          <a:noFill/>
        </p:spPr>
        <p:txBody>
          <a:bodyPr wrap="square" lIns="36576" rIns="36576" tIns="36576" bIns="36576" anchor="ctr">
            <a:spAutoFit/>
          </a:bodyPr>
          <a:lstStyle/>
          <a:p>
            <a:pPr algn="l"/>
            <a:r>
              <a:rPr sz="1050" b="0" i="0">
                <a:solidFill>
                  <a:srgbClr val="1A1A1A"/>
                </a:solidFill>
                <a:latin typeface="Abadi"/>
              </a:rPr>
              <a:t>Perforation · child ≥ 10 kg</a:t>
            </a:r>
          </a:p>
        </p:txBody>
      </p:sp>
      <p:sp>
        <p:nvSpPr>
          <p:cNvPr id="19" name="Rectangle 18"/>
          <p:cNvSpPr/>
          <p:nvPr/>
        </p:nvSpPr>
        <p:spPr>
          <a:xfrm>
            <a:off x="3474720" y="2770632"/>
            <a:ext cx="110836" cy="402336"/>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658708" y="2743200"/>
            <a:ext cx="1463040" cy="457200"/>
          </a:xfrm>
          <a:prstGeom prst="rect">
            <a:avLst/>
          </a:prstGeom>
          <a:noFill/>
        </p:spPr>
        <p:txBody>
          <a:bodyPr wrap="square" lIns="36576" rIns="36576" tIns="36576" bIns="36576" anchor="ctr">
            <a:spAutoFit/>
          </a:bodyPr>
          <a:lstStyle/>
          <a:p>
            <a:pPr algn="l"/>
            <a:r>
              <a:rPr sz="1050" b="1" i="0">
                <a:solidFill>
                  <a:srgbClr val="1A1A1A"/>
                </a:solidFill>
                <a:latin typeface="Abadi"/>
              </a:rPr>
              <a:t>0.1%</a:t>
            </a:r>
          </a:p>
        </p:txBody>
      </p:sp>
      <p:sp>
        <p:nvSpPr>
          <p:cNvPr id="21" name="TextBox 20"/>
          <p:cNvSpPr txBox="1"/>
          <p:nvPr/>
        </p:nvSpPr>
        <p:spPr>
          <a:xfrm>
            <a:off x="548640" y="3200400"/>
            <a:ext cx="2834640" cy="457200"/>
          </a:xfrm>
          <a:prstGeom prst="rect">
            <a:avLst/>
          </a:prstGeom>
          <a:noFill/>
        </p:spPr>
        <p:txBody>
          <a:bodyPr wrap="square" lIns="36576" rIns="36576" tIns="36576" bIns="36576" anchor="ctr">
            <a:spAutoFit/>
          </a:bodyPr>
          <a:lstStyle/>
          <a:p>
            <a:pPr algn="l"/>
            <a:r>
              <a:rPr sz="1050" b="0" i="0">
                <a:solidFill>
                  <a:srgbClr val="1A1A1A"/>
                </a:solidFill>
                <a:latin typeface="Abadi"/>
              </a:rPr>
              <a:t>Mortality per patient</a:t>
            </a:r>
          </a:p>
        </p:txBody>
      </p:sp>
      <p:sp>
        <p:nvSpPr>
          <p:cNvPr id="22" name="Rectangle 21"/>
          <p:cNvSpPr/>
          <p:nvPr/>
        </p:nvSpPr>
        <p:spPr>
          <a:xfrm>
            <a:off x="3474720" y="3227832"/>
            <a:ext cx="997527" cy="402336"/>
          </a:xfrm>
          <a:prstGeom prst="rect">
            <a:avLst/>
          </a:prstGeom>
          <a:solidFill>
            <a:srgbClr val="8A93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545399" y="3200400"/>
            <a:ext cx="1463040" cy="457200"/>
          </a:xfrm>
          <a:prstGeom prst="rect">
            <a:avLst/>
          </a:prstGeom>
          <a:noFill/>
        </p:spPr>
        <p:txBody>
          <a:bodyPr wrap="square" lIns="36576" rIns="36576" tIns="36576" bIns="36576" anchor="ctr">
            <a:spAutoFit/>
          </a:bodyPr>
          <a:lstStyle/>
          <a:p>
            <a:pPr algn="l"/>
            <a:r>
              <a:rPr sz="1050" b="1" i="0">
                <a:solidFill>
                  <a:srgbClr val="1A1A1A"/>
                </a:solidFill>
                <a:latin typeface="Abadi"/>
              </a:rPr>
              <a:t>0.9%</a:t>
            </a:r>
          </a:p>
        </p:txBody>
      </p:sp>
      <p:sp>
        <p:nvSpPr>
          <p:cNvPr id="24" name="TextBox 23"/>
          <p:cNvSpPr txBox="1"/>
          <p:nvPr/>
        </p:nvSpPr>
        <p:spPr>
          <a:xfrm>
            <a:off x="548640" y="3685032"/>
            <a:ext cx="7863840" cy="274320"/>
          </a:xfrm>
          <a:prstGeom prst="rect">
            <a:avLst/>
          </a:prstGeom>
          <a:noFill/>
        </p:spPr>
        <p:txBody>
          <a:bodyPr wrap="square" lIns="36576" rIns="36576" tIns="36576" bIns="36576" anchor="t">
            <a:spAutoFit/>
          </a:bodyPr>
          <a:lstStyle/>
          <a:p>
            <a:pPr algn="l"/>
            <a:r>
              <a:rPr sz="950" b="0" i="0">
                <a:solidFill>
                  <a:srgbClr val="8A939B"/>
                </a:solidFill>
                <a:latin typeface="Abadi"/>
              </a:rPr>
              <a:t>Systematic review of 2,726 procedures; 83% of perforations occurred in the first 30 days.</a:t>
            </a:r>
          </a:p>
        </p:txBody>
      </p:sp>
      <p:sp>
        <p:nvSpPr>
          <p:cNvPr id="25" name="TextBox 24"/>
          <p:cNvSpPr txBox="1"/>
          <p:nvPr/>
        </p:nvSpPr>
        <p:spPr>
          <a:xfrm>
            <a:off x="8778240" y="1783080"/>
            <a:ext cx="2834640" cy="3931920"/>
          </a:xfrm>
          <a:prstGeom prst="rect">
            <a:avLst/>
          </a:prstGeom>
          <a:noFill/>
        </p:spPr>
        <p:txBody>
          <a:bodyPr wrap="square" lIns="36576" rIns="36576" tIns="36576" bIns="36576" anchor="t">
            <a:spAutoFit/>
          </a:bodyPr>
          <a:lstStyle/>
          <a:p>
            <a:pPr algn="l">
              <a:spcAft>
                <a:spcPts val="300"/>
              </a:spcAft>
            </a:pPr>
            <a:r>
              <a:rPr sz="1500" b="1" i="0">
                <a:solidFill>
                  <a:srgbClr val="1B355E"/>
                </a:solidFill>
                <a:latin typeface="Abadi"/>
              </a:rPr>
              <a:t>Tube life</a:t>
            </a:r>
          </a:p>
          <a:p>
            <a:pPr algn="l">
              <a:spcAft>
                <a:spcPts val="300"/>
              </a:spcAft>
            </a:pPr>
            <a:r>
              <a:rPr sz="1050" b="0" i="0">
                <a:solidFill>
                  <a:srgbClr val="1A1A1A"/>
                </a:solidFill>
                <a:latin typeface="Abadi"/>
              </a:rPr>
              <a:t>Mean 91 days for a low-profile GJ vs 177 days for a PEG-PEJ.</a:t>
            </a:r>
          </a:p>
          <a:p>
            <a:pPr algn="l">
              <a:spcAft>
                <a:spcPts val="300"/>
              </a:spcAft>
            </a:pPr>
            <a:r>
              <a:rPr sz="1500" b="1" i="0">
                <a:solidFill>
                  <a:srgbClr val="1B355E"/>
                </a:solidFill>
                <a:latin typeface="Abadi"/>
              </a:rPr>
              <a:t>Visits</a:t>
            </a:r>
          </a:p>
          <a:p>
            <a:pPr algn="l">
              <a:spcAft>
                <a:spcPts val="300"/>
              </a:spcAft>
            </a:pPr>
            <a:r>
              <a:rPr sz="1050" b="0" i="0">
                <a:solidFill>
                  <a:srgbClr val="1A1A1A"/>
                </a:solidFill>
                <a:latin typeface="Abadi"/>
              </a:rPr>
              <a:t>After GJ: tube-related visits up more than five-fold (IRR 5.36); 21% later had a fundoplication.</a:t>
            </a:r>
          </a:p>
          <a:p>
            <a:pPr algn="l">
              <a:spcAft>
                <a:spcPts val="300"/>
              </a:spcAft>
            </a:pPr>
            <a:r>
              <a:rPr sz="1500" b="1" i="0">
                <a:solidFill>
                  <a:srgbClr val="1B355E"/>
                </a:solidFill>
                <a:latin typeface="Abadi"/>
              </a:rPr>
              <a:t>Monitoring</a:t>
            </a:r>
          </a:p>
          <a:p>
            <a:pPr algn="l">
              <a:spcAft>
                <a:spcPts val="300"/>
              </a:spcAft>
            </a:pPr>
            <a:r>
              <a:rPr sz="1050" b="0" i="0">
                <a:solidFill>
                  <a:srgbClr val="1A1A1A"/>
                </a:solidFill>
                <a:latin typeface="Abadi"/>
              </a:rPr>
              <a:t>ESPGHAN 2019: check copper, zinc, selenium and iron every 6–12 months.</a:t>
            </a:r>
          </a:p>
        </p:txBody>
      </p:sp>
      <p:sp>
        <p:nvSpPr>
          <p:cNvPr id="26" name="TextBox 25"/>
          <p:cNvSpPr txBox="1"/>
          <p:nvPr/>
        </p:nvSpPr>
        <p:spPr>
          <a:xfrm>
            <a:off x="548640" y="4754880"/>
            <a:ext cx="7955279" cy="731520"/>
          </a:xfrm>
          <a:prstGeom prst="rect">
            <a:avLst/>
          </a:prstGeom>
          <a:noFill/>
        </p:spPr>
        <p:txBody>
          <a:bodyPr wrap="square" lIns="36576" rIns="36576" tIns="36576" bIns="36576" anchor="t">
            <a:spAutoFit/>
          </a:bodyPr>
          <a:lstStyle/>
          <a:p>
            <a:pPr algn="l"/>
            <a:r>
              <a:rPr sz="1250" b="1" i="0">
                <a:solidFill>
                  <a:srgbClr val="1B355E"/>
                </a:solidFill>
                <a:latin typeface="Abadi"/>
              </a:rPr>
              <a:t>Read it as.   </a:t>
            </a:r>
            <a:r>
              <a:rPr sz="1250" b="0" i="0">
                <a:solidFill>
                  <a:srgbClr val="1A1A1A"/>
                </a:solidFill>
                <a:latin typeface="Abadi"/>
              </a:rPr>
              <a:t>GJ tubes avoid an operation but not risk: small infants perforate, and tubes dislodge and need radiology every few months.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292608"/>
            <a:ext cx="630936" cy="347472"/>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630936" cy="347472"/>
          </a:xfrm>
          <a:prstGeom prst="rect">
            <a:avLst/>
          </a:prstGeom>
          <a:noFill/>
        </p:spPr>
        <p:txBody>
          <a:bodyPr wrap="square" lIns="36576" rIns="36576" tIns="36576" bIns="36576" anchor="ctr">
            <a:spAutoFit/>
          </a:bodyPr>
          <a:lstStyle/>
          <a:p>
            <a:pPr algn="ctr"/>
            <a:r>
              <a:rPr sz="1500" b="1" i="0">
                <a:solidFill>
                  <a:srgbClr val="FFFFFF"/>
                </a:solidFill>
                <a:latin typeface="Abadi"/>
              </a:rPr>
              <a:t>V</a:t>
            </a:r>
          </a:p>
        </p:txBody>
      </p:sp>
      <p:sp>
        <p:nvSpPr>
          <p:cNvPr id="4" name="TextBox 3"/>
          <p:cNvSpPr txBox="1"/>
          <p:nvPr/>
        </p:nvSpPr>
        <p:spPr>
          <a:xfrm>
            <a:off x="1380744" y="292608"/>
            <a:ext cx="10232136" cy="347472"/>
          </a:xfrm>
          <a:prstGeom prst="rect">
            <a:avLst/>
          </a:prstGeom>
          <a:noFill/>
        </p:spPr>
        <p:txBody>
          <a:bodyPr wrap="square" lIns="36576" rIns="36576" tIns="36576" bIns="36576" anchor="ctr">
            <a:spAutoFit/>
          </a:bodyPr>
          <a:lstStyle/>
          <a:p>
            <a:pPr algn="l"/>
            <a:r>
              <a:rPr sz="1200" b="1" i="0">
                <a:solidFill>
                  <a:srgbClr val="B22222"/>
                </a:solidFill>
                <a:latin typeface="Abadi"/>
              </a:rPr>
              <a:t>CHOOSING THE ROUTE</a:t>
            </a:r>
          </a:p>
        </p:txBody>
      </p:sp>
      <p:sp>
        <p:nvSpPr>
          <p:cNvPr id="5" name="TextBox 4"/>
          <p:cNvSpPr txBox="1"/>
          <p:nvPr/>
        </p:nvSpPr>
        <p:spPr>
          <a:xfrm>
            <a:off x="548640" y="722376"/>
            <a:ext cx="11082528" cy="548640"/>
          </a:xfrm>
          <a:prstGeom prst="rect">
            <a:avLst/>
          </a:prstGeom>
          <a:noFill/>
        </p:spPr>
        <p:txBody>
          <a:bodyPr wrap="square" lIns="36576" rIns="36576" tIns="36576" bIns="36576" anchor="ctr">
            <a:spAutoFit/>
          </a:bodyPr>
          <a:lstStyle/>
          <a:p>
            <a:pPr algn="l"/>
            <a:r>
              <a:rPr sz="3000" b="1" i="0">
                <a:solidFill>
                  <a:srgbClr val="1B355E"/>
                </a:solidFill>
                <a:latin typeface="Abadi"/>
              </a:rPr>
              <a:t>WRAP, TUBE OR DISSOCIATION</a:t>
            </a:r>
          </a:p>
        </p:txBody>
      </p:sp>
      <p:sp>
        <p:nvSpPr>
          <p:cNvPr id="6" name="TextBox 5"/>
          <p:cNvSpPr txBox="1"/>
          <p:nvPr/>
        </p:nvSpPr>
        <p:spPr>
          <a:xfrm>
            <a:off x="548640" y="1307592"/>
            <a:ext cx="11082528" cy="265176"/>
          </a:xfrm>
          <a:prstGeom prst="rect">
            <a:avLst/>
          </a:prstGeom>
          <a:noFill/>
        </p:spPr>
        <p:txBody>
          <a:bodyPr wrap="square" lIns="36576" rIns="36576" tIns="36576" bIns="36576" anchor="t">
            <a:spAutoFit/>
          </a:bodyPr>
          <a:lstStyle/>
          <a:p>
            <a:pPr algn="l"/>
            <a:r>
              <a:rPr sz="1300" b="0" i="0">
                <a:solidFill>
                  <a:srgbClr val="555555"/>
                </a:solidFill>
                <a:latin typeface="Abadi"/>
              </a:rPr>
              <a:t>A comparison frame for the neurologically impaired child; built from the sources above</a:t>
            </a:r>
          </a:p>
        </p:txBody>
      </p:sp>
      <p:sp>
        <p:nvSpPr>
          <p:cNvPr id="7" name="Rectangle 6"/>
          <p:cNvSpPr/>
          <p:nvPr/>
        </p:nvSpPr>
        <p:spPr>
          <a:xfrm>
            <a:off x="548640" y="1600200"/>
            <a:ext cx="11082528" cy="27432"/>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55064"/>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5888736"/>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36224" y="5971032"/>
            <a:ext cx="694944" cy="292608"/>
          </a:xfrm>
          <a:prstGeom prst="rect">
            <a:avLst/>
          </a:prstGeom>
          <a:noFill/>
        </p:spPr>
        <p:txBody>
          <a:bodyPr wrap="square" lIns="36576" rIns="36576" tIns="36576" bIns="36576" anchor="t">
            <a:spAutoFit/>
          </a:bodyPr>
          <a:lstStyle/>
          <a:p>
            <a:pPr algn="r"/>
            <a:r>
              <a:rPr sz="1200" b="0" i="0">
                <a:solidFill>
                  <a:srgbClr val="555555"/>
                </a:solidFill>
                <a:latin typeface="Abadi"/>
              </a:rPr>
              <a:t>14</a:t>
            </a:r>
          </a:p>
        </p:txBody>
      </p:sp>
      <p:sp>
        <p:nvSpPr>
          <p:cNvPr id="11" name="TextBox 10"/>
          <p:cNvSpPr txBox="1"/>
          <p:nvPr/>
        </p:nvSpPr>
        <p:spPr>
          <a:xfrm>
            <a:off x="548640" y="5971032"/>
            <a:ext cx="10287000" cy="457200"/>
          </a:xfrm>
          <a:prstGeom prst="rect">
            <a:avLst/>
          </a:prstGeom>
          <a:noFill/>
        </p:spPr>
        <p:txBody>
          <a:bodyPr wrap="square" lIns="36576" rIns="36576" tIns="36576" bIns="36576" anchor="t">
            <a:spAutoFit/>
          </a:bodyPr>
          <a:lstStyle/>
          <a:p>
            <a:pPr algn="l"/>
            <a:r>
              <a:rPr sz="1000" b="0" i="0">
                <a:solidFill>
                  <a:srgbClr val="8A939B"/>
                </a:solidFill>
                <a:latin typeface="Abadi"/>
              </a:rPr>
              <a:t>Romano 2017 · Rosen 2018 · Lansdale N, et al. J Pediatr Surg 2015;50:1828–32 · Cochrane 2026 · Kubiak 2011</a:t>
            </a:r>
          </a:p>
        </p:txBody>
      </p:sp>
      <p:graphicFrame>
        <p:nvGraphicFramePr>
          <p:cNvPr id="12" name="Table 11"/>
          <p:cNvGraphicFramePr>
            <a:graphicFrameLocks noGrp="1"/>
          </p:cNvGraphicFramePr>
          <p:nvPr/>
        </p:nvGraphicFramePr>
        <p:xfrm>
          <a:off x="548640" y="1783080"/>
          <a:ext cx="11082528" cy="3072384"/>
        </p:xfrm>
        <a:graphic>
          <a:graphicData uri="http://schemas.openxmlformats.org/drawingml/2006/table">
            <a:tbl>
              <a:tblPr firstRow="0" bandRow="0">
                <a:tableStyleId>{5C22544A-7EE6-4342-B048-85BDC9FD1C3A}</a:tableStyleId>
              </a:tblPr>
              <a:tblGrid>
                <a:gridCol w="2194560"/>
                <a:gridCol w="3017520"/>
                <a:gridCol w="2926080"/>
                <a:gridCol w="2944368"/>
              </a:tblGrid>
              <a:tr h="438912">
                <a:tc>
                  <a:txBody>
                    <a:bodyPr wrap="square"/>
                    <a:lstStyle/>
                    <a:p>
                      <a:pPr algn="l"/>
                      <a:r>
                        <a:rPr sz="1050" b="1">
                          <a:solidFill>
                            <a:srgbClr val="FFFFFF"/>
                          </a:solidFill>
                          <a:latin typeface="Abadi"/>
                        </a:rPr>
                        <a:t>Feature</a:t>
                      </a:r>
                    </a:p>
                  </a:txBody>
                  <a:tcPr marL="73152" marR="73152" marT="27432" marB="27432" anchor="ctr">
                    <a:solidFill>
                      <a:srgbClr val="1B355E"/>
                    </a:solidFill>
                  </a:tcPr>
                </a:tc>
                <a:tc>
                  <a:txBody>
                    <a:bodyPr wrap="square"/>
                    <a:lstStyle/>
                    <a:p>
                      <a:pPr algn="l"/>
                      <a:r>
                        <a:rPr sz="1050" b="1">
                          <a:solidFill>
                            <a:srgbClr val="FFFFFF"/>
                          </a:solidFill>
                          <a:latin typeface="Abadi"/>
                        </a:rPr>
                        <a:t>Gastrostomy + fundoplication</a:t>
                      </a:r>
                    </a:p>
                  </a:txBody>
                  <a:tcPr marL="73152" marR="73152" marT="27432" marB="27432" anchor="ctr">
                    <a:solidFill>
                      <a:srgbClr val="1B355E"/>
                    </a:solidFill>
                  </a:tcPr>
                </a:tc>
                <a:tc>
                  <a:txBody>
                    <a:bodyPr wrap="square"/>
                    <a:lstStyle/>
                    <a:p>
                      <a:pPr algn="l"/>
                      <a:r>
                        <a:rPr sz="1050" b="1">
                          <a:solidFill>
                            <a:srgbClr val="FFFFFF"/>
                          </a:solidFill>
                          <a:latin typeface="Abadi"/>
                        </a:rPr>
                        <a:t>Gastrojejunal tube</a:t>
                      </a:r>
                    </a:p>
                  </a:txBody>
                  <a:tcPr marL="73152" marR="73152" marT="27432" marB="27432" anchor="ctr">
                    <a:solidFill>
                      <a:srgbClr val="1B355E"/>
                    </a:solidFill>
                  </a:tcPr>
                </a:tc>
                <a:tc>
                  <a:txBody>
                    <a:bodyPr wrap="square"/>
                    <a:lstStyle/>
                    <a:p>
                      <a:pPr algn="l"/>
                      <a:r>
                        <a:rPr sz="1050" b="1">
                          <a:solidFill>
                            <a:srgbClr val="FFFFFF"/>
                          </a:solidFill>
                          <a:latin typeface="Abadi"/>
                        </a:rPr>
                        <a:t>Oesophagogastric dissociation</a:t>
                      </a:r>
                    </a:p>
                  </a:txBody>
                  <a:tcPr marL="73152" marR="73152" marT="27432" marB="27432" anchor="ctr">
                    <a:solidFill>
                      <a:srgbClr val="1B355E"/>
                    </a:solidFill>
                  </a:tcPr>
                </a:tc>
              </a:tr>
              <a:tr h="438912">
                <a:tc>
                  <a:txBody>
                    <a:bodyPr wrap="square"/>
                    <a:lstStyle/>
                    <a:p>
                      <a:pPr algn="l"/>
                      <a:r>
                        <a:rPr sz="1050" b="1">
                          <a:solidFill>
                            <a:srgbClr val="1A1A1A"/>
                          </a:solidFill>
                          <a:latin typeface="Abadi"/>
                        </a:rPr>
                        <a:t>Procedure</a:t>
                      </a:r>
                    </a:p>
                  </a:txBody>
                  <a:tcPr marL="73152" marR="73152" marT="27432" marB="27432" anchor="ctr">
                    <a:solidFill>
                      <a:srgbClr val="FFFFFF"/>
                    </a:solidFill>
                  </a:tcPr>
                </a:tc>
                <a:tc>
                  <a:txBody>
                    <a:bodyPr wrap="square"/>
                    <a:lstStyle/>
                    <a:p>
                      <a:pPr algn="l"/>
                      <a:r>
                        <a:rPr sz="1050" b="0">
                          <a:solidFill>
                            <a:srgbClr val="1A1A1A"/>
                          </a:solidFill>
                          <a:latin typeface="Abadi"/>
                        </a:rPr>
                        <a:t>One operation</a:t>
                      </a:r>
                    </a:p>
                  </a:txBody>
                  <a:tcPr marL="73152" marR="73152" marT="27432" marB="27432" anchor="ctr">
                    <a:solidFill>
                      <a:srgbClr val="FFFFFF"/>
                    </a:solidFill>
                  </a:tcPr>
                </a:tc>
                <a:tc>
                  <a:txBody>
                    <a:bodyPr wrap="square"/>
                    <a:lstStyle/>
                    <a:p>
                      <a:pPr algn="l"/>
                      <a:r>
                        <a:rPr sz="1050" b="0">
                          <a:solidFill>
                            <a:srgbClr val="1A1A1A"/>
                          </a:solidFill>
                          <a:latin typeface="Abadi"/>
                        </a:rPr>
                        <a:t>Radiological, repeated</a:t>
                      </a:r>
                    </a:p>
                  </a:txBody>
                  <a:tcPr marL="73152" marR="73152" marT="27432" marB="27432" anchor="ctr">
                    <a:solidFill>
                      <a:srgbClr val="FFFFFF"/>
                    </a:solidFill>
                  </a:tcPr>
                </a:tc>
                <a:tc>
                  <a:txBody>
                    <a:bodyPr wrap="square"/>
                    <a:lstStyle/>
                    <a:p>
                      <a:pPr algn="l"/>
                      <a:r>
                        <a:rPr sz="1050" b="0">
                          <a:solidFill>
                            <a:srgbClr val="1A1A1A"/>
                          </a:solidFill>
                          <a:latin typeface="Abadi"/>
                        </a:rPr>
                        <a:t>Major operation</a:t>
                      </a:r>
                    </a:p>
                  </a:txBody>
                  <a:tcPr marL="73152" marR="73152" marT="27432" marB="27432" anchor="ctr">
                    <a:solidFill>
                      <a:srgbClr val="FFFFFF"/>
                    </a:solidFill>
                  </a:tcPr>
                </a:tc>
              </a:tr>
              <a:tr h="438912">
                <a:tc>
                  <a:txBody>
                    <a:bodyPr wrap="square"/>
                    <a:lstStyle/>
                    <a:p>
                      <a:pPr algn="l"/>
                      <a:r>
                        <a:rPr sz="1050" b="1">
                          <a:solidFill>
                            <a:srgbClr val="1A1A1A"/>
                          </a:solidFill>
                          <a:latin typeface="Abadi"/>
                        </a:rPr>
                        <a:t>Feeding</a:t>
                      </a:r>
                    </a:p>
                  </a:txBody>
                  <a:tcPr marL="73152" marR="73152" marT="27432" marB="27432" anchor="ctr">
                    <a:solidFill>
                      <a:srgbClr val="F2F4F7"/>
                    </a:solidFill>
                  </a:tcPr>
                </a:tc>
                <a:tc>
                  <a:txBody>
                    <a:bodyPr wrap="square"/>
                    <a:lstStyle/>
                    <a:p>
                      <a:pPr algn="l"/>
                      <a:r>
                        <a:rPr sz="1050" b="0">
                          <a:solidFill>
                            <a:srgbClr val="1A1A1A"/>
                          </a:solidFill>
                          <a:latin typeface="Abadi"/>
                        </a:rPr>
                        <a:t>Bolus into stomach</a:t>
                      </a:r>
                    </a:p>
                  </a:txBody>
                  <a:tcPr marL="73152" marR="73152" marT="27432" marB="27432" anchor="ctr">
                    <a:solidFill>
                      <a:srgbClr val="F2F4F7"/>
                    </a:solidFill>
                  </a:tcPr>
                </a:tc>
                <a:tc>
                  <a:txBody>
                    <a:bodyPr wrap="square"/>
                    <a:lstStyle/>
                    <a:p>
                      <a:pPr algn="l"/>
                      <a:r>
                        <a:rPr sz="1050" b="0">
                          <a:solidFill>
                            <a:srgbClr val="1A1A1A"/>
                          </a:solidFill>
                          <a:latin typeface="Abadi"/>
                        </a:rPr>
                        <a:t>Continuous into jejunum</a:t>
                      </a:r>
                    </a:p>
                  </a:txBody>
                  <a:tcPr marL="73152" marR="73152" marT="27432" marB="27432" anchor="ctr">
                    <a:solidFill>
                      <a:srgbClr val="F2F4F7"/>
                    </a:solidFill>
                  </a:tcPr>
                </a:tc>
                <a:tc>
                  <a:txBody>
                    <a:bodyPr wrap="square"/>
                    <a:lstStyle/>
                    <a:p>
                      <a:pPr algn="l"/>
                      <a:r>
                        <a:rPr sz="1050" b="0">
                          <a:solidFill>
                            <a:srgbClr val="1A1A1A"/>
                          </a:solidFill>
                          <a:latin typeface="Abadi"/>
                        </a:rPr>
                        <a:t>Gastrostomy bolus; oral intake drains to jejunum</a:t>
                      </a:r>
                    </a:p>
                  </a:txBody>
                  <a:tcPr marL="73152" marR="73152" marT="27432" marB="27432" anchor="ctr">
                    <a:solidFill>
                      <a:srgbClr val="F2F4F7"/>
                    </a:solidFill>
                  </a:tcPr>
                </a:tc>
              </a:tr>
              <a:tr h="438912">
                <a:tc>
                  <a:txBody>
                    <a:bodyPr wrap="square"/>
                    <a:lstStyle/>
                    <a:p>
                      <a:pPr algn="l"/>
                      <a:r>
                        <a:rPr sz="1050" b="1">
                          <a:solidFill>
                            <a:srgbClr val="1A1A1A"/>
                          </a:solidFill>
                          <a:latin typeface="Abadi"/>
                        </a:rPr>
                        <a:t>Reflux control</a:t>
                      </a:r>
                    </a:p>
                  </a:txBody>
                  <a:tcPr marL="73152" marR="73152" marT="27432" marB="27432" anchor="ctr">
                    <a:solidFill>
                      <a:srgbClr val="FFFFFF"/>
                    </a:solidFill>
                  </a:tcPr>
                </a:tc>
                <a:tc>
                  <a:txBody>
                    <a:bodyPr wrap="square"/>
                    <a:lstStyle/>
                    <a:p>
                      <a:pPr algn="l"/>
                      <a:r>
                        <a:rPr sz="1050" b="0">
                          <a:solidFill>
                            <a:srgbClr val="1A1A1A"/>
                          </a:solidFill>
                          <a:latin typeface="Abadi"/>
                        </a:rPr>
                        <a:t>Good; recurs over years</a:t>
                      </a:r>
                    </a:p>
                  </a:txBody>
                  <a:tcPr marL="73152" marR="73152" marT="27432" marB="27432" anchor="ctr">
                    <a:solidFill>
                      <a:srgbClr val="FFFFFF"/>
                    </a:solidFill>
                  </a:tcPr>
                </a:tc>
                <a:tc>
                  <a:txBody>
                    <a:bodyPr wrap="square"/>
                    <a:lstStyle/>
                    <a:p>
                      <a:pPr algn="l"/>
                      <a:r>
                        <a:rPr sz="1050" b="0">
                          <a:solidFill>
                            <a:srgbClr val="1A1A1A"/>
                          </a:solidFill>
                          <a:latin typeface="Abadi"/>
                        </a:rPr>
                        <a:t>Bypassed, not abolished</a:t>
                      </a:r>
                    </a:p>
                  </a:txBody>
                  <a:tcPr marL="73152" marR="73152" marT="27432" marB="27432" anchor="ctr">
                    <a:solidFill>
                      <a:srgbClr val="FFFFFF"/>
                    </a:solidFill>
                  </a:tcPr>
                </a:tc>
                <a:tc>
                  <a:txBody>
                    <a:bodyPr wrap="square"/>
                    <a:lstStyle/>
                    <a:p>
                      <a:pPr algn="l"/>
                      <a:r>
                        <a:rPr sz="1050" b="0">
                          <a:solidFill>
                            <a:srgbClr val="1A1A1A"/>
                          </a:solidFill>
                          <a:latin typeface="Abadi"/>
                        </a:rPr>
                        <a:t>Abolished</a:t>
                      </a:r>
                    </a:p>
                  </a:txBody>
                  <a:tcPr marL="73152" marR="73152" marT="27432" marB="27432" anchor="ctr">
                    <a:solidFill>
                      <a:srgbClr val="FFFFFF"/>
                    </a:solidFill>
                  </a:tcPr>
                </a:tc>
              </a:tr>
              <a:tr h="438912">
                <a:tc>
                  <a:txBody>
                    <a:bodyPr wrap="square"/>
                    <a:lstStyle/>
                    <a:p>
                      <a:pPr algn="l"/>
                      <a:r>
                        <a:rPr sz="1050" b="1">
                          <a:solidFill>
                            <a:srgbClr val="1A1A1A"/>
                          </a:solidFill>
                          <a:latin typeface="Abadi"/>
                        </a:rPr>
                        <a:t>Main risks</a:t>
                      </a:r>
                    </a:p>
                  </a:txBody>
                  <a:tcPr marL="73152" marR="73152" marT="27432" marB="27432" anchor="ctr">
                    <a:solidFill>
                      <a:srgbClr val="F2F4F7"/>
                    </a:solidFill>
                  </a:tcPr>
                </a:tc>
                <a:tc>
                  <a:txBody>
                    <a:bodyPr wrap="square"/>
                    <a:lstStyle/>
                    <a:p>
                      <a:pPr algn="l"/>
                      <a:r>
                        <a:rPr sz="1050" b="0">
                          <a:solidFill>
                            <a:srgbClr val="1A1A1A"/>
                          </a:solidFill>
                          <a:latin typeface="Abadi"/>
                        </a:rPr>
                        <a:t>Failure, dysphagia, bloat, dumping</a:t>
                      </a:r>
                    </a:p>
                  </a:txBody>
                  <a:tcPr marL="73152" marR="73152" marT="27432" marB="27432" anchor="ctr">
                    <a:solidFill>
                      <a:srgbClr val="F2F4F7"/>
                    </a:solidFill>
                  </a:tcPr>
                </a:tc>
                <a:tc>
                  <a:txBody>
                    <a:bodyPr wrap="square"/>
                    <a:lstStyle/>
                    <a:p>
                      <a:pPr algn="l"/>
                      <a:r>
                        <a:rPr sz="1050" b="0">
                          <a:solidFill>
                            <a:srgbClr val="1A1A1A"/>
                          </a:solidFill>
                          <a:latin typeface="Abadi"/>
                        </a:rPr>
                        <a:t>Dislodgement, perforation, intussusception</a:t>
                      </a:r>
                    </a:p>
                  </a:txBody>
                  <a:tcPr marL="73152" marR="73152" marT="27432" marB="27432" anchor="ctr">
                    <a:solidFill>
                      <a:srgbClr val="F2F4F7"/>
                    </a:solidFill>
                  </a:tcPr>
                </a:tc>
                <a:tc>
                  <a:txBody>
                    <a:bodyPr wrap="square"/>
                    <a:lstStyle/>
                    <a:p>
                      <a:pPr algn="l"/>
                      <a:r>
                        <a:rPr sz="1050" b="0">
                          <a:solidFill>
                            <a:srgbClr val="1A1A1A"/>
                          </a:solidFill>
                          <a:latin typeface="Abadi"/>
                        </a:rPr>
                        <a:t>Surgical morbidity; irreversible</a:t>
                      </a:r>
                    </a:p>
                  </a:txBody>
                  <a:tcPr marL="73152" marR="73152" marT="27432" marB="27432" anchor="ctr">
                    <a:solidFill>
                      <a:srgbClr val="F2F4F7"/>
                    </a:solidFill>
                  </a:tcPr>
                </a:tc>
              </a:tr>
              <a:tr h="438912">
                <a:tc>
                  <a:txBody>
                    <a:bodyPr wrap="square"/>
                    <a:lstStyle/>
                    <a:p>
                      <a:pPr algn="l"/>
                      <a:r>
                        <a:rPr sz="1050" b="1">
                          <a:solidFill>
                            <a:srgbClr val="1A1A1A"/>
                          </a:solidFill>
                          <a:latin typeface="Abadi"/>
                        </a:rPr>
                        <a:t>Reversible</a:t>
                      </a:r>
                    </a:p>
                  </a:txBody>
                  <a:tcPr marL="73152" marR="73152" marT="27432" marB="27432" anchor="ctr">
                    <a:solidFill>
                      <a:srgbClr val="FFFFFF"/>
                    </a:solidFill>
                  </a:tcPr>
                </a:tc>
                <a:tc>
                  <a:txBody>
                    <a:bodyPr wrap="square"/>
                    <a:lstStyle/>
                    <a:p>
                      <a:pPr algn="l"/>
                      <a:r>
                        <a:rPr sz="1050" b="0">
                          <a:solidFill>
                            <a:srgbClr val="1A1A1A"/>
                          </a:solidFill>
                          <a:latin typeface="Abadi"/>
                        </a:rPr>
                        <a:t>Partly</a:t>
                      </a:r>
                    </a:p>
                  </a:txBody>
                  <a:tcPr marL="73152" marR="73152" marT="27432" marB="27432" anchor="ctr">
                    <a:solidFill>
                      <a:srgbClr val="FFFFFF"/>
                    </a:solidFill>
                  </a:tcPr>
                </a:tc>
                <a:tc>
                  <a:txBody>
                    <a:bodyPr wrap="square"/>
                    <a:lstStyle/>
                    <a:p>
                      <a:pPr algn="l"/>
                      <a:r>
                        <a:rPr sz="1050" b="0">
                          <a:solidFill>
                            <a:srgbClr val="1A1A1A"/>
                          </a:solidFill>
                          <a:latin typeface="Abadi"/>
                        </a:rPr>
                        <a:t>Yes</a:t>
                      </a:r>
                    </a:p>
                  </a:txBody>
                  <a:tcPr marL="73152" marR="73152" marT="27432" marB="27432" anchor="ctr">
                    <a:solidFill>
                      <a:srgbClr val="FFFFFF"/>
                    </a:solidFill>
                  </a:tcPr>
                </a:tc>
                <a:tc>
                  <a:txBody>
                    <a:bodyPr wrap="square"/>
                    <a:lstStyle/>
                    <a:p>
                      <a:pPr algn="l"/>
                      <a:r>
                        <a:rPr sz="1050" b="0">
                          <a:solidFill>
                            <a:srgbClr val="1A1A1A"/>
                          </a:solidFill>
                          <a:latin typeface="Abadi"/>
                        </a:rPr>
                        <a:t>No</a:t>
                      </a:r>
                    </a:p>
                  </a:txBody>
                  <a:tcPr marL="73152" marR="73152" marT="27432" marB="27432" anchor="ctr">
                    <a:solidFill>
                      <a:srgbClr val="FFFFFF"/>
                    </a:solidFill>
                  </a:tcPr>
                </a:tc>
              </a:tr>
              <a:tr h="438912">
                <a:tc>
                  <a:txBody>
                    <a:bodyPr wrap="square"/>
                    <a:lstStyle/>
                    <a:p>
                      <a:pPr algn="l"/>
                      <a:r>
                        <a:rPr sz="1050" b="1">
                          <a:solidFill>
                            <a:srgbClr val="1A1A1A"/>
                          </a:solidFill>
                          <a:latin typeface="Abadi"/>
                        </a:rPr>
                        <a:t>Guideline place</a:t>
                      </a:r>
                    </a:p>
                  </a:txBody>
                  <a:tcPr marL="73152" marR="73152" marT="27432" marB="27432" anchor="ctr">
                    <a:solidFill>
                      <a:srgbClr val="F2F4F7"/>
                    </a:solidFill>
                  </a:tcPr>
                </a:tc>
                <a:tc>
                  <a:txBody>
                    <a:bodyPr wrap="square"/>
                    <a:lstStyle/>
                    <a:p>
                      <a:pPr algn="l"/>
                      <a:r>
                        <a:rPr sz="1050" b="0">
                          <a:solidFill>
                            <a:srgbClr val="1A1A1A"/>
                          </a:solidFill>
                          <a:latin typeface="Abadi"/>
                        </a:rPr>
                        <a:t>When medical therapy fails</a:t>
                      </a:r>
                    </a:p>
                  </a:txBody>
                  <a:tcPr marL="73152" marR="73152" marT="27432" marB="27432" anchor="ctr">
                    <a:solidFill>
                      <a:srgbClr val="F2F4F7"/>
                    </a:solidFill>
                  </a:tcPr>
                </a:tc>
                <a:tc>
                  <a:txBody>
                    <a:bodyPr wrap="square"/>
                    <a:lstStyle/>
                    <a:p>
                      <a:pPr algn="l"/>
                      <a:r>
                        <a:rPr sz="1050" b="0">
                          <a:solidFill>
                            <a:srgbClr val="1A1A1A"/>
                          </a:solidFill>
                          <a:latin typeface="Abadi"/>
                        </a:rPr>
                        <a:t>Aspiration due to GERD</a:t>
                      </a:r>
                    </a:p>
                  </a:txBody>
                  <a:tcPr marL="73152" marR="73152" marT="27432" marB="27432" anchor="ctr">
                    <a:solidFill>
                      <a:srgbClr val="F2F4F7"/>
                    </a:solidFill>
                  </a:tcPr>
                </a:tc>
                <a:tc>
                  <a:txBody>
                    <a:bodyPr wrap="square"/>
                    <a:lstStyle/>
                    <a:p>
                      <a:pPr algn="l"/>
                      <a:r>
                        <a:rPr sz="1050" b="0">
                          <a:solidFill>
                            <a:srgbClr val="1A1A1A"/>
                          </a:solidFill>
                          <a:latin typeface="Abadi"/>
                        </a:rPr>
                        <a:t>Very selected cases</a:t>
                      </a:r>
                    </a:p>
                  </a:txBody>
                  <a:tcPr marL="73152" marR="73152" marT="27432" marB="27432" anchor="ctr">
                    <a:solidFill>
                      <a:srgbClr val="F2F4F7"/>
                    </a:solidFill>
                  </a:tcPr>
                </a:tc>
              </a:tr>
            </a:tbl>
          </a:graphicData>
        </a:graphic>
      </p:graphicFrame>
      <p:sp>
        <p:nvSpPr>
          <p:cNvPr id="13" name="TextBox 12"/>
          <p:cNvSpPr txBox="1"/>
          <p:nvPr/>
        </p:nvSpPr>
        <p:spPr>
          <a:xfrm>
            <a:off x="548640" y="4983480"/>
            <a:ext cx="11082528" cy="640080"/>
          </a:xfrm>
          <a:prstGeom prst="rect">
            <a:avLst/>
          </a:prstGeom>
          <a:noFill/>
        </p:spPr>
        <p:txBody>
          <a:bodyPr wrap="square" lIns="36576" rIns="36576" tIns="36576" bIns="36576" anchor="t">
            <a:spAutoFit/>
          </a:bodyPr>
          <a:lstStyle/>
          <a:p>
            <a:pPr algn="l"/>
            <a:r>
              <a:rPr sz="1250" b="1" i="0">
                <a:solidFill>
                  <a:srgbClr val="1B355E"/>
                </a:solidFill>
                <a:latin typeface="Abadi"/>
              </a:rPr>
              <a:t>Practical point.   </a:t>
            </a:r>
            <a:r>
              <a:rPr sz="1250" b="0" i="0">
                <a:solidFill>
                  <a:srgbClr val="1A1A1A"/>
                </a:solidFill>
                <a:latin typeface="Abadi"/>
              </a:rPr>
              <a:t>Present the options side by side to the family, with the numbers, and record why the route was chosen.</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292608"/>
            <a:ext cx="630936" cy="347472"/>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630936" cy="347472"/>
          </a:xfrm>
          <a:prstGeom prst="rect">
            <a:avLst/>
          </a:prstGeom>
          <a:noFill/>
        </p:spPr>
        <p:txBody>
          <a:bodyPr wrap="square" lIns="36576" rIns="36576" tIns="36576" bIns="36576" anchor="ctr">
            <a:spAutoFit/>
          </a:bodyPr>
          <a:lstStyle/>
          <a:p>
            <a:pPr algn="ctr"/>
            <a:r>
              <a:rPr sz="1500" b="1" i="0">
                <a:solidFill>
                  <a:srgbClr val="FFFFFF"/>
                </a:solidFill>
                <a:latin typeface="Abadi"/>
              </a:rPr>
              <a:t>VI</a:t>
            </a:r>
          </a:p>
        </p:txBody>
      </p:sp>
      <p:sp>
        <p:nvSpPr>
          <p:cNvPr id="4" name="TextBox 3"/>
          <p:cNvSpPr txBox="1"/>
          <p:nvPr/>
        </p:nvSpPr>
        <p:spPr>
          <a:xfrm>
            <a:off x="1380744" y="292608"/>
            <a:ext cx="10232136" cy="347472"/>
          </a:xfrm>
          <a:prstGeom prst="rect">
            <a:avLst/>
          </a:prstGeom>
          <a:noFill/>
        </p:spPr>
        <p:txBody>
          <a:bodyPr wrap="square" lIns="36576" rIns="36576" tIns="36576" bIns="36576" anchor="ctr">
            <a:spAutoFit/>
          </a:bodyPr>
          <a:lstStyle/>
          <a:p>
            <a:pPr algn="l"/>
            <a:r>
              <a:rPr sz="1200" b="1" i="0">
                <a:solidFill>
                  <a:srgbClr val="B22222"/>
                </a:solidFill>
                <a:latin typeface="Abadi"/>
              </a:rPr>
              <a:t>NEUROLOGICAL IMPAIRMENT</a:t>
            </a:r>
          </a:p>
        </p:txBody>
      </p:sp>
      <p:sp>
        <p:nvSpPr>
          <p:cNvPr id="5" name="TextBox 4"/>
          <p:cNvSpPr txBox="1"/>
          <p:nvPr/>
        </p:nvSpPr>
        <p:spPr>
          <a:xfrm>
            <a:off x="548640" y="722376"/>
            <a:ext cx="11082528" cy="548640"/>
          </a:xfrm>
          <a:prstGeom prst="rect">
            <a:avLst/>
          </a:prstGeom>
          <a:noFill/>
        </p:spPr>
        <p:txBody>
          <a:bodyPr wrap="square" lIns="36576" rIns="36576" tIns="36576" bIns="36576" anchor="ctr">
            <a:spAutoFit/>
          </a:bodyPr>
          <a:lstStyle/>
          <a:p>
            <a:pPr algn="l"/>
            <a:r>
              <a:rPr sz="3000" b="1" i="0">
                <a:solidFill>
                  <a:srgbClr val="1B355E"/>
                </a:solidFill>
                <a:latin typeface="Abadi"/>
              </a:rPr>
              <a:t>WHAT FAMILIES ACTUALLY GAIN</a:t>
            </a:r>
          </a:p>
        </p:txBody>
      </p:sp>
      <p:sp>
        <p:nvSpPr>
          <p:cNvPr id="6" name="TextBox 5"/>
          <p:cNvSpPr txBox="1"/>
          <p:nvPr/>
        </p:nvSpPr>
        <p:spPr>
          <a:xfrm>
            <a:off x="548640" y="1307592"/>
            <a:ext cx="11082528" cy="265176"/>
          </a:xfrm>
          <a:prstGeom prst="rect">
            <a:avLst/>
          </a:prstGeom>
          <a:noFill/>
        </p:spPr>
        <p:txBody>
          <a:bodyPr wrap="square" lIns="36576" rIns="36576" tIns="36576" bIns="36576" anchor="t">
            <a:spAutoFit/>
          </a:bodyPr>
          <a:lstStyle/>
          <a:p>
            <a:pPr algn="l"/>
            <a:r>
              <a:rPr sz="1300" b="0" i="0">
                <a:solidFill>
                  <a:srgbClr val="555555"/>
                </a:solidFill>
                <a:latin typeface="Abadi"/>
              </a:rPr>
              <a:t>Outcomes that matter to children with severe impairment and their carers</a:t>
            </a:r>
          </a:p>
        </p:txBody>
      </p:sp>
      <p:sp>
        <p:nvSpPr>
          <p:cNvPr id="7" name="Rectangle 6"/>
          <p:cNvSpPr/>
          <p:nvPr/>
        </p:nvSpPr>
        <p:spPr>
          <a:xfrm>
            <a:off x="548640" y="1600200"/>
            <a:ext cx="11082528" cy="27432"/>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55064"/>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5888736"/>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36224" y="5971032"/>
            <a:ext cx="694944" cy="292608"/>
          </a:xfrm>
          <a:prstGeom prst="rect">
            <a:avLst/>
          </a:prstGeom>
          <a:noFill/>
        </p:spPr>
        <p:txBody>
          <a:bodyPr wrap="square" lIns="36576" rIns="36576" tIns="36576" bIns="36576" anchor="t">
            <a:spAutoFit/>
          </a:bodyPr>
          <a:lstStyle/>
          <a:p>
            <a:pPr algn="r"/>
            <a:r>
              <a:rPr sz="1200" b="0" i="0">
                <a:solidFill>
                  <a:srgbClr val="555555"/>
                </a:solidFill>
                <a:latin typeface="Abadi"/>
              </a:rPr>
              <a:t>15</a:t>
            </a:r>
          </a:p>
        </p:txBody>
      </p:sp>
      <p:sp>
        <p:nvSpPr>
          <p:cNvPr id="11" name="TextBox 10"/>
          <p:cNvSpPr txBox="1"/>
          <p:nvPr/>
        </p:nvSpPr>
        <p:spPr>
          <a:xfrm>
            <a:off x="548640" y="5971032"/>
            <a:ext cx="10287000" cy="457200"/>
          </a:xfrm>
          <a:prstGeom prst="rect">
            <a:avLst/>
          </a:prstGeom>
          <a:noFill/>
        </p:spPr>
        <p:txBody>
          <a:bodyPr wrap="square" lIns="36576" rIns="36576" tIns="36576" bIns="36576" anchor="t">
            <a:spAutoFit/>
          </a:bodyPr>
          <a:lstStyle/>
          <a:p>
            <a:pPr algn="l"/>
            <a:r>
              <a:rPr sz="1000" b="0" i="0">
                <a:solidFill>
                  <a:srgbClr val="8A939B"/>
                </a:solidFill>
                <a:latin typeface="Abadi"/>
              </a:rPr>
              <a:t>Srivastava R, et al. J Hosp Med 2007;2:165–73 · Lansdale 2015 · Kubiak 2011 · Srivastava 2009</a:t>
            </a:r>
          </a:p>
        </p:txBody>
      </p:sp>
      <p:sp>
        <p:nvSpPr>
          <p:cNvPr id="12" name="Rectangle 11"/>
          <p:cNvSpPr/>
          <p:nvPr/>
        </p:nvSpPr>
        <p:spPr>
          <a:xfrm>
            <a:off x="548640" y="1773936"/>
            <a:ext cx="2070201" cy="2148840"/>
          </a:xfrm>
          <a:prstGeom prst="rect">
            <a:avLst/>
          </a:prstGeom>
          <a:solidFill>
            <a:srgbClr val="CDE7C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1773936"/>
            <a:ext cx="2070201" cy="100584"/>
          </a:xfrm>
          <a:prstGeom prst="rect">
            <a:avLst/>
          </a:prstGeom>
          <a:solidFill>
            <a:srgbClr val="1E7A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94944" y="1956816"/>
            <a:ext cx="1777593" cy="502920"/>
          </a:xfrm>
          <a:prstGeom prst="rect">
            <a:avLst/>
          </a:prstGeom>
          <a:noFill/>
        </p:spPr>
        <p:txBody>
          <a:bodyPr wrap="square" lIns="36576" rIns="36576" tIns="36576" bIns="36576" anchor="t">
            <a:spAutoFit/>
          </a:bodyPr>
          <a:lstStyle/>
          <a:p>
            <a:pPr algn="l"/>
            <a:r>
              <a:rPr sz="1400" b="1" i="0">
                <a:solidFill>
                  <a:srgbClr val="1E7A33"/>
                </a:solidFill>
                <a:latin typeface="Abadi"/>
              </a:rPr>
              <a:t>Pain 32.8 → 47.5</a:t>
            </a:r>
          </a:p>
        </p:txBody>
      </p:sp>
      <p:sp>
        <p:nvSpPr>
          <p:cNvPr id="15" name="TextBox 14"/>
          <p:cNvSpPr txBox="1"/>
          <p:nvPr/>
        </p:nvSpPr>
        <p:spPr>
          <a:xfrm>
            <a:off x="694944" y="2487168"/>
            <a:ext cx="1777593" cy="1344168"/>
          </a:xfrm>
          <a:prstGeom prst="rect">
            <a:avLst/>
          </a:prstGeom>
          <a:noFill/>
        </p:spPr>
        <p:txBody>
          <a:bodyPr wrap="square" lIns="36576" rIns="36576" tIns="36576" bIns="36576" anchor="t">
            <a:spAutoFit/>
          </a:bodyPr>
          <a:lstStyle/>
          <a:p>
            <a:pPr algn="l"/>
            <a:r>
              <a:rPr sz="1100" b="0" i="0">
                <a:solidFill>
                  <a:srgbClr val="1A1A1A"/>
                </a:solidFill>
                <a:latin typeface="Abadi"/>
              </a:rPr>
              <a:t>Child bodily pain score one month after fundoplication (higher is better); role limitation 30.6 → 56.6.</a:t>
            </a:r>
          </a:p>
        </p:txBody>
      </p:sp>
      <p:sp>
        <p:nvSpPr>
          <p:cNvPr id="16" name="Rectangle 15"/>
          <p:cNvSpPr/>
          <p:nvPr/>
        </p:nvSpPr>
        <p:spPr>
          <a:xfrm>
            <a:off x="2801721" y="1773936"/>
            <a:ext cx="2070201" cy="2148840"/>
          </a:xfrm>
          <a:prstGeom prst="rect">
            <a:avLst/>
          </a:prstGeom>
          <a:solidFill>
            <a:srgbClr val="FBEF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801721" y="1773936"/>
            <a:ext cx="2070201" cy="100584"/>
          </a:xfrm>
          <a:prstGeom prst="rect">
            <a:avLst/>
          </a:prstGeom>
          <a:solidFill>
            <a:srgbClr val="D97A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948025" y="1956816"/>
            <a:ext cx="1777593" cy="502920"/>
          </a:xfrm>
          <a:prstGeom prst="rect">
            <a:avLst/>
          </a:prstGeom>
          <a:noFill/>
        </p:spPr>
        <p:txBody>
          <a:bodyPr wrap="square" lIns="36576" rIns="36576" tIns="36576" bIns="36576" anchor="t">
            <a:spAutoFit/>
          </a:bodyPr>
          <a:lstStyle/>
          <a:p>
            <a:pPr algn="l"/>
            <a:r>
              <a:rPr sz="1400" b="1" i="0">
                <a:solidFill>
                  <a:srgbClr val="D97A0B"/>
                </a:solidFill>
                <a:latin typeface="Abadi"/>
              </a:rPr>
              <a:t>Stress unchanged</a:t>
            </a:r>
          </a:p>
        </p:txBody>
      </p:sp>
      <p:sp>
        <p:nvSpPr>
          <p:cNvPr id="19" name="TextBox 18"/>
          <p:cNvSpPr txBox="1"/>
          <p:nvPr/>
        </p:nvSpPr>
        <p:spPr>
          <a:xfrm>
            <a:off x="2948025" y="2487168"/>
            <a:ext cx="1777593" cy="1344168"/>
          </a:xfrm>
          <a:prstGeom prst="rect">
            <a:avLst/>
          </a:prstGeom>
          <a:noFill/>
        </p:spPr>
        <p:txBody>
          <a:bodyPr wrap="square" lIns="36576" rIns="36576" tIns="36576" bIns="36576" anchor="t">
            <a:spAutoFit/>
          </a:bodyPr>
          <a:lstStyle/>
          <a:p>
            <a:pPr algn="l"/>
            <a:r>
              <a:rPr sz="1100" b="0" i="0">
                <a:solidFill>
                  <a:srgbClr val="1A1A1A"/>
                </a:solidFill>
                <a:latin typeface="Abadi"/>
              </a:rPr>
              <a:t>Parenting stress 79.1 → 77.6, still above the norm; carer vitality 41.3 → 48.2.</a:t>
            </a:r>
          </a:p>
        </p:txBody>
      </p:sp>
      <p:sp>
        <p:nvSpPr>
          <p:cNvPr id="20" name="Rectangle 19"/>
          <p:cNvSpPr/>
          <p:nvPr/>
        </p:nvSpPr>
        <p:spPr>
          <a:xfrm>
            <a:off x="5054803" y="1773936"/>
            <a:ext cx="2070201" cy="2148840"/>
          </a:xfrm>
          <a:prstGeom prst="rect">
            <a:avLst/>
          </a:prstGeom>
          <a:solidFill>
            <a:srgbClr val="DCE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054803" y="1773936"/>
            <a:ext cx="2070201" cy="100584"/>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201107" y="1956816"/>
            <a:ext cx="1777593" cy="502920"/>
          </a:xfrm>
          <a:prstGeom prst="rect">
            <a:avLst/>
          </a:prstGeom>
          <a:noFill/>
        </p:spPr>
        <p:txBody>
          <a:bodyPr wrap="square" lIns="36576" rIns="36576" tIns="36576" bIns="36576" anchor="t">
            <a:spAutoFit/>
          </a:bodyPr>
          <a:lstStyle/>
          <a:p>
            <a:pPr algn="l"/>
            <a:r>
              <a:rPr sz="1400" b="1" i="0">
                <a:solidFill>
                  <a:srgbClr val="1B355E"/>
                </a:solidFill>
                <a:latin typeface="Abadi"/>
              </a:rPr>
              <a:t>1 of 23 vs 5 of 24</a:t>
            </a:r>
          </a:p>
        </p:txBody>
      </p:sp>
      <p:sp>
        <p:nvSpPr>
          <p:cNvPr id="23" name="TextBox 22"/>
          <p:cNvSpPr txBox="1"/>
          <p:nvPr/>
        </p:nvSpPr>
        <p:spPr>
          <a:xfrm>
            <a:off x="5201107" y="2487168"/>
            <a:ext cx="1777593" cy="1344168"/>
          </a:xfrm>
          <a:prstGeom prst="rect">
            <a:avLst/>
          </a:prstGeom>
          <a:noFill/>
        </p:spPr>
        <p:txBody>
          <a:bodyPr wrap="square" lIns="36576" rIns="36576" tIns="36576" bIns="36576" anchor="t">
            <a:spAutoFit/>
          </a:bodyPr>
          <a:lstStyle/>
          <a:p>
            <a:pPr algn="l"/>
            <a:r>
              <a:rPr sz="1100" b="0" i="0">
                <a:solidFill>
                  <a:srgbClr val="1A1A1A"/>
                </a:solidFill>
                <a:latin typeface="Abadi"/>
              </a:rPr>
              <a:t>GMFCS 5: symptom recurrence after dissociation vs laparoscopic fundoplication (P = .34).</a:t>
            </a:r>
          </a:p>
        </p:txBody>
      </p:sp>
      <p:sp>
        <p:nvSpPr>
          <p:cNvPr id="24" name="Rectangle 23"/>
          <p:cNvSpPr/>
          <p:nvPr/>
        </p:nvSpPr>
        <p:spPr>
          <a:xfrm>
            <a:off x="7307884" y="1773936"/>
            <a:ext cx="2070201" cy="2148840"/>
          </a:xfrm>
          <a:prstGeom prst="rect">
            <a:avLst/>
          </a:prstGeom>
          <a:solidFill>
            <a:srgbClr val="DCE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307884" y="1773936"/>
            <a:ext cx="2070201" cy="100584"/>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54188" y="1956816"/>
            <a:ext cx="1777593" cy="502920"/>
          </a:xfrm>
          <a:prstGeom prst="rect">
            <a:avLst/>
          </a:prstGeom>
          <a:noFill/>
        </p:spPr>
        <p:txBody>
          <a:bodyPr wrap="square" lIns="36576" rIns="36576" tIns="36576" bIns="36576" anchor="t">
            <a:spAutoFit/>
          </a:bodyPr>
          <a:lstStyle/>
          <a:p>
            <a:pPr algn="l"/>
            <a:r>
              <a:rPr sz="1400" b="1" i="0">
                <a:solidFill>
                  <a:srgbClr val="1B355E"/>
                </a:solidFill>
                <a:latin typeface="Abadi"/>
              </a:rPr>
              <a:t>4 of 23 vs 13 of 24</a:t>
            </a:r>
          </a:p>
        </p:txBody>
      </p:sp>
      <p:sp>
        <p:nvSpPr>
          <p:cNvPr id="27" name="TextBox 26"/>
          <p:cNvSpPr txBox="1"/>
          <p:nvPr/>
        </p:nvSpPr>
        <p:spPr>
          <a:xfrm>
            <a:off x="7454188" y="2487168"/>
            <a:ext cx="1777593" cy="1344168"/>
          </a:xfrm>
          <a:prstGeom prst="rect">
            <a:avLst/>
          </a:prstGeom>
          <a:noFill/>
        </p:spPr>
        <p:txBody>
          <a:bodyPr wrap="square" lIns="36576" rIns="36576" tIns="36576" bIns="36576" anchor="t">
            <a:spAutoFit/>
          </a:bodyPr>
          <a:lstStyle/>
          <a:p>
            <a:pPr algn="l"/>
            <a:r>
              <a:rPr sz="1100" b="0" i="0">
                <a:solidFill>
                  <a:srgbClr val="1A1A1A"/>
                </a:solidFill>
                <a:latin typeface="Abadi"/>
              </a:rPr>
              <a:t>Same study: still on acid suppression (P = .035); carer quality of life similar.</a:t>
            </a:r>
          </a:p>
        </p:txBody>
      </p:sp>
      <p:sp>
        <p:nvSpPr>
          <p:cNvPr id="28" name="Rectangle 27"/>
          <p:cNvSpPr/>
          <p:nvPr/>
        </p:nvSpPr>
        <p:spPr>
          <a:xfrm>
            <a:off x="9560966" y="1773936"/>
            <a:ext cx="2070201" cy="2148840"/>
          </a:xfrm>
          <a:prstGeom prst="rect">
            <a:avLst/>
          </a:prstGeom>
          <a:solidFill>
            <a:srgbClr val="F6D2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9560966" y="1773936"/>
            <a:ext cx="2070201" cy="100584"/>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707270" y="1956816"/>
            <a:ext cx="1777593" cy="502920"/>
          </a:xfrm>
          <a:prstGeom prst="rect">
            <a:avLst/>
          </a:prstGeom>
          <a:noFill/>
        </p:spPr>
        <p:txBody>
          <a:bodyPr wrap="square" lIns="36576" rIns="36576" tIns="36576" bIns="36576" anchor="t">
            <a:spAutoFit/>
          </a:bodyPr>
          <a:lstStyle/>
          <a:p>
            <a:pPr algn="l"/>
            <a:r>
              <a:rPr sz="1400" b="1" i="0">
                <a:solidFill>
                  <a:srgbClr val="B22222"/>
                </a:solidFill>
                <a:latin typeface="Abadi"/>
              </a:rPr>
              <a:t>17 of 18</a:t>
            </a:r>
          </a:p>
        </p:txBody>
      </p:sp>
      <p:sp>
        <p:nvSpPr>
          <p:cNvPr id="31" name="TextBox 30"/>
          <p:cNvSpPr txBox="1"/>
          <p:nvPr/>
        </p:nvSpPr>
        <p:spPr>
          <a:xfrm>
            <a:off x="9707270" y="2487168"/>
            <a:ext cx="1777593" cy="1344168"/>
          </a:xfrm>
          <a:prstGeom prst="rect">
            <a:avLst/>
          </a:prstGeom>
          <a:noFill/>
        </p:spPr>
        <p:txBody>
          <a:bodyPr wrap="square" lIns="36576" rIns="36576" tIns="36576" bIns="36576" anchor="t">
            <a:spAutoFit/>
          </a:bodyPr>
          <a:lstStyle/>
          <a:p>
            <a:pPr algn="l"/>
            <a:r>
              <a:rPr sz="1100" b="0" i="0">
                <a:solidFill>
                  <a:srgbClr val="1A1A1A"/>
                </a:solidFill>
                <a:latin typeface="Abadi"/>
              </a:rPr>
              <a:t>Kubiak trial: almost all wrap failures were in impaired children.</a:t>
            </a:r>
          </a:p>
        </p:txBody>
      </p:sp>
      <p:sp>
        <p:nvSpPr>
          <p:cNvPr id="32" name="TextBox 31"/>
          <p:cNvSpPr txBox="1"/>
          <p:nvPr/>
        </p:nvSpPr>
        <p:spPr>
          <a:xfrm>
            <a:off x="548640" y="4114800"/>
            <a:ext cx="11082528" cy="1097280"/>
          </a:xfrm>
          <a:prstGeom prst="rect">
            <a:avLst/>
          </a:prstGeom>
          <a:noFill/>
        </p:spPr>
        <p:txBody>
          <a:bodyPr wrap="square" lIns="36576" rIns="36576" tIns="36576" bIns="36576" anchor="t">
            <a:spAutoFit/>
          </a:bodyPr>
          <a:lstStyle/>
          <a:p>
            <a:pPr algn="l"/>
            <a:r>
              <a:rPr sz="1250" b="1" i="0">
                <a:solidFill>
                  <a:srgbClr val="1B355E"/>
                </a:solidFill>
                <a:latin typeface="Abadi"/>
              </a:rPr>
              <a:t>Interpretation.   </a:t>
            </a:r>
            <a:r>
              <a:rPr sz="1250" b="0" i="0">
                <a:solidFill>
                  <a:srgbClr val="1A1A1A"/>
                </a:solidFill>
                <a:latin typeface="Abadi"/>
              </a:rPr>
              <a:t>Short-term comfort improves after a wrap, but carer stress does not, and failure concentrates in the children who most need the operation to work. Dissociation controls reflux more completely in the most severely impaired, at the cost of a bigger, irreversible operation.</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292608"/>
            <a:ext cx="630936" cy="347472"/>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630936" cy="347472"/>
          </a:xfrm>
          <a:prstGeom prst="rect">
            <a:avLst/>
          </a:prstGeom>
          <a:noFill/>
        </p:spPr>
        <p:txBody>
          <a:bodyPr wrap="square" lIns="36576" rIns="36576" tIns="36576" bIns="36576" anchor="ctr">
            <a:spAutoFit/>
          </a:bodyPr>
          <a:lstStyle/>
          <a:p>
            <a:pPr algn="ctr"/>
            <a:r>
              <a:rPr sz="1500" b="1" i="0">
                <a:solidFill>
                  <a:srgbClr val="FFFFFF"/>
                </a:solidFill>
                <a:latin typeface="Abadi"/>
              </a:rPr>
              <a:t>VI</a:t>
            </a:r>
          </a:p>
        </p:txBody>
      </p:sp>
      <p:sp>
        <p:nvSpPr>
          <p:cNvPr id="4" name="TextBox 3"/>
          <p:cNvSpPr txBox="1"/>
          <p:nvPr/>
        </p:nvSpPr>
        <p:spPr>
          <a:xfrm>
            <a:off x="1380744" y="292608"/>
            <a:ext cx="10232136" cy="347472"/>
          </a:xfrm>
          <a:prstGeom prst="rect">
            <a:avLst/>
          </a:prstGeom>
          <a:noFill/>
        </p:spPr>
        <p:txBody>
          <a:bodyPr wrap="square" lIns="36576" rIns="36576" tIns="36576" bIns="36576" anchor="ctr">
            <a:spAutoFit/>
          </a:bodyPr>
          <a:lstStyle/>
          <a:p>
            <a:pPr algn="l"/>
            <a:r>
              <a:rPr sz="1200" b="1" i="0">
                <a:solidFill>
                  <a:srgbClr val="B22222"/>
                </a:solidFill>
                <a:latin typeface="Abadi"/>
              </a:rPr>
              <a:t>PRACTICE CHANGE</a:t>
            </a:r>
          </a:p>
        </p:txBody>
      </p:sp>
      <p:sp>
        <p:nvSpPr>
          <p:cNvPr id="5" name="TextBox 4"/>
          <p:cNvSpPr txBox="1"/>
          <p:nvPr/>
        </p:nvSpPr>
        <p:spPr>
          <a:xfrm>
            <a:off x="548640" y="722376"/>
            <a:ext cx="11082528" cy="548640"/>
          </a:xfrm>
          <a:prstGeom prst="rect">
            <a:avLst/>
          </a:prstGeom>
          <a:noFill/>
        </p:spPr>
        <p:txBody>
          <a:bodyPr wrap="square" lIns="36576" rIns="36576" tIns="36576" bIns="36576" anchor="ctr">
            <a:spAutoFit/>
          </a:bodyPr>
          <a:lstStyle/>
          <a:p>
            <a:pPr algn="l"/>
            <a:r>
              <a:rPr sz="3000" b="1" i="0">
                <a:solidFill>
                  <a:srgbClr val="1B355E"/>
                </a:solidFill>
                <a:latin typeface="Abadi"/>
              </a:rPr>
              <a:t>FEWER WRAPS, MORE VARIATION</a:t>
            </a:r>
          </a:p>
        </p:txBody>
      </p:sp>
      <p:sp>
        <p:nvSpPr>
          <p:cNvPr id="6" name="TextBox 5"/>
          <p:cNvSpPr txBox="1"/>
          <p:nvPr/>
        </p:nvSpPr>
        <p:spPr>
          <a:xfrm>
            <a:off x="548640" y="1307592"/>
            <a:ext cx="11082528" cy="265176"/>
          </a:xfrm>
          <a:prstGeom prst="rect">
            <a:avLst/>
          </a:prstGeom>
          <a:noFill/>
        </p:spPr>
        <p:txBody>
          <a:bodyPr wrap="square" lIns="36576" rIns="36576" tIns="36576" bIns="36576" anchor="t">
            <a:spAutoFit/>
          </a:bodyPr>
          <a:lstStyle/>
          <a:p>
            <a:pPr algn="l"/>
            <a:r>
              <a:rPr sz="1300" b="0" i="0">
                <a:solidFill>
                  <a:srgbClr val="555555"/>
                </a:solidFill>
                <a:latin typeface="Abadi"/>
              </a:rPr>
              <a:t>Trends in paediatric antireflux surgery in the United States</a:t>
            </a:r>
          </a:p>
        </p:txBody>
      </p:sp>
      <p:sp>
        <p:nvSpPr>
          <p:cNvPr id="7" name="Rectangle 6"/>
          <p:cNvSpPr/>
          <p:nvPr/>
        </p:nvSpPr>
        <p:spPr>
          <a:xfrm>
            <a:off x="548640" y="1600200"/>
            <a:ext cx="11082528" cy="27432"/>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55064"/>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5888736"/>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36224" y="5971032"/>
            <a:ext cx="694944" cy="292608"/>
          </a:xfrm>
          <a:prstGeom prst="rect">
            <a:avLst/>
          </a:prstGeom>
          <a:noFill/>
        </p:spPr>
        <p:txBody>
          <a:bodyPr wrap="square" lIns="36576" rIns="36576" tIns="36576" bIns="36576" anchor="t">
            <a:spAutoFit/>
          </a:bodyPr>
          <a:lstStyle/>
          <a:p>
            <a:pPr algn="r"/>
            <a:r>
              <a:rPr sz="1200" b="0" i="0">
                <a:solidFill>
                  <a:srgbClr val="555555"/>
                </a:solidFill>
                <a:latin typeface="Abadi"/>
              </a:rPr>
              <a:t>16</a:t>
            </a:r>
          </a:p>
        </p:txBody>
      </p:sp>
      <p:sp>
        <p:nvSpPr>
          <p:cNvPr id="11" name="TextBox 10"/>
          <p:cNvSpPr txBox="1"/>
          <p:nvPr/>
        </p:nvSpPr>
        <p:spPr>
          <a:xfrm>
            <a:off x="548640" y="5971032"/>
            <a:ext cx="10287000" cy="457200"/>
          </a:xfrm>
          <a:prstGeom prst="rect">
            <a:avLst/>
          </a:prstGeom>
          <a:noFill/>
        </p:spPr>
        <p:txBody>
          <a:bodyPr wrap="square" lIns="36576" rIns="36576" tIns="36576" bIns="36576" anchor="t">
            <a:spAutoFit/>
          </a:bodyPr>
          <a:lstStyle/>
          <a:p>
            <a:pPr algn="l"/>
            <a:r>
              <a:rPr sz="1000" b="0" i="0">
                <a:solidFill>
                  <a:srgbClr val="8A939B"/>
                </a:solidFill>
                <a:latin typeface="Abadi"/>
              </a:rPr>
              <a:t>Lasser MS, Liao JG, Burd RS. Pediatrics 2006;118:1828–35 · Goldin AB, et al. Arch Pediatr Adolesc Med 2009;163:658–63 · J Pediatr Surg 2021 (PHIS volume study)</a:t>
            </a:r>
          </a:p>
        </p:txBody>
      </p:sp>
      <p:sp>
        <p:nvSpPr>
          <p:cNvPr id="12" name="Rectangle 11"/>
          <p:cNvSpPr/>
          <p:nvPr/>
        </p:nvSpPr>
        <p:spPr>
          <a:xfrm>
            <a:off x="548640" y="1773936"/>
            <a:ext cx="2578608" cy="1645920"/>
          </a:xfrm>
          <a:prstGeom prst="rect">
            <a:avLst/>
          </a:prstGeom>
          <a:solidFill>
            <a:srgbClr val="DCE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1773936"/>
            <a:ext cx="2578608" cy="365760"/>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1792" y="1773936"/>
            <a:ext cx="2432303" cy="365760"/>
          </a:xfrm>
          <a:prstGeom prst="rect">
            <a:avLst/>
          </a:prstGeom>
          <a:noFill/>
        </p:spPr>
        <p:txBody>
          <a:bodyPr wrap="square" lIns="36576" rIns="36576" tIns="36576" bIns="36576" anchor="ctr">
            <a:spAutoFit/>
          </a:bodyPr>
          <a:lstStyle/>
          <a:p>
            <a:pPr algn="l"/>
            <a:r>
              <a:rPr sz="1150" b="1" i="0">
                <a:solidFill>
                  <a:srgbClr val="FFFFFF"/>
                </a:solidFill>
                <a:latin typeface="Abadi"/>
              </a:rPr>
              <a:t>1996–2003</a:t>
            </a:r>
          </a:p>
        </p:txBody>
      </p:sp>
      <p:sp>
        <p:nvSpPr>
          <p:cNvPr id="15" name="TextBox 14"/>
          <p:cNvSpPr txBox="1"/>
          <p:nvPr/>
        </p:nvSpPr>
        <p:spPr>
          <a:xfrm>
            <a:off x="658368" y="2231136"/>
            <a:ext cx="2359152" cy="1115568"/>
          </a:xfrm>
          <a:prstGeom prst="rect">
            <a:avLst/>
          </a:prstGeom>
          <a:noFill/>
        </p:spPr>
        <p:txBody>
          <a:bodyPr wrap="square" lIns="36576" rIns="36576" tIns="36576" bIns="36576" anchor="t">
            <a:spAutoFit/>
          </a:bodyPr>
          <a:lstStyle/>
          <a:p>
            <a:pPr algn="l"/>
            <a:r>
              <a:rPr sz="1100" b="0" i="0">
                <a:solidFill>
                  <a:srgbClr val="1A1A1A"/>
                </a:solidFill>
                <a:latin typeface="Abadi"/>
              </a:rPr>
              <a:t>48,665 procedures; the share in neurologically impaired children fell from 53% to 40%.</a:t>
            </a:r>
          </a:p>
        </p:txBody>
      </p:sp>
      <p:sp>
        <p:nvSpPr>
          <p:cNvPr id="16" name="TextBox 15"/>
          <p:cNvSpPr txBox="1"/>
          <p:nvPr/>
        </p:nvSpPr>
        <p:spPr>
          <a:xfrm>
            <a:off x="3127248" y="2459736"/>
            <a:ext cx="256032" cy="274320"/>
          </a:xfrm>
          <a:prstGeom prst="rect">
            <a:avLst/>
          </a:prstGeom>
          <a:noFill/>
        </p:spPr>
        <p:txBody>
          <a:bodyPr wrap="square" lIns="36576" rIns="36576" tIns="36576" bIns="36576" anchor="t">
            <a:spAutoFit/>
          </a:bodyPr>
          <a:lstStyle/>
          <a:p>
            <a:pPr algn="ctr"/>
            <a:r>
              <a:rPr sz="900" b="0" i="0">
                <a:solidFill>
                  <a:srgbClr val="8A939B"/>
                </a:solidFill>
                <a:latin typeface="Abadi"/>
              </a:rPr>
              <a:t>▶</a:t>
            </a:r>
          </a:p>
        </p:txBody>
      </p:sp>
      <p:sp>
        <p:nvSpPr>
          <p:cNvPr id="17" name="Rectangle 16"/>
          <p:cNvSpPr/>
          <p:nvPr/>
        </p:nvSpPr>
        <p:spPr>
          <a:xfrm>
            <a:off x="3383279" y="1773936"/>
            <a:ext cx="2578608" cy="1645920"/>
          </a:xfrm>
          <a:prstGeom prst="rect">
            <a:avLst/>
          </a:prstGeom>
          <a:solidFill>
            <a:srgbClr val="FBEF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3383279" y="1773936"/>
            <a:ext cx="2578608" cy="365760"/>
          </a:xfrm>
          <a:prstGeom prst="rect">
            <a:avLst/>
          </a:prstGeom>
          <a:solidFill>
            <a:srgbClr val="D97A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456432" y="1773936"/>
            <a:ext cx="2432303" cy="365760"/>
          </a:xfrm>
          <a:prstGeom prst="rect">
            <a:avLst/>
          </a:prstGeom>
          <a:noFill/>
        </p:spPr>
        <p:txBody>
          <a:bodyPr wrap="square" lIns="36576" rIns="36576" tIns="36576" bIns="36576" anchor="ctr">
            <a:spAutoFit/>
          </a:bodyPr>
          <a:lstStyle/>
          <a:p>
            <a:pPr algn="l"/>
            <a:r>
              <a:rPr sz="1150" b="1" i="0">
                <a:solidFill>
                  <a:srgbClr val="FFFFFF"/>
                </a:solidFill>
                <a:latin typeface="Abadi"/>
              </a:rPr>
              <a:t>36 hospitals</a:t>
            </a:r>
          </a:p>
        </p:txBody>
      </p:sp>
      <p:sp>
        <p:nvSpPr>
          <p:cNvPr id="20" name="TextBox 19"/>
          <p:cNvSpPr txBox="1"/>
          <p:nvPr/>
        </p:nvSpPr>
        <p:spPr>
          <a:xfrm>
            <a:off x="3493008" y="2231136"/>
            <a:ext cx="2359152" cy="1115568"/>
          </a:xfrm>
          <a:prstGeom prst="rect">
            <a:avLst/>
          </a:prstGeom>
          <a:noFill/>
        </p:spPr>
        <p:txBody>
          <a:bodyPr wrap="square" lIns="36576" rIns="36576" tIns="36576" bIns="36576" anchor="t">
            <a:spAutoFit/>
          </a:bodyPr>
          <a:lstStyle/>
          <a:p>
            <a:pPr algn="l"/>
            <a:r>
              <a:rPr sz="1100" b="0" i="0">
                <a:solidFill>
                  <a:srgbClr val="1A1A1A"/>
                </a:solidFill>
                <a:latin typeface="Abadi"/>
              </a:rPr>
              <a:t>13,691 procedures: rates falling every year, with wide variation between hospitals.</a:t>
            </a:r>
          </a:p>
        </p:txBody>
      </p:sp>
      <p:sp>
        <p:nvSpPr>
          <p:cNvPr id="21" name="TextBox 20"/>
          <p:cNvSpPr txBox="1"/>
          <p:nvPr/>
        </p:nvSpPr>
        <p:spPr>
          <a:xfrm>
            <a:off x="5961888" y="2459736"/>
            <a:ext cx="256032" cy="274320"/>
          </a:xfrm>
          <a:prstGeom prst="rect">
            <a:avLst/>
          </a:prstGeom>
          <a:noFill/>
        </p:spPr>
        <p:txBody>
          <a:bodyPr wrap="square" lIns="36576" rIns="36576" tIns="36576" bIns="36576" anchor="t">
            <a:spAutoFit/>
          </a:bodyPr>
          <a:lstStyle/>
          <a:p>
            <a:pPr algn="ctr"/>
            <a:r>
              <a:rPr sz="900" b="0" i="0">
                <a:solidFill>
                  <a:srgbClr val="8A939B"/>
                </a:solidFill>
                <a:latin typeface="Abadi"/>
              </a:rPr>
              <a:t>▶</a:t>
            </a:r>
          </a:p>
        </p:txBody>
      </p:sp>
      <p:sp>
        <p:nvSpPr>
          <p:cNvPr id="22" name="Rectangle 21"/>
          <p:cNvSpPr/>
          <p:nvPr/>
        </p:nvSpPr>
        <p:spPr>
          <a:xfrm>
            <a:off x="6217919" y="1773936"/>
            <a:ext cx="2578608" cy="1645920"/>
          </a:xfrm>
          <a:prstGeom prst="rect">
            <a:avLst/>
          </a:prstGeom>
          <a:solidFill>
            <a:srgbClr val="F6D2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17919" y="1773936"/>
            <a:ext cx="2578608" cy="365760"/>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291071" y="1773936"/>
            <a:ext cx="2432303" cy="365760"/>
          </a:xfrm>
          <a:prstGeom prst="rect">
            <a:avLst/>
          </a:prstGeom>
          <a:noFill/>
        </p:spPr>
        <p:txBody>
          <a:bodyPr wrap="square" lIns="36576" rIns="36576" tIns="36576" bIns="36576" anchor="ctr">
            <a:spAutoFit/>
          </a:bodyPr>
          <a:lstStyle/>
          <a:p>
            <a:pPr algn="l"/>
            <a:r>
              <a:rPr sz="1150" b="1" i="0">
                <a:solidFill>
                  <a:srgbClr val="FFFFFF"/>
                </a:solidFill>
                <a:latin typeface="Abadi"/>
              </a:rPr>
              <a:t>2010–2019</a:t>
            </a:r>
          </a:p>
        </p:txBody>
      </p:sp>
      <p:sp>
        <p:nvSpPr>
          <p:cNvPr id="25" name="TextBox 24"/>
          <p:cNvSpPr txBox="1"/>
          <p:nvPr/>
        </p:nvSpPr>
        <p:spPr>
          <a:xfrm>
            <a:off x="6327647" y="2231136"/>
            <a:ext cx="2359152" cy="1115568"/>
          </a:xfrm>
          <a:prstGeom prst="rect">
            <a:avLst/>
          </a:prstGeom>
          <a:noFill/>
        </p:spPr>
        <p:txBody>
          <a:bodyPr wrap="square" lIns="36576" rIns="36576" tIns="36576" bIns="36576" anchor="t">
            <a:spAutoFit/>
          </a:bodyPr>
          <a:lstStyle/>
          <a:p>
            <a:pPr algn="l"/>
            <a:r>
              <a:rPr sz="1100" b="0" i="0">
                <a:solidFill>
                  <a:srgbClr val="1A1A1A"/>
                </a:solidFill>
                <a:latin typeface="Abadi"/>
              </a:rPr>
              <a:t>Mean cases per institution fell from 50 to 17; fellows' logged cases from 46 to 26.</a:t>
            </a:r>
          </a:p>
        </p:txBody>
      </p:sp>
      <p:sp>
        <p:nvSpPr>
          <p:cNvPr id="26" name="TextBox 25"/>
          <p:cNvSpPr txBox="1"/>
          <p:nvPr/>
        </p:nvSpPr>
        <p:spPr>
          <a:xfrm>
            <a:off x="8796528" y="2459736"/>
            <a:ext cx="256032" cy="274320"/>
          </a:xfrm>
          <a:prstGeom prst="rect">
            <a:avLst/>
          </a:prstGeom>
          <a:noFill/>
        </p:spPr>
        <p:txBody>
          <a:bodyPr wrap="square" lIns="36576" rIns="36576" tIns="36576" bIns="36576" anchor="t">
            <a:spAutoFit/>
          </a:bodyPr>
          <a:lstStyle/>
          <a:p>
            <a:pPr algn="ctr"/>
            <a:r>
              <a:rPr sz="900" b="0" i="0">
                <a:solidFill>
                  <a:srgbClr val="8A939B"/>
                </a:solidFill>
                <a:latin typeface="Abadi"/>
              </a:rPr>
              <a:t>▶</a:t>
            </a:r>
          </a:p>
        </p:txBody>
      </p:sp>
      <p:sp>
        <p:nvSpPr>
          <p:cNvPr id="27" name="Rectangle 26"/>
          <p:cNvSpPr/>
          <p:nvPr/>
        </p:nvSpPr>
        <p:spPr>
          <a:xfrm>
            <a:off x="9052559" y="1773936"/>
            <a:ext cx="2578608" cy="1645920"/>
          </a:xfrm>
          <a:prstGeom prst="rect">
            <a:avLst/>
          </a:prstGeom>
          <a:solidFill>
            <a:srgbClr val="E7E9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9052559" y="1773936"/>
            <a:ext cx="2578608" cy="365760"/>
          </a:xfrm>
          <a:prstGeom prst="rect">
            <a:avLst/>
          </a:prstGeom>
          <a:solidFill>
            <a:srgbClr val="8A93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125711" y="1773936"/>
            <a:ext cx="2432303" cy="365760"/>
          </a:xfrm>
          <a:prstGeom prst="rect">
            <a:avLst/>
          </a:prstGeom>
          <a:noFill/>
        </p:spPr>
        <p:txBody>
          <a:bodyPr wrap="square" lIns="36576" rIns="36576" tIns="36576" bIns="36576" anchor="ctr">
            <a:spAutoFit/>
          </a:bodyPr>
          <a:lstStyle/>
          <a:p>
            <a:pPr algn="l"/>
            <a:r>
              <a:rPr sz="1150" b="1" i="0">
                <a:solidFill>
                  <a:srgbClr val="FFFFFF"/>
                </a:solidFill>
                <a:latin typeface="Abadi"/>
              </a:rPr>
              <a:t>Today</a:t>
            </a:r>
          </a:p>
        </p:txBody>
      </p:sp>
      <p:sp>
        <p:nvSpPr>
          <p:cNvPr id="30" name="TextBox 29"/>
          <p:cNvSpPr txBox="1"/>
          <p:nvPr/>
        </p:nvSpPr>
        <p:spPr>
          <a:xfrm>
            <a:off x="9162287" y="2231136"/>
            <a:ext cx="2359152" cy="1115568"/>
          </a:xfrm>
          <a:prstGeom prst="rect">
            <a:avLst/>
          </a:prstGeom>
          <a:noFill/>
        </p:spPr>
        <p:txBody>
          <a:bodyPr wrap="square" lIns="36576" rIns="36576" tIns="36576" bIns="36576" anchor="t">
            <a:spAutoFit/>
          </a:bodyPr>
          <a:lstStyle/>
          <a:p>
            <a:pPr algn="l"/>
            <a:r>
              <a:rPr sz="1100" b="0" i="0">
                <a:solidFill>
                  <a:srgbClr val="1A1A1A"/>
                </a:solidFill>
                <a:latin typeface="Abadi"/>
              </a:rPr>
              <a:t>More jejunal feeding and acid suppression; fewer surgeons with high wrap volume.</a:t>
            </a:r>
          </a:p>
        </p:txBody>
      </p:sp>
      <p:sp>
        <p:nvSpPr>
          <p:cNvPr id="31" name="TextBox 30"/>
          <p:cNvSpPr txBox="1"/>
          <p:nvPr/>
        </p:nvSpPr>
        <p:spPr>
          <a:xfrm>
            <a:off x="548640" y="3749039"/>
            <a:ext cx="11082528" cy="1005840"/>
          </a:xfrm>
          <a:prstGeom prst="rect">
            <a:avLst/>
          </a:prstGeom>
          <a:noFill/>
        </p:spPr>
        <p:txBody>
          <a:bodyPr wrap="square" lIns="36576" rIns="36576" tIns="36576" bIns="36576" anchor="t">
            <a:spAutoFit/>
          </a:bodyPr>
          <a:lstStyle/>
          <a:p>
            <a:pPr algn="l"/>
            <a:r>
              <a:rPr sz="1250" b="1" i="0">
                <a:solidFill>
                  <a:srgbClr val="1B355E"/>
                </a:solidFill>
                <a:latin typeface="Abadi"/>
              </a:rPr>
              <a:t>Why it matters.   </a:t>
            </a:r>
            <a:r>
              <a:rPr sz="1250" b="0" i="0">
                <a:solidFill>
                  <a:srgbClr val="1A1A1A"/>
                </a:solidFill>
                <a:latin typeface="Abadi"/>
              </a:rPr>
              <a:t>Variation between hospitals larger than the evidence can explain means that the operation a child receives depends partly on where she lives. Falling volume also means that fewer surgeons have the experience that the technique trials show to matter.</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292608"/>
            <a:ext cx="630936" cy="347472"/>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630936" cy="347472"/>
          </a:xfrm>
          <a:prstGeom prst="rect">
            <a:avLst/>
          </a:prstGeom>
          <a:noFill/>
        </p:spPr>
        <p:txBody>
          <a:bodyPr wrap="square" lIns="36576" rIns="36576" tIns="36576" bIns="36576" anchor="ctr">
            <a:spAutoFit/>
          </a:bodyPr>
          <a:lstStyle/>
          <a:p>
            <a:pPr algn="ctr"/>
            <a:r>
              <a:rPr sz="1500" b="1" i="0">
                <a:solidFill>
                  <a:srgbClr val="FFFFFF"/>
                </a:solidFill>
                <a:latin typeface="Abadi"/>
              </a:rPr>
              <a:t>VII</a:t>
            </a:r>
          </a:p>
        </p:txBody>
      </p:sp>
      <p:sp>
        <p:nvSpPr>
          <p:cNvPr id="4" name="TextBox 3"/>
          <p:cNvSpPr txBox="1"/>
          <p:nvPr/>
        </p:nvSpPr>
        <p:spPr>
          <a:xfrm>
            <a:off x="1380744" y="292608"/>
            <a:ext cx="10232136" cy="347472"/>
          </a:xfrm>
          <a:prstGeom prst="rect">
            <a:avLst/>
          </a:prstGeom>
          <a:noFill/>
        </p:spPr>
        <p:txBody>
          <a:bodyPr wrap="square" lIns="36576" rIns="36576" tIns="36576" bIns="36576" anchor="ctr">
            <a:spAutoFit/>
          </a:bodyPr>
          <a:lstStyle/>
          <a:p>
            <a:pPr algn="l"/>
            <a:r>
              <a:rPr sz="1200" b="1" i="0">
                <a:solidFill>
                  <a:srgbClr val="B22222"/>
                </a:solidFill>
                <a:latin typeface="Abadi"/>
              </a:rPr>
              <a:t>NEWER OPTIONS</a:t>
            </a:r>
          </a:p>
        </p:txBody>
      </p:sp>
      <p:sp>
        <p:nvSpPr>
          <p:cNvPr id="5" name="TextBox 4"/>
          <p:cNvSpPr txBox="1"/>
          <p:nvPr/>
        </p:nvSpPr>
        <p:spPr>
          <a:xfrm>
            <a:off x="548640" y="722376"/>
            <a:ext cx="11082528" cy="548640"/>
          </a:xfrm>
          <a:prstGeom prst="rect">
            <a:avLst/>
          </a:prstGeom>
          <a:noFill/>
        </p:spPr>
        <p:txBody>
          <a:bodyPr wrap="square" lIns="36576" rIns="36576" tIns="36576" bIns="36576" anchor="ctr">
            <a:spAutoFit/>
          </a:bodyPr>
          <a:lstStyle/>
          <a:p>
            <a:pPr algn="l"/>
            <a:r>
              <a:rPr sz="3000" b="1" i="0">
                <a:solidFill>
                  <a:srgbClr val="1B355E"/>
                </a:solidFill>
                <a:latin typeface="Abadi"/>
              </a:rPr>
              <a:t>ENDOSCOPIC AND DEVICE THERAPY</a:t>
            </a:r>
          </a:p>
        </p:txBody>
      </p:sp>
      <p:sp>
        <p:nvSpPr>
          <p:cNvPr id="6" name="TextBox 5"/>
          <p:cNvSpPr txBox="1"/>
          <p:nvPr/>
        </p:nvSpPr>
        <p:spPr>
          <a:xfrm>
            <a:off x="548640" y="1307592"/>
            <a:ext cx="11082528" cy="265176"/>
          </a:xfrm>
          <a:prstGeom prst="rect">
            <a:avLst/>
          </a:prstGeom>
          <a:noFill/>
        </p:spPr>
        <p:txBody>
          <a:bodyPr wrap="square" lIns="36576" rIns="36576" tIns="36576" bIns="36576" anchor="t">
            <a:spAutoFit/>
          </a:bodyPr>
          <a:lstStyle/>
          <a:p>
            <a:pPr algn="l"/>
            <a:r>
              <a:rPr sz="1300" b="0" i="0">
                <a:solidFill>
                  <a:srgbClr val="555555"/>
                </a:solidFill>
                <a:latin typeface="Abadi"/>
              </a:rPr>
              <a:t>Adult options that adolescents and parents ask about</a:t>
            </a:r>
          </a:p>
        </p:txBody>
      </p:sp>
      <p:sp>
        <p:nvSpPr>
          <p:cNvPr id="7" name="Rectangle 6"/>
          <p:cNvSpPr/>
          <p:nvPr/>
        </p:nvSpPr>
        <p:spPr>
          <a:xfrm>
            <a:off x="548640" y="1600200"/>
            <a:ext cx="11082528" cy="27432"/>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55064"/>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5888736"/>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36224" y="5971032"/>
            <a:ext cx="694944" cy="292608"/>
          </a:xfrm>
          <a:prstGeom prst="rect">
            <a:avLst/>
          </a:prstGeom>
          <a:noFill/>
        </p:spPr>
        <p:txBody>
          <a:bodyPr wrap="square" lIns="36576" rIns="36576" tIns="36576" bIns="36576" anchor="t">
            <a:spAutoFit/>
          </a:bodyPr>
          <a:lstStyle/>
          <a:p>
            <a:pPr algn="r"/>
            <a:r>
              <a:rPr sz="1200" b="0" i="0">
                <a:solidFill>
                  <a:srgbClr val="555555"/>
                </a:solidFill>
                <a:latin typeface="Abadi"/>
              </a:rPr>
              <a:t>17</a:t>
            </a:r>
          </a:p>
        </p:txBody>
      </p:sp>
      <p:sp>
        <p:nvSpPr>
          <p:cNvPr id="11" name="TextBox 10"/>
          <p:cNvSpPr txBox="1"/>
          <p:nvPr/>
        </p:nvSpPr>
        <p:spPr>
          <a:xfrm>
            <a:off x="548640" y="5971032"/>
            <a:ext cx="10287000" cy="457200"/>
          </a:xfrm>
          <a:prstGeom prst="rect">
            <a:avLst/>
          </a:prstGeom>
          <a:noFill/>
        </p:spPr>
        <p:txBody>
          <a:bodyPr wrap="square" lIns="36576" rIns="36576" tIns="36576" bIns="36576" anchor="t">
            <a:spAutoFit/>
          </a:bodyPr>
          <a:lstStyle/>
          <a:p>
            <a:pPr algn="l"/>
            <a:r>
              <a:rPr sz="1000" b="0" i="0">
                <a:solidFill>
                  <a:srgbClr val="8A939B"/>
                </a:solidFill>
                <a:latin typeface="Abadi"/>
              </a:rPr>
              <a:t>Chen S, Jarboe MD, Teitelbaum DH. Pediatr Surg Int 2012 (doi 10.1007/s00383-011-3028-8) · Yadlapati R, et al. Clin Gastroenterol Hepatol 2022;20:984–94 · Slater 2023</a:t>
            </a:r>
          </a:p>
        </p:txBody>
      </p:sp>
      <p:sp>
        <p:nvSpPr>
          <p:cNvPr id="12" name="Rectangle 11"/>
          <p:cNvSpPr/>
          <p:nvPr/>
        </p:nvSpPr>
        <p:spPr>
          <a:xfrm>
            <a:off x="548640" y="1773936"/>
            <a:ext cx="2633472" cy="2148840"/>
          </a:xfrm>
          <a:prstGeom prst="rect">
            <a:avLst/>
          </a:prstGeom>
          <a:solidFill>
            <a:srgbClr val="DCE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1773936"/>
            <a:ext cx="2633472" cy="100584"/>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94944" y="1956816"/>
            <a:ext cx="2340864" cy="502920"/>
          </a:xfrm>
          <a:prstGeom prst="rect">
            <a:avLst/>
          </a:prstGeom>
          <a:noFill/>
        </p:spPr>
        <p:txBody>
          <a:bodyPr wrap="square" lIns="36576" rIns="36576" tIns="36576" bIns="36576" anchor="t">
            <a:spAutoFit/>
          </a:bodyPr>
          <a:lstStyle/>
          <a:p>
            <a:pPr algn="l"/>
            <a:r>
              <a:rPr sz="1500" b="1" i="0">
                <a:solidFill>
                  <a:srgbClr val="1B355E"/>
                </a:solidFill>
                <a:latin typeface="Abadi"/>
              </a:rPr>
              <a:t>TIF</a:t>
            </a:r>
          </a:p>
        </p:txBody>
      </p:sp>
      <p:sp>
        <p:nvSpPr>
          <p:cNvPr id="15" name="TextBox 14"/>
          <p:cNvSpPr txBox="1"/>
          <p:nvPr/>
        </p:nvSpPr>
        <p:spPr>
          <a:xfrm>
            <a:off x="694944" y="2487168"/>
            <a:ext cx="2340864" cy="1344168"/>
          </a:xfrm>
          <a:prstGeom prst="rect">
            <a:avLst/>
          </a:prstGeom>
          <a:noFill/>
        </p:spPr>
        <p:txBody>
          <a:bodyPr wrap="square" lIns="36576" rIns="36576" tIns="36576" bIns="36576" anchor="t">
            <a:spAutoFit/>
          </a:bodyPr>
          <a:lstStyle/>
          <a:p>
            <a:pPr algn="l">
              <a:spcAft>
                <a:spcPts val="400"/>
              </a:spcAft>
            </a:pPr>
            <a:r>
              <a:rPr sz="1150" b="0" i="0">
                <a:solidFill>
                  <a:srgbClr val="1A1A1A"/>
                </a:solidFill>
                <a:latin typeface="Abadi"/>
              </a:rPr>
              <a:t>▪  Transoral incisionless fundoplication</a:t>
            </a:r>
          </a:p>
          <a:p>
            <a:pPr algn="l">
              <a:spcAft>
                <a:spcPts val="400"/>
              </a:spcAft>
            </a:pPr>
            <a:r>
              <a:rPr sz="1150" b="0" i="0">
                <a:solidFill>
                  <a:srgbClr val="1A1A1A"/>
                </a:solidFill>
                <a:latin typeface="Abadi"/>
              </a:rPr>
              <a:t>▪  11 children: reflux resolved in 10 at 8 months</a:t>
            </a:r>
          </a:p>
          <a:p>
            <a:pPr algn="l">
              <a:spcAft>
                <a:spcPts val="400"/>
              </a:spcAft>
            </a:pPr>
            <a:r>
              <a:rPr sz="1150" b="0" i="0">
                <a:solidFill>
                  <a:srgbClr val="1A1A1A"/>
                </a:solidFill>
                <a:latin typeface="Abadi"/>
              </a:rPr>
              <a:t>▪  Adult AGA: option in selected patients</a:t>
            </a:r>
          </a:p>
        </p:txBody>
      </p:sp>
      <p:sp>
        <p:nvSpPr>
          <p:cNvPr id="16" name="Rectangle 15"/>
          <p:cNvSpPr/>
          <p:nvPr/>
        </p:nvSpPr>
        <p:spPr>
          <a:xfrm>
            <a:off x="3364992" y="1773936"/>
            <a:ext cx="2633472" cy="2148840"/>
          </a:xfrm>
          <a:prstGeom prst="rect">
            <a:avLst/>
          </a:prstGeom>
          <a:solidFill>
            <a:srgbClr val="FBEF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364992" y="1773936"/>
            <a:ext cx="2633472" cy="100584"/>
          </a:xfrm>
          <a:prstGeom prst="rect">
            <a:avLst/>
          </a:prstGeom>
          <a:solidFill>
            <a:srgbClr val="D97A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511296" y="1956816"/>
            <a:ext cx="2340864" cy="502920"/>
          </a:xfrm>
          <a:prstGeom prst="rect">
            <a:avLst/>
          </a:prstGeom>
          <a:noFill/>
        </p:spPr>
        <p:txBody>
          <a:bodyPr wrap="square" lIns="36576" rIns="36576" tIns="36576" bIns="36576" anchor="t">
            <a:spAutoFit/>
          </a:bodyPr>
          <a:lstStyle/>
          <a:p>
            <a:pPr algn="l"/>
            <a:r>
              <a:rPr sz="1500" b="1" i="0">
                <a:solidFill>
                  <a:srgbClr val="D97A0B"/>
                </a:solidFill>
                <a:latin typeface="Abadi"/>
              </a:rPr>
              <a:t>Magnetic ring</a:t>
            </a:r>
          </a:p>
        </p:txBody>
      </p:sp>
      <p:sp>
        <p:nvSpPr>
          <p:cNvPr id="19" name="TextBox 18"/>
          <p:cNvSpPr txBox="1"/>
          <p:nvPr/>
        </p:nvSpPr>
        <p:spPr>
          <a:xfrm>
            <a:off x="3511296" y="2487168"/>
            <a:ext cx="2340864" cy="1344168"/>
          </a:xfrm>
          <a:prstGeom prst="rect">
            <a:avLst/>
          </a:prstGeom>
          <a:noFill/>
        </p:spPr>
        <p:txBody>
          <a:bodyPr wrap="square" lIns="36576" rIns="36576" tIns="36576" bIns="36576" anchor="t">
            <a:spAutoFit/>
          </a:bodyPr>
          <a:lstStyle/>
          <a:p>
            <a:pPr algn="l">
              <a:spcAft>
                <a:spcPts val="400"/>
              </a:spcAft>
            </a:pPr>
            <a:r>
              <a:rPr sz="1150" b="0" i="0">
                <a:solidFill>
                  <a:srgbClr val="1A1A1A"/>
                </a:solidFill>
                <a:latin typeface="Abadi"/>
              </a:rPr>
              <a:t>▪  LINX sphincter augmentation</a:t>
            </a:r>
          </a:p>
          <a:p>
            <a:pPr algn="l">
              <a:spcAft>
                <a:spcPts val="400"/>
              </a:spcAft>
            </a:pPr>
            <a:r>
              <a:rPr sz="1150" b="0" i="0">
                <a:solidFill>
                  <a:srgbClr val="1A1A1A"/>
                </a:solidFill>
                <a:latin typeface="Abadi"/>
              </a:rPr>
              <a:t>▪  Adult pivotal trial: 21 years and over</a:t>
            </a:r>
          </a:p>
          <a:p>
            <a:pPr algn="l">
              <a:spcAft>
                <a:spcPts val="400"/>
              </a:spcAft>
            </a:pPr>
            <a:r>
              <a:rPr sz="1150" b="0" i="0">
                <a:solidFill>
                  <a:srgbClr val="1A1A1A"/>
                </a:solidFill>
                <a:latin typeface="Abadi"/>
              </a:rPr>
              <a:t>▪  No paediatric series</a:t>
            </a:r>
          </a:p>
        </p:txBody>
      </p:sp>
      <p:sp>
        <p:nvSpPr>
          <p:cNvPr id="20" name="Rectangle 19"/>
          <p:cNvSpPr/>
          <p:nvPr/>
        </p:nvSpPr>
        <p:spPr>
          <a:xfrm>
            <a:off x="6181344" y="1773936"/>
            <a:ext cx="2633472" cy="2148840"/>
          </a:xfrm>
          <a:prstGeom prst="rect">
            <a:avLst/>
          </a:prstGeom>
          <a:solidFill>
            <a:srgbClr val="E7E9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181344" y="1773936"/>
            <a:ext cx="2633472" cy="100584"/>
          </a:xfrm>
          <a:prstGeom prst="rect">
            <a:avLst/>
          </a:prstGeom>
          <a:solidFill>
            <a:srgbClr val="8A93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27648" y="1956816"/>
            <a:ext cx="2340864" cy="502920"/>
          </a:xfrm>
          <a:prstGeom prst="rect">
            <a:avLst/>
          </a:prstGeom>
          <a:noFill/>
        </p:spPr>
        <p:txBody>
          <a:bodyPr wrap="square" lIns="36576" rIns="36576" tIns="36576" bIns="36576" anchor="t">
            <a:spAutoFit/>
          </a:bodyPr>
          <a:lstStyle/>
          <a:p>
            <a:pPr algn="l"/>
            <a:r>
              <a:rPr sz="1500" b="1" i="0">
                <a:solidFill>
                  <a:srgbClr val="8A939B"/>
                </a:solidFill>
                <a:latin typeface="Abadi"/>
              </a:rPr>
              <a:t>Stretta</a:t>
            </a:r>
          </a:p>
        </p:txBody>
      </p:sp>
      <p:sp>
        <p:nvSpPr>
          <p:cNvPr id="23" name="TextBox 22"/>
          <p:cNvSpPr txBox="1"/>
          <p:nvPr/>
        </p:nvSpPr>
        <p:spPr>
          <a:xfrm>
            <a:off x="6327648" y="2487168"/>
            <a:ext cx="2340864" cy="1344168"/>
          </a:xfrm>
          <a:prstGeom prst="rect">
            <a:avLst/>
          </a:prstGeom>
          <a:noFill/>
        </p:spPr>
        <p:txBody>
          <a:bodyPr wrap="square" lIns="36576" rIns="36576" tIns="36576" bIns="36576" anchor="t">
            <a:spAutoFit/>
          </a:bodyPr>
          <a:lstStyle/>
          <a:p>
            <a:pPr algn="l">
              <a:spcAft>
                <a:spcPts val="400"/>
              </a:spcAft>
            </a:pPr>
            <a:r>
              <a:rPr sz="1150" b="0" i="0">
                <a:solidFill>
                  <a:srgbClr val="1A1A1A"/>
                </a:solidFill>
                <a:latin typeface="Abadi"/>
              </a:rPr>
              <a:t>▪  Radiofrequency to the sphincter</a:t>
            </a:r>
          </a:p>
          <a:p>
            <a:pPr algn="l">
              <a:spcAft>
                <a:spcPts val="400"/>
              </a:spcAft>
            </a:pPr>
            <a:r>
              <a:rPr sz="1150" b="0" i="0">
                <a:solidFill>
                  <a:srgbClr val="1A1A1A"/>
                </a:solidFill>
                <a:latin typeface="Abadi"/>
              </a:rPr>
              <a:t>▪  No paediatric data</a:t>
            </a:r>
          </a:p>
          <a:p>
            <a:pPr algn="l">
              <a:spcAft>
                <a:spcPts val="400"/>
              </a:spcAft>
            </a:pPr>
            <a:r>
              <a:rPr sz="1150" b="0" i="0">
                <a:solidFill>
                  <a:srgbClr val="1A1A1A"/>
                </a:solidFill>
                <a:latin typeface="Abadi"/>
              </a:rPr>
              <a:t>▪  SAGES: low certainty in adults</a:t>
            </a:r>
          </a:p>
        </p:txBody>
      </p:sp>
      <p:sp>
        <p:nvSpPr>
          <p:cNvPr id="24" name="Rectangle 23"/>
          <p:cNvSpPr/>
          <p:nvPr/>
        </p:nvSpPr>
        <p:spPr>
          <a:xfrm>
            <a:off x="8997696" y="1773936"/>
            <a:ext cx="2633472" cy="2148840"/>
          </a:xfrm>
          <a:prstGeom prst="rect">
            <a:avLst/>
          </a:prstGeom>
          <a:solidFill>
            <a:srgbClr val="F6D2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997696" y="1773936"/>
            <a:ext cx="2633472" cy="100584"/>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144000" y="1956816"/>
            <a:ext cx="2340864" cy="502920"/>
          </a:xfrm>
          <a:prstGeom prst="rect">
            <a:avLst/>
          </a:prstGeom>
          <a:noFill/>
        </p:spPr>
        <p:txBody>
          <a:bodyPr wrap="square" lIns="36576" rIns="36576" tIns="36576" bIns="36576" anchor="t">
            <a:spAutoFit/>
          </a:bodyPr>
          <a:lstStyle/>
          <a:p>
            <a:pPr algn="l"/>
            <a:r>
              <a:rPr sz="1500" b="1" i="0">
                <a:solidFill>
                  <a:srgbClr val="B22222"/>
                </a:solidFill>
                <a:latin typeface="Abadi"/>
              </a:rPr>
              <a:t>Verdict</a:t>
            </a:r>
          </a:p>
        </p:txBody>
      </p:sp>
      <p:sp>
        <p:nvSpPr>
          <p:cNvPr id="27" name="TextBox 26"/>
          <p:cNvSpPr txBox="1"/>
          <p:nvPr/>
        </p:nvSpPr>
        <p:spPr>
          <a:xfrm>
            <a:off x="9144000" y="2487168"/>
            <a:ext cx="2340864" cy="1344168"/>
          </a:xfrm>
          <a:prstGeom prst="rect">
            <a:avLst/>
          </a:prstGeom>
          <a:noFill/>
        </p:spPr>
        <p:txBody>
          <a:bodyPr wrap="square" lIns="36576" rIns="36576" tIns="36576" bIns="36576" anchor="t">
            <a:spAutoFit/>
          </a:bodyPr>
          <a:lstStyle/>
          <a:p>
            <a:pPr algn="l">
              <a:spcAft>
                <a:spcPts val="400"/>
              </a:spcAft>
            </a:pPr>
            <a:r>
              <a:rPr sz="1150" b="0" i="0">
                <a:solidFill>
                  <a:srgbClr val="1A1A1A"/>
                </a:solidFill>
                <a:latin typeface="Abadi"/>
              </a:rPr>
              <a:t>▪  Experimental in children</a:t>
            </a:r>
          </a:p>
          <a:p>
            <a:pPr algn="l">
              <a:spcAft>
                <a:spcPts val="400"/>
              </a:spcAft>
            </a:pPr>
            <a:r>
              <a:rPr sz="1150" b="0" i="0">
                <a:solidFill>
                  <a:srgbClr val="1A1A1A"/>
                </a:solidFill>
                <a:latin typeface="Abadi"/>
              </a:rPr>
              <a:t>▪  Consider only in trials or adult-size adolescents</a:t>
            </a:r>
          </a:p>
        </p:txBody>
      </p:sp>
      <p:sp>
        <p:nvSpPr>
          <p:cNvPr id="28" name="TextBox 27"/>
          <p:cNvSpPr txBox="1"/>
          <p:nvPr/>
        </p:nvSpPr>
        <p:spPr>
          <a:xfrm>
            <a:off x="548640" y="4114800"/>
            <a:ext cx="11082528" cy="1005840"/>
          </a:xfrm>
          <a:prstGeom prst="rect">
            <a:avLst/>
          </a:prstGeom>
          <a:noFill/>
        </p:spPr>
        <p:txBody>
          <a:bodyPr wrap="square" lIns="36576" rIns="36576" tIns="36576" bIns="36576" anchor="t">
            <a:spAutoFit/>
          </a:bodyPr>
          <a:lstStyle/>
          <a:p>
            <a:pPr algn="l"/>
            <a:r>
              <a:rPr sz="1250" b="1" i="0">
                <a:solidFill>
                  <a:srgbClr val="1B355E"/>
                </a:solidFill>
                <a:latin typeface="Abadi"/>
              </a:rPr>
              <a:t>Practical point.   </a:t>
            </a:r>
            <a:r>
              <a:rPr sz="1250" b="0" i="0">
                <a:solidFill>
                  <a:srgbClr val="1A1A1A"/>
                </a:solidFill>
                <a:latin typeface="Abadi"/>
              </a:rPr>
              <a:t>Adult guidelines endorse magnetic augmentation and TIF for carefully selected patients without a large hiatal hernia; paediatric guidelines do not mention them. An adolescent asking for one should be referred to a programme with adult experience and an outcome registry.</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292608"/>
            <a:ext cx="630936" cy="347472"/>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630936" cy="347472"/>
          </a:xfrm>
          <a:prstGeom prst="rect">
            <a:avLst/>
          </a:prstGeom>
          <a:noFill/>
        </p:spPr>
        <p:txBody>
          <a:bodyPr wrap="square" lIns="36576" rIns="36576" tIns="36576" bIns="36576" anchor="ctr">
            <a:spAutoFit/>
          </a:bodyPr>
          <a:lstStyle/>
          <a:p>
            <a:pPr algn="ctr"/>
            <a:r>
              <a:rPr sz="1500" b="1" i="0">
                <a:solidFill>
                  <a:srgbClr val="FFFFFF"/>
                </a:solidFill>
                <a:latin typeface="Abadi"/>
              </a:rPr>
              <a:t>VII</a:t>
            </a:r>
          </a:p>
        </p:txBody>
      </p:sp>
      <p:sp>
        <p:nvSpPr>
          <p:cNvPr id="4" name="TextBox 3"/>
          <p:cNvSpPr txBox="1"/>
          <p:nvPr/>
        </p:nvSpPr>
        <p:spPr>
          <a:xfrm>
            <a:off x="1380744" y="292608"/>
            <a:ext cx="10232136" cy="347472"/>
          </a:xfrm>
          <a:prstGeom prst="rect">
            <a:avLst/>
          </a:prstGeom>
          <a:noFill/>
        </p:spPr>
        <p:txBody>
          <a:bodyPr wrap="square" lIns="36576" rIns="36576" tIns="36576" bIns="36576" anchor="ctr">
            <a:spAutoFit/>
          </a:bodyPr>
          <a:lstStyle/>
          <a:p>
            <a:pPr algn="l"/>
            <a:r>
              <a:rPr sz="1200" b="1" i="0">
                <a:solidFill>
                  <a:srgbClr val="B22222"/>
                </a:solidFill>
                <a:latin typeface="Abadi"/>
              </a:rPr>
              <a:t>GUIDELINES</a:t>
            </a:r>
          </a:p>
        </p:txBody>
      </p:sp>
      <p:sp>
        <p:nvSpPr>
          <p:cNvPr id="5" name="TextBox 4"/>
          <p:cNvSpPr txBox="1"/>
          <p:nvPr/>
        </p:nvSpPr>
        <p:spPr>
          <a:xfrm>
            <a:off x="548640" y="722376"/>
            <a:ext cx="11082528" cy="548640"/>
          </a:xfrm>
          <a:prstGeom prst="rect">
            <a:avLst/>
          </a:prstGeom>
          <a:noFill/>
        </p:spPr>
        <p:txBody>
          <a:bodyPr wrap="square" lIns="36576" rIns="36576" tIns="36576" bIns="36576" anchor="ctr">
            <a:spAutoFit/>
          </a:bodyPr>
          <a:lstStyle/>
          <a:p>
            <a:pPr algn="l"/>
            <a:r>
              <a:rPr sz="3000" b="1" i="0">
                <a:solidFill>
                  <a:srgbClr val="1B355E"/>
                </a:solidFill>
                <a:latin typeface="Abadi"/>
              </a:rPr>
              <a:t>WHAT THE DOCUMENTS SAY</a:t>
            </a:r>
          </a:p>
        </p:txBody>
      </p:sp>
      <p:sp>
        <p:nvSpPr>
          <p:cNvPr id="6" name="TextBox 5"/>
          <p:cNvSpPr txBox="1"/>
          <p:nvPr/>
        </p:nvSpPr>
        <p:spPr>
          <a:xfrm>
            <a:off x="548640" y="1307592"/>
            <a:ext cx="11082528" cy="265176"/>
          </a:xfrm>
          <a:prstGeom prst="rect">
            <a:avLst/>
          </a:prstGeom>
          <a:noFill/>
        </p:spPr>
        <p:txBody>
          <a:bodyPr wrap="square" lIns="36576" rIns="36576" tIns="36576" bIns="36576" anchor="t">
            <a:spAutoFit/>
          </a:bodyPr>
          <a:lstStyle/>
          <a:p>
            <a:pPr algn="l"/>
            <a:r>
              <a:rPr sz="1300" b="0" i="0">
                <a:solidFill>
                  <a:srgbClr val="555555"/>
                </a:solidFill>
                <a:latin typeface="Abadi"/>
              </a:rPr>
              <a:t>Paediatric guidance versus adult society guidance</a:t>
            </a:r>
          </a:p>
        </p:txBody>
      </p:sp>
      <p:sp>
        <p:nvSpPr>
          <p:cNvPr id="7" name="Rectangle 6"/>
          <p:cNvSpPr/>
          <p:nvPr/>
        </p:nvSpPr>
        <p:spPr>
          <a:xfrm>
            <a:off x="548640" y="1600200"/>
            <a:ext cx="11082528" cy="27432"/>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55064"/>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5888736"/>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36224" y="5971032"/>
            <a:ext cx="694944" cy="292608"/>
          </a:xfrm>
          <a:prstGeom prst="rect">
            <a:avLst/>
          </a:prstGeom>
          <a:noFill/>
        </p:spPr>
        <p:txBody>
          <a:bodyPr wrap="square" lIns="36576" rIns="36576" tIns="36576" bIns="36576" anchor="t">
            <a:spAutoFit/>
          </a:bodyPr>
          <a:lstStyle/>
          <a:p>
            <a:pPr algn="r"/>
            <a:r>
              <a:rPr sz="1200" b="0" i="0">
                <a:solidFill>
                  <a:srgbClr val="555555"/>
                </a:solidFill>
                <a:latin typeface="Abadi"/>
              </a:rPr>
              <a:t>18</a:t>
            </a:r>
          </a:p>
        </p:txBody>
      </p:sp>
      <p:sp>
        <p:nvSpPr>
          <p:cNvPr id="11" name="TextBox 10"/>
          <p:cNvSpPr txBox="1"/>
          <p:nvPr/>
        </p:nvSpPr>
        <p:spPr>
          <a:xfrm>
            <a:off x="548640" y="5971032"/>
            <a:ext cx="10287000" cy="457200"/>
          </a:xfrm>
          <a:prstGeom prst="rect">
            <a:avLst/>
          </a:prstGeom>
          <a:noFill/>
        </p:spPr>
        <p:txBody>
          <a:bodyPr wrap="square" lIns="36576" rIns="36576" tIns="36576" bIns="36576" anchor="t">
            <a:spAutoFit/>
          </a:bodyPr>
          <a:lstStyle/>
          <a:p>
            <a:pPr algn="l"/>
            <a:r>
              <a:rPr sz="1000" b="0" i="0">
                <a:solidFill>
                  <a:srgbClr val="8A939B"/>
                </a:solidFill>
                <a:latin typeface="Abadi"/>
              </a:rPr>
              <a:t>Rosen 2018 · Romano 2017 · Broekaert 2019 · Katz PO, et al. Am J Gastroenterol 2022;117:27–56 · Yadlapati 2022 · Slater 2023</a:t>
            </a:r>
          </a:p>
        </p:txBody>
      </p:sp>
      <p:graphicFrame>
        <p:nvGraphicFramePr>
          <p:cNvPr id="12" name="Table 11"/>
          <p:cNvGraphicFramePr>
            <a:graphicFrameLocks noGrp="1"/>
          </p:cNvGraphicFramePr>
          <p:nvPr/>
        </p:nvGraphicFramePr>
        <p:xfrm>
          <a:off x="548640" y="1783080"/>
          <a:ext cx="11082528" cy="3072384"/>
        </p:xfrm>
        <a:graphic>
          <a:graphicData uri="http://schemas.openxmlformats.org/drawingml/2006/table">
            <a:tbl>
              <a:tblPr firstRow="0" bandRow="0">
                <a:tableStyleId>{5C22544A-7EE6-4342-B048-85BDC9FD1C3A}</a:tableStyleId>
              </a:tblPr>
              <a:tblGrid>
                <a:gridCol w="2377440"/>
                <a:gridCol w="3840480"/>
                <a:gridCol w="3657600"/>
                <a:gridCol w="1207008"/>
              </a:tblGrid>
              <a:tr h="438912">
                <a:tc>
                  <a:txBody>
                    <a:bodyPr wrap="square"/>
                    <a:lstStyle/>
                    <a:p>
                      <a:pPr algn="l"/>
                      <a:r>
                        <a:rPr sz="1050" b="1">
                          <a:solidFill>
                            <a:srgbClr val="FFFFFF"/>
                          </a:solidFill>
                          <a:latin typeface="Abadi"/>
                        </a:rPr>
                        <a:t>Question</a:t>
                      </a:r>
                    </a:p>
                  </a:txBody>
                  <a:tcPr marL="73152" marR="73152" marT="27432" marB="27432" anchor="ctr">
                    <a:solidFill>
                      <a:srgbClr val="1B355E"/>
                    </a:solidFill>
                  </a:tcPr>
                </a:tc>
                <a:tc>
                  <a:txBody>
                    <a:bodyPr wrap="square"/>
                    <a:lstStyle/>
                    <a:p>
                      <a:pPr algn="l"/>
                      <a:r>
                        <a:rPr sz="1050" b="1">
                          <a:solidFill>
                            <a:srgbClr val="FFFFFF"/>
                          </a:solidFill>
                          <a:latin typeface="Abadi"/>
                        </a:rPr>
                        <a:t>NASPGHAN/ESPGHAN 2018 · ESPGHAN NI 2017</a:t>
                      </a:r>
                    </a:p>
                  </a:txBody>
                  <a:tcPr marL="73152" marR="73152" marT="27432" marB="27432" anchor="ctr">
                    <a:solidFill>
                      <a:srgbClr val="1B355E"/>
                    </a:solidFill>
                  </a:tcPr>
                </a:tc>
                <a:tc>
                  <a:txBody>
                    <a:bodyPr wrap="square"/>
                    <a:lstStyle/>
                    <a:p>
                      <a:pPr algn="l"/>
                      <a:r>
                        <a:rPr sz="1050" b="1">
                          <a:solidFill>
                            <a:srgbClr val="FFFFFF"/>
                          </a:solidFill>
                          <a:latin typeface="Abadi"/>
                        </a:rPr>
                        <a:t>ACG 2022 · AGA 2022 · SAGES 2023</a:t>
                      </a:r>
                    </a:p>
                  </a:txBody>
                  <a:tcPr marL="73152" marR="73152" marT="27432" marB="27432" anchor="ctr">
                    <a:solidFill>
                      <a:srgbClr val="1B355E"/>
                    </a:solidFill>
                  </a:tcPr>
                </a:tc>
                <a:tc>
                  <a:txBody>
                    <a:bodyPr wrap="square"/>
                    <a:lstStyle/>
                    <a:p>
                      <a:pPr algn="l"/>
                      <a:r>
                        <a:rPr sz="1050" b="1">
                          <a:solidFill>
                            <a:srgbClr val="FFFFFF"/>
                          </a:solidFill>
                          <a:latin typeface="Abadi"/>
                        </a:rPr>
                        <a:t>Verdict</a:t>
                      </a:r>
                    </a:p>
                  </a:txBody>
                  <a:tcPr marL="73152" marR="73152" marT="27432" marB="27432" anchor="ctr">
                    <a:solidFill>
                      <a:srgbClr val="1B355E"/>
                    </a:solidFill>
                  </a:tcPr>
                </a:tc>
              </a:tr>
              <a:tr h="438912">
                <a:tc>
                  <a:txBody>
                    <a:bodyPr wrap="square"/>
                    <a:lstStyle/>
                    <a:p>
                      <a:pPr algn="l"/>
                      <a:r>
                        <a:rPr sz="1050" b="1">
                          <a:solidFill>
                            <a:srgbClr val="1A1A1A"/>
                          </a:solidFill>
                          <a:latin typeface="Abadi"/>
                        </a:rPr>
                        <a:t>Who gets surgery</a:t>
                      </a:r>
                    </a:p>
                  </a:txBody>
                  <a:tcPr marL="73152" marR="73152" marT="27432" marB="27432" anchor="ctr">
                    <a:solidFill>
                      <a:srgbClr val="FFFFFF"/>
                    </a:solidFill>
                  </a:tcPr>
                </a:tc>
                <a:tc>
                  <a:txBody>
                    <a:bodyPr wrap="square"/>
                    <a:lstStyle/>
                    <a:p>
                      <a:pPr algn="l"/>
                      <a:r>
                        <a:rPr sz="1050" b="0">
                          <a:solidFill>
                            <a:srgbClr val="1A1A1A"/>
                          </a:solidFill>
                          <a:latin typeface="Abadi"/>
                        </a:rPr>
                        <a:t>Complications, refractory, high-risk, chronic drug need</a:t>
                      </a:r>
                    </a:p>
                  </a:txBody>
                  <a:tcPr marL="73152" marR="73152" marT="27432" marB="27432" anchor="ctr">
                    <a:solidFill>
                      <a:srgbClr val="FFFFFF"/>
                    </a:solidFill>
                  </a:tcPr>
                </a:tc>
                <a:tc>
                  <a:txBody>
                    <a:bodyPr wrap="square"/>
                    <a:lstStyle/>
                    <a:p>
                      <a:pPr algn="l"/>
                      <a:r>
                        <a:rPr sz="1050" b="0">
                          <a:solidFill>
                            <a:srgbClr val="1A1A1A"/>
                          </a:solidFill>
                          <a:latin typeface="Abadi"/>
                        </a:rPr>
                        <a:t>Refractory or PPI-dependent, objective GERD</a:t>
                      </a:r>
                    </a:p>
                  </a:txBody>
                  <a:tcPr marL="73152" marR="73152" marT="27432" marB="27432" anchor="ctr">
                    <a:solidFill>
                      <a:srgbClr val="FFFFFF"/>
                    </a:solidFill>
                  </a:tcPr>
                </a:tc>
                <a:tc>
                  <a:txBody>
                    <a:bodyPr wrap="square"/>
                    <a:lstStyle/>
                    <a:p>
                      <a:pPr algn="ctr"/>
                      <a:r>
                        <a:rPr sz="850" b="1">
                          <a:solidFill>
                            <a:srgbClr val="FFFFFF"/>
                          </a:solidFill>
                          <a:latin typeface="Abadi"/>
                        </a:rPr>
                        <a:t>ALIGNED</a:t>
                      </a:r>
                    </a:p>
                  </a:txBody>
                  <a:tcPr marL="73152" marR="73152" marT="27432" marB="27432" anchor="ctr">
                    <a:solidFill>
                      <a:srgbClr val="1E7A33"/>
                    </a:solidFill>
                  </a:tcPr>
                </a:tc>
              </a:tr>
              <a:tr h="438912">
                <a:tc>
                  <a:txBody>
                    <a:bodyPr wrap="square"/>
                    <a:lstStyle/>
                    <a:p>
                      <a:pPr algn="l"/>
                      <a:r>
                        <a:rPr sz="1050" b="1">
                          <a:solidFill>
                            <a:srgbClr val="1A1A1A"/>
                          </a:solidFill>
                          <a:latin typeface="Abadi"/>
                        </a:rPr>
                        <a:t>Wrap type</a:t>
                      </a:r>
                    </a:p>
                  </a:txBody>
                  <a:tcPr marL="73152" marR="73152" marT="27432" marB="27432" anchor="ctr">
                    <a:solidFill>
                      <a:srgbClr val="F2F4F7"/>
                    </a:solidFill>
                  </a:tcPr>
                </a:tc>
                <a:tc>
                  <a:txBody>
                    <a:bodyPr wrap="square"/>
                    <a:lstStyle/>
                    <a:p>
                      <a:pPr algn="l"/>
                      <a:r>
                        <a:rPr sz="1050" b="0">
                          <a:solidFill>
                            <a:srgbClr val="1A1A1A"/>
                          </a:solidFill>
                          <a:latin typeface="Abadi"/>
                        </a:rPr>
                        <a:t>Not addressed</a:t>
                      </a:r>
                    </a:p>
                  </a:txBody>
                  <a:tcPr marL="73152" marR="73152" marT="27432" marB="27432" anchor="ctr">
                    <a:solidFill>
                      <a:srgbClr val="F2F4F7"/>
                    </a:solidFill>
                  </a:tcPr>
                </a:tc>
                <a:tc>
                  <a:txBody>
                    <a:bodyPr wrap="square"/>
                    <a:lstStyle/>
                    <a:p>
                      <a:pPr algn="l"/>
                      <a:r>
                        <a:rPr sz="1050" b="0">
                          <a:solidFill>
                            <a:srgbClr val="1A1A1A"/>
                          </a:solidFill>
                          <a:latin typeface="Abadi"/>
                        </a:rPr>
                        <a:t>Partial preferred (SAGES, conditional)</a:t>
                      </a:r>
                    </a:p>
                  </a:txBody>
                  <a:tcPr marL="73152" marR="73152" marT="27432" marB="27432" anchor="ctr">
                    <a:solidFill>
                      <a:srgbClr val="F2F4F7"/>
                    </a:solidFill>
                  </a:tcPr>
                </a:tc>
                <a:tc>
                  <a:txBody>
                    <a:bodyPr wrap="square"/>
                    <a:lstStyle/>
                    <a:p>
                      <a:pPr algn="ctr"/>
                      <a:r>
                        <a:rPr sz="850" b="1">
                          <a:solidFill>
                            <a:srgbClr val="FFFFFF"/>
                          </a:solidFill>
                          <a:latin typeface="Abadi"/>
                        </a:rPr>
                        <a:t>DIFFERS</a:t>
                      </a:r>
                    </a:p>
                  </a:txBody>
                  <a:tcPr marL="73152" marR="73152" marT="27432" marB="27432" anchor="ctr">
                    <a:solidFill>
                      <a:srgbClr val="D97A0B"/>
                    </a:solidFill>
                  </a:tcPr>
                </a:tc>
              </a:tr>
              <a:tr h="438912">
                <a:tc>
                  <a:txBody>
                    <a:bodyPr wrap="square"/>
                    <a:lstStyle/>
                    <a:p>
                      <a:pPr algn="l"/>
                      <a:r>
                        <a:rPr sz="1050" b="1">
                          <a:solidFill>
                            <a:srgbClr val="1A1A1A"/>
                          </a:solidFill>
                          <a:latin typeface="Abadi"/>
                        </a:rPr>
                        <a:t>Wrap at gastrostomy</a:t>
                      </a:r>
                    </a:p>
                  </a:txBody>
                  <a:tcPr marL="73152" marR="73152" marT="27432" marB="27432" anchor="ctr">
                    <a:solidFill>
                      <a:srgbClr val="FFFFFF"/>
                    </a:solidFill>
                  </a:tcPr>
                </a:tc>
                <a:tc>
                  <a:txBody>
                    <a:bodyPr wrap="square"/>
                    <a:lstStyle/>
                    <a:p>
                      <a:pPr algn="l"/>
                      <a:r>
                        <a:rPr sz="1050" b="0">
                          <a:solidFill>
                            <a:srgbClr val="1A1A1A"/>
                          </a:solidFill>
                          <a:latin typeface="Abadi"/>
                        </a:rPr>
                        <a:t>Not routine in NI (strong)</a:t>
                      </a:r>
                    </a:p>
                  </a:txBody>
                  <a:tcPr marL="73152" marR="73152" marT="27432" marB="27432" anchor="ctr">
                    <a:solidFill>
                      <a:srgbClr val="FFFFFF"/>
                    </a:solidFill>
                  </a:tcPr>
                </a:tc>
                <a:tc>
                  <a:txBody>
                    <a:bodyPr wrap="square"/>
                    <a:lstStyle/>
                    <a:p>
                      <a:pPr algn="l"/>
                      <a:r>
                        <a:rPr sz="1050" b="0">
                          <a:solidFill>
                            <a:srgbClr val="1A1A1A"/>
                          </a:solidFill>
                          <a:latin typeface="Abadi"/>
                        </a:rPr>
                        <a:t>Not applicable</a:t>
                      </a:r>
                    </a:p>
                  </a:txBody>
                  <a:tcPr marL="73152" marR="73152" marT="27432" marB="27432" anchor="ctr">
                    <a:solidFill>
                      <a:srgbClr val="FFFFFF"/>
                    </a:solidFill>
                  </a:tcPr>
                </a:tc>
                <a:tc>
                  <a:txBody>
                    <a:bodyPr wrap="square"/>
                    <a:lstStyle/>
                    <a:p>
                      <a:pPr algn="ctr"/>
                      <a:r>
                        <a:rPr sz="850" b="1">
                          <a:solidFill>
                            <a:srgbClr val="FFFFFF"/>
                          </a:solidFill>
                          <a:latin typeface="Abadi"/>
                        </a:rPr>
                        <a:t>GAP</a:t>
                      </a:r>
                    </a:p>
                  </a:txBody>
                  <a:tcPr marL="73152" marR="73152" marT="27432" marB="27432" anchor="ctr">
                    <a:solidFill>
                      <a:srgbClr val="8A939B"/>
                    </a:solidFill>
                  </a:tcPr>
                </a:tc>
              </a:tr>
              <a:tr h="438912">
                <a:tc>
                  <a:txBody>
                    <a:bodyPr wrap="square"/>
                    <a:lstStyle/>
                    <a:p>
                      <a:pPr algn="l"/>
                      <a:r>
                        <a:rPr sz="1050" b="1">
                          <a:solidFill>
                            <a:srgbClr val="1A1A1A"/>
                          </a:solidFill>
                          <a:latin typeface="Abadi"/>
                        </a:rPr>
                        <a:t>Jejunal feeding</a:t>
                      </a:r>
                    </a:p>
                  </a:txBody>
                  <a:tcPr marL="73152" marR="73152" marT="27432" marB="27432" anchor="ctr">
                    <a:solidFill>
                      <a:srgbClr val="F2F4F7"/>
                    </a:solidFill>
                  </a:tcPr>
                </a:tc>
                <a:tc>
                  <a:txBody>
                    <a:bodyPr wrap="square"/>
                    <a:lstStyle/>
                    <a:p>
                      <a:pPr algn="l"/>
                      <a:r>
                        <a:rPr sz="1050" b="0">
                          <a:solidFill>
                            <a:srgbClr val="1A1A1A"/>
                          </a:solidFill>
                          <a:latin typeface="Abadi"/>
                        </a:rPr>
                        <a:t>Alternative; for aspiration due to GERD</a:t>
                      </a:r>
                    </a:p>
                  </a:txBody>
                  <a:tcPr marL="73152" marR="73152" marT="27432" marB="27432" anchor="ctr">
                    <a:solidFill>
                      <a:srgbClr val="F2F4F7"/>
                    </a:solidFill>
                  </a:tcPr>
                </a:tc>
                <a:tc>
                  <a:txBody>
                    <a:bodyPr wrap="square"/>
                    <a:lstStyle/>
                    <a:p>
                      <a:pPr algn="l"/>
                      <a:r>
                        <a:rPr sz="1050" b="0">
                          <a:solidFill>
                            <a:srgbClr val="1A1A1A"/>
                          </a:solidFill>
                          <a:latin typeface="Abadi"/>
                        </a:rPr>
                        <a:t>Not addressed</a:t>
                      </a:r>
                    </a:p>
                  </a:txBody>
                  <a:tcPr marL="73152" marR="73152" marT="27432" marB="27432" anchor="ctr">
                    <a:solidFill>
                      <a:srgbClr val="F2F4F7"/>
                    </a:solidFill>
                  </a:tcPr>
                </a:tc>
                <a:tc>
                  <a:txBody>
                    <a:bodyPr wrap="square"/>
                    <a:lstStyle/>
                    <a:p>
                      <a:pPr algn="ctr"/>
                      <a:r>
                        <a:rPr sz="850" b="1">
                          <a:solidFill>
                            <a:srgbClr val="FFFFFF"/>
                          </a:solidFill>
                          <a:latin typeface="Abadi"/>
                        </a:rPr>
                        <a:t>GAP</a:t>
                      </a:r>
                    </a:p>
                  </a:txBody>
                  <a:tcPr marL="73152" marR="73152" marT="27432" marB="27432" anchor="ctr">
                    <a:solidFill>
                      <a:srgbClr val="8A939B"/>
                    </a:solidFill>
                  </a:tcPr>
                </a:tc>
              </a:tr>
              <a:tr h="438912">
                <a:tc>
                  <a:txBody>
                    <a:bodyPr wrap="square"/>
                    <a:lstStyle/>
                    <a:p>
                      <a:pPr algn="l"/>
                      <a:r>
                        <a:rPr sz="1050" b="1">
                          <a:solidFill>
                            <a:srgbClr val="1A1A1A"/>
                          </a:solidFill>
                          <a:latin typeface="Abadi"/>
                        </a:rPr>
                        <a:t>Endoscopic and device therapy</a:t>
                      </a:r>
                    </a:p>
                  </a:txBody>
                  <a:tcPr marL="73152" marR="73152" marT="27432" marB="27432" anchor="ctr">
                    <a:solidFill>
                      <a:srgbClr val="FFFFFF"/>
                    </a:solidFill>
                  </a:tcPr>
                </a:tc>
                <a:tc>
                  <a:txBody>
                    <a:bodyPr wrap="square"/>
                    <a:lstStyle/>
                    <a:p>
                      <a:pPr algn="l"/>
                      <a:r>
                        <a:rPr sz="1050" b="0">
                          <a:solidFill>
                            <a:srgbClr val="1A1A1A"/>
                          </a:solidFill>
                          <a:latin typeface="Abadi"/>
                        </a:rPr>
                        <a:t>Not addressed</a:t>
                      </a:r>
                    </a:p>
                  </a:txBody>
                  <a:tcPr marL="73152" marR="73152" marT="27432" marB="27432" anchor="ctr">
                    <a:solidFill>
                      <a:srgbClr val="FFFFFF"/>
                    </a:solidFill>
                  </a:tcPr>
                </a:tc>
                <a:tc>
                  <a:txBody>
                    <a:bodyPr wrap="square"/>
                    <a:lstStyle/>
                    <a:p>
                      <a:pPr algn="l"/>
                      <a:r>
                        <a:rPr sz="1050" b="0">
                          <a:solidFill>
                            <a:srgbClr val="1A1A1A"/>
                          </a:solidFill>
                          <a:latin typeface="Abadi"/>
                        </a:rPr>
                        <a:t>MSA and TIF in selected patients</a:t>
                      </a:r>
                    </a:p>
                  </a:txBody>
                  <a:tcPr marL="73152" marR="73152" marT="27432" marB="27432" anchor="ctr">
                    <a:solidFill>
                      <a:srgbClr val="FFFFFF"/>
                    </a:solidFill>
                  </a:tcPr>
                </a:tc>
                <a:tc>
                  <a:txBody>
                    <a:bodyPr wrap="square"/>
                    <a:lstStyle/>
                    <a:p>
                      <a:pPr algn="ctr"/>
                      <a:r>
                        <a:rPr sz="850" b="1">
                          <a:solidFill>
                            <a:srgbClr val="FFFFFF"/>
                          </a:solidFill>
                          <a:latin typeface="Abadi"/>
                        </a:rPr>
                        <a:t>MATERIAL</a:t>
                      </a:r>
                    </a:p>
                  </a:txBody>
                  <a:tcPr marL="73152" marR="73152" marT="27432" marB="27432" anchor="ctr">
                    <a:solidFill>
                      <a:srgbClr val="B22222"/>
                    </a:solidFill>
                  </a:tcPr>
                </a:tc>
              </a:tr>
              <a:tr h="438912">
                <a:tc>
                  <a:txBody>
                    <a:bodyPr wrap="square"/>
                    <a:lstStyle/>
                    <a:p>
                      <a:pPr algn="l"/>
                      <a:r>
                        <a:rPr sz="1050" b="1">
                          <a:solidFill>
                            <a:srgbClr val="1A1A1A"/>
                          </a:solidFill>
                          <a:latin typeface="Abadi"/>
                        </a:rPr>
                        <a:t>Dissociation</a:t>
                      </a:r>
                    </a:p>
                  </a:txBody>
                  <a:tcPr marL="73152" marR="73152" marT="27432" marB="27432" anchor="ctr">
                    <a:solidFill>
                      <a:srgbClr val="F2F4F7"/>
                    </a:solidFill>
                  </a:tcPr>
                </a:tc>
                <a:tc>
                  <a:txBody>
                    <a:bodyPr wrap="square"/>
                    <a:lstStyle/>
                    <a:p>
                      <a:pPr algn="l"/>
                      <a:r>
                        <a:rPr sz="1050" b="0">
                          <a:solidFill>
                            <a:srgbClr val="1A1A1A"/>
                          </a:solidFill>
                          <a:latin typeface="Abadi"/>
                        </a:rPr>
                        <a:t>Very selected NI cases</a:t>
                      </a:r>
                    </a:p>
                  </a:txBody>
                  <a:tcPr marL="73152" marR="73152" marT="27432" marB="27432" anchor="ctr">
                    <a:solidFill>
                      <a:srgbClr val="F2F4F7"/>
                    </a:solidFill>
                  </a:tcPr>
                </a:tc>
                <a:tc>
                  <a:txBody>
                    <a:bodyPr wrap="square"/>
                    <a:lstStyle/>
                    <a:p>
                      <a:pPr algn="l"/>
                      <a:r>
                        <a:rPr sz="1050" b="0">
                          <a:solidFill>
                            <a:srgbClr val="1A1A1A"/>
                          </a:solidFill>
                          <a:latin typeface="Abadi"/>
                        </a:rPr>
                        <a:t>Not addressed</a:t>
                      </a:r>
                    </a:p>
                  </a:txBody>
                  <a:tcPr marL="73152" marR="73152" marT="27432" marB="27432" anchor="ctr">
                    <a:solidFill>
                      <a:srgbClr val="F2F4F7"/>
                    </a:solidFill>
                  </a:tcPr>
                </a:tc>
                <a:tc>
                  <a:txBody>
                    <a:bodyPr wrap="square"/>
                    <a:lstStyle/>
                    <a:p>
                      <a:pPr algn="ctr"/>
                      <a:r>
                        <a:rPr sz="850" b="1">
                          <a:solidFill>
                            <a:srgbClr val="FFFFFF"/>
                          </a:solidFill>
                          <a:latin typeface="Abadi"/>
                        </a:rPr>
                        <a:t>GAP</a:t>
                      </a:r>
                    </a:p>
                  </a:txBody>
                  <a:tcPr marL="73152" marR="73152" marT="27432" marB="27432" anchor="ctr">
                    <a:solidFill>
                      <a:srgbClr val="8A939B"/>
                    </a:solidFill>
                  </a:tcPr>
                </a:tc>
              </a:tr>
            </a:tbl>
          </a:graphicData>
        </a:graphic>
      </p:graphicFrame>
      <p:sp>
        <p:nvSpPr>
          <p:cNvPr id="13" name="TextBox 12"/>
          <p:cNvSpPr txBox="1"/>
          <p:nvPr/>
        </p:nvSpPr>
        <p:spPr>
          <a:xfrm>
            <a:off x="548640" y="4983480"/>
            <a:ext cx="11082528" cy="731520"/>
          </a:xfrm>
          <a:prstGeom prst="rect">
            <a:avLst/>
          </a:prstGeom>
          <a:noFill/>
        </p:spPr>
        <p:txBody>
          <a:bodyPr wrap="square" lIns="36576" rIns="36576" tIns="36576" bIns="36576" anchor="t">
            <a:spAutoFit/>
          </a:bodyPr>
          <a:lstStyle/>
          <a:p>
            <a:pPr algn="l"/>
            <a:r>
              <a:rPr sz="1250" b="1" i="0">
                <a:solidFill>
                  <a:srgbClr val="1B355E"/>
                </a:solidFill>
                <a:latin typeface="Abadi"/>
              </a:rPr>
              <a:t>Material difference.   </a:t>
            </a:r>
            <a:r>
              <a:rPr sz="1250" b="0" i="0">
                <a:solidFill>
                  <a:srgbClr val="1A1A1A"/>
                </a:solidFill>
                <a:latin typeface="Abadi"/>
              </a:rPr>
              <a:t>Adults are offered partial wraps and devices that have no paediatric evidence; children are offered jejunal feeding that adult guidelines never mention.</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292608"/>
            <a:ext cx="630936" cy="347472"/>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630936" cy="347472"/>
          </a:xfrm>
          <a:prstGeom prst="rect">
            <a:avLst/>
          </a:prstGeom>
          <a:noFill/>
        </p:spPr>
        <p:txBody>
          <a:bodyPr wrap="square" lIns="36576" rIns="36576" tIns="36576" bIns="36576" anchor="ctr">
            <a:spAutoFit/>
          </a:bodyPr>
          <a:lstStyle/>
          <a:p>
            <a:pPr algn="ctr"/>
            <a:r>
              <a:rPr sz="1500" b="1" i="0">
                <a:solidFill>
                  <a:srgbClr val="FFFFFF"/>
                </a:solidFill>
                <a:latin typeface="Abadi"/>
              </a:rPr>
              <a:t>VIII</a:t>
            </a:r>
          </a:p>
        </p:txBody>
      </p:sp>
      <p:sp>
        <p:nvSpPr>
          <p:cNvPr id="4" name="TextBox 3"/>
          <p:cNvSpPr txBox="1"/>
          <p:nvPr/>
        </p:nvSpPr>
        <p:spPr>
          <a:xfrm>
            <a:off x="1380744" y="292608"/>
            <a:ext cx="10232136" cy="347472"/>
          </a:xfrm>
          <a:prstGeom prst="rect">
            <a:avLst/>
          </a:prstGeom>
          <a:noFill/>
        </p:spPr>
        <p:txBody>
          <a:bodyPr wrap="square" lIns="36576" rIns="36576" tIns="36576" bIns="36576" anchor="ctr">
            <a:spAutoFit/>
          </a:bodyPr>
          <a:lstStyle/>
          <a:p>
            <a:pPr algn="l"/>
            <a:r>
              <a:rPr sz="1200" b="1" i="0">
                <a:solidFill>
                  <a:srgbClr val="B22222"/>
                </a:solidFill>
                <a:latin typeface="Abadi"/>
              </a:rPr>
              <a:t>TRAPS</a:t>
            </a:r>
          </a:p>
        </p:txBody>
      </p:sp>
      <p:sp>
        <p:nvSpPr>
          <p:cNvPr id="5" name="TextBox 4"/>
          <p:cNvSpPr txBox="1"/>
          <p:nvPr/>
        </p:nvSpPr>
        <p:spPr>
          <a:xfrm>
            <a:off x="548640" y="722376"/>
            <a:ext cx="11082528" cy="548640"/>
          </a:xfrm>
          <a:prstGeom prst="rect">
            <a:avLst/>
          </a:prstGeom>
          <a:noFill/>
        </p:spPr>
        <p:txBody>
          <a:bodyPr wrap="square" lIns="36576" rIns="36576" tIns="36576" bIns="36576" anchor="ctr">
            <a:spAutoFit/>
          </a:bodyPr>
          <a:lstStyle/>
          <a:p>
            <a:pPr algn="l"/>
            <a:r>
              <a:rPr sz="3000" b="1" i="0">
                <a:solidFill>
                  <a:srgbClr val="1B355E"/>
                </a:solidFill>
                <a:latin typeface="Abadi"/>
              </a:rPr>
              <a:t>HOW ANTIREFLUX SURGERY GOES WRONG</a:t>
            </a:r>
          </a:p>
        </p:txBody>
      </p:sp>
      <p:sp>
        <p:nvSpPr>
          <p:cNvPr id="6" name="TextBox 5"/>
          <p:cNvSpPr txBox="1"/>
          <p:nvPr/>
        </p:nvSpPr>
        <p:spPr>
          <a:xfrm>
            <a:off x="548640" y="1307592"/>
            <a:ext cx="11082528" cy="265176"/>
          </a:xfrm>
          <a:prstGeom prst="rect">
            <a:avLst/>
          </a:prstGeom>
          <a:noFill/>
        </p:spPr>
        <p:txBody>
          <a:bodyPr wrap="square" lIns="36576" rIns="36576" tIns="36576" bIns="36576" anchor="t">
            <a:spAutoFit/>
          </a:bodyPr>
          <a:lstStyle/>
          <a:p>
            <a:pPr algn="l"/>
            <a:r>
              <a:rPr sz="1300" b="0" i="0">
                <a:solidFill>
                  <a:srgbClr val="555555"/>
                </a:solidFill>
                <a:latin typeface="Abadi"/>
              </a:rPr>
              <a:t>Errors in reasoning before and after a wrap</a:t>
            </a:r>
          </a:p>
        </p:txBody>
      </p:sp>
      <p:sp>
        <p:nvSpPr>
          <p:cNvPr id="7" name="Rectangle 6"/>
          <p:cNvSpPr/>
          <p:nvPr/>
        </p:nvSpPr>
        <p:spPr>
          <a:xfrm>
            <a:off x="548640" y="1600200"/>
            <a:ext cx="11082528" cy="27432"/>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55064"/>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5888736"/>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36224" y="5971032"/>
            <a:ext cx="694944" cy="292608"/>
          </a:xfrm>
          <a:prstGeom prst="rect">
            <a:avLst/>
          </a:prstGeom>
          <a:noFill/>
        </p:spPr>
        <p:txBody>
          <a:bodyPr wrap="square" lIns="36576" rIns="36576" tIns="36576" bIns="36576" anchor="t">
            <a:spAutoFit/>
          </a:bodyPr>
          <a:lstStyle/>
          <a:p>
            <a:pPr algn="r"/>
            <a:r>
              <a:rPr sz="1200" b="0" i="0">
                <a:solidFill>
                  <a:srgbClr val="555555"/>
                </a:solidFill>
                <a:latin typeface="Abadi"/>
              </a:rPr>
              <a:t>19</a:t>
            </a:r>
          </a:p>
        </p:txBody>
      </p:sp>
      <p:sp>
        <p:nvSpPr>
          <p:cNvPr id="11" name="TextBox 10"/>
          <p:cNvSpPr txBox="1"/>
          <p:nvPr/>
        </p:nvSpPr>
        <p:spPr>
          <a:xfrm>
            <a:off x="548640" y="5971032"/>
            <a:ext cx="10287000" cy="457200"/>
          </a:xfrm>
          <a:prstGeom prst="rect">
            <a:avLst/>
          </a:prstGeom>
          <a:noFill/>
        </p:spPr>
        <p:txBody>
          <a:bodyPr wrap="square" lIns="36576" rIns="36576" tIns="36576" bIns="36576" anchor="t">
            <a:spAutoFit/>
          </a:bodyPr>
          <a:lstStyle/>
          <a:p>
            <a:pPr algn="l"/>
            <a:r>
              <a:rPr sz="1000" b="0" i="0">
                <a:solidFill>
                  <a:srgbClr val="8A939B"/>
                </a:solidFill>
                <a:latin typeface="Abadi"/>
              </a:rPr>
              <a:t>Romano 2017 · Kubiak 2011 · Fyhn 2023 · Cochrane 2026 · Rosen 2018</a:t>
            </a:r>
          </a:p>
        </p:txBody>
      </p:sp>
      <p:sp>
        <p:nvSpPr>
          <p:cNvPr id="12" name="Rectangle 11"/>
          <p:cNvSpPr/>
          <p:nvPr/>
        </p:nvSpPr>
        <p:spPr>
          <a:xfrm>
            <a:off x="548640" y="1773936"/>
            <a:ext cx="2070201" cy="2148840"/>
          </a:xfrm>
          <a:prstGeom prst="rect">
            <a:avLst/>
          </a:prstGeom>
          <a:solidFill>
            <a:srgbClr val="F6D2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1773936"/>
            <a:ext cx="2070201" cy="100584"/>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94944" y="1956816"/>
            <a:ext cx="1777593" cy="502920"/>
          </a:xfrm>
          <a:prstGeom prst="rect">
            <a:avLst/>
          </a:prstGeom>
          <a:noFill/>
        </p:spPr>
        <p:txBody>
          <a:bodyPr wrap="square" lIns="36576" rIns="36576" tIns="36576" bIns="36576" anchor="t">
            <a:spAutoFit/>
          </a:bodyPr>
          <a:lstStyle/>
          <a:p>
            <a:pPr algn="l"/>
            <a:r>
              <a:rPr sz="1250" b="1" i="0">
                <a:solidFill>
                  <a:srgbClr val="B22222"/>
                </a:solidFill>
                <a:latin typeface="Abadi"/>
              </a:rPr>
              <a:t>“Wrap with every gastrostomy”</a:t>
            </a:r>
          </a:p>
        </p:txBody>
      </p:sp>
      <p:sp>
        <p:nvSpPr>
          <p:cNvPr id="15" name="TextBox 14"/>
          <p:cNvSpPr txBox="1"/>
          <p:nvPr/>
        </p:nvSpPr>
        <p:spPr>
          <a:xfrm>
            <a:off x="694944" y="2487168"/>
            <a:ext cx="1777593" cy="1344168"/>
          </a:xfrm>
          <a:prstGeom prst="rect">
            <a:avLst/>
          </a:prstGeom>
          <a:noFill/>
        </p:spPr>
        <p:txBody>
          <a:bodyPr wrap="square" lIns="36576" rIns="36576" tIns="36576" bIns="36576" anchor="t">
            <a:spAutoFit/>
          </a:bodyPr>
          <a:lstStyle/>
          <a:p>
            <a:pPr algn="l">
              <a:spcAft>
                <a:spcPts val="400"/>
              </a:spcAft>
            </a:pPr>
            <a:r>
              <a:rPr sz="1100" b="0" i="0">
                <a:solidFill>
                  <a:srgbClr val="1A1A1A"/>
                </a:solidFill>
                <a:latin typeface="Abadi"/>
              </a:rPr>
              <a:t>▪  Not routine (strong)</a:t>
            </a:r>
          </a:p>
          <a:p>
            <a:pPr algn="l">
              <a:spcAft>
                <a:spcPts val="400"/>
              </a:spcAft>
            </a:pPr>
            <a:r>
              <a:rPr sz="1100" b="0" i="0">
                <a:solidFill>
                  <a:srgbClr val="1A1A1A"/>
                </a:solidFill>
                <a:latin typeface="Abadi"/>
              </a:rPr>
              <a:t>▪  Most never need one</a:t>
            </a:r>
          </a:p>
        </p:txBody>
      </p:sp>
      <p:sp>
        <p:nvSpPr>
          <p:cNvPr id="16" name="Rectangle 15"/>
          <p:cNvSpPr/>
          <p:nvPr/>
        </p:nvSpPr>
        <p:spPr>
          <a:xfrm>
            <a:off x="2801721" y="1773936"/>
            <a:ext cx="2070201" cy="2148840"/>
          </a:xfrm>
          <a:prstGeom prst="rect">
            <a:avLst/>
          </a:prstGeom>
          <a:solidFill>
            <a:srgbClr val="FBEF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801721" y="1773936"/>
            <a:ext cx="2070201" cy="100584"/>
          </a:xfrm>
          <a:prstGeom prst="rect">
            <a:avLst/>
          </a:prstGeom>
          <a:solidFill>
            <a:srgbClr val="D97A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948025" y="1956816"/>
            <a:ext cx="1777593" cy="502920"/>
          </a:xfrm>
          <a:prstGeom prst="rect">
            <a:avLst/>
          </a:prstGeom>
          <a:noFill/>
        </p:spPr>
        <p:txBody>
          <a:bodyPr wrap="square" lIns="36576" rIns="36576" tIns="36576" bIns="36576" anchor="t">
            <a:spAutoFit/>
          </a:bodyPr>
          <a:lstStyle/>
          <a:p>
            <a:pPr algn="l"/>
            <a:r>
              <a:rPr sz="1250" b="1" i="0">
                <a:solidFill>
                  <a:srgbClr val="D97A0B"/>
                </a:solidFill>
                <a:latin typeface="Abadi"/>
              </a:rPr>
              <a:t>“The wrap will stop the pneumonias”</a:t>
            </a:r>
          </a:p>
        </p:txBody>
      </p:sp>
      <p:sp>
        <p:nvSpPr>
          <p:cNvPr id="19" name="TextBox 18"/>
          <p:cNvSpPr txBox="1"/>
          <p:nvPr/>
        </p:nvSpPr>
        <p:spPr>
          <a:xfrm>
            <a:off x="2948025" y="2487168"/>
            <a:ext cx="1777593" cy="1344168"/>
          </a:xfrm>
          <a:prstGeom prst="rect">
            <a:avLst/>
          </a:prstGeom>
          <a:noFill/>
        </p:spPr>
        <p:txBody>
          <a:bodyPr wrap="square" lIns="36576" rIns="36576" tIns="36576" bIns="36576" anchor="t">
            <a:spAutoFit/>
          </a:bodyPr>
          <a:lstStyle/>
          <a:p>
            <a:pPr algn="l">
              <a:spcAft>
                <a:spcPts val="400"/>
              </a:spcAft>
            </a:pPr>
            <a:r>
              <a:rPr sz="1100" b="0" i="0">
                <a:solidFill>
                  <a:srgbClr val="1A1A1A"/>
                </a:solidFill>
                <a:latin typeface="Abadi"/>
              </a:rPr>
              <a:t>▪  Saliva still aspirated</a:t>
            </a:r>
          </a:p>
          <a:p>
            <a:pPr algn="l">
              <a:spcAft>
                <a:spcPts val="400"/>
              </a:spcAft>
            </a:pPr>
            <a:r>
              <a:rPr sz="1100" b="0" i="0">
                <a:solidFill>
                  <a:srgbClr val="1A1A1A"/>
                </a:solidFill>
                <a:latin typeface="Abadi"/>
              </a:rPr>
              <a:t>▪  No proven fall</a:t>
            </a:r>
          </a:p>
        </p:txBody>
      </p:sp>
      <p:sp>
        <p:nvSpPr>
          <p:cNvPr id="20" name="Rectangle 19"/>
          <p:cNvSpPr/>
          <p:nvPr/>
        </p:nvSpPr>
        <p:spPr>
          <a:xfrm>
            <a:off x="5054803" y="1773936"/>
            <a:ext cx="2070201" cy="2148840"/>
          </a:xfrm>
          <a:prstGeom prst="rect">
            <a:avLst/>
          </a:prstGeom>
          <a:solidFill>
            <a:srgbClr val="FBEF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054803" y="1773936"/>
            <a:ext cx="2070201" cy="100584"/>
          </a:xfrm>
          <a:prstGeom prst="rect">
            <a:avLst/>
          </a:prstGeom>
          <a:solidFill>
            <a:srgbClr val="D97A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201107" y="1956816"/>
            <a:ext cx="1777593" cy="502920"/>
          </a:xfrm>
          <a:prstGeom prst="rect">
            <a:avLst/>
          </a:prstGeom>
          <a:noFill/>
        </p:spPr>
        <p:txBody>
          <a:bodyPr wrap="square" lIns="36576" rIns="36576" tIns="36576" bIns="36576" anchor="t">
            <a:spAutoFit/>
          </a:bodyPr>
          <a:lstStyle/>
          <a:p>
            <a:pPr algn="l"/>
            <a:r>
              <a:rPr sz="1250" b="1" i="0">
                <a:solidFill>
                  <a:srgbClr val="D97A0B"/>
                </a:solidFill>
                <a:latin typeface="Abadi"/>
              </a:rPr>
              <a:t>“Jejunal trial proves reflux”</a:t>
            </a:r>
          </a:p>
        </p:txBody>
      </p:sp>
      <p:sp>
        <p:nvSpPr>
          <p:cNvPr id="23" name="TextBox 22"/>
          <p:cNvSpPr txBox="1"/>
          <p:nvPr/>
        </p:nvSpPr>
        <p:spPr>
          <a:xfrm>
            <a:off x="5201107" y="2487168"/>
            <a:ext cx="1777593" cy="1344168"/>
          </a:xfrm>
          <a:prstGeom prst="rect">
            <a:avLst/>
          </a:prstGeom>
          <a:noFill/>
        </p:spPr>
        <p:txBody>
          <a:bodyPr wrap="square" lIns="36576" rIns="36576" tIns="36576" bIns="36576" anchor="t">
            <a:spAutoFit/>
          </a:bodyPr>
          <a:lstStyle/>
          <a:p>
            <a:pPr algn="l">
              <a:spcAft>
                <a:spcPts val="400"/>
              </a:spcAft>
            </a:pPr>
            <a:r>
              <a:rPr sz="1100" b="0" i="0">
                <a:solidFill>
                  <a:srgbClr val="1A1A1A"/>
                </a:solidFill>
                <a:latin typeface="Abadi"/>
              </a:rPr>
              <a:t>▪  Not a diagnostic test</a:t>
            </a:r>
          </a:p>
          <a:p>
            <a:pPr algn="l">
              <a:spcAft>
                <a:spcPts val="400"/>
              </a:spcAft>
            </a:pPr>
            <a:r>
              <a:rPr sz="1100" b="0" i="0">
                <a:solidFill>
                  <a:srgbClr val="1A1A1A"/>
                </a:solidFill>
                <a:latin typeface="Abadi"/>
              </a:rPr>
              <a:t>▪  Use pH-impedance</a:t>
            </a:r>
          </a:p>
        </p:txBody>
      </p:sp>
      <p:sp>
        <p:nvSpPr>
          <p:cNvPr id="24" name="Rectangle 23"/>
          <p:cNvSpPr/>
          <p:nvPr/>
        </p:nvSpPr>
        <p:spPr>
          <a:xfrm>
            <a:off x="7307884" y="1773936"/>
            <a:ext cx="2070201" cy="2148840"/>
          </a:xfrm>
          <a:prstGeom prst="rect">
            <a:avLst/>
          </a:prstGeom>
          <a:solidFill>
            <a:srgbClr val="F6D2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307884" y="1773936"/>
            <a:ext cx="2070201" cy="100584"/>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54188" y="1956816"/>
            <a:ext cx="1777593" cy="502920"/>
          </a:xfrm>
          <a:prstGeom prst="rect">
            <a:avLst/>
          </a:prstGeom>
          <a:noFill/>
        </p:spPr>
        <p:txBody>
          <a:bodyPr wrap="square" lIns="36576" rIns="36576" tIns="36576" bIns="36576" anchor="t">
            <a:spAutoFit/>
          </a:bodyPr>
          <a:lstStyle/>
          <a:p>
            <a:pPr algn="l"/>
            <a:r>
              <a:rPr sz="1250" b="1" i="0">
                <a:solidFill>
                  <a:srgbClr val="B22222"/>
                </a:solidFill>
                <a:latin typeface="Abadi"/>
              </a:rPr>
              <a:t>“Wrapped, so it is not reflux”</a:t>
            </a:r>
          </a:p>
        </p:txBody>
      </p:sp>
      <p:sp>
        <p:nvSpPr>
          <p:cNvPr id="27" name="TextBox 26"/>
          <p:cNvSpPr txBox="1"/>
          <p:nvPr/>
        </p:nvSpPr>
        <p:spPr>
          <a:xfrm>
            <a:off x="7454188" y="2487168"/>
            <a:ext cx="1777593" cy="1344168"/>
          </a:xfrm>
          <a:prstGeom prst="rect">
            <a:avLst/>
          </a:prstGeom>
          <a:noFill/>
        </p:spPr>
        <p:txBody>
          <a:bodyPr wrap="square" lIns="36576" rIns="36576" tIns="36576" bIns="36576" anchor="t">
            <a:spAutoFit/>
          </a:bodyPr>
          <a:lstStyle/>
          <a:p>
            <a:pPr algn="l">
              <a:spcAft>
                <a:spcPts val="400"/>
              </a:spcAft>
            </a:pPr>
            <a:r>
              <a:rPr sz="1100" b="0" i="0">
                <a:solidFill>
                  <a:srgbClr val="1A1A1A"/>
                </a:solidFill>
                <a:latin typeface="Abadi"/>
              </a:rPr>
              <a:t>▪  Recurrence 31–56% by 12 years</a:t>
            </a:r>
          </a:p>
          <a:p>
            <a:pPr algn="l">
              <a:spcAft>
                <a:spcPts val="400"/>
              </a:spcAft>
            </a:pPr>
            <a:r>
              <a:rPr sz="1100" b="0" i="0">
                <a:solidFill>
                  <a:srgbClr val="1A1A1A"/>
                </a:solidFill>
                <a:latin typeface="Abadi"/>
              </a:rPr>
              <a:t>▪  Re-test</a:t>
            </a:r>
          </a:p>
        </p:txBody>
      </p:sp>
      <p:sp>
        <p:nvSpPr>
          <p:cNvPr id="28" name="Rectangle 27"/>
          <p:cNvSpPr/>
          <p:nvPr/>
        </p:nvSpPr>
        <p:spPr>
          <a:xfrm>
            <a:off x="9560966" y="1773936"/>
            <a:ext cx="2070201" cy="2148840"/>
          </a:xfrm>
          <a:prstGeom prst="rect">
            <a:avLst/>
          </a:prstGeom>
          <a:solidFill>
            <a:srgbClr val="E7E9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9560966" y="1773936"/>
            <a:ext cx="2070201" cy="100584"/>
          </a:xfrm>
          <a:prstGeom prst="rect">
            <a:avLst/>
          </a:prstGeom>
          <a:solidFill>
            <a:srgbClr val="8A93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707270" y="1956816"/>
            <a:ext cx="1777593" cy="502920"/>
          </a:xfrm>
          <a:prstGeom prst="rect">
            <a:avLst/>
          </a:prstGeom>
          <a:noFill/>
        </p:spPr>
        <p:txBody>
          <a:bodyPr wrap="square" lIns="36576" rIns="36576" tIns="36576" bIns="36576" anchor="t">
            <a:spAutoFit/>
          </a:bodyPr>
          <a:lstStyle/>
          <a:p>
            <a:pPr algn="l"/>
            <a:r>
              <a:rPr sz="1250" b="1" i="0">
                <a:solidFill>
                  <a:srgbClr val="8A939B"/>
                </a:solidFill>
                <a:latin typeface="Abadi"/>
              </a:rPr>
              <a:t>“Seizures after feeds”</a:t>
            </a:r>
          </a:p>
        </p:txBody>
      </p:sp>
      <p:sp>
        <p:nvSpPr>
          <p:cNvPr id="31" name="TextBox 30"/>
          <p:cNvSpPr txBox="1"/>
          <p:nvPr/>
        </p:nvSpPr>
        <p:spPr>
          <a:xfrm>
            <a:off x="9707270" y="2487168"/>
            <a:ext cx="1777593" cy="1344168"/>
          </a:xfrm>
          <a:prstGeom prst="rect">
            <a:avLst/>
          </a:prstGeom>
          <a:noFill/>
        </p:spPr>
        <p:txBody>
          <a:bodyPr wrap="square" lIns="36576" rIns="36576" tIns="36576" bIns="36576" anchor="t">
            <a:spAutoFit/>
          </a:bodyPr>
          <a:lstStyle/>
          <a:p>
            <a:pPr algn="l">
              <a:spcAft>
                <a:spcPts val="400"/>
              </a:spcAft>
            </a:pPr>
            <a:r>
              <a:rPr sz="1100" b="0" i="0">
                <a:solidFill>
                  <a:srgbClr val="1A1A1A"/>
                </a:solidFill>
                <a:latin typeface="Abadi"/>
              </a:rPr>
              <a:t>▪  Think dumping</a:t>
            </a:r>
          </a:p>
          <a:p>
            <a:pPr algn="l">
              <a:spcAft>
                <a:spcPts val="400"/>
              </a:spcAft>
            </a:pPr>
            <a:r>
              <a:rPr sz="1100" b="0" i="0">
                <a:solidFill>
                  <a:srgbClr val="1A1A1A"/>
                </a:solidFill>
                <a:latin typeface="Abadi"/>
              </a:rPr>
              <a:t>▪  Check glucose</a:t>
            </a:r>
          </a:p>
        </p:txBody>
      </p:sp>
      <p:sp>
        <p:nvSpPr>
          <p:cNvPr id="32" name="TextBox 31"/>
          <p:cNvSpPr txBox="1"/>
          <p:nvPr/>
        </p:nvSpPr>
        <p:spPr>
          <a:xfrm>
            <a:off x="548640" y="4114800"/>
            <a:ext cx="11082528" cy="822960"/>
          </a:xfrm>
          <a:prstGeom prst="rect">
            <a:avLst/>
          </a:prstGeom>
          <a:noFill/>
        </p:spPr>
        <p:txBody>
          <a:bodyPr wrap="square" lIns="36576" rIns="36576" tIns="36576" bIns="36576" anchor="t">
            <a:spAutoFit/>
          </a:bodyPr>
          <a:lstStyle/>
          <a:p>
            <a:pPr algn="l"/>
            <a:r>
              <a:rPr sz="1250" b="1" i="0">
                <a:solidFill>
                  <a:srgbClr val="1B355E"/>
                </a:solidFill>
                <a:latin typeface="Abadi"/>
              </a:rPr>
              <a:t>And one more.   </a:t>
            </a:r>
            <a:r>
              <a:rPr sz="1250" b="0" i="0">
                <a:solidFill>
                  <a:srgbClr val="1A1A1A"/>
                </a:solidFill>
                <a:latin typeface="Abadi"/>
              </a:rPr>
              <a:t>A child who retches after a wrap is not proof that the wrap is too tight: retching in impaired children is often central and was there before.</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292608"/>
            <a:ext cx="630936" cy="347472"/>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630936" cy="347472"/>
          </a:xfrm>
          <a:prstGeom prst="rect">
            <a:avLst/>
          </a:prstGeom>
          <a:noFill/>
        </p:spPr>
        <p:txBody>
          <a:bodyPr wrap="square" lIns="36576" rIns="36576" tIns="36576" bIns="36576" anchor="ctr">
            <a:spAutoFit/>
          </a:bodyPr>
          <a:lstStyle/>
          <a:p>
            <a:pPr algn="ctr"/>
            <a:r>
              <a:rPr sz="1500" b="1" i="0">
                <a:solidFill>
                  <a:srgbClr val="FFFFFF"/>
                </a:solidFill>
                <a:latin typeface="Abadi"/>
              </a:rPr>
              <a:t>IX</a:t>
            </a:r>
          </a:p>
        </p:txBody>
      </p:sp>
      <p:sp>
        <p:nvSpPr>
          <p:cNvPr id="4" name="TextBox 3"/>
          <p:cNvSpPr txBox="1"/>
          <p:nvPr/>
        </p:nvSpPr>
        <p:spPr>
          <a:xfrm>
            <a:off x="1380744" y="292608"/>
            <a:ext cx="10232136" cy="347472"/>
          </a:xfrm>
          <a:prstGeom prst="rect">
            <a:avLst/>
          </a:prstGeom>
          <a:noFill/>
        </p:spPr>
        <p:txBody>
          <a:bodyPr wrap="square" lIns="36576" rIns="36576" tIns="36576" bIns="36576" anchor="ctr">
            <a:spAutoFit/>
          </a:bodyPr>
          <a:lstStyle/>
          <a:p>
            <a:pPr algn="l"/>
            <a:r>
              <a:rPr sz="1200" b="1" i="0">
                <a:solidFill>
                  <a:srgbClr val="B22222"/>
                </a:solidFill>
                <a:latin typeface="Abadi"/>
              </a:rPr>
              <a:t>PEARLS</a:t>
            </a:r>
          </a:p>
        </p:txBody>
      </p:sp>
      <p:sp>
        <p:nvSpPr>
          <p:cNvPr id="5" name="TextBox 4"/>
          <p:cNvSpPr txBox="1"/>
          <p:nvPr/>
        </p:nvSpPr>
        <p:spPr>
          <a:xfrm>
            <a:off x="548640" y="722376"/>
            <a:ext cx="11082528" cy="548640"/>
          </a:xfrm>
          <a:prstGeom prst="rect">
            <a:avLst/>
          </a:prstGeom>
          <a:noFill/>
        </p:spPr>
        <p:txBody>
          <a:bodyPr wrap="square" lIns="36576" rIns="36576" tIns="36576" bIns="36576" anchor="ctr">
            <a:spAutoFit/>
          </a:bodyPr>
          <a:lstStyle/>
          <a:p>
            <a:pPr algn="l"/>
            <a:r>
              <a:rPr sz="3000" b="1" i="0">
                <a:solidFill>
                  <a:srgbClr val="1B355E"/>
                </a:solidFill>
                <a:latin typeface="Abadi"/>
              </a:rPr>
              <a:t>TEN THINGS TO REMEMBER</a:t>
            </a:r>
          </a:p>
        </p:txBody>
      </p:sp>
      <p:sp>
        <p:nvSpPr>
          <p:cNvPr id="6" name="TextBox 5"/>
          <p:cNvSpPr txBox="1"/>
          <p:nvPr/>
        </p:nvSpPr>
        <p:spPr>
          <a:xfrm>
            <a:off x="548640" y="1307592"/>
            <a:ext cx="11082528" cy="265176"/>
          </a:xfrm>
          <a:prstGeom prst="rect">
            <a:avLst/>
          </a:prstGeom>
          <a:noFill/>
        </p:spPr>
        <p:txBody>
          <a:bodyPr wrap="square" lIns="36576" rIns="36576" tIns="36576" bIns="36576" anchor="t">
            <a:spAutoFit/>
          </a:bodyPr>
          <a:lstStyle/>
          <a:p>
            <a:pPr algn="l"/>
            <a:r>
              <a:rPr sz="1300" b="0" i="0">
                <a:solidFill>
                  <a:srgbClr val="555555"/>
                </a:solidFill>
                <a:latin typeface="Abadi"/>
              </a:rPr>
              <a:t>The numbers worth carrying into clinic</a:t>
            </a:r>
          </a:p>
        </p:txBody>
      </p:sp>
      <p:sp>
        <p:nvSpPr>
          <p:cNvPr id="7" name="Rectangle 6"/>
          <p:cNvSpPr/>
          <p:nvPr/>
        </p:nvSpPr>
        <p:spPr>
          <a:xfrm>
            <a:off x="548640" y="1600200"/>
            <a:ext cx="11082528" cy="27432"/>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55064"/>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5888736"/>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36224" y="5971032"/>
            <a:ext cx="694944" cy="292608"/>
          </a:xfrm>
          <a:prstGeom prst="rect">
            <a:avLst/>
          </a:prstGeom>
          <a:noFill/>
        </p:spPr>
        <p:txBody>
          <a:bodyPr wrap="square" lIns="36576" rIns="36576" tIns="36576" bIns="36576" anchor="t">
            <a:spAutoFit/>
          </a:bodyPr>
          <a:lstStyle/>
          <a:p>
            <a:pPr algn="r"/>
            <a:r>
              <a:rPr sz="1200" b="0" i="0">
                <a:solidFill>
                  <a:srgbClr val="555555"/>
                </a:solidFill>
                <a:latin typeface="Abadi"/>
              </a:rPr>
              <a:t>20</a:t>
            </a:r>
          </a:p>
        </p:txBody>
      </p:sp>
      <p:sp>
        <p:nvSpPr>
          <p:cNvPr id="11" name="TextBox 10"/>
          <p:cNvSpPr txBox="1"/>
          <p:nvPr/>
        </p:nvSpPr>
        <p:spPr>
          <a:xfrm>
            <a:off x="548640" y="5971032"/>
            <a:ext cx="10287000" cy="457200"/>
          </a:xfrm>
          <a:prstGeom prst="rect">
            <a:avLst/>
          </a:prstGeom>
          <a:noFill/>
        </p:spPr>
        <p:txBody>
          <a:bodyPr wrap="square" lIns="36576" rIns="36576" tIns="36576" bIns="36576" anchor="t">
            <a:spAutoFit/>
          </a:bodyPr>
          <a:lstStyle/>
          <a:p>
            <a:pPr algn="l"/>
            <a:r>
              <a:rPr sz="1000" b="0" i="0">
                <a:solidFill>
                  <a:srgbClr val="8A939B"/>
                </a:solidFill>
                <a:latin typeface="Abadi"/>
              </a:rPr>
              <a:t>Rosen 2018 · Romano 2017 · Kubiak 2011 · Broeders 2010 · Fyhn 2015, 2023 · St Peter 2011 · Cochrane 2026 · Lansdale 2015</a:t>
            </a:r>
          </a:p>
        </p:txBody>
      </p:sp>
      <p:sp>
        <p:nvSpPr>
          <p:cNvPr id="12" name="TextBox 11"/>
          <p:cNvSpPr txBox="1"/>
          <p:nvPr/>
        </p:nvSpPr>
        <p:spPr>
          <a:xfrm>
            <a:off x="640080" y="1783080"/>
            <a:ext cx="10899648" cy="3931920"/>
          </a:xfrm>
          <a:prstGeom prst="rect">
            <a:avLst/>
          </a:prstGeom>
          <a:noFill/>
        </p:spPr>
        <p:txBody>
          <a:bodyPr wrap="square" lIns="36576" rIns="36576" tIns="36576" bIns="36576" anchor="t">
            <a:spAutoFit/>
          </a:bodyPr>
          <a:lstStyle/>
          <a:p>
            <a:pPr algn="l">
              <a:spcAft>
                <a:spcPts val="600"/>
              </a:spcAft>
            </a:pPr>
            <a:r>
              <a:rPr sz="1250" b="0" i="0">
                <a:solidFill>
                  <a:srgbClr val="1A1A1A"/>
                </a:solidFill>
                <a:latin typeface="Abadi"/>
              </a:rPr>
              <a:t>•  Surgery for: life-threatening complications, refractory disease, high-risk chronic conditions, chronic drug need.</a:t>
            </a:r>
          </a:p>
          <a:p>
            <a:pPr algn="l">
              <a:spcAft>
                <a:spcPts val="600"/>
              </a:spcAft>
            </a:pPr>
            <a:r>
              <a:rPr sz="1250" b="0" i="0">
                <a:solidFill>
                  <a:srgbClr val="1A1A1A"/>
                </a:solidFill>
                <a:latin typeface="Abadi"/>
              </a:rPr>
              <a:t>•  No routine wrap at gastrostomy in neurologically impaired children (ESPGHAN 2017, strong).</a:t>
            </a:r>
          </a:p>
          <a:p>
            <a:pPr algn="l">
              <a:spcAft>
                <a:spcPts val="600"/>
              </a:spcAft>
            </a:pPr>
            <a:r>
              <a:rPr sz="1250" b="0" i="0">
                <a:solidFill>
                  <a:srgbClr val="1A1A1A"/>
                </a:solidFill>
                <a:latin typeface="Abadi"/>
              </a:rPr>
              <a:t>•  Nissen vs Thal RCT: failure 5.9% vs 15.9%; severe dysphagia 11.8% vs 2.4%; 17 of 18 failures in NI children.</a:t>
            </a:r>
          </a:p>
          <a:p>
            <a:pPr algn="l">
              <a:spcAft>
                <a:spcPts val="600"/>
              </a:spcAft>
            </a:pPr>
            <a:r>
              <a:rPr sz="1250" b="0" i="0">
                <a:solidFill>
                  <a:srgbClr val="1A1A1A"/>
                </a:solidFill>
                <a:latin typeface="Abadi"/>
              </a:rPr>
              <a:t>•  Adults: Nissen doubles reoperation (RR 2.19) and dilatation (RR 2.45) versus Toupet, with equal reflux control.</a:t>
            </a:r>
          </a:p>
          <a:p>
            <a:pPr algn="l">
              <a:spcAft>
                <a:spcPts val="600"/>
              </a:spcAft>
            </a:pPr>
            <a:r>
              <a:rPr sz="1250" b="0" i="0">
                <a:solidFill>
                  <a:srgbClr val="1A1A1A"/>
                </a:solidFill>
                <a:latin typeface="Abadi"/>
              </a:rPr>
              <a:t>•  Oslo RCT: recurrence 56% laparoscopic vs 31% open at 12 years; recurrence earlier after laparoscopy.</a:t>
            </a:r>
          </a:p>
          <a:p>
            <a:pPr algn="l">
              <a:spcAft>
                <a:spcPts val="600"/>
              </a:spcAft>
            </a:pPr>
            <a:r>
              <a:rPr sz="1250" b="0" i="0">
                <a:solidFill>
                  <a:srgbClr val="1A1A1A"/>
                </a:solidFill>
                <a:latin typeface="Abadi"/>
              </a:rPr>
              <a:t>•  Minimal mobilisation: wrap herniation 7.8% vs 30%, reoperation 3.3% vs 18.4%.</a:t>
            </a:r>
          </a:p>
          <a:p>
            <a:pPr algn="l">
              <a:spcAft>
                <a:spcPts val="600"/>
              </a:spcAft>
            </a:pPr>
            <a:r>
              <a:rPr sz="1250" b="0" i="0">
                <a:solidFill>
                  <a:srgbClr val="1A1A1A"/>
                </a:solidFill>
                <a:latin typeface="Abadi"/>
              </a:rPr>
              <a:t>•  Dumping in 9%; risk highest in infants, severe scoliosis and microgastria; check glucose.</a:t>
            </a:r>
          </a:p>
          <a:p>
            <a:pPr algn="l">
              <a:spcAft>
                <a:spcPts val="600"/>
              </a:spcAft>
            </a:pPr>
            <a:r>
              <a:rPr sz="1250" b="0" i="0">
                <a:solidFill>
                  <a:srgbClr val="1A1A1A"/>
                </a:solidFill>
                <a:latin typeface="Abadi"/>
              </a:rPr>
              <a:t>•  Wrap vs GJ: no RCTs; pneumonia and mortality not clearly different (Cochrane 2026).</a:t>
            </a:r>
          </a:p>
          <a:p>
            <a:pPr algn="l">
              <a:spcAft>
                <a:spcPts val="600"/>
              </a:spcAft>
            </a:pPr>
            <a:r>
              <a:rPr sz="1250" b="0" i="0">
                <a:solidFill>
                  <a:srgbClr val="1A1A1A"/>
                </a:solidFill>
                <a:latin typeface="Abadi"/>
              </a:rPr>
              <a:t>•  GJ perforation 3.1% under 10 kg vs 0.1% above; tubes last about three months.</a:t>
            </a:r>
          </a:p>
          <a:p>
            <a:pPr algn="l">
              <a:spcAft>
                <a:spcPts val="600"/>
              </a:spcAft>
            </a:pPr>
            <a:r>
              <a:rPr sz="1250" b="0" i="0">
                <a:solidFill>
                  <a:srgbClr val="1A1A1A"/>
                </a:solidFill>
                <a:latin typeface="Abadi"/>
              </a:rPr>
              <a:t>•  Dissociation: near-abolition of reflux in GMFCS 5, irreversible; very selected cases only.</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292608"/>
            <a:ext cx="630936" cy="347472"/>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630936" cy="347472"/>
          </a:xfrm>
          <a:prstGeom prst="rect">
            <a:avLst/>
          </a:prstGeom>
          <a:noFill/>
        </p:spPr>
        <p:txBody>
          <a:bodyPr wrap="square" lIns="36576" rIns="36576" tIns="36576" bIns="36576" anchor="ctr">
            <a:spAutoFit/>
          </a:bodyPr>
          <a:lstStyle/>
          <a:p>
            <a:pPr algn="ctr"/>
            <a:r>
              <a:rPr sz="1500" b="1" i="0">
                <a:solidFill>
                  <a:srgbClr val="FFFFFF"/>
                </a:solidFill>
                <a:latin typeface="Abadi"/>
              </a:rPr>
              <a:t>X</a:t>
            </a:r>
          </a:p>
        </p:txBody>
      </p:sp>
      <p:sp>
        <p:nvSpPr>
          <p:cNvPr id="4" name="TextBox 3"/>
          <p:cNvSpPr txBox="1"/>
          <p:nvPr/>
        </p:nvSpPr>
        <p:spPr>
          <a:xfrm>
            <a:off x="1380744" y="292608"/>
            <a:ext cx="10232136" cy="347472"/>
          </a:xfrm>
          <a:prstGeom prst="rect">
            <a:avLst/>
          </a:prstGeom>
          <a:noFill/>
        </p:spPr>
        <p:txBody>
          <a:bodyPr wrap="square" lIns="36576" rIns="36576" tIns="36576" bIns="36576" anchor="ctr">
            <a:spAutoFit/>
          </a:bodyPr>
          <a:lstStyle/>
          <a:p>
            <a:pPr algn="l"/>
            <a:r>
              <a:rPr sz="1200" b="1" i="0">
                <a:solidFill>
                  <a:srgbClr val="B22222"/>
                </a:solidFill>
                <a:latin typeface="Abadi"/>
              </a:rPr>
              <a:t>SYNTHESIS — SCENARIO TO DECISION</a:t>
            </a:r>
          </a:p>
        </p:txBody>
      </p:sp>
      <p:sp>
        <p:nvSpPr>
          <p:cNvPr id="5" name="TextBox 4"/>
          <p:cNvSpPr txBox="1"/>
          <p:nvPr/>
        </p:nvSpPr>
        <p:spPr>
          <a:xfrm>
            <a:off x="548640" y="722376"/>
            <a:ext cx="11082528" cy="548640"/>
          </a:xfrm>
          <a:prstGeom prst="rect">
            <a:avLst/>
          </a:prstGeom>
          <a:noFill/>
        </p:spPr>
        <p:txBody>
          <a:bodyPr wrap="square" lIns="36576" rIns="36576" tIns="36576" bIns="36576" anchor="ctr">
            <a:spAutoFit/>
          </a:bodyPr>
          <a:lstStyle/>
          <a:p>
            <a:pPr algn="l"/>
            <a:r>
              <a:rPr sz="3000" b="1" i="0">
                <a:solidFill>
                  <a:srgbClr val="1B355E"/>
                </a:solidFill>
                <a:latin typeface="Abadi"/>
              </a:rPr>
              <a:t>FROM SCENARIO TO DECISION</a:t>
            </a:r>
          </a:p>
        </p:txBody>
      </p:sp>
      <p:sp>
        <p:nvSpPr>
          <p:cNvPr id="6" name="TextBox 5"/>
          <p:cNvSpPr txBox="1"/>
          <p:nvPr/>
        </p:nvSpPr>
        <p:spPr>
          <a:xfrm>
            <a:off x="548640" y="1307592"/>
            <a:ext cx="11082528" cy="265176"/>
          </a:xfrm>
          <a:prstGeom prst="rect">
            <a:avLst/>
          </a:prstGeom>
          <a:noFill/>
        </p:spPr>
        <p:txBody>
          <a:bodyPr wrap="square" lIns="36576" rIns="36576" tIns="36576" bIns="36576" anchor="t">
            <a:spAutoFit/>
          </a:bodyPr>
          <a:lstStyle/>
          <a:p>
            <a:pPr algn="l"/>
            <a:r>
              <a:rPr sz="1300" b="0" i="0">
                <a:solidFill>
                  <a:srgbClr val="555555"/>
                </a:solidFill>
                <a:latin typeface="Abadi"/>
              </a:rPr>
              <a:t>Applying the evidence on antireflux surgery in clinic</a:t>
            </a:r>
          </a:p>
        </p:txBody>
      </p:sp>
      <p:sp>
        <p:nvSpPr>
          <p:cNvPr id="7" name="Rectangle 6"/>
          <p:cNvSpPr/>
          <p:nvPr/>
        </p:nvSpPr>
        <p:spPr>
          <a:xfrm>
            <a:off x="548640" y="1600200"/>
            <a:ext cx="11082528" cy="27432"/>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55064"/>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5888736"/>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36224" y="5971032"/>
            <a:ext cx="694944" cy="292608"/>
          </a:xfrm>
          <a:prstGeom prst="rect">
            <a:avLst/>
          </a:prstGeom>
          <a:noFill/>
        </p:spPr>
        <p:txBody>
          <a:bodyPr wrap="square" lIns="36576" rIns="36576" tIns="36576" bIns="36576" anchor="t">
            <a:spAutoFit/>
          </a:bodyPr>
          <a:lstStyle/>
          <a:p>
            <a:pPr algn="r"/>
            <a:r>
              <a:rPr sz="1200" b="0" i="0">
                <a:solidFill>
                  <a:srgbClr val="555555"/>
                </a:solidFill>
                <a:latin typeface="Abadi"/>
              </a:rPr>
              <a:t>21</a:t>
            </a:r>
          </a:p>
        </p:txBody>
      </p:sp>
      <p:sp>
        <p:nvSpPr>
          <p:cNvPr id="11" name="TextBox 10"/>
          <p:cNvSpPr txBox="1"/>
          <p:nvPr/>
        </p:nvSpPr>
        <p:spPr>
          <a:xfrm>
            <a:off x="548640" y="5971032"/>
            <a:ext cx="10287000" cy="457200"/>
          </a:xfrm>
          <a:prstGeom prst="rect">
            <a:avLst/>
          </a:prstGeom>
          <a:noFill/>
        </p:spPr>
        <p:txBody>
          <a:bodyPr wrap="square" lIns="36576" rIns="36576" tIns="36576" bIns="36576" anchor="t">
            <a:spAutoFit/>
          </a:bodyPr>
          <a:lstStyle/>
          <a:p>
            <a:pPr algn="l"/>
            <a:r>
              <a:rPr sz="1000" b="0" i="0">
                <a:solidFill>
                  <a:srgbClr val="8A939B"/>
                </a:solidFill>
                <a:latin typeface="Abadi"/>
              </a:rPr>
              <a:t>Synthesis of the sources above</a:t>
            </a:r>
          </a:p>
        </p:txBody>
      </p:sp>
      <p:graphicFrame>
        <p:nvGraphicFramePr>
          <p:cNvPr id="12" name="Table 11"/>
          <p:cNvGraphicFramePr>
            <a:graphicFrameLocks noGrp="1"/>
          </p:cNvGraphicFramePr>
          <p:nvPr/>
        </p:nvGraphicFramePr>
        <p:xfrm>
          <a:off x="548640" y="1783080"/>
          <a:ext cx="11082528" cy="3657600"/>
        </p:xfrm>
        <a:graphic>
          <a:graphicData uri="http://schemas.openxmlformats.org/drawingml/2006/table">
            <a:tbl>
              <a:tblPr firstRow="0" bandRow="0">
                <a:tableStyleId>{5C22544A-7EE6-4342-B048-85BDC9FD1C3A}</a:tableStyleId>
              </a:tblPr>
              <a:tblGrid>
                <a:gridCol w="3657600"/>
                <a:gridCol w="4023360"/>
                <a:gridCol w="3401568"/>
              </a:tblGrid>
              <a:tr h="457200">
                <a:tc>
                  <a:txBody>
                    <a:bodyPr wrap="square"/>
                    <a:lstStyle/>
                    <a:p>
                      <a:pPr algn="l"/>
                      <a:r>
                        <a:rPr sz="1050" b="1">
                          <a:solidFill>
                            <a:srgbClr val="FFFFFF"/>
                          </a:solidFill>
                          <a:latin typeface="Abadi"/>
                        </a:rPr>
                        <a:t>Scenario</a:t>
                      </a:r>
                    </a:p>
                  </a:txBody>
                  <a:tcPr marL="73152" marR="73152" marT="27432" marB="27432" anchor="ctr">
                    <a:solidFill>
                      <a:srgbClr val="1B355E"/>
                    </a:solidFill>
                  </a:tcPr>
                </a:tc>
                <a:tc>
                  <a:txBody>
                    <a:bodyPr wrap="square"/>
                    <a:lstStyle/>
                    <a:p>
                      <a:pPr algn="l"/>
                      <a:r>
                        <a:rPr sz="1050" b="1">
                          <a:solidFill>
                            <a:srgbClr val="FFFFFF"/>
                          </a:solidFill>
                          <a:latin typeface="Abadi"/>
                        </a:rPr>
                        <a:t>Decision</a:t>
                      </a:r>
                    </a:p>
                  </a:txBody>
                  <a:tcPr marL="73152" marR="73152" marT="27432" marB="27432" anchor="ctr">
                    <a:solidFill>
                      <a:srgbClr val="1B355E"/>
                    </a:solidFill>
                  </a:tcPr>
                </a:tc>
                <a:tc>
                  <a:txBody>
                    <a:bodyPr wrap="square"/>
                    <a:lstStyle/>
                    <a:p>
                      <a:pPr algn="l"/>
                      <a:r>
                        <a:rPr sz="1050" b="1">
                          <a:solidFill>
                            <a:srgbClr val="FFFFFF"/>
                          </a:solidFill>
                          <a:latin typeface="Abadi"/>
                        </a:rPr>
                        <a:t>Why</a:t>
                      </a:r>
                    </a:p>
                  </a:txBody>
                  <a:tcPr marL="73152" marR="73152" marT="27432" marB="27432" anchor="ctr">
                    <a:solidFill>
                      <a:srgbClr val="1B355E"/>
                    </a:solidFill>
                  </a:tcPr>
                </a:tc>
              </a:tr>
              <a:tr h="457200">
                <a:tc>
                  <a:txBody>
                    <a:bodyPr wrap="square"/>
                    <a:lstStyle/>
                    <a:p>
                      <a:pPr algn="l"/>
                      <a:r>
                        <a:rPr sz="1050" b="1">
                          <a:solidFill>
                            <a:srgbClr val="1A1A1A"/>
                          </a:solidFill>
                          <a:latin typeface="Abadi"/>
                        </a:rPr>
                        <a:t>NI child, gastrostomy planned, no proven GERD</a:t>
                      </a:r>
                    </a:p>
                  </a:txBody>
                  <a:tcPr marL="73152" marR="73152" marT="27432" marB="27432" anchor="ctr">
                    <a:solidFill>
                      <a:srgbClr val="FFFFFF"/>
                    </a:solidFill>
                  </a:tcPr>
                </a:tc>
                <a:tc>
                  <a:txBody>
                    <a:bodyPr wrap="square"/>
                    <a:lstStyle/>
                    <a:p>
                      <a:pPr algn="l"/>
                      <a:r>
                        <a:rPr sz="1050" b="0">
                          <a:solidFill>
                            <a:srgbClr val="1A1A1A"/>
                          </a:solidFill>
                          <a:latin typeface="Abadi"/>
                        </a:rPr>
                        <a:t>Gastrostomy alone; treat reflux medically</a:t>
                      </a:r>
                    </a:p>
                  </a:txBody>
                  <a:tcPr marL="73152" marR="73152" marT="27432" marB="27432" anchor="ctr">
                    <a:solidFill>
                      <a:srgbClr val="FFFFFF"/>
                    </a:solidFill>
                  </a:tcPr>
                </a:tc>
                <a:tc>
                  <a:txBody>
                    <a:bodyPr wrap="square"/>
                    <a:lstStyle/>
                    <a:p>
                      <a:pPr algn="l"/>
                      <a:r>
                        <a:rPr sz="1050" b="0">
                          <a:solidFill>
                            <a:srgbClr val="1A1A1A"/>
                          </a:solidFill>
                          <a:latin typeface="Abadi"/>
                        </a:rPr>
                        <a:t>No routine wrap (strong)</a:t>
                      </a:r>
                    </a:p>
                  </a:txBody>
                  <a:tcPr marL="73152" marR="73152" marT="27432" marB="27432" anchor="ctr">
                    <a:solidFill>
                      <a:srgbClr val="FFFFFF"/>
                    </a:solidFill>
                  </a:tcPr>
                </a:tc>
              </a:tr>
              <a:tr h="457200">
                <a:tc>
                  <a:txBody>
                    <a:bodyPr wrap="square"/>
                    <a:lstStyle/>
                    <a:p>
                      <a:pPr algn="l"/>
                      <a:r>
                        <a:rPr sz="1050" b="1">
                          <a:solidFill>
                            <a:srgbClr val="1A1A1A"/>
                          </a:solidFill>
                          <a:latin typeface="Abadi"/>
                        </a:rPr>
                        <a:t>NI child, aspiration pneumonias on PPI</a:t>
                      </a:r>
                    </a:p>
                  </a:txBody>
                  <a:tcPr marL="73152" marR="73152" marT="27432" marB="27432" anchor="ctr">
                    <a:solidFill>
                      <a:srgbClr val="F2F4F7"/>
                    </a:solidFill>
                  </a:tcPr>
                </a:tc>
                <a:tc>
                  <a:txBody>
                    <a:bodyPr wrap="square"/>
                    <a:lstStyle/>
                    <a:p>
                      <a:pPr algn="l"/>
                      <a:r>
                        <a:rPr sz="1050" b="0">
                          <a:solidFill>
                            <a:srgbClr val="1A1A1A"/>
                          </a:solidFill>
                          <a:latin typeface="Abadi"/>
                        </a:rPr>
                        <a:t>Swallow study; discuss wrap vs GJ with numbers</a:t>
                      </a:r>
                    </a:p>
                  </a:txBody>
                  <a:tcPr marL="73152" marR="73152" marT="27432" marB="27432" anchor="ctr">
                    <a:solidFill>
                      <a:srgbClr val="F2F4F7"/>
                    </a:solidFill>
                  </a:tcPr>
                </a:tc>
                <a:tc>
                  <a:txBody>
                    <a:bodyPr wrap="square"/>
                    <a:lstStyle/>
                    <a:p>
                      <a:pPr algn="l"/>
                      <a:r>
                        <a:rPr sz="1050" b="0">
                          <a:solidFill>
                            <a:srgbClr val="1A1A1A"/>
                          </a:solidFill>
                          <a:latin typeface="Abadi"/>
                        </a:rPr>
                        <a:t>No RCT; both accepted</a:t>
                      </a:r>
                    </a:p>
                  </a:txBody>
                  <a:tcPr marL="73152" marR="73152" marT="27432" marB="27432" anchor="ctr">
                    <a:solidFill>
                      <a:srgbClr val="F2F4F7"/>
                    </a:solidFill>
                  </a:tcPr>
                </a:tc>
              </a:tr>
              <a:tr h="457200">
                <a:tc>
                  <a:txBody>
                    <a:bodyPr wrap="square"/>
                    <a:lstStyle/>
                    <a:p>
                      <a:pPr algn="l"/>
                      <a:r>
                        <a:rPr sz="1050" b="1">
                          <a:solidFill>
                            <a:srgbClr val="1A1A1A"/>
                          </a:solidFill>
                          <a:latin typeface="Abadi"/>
                        </a:rPr>
                        <a:t>Infant 6 kg, family prefers GJ</a:t>
                      </a:r>
                    </a:p>
                  </a:txBody>
                  <a:tcPr marL="73152" marR="73152" marT="27432" marB="27432" anchor="ctr">
                    <a:solidFill>
                      <a:srgbClr val="FFFFFF"/>
                    </a:solidFill>
                  </a:tcPr>
                </a:tc>
                <a:tc>
                  <a:txBody>
                    <a:bodyPr wrap="square"/>
                    <a:lstStyle/>
                    <a:p>
                      <a:pPr algn="l"/>
                      <a:r>
                        <a:rPr sz="1050" b="0">
                          <a:solidFill>
                            <a:srgbClr val="1A1A1A"/>
                          </a:solidFill>
                          <a:latin typeface="Abadi"/>
                        </a:rPr>
                        <a:t>Caution; weigh perforation risk, consider wrap</a:t>
                      </a:r>
                    </a:p>
                  </a:txBody>
                  <a:tcPr marL="73152" marR="73152" marT="27432" marB="27432" anchor="ctr">
                    <a:solidFill>
                      <a:srgbClr val="FFFFFF"/>
                    </a:solidFill>
                  </a:tcPr>
                </a:tc>
                <a:tc>
                  <a:txBody>
                    <a:bodyPr wrap="square"/>
                    <a:lstStyle/>
                    <a:p>
                      <a:pPr algn="l"/>
                      <a:r>
                        <a:rPr sz="1050" b="0">
                          <a:solidFill>
                            <a:srgbClr val="1A1A1A"/>
                          </a:solidFill>
                          <a:latin typeface="Abadi"/>
                        </a:rPr>
                        <a:t>Perforation 3.1% under 10 kg</a:t>
                      </a:r>
                    </a:p>
                  </a:txBody>
                  <a:tcPr marL="73152" marR="73152" marT="27432" marB="27432" anchor="ctr">
                    <a:solidFill>
                      <a:srgbClr val="FFFFFF"/>
                    </a:solidFill>
                  </a:tcPr>
                </a:tc>
              </a:tr>
              <a:tr h="457200">
                <a:tc>
                  <a:txBody>
                    <a:bodyPr wrap="square"/>
                    <a:lstStyle/>
                    <a:p>
                      <a:pPr algn="l"/>
                      <a:r>
                        <a:rPr sz="1050" b="1">
                          <a:solidFill>
                            <a:srgbClr val="1A1A1A"/>
                          </a:solidFill>
                          <a:latin typeface="Abadi"/>
                        </a:rPr>
                        <a:t>Healthy teen, PPI-dependent, objective GERD</a:t>
                      </a:r>
                    </a:p>
                  </a:txBody>
                  <a:tcPr marL="73152" marR="73152" marT="27432" marB="27432" anchor="ctr">
                    <a:solidFill>
                      <a:srgbClr val="F2F4F7"/>
                    </a:solidFill>
                  </a:tcPr>
                </a:tc>
                <a:tc>
                  <a:txBody>
                    <a:bodyPr wrap="square"/>
                    <a:lstStyle/>
                    <a:p>
                      <a:pPr algn="l"/>
                      <a:r>
                        <a:rPr sz="1050" b="0">
                          <a:solidFill>
                            <a:srgbClr val="1A1A1A"/>
                          </a:solidFill>
                          <a:latin typeface="Abadi"/>
                        </a:rPr>
                        <a:t>Laparoscopic wrap in experienced hands</a:t>
                      </a:r>
                    </a:p>
                  </a:txBody>
                  <a:tcPr marL="73152" marR="73152" marT="27432" marB="27432" anchor="ctr">
                    <a:solidFill>
                      <a:srgbClr val="F2F4F7"/>
                    </a:solidFill>
                  </a:tcPr>
                </a:tc>
                <a:tc>
                  <a:txBody>
                    <a:bodyPr wrap="square"/>
                    <a:lstStyle/>
                    <a:p>
                      <a:pPr algn="l"/>
                      <a:r>
                        <a:rPr sz="1050" b="0">
                          <a:solidFill>
                            <a:srgbClr val="1A1A1A"/>
                          </a:solidFill>
                          <a:latin typeface="Abadi"/>
                        </a:rPr>
                        <a:t>Normal children rarely fail</a:t>
                      </a:r>
                    </a:p>
                  </a:txBody>
                  <a:tcPr marL="73152" marR="73152" marT="27432" marB="27432" anchor="ctr">
                    <a:solidFill>
                      <a:srgbClr val="F2F4F7"/>
                    </a:solidFill>
                  </a:tcPr>
                </a:tc>
              </a:tr>
              <a:tr h="457200">
                <a:tc>
                  <a:txBody>
                    <a:bodyPr wrap="square"/>
                    <a:lstStyle/>
                    <a:p>
                      <a:pPr algn="l"/>
                      <a:r>
                        <a:rPr sz="1050" b="1">
                          <a:solidFill>
                            <a:srgbClr val="1A1A1A"/>
                          </a:solidFill>
                          <a:latin typeface="Abadi"/>
                        </a:rPr>
                        <a:t>Pallor and sweating after feeds post-wrap</a:t>
                      </a:r>
                    </a:p>
                  </a:txBody>
                  <a:tcPr marL="73152" marR="73152" marT="27432" marB="27432" anchor="ctr">
                    <a:solidFill>
                      <a:srgbClr val="FFFFFF"/>
                    </a:solidFill>
                  </a:tcPr>
                </a:tc>
                <a:tc>
                  <a:txBody>
                    <a:bodyPr wrap="square"/>
                    <a:lstStyle/>
                    <a:p>
                      <a:pPr algn="l"/>
                      <a:r>
                        <a:rPr sz="1050" b="0">
                          <a:solidFill>
                            <a:srgbClr val="1A1A1A"/>
                          </a:solidFill>
                          <a:latin typeface="Abadi"/>
                        </a:rPr>
                        <a:t>Glucose after feed; slow feeds</a:t>
                      </a:r>
                    </a:p>
                  </a:txBody>
                  <a:tcPr marL="73152" marR="73152" marT="27432" marB="27432" anchor="ctr">
                    <a:solidFill>
                      <a:srgbClr val="FFFFFF"/>
                    </a:solidFill>
                  </a:tcPr>
                </a:tc>
                <a:tc>
                  <a:txBody>
                    <a:bodyPr wrap="square"/>
                    <a:lstStyle/>
                    <a:p>
                      <a:pPr algn="l"/>
                      <a:r>
                        <a:rPr sz="1050" b="0">
                          <a:solidFill>
                            <a:srgbClr val="1A1A1A"/>
                          </a:solidFill>
                          <a:latin typeface="Abadi"/>
                        </a:rPr>
                        <a:t>Dumping in 9%</a:t>
                      </a:r>
                    </a:p>
                  </a:txBody>
                  <a:tcPr marL="73152" marR="73152" marT="27432" marB="27432" anchor="ctr">
                    <a:solidFill>
                      <a:srgbClr val="FFFFFF"/>
                    </a:solidFill>
                  </a:tcPr>
                </a:tc>
              </a:tr>
              <a:tr h="457200">
                <a:tc>
                  <a:txBody>
                    <a:bodyPr wrap="square"/>
                    <a:lstStyle/>
                    <a:p>
                      <a:pPr algn="l"/>
                      <a:r>
                        <a:rPr sz="1050" b="1">
                          <a:solidFill>
                            <a:srgbClr val="1A1A1A"/>
                          </a:solidFill>
                          <a:latin typeface="Abadi"/>
                        </a:rPr>
                        <a:t>Symptoms return 2 years after laparoscopic wrap</a:t>
                      </a:r>
                    </a:p>
                  </a:txBody>
                  <a:tcPr marL="73152" marR="73152" marT="27432" marB="27432" anchor="ctr">
                    <a:solidFill>
                      <a:srgbClr val="F2F4F7"/>
                    </a:solidFill>
                  </a:tcPr>
                </a:tc>
                <a:tc>
                  <a:txBody>
                    <a:bodyPr wrap="square"/>
                    <a:lstStyle/>
                    <a:p>
                      <a:pPr algn="l"/>
                      <a:r>
                        <a:rPr sz="1050" b="0">
                          <a:solidFill>
                            <a:srgbClr val="1A1A1A"/>
                          </a:solidFill>
                          <a:latin typeface="Abadi"/>
                        </a:rPr>
                        <a:t>pH-impedance and contrast before redo</a:t>
                      </a:r>
                    </a:p>
                  </a:txBody>
                  <a:tcPr marL="73152" marR="73152" marT="27432" marB="27432" anchor="ctr">
                    <a:solidFill>
                      <a:srgbClr val="F2F4F7"/>
                    </a:solidFill>
                  </a:tcPr>
                </a:tc>
                <a:tc>
                  <a:txBody>
                    <a:bodyPr wrap="square"/>
                    <a:lstStyle/>
                    <a:p>
                      <a:pPr algn="l"/>
                      <a:r>
                        <a:rPr sz="1050" b="0">
                          <a:solidFill>
                            <a:srgbClr val="1A1A1A"/>
                          </a:solidFill>
                          <a:latin typeface="Abadi"/>
                        </a:rPr>
                        <a:t>Recurrence 56% by 12 years</a:t>
                      </a:r>
                    </a:p>
                  </a:txBody>
                  <a:tcPr marL="73152" marR="73152" marT="27432" marB="27432" anchor="ctr">
                    <a:solidFill>
                      <a:srgbClr val="F2F4F7"/>
                    </a:solidFill>
                  </a:tcPr>
                </a:tc>
              </a:tr>
              <a:tr h="457200">
                <a:tc>
                  <a:txBody>
                    <a:bodyPr wrap="square"/>
                    <a:lstStyle/>
                    <a:p>
                      <a:pPr algn="l"/>
                      <a:r>
                        <a:rPr sz="1050" b="1">
                          <a:solidFill>
                            <a:srgbClr val="1A1A1A"/>
                          </a:solidFill>
                          <a:latin typeface="Abadi"/>
                        </a:rPr>
                        <a:t>GMFCS 5, failed redo wrap</a:t>
                      </a:r>
                    </a:p>
                  </a:txBody>
                  <a:tcPr marL="73152" marR="73152" marT="27432" marB="27432" anchor="ctr">
                    <a:solidFill>
                      <a:srgbClr val="FFFFFF"/>
                    </a:solidFill>
                  </a:tcPr>
                </a:tc>
                <a:tc>
                  <a:txBody>
                    <a:bodyPr wrap="square"/>
                    <a:lstStyle/>
                    <a:p>
                      <a:pPr algn="l"/>
                      <a:r>
                        <a:rPr sz="1050" b="0">
                          <a:solidFill>
                            <a:srgbClr val="1A1A1A"/>
                          </a:solidFill>
                          <a:latin typeface="Abadi"/>
                        </a:rPr>
                        <a:t>Discuss dissociation or long-term GJ</a:t>
                      </a:r>
                    </a:p>
                  </a:txBody>
                  <a:tcPr marL="73152" marR="73152" marT="27432" marB="27432" anchor="ctr">
                    <a:solidFill>
                      <a:srgbClr val="FFFFFF"/>
                    </a:solidFill>
                  </a:tcPr>
                </a:tc>
                <a:tc>
                  <a:txBody>
                    <a:bodyPr wrap="square"/>
                    <a:lstStyle/>
                    <a:p>
                      <a:pPr algn="l"/>
                      <a:r>
                        <a:rPr sz="1050" b="0">
                          <a:solidFill>
                            <a:srgbClr val="1A1A1A"/>
                          </a:solidFill>
                          <a:latin typeface="Abadi"/>
                        </a:rPr>
                        <a:t>Very selected cases</a:t>
                      </a:r>
                    </a:p>
                  </a:txBody>
                  <a:tcPr marL="73152" marR="73152" marT="27432" marB="27432" anchor="ctr">
                    <a:solidFill>
                      <a:srgbClr val="FFFFFF"/>
                    </a:solidFill>
                  </a:tcPr>
                </a:tc>
              </a:tr>
            </a:tbl>
          </a:graphicData>
        </a:graphic>
      </p:graphicFrame>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828800"/>
            <a:ext cx="11082528" cy="2011680"/>
          </a:xfrm>
          <a:prstGeom prst="rect">
            <a:avLst/>
          </a:prstGeom>
          <a:noFill/>
        </p:spPr>
        <p:txBody>
          <a:bodyPr wrap="square" lIns="36576" rIns="36576" tIns="36576" bIns="36576" anchor="b">
            <a:spAutoFit/>
          </a:bodyPr>
          <a:lstStyle/>
          <a:p>
            <a:pPr algn="ctr"/>
            <a:r>
              <a:rPr sz="4000" b="1" i="0">
                <a:solidFill>
                  <a:srgbClr val="FFFFFF"/>
                </a:solidFill>
                <a:latin typeface="Abadi"/>
              </a:rPr>
              <a:t>Antireflux Surgery and Its Alternatives — Nissen versus Partial Wraps, Recurrence, Jejunal Feeding and Outcomes in Neurological Impairment</a:t>
            </a:r>
          </a:p>
        </p:txBody>
      </p:sp>
      <p:sp>
        <p:nvSpPr>
          <p:cNvPr id="4" name="TextBox 3"/>
          <p:cNvSpPr txBox="1"/>
          <p:nvPr/>
        </p:nvSpPr>
        <p:spPr>
          <a:xfrm>
            <a:off x="548640" y="3977639"/>
            <a:ext cx="11082528" cy="365760"/>
          </a:xfrm>
          <a:prstGeom prst="rect">
            <a:avLst/>
          </a:prstGeom>
          <a:noFill/>
        </p:spPr>
        <p:txBody>
          <a:bodyPr wrap="square" lIns="36576" rIns="36576" tIns="36576" bIns="36576" anchor="t">
            <a:spAutoFit/>
          </a:bodyPr>
          <a:lstStyle/>
          <a:p>
            <a:pPr algn="ctr"/>
            <a:r>
              <a:rPr sz="1700" b="1" i="0">
                <a:solidFill>
                  <a:srgbClr val="FFFFFF"/>
                </a:solidFill>
                <a:latin typeface="Abadi"/>
              </a:rPr>
              <a:t>Andrey Ermak, MD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