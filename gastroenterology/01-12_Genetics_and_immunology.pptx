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Genetics and Immunology in Paediatric Gastroenterology: When to Sequence, How to Screen, Which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4343400"/>
            <a:ext cx="1108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Uhlig 2021 (ESPGHAN Porto) · Kelsen 2020 (NASPGHAN) · Kammermeier 2023 (BSG/BSPGHAN) · Crowley 2020 · Collen 2022 · Charbit-Henrion 2018 · Nambu 2022 · Yang 2022 · Marciano 2004 · Thiagarajah 2018 · Gaibee 2025 · Kumar 2016 · Gariepy 2017 · Hyer 2019 · Clark 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" y="51054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VEO-IBD · infantile onset · DHR · lymphocyte subsets · HSCT · abatacept · CODEs · PRSS1 · APC · trio · VUS · reanalysis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WHO NEEDS A GENE TEST, AND WHAT CHANGES?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Sequence when the answer changes treatment, surveillance or counselling; screen immunity before you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Uhlig HH, et al. JPGN 2021;72:456–73 · Kammermeier J, et al. Lancet Gastroenterol Hepatol 2023;8:271–86 · Kumar S, et al. JAMA Pediatr 2016;170:562–9 · Hyer W, et al. JPGN 2019;68:428–41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VEO-IBD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Onset &lt; 6 years; infantile &lt; 2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Monogenic in ~8% under 6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HSCT, abatacept, avoid harm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Congenital enteropathy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Diarrhoea from the first weeks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Exome finds a cause in ~half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Prognosis, TPN, transplant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Pancreatitis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Recurrent or chronic in a child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Risk variant in 48–73%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Explains, predicts, counsels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Polyposis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FAP, Peutz–Jeghers, juvenile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Predictive testing of relatives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Starts surveillance clocks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292600"/>
            <a:ext cx="11087100" cy="150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Genetic testing in paediatric GI is not a fishing trip. It is targeted by age at onset, phenotype and red flags, preceded by a cheap immunology screen, and run as trio sequencing whose results are confirmed functionally before they drive therapy.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About 1% of all children with IBD carry a variant potentially curable by stem cell transplantation; the wrong biologic, or a transplant for an epithelial defect, can do harm.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AGE BANDS THAT CHANGE THE PRE-TEST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Very-early-onset IBD sits inside the Paris A1a band, which does not separate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Levine A, et al. Inflamm Bowel Dis 2011;17:1314–21 · Uhlig HH, et al. Gastroenterology 2014;147:990–1007 · Bolton C, et al. Gastroenterology 2022;162:859–76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355E"/>
                </a:solidFill>
                <a:latin typeface="Abadi"/>
              </a:rPr>
              <a:t>&lt; 6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Very-early-onset IBD (VEO-IBD). Paris A1a covers 0 to &lt; 10 years and does not single it 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A0B"/>
                </a:solidFill>
                <a:latin typeface="Abadi"/>
              </a:rPr>
              <a:t>&lt; 2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Infantile or toddler onset: the group every guideline says to test.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2222"/>
                </a:solidFill>
                <a:latin typeface="Abadi"/>
              </a:rPr>
              <a:t>&lt; 28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Neonatal onset: highest monogenic probability; think IL-10 pathway 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E7A33"/>
                </a:solidFill>
                <a:latin typeface="Abadi"/>
              </a:rPr>
              <a:t>102 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High or moderate penetrance for IBD-like inflammation (Bolton 2022); ESPGHAN panel lists 75.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064000"/>
            <a:ext cx="11087100" cy="17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Monogenic IBD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means a single gene variant is sufficient to cause intestinal inflammation, usually a primary immunodeficiency or an epithelial barrier defect. It is distinct from polygenic risk (NOD2 and others), which does not change treatment.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Practical consequence.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Age is a probability modifier, not a rule: monogenic disease has been reported into adolescence and adulthood, mostly with extra-intestinal clues.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DIAGNOSTIC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YIELD FALLS STEEPLY WITH AGE AT ONSET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Proportion with a monogenic diagnosis, % of children sequenced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Crowley E, et al. Gastroenterology 2020;158:2208–20 · Collen LV, et al. J Crohns Colitis 2022;16:1380–96 · Charbit-Henrion F, et al. J Crohns Colitis 2018;12:1104–12 · Uhlig HH, et al. JPGN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Unselected, all ages (n = 1,005)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3416" y="2006600"/>
            <a:ext cx="251968" cy="41148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8536" y="18694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5552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Onset 6–18 y (Crowley)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3416" y="2692400"/>
            <a:ext cx="186943" cy="41148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3511" y="25552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32410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Onset &lt; 6 y (Crowley)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3416" y="3378200"/>
            <a:ext cx="633984" cy="41148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552" y="32410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39268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VEO-IBD (Collen, n = 216)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3416" y="4064000"/>
            <a:ext cx="642112" cy="41148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8680" y="39268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" y="461264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Severe / suspected, targeted NGS (n = 207)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3416" y="4749800"/>
            <a:ext cx="2600960" cy="41148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7528" y="461264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77800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31 of 1,005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Toronto whole-exome cohort: XIAP 5, DOCK8 3, FOXP3, GUCY2C and LRBA 2 each.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13–41%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ESPGHAN range for infantile-onset disease across cohorts; 0–33% for VEO-IBD.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≈ 1%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Of all children with IBD carried a variant potentially curable by HSCT (Crowley).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RED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EXTRA-INTESTINAL CLUES PREDICT A MONOGENIC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Factors associated with monogenic IBD in 1,005 sequenced children: odds 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Crowley E, et al. Gastroenterology 2020;158:2208–20 · Uhlig HH, et al. JPGN 2021 (Box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Extra-intestinal manifestations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9096" y="2015744"/>
            <a:ext cx="2726418" cy="43891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8666" y="18694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OR 15.36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6009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Onset before 2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9096" y="2747264"/>
            <a:ext cx="1118257" cy="43891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05" y="26009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OR 6.3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3332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Family history of autoimmunity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9096" y="3478784"/>
            <a:ext cx="908806" cy="43891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1054" y="33324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OR 5.12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4064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Surgery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89096" y="4210304"/>
            <a:ext cx="607054" cy="43891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9302" y="40640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OR 3.42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778000"/>
            <a:ext cx="4407408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ESPGHAN red flags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Onset &lt; 2 y; consanguinity or affected relatives; recurrent or atypical infection; HLH; autoimmunity (IPEX-like); malignancy; multiple intestinal atresias.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Skin and hair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Folliculitis, eczema, abscesses, abnormal hair: think IL-10 pathway, IPEX, WAS, TTC7A.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Perianal disease in infancy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Fistulae and abscesses before 1 year: IL-10 or IL-10 receptor deficiency.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PHENOTYPE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WHERE THE INFLAMMATION SITS PREDICTS THE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Molecular diagnosis by intestinal phenotype, 207 children with severe VEO-IBD,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Charbit-Henrion F, et al. J Crohns Colitis 2018;12:1104–12 · Nambu R, et al. Clin Gastroenterol Hepatol 2022;20:e653–63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42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Molecular diagnosis,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6160"/>
            <a:ext cx="566928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2678" y="3035499"/>
            <a:ext cx="955547" cy="235066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798" y="2788611"/>
            <a:ext cx="13213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318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Small-bowel inflammation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9998" y="3883279"/>
            <a:ext cx="955547" cy="150288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7118" y="3636391"/>
            <a:ext cx="13213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318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Colitis + perianal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7318" y="4692523"/>
            <a:ext cx="955547" cy="693637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4438" y="4445635"/>
            <a:ext cx="13213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4318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Colitis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04638" y="4153027"/>
            <a:ext cx="955547" cy="1233133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1758" y="3906139"/>
            <a:ext cx="13213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4318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All (66/207)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778000"/>
            <a:ext cx="47548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750 reported cases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Systematic review of monogenic IBD, 2000–2020: onset &lt; 6 y in 63%, but 11% after 18 y.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76% extra-intestinal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At some point; atypical infection 45%, skin disease 38%, autoimmunity 22%.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23% transplanted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HSCT in almost a quarter of reported cases; bowel surgery 27%, biologics 33%.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GENES THAT CHANGE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DIAGNOSIS IS THE PRESCRIPTION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Selected monogenic IBD genes and their therapeutic consequence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Glocker EO, et al. N Engl J Med 2009;361:2033–45 · Lo B, et al. Science 2015;349:436–40 · Yang LL, et al. J Allergy Clin Immunol 2022;150:456–66 · Kammermeier J, et al. 2023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791"/>
                <a:gridCol w="4256654"/>
                <a:gridCol w="425665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Gene / disorder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Typical 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Consequence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IL10, IL10RA, IL10RB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Neonatal colitis, perianal fistulae, folliculitis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Allogeneic HSCT is curative; biologics fail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CYBB, NCF1, CYBA (CGD)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Granulomatous colitis, abscesses, low DHR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HSCT; antimicrobial prophylaxis; caution with anti-TNF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FOXP3 (IPEX)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Infant enteropathy, eczema, diabetes in a boy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HSCT; sirolimus as a bridge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LRBA, CTLA4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Autoimmune cytopenias, enteropathy, lymphoproliferation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Abatacept restores CTLA4 function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XIAP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Fistulising Crohn's in a boy, HLH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HSCT selectively, not automatically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TTC7A, EPCAM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Multiple atresias; tufting enteropathy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Epithelial: HSCT does not fix the gut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5115560"/>
            <a:ext cx="11087100" cy="68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Only defects of haematopoietic cells are corrected by a new bone marrow; always exclude a monogenic cause before HSCT, and an epithelial cause before offering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XIAP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CURABLE GENE IS NOT ALWAYS A TRANSPLANT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XIAP deficiency, 167 patients from 117 families: overall survival at age 16,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Yang LL, Booth C, Speckmann C, et al. J Allergy Clin Immunol 2022;150:456–66 · Kammermeier J, et al.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4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Survival at age 16,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86160"/>
            <a:ext cx="438912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2144" y="2958428"/>
            <a:ext cx="1499616" cy="242773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711540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3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Conservative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46704" y="3956496"/>
            <a:ext cx="1499616" cy="142966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63824" y="3709608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43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After HSCT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778000"/>
            <a:ext cx="55778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Why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HSCT carries its own mortality; many XIAP patients do well for years with conservative care.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Selection bias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Transplanted patients were sicker (HLH, refractory IBD): the comparison is not randomised.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decision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Transplant for refractory disease or HLH, in an experienced centre, after a multidisciplinary genomic review.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Screen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Adolescent boys with refractory fistulising Crohn's: XIAP expression and neutrophil function (BSG 2023).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IMMUNOLOGY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CHEAP TESTS FIRST, FUNCTIONAL TESTS TO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Basic immunological work-up before or alongside sequencing in VEO-IBD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Uhlig HH, et al. JPGN 2021 (Table 4) · Kelsen JR, et al. JPGN 2020;70:389–403 · Kammermeier J, et al.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1997964" cy="2148840"/>
          </a:xfrm>
          <a:prstGeom prst="rect">
            <a:avLst/>
          </a:prstGeom>
          <a:solidFill>
            <a:srgbClr val="DCE6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19979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Blood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Differential, CRP/ESR; neutropenia, lymphopenia, thrombocytopenia with small platelets (WAS).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8000"/>
            <a:ext cx="199796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8000"/>
            <a:ext cx="19979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Immunoglobulins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IgG, IgA, IgM, IgE against age norms; IgE high in IPEX, DOCK8, WAS; low in CVID-like disease.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1008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464" y="1778000"/>
            <a:ext cx="199796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0464" y="1778000"/>
            <a:ext cx="19979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616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Lymphocyte subsets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T, B, NK cells; naive/memory T cells; regulatory T cells if IPEX suspected.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3292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2748" y="1778000"/>
            <a:ext cx="1997964" cy="214884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748" y="1778000"/>
            <a:ext cx="19979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5900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DHR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4188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Neutrophil oxidative burst for chronic granulomatous disease; check the mother if abnormal.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5576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35032" y="1778000"/>
            <a:ext cx="1997964" cy="2148840"/>
          </a:xfrm>
          <a:prstGeom prst="rect">
            <a:avLst/>
          </a:prstGeom>
          <a:solidFill>
            <a:srgbClr val="CDE7C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35032" y="1778000"/>
            <a:ext cx="19979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8184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Targeted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472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FOXP3, XIAP, LRBA/CTLA4 by flow; IL-10-induced pSTAT3; MDP response for XIAP.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4109720"/>
            <a:ext cx="11087100" cy="169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Add as indicated: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vaccine antibody responses, T-cell receptor excision circles, anti-enterocyte antibodies, HIV, TB interferon-gamma release assay.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Normal FOXP3 or XIAP expression does not exclude the disorder: missense variants can make normal amounts of non-functioning protein.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CGD AND THE DHR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IN THREE WITH CGD HAS BOWEL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140 patients with chronic granulomatous disease followed at NIH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Marciano BE, et al. Pediatrics 2004;114:462–8 · Uhlig HH, et al. JPGN 2021 · Battersby A, et al. J Clin Immunol 2019;39:195–9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1874519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32.8%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GI involvement (46/140); 89% of them X-linked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187451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5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Median age at first GI symptom; 70% in the first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1874519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Hypoalbuminaemia; abdominal pain in all affected patients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1874519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8C1C1C"/>
                </a:solidFill>
                <a:latin typeface="Abadi"/>
              </a:rPr>
              <a:t>71%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Relapse after prednisone: steroid dependence is common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3835399"/>
            <a:ext cx="11087100" cy="196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Reading the DHR.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PMA-stimulated neutrophils oxidise dihydrorhodamine to fluorescent rhodamine. Absent signal: X-linked CYBB. Low but present: often autosomal recessive NCF1. Two populations: an X-linked carrier.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Pitfall.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Myeloperoxidase deficiency can give a falsely low result; confirm genetically.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Girls and mothers.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X-linked carriers with skewed X-inactivation can have colitis, discoid lupus and infections; check the mother of every X-linked case.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CONGENITAL DIARRHOEAS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CLASSIFY BY STOOL, THEN BY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PediCODE framework for congenital diarrhoeas and enteropathies (CODEs)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Thiagarajah JR, Kamin DS, Acra S, et al. Gastroenterology 2018;154:2045–59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Diet-induced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Stool osmotic gap &gt; 100 mOsm/kg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Stops when fasted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Sugar transport, enzyme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Electrolyte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Osmotic gap &lt; 50 mOsm/kg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Continues when fasted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SLC26A3, SLC9A3, GUCY2C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Fatty stools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Pancreatic insufficiency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Abetalipoproteinaemia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Chylomicron retention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Bloody / inflammatory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VEO-IBD, IPEX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Autoimmune enteropathy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Primary immunodeficiency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201160"/>
            <a:ext cx="11087100" cy="159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formula.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Osmotic gap = 290 − 2 × (stool sodium + potassium). Reducing substances above 0.5% or stool pH below 5.3 suggest carbohydrate malabsorption.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D97A0B"/>
                </a:solidFill>
                <a:latin typeface="Abadi"/>
              </a:rPr>
              <a:t>Language.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PediCODE replaced 'intractable diarrhoea of infancy' with CODEs, 'osmotic' with diet-induced and 'secretory' with electrolyte transport-related; exome sequencing is built into the algorithm.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CODE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HALF OF CONGENITAL DIARRHOEAS NOW HAVE A GENE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Exome or genome sequencing in 129 probands with congenital diarrhoea and enteropathy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Gaibee Z, Warner N, Bugda Gwilt K, et al. N Engl J Med 2025;392:1297–309 · Thiagarajah JR, et al.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1874519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Causal variant in a known CODE gene (62/129)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187451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Autosomal recessive; 6% X-linked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1874519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43.5%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Of diagnoses were trafficking or polarity defects (EPCAM, MYO5B, TTC7A, SKIV2L)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1874519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3 new 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GRWD1, MYO1A, MON1A, with functional data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5896" y="3817111"/>
          <a:ext cx="110870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868"/>
                <a:gridCol w="3464718"/>
                <a:gridCol w="600551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Gene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Disease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MYO5B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Microvillus inclusion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Watery diarrhoea from day 1–3, continues fasted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EPCAM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Tufting enteropathy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Onset weeks, villous atrophy, epithelial tufts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DGAT1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Protein-losing enteropathy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Vomiting and diarrhoea with fat feeds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NEUROG3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Enteric anendocrinosis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Malabsorption, later diabetes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PAEDIATRIC PANCREATITIS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GENES ARE THE COMMONEST RISK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INSPPIRE: 301 children with acute recurrent (ARP) or chronic pancreatitis (CP): % with a variant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Kumar S, Ooi CY, Werlin S, et al. JAMA Pediatr 2016;170:562–9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94320"/>
            <a:ext cx="128016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486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Acute recurrent (n = 155)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094320"/>
            <a:ext cx="128016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0486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Chronic (n = 146)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86160"/>
            <a:ext cx="658368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" y="3767672"/>
            <a:ext cx="424281" cy="16184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" y="3520784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8447" y="2924710"/>
            <a:ext cx="424281" cy="246145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7" y="2677822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318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Any gene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4326" y="4239731"/>
            <a:ext cx="424281" cy="114642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71446" y="3992843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183" y="4610635"/>
            <a:ext cx="424281" cy="775525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3" y="4363747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6" y="54318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CFTR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1062" y="4812946"/>
            <a:ext cx="424281" cy="57321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8182" y="4566058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19" y="3835109"/>
            <a:ext cx="424281" cy="155105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3588221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54318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PRSS1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7798" y="4947820"/>
            <a:ext cx="424281" cy="43834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4918" y="4700932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8655" y="4543198"/>
            <a:ext cx="424281" cy="84296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5" y="4296310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54318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SPINK1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4534" y="5048975"/>
            <a:ext cx="424281" cy="337185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21654" y="4802087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65391" y="5217568"/>
            <a:ext cx="424281" cy="16859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1" y="4970680"/>
            <a:ext cx="7900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07024" y="54318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CTRC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1778000"/>
            <a:ext cx="402336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48% vs 73%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At least one variant, ARP vs CP (P &lt; 0.001).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PRSS1: OR 4.2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Strongest association with chronic pancreatitis; SPINK1 OR 2.3.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33%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Obstructive factors in both groups: genes and anatomy coexist.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TESTING IN PANCREATITIS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TEST AFTER THE SECOND ATTACK, NOT AFTER THE TENTH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Consensus on the causal evaluation of acute recurrent and chronic pancreatitis in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Gariepy CE, et al. JPGN 2017;64:95–103 · Giefer MJ, et al. J Pediatr 2017;186:95–100 · Zhang W, Abu-El-Haija M, et al. Clin Gastroenterol Hepatol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0116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Sweat + PRSS1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INSPPIRE: genetic evaluation should include a sweat chloride and PRSS1; consider SPINK1, CFTR, CTRC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0116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Any variant when the first attack was at ≤ 5 years; PRSS1 43%, CTRC 14% (Giefer 2017)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0116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74% of 944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Carried a risk variant on a 14-gene analysis (2026)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0116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Any risk variant predicted faster progression from ARP to CP (P = 0.014)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3972560"/>
            <a:ext cx="11087100" cy="182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Why test.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genetic cause ends the search for rare causes, predicts progression, informs total pancreatectomy with islet autotransplantation (PRSS1 carriers), and allows cascade testing.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D97A0B"/>
                </a:solidFill>
                <a:latin typeface="Abadi"/>
              </a:rPr>
              <a:t>CFTR nuance.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single CFTR variant with a borderline sweat test is a CFTR-related disorder spectrum; do extended CFTR analysis, not a diagnosis of cystic fibrosis.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POLYPOSIS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GENETIC TESTING STARTS THE SURVEILLANCE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ESPGHAN Polyposis Working Group recommendations for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Hyer W, et al. JPGN 2019;68:428–41 (FAP) · ESPGHAN PJS position, JPGN 2019;68:442–52 · ESPGHAN JPS position, JPGN 2019;68:453–62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828"/>
                <a:gridCol w="1231900"/>
                <a:gridCol w="1935842"/>
                <a:gridCol w="2815771"/>
                <a:gridCol w="299175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Syndrome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Gene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Predictive testing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Endoscopy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Extra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Familial adenomatous polyposis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APC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Age 12–14 (earlier if bleeding)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Colonoscopy from 12–14, then every 1–3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upper GI before 25; no routine hepatoblastoma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Peutz–Jeghers syndrome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STK11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 early childhood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Upper, lower and capsule by age 8, then 3-yearly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Remove small-bowel polyps &gt; 1.5–2 cm; Sertoli tumours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Juvenile polyposis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SMAD4, BMPR1A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Age 12–15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Colonoscopy from 12–15; yearly until clear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SMAD4: screen for HHT; consider PTEN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4228592"/>
            <a:ext cx="11087100" cy="157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 single juvenile polyp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needs no repeat colonoscopy and no genetic test. Five or more, polyps outside the colon, or a family history define juvenile polyposis.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SMAD4 is a vascular gene too.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Juvenile polyposis with SMAD4 overlaps hereditary haemorrhagic telangiectasia: screen for pulmonary and cerebral arteriovenous malformations.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WHICH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GENOME AND EXOME OUTPERFORM THE MICROARRAY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Meta-analysis of 37 studies, 20,068 children with suspected genetic disease: proportion,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Clark MM, Stark Z, Farnaes L, et al. NPJ Genom Med 2018;3:16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94320"/>
            <a:ext cx="128016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486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Diagnostic utility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094320"/>
            <a:ext cx="128016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0486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Clinical utility (management changed)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86160"/>
            <a:ext cx="585216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174227"/>
            <a:ext cx="646176" cy="22119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27339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5440" y="3929521"/>
            <a:ext cx="646176" cy="1456639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2560" y="3682633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31880"/>
            <a:ext cx="195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Genome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3408" y="3443975"/>
            <a:ext cx="646176" cy="1942185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0528" y="3197087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36%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4469017"/>
            <a:ext cx="646176" cy="917143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222129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0800" y="5431880"/>
            <a:ext cx="195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Exome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34128" y="4846664"/>
            <a:ext cx="646176" cy="5394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1248" y="4599776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16880" y="5062463"/>
            <a:ext cx="646176" cy="323697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4000" y="4815575"/>
            <a:ext cx="10119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1520" y="5431880"/>
            <a:ext cx="195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Chromosomal microarray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778000"/>
            <a:ext cx="46634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OR 2.04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Trio versus singleton sequencing for diagnosis (95% CI 1.62–2.56).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42% vs 29%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Interpretation in hospital, close to the clinical phenotype, versus a reference laboratory.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27%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Genome results changed management in more than a quarter of children.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PANEL, EXOME OR GENOME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COMPLEMENTARY TOOLS, NOT A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How the platforms differ for gastrointestinal indications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Uhlig HH, et al. JPGN 2021 (Rec 2, 7) · Kammermeier J, et al. Lancet Gastroenterol Hepatol 2023 · Charbit-Henrion F, et al. 2018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039"/>
                <a:gridCol w="2867353"/>
                <a:gridCol w="2867353"/>
                <a:gridCol w="2867353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Targeted panel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Exome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Genome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Coverage of known genes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Deepest, most accurate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Good; gaps in some exons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Even, includes non-coding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Copy-number variants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Detected by targeted NGS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Missed large exonic CNVs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Detected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New genes / reanalysis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Virtual panel first, widen later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Best for reanalysis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Cost (ESPGHAN 2021)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About a quarter of an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Intermediate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Highest, falling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Turnaround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Weeks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Rapid genome ≈ 9 days (NHS)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Guideline preference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ESPGHAN: acceptable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ESPGHAN: acceptable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BSG 2023: preferred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4923536"/>
            <a:ext cx="11087100" cy="87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Always trio when possible: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parental samples phase compound heterozygous variants and identify de novo variants.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VARIANT IS A HYPOTHESIS UNTIL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ACMG classification and what to do with each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Richards S, et al. Genet Med 2015;17:405–24 · Uhlig HH, et al. JPGN 2021 (Rec 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Pathogenic / likely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Acts on management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Cascade testing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Confirm phenotype fits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Uncertain (VUS)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 not act alone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Functional assay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Segregation in family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2402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Benign / likely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Not reported routinely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Does not exclude disease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Coverage may be incomplete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Negative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Reanalyse in 1–2 years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Move panel → exome → genome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Add CNV or RNA studies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201160"/>
            <a:ext cx="11087100" cy="159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ESPGHAN Recommendation 8.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Novel genes and variants of uncertain significance need functional confirmation before they guide therapy (32/32 agreement); share data through ClinVar or Matchmaker Exchange.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danger case.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VUS in an HSCT-curable gene must never trigger a transplant without functional proof.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PHENOTYPE TO A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for the child with suspected monogenic GI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Uhlig HH, et al. JPGN 2021 · Kelsen JR, et al. JPGN 2020 · Kammermeier J, et al.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1997964" cy="2148840"/>
          </a:xfrm>
          <a:prstGeom prst="rect">
            <a:avLst/>
          </a:prstGeom>
          <a:solidFill>
            <a:srgbClr val="DCE6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19979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Phenotype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Age at onset, location, perianal disease, skin, infections, autoimmunity, family tree.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8000"/>
            <a:ext cx="199796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8000"/>
            <a:ext cx="19979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Immunology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Blood count, immunoglobulins, lymphocyte subsets, DHR; targeted flow if suspected.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1008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464" y="1778000"/>
            <a:ext cx="1997964" cy="214884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0464" y="1778000"/>
            <a:ext cx="19979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616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Trio panel, exome or genome; urgent rapid genome if the child is critically ill.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3292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2748" y="1778000"/>
            <a:ext cx="1997964" cy="21488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748" y="1778000"/>
            <a:ext cx="19979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5900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Confirm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4188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Functional assays for VUS; segregation; CNV or RNA studies if negative.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5576" y="27609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35032" y="1778000"/>
            <a:ext cx="1997964" cy="2148840"/>
          </a:xfrm>
          <a:prstGeom prst="rect">
            <a:avLst/>
          </a:prstGeom>
          <a:solidFill>
            <a:srgbClr val="CDE7C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35032" y="1778000"/>
            <a:ext cx="19979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8184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472" y="2162048"/>
            <a:ext cx="181508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Genomic MDT: HSCT, abatacept, avoid futile surgery, cascade testing, surveillance.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4109720"/>
            <a:ext cx="11087100" cy="169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Who to test (IBD).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All infantile onset; VEO-IBD especially with red flags; any age with relevant extra-intestinal disease or family history; not every child with IBD.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Before HSCT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every child needs a genetic diagnosis; before colectomy in a toddler, consider 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(NASPGHAN, INSPPIRE, ACG) versus Europe (ESPGHAN Porto, BSG/BSPGHAN, ESPGHAN polyposis)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Kelsen JR, et al. JPGN 2020 · Uhlig HH, et al. JPGN 2021 · Kammermeier J, et al. 2023 · Gariepy CE, et al. 2017 · Hyer W, et al. 2019 · Syngal S, et al. Am J Gastroenterol 2015;110:223–62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9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666"/>
                <a:gridCol w="3532173"/>
                <a:gridCol w="4120869"/>
                <a:gridCol w="1177391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Who to sequence in IBD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VEO-IBD evaluation, especially infantile onset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All &lt; 2 y; consider &lt; 6 y; any age with red flags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Immunology screen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CBC, Ig, lymphocyte subsets, DHR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basic panel plus functional assays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Preferred platform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Panel or exome by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ESPGHAN: complementary; BSG: genome preferred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Adolescent / adult IBD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routinely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BSG: XIAP and neutrophil function in refractory fistulising CD in males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Pancreatitis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INSPPIRE: sweat chloride + PRSS1; consider SPINK1, CFTR, CTRC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separate ESPGHAN testing statement identified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FAP surveillance start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ACG 2015: colonoscopy from 10–12 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ESPGHAN 2019: APC test and colonoscopy at 12–14 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Acting on a VUS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ACMG framework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Functional confirmation 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5088128"/>
            <a:ext cx="11087100" cy="71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Material point: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no guideline recommends routine sequencing of all children with IBD; yield in unselected cohorts is about 3%.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GENETICS IN GI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missed or a wrong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Uhlig HH, et al. 2021 · Yang LL, et al. 2022 · Charbit-Henrion F, et al. 2018 · Marciano BE, et al. 2004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Treating the infant as 'just IBD'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Anti-TNF for IL-10R colitis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Colectomy before diagnosis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Months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Trusting a normal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Normal FOXP3 or XIAP protein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Exome missed a CNV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Panel lacked the gene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Acting on a VUS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HSCT without functional proof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Wrong family counselling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Report not reanalysed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1C1C"/>
                </a:solidFill>
                <a:latin typeface="Abadi"/>
              </a:rPr>
              <a:t>Wrong cure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HSCT for an epithelial defect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Reflex HSCT in XIAP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CGD carrier mother ignored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389120"/>
            <a:ext cx="11087100" cy="1410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And in pancreatitis: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calling a child's third attack 'idiopathic' without a sweat test and PRSS1.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Crowley 2020 · Collen 2022 · Charbit-Henrion 2018 · Nambu 2022 · Yang 2022 · Marciano 2004 · Gaibee 2025 · Kumar 2016 · Giefer 2017 · Hyer 2019 · Clark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778000"/>
            <a:ext cx="1108710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Monogenic IBD: about 3% of all paediatric IBD, 7.8% under 6 years, 13–41% with infantile onset.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Extra-intestinal disease raises the odds 15-fold; onset under 2 years 6-fold.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Small-bowel inflammation in severe VEO-IBD: molecular diagnosis in 61%.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Screen before you sequence: blood count, immunoglobulins, lymphocyte subsets, DHR.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One in three with CGD has bowel disease; check the mother of every X-linked case.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Only haematopoietic defects are cured by HSCT; XIAP survival was 90% conservative vs 53% after HSCT.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Congenital diarrhoea: half now have a gene; trafficking defects are the largest group.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Pancreatitis: a variant in 48% of ARP and 73% of CP; test sweat chloride and PRSS1.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FAP: APC testing and colonoscopy at 12–14 years; SMAD4 juvenile polyposis needs HHT screening.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Trio doubles the odds of diagnosis; a VUS is a hypothesis, and negative tests deserve reanalysis.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9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3979"/>
                <a:gridCol w="59131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3-month-old with colitis, perianal fistula and folliculitis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IL-10 pathway: pSTAT3 assay, trio sequencing, refer for HSCT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4-year-old with granulomatous colitis and a liver abscess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DHR now; if absent, CYBB; caution with anti-TNF; test the mother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15-year-old boy, refractory fistulising Crohn's, past HLH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XIAP expression and sequencing; genomic MDT before any HSCT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Newborn with watery diarrhoea that continues when fasted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Stool electrolytes and osmotic gap; trio exome for CODE genes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9-year-old with a third episode of pancreatitis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Sweat chloride, PRSS1, SPINK1, CFTR, CTRC; imaging for anatomy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12-year-old whose father has FAP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APC predictive test with counselling; colonoscopy if positive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Genetics and Immunology in Paediatric Gastroenterology: When to Sequence, How to Screen, Which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