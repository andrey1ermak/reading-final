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91672" cy="178308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Oesophageal Function Tests in Children: pH and Impedance, High-Resolution Manometry and EndoFLIP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11880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1672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91672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Rosen 2018 (NASPGHAN/ESPGHAN) · Wenzl 2012 (EURO-PIG) · Gyawali 2024 (Lyon 2.0) · Yadlapati 2021 (Chicago v4.0) · López-Alonso 2006 · Pilic 2011 · Cresi 2020 · Singendonk 2014 and 2017 · Carlson 2016 and 2021 · Hirano 2017 (AGA) · Menard-Katcher 2017 · Hoffmann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Why infants have no normal values · impedance sees what pH cannot · SI versus SAP · adult manometry criteria over-call children · when FLIP adds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THREE TESTS, THREE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Choosing the oesophageal function test starts with the question, not with the catheter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Yadlapati R, et al. Neurogastroenterol Motil 2021;33:e14058 · Hirano I, et al. Clin Gastroenterol Hepatol 2017;15:325–34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5146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pH-impedance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2221992" cy="172821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Is reflux there, how high, acid or not?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 symptoms follow the events?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Not a test for infant reflux disease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5146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02536"/>
            <a:ext cx="2221992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High-resolution manometry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52344"/>
            <a:ext cx="2221992" cy="1453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Does the body contract?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Does the junction relax?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Chicago v4.0, built on adults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5146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EndoFLIP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78024"/>
            <a:ext cx="2221992" cy="172821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How stiff is the wall?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Does the junction open under distension?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An adjunct, never alone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5146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The bedside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78024"/>
            <a:ext cx="2221992" cy="172821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Name the question first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Know which cut-offs are adult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Plan PPI status before the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1091672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None of these tests has validated paediatric normal values. Each is most useful for a narrow question: linking symptoms to reflux, finding a motility disorder in dysphagia, or measuring how the oesophagogastric junction opens.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Applied loosely, the same studies label normal infant reflux as disease and label normal small children as having spasm or outflow obstruction.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HOW IMPEDANCE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IMPEDANCE SEES THE BOLUS, PH SEES THE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Multichannel intraluminal impedance with pH (MII-pH): what each sensor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Pilic D, et al. J Pediatr 2011;158:650–4 · Wenzl TG, et al. JPGN 2012;55:230–4 · Gyawali CP, et al. Gut 2024;73:361–71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20824" cy="214884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20824" cy="3474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1746504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Paired electrodes along the catheter measure resistance to a small alternating current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6896" y="276606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83080"/>
            <a:ext cx="2020824" cy="214884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1783080"/>
            <a:ext cx="2020824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Liquid bolus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240280"/>
            <a:ext cx="1746504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Conducts well: impedance falls by more than 50% from baseline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4608" y="276606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783080"/>
            <a:ext cx="2020824" cy="214884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83080"/>
            <a:ext cx="2020824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240280"/>
            <a:ext cx="1746504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Distal-to-proximal fall marks reflux; proximal-to-distal marks a swallow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2320" y="276606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1783080"/>
            <a:ext cx="2020824" cy="214884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5" y="1783080"/>
            <a:ext cx="2020824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1503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pH sensor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2240280"/>
            <a:ext cx="1746504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Classifies each event: acid below pH 4, weakly acidic 4–7, weakly alkaline above 7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0032" y="276606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83080"/>
            <a:ext cx="2020824" cy="214884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783080"/>
            <a:ext cx="2020824" cy="34747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9215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240280"/>
            <a:ext cx="1746504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Nocturnal baseline impedance falls when the mucosa is damaged and leaky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60520"/>
            <a:ext cx="11091672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What pH alone misses.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Non-acid reflux makes up 45–89% of paediatric reflux episodes, according to the 2018 guideline; a pH probe cannot see any of it. Infants fed every few hours buffer the stomach for much of the day.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What impedance adds.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Number of events, proximal extent, bolus clearance and a mucosal integrity signal; it does not measure volume and is read partly by eye.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HEALTHY PRETERM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MOST INFANT REFLUX IS WEAKLY ACIDIC AND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Reflux type in 21 healthy preterm neonates studied at a median of 12 days, % of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López-Alonso M, et al. Pediatrics 2006;118:e299–308 · Rosen R, et al. JPGN 2018;66:516–54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66359"/>
            <a:ext cx="5303520" cy="1097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63980" y="2541631"/>
            <a:ext cx="685800" cy="2624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9023"/>
            <a:ext cx="1767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72.9%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79"/>
            <a:ext cx="17678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Weakly acidic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1820" y="4251845"/>
            <a:ext cx="685800" cy="91451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0800" y="3959237"/>
            <a:ext cx="1767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25.4%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0800" y="5212079"/>
            <a:ext cx="17678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Acid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9660" y="5148072"/>
            <a:ext cx="685800" cy="1828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8640" y="4855464"/>
            <a:ext cx="1767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8640" y="5212079"/>
            <a:ext cx="17678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Weakly alkaline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828800"/>
            <a:ext cx="484632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71 per day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Median reflux events per 24 hours in healthy, asymptomatic preterm infants.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90%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Of events reached the proximal oesophagus.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5.59%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Median acid exposure, with a range of 0.04% to 20.69%: one healthy infant above 20%.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implication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An 'abnormal' event count or acid time in an infant may be physiology; a study cannot diagnose reflux disease on numbers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REFERENCE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 NORMAL CHILDREN, ONLY NEGATIVE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95th percentile of the reflux index (% time pH below 4) in 195 symptomatic children whose studies were judged negative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Cresi F, et al. J Neurogastroenterol Motil 2020;26:370–7 · Rosen R, et al. JPGN 2018;66:516–54 · Gyawali CP, et al. Gut 2024;73:361–71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51460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Abadi"/>
              </a:rPr>
              <a:t>Newborns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93976"/>
            <a:ext cx="2937717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1269" y="1920240"/>
            <a:ext cx="109728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badi"/>
              </a:rPr>
              <a:t>5.89%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51460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Abadi"/>
              </a:rPr>
              <a:t>Infants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88920"/>
            <a:ext cx="2339201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2753" y="2615184"/>
            <a:ext cx="109728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badi"/>
              </a:rPr>
              <a:t>4.69%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10128"/>
            <a:ext cx="251460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Abadi"/>
              </a:rPr>
              <a:t>Children 1–16 years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83864"/>
            <a:ext cx="1236933" cy="3474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0485" y="3310128"/>
            <a:ext cx="109728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badi"/>
              </a:rPr>
              <a:t>2.48%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251460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Abadi"/>
              </a:rPr>
              <a:t>Adult Lyon 2.0, 'normal'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178808"/>
            <a:ext cx="1995054" cy="34747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8606" y="4005072"/>
            <a:ext cx="109728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badi"/>
              </a:rPr>
              <a:t>below 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251460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Abadi"/>
              </a:rPr>
              <a:t>Adult Lyon 2.0, conclusive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873752"/>
            <a:ext cx="2992581" cy="34747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6133" y="4700016"/>
            <a:ext cx="1097280" cy="6949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badi"/>
              </a:rPr>
              <a:t>above 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1828800"/>
            <a:ext cx="3749039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Ethics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2018 guideline: no true paediatric normal values exist, because healthy children cannot be catheterised for research.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Impedance events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95th percentile 5.67, 4.88 and 4.40 events per hour in newborns, infants and children (Cresi).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Read with care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authors call their cohort 'not exactly normal'; the adult Lyon thresholds were never derived in children.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WORKING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NUMBERS YOU CAN USE, AND THEIR PEDIGREE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working cut-offs against adult Lyon Consensus 2.0 (off PPI); always state which threshold the report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 · Pilic D, et al. J Pediatr 2011 · Gyawali CP, et al. Gut 2024;73:361–71 · Pop RS, et al. J Clin Med 2024;13:3351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810512"/>
          <a:ext cx="11091672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154680"/>
                <a:gridCol w="2743200"/>
                <a:gridCol w="245059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Paediatric working value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Adult Lyon 2.0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Pedigree in children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Acid exposure (reflux index)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Abnormal above 10% under 1 year; above 5% over 1 year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Below 4% normal; above 6% conclusive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Quoted by the 2018 guideline; not validated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Reflux events per 24 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Above 100 under 1 year; above 70 from 1 year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Below 40 against; above 80 supports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German multicentre working values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Mean nocturnal baseline impedance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One study: 1,466 Ω (AUC 0.73)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Below 1,500 Ω supports; above 2,500 Ω against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Insufficient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Symptom index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50% or more positive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Above 50%: supportive only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index preferred (2018)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Symptom association probability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95% or more positive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Above 95%: supportive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outcome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Post-reflux swallow index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cut-off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Retired to research use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WHAT IMPEDANCE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HALF OF ABNORMAL STUDIES ARE INVISIBLE TO 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270 abnormal paediatric MII-pH studies were detected, German Pediatric Impedance Group, 700 children aged 3 weeks to 16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Pilic D, et al. J Pediatr 2011;158:650–4 · Rosen R, et al. JPGN 2018;66:516–54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1965960" cy="85343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Impedance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316480"/>
            <a:ext cx="3165230" cy="42671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0142" y="2103120"/>
            <a:ext cx="1097280" cy="85343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45% (120)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56559"/>
            <a:ext cx="1965960" cy="85343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Both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169919"/>
            <a:ext cx="2602523" cy="426719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7435" y="2956559"/>
            <a:ext cx="1097280" cy="85343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37% (101)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9999"/>
            <a:ext cx="1965960" cy="85343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pH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4023359"/>
            <a:ext cx="1266092" cy="426719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1004" y="3809999"/>
            <a:ext cx="1097280" cy="85343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18% (49)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828800"/>
            <a:ext cx="393192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82%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Agreement between symptom index and symptom association probability (kappa 0.54): they disagree in about one study in five.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Infants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Had more reflux episodes than older children, as expected from feeding volume and posture.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Minimum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At least 18 hours of recording; an impedance event is a fall of more than 50% from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694944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Caveat.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'Abnormal by impedance only' rests on event-count thresholds that are themselves unvalidated in children.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SYMPTOM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LINKING THE COUGH TO THE REFLUX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Two indices, one underlying problem: symptom reporting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Wiener GJ, et al. Am J Gastroenterol 1988;83:358–61 · Weusten BL, et al. Gastroenterology 1994;107:1741–5 · Rosen R, et al. JPGN 2018 · Gyawali CP, et al. Gut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7744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Symptom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2221992" cy="15910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% of symptoms preceded by reflux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Positive at 50% or more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Ignores how many refluxes had no symptom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7744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02536"/>
            <a:ext cx="2221992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Association probability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52344"/>
            <a:ext cx="2221992" cy="13167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2-minute segments, Fisher exact test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SAP = (1 − P) × 100%; positive at 95%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Disagreed with SI in 11% of 184 studies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7744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02536"/>
            <a:ext cx="2221992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The paediatric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52344"/>
            <a:ext cx="2221992" cy="13167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Parents miss over 50% of symptoms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Cough and arching are non-specific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index predicts outcome (2018)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77440"/>
          </a:xfrm>
          <a:prstGeom prst="rect">
            <a:avLst/>
          </a:prstGeom>
          <a:solidFill>
            <a:srgbClr val="E6E8EA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Adult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78024"/>
            <a:ext cx="2221992" cy="15910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SI: sensitivity 80%, specificity 35%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SAP: sensitivity 73%, specificity 65%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Lyon 2.0: supportive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7A33"/>
                </a:solidFill>
                <a:latin typeface="Abadi"/>
              </a:rPr>
              <a:t>Use it for.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verbal child with a frequent, well-marked symptom, or an infant whose cough or apnoea can be logged by a nurse or a video; then a positive association is meaningful.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Do not use it for.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Calling a fundoplication justified on a positive index alone, or dismissing reflux because a sleepy infant had too few marked symptoms.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BEFORE FUNDOPLICATION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STUDY DOES NOT PREDICT THE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Two paediatric surgical cohorts with conflicting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2010;50:251–5 · Mauritz FA, et al. Surg Endosc 2017;31:1101–10 · Rosen R, et al. JPGN 2018;66:516–54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P &gt; 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Rosen 2010, 34 children: no pre-operative MII-pH marker (acid, non-acid, total events) predicted symptom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P &gt; 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 positive symptom index or symptom sensitivity index did not predict improvement either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8.5% → 0.8%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Mauritz 2017, 25 children: acid exposure after laparoscopic fundoplication; more pre-operative events, bigger fall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3 of 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Developed new dysphagia; sphincter pressure rose from 10 to 24 mmHg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11091672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two.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Fundoplication reliably lowers measured reflux; whether the symptom that prompted surgery goes away is a separate question the pre-operative study does not answer.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7A33"/>
                </a:solidFill>
                <a:latin typeface="Abadi"/>
              </a:rPr>
              <a:t>In practice.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Use MII-pH to document that reflux is real and frequent, then make the surgical decision on the clinical picture, failed medical therapy and the family's goals.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DOING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DECIDE ON OR OFF PPI BEFORE YOU PLACE THE CATHETER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Indications and practical protocol for MII-pH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(rec. 3.17) · Wenzl TG, et al. JPGN 2012;55:230–4 · Cresi F, et al. JNM 2020 · Gyawali CP, et al. Gut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20824" cy="233172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20824" cy="3474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Indication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1746504" cy="17830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Correlate persistent troublesome symptoms with reflux; separate NERD, reflux hypersensitivity and functional heartburn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6896" y="2857499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83080"/>
            <a:ext cx="2020824" cy="233172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1783080"/>
            <a:ext cx="2020824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PPI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240280"/>
            <a:ext cx="1746504" cy="17830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Off acid suppression to test whether reflux causes symptoms; on it to test whether therapy works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4608" y="2857499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783080"/>
            <a:ext cx="2020824" cy="233172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83080"/>
            <a:ext cx="2020824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Washout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240280"/>
            <a:ext cx="1746504" cy="17830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About 7 days off PPI is common practice; no paediatric guideline specifies a number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2320" y="2857499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1783080"/>
            <a:ext cx="2020824" cy="233172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5" y="1783080"/>
            <a:ext cx="2020824" cy="3474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1503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2240280"/>
            <a:ext cx="1746504" cy="17830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About 24 hours, at least 18; meals, position and symptoms logged; wireless pH at least 48 hours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0032" y="2857499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83080"/>
            <a:ext cx="2020824" cy="233172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783080"/>
            <a:ext cx="2020824" cy="34747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9215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240280"/>
            <a:ext cx="1746504" cy="17830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State age, PPI status, thresholds used and symptom indices with their caveats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Where it adds most (EURO-PIG).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Symptoms on PPI, feeding-related symptoms and intermittent symptoms; its limits are cost, effect on decisions and the absence of evidence-based paediatric parameters.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Not a reason to test.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Regurgitation in a thriving infant, or diagnosing reflux disease in an infant from numbers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HIGH-RESOLUTION MANOMETRY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CHICAGO V4.0: THE METRICS THAT MAKE A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Protocol and thresholds in Chicago Classification v4.0, derived in adults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Yadlapati R, et al. Neurogastroenterol Motil 2021;33:e14058 · Rosen R, et al. JPGN 2018;66:516–54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810512"/>
          <a:ext cx="11091672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937760"/>
                <a:gridCol w="341071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Element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Chicago v4.0 definition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What it tells you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Protocol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Supine: 10 wet 5 mL swallows plus multiple rapid swallows; upright: 5 swallows plus 200 mL rapid drink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Positional and provocative tests reduce false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Integrated relaxation pressure (IRP)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Upper limit supine 15 mmHg (Medtronic) or 22 mmHg (Laborie/Diversatek); upright 12 or 15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Does the junction relax with a swallow?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Distal contractile integral (DCI)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Below 100 failed; 100 to 450 weak; above 8,000 hypercontractile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Vigour of the body contraction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Distal latency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Below 4.5 seconds with DCI 450 or more: premature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Loss of inhibition, as in spasm or type III achalasia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Pressurisation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Panoesophageal in 20% or more of swallows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Defines type II achalasia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Not for GERD.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2018 paediatric guideline advises against manometry to diagnose reflux disease (rec. 3.9) and for it when a motility disorder is suspected (rec. 3.10).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DIAGNOSES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THREE ACHALASIAS AND TWO NEIGHBOURS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Chicago v4.0 categories that matter most in children with dysphagia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Yadlapati R, et al. Neurogastroenterol Motil 2021;33:e14058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20824" cy="233172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20824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02536"/>
            <a:ext cx="1655064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Achalasia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1655064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 IRP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100% failed peristalsis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pressurisation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783080"/>
            <a:ext cx="2020824" cy="233172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83080"/>
            <a:ext cx="2020824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2002536"/>
            <a:ext cx="1655064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Achalasia 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478024"/>
            <a:ext cx="1655064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 IRP, 100% failed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Panoesophageal pressure in 20% or more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Best response to therapy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1783080"/>
            <a:ext cx="2020824" cy="233172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1783080"/>
            <a:ext cx="2020824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002536"/>
            <a:ext cx="1655064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Achalasia 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478024"/>
            <a:ext cx="1655064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 IRP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Premature contractions in 20% or more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normal peristalsis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1775" y="1783080"/>
            <a:ext cx="2020824" cy="233172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51775" y="1783080"/>
            <a:ext cx="2020824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34655" y="2002536"/>
            <a:ext cx="1655064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Outflow obstruction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5" y="2752344"/>
            <a:ext cx="1655064" cy="127101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 IRP supine and upright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Plus symptoms and a supportive test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Timed barium swallow or FLIP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9488" y="1783080"/>
            <a:ext cx="2020824" cy="233172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9488" y="1783080"/>
            <a:ext cx="2020824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7" y="2002536"/>
            <a:ext cx="1655064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Ineffective motility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7" y="2752344"/>
            <a:ext cx="1655064" cy="127101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 70% ineffective or 50% failed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50–70%: inconclusive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Fragmented now included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v4.0 change that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Outflow obstruction is now conclusive only with relevant symptoms and a supportive test, because a raised IRP alone was over-called; distal spasm and hypercontractile oesophagus also need symptoms.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Why it matters more in children.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Small oesophagi and short distances shift the very metrics these categories rest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CHILDREN ARE NOT SMALL ADULTS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ADULT CRITERIA OVER-CALL DISEASE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labelled with abnormal motility by Chicago criteria, standard versus adjusted, 76 children, mean age 9 years,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Singendonk MMJ, et al. Neurogastroenterol Motil 2014;26:1333–41 (Chicago 2012 criteria)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240280" cy="792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Standard adult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301240"/>
            <a:ext cx="2977286" cy="3962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6518" y="2103120"/>
            <a:ext cx="1097280" cy="792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5600"/>
            <a:ext cx="2240280" cy="792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Age-adjusted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093720"/>
            <a:ext cx="2255519" cy="3962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4751" y="2895600"/>
            <a:ext cx="1097280" cy="792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88080"/>
            <a:ext cx="2240280" cy="792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Size-adjusted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886200"/>
            <a:ext cx="2390851" cy="39624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0083" y="3688080"/>
            <a:ext cx="1097280" cy="792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53%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828800"/>
            <a:ext cx="393192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13% → 7%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Outflow obstruction after age adjustment.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14% → 1%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Diffuse oesophageal spasm after age adjustment.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Younger and smaller children had higher IRP and shorter distal latency, the two metrics that define obstruction and spasm.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694944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No paediatric Chicago v4.0 consensus or validated paediatric normal values were found.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Treat 'spasm' and 'outflow obstruction' in a small child as hypotheses.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PAEDIATRIC ACHALASIA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RARE, RISING, AND BEST READ BY AN 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the paediatric data add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Marlais M, et al. Arch Dis Child 2011;96:192–4 · Singendonk MMJ, et al. Neurogastroenterol Motil 2017;29 · Peña-Vélez R, et al. Rev Esp Enferm Dig 2020;112:850–3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B355E"/>
                </a:solidFill>
                <a:latin typeface="Abadi"/>
              </a:rPr>
              <a:t>0.18 per 100,000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UK childhood achalasia incidence per year, 228 cases 1998–2008, rising (odds ratio 1.12 per year)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B355E"/>
                </a:solidFill>
                <a:latin typeface="Abadi"/>
              </a:rPr>
              <a:t>10.9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Mean age at diagnosis in the UK series; 56% boys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B355E"/>
                </a:solidFill>
                <a:latin typeface="Abadi"/>
              </a:rPr>
              <a:t>κ 0.52 → 0.92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Agreement on the diagnosis between six raters: software alone versus expert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984248"/>
            <a:ext cx="222199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B355E"/>
                </a:solidFill>
                <a:latin typeface="Abadi"/>
              </a:rPr>
              <a:t>48%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60320"/>
            <a:ext cx="2221992" cy="12344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Of 54 children with dysphagia studied by HRM had a motility disorder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11091672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Subtype is harder than diagnosis.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Agreement on achalasia subtype rose only from 0.28 to 0.58 with expert override; the authors recommend paediatric motility centres for interpretation.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Think beyond achalasia.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Ineffective motility was as common as achalasia among children with dysphagia; eosinophilic oesophagitis and repaired atresia are the usual backdrops.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ENDOFLIP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MEASURING HOW THE JUNCTION OPENS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Functional lumen imaging probe: impedance planimetry during controlled balloon distension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Hirano I, et al. Clin Gastroenterol Hepatol 2017;15:325–34 · Carlson DA, et al. Am J Gastroenterol 2016;111:1726–35 and 2021;116 · Nguyen AD, et al. Gastroenterology 2025 (AGA update)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20824" cy="219456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20824" cy="3474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Balloon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1746504" cy="16459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16 cm catheter placed across the junction at endoscopy; filled in steps of 30 to 60 mL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6896" y="278892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83080"/>
            <a:ext cx="2020824" cy="219456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1783080"/>
            <a:ext cx="2020824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Geometry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240280"/>
            <a:ext cx="1746504" cy="16459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Impedance electrodes compute the diameter along the balloon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4608" y="278892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783080"/>
            <a:ext cx="2020824" cy="219456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83080"/>
            <a:ext cx="2020824" cy="34747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Distensibility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240280"/>
            <a:ext cx="1746504" cy="16459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Narrowest area divided by balloon pressure: the distensibility index (DI)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2320" y="278892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1783080"/>
            <a:ext cx="2020824" cy="219456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5" y="1783080"/>
            <a:ext cx="2020824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1503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Panometry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2240280"/>
            <a:ext cx="1746504" cy="16459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Repetitive contractions to distension show the body's response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0032" y="2788920"/>
            <a:ext cx="182880" cy="18288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83080"/>
            <a:ext cx="2020824" cy="219456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783080"/>
            <a:ext cx="2020824" cy="34747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9215" y="1783080"/>
            <a:ext cx="1837943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240280"/>
            <a:ext cx="1746504" cy="16459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Normal: DI 2.0 or more and diameter 16 mm or more; reduced: DI below 2.0 and diameter below 12 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11091672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95%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Carlson 2016: FLIP abnormal in 95% of adults with abnormal HRM, including all 70 with achalasia; also abnormal in 50% with normal HRM.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92%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Carlson 2021, 539 adults: reduced opening with absent or impaired response matched an outflow disorder in 92%.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FLIP IN PAEDIATRIC EOE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STIFF OESOPHAGUS PREDICTS THE IMPACTION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Median oesophageal distensibility index by phenotype, 59 patients aged 9–21 with eosinophilic oesophagitis, mm²/mmHg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Hoffmann NV, Keeley K, Wechsler JB. Clin Gastroenterol Hepatol 2022 · Menard-Katcher C, et al. Am J Gastroenterol 2017;112:1466–73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66359"/>
            <a:ext cx="4754880" cy="1097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8780" y="3704023"/>
            <a:ext cx="685800" cy="146233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11415"/>
            <a:ext cx="23774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79"/>
            <a:ext cx="2377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Fibrotic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6220" y="2729132"/>
            <a:ext cx="685800" cy="243722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436524"/>
            <a:ext cx="23774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212079"/>
            <a:ext cx="2377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Inflammatory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874520"/>
            <a:ext cx="4754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 = 0.02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530352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Below 4.5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Distensibility index predicted grade 2 rings (area under the curve 0.81).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Odds ratio 1.44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Distensibility predicted food impaction after adjustment.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No correlation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With eosinophil count: stiffness and inflammation are separate axes.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Menard-Katcher 2017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88 children with EoE versus 44 controls: distensibility rises with age and is lower in EoE, more so with fibrosis and strictures.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WHEN FLIP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QUESTIONS FLIP ANSWERS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Indications in children, and the limits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Yadlapati 2021 · Hirano 2017 · AGA statements · Destro F, et al. Children 2022;9:1426 · White E, Mutalib M. World J Clin Pediatr 2023;12:162–70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3172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Outflow obstruction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Chicago v4.0 supportive test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Confirms or refutes a high IRP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Alternative: timed barium swallow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3172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Achalasia treatment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Measured at dilation or myotomy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Post-treatment DI below 2–3 suggests incomplete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Guides the next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3172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EoE remodelling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Severity and stricture risk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Monitors therapy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Never diagnoses EoE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3172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After surgery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Fundoplication or atresia dysphagia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Atresia series: median EGJ DI 2.58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Tight wrap versus dysmotility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limits.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No paediatric FLIP normal values exist and the effect of sedation or anaesthesia has not been studied; the AGA advises never to base a decision on FLIP alone and not to use it routinely for reflux.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CHOOSING THE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MATCH THE QUESTION TO THE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for the child referred for oesophageal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2018 · Wenzl 2012 · Yadlapati 2021 · Hirano 2017 · Singendonk 2014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810512"/>
          <a:ext cx="11091672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0"/>
                <a:gridCol w="3291840"/>
                <a:gridCol w="36850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Clinical question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First test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Then, if needed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Are symptoms on PPI still caused by reflux?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MII-pH on PPI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Endoscopy if not done; consider hypersensitivity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Is the non-verbal child's cough or apnoea linked to reflux?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MII-pH off PPI with nurse or video marking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Treat the association, not the event count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Dysphagia with normal endoscopy and biopsies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HRM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Timed barium swallow or FLIP if IRP is 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HRM shows outflow obstruction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FLIP or timed barium swallow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Repeat or reinterpret against paediatric data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EoE with impaction or narrowing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Endoscopy with FLIP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Dilation; track distensibility on therapy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Before fundoplication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MII-pH to confirm reflux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HRM if dysphagia or motility disorder is suspected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(NASPGHAN/ESPGHAN joint 2018, AGA) versus Europe and international (EURO-PIG, BSPGHAN, Lyon 2.0, Chicago v4.0)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2018 · Wenzl 2012 · Mutalib 2017 (BSPGHAN) · Gyawali 2024 (Lyon 2.0) · Yadlapati 2021 · Hirano 2017 and Nguyen 2025 (AGA)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810512"/>
          <a:ext cx="11091672" cy="3328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520440"/>
                <a:gridCol w="3566160"/>
                <a:gridCol w="135331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Europe and international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Role of MII-pH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Joint 2018: correlate symptoms; define NERD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EURO-PIG, BSPGHAN: test of choice; best on PPI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Paediatric normal values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Joint 2018: none exist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BSPGHAN and EURO-PIG: none exist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Symptom indices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Joint 2018: no index preferred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Lyon 2.0 (adult): supportive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Acid exposure cut-off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Joint 2018 quotes above 10% (infant), 5%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Lyon 2.0 adult: below 4%, above 6%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7432" marB="27432" anchor="ctr">
                    <a:solidFill>
                      <a:srgbClr val="D97A0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Manometry 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paediatric criteria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Chicago v4.0 adult; children over-called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54864" marR="54864" marT="27432" marB="27432" anchor="ctr">
                    <a:solidFill>
                      <a:srgbClr val="B222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FLIP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AGA: adjunct only, adult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ESPGHAN statement; no paediatric norms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Material gap: adult Chicago v4.0 thresholds applied to a small child can manufacture spasm or outflow obstruction.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OESOPHAGEAL TESTING MISLEADS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wrong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López-Alonso 2006 · Rosen 2010 and 2018 · Singendonk 2014 · Hirano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3172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"Abnormal pH study"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Healthy infants reflux 70 times a day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Up to 20% acid time in one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Ask: abnormal for what age?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3172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02536"/>
            <a:ext cx="2221992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"SI positive, operate"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52344"/>
            <a:ext cx="2221992" cy="127101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 index predicts outcome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Fundoplication fixes numbers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Decide on the clinical picture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3172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"Spasm on HRM"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Short latency in small children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14% falls to 1% when adjusted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Expert paediatric 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3172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02536"/>
            <a:ext cx="22219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"FLIP says EoE"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78024"/>
            <a:ext cx="2221992" cy="1545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FLIP measures stiffness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Biopsies diagnose EoE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Never decide on FLIP alone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 i="1">
                <a:solidFill>
                  <a:srgbClr val="1B355E"/>
                </a:solidFill>
                <a:latin typeface="Abadi"/>
              </a:rPr>
              <a:t>Every number in an oesophageal report should carry its age, its PPI status and the population it came from.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López-Alonso 2006 · Rosen 2018 · Pilic 2011 · Cresi 2020 · Gyawali 2024 · Yadlapati 2021 · Singendonk 2014 · Hoffmann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1091672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Healthy preterm infants: about 71 reflux events a day, 73% weakly acidic, 90% reaching the proximal oesophagus.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Non-acid reflux is 45–89% of paediatric episodes; pH alone misses it.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In 270 abnormal paediatric studies, 45% were abnormal by impedance only.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There are no true paediatric normal values; adult Lyon 2.0 says AET below 4% normal, above 6% conclusive.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SI (50%) and SAP (95%) agree in about four of five studies; no index predicts surgical outcome.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Chicago v4.0: outflow obstruction needs symptoms plus a supportive test; IRP limits are device-specific.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Adult criteria label 66% of children abnormal; 50% after age adjustment; spasm 14% to 1%.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FLIP: normal EGJ-DI 2.0 or more; in paediatric EoE a DI below 4.5 flags rings and impaction risk.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in the motility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2018 · Yadlapati 2021 · Singendonk 2014 · Hoffmann 2022 · Hirano 2017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810512"/>
          <a:ext cx="11091672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2926080"/>
                <a:gridCol w="41422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Think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Do now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3-month-old, regurgitation, thriving, 'abnormal' pH study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Physiological reflux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No treatment escalation; reassure; no repeat study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12-year-old, heartburn despite PPI, normal endoscopy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Reflux hypersensitivity or functional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MII-pH on PPI; symptom association with caveats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6-year-old, HRM reads 'diffuse spasm'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Adult criteria in a small child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Expert paediatric re-read; age-adjusted interpretation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14-year-old, dysphagia, IRP high, peristalsis present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Possible outflow obstruction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FLIP or timed barium swallow before treating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Abadi"/>
                        </a:rPr>
                        <a:t>Teenager with EoE and two impactions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Fibrostenotic remodelling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badi"/>
                        </a:rPr>
                        <a:t>Endoscopy with FLIP; dilate; track DI on therapy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3032" cy="192024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badi"/>
              </a:rPr>
              <a:t>Oesophageal Function Tests in Children: pH and Impedance, High-Resolution Manometry and EndoFLIP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49039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