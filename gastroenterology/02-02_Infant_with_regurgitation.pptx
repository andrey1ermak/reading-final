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0" rIns="0" tIns="0" bIns="0" anchor="b">
            <a:spAutoFit/>
          </a:bodyPr>
          <a:lstStyle/>
          <a:p>
            <a:pPr algn="ctr"/>
            <a:r>
              <a:rPr sz="4000" b="1" i="0">
                <a:solidFill>
                  <a:srgbClr val="FFFFFF"/>
                </a:solidFill>
                <a:latin typeface="Abadi"/>
              </a:rPr>
              <a:t>The Infant Who Spits: Happy Spitters, Crying That Is Not Reflux, and the Red Flags That Are Not GER</a:t>
            </a:r>
          </a:p>
        </p:txBody>
      </p:sp>
      <p:sp>
        <p:nvSpPr>
          <p:cNvPr id="4" name="Rectangle 3"/>
          <p:cNvSpPr/>
          <p:nvPr/>
        </p:nvSpPr>
        <p:spPr>
          <a:xfrm>
            <a:off x="5184648" y="3630168"/>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0" rIns="0" tIns="0" bIns="0"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0" rIns="0" tIns="0" bIns="0" anchor="t">
            <a:spAutoFit/>
          </a:bodyPr>
          <a:lstStyle/>
          <a:p>
            <a:pPr algn="ctr"/>
            <a:r>
              <a:rPr sz="1100" b="0" i="0">
                <a:solidFill>
                  <a:srgbClr val="D9DEE7"/>
                </a:solidFill>
                <a:latin typeface="Abadi"/>
              </a:rPr>
              <a:t>Rosen 2018 (NASPGHAN/ESPGHAN) · NICE NG1 2015/2019 · Benninga 2016 (Rome IV) · Heine 1995 · Moore 2003 · Orenstein 2009 · Salvatore 2005 · Wolke 2017 · Nelson 1997 · Eberly 2015 · Walker 2006 · Seashore 1994 · Schoemaker 2015 · Vandenplas 2024</a:t>
            </a:r>
          </a:p>
        </p:txBody>
      </p:sp>
      <p:sp>
        <p:nvSpPr>
          <p:cNvPr id="7" name="TextBox 6"/>
          <p:cNvSpPr txBox="1"/>
          <p:nvPr/>
        </p:nvSpPr>
        <p:spPr>
          <a:xfrm>
            <a:off x="548640" y="5193792"/>
            <a:ext cx="11082528" cy="548640"/>
          </a:xfrm>
          <a:prstGeom prst="rect">
            <a:avLst/>
          </a:prstGeom>
          <a:noFill/>
        </p:spPr>
        <p:txBody>
          <a:bodyPr wrap="square" lIns="0" rIns="0" tIns="0" bIns="0" anchor="t">
            <a:spAutoFit/>
          </a:bodyPr>
          <a:lstStyle/>
          <a:p>
            <a:pPr algn="ctr"/>
            <a:r>
              <a:rPr sz="1100" b="0" i="1">
                <a:solidFill>
                  <a:srgbClr val="D9DEE7"/>
                </a:solidFill>
                <a:latin typeface="Abadi"/>
              </a:rPr>
              <a:t>thriving decides · crying is not reflux · questionnaires overcall · the colour green · timing is a diagnosis · the label sells the drug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SPITTING BABY: REASSURE OR INVESTIGATE?</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Which regurgitating infants need nothing but explanation, and which are vomiting for a reason outside the oesophagus?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Rosen R, et al. JPGN 2018;66:516–54 · NICE NG1, 2015 (updated 2019) · Benninga MA, et al. Gastroenterology 2016;150:1443–55 · Orenstein SR, et al. J Pediatr 2009;154:514–20</a:t>
            </a:r>
          </a:p>
        </p:txBody>
      </p:sp>
      <p:sp>
        <p:nvSpPr>
          <p:cNvPr id="12" name="Rectangle 11"/>
          <p:cNvSpPr/>
          <p:nvPr/>
        </p:nvSpPr>
        <p:spPr>
          <a:xfrm>
            <a:off x="548640" y="1773936"/>
            <a:ext cx="2067275" cy="224028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67275"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1738091" cy="457200"/>
          </a:xfrm>
          <a:prstGeom prst="rect">
            <a:avLst/>
          </a:prstGeom>
          <a:noFill/>
        </p:spPr>
        <p:txBody>
          <a:bodyPr wrap="square" lIns="0" rIns="0" tIns="0" bIns="0" anchor="t">
            <a:spAutoFit/>
          </a:bodyPr>
          <a:lstStyle/>
          <a:p>
            <a:pPr algn="l"/>
            <a:r>
              <a:rPr sz="1500" b="1" i="0">
                <a:solidFill>
                  <a:srgbClr val="1E7A33"/>
                </a:solidFill>
                <a:latin typeface="Abadi"/>
              </a:rPr>
              <a:t>Happy spitter</a:t>
            </a:r>
          </a:p>
        </p:txBody>
      </p:sp>
      <p:sp>
        <p:nvSpPr>
          <p:cNvPr id="15" name="TextBox 14"/>
          <p:cNvSpPr txBox="1"/>
          <p:nvPr/>
        </p:nvSpPr>
        <p:spPr>
          <a:xfrm>
            <a:off x="713232" y="2523744"/>
            <a:ext cx="1738091" cy="1371600"/>
          </a:xfrm>
          <a:prstGeom prst="rect">
            <a:avLst/>
          </a:prstGeom>
          <a:noFill/>
        </p:spPr>
        <p:txBody>
          <a:bodyPr wrap="square" lIns="0" rIns="0" tIns="0" bIns="0" anchor="t">
            <a:spAutoFit/>
          </a:bodyPr>
          <a:lstStyle/>
          <a:p>
            <a:pPr algn="l"/>
            <a:r>
              <a:rPr sz="1150" b="0" i="0">
                <a:solidFill>
                  <a:srgbClr val="1A1A1A"/>
                </a:solidFill>
                <a:latin typeface="Abadi"/>
              </a:rPr>
              <a:t>▪  Effortless, thriving, content</a:t>
            </a:r>
          </a:p>
          <a:p>
            <a:pPr algn="l">
              <a:spcBef>
                <a:spcPts val="400"/>
              </a:spcBef>
            </a:pPr>
            <a:r>
              <a:rPr sz="1150" b="0" i="0">
                <a:solidFill>
                  <a:srgbClr val="1A1A1A"/>
                </a:solidFill>
                <a:latin typeface="Abadi"/>
              </a:rPr>
              <a:t>▪  Peaks at about 4 months</a:t>
            </a:r>
          </a:p>
          <a:p>
            <a:pPr algn="l">
              <a:spcBef>
                <a:spcPts val="400"/>
              </a:spcBef>
            </a:pPr>
            <a:r>
              <a:rPr sz="1150" b="0" i="0">
                <a:solidFill>
                  <a:srgbClr val="1A1A1A"/>
                </a:solidFill>
                <a:latin typeface="Abadi"/>
              </a:rPr>
              <a:t>▪  Needs explanation only</a:t>
            </a:r>
          </a:p>
        </p:txBody>
      </p:sp>
      <p:sp>
        <p:nvSpPr>
          <p:cNvPr id="16" name="Rectangle 15"/>
          <p:cNvSpPr/>
          <p:nvPr/>
        </p:nvSpPr>
        <p:spPr>
          <a:xfrm>
            <a:off x="2802453" y="1773936"/>
            <a:ext cx="2067275" cy="224028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2453" y="1773936"/>
            <a:ext cx="2067275"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67045" y="1984248"/>
            <a:ext cx="1738091" cy="457200"/>
          </a:xfrm>
          <a:prstGeom prst="rect">
            <a:avLst/>
          </a:prstGeom>
          <a:noFill/>
        </p:spPr>
        <p:txBody>
          <a:bodyPr wrap="square" lIns="0" rIns="0" tIns="0" bIns="0" anchor="t">
            <a:spAutoFit/>
          </a:bodyPr>
          <a:lstStyle/>
          <a:p>
            <a:pPr algn="l"/>
            <a:r>
              <a:rPr sz="1500" b="1" i="0">
                <a:solidFill>
                  <a:srgbClr val="7F7F7F"/>
                </a:solidFill>
                <a:latin typeface="Abadi"/>
              </a:rPr>
              <a:t>Crying</a:t>
            </a:r>
          </a:p>
        </p:txBody>
      </p:sp>
      <p:sp>
        <p:nvSpPr>
          <p:cNvPr id="19" name="TextBox 18"/>
          <p:cNvSpPr txBox="1"/>
          <p:nvPr/>
        </p:nvSpPr>
        <p:spPr>
          <a:xfrm>
            <a:off x="2967045" y="2523744"/>
            <a:ext cx="1738091" cy="1371600"/>
          </a:xfrm>
          <a:prstGeom prst="rect">
            <a:avLst/>
          </a:prstGeom>
          <a:noFill/>
        </p:spPr>
        <p:txBody>
          <a:bodyPr wrap="square" lIns="0" rIns="0" tIns="0" bIns="0" anchor="t">
            <a:spAutoFit/>
          </a:bodyPr>
          <a:lstStyle/>
          <a:p>
            <a:pPr algn="l"/>
            <a:r>
              <a:rPr sz="1150" b="0" i="0">
                <a:solidFill>
                  <a:srgbClr val="1A1A1A"/>
                </a:solidFill>
                <a:latin typeface="Abadi"/>
              </a:rPr>
              <a:t>▪  Colic affects about 1 in 5</a:t>
            </a:r>
          </a:p>
          <a:p>
            <a:pPr algn="l">
              <a:spcBef>
                <a:spcPts val="400"/>
              </a:spcBef>
            </a:pPr>
            <a:r>
              <a:rPr sz="1150" b="0" i="0">
                <a:solidFill>
                  <a:srgbClr val="1A1A1A"/>
                </a:solidFill>
                <a:latin typeface="Abadi"/>
              </a:rPr>
              <a:t>▪  Does not track reflux</a:t>
            </a:r>
          </a:p>
          <a:p>
            <a:pPr algn="l">
              <a:spcBef>
                <a:spcPts val="400"/>
              </a:spcBef>
            </a:pPr>
            <a:r>
              <a:rPr sz="1150" b="0" i="0">
                <a:solidFill>
                  <a:srgbClr val="1A1A1A"/>
                </a:solidFill>
                <a:latin typeface="Abadi"/>
              </a:rPr>
              <a:t>▪  PPI no better than placebo</a:t>
            </a:r>
          </a:p>
        </p:txBody>
      </p:sp>
      <p:sp>
        <p:nvSpPr>
          <p:cNvPr id="20" name="Rectangle 19"/>
          <p:cNvSpPr/>
          <p:nvPr/>
        </p:nvSpPr>
        <p:spPr>
          <a:xfrm>
            <a:off x="5056266" y="1773936"/>
            <a:ext cx="2067275" cy="224028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6266" y="1773936"/>
            <a:ext cx="2067275"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20858" y="1984248"/>
            <a:ext cx="1738091" cy="457200"/>
          </a:xfrm>
          <a:prstGeom prst="rect">
            <a:avLst/>
          </a:prstGeom>
          <a:noFill/>
        </p:spPr>
        <p:txBody>
          <a:bodyPr wrap="square" lIns="0" rIns="0" tIns="0" bIns="0" anchor="t">
            <a:spAutoFit/>
          </a:bodyPr>
          <a:lstStyle/>
          <a:p>
            <a:pPr algn="l"/>
            <a:r>
              <a:rPr sz="1500" b="1" i="0">
                <a:solidFill>
                  <a:srgbClr val="B22222"/>
                </a:solidFill>
                <a:latin typeface="Abadi"/>
              </a:rPr>
              <a:t>Red flags</a:t>
            </a:r>
          </a:p>
        </p:txBody>
      </p:sp>
      <p:sp>
        <p:nvSpPr>
          <p:cNvPr id="23" name="TextBox 22"/>
          <p:cNvSpPr txBox="1"/>
          <p:nvPr/>
        </p:nvSpPr>
        <p:spPr>
          <a:xfrm>
            <a:off x="5220858" y="2523744"/>
            <a:ext cx="1738091" cy="1371600"/>
          </a:xfrm>
          <a:prstGeom prst="rect">
            <a:avLst/>
          </a:prstGeom>
          <a:noFill/>
        </p:spPr>
        <p:txBody>
          <a:bodyPr wrap="square" lIns="0" rIns="0" tIns="0" bIns="0" anchor="t">
            <a:spAutoFit/>
          </a:bodyPr>
          <a:lstStyle/>
          <a:p>
            <a:pPr algn="l"/>
            <a:r>
              <a:rPr sz="1150" b="0" i="0">
                <a:solidFill>
                  <a:srgbClr val="1A1A1A"/>
                </a:solidFill>
                <a:latin typeface="Abadi"/>
              </a:rPr>
              <a:t>▪  Bile, blood, projectile</a:t>
            </a:r>
          </a:p>
          <a:p>
            <a:pPr algn="l">
              <a:spcBef>
                <a:spcPts val="400"/>
              </a:spcBef>
            </a:pPr>
            <a:r>
              <a:rPr sz="1150" b="0" i="0">
                <a:solidFill>
                  <a:srgbClr val="1A1A1A"/>
                </a:solidFill>
                <a:latin typeface="Abadi"/>
              </a:rPr>
              <a:t>▪  Onset &gt; 6 months, fever</a:t>
            </a:r>
          </a:p>
          <a:p>
            <a:pPr algn="l">
              <a:spcBef>
                <a:spcPts val="400"/>
              </a:spcBef>
            </a:pPr>
            <a:r>
              <a:rPr sz="1150" b="0" i="0">
                <a:solidFill>
                  <a:srgbClr val="1A1A1A"/>
                </a:solidFill>
                <a:latin typeface="Abadi"/>
              </a:rPr>
              <a:t>▪  Fontanelle, head growth</a:t>
            </a:r>
          </a:p>
        </p:txBody>
      </p:sp>
      <p:sp>
        <p:nvSpPr>
          <p:cNvPr id="24" name="Rectangle 23"/>
          <p:cNvSpPr/>
          <p:nvPr/>
        </p:nvSpPr>
        <p:spPr>
          <a:xfrm>
            <a:off x="7310079" y="1773936"/>
            <a:ext cx="2067275" cy="224028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0079" y="1773936"/>
            <a:ext cx="2067275"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4671" y="1984248"/>
            <a:ext cx="1738091" cy="457200"/>
          </a:xfrm>
          <a:prstGeom prst="rect">
            <a:avLst/>
          </a:prstGeom>
          <a:noFill/>
        </p:spPr>
        <p:txBody>
          <a:bodyPr wrap="square" lIns="0" rIns="0" tIns="0" bIns="0" anchor="t">
            <a:spAutoFit/>
          </a:bodyPr>
          <a:lstStyle/>
          <a:p>
            <a:pPr algn="l"/>
            <a:r>
              <a:rPr sz="1500" b="1" i="0">
                <a:solidFill>
                  <a:srgbClr val="D97A0B"/>
                </a:solidFill>
                <a:latin typeface="Abadi"/>
              </a:rPr>
              <a:t>Mimics</a:t>
            </a:r>
          </a:p>
        </p:txBody>
      </p:sp>
      <p:sp>
        <p:nvSpPr>
          <p:cNvPr id="27" name="TextBox 26"/>
          <p:cNvSpPr txBox="1"/>
          <p:nvPr/>
        </p:nvSpPr>
        <p:spPr>
          <a:xfrm>
            <a:off x="7474671" y="2523744"/>
            <a:ext cx="1738091" cy="1371600"/>
          </a:xfrm>
          <a:prstGeom prst="rect">
            <a:avLst/>
          </a:prstGeom>
          <a:noFill/>
        </p:spPr>
        <p:txBody>
          <a:bodyPr wrap="square" lIns="0" rIns="0" tIns="0" bIns="0" anchor="t">
            <a:spAutoFit/>
          </a:bodyPr>
          <a:lstStyle/>
          <a:p>
            <a:pPr algn="l"/>
            <a:r>
              <a:rPr sz="1150" b="0" i="0">
                <a:solidFill>
                  <a:srgbClr val="1A1A1A"/>
                </a:solidFill>
                <a:latin typeface="Abadi"/>
              </a:rPr>
              <a:t>▪  Pyloric stenosis, malrotation</a:t>
            </a:r>
          </a:p>
          <a:p>
            <a:pPr algn="l">
              <a:spcBef>
                <a:spcPts val="400"/>
              </a:spcBef>
            </a:pPr>
            <a:r>
              <a:rPr sz="1150" b="0" i="0">
                <a:solidFill>
                  <a:srgbClr val="1A1A1A"/>
                </a:solidFill>
                <a:latin typeface="Abadi"/>
              </a:rPr>
              <a:t>▪  UTI, raised pressure, metabolic</a:t>
            </a:r>
          </a:p>
          <a:p>
            <a:pPr algn="l">
              <a:spcBef>
                <a:spcPts val="400"/>
              </a:spcBef>
            </a:pPr>
            <a:r>
              <a:rPr sz="1150" b="0" i="0">
                <a:solidFill>
                  <a:srgbClr val="1A1A1A"/>
                </a:solidFill>
                <a:latin typeface="Abadi"/>
              </a:rPr>
              <a:t>▪  Cow's milk allergy</a:t>
            </a:r>
          </a:p>
        </p:txBody>
      </p:sp>
      <p:sp>
        <p:nvSpPr>
          <p:cNvPr id="28" name="Rectangle 27"/>
          <p:cNvSpPr/>
          <p:nvPr/>
        </p:nvSpPr>
        <p:spPr>
          <a:xfrm>
            <a:off x="9563892" y="1773936"/>
            <a:ext cx="2067275" cy="224028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3892" y="1773936"/>
            <a:ext cx="2067275"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28484" y="1984248"/>
            <a:ext cx="1738091" cy="457200"/>
          </a:xfrm>
          <a:prstGeom prst="rect">
            <a:avLst/>
          </a:prstGeom>
          <a:noFill/>
        </p:spPr>
        <p:txBody>
          <a:bodyPr wrap="square" lIns="0" rIns="0" tIns="0" bIns="0" anchor="t">
            <a:spAutoFit/>
          </a:bodyPr>
          <a:lstStyle/>
          <a:p>
            <a:pPr algn="l"/>
            <a:r>
              <a:rPr sz="1500" b="1" i="0">
                <a:solidFill>
                  <a:srgbClr val="1B355E"/>
                </a:solidFill>
                <a:latin typeface="Abadi"/>
              </a:rPr>
              <a:t>Restraint</a:t>
            </a:r>
          </a:p>
        </p:txBody>
      </p:sp>
      <p:sp>
        <p:nvSpPr>
          <p:cNvPr id="31" name="TextBox 30"/>
          <p:cNvSpPr txBox="1"/>
          <p:nvPr/>
        </p:nvSpPr>
        <p:spPr>
          <a:xfrm>
            <a:off x="9728484" y="2523744"/>
            <a:ext cx="1738091" cy="1371600"/>
          </a:xfrm>
          <a:prstGeom prst="rect">
            <a:avLst/>
          </a:prstGeom>
          <a:noFill/>
        </p:spPr>
        <p:txBody>
          <a:bodyPr wrap="square" lIns="0" rIns="0" tIns="0" bIns="0" anchor="t">
            <a:spAutoFit/>
          </a:bodyPr>
          <a:lstStyle/>
          <a:p>
            <a:pPr algn="l"/>
            <a:r>
              <a:rPr sz="1150" b="0" i="0">
                <a:solidFill>
                  <a:srgbClr val="1A1A1A"/>
                </a:solidFill>
                <a:latin typeface="Abadi"/>
              </a:rPr>
              <a:t>▪  No test for the healthy spitter</a:t>
            </a:r>
          </a:p>
          <a:p>
            <a:pPr algn="l">
              <a:spcBef>
                <a:spcPts val="400"/>
              </a:spcBef>
            </a:pPr>
            <a:r>
              <a:rPr sz="1150" b="0" i="0">
                <a:solidFill>
                  <a:srgbClr val="1A1A1A"/>
                </a:solidFill>
                <a:latin typeface="Abadi"/>
              </a:rPr>
              <a:t>▪  No acid suppression for spitting</a:t>
            </a:r>
          </a:p>
          <a:p>
            <a:pPr algn="l">
              <a:spcBef>
                <a:spcPts val="400"/>
              </a:spcBef>
            </a:pPr>
            <a:r>
              <a:rPr sz="1150" b="0" i="0">
                <a:solidFill>
                  <a:srgbClr val="1A1A1A"/>
                </a:solidFill>
                <a:latin typeface="Abadi"/>
              </a:rPr>
              <a:t>▪  The label sells the drug</a:t>
            </a:r>
          </a:p>
        </p:txBody>
      </p:sp>
      <p:sp>
        <p:nvSpPr>
          <p:cNvPr id="32" name="TextBox 31"/>
          <p:cNvSpPr txBox="1"/>
          <p:nvPr/>
        </p:nvSpPr>
        <p:spPr>
          <a:xfrm>
            <a:off x="548640" y="4224528"/>
            <a:ext cx="11082528" cy="1600200"/>
          </a:xfrm>
          <a:prstGeom prst="rect">
            <a:avLst/>
          </a:prstGeom>
          <a:noFill/>
        </p:spPr>
        <p:txBody>
          <a:bodyPr wrap="square" lIns="0" rIns="0" tIns="0" bIns="0" anchor="t">
            <a:spAutoFit/>
          </a:bodyPr>
          <a:lstStyle/>
          <a:p>
            <a:pPr algn="l"/>
            <a:r>
              <a:rPr sz="1300" b="1" i="0">
                <a:solidFill>
                  <a:srgbClr val="1B355E"/>
                </a:solidFill>
                <a:latin typeface="Abadi"/>
              </a:rPr>
              <a:t>The main idea.  </a:t>
            </a:r>
            <a:r>
              <a:rPr sz="1300" b="0" i="0">
                <a:solidFill>
                  <a:srgbClr val="1A1A1A"/>
                </a:solidFill>
                <a:latin typeface="Abadi"/>
              </a:rPr>
              <a:t>The diagnosis of physiological regurgitation is made by the history, the examination and the growth chart, and it is safe only when the red flags have been asked about one by one. The work of the visit is to find the few infants whose vomiting comes from obstruction, the brain, infection, metabolism or allergy, and to protect the rest from tests and drugs.</a:t>
            </a:r>
          </a:p>
          <a:p>
            <a:pPr algn="l">
              <a:spcBef>
                <a:spcPts val="600"/>
              </a:spcBef>
            </a:pPr>
            <a:r>
              <a:rPr sz="1300" b="1" i="0">
                <a:solidFill>
                  <a:srgbClr val="B22222"/>
                </a:solidFill>
                <a:latin typeface="Abadi"/>
              </a:rPr>
              <a:t>The clinical stake.  </a:t>
            </a:r>
            <a:r>
              <a:rPr sz="1300" b="0" i="0">
                <a:solidFill>
                  <a:srgbClr val="1A1A1A"/>
                </a:solidFill>
                <a:latin typeface="Abadi"/>
              </a:rPr>
              <a:t>Bilious vomiting in malrotation meant volvulus at surgery in 80% of one series; at the other end, lansoprazole for crying infants gave the same 54% response as placebo and more serious adverse events.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NOT ALL THAT COMES UP IS REFLUX</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Regurgitation is a passive oesophageal event; vomiting is a coordinated reflex that many organs can trigger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Rosen R, et al. JPGN 2018;66:516–54 · NICE NG1, 2015 (updated 2019) · Benninga MA, et al. Gastroenterology 2016;150:1443–55</a:t>
            </a:r>
          </a:p>
        </p:txBody>
      </p:sp>
      <p:sp>
        <p:nvSpPr>
          <p:cNvPr id="12" name="Rectangle 11"/>
          <p:cNvSpPr/>
          <p:nvPr/>
        </p:nvSpPr>
        <p:spPr>
          <a:xfrm>
            <a:off x="548640" y="1773936"/>
            <a:ext cx="2011680" cy="201168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29260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Oesophagus</a:t>
            </a:r>
          </a:p>
        </p:txBody>
      </p:sp>
      <p:sp>
        <p:nvSpPr>
          <p:cNvPr id="15" name="TextBox 14"/>
          <p:cNvSpPr txBox="1"/>
          <p:nvPr/>
        </p:nvSpPr>
        <p:spPr>
          <a:xfrm>
            <a:off x="658368" y="2157984"/>
            <a:ext cx="1792224" cy="1554480"/>
          </a:xfrm>
          <a:prstGeom prst="rect">
            <a:avLst/>
          </a:prstGeom>
          <a:noFill/>
        </p:spPr>
        <p:txBody>
          <a:bodyPr wrap="square" lIns="0" rIns="0" tIns="0" bIns="0" anchor="t">
            <a:spAutoFit/>
          </a:bodyPr>
          <a:lstStyle/>
          <a:p>
            <a:pPr algn="l"/>
            <a:r>
              <a:rPr sz="1050" b="0" i="0">
                <a:solidFill>
                  <a:srgbClr val="1A1A1A"/>
                </a:solidFill>
                <a:latin typeface="Abadi"/>
              </a:rPr>
              <a:t>Transient LES relaxation; liquid diet, small stomach, supine time. Effortless, no retching.</a:t>
            </a:r>
          </a:p>
        </p:txBody>
      </p:sp>
      <p:sp>
        <p:nvSpPr>
          <p:cNvPr id="16" name="Isosceles Triangle 15"/>
          <p:cNvSpPr/>
          <p:nvPr/>
        </p:nvSpPr>
        <p:spPr>
          <a:xfrm rot="5400000">
            <a:off x="2624328" y="269748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773936"/>
            <a:ext cx="2011680" cy="201168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29260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07792"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Gut outlet</a:t>
            </a:r>
          </a:p>
        </p:txBody>
      </p:sp>
      <p:sp>
        <p:nvSpPr>
          <p:cNvPr id="20" name="TextBox 19"/>
          <p:cNvSpPr txBox="1"/>
          <p:nvPr/>
        </p:nvSpPr>
        <p:spPr>
          <a:xfrm>
            <a:off x="2926080" y="2157984"/>
            <a:ext cx="1792224" cy="1554480"/>
          </a:xfrm>
          <a:prstGeom prst="rect">
            <a:avLst/>
          </a:prstGeom>
          <a:noFill/>
        </p:spPr>
        <p:txBody>
          <a:bodyPr wrap="square" lIns="0" rIns="0" tIns="0" bIns="0" anchor="t">
            <a:spAutoFit/>
          </a:bodyPr>
          <a:lstStyle/>
          <a:p>
            <a:pPr algn="l"/>
            <a:r>
              <a:rPr sz="1050" b="0" i="0">
                <a:solidFill>
                  <a:srgbClr val="1A1A1A"/>
                </a:solidFill>
                <a:latin typeface="Abadi"/>
              </a:rPr>
              <a:t>Pyloric stenosis, malrotation, atresia, intussusception. Forceful or bilious; distension.</a:t>
            </a:r>
          </a:p>
        </p:txBody>
      </p:sp>
      <p:sp>
        <p:nvSpPr>
          <p:cNvPr id="21" name="Isosceles Triangle 20"/>
          <p:cNvSpPr/>
          <p:nvPr/>
        </p:nvSpPr>
        <p:spPr>
          <a:xfrm rot="5400000">
            <a:off x="4892040" y="269748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73936"/>
            <a:ext cx="2011680" cy="201168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75504"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Brain</a:t>
            </a:r>
          </a:p>
        </p:txBody>
      </p:sp>
      <p:sp>
        <p:nvSpPr>
          <p:cNvPr id="25" name="TextBox 24"/>
          <p:cNvSpPr txBox="1"/>
          <p:nvPr/>
        </p:nvSpPr>
        <p:spPr>
          <a:xfrm>
            <a:off x="5193792" y="2157984"/>
            <a:ext cx="1792224" cy="1554480"/>
          </a:xfrm>
          <a:prstGeom prst="rect">
            <a:avLst/>
          </a:prstGeom>
          <a:noFill/>
        </p:spPr>
        <p:txBody>
          <a:bodyPr wrap="square" lIns="0" rIns="0" tIns="0" bIns="0" anchor="t">
            <a:spAutoFit/>
          </a:bodyPr>
          <a:lstStyle/>
          <a:p>
            <a:pPr algn="l"/>
            <a:r>
              <a:rPr sz="1050" b="0" i="0">
                <a:solidFill>
                  <a:srgbClr val="1A1A1A"/>
                </a:solidFill>
                <a:latin typeface="Abadi"/>
              </a:rPr>
              <a:t>Hydrocephalus, haemorrhage, mass, abusive head trauma. Fontanelle, head growth, lethargy.</a:t>
            </a:r>
          </a:p>
        </p:txBody>
      </p:sp>
      <p:sp>
        <p:nvSpPr>
          <p:cNvPr id="26" name="Isosceles Triangle 25"/>
          <p:cNvSpPr/>
          <p:nvPr/>
        </p:nvSpPr>
        <p:spPr>
          <a:xfrm rot="5400000">
            <a:off x="7159752" y="269748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1773936"/>
            <a:ext cx="2011680" cy="201168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3216"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Infection</a:t>
            </a:r>
          </a:p>
        </p:txBody>
      </p:sp>
      <p:sp>
        <p:nvSpPr>
          <p:cNvPr id="30" name="TextBox 29"/>
          <p:cNvSpPr txBox="1"/>
          <p:nvPr/>
        </p:nvSpPr>
        <p:spPr>
          <a:xfrm>
            <a:off x="7461504" y="2157984"/>
            <a:ext cx="1792224" cy="1554480"/>
          </a:xfrm>
          <a:prstGeom prst="rect">
            <a:avLst/>
          </a:prstGeom>
          <a:noFill/>
        </p:spPr>
        <p:txBody>
          <a:bodyPr wrap="square" lIns="0" rIns="0" tIns="0" bIns="0" anchor="t">
            <a:spAutoFit/>
          </a:bodyPr>
          <a:lstStyle/>
          <a:p>
            <a:pPr algn="l"/>
            <a:r>
              <a:rPr sz="1050" b="0" i="0">
                <a:solidFill>
                  <a:srgbClr val="1A1A1A"/>
                </a:solidFill>
                <a:latin typeface="Abadi"/>
              </a:rPr>
              <a:t>Urinary tract infection, sepsis, meningitis, gastroenteritis. Fever, poor feeding.</a:t>
            </a:r>
          </a:p>
        </p:txBody>
      </p:sp>
      <p:sp>
        <p:nvSpPr>
          <p:cNvPr id="31" name="Isosceles Triangle 30"/>
          <p:cNvSpPr/>
          <p:nvPr/>
        </p:nvSpPr>
        <p:spPr>
          <a:xfrm rot="5400000">
            <a:off x="9427464" y="269748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773936"/>
            <a:ext cx="2011680" cy="201168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10928"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Metabolism, allergy</a:t>
            </a:r>
          </a:p>
        </p:txBody>
      </p:sp>
      <p:sp>
        <p:nvSpPr>
          <p:cNvPr id="35" name="TextBox 34"/>
          <p:cNvSpPr txBox="1"/>
          <p:nvPr/>
        </p:nvSpPr>
        <p:spPr>
          <a:xfrm>
            <a:off x="9729216" y="2157984"/>
            <a:ext cx="1792224" cy="1554480"/>
          </a:xfrm>
          <a:prstGeom prst="rect">
            <a:avLst/>
          </a:prstGeom>
          <a:noFill/>
        </p:spPr>
        <p:txBody>
          <a:bodyPr wrap="square" lIns="0" rIns="0" tIns="0" bIns="0" anchor="t">
            <a:spAutoFit/>
          </a:bodyPr>
          <a:lstStyle/>
          <a:p>
            <a:pPr algn="l"/>
            <a:r>
              <a:rPr sz="1050" b="0" i="0">
                <a:solidFill>
                  <a:srgbClr val="1A1A1A"/>
                </a:solidFill>
                <a:latin typeface="Abadi"/>
              </a:rPr>
              <a:t>Urea cycle, galactosaemia, adrenal crisis; cow's milk allergy, eosinophilic disease.</a:t>
            </a:r>
          </a:p>
        </p:txBody>
      </p:sp>
      <p:sp>
        <p:nvSpPr>
          <p:cNvPr id="36" name="TextBox 35"/>
          <p:cNvSpPr txBox="1"/>
          <p:nvPr/>
        </p:nvSpPr>
        <p:spPr>
          <a:xfrm>
            <a:off x="548640" y="4069080"/>
            <a:ext cx="11082528" cy="1737360"/>
          </a:xfrm>
          <a:prstGeom prst="rect">
            <a:avLst/>
          </a:prstGeom>
          <a:noFill/>
        </p:spPr>
        <p:txBody>
          <a:bodyPr wrap="square" lIns="0" rIns="0" tIns="0" bIns="0" anchor="t">
            <a:spAutoFit/>
          </a:bodyPr>
          <a:lstStyle/>
          <a:p>
            <a:pPr algn="l"/>
            <a:r>
              <a:rPr sz="1300" b="1" i="0">
                <a:solidFill>
                  <a:srgbClr val="1E7A33"/>
                </a:solidFill>
                <a:latin typeface="Abadi"/>
              </a:rPr>
              <a:t>Regurgitation.  </a:t>
            </a:r>
            <a:r>
              <a:rPr sz="1300" b="0" i="0">
                <a:solidFill>
                  <a:srgbClr val="1A1A1A"/>
                </a:solidFill>
                <a:latin typeface="Abadi"/>
              </a:rPr>
              <a:t>Gastric contents rise into the mouth without effort, usually soon after a feed, in an infant who is otherwise comfortable. The force comes from the stomach being fuller than the sphincter can hold during a physiological relaxation.</a:t>
            </a:r>
          </a:p>
          <a:p>
            <a:pPr algn="l">
              <a:spcBef>
                <a:spcPts val="600"/>
              </a:spcBef>
            </a:pPr>
            <a:r>
              <a:rPr sz="1300" b="1" i="0">
                <a:solidFill>
                  <a:srgbClr val="B22222"/>
                </a:solidFill>
                <a:latin typeface="Abadi"/>
              </a:rPr>
              <a:t>Vomiting.  </a:t>
            </a:r>
            <a:r>
              <a:rPr sz="1300" b="0" i="0">
                <a:solidFill>
                  <a:srgbClr val="1A1A1A"/>
                </a:solidFill>
                <a:latin typeface="Abadi"/>
              </a:rPr>
              <a:t>Retching, forceful expulsion, pallor or distress mark an emetic reflex coordinated by the brainstem; its trigger can be anywhere from the duodenum to the meninges. The history that separates the two is the first diagnostic 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HAPPY SPITTER</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THRIVING DECIDES</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The profile of physiological infant regurgitation in NICE NG1 and Rome IV</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NICE NG1, 2015 (updated 2019) rec. 1.1.3 · Benninga MA, et al. Gastroenterology 2016;150:1443–55 · Nelson SP, et al. Arch Pediatr Adolesc Med 1997;151:569–72</a:t>
            </a:r>
          </a:p>
        </p:txBody>
      </p:sp>
      <p:sp>
        <p:nvSpPr>
          <p:cNvPr id="12" name="Rectangle 11"/>
          <p:cNvSpPr/>
          <p:nvPr/>
        </p:nvSpPr>
        <p:spPr>
          <a:xfrm>
            <a:off x="548640" y="1773936"/>
            <a:ext cx="2630728" cy="196596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0728"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002536"/>
            <a:ext cx="2301544" cy="502920"/>
          </a:xfrm>
          <a:prstGeom prst="rect">
            <a:avLst/>
          </a:prstGeom>
          <a:noFill/>
        </p:spPr>
        <p:txBody>
          <a:bodyPr wrap="square" lIns="0" rIns="0" tIns="0" bIns="0" anchor="t">
            <a:spAutoFit/>
          </a:bodyPr>
          <a:lstStyle/>
          <a:p>
            <a:pPr algn="l"/>
            <a:r>
              <a:rPr sz="2400" b="1" i="0">
                <a:solidFill>
                  <a:srgbClr val="1E7A33"/>
                </a:solidFill>
                <a:latin typeface="Abadi"/>
              </a:rPr>
              <a:t>≥ 40%</a:t>
            </a:r>
          </a:p>
        </p:txBody>
      </p:sp>
      <p:sp>
        <p:nvSpPr>
          <p:cNvPr id="15" name="TextBox 14"/>
          <p:cNvSpPr txBox="1"/>
          <p:nvPr/>
        </p:nvSpPr>
        <p:spPr>
          <a:xfrm>
            <a:off x="713232" y="2596896"/>
            <a:ext cx="2301544" cy="1051560"/>
          </a:xfrm>
          <a:prstGeom prst="rect">
            <a:avLst/>
          </a:prstGeom>
          <a:noFill/>
        </p:spPr>
        <p:txBody>
          <a:bodyPr wrap="square" lIns="0" rIns="0" tIns="0" bIns="0" anchor="t">
            <a:spAutoFit/>
          </a:bodyPr>
          <a:lstStyle/>
          <a:p>
            <a:pPr algn="l"/>
            <a:r>
              <a:rPr sz="1150" b="0" i="0">
                <a:solidFill>
                  <a:srgbClr val="1A1A1A"/>
                </a:solidFill>
                <a:latin typeface="Abadi"/>
              </a:rPr>
              <a:t>Infants with effortless regurgitation (NICE); 41–67% of healthy 4-month-olds regurgitate daily (Rome IV).</a:t>
            </a:r>
          </a:p>
        </p:txBody>
      </p:sp>
      <p:sp>
        <p:nvSpPr>
          <p:cNvPr id="16" name="Rectangle 15"/>
          <p:cNvSpPr/>
          <p:nvPr/>
        </p:nvSpPr>
        <p:spPr>
          <a:xfrm>
            <a:off x="3365906" y="1773936"/>
            <a:ext cx="2630728" cy="196596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5906" y="1773936"/>
            <a:ext cx="2630728"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0498" y="2002536"/>
            <a:ext cx="2301544" cy="502920"/>
          </a:xfrm>
          <a:prstGeom prst="rect">
            <a:avLst/>
          </a:prstGeom>
          <a:noFill/>
        </p:spPr>
        <p:txBody>
          <a:bodyPr wrap="square" lIns="0" rIns="0" tIns="0" bIns="0" anchor="t">
            <a:spAutoFit/>
          </a:bodyPr>
          <a:lstStyle/>
          <a:p>
            <a:pPr algn="l"/>
            <a:r>
              <a:rPr sz="2400" b="1" i="0">
                <a:solidFill>
                  <a:srgbClr val="1B355E"/>
                </a:solidFill>
                <a:latin typeface="Abadi"/>
              </a:rPr>
              <a:t>&lt; 8 weeks</a:t>
            </a:r>
          </a:p>
        </p:txBody>
      </p:sp>
      <p:sp>
        <p:nvSpPr>
          <p:cNvPr id="19" name="TextBox 18"/>
          <p:cNvSpPr txBox="1"/>
          <p:nvPr/>
        </p:nvSpPr>
        <p:spPr>
          <a:xfrm>
            <a:off x="3530498" y="2596896"/>
            <a:ext cx="2301544" cy="1051560"/>
          </a:xfrm>
          <a:prstGeom prst="rect">
            <a:avLst/>
          </a:prstGeom>
          <a:noFill/>
        </p:spPr>
        <p:txBody>
          <a:bodyPr wrap="square" lIns="0" rIns="0" tIns="0" bIns="0" anchor="t">
            <a:spAutoFit/>
          </a:bodyPr>
          <a:lstStyle/>
          <a:p>
            <a:pPr algn="l"/>
            <a:r>
              <a:rPr sz="1150" b="0" i="0">
                <a:solidFill>
                  <a:srgbClr val="1A1A1A"/>
                </a:solidFill>
                <a:latin typeface="Abadi"/>
              </a:rPr>
              <a:t>Usual age of onset; physiological GER seldom starts before 1 week or after 6 months.</a:t>
            </a:r>
          </a:p>
        </p:txBody>
      </p:sp>
      <p:sp>
        <p:nvSpPr>
          <p:cNvPr id="20" name="Rectangle 19"/>
          <p:cNvSpPr/>
          <p:nvPr/>
        </p:nvSpPr>
        <p:spPr>
          <a:xfrm>
            <a:off x="6183172" y="1773936"/>
            <a:ext cx="2630728" cy="196596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3172" y="1773936"/>
            <a:ext cx="2630728"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7764" y="2002536"/>
            <a:ext cx="2301544" cy="502920"/>
          </a:xfrm>
          <a:prstGeom prst="rect">
            <a:avLst/>
          </a:prstGeom>
          <a:noFill/>
        </p:spPr>
        <p:txBody>
          <a:bodyPr wrap="square" lIns="0" rIns="0" tIns="0" bIns="0" anchor="t">
            <a:spAutoFit/>
          </a:bodyPr>
          <a:lstStyle/>
          <a:p>
            <a:pPr algn="l"/>
            <a:r>
              <a:rPr sz="2400" b="1" i="0">
                <a:solidFill>
                  <a:srgbClr val="D97A0B"/>
                </a:solidFill>
                <a:latin typeface="Abadi"/>
              </a:rPr>
              <a:t>5%</a:t>
            </a:r>
          </a:p>
        </p:txBody>
      </p:sp>
      <p:sp>
        <p:nvSpPr>
          <p:cNvPr id="23" name="TextBox 22"/>
          <p:cNvSpPr txBox="1"/>
          <p:nvPr/>
        </p:nvSpPr>
        <p:spPr>
          <a:xfrm>
            <a:off x="6347764" y="2596896"/>
            <a:ext cx="2301544" cy="1051560"/>
          </a:xfrm>
          <a:prstGeom prst="rect">
            <a:avLst/>
          </a:prstGeom>
          <a:noFill/>
        </p:spPr>
        <p:txBody>
          <a:bodyPr wrap="square" lIns="0" rIns="0" tIns="0" bIns="0" anchor="t">
            <a:spAutoFit/>
          </a:bodyPr>
          <a:lstStyle/>
          <a:p>
            <a:pPr algn="l"/>
            <a:r>
              <a:rPr sz="1150" b="0" i="0">
                <a:solidFill>
                  <a:srgbClr val="1A1A1A"/>
                </a:solidFill>
                <a:latin typeface="Abadi"/>
              </a:rPr>
              <a:t>Infants with six or more episodes a day; frequency alone does not make disease.</a:t>
            </a:r>
          </a:p>
        </p:txBody>
      </p:sp>
      <p:sp>
        <p:nvSpPr>
          <p:cNvPr id="24" name="Rectangle 23"/>
          <p:cNvSpPr/>
          <p:nvPr/>
        </p:nvSpPr>
        <p:spPr>
          <a:xfrm>
            <a:off x="9000439" y="1773936"/>
            <a:ext cx="2630728" cy="196596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0439" y="1773936"/>
            <a:ext cx="2630728"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5031" y="2002536"/>
            <a:ext cx="2301544" cy="502920"/>
          </a:xfrm>
          <a:prstGeom prst="rect">
            <a:avLst/>
          </a:prstGeom>
          <a:noFill/>
        </p:spPr>
        <p:txBody>
          <a:bodyPr wrap="square" lIns="0" rIns="0" tIns="0" bIns="0" anchor="t">
            <a:spAutoFit/>
          </a:bodyPr>
          <a:lstStyle/>
          <a:p>
            <a:pPr algn="l"/>
            <a:r>
              <a:rPr sz="2400" b="1" i="0">
                <a:solidFill>
                  <a:srgbClr val="7F7F7F"/>
                </a:solidFill>
                <a:latin typeface="Abadi"/>
              </a:rPr>
              <a:t>90%</a:t>
            </a:r>
          </a:p>
        </p:txBody>
      </p:sp>
      <p:sp>
        <p:nvSpPr>
          <p:cNvPr id="27" name="TextBox 26"/>
          <p:cNvSpPr txBox="1"/>
          <p:nvPr/>
        </p:nvSpPr>
        <p:spPr>
          <a:xfrm>
            <a:off x="9165031" y="2596896"/>
            <a:ext cx="2301544" cy="1051560"/>
          </a:xfrm>
          <a:prstGeom prst="rect">
            <a:avLst/>
          </a:prstGeom>
          <a:noFill/>
        </p:spPr>
        <p:txBody>
          <a:bodyPr wrap="square" lIns="0" rIns="0" tIns="0" bIns="0" anchor="t">
            <a:spAutoFit/>
          </a:bodyPr>
          <a:lstStyle/>
          <a:p>
            <a:pPr algn="l"/>
            <a:r>
              <a:rPr sz="1150" b="0" i="0">
                <a:solidFill>
                  <a:srgbClr val="1A1A1A"/>
                </a:solidFill>
                <a:latin typeface="Abadi"/>
              </a:rPr>
              <a:t>Resolve before the first birthday; peak prevalence 67% at 4 months, 5% at 10–12 months.</a:t>
            </a:r>
          </a:p>
        </p:txBody>
      </p:sp>
      <p:sp>
        <p:nvSpPr>
          <p:cNvPr id="28" name="Rectangle 27"/>
          <p:cNvSpPr/>
          <p:nvPr/>
        </p:nvSpPr>
        <p:spPr>
          <a:xfrm>
            <a:off x="548640" y="3931920"/>
            <a:ext cx="3569817" cy="182880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931920"/>
            <a:ext cx="3569817"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4142232"/>
            <a:ext cx="3240633" cy="457200"/>
          </a:xfrm>
          <a:prstGeom prst="rect">
            <a:avLst/>
          </a:prstGeom>
          <a:noFill/>
        </p:spPr>
        <p:txBody>
          <a:bodyPr wrap="square" lIns="0" rIns="0" tIns="0" bIns="0" anchor="t">
            <a:spAutoFit/>
          </a:bodyPr>
          <a:lstStyle/>
          <a:p>
            <a:pPr algn="l"/>
            <a:r>
              <a:rPr sz="1500" b="1" i="0">
                <a:solidFill>
                  <a:srgbClr val="1E7A33"/>
                </a:solidFill>
                <a:latin typeface="Abadi"/>
              </a:rPr>
              <a:t>Rome IV: infant regurgitation</a:t>
            </a:r>
          </a:p>
        </p:txBody>
      </p:sp>
      <p:sp>
        <p:nvSpPr>
          <p:cNvPr id="31" name="TextBox 30"/>
          <p:cNvSpPr txBox="1"/>
          <p:nvPr/>
        </p:nvSpPr>
        <p:spPr>
          <a:xfrm>
            <a:off x="713232" y="4681728"/>
            <a:ext cx="3240633" cy="960120"/>
          </a:xfrm>
          <a:prstGeom prst="rect">
            <a:avLst/>
          </a:prstGeom>
          <a:noFill/>
        </p:spPr>
        <p:txBody>
          <a:bodyPr wrap="square" lIns="0" rIns="0" tIns="0" bIns="0" anchor="t">
            <a:spAutoFit/>
          </a:bodyPr>
          <a:lstStyle/>
          <a:p>
            <a:pPr algn="l"/>
            <a:r>
              <a:rPr sz="1100" b="0" i="0">
                <a:solidFill>
                  <a:srgbClr val="1A1A1A"/>
                </a:solidFill>
                <a:latin typeface="Abadi"/>
              </a:rPr>
              <a:t>▪  Age 3 weeks to 12 months</a:t>
            </a:r>
          </a:p>
          <a:p>
            <a:pPr algn="l">
              <a:spcBef>
                <a:spcPts val="400"/>
              </a:spcBef>
            </a:pPr>
            <a:r>
              <a:rPr sz="1100" b="0" i="0">
                <a:solidFill>
                  <a:srgbClr val="1A1A1A"/>
                </a:solidFill>
                <a:latin typeface="Abadi"/>
              </a:rPr>
              <a:t>▪  ≥ 2 regurgitations a day for ≥ 3 weeks</a:t>
            </a:r>
          </a:p>
          <a:p>
            <a:pPr algn="l">
              <a:spcBef>
                <a:spcPts val="400"/>
              </a:spcBef>
            </a:pPr>
            <a:r>
              <a:rPr sz="1100" b="0" i="0">
                <a:solidFill>
                  <a:srgbClr val="1A1A1A"/>
                </a:solidFill>
                <a:latin typeface="Abadi"/>
              </a:rPr>
              <a:t>▪  Otherwise healthy, thriving</a:t>
            </a:r>
          </a:p>
        </p:txBody>
      </p:sp>
      <p:sp>
        <p:nvSpPr>
          <p:cNvPr id="32" name="Rectangle 31"/>
          <p:cNvSpPr/>
          <p:nvPr/>
        </p:nvSpPr>
        <p:spPr>
          <a:xfrm>
            <a:off x="4304995" y="3931920"/>
            <a:ext cx="3569817" cy="182880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04995" y="3931920"/>
            <a:ext cx="3569817"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9587" y="4142232"/>
            <a:ext cx="3240633" cy="457200"/>
          </a:xfrm>
          <a:prstGeom prst="rect">
            <a:avLst/>
          </a:prstGeom>
          <a:noFill/>
        </p:spPr>
        <p:txBody>
          <a:bodyPr wrap="square" lIns="0" rIns="0" tIns="0" bIns="0" anchor="t">
            <a:spAutoFit/>
          </a:bodyPr>
          <a:lstStyle/>
          <a:p>
            <a:pPr algn="l"/>
            <a:r>
              <a:rPr sz="1500" b="1" i="0">
                <a:solidFill>
                  <a:srgbClr val="B22222"/>
                </a:solidFill>
                <a:latin typeface="Abadi"/>
              </a:rPr>
              <a:t>Must be absent</a:t>
            </a:r>
          </a:p>
        </p:txBody>
      </p:sp>
      <p:sp>
        <p:nvSpPr>
          <p:cNvPr id="35" name="TextBox 34"/>
          <p:cNvSpPr txBox="1"/>
          <p:nvPr/>
        </p:nvSpPr>
        <p:spPr>
          <a:xfrm>
            <a:off x="4469587" y="4681728"/>
            <a:ext cx="3240633" cy="960120"/>
          </a:xfrm>
          <a:prstGeom prst="rect">
            <a:avLst/>
          </a:prstGeom>
          <a:noFill/>
        </p:spPr>
        <p:txBody>
          <a:bodyPr wrap="square" lIns="0" rIns="0" tIns="0" bIns="0" anchor="t">
            <a:spAutoFit/>
          </a:bodyPr>
          <a:lstStyle/>
          <a:p>
            <a:pPr algn="l"/>
            <a:r>
              <a:rPr sz="1100" b="0" i="0">
                <a:solidFill>
                  <a:srgbClr val="1A1A1A"/>
                </a:solidFill>
                <a:latin typeface="Abadi"/>
              </a:rPr>
              <a:t>▪  Retching, haematemesis</a:t>
            </a:r>
          </a:p>
          <a:p>
            <a:pPr algn="l">
              <a:spcBef>
                <a:spcPts val="400"/>
              </a:spcBef>
            </a:pPr>
            <a:r>
              <a:rPr sz="1100" b="0" i="0">
                <a:solidFill>
                  <a:srgbClr val="1A1A1A"/>
                </a:solidFill>
                <a:latin typeface="Abadi"/>
              </a:rPr>
              <a:t>▪  Aspiration, apnoea</a:t>
            </a:r>
          </a:p>
          <a:p>
            <a:pPr algn="l">
              <a:spcBef>
                <a:spcPts val="400"/>
              </a:spcBef>
            </a:pPr>
            <a:r>
              <a:rPr sz="1100" b="0" i="0">
                <a:solidFill>
                  <a:srgbClr val="1A1A1A"/>
                </a:solidFill>
                <a:latin typeface="Abadi"/>
              </a:rPr>
              <a:t>▪  Failure to thrive, feeding or swallowing difficulty, abnormal posturing</a:t>
            </a:r>
          </a:p>
        </p:txBody>
      </p:sp>
      <p:sp>
        <p:nvSpPr>
          <p:cNvPr id="36" name="Rectangle 35"/>
          <p:cNvSpPr/>
          <p:nvPr/>
        </p:nvSpPr>
        <p:spPr>
          <a:xfrm>
            <a:off x="8061350" y="3931920"/>
            <a:ext cx="3569817" cy="182880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61350" y="3931920"/>
            <a:ext cx="3569817"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5942" y="4142232"/>
            <a:ext cx="3240633" cy="457200"/>
          </a:xfrm>
          <a:prstGeom prst="rect">
            <a:avLst/>
          </a:prstGeom>
          <a:noFill/>
        </p:spPr>
        <p:txBody>
          <a:bodyPr wrap="square" lIns="0" rIns="0" tIns="0" bIns="0" anchor="t">
            <a:spAutoFit/>
          </a:bodyPr>
          <a:lstStyle/>
          <a:p>
            <a:pPr algn="l"/>
            <a:r>
              <a:rPr sz="1500" b="1" i="0">
                <a:solidFill>
                  <a:srgbClr val="1B355E"/>
                </a:solidFill>
                <a:latin typeface="Abadi"/>
              </a:rPr>
              <a:t>What parents say</a:t>
            </a:r>
          </a:p>
        </p:txBody>
      </p:sp>
      <p:sp>
        <p:nvSpPr>
          <p:cNvPr id="39" name="TextBox 38"/>
          <p:cNvSpPr txBox="1"/>
          <p:nvPr/>
        </p:nvSpPr>
        <p:spPr>
          <a:xfrm>
            <a:off x="8225942" y="4681728"/>
            <a:ext cx="3240633" cy="960120"/>
          </a:xfrm>
          <a:prstGeom prst="rect">
            <a:avLst/>
          </a:prstGeom>
          <a:noFill/>
        </p:spPr>
        <p:txBody>
          <a:bodyPr wrap="square" lIns="0" rIns="0" tIns="0" bIns="0" anchor="t">
            <a:spAutoFit/>
          </a:bodyPr>
          <a:lstStyle/>
          <a:p>
            <a:pPr algn="l"/>
            <a:r>
              <a:rPr sz="1100" b="0" i="0">
                <a:solidFill>
                  <a:srgbClr val="1A1A1A"/>
                </a:solidFill>
                <a:latin typeface="Abadi"/>
              </a:rPr>
              <a:t>▪  At most 23% call it a problem (6 months)</a:t>
            </a:r>
          </a:p>
          <a:p>
            <a:pPr algn="l">
              <a:spcBef>
                <a:spcPts val="400"/>
              </a:spcBef>
            </a:pPr>
            <a:r>
              <a:rPr sz="1100" b="0" i="0">
                <a:solidFill>
                  <a:srgbClr val="1A1A1A"/>
                </a:solidFill>
                <a:latin typeface="Abadi"/>
              </a:rPr>
              <a:t>▪  Laundry, worry, advice from others</a:t>
            </a:r>
          </a:p>
          <a:p>
            <a:pPr algn="l">
              <a:spcBef>
                <a:spcPts val="400"/>
              </a:spcBef>
            </a:pPr>
            <a:r>
              <a:rPr sz="1100" b="0" i="0">
                <a:solidFill>
                  <a:srgbClr val="1A1A1A"/>
                </a:solidFill>
                <a:latin typeface="Abadi"/>
              </a:rPr>
              <a:t>▪  They want a reason and a plan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CRYING IS NOT REFLUX</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THE CRYING CURVE HAS ITS OWN CLOCK</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Infants meeting colic criteria by age, %, pooled diary studies (28 studies, 8,690 infants)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Wolke D, et al. J Pediatr 2017;185:55–61 · Heine RG, et al. Arch Dis Child 1995;73:121 · Benninga MA, et al. Gastroenterology 2016;150:1443–55</a:t>
            </a:r>
          </a:p>
        </p:txBody>
      </p:sp>
      <p:sp>
        <p:nvSpPr>
          <p:cNvPr id="12" name="TextBox 11"/>
          <p:cNvSpPr txBox="1"/>
          <p:nvPr/>
        </p:nvSpPr>
        <p:spPr>
          <a:xfrm>
            <a:off x="640080" y="1810512"/>
            <a:ext cx="2286000" cy="228600"/>
          </a:xfrm>
          <a:prstGeom prst="rect">
            <a:avLst/>
          </a:prstGeom>
          <a:noFill/>
        </p:spPr>
        <p:txBody>
          <a:bodyPr wrap="square" lIns="0" rIns="0" tIns="0" bIns="0" anchor="t">
            <a:spAutoFit/>
          </a:bodyPr>
          <a:lstStyle/>
          <a:p>
            <a:pPr algn="l"/>
            <a:r>
              <a:rPr sz="1000" b="0" i="1">
                <a:solidFill>
                  <a:srgbClr val="7F7F7F"/>
                </a:solidFill>
                <a:latin typeface="Abadi"/>
              </a:rPr>
              <a:t>Per cent with colic</a:t>
            </a:r>
          </a:p>
        </p:txBody>
      </p:sp>
      <p:sp>
        <p:nvSpPr>
          <p:cNvPr id="13" name="Rectangle 12"/>
          <p:cNvSpPr/>
          <p:nvPr/>
        </p:nvSpPr>
        <p:spPr>
          <a:xfrm>
            <a:off x="640080" y="5175504"/>
            <a:ext cx="6309360" cy="10972"/>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65860" y="2638044"/>
            <a:ext cx="1051560" cy="2537459"/>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39" y="2363724"/>
            <a:ext cx="1600200" cy="237744"/>
          </a:xfrm>
          <a:prstGeom prst="rect">
            <a:avLst/>
          </a:prstGeom>
          <a:noFill/>
        </p:spPr>
        <p:txBody>
          <a:bodyPr wrap="square" lIns="0" rIns="0" tIns="0" bIns="0" anchor="b">
            <a:spAutoFit/>
          </a:bodyPr>
          <a:lstStyle/>
          <a:p>
            <a:pPr algn="ctr"/>
            <a:r>
              <a:rPr sz="1100" b="1" i="0">
                <a:solidFill>
                  <a:srgbClr val="1A1A1A"/>
                </a:solidFill>
                <a:latin typeface="Abadi"/>
              </a:rPr>
              <a:t>17–25</a:t>
            </a:r>
          </a:p>
        </p:txBody>
      </p:sp>
      <p:sp>
        <p:nvSpPr>
          <p:cNvPr id="16" name="TextBox 15"/>
          <p:cNvSpPr txBox="1"/>
          <p:nvPr/>
        </p:nvSpPr>
        <p:spPr>
          <a:xfrm>
            <a:off x="658368" y="5230368"/>
            <a:ext cx="2066544" cy="512064"/>
          </a:xfrm>
          <a:prstGeom prst="rect">
            <a:avLst/>
          </a:prstGeom>
          <a:noFill/>
        </p:spPr>
        <p:txBody>
          <a:bodyPr wrap="square" lIns="0" rIns="0" tIns="0" bIns="0" anchor="t">
            <a:spAutoFit/>
          </a:bodyPr>
          <a:lstStyle/>
          <a:p>
            <a:pPr algn="ctr"/>
            <a:r>
              <a:rPr sz="1000" b="0" i="0">
                <a:solidFill>
                  <a:srgbClr val="555555"/>
                </a:solidFill>
                <a:latin typeface="Abadi"/>
              </a:rPr>
              <a:t>Weeks 1–6 (range 17–25)</a:t>
            </a:r>
          </a:p>
        </p:txBody>
      </p:sp>
      <p:sp>
        <p:nvSpPr>
          <p:cNvPr id="17" name="Rectangle 16"/>
          <p:cNvSpPr/>
          <p:nvPr/>
        </p:nvSpPr>
        <p:spPr>
          <a:xfrm>
            <a:off x="3268980" y="4059021"/>
            <a:ext cx="1051560" cy="111648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94660" y="3784701"/>
            <a:ext cx="1600200" cy="237744"/>
          </a:xfrm>
          <a:prstGeom prst="rect">
            <a:avLst/>
          </a:prstGeom>
          <a:noFill/>
        </p:spPr>
        <p:txBody>
          <a:bodyPr wrap="square" lIns="0" rIns="0" tIns="0" bIns="0" anchor="b">
            <a:spAutoFit/>
          </a:bodyPr>
          <a:lstStyle/>
          <a:p>
            <a:pPr algn="ctr"/>
            <a:r>
              <a:rPr sz="1100" b="1" i="0">
                <a:solidFill>
                  <a:srgbClr val="1A1A1A"/>
                </a:solidFill>
                <a:latin typeface="Abadi"/>
              </a:rPr>
              <a:t>11</a:t>
            </a:r>
          </a:p>
        </p:txBody>
      </p:sp>
      <p:sp>
        <p:nvSpPr>
          <p:cNvPr id="19" name="TextBox 18"/>
          <p:cNvSpPr txBox="1"/>
          <p:nvPr/>
        </p:nvSpPr>
        <p:spPr>
          <a:xfrm>
            <a:off x="2761488" y="5230368"/>
            <a:ext cx="2066544" cy="512064"/>
          </a:xfrm>
          <a:prstGeom prst="rect">
            <a:avLst/>
          </a:prstGeom>
          <a:noFill/>
        </p:spPr>
        <p:txBody>
          <a:bodyPr wrap="square" lIns="0" rIns="0" tIns="0" bIns="0" anchor="t">
            <a:spAutoFit/>
          </a:bodyPr>
          <a:lstStyle/>
          <a:p>
            <a:pPr algn="ctr"/>
            <a:r>
              <a:rPr sz="1000" b="0" i="0">
                <a:solidFill>
                  <a:srgbClr val="555555"/>
                </a:solidFill>
                <a:latin typeface="Abadi"/>
              </a:rPr>
              <a:t>Weeks 8–9</a:t>
            </a:r>
          </a:p>
        </p:txBody>
      </p:sp>
      <p:sp>
        <p:nvSpPr>
          <p:cNvPr id="20" name="Rectangle 19"/>
          <p:cNvSpPr/>
          <p:nvPr/>
        </p:nvSpPr>
        <p:spPr>
          <a:xfrm>
            <a:off x="5372100" y="5114604"/>
            <a:ext cx="1051560" cy="60899"/>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97780" y="4840284"/>
            <a:ext cx="1600200" cy="237744"/>
          </a:xfrm>
          <a:prstGeom prst="rect">
            <a:avLst/>
          </a:prstGeom>
          <a:noFill/>
        </p:spPr>
        <p:txBody>
          <a:bodyPr wrap="square" lIns="0" rIns="0" tIns="0" bIns="0" anchor="b">
            <a:spAutoFit/>
          </a:bodyPr>
          <a:lstStyle/>
          <a:p>
            <a:pPr algn="ctr"/>
            <a:r>
              <a:rPr sz="1100" b="1" i="0">
                <a:solidFill>
                  <a:srgbClr val="1A1A1A"/>
                </a:solidFill>
                <a:latin typeface="Abadi"/>
              </a:rPr>
              <a:t>0.6</a:t>
            </a:r>
          </a:p>
        </p:txBody>
      </p:sp>
      <p:sp>
        <p:nvSpPr>
          <p:cNvPr id="22" name="TextBox 21"/>
          <p:cNvSpPr txBox="1"/>
          <p:nvPr/>
        </p:nvSpPr>
        <p:spPr>
          <a:xfrm>
            <a:off x="4864608" y="5230368"/>
            <a:ext cx="2066544" cy="512064"/>
          </a:xfrm>
          <a:prstGeom prst="rect">
            <a:avLst/>
          </a:prstGeom>
          <a:noFill/>
        </p:spPr>
        <p:txBody>
          <a:bodyPr wrap="square" lIns="0" rIns="0" tIns="0" bIns="0" anchor="t">
            <a:spAutoFit/>
          </a:bodyPr>
          <a:lstStyle/>
          <a:p>
            <a:pPr algn="ctr"/>
            <a:r>
              <a:rPr sz="1000" b="0" i="0">
                <a:solidFill>
                  <a:srgbClr val="555555"/>
                </a:solidFill>
                <a:latin typeface="Abadi"/>
              </a:rPr>
              <a:t>Weeks 10–12</a:t>
            </a:r>
          </a:p>
        </p:txBody>
      </p:sp>
      <p:sp>
        <p:nvSpPr>
          <p:cNvPr id="23" name="TextBox 22"/>
          <p:cNvSpPr txBox="1"/>
          <p:nvPr/>
        </p:nvSpPr>
        <p:spPr>
          <a:xfrm>
            <a:off x="7406640" y="1773936"/>
            <a:ext cx="4224528" cy="4023360"/>
          </a:xfrm>
          <a:prstGeom prst="rect">
            <a:avLst/>
          </a:prstGeom>
          <a:noFill/>
        </p:spPr>
        <p:txBody>
          <a:bodyPr wrap="square" lIns="0" rIns="0" tIns="0" bIns="0" anchor="t">
            <a:spAutoFit/>
          </a:bodyPr>
          <a:lstStyle/>
          <a:p>
            <a:pPr algn="l"/>
            <a:r>
              <a:rPr sz="1700" b="1" i="0">
                <a:solidFill>
                  <a:srgbClr val="1B355E"/>
                </a:solidFill>
                <a:latin typeface="Abadi"/>
              </a:rPr>
              <a:t>17–25%</a:t>
            </a:r>
          </a:p>
          <a:p>
            <a:pPr algn="l">
              <a:spcBef>
                <a:spcPts val="200"/>
              </a:spcBef>
            </a:pPr>
            <a:r>
              <a:rPr sz="1100" b="0" i="0">
                <a:solidFill>
                  <a:srgbClr val="1A1A1A"/>
                </a:solidFill>
                <a:latin typeface="Abadi"/>
              </a:rPr>
              <a:t>Colic prevalence across the first six weeks; fuss and cry time 117–133 minutes a day, falling to 68 at 10–12 weeks.</a:t>
            </a:r>
          </a:p>
          <a:p>
            <a:pPr algn="l">
              <a:spcBef>
                <a:spcPts val="900"/>
              </a:spcBef>
            </a:pPr>
            <a:r>
              <a:rPr sz="1700" b="1" i="0">
                <a:solidFill>
                  <a:srgbClr val="1B355E"/>
                </a:solidFill>
                <a:latin typeface="Abadi"/>
              </a:rPr>
              <a:t>1 of 24</a:t>
            </a:r>
          </a:p>
          <a:p>
            <a:pPr algn="l">
              <a:spcBef>
                <a:spcPts val="200"/>
              </a:spcBef>
            </a:pPr>
            <a:r>
              <a:rPr sz="1100" b="0" i="0">
                <a:solidFill>
                  <a:srgbClr val="1A1A1A"/>
                </a:solidFill>
                <a:latin typeface="Abadi"/>
              </a:rPr>
              <a:t>Irritable infants under 3 months with pathological acid reflux on pH monitoring (4.2%), against 10 of 46 older infants (Heine 1995).</a:t>
            </a:r>
          </a:p>
          <a:p>
            <a:pPr algn="l">
              <a:spcBef>
                <a:spcPts val="900"/>
              </a:spcBef>
            </a:pPr>
            <a:r>
              <a:rPr sz="1700" b="1" i="0">
                <a:solidFill>
                  <a:srgbClr val="1B355E"/>
                </a:solidFill>
                <a:latin typeface="Abadi"/>
              </a:rPr>
              <a:t>No silent reflux</a:t>
            </a:r>
          </a:p>
          <a:p>
            <a:pPr algn="l">
              <a:spcBef>
                <a:spcPts val="200"/>
              </a:spcBef>
            </a:pPr>
            <a:r>
              <a:rPr sz="1100" b="0" i="0">
                <a:solidFill>
                  <a:srgbClr val="1A1A1A"/>
                </a:solidFill>
                <a:latin typeface="Abadi"/>
              </a:rPr>
              <a:t>Every infant with pathological reflux in that series also vomited frequently; arching, sleep disturbance and feed refusal did not predict it.</a:t>
            </a:r>
          </a:p>
          <a:p>
            <a:pPr algn="l">
              <a:spcBef>
                <a:spcPts val="900"/>
              </a:spcBef>
            </a:pPr>
            <a:r>
              <a:rPr sz="1700" b="1" i="0">
                <a:solidFill>
                  <a:srgbClr val="1B355E"/>
                </a:solidFill>
                <a:latin typeface="Abadi"/>
              </a:rPr>
              <a:t>Rome IV</a:t>
            </a:r>
          </a:p>
          <a:p>
            <a:pPr algn="l">
              <a:spcBef>
                <a:spcPts val="200"/>
              </a:spcBef>
            </a:pPr>
            <a:r>
              <a:rPr sz="1100" b="0" i="0">
                <a:solidFill>
                  <a:srgbClr val="1A1A1A"/>
                </a:solidFill>
                <a:latin typeface="Abadi"/>
              </a:rPr>
              <a:t>There is a lack of correlation between crying, irritability and 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ACID IS NOT THE CRY</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OMEPRAZOLE FIXED THE PROBE, NOT THE CRYING</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Crossover RCT in 30 irritable infants aged 3–12 months: cry and fuss time, minutes per 24 h</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Moore DJ, et al. J Pediatr 2003;143:219–23 · Orenstein SR, et al. J Pediatr 2009;154:514–20 · Gieruszczak-Białek D, et al. J Pediatr 2015;166:767–70</a:t>
            </a:r>
          </a:p>
        </p:txBody>
      </p:sp>
      <p:sp>
        <p:nvSpPr>
          <p:cNvPr id="12" name="TextBox 11"/>
          <p:cNvSpPr txBox="1"/>
          <p:nvPr/>
        </p:nvSpPr>
        <p:spPr>
          <a:xfrm>
            <a:off x="822960" y="1810512"/>
            <a:ext cx="2286000" cy="228600"/>
          </a:xfrm>
          <a:prstGeom prst="rect">
            <a:avLst/>
          </a:prstGeom>
          <a:noFill/>
        </p:spPr>
        <p:txBody>
          <a:bodyPr wrap="square" lIns="0" rIns="0" tIns="0" bIns="0" anchor="t">
            <a:spAutoFit/>
          </a:bodyPr>
          <a:lstStyle/>
          <a:p>
            <a:pPr algn="l"/>
            <a:r>
              <a:rPr sz="1000" b="0" i="1">
                <a:solidFill>
                  <a:srgbClr val="7F7F7F"/>
                </a:solidFill>
                <a:latin typeface="Abadi"/>
              </a:rPr>
              <a:t>Minutes per 24 h</a:t>
            </a:r>
          </a:p>
        </p:txBody>
      </p:sp>
      <p:sp>
        <p:nvSpPr>
          <p:cNvPr id="13" name="Rectangle 12"/>
          <p:cNvSpPr/>
          <p:nvPr/>
        </p:nvSpPr>
        <p:spPr>
          <a:xfrm>
            <a:off x="822960" y="5175504"/>
            <a:ext cx="3840480" cy="10972"/>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03020" y="2465496"/>
            <a:ext cx="960120" cy="2710007"/>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2191176"/>
            <a:ext cx="1508760" cy="237744"/>
          </a:xfrm>
          <a:prstGeom prst="rect">
            <a:avLst/>
          </a:prstGeom>
          <a:noFill/>
        </p:spPr>
        <p:txBody>
          <a:bodyPr wrap="square" lIns="0" rIns="0" tIns="0" bIns="0" anchor="b">
            <a:spAutoFit/>
          </a:bodyPr>
          <a:lstStyle/>
          <a:p>
            <a:pPr algn="ctr"/>
            <a:r>
              <a:rPr sz="1100" b="1" i="0">
                <a:solidFill>
                  <a:srgbClr val="1A1A1A"/>
                </a:solidFill>
                <a:latin typeface="Abadi"/>
              </a:rPr>
              <a:t>267</a:t>
            </a:r>
          </a:p>
        </p:txBody>
      </p:sp>
      <p:sp>
        <p:nvSpPr>
          <p:cNvPr id="16" name="TextBox 15"/>
          <p:cNvSpPr txBox="1"/>
          <p:nvPr/>
        </p:nvSpPr>
        <p:spPr>
          <a:xfrm>
            <a:off x="841248" y="5230368"/>
            <a:ext cx="1883664" cy="512064"/>
          </a:xfrm>
          <a:prstGeom prst="rect">
            <a:avLst/>
          </a:prstGeom>
          <a:noFill/>
        </p:spPr>
        <p:txBody>
          <a:bodyPr wrap="square" lIns="0" rIns="0" tIns="0" bIns="0" anchor="t">
            <a:spAutoFit/>
          </a:bodyPr>
          <a:lstStyle/>
          <a:p>
            <a:pPr algn="ctr"/>
            <a:r>
              <a:rPr sz="1000" b="0" i="0">
                <a:solidFill>
                  <a:srgbClr val="555555"/>
                </a:solidFill>
                <a:latin typeface="Abadi"/>
              </a:rPr>
              <a:t>Baseline</a:t>
            </a:r>
          </a:p>
        </p:txBody>
      </p:sp>
      <p:sp>
        <p:nvSpPr>
          <p:cNvPr id="17" name="Rectangle 16"/>
          <p:cNvSpPr/>
          <p:nvPr/>
        </p:nvSpPr>
        <p:spPr>
          <a:xfrm>
            <a:off x="3223260" y="3267334"/>
            <a:ext cx="960120" cy="1908169"/>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940" y="2993014"/>
            <a:ext cx="1508760" cy="237744"/>
          </a:xfrm>
          <a:prstGeom prst="rect">
            <a:avLst/>
          </a:prstGeom>
          <a:noFill/>
        </p:spPr>
        <p:txBody>
          <a:bodyPr wrap="square" lIns="0" rIns="0" tIns="0" bIns="0" anchor="b">
            <a:spAutoFit/>
          </a:bodyPr>
          <a:lstStyle/>
          <a:p>
            <a:pPr algn="ctr"/>
            <a:r>
              <a:rPr sz="1100" b="1" i="0">
                <a:solidFill>
                  <a:srgbClr val="1A1A1A"/>
                </a:solidFill>
                <a:latin typeface="Abadi"/>
              </a:rPr>
              <a:t>188</a:t>
            </a:r>
          </a:p>
        </p:txBody>
      </p:sp>
      <p:sp>
        <p:nvSpPr>
          <p:cNvPr id="19" name="TextBox 18"/>
          <p:cNvSpPr txBox="1"/>
          <p:nvPr/>
        </p:nvSpPr>
        <p:spPr>
          <a:xfrm>
            <a:off x="2761488" y="5230368"/>
            <a:ext cx="1883664" cy="512064"/>
          </a:xfrm>
          <a:prstGeom prst="rect">
            <a:avLst/>
          </a:prstGeom>
          <a:noFill/>
        </p:spPr>
        <p:txBody>
          <a:bodyPr wrap="square" lIns="0" rIns="0" tIns="0" bIns="0" anchor="t">
            <a:spAutoFit/>
          </a:bodyPr>
          <a:lstStyle/>
          <a:p>
            <a:pPr algn="ctr"/>
            <a:r>
              <a:rPr sz="1000" b="0" i="0">
                <a:solidFill>
                  <a:srgbClr val="555555"/>
                </a:solidFill>
                <a:latin typeface="Abadi"/>
              </a:rPr>
              <a:t>After either arm</a:t>
            </a:r>
          </a:p>
        </p:txBody>
      </p:sp>
      <p:sp>
        <p:nvSpPr>
          <p:cNvPr id="20" name="TextBox 19"/>
          <p:cNvSpPr txBox="1"/>
          <p:nvPr/>
        </p:nvSpPr>
        <p:spPr>
          <a:xfrm>
            <a:off x="4846320" y="1810512"/>
            <a:ext cx="2286000" cy="228600"/>
          </a:xfrm>
          <a:prstGeom prst="rect">
            <a:avLst/>
          </a:prstGeom>
          <a:noFill/>
        </p:spPr>
        <p:txBody>
          <a:bodyPr wrap="square" lIns="0" rIns="0" tIns="0" bIns="0" anchor="t">
            <a:spAutoFit/>
          </a:bodyPr>
          <a:lstStyle/>
          <a:p>
            <a:pPr algn="l"/>
            <a:r>
              <a:rPr sz="1000" b="0" i="1">
                <a:solidFill>
                  <a:srgbClr val="7F7F7F"/>
                </a:solidFill>
                <a:latin typeface="Abadi"/>
              </a:rPr>
              <a:t>Fall in reflux index, points</a:t>
            </a:r>
          </a:p>
        </p:txBody>
      </p:sp>
      <p:sp>
        <p:nvSpPr>
          <p:cNvPr id="21" name="Rectangle 20"/>
          <p:cNvSpPr/>
          <p:nvPr/>
        </p:nvSpPr>
        <p:spPr>
          <a:xfrm>
            <a:off x="4846320" y="5175504"/>
            <a:ext cx="2560320" cy="10972"/>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66359" y="2465496"/>
            <a:ext cx="640080" cy="2710007"/>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92040" y="2191176"/>
            <a:ext cx="1188719" cy="237744"/>
          </a:xfrm>
          <a:prstGeom prst="rect">
            <a:avLst/>
          </a:prstGeom>
          <a:noFill/>
        </p:spPr>
        <p:txBody>
          <a:bodyPr wrap="square" lIns="0" rIns="0" tIns="0" bIns="0" anchor="b">
            <a:spAutoFit/>
          </a:bodyPr>
          <a:lstStyle/>
          <a:p>
            <a:pPr algn="ctr"/>
            <a:r>
              <a:rPr sz="1100" b="1" i="0">
                <a:solidFill>
                  <a:srgbClr val="1A1A1A"/>
                </a:solidFill>
                <a:latin typeface="Abadi"/>
              </a:rPr>
              <a:t>−8.9</a:t>
            </a:r>
          </a:p>
        </p:txBody>
      </p:sp>
      <p:sp>
        <p:nvSpPr>
          <p:cNvPr id="24" name="TextBox 23"/>
          <p:cNvSpPr txBox="1"/>
          <p:nvPr/>
        </p:nvSpPr>
        <p:spPr>
          <a:xfrm>
            <a:off x="4864607" y="5230368"/>
            <a:ext cx="1243584" cy="512064"/>
          </a:xfrm>
          <a:prstGeom prst="rect">
            <a:avLst/>
          </a:prstGeom>
          <a:noFill/>
        </p:spPr>
        <p:txBody>
          <a:bodyPr wrap="square" lIns="0" rIns="0" tIns="0" bIns="0" anchor="t">
            <a:spAutoFit/>
          </a:bodyPr>
          <a:lstStyle/>
          <a:p>
            <a:pPr algn="ctr"/>
            <a:r>
              <a:rPr sz="1000" b="0" i="0">
                <a:solidFill>
                  <a:srgbClr val="555555"/>
                </a:solidFill>
                <a:latin typeface="Abadi"/>
              </a:rPr>
              <a:t>Omeprazole</a:t>
            </a:r>
          </a:p>
        </p:txBody>
      </p:sp>
      <p:sp>
        <p:nvSpPr>
          <p:cNvPr id="25" name="Rectangle 24"/>
          <p:cNvSpPr/>
          <p:nvPr/>
        </p:nvSpPr>
        <p:spPr>
          <a:xfrm>
            <a:off x="6446519" y="4596963"/>
            <a:ext cx="640080" cy="57854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199" y="4322643"/>
            <a:ext cx="1188719" cy="237744"/>
          </a:xfrm>
          <a:prstGeom prst="rect">
            <a:avLst/>
          </a:prstGeom>
          <a:noFill/>
        </p:spPr>
        <p:txBody>
          <a:bodyPr wrap="square" lIns="0" rIns="0" tIns="0" bIns="0" anchor="b">
            <a:spAutoFit/>
          </a:bodyPr>
          <a:lstStyle/>
          <a:p>
            <a:pPr algn="ctr"/>
            <a:r>
              <a:rPr sz="1100" b="1" i="0">
                <a:solidFill>
                  <a:srgbClr val="1A1A1A"/>
                </a:solidFill>
                <a:latin typeface="Abadi"/>
              </a:rPr>
              <a:t>−1.9</a:t>
            </a:r>
          </a:p>
        </p:txBody>
      </p:sp>
      <p:sp>
        <p:nvSpPr>
          <p:cNvPr id="27" name="TextBox 26"/>
          <p:cNvSpPr txBox="1"/>
          <p:nvPr/>
        </p:nvSpPr>
        <p:spPr>
          <a:xfrm>
            <a:off x="6144767" y="5230368"/>
            <a:ext cx="1243584" cy="512064"/>
          </a:xfrm>
          <a:prstGeom prst="rect">
            <a:avLst/>
          </a:prstGeom>
          <a:noFill/>
        </p:spPr>
        <p:txBody>
          <a:bodyPr wrap="square" lIns="0" rIns="0" tIns="0" bIns="0" anchor="t">
            <a:spAutoFit/>
          </a:bodyPr>
          <a:lstStyle/>
          <a:p>
            <a:pPr algn="ctr"/>
            <a:r>
              <a:rPr sz="1000" b="0" i="0">
                <a:solidFill>
                  <a:srgbClr val="555555"/>
                </a:solidFill>
                <a:latin typeface="Abadi"/>
              </a:rPr>
              <a:t>Placebo</a:t>
            </a:r>
          </a:p>
        </p:txBody>
      </p:sp>
      <p:sp>
        <p:nvSpPr>
          <p:cNvPr id="28" name="TextBox 27"/>
          <p:cNvSpPr txBox="1"/>
          <p:nvPr/>
        </p:nvSpPr>
        <p:spPr>
          <a:xfrm>
            <a:off x="7772400" y="1773936"/>
            <a:ext cx="3858768" cy="4023360"/>
          </a:xfrm>
          <a:prstGeom prst="rect">
            <a:avLst/>
          </a:prstGeom>
          <a:noFill/>
        </p:spPr>
        <p:txBody>
          <a:bodyPr wrap="square" lIns="0" rIns="0" tIns="0" bIns="0" anchor="t">
            <a:spAutoFit/>
          </a:bodyPr>
          <a:lstStyle/>
          <a:p>
            <a:pPr algn="l"/>
            <a:r>
              <a:rPr sz="1700" b="1" i="0">
                <a:solidFill>
                  <a:srgbClr val="1B355E"/>
                </a:solidFill>
                <a:latin typeface="Abadi"/>
              </a:rPr>
              <a:t>Same fall</a:t>
            </a:r>
          </a:p>
          <a:p>
            <a:pPr algn="l">
              <a:spcBef>
                <a:spcPts val="200"/>
              </a:spcBef>
            </a:pPr>
            <a:r>
              <a:rPr sz="1100" b="0" i="0">
                <a:solidFill>
                  <a:srgbClr val="1A1A1A"/>
                </a:solidFill>
                <a:latin typeface="Abadi"/>
              </a:rPr>
              <a:t>Crying fell by the same amount whichever arm came first: time, not acid, settled the babies.</a:t>
            </a:r>
          </a:p>
          <a:p>
            <a:pPr algn="l">
              <a:spcBef>
                <a:spcPts val="900"/>
              </a:spcBef>
            </a:pPr>
            <a:r>
              <a:rPr sz="1700" b="1" i="0">
                <a:solidFill>
                  <a:srgbClr val="1B355E"/>
                </a:solidFill>
                <a:latin typeface="Abadi"/>
              </a:rPr>
              <a:t>P &lt; 0.001</a:t>
            </a:r>
          </a:p>
          <a:p>
            <a:pPr algn="l">
              <a:spcBef>
                <a:spcPts val="200"/>
              </a:spcBef>
            </a:pPr>
            <a:r>
              <a:rPr sz="1100" b="0" i="0">
                <a:solidFill>
                  <a:srgbClr val="1A1A1A"/>
                </a:solidFill>
                <a:latin typeface="Abadi"/>
              </a:rPr>
              <a:t>Omeprazole reduced the oesophageal acid exposure; the probe improved, the infant did not.</a:t>
            </a:r>
          </a:p>
          <a:p>
            <a:pPr algn="l">
              <a:spcBef>
                <a:spcPts val="900"/>
              </a:spcBef>
            </a:pPr>
            <a:r>
              <a:rPr sz="1700" b="1" i="0">
                <a:solidFill>
                  <a:srgbClr val="1B355E"/>
                </a:solidFill>
                <a:latin typeface="Abadi"/>
              </a:rPr>
              <a:t>54% = 54%</a:t>
            </a:r>
          </a:p>
          <a:p>
            <a:pPr algn="l">
              <a:spcBef>
                <a:spcPts val="200"/>
              </a:spcBef>
            </a:pPr>
            <a:r>
              <a:rPr sz="1100" b="0" i="0">
                <a:solidFill>
                  <a:srgbClr val="1A1A1A"/>
                </a:solidFill>
                <a:latin typeface="Abadi"/>
              </a:rPr>
              <a:t>Lansoprazole and placebo responders in 162 infants (Orenstein 2009); serious adverse events 10 vs 2, mainly lower respiratory infections.</a:t>
            </a:r>
          </a:p>
          <a:p>
            <a:pPr algn="l">
              <a:spcBef>
                <a:spcPts val="900"/>
              </a:spcBef>
            </a:pPr>
            <a:r>
              <a:rPr sz="1700" b="1" i="0">
                <a:solidFill>
                  <a:srgbClr val="1B355E"/>
                </a:solidFill>
                <a:latin typeface="Abadi"/>
              </a:rPr>
              <a:t>Meta-analysis</a:t>
            </a:r>
          </a:p>
          <a:p>
            <a:pPr algn="l">
              <a:spcBef>
                <a:spcPts val="200"/>
              </a:spcBef>
            </a:pPr>
            <a:r>
              <a:rPr sz="1100" b="0" i="0">
                <a:solidFill>
                  <a:srgbClr val="1A1A1A"/>
                </a:solidFill>
                <a:latin typeface="Abadi"/>
              </a:rPr>
              <a:t>Five RCTs: proton pump inhibitors do not reduce crying or irritability in infants (Gieruszczak-Białek 2015).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QUESTIONNAIRES OVERCALL</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A SCORE IS NOT A DIAGNOSIS</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Infants scoring ≥ 16 on the revised Infant GER Questionnaire (I-GERQ-R), %, and its accuracy against biopsy and pH</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Van Howe RS, Storms MR. BMC Pediatr 2010;10:7 · van Lennep M, et al. Eur J Pediatr 2024;183:445–52 · Salvatore S, et al. JPGN 2005;40:210–5 · Kleinman L, et al. Clin Gastroenterol Hepatol 2006;4:588–96</a:t>
            </a:r>
          </a:p>
        </p:txBody>
      </p:sp>
      <p:sp>
        <p:nvSpPr>
          <p:cNvPr id="12" name="TextBox 11"/>
          <p:cNvSpPr txBox="1"/>
          <p:nvPr/>
        </p:nvSpPr>
        <p:spPr>
          <a:xfrm>
            <a:off x="548640" y="1828800"/>
            <a:ext cx="3566160" cy="621792"/>
          </a:xfrm>
          <a:prstGeom prst="rect">
            <a:avLst/>
          </a:prstGeom>
          <a:noFill/>
        </p:spPr>
        <p:txBody>
          <a:bodyPr wrap="square" lIns="0" rIns="0" tIns="0" bIns="0" anchor="ctr">
            <a:spAutoFit/>
          </a:bodyPr>
          <a:lstStyle/>
          <a:p>
            <a:pPr algn="r"/>
            <a:r>
              <a:rPr sz="1100" b="0" i="0">
                <a:solidFill>
                  <a:srgbClr val="1A1A1A"/>
                </a:solidFill>
                <a:latin typeface="Abadi"/>
              </a:rPr>
              <a:t>Unselected infants, 1 month (Van Howe)</a:t>
            </a:r>
          </a:p>
        </p:txBody>
      </p:sp>
      <p:sp>
        <p:nvSpPr>
          <p:cNvPr id="13" name="Rectangle 12"/>
          <p:cNvSpPr/>
          <p:nvPr/>
        </p:nvSpPr>
        <p:spPr>
          <a:xfrm>
            <a:off x="4297680" y="1965960"/>
            <a:ext cx="863600" cy="34747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4432" y="1828800"/>
            <a:ext cx="1463040" cy="621792"/>
          </a:xfrm>
          <a:prstGeom prst="rect">
            <a:avLst/>
          </a:prstGeom>
          <a:noFill/>
        </p:spPr>
        <p:txBody>
          <a:bodyPr wrap="square" lIns="0" rIns="0" tIns="0" bIns="0" anchor="ctr">
            <a:spAutoFit/>
          </a:bodyPr>
          <a:lstStyle/>
          <a:p>
            <a:pPr algn="l"/>
            <a:r>
              <a:rPr sz="1100" b="1" i="0">
                <a:solidFill>
                  <a:srgbClr val="1A1A1A"/>
                </a:solidFill>
                <a:latin typeface="Abadi"/>
              </a:rPr>
              <a:t>25.5%</a:t>
            </a:r>
          </a:p>
        </p:txBody>
      </p:sp>
      <p:sp>
        <p:nvSpPr>
          <p:cNvPr id="15" name="TextBox 14"/>
          <p:cNvSpPr txBox="1"/>
          <p:nvPr/>
        </p:nvSpPr>
        <p:spPr>
          <a:xfrm>
            <a:off x="548640" y="2450592"/>
            <a:ext cx="3566160" cy="621792"/>
          </a:xfrm>
          <a:prstGeom prst="rect">
            <a:avLst/>
          </a:prstGeom>
          <a:noFill/>
        </p:spPr>
        <p:txBody>
          <a:bodyPr wrap="square" lIns="0" rIns="0" tIns="0" bIns="0" anchor="ctr">
            <a:spAutoFit/>
          </a:bodyPr>
          <a:lstStyle/>
          <a:p>
            <a:pPr algn="r"/>
            <a:r>
              <a:rPr sz="1100" b="0" i="0">
                <a:solidFill>
                  <a:srgbClr val="1A1A1A"/>
                </a:solidFill>
                <a:latin typeface="Abadi"/>
              </a:rPr>
              <a:t>Healthy infants, 0–1 month (van Lennep)</a:t>
            </a:r>
          </a:p>
        </p:txBody>
      </p:sp>
      <p:sp>
        <p:nvSpPr>
          <p:cNvPr id="16" name="Rectangle 15"/>
          <p:cNvSpPr/>
          <p:nvPr/>
        </p:nvSpPr>
        <p:spPr>
          <a:xfrm>
            <a:off x="4297680" y="2587752"/>
            <a:ext cx="541866" cy="34747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12698" y="2450592"/>
            <a:ext cx="1463040" cy="621792"/>
          </a:xfrm>
          <a:prstGeom prst="rect">
            <a:avLst/>
          </a:prstGeom>
          <a:noFill/>
        </p:spPr>
        <p:txBody>
          <a:bodyPr wrap="square" lIns="0" rIns="0" tIns="0" bIns="0" anchor="ctr">
            <a:spAutoFit/>
          </a:bodyPr>
          <a:lstStyle/>
          <a:p>
            <a:pPr algn="l"/>
            <a:r>
              <a:rPr sz="1100" b="1" i="0">
                <a:solidFill>
                  <a:srgbClr val="1A1A1A"/>
                </a:solidFill>
                <a:latin typeface="Abadi"/>
              </a:rPr>
              <a:t>16%</a:t>
            </a:r>
          </a:p>
        </p:txBody>
      </p:sp>
      <p:sp>
        <p:nvSpPr>
          <p:cNvPr id="18" name="TextBox 17"/>
          <p:cNvSpPr txBox="1"/>
          <p:nvPr/>
        </p:nvSpPr>
        <p:spPr>
          <a:xfrm>
            <a:off x="548640" y="3072384"/>
            <a:ext cx="3566160" cy="621792"/>
          </a:xfrm>
          <a:prstGeom prst="rect">
            <a:avLst/>
          </a:prstGeom>
          <a:noFill/>
        </p:spPr>
        <p:txBody>
          <a:bodyPr wrap="square" lIns="0" rIns="0" tIns="0" bIns="0" anchor="ctr">
            <a:spAutoFit/>
          </a:bodyPr>
          <a:lstStyle/>
          <a:p>
            <a:pPr algn="r"/>
            <a:r>
              <a:rPr sz="1100" b="0" i="0">
                <a:solidFill>
                  <a:srgbClr val="1A1A1A"/>
                </a:solidFill>
                <a:latin typeface="Abadi"/>
              </a:rPr>
              <a:t>Unselected infants, 6 months (Van Howe)</a:t>
            </a:r>
          </a:p>
        </p:txBody>
      </p:sp>
      <p:sp>
        <p:nvSpPr>
          <p:cNvPr id="19" name="Rectangle 18"/>
          <p:cNvSpPr/>
          <p:nvPr/>
        </p:nvSpPr>
        <p:spPr>
          <a:xfrm>
            <a:off x="4297680" y="3209544"/>
            <a:ext cx="98213" cy="34747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69045" y="3072384"/>
            <a:ext cx="1463040" cy="621792"/>
          </a:xfrm>
          <a:prstGeom prst="rect">
            <a:avLst/>
          </a:prstGeom>
          <a:noFill/>
        </p:spPr>
        <p:txBody>
          <a:bodyPr wrap="square" lIns="0" rIns="0" tIns="0" bIns="0" anchor="ctr">
            <a:spAutoFit/>
          </a:bodyPr>
          <a:lstStyle/>
          <a:p>
            <a:pPr algn="l"/>
            <a:r>
              <a:rPr sz="1100" b="1" i="0">
                <a:solidFill>
                  <a:srgbClr val="1A1A1A"/>
                </a:solidFill>
                <a:latin typeface="Abadi"/>
              </a:rPr>
              <a:t>2.9%</a:t>
            </a:r>
          </a:p>
        </p:txBody>
      </p:sp>
      <p:sp>
        <p:nvSpPr>
          <p:cNvPr id="21" name="TextBox 20"/>
          <p:cNvSpPr txBox="1"/>
          <p:nvPr/>
        </p:nvSpPr>
        <p:spPr>
          <a:xfrm>
            <a:off x="548640" y="3694176"/>
            <a:ext cx="3566160" cy="621792"/>
          </a:xfrm>
          <a:prstGeom prst="rect">
            <a:avLst/>
          </a:prstGeom>
          <a:noFill/>
        </p:spPr>
        <p:txBody>
          <a:bodyPr wrap="square" lIns="0" rIns="0" tIns="0" bIns="0" anchor="ctr">
            <a:spAutoFit/>
          </a:bodyPr>
          <a:lstStyle/>
          <a:p>
            <a:pPr algn="r"/>
            <a:r>
              <a:rPr sz="1100" b="0" i="0">
                <a:solidFill>
                  <a:srgbClr val="1A1A1A"/>
                </a:solidFill>
                <a:latin typeface="Abadi"/>
              </a:rPr>
              <a:t>Positive with normal biopsy and pH (Salvatore)</a:t>
            </a:r>
          </a:p>
        </p:txBody>
      </p:sp>
      <p:sp>
        <p:nvSpPr>
          <p:cNvPr id="22" name="Rectangle 21"/>
          <p:cNvSpPr/>
          <p:nvPr/>
        </p:nvSpPr>
        <p:spPr>
          <a:xfrm>
            <a:off x="4297680" y="3831336"/>
            <a:ext cx="2743200"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2" y="3694176"/>
            <a:ext cx="1463040" cy="621792"/>
          </a:xfrm>
          <a:prstGeom prst="rect">
            <a:avLst/>
          </a:prstGeom>
          <a:noFill/>
        </p:spPr>
        <p:txBody>
          <a:bodyPr wrap="square" lIns="0" rIns="0" tIns="0" bIns="0" anchor="ctr">
            <a:spAutoFit/>
          </a:bodyPr>
          <a:lstStyle/>
          <a:p>
            <a:pPr algn="l"/>
            <a:r>
              <a:rPr sz="1100" b="1" i="0">
                <a:solidFill>
                  <a:srgbClr val="1A1A1A"/>
                </a:solidFill>
                <a:latin typeface="Abadi"/>
              </a:rPr>
              <a:t>81%</a:t>
            </a:r>
          </a:p>
        </p:txBody>
      </p:sp>
      <p:sp>
        <p:nvSpPr>
          <p:cNvPr id="24" name="TextBox 23"/>
          <p:cNvSpPr txBox="1"/>
          <p:nvPr/>
        </p:nvSpPr>
        <p:spPr>
          <a:xfrm>
            <a:off x="548640" y="4315968"/>
            <a:ext cx="3566160" cy="621792"/>
          </a:xfrm>
          <a:prstGeom prst="rect">
            <a:avLst/>
          </a:prstGeom>
          <a:noFill/>
        </p:spPr>
        <p:txBody>
          <a:bodyPr wrap="square" lIns="0" rIns="0" tIns="0" bIns="0" anchor="ctr">
            <a:spAutoFit/>
          </a:bodyPr>
          <a:lstStyle/>
          <a:p>
            <a:pPr algn="r"/>
            <a:r>
              <a:rPr sz="1100" b="0" i="0">
                <a:solidFill>
                  <a:srgbClr val="1A1A1A"/>
                </a:solidFill>
                <a:latin typeface="Abadi"/>
              </a:rPr>
              <a:t>GERD missed by the cut-off (Salvatore)</a:t>
            </a:r>
          </a:p>
        </p:txBody>
      </p:sp>
      <p:sp>
        <p:nvSpPr>
          <p:cNvPr id="25" name="Rectangle 24"/>
          <p:cNvSpPr/>
          <p:nvPr/>
        </p:nvSpPr>
        <p:spPr>
          <a:xfrm>
            <a:off x="4297680" y="4453128"/>
            <a:ext cx="880533" cy="34747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51365" y="4315968"/>
            <a:ext cx="1463040" cy="621792"/>
          </a:xfrm>
          <a:prstGeom prst="rect">
            <a:avLst/>
          </a:prstGeom>
          <a:noFill/>
        </p:spPr>
        <p:txBody>
          <a:bodyPr wrap="square" lIns="0" rIns="0" tIns="0" bIns="0" anchor="ctr">
            <a:spAutoFit/>
          </a:bodyPr>
          <a:lstStyle/>
          <a:p>
            <a:pPr algn="l"/>
            <a:r>
              <a:rPr sz="1100" b="1" i="0">
                <a:solidFill>
                  <a:srgbClr val="1A1A1A"/>
                </a:solidFill>
                <a:latin typeface="Abadi"/>
              </a:rPr>
              <a:t>26%</a:t>
            </a:r>
          </a:p>
        </p:txBody>
      </p:sp>
      <p:sp>
        <p:nvSpPr>
          <p:cNvPr id="27" name="TextBox 26"/>
          <p:cNvSpPr txBox="1"/>
          <p:nvPr/>
        </p:nvSpPr>
        <p:spPr>
          <a:xfrm>
            <a:off x="8183879" y="1773936"/>
            <a:ext cx="3447288" cy="4023360"/>
          </a:xfrm>
          <a:prstGeom prst="rect">
            <a:avLst/>
          </a:prstGeom>
          <a:noFill/>
        </p:spPr>
        <p:txBody>
          <a:bodyPr wrap="square" lIns="0" rIns="0" tIns="0" bIns="0" anchor="t">
            <a:spAutoFit/>
          </a:bodyPr>
          <a:lstStyle/>
          <a:p>
            <a:pPr algn="l"/>
            <a:r>
              <a:rPr sz="1700" b="1" i="0">
                <a:solidFill>
                  <a:srgbClr val="1B355E"/>
                </a:solidFill>
                <a:latin typeface="Abadi"/>
              </a:rPr>
              <a:t>Built to track</a:t>
            </a:r>
          </a:p>
          <a:p>
            <a:pPr algn="l">
              <a:spcBef>
                <a:spcPts val="200"/>
              </a:spcBef>
            </a:pPr>
            <a:r>
              <a:rPr sz="1100" b="0" i="0">
                <a:solidFill>
                  <a:srgbClr val="1A1A1A"/>
                </a:solidFill>
                <a:latin typeface="Abadi"/>
              </a:rPr>
              <a:t>The I-GERQ-R has 12 items, scores 0–42 and is positive at 16; it was validated to follow symptoms, not to diagnose disease.</a:t>
            </a:r>
          </a:p>
          <a:p>
            <a:pPr algn="l">
              <a:spcBef>
                <a:spcPts val="900"/>
              </a:spcBef>
            </a:pPr>
            <a:r>
              <a:rPr sz="1700" b="1" i="0">
                <a:solidFill>
                  <a:srgbClr val="1B355E"/>
                </a:solidFill>
                <a:latin typeface="Abadi"/>
              </a:rPr>
              <a:t>Colic inflates it</a:t>
            </a:r>
          </a:p>
          <a:p>
            <a:pPr algn="l">
              <a:spcBef>
                <a:spcPts val="200"/>
              </a:spcBef>
            </a:pPr>
            <a:r>
              <a:rPr sz="1100" b="0" i="0">
                <a:solidFill>
                  <a:srgbClr val="1A1A1A"/>
                </a:solidFill>
                <a:latin typeface="Abadi"/>
              </a:rPr>
              <a:t>Early scores are driven by crying items, which is why a quarter of 1-month-olds screen positive.</a:t>
            </a:r>
          </a:p>
          <a:p>
            <a:pPr algn="l">
              <a:spcBef>
                <a:spcPts val="900"/>
              </a:spcBef>
            </a:pPr>
            <a:r>
              <a:rPr sz="1700" b="1" i="0">
                <a:solidFill>
                  <a:srgbClr val="1B355E"/>
                </a:solidFill>
                <a:latin typeface="Abadi"/>
              </a:rPr>
              <a:t>Poor agreement</a:t>
            </a:r>
          </a:p>
          <a:p>
            <a:pPr algn="l">
              <a:spcBef>
                <a:spcPts val="200"/>
              </a:spcBef>
            </a:pPr>
            <a:r>
              <a:rPr sz="1100" b="0" i="0">
                <a:solidFill>
                  <a:srgbClr val="1A1A1A"/>
                </a:solidFill>
                <a:latin typeface="Abadi"/>
              </a:rPr>
              <a:t>In Salvatore's 100 infants with suspected GERD, symptoms, histology and pH monitoring correlated poorly.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LABEL SELLS THE DRUG</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WORDS PRESCRIBE</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How a diagnostic label and a guideline change what families and doctors do</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Scherer LD, et al. Pediatrics 2013 · Malchodi L, et al. Pediatrics 2019;144:e20182625 · Orenstein 2009 · Rosen R, et al. JPGN 2018;66:516–54</a:t>
            </a:r>
          </a:p>
        </p:txBody>
      </p:sp>
      <p:sp>
        <p:nvSpPr>
          <p:cNvPr id="12" name="Rectangle 11"/>
          <p:cNvSpPr/>
          <p:nvPr/>
        </p:nvSpPr>
        <p:spPr>
          <a:xfrm>
            <a:off x="548640" y="1773936"/>
            <a:ext cx="2630728" cy="23774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0728"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2301544" cy="457200"/>
          </a:xfrm>
          <a:prstGeom prst="rect">
            <a:avLst/>
          </a:prstGeom>
          <a:noFill/>
        </p:spPr>
        <p:txBody>
          <a:bodyPr wrap="square" lIns="0" rIns="0" tIns="0" bIns="0" anchor="t">
            <a:spAutoFit/>
          </a:bodyPr>
          <a:lstStyle/>
          <a:p>
            <a:pPr algn="l"/>
            <a:r>
              <a:rPr sz="1500" b="1" i="0">
                <a:solidFill>
                  <a:srgbClr val="1B355E"/>
                </a:solidFill>
                <a:latin typeface="Abadi"/>
              </a:rPr>
              <a:t>The experiment</a:t>
            </a:r>
          </a:p>
        </p:txBody>
      </p:sp>
      <p:sp>
        <p:nvSpPr>
          <p:cNvPr id="15" name="TextBox 14"/>
          <p:cNvSpPr txBox="1"/>
          <p:nvPr/>
        </p:nvSpPr>
        <p:spPr>
          <a:xfrm>
            <a:off x="713232" y="2523744"/>
            <a:ext cx="2301544" cy="1508760"/>
          </a:xfrm>
          <a:prstGeom prst="rect">
            <a:avLst/>
          </a:prstGeom>
          <a:noFill/>
        </p:spPr>
        <p:txBody>
          <a:bodyPr wrap="square" lIns="0" rIns="0" tIns="0" bIns="0" anchor="t">
            <a:spAutoFit/>
          </a:bodyPr>
          <a:lstStyle/>
          <a:p>
            <a:pPr algn="l"/>
            <a:r>
              <a:rPr sz="1150" b="0" i="0">
                <a:solidFill>
                  <a:srgbClr val="1A1A1A"/>
                </a:solidFill>
                <a:latin typeface="Abadi"/>
              </a:rPr>
              <a:t>▪  175 parents, a vignette of a crying infant</a:t>
            </a:r>
          </a:p>
          <a:p>
            <a:pPr algn="l">
              <a:spcBef>
                <a:spcPts val="400"/>
              </a:spcBef>
            </a:pPr>
            <a:r>
              <a:rPr sz="1150" b="0" i="0">
                <a:solidFill>
                  <a:srgbClr val="1A1A1A"/>
                </a:solidFill>
                <a:latin typeface="Abadi"/>
              </a:rPr>
              <a:t>▪  Told 'GERD' or not</a:t>
            </a:r>
          </a:p>
          <a:p>
            <a:pPr algn="l">
              <a:spcBef>
                <a:spcPts val="400"/>
              </a:spcBef>
            </a:pPr>
            <a:r>
              <a:rPr sz="1150" b="0" i="0">
                <a:solidFill>
                  <a:srgbClr val="1A1A1A"/>
                </a:solidFill>
                <a:latin typeface="Abadi"/>
              </a:rPr>
              <a:t>▪  Told the drug works or does not</a:t>
            </a:r>
          </a:p>
        </p:txBody>
      </p:sp>
      <p:sp>
        <p:nvSpPr>
          <p:cNvPr id="16" name="Rectangle 15"/>
          <p:cNvSpPr/>
          <p:nvPr/>
        </p:nvSpPr>
        <p:spPr>
          <a:xfrm>
            <a:off x="3365906" y="1773936"/>
            <a:ext cx="2630728" cy="23774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5906" y="1773936"/>
            <a:ext cx="2630728"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0498" y="1984248"/>
            <a:ext cx="2301544" cy="457200"/>
          </a:xfrm>
          <a:prstGeom prst="rect">
            <a:avLst/>
          </a:prstGeom>
          <a:noFill/>
        </p:spPr>
        <p:txBody>
          <a:bodyPr wrap="square" lIns="0" rIns="0" tIns="0" bIns="0" anchor="t">
            <a:spAutoFit/>
          </a:bodyPr>
          <a:lstStyle/>
          <a:p>
            <a:pPr algn="l"/>
            <a:r>
              <a:rPr sz="1500" b="1" i="0">
                <a:solidFill>
                  <a:srgbClr val="B22222"/>
                </a:solidFill>
                <a:latin typeface="Abadi"/>
              </a:rPr>
              <a:t>The result</a:t>
            </a:r>
          </a:p>
        </p:txBody>
      </p:sp>
      <p:sp>
        <p:nvSpPr>
          <p:cNvPr id="19" name="TextBox 18"/>
          <p:cNvSpPr txBox="1"/>
          <p:nvPr/>
        </p:nvSpPr>
        <p:spPr>
          <a:xfrm>
            <a:off x="3530498" y="2523744"/>
            <a:ext cx="2301544" cy="1508760"/>
          </a:xfrm>
          <a:prstGeom prst="rect">
            <a:avLst/>
          </a:prstGeom>
          <a:noFill/>
        </p:spPr>
        <p:txBody>
          <a:bodyPr wrap="square" lIns="0" rIns="0" tIns="0" bIns="0" anchor="t">
            <a:spAutoFit/>
          </a:bodyPr>
          <a:lstStyle/>
          <a:p>
            <a:pPr algn="l"/>
            <a:r>
              <a:rPr sz="1150" b="0" i="0">
                <a:solidFill>
                  <a:srgbClr val="1A1A1A"/>
                </a:solidFill>
                <a:latin typeface="Abadi"/>
              </a:rPr>
              <a:t>▪  With 'GERD', parents wanted the drug even when told it does not work</a:t>
            </a:r>
          </a:p>
          <a:p>
            <a:pPr algn="l">
              <a:spcBef>
                <a:spcPts val="400"/>
              </a:spcBef>
            </a:pPr>
            <a:r>
              <a:rPr sz="1150" b="0" i="0">
                <a:solidFill>
                  <a:srgbClr val="1A1A1A"/>
                </a:solidFill>
                <a:latin typeface="Abadi"/>
              </a:rPr>
              <a:t>▪  Without the label, 'ineffective' lowered interest</a:t>
            </a:r>
          </a:p>
        </p:txBody>
      </p:sp>
      <p:sp>
        <p:nvSpPr>
          <p:cNvPr id="20" name="Rectangle 19"/>
          <p:cNvSpPr/>
          <p:nvPr/>
        </p:nvSpPr>
        <p:spPr>
          <a:xfrm>
            <a:off x="6183172" y="1773936"/>
            <a:ext cx="2630728" cy="23774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3172" y="1773936"/>
            <a:ext cx="2630728"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7764" y="1984248"/>
            <a:ext cx="2301544" cy="457200"/>
          </a:xfrm>
          <a:prstGeom prst="rect">
            <a:avLst/>
          </a:prstGeom>
          <a:noFill/>
        </p:spPr>
        <p:txBody>
          <a:bodyPr wrap="square" lIns="0" rIns="0" tIns="0" bIns="0" anchor="t">
            <a:spAutoFit/>
          </a:bodyPr>
          <a:lstStyle/>
          <a:p>
            <a:pPr algn="l"/>
            <a:r>
              <a:rPr sz="1500" b="1" i="0">
                <a:solidFill>
                  <a:srgbClr val="D97A0B"/>
                </a:solidFill>
                <a:latin typeface="Abadi"/>
              </a:rPr>
              <a:t>The harm</a:t>
            </a:r>
          </a:p>
        </p:txBody>
      </p:sp>
      <p:sp>
        <p:nvSpPr>
          <p:cNvPr id="23" name="TextBox 22"/>
          <p:cNvSpPr txBox="1"/>
          <p:nvPr/>
        </p:nvSpPr>
        <p:spPr>
          <a:xfrm>
            <a:off x="6347764" y="2523744"/>
            <a:ext cx="2301544" cy="1508760"/>
          </a:xfrm>
          <a:prstGeom prst="rect">
            <a:avLst/>
          </a:prstGeom>
          <a:noFill/>
        </p:spPr>
        <p:txBody>
          <a:bodyPr wrap="square" lIns="0" rIns="0" tIns="0" bIns="0" anchor="t">
            <a:spAutoFit/>
          </a:bodyPr>
          <a:lstStyle/>
          <a:p>
            <a:pPr algn="l"/>
            <a:r>
              <a:rPr sz="1150" b="0" i="0">
                <a:solidFill>
                  <a:srgbClr val="1A1A1A"/>
                </a:solidFill>
                <a:latin typeface="Abadi"/>
              </a:rPr>
              <a:t>▪  Serious adverse events 10 vs 2 on lansoprazole</a:t>
            </a:r>
          </a:p>
          <a:p>
            <a:pPr algn="l">
              <a:spcBef>
                <a:spcPts val="400"/>
              </a:spcBef>
            </a:pPr>
            <a:r>
              <a:rPr sz="1150" b="0" i="0">
                <a:solidFill>
                  <a:srgbClr val="1A1A1A"/>
                </a:solidFill>
                <a:latin typeface="Abadi"/>
              </a:rPr>
              <a:t>▪  Fracture risk higher after PPI in infancy</a:t>
            </a:r>
          </a:p>
          <a:p>
            <a:pPr algn="l">
              <a:spcBef>
                <a:spcPts val="400"/>
              </a:spcBef>
            </a:pPr>
            <a:r>
              <a:rPr sz="1150" b="0" i="0">
                <a:solidFill>
                  <a:srgbClr val="1A1A1A"/>
                </a:solidFill>
                <a:latin typeface="Abadi"/>
              </a:rPr>
              <a:t>▪  Infections and allergy signals</a:t>
            </a:r>
          </a:p>
        </p:txBody>
      </p:sp>
      <p:sp>
        <p:nvSpPr>
          <p:cNvPr id="24" name="Rectangle 23"/>
          <p:cNvSpPr/>
          <p:nvPr/>
        </p:nvSpPr>
        <p:spPr>
          <a:xfrm>
            <a:off x="9000439" y="1773936"/>
            <a:ext cx="2630728" cy="237744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0439" y="1773936"/>
            <a:ext cx="2630728"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5031" y="1984248"/>
            <a:ext cx="2301544" cy="457200"/>
          </a:xfrm>
          <a:prstGeom prst="rect">
            <a:avLst/>
          </a:prstGeom>
          <a:noFill/>
        </p:spPr>
        <p:txBody>
          <a:bodyPr wrap="square" lIns="0" rIns="0" tIns="0" bIns="0" anchor="t">
            <a:spAutoFit/>
          </a:bodyPr>
          <a:lstStyle/>
          <a:p>
            <a:pPr algn="l"/>
            <a:r>
              <a:rPr sz="1500" b="1" i="0">
                <a:solidFill>
                  <a:srgbClr val="1E7A33"/>
                </a:solidFill>
                <a:latin typeface="Abadi"/>
              </a:rPr>
              <a:t>The words to use</a:t>
            </a:r>
          </a:p>
        </p:txBody>
      </p:sp>
      <p:sp>
        <p:nvSpPr>
          <p:cNvPr id="27" name="TextBox 26"/>
          <p:cNvSpPr txBox="1"/>
          <p:nvPr/>
        </p:nvSpPr>
        <p:spPr>
          <a:xfrm>
            <a:off x="9165031" y="2523744"/>
            <a:ext cx="2301544" cy="1508760"/>
          </a:xfrm>
          <a:prstGeom prst="rect">
            <a:avLst/>
          </a:prstGeom>
          <a:noFill/>
        </p:spPr>
        <p:txBody>
          <a:bodyPr wrap="square" lIns="0" rIns="0" tIns="0" bIns="0" anchor="t">
            <a:spAutoFit/>
          </a:bodyPr>
          <a:lstStyle/>
          <a:p>
            <a:pPr algn="l"/>
            <a:r>
              <a:rPr sz="1150" b="0" i="0">
                <a:solidFill>
                  <a:srgbClr val="1A1A1A"/>
                </a:solidFill>
                <a:latin typeface="Abadi"/>
              </a:rPr>
              <a:t>▪  'Spitting up' and 'normal'</a:t>
            </a:r>
          </a:p>
          <a:p>
            <a:pPr algn="l">
              <a:spcBef>
                <a:spcPts val="400"/>
              </a:spcBef>
            </a:pPr>
            <a:r>
              <a:rPr sz="1150" b="0" i="0">
                <a:solidFill>
                  <a:srgbClr val="1A1A1A"/>
                </a:solidFill>
                <a:latin typeface="Abadi"/>
              </a:rPr>
              <a:t>▪  Name the expected end: by 12 months</a:t>
            </a:r>
          </a:p>
          <a:p>
            <a:pPr algn="l">
              <a:spcBef>
                <a:spcPts val="400"/>
              </a:spcBef>
            </a:pPr>
            <a:r>
              <a:rPr sz="1150" b="0" i="0">
                <a:solidFill>
                  <a:srgbClr val="1A1A1A"/>
                </a:solidFill>
                <a:latin typeface="Abadi"/>
              </a:rPr>
              <a:t>▪  Explain what would make you worry</a:t>
            </a:r>
          </a:p>
        </p:txBody>
      </p:sp>
      <p:sp>
        <p:nvSpPr>
          <p:cNvPr id="28" name="TextBox 27"/>
          <p:cNvSpPr txBox="1"/>
          <p:nvPr/>
        </p:nvSpPr>
        <p:spPr>
          <a:xfrm>
            <a:off x="548640" y="4389120"/>
            <a:ext cx="11082528" cy="1417320"/>
          </a:xfrm>
          <a:prstGeom prst="rect">
            <a:avLst/>
          </a:prstGeom>
          <a:noFill/>
        </p:spPr>
        <p:txBody>
          <a:bodyPr wrap="square" lIns="0" rIns="0" tIns="0" bIns="0" anchor="t">
            <a:spAutoFit/>
          </a:bodyPr>
          <a:lstStyle/>
          <a:p>
            <a:pPr algn="l"/>
            <a:r>
              <a:rPr sz="1300" b="1" i="0">
                <a:solidFill>
                  <a:srgbClr val="1B355E"/>
                </a:solidFill>
                <a:latin typeface="Abadi"/>
              </a:rPr>
              <a:t>Fracture signal.  </a:t>
            </a:r>
            <a:r>
              <a:rPr sz="1300" b="0" i="0">
                <a:solidFill>
                  <a:srgbClr val="1A1A1A"/>
                </a:solidFill>
                <a:latin typeface="Abadi"/>
              </a:rPr>
              <a:t>In 851,631 US children, 11% received acid suppression in the first year; fracture risk was higher after proton pump inhibitors, more so when combined with H2 blockers, and not with H2 blockers alone.</a:t>
            </a:r>
          </a:p>
          <a:p>
            <a:pPr algn="l">
              <a:spcBef>
                <a:spcPts val="600"/>
              </a:spcBef>
            </a:pPr>
            <a:r>
              <a:rPr sz="1300" b="1" i="0">
                <a:solidFill>
                  <a:srgbClr val="B22222"/>
                </a:solidFill>
                <a:latin typeface="Abadi"/>
              </a:rPr>
              <a:t>The guideline.  </a:t>
            </a:r>
            <a:r>
              <a:rPr sz="1300" b="0" i="0">
                <a:solidFill>
                  <a:srgbClr val="1A1A1A"/>
                </a:solidFill>
                <a:latin typeface="Abadi"/>
              </a:rPr>
              <a:t>NASPGHAN/ESPGHAN recommend not using H2 receptor antagonists or proton pump inhibitors for crying or distress, or for visible regurgitation, in otherwise healthy infants.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RED FLAGS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THE FLAGS AND WHAT THEY POINT TO</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Warning signs in the regurgitating or vomiting infant (NASPGHAN/ESPGHAN Table 2, with NICE actions)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Rosen R, et al. JPGN 2018;66:516–54 · NICE NG1, 2015 (updated 2019)</a:t>
            </a:r>
          </a:p>
        </p:txBody>
      </p:sp>
      <p:graphicFrame>
        <p:nvGraphicFramePr>
          <p:cNvPr id="12" name="Table 11"/>
          <p:cNvGraphicFramePr>
            <a:graphicFrameLocks noGrp="1"/>
          </p:cNvGraphicFramePr>
          <p:nvPr/>
        </p:nvGraphicFramePr>
        <p:xfrm>
          <a:off x="548640" y="1773936"/>
          <a:ext cx="11082527" cy="3703320"/>
        </p:xfrm>
        <a:graphic>
          <a:graphicData uri="http://schemas.openxmlformats.org/drawingml/2006/table">
            <a:tbl>
              <a:tblPr firstRow="0" bandRow="0">
                <a:tableStyleId>{5C22544A-7EE6-4342-B048-85BDC9FD1C3A}</a:tableStyleId>
              </a:tblPr>
              <a:tblGrid>
                <a:gridCol w="3931920"/>
                <a:gridCol w="3749039"/>
                <a:gridCol w="3401568"/>
              </a:tblGrid>
              <a:tr h="411480">
                <a:tc>
                  <a:txBody>
                    <a:bodyPr wrap="square"/>
                    <a:lstStyle/>
                    <a:p>
                      <a:r>
                        <a:rPr sz="1050" b="1">
                          <a:solidFill>
                            <a:srgbClr val="FFFFFF"/>
                          </a:solidFill>
                          <a:latin typeface="Abadi"/>
                        </a:rPr>
                        <a:t>Flag</a:t>
                      </a:r>
                    </a:p>
                  </a:txBody>
                  <a:tcPr marL="73152" marR="73152" marT="27432" marB="27432" anchor="ctr">
                    <a:solidFill>
                      <a:srgbClr val="1B355E"/>
                    </a:solidFill>
                  </a:tcPr>
                </a:tc>
                <a:tc>
                  <a:txBody>
                    <a:bodyPr wrap="square"/>
                    <a:lstStyle/>
                    <a:p>
                      <a:r>
                        <a:rPr sz="1050" b="1">
                          <a:solidFill>
                            <a:srgbClr val="FFFFFF"/>
                          </a:solidFill>
                          <a:latin typeface="Abadi"/>
                        </a:rPr>
                        <a:t>Points to</a:t>
                      </a:r>
                    </a:p>
                  </a:txBody>
                  <a:tcPr marL="73152" marR="73152" marT="27432" marB="27432" anchor="ctr">
                    <a:solidFill>
                      <a:srgbClr val="1B355E"/>
                    </a:solidFill>
                  </a:tcPr>
                </a:tc>
                <a:tc>
                  <a:txBody>
                    <a:bodyPr wrap="square"/>
                    <a:lstStyle/>
                    <a:p>
                      <a:r>
                        <a:rPr sz="1050" b="1">
                          <a:solidFill>
                            <a:srgbClr val="FFFFFF"/>
                          </a:solidFill>
                          <a:latin typeface="Abadi"/>
                        </a:rPr>
                        <a:t>Action</a:t>
                      </a:r>
                    </a:p>
                  </a:txBody>
                  <a:tcPr marL="73152" marR="73152" marT="27432" marB="27432" anchor="ctr">
                    <a:solidFill>
                      <a:srgbClr val="1B355E"/>
                    </a:solidFill>
                  </a:tcPr>
                </a:tc>
              </a:tr>
              <a:tr h="411480">
                <a:tc>
                  <a:txBody>
                    <a:bodyPr wrap="square"/>
                    <a:lstStyle/>
                    <a:p>
                      <a:r>
                        <a:rPr sz="1050" b="1">
                          <a:solidFill>
                            <a:srgbClr val="1A1A1A"/>
                          </a:solidFill>
                          <a:latin typeface="Abadi"/>
                        </a:rPr>
                        <a:t>Bilious (green) vomiting</a:t>
                      </a:r>
                    </a:p>
                  </a:txBody>
                  <a:tcPr marL="73152" marR="73152" marT="27432" marB="27432" anchor="ctr">
                    <a:solidFill>
                      <a:srgbClr val="FFFFFF"/>
                    </a:solidFill>
                  </a:tcPr>
                </a:tc>
                <a:tc>
                  <a:txBody>
                    <a:bodyPr wrap="square"/>
                    <a:lstStyle/>
                    <a:p>
                      <a:r>
                        <a:rPr sz="1050" b="0">
                          <a:solidFill>
                            <a:srgbClr val="1A1A1A"/>
                          </a:solidFill>
                          <a:latin typeface="Abadi"/>
                        </a:rPr>
                        <a:t>Malrotation with volvulus, atresia, obstruction</a:t>
                      </a:r>
                    </a:p>
                  </a:txBody>
                  <a:tcPr marL="73152" marR="73152" marT="27432" marB="27432" anchor="ctr">
                    <a:solidFill>
                      <a:srgbClr val="FFFFFF"/>
                    </a:solidFill>
                  </a:tcPr>
                </a:tc>
                <a:tc>
                  <a:txBody>
                    <a:bodyPr wrap="square"/>
                    <a:lstStyle/>
                    <a:p>
                      <a:r>
                        <a:rPr sz="1050" b="0">
                          <a:solidFill>
                            <a:srgbClr val="1A1A1A"/>
                          </a:solidFill>
                          <a:latin typeface="Abadi"/>
                        </a:rPr>
                        <a:t>Same-day surgical review and upper GI contrast</a:t>
                      </a:r>
                    </a:p>
                  </a:txBody>
                  <a:tcPr marL="73152" marR="73152" marT="27432" marB="27432" anchor="ctr">
                    <a:solidFill>
                      <a:srgbClr val="FFFFFF"/>
                    </a:solidFill>
                  </a:tcPr>
                </a:tc>
              </a:tr>
              <a:tr h="411480">
                <a:tc>
                  <a:txBody>
                    <a:bodyPr wrap="square"/>
                    <a:lstStyle/>
                    <a:p>
                      <a:r>
                        <a:rPr sz="1050" b="1">
                          <a:solidFill>
                            <a:srgbClr val="1A1A1A"/>
                          </a:solidFill>
                          <a:latin typeface="Abadi"/>
                        </a:rPr>
                        <a:t>Persistent forceful or projectile vomiting &lt; 2 months</a:t>
                      </a:r>
                    </a:p>
                  </a:txBody>
                  <a:tcPr marL="73152" marR="73152" marT="27432" marB="27432" anchor="ctr">
                    <a:solidFill>
                      <a:srgbClr val="F2F2F2"/>
                    </a:solidFill>
                  </a:tcPr>
                </a:tc>
                <a:tc>
                  <a:txBody>
                    <a:bodyPr wrap="square"/>
                    <a:lstStyle/>
                    <a:p>
                      <a:r>
                        <a:rPr sz="1050" b="0">
                          <a:solidFill>
                            <a:srgbClr val="1A1A1A"/>
                          </a:solidFill>
                          <a:latin typeface="Abadi"/>
                        </a:rPr>
                        <a:t>Pyloric stenosis</a:t>
                      </a:r>
                    </a:p>
                  </a:txBody>
                  <a:tcPr marL="73152" marR="73152" marT="27432" marB="27432" anchor="ctr">
                    <a:solidFill>
                      <a:srgbClr val="F2F2F2"/>
                    </a:solidFill>
                  </a:tcPr>
                </a:tc>
                <a:tc>
                  <a:txBody>
                    <a:bodyPr wrap="square"/>
                    <a:lstStyle/>
                    <a:p>
                      <a:r>
                        <a:rPr sz="1050" b="0">
                          <a:solidFill>
                            <a:srgbClr val="1A1A1A"/>
                          </a:solidFill>
                          <a:latin typeface="Abadi"/>
                        </a:rPr>
                        <a:t>Same-day assessment; ultrasound</a:t>
                      </a:r>
                    </a:p>
                  </a:txBody>
                  <a:tcPr marL="73152" marR="73152" marT="27432" marB="27432" anchor="ctr">
                    <a:solidFill>
                      <a:srgbClr val="F2F2F2"/>
                    </a:solidFill>
                  </a:tcPr>
                </a:tc>
              </a:tr>
              <a:tr h="411480">
                <a:tc>
                  <a:txBody>
                    <a:bodyPr wrap="square"/>
                    <a:lstStyle/>
                    <a:p>
                      <a:r>
                        <a:rPr sz="1050" b="1">
                          <a:solidFill>
                            <a:srgbClr val="1A1A1A"/>
                          </a:solidFill>
                          <a:latin typeface="Abadi"/>
                        </a:rPr>
                        <a:t>Haematemesis (not swallowed maternal blood)</a:t>
                      </a:r>
                    </a:p>
                  </a:txBody>
                  <a:tcPr marL="73152" marR="73152" marT="27432" marB="27432" anchor="ctr">
                    <a:solidFill>
                      <a:srgbClr val="FFFFFF"/>
                    </a:solidFill>
                  </a:tcPr>
                </a:tc>
                <a:tc>
                  <a:txBody>
                    <a:bodyPr wrap="square"/>
                    <a:lstStyle/>
                    <a:p>
                      <a:r>
                        <a:rPr sz="1050" b="0">
                          <a:solidFill>
                            <a:srgbClr val="1A1A1A"/>
                          </a:solidFill>
                          <a:latin typeface="Abadi"/>
                        </a:rPr>
                        <a:t>Oesophagitis, gastritis, coagulopathy</a:t>
                      </a:r>
                    </a:p>
                  </a:txBody>
                  <a:tcPr marL="73152" marR="73152" marT="27432" marB="27432" anchor="ctr">
                    <a:solidFill>
                      <a:srgbClr val="FFFFFF"/>
                    </a:solidFill>
                  </a:tcPr>
                </a:tc>
                <a:tc>
                  <a:txBody>
                    <a:bodyPr wrap="square"/>
                    <a:lstStyle/>
                    <a:p>
                      <a:r>
                        <a:rPr sz="1050" b="0">
                          <a:solidFill>
                            <a:srgbClr val="1A1A1A"/>
                          </a:solidFill>
                          <a:latin typeface="Abadi"/>
                        </a:rPr>
                        <a:t>Specialist review</a:t>
                      </a:r>
                    </a:p>
                  </a:txBody>
                  <a:tcPr marL="73152" marR="73152" marT="27432" marB="27432" anchor="ctr">
                    <a:solidFill>
                      <a:srgbClr val="FFFFFF"/>
                    </a:solidFill>
                  </a:tcPr>
                </a:tc>
              </a:tr>
              <a:tr h="411480">
                <a:tc>
                  <a:txBody>
                    <a:bodyPr wrap="square"/>
                    <a:lstStyle/>
                    <a:p>
                      <a:r>
                        <a:rPr sz="1050" b="1">
                          <a:solidFill>
                            <a:srgbClr val="1A1A1A"/>
                          </a:solidFill>
                          <a:latin typeface="Abadi"/>
                        </a:rPr>
                        <a:t>Onset &gt; 6 months or persisting &gt; 12–18 months</a:t>
                      </a:r>
                    </a:p>
                  </a:txBody>
                  <a:tcPr marL="73152" marR="73152" marT="27432" marB="27432" anchor="ctr">
                    <a:solidFill>
                      <a:srgbClr val="F2F2F2"/>
                    </a:solidFill>
                  </a:tcPr>
                </a:tc>
                <a:tc>
                  <a:txBody>
                    <a:bodyPr wrap="square"/>
                    <a:lstStyle/>
                    <a:p>
                      <a:r>
                        <a:rPr sz="1050" b="0">
                          <a:solidFill>
                            <a:srgbClr val="1A1A1A"/>
                          </a:solidFill>
                          <a:latin typeface="Abadi"/>
                        </a:rPr>
                        <a:t>Infection (urinary), neurological, other GI disease</a:t>
                      </a:r>
                    </a:p>
                  </a:txBody>
                  <a:tcPr marL="73152" marR="73152" marT="27432" marB="27432" anchor="ctr">
                    <a:solidFill>
                      <a:srgbClr val="F2F2F2"/>
                    </a:solidFill>
                  </a:tcPr>
                </a:tc>
                <a:tc>
                  <a:txBody>
                    <a:bodyPr wrap="square"/>
                    <a:lstStyle/>
                    <a:p>
                      <a:r>
                        <a:rPr sz="1050" b="0">
                          <a:solidFill>
                            <a:srgbClr val="1A1A1A"/>
                          </a:solidFill>
                          <a:latin typeface="Abadi"/>
                        </a:rPr>
                        <a:t>Urine culture; specialist</a:t>
                      </a:r>
                    </a:p>
                  </a:txBody>
                  <a:tcPr marL="73152" marR="73152" marT="27432" marB="27432" anchor="ctr">
                    <a:solidFill>
                      <a:srgbClr val="F2F2F2"/>
                    </a:solidFill>
                  </a:tcPr>
                </a:tc>
              </a:tr>
              <a:tr h="411480">
                <a:tc>
                  <a:txBody>
                    <a:bodyPr wrap="square"/>
                    <a:lstStyle/>
                    <a:p>
                      <a:r>
                        <a:rPr sz="1050" b="1">
                          <a:solidFill>
                            <a:srgbClr val="1A1A1A"/>
                          </a:solidFill>
                          <a:latin typeface="Abadi"/>
                        </a:rPr>
                        <a:t>Fever, lethargy, dysuria</a:t>
                      </a:r>
                    </a:p>
                  </a:txBody>
                  <a:tcPr marL="73152" marR="73152" marT="27432" marB="27432" anchor="ctr">
                    <a:solidFill>
                      <a:srgbClr val="FFFFFF"/>
                    </a:solidFill>
                  </a:tcPr>
                </a:tc>
                <a:tc>
                  <a:txBody>
                    <a:bodyPr wrap="square"/>
                    <a:lstStyle/>
                    <a:p>
                      <a:r>
                        <a:rPr sz="1050" b="0">
                          <a:solidFill>
                            <a:srgbClr val="1A1A1A"/>
                          </a:solidFill>
                          <a:latin typeface="Abadi"/>
                        </a:rPr>
                        <a:t>Urinary infection, sepsis, meningitis</a:t>
                      </a:r>
                    </a:p>
                  </a:txBody>
                  <a:tcPr marL="73152" marR="73152" marT="27432" marB="27432" anchor="ctr">
                    <a:solidFill>
                      <a:srgbClr val="FFFFFF"/>
                    </a:solidFill>
                  </a:tcPr>
                </a:tc>
                <a:tc>
                  <a:txBody>
                    <a:bodyPr wrap="square"/>
                    <a:lstStyle/>
                    <a:p>
                      <a:r>
                        <a:rPr sz="1050" b="0">
                          <a:solidFill>
                            <a:srgbClr val="1A1A1A"/>
                          </a:solidFill>
                          <a:latin typeface="Abadi"/>
                        </a:rPr>
                        <a:t>Septic work-up as indicated</a:t>
                      </a:r>
                    </a:p>
                  </a:txBody>
                  <a:tcPr marL="73152" marR="73152" marT="27432" marB="27432" anchor="ctr">
                    <a:solidFill>
                      <a:srgbClr val="FFFFFF"/>
                    </a:solidFill>
                  </a:tcPr>
                </a:tc>
              </a:tr>
              <a:tr h="411480">
                <a:tc>
                  <a:txBody>
                    <a:bodyPr wrap="square"/>
                    <a:lstStyle/>
                    <a:p>
                      <a:r>
                        <a:rPr sz="1050" b="1">
                          <a:solidFill>
                            <a:srgbClr val="1A1A1A"/>
                          </a:solidFill>
                          <a:latin typeface="Abadi"/>
                        </a:rPr>
                        <a:t>Bulging fontanelle, fast head growth, seizures, macro- or microcephaly</a:t>
                      </a:r>
                    </a:p>
                  </a:txBody>
                  <a:tcPr marL="73152" marR="73152" marT="27432" marB="27432" anchor="ctr">
                    <a:solidFill>
                      <a:srgbClr val="F2F2F2"/>
                    </a:solidFill>
                  </a:tcPr>
                </a:tc>
                <a:tc>
                  <a:txBody>
                    <a:bodyPr wrap="square"/>
                    <a:lstStyle/>
                    <a:p>
                      <a:r>
                        <a:rPr sz="1050" b="0">
                          <a:solidFill>
                            <a:srgbClr val="1A1A1A"/>
                          </a:solidFill>
                          <a:latin typeface="Abadi"/>
                        </a:rPr>
                        <a:t>Raised intracranial pressure, structural brain disease</a:t>
                      </a:r>
                    </a:p>
                  </a:txBody>
                  <a:tcPr marL="73152" marR="73152" marT="27432" marB="27432" anchor="ctr">
                    <a:solidFill>
                      <a:srgbClr val="F2F2F2"/>
                    </a:solidFill>
                  </a:tcPr>
                </a:tc>
                <a:tc>
                  <a:txBody>
                    <a:bodyPr wrap="square"/>
                    <a:lstStyle/>
                    <a:p>
                      <a:r>
                        <a:rPr sz="1050" b="0">
                          <a:solidFill>
                            <a:srgbClr val="1A1A1A"/>
                          </a:solidFill>
                          <a:latin typeface="Abadi"/>
                        </a:rPr>
                        <a:t>Urgent neurological assessment and imaging</a:t>
                      </a:r>
                    </a:p>
                  </a:txBody>
                  <a:tcPr marL="73152" marR="73152" marT="27432" marB="27432" anchor="ctr">
                    <a:solidFill>
                      <a:srgbClr val="F2F2F2"/>
                    </a:solidFill>
                  </a:tcPr>
                </a:tc>
              </a:tr>
              <a:tr h="411480">
                <a:tc>
                  <a:txBody>
                    <a:bodyPr wrap="square"/>
                    <a:lstStyle/>
                    <a:p>
                      <a:r>
                        <a:rPr sz="1050" b="1">
                          <a:solidFill>
                            <a:srgbClr val="1A1A1A"/>
                          </a:solidFill>
                          <a:latin typeface="Abadi"/>
                        </a:rPr>
                        <a:t>Abdominal distension, rectal bleeding, chronic diarrhoea</a:t>
                      </a:r>
                    </a:p>
                  </a:txBody>
                  <a:tcPr marL="73152" marR="73152" marT="27432" marB="27432" anchor="ctr">
                    <a:solidFill>
                      <a:srgbClr val="FFFFFF"/>
                    </a:solidFill>
                  </a:tcPr>
                </a:tc>
                <a:tc>
                  <a:txBody>
                    <a:bodyPr wrap="square"/>
                    <a:lstStyle/>
                    <a:p>
                      <a:r>
                        <a:rPr sz="1050" b="0">
                          <a:solidFill>
                            <a:srgbClr val="1A1A1A"/>
                          </a:solidFill>
                          <a:latin typeface="Abadi"/>
                        </a:rPr>
                        <a:t>Obstruction, NEC, cow's milk allergy, enteropathy</a:t>
                      </a:r>
                    </a:p>
                  </a:txBody>
                  <a:tcPr marL="73152" marR="73152" marT="27432" marB="27432" anchor="ctr">
                    <a:solidFill>
                      <a:srgbClr val="FFFFFF"/>
                    </a:solidFill>
                  </a:tcPr>
                </a:tc>
                <a:tc>
                  <a:txBody>
                    <a:bodyPr wrap="square"/>
                    <a:lstStyle/>
                    <a:p>
                      <a:r>
                        <a:rPr sz="1050" b="0">
                          <a:solidFill>
                            <a:srgbClr val="1A1A1A"/>
                          </a:solidFill>
                          <a:latin typeface="Abadi"/>
                        </a:rPr>
                        <a:t>Surgical or allergy pathway</a:t>
                      </a:r>
                    </a:p>
                  </a:txBody>
                  <a:tcPr marL="73152" marR="73152" marT="27432" marB="27432" anchor="ctr">
                    <a:solidFill>
                      <a:srgbClr val="FFFFFF"/>
                    </a:solidFill>
                  </a:tcPr>
                </a:tc>
              </a:tr>
              <a:tr h="411480">
                <a:tc>
                  <a:txBody>
                    <a:bodyPr wrap="square"/>
                    <a:lstStyle/>
                    <a:p>
                      <a:r>
                        <a:rPr sz="1050" b="1">
                          <a:solidFill>
                            <a:srgbClr val="1A1A1A"/>
                          </a:solidFill>
                          <a:latin typeface="Abadi"/>
                        </a:rPr>
                        <a:t>Weight loss, faltering growth, nocturnal vomiting</a:t>
                      </a:r>
                    </a:p>
                  </a:txBody>
                  <a:tcPr marL="73152" marR="73152" marT="27432" marB="27432" anchor="ctr">
                    <a:solidFill>
                      <a:srgbClr val="F2F2F2"/>
                    </a:solidFill>
                  </a:tcPr>
                </a:tc>
                <a:tc>
                  <a:txBody>
                    <a:bodyPr wrap="square"/>
                    <a:lstStyle/>
                    <a:p>
                      <a:r>
                        <a:rPr sz="1050" b="0">
                          <a:solidFill>
                            <a:srgbClr val="1A1A1A"/>
                          </a:solidFill>
                          <a:latin typeface="Abadi"/>
                        </a:rPr>
                        <a:t>Any of the above; inadequate intake</a:t>
                      </a:r>
                    </a:p>
                  </a:txBody>
                  <a:tcPr marL="73152" marR="73152" marT="27432" marB="27432" anchor="ctr">
                    <a:solidFill>
                      <a:srgbClr val="F2F2F2"/>
                    </a:solidFill>
                  </a:tcPr>
                </a:tc>
                <a:tc>
                  <a:txBody>
                    <a:bodyPr wrap="square"/>
                    <a:lstStyle/>
                    <a:p>
                      <a:r>
                        <a:rPr sz="1050" b="0">
                          <a:solidFill>
                            <a:srgbClr val="1A1A1A"/>
                          </a:solidFill>
                          <a:latin typeface="Abadi"/>
                        </a:rPr>
                        <a:t>Investigate; not reflux until proven</a:t>
                      </a:r>
                    </a:p>
                  </a:txBody>
                  <a:tcPr marL="73152" marR="73152" marT="27432" marB="27432" anchor="ctr">
                    <a:solidFill>
                      <a:srgbClr val="F2F2F2"/>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COLOUR GREEN</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BILE IS A SURGICAL SIGN UNTIL PROVEN OTHERWISE</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Bilious vomiting in neonates and young infants: how often it is surgical, and how often it is missed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Walker GM, et al. BMJ 2006 (bile colour questionnaire) · Seashore JH, Touloukian RJ. Arch Pediatr Adolesc Med 1994;148:43–6 · Sand L, et al. Neonatal Society 2016 (abstract) · Sizemore AW, et al. Pediatr Radiol 2008 · NICE NG1, 2015 (updated 2019)</a:t>
            </a:r>
          </a:p>
        </p:txBody>
      </p:sp>
      <p:sp>
        <p:nvSpPr>
          <p:cNvPr id="12" name="Rectangle 11"/>
          <p:cNvSpPr/>
          <p:nvPr/>
        </p:nvSpPr>
        <p:spPr>
          <a:xfrm>
            <a:off x="548640" y="1773936"/>
            <a:ext cx="2630728" cy="210312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0728"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002536"/>
            <a:ext cx="2301544" cy="502920"/>
          </a:xfrm>
          <a:prstGeom prst="rect">
            <a:avLst/>
          </a:prstGeom>
          <a:noFill/>
        </p:spPr>
        <p:txBody>
          <a:bodyPr wrap="square" lIns="0" rIns="0" tIns="0" bIns="0" anchor="t">
            <a:spAutoFit/>
          </a:bodyPr>
          <a:lstStyle/>
          <a:p>
            <a:pPr algn="l"/>
            <a:r>
              <a:rPr sz="2400" b="1" i="0">
                <a:solidFill>
                  <a:srgbClr val="B22222"/>
                </a:solidFill>
                <a:latin typeface="Abadi"/>
              </a:rPr>
              <a:t>80%</a:t>
            </a:r>
          </a:p>
        </p:txBody>
      </p:sp>
      <p:sp>
        <p:nvSpPr>
          <p:cNvPr id="15" name="TextBox 14"/>
          <p:cNvSpPr txBox="1"/>
          <p:nvPr/>
        </p:nvSpPr>
        <p:spPr>
          <a:xfrm>
            <a:off x="713232" y="2596896"/>
            <a:ext cx="2301544" cy="1188719"/>
          </a:xfrm>
          <a:prstGeom prst="rect">
            <a:avLst/>
          </a:prstGeom>
          <a:noFill/>
        </p:spPr>
        <p:txBody>
          <a:bodyPr wrap="square" lIns="0" rIns="0" tIns="0" bIns="0" anchor="t">
            <a:spAutoFit/>
          </a:bodyPr>
          <a:lstStyle/>
          <a:p>
            <a:pPr algn="l"/>
            <a:r>
              <a:rPr sz="1150" b="0" i="0">
                <a:solidFill>
                  <a:srgbClr val="1A1A1A"/>
                </a:solidFill>
                <a:latin typeface="Abadi"/>
              </a:rPr>
              <a:t>Infants with malrotation presenting with bilious vomiting who had volvulus at surgery (35 of 44).</a:t>
            </a:r>
          </a:p>
        </p:txBody>
      </p:sp>
      <p:sp>
        <p:nvSpPr>
          <p:cNvPr id="16" name="Rectangle 15"/>
          <p:cNvSpPr/>
          <p:nvPr/>
        </p:nvSpPr>
        <p:spPr>
          <a:xfrm>
            <a:off x="3365906" y="1773936"/>
            <a:ext cx="2630728" cy="210312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5906" y="1773936"/>
            <a:ext cx="2630728"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0498" y="2002536"/>
            <a:ext cx="2301544" cy="502920"/>
          </a:xfrm>
          <a:prstGeom prst="rect">
            <a:avLst/>
          </a:prstGeom>
          <a:noFill/>
        </p:spPr>
        <p:txBody>
          <a:bodyPr wrap="square" lIns="0" rIns="0" tIns="0" bIns="0" anchor="t">
            <a:spAutoFit/>
          </a:bodyPr>
          <a:lstStyle/>
          <a:p>
            <a:pPr algn="l"/>
            <a:r>
              <a:rPr sz="2400" b="1" i="0">
                <a:solidFill>
                  <a:srgbClr val="D97A0B"/>
                </a:solidFill>
                <a:latin typeface="Abadi"/>
              </a:rPr>
              <a:t>30–40%</a:t>
            </a:r>
          </a:p>
        </p:txBody>
      </p:sp>
      <p:sp>
        <p:nvSpPr>
          <p:cNvPr id="19" name="TextBox 18"/>
          <p:cNvSpPr txBox="1"/>
          <p:nvPr/>
        </p:nvSpPr>
        <p:spPr>
          <a:xfrm>
            <a:off x="3530498" y="2596896"/>
            <a:ext cx="2301544" cy="1188719"/>
          </a:xfrm>
          <a:prstGeom prst="rect">
            <a:avLst/>
          </a:prstGeom>
          <a:noFill/>
        </p:spPr>
        <p:txBody>
          <a:bodyPr wrap="square" lIns="0" rIns="0" tIns="0" bIns="0" anchor="t">
            <a:spAutoFit/>
          </a:bodyPr>
          <a:lstStyle/>
          <a:p>
            <a:pPr algn="l"/>
            <a:r>
              <a:rPr sz="1150" b="0" i="0">
                <a:solidFill>
                  <a:srgbClr val="1A1A1A"/>
                </a:solidFill>
                <a:latin typeface="Abadi"/>
              </a:rPr>
              <a:t>Neonates with bilious vomiting who need an operation, in older series; 14.6% in a recent term cohort.</a:t>
            </a:r>
          </a:p>
        </p:txBody>
      </p:sp>
      <p:sp>
        <p:nvSpPr>
          <p:cNvPr id="20" name="Rectangle 19"/>
          <p:cNvSpPr/>
          <p:nvPr/>
        </p:nvSpPr>
        <p:spPr>
          <a:xfrm>
            <a:off x="6183172" y="1773936"/>
            <a:ext cx="2630728" cy="210312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3172" y="1773936"/>
            <a:ext cx="2630728"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7764" y="2002536"/>
            <a:ext cx="2301544" cy="502920"/>
          </a:xfrm>
          <a:prstGeom prst="rect">
            <a:avLst/>
          </a:prstGeom>
          <a:noFill/>
        </p:spPr>
        <p:txBody>
          <a:bodyPr wrap="square" lIns="0" rIns="0" tIns="0" bIns="0" anchor="t">
            <a:spAutoFit/>
          </a:bodyPr>
          <a:lstStyle/>
          <a:p>
            <a:pPr algn="l"/>
            <a:r>
              <a:rPr sz="2400" b="1" i="0">
                <a:solidFill>
                  <a:srgbClr val="1B355E"/>
                </a:solidFill>
                <a:latin typeface="Abadi"/>
              </a:rPr>
              <a:t>56% · 25%</a:t>
            </a:r>
          </a:p>
        </p:txBody>
      </p:sp>
      <p:sp>
        <p:nvSpPr>
          <p:cNvPr id="23" name="TextBox 22"/>
          <p:cNvSpPr txBox="1"/>
          <p:nvPr/>
        </p:nvSpPr>
        <p:spPr>
          <a:xfrm>
            <a:off x="6347764" y="2596896"/>
            <a:ext cx="2301544" cy="1188719"/>
          </a:xfrm>
          <a:prstGeom prst="rect">
            <a:avLst/>
          </a:prstGeom>
          <a:noFill/>
        </p:spPr>
        <p:txBody>
          <a:bodyPr wrap="square" lIns="0" rIns="0" tIns="0" bIns="0" anchor="t">
            <a:spAutoFit/>
          </a:bodyPr>
          <a:lstStyle/>
          <a:p>
            <a:pPr algn="l"/>
            <a:r>
              <a:rPr sz="1150" b="0" i="0">
                <a:solidFill>
                  <a:srgbClr val="1A1A1A"/>
                </a:solidFill>
                <a:latin typeface="Abadi"/>
              </a:rPr>
              <a:t>Parents and general practitioners who chose no green colour as bile on a colour chart.</a:t>
            </a:r>
          </a:p>
        </p:txBody>
      </p:sp>
      <p:sp>
        <p:nvSpPr>
          <p:cNvPr id="24" name="Rectangle 23"/>
          <p:cNvSpPr/>
          <p:nvPr/>
        </p:nvSpPr>
        <p:spPr>
          <a:xfrm>
            <a:off x="9000439" y="1773936"/>
            <a:ext cx="2630728" cy="210312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0439" y="1773936"/>
            <a:ext cx="2630728"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5031" y="2002536"/>
            <a:ext cx="2301544" cy="502920"/>
          </a:xfrm>
          <a:prstGeom prst="rect">
            <a:avLst/>
          </a:prstGeom>
          <a:noFill/>
        </p:spPr>
        <p:txBody>
          <a:bodyPr wrap="square" lIns="0" rIns="0" tIns="0" bIns="0" anchor="t">
            <a:spAutoFit/>
          </a:bodyPr>
          <a:lstStyle/>
          <a:p>
            <a:pPr algn="l"/>
            <a:r>
              <a:rPr sz="2400" b="1" i="0">
                <a:solidFill>
                  <a:srgbClr val="1E7A33"/>
                </a:solidFill>
                <a:latin typeface="Abadi"/>
              </a:rPr>
              <a:t>96%</a:t>
            </a:r>
          </a:p>
        </p:txBody>
      </p:sp>
      <p:sp>
        <p:nvSpPr>
          <p:cNvPr id="27" name="TextBox 26"/>
          <p:cNvSpPr txBox="1"/>
          <p:nvPr/>
        </p:nvSpPr>
        <p:spPr>
          <a:xfrm>
            <a:off x="9165031" y="2596896"/>
            <a:ext cx="2301544" cy="1188719"/>
          </a:xfrm>
          <a:prstGeom prst="rect">
            <a:avLst/>
          </a:prstGeom>
          <a:noFill/>
        </p:spPr>
        <p:txBody>
          <a:bodyPr wrap="square" lIns="0" rIns="0" tIns="0" bIns="0" anchor="t">
            <a:spAutoFit/>
          </a:bodyPr>
          <a:lstStyle/>
          <a:p>
            <a:pPr algn="l"/>
            <a:r>
              <a:rPr sz="1150" b="0" i="0">
                <a:solidFill>
                  <a:srgbClr val="1A1A1A"/>
                </a:solidFill>
                <a:latin typeface="Abadi"/>
              </a:rPr>
              <a:t>Sensitivity of the upper GI contrast study for surgically confirmed malrotation (156 of 163).</a:t>
            </a:r>
          </a:p>
        </p:txBody>
      </p:sp>
      <p:sp>
        <p:nvSpPr>
          <p:cNvPr id="28" name="TextBox 27"/>
          <p:cNvSpPr txBox="1"/>
          <p:nvPr/>
        </p:nvSpPr>
        <p:spPr>
          <a:xfrm>
            <a:off x="548640" y="4160520"/>
            <a:ext cx="11082528" cy="1645920"/>
          </a:xfrm>
          <a:prstGeom prst="rect">
            <a:avLst/>
          </a:prstGeom>
          <a:noFill/>
        </p:spPr>
        <p:txBody>
          <a:bodyPr wrap="square" lIns="0" rIns="0" tIns="0" bIns="0" anchor="t">
            <a:spAutoFit/>
          </a:bodyPr>
          <a:lstStyle/>
          <a:p>
            <a:pPr algn="l"/>
            <a:r>
              <a:rPr sz="1200" b="1" i="0">
                <a:solidFill>
                  <a:srgbClr val="B22222"/>
                </a:solidFill>
                <a:latin typeface="Abadi"/>
              </a:rPr>
              <a:t>The rule.  </a:t>
            </a:r>
            <a:r>
              <a:rPr sz="1200" b="0" i="0">
                <a:solidFill>
                  <a:srgbClr val="1A1A1A"/>
                </a:solidFill>
                <a:latin typeface="Abadi"/>
              </a:rPr>
              <a:t>Unexplained bile-stained vomiting earns a same-day upper GI contrast study (NICE 1.1.16) and a surgical opinion, even in a well-looking infant; the abdomen may be soft until the bowel is dead.</a:t>
            </a:r>
          </a:p>
          <a:p>
            <a:pPr algn="l">
              <a:spcBef>
                <a:spcPts val="600"/>
              </a:spcBef>
            </a:pPr>
            <a:r>
              <a:rPr sz="1200" b="1" i="0">
                <a:solidFill>
                  <a:srgbClr val="1B355E"/>
                </a:solidFill>
                <a:latin typeface="Abadi"/>
              </a:rPr>
              <a:t>Ask the right question.  </a:t>
            </a:r>
            <a:r>
              <a:rPr sz="1200" b="0" i="0">
                <a:solidFill>
                  <a:srgbClr val="1A1A1A"/>
                </a:solidFill>
                <a:latin typeface="Abadi"/>
              </a:rPr>
              <a:t>'Was it green like grass or spinach?' Yellow milk curd is not bile, but parents and clinicians misread colour often enough that a picture or chart helps.</a:t>
            </a:r>
          </a:p>
          <a:p>
            <a:pPr algn="l">
              <a:spcBef>
                <a:spcPts val="600"/>
              </a:spcBef>
            </a:pPr>
            <a:r>
              <a:rPr sz="1200" b="1" i="0">
                <a:solidFill>
                  <a:srgbClr val="1E7A33"/>
                </a:solidFill>
                <a:latin typeface="Abadi"/>
              </a:rPr>
              <a:t>Ultrasound.  </a:t>
            </a:r>
            <a:r>
              <a:rPr sz="1200" b="0" i="0">
                <a:solidFill>
                  <a:srgbClr val="1A1A1A"/>
                </a:solidFill>
                <a:latin typeface="Abadi"/>
              </a:rPr>
              <a:t>A position of the superior mesenteric vessels can raise suspicion, but the contrast study remains the reference test for malrotation.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TIMING IS A DIAGNOSIS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WHEN IT STARTED TELLS YOU WHAT IT IS</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Age of onset and course of vomiting in infancy, and the diagnoses each window suggests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Rosen R, et al. JPGN 2018;66:516–54 · NICE NG1, 2015 (updated 2019) · Benninga MA, et al. Gastroenterology 2016;150:1443–55 · Nelson SP, et al. Arch Pediatr Adolesc Med 1997;151:569–72</a:t>
            </a:r>
          </a:p>
        </p:txBody>
      </p:sp>
      <p:sp>
        <p:nvSpPr>
          <p:cNvPr id="12" name="Rectangle 11"/>
          <p:cNvSpPr/>
          <p:nvPr/>
        </p:nvSpPr>
        <p:spPr>
          <a:xfrm>
            <a:off x="548640" y="1773936"/>
            <a:ext cx="2011680" cy="210312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29260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First week</a:t>
            </a:r>
          </a:p>
        </p:txBody>
      </p:sp>
      <p:sp>
        <p:nvSpPr>
          <p:cNvPr id="15" name="TextBox 14"/>
          <p:cNvSpPr txBox="1"/>
          <p:nvPr/>
        </p:nvSpPr>
        <p:spPr>
          <a:xfrm>
            <a:off x="658368" y="2157984"/>
            <a:ext cx="1792224" cy="1645919"/>
          </a:xfrm>
          <a:prstGeom prst="rect">
            <a:avLst/>
          </a:prstGeom>
          <a:noFill/>
        </p:spPr>
        <p:txBody>
          <a:bodyPr wrap="square" lIns="0" rIns="0" tIns="0" bIns="0" anchor="t">
            <a:spAutoFit/>
          </a:bodyPr>
          <a:lstStyle/>
          <a:p>
            <a:pPr algn="l"/>
            <a:r>
              <a:rPr sz="1050" b="0" i="0">
                <a:solidFill>
                  <a:srgbClr val="1A1A1A"/>
                </a:solidFill>
                <a:latin typeface="Abadi"/>
              </a:rPr>
              <a:t>Physiological GER rarely starts this early: think obstruction, metabolic disease, sepsis.</a:t>
            </a:r>
          </a:p>
        </p:txBody>
      </p:sp>
      <p:sp>
        <p:nvSpPr>
          <p:cNvPr id="16" name="Isosceles Triangle 15"/>
          <p:cNvSpPr/>
          <p:nvPr/>
        </p:nvSpPr>
        <p:spPr>
          <a:xfrm rot="5400000">
            <a:off x="2624328" y="27432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773936"/>
            <a:ext cx="2011680" cy="210312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07792"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2–8 weeks</a:t>
            </a:r>
          </a:p>
        </p:txBody>
      </p:sp>
      <p:sp>
        <p:nvSpPr>
          <p:cNvPr id="20" name="TextBox 19"/>
          <p:cNvSpPr txBox="1"/>
          <p:nvPr/>
        </p:nvSpPr>
        <p:spPr>
          <a:xfrm>
            <a:off x="2926080" y="2157984"/>
            <a:ext cx="1792224" cy="1645919"/>
          </a:xfrm>
          <a:prstGeom prst="rect">
            <a:avLst/>
          </a:prstGeom>
          <a:noFill/>
        </p:spPr>
        <p:txBody>
          <a:bodyPr wrap="square" lIns="0" rIns="0" tIns="0" bIns="0" anchor="t">
            <a:spAutoFit/>
          </a:bodyPr>
          <a:lstStyle/>
          <a:p>
            <a:pPr algn="l"/>
            <a:r>
              <a:rPr sz="1050" b="0" i="0">
                <a:solidFill>
                  <a:srgbClr val="1A1A1A"/>
                </a:solidFill>
                <a:latin typeface="Abadi"/>
              </a:rPr>
              <a:t>Pyloric stenosis window; projectile, hungry after vomiting; macrolide exposure.</a:t>
            </a:r>
          </a:p>
        </p:txBody>
      </p:sp>
      <p:sp>
        <p:nvSpPr>
          <p:cNvPr id="21" name="Isosceles Triangle 20"/>
          <p:cNvSpPr/>
          <p:nvPr/>
        </p:nvSpPr>
        <p:spPr>
          <a:xfrm rot="5400000">
            <a:off x="4892040" y="27432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73936"/>
            <a:ext cx="2011680" cy="210312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29260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75504"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Peak, 4 months</a:t>
            </a:r>
          </a:p>
        </p:txBody>
      </p:sp>
      <p:sp>
        <p:nvSpPr>
          <p:cNvPr id="25" name="TextBox 24"/>
          <p:cNvSpPr txBox="1"/>
          <p:nvPr/>
        </p:nvSpPr>
        <p:spPr>
          <a:xfrm>
            <a:off x="5193792" y="2157984"/>
            <a:ext cx="1792224" cy="1645919"/>
          </a:xfrm>
          <a:prstGeom prst="rect">
            <a:avLst/>
          </a:prstGeom>
          <a:noFill/>
        </p:spPr>
        <p:txBody>
          <a:bodyPr wrap="square" lIns="0" rIns="0" tIns="0" bIns="0" anchor="t">
            <a:spAutoFit/>
          </a:bodyPr>
          <a:lstStyle/>
          <a:p>
            <a:pPr algn="l"/>
            <a:r>
              <a:rPr sz="1050" b="0" i="0">
                <a:solidFill>
                  <a:srgbClr val="1A1A1A"/>
                </a:solidFill>
                <a:latin typeface="Abadi"/>
              </a:rPr>
              <a:t>Physiological regurgitation peaks at 67%; colic has already faded.</a:t>
            </a:r>
          </a:p>
        </p:txBody>
      </p:sp>
      <p:sp>
        <p:nvSpPr>
          <p:cNvPr id="26" name="Isosceles Triangle 25"/>
          <p:cNvSpPr/>
          <p:nvPr/>
        </p:nvSpPr>
        <p:spPr>
          <a:xfrm rot="5400000">
            <a:off x="7159752" y="27432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1773936"/>
            <a:ext cx="2011680" cy="210312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3216"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Onset &gt; 6 months</a:t>
            </a:r>
          </a:p>
        </p:txBody>
      </p:sp>
      <p:sp>
        <p:nvSpPr>
          <p:cNvPr id="30" name="TextBox 29"/>
          <p:cNvSpPr txBox="1"/>
          <p:nvPr/>
        </p:nvSpPr>
        <p:spPr>
          <a:xfrm>
            <a:off x="7461504" y="2157984"/>
            <a:ext cx="1792224" cy="1645919"/>
          </a:xfrm>
          <a:prstGeom prst="rect">
            <a:avLst/>
          </a:prstGeom>
          <a:noFill/>
        </p:spPr>
        <p:txBody>
          <a:bodyPr wrap="square" lIns="0" rIns="0" tIns="0" bIns="0" anchor="t">
            <a:spAutoFit/>
          </a:bodyPr>
          <a:lstStyle/>
          <a:p>
            <a:pPr algn="l"/>
            <a:r>
              <a:rPr sz="1050" b="0" i="0">
                <a:solidFill>
                  <a:srgbClr val="1A1A1A"/>
                </a:solidFill>
                <a:latin typeface="Abadi"/>
              </a:rPr>
              <a:t>New vomiting is not GER: urinary infection, neurological disease, eosinophilic oesophagitis.</a:t>
            </a:r>
          </a:p>
        </p:txBody>
      </p:sp>
      <p:sp>
        <p:nvSpPr>
          <p:cNvPr id="31" name="Isosceles Triangle 30"/>
          <p:cNvSpPr/>
          <p:nvPr/>
        </p:nvSpPr>
        <p:spPr>
          <a:xfrm rot="5400000">
            <a:off x="9427464" y="27432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773936"/>
            <a:ext cx="2011680" cy="210312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10928"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&gt; 12–18 months</a:t>
            </a:r>
          </a:p>
        </p:txBody>
      </p:sp>
      <p:sp>
        <p:nvSpPr>
          <p:cNvPr id="35" name="TextBox 34"/>
          <p:cNvSpPr txBox="1"/>
          <p:nvPr/>
        </p:nvSpPr>
        <p:spPr>
          <a:xfrm>
            <a:off x="9729216" y="2157984"/>
            <a:ext cx="1792224" cy="1645919"/>
          </a:xfrm>
          <a:prstGeom prst="rect">
            <a:avLst/>
          </a:prstGeom>
          <a:noFill/>
        </p:spPr>
        <p:txBody>
          <a:bodyPr wrap="square" lIns="0" rIns="0" tIns="0" bIns="0" anchor="t">
            <a:spAutoFit/>
          </a:bodyPr>
          <a:lstStyle/>
          <a:p>
            <a:pPr algn="l"/>
            <a:r>
              <a:rPr sz="1050" b="0" i="0">
                <a:solidFill>
                  <a:srgbClr val="1A1A1A"/>
                </a:solidFill>
                <a:latin typeface="Abadi"/>
              </a:rPr>
              <a:t>Persistence beyond the natural history: re-examine the diagnosis and the anatomy.</a:t>
            </a:r>
          </a:p>
        </p:txBody>
      </p:sp>
      <p:sp>
        <p:nvSpPr>
          <p:cNvPr id="36" name="TextBox 35"/>
          <p:cNvSpPr txBox="1"/>
          <p:nvPr/>
        </p:nvSpPr>
        <p:spPr>
          <a:xfrm>
            <a:off x="548640" y="4206240"/>
            <a:ext cx="11082528" cy="1463040"/>
          </a:xfrm>
          <a:prstGeom prst="rect">
            <a:avLst/>
          </a:prstGeom>
          <a:noFill/>
        </p:spPr>
        <p:txBody>
          <a:bodyPr wrap="square" lIns="0" rIns="0" tIns="0" bIns="0" anchor="t">
            <a:spAutoFit/>
          </a:bodyPr>
          <a:lstStyle/>
          <a:p>
            <a:pPr algn="l"/>
            <a:r>
              <a:rPr sz="1300" b="1" i="0">
                <a:solidFill>
                  <a:srgbClr val="1B355E"/>
                </a:solidFill>
                <a:latin typeface="Abadi"/>
              </a:rPr>
              <a:t>NICE detail.  </a:t>
            </a:r>
            <a:r>
              <a:rPr sz="1300" b="0" i="0">
                <a:solidFill>
                  <a:srgbClr val="1A1A1A"/>
                </a:solidFill>
                <a:latin typeface="Abadi"/>
              </a:rPr>
              <a:t>Test the urine if regurgitation comes with faltering growth, late onset after 8 weeks, or frequent regurgitation with marked distress (NICE 1.1.23).</a:t>
            </a:r>
          </a:p>
          <a:p>
            <a:pPr algn="l">
              <a:spcBef>
                <a:spcPts val="600"/>
              </a:spcBef>
            </a:pPr>
            <a:r>
              <a:rPr sz="1300" b="1" i="0">
                <a:solidFill>
                  <a:srgbClr val="D97A0B"/>
                </a:solidFill>
                <a:latin typeface="Abadi"/>
              </a:rPr>
              <a:t>Rumination.  </a:t>
            </a:r>
            <a:r>
              <a:rPr sz="1300" b="0" i="0">
                <a:solidFill>
                  <a:srgbClr val="1A1A1A"/>
                </a:solidFill>
                <a:latin typeface="Abadi"/>
              </a:rPr>
              <a:t>Repetitive, effortless regurgitation for at least 2 months beginning at 3–8 months, often with self-stimulation, is a separate Rome IV disorder, not GER.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PYLORIC STENOSIS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ASK ABOUT THE ANTIBIOTIC</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Adjusted odds ratio for pyloric stenosis after macrolide exposure, by age at exposure (1,074,236 US military health system infants)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Eberly MD, et al. Pediatrics 2015;135:483–8 · Hernanz-Schulman M. Radiology 2003;227:319–31 · NICE NG1, 2015 (updated 2019)</a:t>
            </a:r>
          </a:p>
        </p:txBody>
      </p:sp>
      <p:sp>
        <p:nvSpPr>
          <p:cNvPr id="12" name="TextBox 11"/>
          <p:cNvSpPr txBox="1"/>
          <p:nvPr/>
        </p:nvSpPr>
        <p:spPr>
          <a:xfrm>
            <a:off x="548640" y="1828800"/>
            <a:ext cx="2651760" cy="621792"/>
          </a:xfrm>
          <a:prstGeom prst="rect">
            <a:avLst/>
          </a:prstGeom>
          <a:noFill/>
        </p:spPr>
        <p:txBody>
          <a:bodyPr wrap="square" lIns="0" rIns="0" tIns="0" bIns="0" anchor="ctr">
            <a:spAutoFit/>
          </a:bodyPr>
          <a:lstStyle/>
          <a:p>
            <a:pPr algn="r"/>
            <a:r>
              <a:rPr sz="1100" b="0" i="0">
                <a:solidFill>
                  <a:srgbClr val="1A1A1A"/>
                </a:solidFill>
                <a:latin typeface="Abadi"/>
              </a:rPr>
              <a:t>Erythromycin, days 0–14</a:t>
            </a:r>
          </a:p>
        </p:txBody>
      </p:sp>
      <p:sp>
        <p:nvSpPr>
          <p:cNvPr id="13" name="Rectangle 12"/>
          <p:cNvSpPr/>
          <p:nvPr/>
        </p:nvSpPr>
        <p:spPr>
          <a:xfrm>
            <a:off x="3383280" y="1965960"/>
            <a:ext cx="2743200"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9632" y="1828800"/>
            <a:ext cx="1463040" cy="621792"/>
          </a:xfrm>
          <a:prstGeom prst="rect">
            <a:avLst/>
          </a:prstGeom>
          <a:noFill/>
        </p:spPr>
        <p:txBody>
          <a:bodyPr wrap="square" lIns="0" rIns="0" tIns="0" bIns="0" anchor="ctr">
            <a:spAutoFit/>
          </a:bodyPr>
          <a:lstStyle/>
          <a:p>
            <a:pPr algn="l"/>
            <a:r>
              <a:rPr sz="1100" b="1" i="0">
                <a:solidFill>
                  <a:srgbClr val="1A1A1A"/>
                </a:solidFill>
                <a:latin typeface="Abadi"/>
              </a:rPr>
              <a:t>aOR 13.3 (6.8–25.9)</a:t>
            </a:r>
          </a:p>
        </p:txBody>
      </p:sp>
      <p:sp>
        <p:nvSpPr>
          <p:cNvPr id="15" name="TextBox 14"/>
          <p:cNvSpPr txBox="1"/>
          <p:nvPr/>
        </p:nvSpPr>
        <p:spPr>
          <a:xfrm>
            <a:off x="548640" y="2450592"/>
            <a:ext cx="2651760" cy="621792"/>
          </a:xfrm>
          <a:prstGeom prst="rect">
            <a:avLst/>
          </a:prstGeom>
          <a:noFill/>
        </p:spPr>
        <p:txBody>
          <a:bodyPr wrap="square" lIns="0" rIns="0" tIns="0" bIns="0" anchor="ctr">
            <a:spAutoFit/>
          </a:bodyPr>
          <a:lstStyle/>
          <a:p>
            <a:pPr algn="r"/>
            <a:r>
              <a:rPr sz="1100" b="0" i="0">
                <a:solidFill>
                  <a:srgbClr val="1A1A1A"/>
                </a:solidFill>
                <a:latin typeface="Abadi"/>
              </a:rPr>
              <a:t>Azithromycin, days 0–14</a:t>
            </a:r>
          </a:p>
        </p:txBody>
      </p:sp>
      <p:sp>
        <p:nvSpPr>
          <p:cNvPr id="16" name="Rectangle 15"/>
          <p:cNvSpPr/>
          <p:nvPr/>
        </p:nvSpPr>
        <p:spPr>
          <a:xfrm>
            <a:off x="3383280" y="2587752"/>
            <a:ext cx="1703671"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0103" y="2450592"/>
            <a:ext cx="1463040" cy="621792"/>
          </a:xfrm>
          <a:prstGeom prst="rect">
            <a:avLst/>
          </a:prstGeom>
          <a:noFill/>
        </p:spPr>
        <p:txBody>
          <a:bodyPr wrap="square" lIns="0" rIns="0" tIns="0" bIns="0" anchor="ctr">
            <a:spAutoFit/>
          </a:bodyPr>
          <a:lstStyle/>
          <a:p>
            <a:pPr algn="l"/>
            <a:r>
              <a:rPr sz="1100" b="1" i="0">
                <a:solidFill>
                  <a:srgbClr val="1A1A1A"/>
                </a:solidFill>
                <a:latin typeface="Abadi"/>
              </a:rPr>
              <a:t>aOR 8.26 (2.6–26.0)</a:t>
            </a:r>
          </a:p>
        </p:txBody>
      </p:sp>
      <p:sp>
        <p:nvSpPr>
          <p:cNvPr id="18" name="TextBox 17"/>
          <p:cNvSpPr txBox="1"/>
          <p:nvPr/>
        </p:nvSpPr>
        <p:spPr>
          <a:xfrm>
            <a:off x="548640" y="3072384"/>
            <a:ext cx="2651760" cy="621792"/>
          </a:xfrm>
          <a:prstGeom prst="rect">
            <a:avLst/>
          </a:prstGeom>
          <a:noFill/>
        </p:spPr>
        <p:txBody>
          <a:bodyPr wrap="square" lIns="0" rIns="0" tIns="0" bIns="0" anchor="ctr">
            <a:spAutoFit/>
          </a:bodyPr>
          <a:lstStyle/>
          <a:p>
            <a:pPr algn="r"/>
            <a:r>
              <a:rPr sz="1100" b="0" i="0">
                <a:solidFill>
                  <a:srgbClr val="1A1A1A"/>
                </a:solidFill>
                <a:latin typeface="Abadi"/>
              </a:rPr>
              <a:t>Erythromycin, days 15–42</a:t>
            </a:r>
          </a:p>
        </p:txBody>
      </p:sp>
      <p:sp>
        <p:nvSpPr>
          <p:cNvPr id="19" name="Rectangle 18"/>
          <p:cNvSpPr/>
          <p:nvPr/>
        </p:nvSpPr>
        <p:spPr>
          <a:xfrm>
            <a:off x="3383280" y="3209544"/>
            <a:ext cx="845648" cy="34747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02080" y="3072384"/>
            <a:ext cx="1463040" cy="621792"/>
          </a:xfrm>
          <a:prstGeom prst="rect">
            <a:avLst/>
          </a:prstGeom>
          <a:noFill/>
        </p:spPr>
        <p:txBody>
          <a:bodyPr wrap="square" lIns="0" rIns="0" tIns="0" bIns="0" anchor="ctr">
            <a:spAutoFit/>
          </a:bodyPr>
          <a:lstStyle/>
          <a:p>
            <a:pPr algn="l"/>
            <a:r>
              <a:rPr sz="1100" b="1" i="0">
                <a:solidFill>
                  <a:srgbClr val="1A1A1A"/>
                </a:solidFill>
                <a:latin typeface="Abadi"/>
              </a:rPr>
              <a:t>aOR 4.10 (1.7–9.9)</a:t>
            </a:r>
          </a:p>
        </p:txBody>
      </p:sp>
      <p:sp>
        <p:nvSpPr>
          <p:cNvPr id="21" name="TextBox 20"/>
          <p:cNvSpPr txBox="1"/>
          <p:nvPr/>
        </p:nvSpPr>
        <p:spPr>
          <a:xfrm>
            <a:off x="548640" y="3694176"/>
            <a:ext cx="2651760" cy="621792"/>
          </a:xfrm>
          <a:prstGeom prst="rect">
            <a:avLst/>
          </a:prstGeom>
          <a:noFill/>
        </p:spPr>
        <p:txBody>
          <a:bodyPr wrap="square" lIns="0" rIns="0" tIns="0" bIns="0" anchor="ctr">
            <a:spAutoFit/>
          </a:bodyPr>
          <a:lstStyle/>
          <a:p>
            <a:pPr algn="r"/>
            <a:r>
              <a:rPr sz="1100" b="0" i="0">
                <a:solidFill>
                  <a:srgbClr val="1A1A1A"/>
                </a:solidFill>
                <a:latin typeface="Abadi"/>
              </a:rPr>
              <a:t>Azithromycin, days 15–42</a:t>
            </a:r>
          </a:p>
        </p:txBody>
      </p:sp>
      <p:sp>
        <p:nvSpPr>
          <p:cNvPr id="22" name="Rectangle 21"/>
          <p:cNvSpPr/>
          <p:nvPr/>
        </p:nvSpPr>
        <p:spPr>
          <a:xfrm>
            <a:off x="3383280" y="3831336"/>
            <a:ext cx="614641" cy="34747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71073" y="3694176"/>
            <a:ext cx="1463040" cy="621792"/>
          </a:xfrm>
          <a:prstGeom prst="rect">
            <a:avLst/>
          </a:prstGeom>
          <a:noFill/>
        </p:spPr>
        <p:txBody>
          <a:bodyPr wrap="square" lIns="0" rIns="0" tIns="0" bIns="0" anchor="ctr">
            <a:spAutoFit/>
          </a:bodyPr>
          <a:lstStyle/>
          <a:p>
            <a:pPr algn="l"/>
            <a:r>
              <a:rPr sz="1100" b="1" i="0">
                <a:solidFill>
                  <a:srgbClr val="1A1A1A"/>
                </a:solidFill>
                <a:latin typeface="Abadi"/>
              </a:rPr>
              <a:t>aOR 2.98 (1.2–7.2)</a:t>
            </a:r>
          </a:p>
        </p:txBody>
      </p:sp>
      <p:sp>
        <p:nvSpPr>
          <p:cNvPr id="24" name="TextBox 23"/>
          <p:cNvSpPr txBox="1"/>
          <p:nvPr/>
        </p:nvSpPr>
        <p:spPr>
          <a:xfrm>
            <a:off x="548640" y="4315968"/>
            <a:ext cx="2651760" cy="621792"/>
          </a:xfrm>
          <a:prstGeom prst="rect">
            <a:avLst/>
          </a:prstGeom>
          <a:noFill/>
        </p:spPr>
        <p:txBody>
          <a:bodyPr wrap="square" lIns="0" rIns="0" tIns="0" bIns="0" anchor="ctr">
            <a:spAutoFit/>
          </a:bodyPr>
          <a:lstStyle/>
          <a:p>
            <a:pPr algn="r"/>
            <a:r>
              <a:rPr sz="1100" b="0" i="0">
                <a:solidFill>
                  <a:srgbClr val="1A1A1A"/>
                </a:solidFill>
                <a:latin typeface="Abadi"/>
              </a:rPr>
              <a:t>Either, days 43–90</a:t>
            </a:r>
          </a:p>
        </p:txBody>
      </p:sp>
      <p:sp>
        <p:nvSpPr>
          <p:cNvPr id="25" name="Rectangle 24"/>
          <p:cNvSpPr/>
          <p:nvPr/>
        </p:nvSpPr>
        <p:spPr>
          <a:xfrm>
            <a:off x="3383280" y="4453128"/>
            <a:ext cx="61876" cy="34747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18308" y="4315968"/>
            <a:ext cx="1463040" cy="621792"/>
          </a:xfrm>
          <a:prstGeom prst="rect">
            <a:avLst/>
          </a:prstGeom>
          <a:noFill/>
        </p:spPr>
        <p:txBody>
          <a:bodyPr wrap="square" lIns="0" rIns="0" tIns="0" bIns="0" anchor="ctr">
            <a:spAutoFit/>
          </a:bodyPr>
          <a:lstStyle/>
          <a:p>
            <a:pPr algn="l"/>
            <a:r>
              <a:rPr sz="1100" b="1" i="0">
                <a:solidFill>
                  <a:srgbClr val="1A1A1A"/>
                </a:solidFill>
                <a:latin typeface="Abadi"/>
              </a:rPr>
              <a:t>No association</a:t>
            </a:r>
          </a:p>
        </p:txBody>
      </p:sp>
      <p:sp>
        <p:nvSpPr>
          <p:cNvPr id="27" name="TextBox 26"/>
          <p:cNvSpPr txBox="1"/>
          <p:nvPr/>
        </p:nvSpPr>
        <p:spPr>
          <a:xfrm>
            <a:off x="7863840" y="1773936"/>
            <a:ext cx="3767328" cy="4023360"/>
          </a:xfrm>
          <a:prstGeom prst="rect">
            <a:avLst/>
          </a:prstGeom>
          <a:noFill/>
        </p:spPr>
        <p:txBody>
          <a:bodyPr wrap="square" lIns="0" rIns="0" tIns="0" bIns="0" anchor="t">
            <a:spAutoFit/>
          </a:bodyPr>
          <a:lstStyle/>
          <a:p>
            <a:pPr algn="l"/>
            <a:r>
              <a:rPr sz="1700" b="1" i="0">
                <a:solidFill>
                  <a:srgbClr val="1B355E"/>
                </a:solidFill>
                <a:latin typeface="Abadi"/>
              </a:rPr>
              <a:t>2,466 cases</a:t>
            </a:r>
          </a:p>
          <a:p>
            <a:pPr algn="l">
              <a:spcBef>
                <a:spcPts val="200"/>
              </a:spcBef>
            </a:pPr>
            <a:r>
              <a:rPr sz="1100" b="0" i="0">
                <a:solidFill>
                  <a:srgbClr val="1A1A1A"/>
                </a:solidFill>
                <a:latin typeface="Abadi"/>
              </a:rPr>
              <a:t>About 2.3 per 1,000 infants in the cohort developed pyloric stenosis.</a:t>
            </a:r>
          </a:p>
          <a:p>
            <a:pPr algn="l">
              <a:spcBef>
                <a:spcPts val="900"/>
              </a:spcBef>
            </a:pPr>
            <a:r>
              <a:rPr sz="1700" b="1" i="0">
                <a:solidFill>
                  <a:srgbClr val="1B355E"/>
                </a:solidFill>
                <a:latin typeface="Abadi"/>
              </a:rPr>
              <a:t>Two weeks</a:t>
            </a:r>
          </a:p>
          <a:p>
            <a:pPr algn="l">
              <a:spcBef>
                <a:spcPts val="200"/>
              </a:spcBef>
            </a:pPr>
            <a:r>
              <a:rPr sz="1100" b="0" i="0">
                <a:solidFill>
                  <a:srgbClr val="1A1A1A"/>
                </a:solidFill>
                <a:latin typeface="Abadi"/>
              </a:rPr>
              <a:t>Risk was highest with exposure in the first 14 days of life and absent after 6 weeks.</a:t>
            </a:r>
          </a:p>
          <a:p>
            <a:pPr algn="l">
              <a:spcBef>
                <a:spcPts val="900"/>
              </a:spcBef>
            </a:pPr>
            <a:r>
              <a:rPr sz="1700" b="1" i="0">
                <a:solidFill>
                  <a:srgbClr val="1B355E"/>
                </a:solidFill>
                <a:latin typeface="Abadi"/>
              </a:rPr>
              <a:t>The picture</a:t>
            </a:r>
          </a:p>
          <a:p>
            <a:pPr algn="l">
              <a:spcBef>
                <a:spcPts val="200"/>
              </a:spcBef>
            </a:pPr>
            <a:r>
              <a:rPr sz="1100" b="0" i="0">
                <a:solidFill>
                  <a:srgbClr val="1A1A1A"/>
                </a:solidFill>
                <a:latin typeface="Abadi"/>
              </a:rPr>
              <a:t>Projectile non-bilious vomiting, a hungry infant, often 2–8 weeks old; NICE asks for same-day assessment under 2 months.</a:t>
            </a:r>
          </a:p>
          <a:p>
            <a:pPr algn="l">
              <a:spcBef>
                <a:spcPts val="900"/>
              </a:spcBef>
            </a:pPr>
            <a:r>
              <a:rPr sz="1700" b="1" i="0">
                <a:solidFill>
                  <a:srgbClr val="1B355E"/>
                </a:solidFill>
                <a:latin typeface="Abadi"/>
              </a:rPr>
              <a:t>The test</a:t>
            </a:r>
          </a:p>
          <a:p>
            <a:pPr algn="l">
              <a:spcBef>
                <a:spcPts val="200"/>
              </a:spcBef>
            </a:pPr>
            <a:r>
              <a:rPr sz="1100" b="0" i="0">
                <a:solidFill>
                  <a:srgbClr val="1A1A1A"/>
                </a:solidFill>
                <a:latin typeface="Abadi"/>
              </a:rPr>
              <a:t>Ultrasound; muscle thickness above about 3 mm and channel length above about 15 mm are the usual thresholds.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THE ALLERGY OVERLAP</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COW'S MILK ALLERGY: REAL, BUT OVER-CALLED</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Challenge-proven cow's milk protein allergy in a European birth cohort (EuroPrevall)</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Schoemaker AA, et al. Allergy 2015;70:963–72 · Vandenplas Y, et al. JPGN 2024;78:386–413 · Rosen R, et al. JPGN 2018;66:516–54 rec. 4.3</a:t>
            </a:r>
          </a:p>
        </p:txBody>
      </p:sp>
      <p:sp>
        <p:nvSpPr>
          <p:cNvPr id="12" name="Rectangle 11"/>
          <p:cNvSpPr/>
          <p:nvPr/>
        </p:nvSpPr>
        <p:spPr>
          <a:xfrm>
            <a:off x="548640" y="1773936"/>
            <a:ext cx="2630728" cy="182880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0728"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002536"/>
            <a:ext cx="2301544" cy="502920"/>
          </a:xfrm>
          <a:prstGeom prst="rect">
            <a:avLst/>
          </a:prstGeom>
          <a:noFill/>
        </p:spPr>
        <p:txBody>
          <a:bodyPr wrap="square" lIns="0" rIns="0" tIns="0" bIns="0" anchor="t">
            <a:spAutoFit/>
          </a:bodyPr>
          <a:lstStyle/>
          <a:p>
            <a:pPr algn="l"/>
            <a:r>
              <a:rPr sz="2600" b="1" i="0">
                <a:solidFill>
                  <a:srgbClr val="7F7F7F"/>
                </a:solidFill>
                <a:latin typeface="Abadi"/>
              </a:rPr>
              <a:t>12,049</a:t>
            </a:r>
          </a:p>
        </p:txBody>
      </p:sp>
      <p:sp>
        <p:nvSpPr>
          <p:cNvPr id="15" name="TextBox 14"/>
          <p:cNvSpPr txBox="1"/>
          <p:nvPr/>
        </p:nvSpPr>
        <p:spPr>
          <a:xfrm>
            <a:off x="713232" y="2596896"/>
            <a:ext cx="2301544" cy="914400"/>
          </a:xfrm>
          <a:prstGeom prst="rect">
            <a:avLst/>
          </a:prstGeom>
          <a:noFill/>
        </p:spPr>
        <p:txBody>
          <a:bodyPr wrap="square" lIns="0" rIns="0" tIns="0" bIns="0" anchor="t">
            <a:spAutoFit/>
          </a:bodyPr>
          <a:lstStyle/>
          <a:p>
            <a:pPr algn="l"/>
            <a:r>
              <a:rPr sz="1150" b="0" i="0">
                <a:solidFill>
                  <a:srgbClr val="1A1A1A"/>
                </a:solidFill>
                <a:latin typeface="Abadi"/>
              </a:rPr>
              <a:t>Newborns enrolled across nine European countries.</a:t>
            </a:r>
          </a:p>
        </p:txBody>
      </p:sp>
      <p:sp>
        <p:nvSpPr>
          <p:cNvPr id="16" name="Rectangle 15"/>
          <p:cNvSpPr/>
          <p:nvPr/>
        </p:nvSpPr>
        <p:spPr>
          <a:xfrm>
            <a:off x="3365906" y="1773936"/>
            <a:ext cx="2630728" cy="182880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5906" y="1773936"/>
            <a:ext cx="2630728"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0498" y="2002536"/>
            <a:ext cx="2301544" cy="502920"/>
          </a:xfrm>
          <a:prstGeom prst="rect">
            <a:avLst/>
          </a:prstGeom>
          <a:noFill/>
        </p:spPr>
        <p:txBody>
          <a:bodyPr wrap="square" lIns="0" rIns="0" tIns="0" bIns="0" anchor="t">
            <a:spAutoFit/>
          </a:bodyPr>
          <a:lstStyle/>
          <a:p>
            <a:pPr algn="l"/>
            <a:r>
              <a:rPr sz="2600" b="1" i="0">
                <a:solidFill>
                  <a:srgbClr val="D97A0B"/>
                </a:solidFill>
                <a:latin typeface="Abadi"/>
              </a:rPr>
              <a:t>358</a:t>
            </a:r>
          </a:p>
        </p:txBody>
      </p:sp>
      <p:sp>
        <p:nvSpPr>
          <p:cNvPr id="19" name="TextBox 18"/>
          <p:cNvSpPr txBox="1"/>
          <p:nvPr/>
        </p:nvSpPr>
        <p:spPr>
          <a:xfrm>
            <a:off x="3530498" y="2596896"/>
            <a:ext cx="2301544" cy="914400"/>
          </a:xfrm>
          <a:prstGeom prst="rect">
            <a:avLst/>
          </a:prstGeom>
          <a:noFill/>
        </p:spPr>
        <p:txBody>
          <a:bodyPr wrap="square" lIns="0" rIns="0" tIns="0" bIns="0" anchor="t">
            <a:spAutoFit/>
          </a:bodyPr>
          <a:lstStyle/>
          <a:p>
            <a:pPr algn="l"/>
            <a:r>
              <a:rPr sz="1150" b="0" i="0">
                <a:solidFill>
                  <a:srgbClr val="1A1A1A"/>
                </a:solidFill>
                <a:latin typeface="Abadi"/>
              </a:rPr>
              <a:t>Infants with suspected cow's milk allergy referred for evaluation.</a:t>
            </a:r>
          </a:p>
        </p:txBody>
      </p:sp>
      <p:sp>
        <p:nvSpPr>
          <p:cNvPr id="20" name="Rectangle 19"/>
          <p:cNvSpPr/>
          <p:nvPr/>
        </p:nvSpPr>
        <p:spPr>
          <a:xfrm>
            <a:off x="6183172" y="1773936"/>
            <a:ext cx="2630728" cy="182880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3172" y="1773936"/>
            <a:ext cx="2630728"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7764" y="2002536"/>
            <a:ext cx="2301544" cy="502920"/>
          </a:xfrm>
          <a:prstGeom prst="rect">
            <a:avLst/>
          </a:prstGeom>
          <a:noFill/>
        </p:spPr>
        <p:txBody>
          <a:bodyPr wrap="square" lIns="0" rIns="0" tIns="0" bIns="0" anchor="t">
            <a:spAutoFit/>
          </a:bodyPr>
          <a:lstStyle/>
          <a:p>
            <a:pPr algn="l"/>
            <a:r>
              <a:rPr sz="2600" b="1" i="0">
                <a:solidFill>
                  <a:srgbClr val="B22222"/>
                </a:solidFill>
                <a:latin typeface="Abadi"/>
              </a:rPr>
              <a:t>55</a:t>
            </a:r>
          </a:p>
        </p:txBody>
      </p:sp>
      <p:sp>
        <p:nvSpPr>
          <p:cNvPr id="23" name="TextBox 22"/>
          <p:cNvSpPr txBox="1"/>
          <p:nvPr/>
        </p:nvSpPr>
        <p:spPr>
          <a:xfrm>
            <a:off x="6347764" y="2596896"/>
            <a:ext cx="2301544" cy="914400"/>
          </a:xfrm>
          <a:prstGeom prst="rect">
            <a:avLst/>
          </a:prstGeom>
          <a:noFill/>
        </p:spPr>
        <p:txBody>
          <a:bodyPr wrap="square" lIns="0" rIns="0" tIns="0" bIns="0" anchor="t">
            <a:spAutoFit/>
          </a:bodyPr>
          <a:lstStyle/>
          <a:p>
            <a:pPr algn="l"/>
            <a:r>
              <a:rPr sz="1150" b="0" i="0">
                <a:solidFill>
                  <a:srgbClr val="1A1A1A"/>
                </a:solidFill>
                <a:latin typeface="Abadi"/>
              </a:rPr>
              <a:t>Allergy confirmed by double-blind challenge: incidence 0.54% (about 1% in the UK and the Netherlands).</a:t>
            </a:r>
          </a:p>
        </p:txBody>
      </p:sp>
      <p:sp>
        <p:nvSpPr>
          <p:cNvPr id="24" name="Rectangle 23"/>
          <p:cNvSpPr/>
          <p:nvPr/>
        </p:nvSpPr>
        <p:spPr>
          <a:xfrm>
            <a:off x="9000439" y="1773936"/>
            <a:ext cx="2630728" cy="182880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0439" y="1773936"/>
            <a:ext cx="2630728"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5031" y="2002536"/>
            <a:ext cx="2301544" cy="502920"/>
          </a:xfrm>
          <a:prstGeom prst="rect">
            <a:avLst/>
          </a:prstGeom>
          <a:noFill/>
        </p:spPr>
        <p:txBody>
          <a:bodyPr wrap="square" lIns="0" rIns="0" tIns="0" bIns="0" anchor="t">
            <a:spAutoFit/>
          </a:bodyPr>
          <a:lstStyle/>
          <a:p>
            <a:pPr algn="l"/>
            <a:r>
              <a:rPr sz="2600" b="1" i="0">
                <a:solidFill>
                  <a:srgbClr val="1E7A33"/>
                </a:solidFill>
                <a:latin typeface="Abadi"/>
              </a:rPr>
              <a:t>69%</a:t>
            </a:r>
          </a:p>
        </p:txBody>
      </p:sp>
      <p:sp>
        <p:nvSpPr>
          <p:cNvPr id="27" name="TextBox 26"/>
          <p:cNvSpPr txBox="1"/>
          <p:nvPr/>
        </p:nvSpPr>
        <p:spPr>
          <a:xfrm>
            <a:off x="9165031" y="2596896"/>
            <a:ext cx="2301544" cy="914400"/>
          </a:xfrm>
          <a:prstGeom prst="rect">
            <a:avLst/>
          </a:prstGeom>
          <a:noFill/>
        </p:spPr>
        <p:txBody>
          <a:bodyPr wrap="square" lIns="0" rIns="0" tIns="0" bIns="0" anchor="t">
            <a:spAutoFit/>
          </a:bodyPr>
          <a:lstStyle/>
          <a:p>
            <a:pPr algn="l"/>
            <a:r>
              <a:rPr sz="1150" b="0" i="0">
                <a:solidFill>
                  <a:srgbClr val="1A1A1A"/>
                </a:solidFill>
                <a:latin typeface="Abadi"/>
              </a:rPr>
              <a:t>Of confirmed infants tolerant of cow's milk one year after diagnosis.</a:t>
            </a:r>
          </a:p>
        </p:txBody>
      </p:sp>
      <p:sp>
        <p:nvSpPr>
          <p:cNvPr id="28" name="TextBox 27"/>
          <p:cNvSpPr txBox="1"/>
          <p:nvPr/>
        </p:nvSpPr>
        <p:spPr>
          <a:xfrm>
            <a:off x="548640" y="3886200"/>
            <a:ext cx="11082528" cy="1920240"/>
          </a:xfrm>
          <a:prstGeom prst="rect">
            <a:avLst/>
          </a:prstGeom>
          <a:noFill/>
        </p:spPr>
        <p:txBody>
          <a:bodyPr wrap="square" lIns="0" rIns="0" tIns="0" bIns="0" anchor="t">
            <a:spAutoFit/>
          </a:bodyPr>
          <a:lstStyle/>
          <a:p>
            <a:pPr algn="l"/>
            <a:r>
              <a:rPr sz="1200" b="1" i="0">
                <a:solidFill>
                  <a:srgbClr val="B22222"/>
                </a:solidFill>
                <a:latin typeface="Abadi"/>
              </a:rPr>
              <a:t>When to think of it.  </a:t>
            </a:r>
            <a:r>
              <a:rPr sz="1200" b="0" i="0">
                <a:solidFill>
                  <a:srgbClr val="1A1A1A"/>
                </a:solidFill>
                <a:latin typeface="Abadi"/>
              </a:rPr>
              <a:t>Regurgitation with eczema, blood or mucus in the stool, chronic diarrhoea, or a strongly atopic family, or regurgitation that persists despite feeding advice.</a:t>
            </a:r>
          </a:p>
          <a:p>
            <a:pPr algn="l">
              <a:spcBef>
                <a:spcPts val="600"/>
              </a:spcBef>
            </a:pPr>
            <a:r>
              <a:rPr sz="1200" b="1" i="0">
                <a:solidFill>
                  <a:srgbClr val="1B355E"/>
                </a:solidFill>
                <a:latin typeface="Abadi"/>
              </a:rPr>
              <a:t>How to test it.  </a:t>
            </a:r>
            <a:r>
              <a:rPr sz="1200" b="0" i="0">
                <a:solidFill>
                  <a:srgbClr val="1A1A1A"/>
                </a:solidFill>
                <a:latin typeface="Abadi"/>
              </a:rPr>
              <a:t>NASPGHAN/ESPGHAN suggest a 2–4 week trial of an extensively hydrolysed or amino acid formula (or maternal milk elimination) when non-drug measures fail; ESPGHAN 2024 asks for a re-challenge, because over-diagnosis is far more common than under-diagnosis.</a:t>
            </a:r>
          </a:p>
          <a:p>
            <a:pPr algn="l">
              <a:spcBef>
                <a:spcPts val="600"/>
              </a:spcBef>
            </a:pPr>
            <a:r>
              <a:rPr sz="1200" b="1" i="0">
                <a:solidFill>
                  <a:srgbClr val="D97A0B"/>
                </a:solidFill>
                <a:latin typeface="Abadi"/>
              </a:rPr>
              <a:t>Only about 1 in 7.  </a:t>
            </a:r>
            <a:r>
              <a:rPr sz="1200" b="0" i="0">
                <a:solidFill>
                  <a:srgbClr val="1A1A1A"/>
                </a:solidFill>
                <a:latin typeface="Abadi"/>
              </a:rPr>
              <a:t>Fifteen percent of suspected infants in EuroPrevall had allergy on challenge; most were spared an unnecessary diet by testing.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WHAT TO DO</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A STEPPED PLAN FOR THE REGURGITATING INFANT</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The NASPGHAN/ESPGHAN algorithm for recurrent regurgitation, with the NICE variant for formula-fed infants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Rosen R, et al. JPGN 2018;66:516–54 recs 4.1–4.3, 5.4–5.5 · NICE NG1, 2015 (updated 2019) recs 1.2.2–1.3.2</a:t>
            </a:r>
          </a:p>
        </p:txBody>
      </p:sp>
      <p:sp>
        <p:nvSpPr>
          <p:cNvPr id="12" name="Rectangle 11"/>
          <p:cNvSpPr/>
          <p:nvPr/>
        </p:nvSpPr>
        <p:spPr>
          <a:xfrm>
            <a:off x="548640" y="1773936"/>
            <a:ext cx="2011680" cy="210312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1 · History, exam</a:t>
            </a:r>
          </a:p>
        </p:txBody>
      </p:sp>
      <p:sp>
        <p:nvSpPr>
          <p:cNvPr id="15" name="TextBox 14"/>
          <p:cNvSpPr txBox="1"/>
          <p:nvPr/>
        </p:nvSpPr>
        <p:spPr>
          <a:xfrm>
            <a:off x="658368" y="2157984"/>
            <a:ext cx="1792224" cy="1645919"/>
          </a:xfrm>
          <a:prstGeom prst="rect">
            <a:avLst/>
          </a:prstGeom>
          <a:noFill/>
        </p:spPr>
        <p:txBody>
          <a:bodyPr wrap="square" lIns="0" rIns="0" tIns="0" bIns="0" anchor="t">
            <a:spAutoFit/>
          </a:bodyPr>
          <a:lstStyle/>
          <a:p>
            <a:pPr algn="l"/>
            <a:r>
              <a:rPr sz="1050" b="0" i="0">
                <a:solidFill>
                  <a:srgbClr val="1A1A1A"/>
                </a:solidFill>
                <a:latin typeface="Abadi"/>
              </a:rPr>
              <a:t>Red flags one by one; feeding history; growth chart. Any flag: test and refer.</a:t>
            </a:r>
          </a:p>
        </p:txBody>
      </p:sp>
      <p:sp>
        <p:nvSpPr>
          <p:cNvPr id="16" name="Isosceles Triangle 15"/>
          <p:cNvSpPr/>
          <p:nvPr/>
        </p:nvSpPr>
        <p:spPr>
          <a:xfrm rot="5400000">
            <a:off x="2624328" y="27432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773936"/>
            <a:ext cx="2011680" cy="210312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29260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07792"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2 · Reassure</a:t>
            </a:r>
          </a:p>
        </p:txBody>
      </p:sp>
      <p:sp>
        <p:nvSpPr>
          <p:cNvPr id="20" name="TextBox 19"/>
          <p:cNvSpPr txBox="1"/>
          <p:nvPr/>
        </p:nvSpPr>
        <p:spPr>
          <a:xfrm>
            <a:off x="2926080" y="2157984"/>
            <a:ext cx="1792224" cy="1645919"/>
          </a:xfrm>
          <a:prstGeom prst="rect">
            <a:avLst/>
          </a:prstGeom>
          <a:noFill/>
        </p:spPr>
        <p:txBody>
          <a:bodyPr wrap="square" lIns="0" rIns="0" tIns="0" bIns="0" anchor="t">
            <a:spAutoFit/>
          </a:bodyPr>
          <a:lstStyle/>
          <a:p>
            <a:pPr algn="l"/>
            <a:r>
              <a:rPr sz="1050" b="0" i="0">
                <a:solidFill>
                  <a:srgbClr val="1A1A1A"/>
                </a:solidFill>
                <a:latin typeface="Abadi"/>
              </a:rPr>
              <a:t>Thriving and no flags: explanation, anticipatory guidance, no tests, no acid suppression.</a:t>
            </a:r>
          </a:p>
        </p:txBody>
      </p:sp>
      <p:sp>
        <p:nvSpPr>
          <p:cNvPr id="21" name="Isosceles Triangle 20"/>
          <p:cNvSpPr/>
          <p:nvPr/>
        </p:nvSpPr>
        <p:spPr>
          <a:xfrm rot="5400000">
            <a:off x="4892040" y="27432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73936"/>
            <a:ext cx="2011680" cy="210312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75504"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3 · Feeds</a:t>
            </a:r>
          </a:p>
        </p:txBody>
      </p:sp>
      <p:sp>
        <p:nvSpPr>
          <p:cNvPr id="25" name="TextBox 24"/>
          <p:cNvSpPr txBox="1"/>
          <p:nvPr/>
        </p:nvSpPr>
        <p:spPr>
          <a:xfrm>
            <a:off x="5193792" y="2157984"/>
            <a:ext cx="1792224" cy="1645919"/>
          </a:xfrm>
          <a:prstGeom prst="rect">
            <a:avLst/>
          </a:prstGeom>
          <a:noFill/>
        </p:spPr>
        <p:txBody>
          <a:bodyPr wrap="square" lIns="0" rIns="0" tIns="0" bIns="0" anchor="t">
            <a:spAutoFit/>
          </a:bodyPr>
          <a:lstStyle/>
          <a:p>
            <a:pPr algn="l"/>
            <a:r>
              <a:rPr sz="1050" b="0" i="0">
                <a:solidFill>
                  <a:srgbClr val="1A1A1A"/>
                </a:solidFill>
                <a:latin typeface="Abadi"/>
              </a:rPr>
              <a:t>Avoid overfeeding; smaller, more frequent feeds; thickened feeds; keep breastfeeding.</a:t>
            </a:r>
          </a:p>
        </p:txBody>
      </p:sp>
      <p:sp>
        <p:nvSpPr>
          <p:cNvPr id="26" name="Isosceles Triangle 25"/>
          <p:cNvSpPr/>
          <p:nvPr/>
        </p:nvSpPr>
        <p:spPr>
          <a:xfrm rot="5400000">
            <a:off x="7159752" y="27432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1773936"/>
            <a:ext cx="2011680" cy="210312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29260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3216"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4 · Milk trial</a:t>
            </a:r>
          </a:p>
        </p:txBody>
      </p:sp>
      <p:sp>
        <p:nvSpPr>
          <p:cNvPr id="30" name="TextBox 29"/>
          <p:cNvSpPr txBox="1"/>
          <p:nvPr/>
        </p:nvSpPr>
        <p:spPr>
          <a:xfrm>
            <a:off x="7461504" y="2157984"/>
            <a:ext cx="1792224" cy="1645919"/>
          </a:xfrm>
          <a:prstGeom prst="rect">
            <a:avLst/>
          </a:prstGeom>
          <a:noFill/>
        </p:spPr>
        <p:txBody>
          <a:bodyPr wrap="square" lIns="0" rIns="0" tIns="0" bIns="0" anchor="t">
            <a:spAutoFit/>
          </a:bodyPr>
          <a:lstStyle/>
          <a:p>
            <a:pPr algn="l"/>
            <a:r>
              <a:rPr sz="1050" b="0" i="0">
                <a:solidFill>
                  <a:srgbClr val="1A1A1A"/>
                </a:solidFill>
                <a:latin typeface="Abadi"/>
              </a:rPr>
              <a:t>2–4 weeks of extensively hydrolysed or amino acid formula, or maternal elimination.</a:t>
            </a:r>
          </a:p>
        </p:txBody>
      </p:sp>
      <p:sp>
        <p:nvSpPr>
          <p:cNvPr id="31" name="Isosceles Triangle 30"/>
          <p:cNvSpPr/>
          <p:nvPr/>
        </p:nvSpPr>
        <p:spPr>
          <a:xfrm rot="5400000">
            <a:off x="9427464" y="2743200"/>
            <a:ext cx="128016" cy="164592"/>
          </a:xfrm>
          <a:prstGeom prst="triangle">
            <a:avLst/>
          </a:prstGeom>
          <a:solidFill>
            <a:srgbClr val="8A9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773936"/>
            <a:ext cx="2011680" cy="210312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10928" y="1773936"/>
            <a:ext cx="1828800" cy="292608"/>
          </a:xfrm>
          <a:prstGeom prst="rect">
            <a:avLst/>
          </a:prstGeom>
          <a:noFill/>
        </p:spPr>
        <p:txBody>
          <a:bodyPr wrap="square" lIns="0" rIns="0" tIns="0" bIns="0" anchor="ctr">
            <a:spAutoFit/>
          </a:bodyPr>
          <a:lstStyle/>
          <a:p>
            <a:pPr algn="l"/>
            <a:r>
              <a:rPr sz="1150" b="1" i="0">
                <a:solidFill>
                  <a:srgbClr val="FFFFFF"/>
                </a:solidFill>
                <a:latin typeface="Abadi"/>
              </a:rPr>
              <a:t>5 · Specialist</a:t>
            </a:r>
          </a:p>
        </p:txBody>
      </p:sp>
      <p:sp>
        <p:nvSpPr>
          <p:cNvPr id="35" name="TextBox 34"/>
          <p:cNvSpPr txBox="1"/>
          <p:nvPr/>
        </p:nvSpPr>
        <p:spPr>
          <a:xfrm>
            <a:off x="9729216" y="2157984"/>
            <a:ext cx="1792224" cy="1645919"/>
          </a:xfrm>
          <a:prstGeom prst="rect">
            <a:avLst/>
          </a:prstGeom>
          <a:noFill/>
        </p:spPr>
        <p:txBody>
          <a:bodyPr wrap="square" lIns="0" rIns="0" tIns="0" bIns="0" anchor="t">
            <a:spAutoFit/>
          </a:bodyPr>
          <a:lstStyle/>
          <a:p>
            <a:pPr algn="l"/>
            <a:r>
              <a:rPr sz="1050" b="0" i="0">
                <a:solidFill>
                  <a:srgbClr val="1A1A1A"/>
                </a:solidFill>
                <a:latin typeface="Abadi"/>
              </a:rPr>
              <a:t>Only then consider a 4–8 week acid suppression trial, and stop it if no benefit.</a:t>
            </a:r>
          </a:p>
        </p:txBody>
      </p:sp>
      <p:sp>
        <p:nvSpPr>
          <p:cNvPr id="36" name="TextBox 35"/>
          <p:cNvSpPr txBox="1"/>
          <p:nvPr/>
        </p:nvSpPr>
        <p:spPr>
          <a:xfrm>
            <a:off x="548640" y="4206240"/>
            <a:ext cx="11082528" cy="1600200"/>
          </a:xfrm>
          <a:prstGeom prst="rect">
            <a:avLst/>
          </a:prstGeom>
          <a:noFill/>
        </p:spPr>
        <p:txBody>
          <a:bodyPr wrap="square" lIns="0" rIns="0" tIns="0" bIns="0" anchor="t">
            <a:spAutoFit/>
          </a:bodyPr>
          <a:lstStyle/>
          <a:p>
            <a:pPr algn="l"/>
            <a:r>
              <a:rPr sz="1200" b="1" i="0">
                <a:solidFill>
                  <a:srgbClr val="1B355E"/>
                </a:solidFill>
                <a:latin typeface="Abadi"/>
              </a:rPr>
              <a:t>Thickened feeds.  </a:t>
            </a:r>
            <a:r>
              <a:rPr sz="1200" b="0" i="0">
                <a:solidFill>
                  <a:srgbClr val="1A1A1A"/>
                </a:solidFill>
                <a:latin typeface="Abadi"/>
              </a:rPr>
              <a:t>Pooled trials show about 1.2 fewer regurgitation episodes and 0.9 fewer vomits a day; the effect on crying is unclear.</a:t>
            </a:r>
          </a:p>
          <a:p>
            <a:pPr algn="l">
              <a:spcBef>
                <a:spcPts val="600"/>
              </a:spcBef>
            </a:pPr>
            <a:r>
              <a:rPr sz="1200" b="1" i="0">
                <a:solidFill>
                  <a:srgbClr val="D97A0B"/>
                </a:solidFill>
                <a:latin typeface="Abadi"/>
              </a:rPr>
              <a:t>NICE differs.  </a:t>
            </a:r>
            <a:r>
              <a:rPr sz="1200" b="0" i="0">
                <a:solidFill>
                  <a:srgbClr val="1A1A1A"/>
                </a:solidFill>
                <a:latin typeface="Abadi"/>
              </a:rPr>
              <a:t>For formula-fed infants NICE moves from volume review to smaller feeds to thickener, then a 1–2 week alginate trial; it allows a 4-week acid suppression trial when regurgitation comes with distress, feeding difficulty or faltering growth.</a:t>
            </a:r>
          </a:p>
          <a:p>
            <a:pPr algn="l">
              <a:spcBef>
                <a:spcPts val="600"/>
              </a:spcBef>
            </a:pPr>
            <a:r>
              <a:rPr sz="1200" b="1" i="0">
                <a:solidFill>
                  <a:srgbClr val="B22222"/>
                </a:solidFill>
                <a:latin typeface="Abadi"/>
              </a:rPr>
              <a:t>Sleep.  </a:t>
            </a:r>
            <a:r>
              <a:rPr sz="1200" b="0" i="0">
                <a:solidFill>
                  <a:srgbClr val="1A1A1A"/>
                </a:solidFill>
                <a:latin typeface="Abadi"/>
              </a:rPr>
              <a:t>Supine sleep always; positioning for reflux is not advised because of sudden infant death risk.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TESTS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WHAT NOT TO ORDER FOR A SPITTING INFANT</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Each test against GERD diagnosis and against its proper use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Rosen R, et al. JPGN 2018;66:516–54 recs 3.1–3.17 · NICE NG1, 2015 (updated 2019) recs 1.1.15–1.1.19</a:t>
            </a:r>
          </a:p>
        </p:txBody>
      </p:sp>
      <p:graphicFrame>
        <p:nvGraphicFramePr>
          <p:cNvPr id="12" name="Table 11"/>
          <p:cNvGraphicFramePr>
            <a:graphicFrameLocks noGrp="1"/>
          </p:cNvGraphicFramePr>
          <p:nvPr/>
        </p:nvGraphicFramePr>
        <p:xfrm>
          <a:off x="548640" y="1773936"/>
          <a:ext cx="11082528" cy="3364992"/>
        </p:xfrm>
        <a:graphic>
          <a:graphicData uri="http://schemas.openxmlformats.org/drawingml/2006/table">
            <a:tbl>
              <a:tblPr firstRow="0" bandRow="0">
                <a:tableStyleId>{5C22544A-7EE6-4342-B048-85BDC9FD1C3A}</a:tableStyleId>
              </a:tblPr>
              <a:tblGrid>
                <a:gridCol w="2743200"/>
                <a:gridCol w="2743200"/>
                <a:gridCol w="5596128"/>
              </a:tblGrid>
              <a:tr h="420624">
                <a:tc>
                  <a:txBody>
                    <a:bodyPr wrap="square"/>
                    <a:lstStyle/>
                    <a:p>
                      <a:r>
                        <a:rPr sz="1050" b="1">
                          <a:solidFill>
                            <a:srgbClr val="FFFFFF"/>
                          </a:solidFill>
                          <a:latin typeface="Abadi"/>
                        </a:rPr>
                        <a:t>Test</a:t>
                      </a:r>
                    </a:p>
                  </a:txBody>
                  <a:tcPr marL="73152" marR="73152" marT="27432" marB="27432" anchor="ctr">
                    <a:solidFill>
                      <a:srgbClr val="1B355E"/>
                    </a:solidFill>
                  </a:tcPr>
                </a:tc>
                <a:tc>
                  <a:txBody>
                    <a:bodyPr wrap="square"/>
                    <a:lstStyle/>
                    <a:p>
                      <a:r>
                        <a:rPr sz="1050" b="1">
                          <a:solidFill>
                            <a:srgbClr val="FFFFFF"/>
                          </a:solidFill>
                          <a:latin typeface="Abadi"/>
                        </a:rPr>
                        <a:t>To diagnose GERD?</a:t>
                      </a:r>
                    </a:p>
                  </a:txBody>
                  <a:tcPr marL="73152" marR="73152" marT="27432" marB="27432" anchor="ctr">
                    <a:solidFill>
                      <a:srgbClr val="1B355E"/>
                    </a:solidFill>
                  </a:tcPr>
                </a:tc>
                <a:tc>
                  <a:txBody>
                    <a:bodyPr wrap="square"/>
                    <a:lstStyle/>
                    <a:p>
                      <a:r>
                        <a:rPr sz="1050" b="1">
                          <a:solidFill>
                            <a:srgbClr val="FFFFFF"/>
                          </a:solidFill>
                          <a:latin typeface="Abadi"/>
                        </a:rPr>
                        <a:t>Proper use</a:t>
                      </a:r>
                    </a:p>
                  </a:txBody>
                  <a:tcPr marL="73152" marR="73152" marT="27432" marB="27432" anchor="ctr">
                    <a:solidFill>
                      <a:srgbClr val="1B355E"/>
                    </a:solidFill>
                  </a:tcPr>
                </a:tc>
              </a:tr>
              <a:tr h="420624">
                <a:tc>
                  <a:txBody>
                    <a:bodyPr wrap="square"/>
                    <a:lstStyle/>
                    <a:p>
                      <a:r>
                        <a:rPr sz="1100" b="1">
                          <a:solidFill>
                            <a:srgbClr val="1A1A1A"/>
                          </a:solidFill>
                          <a:latin typeface="Abadi"/>
                        </a:rPr>
                        <a:t>Upper GI contrast series</a:t>
                      </a:r>
                    </a:p>
                  </a:txBody>
                  <a:tcPr marL="73152" marR="73152" marT="27432" marB="27432" anchor="ctr">
                    <a:solidFill>
                      <a:srgbClr val="FFFFFF"/>
                    </a:solidFill>
                  </a:tcPr>
                </a:tc>
                <a:tc>
                  <a:txBody>
                    <a:bodyPr wrap="square"/>
                    <a:lstStyle/>
                    <a:p>
                      <a:r>
                        <a:rPr sz="1100" b="0">
                          <a:solidFill>
                            <a:srgbClr val="1A1A1A"/>
                          </a:solidFill>
                          <a:latin typeface="Abadi"/>
                        </a:rPr>
                        <a:t>No</a:t>
                      </a:r>
                    </a:p>
                  </a:txBody>
                  <a:tcPr marL="73152" marR="73152" marT="27432" marB="27432" anchor="ctr">
                    <a:solidFill>
                      <a:srgbClr val="FFFFFF"/>
                    </a:solidFill>
                  </a:tcPr>
                </a:tc>
                <a:tc>
                  <a:txBody>
                    <a:bodyPr wrap="square"/>
                    <a:lstStyle/>
                    <a:p>
                      <a:r>
                        <a:rPr sz="1100" b="0">
                          <a:solidFill>
                            <a:srgbClr val="1A1A1A"/>
                          </a:solidFill>
                          <a:latin typeface="Abadi"/>
                        </a:rPr>
                        <a:t>Anatomy: malrotation, stricture, web; urgent for bilious vomiting</a:t>
                      </a:r>
                    </a:p>
                  </a:txBody>
                  <a:tcPr marL="73152" marR="73152" marT="27432" marB="27432" anchor="ctr">
                    <a:solidFill>
                      <a:srgbClr val="FFFFFF"/>
                    </a:solidFill>
                  </a:tcPr>
                </a:tc>
              </a:tr>
              <a:tr h="420624">
                <a:tc>
                  <a:txBody>
                    <a:bodyPr wrap="square"/>
                    <a:lstStyle/>
                    <a:p>
                      <a:r>
                        <a:rPr sz="1100" b="1">
                          <a:solidFill>
                            <a:srgbClr val="1A1A1A"/>
                          </a:solidFill>
                          <a:latin typeface="Abadi"/>
                        </a:rPr>
                        <a:t>Abdominal ultrasound</a:t>
                      </a:r>
                    </a:p>
                  </a:txBody>
                  <a:tcPr marL="73152" marR="73152" marT="27432" marB="27432" anchor="ctr">
                    <a:solidFill>
                      <a:srgbClr val="F2F2F2"/>
                    </a:solidFill>
                  </a:tcPr>
                </a:tc>
                <a:tc>
                  <a:txBody>
                    <a:bodyPr wrap="square"/>
                    <a:lstStyle/>
                    <a:p>
                      <a:r>
                        <a:rPr sz="1100" b="0">
                          <a:solidFill>
                            <a:srgbClr val="1A1A1A"/>
                          </a:solidFill>
                          <a:latin typeface="Abadi"/>
                        </a:rPr>
                        <a:t>No</a:t>
                      </a:r>
                    </a:p>
                  </a:txBody>
                  <a:tcPr marL="73152" marR="73152" marT="27432" marB="27432" anchor="ctr">
                    <a:solidFill>
                      <a:srgbClr val="F2F2F2"/>
                    </a:solidFill>
                  </a:tcPr>
                </a:tc>
                <a:tc>
                  <a:txBody>
                    <a:bodyPr wrap="square"/>
                    <a:lstStyle/>
                    <a:p>
                      <a:r>
                        <a:rPr sz="1100" b="0">
                          <a:solidFill>
                            <a:srgbClr val="1A1A1A"/>
                          </a:solidFill>
                          <a:latin typeface="Abadi"/>
                        </a:rPr>
                        <a:t>Pyloric stenosis; other anatomy</a:t>
                      </a:r>
                    </a:p>
                  </a:txBody>
                  <a:tcPr marL="73152" marR="73152" marT="27432" marB="27432" anchor="ctr">
                    <a:solidFill>
                      <a:srgbClr val="F2F2F2"/>
                    </a:solidFill>
                  </a:tcPr>
                </a:tc>
              </a:tr>
              <a:tr h="420624">
                <a:tc>
                  <a:txBody>
                    <a:bodyPr wrap="square"/>
                    <a:lstStyle/>
                    <a:p>
                      <a:r>
                        <a:rPr sz="1100" b="1">
                          <a:solidFill>
                            <a:srgbClr val="1A1A1A"/>
                          </a:solidFill>
                          <a:latin typeface="Abadi"/>
                        </a:rPr>
                        <a:t>Gastric scintigraphy</a:t>
                      </a:r>
                    </a:p>
                  </a:txBody>
                  <a:tcPr marL="73152" marR="73152" marT="27432" marB="27432" anchor="ctr">
                    <a:solidFill>
                      <a:srgbClr val="FFFFFF"/>
                    </a:solidFill>
                  </a:tcPr>
                </a:tc>
                <a:tc>
                  <a:txBody>
                    <a:bodyPr wrap="square"/>
                    <a:lstStyle/>
                    <a:p>
                      <a:r>
                        <a:rPr sz="1100" b="0">
                          <a:solidFill>
                            <a:srgbClr val="1A1A1A"/>
                          </a:solidFill>
                          <a:latin typeface="Abadi"/>
                        </a:rPr>
                        <a:t>No (strong)</a:t>
                      </a:r>
                    </a:p>
                  </a:txBody>
                  <a:tcPr marL="73152" marR="73152" marT="27432" marB="27432" anchor="ctr">
                    <a:solidFill>
                      <a:srgbClr val="FFFFFF"/>
                    </a:solidFill>
                  </a:tcPr>
                </a:tc>
                <a:tc>
                  <a:txBody>
                    <a:bodyPr wrap="square"/>
                    <a:lstStyle/>
                    <a:p>
                      <a:r>
                        <a:rPr sz="1100" b="0">
                          <a:solidFill>
                            <a:srgbClr val="1A1A1A"/>
                          </a:solidFill>
                          <a:latin typeface="Abadi"/>
                        </a:rPr>
                        <a:t>Rarely, suspected aspiration or delayed emptying in research or complex care</a:t>
                      </a:r>
                    </a:p>
                  </a:txBody>
                  <a:tcPr marL="73152" marR="73152" marT="27432" marB="27432" anchor="ctr">
                    <a:solidFill>
                      <a:srgbClr val="FFFFFF"/>
                    </a:solidFill>
                  </a:tcPr>
                </a:tc>
              </a:tr>
              <a:tr h="420624">
                <a:tc>
                  <a:txBody>
                    <a:bodyPr wrap="square"/>
                    <a:lstStyle/>
                    <a:p>
                      <a:r>
                        <a:rPr sz="1100" b="1">
                          <a:solidFill>
                            <a:srgbClr val="1A1A1A"/>
                          </a:solidFill>
                          <a:latin typeface="Abadi"/>
                        </a:rPr>
                        <a:t>pH or pH-impedance</a:t>
                      </a:r>
                    </a:p>
                  </a:txBody>
                  <a:tcPr marL="73152" marR="73152" marT="27432" marB="27432" anchor="ctr">
                    <a:solidFill>
                      <a:srgbClr val="F2F2F2"/>
                    </a:solidFill>
                  </a:tcPr>
                </a:tc>
                <a:tc>
                  <a:txBody>
                    <a:bodyPr wrap="square"/>
                    <a:lstStyle/>
                    <a:p>
                      <a:r>
                        <a:rPr sz="1100" b="0">
                          <a:solidFill>
                            <a:srgbClr val="1A1A1A"/>
                          </a:solidFill>
                          <a:latin typeface="Abadi"/>
                        </a:rPr>
                        <a:t>Not for uncomplicated regurgitation</a:t>
                      </a:r>
                    </a:p>
                  </a:txBody>
                  <a:tcPr marL="73152" marR="73152" marT="27432" marB="27432" anchor="ctr">
                    <a:solidFill>
                      <a:srgbClr val="F2F2F2"/>
                    </a:solidFill>
                  </a:tcPr>
                </a:tc>
                <a:tc>
                  <a:txBody>
                    <a:bodyPr wrap="square"/>
                    <a:lstStyle/>
                    <a:p>
                      <a:r>
                        <a:rPr sz="1100" b="0">
                          <a:solidFill>
                            <a:srgbClr val="1A1A1A"/>
                          </a:solidFill>
                          <a:latin typeface="Abadi"/>
                        </a:rPr>
                        <a:t>Correlate persistent troublesome symptoms; acid versus non-acid; on-therapy questions</a:t>
                      </a:r>
                    </a:p>
                  </a:txBody>
                  <a:tcPr marL="73152" marR="73152" marT="27432" marB="27432" anchor="ctr">
                    <a:solidFill>
                      <a:srgbClr val="F2F2F2"/>
                    </a:solidFill>
                  </a:tcPr>
                </a:tc>
              </a:tr>
              <a:tr h="420624">
                <a:tc>
                  <a:txBody>
                    <a:bodyPr wrap="square"/>
                    <a:lstStyle/>
                    <a:p>
                      <a:r>
                        <a:rPr sz="1100" b="1">
                          <a:solidFill>
                            <a:srgbClr val="1A1A1A"/>
                          </a:solidFill>
                          <a:latin typeface="Abadi"/>
                        </a:rPr>
                        <a:t>Endoscopy with biopsy</a:t>
                      </a:r>
                    </a:p>
                  </a:txBody>
                  <a:tcPr marL="73152" marR="73152" marT="27432" marB="27432" anchor="ctr">
                    <a:solidFill>
                      <a:srgbClr val="FFFFFF"/>
                    </a:solidFill>
                  </a:tcPr>
                </a:tc>
                <a:tc>
                  <a:txBody>
                    <a:bodyPr wrap="square"/>
                    <a:lstStyle/>
                    <a:p>
                      <a:r>
                        <a:rPr sz="1100" b="0">
                          <a:solidFill>
                            <a:srgbClr val="1A1A1A"/>
                          </a:solidFill>
                          <a:latin typeface="Abadi"/>
                        </a:rPr>
                        <a:t>Not to diagnose GERD</a:t>
                      </a:r>
                    </a:p>
                  </a:txBody>
                  <a:tcPr marL="73152" marR="73152" marT="27432" marB="27432" anchor="ctr">
                    <a:solidFill>
                      <a:srgbClr val="FFFFFF"/>
                    </a:solidFill>
                  </a:tcPr>
                </a:tc>
                <a:tc>
                  <a:txBody>
                    <a:bodyPr wrap="square"/>
                    <a:lstStyle/>
                    <a:p>
                      <a:r>
                        <a:rPr sz="1100" b="0">
                          <a:solidFill>
                            <a:srgbClr val="1A1A1A"/>
                          </a:solidFill>
                          <a:latin typeface="Abadi"/>
                        </a:rPr>
                        <a:t>Complications, eosinophilic oesophagitis, haematemesis</a:t>
                      </a:r>
                    </a:p>
                  </a:txBody>
                  <a:tcPr marL="73152" marR="73152" marT="27432" marB="27432" anchor="ctr">
                    <a:solidFill>
                      <a:srgbClr val="FFFFFF"/>
                    </a:solidFill>
                  </a:tcPr>
                </a:tc>
              </a:tr>
              <a:tr h="420624">
                <a:tc>
                  <a:txBody>
                    <a:bodyPr wrap="square"/>
                    <a:lstStyle/>
                    <a:p>
                      <a:r>
                        <a:rPr sz="1100" b="1">
                          <a:solidFill>
                            <a:srgbClr val="1A1A1A"/>
                          </a:solidFill>
                          <a:latin typeface="Abadi"/>
                        </a:rPr>
                        <a:t>Empiric PPI trial</a:t>
                      </a:r>
                    </a:p>
                  </a:txBody>
                  <a:tcPr marL="73152" marR="73152" marT="27432" marB="27432" anchor="ctr">
                    <a:solidFill>
                      <a:srgbClr val="F2F2F2"/>
                    </a:solidFill>
                  </a:tcPr>
                </a:tc>
                <a:tc>
                  <a:txBody>
                    <a:bodyPr wrap="square"/>
                    <a:lstStyle/>
                    <a:p>
                      <a:r>
                        <a:rPr sz="1100" b="0">
                          <a:solidFill>
                            <a:srgbClr val="1A1A1A"/>
                          </a:solidFill>
                          <a:latin typeface="Abadi"/>
                        </a:rPr>
                        <a:t>No, in infants</a:t>
                      </a:r>
                    </a:p>
                  </a:txBody>
                  <a:tcPr marL="73152" marR="73152" marT="27432" marB="27432" anchor="ctr">
                    <a:solidFill>
                      <a:srgbClr val="F2F2F2"/>
                    </a:solidFill>
                  </a:tcPr>
                </a:tc>
                <a:tc>
                  <a:txBody>
                    <a:bodyPr wrap="square"/>
                    <a:lstStyle/>
                    <a:p>
                      <a:r>
                        <a:rPr sz="1100" b="0">
                          <a:solidFill>
                            <a:srgbClr val="1A1A1A"/>
                          </a:solidFill>
                          <a:latin typeface="Abadi"/>
                        </a:rPr>
                        <a:t>Not a diagnostic test; five infant RCTs showed no benefit over placebo</a:t>
                      </a:r>
                    </a:p>
                  </a:txBody>
                  <a:tcPr marL="73152" marR="73152" marT="27432" marB="27432" anchor="ctr">
                    <a:solidFill>
                      <a:srgbClr val="F2F2F2"/>
                    </a:solidFill>
                  </a:tcPr>
                </a:tc>
              </a:tr>
              <a:tr h="420624">
                <a:tc>
                  <a:txBody>
                    <a:bodyPr wrap="square"/>
                    <a:lstStyle/>
                    <a:p>
                      <a:r>
                        <a:rPr sz="1100" b="1">
                          <a:solidFill>
                            <a:srgbClr val="1A1A1A"/>
                          </a:solidFill>
                          <a:latin typeface="Abadi"/>
                        </a:rPr>
                        <a:t>Salivary pepsin, biomarkers</a:t>
                      </a:r>
                    </a:p>
                  </a:txBody>
                  <a:tcPr marL="73152" marR="73152" marT="27432" marB="27432" anchor="ctr">
                    <a:solidFill>
                      <a:srgbClr val="FFFFFF"/>
                    </a:solidFill>
                  </a:tcPr>
                </a:tc>
                <a:tc>
                  <a:txBody>
                    <a:bodyPr wrap="square"/>
                    <a:lstStyle/>
                    <a:p>
                      <a:r>
                        <a:rPr sz="1100" b="0">
                          <a:solidFill>
                            <a:srgbClr val="1A1A1A"/>
                          </a:solidFill>
                          <a:latin typeface="Abadi"/>
                        </a:rPr>
                        <a:t>No</a:t>
                      </a:r>
                    </a:p>
                  </a:txBody>
                  <a:tcPr marL="73152" marR="73152" marT="27432" marB="27432" anchor="ctr">
                    <a:solidFill>
                      <a:srgbClr val="FFFFFF"/>
                    </a:solidFill>
                  </a:tcPr>
                </a:tc>
                <a:tc>
                  <a:txBody>
                    <a:bodyPr wrap="square"/>
                    <a:lstStyle/>
                    <a:p>
                      <a:r>
                        <a:rPr sz="1100" b="0">
                          <a:solidFill>
                            <a:srgbClr val="1A1A1A"/>
                          </a:solidFill>
                          <a:latin typeface="Abadi"/>
                        </a:rPr>
                        <a:t>None in routine care</a:t>
                      </a:r>
                    </a:p>
                  </a:txBody>
                  <a:tcPr marL="73152" marR="73152" marT="27432" marB="27432" anchor="ctr">
                    <a:solidFill>
                      <a:srgbClr val="FFFFFF"/>
                    </a:solidFill>
                  </a:tcPr>
                </a:tc>
              </a:tr>
            </a:tbl>
          </a:graphicData>
        </a:graphic>
      </p:graphicFrame>
      <p:sp>
        <p:nvSpPr>
          <p:cNvPr id="13" name="TextBox 12"/>
          <p:cNvSpPr txBox="1"/>
          <p:nvPr/>
        </p:nvSpPr>
        <p:spPr>
          <a:xfrm>
            <a:off x="548640" y="5230368"/>
            <a:ext cx="11082528" cy="411480"/>
          </a:xfrm>
          <a:prstGeom prst="rect">
            <a:avLst/>
          </a:prstGeom>
          <a:noFill/>
        </p:spPr>
        <p:txBody>
          <a:bodyPr wrap="square" lIns="0" rIns="0" tIns="0" bIns="0" anchor="t">
            <a:spAutoFit/>
          </a:bodyPr>
          <a:lstStyle/>
          <a:p>
            <a:pPr algn="l"/>
            <a:r>
              <a:rPr sz="1200" b="1" i="0">
                <a:solidFill>
                  <a:srgbClr val="1B355E"/>
                </a:solidFill>
                <a:latin typeface="Abadi"/>
              </a:rPr>
              <a:t>Symptom association.  </a:t>
            </a:r>
            <a:r>
              <a:rPr sz="1200" b="0" i="0">
                <a:solidFill>
                  <a:srgbClr val="1A1A1A"/>
                </a:solidFill>
                <a:latin typeface="Abadi"/>
              </a:rPr>
              <a:t>Parents miss more than half of symptom events during a study, which limits every symptom-association index; the guideline prefers none.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WHAT THE DOCUMENTS SAY</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North America and Europe (NASPGHAN/ESPGHAN 2018) versus the UK (NICE NG1) and Rome IV</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Rosen R, et al. JPGN 2018;66:516–54 · NICE NG1, 2015 (updated 2019) · Benninga MA, et al. Gastroenterology 2016;150:1443–55</a:t>
            </a:r>
          </a:p>
        </p:txBody>
      </p:sp>
      <p:graphicFrame>
        <p:nvGraphicFramePr>
          <p:cNvPr id="12" name="Table 11"/>
          <p:cNvGraphicFramePr>
            <a:graphicFrameLocks noGrp="1"/>
          </p:cNvGraphicFramePr>
          <p:nvPr/>
        </p:nvGraphicFramePr>
        <p:xfrm>
          <a:off x="548640" y="1773936"/>
          <a:ext cx="11082528" cy="3840480"/>
        </p:xfrm>
        <a:graphic>
          <a:graphicData uri="http://schemas.openxmlformats.org/drawingml/2006/table">
            <a:tbl>
              <a:tblPr firstRow="0" bandRow="0">
                <a:tableStyleId>{5C22544A-7EE6-4342-B048-85BDC9FD1C3A}</a:tableStyleId>
              </a:tblPr>
              <a:tblGrid>
                <a:gridCol w="2651760"/>
                <a:gridCol w="3108960"/>
                <a:gridCol w="4023360"/>
                <a:gridCol w="1298448"/>
              </a:tblGrid>
              <a:tr h="384048">
                <a:tc>
                  <a:txBody>
                    <a:bodyPr wrap="square"/>
                    <a:lstStyle/>
                    <a:p>
                      <a:r>
                        <a:rPr sz="1050" b="1">
                          <a:solidFill>
                            <a:srgbClr val="FFFFFF"/>
                          </a:solidFill>
                          <a:latin typeface="Abadi"/>
                        </a:rPr>
                        <a:t>Question</a:t>
                      </a:r>
                    </a:p>
                  </a:txBody>
                  <a:tcPr marL="73152" marR="73152" marT="27432" marB="27432" anchor="ctr">
                    <a:solidFill>
                      <a:srgbClr val="1B355E"/>
                    </a:solidFill>
                  </a:tcPr>
                </a:tc>
                <a:tc>
                  <a:txBody>
                    <a:bodyPr wrap="square"/>
                    <a:lstStyle/>
                    <a:p>
                      <a:r>
                        <a:rPr sz="1050" b="1">
                          <a:solidFill>
                            <a:srgbClr val="FFFFFF"/>
                          </a:solidFill>
                          <a:latin typeface="Abadi"/>
                        </a:rPr>
                        <a:t>NASPGHAN/ESPGHAN 2018</a:t>
                      </a:r>
                    </a:p>
                  </a:txBody>
                  <a:tcPr marL="73152" marR="73152" marT="27432" marB="27432" anchor="ctr">
                    <a:solidFill>
                      <a:srgbClr val="1B355E"/>
                    </a:solidFill>
                  </a:tcPr>
                </a:tc>
                <a:tc>
                  <a:txBody>
                    <a:bodyPr wrap="square"/>
                    <a:lstStyle/>
                    <a:p>
                      <a:r>
                        <a:rPr sz="1050" b="1">
                          <a:solidFill>
                            <a:srgbClr val="FFFFFF"/>
                          </a:solidFill>
                          <a:latin typeface="Abadi"/>
                        </a:rPr>
                        <a:t>NICE NG1 / Rome IV</a:t>
                      </a:r>
                    </a:p>
                  </a:txBody>
                  <a:tcPr marL="73152" marR="73152" marT="27432" marB="27432" anchor="ctr">
                    <a:solidFill>
                      <a:srgbClr val="1B355E"/>
                    </a:solidFill>
                  </a:tcPr>
                </a:tc>
                <a:tc>
                  <a:txBody>
                    <a:bodyPr wrap="square"/>
                    <a:lstStyle/>
                    <a:p>
                      <a:r>
                        <a:rPr sz="1050" b="1">
                          <a:solidFill>
                            <a:srgbClr val="FFFFFF"/>
                          </a:solidFill>
                          <a:latin typeface="Abadi"/>
                        </a:rPr>
                        <a:t>Verdict</a:t>
                      </a:r>
                    </a:p>
                  </a:txBody>
                  <a:tcPr marL="73152" marR="73152" marT="27432" marB="27432" anchor="ctr">
                    <a:solidFill>
                      <a:srgbClr val="1B355E"/>
                    </a:solidFill>
                  </a:tcPr>
                </a:tc>
              </a:tr>
              <a:tr h="384048">
                <a:tc>
                  <a:txBody>
                    <a:bodyPr wrap="square"/>
                    <a:lstStyle/>
                    <a:p>
                      <a:r>
                        <a:rPr sz="1000" b="1">
                          <a:solidFill>
                            <a:srgbClr val="1A1A1A"/>
                          </a:solidFill>
                          <a:latin typeface="Abadi"/>
                        </a:rPr>
                        <a:t>Healthy spitter</a:t>
                      </a:r>
                    </a:p>
                  </a:txBody>
                  <a:tcPr marL="73152" marR="73152" marT="27432" marB="27432" anchor="ctr">
                    <a:solidFill>
                      <a:srgbClr val="FFFFFF"/>
                    </a:solidFill>
                  </a:tcPr>
                </a:tc>
                <a:tc>
                  <a:txBody>
                    <a:bodyPr wrap="square"/>
                    <a:lstStyle/>
                    <a:p>
                      <a:r>
                        <a:rPr sz="1000" b="0">
                          <a:solidFill>
                            <a:srgbClr val="1A1A1A"/>
                          </a:solidFill>
                          <a:latin typeface="Abadi"/>
                        </a:rPr>
                        <a:t>Reassure; no tests or drugs</a:t>
                      </a:r>
                    </a:p>
                  </a:txBody>
                  <a:tcPr marL="73152" marR="73152" marT="27432" marB="27432" anchor="ctr">
                    <a:solidFill>
                      <a:srgbClr val="FFFFFF"/>
                    </a:solidFill>
                  </a:tcPr>
                </a:tc>
                <a:tc>
                  <a:txBody>
                    <a:bodyPr wrap="square"/>
                    <a:lstStyle/>
                    <a:p>
                      <a:r>
                        <a:rPr sz="1000" b="0">
                          <a:solidFill>
                            <a:srgbClr val="1A1A1A"/>
                          </a:solidFill>
                          <a:latin typeface="Abadi"/>
                        </a:rPr>
                        <a:t>Reassure; no investigation; functional and self-limiting</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384048">
                <a:tc>
                  <a:txBody>
                    <a:bodyPr wrap="square"/>
                    <a:lstStyle/>
                    <a:p>
                      <a:r>
                        <a:rPr sz="1000" b="1">
                          <a:solidFill>
                            <a:srgbClr val="1A1A1A"/>
                          </a:solidFill>
                          <a:latin typeface="Abadi"/>
                        </a:rPr>
                        <a:t>Acid suppression for crying alone</a:t>
                      </a:r>
                    </a:p>
                  </a:txBody>
                  <a:tcPr marL="73152" marR="73152" marT="27432" marB="27432" anchor="ctr">
                    <a:solidFill>
                      <a:srgbClr val="F2F2F2"/>
                    </a:solidFill>
                  </a:tcPr>
                </a:tc>
                <a:tc>
                  <a:txBody>
                    <a:bodyPr wrap="square"/>
                    <a:lstStyle/>
                    <a:p>
                      <a:r>
                        <a:rPr sz="1000" b="0">
                          <a:solidFill>
                            <a:srgbClr val="1A1A1A"/>
                          </a:solidFill>
                          <a:latin typeface="Abadi"/>
                        </a:rPr>
                        <a:t>Recommend against</a:t>
                      </a:r>
                    </a:p>
                  </a:txBody>
                  <a:tcPr marL="73152" marR="73152" marT="27432" marB="27432" anchor="ctr">
                    <a:solidFill>
                      <a:srgbClr val="F2F2F2"/>
                    </a:solidFill>
                  </a:tcPr>
                </a:tc>
                <a:tc>
                  <a:txBody>
                    <a:bodyPr wrap="square"/>
                    <a:lstStyle/>
                    <a:p>
                      <a:r>
                        <a:rPr sz="1000" b="0">
                          <a:solidFill>
                            <a:srgbClr val="1A1A1A"/>
                          </a:solidFill>
                          <a:latin typeface="Abadi"/>
                        </a:rPr>
                        <a:t>Not for isolated distress; 4-week trial if overt regurgitation plus distress</a:t>
                      </a:r>
                    </a:p>
                  </a:txBody>
                  <a:tcPr marL="73152" marR="73152" marT="27432" marB="27432" anchor="ctr">
                    <a:solidFill>
                      <a:srgbClr val="F2F2F2"/>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384048">
                <a:tc>
                  <a:txBody>
                    <a:bodyPr wrap="square"/>
                    <a:lstStyle/>
                    <a:p>
                      <a:r>
                        <a:rPr sz="1000" b="1">
                          <a:solidFill>
                            <a:srgbClr val="1A1A1A"/>
                          </a:solidFill>
                          <a:latin typeface="Abadi"/>
                        </a:rPr>
                        <a:t>Acid suppression for regurgitation alone</a:t>
                      </a:r>
                    </a:p>
                  </a:txBody>
                  <a:tcPr marL="73152" marR="73152" marT="27432" marB="27432" anchor="ctr">
                    <a:solidFill>
                      <a:srgbClr val="FFFFFF"/>
                    </a:solidFill>
                  </a:tcPr>
                </a:tc>
                <a:tc>
                  <a:txBody>
                    <a:bodyPr wrap="square"/>
                    <a:lstStyle/>
                    <a:p>
                      <a:r>
                        <a:rPr sz="1000" b="0">
                          <a:solidFill>
                            <a:srgbClr val="1A1A1A"/>
                          </a:solidFill>
                          <a:latin typeface="Abadi"/>
                        </a:rPr>
                        <a:t>Recommend against</a:t>
                      </a:r>
                    </a:p>
                  </a:txBody>
                  <a:tcPr marL="73152" marR="73152" marT="27432" marB="27432" anchor="ctr">
                    <a:solidFill>
                      <a:srgbClr val="FFFFFF"/>
                    </a:solidFill>
                  </a:tcPr>
                </a:tc>
                <a:tc>
                  <a:txBody>
                    <a:bodyPr wrap="square"/>
                    <a:lstStyle/>
                    <a:p>
                      <a:r>
                        <a:rPr sz="1000" b="0">
                          <a:solidFill>
                            <a:srgbClr val="1A1A1A"/>
                          </a:solidFill>
                          <a:latin typeface="Abadi"/>
                        </a:rPr>
                        <a:t>Recommend against</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384048">
                <a:tc>
                  <a:txBody>
                    <a:bodyPr wrap="square"/>
                    <a:lstStyle/>
                    <a:p>
                      <a:r>
                        <a:rPr sz="1000" b="1">
                          <a:solidFill>
                            <a:srgbClr val="1A1A1A"/>
                          </a:solidFill>
                          <a:latin typeface="Abadi"/>
                        </a:rPr>
                        <a:t>Empiric PPI trial as a test</a:t>
                      </a:r>
                    </a:p>
                  </a:txBody>
                  <a:tcPr marL="73152" marR="73152" marT="27432" marB="27432" anchor="ctr">
                    <a:solidFill>
                      <a:srgbClr val="F2F2F2"/>
                    </a:solidFill>
                  </a:tcPr>
                </a:tc>
                <a:tc>
                  <a:txBody>
                    <a:bodyPr wrap="square"/>
                    <a:lstStyle/>
                    <a:p>
                      <a:r>
                        <a:rPr sz="1000" b="0">
                          <a:solidFill>
                            <a:srgbClr val="1A1A1A"/>
                          </a:solidFill>
                          <a:latin typeface="Abadi"/>
                        </a:rPr>
                        <a:t>Against in infants</a:t>
                      </a:r>
                    </a:p>
                  </a:txBody>
                  <a:tcPr marL="73152" marR="73152" marT="27432" marB="27432" anchor="ctr">
                    <a:solidFill>
                      <a:srgbClr val="F2F2F2"/>
                    </a:solidFill>
                  </a:tcPr>
                </a:tc>
                <a:tc>
                  <a:txBody>
                    <a:bodyPr wrap="square"/>
                    <a:lstStyle/>
                    <a:p>
                      <a:r>
                        <a:rPr sz="1000" b="0">
                          <a:solidFill>
                            <a:srgbClr val="1A1A1A"/>
                          </a:solidFill>
                          <a:latin typeface="Abadi"/>
                        </a:rPr>
                        <a:t>4-week trial in selected infants</a:t>
                      </a:r>
                    </a:p>
                  </a:txBody>
                  <a:tcPr marL="73152" marR="73152" marT="27432" marB="27432" anchor="ctr">
                    <a:solidFill>
                      <a:srgbClr val="F2F2F2"/>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384048">
                <a:tc>
                  <a:txBody>
                    <a:bodyPr wrap="square"/>
                    <a:lstStyle/>
                    <a:p>
                      <a:r>
                        <a:rPr sz="1000" b="1">
                          <a:solidFill>
                            <a:srgbClr val="1A1A1A"/>
                          </a:solidFill>
                          <a:latin typeface="Abadi"/>
                        </a:rPr>
                        <a:t>Bilious vomiting</a:t>
                      </a:r>
                    </a:p>
                  </a:txBody>
                  <a:tcPr marL="73152" marR="73152" marT="27432" marB="27432" anchor="ctr">
                    <a:solidFill>
                      <a:srgbClr val="FFFFFF"/>
                    </a:solidFill>
                  </a:tcPr>
                </a:tc>
                <a:tc>
                  <a:txBody>
                    <a:bodyPr wrap="square"/>
                    <a:lstStyle/>
                    <a:p>
                      <a:r>
                        <a:rPr sz="1000" b="0">
                          <a:solidFill>
                            <a:srgbClr val="1A1A1A"/>
                          </a:solidFill>
                          <a:latin typeface="Abadi"/>
                        </a:rPr>
                        <a:t>Red flag</a:t>
                      </a:r>
                    </a:p>
                  </a:txBody>
                  <a:tcPr marL="73152" marR="73152" marT="27432" marB="27432" anchor="ctr">
                    <a:solidFill>
                      <a:srgbClr val="FFFFFF"/>
                    </a:solidFill>
                  </a:tcPr>
                </a:tc>
                <a:tc>
                  <a:txBody>
                    <a:bodyPr wrap="square"/>
                    <a:lstStyle/>
                    <a:p>
                      <a:r>
                        <a:rPr sz="1000" b="0">
                          <a:solidFill>
                            <a:srgbClr val="1A1A1A"/>
                          </a:solidFill>
                          <a:latin typeface="Abadi"/>
                        </a:rPr>
                        <a:t>Red flag with same-day contrast study</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384048">
                <a:tc>
                  <a:txBody>
                    <a:bodyPr wrap="square"/>
                    <a:lstStyle/>
                    <a:p>
                      <a:r>
                        <a:rPr sz="1000" b="1">
                          <a:solidFill>
                            <a:srgbClr val="1A1A1A"/>
                          </a:solidFill>
                          <a:latin typeface="Abadi"/>
                        </a:rPr>
                        <a:t>Urinary infection</a:t>
                      </a:r>
                    </a:p>
                  </a:txBody>
                  <a:tcPr marL="73152" marR="73152" marT="27432" marB="27432" anchor="ctr">
                    <a:solidFill>
                      <a:srgbClr val="F2F2F2"/>
                    </a:solidFill>
                  </a:tcPr>
                </a:tc>
                <a:tc>
                  <a:txBody>
                    <a:bodyPr wrap="square"/>
                    <a:lstStyle/>
                    <a:p>
                      <a:r>
                        <a:rPr sz="1000" b="0">
                          <a:solidFill>
                            <a:srgbClr val="1A1A1A"/>
                          </a:solidFill>
                          <a:latin typeface="Abadi"/>
                        </a:rPr>
                        <a:t>Fever and dysuria as flags</a:t>
                      </a:r>
                    </a:p>
                  </a:txBody>
                  <a:tcPr marL="73152" marR="73152" marT="27432" marB="27432" anchor="ctr">
                    <a:solidFill>
                      <a:srgbClr val="F2F2F2"/>
                    </a:solidFill>
                  </a:tcPr>
                </a:tc>
                <a:tc>
                  <a:txBody>
                    <a:bodyPr wrap="square"/>
                    <a:lstStyle/>
                    <a:p>
                      <a:r>
                        <a:rPr sz="1000" b="0">
                          <a:solidFill>
                            <a:srgbClr val="1A1A1A"/>
                          </a:solidFill>
                          <a:latin typeface="Abadi"/>
                        </a:rPr>
                        <a:t>Test urine for late onset, faltering growth or distress</a:t>
                      </a:r>
                    </a:p>
                  </a:txBody>
                  <a:tcPr marL="73152" marR="73152" marT="27432" marB="27432" anchor="ctr">
                    <a:solidFill>
                      <a:srgbClr val="F2F2F2"/>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r h="384048">
                <a:tc>
                  <a:txBody>
                    <a:bodyPr wrap="square"/>
                    <a:lstStyle/>
                    <a:p>
                      <a:r>
                        <a:rPr sz="1000" b="1">
                          <a:solidFill>
                            <a:srgbClr val="1A1A1A"/>
                          </a:solidFill>
                          <a:latin typeface="Abadi"/>
                        </a:rPr>
                        <a:t>Milk formula trial</a:t>
                      </a:r>
                    </a:p>
                  </a:txBody>
                  <a:tcPr marL="73152" marR="73152" marT="27432" marB="27432" anchor="ctr">
                    <a:solidFill>
                      <a:srgbClr val="FFFFFF"/>
                    </a:solidFill>
                  </a:tcPr>
                </a:tc>
                <a:tc>
                  <a:txBody>
                    <a:bodyPr wrap="square"/>
                    <a:lstStyle/>
                    <a:p>
                      <a:r>
                        <a:rPr sz="1000" b="0">
                          <a:solidFill>
                            <a:srgbClr val="1A1A1A"/>
                          </a:solidFill>
                          <a:latin typeface="Abadi"/>
                        </a:rPr>
                        <a:t>2–4 weeks hydrolysed or amino acid</a:t>
                      </a:r>
                    </a:p>
                  </a:txBody>
                  <a:tcPr marL="73152" marR="73152" marT="27432" marB="27432" anchor="ctr">
                    <a:solidFill>
                      <a:srgbClr val="FFFFFF"/>
                    </a:solidFill>
                  </a:tcPr>
                </a:tc>
                <a:tc>
                  <a:txBody>
                    <a:bodyPr wrap="square"/>
                    <a:lstStyle/>
                    <a:p>
                      <a:r>
                        <a:rPr sz="1000" b="0">
                          <a:solidFill>
                            <a:srgbClr val="1A1A1A"/>
                          </a:solidFill>
                          <a:latin typeface="Abadi"/>
                        </a:rPr>
                        <a:t>No hydrolysate step; allergy via red-flag route</a:t>
                      </a:r>
                    </a:p>
                  </a:txBody>
                  <a:tcPr marL="73152" marR="73152" marT="27432" marB="27432" anchor="ctr">
                    <a:solidFill>
                      <a:srgbClr val="FFFFFF"/>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384048">
                <a:tc>
                  <a:txBody>
                    <a:bodyPr wrap="square"/>
                    <a:lstStyle/>
                    <a:p>
                      <a:r>
                        <a:rPr sz="1000" b="1">
                          <a:solidFill>
                            <a:srgbClr val="1A1A1A"/>
                          </a:solidFill>
                          <a:latin typeface="Abadi"/>
                        </a:rPr>
                        <a:t>Alginates</a:t>
                      </a:r>
                    </a:p>
                  </a:txBody>
                  <a:tcPr marL="73152" marR="73152" marT="27432" marB="27432" anchor="ctr">
                    <a:solidFill>
                      <a:srgbClr val="F2F2F2"/>
                    </a:solidFill>
                  </a:tcPr>
                </a:tc>
                <a:tc>
                  <a:txBody>
                    <a:bodyPr wrap="square"/>
                    <a:lstStyle/>
                    <a:p>
                      <a:r>
                        <a:rPr sz="1000" b="0">
                          <a:solidFill>
                            <a:srgbClr val="1A1A1A"/>
                          </a:solidFill>
                          <a:latin typeface="Abadi"/>
                        </a:rPr>
                        <a:t>Against chronic use</a:t>
                      </a:r>
                    </a:p>
                  </a:txBody>
                  <a:tcPr marL="73152" marR="73152" marT="27432" marB="27432" anchor="ctr">
                    <a:solidFill>
                      <a:srgbClr val="F2F2F2"/>
                    </a:solidFill>
                  </a:tcPr>
                </a:tc>
                <a:tc>
                  <a:txBody>
                    <a:bodyPr wrap="square"/>
                    <a:lstStyle/>
                    <a:p>
                      <a:r>
                        <a:rPr sz="1000" b="0">
                          <a:solidFill>
                            <a:srgbClr val="1A1A1A"/>
                          </a:solidFill>
                          <a:latin typeface="Abadi"/>
                        </a:rPr>
                        <a:t>1–2 week trial</a:t>
                      </a:r>
                    </a:p>
                  </a:txBody>
                  <a:tcPr marL="73152" marR="73152" marT="27432" marB="27432" anchor="ctr">
                    <a:solidFill>
                      <a:srgbClr val="F2F2F2"/>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384048">
                <a:tc>
                  <a:txBody>
                    <a:bodyPr wrap="square"/>
                    <a:lstStyle/>
                    <a:p>
                      <a:r>
                        <a:rPr sz="1000" b="1">
                          <a:solidFill>
                            <a:srgbClr val="1A1A1A"/>
                          </a:solidFill>
                          <a:latin typeface="Abadi"/>
                        </a:rPr>
                        <a:t>Overfeeding threshold</a:t>
                      </a:r>
                    </a:p>
                  </a:txBody>
                  <a:tcPr marL="73152" marR="73152" marT="27432" marB="27432" anchor="ctr">
                    <a:solidFill>
                      <a:srgbClr val="FFFFFF"/>
                    </a:solidFill>
                  </a:tcPr>
                </a:tc>
                <a:tc>
                  <a:txBody>
                    <a:bodyPr wrap="square"/>
                    <a:lstStyle/>
                    <a:p>
                      <a:r>
                        <a:rPr sz="1000" b="0">
                          <a:solidFill>
                            <a:srgbClr val="1A1A1A"/>
                          </a:solidFill>
                          <a:latin typeface="Abadi"/>
                        </a:rPr>
                        <a:t>Avoid overfeeding, no number</a:t>
                      </a:r>
                    </a:p>
                  </a:txBody>
                  <a:tcPr marL="73152" marR="73152" marT="27432" marB="27432" anchor="ctr">
                    <a:solidFill>
                      <a:srgbClr val="FFFFFF"/>
                    </a:solidFill>
                  </a:tcPr>
                </a:tc>
                <a:tc>
                  <a:txBody>
                    <a:bodyPr wrap="square"/>
                    <a:lstStyle/>
                    <a:p>
                      <a:r>
                        <a:rPr sz="1000" b="0">
                          <a:solidFill>
                            <a:srgbClr val="1A1A1A"/>
                          </a:solidFill>
                          <a:latin typeface="Abadi"/>
                        </a:rPr>
                        <a:t>'Excessive for weight', no number</a:t>
                      </a:r>
                    </a:p>
                  </a:txBody>
                  <a:tcPr marL="73152" marR="73152" marT="27432" marB="27432" anchor="ctr">
                    <a:solidFill>
                      <a:srgbClr val="FFFFFF"/>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WHERE THE SPITTING BABY GOES WRONG</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Common reasons for over-treatment and for missed disease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Rosen 2018 · NICE NG1 · Rome IV · Heine 1995 · Moore 2003 · Orenstein 2009 · Walker 2006 · Eberly 2015</a:t>
            </a:r>
          </a:p>
        </p:txBody>
      </p:sp>
      <p:sp>
        <p:nvSpPr>
          <p:cNvPr id="12" name="Rectangle 11"/>
          <p:cNvSpPr/>
          <p:nvPr/>
        </p:nvSpPr>
        <p:spPr>
          <a:xfrm>
            <a:off x="548640" y="1773936"/>
            <a:ext cx="2630728" cy="210312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0728"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2301544" cy="457200"/>
          </a:xfrm>
          <a:prstGeom prst="rect">
            <a:avLst/>
          </a:prstGeom>
          <a:noFill/>
        </p:spPr>
        <p:txBody>
          <a:bodyPr wrap="square" lIns="0" rIns="0" tIns="0" bIns="0" anchor="t">
            <a:spAutoFit/>
          </a:bodyPr>
          <a:lstStyle/>
          <a:p>
            <a:pPr algn="l"/>
            <a:r>
              <a:rPr sz="1500" b="1" i="0">
                <a:solidFill>
                  <a:srgbClr val="B22222"/>
                </a:solidFill>
                <a:latin typeface="Abadi"/>
              </a:rPr>
              <a:t>'Crying = reflux'</a:t>
            </a:r>
          </a:p>
        </p:txBody>
      </p:sp>
      <p:sp>
        <p:nvSpPr>
          <p:cNvPr id="15" name="TextBox 14"/>
          <p:cNvSpPr txBox="1"/>
          <p:nvPr/>
        </p:nvSpPr>
        <p:spPr>
          <a:xfrm>
            <a:off x="713232" y="2523744"/>
            <a:ext cx="2301544" cy="1234439"/>
          </a:xfrm>
          <a:prstGeom prst="rect">
            <a:avLst/>
          </a:prstGeom>
          <a:noFill/>
        </p:spPr>
        <p:txBody>
          <a:bodyPr wrap="square" lIns="0" rIns="0" tIns="0" bIns="0" anchor="t">
            <a:spAutoFit/>
          </a:bodyPr>
          <a:lstStyle/>
          <a:p>
            <a:pPr algn="l"/>
            <a:r>
              <a:rPr sz="1150" b="0" i="0">
                <a:solidFill>
                  <a:srgbClr val="1A1A1A"/>
                </a:solidFill>
                <a:latin typeface="Abadi"/>
              </a:rPr>
              <a:t>▪  Colic peaks at 6 weeks</a:t>
            </a:r>
          </a:p>
          <a:p>
            <a:pPr algn="l">
              <a:spcBef>
                <a:spcPts val="400"/>
              </a:spcBef>
            </a:pPr>
            <a:r>
              <a:rPr sz="1150" b="0" i="0">
                <a:solidFill>
                  <a:srgbClr val="1A1A1A"/>
                </a:solidFill>
                <a:latin typeface="Abadi"/>
              </a:rPr>
              <a:t>▪  Acid does not track crying</a:t>
            </a:r>
          </a:p>
          <a:p>
            <a:pPr algn="l">
              <a:spcBef>
                <a:spcPts val="400"/>
              </a:spcBef>
            </a:pPr>
            <a:r>
              <a:rPr sz="1150" b="0" i="0">
                <a:solidFill>
                  <a:srgbClr val="1A1A1A"/>
                </a:solidFill>
                <a:latin typeface="Abadi"/>
              </a:rPr>
              <a:t>▪  PPI = placebo, more infections</a:t>
            </a:r>
          </a:p>
        </p:txBody>
      </p:sp>
      <p:sp>
        <p:nvSpPr>
          <p:cNvPr id="16" name="Rectangle 15"/>
          <p:cNvSpPr/>
          <p:nvPr/>
        </p:nvSpPr>
        <p:spPr>
          <a:xfrm>
            <a:off x="3365906" y="1773936"/>
            <a:ext cx="2630728" cy="210312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5906" y="1773936"/>
            <a:ext cx="2630728"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0498" y="1984248"/>
            <a:ext cx="2301544" cy="457200"/>
          </a:xfrm>
          <a:prstGeom prst="rect">
            <a:avLst/>
          </a:prstGeom>
          <a:noFill/>
        </p:spPr>
        <p:txBody>
          <a:bodyPr wrap="square" lIns="0" rIns="0" tIns="0" bIns="0" anchor="t">
            <a:spAutoFit/>
          </a:bodyPr>
          <a:lstStyle/>
          <a:p>
            <a:pPr algn="l"/>
            <a:r>
              <a:rPr sz="1500" b="1" i="0">
                <a:solidFill>
                  <a:srgbClr val="D97A0B"/>
                </a:solidFill>
                <a:latin typeface="Abadi"/>
              </a:rPr>
              <a:t>'Yellow is bile'</a:t>
            </a:r>
          </a:p>
        </p:txBody>
      </p:sp>
      <p:sp>
        <p:nvSpPr>
          <p:cNvPr id="19" name="TextBox 18"/>
          <p:cNvSpPr txBox="1"/>
          <p:nvPr/>
        </p:nvSpPr>
        <p:spPr>
          <a:xfrm>
            <a:off x="3530498" y="2523744"/>
            <a:ext cx="2301544" cy="1234439"/>
          </a:xfrm>
          <a:prstGeom prst="rect">
            <a:avLst/>
          </a:prstGeom>
          <a:noFill/>
        </p:spPr>
        <p:txBody>
          <a:bodyPr wrap="square" lIns="0" rIns="0" tIns="0" bIns="0" anchor="t">
            <a:spAutoFit/>
          </a:bodyPr>
          <a:lstStyle/>
          <a:p>
            <a:pPr algn="l"/>
            <a:r>
              <a:rPr sz="1150" b="0" i="0">
                <a:solidFill>
                  <a:srgbClr val="1A1A1A"/>
                </a:solidFill>
                <a:latin typeface="Abadi"/>
              </a:rPr>
              <a:t>▪  Milk curd is not bile</a:t>
            </a:r>
          </a:p>
          <a:p>
            <a:pPr algn="l">
              <a:spcBef>
                <a:spcPts val="400"/>
              </a:spcBef>
            </a:pPr>
            <a:r>
              <a:rPr sz="1150" b="0" i="0">
                <a:solidFill>
                  <a:srgbClr val="1A1A1A"/>
                </a:solidFill>
                <a:latin typeface="Abadi"/>
              </a:rPr>
              <a:t>▪  Green is surgical</a:t>
            </a:r>
          </a:p>
          <a:p>
            <a:pPr algn="l">
              <a:spcBef>
                <a:spcPts val="400"/>
              </a:spcBef>
            </a:pPr>
            <a:r>
              <a:rPr sz="1150" b="0" i="0">
                <a:solidFill>
                  <a:srgbClr val="1A1A1A"/>
                </a:solidFill>
                <a:latin typeface="Abadi"/>
              </a:rPr>
              <a:t>▪  Same-day contrast study</a:t>
            </a:r>
          </a:p>
        </p:txBody>
      </p:sp>
      <p:sp>
        <p:nvSpPr>
          <p:cNvPr id="20" name="Rectangle 19"/>
          <p:cNvSpPr/>
          <p:nvPr/>
        </p:nvSpPr>
        <p:spPr>
          <a:xfrm>
            <a:off x="6183172" y="1773936"/>
            <a:ext cx="2630728" cy="210312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3172" y="1773936"/>
            <a:ext cx="2630728"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7764" y="1984248"/>
            <a:ext cx="2301544" cy="457200"/>
          </a:xfrm>
          <a:prstGeom prst="rect">
            <a:avLst/>
          </a:prstGeom>
          <a:noFill/>
        </p:spPr>
        <p:txBody>
          <a:bodyPr wrap="square" lIns="0" rIns="0" tIns="0" bIns="0" anchor="t">
            <a:spAutoFit/>
          </a:bodyPr>
          <a:lstStyle/>
          <a:p>
            <a:pPr algn="l"/>
            <a:r>
              <a:rPr sz="1500" b="1" i="0">
                <a:solidFill>
                  <a:srgbClr val="1B355E"/>
                </a:solidFill>
                <a:latin typeface="Abadi"/>
              </a:rPr>
              <a:t>'Late reflux'</a:t>
            </a:r>
          </a:p>
        </p:txBody>
      </p:sp>
      <p:sp>
        <p:nvSpPr>
          <p:cNvPr id="23" name="TextBox 22"/>
          <p:cNvSpPr txBox="1"/>
          <p:nvPr/>
        </p:nvSpPr>
        <p:spPr>
          <a:xfrm>
            <a:off x="6347764" y="2523744"/>
            <a:ext cx="2301544" cy="1234439"/>
          </a:xfrm>
          <a:prstGeom prst="rect">
            <a:avLst/>
          </a:prstGeom>
          <a:noFill/>
        </p:spPr>
        <p:txBody>
          <a:bodyPr wrap="square" lIns="0" rIns="0" tIns="0" bIns="0" anchor="t">
            <a:spAutoFit/>
          </a:bodyPr>
          <a:lstStyle/>
          <a:p>
            <a:pPr algn="l"/>
            <a:r>
              <a:rPr sz="1150" b="0" i="0">
                <a:solidFill>
                  <a:srgbClr val="1A1A1A"/>
                </a:solidFill>
                <a:latin typeface="Abadi"/>
              </a:rPr>
              <a:t>▪  Onset &gt; 6 months is not GER</a:t>
            </a:r>
          </a:p>
          <a:p>
            <a:pPr algn="l">
              <a:spcBef>
                <a:spcPts val="400"/>
              </a:spcBef>
            </a:pPr>
            <a:r>
              <a:rPr sz="1150" b="0" i="0">
                <a:solidFill>
                  <a:srgbClr val="1A1A1A"/>
                </a:solidFill>
                <a:latin typeface="Abadi"/>
              </a:rPr>
              <a:t>▪  Test the urine</a:t>
            </a:r>
          </a:p>
          <a:p>
            <a:pPr algn="l">
              <a:spcBef>
                <a:spcPts val="400"/>
              </a:spcBef>
            </a:pPr>
            <a:r>
              <a:rPr sz="1150" b="0" i="0">
                <a:solidFill>
                  <a:srgbClr val="1A1A1A"/>
                </a:solidFill>
                <a:latin typeface="Abadi"/>
              </a:rPr>
              <a:t>▪  Look at head and fontanelle</a:t>
            </a:r>
          </a:p>
        </p:txBody>
      </p:sp>
      <p:sp>
        <p:nvSpPr>
          <p:cNvPr id="24" name="Rectangle 23"/>
          <p:cNvSpPr/>
          <p:nvPr/>
        </p:nvSpPr>
        <p:spPr>
          <a:xfrm>
            <a:off x="9000439" y="1773936"/>
            <a:ext cx="2630728" cy="210312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0439" y="1773936"/>
            <a:ext cx="2630728"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5031" y="1984248"/>
            <a:ext cx="2301544" cy="457200"/>
          </a:xfrm>
          <a:prstGeom prst="rect">
            <a:avLst/>
          </a:prstGeom>
          <a:noFill/>
        </p:spPr>
        <p:txBody>
          <a:bodyPr wrap="square" lIns="0" rIns="0" tIns="0" bIns="0" anchor="t">
            <a:spAutoFit/>
          </a:bodyPr>
          <a:lstStyle/>
          <a:p>
            <a:pPr algn="l"/>
            <a:r>
              <a:rPr sz="1500" b="1" i="0">
                <a:solidFill>
                  <a:srgbClr val="7F7F7F"/>
                </a:solidFill>
                <a:latin typeface="Abadi"/>
              </a:rPr>
              <a:t>'Just reflux, with blood'</a:t>
            </a:r>
          </a:p>
        </p:txBody>
      </p:sp>
      <p:sp>
        <p:nvSpPr>
          <p:cNvPr id="27" name="TextBox 26"/>
          <p:cNvSpPr txBox="1"/>
          <p:nvPr/>
        </p:nvSpPr>
        <p:spPr>
          <a:xfrm>
            <a:off x="9165031" y="2523744"/>
            <a:ext cx="2301544" cy="1234439"/>
          </a:xfrm>
          <a:prstGeom prst="rect">
            <a:avLst/>
          </a:prstGeom>
          <a:noFill/>
        </p:spPr>
        <p:txBody>
          <a:bodyPr wrap="square" lIns="0" rIns="0" tIns="0" bIns="0" anchor="t">
            <a:spAutoFit/>
          </a:bodyPr>
          <a:lstStyle/>
          <a:p>
            <a:pPr algn="l"/>
            <a:r>
              <a:rPr sz="1150" b="0" i="0">
                <a:solidFill>
                  <a:srgbClr val="1A1A1A"/>
                </a:solidFill>
                <a:latin typeface="Abadi"/>
              </a:rPr>
              <a:t>▪  Haematemesis, rectal blood</a:t>
            </a:r>
          </a:p>
          <a:p>
            <a:pPr algn="l">
              <a:spcBef>
                <a:spcPts val="400"/>
              </a:spcBef>
            </a:pPr>
            <a:r>
              <a:rPr sz="1150" b="0" i="0">
                <a:solidFill>
                  <a:srgbClr val="1A1A1A"/>
                </a:solidFill>
                <a:latin typeface="Abadi"/>
              </a:rPr>
              <a:t>▪  Allergy, enteropathy, NEC</a:t>
            </a:r>
          </a:p>
          <a:p>
            <a:pPr algn="l">
              <a:spcBef>
                <a:spcPts val="400"/>
              </a:spcBef>
            </a:pPr>
            <a:r>
              <a:rPr sz="1150" b="0" i="0">
                <a:solidFill>
                  <a:srgbClr val="1A1A1A"/>
                </a:solidFill>
                <a:latin typeface="Abadi"/>
              </a:rPr>
              <a:t>▪  Not a reflux pathway</a:t>
            </a:r>
          </a:p>
        </p:txBody>
      </p:sp>
      <p:sp>
        <p:nvSpPr>
          <p:cNvPr id="28" name="TextBox 27"/>
          <p:cNvSpPr txBox="1"/>
          <p:nvPr/>
        </p:nvSpPr>
        <p:spPr>
          <a:xfrm>
            <a:off x="548640" y="4114800"/>
            <a:ext cx="11082528" cy="822960"/>
          </a:xfrm>
          <a:prstGeom prst="rect">
            <a:avLst/>
          </a:prstGeom>
          <a:noFill/>
        </p:spPr>
        <p:txBody>
          <a:bodyPr wrap="square" lIns="0" rIns="0" tIns="0" bIns="0" anchor="t">
            <a:spAutoFit/>
          </a:bodyPr>
          <a:lstStyle/>
          <a:p>
            <a:pPr algn="l"/>
            <a:r>
              <a:rPr sz="1300" b="1" i="0">
                <a:solidFill>
                  <a:srgbClr val="1B355E"/>
                </a:solidFill>
                <a:latin typeface="Abadi"/>
              </a:rPr>
              <a:t>And one more.  </a:t>
            </a:r>
            <a:r>
              <a:rPr sz="1300" b="0" i="0">
                <a:solidFill>
                  <a:srgbClr val="1A1A1A"/>
                </a:solidFill>
                <a:latin typeface="Abadi"/>
              </a:rPr>
              <a:t>Starting an acid suppressor 'to see if it helps': improvement over two weeks is the natural history, and once the label and the drug are given, they are hard to take away.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The numbers worth carrying into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Rosen 2018 · NICE NG1 · Benninga 2016 · Nelson 1997 · Wolke 2017 · Heine 1995 · Moore 2003 · Orenstein 2009 · Seashore 1994 · Eberly 2015 · Schoemaker 2015</a:t>
            </a:r>
          </a:p>
        </p:txBody>
      </p:sp>
      <p:sp>
        <p:nvSpPr>
          <p:cNvPr id="12" name="TextBox 11"/>
          <p:cNvSpPr txBox="1"/>
          <p:nvPr/>
        </p:nvSpPr>
        <p:spPr>
          <a:xfrm>
            <a:off x="548640" y="1810512"/>
            <a:ext cx="11082528" cy="3977639"/>
          </a:xfrm>
          <a:prstGeom prst="rect">
            <a:avLst/>
          </a:prstGeom>
          <a:noFill/>
        </p:spPr>
        <p:txBody>
          <a:bodyPr wrap="square" lIns="0" rIns="0" tIns="0" bIns="0" anchor="t">
            <a:spAutoFit/>
          </a:bodyPr>
          <a:lstStyle/>
          <a:p>
            <a:pPr algn="l"/>
            <a:r>
              <a:rPr sz="1250" b="0" i="0">
                <a:solidFill>
                  <a:srgbClr val="1A1A1A"/>
                </a:solidFill>
                <a:latin typeface="Abadi"/>
              </a:rPr>
              <a:t>▪  At least 40% of infants regurgitate; peak 67% at 4 months, 5% at 10–12 months, 90% gone by 1 year.</a:t>
            </a:r>
          </a:p>
          <a:p>
            <a:pPr algn="l">
              <a:spcBef>
                <a:spcPts val="700"/>
              </a:spcBef>
            </a:pPr>
            <a:r>
              <a:rPr sz="1250" b="0" i="0">
                <a:solidFill>
                  <a:srgbClr val="1A1A1A"/>
                </a:solidFill>
                <a:latin typeface="Abadi"/>
              </a:rPr>
              <a:t>▪  Thriving and no red flags: explanation is the treatment; no test, no drug.</a:t>
            </a:r>
          </a:p>
          <a:p>
            <a:pPr algn="l">
              <a:spcBef>
                <a:spcPts val="700"/>
              </a:spcBef>
            </a:pPr>
            <a:r>
              <a:rPr sz="1250" b="0" i="0">
                <a:solidFill>
                  <a:srgbClr val="1A1A1A"/>
                </a:solidFill>
                <a:latin typeface="Abadi"/>
              </a:rPr>
              <a:t>▪  Colic affects 17–25% in the first six weeks and falls to 0.6% by 10–12 weeks; it is not reflux.</a:t>
            </a:r>
          </a:p>
          <a:p>
            <a:pPr algn="l">
              <a:spcBef>
                <a:spcPts val="700"/>
              </a:spcBef>
            </a:pPr>
            <a:r>
              <a:rPr sz="1250" b="0" i="0">
                <a:solidFill>
                  <a:srgbClr val="1A1A1A"/>
                </a:solidFill>
                <a:latin typeface="Abadi"/>
              </a:rPr>
              <a:t>▪  Omeprazole cut acid exposure but not crying; lansoprazole 54% = placebo 54%, serious events 10 vs 2.</a:t>
            </a:r>
          </a:p>
          <a:p>
            <a:pPr algn="l">
              <a:spcBef>
                <a:spcPts val="700"/>
              </a:spcBef>
            </a:pPr>
            <a:r>
              <a:rPr sz="1250" b="0" i="0">
                <a:solidFill>
                  <a:srgbClr val="1A1A1A"/>
                </a:solidFill>
                <a:latin typeface="Abadi"/>
              </a:rPr>
              <a:t>▪  A quarter of unselected 1-month-olds score positive on the I-GERQ-R; it tracks, it does not diagnose.</a:t>
            </a:r>
          </a:p>
          <a:p>
            <a:pPr algn="l">
              <a:spcBef>
                <a:spcPts val="700"/>
              </a:spcBef>
            </a:pPr>
            <a:r>
              <a:rPr sz="1250" b="0" i="0">
                <a:solidFill>
                  <a:srgbClr val="1A1A1A"/>
                </a:solidFill>
                <a:latin typeface="Abadi"/>
              </a:rPr>
              <a:t>▪  Green vomit is surgical: volvulus in 80% of malrotation with bilious vomiting; same-day contrast study.</a:t>
            </a:r>
          </a:p>
          <a:p>
            <a:pPr algn="l">
              <a:spcBef>
                <a:spcPts val="700"/>
              </a:spcBef>
            </a:pPr>
            <a:r>
              <a:rPr sz="1250" b="0" i="0">
                <a:solidFill>
                  <a:srgbClr val="1A1A1A"/>
                </a:solidFill>
                <a:latin typeface="Abadi"/>
              </a:rPr>
              <a:t>▪  Projectile vomiting under 2 months: pyloric stenosis; erythromycin in the first 2 weeks, aOR 13.3.</a:t>
            </a:r>
          </a:p>
          <a:p>
            <a:pPr algn="l">
              <a:spcBef>
                <a:spcPts val="700"/>
              </a:spcBef>
            </a:pPr>
            <a:r>
              <a:rPr sz="1250" b="0" i="0">
                <a:solidFill>
                  <a:srgbClr val="1A1A1A"/>
                </a:solidFill>
                <a:latin typeface="Abadi"/>
              </a:rPr>
              <a:t>▪  Onset after 6 months or persistence beyond 12–18 months is not physiological GER: test the urine.</a:t>
            </a:r>
          </a:p>
          <a:p>
            <a:pPr algn="l">
              <a:spcBef>
                <a:spcPts val="700"/>
              </a:spcBef>
            </a:pPr>
            <a:r>
              <a:rPr sz="1250" b="0" i="0">
                <a:solidFill>
                  <a:srgbClr val="1A1A1A"/>
                </a:solidFill>
                <a:latin typeface="Abadi"/>
              </a:rPr>
              <a:t>▪  Cow's milk allergy: 358 suspected, 55 confirmed; trial 2–4 weeks, then re-challenge.</a:t>
            </a:r>
          </a:p>
          <a:p>
            <a:pPr algn="l">
              <a:spcBef>
                <a:spcPts val="700"/>
              </a:spcBef>
            </a:pPr>
            <a:r>
              <a:rPr sz="1250" b="0" i="0">
                <a:solidFill>
                  <a:srgbClr val="1A1A1A"/>
                </a:solidFill>
                <a:latin typeface="Abadi"/>
              </a:rPr>
              <a:t>▪  Supine sleep always; no positioning, no scintigraphy, no empiric PPI as a test in infants.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0" bIns="0"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0" rIns="0" tIns="0" bIns="0" anchor="ctr">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0" rIns="0" tIns="0" bIns="0" anchor="t">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0" rIns="0" tIns="0" bIns="0" anchor="t">
            <a:spAutoFit/>
          </a:bodyPr>
          <a:lstStyle/>
          <a:p>
            <a:pPr algn="l"/>
            <a:r>
              <a:rPr sz="1300" b="0" i="1">
                <a:solidFill>
                  <a:srgbClr val="555555"/>
                </a:solidFill>
                <a:latin typeface="Abadi"/>
              </a:rPr>
              <a:t>Applying the logic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0" bIns="0" anchor="t">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0" rIns="0" tIns="0" bIns="0" anchor="t">
            <a:spAutoFit/>
          </a:bodyPr>
          <a:lstStyle/>
          <a:p>
            <a:pPr algn="l"/>
            <a:r>
              <a:rPr sz="1000" b="0" i="1">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73936"/>
          <a:ext cx="11082528" cy="3877056"/>
        </p:xfrm>
        <a:graphic>
          <a:graphicData uri="http://schemas.openxmlformats.org/drawingml/2006/table">
            <a:tbl>
              <a:tblPr firstRow="0" bandRow="0">
                <a:tableStyleId>{5C22544A-7EE6-4342-B048-85BDC9FD1C3A}</a:tableStyleId>
              </a:tblPr>
              <a:tblGrid>
                <a:gridCol w="5486400"/>
                <a:gridCol w="5596128"/>
              </a:tblGrid>
              <a:tr h="484632">
                <a:tc>
                  <a:txBody>
                    <a:bodyPr wrap="square"/>
                    <a:lstStyle/>
                    <a:p>
                      <a:r>
                        <a:rPr sz="1050" b="1">
                          <a:solidFill>
                            <a:srgbClr val="FFFFFF"/>
                          </a:solidFill>
                          <a:latin typeface="Abadi"/>
                        </a:rPr>
                        <a:t>Scenario</a:t>
                      </a:r>
                    </a:p>
                  </a:txBody>
                  <a:tcPr marL="73152" marR="73152" marT="27432" marB="27432" anchor="ctr">
                    <a:solidFill>
                      <a:srgbClr val="1B355E"/>
                    </a:solidFill>
                  </a:tcPr>
                </a:tc>
                <a:tc>
                  <a:txBody>
                    <a:bodyPr wrap="square"/>
                    <a:lstStyle/>
                    <a:p>
                      <a:r>
                        <a:rPr sz="1050" b="1">
                          <a:solidFill>
                            <a:srgbClr val="FFFFFF"/>
                          </a:solidFill>
                          <a:latin typeface="Abadi"/>
                        </a:rPr>
                        <a:t>Decision</a:t>
                      </a:r>
                    </a:p>
                  </a:txBody>
                  <a:tcPr marL="73152" marR="73152" marT="27432" marB="27432" anchor="ctr">
                    <a:solidFill>
                      <a:srgbClr val="1B355E"/>
                    </a:solidFill>
                  </a:tcPr>
                </a:tc>
              </a:tr>
              <a:tr h="484632">
                <a:tc>
                  <a:txBody>
                    <a:bodyPr wrap="square"/>
                    <a:lstStyle/>
                    <a:p>
                      <a:r>
                        <a:rPr sz="1100" b="1">
                          <a:solidFill>
                            <a:srgbClr val="1A1A1A"/>
                          </a:solidFill>
                          <a:latin typeface="Abadi"/>
                        </a:rPr>
                        <a:t>10-week-old, spits after most feeds, gaining along the 50th centile, content</a:t>
                      </a:r>
                    </a:p>
                  </a:txBody>
                  <a:tcPr marL="73152" marR="73152" marT="27432" marB="27432" anchor="ctr">
                    <a:solidFill>
                      <a:srgbClr val="FFFFFF"/>
                    </a:solidFill>
                  </a:tcPr>
                </a:tc>
                <a:tc>
                  <a:txBody>
                    <a:bodyPr wrap="square"/>
                    <a:lstStyle/>
                    <a:p>
                      <a:r>
                        <a:rPr sz="1100" b="0">
                          <a:solidFill>
                            <a:srgbClr val="1A1A1A"/>
                          </a:solidFill>
                          <a:latin typeface="Abadi"/>
                        </a:rPr>
                        <a:t>Physiological regurgitation: explain the natural history; no tests, no drugs</a:t>
                      </a:r>
                    </a:p>
                  </a:txBody>
                  <a:tcPr marL="73152" marR="73152" marT="27432" marB="27432" anchor="ctr">
                    <a:solidFill>
                      <a:srgbClr val="FFFFFF"/>
                    </a:solidFill>
                  </a:tcPr>
                </a:tc>
              </a:tr>
              <a:tr h="484632">
                <a:tc>
                  <a:txBody>
                    <a:bodyPr wrap="square"/>
                    <a:lstStyle/>
                    <a:p>
                      <a:r>
                        <a:rPr sz="1100" b="1">
                          <a:solidFill>
                            <a:srgbClr val="1A1A1A"/>
                          </a:solidFill>
                          <a:latin typeface="Abadi"/>
                        </a:rPr>
                        <a:t>6-week-old, inconsolable evenings, spits a little, arching; parents ask for 'reflux medicine'</a:t>
                      </a:r>
                    </a:p>
                  </a:txBody>
                  <a:tcPr marL="73152" marR="73152" marT="27432" marB="27432" anchor="ctr">
                    <a:solidFill>
                      <a:srgbClr val="F2F2F2"/>
                    </a:solidFill>
                  </a:tcPr>
                </a:tc>
                <a:tc>
                  <a:txBody>
                    <a:bodyPr wrap="square"/>
                    <a:lstStyle/>
                    <a:p>
                      <a:r>
                        <a:rPr sz="1100" b="0">
                          <a:solidFill>
                            <a:srgbClr val="1A1A1A"/>
                          </a:solidFill>
                          <a:latin typeface="Abadi"/>
                        </a:rPr>
                        <a:t>Colic pattern: explain, support, review feeding; no acid suppression</a:t>
                      </a:r>
                    </a:p>
                  </a:txBody>
                  <a:tcPr marL="73152" marR="73152" marT="27432" marB="27432" anchor="ctr">
                    <a:solidFill>
                      <a:srgbClr val="F2F2F2"/>
                    </a:solidFill>
                  </a:tcPr>
                </a:tc>
              </a:tr>
              <a:tr h="484632">
                <a:tc>
                  <a:txBody>
                    <a:bodyPr wrap="square"/>
                    <a:lstStyle/>
                    <a:p>
                      <a:r>
                        <a:rPr sz="1100" b="1">
                          <a:solidFill>
                            <a:srgbClr val="1A1A1A"/>
                          </a:solidFill>
                          <a:latin typeface="Abadi"/>
                        </a:rPr>
                        <a:t>4-week-old boy, projectile vomiting, hungry afterwards; erythromycin at 10 days</a:t>
                      </a:r>
                    </a:p>
                  </a:txBody>
                  <a:tcPr marL="73152" marR="73152" marT="27432" marB="27432" anchor="ctr">
                    <a:solidFill>
                      <a:srgbClr val="FFFFFF"/>
                    </a:solidFill>
                  </a:tcPr>
                </a:tc>
                <a:tc>
                  <a:txBody>
                    <a:bodyPr wrap="square"/>
                    <a:lstStyle/>
                    <a:p>
                      <a:r>
                        <a:rPr sz="1100" b="0">
                          <a:solidFill>
                            <a:srgbClr val="1A1A1A"/>
                          </a:solidFill>
                          <a:latin typeface="Abadi"/>
                        </a:rPr>
                        <a:t>Pyloric stenosis until proven otherwise: electrolytes, ultrasound, same-day surgical review</a:t>
                      </a:r>
                    </a:p>
                  </a:txBody>
                  <a:tcPr marL="73152" marR="73152" marT="27432" marB="27432" anchor="ctr">
                    <a:solidFill>
                      <a:srgbClr val="FFFFFF"/>
                    </a:solidFill>
                  </a:tcPr>
                </a:tc>
              </a:tr>
              <a:tr h="484632">
                <a:tc>
                  <a:txBody>
                    <a:bodyPr wrap="square"/>
                    <a:lstStyle/>
                    <a:p>
                      <a:r>
                        <a:rPr sz="1100" b="1">
                          <a:solidFill>
                            <a:srgbClr val="1A1A1A"/>
                          </a:solidFill>
                          <a:latin typeface="Abadi"/>
                        </a:rPr>
                        <a:t>3-week-old, two green vomits, soft abdomen, well-looking</a:t>
                      </a:r>
                    </a:p>
                  </a:txBody>
                  <a:tcPr marL="73152" marR="73152" marT="27432" marB="27432" anchor="ctr">
                    <a:solidFill>
                      <a:srgbClr val="F2F2F2"/>
                    </a:solidFill>
                  </a:tcPr>
                </a:tc>
                <a:tc>
                  <a:txBody>
                    <a:bodyPr wrap="square"/>
                    <a:lstStyle/>
                    <a:p>
                      <a:r>
                        <a:rPr sz="1100" b="0">
                          <a:solidFill>
                            <a:srgbClr val="1A1A1A"/>
                          </a:solidFill>
                          <a:latin typeface="Abadi"/>
                        </a:rPr>
                        <a:t>Same-day upper GI contrast study and surgical opinion</a:t>
                      </a:r>
                    </a:p>
                  </a:txBody>
                  <a:tcPr marL="73152" marR="73152" marT="27432" marB="27432" anchor="ctr">
                    <a:solidFill>
                      <a:srgbClr val="F2F2F2"/>
                    </a:solidFill>
                  </a:tcPr>
                </a:tc>
              </a:tr>
              <a:tr h="484632">
                <a:tc>
                  <a:txBody>
                    <a:bodyPr wrap="square"/>
                    <a:lstStyle/>
                    <a:p>
                      <a:r>
                        <a:rPr sz="1100" b="1">
                          <a:solidFill>
                            <a:srgbClr val="1A1A1A"/>
                          </a:solidFill>
                          <a:latin typeface="Abadi"/>
                        </a:rPr>
                        <a:t>7-month-old, new vomiting for a week, irritable, no fever</a:t>
                      </a:r>
                    </a:p>
                  </a:txBody>
                  <a:tcPr marL="73152" marR="73152" marT="27432" marB="27432" anchor="ctr">
                    <a:solidFill>
                      <a:srgbClr val="FFFFFF"/>
                    </a:solidFill>
                  </a:tcPr>
                </a:tc>
                <a:tc>
                  <a:txBody>
                    <a:bodyPr wrap="square"/>
                    <a:lstStyle/>
                    <a:p>
                      <a:r>
                        <a:rPr sz="1100" b="0">
                          <a:solidFill>
                            <a:srgbClr val="1A1A1A"/>
                          </a:solidFill>
                          <a:latin typeface="Abadi"/>
                        </a:rPr>
                        <a:t>Not GER: urine culture, head circumference, fontanelle, neurological examination</a:t>
                      </a:r>
                    </a:p>
                  </a:txBody>
                  <a:tcPr marL="73152" marR="73152" marT="27432" marB="27432" anchor="ctr">
                    <a:solidFill>
                      <a:srgbClr val="FFFFFF"/>
                    </a:solidFill>
                  </a:tcPr>
                </a:tc>
              </a:tr>
              <a:tr h="484632">
                <a:tc>
                  <a:txBody>
                    <a:bodyPr wrap="square"/>
                    <a:lstStyle/>
                    <a:p>
                      <a:r>
                        <a:rPr sz="1100" b="1">
                          <a:solidFill>
                            <a:srgbClr val="1A1A1A"/>
                          </a:solidFill>
                          <a:latin typeface="Abadi"/>
                        </a:rPr>
                        <a:t>3-month-old, regurgitation, eczema, mucus in stools, slow weight gain</a:t>
                      </a:r>
                    </a:p>
                  </a:txBody>
                  <a:tcPr marL="73152" marR="73152" marT="27432" marB="27432" anchor="ctr">
                    <a:solidFill>
                      <a:srgbClr val="F2F2F2"/>
                    </a:solidFill>
                  </a:tcPr>
                </a:tc>
                <a:tc>
                  <a:txBody>
                    <a:bodyPr wrap="square"/>
                    <a:lstStyle/>
                    <a:p>
                      <a:r>
                        <a:rPr sz="1100" b="0">
                          <a:solidFill>
                            <a:srgbClr val="1A1A1A"/>
                          </a:solidFill>
                          <a:latin typeface="Abadi"/>
                        </a:rPr>
                        <a:t>2–4 week extensively hydrolysed formula trial, then planned re-challenge</a:t>
                      </a:r>
                    </a:p>
                  </a:txBody>
                  <a:tcPr marL="73152" marR="73152" marT="27432" marB="27432" anchor="ctr">
                    <a:solidFill>
                      <a:srgbClr val="F2F2F2"/>
                    </a:solidFill>
                  </a:tcPr>
                </a:tc>
              </a:tr>
              <a:tr h="484632">
                <a:tc>
                  <a:txBody>
                    <a:bodyPr wrap="square"/>
                    <a:lstStyle/>
                    <a:p>
                      <a:r>
                        <a:rPr sz="1100" b="1">
                          <a:solidFill>
                            <a:srgbClr val="1A1A1A"/>
                          </a:solidFill>
                          <a:latin typeface="Abadi"/>
                        </a:rPr>
                        <a:t>5-month-old on omeprazole for 3 months 'for reflux', thriving</a:t>
                      </a:r>
                    </a:p>
                  </a:txBody>
                  <a:tcPr marL="73152" marR="73152" marT="27432" marB="27432" anchor="ctr">
                    <a:solidFill>
                      <a:srgbClr val="FFFFFF"/>
                    </a:solidFill>
                  </a:tcPr>
                </a:tc>
                <a:tc>
                  <a:txBody>
                    <a:bodyPr wrap="square"/>
                    <a:lstStyle/>
                    <a:p>
                      <a:r>
                        <a:rPr sz="1100" b="0">
                          <a:solidFill>
                            <a:srgbClr val="1A1A1A"/>
                          </a:solidFill>
                          <a:latin typeface="Abadi"/>
                        </a:rPr>
                        <a:t>Stop the drug; explain natural history; review in 4 weeks</a:t>
                      </a:r>
                    </a:p>
                  </a:txBody>
                  <a:tcPr marL="73152" marR="73152" marT="27432" marB="27432"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1082528" cy="2194560"/>
          </a:xfrm>
          <a:prstGeom prst="rect">
            <a:avLst/>
          </a:prstGeom>
          <a:noFill/>
        </p:spPr>
        <p:txBody>
          <a:bodyPr wrap="square" lIns="0" rIns="0" tIns="0" bIns="0" anchor="b">
            <a:spAutoFit/>
          </a:bodyPr>
          <a:lstStyle/>
          <a:p>
            <a:pPr algn="ctr"/>
            <a:r>
              <a:rPr sz="4000" b="1" i="0">
                <a:solidFill>
                  <a:srgbClr val="FFFFFF"/>
                </a:solidFill>
                <a:latin typeface="Abadi"/>
              </a:rPr>
              <a:t>The Infant Who Spits: Happy Spitters, Crying That Is Not Reflux, and the Red Flags That Are Not GER</a:t>
            </a:r>
          </a:p>
        </p:txBody>
      </p:sp>
      <p:sp>
        <p:nvSpPr>
          <p:cNvPr id="4" name="TextBox 3"/>
          <p:cNvSpPr txBox="1"/>
          <p:nvPr/>
        </p:nvSpPr>
        <p:spPr>
          <a:xfrm>
            <a:off x="548640" y="4434840"/>
            <a:ext cx="11082528" cy="292608"/>
          </a:xfrm>
          <a:prstGeom prst="rect">
            <a:avLst/>
          </a:prstGeom>
          <a:noFill/>
        </p:spPr>
        <p:txBody>
          <a:bodyPr wrap="square" lIns="0" rIns="0" tIns="0" bIns="0"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