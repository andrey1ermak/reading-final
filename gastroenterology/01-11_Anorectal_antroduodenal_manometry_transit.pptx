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1524000"/>
            <a:ext cx="11087100" cy="1968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badi"/>
              </a:rPr>
              <a:t>Anorectal, Colonic and Antroduodenal Manometry in Children: RAIR, Biopsy, Pseudo-Obstruction, Gastric Emptying and Transit Markers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632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6100" y="3835400"/>
            <a:ext cx="110871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4343400"/>
            <a:ext cx="11087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9DEE7"/>
                </a:solidFill>
                <a:latin typeface="Abadi"/>
              </a:rPr>
              <a:t>Rodriguez 2017 (ANMS-NASPGHAN) · Rosen 2018 (ANMS-NASPGHAN) · Kilgore 2025 (NASPGHAN) · Thapar 2018 (ESPGHAN PIPO) · Vandenplas 2022 (ESPGHAN) · Kyrklund 2020 (ERNICA) · Carrington 2020 (London) · de Lorijn 2006 · Baaleman 2023 · Abell 2008 (ANMS/SNM) · Ng 2020 · Lai 2025 (SNMMI/EANM)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51054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D9DEE7"/>
                </a:solidFill>
                <a:latin typeface="Abadi"/>
              </a:rPr>
              <a:t>absent RAIR means biopsy · anaesthesia hides the reflex · dyssynergia is over-called · HAPCs and bisacodyl · MMC predicts feeding · four hours, not two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QUESTION OF THE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FOUR TESTS, FOUR DIFFERENT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Motility testing in children is useful only when the question is named before the catheter goes 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Rodriguez L, et al. Neurogastroenterol Motil 2017;29:e12944 · Kilgore A, et al. JPGN 2025;80:353–73 · Thapar N, et al. JPGN 2018 · Abell TL, et al. J Nucl Med Technol 2008;36:44–54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4892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Anorectal manometry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Is the RAIR present?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Sphincter tone and push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Absent RAIR → rectal biopsy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4892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Colonic manometry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Are there HAPCs?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Only when surgery is on the table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Guides resection or stoma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4892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Antroduodenal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Is there pseudo-obstruction?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Neuropathy or myopathy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MMC predicts feeding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4892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Transit studies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4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Gastric emptying: 4 hours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Markers: slow or outlet?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Screen before invasive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470400"/>
            <a:ext cx="110871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main idea.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Each test answers one narrow question, none has robust paediatric normal values for every age, and anaesthesia distorts most of them. Pick the test for the decision it will change.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clinical stake.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Missing an absent RAIR delays the diagnosis of Hirschsprung disease; over-reading adult criteria labels healthy children dyssynergic and sends them for therapy they do not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MECHANISM: THE RAIR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ONE REFLEX THAT NEEDS GANGLIA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rectoanal inhibitory reflex is an intramural enteric reflex: no ganglia, no relaxation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Kilgore A, et al. JPGN 2025;80:353–73 · Carrington EV, et al. Neurogastroenterol Motil 2020;32:e13679 · Kyrklund K, et al. Orphanet J Rare Dis 2020;15:164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Distend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 rectal balloon is inflated in steps; the IAPWG protocol starts at 30 mL or more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0858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178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38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Sense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878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Myenteric neurons in the rectal wall detect stretch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426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7460" y="1778000"/>
            <a:ext cx="2024380" cy="21844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7460" y="1778000"/>
            <a:ext cx="2024380" cy="3429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906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Relax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46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Nitrergic inhibitory neurons relax the internal anal sphincter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994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14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314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474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 fall in IAS pressure of 15% or more, returning to baseline, defines a RAIR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562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882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882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42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Absent?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82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Aganglionosis, IAS achalasia, or a technical miss: go to biopsy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London hierarchy.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international classification reads anorectal manometry in four steps: the RAIR first, then anal tone and contractility, then rectoanal coordination, then rectal sensation. An absent RAIR is a major finding; dyssynergia is only a minor one.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In the neonate.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The reflex is present at birth, including preterm: in 180 healthy newborns, 85 of them preterm, a RAIR was elicited in every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HIRSCHSPRUNG: TEST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MANOMETRY SCREENS, BIOPSY DECIDES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Systematic review of 24 studies: sensitivity and specificity for Hirschsprung disease,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 Lorijn F, et al. JPGN 2006;42:496–505 · Tang YF, et al. Neurogastroenterol Motil 2014;26:1565–72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993, 400 and 425 patients respectively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184400"/>
            <a:ext cx="139700" cy="1397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3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Sensitivity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4800" y="2184400"/>
            <a:ext cx="139700" cy="1397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Specificity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5105400"/>
            <a:ext cx="6096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3500" y="2821940"/>
            <a:ext cx="482600" cy="228346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9200" y="2593340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41500" y="2699173"/>
            <a:ext cx="482600" cy="240622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7200" y="2470573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Rectal suction biopsy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5500" y="2871046"/>
            <a:ext cx="482600" cy="223435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51200" y="2642446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73500" y="2797386"/>
            <a:ext cx="482600" cy="2308013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59200" y="2568786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4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Anorectal manometry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7500" y="3386666"/>
            <a:ext cx="482600" cy="17187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3200" y="3158066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70%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05500" y="3067473"/>
            <a:ext cx="482600" cy="2037926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91200" y="2838873"/>
            <a:ext cx="7112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83%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Contrast enema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1828800"/>
            <a:ext cx="4013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ARM ≈ biopsy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Manometry did not differ significantly from suction biopsy (sensitivity P = 0.73; specificity P = 0.08); the enema was worse than both.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89% vs 78%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Neonatal high-resolution ARM vs barium enema sensitivity in 16 suspected cases; specificity 83% vs 17%.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 screen, not a verdict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Histology remains the reference standard.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ABSENT RAIR: WHAT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BIOPSY THAT ANSWERS 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ERNICA 2020 recommendations on the diagnosis of Hirschsprung disease (all evidence level III, 100% agreement)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Kyrklund K, et al. Orphanet J Rare Dis 2020;15:164 · de Lorijn F, et al. JPGN 2005;40:434–7 · Núñez R, et al. Pediatr Surg Int 1995;10:105–7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5400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At least 2 cm above the dentate line, or 3 cm from the verge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Posterior or lateral wall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Too low: physiological hypoganglionosis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5400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2–3 suction biopsies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Enough submucosa, or it is non-diagnostic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Open biopsy equally accurate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5400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Stains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Calretinin and/or peripherin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Especially in premature infants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HSCR: calretinin negative, AChE 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5400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Not 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47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Contrast enema is complementary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It maps the transition zone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It never replaces histology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521200"/>
            <a:ext cx="110871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Delayed meconium in the preterm.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ten preterm infants of 28–31 weeks with delayed meconium, a normal RAIR was present in all; delay alone is not aganglionosis.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Absent RAIR, normal ganglia.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Think of internal anal sphincter achalasia: same manometry, normal biopsy, treated by myectomy or botulinum toxin.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ANAESTHESIA AND THE RAIR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REFLEX THAT HIDES UNDER ANAESTHESIA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34 children who had anorectal manometry both awake and under general anaesthesia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Baaleman DF, et al. JPGN 2023;76:731–6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419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Anal resting pressure (P &lt; 0.001)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5105400"/>
            <a:ext cx="4191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650" y="2827337"/>
            <a:ext cx="685800" cy="227806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2547937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70 mmHg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Resting pressure, awake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3150" y="3608387"/>
            <a:ext cx="685800" cy="1497012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300" y="3328987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46 mmHg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83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Under anaesthesia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0" y="1828800"/>
            <a:ext cx="6045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26% (9 of 34)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Had a RAIR seen only under anaesthesia: the awake study would have sent them for biopsy.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12% (4 of 34)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Were inconclusive under anaesthesia, because resting pressure fell too low to show a relaxation.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The rule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An absent RAIR in an awake, crying child may be artefact; a low-pressure study under anaesthesia may be unreadable. Report the state, and re-test before you biopsy if it is unclear.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DYSSYNERGIA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ADULT CRITERIA OVER-CALL CHILDREN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3D high-resolution ARM in 205 constipated children against healthy controls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Banasiuk M, et al. Eur Rev Med Pharmacol Sci 2021;25:5199–207 · Carrington EV, et al. Neurogastroenterol Motil 2020 · Kilgore A, et al. JPGN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53% vs 46%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Constipated children vs controls called dyssynergic by adult criteria (P = 0.3): no separation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9.5% vs 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Anal relaxation on bear-down, constipated vs controls (P = 0.03): the real difference is small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31%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 paediatric relaxation cut-off proposed by the same group; it still labels 69% of constipated children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No benefit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An RCT of ARM in severe constipation found no outcome benefit (NASPGHAN 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254500"/>
            <a:ext cx="110871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Why.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Simulated defecation lying on the side, with a catheter in place and a stranger watching, is not defecation. Even in adults the London classification calls dyssynergia only a minor, inconclusive finding.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What does matter.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Anal spasm or prolonged relaxation should prompt a spinal evaluation, and the bear-down manoeuvre can replace a balloon expulsion test (NASPGHAN 2025).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AFTER THE PULL-THROUGH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WHEN THE OPERATED CHILD IS STILL OBSTRUCTED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Causes of obstructive symptoms after Hirschsprung surgery, and how manometry sorts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Langer JC, et al. Pediatr Surg Int 2017;33 (APSA) · Kyrklund K, et al. Orphanet J Rare Dis 2020 · Am J Gastroenterol 2000 (46 children) · Doodnath R, Puri P. Pediatr Surg Int 2009;25:869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2667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91000"/>
                <a:gridCol w="635000"/>
                <a:gridCol w="2540000"/>
                <a:gridCol w="3721100"/>
              </a:tblGrid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Manometric pattern (46 symptomatic children)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Clinical association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Practical next step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HAPCs running through the neorectum to the sphincter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18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Soiling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Constipating diet, loperamide, bulk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Normal colonic manometry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9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Withholding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Behavioural treatment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Absent HAPCs or simultaneous contractions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15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Constipation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Look for retained or acquired aganglionosis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Hypertensive internal sphincter (&gt; 80 mmHg)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4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Outlet obstruction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Botulinum toxin; consider achalasia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6100" y="4572000"/>
            <a:ext cx="11087100" cy="124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First exclude the mechanical.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APSA and ERNICA: examination under anaesthesia for a stricture, twist or residual aganglionosis first; then intersphincteric botulinum toxin if no mechanical cause is found (ERNICA, strong).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Manometry-guided care works.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Bowel frequency improved in 72% and pain in 80%. After myectomy for sphincter achalasia, 62.5% had normal stools without laxatives.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COLONIC MANOMETRY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A HEALTHY COLON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High-resolution colonic manometry in 18 children with intractable constipation: high-amplitude propagating sequences,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Wessel S, et al. Neurogastroenterol Motil 2016;28:743–57 · Vandenplas Y, et al. JPGN 2022;74:681–92 · Di Lorenzo C, et al. J Pediatr 1992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419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Children with at least one HAPS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5105400"/>
            <a:ext cx="4191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650" y="4819015"/>
            <a:ext cx="685800" cy="28638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4539615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Spontaneous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3150" y="2788285"/>
            <a:ext cx="685800" cy="2317115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300" y="2508885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83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After bisacodyl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0" y="1828800"/>
            <a:ext cx="6045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&gt; 75 mmHg, 10–30 cm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An HAPC: a high-amplitude contraction propagating at least 10–30 cm; the colon's mass movement.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Meal, then bisacodyl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Record 3–6 h; meal ≥ 400 kcal or 20 kcal/kg; bisacodyl 0.2 mg/kg, repeat at 0.4 mg/kg (ESPGHAN 2022).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Normal study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A gastrocolic response plus HAPCs running from caecum to rectosigmoid (NASPGHAN 2025).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No paediatric norms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Interpretation is pattern-based, not threshold-based.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COLONIC MANOMETRY: WHO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ONLY WHEN SURGERY IS BEING CONSIDERED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NASPGHAN 2025 position on refractory constipation and the outcome data behind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Kilgore A, et al. JPGN 2025;80:353–73 · van den Berg MM, et al. J Pediatr Surg 2006;41:730–6 · Gomez R, et al. JPGN 2010;51:741–6 · Vandenplas Y, et al. JPGN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No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For guiding medical therapy; reserve it until medical treatment is exhausted (7 of 8 votes)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Surgery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Use it to choose the operation and its timing, and before an ostomy takedown (8 of 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Caecostomy success; absent HAPCs throughout the colon predicted failure, a bisacodyl response predicted success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Of abnormal studies recorded the day after anaesthesia became normal on the next 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318000"/>
            <a:ext cx="11087100" cy="14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Pattern meaning.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Functional faecal retention keeps HAPCs (10 of 11) and a postprandial rise; neuropathy loses HAPCs; myopathy shows almost no contractions. Saline antegrade flushes raise motility but rarely trigger HAPCs; bisacodyl does.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Practical.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Record at least 6 hours, and repeat an abnormal study the next day; after a diverting ileostomy, wait at least 12 months before repeating.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ANTRODUODENAL MANOMETRY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DIAGNOSING PSEUDO-OBSTRUCTION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ESPGHAN-led 2018 criteria for paediatric intestinal pseudo-obstruction (PIPO): symptoms plus at least 2 of 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Thapar N, et al. JPGN 2018 (ESPGHAN PIPO recommendations) · Rosen R, et al. Neurogastroenterol Motil 2018;30:e13239 (ANMS-NASPGHAN)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Symptoms for 2 months from birth, or 6 months after; then 2 of the 4 below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0858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178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38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Objective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878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Neuromuscular involvement on manometry, histology or transit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426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746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746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906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Imaging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46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Recurrent or persistent dilated loops with air–fluid levels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994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140" y="1778000"/>
            <a:ext cx="2024380" cy="21844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3140" y="1778000"/>
            <a:ext cx="2024380" cy="3429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474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Genetics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 genetic or metabolic abnormality definitively linked to PIPO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562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882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882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42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Nutrition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82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Cannot maintain nutrition or growth on oral feeding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ADM in every suspected case.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ESPGHAN recommends antroduodenal manometry in all children with presumed PIPO (92% agreement), and states that a normal study conclusively rules it out.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Not small-bowel transit.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Radiopaque markers, scintigraphy, hydrogen breath tests and the wireless capsule are not recommended to measure small-bowel transit in PIPO; gastric emptying belongs in the work-up.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READING THE TRACING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NEUROPATHY, MYOPATHY, OR 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Fasting and fed patterns on antroduodenal manometry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Thapar N, et al. JPGN 2018 · Uc A, et al. Scand J Gastroenterol 1997;32:681–5 · Tomomasa T, et al. Dig Dis Sci 1996;41:2195–203 · Cucchiara S, et al. Dig Dis Sci 2000;45:258–64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51000"/>
                <a:gridCol w="4318000"/>
                <a:gridCol w="5118100"/>
              </a:tblGrid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Pattern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the tracing shows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What it means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Normal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Fasting MMC with phase III; fed pattern after a meal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Rules out PIPO; look elsewhere (in one series: Munchausen by proxy, coeliac, malrotation, Crohn's)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Neuropathic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Disorganised, uncoordinated activity; absent or abnormal phase III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Enteric neuropathy; may respond to prokinetics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Myopathic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Patterns preserved but amplitude ≤ 20 mmHg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Myopathy; diagnose confidently only without dilated loops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TPN-dependent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Persistent low-amplitude or sustained tonic-phasic contractions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Severe disease; seen only in PN-dependent children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Healthy child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Phase III fasting in 14 of 18; erythromycin induced it in the rest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 missing spontaneous phase III is not disease alone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6100" y="5562600"/>
            <a:ext cx="110871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Dilated loops lower contraction amplitude mechanically: a 'myopathic' tracing in a dilated bowel can be secondary.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PROGNOSIS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MMC PREDICTS WHO WILL FEED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Outcome in chronic intestinal pseudo-obstruction by manometric and histological type, % with poor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Fell JM, et al. Gut 1996;39:306–11 · Heneyke S, et al. Arch Dis Child 1999;81:21–7 · Di Lorenzo C, et al. Gastroenterology 1995;108:1379–85 · Thapar N, et al. JPGN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19050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Low-amplitude, MI &lt; 10 kPa/min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3100" y="2101850"/>
            <a:ext cx="2971800" cy="317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1100" y="19050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7 of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" y="26162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MI above threshold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13100" y="2813050"/>
            <a:ext cx="849934" cy="317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9234" y="26162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 of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" y="33274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Myopathy (Heneyke)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3100" y="3524250"/>
            <a:ext cx="2026767" cy="317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6067" y="33274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15 of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40386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With malrotation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3100" y="4235450"/>
            <a:ext cx="2416073" cy="3175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373" y="40386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13 of 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" y="47498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 i="0">
                <a:solidFill>
                  <a:srgbClr val="1A1A1A"/>
                </a:solidFill>
                <a:latin typeface="Abadi"/>
              </a:rPr>
              <a:t>All CIIP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3100" y="4946650"/>
            <a:ext cx="1619631" cy="3175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08931" y="47498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badi"/>
              </a:rPr>
              <a:t>24 of 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828800"/>
            <a:ext cx="3632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MMC present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Duodenal or jejunal MMC predicts tolerance of enteral feeds (ESPGHAN 2018).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Phase III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Its presence predicts a response to prokinetics.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6 of 22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Children helped by prokinetics in the Great Ormond Street series; ileostomy relieved 16 of 31.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GASTRIC EMPTYING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THE STANDARD MEAL AND THE FOUR-HOUR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Consensus solid-meal scintigraphy (ANMS/SNM 2008) and the 2025 paediatric guideline (SNMMI/EANM)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Abell TL, et al. J Nucl Med Technol 2008;36:44–54 · Lai H, et al. J Nucl Med Technol 2025;53:198–204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90% at 1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Retention that defines delayed emptying at 1 hour; rapid emptying is &lt; 30% retained at 1 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60% at 2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Delayed emptying at 2 hours: the time point most often reported alone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10% at 4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Delayed at 4 hours: the most sensitive single cut-off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1590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255 kcal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Egg-white meal, two slices of bread, jam, water; Tc-99m sulfur colloid; images at 0, 1, 2, 4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254500"/>
            <a:ext cx="110871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paediatric version.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Fast at least 4 hours (infants 3); egg substitute, toast and water, at least half eaten; cheese for egg allergy. Under 5 years a milk or formula study is used, with dynamic imaging for 60 minutes and statics later.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Before the test.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Stop opioids, prokinetics and anticholinergics; record the blood glucose in a diabetic child; report how much of the meal was eaten.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PAEDIATRIC NORMAL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ADULT CUT-OFFS FIT CHILDREN OVER 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1,151 paediatric solid gastric emptying studies: % retained, median and 95th percentile, against the adult 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Ng TSC, et al. Am J Gastroenterol 2020;115:1830–9 · Abell TL, et al. 2008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6350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No adult limit is defined at 3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184400"/>
            <a:ext cx="139700" cy="139700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3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Median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4800" y="2184400"/>
            <a:ext cx="139700" cy="1397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95th percentile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800" y="2184400"/>
            <a:ext cx="139700" cy="1397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7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Adult limit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105400"/>
            <a:ext cx="6350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3625" y="3249168"/>
            <a:ext cx="345016" cy="1856232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325" y="3020568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72%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34041" y="2707767"/>
            <a:ext cx="345016" cy="2397633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9741" y="2479167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93%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04458" y="2785110"/>
            <a:ext cx="345016" cy="232029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0158" y="2556510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1 hour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125" y="4099941"/>
            <a:ext cx="345016" cy="1005459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36825" y="3871341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39%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21541" y="3429635"/>
            <a:ext cx="345016" cy="1675764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07241" y="3201035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1958" y="3558540"/>
            <a:ext cx="345016" cy="154686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7658" y="3329940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03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2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38625" y="4718685"/>
            <a:ext cx="345016" cy="386715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24325" y="4490085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9041" y="4254627"/>
            <a:ext cx="345016" cy="850772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94741" y="4026027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878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3 hours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26125" y="4950714"/>
            <a:ext cx="345016" cy="154686"/>
          </a:xfrm>
          <a:prstGeom prst="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1825" y="4722114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6541" y="4847590"/>
            <a:ext cx="345016" cy="2578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2241" y="4618990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66958" y="4847590"/>
            <a:ext cx="345016" cy="25781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2658" y="4618990"/>
            <a:ext cx="573616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5300" y="5156200"/>
            <a:ext cx="1587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4 hours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47000" y="1828800"/>
            <a:ext cx="3886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Applicable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authors concluded that adult normative standards can be used in children aged 6 and over.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10% at 4 h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upper limit held for cheese meals and for partial meals of at least half.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Under 6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No equivalent solid-meal data; use the milk protocol.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TWO HOURS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STOPPING AT TWO HOURS HALVES THE YIELD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109 children: delayed emptying detected at 2 hours versus at 4 hours, 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Edwards ST, et al. BMC Gastroenterol 2019;19 (doi 10.1186/s12876-019-0948-6) · Abell TL, et al. 2008 · Green AD, et al. J Pediatr 2013;162:1181–7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4191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P = 0.0027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5105400"/>
            <a:ext cx="4191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17650" y="3915228"/>
            <a:ext cx="685800" cy="1190171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2800" y="3635828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12.8%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Abnormal at 2 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3150" y="2887775"/>
            <a:ext cx="685800" cy="2217624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8300" y="2608375"/>
            <a:ext cx="209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badi"/>
              </a:rPr>
              <a:t>23.9%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08300" y="51562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Abnormal at 4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0" y="1828800"/>
            <a:ext cx="6045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14 of 95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Normal 2-hour studies that were abnormal at 4 hours: 15% would have been called normal.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Same symptoms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Symptoms did not differ between the groups, so the clinic cannot predict who needs the extra hours.</a:t>
            </a:r>
          </a:p>
          <a:p>
            <a:pPr algn="l">
              <a:spcAft>
                <a:spcPts val="300"/>
              </a:spcAft>
            </a:pPr>
            <a:r>
              <a:rPr sz="1800" b="1" i="0">
                <a:solidFill>
                  <a:srgbClr val="1B355E"/>
                </a:solidFill>
                <a:latin typeface="Abadi"/>
              </a:rPr>
              <a:t>Alternatives</a:t>
            </a:r>
          </a:p>
          <a:p>
            <a:pPr algn="l">
              <a:spcAft>
                <a:spcPts val="900"/>
              </a:spcAft>
            </a:pPr>
            <a:r>
              <a:rPr sz="1150" b="0" i="0">
                <a:solidFill>
                  <a:srgbClr val="1A1A1A"/>
                </a:solidFill>
                <a:latin typeface="Abadi"/>
              </a:rPr>
              <a:t>The 13C-octanoate breath test is accepted in the PIPO work-up; the wireless motility capsule has only small paediatric series and is no longer supplied.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COLONIC TRANSIT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RADIOPAQUE MARKERS: SLOW OR OUTLET?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Segmental colonic transit in healthy children, hours (right colon / left colon / rectosigmoid)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Arhan P, et al. Dis Colon Rectum 1981;24:625–9 · Bautista Casasnovas A, et al. JPGN 1991;13:42–5 · Wagener S, et al. 2004 (via Vandenplas 2022) · de Meij TGJ, Kneepkens CMF. Eur J Pediatr 2011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1866900"/>
            <a:ext cx="6096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badi"/>
              </a:rPr>
              <a:t>Mean segmental transit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184400"/>
            <a:ext cx="139700" cy="1397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3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Right colon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4800" y="2184400"/>
            <a:ext cx="139700" cy="1397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5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Left colon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800" y="2184400"/>
            <a:ext cx="139700" cy="1397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7300" y="21336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badi"/>
              </a:rPr>
              <a:t>Rectosigmoid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105400"/>
            <a:ext cx="6096000" cy="9525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30300" y="3864689"/>
            <a:ext cx="448733" cy="124071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000" y="3636089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7.7 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4433" y="3703558"/>
            <a:ext cx="448733" cy="1401841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90133" y="3474958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8.7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78566" y="3107372"/>
            <a:ext cx="448733" cy="1998027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4266" y="2878772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12.4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Arhan 1981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62300" y="3365182"/>
            <a:ext cx="448733" cy="1740217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48000" y="3136582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10.8 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6433" y="3139598"/>
            <a:ext cx="448733" cy="1965801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2133" y="2910998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12.2 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0566" y="2736770"/>
            <a:ext cx="448733" cy="2368629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6266" y="2508170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14.7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44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Bautista 1991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94300" y="4219178"/>
            <a:ext cx="448733" cy="886221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0000" y="3990578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5.5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8433" y="4122499"/>
            <a:ext cx="448733" cy="98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54133" y="3893899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6.1 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2566" y="3784123"/>
            <a:ext cx="448733" cy="132127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28266" y="3555523"/>
            <a:ext cx="67733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  <a:latin typeface="Abadi"/>
              </a:rPr>
              <a:t>8.2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800" y="5156200"/>
            <a:ext cx="203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Abadi"/>
              </a:rPr>
              <a:t>Wagener 2004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3000" y="1828800"/>
            <a:ext cx="41402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Two protocols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Metcalf: 20 markers on 3 days, film day 4, markers × 1.2 h. Bouchoucha: 10 a day for 6 days, film day 7, × 2.4 h, upper limit 62 h.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&gt; 50% in rectosigmoid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Suggests outlet obstruction; diffuse retention suggests slow transit.</a:t>
            </a:r>
          </a:p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1B355E"/>
                </a:solidFill>
                <a:latin typeface="Abadi"/>
              </a:rPr>
              <a:t>Disimpact first</a:t>
            </a:r>
          </a:p>
          <a:p>
            <a:pPr algn="l">
              <a:spcAft>
                <a:spcPts val="900"/>
              </a:spcAft>
            </a:pPr>
            <a:r>
              <a:rPr sz="1100" b="0" i="0">
                <a:solidFill>
                  <a:srgbClr val="1A1A1A"/>
                </a:solidFill>
                <a:latin typeface="Abadi"/>
              </a:rPr>
              <a:t>Faecal loading slows transit and fakes slow-transit constipation.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WHAT TRANSIT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355E"/>
                </a:solidFill>
                <a:latin typeface="Abadi"/>
              </a:rPr>
              <a:t>HALF OF CONSTIPATED CHILDREN HAVE NORMAL TRANSIT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Colonic transit in 169 constipated children and how it relates to outcome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 Lorijn F, et al. Arch Dis Child 2004;89:723–7 · Kilgore A, et al. JPGN 2025 · Vandenplas Y, et al. JPGN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635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≈ 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Constipated children with normal colonic transit: a history-based diagnosis is often wrong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635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&gt; 100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Total transit that predicted a poorer outcome at one year; rectal impaction predicted a better 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635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Markers for an equivocal history, and to choose who needs colonic manometry (NASPGHAN 2025)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2352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635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81200"/>
            <a:ext cx="2225675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B355E"/>
                </a:solidFill>
                <a:latin typeface="Abadi"/>
              </a:rPr>
              <a:t>Not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552700"/>
            <a:ext cx="222567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Abadi"/>
              </a:rPr>
              <a:t>No marker protocol is validated in children; colonic scintigraphy is an alternative, not routine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318000"/>
            <a:ext cx="11087100" cy="149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Normal transit with 'constipation'.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Think functional faecal incontinence without retention, or a child reporting hard stools that are not there: behavioural treatment, not escalation.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Scintigraphy.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In 101 children, the geometric centre at 24 and 48 hours was 3.9 and 5.2 in normal transit against 2.6 and 3.7 in slow transit.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THE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REFRACTORY CONSTIPATION TO SURGERY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 sequence that uses each test for the decision it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Kilgore A, et al. JPGN 2025 · Kyrklund K, et al. 2020 · Rodriguez L, et al. 2017 · Vandenplas Y, et al.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024380" cy="21844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024380" cy="3429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1 · Disimpact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10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Confirm adherence and clear the rectum before any test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260858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178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178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1338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2 · Markers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878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Transit separates slow, outlet and normal; normal → behaviour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487426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7460" y="1778000"/>
            <a:ext cx="2024380" cy="21844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7460" y="1778000"/>
            <a:ext cx="2024380" cy="3429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7906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3 · ARM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446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RAIR present or absent; spasm → spine MRI</a:t>
            </a:r>
          </a:p>
        </p:txBody>
      </p:sp>
      <p:sp>
        <p:nvSpPr>
          <p:cNvPr id="26" name="Isosceles Triangle 25"/>
          <p:cNvSpPr/>
          <p:nvPr/>
        </p:nvSpPr>
        <p:spPr>
          <a:xfrm rot="5400000">
            <a:off x="713994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3140" y="1778000"/>
            <a:ext cx="2024380" cy="21844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3140" y="1778000"/>
            <a:ext cx="2024380" cy="3429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474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4 · Biopsy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014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Absent RAIR → suction biopsy with calretinin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9405620" y="2781300"/>
            <a:ext cx="165100" cy="165100"/>
          </a:xfrm>
          <a:prstGeom prst="triangle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8820" y="1778000"/>
            <a:ext cx="2024380" cy="21844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8820" y="1778000"/>
            <a:ext cx="2024380" cy="3429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10420" y="1778000"/>
            <a:ext cx="182118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badi"/>
              </a:rPr>
              <a:t>5 · Colon study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5820" y="2235200"/>
            <a:ext cx="177038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Abadi"/>
              </a:rPr>
              <a:t>Only if surgery is planned: segment, caecostomy, stoma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" y="4191000"/>
            <a:ext cx="11087100" cy="162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For vomiting and distension.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Gastric emptying at 4 hours, then antroduodenal manometry if pseudo-obstruction is suspected; obtain imaging to exclude mechanical obstruction and malrotation first.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For every study.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Write down the state of the child (awake, sedated, anaesthetised), the drugs taken, and the question asked. Without them the tracing cannot be read later.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GUIDELINES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WHAT THE DOCUMENTS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North America (ANMS-NASPGHAN, NASPGHAN, ANMS/SNM) versus Europe (ESPGHAN, ERNICA, SNMMI/EANM)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Rodriguez 2017 · Rosen 2018 · Kilgore 2025 · Thapar 2018 · Vandenplas 2022 · Kyrklund 2020 · Carrington 2020 · Abell 2008 · Lai 2025 · Ng 2020 · Banasiuk 2021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59000"/>
                <a:gridCol w="3810000"/>
                <a:gridCol w="3771900"/>
                <a:gridCol w="1346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Question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North America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Europe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Verdict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Absent RAIR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NASPGHAN 2025: ARM to screen for RAIR (≥ 15% drop)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ERNICA: consider rectal biopsy when absent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0000" marB="20000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Colonic manometry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Only when surgery considered; ≥ 6 h; repeat next day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ESPGHAN 2022: same protocol; no paediatric norms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0000" marB="20000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ADM in suspected PIPO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ANMS-NASPGHAN 2018 consensus on indications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ESPGHAN 2018: in all; normal study rules out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0000" marB="20000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Gastric emptying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ANMS/SNM: 4 h; adult limits valid ≥ 6 years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SNMMI/EANM 2025 joint paediatric guideline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ALIGNED</a:t>
                      </a:r>
                    </a:p>
                  </a:txBody>
                  <a:tcPr marL="54864" marR="54864" marT="20000" marB="20000" anchor="ctr">
                    <a:solidFill>
                      <a:srgbClr val="1E7A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Transit markers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Adult protocols (day 5 or days 4 and 7)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Metcalf or Bouchoucha protocols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DIFFERS</a:t>
                      </a:r>
                    </a:p>
                  </a:txBody>
                  <a:tcPr marL="54864" marR="54864" marT="20000" marB="20000" anchor="ctr">
                    <a:solidFill>
                      <a:srgbClr val="D97A0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Dyssynergia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Interpret simulated defecation cautiously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London: minor finding (adult)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MATERIAL</a:t>
                      </a:r>
                    </a:p>
                  </a:txBody>
                  <a:tcPr marL="54864" marR="54864" marT="20000" marB="20000" anchor="ctr">
                    <a:solidFill>
                      <a:srgbClr val="B222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ACG-AGA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No paediatric motility guidance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—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GAP</a:t>
                      </a:r>
                    </a:p>
                  </a:txBody>
                  <a:tcPr marL="54864" marR="54864" marT="20000" marB="20000" anchor="ctr">
                    <a:solidFill>
                      <a:srgbClr val="8A939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6100" y="5562600"/>
            <a:ext cx="11087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22222"/>
                </a:solidFill>
                <a:latin typeface="Abadi"/>
              </a:rPr>
              <a:t>Material gap: adult HRAM criteria call 46% of healthy children dyssynergic; no paediatric threshold is validated.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TRAPS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WHERE MOTILITY TESTS MISLEAD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Common reasons for a wrong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Baaleman 2023 · Banasiuk 2021 · Kilgore 2025 · Thapar 2018 · Edwards 2019 · Vandenplas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6100" y="1778000"/>
            <a:ext cx="2581275" cy="2413000"/>
          </a:xfrm>
          <a:prstGeom prst="rect">
            <a:avLst/>
          </a:prstGeom>
          <a:solidFill>
            <a:srgbClr val="F6D2D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6100" y="1778000"/>
            <a:ext cx="2581275" cy="10160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“RAIR absent”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Crying child or too small a balloon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Re-test before calling it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Then biopsy, not enema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1375" y="1778000"/>
            <a:ext cx="2581275" cy="2413000"/>
          </a:xfrm>
          <a:prstGeom prst="rect">
            <a:avLst/>
          </a:prstGeom>
          <a:solidFill>
            <a:srgbClr val="FBEFBE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1375" y="1778000"/>
            <a:ext cx="2581275" cy="101600"/>
          </a:xfrm>
          <a:prstGeom prst="rect">
            <a:avLst/>
          </a:prstGeom>
          <a:solidFill>
            <a:srgbClr val="D97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917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“Dyssynergic”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9175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Adult criteria over-call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46% of healthy children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Look for spasm instead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6650" y="1778000"/>
            <a:ext cx="2581275" cy="2413000"/>
          </a:xfrm>
          <a:prstGeom prst="rect">
            <a:avLst/>
          </a:prstGeom>
          <a:solidFill>
            <a:srgbClr val="DCE6F1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6650" y="1778000"/>
            <a:ext cx="2581275" cy="1016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450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“Myopathic ADM”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4450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Dilated loops lower amplitude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Repeat after decompression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Confirm with histology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1925" y="1778000"/>
            <a:ext cx="2581275" cy="2413000"/>
          </a:xfrm>
          <a:prstGeom prst="rect">
            <a:avLst/>
          </a:prstGeom>
          <a:solidFill>
            <a:srgbClr val="CDE7C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1925" y="1778000"/>
            <a:ext cx="2581275" cy="101600"/>
          </a:xfrm>
          <a:prstGeom prst="rect">
            <a:avLst/>
          </a:prstGeom>
          <a:solidFill>
            <a:srgbClr val="1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29725" y="1993900"/>
            <a:ext cx="2225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355E"/>
                </a:solidFill>
                <a:latin typeface="Abadi"/>
              </a:rPr>
              <a:t>“Normal emptying”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9725" y="2730500"/>
            <a:ext cx="2225675" cy="1346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Stopped at 2 hours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15% turn abnormal at 4 h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badi"/>
              </a:rPr>
              <a:t>▪  Ask for the 4-hour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100" y="4445000"/>
            <a:ext cx="110871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B355E"/>
                </a:solidFill>
                <a:latin typeface="Abadi"/>
              </a:rPr>
              <a:t>The anaesthesia rule.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A colonic study done on the day of anaesthesia is abnormal half the time for the wrong reason: repeat it the next day before a surgeon acts on it.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B22222"/>
                </a:solidFill>
                <a:latin typeface="Abadi"/>
              </a:rPr>
              <a:t>The impaction rule.  </a:t>
            </a:r>
            <a:r>
              <a:rPr sz="1300" b="0" i="0">
                <a:solidFill>
                  <a:srgbClr val="1A1A1A"/>
                </a:solidFill>
                <a:latin typeface="Abadi"/>
              </a:rPr>
              <a:t>Transit and colonic studies in a loaded colon measure the faeces, not the colon.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PEARLS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EIGHT THINGS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The numbers worth carrying into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de Lorijn 2006 · Baaleman 2023 · Banasiuk 2021 · Wessel 2016 · van den Berg 2006 · Thapar 2018 · Ng 2020 · Edwards 2019 · Arhan 1981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1828800"/>
            <a:ext cx="11087100" cy="392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RAIR = IAS pressure drop of 15% or more; present at birth, preterm included.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Hirschsprung: suction biopsy 93/98%, ARM 91/94%, contrast enema 70/83% sensitivity/specificity.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Absent RAIR → 2–3 suction biopsies ≥ 2 cm above the dentate line, calretinin stain.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Under anaesthesia, resting pressure falls (70 → 46 mmHg) and a quarter show a RAIR missed awake.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Adult dyssynergia criteria label about half of healthy children: do not treat a label.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Colonic manometry only before surgery; HAPCs after bisacodyl in 89%; repeat the day after anaesthesia.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Normal ADM rules out pseudo-obstruction; an MMC predicts feed tolerance; myopathy predicts worse.</a:t>
            </a:r>
          </a:p>
          <a:p>
            <a:pPr algn="l">
              <a:spcAft>
                <a:spcPts val="700"/>
              </a:spcAft>
            </a:pPr>
            <a:r>
              <a:rPr sz="1550" b="0" i="0">
                <a:solidFill>
                  <a:srgbClr val="1A1A1A"/>
                </a:solidFill>
                <a:latin typeface="Abadi"/>
              </a:rPr>
              <a:t>▪  Gastric emptying: &gt; 10% retained at 4 h is delayed; 2-hour studies miss about half.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solidFill>
            <a:srgbClr val="8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6100" y="292100"/>
            <a:ext cx="635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badi"/>
              </a:rPr>
              <a:t>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4300" y="292100"/>
            <a:ext cx="10236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E5A88"/>
                </a:solidFill>
                <a:latin typeface="Abadi"/>
              </a:rPr>
              <a:t>SYNTHESIS — SCENARIO TO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723900"/>
            <a:ext cx="110871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355E"/>
                </a:solidFill>
                <a:latin typeface="Abadi"/>
              </a:rPr>
              <a:t>FROM SCENARIO TO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308100"/>
            <a:ext cx="110871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Abadi"/>
              </a:rPr>
              <a:t>Applying motility logic in clinic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546100" y="1600200"/>
            <a:ext cx="1108710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6100" y="1651000"/>
            <a:ext cx="11087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6100" y="5892800"/>
            <a:ext cx="11087100" cy="9525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34700" y="5969000"/>
            <a:ext cx="698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1B355E"/>
                </a:solidFill>
                <a:latin typeface="Abad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" y="5969000"/>
            <a:ext cx="10287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Abadi"/>
              </a:rPr>
              <a:t>Kyrklund 2020 · Kilgore 2025 · Thapar 2018 · Abell 2008 · Baaleman 2023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6100" y="1803400"/>
          <a:ext cx="11087100" cy="381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191000"/>
                <a:gridCol w="2159000"/>
                <a:gridCol w="4737100"/>
              </a:tblGrid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Scenario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Think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badi"/>
                        </a:rPr>
                        <a:t>Do now</a:t>
                      </a:r>
                    </a:p>
                  </a:txBody>
                  <a:tcPr marL="54864" marR="54864" marT="20000" marB="20000" anchor="ctr">
                    <a:solidFill>
                      <a:srgbClr val="1B355E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3-year-old, constipated since birth, absent RAIR on awake ARM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Hirschsprung or artefact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Suction biopsy with calretinin; re-test if it was a crying study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12-year-old, refractory constipation, dyssynergia on HRAM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Over-call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Markers, behavioural and toilet training; spine MRI only if spasm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9-year-old, caecostomy planned, no HAPCs on day-of-anaesthesia study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Anaesthesia effect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Repeat the next day before choosing the operation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Toddler with distension, dilated loops, PN-dependent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PIPO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Exclude malrotation; ADM; full-thickness biopsy; IF team</a:t>
                      </a:r>
                    </a:p>
                  </a:txBody>
                  <a:tcPr marL="54864" marR="54864" marT="20000" marB="20000" anchor="ctr">
                    <a:solidFill>
                      <a:srgbClr val="F2F2F2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Abadi"/>
                        </a:rPr>
                        <a:t>Teenager with nausea, 2-hour emptying normal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Incomplete study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badi"/>
                        </a:rPr>
                        <a:t>Ask for the 4-hour image before calling it normal</a:t>
                      </a:r>
                    </a:p>
                  </a:txBody>
                  <a:tcPr marL="54864" marR="54864" marT="20000" marB="2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1460500"/>
            <a:ext cx="10541000" cy="20955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badi"/>
              </a:rPr>
              <a:t>Anorectal, Colonic and Antroduodenal Manometry in Children: RAIR, Biopsy, Pseudo-Obstruction, Gastric Emptying and Transit Markers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759200"/>
            <a:ext cx="1828800" cy="1905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6100" y="3924300"/>
            <a:ext cx="110871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badi"/>
              </a:rPr>
              <a:t>Andrey Ermak, 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