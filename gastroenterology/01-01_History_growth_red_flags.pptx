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03120"/>
            <a:ext cx="11091672" cy="135331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badi"/>
              </a:rPr>
              <a:t>History, Growth and Red Flags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4648" y="3703320"/>
            <a:ext cx="1828800" cy="18288"/>
          </a:xfrm>
          <a:prstGeom prst="rect">
            <a:avLst/>
          </a:prstGeom>
          <a:solidFill>
            <a:srgbClr val="F2C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995928"/>
            <a:ext cx="1109167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498848"/>
            <a:ext cx="11091672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CFD8E6"/>
                </a:solidFill>
                <a:latin typeface="Abadi"/>
              </a:rPr>
              <a:t>Rome IV 2016 (Hyams, Benninga) · Rome V 2026 · CDC/MMWR 2010 WHO–CDC charts · ECCO–ESPGHAN 2021 · ESPGHAN coeliac 2020 · AND/ASPEN malnutrition
Alarm features · calprotectin triage · height velocity · target height · puberty · WHO vs CDC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THE QUESTION OF THE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THE HISTORY IS THE FIRST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Which child with GI symptoms needs investigation — and which needs a confident positive diagnosis?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Hyams JS, et al. Gastroenterology 2016;150:1456–68 · Koppen IJN, et al. Expert Rev Gastroenterol Hepatol 2017;11:193–201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567178" cy="288036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567178" cy="128016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066543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Positive diagnosis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2560320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Rome IV: 'after appropriate medical evaluation' replaced 'no evidence of organic disease'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Selective or no testing is allowed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 functional disorder can coexist with IBD or coeliac disease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138" y="1773936"/>
            <a:ext cx="2567178" cy="288036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0138" y="1773936"/>
            <a:ext cx="2567178" cy="12801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9594" y="2066543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Alarm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9594" y="2560320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Raise the prior of organic disease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Do not diagnose it on their own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Best used to choose the first test, not to skip 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1773936"/>
            <a:ext cx="2567178" cy="288036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1773936"/>
            <a:ext cx="2567178" cy="12801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1092" y="2066543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Growth and puberty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1092" y="2560320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Height velocity is a vital sign of chronic inflammation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Puberty stalls before the gut speaks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One point on a chart means little; the slope means a lot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3134" y="1773936"/>
            <a:ext cx="2567178" cy="288036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3134" y="1773936"/>
            <a:ext cx="2567178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92590" y="2066543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Stool, diet, family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2590" y="2560320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Stool form scales, nocturnal symptoms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Diet history and intake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First-degree relatives with IBD or coeliac disease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89204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The history decides the pre-test probability; the growth chart is the one objective sign every child brings to clinic.</a:t>
            </a:r>
          </a:p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Expertise in paediatric GI begins with deciding what not to test — and noticing the slope nobody plotted.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ROME 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TWELVE ALARM FEATURES, FOUR IDEAS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Potential alarm features in children with chronic abdominal pain (Rome IV, child/adolescent)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Hyams JS, et al. Gastroenterology 2016;150:1456–68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91671" cy="3154679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16667"/>
                <a:gridCol w="5591669"/>
                <a:gridCol w="3483335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Idea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Rome IV alarm features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What it points towards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546811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Inherited risk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Family history of IBD, coeliac disease or peptic ulcer disease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IBD, coeliac disease, H. pylori disease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6811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Inflammation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Arthritis · perirectal disease · unexplained fever · nocturnal diarrhoea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Crohn's disease above all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546811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Structure and site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Persistent right upper or right lower quadrant pain · dysphagia or odynophagia · persistent vomiting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Biliary, ileal, oesophageal or obstructive disease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6811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Blood loss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Gastrointestinal blood loss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Mucosal disease, polyps, ulcer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546811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Growth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Involuntary weight loss · deceleration of linear growth · delayed puberty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Chronic inflammation, malabsorption, coeliac disease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12064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Three of the twelve are growth items — weight, linear growth and puberty. They are the only ones you can measure rather than ask about.</a:t>
            </a:r>
          </a:p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Rome IV also names faecal calprotectin as superior to C-reactive protein for this triage.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THE INFANT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RED FLAGS BEFORE THE AGE OF 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Rome IV neonate/toddler and the 2018 NASPGHAN/ESPGHAN reflux guideline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Benninga MA, et al. Gastroenterology 2016;150:1443–55 · Rosen R, et al. JPGN 2018;66:516–54 · Mohinuddin S, et al. Arch Dis Child 2015;100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91671" cy="35661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575001"/>
                <a:gridCol w="3758335"/>
                <a:gridCol w="3758335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Sign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Think of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Act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52425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Bilious vomiting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Malrotation with volvulus until proven otherwise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Same-day upper GI contrast; surgical review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2425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Regurgitation with failure to thrive, haematemesis, food refusal or apnoea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Not infant regurgitation: GERD, allergy, anatomy, metabolic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Evaluate; Rome IV excludes these from the functional diagnosis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52425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Vomiting starting after 6 months or persisting beyond 12–18 months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Organic cause rather than physiological reflux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Targeted work-up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2425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Rapidly increasing head circumference, lethargy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Raised intracranial pressure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Neurological assessment, imaging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  <a:tr h="52425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Meconium after 24 hours, with other features of obstruction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Hirschsprung disease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Rectal suction biopsy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2425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Cyclic vomiting starting before age 2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Metabolic, neurological or anatomical disease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Metabolic, neurological and anatomical testing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48640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Among transferred newborns with bilious vomiting, 46% had a surgical diagnosis and 14.1% a time-critical 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ALARM FEATURES ARE NOT A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What the presence of an alarm feature actually changes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Gijsbers CFM, et al. JPGN 2014;58:779–85 · Zeevenhooven J, et al. J Pediatr 2020;219:76–82 · Llanos-Chea A, Saps M. Gastroenterol Hepatol (N Y) 2019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4884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148840"/>
            <a:ext cx="2567178" cy="12801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4688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1B355E"/>
                </a:solidFill>
                <a:latin typeface="Abadi"/>
              </a:rPr>
              <a:t>56 vs 61%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319272"/>
            <a:ext cx="229285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Alarm symptoms in organic vs functional abdominal pain, 200 children aged 4–16 (Gijsbers)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138" y="214884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0138" y="2148840"/>
            <a:ext cx="2567178" cy="128016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7298" y="24688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300" b="1" i="0">
                <a:solidFill>
                  <a:srgbClr val="1B355E"/>
                </a:solidFill>
                <a:latin typeface="Abadi"/>
              </a:rPr>
              <a:t>12%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7298" y="3319272"/>
            <a:ext cx="229285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Organic disease among 853 children with abdominal pain &gt; 2 months (Zeevenhooven)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214884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2148840"/>
            <a:ext cx="2567178" cy="128016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8796" y="24688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300" b="1" i="0">
                <a:solidFill>
                  <a:srgbClr val="1B355E"/>
                </a:solidFill>
                <a:latin typeface="Abadi"/>
              </a:rPr>
              <a:t>92%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319272"/>
            <a:ext cx="229285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Sensitivity of a limited test strategy guided by alarm symptoms (Zeevenhooven)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3134" y="214884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3134" y="2148840"/>
            <a:ext cx="2567178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0294" y="24688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300" b="1" i="0">
                <a:solidFill>
                  <a:srgbClr val="1B355E"/>
                </a:solidFill>
                <a:latin typeface="Abadi"/>
              </a:rPr>
              <a:t>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0294" y="3319272"/>
            <a:ext cx="229285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Diagnostic yield of tests ordered at the first visit in a tertiary clinic (Llanos-Chea and Saps)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38912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In Zeevenhooven, adding haemoglobin and C-reactive protein to the limited panel did not improve discrimination.</a:t>
            </a:r>
          </a:p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Alarm features earn a targeted test, not a battery: coeliac serology, calprotectin, and stool for Giardia if there is diarrhoea.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CALPROTECTIN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THE CUT-OFF DECIDES WHAT CALPROTECTIN CAN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Faecal calprotectin for organic disease in 853 children with chronic abdominal pain,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Zeevenhooven J, et al. J Pediatr 2020;219:76–82 · van Rheenen PF, et al. BMJ 2010;341:c3369 · Holtman GA, et al. Pediatrics 2016;137:e20152126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57044" y="2676906"/>
            <a:ext cx="731520" cy="147447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28444" y="2448306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75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5996" y="2440990"/>
            <a:ext cx="731520" cy="1710385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7396" y="221239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87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215384"/>
            <a:ext cx="307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&gt; 50 µg/g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35524" y="3207715"/>
            <a:ext cx="731520" cy="94366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06924" y="2979115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48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4476" y="2205075"/>
            <a:ext cx="731520" cy="19463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65876" y="1976475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99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4215384"/>
            <a:ext cx="307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&gt; 250 µg/g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4004" y="3404311"/>
            <a:ext cx="731520" cy="747064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5404" y="3175711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38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72956" y="2185416"/>
            <a:ext cx="731520" cy="196596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44356" y="1956816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100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0000" y="4215384"/>
            <a:ext cx="307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&gt; 1000 µg/g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63040" y="4151376"/>
            <a:ext cx="9235440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65592" y="1819656"/>
            <a:ext cx="201168" cy="146304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21624" y="1783080"/>
            <a:ext cx="12664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>Sensitivity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32036" y="1819656"/>
            <a:ext cx="201168" cy="146304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88067" y="1783080"/>
            <a:ext cx="12664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>Specificity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1783080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badi"/>
              </a:rPr>
              <a:t>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89204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In children with suspected IBD, calprotectin sensitivity is 0.92–0.99 but specificity only 0.65–0.76; screening first still left 65 of every 100 needing endoscopy.</a:t>
            </a:r>
          </a:p>
          <a:p>
            <a:pPr algn="l">
              <a:spcAft>
                <a:spcPts val="1250"/>
              </a:spcAft>
            </a:pPr>
            <a:r>
              <a:rPr sz="1200" b="1" i="1">
                <a:solidFill>
                  <a:srgbClr val="1A1A1A"/>
                </a:solidFill>
                <a:latin typeface="Abadi"/>
              </a:rPr>
              <a:t>Low calprotectin rules IBD out; a raised one in the grey zone needs context, not a scope by reflex.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GROWTH IN CROHN'S DISEASE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HEIGHT VELOCITY FALLS BEFORE THE GUT TALKS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Linear growth in children and adolescents before the diagnosis of Crohn's disease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Kanof ME, et al. Gastroenterology 1988;95:1523–7 · Sawczenko A, Sandhu BK. Arch Dis Child 2003;88:995–1000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4884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148840"/>
            <a:ext cx="2567178" cy="12801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4688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300" b="1" i="0">
                <a:solidFill>
                  <a:srgbClr val="1B355E"/>
                </a:solidFill>
                <a:latin typeface="Abadi"/>
              </a:rPr>
              <a:t>88%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319272"/>
            <a:ext cx="229285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Height velocity already reduced before the diagnosis of Crohn's disease (Kanof)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138" y="214884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0138" y="2148840"/>
            <a:ext cx="2567178" cy="128016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7298" y="24688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300" b="1" i="0">
                <a:solidFill>
                  <a:srgbClr val="1B355E"/>
                </a:solidFill>
                <a:latin typeface="Abadi"/>
              </a:rPr>
              <a:t>42%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7298" y="3319272"/>
            <a:ext cx="229285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Height velocity fell before any intestinal symptom (Kanof)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214884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2148840"/>
            <a:ext cx="2567178" cy="128016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8796" y="24688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300" b="1" i="0">
                <a:solidFill>
                  <a:srgbClr val="1B355E"/>
                </a:solidFill>
                <a:latin typeface="Abadi"/>
              </a:rPr>
              <a:t>24%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319272"/>
            <a:ext cx="229285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Height velocity under 4 cm a year before diagnosis (Kanof)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3134" y="214884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3134" y="2148840"/>
            <a:ext cx="2567178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0294" y="24688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300" b="1" i="0">
                <a:solidFill>
                  <a:srgbClr val="1B355E"/>
                </a:solidFill>
                <a:latin typeface="Abadi"/>
              </a:rPr>
              <a:t>5 months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0294" y="3319272"/>
            <a:ext cx="229285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Median diagnostic delay among 739 new IBD cases in Britain and Ireland; one fifth waited over a year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38912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Only about a quarter of children with Crohn's disease had the classic triad; nearly half had no diarrhoea. Short stature was seen in Crohn's, not colitis.</a:t>
            </a:r>
          </a:p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A child whose height velocity has slowed without a reason has inflammatory bowel disease until shown otherwise.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VELOCITY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NORMAL GROWTH, YEAR BY YEAR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Expected height gain, cm per year (range midpoint shown; range printed above each bar)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Nwosu BU, Lee MM. Am Fam Physician 2008;78:597–604 · Kanof ME, et al. Gastroenterology 1988;95:1523–7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7780" y="2347976"/>
            <a:ext cx="822960" cy="2032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9180" y="2119376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23–27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443984"/>
            <a:ext cx="1752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First year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40380" y="3404616"/>
            <a:ext cx="822960" cy="97536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11780" y="3176016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10–14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75560" y="4443984"/>
            <a:ext cx="1752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Second year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92980" y="3851656"/>
            <a:ext cx="822960" cy="52832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64380" y="3623056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6–7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8160" y="4443984"/>
            <a:ext cx="1752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Fourth year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45580" y="3953256"/>
            <a:ext cx="822960" cy="42672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16980" y="3724656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5–5.5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443984"/>
            <a:ext cx="1752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Prepubertal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98180" y="3567176"/>
            <a:ext cx="822960" cy="8128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69580" y="3338576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8–12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3360" y="4443984"/>
            <a:ext cx="1752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Pubertal spurt, girls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0780" y="3404616"/>
            <a:ext cx="822960" cy="97536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2180" y="3176016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10–14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85960" y="4443984"/>
            <a:ext cx="1752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Pubertal spurt, boys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4379976"/>
            <a:ext cx="10515600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1783080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badi"/>
              </a:rPr>
              <a:t>cm per year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89204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Velocity outside the 25th–75th percentile may be abnormal; judge it over 6–12 months, because measurement error swamps shorter intervals.</a:t>
            </a:r>
          </a:p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A prepubertal child growing under 4 cm a year is not growing normally — whatever the centile says today.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CHARTS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WHO UNDER TWO, CDC AFTER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Which chart you plot on is a clinical decision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Grummer-Strawn LM, et al. MMWR Recomm Rep 2010;59(RR-9):1–15 · RCPCH UK-WHO charts · Hales CM, et al. Vital Health Stat 2(197), 2022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91670" cy="3108959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925000"/>
                <a:gridCol w="3300001"/>
                <a:gridCol w="3116668"/>
                <a:gridCol w="2750001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WHO 2006 standards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CDC 2000 reference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UK-WHO (RCPCH)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537667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What it describes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How children should grow under optimal conditions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How US children did grow at one time and place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UK90 at birth, WHO 2 weeks–4 years, UK90 to 20 years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</a:tr>
              <a:tr h="537667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Sample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All breastfed to 12 months; predominantly for ≥ 4 months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About 50% ever breastfed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Mixed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</a:tr>
              <a:tr h="537667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US use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All children under 24 months, regardless of feeding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2 to 19 years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</a:tr>
              <a:tr h="537667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Cut-offs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2.3rd and 97.7th percentiles (± 2 SD)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5th and 95th percentiles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0.4th and 99.6th centiles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</a:tr>
              <a:tr h="537667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Special additions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Extended BMI charts 2022: to 99.99th percentile, BMI 60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Preterm section from UK90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07492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Correct for prematurity until at least 24 months; many use 36 months when birth weight was under 1000 g.</a:t>
            </a:r>
          </a:p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Switching chart at age two can create an apparent drop that is not a change in the child.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CHART EFFECT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THE CHART CHANGES THE LABEL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Prevalence of each label on CDC vs WHO curves in US infants (MMWR 2010)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Grummer-Strawn LM, et al. MMWR Recomm Rep 2010;59(RR-9):1–15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4884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148840"/>
            <a:ext cx="2567178" cy="12801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4688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1B355E"/>
                </a:solidFill>
                <a:latin typeface="Abadi"/>
              </a:rPr>
              <a:t>7–11% → &lt;3%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319272"/>
            <a:ext cx="229285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Low weight-for-age at 6–23 months: CDC vs WHO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138" y="214884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0138" y="2148840"/>
            <a:ext cx="2567178" cy="128016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7298" y="24688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1B355E"/>
                </a:solidFill>
                <a:latin typeface="Abadi"/>
              </a:rPr>
              <a:t>9–13% → 5–9%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7298" y="3319272"/>
            <a:ext cx="229285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High weight-for-length under 12 months: CDC vs WHO; gap gone by 18–23 months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214884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2148840"/>
            <a:ext cx="2567178" cy="128016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8796" y="24688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300" b="1" i="0">
                <a:solidFill>
                  <a:srgbClr val="1B355E"/>
                </a:solidFill>
                <a:latin typeface="Abadi"/>
              </a:rPr>
              <a:t>Similar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319272"/>
            <a:ext cx="229285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Short stature prevalence: the two sets of curves agree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3134" y="214884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3134" y="2148840"/>
            <a:ext cx="2567178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0294" y="24688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1B355E"/>
                </a:solidFill>
                <a:latin typeface="Abadi"/>
              </a:rPr>
              <a:t>3–18 months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0294" y="3319272"/>
            <a:ext cx="229285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Slower growth of breastfed infants in this window is normal on WHO curves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38912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On CDC curves, healthy breastfed infants seem to 'falter' after 3 months; WHO curves were built from exactly those infants.</a:t>
            </a:r>
          </a:p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Under two, an underweight label on the WHO chart is more likely to mean something.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CROSSING CENTILES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CROSSING LINES IS NORMAL IN INFANCY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Children crossing two major percentile lines, %, 10,844 children on CDC 2000 charts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Mei Z, Grummer-Strawn LM, et al. Pediatrics 2004 · Nwosu BU, Lee MM. Am Fam Physician 2008;78:597–604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03120"/>
            <a:ext cx="500176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Abadi"/>
              </a:rPr>
              <a:t>Birth–6 months · weight-for-height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2125979"/>
            <a:ext cx="4049485" cy="19202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10205" y="2103120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B355E"/>
                </a:solidFill>
                <a:latin typeface="Abadi"/>
              </a:rPr>
              <a:t>62%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06039"/>
            <a:ext cx="500176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Abadi"/>
              </a:rPr>
              <a:t>Birth–6 months · weight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2628899"/>
            <a:ext cx="2547257" cy="19202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7977" y="2606039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B355E"/>
                </a:solidFill>
                <a:latin typeface="Abadi"/>
              </a:rPr>
              <a:t>39%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108960"/>
            <a:ext cx="500176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Abadi"/>
              </a:rPr>
              <a:t>Birth–6 months · height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3131820"/>
            <a:ext cx="2090057" cy="192024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50777" y="3108960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B355E"/>
                </a:solidFill>
                <a:latin typeface="Abadi"/>
              </a:rPr>
              <a:t>32%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611880"/>
            <a:ext cx="500176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Abadi"/>
              </a:rPr>
              <a:t>6–24 months · height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3634740"/>
            <a:ext cx="979714" cy="19202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40434" y="3611880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B355E"/>
                </a:solidFill>
                <a:latin typeface="Abadi"/>
              </a:rPr>
              <a:t>13–15%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0" y="2011679"/>
            <a:ext cx="9144" cy="2057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29768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Infants re-centre towards their genetic channel in the first two years; crossing was least common between 24 and 60 months.</a:t>
            </a:r>
          </a:p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Crossing centiles after the second birthday is not physiology — it warrants evaluation.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TARGET HEIGHT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THE PARENTS ARE THE REFERENCE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Mid-parental height and evidence-based referral rules for short stature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Tanner JM, et al. Arch Dis Child 1970;45:755–62 · Grote FK, et al. Arch Dis Child 2008;93:212–7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567178" cy="288036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567178" cy="128016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066543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Mid-parental height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2560320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Boys: (father + mother + 13 cm) / 2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Girls: (father + mother − 13 cm) / 2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Target range ± 8.5 cm, about ± 2 SD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138" y="1773936"/>
            <a:ext cx="2567178" cy="288036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0138" y="1773936"/>
            <a:ext cx="2567178" cy="12801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9594" y="2066543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Refer at 3–10 years if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9594" y="2560320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Height SDS below −2.5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Height SDS below −2.1 and more than 2 SD below target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Fall of more than 1 SDS with height below −2.3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1773936"/>
            <a:ext cx="2567178" cy="288036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1773936"/>
            <a:ext cx="2567178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1092" y="2066543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Under 3 years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1092" y="2560320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Height SDS below −3 once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Or length SDS below −2.5 twice within a year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3134" y="1773936"/>
            <a:ext cx="2567178" cy="288036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3134" y="1773936"/>
            <a:ext cx="2567178" cy="12801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92590" y="2066543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Performance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2590" y="2560320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Sensitivity 85.7% for Turner syndrome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76.5% for mixed pathology, including coeliac disease and GH deficiency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False positives only 1.5–2%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89204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Distance to target height was the most important single criterion in Grote's analysis.</a:t>
            </a:r>
          </a:p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A child on the 25th centile with two tall parents may be the shortest child in the clinic relative to their own potential.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COELIAC DISEASE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SHORT STATURE CAN BE THE ONLY 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Coeliac disease in children whose presenting problem is growth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Singh AD, et al. J Gastroenterol Hepatol 2021;36:44–54 · Singh P, et al. 2015 (relatives) · Saari A, et al. JAMA Pediatr 2015 · Husby S, et al. JPGN 2020;70:141–56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4884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148840"/>
            <a:ext cx="2567178" cy="12801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4688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300" b="1" i="0">
                <a:solidFill>
                  <a:srgbClr val="1B355E"/>
                </a:solidFill>
                <a:latin typeface="Abadi"/>
              </a:rPr>
              <a:t>7.4%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319272"/>
            <a:ext cx="229285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Biopsy-confirmed coeliac disease in all-cause short stature (17 studies, 3,759 patients) — about 1 in 14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138" y="214884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0138" y="2148840"/>
            <a:ext cx="2567178" cy="128016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7298" y="24688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300" b="1" i="0">
                <a:solidFill>
                  <a:srgbClr val="1B355E"/>
                </a:solidFill>
                <a:latin typeface="Abadi"/>
              </a:rPr>
              <a:t>11.6%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7298" y="3319272"/>
            <a:ext cx="229285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In idiopathic short stature — about 1 in 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214884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2148840"/>
            <a:ext cx="2567178" cy="128016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8796" y="24688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300" b="1" i="0">
                <a:solidFill>
                  <a:srgbClr val="1B355E"/>
                </a:solidFill>
                <a:latin typeface="Abadi"/>
              </a:rPr>
              <a:t>7.5%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319272"/>
            <a:ext cx="229285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Pooled prevalence in first-degree relatives; siblings 8.9%, parents 3.0%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3134" y="214884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3134" y="2148840"/>
            <a:ext cx="2567178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0294" y="24688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300" b="1" i="0">
                <a:solidFill>
                  <a:srgbClr val="1B355E"/>
                </a:solidFill>
                <a:latin typeface="Abadi"/>
              </a:rPr>
              <a:t>2 years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0294" y="3319272"/>
            <a:ext cx="229285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Girls were already shorter than reference 2 years before diagnosis; boys 1 year (Saari)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38912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ESPGHAN 2020 lists stunted growth, short stature, delayed puberty and amenorrhoea as indications for tTG-IgA testing.</a:t>
            </a:r>
          </a:p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Every short or slowly growing child gets coeliac serology with total IgA, even without a single GI symptom.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PUBERTY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PUBERTY IS A VITAL 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Inflammation acts on the growth and gonadal axes, not only through poor intake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Palmert MR, Dunkel L. NEJM 2012;366:443–53 · Ballinger AB, et al. Gut 2000;46:695–700 · Pediatr Res 2003;53:205–10 · Campisi SC, et al. JCEM 2020;105:2846–56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567178" cy="288036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567178" cy="128016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066543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Definition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2560320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No breast development by 13 years in girls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No testicular enlargement by 14 years in boys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Testis volume above 3 mL means central puberty has begun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138" y="1773936"/>
            <a:ext cx="2567178" cy="288036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0138" y="1773936"/>
            <a:ext cx="2567178" cy="12801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9594" y="2066543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Mechanism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9594" y="2560320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Colitic rats grew less than pair-fed controls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30–40% of the deficit was independent of undernutrition, via lower IGF-1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Cytokines suppress the hypothalamic–pituitary–gonadal axis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1773936"/>
            <a:ext cx="2567178" cy="288036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1773936"/>
            <a:ext cx="2567178" cy="12801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1092" y="2066543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In IBD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1092" y="2560320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Puberty can be delayed despite normal nutrition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Low androgens with normal or high gonadotrophins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Delayed bone age keeps a growth window open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3134" y="1773936"/>
            <a:ext cx="2567178" cy="288036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3134" y="1773936"/>
            <a:ext cx="2567178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92590" y="2066543"/>
            <a:ext cx="212826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Asking about 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2590" y="2560320"/>
            <a:ext cx="2128266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Self-assessed Tanner stage agrees moderately to substantially with clinicians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Best at stages 1 and 5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Use pictures; examine when it changes management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89204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Feeding alone will not restart puberty if inflammation is uncontrolled: the axis is suppressed directly.</a:t>
            </a:r>
          </a:p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Ask every adolescent about puberty at every visit; a stalled Tanner stage is as informative as a falling haemoglobin.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FINAL HEIGHT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WHAT IS LOST MAY STAY LOST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Adult height after childhood-onset Crohn's disease, and how guidelines respond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Sawczenko A, et al. Pediatrics 2006;118:124–9 · Lee JJ, et al. IBD 2010;16:1669–77 · Alemzadeh N, et al. Gut 2002;51:26–9 · van Rheenen PF, et al. JCC 2021;15:171–94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4884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148840"/>
            <a:ext cx="2567178" cy="12801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4688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300" b="1" i="0">
                <a:solidFill>
                  <a:srgbClr val="1B355E"/>
                </a:solidFill>
                <a:latin typeface="Abadi"/>
              </a:rPr>
              <a:t>−2.4 cm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319272"/>
            <a:ext cx="229285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Mean final height below target height in childhood-onset Crohn's disease (Sawczenko)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138" y="214884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0138" y="2148840"/>
            <a:ext cx="2567178" cy="128016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7298" y="24688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300" b="1" i="0">
                <a:solidFill>
                  <a:srgbClr val="1B355E"/>
                </a:solidFill>
                <a:latin typeface="Abadi"/>
              </a:rPr>
              <a:t>≈ 1 in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7298" y="3319272"/>
            <a:ext cx="229285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Significantly reduced adult height (Sawczenko; Heuschkel 2008 guideline)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214884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2148840"/>
            <a:ext cx="2567178" cy="128016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8796" y="24688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1B355E"/>
                </a:solidFill>
                <a:latin typeface="Abadi"/>
              </a:rPr>
              <a:t>p = 0.005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319272"/>
            <a:ext cx="229285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Corticosteroids during puberty associated with shorter adult height (Alemzadeh, 135 adults)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3134" y="2148840"/>
            <a:ext cx="2567178" cy="190195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3134" y="2148840"/>
            <a:ext cx="2567178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0294" y="2468880"/>
            <a:ext cx="229285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300" b="1" i="0">
                <a:solidFill>
                  <a:srgbClr val="1B355E"/>
                </a:solidFill>
                <a:latin typeface="Abadi"/>
              </a:rPr>
              <a:t>Anti-TNF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0294" y="3319272"/>
            <a:ext cx="229285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badi"/>
              </a:rPr>
              <a:t>Severe growth retardation favours up-front anti-TNF plus immunomodulator (ECCO–ESPGHAN 2021)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389120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In Lee 2010, 22% of 295 children with IBD had height z below −1.64 at some point; growth-impaired patients were 88% Crohn's, 12% colitis.</a:t>
            </a:r>
          </a:p>
          <a:p>
            <a:pPr algn="l">
              <a:spcAft>
                <a:spcPts val="1250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Growth is a treatment target: steroid-sparing therapy and exclusive enteral nutrition protect the growth window.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MALNUTRITION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GRADE IT, DO NOT JUST NAME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Academy of Nutrition and Dietetics / ASPEN paediatric malnutrition indicators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Becker P, et al. consensus (AND/ASPEN), as tabulated in Bouma S. Nutr Clin Pract 2017;32:52–67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91669" cy="31546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216668"/>
                <a:gridCol w="2291667"/>
                <a:gridCol w="2291667"/>
                <a:gridCol w="2291667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Indicator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Mild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Moderate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Severe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45567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Weight-for-height, BMI or MUAC z-score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−1 to −1.9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−2 to −2.9</a:t>
                      </a:r>
                    </a:p>
                  </a:txBody>
                  <a:tcPr marL="73152" marR="73152" marT="27432" marB="27432" anchor="ctr">
                    <a:solidFill>
                      <a:srgbClr val="F6D2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−3 or lower</a:t>
                      </a:r>
                    </a:p>
                  </a:txBody>
                  <a:tcPr marL="73152" marR="73152" marT="27432" marB="27432" anchor="ctr">
                    <a:solidFill>
                      <a:srgbClr val="F6D2D2"/>
                    </a:solidFill>
                  </a:tcPr>
                </a:tc>
              </a:tr>
              <a:tr h="45567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Length/height-for-age z-score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6D2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−3 or lower</a:t>
                      </a:r>
                    </a:p>
                  </a:txBody>
                  <a:tcPr marL="73152" marR="73152" marT="27432" marB="27432" anchor="ctr">
                    <a:solidFill>
                      <a:srgbClr val="F6D2D2"/>
                    </a:solidFill>
                  </a:tcPr>
                </a:tc>
              </a:tr>
              <a:tr h="45567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Weight-gain velocity under 2 years, % of expected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&lt; 75%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&lt; 50%</a:t>
                      </a:r>
                    </a:p>
                  </a:txBody>
                  <a:tcPr marL="73152" marR="73152" marT="27432" marB="27432" anchor="ctr">
                    <a:solidFill>
                      <a:srgbClr val="F6D2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&lt; 25%</a:t>
                      </a:r>
                    </a:p>
                  </a:txBody>
                  <a:tcPr marL="73152" marR="73152" marT="27432" marB="27432" anchor="ctr">
                    <a:solidFill>
                      <a:srgbClr val="F6D2D2"/>
                    </a:solidFill>
                  </a:tcPr>
                </a:tc>
              </a:tr>
              <a:tr h="45567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Weight loss at 2–20 years, % of usual weight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5%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7.5%</a:t>
                      </a:r>
                    </a:p>
                  </a:txBody>
                  <a:tcPr marL="73152" marR="73152" marT="27432" marB="27432" anchor="ctr">
                    <a:solidFill>
                      <a:srgbClr val="F6D2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10%</a:t>
                      </a:r>
                    </a:p>
                  </a:txBody>
                  <a:tcPr marL="73152" marR="73152" marT="27432" marB="27432" anchor="ctr">
                    <a:solidFill>
                      <a:srgbClr val="F6D2D2"/>
                    </a:solidFill>
                  </a:tcPr>
                </a:tc>
              </a:tr>
              <a:tr h="45567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Decline in weight-for-length/height z-score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1 SD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2 SD</a:t>
                      </a:r>
                    </a:p>
                  </a:txBody>
                  <a:tcPr marL="73152" marR="73152" marT="27432" marB="27432" anchor="ctr">
                    <a:solidFill>
                      <a:srgbClr val="F6D2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3 SD</a:t>
                      </a:r>
                    </a:p>
                  </a:txBody>
                  <a:tcPr marL="73152" marR="73152" marT="27432" marB="27432" anchor="ctr">
                    <a:solidFill>
                      <a:srgbClr val="F6D2D2"/>
                    </a:solidFill>
                  </a:tcPr>
                </a:tc>
              </a:tr>
              <a:tr h="45567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Intake, % of estimated needs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51–75%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26–50%</a:t>
                      </a:r>
                    </a:p>
                  </a:txBody>
                  <a:tcPr marL="73152" marR="73152" marT="27432" marB="27432" anchor="ctr">
                    <a:solidFill>
                      <a:srgbClr val="F6D2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25% or less</a:t>
                      </a:r>
                    </a:p>
                  </a:txBody>
                  <a:tcPr marL="73152" marR="73152" marT="27432" marB="27432" anchor="ctr">
                    <a:solidFill>
                      <a:srgbClr val="F6D2D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138928"/>
            <a:ext cx="110916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5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A fall of one z-score is mild malnutrition even when the child still sits on the 50th centile.</a:t>
            </a:r>
          </a:p>
          <a:p>
            <a:pPr algn="l">
              <a:spcAft>
                <a:spcPts val="1250"/>
              </a:spcAft>
            </a:pPr>
            <a:r>
              <a:rPr sz="1200" b="1" i="1">
                <a:solidFill>
                  <a:srgbClr val="1A1A1A"/>
                </a:solidFill>
                <a:latin typeface="Abadi"/>
              </a:rPr>
              <a:t>Write the grade in the note: it sets the urgency, the dietetic plan and the threshold for supplemental feeding.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GUIDELINES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WHAT THE DOCUMENTS SAY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8074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Rome IV 2016 · Rome V (Di Lorenzo) Gastroenterology 2026;170:1367–87 · MMWR 2010 · ECCO–ESPGHAN 2014/2021 · ESPGHAN coeliac 2020 · Rosen 2018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499616"/>
          <a:ext cx="11091671" cy="4343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423390"/>
                <a:gridCol w="3448671"/>
                <a:gridCol w="3728293"/>
                <a:gridCol w="1491317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Question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North America (NASPGHAN · AAP · CDC)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Europe (ESPGHAN · ECCO · RCPCH)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Verdict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490347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Alarm features in chronic abdominal pain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Rome IV list; AAP/NASPGHAN 2005 technical report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Rome IV list used in ESPGHAN practice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490347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Positive diagnosis with limited testing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'After appropriate medical evaluation'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Same wording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490347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Calprotectin before endoscopy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Rome IV: superior to CRP for triage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ECCO–ESPGHAN: monitoring; Dutch triage data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490347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Growth in Crohn's disease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Growth failure guideline with NASPGHAN authors (2008)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z &lt; −2.5 poor-outcome predictor; severe growth retardation → early anti-TNF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490347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Short stature → test for coeliac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Indication in practice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Explicit indication (ESPGHAN 2020)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490347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Chart under 2 years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WHO; cut-offs 2.3rd and 97.7th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UK-WHO; cut-offs 0.4th and 99.6th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</a:tr>
              <a:tr h="490347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Chart 2–19 years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CDC 2000 + extended BMI 2022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UK90 (UK); national references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</a:tr>
              <a:tr h="490347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Functional disorder classification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Rome IV by age group (2016)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Rome V by region and symptom (2026); 'infant distress syndrome'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MATERIAL</a:t>
                      </a:r>
                    </a:p>
                  </a:txBody>
                  <a:tcPr marL="73152" marR="73152" marT="27432" marB="27432" anchor="ctr">
                    <a:solidFill>
                      <a:srgbClr val="B222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PEARLS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EIGHT THINGS TO REMEMBER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8074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Hyams 2016 · Gijsbers 2014 · Zeevenhooven 2020 · Kanof 1988 · MMWR 2010 · Mei 2004 · Grote 2008 · Singh 2021 · Ballinger 2000/2003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45336"/>
            <a:ext cx="11091672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500"/>
              </a:spcAft>
            </a:pPr>
            <a:r>
              <a:rPr sz="1450" b="0" i="0">
                <a:solidFill>
                  <a:srgbClr val="1A1A1A"/>
                </a:solidFill>
                <a:latin typeface="Abadi"/>
              </a:rPr>
              <a:t>▪  Rome IV allows a positive diagnosis 'after appropriate medical evaluation' — not after exhaustive exclusion.</a:t>
            </a:r>
          </a:p>
          <a:p>
            <a:pPr algn="l">
              <a:lnSpc>
                <a:spcPct val="112000"/>
              </a:lnSpc>
              <a:spcAft>
                <a:spcPts val="1500"/>
              </a:spcAft>
            </a:pPr>
            <a:r>
              <a:rPr sz="1450" b="0" i="0">
                <a:solidFill>
                  <a:srgbClr val="1A1A1A"/>
                </a:solidFill>
                <a:latin typeface="Abadi"/>
              </a:rPr>
              <a:t>▪  Alarm features were as common in functional as in organic pain (61% vs 56%); they target tests, not diagnoses.</a:t>
            </a:r>
          </a:p>
          <a:p>
            <a:pPr algn="l">
              <a:lnSpc>
                <a:spcPct val="112000"/>
              </a:lnSpc>
              <a:spcAft>
                <a:spcPts val="1500"/>
              </a:spcAft>
            </a:pPr>
            <a:r>
              <a:rPr sz="1450" b="0" i="0">
                <a:solidFill>
                  <a:srgbClr val="1A1A1A"/>
                </a:solidFill>
                <a:latin typeface="Abadi"/>
              </a:rPr>
              <a:t>▪  Calprotectin above 250 µg/g was 99% specific; above 50 µg/g, 75% sensitive.</a:t>
            </a:r>
          </a:p>
          <a:p>
            <a:pPr algn="l">
              <a:lnSpc>
                <a:spcPct val="112000"/>
              </a:lnSpc>
              <a:spcAft>
                <a:spcPts val="1500"/>
              </a:spcAft>
            </a:pPr>
            <a:r>
              <a:rPr sz="1450" b="0" i="0">
                <a:solidFill>
                  <a:srgbClr val="1A1A1A"/>
                </a:solidFill>
                <a:latin typeface="Abadi"/>
              </a:rPr>
              <a:t>▪  Height velocity was already reduced in 88% of children before Crohn's disease was diagnosed.</a:t>
            </a:r>
          </a:p>
          <a:p>
            <a:pPr algn="l">
              <a:lnSpc>
                <a:spcPct val="112000"/>
              </a:lnSpc>
              <a:spcAft>
                <a:spcPts val="1500"/>
              </a:spcAft>
            </a:pPr>
            <a:r>
              <a:rPr sz="1450" b="0" i="0">
                <a:solidFill>
                  <a:srgbClr val="1A1A1A"/>
                </a:solidFill>
                <a:latin typeface="Abadi"/>
              </a:rPr>
              <a:t>▪  WHO charts under two; expect breastfed infants to grow more slowly from 3 to 18 months.</a:t>
            </a:r>
          </a:p>
          <a:p>
            <a:pPr algn="l">
              <a:lnSpc>
                <a:spcPct val="112000"/>
              </a:lnSpc>
              <a:spcAft>
                <a:spcPts val="1500"/>
              </a:spcAft>
            </a:pPr>
            <a:r>
              <a:rPr sz="1450" b="0" i="0">
                <a:solidFill>
                  <a:srgbClr val="1A1A1A"/>
                </a:solidFill>
                <a:latin typeface="Abadi"/>
              </a:rPr>
              <a:t>▪  Crossing two centile lines is common in infancy and abnormal after the second birthday.</a:t>
            </a:r>
          </a:p>
          <a:p>
            <a:pPr algn="l">
              <a:lnSpc>
                <a:spcPct val="112000"/>
              </a:lnSpc>
              <a:spcAft>
                <a:spcPts val="1500"/>
              </a:spcAft>
            </a:pPr>
            <a:r>
              <a:rPr sz="1450" b="0" i="0">
                <a:solidFill>
                  <a:srgbClr val="1A1A1A"/>
                </a:solidFill>
                <a:latin typeface="Abadi"/>
              </a:rPr>
              <a:t>▪  About 1 in 14 short children has coeliac disease — test even without GI symptoms.</a:t>
            </a:r>
          </a:p>
          <a:p>
            <a:pPr algn="l">
              <a:lnSpc>
                <a:spcPct val="112000"/>
              </a:lnSpc>
              <a:spcAft>
                <a:spcPts val="1500"/>
              </a:spcAft>
            </a:pPr>
            <a:r>
              <a:rPr sz="1450" b="0" i="0">
                <a:solidFill>
                  <a:srgbClr val="1A1A1A"/>
                </a:solidFill>
                <a:latin typeface="Abadi"/>
              </a:rPr>
              <a:t>▪  Inflammation delays puberty directly; ask about Tanner stage at every adolescent visit.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SYNTHESIS — SCENARIO TO 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Rome IV 2016 · Zeevenhooven 2020 · Kanof 1988 · Grote 2008 · MMWR 2010 · Singh 2021 · ECCO–ESPGHAN 2021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932688"/>
          <a:ext cx="11091670" cy="49194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933334"/>
                <a:gridCol w="2750001"/>
                <a:gridCol w="2658334"/>
                <a:gridCol w="2750001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Scenario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Ask / measure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Read it as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Do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64269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10-year-old, periumbilical pain, normal growth, no alarm features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Rome IV criteria, stool form, school stress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Functional abdominal pain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Positive diagnosis; limited tests at most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</a:tr>
              <a:tr h="64269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12-year-old, pain + height velocity 3 cm/yr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Plotted heights, Tanner stage, calprotectin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Crohn's disease until shown otherwise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Calprotectin, bloods; low threshold for endoscopy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</a:tr>
              <a:tr h="64269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Breastfed 9-month-old drifting from 50th to 15th on CDC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Re-plot on WHO; intake history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Likely normal breastfed growth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Reassure if WHO trajectory holds; recheck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</a:tr>
              <a:tr h="64269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6-year-old, height SDS −2.2, 2.5 SD below target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Mid-parental height, coeliac serology, total IgA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Meets Grote referral rule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Coeliac serology, endocrine work-up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</a:tr>
              <a:tr h="64269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Newborn with green vomit, soft abdomen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Timing, distension, X-ray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Malrotation with volvulus until proven otherwise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Same-day contrast study; surgeons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</a:tr>
              <a:tr h="64269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15-year-old boy with Crohn's, prepubertal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Testis volume, bone age, IGF-1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Inflammation-driven delay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Steroid-sparing, early anti-TNF; endocrine input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</a:tr>
              <a:tr h="64269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A1A1A"/>
                          </a:solidFill>
                          <a:latin typeface="Abadi"/>
                        </a:rPr>
                        <a:t>Toddler, weight z fell from 0 to −1.2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AND/ASPEN indicators, intake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Mild malnutrition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badi"/>
                        </a:rPr>
                        <a:t>Dietetic plan; follow velocity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03120"/>
            <a:ext cx="11091672" cy="135331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badi"/>
              </a:rPr>
              <a:t>History, Growth and Red Flags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4648" y="3703320"/>
            <a:ext cx="1828800" cy="18288"/>
          </a:xfrm>
          <a:prstGeom prst="rect">
            <a:avLst/>
          </a:prstGeom>
          <a:solidFill>
            <a:srgbClr val="F2C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995928"/>
            <a:ext cx="1109167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