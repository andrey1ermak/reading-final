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11082528" cy="2286000"/>
          </a:xfrm>
          <a:prstGeom prst="rect">
            <a:avLst/>
          </a:prstGeom>
          <a:noFill/>
        </p:spPr>
        <p:txBody>
          <a:bodyPr wrap="square" lIns="45720" rIns="45720" tIns="27432" bIns="27432" anchor="b">
            <a:spAutoFit/>
          </a:bodyPr>
          <a:lstStyle/>
          <a:p>
            <a:pPr algn="ctr"/>
            <a:r>
              <a:rPr sz="3000" b="1" i="0">
                <a:solidFill>
                  <a:srgbClr val="FFFFFF"/>
                </a:solidFill>
                <a:latin typeface="Abadi"/>
              </a:rPr>
              <a:t>Reflux Hypersensitivity and Functional Heartburn — Rome IV and Rome V, the Role of Impedance, Neuromodulators and When ‘Reflux’ Is Not Acid</a:t>
            </a:r>
          </a:p>
        </p:txBody>
      </p:sp>
      <p:sp>
        <p:nvSpPr>
          <p:cNvPr id="4" name="Rectangle 3"/>
          <p:cNvSpPr/>
          <p:nvPr/>
        </p:nvSpPr>
        <p:spPr>
          <a:xfrm>
            <a:off x="5184648" y="3630168"/>
            <a:ext cx="18288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45720" rIns="45720" tIns="27432" bIns="27432"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45720" rIns="45720" tIns="27432" bIns="27432" anchor="t">
            <a:spAutoFit/>
          </a:bodyPr>
          <a:lstStyle/>
          <a:p>
            <a:pPr algn="ctr"/>
            <a:r>
              <a:rPr sz="1100" b="0" i="0">
                <a:solidFill>
                  <a:srgbClr val="D5DDE8"/>
                </a:solidFill>
                <a:latin typeface="Abadi"/>
              </a:rPr>
              <a:t>Aziz 2016 (Rome IV) · Rosen 2018 (NASPGHAN/ESPGHAN) · Fass 2020 (AGA) · Katz 2022 (ACG) · Yadlapati 2022 (AGA) · Gyawali 2024 (Lyon 2.0) · Rosen 2026 (Rome V Paediatric) · Mahoney 2017 · Blasi 2023 · Pop 2024 · Nurko 2026 · Viazis 2012 · Ostovaneh 2014 · Limsrivilai 2016 · Saps 2009 · Grunder 2017</a:t>
            </a:r>
          </a:p>
        </p:txBody>
      </p:sp>
      <p:sp>
        <p:nvSpPr>
          <p:cNvPr id="7" name="TextBox 6"/>
          <p:cNvSpPr txBox="1"/>
          <p:nvPr/>
        </p:nvSpPr>
        <p:spPr>
          <a:xfrm>
            <a:off x="548640" y="5193792"/>
            <a:ext cx="11082528" cy="548640"/>
          </a:xfrm>
          <a:prstGeom prst="rect">
            <a:avLst/>
          </a:prstGeom>
          <a:noFill/>
        </p:spPr>
        <p:txBody>
          <a:bodyPr wrap="square" lIns="45720" rIns="45720" tIns="27432" bIns="27432" anchor="t">
            <a:spAutoFit/>
          </a:bodyPr>
          <a:lstStyle/>
          <a:p>
            <a:pPr algn="ctr"/>
            <a:r>
              <a:rPr sz="1100" b="0" i="1">
                <a:solidFill>
                  <a:srgbClr val="D5DDE8"/>
                </a:solidFill>
                <a:latin typeface="Abadi"/>
              </a:rPr>
              <a:t>most children with heartburn and a normal endoscopy do not have excess acid · symptom association splits hypersensitivity from functional pain · PPI response does not sort the phenotypes · neuromodulators and brain–gut therapy, not escalation or surgery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THE PPI THAT NEVER QUITE WORKED</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A 14-year-old with heartburn four days a week for six months; two PPI courses, partial relief; normal endoscopy and biopsies. What next?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Rosen R, et al. Gastroenterology 2026;170:1347–66 (Rome V Paediatric) · Mahoney LB, Nurko S, Rosen R. J Pediatr 2017;189:86–91 · Blasi E, et al. J Neurogastroenterol Motil 2023;29:156–65</a:t>
            </a:r>
          </a:p>
        </p:txBody>
      </p:sp>
      <p:sp>
        <p:nvSpPr>
          <p:cNvPr id="12" name="Rectangle 11"/>
          <p:cNvSpPr/>
          <p:nvPr/>
        </p:nvSpPr>
        <p:spPr>
          <a:xfrm>
            <a:off x="548640" y="1773936"/>
            <a:ext cx="2126284"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126284"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833676" cy="502920"/>
          </a:xfrm>
          <a:prstGeom prst="rect">
            <a:avLst/>
          </a:prstGeom>
          <a:noFill/>
        </p:spPr>
        <p:txBody>
          <a:bodyPr wrap="square" lIns="45720" rIns="45720" tIns="27432" bIns="27432" anchor="t">
            <a:spAutoFit/>
          </a:bodyPr>
          <a:lstStyle/>
          <a:p>
            <a:pPr algn="l"/>
            <a:r>
              <a:rPr sz="1500" b="1" i="0">
                <a:solidFill>
                  <a:srgbClr val="1B355E"/>
                </a:solidFill>
                <a:latin typeface="Abadi"/>
              </a:rPr>
              <a:t>Phenotypes</a:t>
            </a:r>
          </a:p>
        </p:txBody>
      </p:sp>
      <p:sp>
        <p:nvSpPr>
          <p:cNvPr id="15" name="TextBox 14"/>
          <p:cNvSpPr txBox="1"/>
          <p:nvPr/>
        </p:nvSpPr>
        <p:spPr>
          <a:xfrm>
            <a:off x="69494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Functional heartburn 38–44%</a:t>
            </a:r>
          </a:p>
          <a:p>
            <a:pPr algn="l">
              <a:spcAft>
                <a:spcPts val="400"/>
              </a:spcAft>
            </a:pPr>
            <a:r>
              <a:rPr sz="1100" b="0" i="0">
                <a:solidFill>
                  <a:srgbClr val="1A1A1A"/>
                </a:solidFill>
                <a:latin typeface="Abadi"/>
              </a:rPr>
              <a:t>▪  Hypersensitivity 21–29%</a:t>
            </a:r>
          </a:p>
          <a:p>
            <a:pPr algn="l">
              <a:spcAft>
                <a:spcPts val="400"/>
              </a:spcAft>
            </a:pPr>
            <a:r>
              <a:rPr sz="1100" b="0" i="0">
                <a:solidFill>
                  <a:srgbClr val="1A1A1A"/>
                </a:solidFill>
                <a:latin typeface="Abadi"/>
              </a:rPr>
              <a:t>▪  NERD ~27%</a:t>
            </a:r>
          </a:p>
        </p:txBody>
      </p:sp>
      <p:sp>
        <p:nvSpPr>
          <p:cNvPr id="16" name="Rectangle 15"/>
          <p:cNvSpPr/>
          <p:nvPr/>
        </p:nvSpPr>
        <p:spPr>
          <a:xfrm>
            <a:off x="2787700" y="1773936"/>
            <a:ext cx="2126284"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87700" y="1773936"/>
            <a:ext cx="2126284"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4004" y="1956816"/>
            <a:ext cx="1833676" cy="502920"/>
          </a:xfrm>
          <a:prstGeom prst="rect">
            <a:avLst/>
          </a:prstGeom>
          <a:noFill/>
        </p:spPr>
        <p:txBody>
          <a:bodyPr wrap="square" lIns="45720" rIns="45720" tIns="27432" bIns="27432" anchor="t">
            <a:spAutoFit/>
          </a:bodyPr>
          <a:lstStyle/>
          <a:p>
            <a:pPr algn="l"/>
            <a:r>
              <a:rPr sz="1500" b="1" i="0">
                <a:solidFill>
                  <a:srgbClr val="1E7A33"/>
                </a:solidFill>
                <a:latin typeface="Abadi"/>
              </a:rPr>
              <a:t>Test</a:t>
            </a:r>
          </a:p>
        </p:txBody>
      </p:sp>
      <p:sp>
        <p:nvSpPr>
          <p:cNvPr id="19" name="TextBox 18"/>
          <p:cNvSpPr txBox="1"/>
          <p:nvPr/>
        </p:nvSpPr>
        <p:spPr>
          <a:xfrm>
            <a:off x="293400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pH-impedance off PPI</a:t>
            </a:r>
          </a:p>
          <a:p>
            <a:pPr algn="l">
              <a:spcAft>
                <a:spcPts val="400"/>
              </a:spcAft>
            </a:pPr>
            <a:r>
              <a:rPr sz="1100" b="0" i="0">
                <a:solidFill>
                  <a:srgbClr val="1A1A1A"/>
                </a:solidFill>
                <a:latin typeface="Abadi"/>
              </a:rPr>
              <a:t>▪  Acid exposure + symptom association</a:t>
            </a:r>
          </a:p>
        </p:txBody>
      </p:sp>
      <p:sp>
        <p:nvSpPr>
          <p:cNvPr id="20" name="Rectangle 19"/>
          <p:cNvSpPr/>
          <p:nvPr/>
        </p:nvSpPr>
        <p:spPr>
          <a:xfrm>
            <a:off x="5026760" y="1773936"/>
            <a:ext cx="2126284"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6760" y="1773936"/>
            <a:ext cx="2126284"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3064" y="1956816"/>
            <a:ext cx="1833676" cy="502920"/>
          </a:xfrm>
          <a:prstGeom prst="rect">
            <a:avLst/>
          </a:prstGeom>
          <a:noFill/>
        </p:spPr>
        <p:txBody>
          <a:bodyPr wrap="square" lIns="45720" rIns="45720" tIns="27432" bIns="27432" anchor="t">
            <a:spAutoFit/>
          </a:bodyPr>
          <a:lstStyle/>
          <a:p>
            <a:pPr algn="l"/>
            <a:r>
              <a:rPr sz="1500" b="1" i="0">
                <a:solidFill>
                  <a:srgbClr val="D97A0B"/>
                </a:solidFill>
                <a:latin typeface="Abadi"/>
              </a:rPr>
              <a:t>New labels</a:t>
            </a:r>
          </a:p>
        </p:txBody>
      </p:sp>
      <p:sp>
        <p:nvSpPr>
          <p:cNvPr id="23" name="TextBox 22"/>
          <p:cNvSpPr txBox="1"/>
          <p:nvPr/>
        </p:nvSpPr>
        <p:spPr>
          <a:xfrm>
            <a:off x="517306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Rome V Paediatric 2026: RH and reflux-negative oesophageal pain disorder</a:t>
            </a:r>
          </a:p>
        </p:txBody>
      </p:sp>
      <p:sp>
        <p:nvSpPr>
          <p:cNvPr id="24" name="Rectangle 23"/>
          <p:cNvSpPr/>
          <p:nvPr/>
        </p:nvSpPr>
        <p:spPr>
          <a:xfrm>
            <a:off x="7265820" y="1773936"/>
            <a:ext cx="2126284"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5820" y="1773936"/>
            <a:ext cx="2126284"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2124" y="1956816"/>
            <a:ext cx="1833676" cy="502920"/>
          </a:xfrm>
          <a:prstGeom prst="rect">
            <a:avLst/>
          </a:prstGeom>
          <a:noFill/>
        </p:spPr>
        <p:txBody>
          <a:bodyPr wrap="square" lIns="45720" rIns="45720" tIns="27432" bIns="27432" anchor="t">
            <a:spAutoFit/>
          </a:bodyPr>
          <a:lstStyle/>
          <a:p>
            <a:pPr algn="l"/>
            <a:r>
              <a:rPr sz="1500" b="1" i="0">
                <a:solidFill>
                  <a:srgbClr val="B22222"/>
                </a:solidFill>
                <a:latin typeface="Abadi"/>
              </a:rPr>
              <a:t>Treat</a:t>
            </a:r>
          </a:p>
        </p:txBody>
      </p:sp>
      <p:sp>
        <p:nvSpPr>
          <p:cNvPr id="27" name="TextBox 26"/>
          <p:cNvSpPr txBox="1"/>
          <p:nvPr/>
        </p:nvSpPr>
        <p:spPr>
          <a:xfrm>
            <a:off x="741212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Neuromodulators</a:t>
            </a:r>
          </a:p>
          <a:p>
            <a:pPr algn="l">
              <a:spcAft>
                <a:spcPts val="400"/>
              </a:spcAft>
            </a:pPr>
            <a:r>
              <a:rPr sz="1100" b="0" i="0">
                <a:solidFill>
                  <a:srgbClr val="1A1A1A"/>
                </a:solidFill>
                <a:latin typeface="Abadi"/>
              </a:rPr>
              <a:t>▪  Brain–gut behavioural therapy</a:t>
            </a:r>
          </a:p>
        </p:txBody>
      </p:sp>
      <p:sp>
        <p:nvSpPr>
          <p:cNvPr id="28" name="Rectangle 27"/>
          <p:cNvSpPr/>
          <p:nvPr/>
        </p:nvSpPr>
        <p:spPr>
          <a:xfrm>
            <a:off x="9504880" y="1773936"/>
            <a:ext cx="2126284"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4880" y="1773936"/>
            <a:ext cx="2126284"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51184" y="1956816"/>
            <a:ext cx="1833676" cy="502920"/>
          </a:xfrm>
          <a:prstGeom prst="rect">
            <a:avLst/>
          </a:prstGeom>
          <a:noFill/>
        </p:spPr>
        <p:txBody>
          <a:bodyPr wrap="square" lIns="45720" rIns="45720" tIns="27432" bIns="27432" anchor="t">
            <a:spAutoFit/>
          </a:bodyPr>
          <a:lstStyle/>
          <a:p>
            <a:pPr algn="l"/>
            <a:r>
              <a:rPr sz="1500" b="1" i="0">
                <a:solidFill>
                  <a:srgbClr val="8A939B"/>
                </a:solidFill>
                <a:latin typeface="Abadi"/>
              </a:rPr>
              <a:t>Avoid</a:t>
            </a:r>
          </a:p>
        </p:txBody>
      </p:sp>
      <p:sp>
        <p:nvSpPr>
          <p:cNvPr id="31" name="TextBox 30"/>
          <p:cNvSpPr txBox="1"/>
          <p:nvPr/>
        </p:nvSpPr>
        <p:spPr>
          <a:xfrm>
            <a:off x="965118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PPI escalation</a:t>
            </a:r>
          </a:p>
          <a:p>
            <a:pPr algn="l">
              <a:spcAft>
                <a:spcPts val="400"/>
              </a:spcAft>
            </a:pPr>
            <a:r>
              <a:rPr sz="1100" b="0" i="0">
                <a:solidFill>
                  <a:srgbClr val="1A1A1A"/>
                </a:solidFill>
                <a:latin typeface="Abadi"/>
              </a:rPr>
              <a:t>▪  Fundoplication</a:t>
            </a:r>
          </a:p>
        </p:txBody>
      </p:sp>
      <p:sp>
        <p:nvSpPr>
          <p:cNvPr id="32" name="TextBox 31"/>
          <p:cNvSpPr txBox="1"/>
          <p:nvPr/>
        </p:nvSpPr>
        <p:spPr>
          <a:xfrm>
            <a:off x="548640" y="4114800"/>
            <a:ext cx="11082528" cy="1600000"/>
          </a:xfrm>
          <a:prstGeom prst="rect">
            <a:avLst/>
          </a:prstGeom>
          <a:noFill/>
        </p:spPr>
        <p:txBody>
          <a:bodyPr wrap="square" lIns="45720" rIns="45720" tIns="27432" bIns="27432" anchor="t">
            <a:spAutoFit/>
          </a:bodyPr>
          <a:lstStyle/>
          <a:p>
            <a:pPr algn="l"/>
            <a:r>
              <a:rPr sz="1250" b="1" i="0">
                <a:solidFill>
                  <a:srgbClr val="1B355E"/>
                </a:solidFill>
                <a:latin typeface="Abadi"/>
              </a:rPr>
              <a:t>The main idea.   </a:t>
            </a:r>
            <a:r>
              <a:rPr sz="1250" b="0" i="0">
                <a:solidFill>
                  <a:srgbClr val="1B355E"/>
                </a:solidFill>
                <a:latin typeface="Abadi"/>
              </a:rPr>
              <a:t>Among children and adolescents with heartburn and a normal endoscopy who are tested off acid suppression, the largest group has functional heartburn: normal acid exposure and no link between symptoms and reflux. A further fifth to a quarter have reflux hypersensitivity: normal acid exposure, but symptoms that follow reflux episodes. Both are disorders of gut–brain interaction. pH-impedance is the test that separates them, PPI response does not, and the treatment is neuromodulation and behavioural therapy rather than more acid suppression or surgery.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NORMAL REFLUX, ABNORMAL PERCEPTION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Symptoms arise when ordinary oesophageal events are amplified along the gut–brain axis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Aziz Q, et al. Gastroenterology 2016;150:1368–79 · Fass R, Zerbib F, Gyawali CP. Gastroenterology 2020;158:2286–93 · Taft TH, et al. Clin Gastroenterol Hepatol 2021 (EHAS-SF)</a:t>
            </a:r>
          </a:p>
        </p:txBody>
      </p:sp>
      <p:sp>
        <p:nvSpPr>
          <p:cNvPr id="12" name="Rectangle 11"/>
          <p:cNvSpPr/>
          <p:nvPr/>
        </p:nvSpPr>
        <p:spPr>
          <a:xfrm>
            <a:off x="548640" y="1773936"/>
            <a:ext cx="2011680" cy="17830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Stimulus</a:t>
            </a:r>
          </a:p>
        </p:txBody>
      </p:sp>
      <p:sp>
        <p:nvSpPr>
          <p:cNvPr id="15" name="TextBox 14"/>
          <p:cNvSpPr txBox="1"/>
          <p:nvPr/>
        </p:nvSpPr>
        <p:spPr>
          <a:xfrm>
            <a:off x="658368" y="2231136"/>
            <a:ext cx="1792224" cy="1263080"/>
          </a:xfrm>
          <a:prstGeom prst="rect">
            <a:avLst/>
          </a:prstGeom>
          <a:noFill/>
        </p:spPr>
        <p:txBody>
          <a:bodyPr wrap="square" lIns="45720" rIns="45720" tIns="27432" bIns="27432" anchor="t">
            <a:spAutoFit/>
          </a:bodyPr>
          <a:lstStyle/>
          <a:p>
            <a:pPr algn="l"/>
            <a:r>
              <a:rPr sz="1100" b="0" i="0">
                <a:solidFill>
                  <a:srgbClr val="1A1A1A"/>
                </a:solidFill>
                <a:latin typeface="Abadi"/>
              </a:rPr>
              <a:t>Physiological reflux, often weakly acidic, or distension by a bolus or a belch.</a:t>
            </a:r>
          </a:p>
        </p:txBody>
      </p:sp>
      <p:sp>
        <p:nvSpPr>
          <p:cNvPr id="16" name="TextBox 15"/>
          <p:cNvSpPr txBox="1"/>
          <p:nvPr/>
        </p:nvSpPr>
        <p:spPr>
          <a:xfrm>
            <a:off x="2560320"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17" name="Rectangle 16"/>
          <p:cNvSpPr/>
          <p:nvPr/>
        </p:nvSpPr>
        <p:spPr>
          <a:xfrm>
            <a:off x="2816352" y="1773936"/>
            <a:ext cx="2011680" cy="17830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36576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9504"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Peripheral</a:t>
            </a:r>
          </a:p>
        </p:txBody>
      </p:sp>
      <p:sp>
        <p:nvSpPr>
          <p:cNvPr id="20" name="TextBox 19"/>
          <p:cNvSpPr txBox="1"/>
          <p:nvPr/>
        </p:nvSpPr>
        <p:spPr>
          <a:xfrm>
            <a:off x="2926080" y="2231136"/>
            <a:ext cx="1792224" cy="1263080"/>
          </a:xfrm>
          <a:prstGeom prst="rect">
            <a:avLst/>
          </a:prstGeom>
          <a:noFill/>
        </p:spPr>
        <p:txBody>
          <a:bodyPr wrap="square" lIns="45720" rIns="45720" tIns="27432" bIns="27432" anchor="t">
            <a:spAutoFit/>
          </a:bodyPr>
          <a:lstStyle/>
          <a:p>
            <a:pPr algn="l"/>
            <a:r>
              <a:rPr sz="1100" b="0" i="0">
                <a:solidFill>
                  <a:srgbClr val="1A1A1A"/>
                </a:solidFill>
                <a:latin typeface="Abadi"/>
              </a:rPr>
              <a:t>Sensitised mucosal afferents respond to stimuli that do not trouble most people.</a:t>
            </a:r>
          </a:p>
        </p:txBody>
      </p:sp>
      <p:sp>
        <p:nvSpPr>
          <p:cNvPr id="21" name="TextBox 20"/>
          <p:cNvSpPr txBox="1"/>
          <p:nvPr/>
        </p:nvSpPr>
        <p:spPr>
          <a:xfrm>
            <a:off x="4828032"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22" name="Rectangle 21"/>
          <p:cNvSpPr/>
          <p:nvPr/>
        </p:nvSpPr>
        <p:spPr>
          <a:xfrm>
            <a:off x="5084064" y="1773936"/>
            <a:ext cx="2011680" cy="17830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3657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57216"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Central</a:t>
            </a:r>
          </a:p>
        </p:txBody>
      </p:sp>
      <p:sp>
        <p:nvSpPr>
          <p:cNvPr id="25" name="TextBox 24"/>
          <p:cNvSpPr txBox="1"/>
          <p:nvPr/>
        </p:nvSpPr>
        <p:spPr>
          <a:xfrm>
            <a:off x="5193792" y="2231136"/>
            <a:ext cx="1792224" cy="1263080"/>
          </a:xfrm>
          <a:prstGeom prst="rect">
            <a:avLst/>
          </a:prstGeom>
          <a:noFill/>
        </p:spPr>
        <p:txBody>
          <a:bodyPr wrap="square" lIns="45720" rIns="45720" tIns="27432" bIns="27432" anchor="t">
            <a:spAutoFit/>
          </a:bodyPr>
          <a:lstStyle/>
          <a:p>
            <a:pPr algn="l"/>
            <a:r>
              <a:rPr sz="1100" b="0" i="0">
                <a:solidFill>
                  <a:srgbClr val="1A1A1A"/>
                </a:solidFill>
                <a:latin typeface="Abadi"/>
              </a:rPr>
              <a:t>Spinal and cortical amplification; descending inhibition is weak.</a:t>
            </a:r>
          </a:p>
        </p:txBody>
      </p:sp>
      <p:sp>
        <p:nvSpPr>
          <p:cNvPr id="26" name="TextBox 25"/>
          <p:cNvSpPr txBox="1"/>
          <p:nvPr/>
        </p:nvSpPr>
        <p:spPr>
          <a:xfrm>
            <a:off x="7095744"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27" name="Rectangle 26"/>
          <p:cNvSpPr/>
          <p:nvPr/>
        </p:nvSpPr>
        <p:spPr>
          <a:xfrm>
            <a:off x="7351776" y="1773936"/>
            <a:ext cx="2011680" cy="17830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3657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24928"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Cognitive</a:t>
            </a:r>
          </a:p>
        </p:txBody>
      </p:sp>
      <p:sp>
        <p:nvSpPr>
          <p:cNvPr id="30" name="TextBox 29"/>
          <p:cNvSpPr txBox="1"/>
          <p:nvPr/>
        </p:nvSpPr>
        <p:spPr>
          <a:xfrm>
            <a:off x="7461504" y="2231136"/>
            <a:ext cx="1792224" cy="1263080"/>
          </a:xfrm>
          <a:prstGeom prst="rect">
            <a:avLst/>
          </a:prstGeom>
          <a:noFill/>
        </p:spPr>
        <p:txBody>
          <a:bodyPr wrap="square" lIns="45720" rIns="45720" tIns="27432" bIns="27432" anchor="t">
            <a:spAutoFit/>
          </a:bodyPr>
          <a:lstStyle/>
          <a:p>
            <a:pPr algn="l"/>
            <a:r>
              <a:rPr sz="1100" b="0" i="0">
                <a:solidFill>
                  <a:srgbClr val="1A1A1A"/>
                </a:solidFill>
                <a:latin typeface="Abadi"/>
              </a:rPr>
              <a:t>Hypervigilance, anxiety and catastrophising focus attention on the chest.</a:t>
            </a:r>
          </a:p>
        </p:txBody>
      </p:sp>
      <p:sp>
        <p:nvSpPr>
          <p:cNvPr id="31" name="TextBox 30"/>
          <p:cNvSpPr txBox="1"/>
          <p:nvPr/>
        </p:nvSpPr>
        <p:spPr>
          <a:xfrm>
            <a:off x="9363456"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32" name="Rectangle 31"/>
          <p:cNvSpPr/>
          <p:nvPr/>
        </p:nvSpPr>
        <p:spPr>
          <a:xfrm>
            <a:off x="9619488" y="1773936"/>
            <a:ext cx="2011680" cy="17830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3657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Symptom</a:t>
            </a:r>
          </a:p>
        </p:txBody>
      </p:sp>
      <p:sp>
        <p:nvSpPr>
          <p:cNvPr id="35" name="TextBox 34"/>
          <p:cNvSpPr txBox="1"/>
          <p:nvPr/>
        </p:nvSpPr>
        <p:spPr>
          <a:xfrm>
            <a:off x="9729216" y="2231136"/>
            <a:ext cx="1792224" cy="1263080"/>
          </a:xfrm>
          <a:prstGeom prst="rect">
            <a:avLst/>
          </a:prstGeom>
          <a:noFill/>
        </p:spPr>
        <p:txBody>
          <a:bodyPr wrap="square" lIns="45720" rIns="45720" tIns="27432" bIns="27432" anchor="t">
            <a:spAutoFit/>
          </a:bodyPr>
          <a:lstStyle/>
          <a:p>
            <a:pPr algn="l"/>
            <a:r>
              <a:rPr sz="1100" b="0" i="0">
                <a:solidFill>
                  <a:srgbClr val="1A1A1A"/>
                </a:solidFill>
                <a:latin typeface="Abadi"/>
              </a:rPr>
              <a:t>Heartburn or chest pain, with school absence, restriction and repeated testing.</a:t>
            </a:r>
          </a:p>
        </p:txBody>
      </p:sp>
      <p:sp>
        <p:nvSpPr>
          <p:cNvPr id="36" name="TextBox 35"/>
          <p:cNvSpPr txBox="1"/>
          <p:nvPr/>
        </p:nvSpPr>
        <p:spPr>
          <a:xfrm>
            <a:off x="548640" y="3840480"/>
            <a:ext cx="11082528" cy="1700000"/>
          </a:xfrm>
          <a:prstGeom prst="rect">
            <a:avLst/>
          </a:prstGeom>
          <a:noFill/>
        </p:spPr>
        <p:txBody>
          <a:bodyPr wrap="square" lIns="45720" rIns="45720" tIns="27432" bIns="27432" anchor="t">
            <a:spAutoFit/>
          </a:bodyPr>
          <a:lstStyle/>
          <a:p>
            <a:pPr algn="l"/>
            <a:r>
              <a:rPr sz="1250" b="1" i="0">
                <a:solidFill>
                  <a:srgbClr val="1B355E"/>
                </a:solidFill>
                <a:latin typeface="Abadi"/>
              </a:rPr>
              <a:t>Why it matters.   </a:t>
            </a:r>
            <a:r>
              <a:rPr sz="1250" b="0" i="0">
                <a:solidFill>
                  <a:srgbClr val="1B355E"/>
                </a:solidFill>
                <a:latin typeface="Abadi"/>
              </a:rPr>
              <a:t>Reflux hypersensitivity and functional heartburn sit on one spectrum of visceral hypersensitivity. In hypersensitivity the trigger is visible on the tracing, so symptoms line up with reflux episodes; in functional heartburn the pain is generated without a measurable trigger. Neither improves with further acid suppression, because the problem is not the amount of acid. Oesophageal hypervigilance can be measured in adults with the 7-item EHAS short form (score 0–28; α 0.91 in 3,976 patients); it has not been validated in children.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DEFINITIONS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FOUR PHENOTYPES AFTER A NORMAL ENDOSCOPY</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Every label requires normal endoscopy with biopsies (EoE excluded) and no major motility disorder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Aziz 2016 (Rome IV, adults) · Rosen 2026 (Rome V Paediatric) · Gyawali CP, et al. Gut 2024;73:361–71 (Lyon 2.0) · Rosen R, et al. JPGN 2018;66:516–54</a:t>
            </a:r>
          </a:p>
        </p:txBody>
      </p:sp>
      <p:graphicFrame>
        <p:nvGraphicFramePr>
          <p:cNvPr id="12" name="Table 11"/>
          <p:cNvGraphicFramePr>
            <a:graphicFrameLocks noGrp="1"/>
          </p:cNvGraphicFramePr>
          <p:nvPr/>
        </p:nvGraphicFramePr>
        <p:xfrm>
          <a:off x="548640" y="1783080"/>
          <a:ext cx="11082528" cy="2960000"/>
        </p:xfrm>
        <a:graphic>
          <a:graphicData uri="http://schemas.openxmlformats.org/drawingml/2006/table">
            <a:tbl>
              <a:tblPr firstRow="1" bandRow="1">
                <a:tableStyleId>{5C22544A-7EE6-4342-B048-85BDC9FD1C3A}</a:tableStyleId>
              </a:tblPr>
              <a:tblGrid>
                <a:gridCol w="2462784"/>
                <a:gridCol w="1641856"/>
                <a:gridCol w="2873248"/>
                <a:gridCol w="4104640"/>
              </a:tblGrid>
              <a:tr h="380000">
                <a:tc>
                  <a:txBody>
                    <a:bodyPr wrap="square"/>
                    <a:lstStyle/>
                    <a:p>
                      <a:r>
                        <a:rPr sz="1000" b="1" i="0">
                          <a:solidFill>
                            <a:srgbClr val="FFFFFF"/>
                          </a:solidFill>
                          <a:latin typeface="Abadi"/>
                        </a:rPr>
                        <a:t>Phenotype</a:t>
                      </a:r>
                    </a:p>
                  </a:txBody>
                  <a:tcPr marL="64008" marR="64008" marT="27432" marB="27432" anchor="ctr">
                    <a:solidFill>
                      <a:srgbClr val="1B355E"/>
                    </a:solidFill>
                  </a:tcPr>
                </a:tc>
                <a:tc>
                  <a:txBody>
                    <a:bodyPr wrap="square"/>
                    <a:lstStyle/>
                    <a:p>
                      <a:r>
                        <a:rPr sz="1000" b="1" i="0">
                          <a:solidFill>
                            <a:srgbClr val="FFFFFF"/>
                          </a:solidFill>
                          <a:latin typeface="Abadi"/>
                        </a:rPr>
                        <a:t>Acid exposure</a:t>
                      </a:r>
                    </a:p>
                  </a:txBody>
                  <a:tcPr marL="64008" marR="64008" marT="27432" marB="27432" anchor="ctr">
                    <a:solidFill>
                      <a:srgbClr val="1B355E"/>
                    </a:solidFill>
                  </a:tcPr>
                </a:tc>
                <a:tc>
                  <a:txBody>
                    <a:bodyPr wrap="square"/>
                    <a:lstStyle/>
                    <a:p>
                      <a:r>
                        <a:rPr sz="1000" b="1" i="0">
                          <a:solidFill>
                            <a:srgbClr val="FFFFFF"/>
                          </a:solidFill>
                          <a:latin typeface="Abadi"/>
                        </a:rPr>
                        <a:t>Symptom association</a:t>
                      </a:r>
                    </a:p>
                  </a:txBody>
                  <a:tcPr marL="64008" marR="64008" marT="27432" marB="27432" anchor="ctr">
                    <a:solidFill>
                      <a:srgbClr val="1B355E"/>
                    </a:solidFill>
                  </a:tcPr>
                </a:tc>
                <a:tc>
                  <a:txBody>
                    <a:bodyPr wrap="square"/>
                    <a:lstStyle/>
                    <a:p>
                      <a:r>
                        <a:rPr sz="1000" b="1" i="0">
                          <a:solidFill>
                            <a:srgbClr val="FFFFFF"/>
                          </a:solidFill>
                          <a:latin typeface="Abadi"/>
                        </a:rPr>
                        <a:t>Paediatric frame (Rome V, 2026)</a:t>
                      </a:r>
                    </a:p>
                  </a:txBody>
                  <a:tcPr marL="64008" marR="64008" marT="27432" marB="27432" anchor="ctr">
                    <a:solidFill>
                      <a:srgbClr val="1B355E"/>
                    </a:solidFill>
                  </a:tcPr>
                </a:tc>
              </a:tr>
              <a:tr h="430000">
                <a:tc>
                  <a:txBody>
                    <a:bodyPr wrap="square"/>
                    <a:lstStyle/>
                    <a:p>
                      <a:r>
                        <a:rPr sz="1000" b="1" i="0">
                          <a:solidFill>
                            <a:srgbClr val="1A1A1A"/>
                          </a:solidFill>
                          <a:latin typeface="Abadi"/>
                        </a:rPr>
                        <a:t>NERD</a:t>
                      </a:r>
                    </a:p>
                  </a:txBody>
                  <a:tcPr marL="64008" marR="64008" marT="27432" marB="27432" anchor="ctr">
                    <a:solidFill>
                      <a:srgbClr val="FFFFFF"/>
                    </a:solidFill>
                  </a:tcPr>
                </a:tc>
                <a:tc>
                  <a:txBody>
                    <a:bodyPr wrap="square"/>
                    <a:lstStyle/>
                    <a:p>
                      <a:r>
                        <a:rPr sz="1000" b="0" i="0">
                          <a:solidFill>
                            <a:srgbClr val="1A1A1A"/>
                          </a:solidFill>
                          <a:latin typeface="Abadi"/>
                        </a:rPr>
                        <a:t>Abnormal</a:t>
                      </a:r>
                    </a:p>
                  </a:txBody>
                  <a:tcPr marL="64008" marR="64008" marT="27432" marB="27432" anchor="ctr">
                    <a:solidFill>
                      <a:srgbClr val="FFFFFF"/>
                    </a:solidFill>
                  </a:tcPr>
                </a:tc>
                <a:tc>
                  <a:txBody>
                    <a:bodyPr wrap="square"/>
                    <a:lstStyle/>
                    <a:p>
                      <a:r>
                        <a:rPr sz="1000" b="0" i="0">
                          <a:solidFill>
                            <a:srgbClr val="1A1A1A"/>
                          </a:solidFill>
                          <a:latin typeface="Abadi"/>
                        </a:rPr>
                        <a:t>Any</a:t>
                      </a:r>
                    </a:p>
                  </a:txBody>
                  <a:tcPr marL="64008" marR="64008" marT="27432" marB="27432" anchor="ctr">
                    <a:solidFill>
                      <a:srgbClr val="FFFFFF"/>
                    </a:solidFill>
                  </a:tcPr>
                </a:tc>
                <a:tc>
                  <a:txBody>
                    <a:bodyPr wrap="square"/>
                    <a:lstStyle/>
                    <a:p>
                      <a:r>
                        <a:rPr sz="1000" b="0" i="0">
                          <a:solidFill>
                            <a:srgbClr val="1A1A1A"/>
                          </a:solidFill>
                          <a:latin typeface="Abadi"/>
                        </a:rPr>
                        <a:t>Reflux disease, not a gut–brain disorder</a:t>
                      </a:r>
                    </a:p>
                  </a:txBody>
                  <a:tcPr marL="64008" marR="64008" marT="27432" marB="27432" anchor="ctr">
                    <a:solidFill>
                      <a:srgbClr val="FFFFFF"/>
                    </a:solidFill>
                  </a:tcPr>
                </a:tc>
              </a:tr>
              <a:tr h="430000">
                <a:tc>
                  <a:txBody>
                    <a:bodyPr wrap="square"/>
                    <a:lstStyle/>
                    <a:p>
                      <a:r>
                        <a:rPr sz="1000" b="1" i="0">
                          <a:solidFill>
                            <a:srgbClr val="1A1A1A"/>
                          </a:solidFill>
                          <a:latin typeface="Abadi"/>
                        </a:rPr>
                        <a:t>Reflux hypersensitivity</a:t>
                      </a:r>
                    </a:p>
                  </a:txBody>
                  <a:tcPr marL="64008" marR="64008" marT="27432" marB="27432" anchor="ctr">
                    <a:solidFill>
                      <a:srgbClr val="F3F5F8"/>
                    </a:solidFill>
                  </a:tcPr>
                </a:tc>
                <a:tc>
                  <a:txBody>
                    <a:bodyPr wrap="square"/>
                    <a:lstStyle/>
                    <a:p>
                      <a:r>
                        <a:rPr sz="1000" b="0" i="0">
                          <a:solidFill>
                            <a:srgbClr val="1A1A1A"/>
                          </a:solidFill>
                          <a:latin typeface="Abadi"/>
                        </a:rPr>
                        <a:t>Normal</a:t>
                      </a:r>
                    </a:p>
                  </a:txBody>
                  <a:tcPr marL="64008" marR="64008" marT="27432" marB="27432" anchor="ctr">
                    <a:solidFill>
                      <a:srgbClr val="F3F5F8"/>
                    </a:solidFill>
                  </a:tcPr>
                </a:tc>
                <a:tc>
                  <a:txBody>
                    <a:bodyPr wrap="square"/>
                    <a:lstStyle/>
                    <a:p>
                      <a:r>
                        <a:rPr sz="1000" b="0" i="0">
                          <a:solidFill>
                            <a:srgbClr val="1A1A1A"/>
                          </a:solidFill>
                          <a:latin typeface="Abadi"/>
                        </a:rPr>
                        <a:t>Positive: SI ≥ 50% or SAP &gt; 95%</a:t>
                      </a:r>
                    </a:p>
                  </a:txBody>
                  <a:tcPr marL="64008" marR="64008" marT="27432" marB="27432" anchor="ctr">
                    <a:solidFill>
                      <a:srgbClr val="F3F5F8"/>
                    </a:solidFill>
                  </a:tcPr>
                </a:tc>
                <a:tc>
                  <a:txBody>
                    <a:bodyPr wrap="square"/>
                    <a:lstStyle/>
                    <a:p>
                      <a:r>
                        <a:rPr sz="1000" b="0" i="0">
                          <a:solidFill>
                            <a:srgbClr val="1A1A1A"/>
                          </a:solidFill>
                          <a:latin typeface="Abadi"/>
                        </a:rPr>
                        <a:t>Rome V Peds: RH, age &gt; 8 y, ≥ 3 days/week for ≥ 2 months</a:t>
                      </a:r>
                    </a:p>
                  </a:txBody>
                  <a:tcPr marL="64008" marR="64008" marT="27432" marB="27432" anchor="ctr">
                    <a:solidFill>
                      <a:srgbClr val="F3F5F8"/>
                    </a:solidFill>
                  </a:tcPr>
                </a:tc>
              </a:tr>
              <a:tr h="430000">
                <a:tc>
                  <a:txBody>
                    <a:bodyPr wrap="square"/>
                    <a:lstStyle/>
                    <a:p>
                      <a:r>
                        <a:rPr sz="1000" b="1" i="0">
                          <a:solidFill>
                            <a:srgbClr val="1A1A1A"/>
                          </a:solidFill>
                          <a:latin typeface="Abadi"/>
                        </a:rPr>
                        <a:t>Functional heartburn (adults)</a:t>
                      </a:r>
                    </a:p>
                  </a:txBody>
                  <a:tcPr marL="64008" marR="64008" marT="27432" marB="27432" anchor="ctr">
                    <a:solidFill>
                      <a:srgbClr val="FFFFFF"/>
                    </a:solidFill>
                  </a:tcPr>
                </a:tc>
                <a:tc>
                  <a:txBody>
                    <a:bodyPr wrap="square"/>
                    <a:lstStyle/>
                    <a:p>
                      <a:r>
                        <a:rPr sz="1000" b="0" i="0">
                          <a:solidFill>
                            <a:srgbClr val="1A1A1A"/>
                          </a:solidFill>
                          <a:latin typeface="Abadi"/>
                        </a:rPr>
                        <a:t>Normal</a:t>
                      </a:r>
                    </a:p>
                  </a:txBody>
                  <a:tcPr marL="64008" marR="64008" marT="27432" marB="27432" anchor="ctr">
                    <a:solidFill>
                      <a:srgbClr val="FFFFFF"/>
                    </a:solidFill>
                  </a:tcPr>
                </a:tc>
                <a:tc>
                  <a:txBody>
                    <a:bodyPr wrap="square"/>
                    <a:lstStyle/>
                    <a:p>
                      <a:r>
                        <a:rPr sz="1000" b="0" i="0">
                          <a:solidFill>
                            <a:srgbClr val="1A1A1A"/>
                          </a:solidFill>
                          <a:latin typeface="Abadi"/>
                        </a:rPr>
                        <a:t>Negative</a:t>
                      </a:r>
                    </a:p>
                  </a:txBody>
                  <a:tcPr marL="64008" marR="64008" marT="27432" marB="27432" anchor="ctr">
                    <a:solidFill>
                      <a:srgbClr val="FFFFFF"/>
                    </a:solidFill>
                  </a:tcPr>
                </a:tc>
                <a:tc>
                  <a:txBody>
                    <a:bodyPr wrap="square"/>
                    <a:lstStyle/>
                    <a:p>
                      <a:r>
                        <a:rPr sz="1000" b="0" i="0">
                          <a:solidFill>
                            <a:srgbClr val="1A1A1A"/>
                          </a:solidFill>
                          <a:latin typeface="Abadi"/>
                        </a:rPr>
                        <a:t>Renamed reflux-negative oesophageal pain disorder (RNEPD)</a:t>
                      </a:r>
                    </a:p>
                  </a:txBody>
                  <a:tcPr marL="64008" marR="64008" marT="27432" marB="27432" anchor="ctr">
                    <a:solidFill>
                      <a:srgbClr val="FFFFFF"/>
                    </a:solidFill>
                  </a:tcPr>
                </a:tc>
              </a:tr>
              <a:tr h="430000">
                <a:tc>
                  <a:txBody>
                    <a:bodyPr wrap="square"/>
                    <a:lstStyle/>
                    <a:p>
                      <a:r>
                        <a:rPr sz="1000" b="1" i="0">
                          <a:solidFill>
                            <a:srgbClr val="1A1A1A"/>
                          </a:solidFill>
                          <a:latin typeface="Abadi"/>
                        </a:rPr>
                        <a:t>RNEPD (children)</a:t>
                      </a:r>
                    </a:p>
                  </a:txBody>
                  <a:tcPr marL="64008" marR="64008" marT="27432" marB="27432" anchor="ctr">
                    <a:solidFill>
                      <a:srgbClr val="F3F5F8"/>
                    </a:solidFill>
                  </a:tcPr>
                </a:tc>
                <a:tc>
                  <a:txBody>
                    <a:bodyPr wrap="square"/>
                    <a:lstStyle/>
                    <a:p>
                      <a:r>
                        <a:rPr sz="1000" b="0" i="0">
                          <a:solidFill>
                            <a:srgbClr val="1A1A1A"/>
                          </a:solidFill>
                          <a:latin typeface="Abadi"/>
                        </a:rPr>
                        <a:t>Normal</a:t>
                      </a:r>
                    </a:p>
                  </a:txBody>
                  <a:tcPr marL="64008" marR="64008" marT="27432" marB="27432" anchor="ctr">
                    <a:solidFill>
                      <a:srgbClr val="F3F5F8"/>
                    </a:solidFill>
                  </a:tcPr>
                </a:tc>
                <a:tc>
                  <a:txBody>
                    <a:bodyPr wrap="square"/>
                    <a:lstStyle/>
                    <a:p>
                      <a:r>
                        <a:rPr sz="1000" b="0" i="0">
                          <a:solidFill>
                            <a:srgbClr val="1A1A1A"/>
                          </a:solidFill>
                          <a:latin typeface="Abadi"/>
                        </a:rPr>
                        <a:t>Negative</a:t>
                      </a:r>
                    </a:p>
                  </a:txBody>
                  <a:tcPr marL="64008" marR="64008" marT="27432" marB="27432" anchor="ctr">
                    <a:solidFill>
                      <a:srgbClr val="F3F5F8"/>
                    </a:solidFill>
                  </a:tcPr>
                </a:tc>
                <a:tc>
                  <a:txBody>
                    <a:bodyPr wrap="square"/>
                    <a:lstStyle/>
                    <a:p>
                      <a:r>
                        <a:rPr sz="1000" b="0" i="0">
                          <a:solidFill>
                            <a:srgbClr val="1A1A1A"/>
                          </a:solidFill>
                          <a:latin typeface="Abadi"/>
                        </a:rPr>
                        <a:t>Neuromodulators 'the mainstay'; surgery 'not indicated'</a:t>
                      </a:r>
                    </a:p>
                  </a:txBody>
                  <a:tcPr marL="64008" marR="64008" marT="27432" marB="27432" anchor="ctr">
                    <a:solidFill>
                      <a:srgbClr val="F3F5F8"/>
                    </a:solidFill>
                  </a:tcPr>
                </a:tc>
              </a:tr>
              <a:tr h="430000">
                <a:tc>
                  <a:txBody>
                    <a:bodyPr wrap="square"/>
                    <a:lstStyle/>
                    <a:p>
                      <a:r>
                        <a:rPr sz="1000" b="1" i="0">
                          <a:solidFill>
                            <a:srgbClr val="1A1A1A"/>
                          </a:solidFill>
                          <a:latin typeface="Abadi"/>
                        </a:rPr>
                        <a:t>Rome IV adult timing</a:t>
                      </a:r>
                    </a:p>
                  </a:txBody>
                  <a:tcPr marL="64008" marR="64008" marT="27432" marB="27432" anchor="ctr">
                    <a:solidFill>
                      <a:srgbClr val="FFFFFF"/>
                    </a:solidFill>
                  </a:tcPr>
                </a:tc>
                <a:tc>
                  <a:txBody>
                    <a:bodyPr wrap="square"/>
                    <a:lstStyle/>
                    <a:p>
                      <a:r>
                        <a:rPr sz="1000" b="0" i="0">
                          <a:solidFill>
                            <a:srgbClr val="1A1A1A"/>
                          </a:solidFill>
                          <a:latin typeface="Abadi"/>
                        </a:rPr>
                        <a:t>—</a:t>
                      </a:r>
                    </a:p>
                  </a:txBody>
                  <a:tcPr marL="64008" marR="64008" marT="27432" marB="27432" anchor="ctr">
                    <a:solidFill>
                      <a:srgbClr val="FFFFFF"/>
                    </a:solidFill>
                  </a:tcPr>
                </a:tc>
                <a:tc>
                  <a:txBody>
                    <a:bodyPr wrap="square"/>
                    <a:lstStyle/>
                    <a:p>
                      <a:r>
                        <a:rPr sz="1000" b="0" i="0">
                          <a:solidFill>
                            <a:srgbClr val="1A1A1A"/>
                          </a:solidFill>
                          <a:latin typeface="Abadi"/>
                        </a:rPr>
                        <a:t>—</a:t>
                      </a:r>
                    </a:p>
                  </a:txBody>
                  <a:tcPr marL="64008" marR="64008" marT="27432" marB="27432" anchor="ctr">
                    <a:solidFill>
                      <a:srgbClr val="FFFFFF"/>
                    </a:solidFill>
                  </a:tcPr>
                </a:tc>
                <a:tc>
                  <a:txBody>
                    <a:bodyPr wrap="square"/>
                    <a:lstStyle/>
                    <a:p>
                      <a:r>
                        <a:rPr sz="1000" b="0" i="0">
                          <a:solidFill>
                            <a:srgbClr val="1A1A1A"/>
                          </a:solidFill>
                          <a:latin typeface="Abadi"/>
                        </a:rPr>
                        <a:t>Last 3 months, onset ≥ 6 months, ≥ 2 times/week</a:t>
                      </a:r>
                    </a:p>
                  </a:txBody>
                  <a:tcPr marL="64008" marR="64008" marT="27432" marB="27432" anchor="ctr">
                    <a:solidFill>
                      <a:srgbClr val="FFFFFF"/>
                    </a:solidFill>
                  </a:tcPr>
                </a:tc>
              </a:tr>
              <a:tr h="430000">
                <a:tc>
                  <a:txBody>
                    <a:bodyPr wrap="square"/>
                    <a:lstStyle/>
                    <a:p>
                      <a:r>
                        <a:rPr sz="1000" b="1" i="0">
                          <a:solidFill>
                            <a:srgbClr val="1A1A1A"/>
                          </a:solidFill>
                          <a:latin typeface="Abadi"/>
                        </a:rPr>
                        <a:t>Under 8 years</a:t>
                      </a:r>
                    </a:p>
                  </a:txBody>
                  <a:tcPr marL="64008" marR="64008" marT="27432" marB="27432" anchor="ctr">
                    <a:solidFill>
                      <a:srgbClr val="F3F5F8"/>
                    </a:solidFill>
                  </a:tcPr>
                </a:tc>
                <a:tc>
                  <a:txBody>
                    <a:bodyPr wrap="square"/>
                    <a:lstStyle/>
                    <a:p>
                      <a:r>
                        <a:rPr sz="1000" b="0" i="0">
                          <a:solidFill>
                            <a:srgbClr val="1A1A1A"/>
                          </a:solidFill>
                          <a:latin typeface="Abadi"/>
                        </a:rPr>
                        <a:t>Normal</a:t>
                      </a:r>
                    </a:p>
                  </a:txBody>
                  <a:tcPr marL="64008" marR="64008" marT="27432" marB="27432" anchor="ctr">
                    <a:solidFill>
                      <a:srgbClr val="F3F5F8"/>
                    </a:solidFill>
                  </a:tcPr>
                </a:tc>
                <a:tc>
                  <a:txBody>
                    <a:bodyPr wrap="square"/>
                    <a:lstStyle/>
                    <a:p>
                      <a:r>
                        <a:rPr sz="1000" b="0" i="0">
                          <a:solidFill>
                            <a:srgbClr val="1A1A1A"/>
                          </a:solidFill>
                          <a:latin typeface="Abadi"/>
                        </a:rPr>
                        <a:t>Judged reflux-related</a:t>
                      </a:r>
                    </a:p>
                  </a:txBody>
                  <a:tcPr marL="64008" marR="64008" marT="27432" marB="27432" anchor="ctr">
                    <a:solidFill>
                      <a:srgbClr val="F3F5F8"/>
                    </a:solidFill>
                  </a:tcPr>
                </a:tc>
                <a:tc>
                  <a:txBody>
                    <a:bodyPr wrap="square"/>
                    <a:lstStyle/>
                    <a:p>
                      <a:r>
                        <a:rPr sz="1000" b="0" i="0">
                          <a:solidFill>
                            <a:srgbClr val="1A1A1A"/>
                          </a:solidFill>
                          <a:latin typeface="Abadi"/>
                        </a:rPr>
                        <a:t>Pain beyond that expected for developmental age</a:t>
                      </a:r>
                    </a:p>
                  </a:txBody>
                  <a:tcPr marL="64008" marR="64008" marT="27432" marB="27432" anchor="ctr">
                    <a:solidFill>
                      <a:srgbClr val="F3F5F8"/>
                    </a:solidFill>
                  </a:tcPr>
                </a:tc>
              </a:tr>
            </a:tbl>
          </a:graphicData>
        </a:graphic>
      </p:graphicFrame>
      <p:sp>
        <p:nvSpPr>
          <p:cNvPr id="13" name="TextBox 12"/>
          <p:cNvSpPr txBox="1"/>
          <p:nvPr/>
        </p:nvSpPr>
        <p:spPr>
          <a:xfrm>
            <a:off x="548640" y="4937760"/>
            <a:ext cx="11082528" cy="860000"/>
          </a:xfrm>
          <a:prstGeom prst="rect">
            <a:avLst/>
          </a:prstGeom>
          <a:noFill/>
        </p:spPr>
        <p:txBody>
          <a:bodyPr wrap="square" lIns="45720" rIns="45720" tIns="27432" bIns="27432" anchor="t">
            <a:spAutoFit/>
          </a:bodyPr>
          <a:lstStyle/>
          <a:p>
            <a:pPr algn="l"/>
            <a:r>
              <a:rPr sz="1250" b="1" i="0">
                <a:solidFill>
                  <a:srgbClr val="1B355E"/>
                </a:solidFill>
                <a:latin typeface="Abadi"/>
              </a:rPr>
              <a:t>Practical point.   </a:t>
            </a:r>
            <a:r>
              <a:rPr sz="1250" b="0" i="0">
                <a:solidFill>
                  <a:srgbClr val="1B355E"/>
                </a:solidFill>
                <a:latin typeface="Abadi"/>
              </a:rPr>
              <a:t>Rome IV for children (2016) did not include oesophageal disorders, so paediatric studies before 2026 used adult criteria. Rome V Paediatric now gives children their own frequency, duration and names.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PHYSIOLOGICAL YARDSTICK</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WHAT COUNTS AS NORMAL ACID EXPOSURE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Lyon 2.0 thresholds for adults, and the paediatric thresholds now used by Rome V</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Gyawali CP, Yadlapati R, Fass R, et al. Gut 2024;73:361–71 · Rosen 2026 (Rome V Paediatric) · Rosen 2018 (NASPGHAN/ESPGHAN) · Pop RS, et al. J Clin Med 2024;13:3351</a:t>
            </a:r>
          </a:p>
        </p:txBody>
      </p:sp>
      <p:graphicFrame>
        <p:nvGraphicFramePr>
          <p:cNvPr id="12" name="Table 11"/>
          <p:cNvGraphicFramePr>
            <a:graphicFrameLocks noGrp="1"/>
          </p:cNvGraphicFramePr>
          <p:nvPr/>
        </p:nvGraphicFramePr>
        <p:xfrm>
          <a:off x="548640" y="1783080"/>
          <a:ext cx="11082526" cy="2680000"/>
        </p:xfrm>
        <a:graphic>
          <a:graphicData uri="http://schemas.openxmlformats.org/drawingml/2006/table">
            <a:tbl>
              <a:tblPr firstRow="1" bandRow="1">
                <a:tableStyleId>{5C22544A-7EE6-4342-B048-85BDC9FD1C3A}</a:tableStyleId>
              </a:tblPr>
              <a:tblGrid>
                <a:gridCol w="2444675"/>
                <a:gridCol w="2118718"/>
                <a:gridCol w="1466805"/>
                <a:gridCol w="1792761"/>
                <a:gridCol w="3259567"/>
              </a:tblGrid>
              <a:tr h="380000">
                <a:tc>
                  <a:txBody>
                    <a:bodyPr wrap="square"/>
                    <a:lstStyle/>
                    <a:p>
                      <a:r>
                        <a:rPr sz="1000" b="1" i="0">
                          <a:solidFill>
                            <a:srgbClr val="FFFFFF"/>
                          </a:solidFill>
                          <a:latin typeface="Abadi"/>
                        </a:rPr>
                        <a:t>Metric</a:t>
                      </a:r>
                    </a:p>
                  </a:txBody>
                  <a:tcPr marL="64008" marR="64008" marT="27432" marB="27432" anchor="ctr">
                    <a:solidFill>
                      <a:srgbClr val="1B355E"/>
                    </a:solidFill>
                  </a:tcPr>
                </a:tc>
                <a:tc>
                  <a:txBody>
                    <a:bodyPr wrap="square"/>
                    <a:lstStyle/>
                    <a:p>
                      <a:r>
                        <a:rPr sz="1000" b="1" i="0">
                          <a:solidFill>
                            <a:srgbClr val="FFFFFF"/>
                          </a:solidFill>
                          <a:latin typeface="Abadi"/>
                        </a:rPr>
                        <a:t>Normal / against GERD</a:t>
                      </a:r>
                    </a:p>
                  </a:txBody>
                  <a:tcPr marL="64008" marR="64008" marT="27432" marB="27432" anchor="ctr">
                    <a:solidFill>
                      <a:srgbClr val="1B355E"/>
                    </a:solidFill>
                  </a:tcPr>
                </a:tc>
                <a:tc>
                  <a:txBody>
                    <a:bodyPr wrap="square"/>
                    <a:lstStyle/>
                    <a:p>
                      <a:r>
                        <a:rPr sz="1000" b="1" i="0">
                          <a:solidFill>
                            <a:srgbClr val="FFFFFF"/>
                          </a:solidFill>
                          <a:latin typeface="Abadi"/>
                        </a:rPr>
                        <a:t>Grey zone</a:t>
                      </a:r>
                    </a:p>
                  </a:txBody>
                  <a:tcPr marL="64008" marR="64008" marT="27432" marB="27432" anchor="ctr">
                    <a:solidFill>
                      <a:srgbClr val="1B355E"/>
                    </a:solidFill>
                  </a:tcPr>
                </a:tc>
                <a:tc>
                  <a:txBody>
                    <a:bodyPr wrap="square"/>
                    <a:lstStyle/>
                    <a:p>
                      <a:r>
                        <a:rPr sz="1000" b="1" i="0">
                          <a:solidFill>
                            <a:srgbClr val="FFFFFF"/>
                          </a:solidFill>
                          <a:latin typeface="Abadi"/>
                        </a:rPr>
                        <a:t>Supports GERD</a:t>
                      </a:r>
                    </a:p>
                  </a:txBody>
                  <a:tcPr marL="64008" marR="64008" marT="27432" marB="27432" anchor="ctr">
                    <a:solidFill>
                      <a:srgbClr val="1B355E"/>
                    </a:solidFill>
                  </a:tcPr>
                </a:tc>
                <a:tc>
                  <a:txBody>
                    <a:bodyPr wrap="square"/>
                    <a:lstStyle/>
                    <a:p>
                      <a:r>
                        <a:rPr sz="1000" b="1" i="0">
                          <a:solidFill>
                            <a:srgbClr val="FFFFFF"/>
                          </a:solidFill>
                          <a:latin typeface="Abadi"/>
                        </a:rPr>
                        <a:t>Children</a:t>
                      </a:r>
                    </a:p>
                  </a:txBody>
                  <a:tcPr marL="64008" marR="64008" marT="27432" marB="27432" anchor="ctr">
                    <a:solidFill>
                      <a:srgbClr val="1B355E"/>
                    </a:solidFill>
                  </a:tcPr>
                </a:tc>
              </a:tr>
              <a:tr h="460000">
                <a:tc>
                  <a:txBody>
                    <a:bodyPr wrap="square"/>
                    <a:lstStyle/>
                    <a:p>
                      <a:r>
                        <a:rPr sz="1000" b="1" i="0">
                          <a:solidFill>
                            <a:srgbClr val="1A1A1A"/>
                          </a:solidFill>
                          <a:latin typeface="Abadi"/>
                        </a:rPr>
                        <a:t>Acid exposure time</a:t>
                      </a:r>
                    </a:p>
                  </a:txBody>
                  <a:tcPr marL="64008" marR="64008" marT="27432" marB="27432" anchor="ctr">
                    <a:solidFill>
                      <a:srgbClr val="FFFFFF"/>
                    </a:solidFill>
                  </a:tcPr>
                </a:tc>
                <a:tc>
                  <a:txBody>
                    <a:bodyPr wrap="square"/>
                    <a:lstStyle/>
                    <a:p>
                      <a:r>
                        <a:rPr sz="1000" b="0" i="0">
                          <a:solidFill>
                            <a:srgbClr val="1A1A1A"/>
                          </a:solidFill>
                          <a:latin typeface="Abadi"/>
                        </a:rPr>
                        <a:t>&lt; 4%</a:t>
                      </a:r>
                    </a:p>
                  </a:txBody>
                  <a:tcPr marL="64008" marR="64008" marT="27432" marB="27432" anchor="ctr">
                    <a:solidFill>
                      <a:srgbClr val="FFFFFF"/>
                    </a:solidFill>
                  </a:tcPr>
                </a:tc>
                <a:tc>
                  <a:txBody>
                    <a:bodyPr wrap="square"/>
                    <a:lstStyle/>
                    <a:p>
                      <a:r>
                        <a:rPr sz="1000" b="0" i="0">
                          <a:solidFill>
                            <a:srgbClr val="1A1A1A"/>
                          </a:solidFill>
                          <a:latin typeface="Abadi"/>
                        </a:rPr>
                        <a:t>4–6%</a:t>
                      </a:r>
                    </a:p>
                  </a:txBody>
                  <a:tcPr marL="64008" marR="64008" marT="27432" marB="27432" anchor="ctr">
                    <a:solidFill>
                      <a:srgbClr val="FFFFFF"/>
                    </a:solidFill>
                  </a:tcPr>
                </a:tc>
                <a:tc>
                  <a:txBody>
                    <a:bodyPr wrap="square"/>
                    <a:lstStyle/>
                    <a:p>
                      <a:r>
                        <a:rPr sz="1000" b="0" i="0">
                          <a:solidFill>
                            <a:srgbClr val="1A1A1A"/>
                          </a:solidFill>
                          <a:latin typeface="Abadi"/>
                        </a:rPr>
                        <a:t>&gt; 6%</a:t>
                      </a:r>
                    </a:p>
                  </a:txBody>
                  <a:tcPr marL="64008" marR="64008" marT="27432" marB="27432" anchor="ctr">
                    <a:solidFill>
                      <a:srgbClr val="FFFFFF"/>
                    </a:solidFill>
                  </a:tcPr>
                </a:tc>
                <a:tc>
                  <a:txBody>
                    <a:bodyPr wrap="square"/>
                    <a:lstStyle/>
                    <a:p>
                      <a:r>
                        <a:rPr sz="1000" b="0" i="0">
                          <a:solidFill>
                            <a:srgbClr val="1A1A1A"/>
                          </a:solidFill>
                          <a:latin typeface="Abadi"/>
                        </a:rPr>
                        <a:t>Rome V: &lt; 6% over 1 y; &lt; 12% under 1 y</a:t>
                      </a:r>
                    </a:p>
                  </a:txBody>
                  <a:tcPr marL="64008" marR="64008" marT="27432" marB="27432" anchor="ctr">
                    <a:solidFill>
                      <a:srgbClr val="FFFFFF"/>
                    </a:solidFill>
                  </a:tcPr>
                </a:tc>
              </a:tr>
              <a:tr h="460000">
                <a:tc>
                  <a:txBody>
                    <a:bodyPr wrap="square"/>
                    <a:lstStyle/>
                    <a:p>
                      <a:r>
                        <a:rPr sz="1000" b="1" i="0">
                          <a:solidFill>
                            <a:srgbClr val="1A1A1A"/>
                          </a:solidFill>
                          <a:latin typeface="Abadi"/>
                        </a:rPr>
                        <a:t>Reflux episodes / 24 h</a:t>
                      </a:r>
                    </a:p>
                  </a:txBody>
                  <a:tcPr marL="64008" marR="64008" marT="27432" marB="27432" anchor="ctr">
                    <a:solidFill>
                      <a:srgbClr val="F3F5F8"/>
                    </a:solidFill>
                  </a:tcPr>
                </a:tc>
                <a:tc>
                  <a:txBody>
                    <a:bodyPr wrap="square"/>
                    <a:lstStyle/>
                    <a:p>
                      <a:r>
                        <a:rPr sz="1000" b="0" i="0">
                          <a:solidFill>
                            <a:srgbClr val="1A1A1A"/>
                          </a:solidFill>
                          <a:latin typeface="Abadi"/>
                        </a:rPr>
                        <a:t>&lt; 40</a:t>
                      </a:r>
                    </a:p>
                  </a:txBody>
                  <a:tcPr marL="64008" marR="64008" marT="27432" marB="27432" anchor="ctr">
                    <a:solidFill>
                      <a:srgbClr val="F3F5F8"/>
                    </a:solidFill>
                  </a:tcPr>
                </a:tc>
                <a:tc>
                  <a:txBody>
                    <a:bodyPr wrap="square"/>
                    <a:lstStyle/>
                    <a:p>
                      <a:r>
                        <a:rPr sz="1000" b="0" i="0">
                          <a:solidFill>
                            <a:srgbClr val="1A1A1A"/>
                          </a:solidFill>
                          <a:latin typeface="Abadi"/>
                        </a:rPr>
                        <a:t>40–80</a:t>
                      </a:r>
                    </a:p>
                  </a:txBody>
                  <a:tcPr marL="64008" marR="64008" marT="27432" marB="27432" anchor="ctr">
                    <a:solidFill>
                      <a:srgbClr val="F3F5F8"/>
                    </a:solidFill>
                  </a:tcPr>
                </a:tc>
                <a:tc>
                  <a:txBody>
                    <a:bodyPr wrap="square"/>
                    <a:lstStyle/>
                    <a:p>
                      <a:r>
                        <a:rPr sz="1000" b="0" i="0">
                          <a:solidFill>
                            <a:srgbClr val="1A1A1A"/>
                          </a:solidFill>
                          <a:latin typeface="Abadi"/>
                        </a:rPr>
                        <a:t>&gt; 80</a:t>
                      </a:r>
                    </a:p>
                  </a:txBody>
                  <a:tcPr marL="64008" marR="64008" marT="27432" marB="27432" anchor="ctr">
                    <a:solidFill>
                      <a:srgbClr val="F3F5F8"/>
                    </a:solidFill>
                  </a:tcPr>
                </a:tc>
                <a:tc>
                  <a:txBody>
                    <a:bodyPr wrap="square"/>
                    <a:lstStyle/>
                    <a:p>
                      <a:r>
                        <a:rPr sz="1000" b="0" i="0">
                          <a:solidFill>
                            <a:srgbClr val="1A1A1A"/>
                          </a:solidFill>
                          <a:latin typeface="Abadi"/>
                        </a:rPr>
                        <a:t>No validated cut-off</a:t>
                      </a:r>
                    </a:p>
                  </a:txBody>
                  <a:tcPr marL="64008" marR="64008" marT="27432" marB="27432" anchor="ctr">
                    <a:solidFill>
                      <a:srgbClr val="F3F5F8"/>
                    </a:solidFill>
                  </a:tcPr>
                </a:tc>
              </a:tr>
              <a:tr h="460000">
                <a:tc>
                  <a:txBody>
                    <a:bodyPr wrap="square"/>
                    <a:lstStyle/>
                    <a:p>
                      <a:r>
                        <a:rPr sz="1000" b="1" i="0">
                          <a:solidFill>
                            <a:srgbClr val="1A1A1A"/>
                          </a:solidFill>
                          <a:latin typeface="Abadi"/>
                        </a:rPr>
                        <a:t>Mean nocturnal baseline impedance</a:t>
                      </a:r>
                    </a:p>
                  </a:txBody>
                  <a:tcPr marL="64008" marR="64008" marT="27432" marB="27432" anchor="ctr">
                    <a:solidFill>
                      <a:srgbClr val="FFFFFF"/>
                    </a:solidFill>
                  </a:tcPr>
                </a:tc>
                <a:tc>
                  <a:txBody>
                    <a:bodyPr wrap="square"/>
                    <a:lstStyle/>
                    <a:p>
                      <a:r>
                        <a:rPr sz="1000" b="0" i="0">
                          <a:solidFill>
                            <a:srgbClr val="1A1A1A"/>
                          </a:solidFill>
                          <a:latin typeface="Abadi"/>
                        </a:rPr>
                        <a:t>&gt; 2500 Ω</a:t>
                      </a:r>
                    </a:p>
                  </a:txBody>
                  <a:tcPr marL="64008" marR="64008" marT="27432" marB="27432" anchor="ctr">
                    <a:solidFill>
                      <a:srgbClr val="FFFFFF"/>
                    </a:solidFill>
                  </a:tcPr>
                </a:tc>
                <a:tc>
                  <a:txBody>
                    <a:bodyPr wrap="square"/>
                    <a:lstStyle/>
                    <a:p>
                      <a:r>
                        <a:rPr sz="1000" b="0" i="0">
                          <a:solidFill>
                            <a:srgbClr val="1A1A1A"/>
                          </a:solidFill>
                          <a:latin typeface="Abadi"/>
                        </a:rPr>
                        <a:t>1500–2500 Ω</a:t>
                      </a:r>
                    </a:p>
                  </a:txBody>
                  <a:tcPr marL="64008" marR="64008" marT="27432" marB="27432" anchor="ctr">
                    <a:solidFill>
                      <a:srgbClr val="FFFFFF"/>
                    </a:solidFill>
                  </a:tcPr>
                </a:tc>
                <a:tc>
                  <a:txBody>
                    <a:bodyPr wrap="square"/>
                    <a:lstStyle/>
                    <a:p>
                      <a:r>
                        <a:rPr sz="1000" b="0" i="0">
                          <a:solidFill>
                            <a:srgbClr val="1A1A1A"/>
                          </a:solidFill>
                          <a:latin typeface="Abadi"/>
                        </a:rPr>
                        <a:t>&lt; 1500 Ω</a:t>
                      </a:r>
                    </a:p>
                  </a:txBody>
                  <a:tcPr marL="64008" marR="64008" marT="27432" marB="27432" anchor="ctr">
                    <a:solidFill>
                      <a:srgbClr val="FFFFFF"/>
                    </a:solidFill>
                  </a:tcPr>
                </a:tc>
                <a:tc>
                  <a:txBody>
                    <a:bodyPr wrap="square"/>
                    <a:lstStyle/>
                    <a:p>
                      <a:r>
                        <a:rPr sz="1000" b="0" i="0">
                          <a:solidFill>
                            <a:srgbClr val="1A1A1A"/>
                          </a:solidFill>
                          <a:latin typeface="Abadi"/>
                        </a:rPr>
                        <a:t>Pooled: GERD 1254, FH 2292 Ω</a:t>
                      </a:r>
                    </a:p>
                  </a:txBody>
                  <a:tcPr marL="64008" marR="64008" marT="27432" marB="27432" anchor="ctr">
                    <a:solidFill>
                      <a:srgbClr val="FFFFFF"/>
                    </a:solidFill>
                  </a:tcPr>
                </a:tc>
              </a:tr>
              <a:tr h="460000">
                <a:tc>
                  <a:txBody>
                    <a:bodyPr wrap="square"/>
                    <a:lstStyle/>
                    <a:p>
                      <a:r>
                        <a:rPr sz="1000" b="1" i="0">
                          <a:solidFill>
                            <a:srgbClr val="1A1A1A"/>
                          </a:solidFill>
                          <a:latin typeface="Abadi"/>
                        </a:rPr>
                        <a:t>Symptom association</a:t>
                      </a:r>
                    </a:p>
                  </a:txBody>
                  <a:tcPr marL="64008" marR="64008" marT="27432" marB="27432" anchor="ctr">
                    <a:solidFill>
                      <a:srgbClr val="F3F5F8"/>
                    </a:solidFill>
                  </a:tcPr>
                </a:tc>
                <a:tc>
                  <a:txBody>
                    <a:bodyPr wrap="square"/>
                    <a:lstStyle/>
                    <a:p>
                      <a:r>
                        <a:rPr sz="1000" b="0" i="0">
                          <a:solidFill>
                            <a:srgbClr val="1A1A1A"/>
                          </a:solidFill>
                          <a:latin typeface="Abadi"/>
                        </a:rPr>
                        <a:t>SI &lt; 50%, SAP ≤ 95%</a:t>
                      </a:r>
                    </a:p>
                  </a:txBody>
                  <a:tcPr marL="64008" marR="64008" marT="27432" marB="27432" anchor="ctr">
                    <a:solidFill>
                      <a:srgbClr val="F3F5F8"/>
                    </a:solidFill>
                  </a:tcPr>
                </a:tc>
                <a:tc>
                  <a:txBody>
                    <a:bodyPr wrap="square"/>
                    <a:lstStyle/>
                    <a:p>
                      <a:r>
                        <a:rPr sz="1000" b="0" i="0">
                          <a:solidFill>
                            <a:srgbClr val="1A1A1A"/>
                          </a:solidFill>
                          <a:latin typeface="Abadi"/>
                        </a:rPr>
                        <a:t>—</a:t>
                      </a:r>
                    </a:p>
                  </a:txBody>
                  <a:tcPr marL="64008" marR="64008" marT="27432" marB="27432" anchor="ctr">
                    <a:solidFill>
                      <a:srgbClr val="F3F5F8"/>
                    </a:solidFill>
                  </a:tcPr>
                </a:tc>
                <a:tc>
                  <a:txBody>
                    <a:bodyPr wrap="square"/>
                    <a:lstStyle/>
                    <a:p>
                      <a:r>
                        <a:rPr sz="1000" b="0" i="0">
                          <a:solidFill>
                            <a:srgbClr val="1A1A1A"/>
                          </a:solidFill>
                          <a:latin typeface="Abadi"/>
                        </a:rPr>
                        <a:t>Adjunctive only</a:t>
                      </a:r>
                    </a:p>
                  </a:txBody>
                  <a:tcPr marL="64008" marR="64008" marT="27432" marB="27432" anchor="ctr">
                    <a:solidFill>
                      <a:srgbClr val="F3F5F8"/>
                    </a:solidFill>
                  </a:tcPr>
                </a:tc>
                <a:tc>
                  <a:txBody>
                    <a:bodyPr wrap="square"/>
                    <a:lstStyle/>
                    <a:p>
                      <a:r>
                        <a:rPr sz="1000" b="0" i="0">
                          <a:solidFill>
                            <a:srgbClr val="1A1A1A"/>
                          </a:solidFill>
                          <a:latin typeface="Abadi"/>
                        </a:rPr>
                        <a:t>No index predicts treatment response</a:t>
                      </a:r>
                    </a:p>
                  </a:txBody>
                  <a:tcPr marL="64008" marR="64008" marT="27432" marB="27432" anchor="ctr">
                    <a:solidFill>
                      <a:srgbClr val="F3F5F8"/>
                    </a:solidFill>
                  </a:tcPr>
                </a:tc>
              </a:tr>
              <a:tr h="460000">
                <a:tc>
                  <a:txBody>
                    <a:bodyPr wrap="square"/>
                    <a:lstStyle/>
                    <a:p>
                      <a:r>
                        <a:rPr sz="1000" b="1" i="0">
                          <a:solidFill>
                            <a:srgbClr val="1A1A1A"/>
                          </a:solidFill>
                          <a:latin typeface="Abadi"/>
                        </a:rPr>
                        <a:t>Testing conditions</a:t>
                      </a:r>
                    </a:p>
                  </a:txBody>
                  <a:tcPr marL="64008" marR="64008" marT="27432" marB="27432" anchor="ctr">
                    <a:solidFill>
                      <a:srgbClr val="FFFFFF"/>
                    </a:solidFill>
                  </a:tcPr>
                </a:tc>
                <a:tc>
                  <a:txBody>
                    <a:bodyPr wrap="square"/>
                    <a:lstStyle/>
                    <a:p>
                      <a:r>
                        <a:rPr sz="1000" b="0" i="0">
                          <a:solidFill>
                            <a:srgbClr val="1A1A1A"/>
                          </a:solidFill>
                          <a:latin typeface="Abadi"/>
                        </a:rPr>
                        <a:t>Off PPI for unproven GERD</a:t>
                      </a:r>
                    </a:p>
                  </a:txBody>
                  <a:tcPr marL="64008" marR="64008" marT="27432" marB="27432" anchor="ctr">
                    <a:solidFill>
                      <a:srgbClr val="FFFFFF"/>
                    </a:solidFill>
                  </a:tcPr>
                </a:tc>
                <a:tc>
                  <a:txBody>
                    <a:bodyPr wrap="square"/>
                    <a:lstStyle/>
                    <a:p>
                      <a:r>
                        <a:rPr sz="1000" b="0" i="0">
                          <a:solidFill>
                            <a:srgbClr val="1A1A1A"/>
                          </a:solidFill>
                          <a:latin typeface="Abadi"/>
                        </a:rPr>
                        <a:t>—</a:t>
                      </a:r>
                    </a:p>
                  </a:txBody>
                  <a:tcPr marL="64008" marR="64008" marT="27432" marB="27432" anchor="ctr">
                    <a:solidFill>
                      <a:srgbClr val="FFFFFF"/>
                    </a:solidFill>
                  </a:tcPr>
                </a:tc>
                <a:tc>
                  <a:txBody>
                    <a:bodyPr wrap="square"/>
                    <a:lstStyle/>
                    <a:p>
                      <a:r>
                        <a:rPr sz="1000" b="0" i="0">
                          <a:solidFill>
                            <a:srgbClr val="1A1A1A"/>
                          </a:solidFill>
                          <a:latin typeface="Abadi"/>
                        </a:rPr>
                        <a:t>On PPI for proven GERD</a:t>
                      </a:r>
                    </a:p>
                  </a:txBody>
                  <a:tcPr marL="64008" marR="64008" marT="27432" marB="27432" anchor="ctr">
                    <a:solidFill>
                      <a:srgbClr val="FFFFFF"/>
                    </a:solidFill>
                  </a:tcPr>
                </a:tc>
                <a:tc>
                  <a:txBody>
                    <a:bodyPr wrap="square"/>
                    <a:lstStyle/>
                    <a:p>
                      <a:r>
                        <a:rPr sz="1000" b="0" i="0">
                          <a:solidFill>
                            <a:srgbClr val="1A1A1A"/>
                          </a:solidFill>
                          <a:latin typeface="Abadi"/>
                        </a:rPr>
                        <a:t>24-h pH-impedance; wireless rarely</a:t>
                      </a:r>
                    </a:p>
                  </a:txBody>
                  <a:tcPr marL="64008" marR="64008" marT="27432" marB="27432" anchor="ctr">
                    <a:solidFill>
                      <a:srgbClr val="FFFFFF"/>
                    </a:solidFill>
                  </a:tcPr>
                </a:tc>
              </a:tr>
            </a:tbl>
          </a:graphicData>
        </a:graphic>
      </p:graphicFrame>
      <p:sp>
        <p:nvSpPr>
          <p:cNvPr id="13" name="TextBox 12"/>
          <p:cNvSpPr txBox="1"/>
          <p:nvPr/>
        </p:nvSpPr>
        <p:spPr>
          <a:xfrm>
            <a:off x="548640" y="4846320"/>
            <a:ext cx="11082528" cy="90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The paediatric 6% cut-off sits at the adult 'conclusive' threshold, so the adult grey zone has no paediatric equivalent. A child at 5% is 'normal' by Rome V and 'inconclusive' by Lyon.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SYMPTOM ASSOCIATION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THE WEAKEST LINK IN THE CLASSIFICATION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Hypersensitivity and functional heartburn are separated by an index whose validity is debated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Katz PO, et al. Am J Gastroenterol 2022;117:27–56 (ACG) · Rosen 2018 (NASPGHAN/ESPGHAN) · Aziz 2016 · Gyawali 2024</a:t>
            </a:r>
          </a:p>
        </p:txBody>
      </p:sp>
      <p:sp>
        <p:nvSpPr>
          <p:cNvPr id="12" name="Rectangle 11"/>
          <p:cNvSpPr/>
          <p:nvPr/>
        </p:nvSpPr>
        <p:spPr>
          <a:xfrm>
            <a:off x="548640" y="1773936"/>
            <a:ext cx="2126284"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126284"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833676" cy="502920"/>
          </a:xfrm>
          <a:prstGeom prst="rect">
            <a:avLst/>
          </a:prstGeom>
          <a:noFill/>
        </p:spPr>
        <p:txBody>
          <a:bodyPr wrap="square" lIns="45720" rIns="45720" tIns="27432" bIns="27432" anchor="t">
            <a:spAutoFit/>
          </a:bodyPr>
          <a:lstStyle/>
          <a:p>
            <a:pPr algn="l"/>
            <a:r>
              <a:rPr sz="1500" b="1" i="0">
                <a:solidFill>
                  <a:srgbClr val="1B355E"/>
                </a:solidFill>
                <a:latin typeface="Abadi"/>
              </a:rPr>
              <a:t>SI</a:t>
            </a:r>
          </a:p>
        </p:txBody>
      </p:sp>
      <p:sp>
        <p:nvSpPr>
          <p:cNvPr id="15" name="TextBox 14"/>
          <p:cNvSpPr txBox="1"/>
          <p:nvPr/>
        </p:nvSpPr>
        <p:spPr>
          <a:xfrm>
            <a:off x="69494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Symptoms preceded by reflux ÷ all symptoms</a:t>
            </a:r>
          </a:p>
          <a:p>
            <a:pPr algn="l">
              <a:spcAft>
                <a:spcPts val="400"/>
              </a:spcAft>
            </a:pPr>
            <a:r>
              <a:rPr sz="1100" b="0" i="0">
                <a:solidFill>
                  <a:srgbClr val="1A1A1A"/>
                </a:solidFill>
                <a:latin typeface="Abadi"/>
              </a:rPr>
              <a:t>▪  Positive ≥ 50%</a:t>
            </a:r>
          </a:p>
        </p:txBody>
      </p:sp>
      <p:sp>
        <p:nvSpPr>
          <p:cNvPr id="16" name="Rectangle 15"/>
          <p:cNvSpPr/>
          <p:nvPr/>
        </p:nvSpPr>
        <p:spPr>
          <a:xfrm>
            <a:off x="2787700" y="1773936"/>
            <a:ext cx="2126284"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87700" y="1773936"/>
            <a:ext cx="2126284"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4004" y="1956816"/>
            <a:ext cx="1833676" cy="502920"/>
          </a:xfrm>
          <a:prstGeom prst="rect">
            <a:avLst/>
          </a:prstGeom>
          <a:noFill/>
        </p:spPr>
        <p:txBody>
          <a:bodyPr wrap="square" lIns="45720" rIns="45720" tIns="27432" bIns="27432" anchor="t">
            <a:spAutoFit/>
          </a:bodyPr>
          <a:lstStyle/>
          <a:p>
            <a:pPr algn="l"/>
            <a:r>
              <a:rPr sz="1500" b="1" i="0">
                <a:solidFill>
                  <a:srgbClr val="1E7A33"/>
                </a:solidFill>
                <a:latin typeface="Abadi"/>
              </a:rPr>
              <a:t>SAP</a:t>
            </a:r>
          </a:p>
        </p:txBody>
      </p:sp>
      <p:sp>
        <p:nvSpPr>
          <p:cNvPr id="19" name="TextBox 18"/>
          <p:cNvSpPr txBox="1"/>
          <p:nvPr/>
        </p:nvSpPr>
        <p:spPr>
          <a:xfrm>
            <a:off x="293400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Statistical probability that the link is not chance</a:t>
            </a:r>
          </a:p>
          <a:p>
            <a:pPr algn="l">
              <a:spcAft>
                <a:spcPts val="400"/>
              </a:spcAft>
            </a:pPr>
            <a:r>
              <a:rPr sz="1100" b="0" i="0">
                <a:solidFill>
                  <a:srgbClr val="1A1A1A"/>
                </a:solidFill>
                <a:latin typeface="Abadi"/>
              </a:rPr>
              <a:t>▪  Positive &gt; 95%</a:t>
            </a:r>
          </a:p>
        </p:txBody>
      </p:sp>
      <p:sp>
        <p:nvSpPr>
          <p:cNvPr id="20" name="Rectangle 19"/>
          <p:cNvSpPr/>
          <p:nvPr/>
        </p:nvSpPr>
        <p:spPr>
          <a:xfrm>
            <a:off x="5026760" y="1773936"/>
            <a:ext cx="2126284"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6760" y="1773936"/>
            <a:ext cx="2126284"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3064" y="1956816"/>
            <a:ext cx="1833676" cy="502920"/>
          </a:xfrm>
          <a:prstGeom prst="rect">
            <a:avLst/>
          </a:prstGeom>
          <a:noFill/>
        </p:spPr>
        <p:txBody>
          <a:bodyPr wrap="square" lIns="45720" rIns="45720" tIns="27432" bIns="27432" anchor="t">
            <a:spAutoFit/>
          </a:bodyPr>
          <a:lstStyle/>
          <a:p>
            <a:pPr algn="l"/>
            <a:r>
              <a:rPr sz="1500" b="1" i="0">
                <a:solidFill>
                  <a:srgbClr val="D97A0B"/>
                </a:solidFill>
                <a:latin typeface="Abadi"/>
              </a:rPr>
              <a:t>Adults</a:t>
            </a:r>
          </a:p>
        </p:txBody>
      </p:sp>
      <p:sp>
        <p:nvSpPr>
          <p:cNvPr id="23" name="TextBox 22"/>
          <p:cNvSpPr txBox="1"/>
          <p:nvPr/>
        </p:nvSpPr>
        <p:spPr>
          <a:xfrm>
            <a:off x="517306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ACG: neither is superior</a:t>
            </a:r>
          </a:p>
          <a:p>
            <a:pPr algn="l">
              <a:spcAft>
                <a:spcPts val="400"/>
              </a:spcAft>
            </a:pPr>
            <a:r>
              <a:rPr sz="1100" b="0" i="0">
                <a:solidFill>
                  <a:srgbClr val="1A1A1A"/>
                </a:solidFill>
                <a:latin typeface="Abadi"/>
              </a:rPr>
              <a:t>▪  Validity 'has been questioned'</a:t>
            </a:r>
          </a:p>
        </p:txBody>
      </p:sp>
      <p:sp>
        <p:nvSpPr>
          <p:cNvPr id="24" name="Rectangle 23"/>
          <p:cNvSpPr/>
          <p:nvPr/>
        </p:nvSpPr>
        <p:spPr>
          <a:xfrm>
            <a:off x="7265820" y="1773936"/>
            <a:ext cx="2126284"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5820" y="1773936"/>
            <a:ext cx="2126284"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2124" y="1956816"/>
            <a:ext cx="1833676" cy="502920"/>
          </a:xfrm>
          <a:prstGeom prst="rect">
            <a:avLst/>
          </a:prstGeom>
          <a:noFill/>
        </p:spPr>
        <p:txBody>
          <a:bodyPr wrap="square" lIns="45720" rIns="45720" tIns="27432" bIns="27432" anchor="t">
            <a:spAutoFit/>
          </a:bodyPr>
          <a:lstStyle/>
          <a:p>
            <a:pPr algn="l"/>
            <a:r>
              <a:rPr sz="1500" b="1" i="0">
                <a:solidFill>
                  <a:srgbClr val="B22222"/>
                </a:solidFill>
                <a:latin typeface="Abadi"/>
              </a:rPr>
              <a:t>Children</a:t>
            </a:r>
          </a:p>
        </p:txBody>
      </p:sp>
      <p:sp>
        <p:nvSpPr>
          <p:cNvPr id="27" name="TextBox 26"/>
          <p:cNvSpPr txBox="1"/>
          <p:nvPr/>
        </p:nvSpPr>
        <p:spPr>
          <a:xfrm>
            <a:off x="741212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NASPGHAN: no index predicts treatment response</a:t>
            </a:r>
          </a:p>
        </p:txBody>
      </p:sp>
      <p:sp>
        <p:nvSpPr>
          <p:cNvPr id="28" name="Rectangle 27"/>
          <p:cNvSpPr/>
          <p:nvPr/>
        </p:nvSpPr>
        <p:spPr>
          <a:xfrm>
            <a:off x="9504880" y="1773936"/>
            <a:ext cx="2126284"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4880" y="1773936"/>
            <a:ext cx="2126284"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51184" y="1956816"/>
            <a:ext cx="1833676" cy="502920"/>
          </a:xfrm>
          <a:prstGeom prst="rect">
            <a:avLst/>
          </a:prstGeom>
          <a:noFill/>
        </p:spPr>
        <p:txBody>
          <a:bodyPr wrap="square" lIns="45720" rIns="45720" tIns="27432" bIns="27432" anchor="t">
            <a:spAutoFit/>
          </a:bodyPr>
          <a:lstStyle/>
          <a:p>
            <a:pPr algn="l"/>
            <a:r>
              <a:rPr sz="1500" b="1" i="0">
                <a:solidFill>
                  <a:srgbClr val="8A939B"/>
                </a:solidFill>
                <a:latin typeface="Abadi"/>
              </a:rPr>
              <a:t>Pitfalls</a:t>
            </a:r>
          </a:p>
        </p:txBody>
      </p:sp>
      <p:sp>
        <p:nvSpPr>
          <p:cNvPr id="31" name="TextBox 30"/>
          <p:cNvSpPr txBox="1"/>
          <p:nvPr/>
        </p:nvSpPr>
        <p:spPr>
          <a:xfrm>
            <a:off x="965118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Few symptoms during study</a:t>
            </a:r>
          </a:p>
          <a:p>
            <a:pPr algn="l">
              <a:spcAft>
                <a:spcPts val="400"/>
              </a:spcAft>
            </a:pPr>
            <a:r>
              <a:rPr sz="1100" b="0" i="0">
                <a:solidFill>
                  <a:srgbClr val="1A1A1A"/>
                </a:solidFill>
                <a:latin typeface="Abadi"/>
              </a:rPr>
              <a:t>▪  Non-verbal children</a:t>
            </a:r>
          </a:p>
          <a:p>
            <a:pPr algn="l">
              <a:spcAft>
                <a:spcPts val="400"/>
              </a:spcAft>
            </a:pPr>
            <a:r>
              <a:rPr sz="1100" b="0" i="0">
                <a:solidFill>
                  <a:srgbClr val="1A1A1A"/>
                </a:solidFill>
                <a:latin typeface="Abadi"/>
              </a:rPr>
              <a:t>▪  Event-button errors</a:t>
            </a:r>
          </a:p>
        </p:txBody>
      </p:sp>
      <p:sp>
        <p:nvSpPr>
          <p:cNvPr id="32" name="TextBox 31"/>
          <p:cNvSpPr txBox="1"/>
          <p:nvPr/>
        </p:nvSpPr>
        <p:spPr>
          <a:xfrm>
            <a:off x="548640" y="4114800"/>
            <a:ext cx="11082528" cy="1500000"/>
          </a:xfrm>
          <a:prstGeom prst="rect">
            <a:avLst/>
          </a:prstGeom>
          <a:noFill/>
        </p:spPr>
        <p:txBody>
          <a:bodyPr wrap="square" lIns="45720" rIns="45720" tIns="27432" bIns="27432" anchor="t">
            <a:spAutoFit/>
          </a:bodyPr>
          <a:lstStyle/>
          <a:p>
            <a:pPr algn="l"/>
            <a:r>
              <a:rPr sz="1250" b="1" i="0">
                <a:solidFill>
                  <a:srgbClr val="1B355E"/>
                </a:solidFill>
                <a:latin typeface="Abadi"/>
              </a:rPr>
              <a:t>Clinical use.   </a:t>
            </a:r>
            <a:r>
              <a:rPr sz="1250" b="0" i="0">
                <a:solidFill>
                  <a:srgbClr val="1B355E"/>
                </a:solidFill>
                <a:latin typeface="Abadi"/>
              </a:rPr>
              <a:t>Treat a positive association as supporting evidence, not as proof. Coach the adolescent before the study to press the button for every episode and to keep a diary; if fewer than a handful of symptoms occur, the association cannot be judged and the label stays open. In the European paediatric cohort, 14.7% of children could not be classified because they had too few symptoms.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PAEDIATRIC DATA</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MOST HAVE NO EXCESS ACID</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Phenotypes in children with heartburn and normal endoscopy tested off PPI by pH-impedance,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Mahoney LB, Nurko S, Rosen R. J Pediatr 2017;189:86–91 (n = 45, Boston) · Blasi E, Stefanelli E, Tambucci R, et al. J Neurogastroenterol Motil 2023;29:156–65 (n = 68, six European centres)</a:t>
            </a:r>
          </a:p>
        </p:txBody>
      </p:sp>
      <p:sp>
        <p:nvSpPr>
          <p:cNvPr id="12" name="TextBox 11"/>
          <p:cNvSpPr txBox="1"/>
          <p:nvPr/>
        </p:nvSpPr>
        <p:spPr>
          <a:xfrm>
            <a:off x="548640" y="1810512"/>
            <a:ext cx="3291840" cy="400000"/>
          </a:xfrm>
          <a:prstGeom prst="rect">
            <a:avLst/>
          </a:prstGeom>
          <a:noFill/>
        </p:spPr>
        <p:txBody>
          <a:bodyPr wrap="square" lIns="45720" rIns="45720" tIns="27432" bIns="27432" anchor="ctr">
            <a:spAutoFit/>
          </a:bodyPr>
          <a:lstStyle/>
          <a:p>
            <a:pPr algn="l"/>
            <a:r>
              <a:rPr sz="1000" b="0" i="0">
                <a:solidFill>
                  <a:srgbClr val="1A1A1A"/>
                </a:solidFill>
                <a:latin typeface="Abadi"/>
              </a:rPr>
              <a:t>Boston 2017 · functional heartburn</a:t>
            </a:r>
          </a:p>
        </p:txBody>
      </p:sp>
      <p:sp>
        <p:nvSpPr>
          <p:cNvPr id="13" name="Rectangle 12"/>
          <p:cNvSpPr/>
          <p:nvPr/>
        </p:nvSpPr>
        <p:spPr>
          <a:xfrm>
            <a:off x="3931920" y="1838512"/>
            <a:ext cx="3072384" cy="344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50024" y="1810512"/>
            <a:ext cx="1463040" cy="400000"/>
          </a:xfrm>
          <a:prstGeom prst="rect">
            <a:avLst/>
          </a:prstGeom>
          <a:noFill/>
        </p:spPr>
        <p:txBody>
          <a:bodyPr wrap="square" lIns="45720" rIns="45720" tIns="27432" bIns="27432" anchor="ctr">
            <a:spAutoFit/>
          </a:bodyPr>
          <a:lstStyle/>
          <a:p>
            <a:pPr algn="l"/>
            <a:r>
              <a:rPr sz="1000" b="1" i="0">
                <a:solidFill>
                  <a:srgbClr val="1A1A1A"/>
                </a:solidFill>
                <a:latin typeface="Abadi"/>
              </a:rPr>
              <a:t>44%</a:t>
            </a:r>
          </a:p>
        </p:txBody>
      </p:sp>
      <p:sp>
        <p:nvSpPr>
          <p:cNvPr id="15" name="TextBox 14"/>
          <p:cNvSpPr txBox="1"/>
          <p:nvPr/>
        </p:nvSpPr>
        <p:spPr>
          <a:xfrm>
            <a:off x="548640" y="2210512"/>
            <a:ext cx="3291840" cy="400000"/>
          </a:xfrm>
          <a:prstGeom prst="rect">
            <a:avLst/>
          </a:prstGeom>
          <a:noFill/>
        </p:spPr>
        <p:txBody>
          <a:bodyPr wrap="square" lIns="45720" rIns="45720" tIns="27432" bIns="27432" anchor="ctr">
            <a:spAutoFit/>
          </a:bodyPr>
          <a:lstStyle/>
          <a:p>
            <a:pPr algn="l"/>
            <a:r>
              <a:rPr sz="1000" b="0" i="0">
                <a:solidFill>
                  <a:srgbClr val="1A1A1A"/>
                </a:solidFill>
                <a:latin typeface="Abadi"/>
              </a:rPr>
              <a:t>Boston 2017 · reflux hypersensitivity</a:t>
            </a:r>
          </a:p>
        </p:txBody>
      </p:sp>
      <p:sp>
        <p:nvSpPr>
          <p:cNvPr id="16" name="Rectangle 15"/>
          <p:cNvSpPr/>
          <p:nvPr/>
        </p:nvSpPr>
        <p:spPr>
          <a:xfrm>
            <a:off x="3931920" y="2238512"/>
            <a:ext cx="2024980" cy="3440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02620" y="2210512"/>
            <a:ext cx="1463040" cy="400000"/>
          </a:xfrm>
          <a:prstGeom prst="rect">
            <a:avLst/>
          </a:prstGeom>
          <a:noFill/>
        </p:spPr>
        <p:txBody>
          <a:bodyPr wrap="square" lIns="45720" rIns="45720" tIns="27432" bIns="27432" anchor="ctr">
            <a:spAutoFit/>
          </a:bodyPr>
          <a:lstStyle/>
          <a:p>
            <a:pPr algn="l"/>
            <a:r>
              <a:rPr sz="1000" b="1" i="0">
                <a:solidFill>
                  <a:srgbClr val="1A1A1A"/>
                </a:solidFill>
                <a:latin typeface="Abadi"/>
              </a:rPr>
              <a:t>29%</a:t>
            </a:r>
          </a:p>
        </p:txBody>
      </p:sp>
      <p:sp>
        <p:nvSpPr>
          <p:cNvPr id="18" name="TextBox 17"/>
          <p:cNvSpPr txBox="1"/>
          <p:nvPr/>
        </p:nvSpPr>
        <p:spPr>
          <a:xfrm>
            <a:off x="548640" y="2610512"/>
            <a:ext cx="3291840" cy="400000"/>
          </a:xfrm>
          <a:prstGeom prst="rect">
            <a:avLst/>
          </a:prstGeom>
          <a:noFill/>
        </p:spPr>
        <p:txBody>
          <a:bodyPr wrap="square" lIns="45720" rIns="45720" tIns="27432" bIns="27432" anchor="ctr">
            <a:spAutoFit/>
          </a:bodyPr>
          <a:lstStyle/>
          <a:p>
            <a:pPr algn="l"/>
            <a:r>
              <a:rPr sz="1000" b="0" i="0">
                <a:solidFill>
                  <a:srgbClr val="1A1A1A"/>
                </a:solidFill>
                <a:latin typeface="Abadi"/>
              </a:rPr>
              <a:t>Boston 2017 · NERD</a:t>
            </a:r>
          </a:p>
        </p:txBody>
      </p:sp>
      <p:sp>
        <p:nvSpPr>
          <p:cNvPr id="19" name="Rectangle 18"/>
          <p:cNvSpPr/>
          <p:nvPr/>
        </p:nvSpPr>
        <p:spPr>
          <a:xfrm>
            <a:off x="3931920" y="2638512"/>
            <a:ext cx="1885326" cy="3440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62966" y="2610512"/>
            <a:ext cx="1463040" cy="400000"/>
          </a:xfrm>
          <a:prstGeom prst="rect">
            <a:avLst/>
          </a:prstGeom>
          <a:noFill/>
        </p:spPr>
        <p:txBody>
          <a:bodyPr wrap="square" lIns="45720" rIns="45720" tIns="27432" bIns="27432" anchor="ctr">
            <a:spAutoFit/>
          </a:bodyPr>
          <a:lstStyle/>
          <a:p>
            <a:pPr algn="l"/>
            <a:r>
              <a:rPr sz="1000" b="1" i="0">
                <a:solidFill>
                  <a:srgbClr val="1A1A1A"/>
                </a:solidFill>
                <a:latin typeface="Abadi"/>
              </a:rPr>
              <a:t>27%</a:t>
            </a:r>
          </a:p>
        </p:txBody>
      </p:sp>
      <p:sp>
        <p:nvSpPr>
          <p:cNvPr id="21" name="TextBox 20"/>
          <p:cNvSpPr txBox="1"/>
          <p:nvPr/>
        </p:nvSpPr>
        <p:spPr>
          <a:xfrm>
            <a:off x="548640" y="3010512"/>
            <a:ext cx="3291840" cy="400000"/>
          </a:xfrm>
          <a:prstGeom prst="rect">
            <a:avLst/>
          </a:prstGeom>
          <a:noFill/>
        </p:spPr>
        <p:txBody>
          <a:bodyPr wrap="square" lIns="45720" rIns="45720" tIns="27432" bIns="27432" anchor="ctr">
            <a:spAutoFit/>
          </a:bodyPr>
          <a:lstStyle/>
          <a:p>
            <a:pPr algn="l"/>
            <a:r>
              <a:rPr sz="1000" b="0" i="0">
                <a:solidFill>
                  <a:srgbClr val="1A1A1A"/>
                </a:solidFill>
                <a:latin typeface="Abadi"/>
              </a:rPr>
              <a:t>Europe 2023 · functional heartburn</a:t>
            </a:r>
          </a:p>
        </p:txBody>
      </p:sp>
      <p:sp>
        <p:nvSpPr>
          <p:cNvPr id="22" name="Rectangle 21"/>
          <p:cNvSpPr/>
          <p:nvPr/>
        </p:nvSpPr>
        <p:spPr>
          <a:xfrm>
            <a:off x="3931920" y="3038512"/>
            <a:ext cx="2667387" cy="344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45027" y="3010512"/>
            <a:ext cx="1463040" cy="400000"/>
          </a:xfrm>
          <a:prstGeom prst="rect">
            <a:avLst/>
          </a:prstGeom>
          <a:noFill/>
        </p:spPr>
        <p:txBody>
          <a:bodyPr wrap="square" lIns="45720" rIns="45720" tIns="27432" bIns="27432" anchor="ctr">
            <a:spAutoFit/>
          </a:bodyPr>
          <a:lstStyle/>
          <a:p>
            <a:pPr algn="l"/>
            <a:r>
              <a:rPr sz="1000" b="1" i="0">
                <a:solidFill>
                  <a:srgbClr val="1A1A1A"/>
                </a:solidFill>
                <a:latin typeface="Abadi"/>
              </a:rPr>
              <a:t>38.2%</a:t>
            </a:r>
          </a:p>
        </p:txBody>
      </p:sp>
      <p:sp>
        <p:nvSpPr>
          <p:cNvPr id="24" name="TextBox 23"/>
          <p:cNvSpPr txBox="1"/>
          <p:nvPr/>
        </p:nvSpPr>
        <p:spPr>
          <a:xfrm>
            <a:off x="548640" y="3410512"/>
            <a:ext cx="3291840" cy="400000"/>
          </a:xfrm>
          <a:prstGeom prst="rect">
            <a:avLst/>
          </a:prstGeom>
          <a:noFill/>
        </p:spPr>
        <p:txBody>
          <a:bodyPr wrap="square" lIns="45720" rIns="45720" tIns="27432" bIns="27432" anchor="ctr">
            <a:spAutoFit/>
          </a:bodyPr>
          <a:lstStyle/>
          <a:p>
            <a:pPr algn="l"/>
            <a:r>
              <a:rPr sz="1000" b="0" i="0">
                <a:solidFill>
                  <a:srgbClr val="1A1A1A"/>
                </a:solidFill>
                <a:latin typeface="Abadi"/>
              </a:rPr>
              <a:t>Europe 2023 · reflux hypersensitivity</a:t>
            </a:r>
          </a:p>
        </p:txBody>
      </p:sp>
      <p:sp>
        <p:nvSpPr>
          <p:cNvPr id="25" name="Rectangle 24"/>
          <p:cNvSpPr/>
          <p:nvPr/>
        </p:nvSpPr>
        <p:spPr>
          <a:xfrm>
            <a:off x="3931920" y="3438512"/>
            <a:ext cx="1438434" cy="3440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16074" y="3410512"/>
            <a:ext cx="1463040" cy="400000"/>
          </a:xfrm>
          <a:prstGeom prst="rect">
            <a:avLst/>
          </a:prstGeom>
          <a:noFill/>
        </p:spPr>
        <p:txBody>
          <a:bodyPr wrap="square" lIns="45720" rIns="45720" tIns="27432" bIns="27432" anchor="ctr">
            <a:spAutoFit/>
          </a:bodyPr>
          <a:lstStyle/>
          <a:p>
            <a:pPr algn="l"/>
            <a:r>
              <a:rPr sz="1000" b="1" i="0">
                <a:solidFill>
                  <a:srgbClr val="1A1A1A"/>
                </a:solidFill>
                <a:latin typeface="Abadi"/>
              </a:rPr>
              <a:t>20.6%</a:t>
            </a:r>
          </a:p>
        </p:txBody>
      </p:sp>
      <p:sp>
        <p:nvSpPr>
          <p:cNvPr id="27" name="TextBox 26"/>
          <p:cNvSpPr txBox="1"/>
          <p:nvPr/>
        </p:nvSpPr>
        <p:spPr>
          <a:xfrm>
            <a:off x="548640" y="3810512"/>
            <a:ext cx="3291840" cy="400000"/>
          </a:xfrm>
          <a:prstGeom prst="rect">
            <a:avLst/>
          </a:prstGeom>
          <a:noFill/>
        </p:spPr>
        <p:txBody>
          <a:bodyPr wrap="square" lIns="45720" rIns="45720" tIns="27432" bIns="27432" anchor="ctr">
            <a:spAutoFit/>
          </a:bodyPr>
          <a:lstStyle/>
          <a:p>
            <a:pPr algn="l"/>
            <a:r>
              <a:rPr sz="1000" b="0" i="0">
                <a:solidFill>
                  <a:srgbClr val="1A1A1A"/>
                </a:solidFill>
                <a:latin typeface="Abadi"/>
              </a:rPr>
              <a:t>Europe 2023 · NERD</a:t>
            </a:r>
          </a:p>
        </p:txBody>
      </p:sp>
      <p:sp>
        <p:nvSpPr>
          <p:cNvPr id="28" name="Rectangle 27"/>
          <p:cNvSpPr/>
          <p:nvPr/>
        </p:nvSpPr>
        <p:spPr>
          <a:xfrm>
            <a:off x="3931920" y="3838512"/>
            <a:ext cx="1850413" cy="3440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28053" y="3810512"/>
            <a:ext cx="1463040" cy="400000"/>
          </a:xfrm>
          <a:prstGeom prst="rect">
            <a:avLst/>
          </a:prstGeom>
          <a:noFill/>
        </p:spPr>
        <p:txBody>
          <a:bodyPr wrap="square" lIns="45720" rIns="45720" tIns="27432" bIns="27432" anchor="ctr">
            <a:spAutoFit/>
          </a:bodyPr>
          <a:lstStyle/>
          <a:p>
            <a:pPr algn="l"/>
            <a:r>
              <a:rPr sz="1000" b="1" i="0">
                <a:solidFill>
                  <a:srgbClr val="1A1A1A"/>
                </a:solidFill>
                <a:latin typeface="Abadi"/>
              </a:rPr>
              <a:t>26.5%</a:t>
            </a:r>
          </a:p>
        </p:txBody>
      </p:sp>
      <p:sp>
        <p:nvSpPr>
          <p:cNvPr id="30" name="TextBox 29"/>
          <p:cNvSpPr txBox="1"/>
          <p:nvPr/>
        </p:nvSpPr>
        <p:spPr>
          <a:xfrm>
            <a:off x="548640" y="4210512"/>
            <a:ext cx="3291840" cy="400000"/>
          </a:xfrm>
          <a:prstGeom prst="rect">
            <a:avLst/>
          </a:prstGeom>
          <a:noFill/>
        </p:spPr>
        <p:txBody>
          <a:bodyPr wrap="square" lIns="45720" rIns="45720" tIns="27432" bIns="27432" anchor="ctr">
            <a:spAutoFit/>
          </a:bodyPr>
          <a:lstStyle/>
          <a:p>
            <a:pPr algn="l"/>
            <a:r>
              <a:rPr sz="1000" b="0" i="0">
                <a:solidFill>
                  <a:srgbClr val="1A1A1A"/>
                </a:solidFill>
                <a:latin typeface="Abadi"/>
              </a:rPr>
              <a:t>Europe 2023 · too few symptoms</a:t>
            </a:r>
          </a:p>
        </p:txBody>
      </p:sp>
      <p:sp>
        <p:nvSpPr>
          <p:cNvPr id="31" name="Rectangle 30"/>
          <p:cNvSpPr/>
          <p:nvPr/>
        </p:nvSpPr>
        <p:spPr>
          <a:xfrm>
            <a:off x="3931920" y="4238512"/>
            <a:ext cx="1026455" cy="34400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04095" y="4210512"/>
            <a:ext cx="1463040" cy="400000"/>
          </a:xfrm>
          <a:prstGeom prst="rect">
            <a:avLst/>
          </a:prstGeom>
          <a:noFill/>
        </p:spPr>
        <p:txBody>
          <a:bodyPr wrap="square" lIns="45720" rIns="45720" tIns="27432" bIns="27432" anchor="ctr">
            <a:spAutoFit/>
          </a:bodyPr>
          <a:lstStyle/>
          <a:p>
            <a:pPr algn="l"/>
            <a:r>
              <a:rPr sz="1000" b="1" i="0">
                <a:solidFill>
                  <a:srgbClr val="1A1A1A"/>
                </a:solidFill>
                <a:latin typeface="Abadi"/>
              </a:rPr>
              <a:t>14.7%</a:t>
            </a:r>
          </a:p>
        </p:txBody>
      </p:sp>
      <p:sp>
        <p:nvSpPr>
          <p:cNvPr id="33" name="TextBox 32"/>
          <p:cNvSpPr txBox="1"/>
          <p:nvPr/>
        </p:nvSpPr>
        <p:spPr>
          <a:xfrm>
            <a:off x="548640" y="4656232"/>
            <a:ext cx="7863840" cy="274320"/>
          </a:xfrm>
          <a:prstGeom prst="rect">
            <a:avLst/>
          </a:prstGeom>
          <a:noFill/>
        </p:spPr>
        <p:txBody>
          <a:bodyPr wrap="square" lIns="45720" rIns="45720" tIns="27432" bIns="27432" anchor="t">
            <a:spAutoFit/>
          </a:bodyPr>
          <a:lstStyle/>
          <a:p>
            <a:pPr algn="l"/>
            <a:r>
              <a:rPr sz="950" b="0" i="0">
                <a:solidFill>
                  <a:srgbClr val="8A939B"/>
                </a:solidFill>
                <a:latin typeface="Abadi"/>
              </a:rPr>
              <a:t>Boston: age ≥ 5 y, mean 11.8 y. Europe: age 5–17 y, 68 eligible of 2,333 tested; NERD defined as reflux index &gt; 5%.</a:t>
            </a:r>
          </a:p>
        </p:txBody>
      </p:sp>
      <p:sp>
        <p:nvSpPr>
          <p:cNvPr id="34" name="TextBox 33"/>
          <p:cNvSpPr txBox="1"/>
          <p:nvPr/>
        </p:nvSpPr>
        <p:spPr>
          <a:xfrm>
            <a:off x="8778240" y="17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~70%</a:t>
            </a:r>
          </a:p>
        </p:txBody>
      </p:sp>
      <p:sp>
        <p:nvSpPr>
          <p:cNvPr id="35" name="TextBox 34"/>
          <p:cNvSpPr txBox="1"/>
          <p:nvPr/>
        </p:nvSpPr>
        <p:spPr>
          <a:xfrm>
            <a:off x="8778240" y="20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of children with heartburn and a normal EGD had normal acid exposure in Boston.</a:t>
            </a:r>
          </a:p>
        </p:txBody>
      </p:sp>
      <p:sp>
        <p:nvSpPr>
          <p:cNvPr id="36" name="TextBox 35"/>
          <p:cNvSpPr txBox="1"/>
          <p:nvPr/>
        </p:nvSpPr>
        <p:spPr>
          <a:xfrm>
            <a:off x="8778240" y="26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2%</a:t>
            </a:r>
          </a:p>
        </p:txBody>
      </p:sp>
      <p:sp>
        <p:nvSpPr>
          <p:cNvPr id="37" name="TextBox 36"/>
          <p:cNvSpPr txBox="1"/>
          <p:nvPr/>
        </p:nvSpPr>
        <p:spPr>
          <a:xfrm>
            <a:off x="8778240" y="29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had hypersensitivity to non-acid reflux (27% to acid).</a:t>
            </a:r>
          </a:p>
        </p:txBody>
      </p:sp>
      <p:sp>
        <p:nvSpPr>
          <p:cNvPr id="38" name="TextBox 37"/>
          <p:cNvSpPr txBox="1"/>
          <p:nvPr/>
        </p:nvSpPr>
        <p:spPr>
          <a:xfrm>
            <a:off x="8778240" y="35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17–25%</a:t>
            </a:r>
          </a:p>
        </p:txBody>
      </p:sp>
      <p:sp>
        <p:nvSpPr>
          <p:cNvPr id="39" name="TextBox 38"/>
          <p:cNvSpPr txBox="1"/>
          <p:nvPr/>
        </p:nvSpPr>
        <p:spPr>
          <a:xfrm>
            <a:off x="8778240" y="38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had microscopic oesophagitis in every phenotype, so histology does not sort them.</a:t>
            </a:r>
          </a:p>
        </p:txBody>
      </p:sp>
      <p:sp>
        <p:nvSpPr>
          <p:cNvPr id="40" name="TextBox 39"/>
          <p:cNvSpPr txBox="1"/>
          <p:nvPr/>
        </p:nvSpPr>
        <p:spPr>
          <a:xfrm>
            <a:off x="548640" y="5029200"/>
            <a:ext cx="7955279" cy="80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In adolescents with refractory heartburn, functional disorders are the commonest diagnosis, not a rare exclusion.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PPI RESPONSE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RESPONSE TO A PPI DOES NOT SORT THE PHENOTYPES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Proportion improving on a PPI by phenotype,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Mahoney 2017 ('some improvement', n = 45) · Blasi 2023 (complete resolution, n = 18 with follow-up in these groups) · Katz 2022 (ACG, adults)</a:t>
            </a:r>
          </a:p>
        </p:txBody>
      </p:sp>
      <p:sp>
        <p:nvSpPr>
          <p:cNvPr id="12" name="TextBox 11"/>
          <p:cNvSpPr txBox="1"/>
          <p:nvPr/>
        </p:nvSpPr>
        <p:spPr>
          <a:xfrm>
            <a:off x="548640" y="181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Boston · NERD, some improvement</a:t>
            </a:r>
          </a:p>
        </p:txBody>
      </p:sp>
      <p:sp>
        <p:nvSpPr>
          <p:cNvPr id="13" name="Rectangle 12"/>
          <p:cNvSpPr/>
          <p:nvPr/>
        </p:nvSpPr>
        <p:spPr>
          <a:xfrm>
            <a:off x="3931920" y="1840612"/>
            <a:ext cx="2784348" cy="369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1988" y="181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58%</a:t>
            </a:r>
          </a:p>
        </p:txBody>
      </p:sp>
      <p:sp>
        <p:nvSpPr>
          <p:cNvPr id="15" name="TextBox 14"/>
          <p:cNvSpPr txBox="1"/>
          <p:nvPr/>
        </p:nvSpPr>
        <p:spPr>
          <a:xfrm>
            <a:off x="548640" y="224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Boston · RH, some improvement</a:t>
            </a:r>
          </a:p>
        </p:txBody>
      </p:sp>
      <p:sp>
        <p:nvSpPr>
          <p:cNvPr id="16" name="Rectangle 15"/>
          <p:cNvSpPr/>
          <p:nvPr/>
        </p:nvSpPr>
        <p:spPr>
          <a:xfrm>
            <a:off x="3931920" y="2270612"/>
            <a:ext cx="3216402" cy="3698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94042" y="224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67%</a:t>
            </a:r>
          </a:p>
        </p:txBody>
      </p:sp>
      <p:sp>
        <p:nvSpPr>
          <p:cNvPr id="18" name="TextBox 17"/>
          <p:cNvSpPr txBox="1"/>
          <p:nvPr/>
        </p:nvSpPr>
        <p:spPr>
          <a:xfrm>
            <a:off x="548640" y="267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Boston · FH, some improvement</a:t>
            </a:r>
          </a:p>
        </p:txBody>
      </p:sp>
      <p:sp>
        <p:nvSpPr>
          <p:cNvPr id="19" name="Rectangle 18"/>
          <p:cNvSpPr/>
          <p:nvPr/>
        </p:nvSpPr>
        <p:spPr>
          <a:xfrm>
            <a:off x="3931920" y="2700612"/>
            <a:ext cx="2640330" cy="3698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17970" y="267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55%</a:t>
            </a:r>
          </a:p>
        </p:txBody>
      </p:sp>
      <p:sp>
        <p:nvSpPr>
          <p:cNvPr id="21" name="TextBox 20"/>
          <p:cNvSpPr txBox="1"/>
          <p:nvPr/>
        </p:nvSpPr>
        <p:spPr>
          <a:xfrm>
            <a:off x="548640" y="310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Europe · NERD, complete (5/8)</a:t>
            </a:r>
          </a:p>
        </p:txBody>
      </p:sp>
      <p:sp>
        <p:nvSpPr>
          <p:cNvPr id="22" name="Rectangle 21"/>
          <p:cNvSpPr/>
          <p:nvPr/>
        </p:nvSpPr>
        <p:spPr>
          <a:xfrm>
            <a:off x="3931920" y="3130612"/>
            <a:ext cx="3000375" cy="369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78015" y="310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62.5%</a:t>
            </a:r>
          </a:p>
        </p:txBody>
      </p:sp>
      <p:sp>
        <p:nvSpPr>
          <p:cNvPr id="24" name="TextBox 23"/>
          <p:cNvSpPr txBox="1"/>
          <p:nvPr/>
        </p:nvSpPr>
        <p:spPr>
          <a:xfrm>
            <a:off x="548640" y="353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Europe · FH, complete (2/8)</a:t>
            </a:r>
          </a:p>
        </p:txBody>
      </p:sp>
      <p:sp>
        <p:nvSpPr>
          <p:cNvPr id="25" name="Rectangle 24"/>
          <p:cNvSpPr/>
          <p:nvPr/>
        </p:nvSpPr>
        <p:spPr>
          <a:xfrm>
            <a:off x="3931920" y="3560612"/>
            <a:ext cx="1200150" cy="3698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77790" y="353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25%</a:t>
            </a:r>
          </a:p>
        </p:txBody>
      </p:sp>
      <p:sp>
        <p:nvSpPr>
          <p:cNvPr id="27" name="TextBox 26"/>
          <p:cNvSpPr txBox="1"/>
          <p:nvPr/>
        </p:nvSpPr>
        <p:spPr>
          <a:xfrm>
            <a:off x="548640" y="396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Europe · RH, complete (0/2)</a:t>
            </a:r>
          </a:p>
        </p:txBody>
      </p:sp>
      <p:sp>
        <p:nvSpPr>
          <p:cNvPr id="28" name="Rectangle 27"/>
          <p:cNvSpPr/>
          <p:nvPr/>
        </p:nvSpPr>
        <p:spPr>
          <a:xfrm>
            <a:off x="3931920" y="3990612"/>
            <a:ext cx="18288" cy="3698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95928" y="396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0%</a:t>
            </a:r>
          </a:p>
        </p:txBody>
      </p:sp>
      <p:sp>
        <p:nvSpPr>
          <p:cNvPr id="30" name="TextBox 29"/>
          <p:cNvSpPr txBox="1"/>
          <p:nvPr/>
        </p:nvSpPr>
        <p:spPr>
          <a:xfrm>
            <a:off x="548640" y="4436232"/>
            <a:ext cx="7863840" cy="274320"/>
          </a:xfrm>
          <a:prstGeom prst="rect">
            <a:avLst/>
          </a:prstGeom>
          <a:noFill/>
        </p:spPr>
        <p:txBody>
          <a:bodyPr wrap="square" lIns="45720" rIns="45720" tIns="27432" bIns="27432" anchor="t">
            <a:spAutoFit/>
          </a:bodyPr>
          <a:lstStyle/>
          <a:p>
            <a:pPr algn="l"/>
            <a:r>
              <a:rPr sz="950" b="0" i="0">
                <a:solidFill>
                  <a:srgbClr val="8A939B"/>
                </a:solidFill>
                <a:latin typeface="Abadi"/>
              </a:rPr>
              <a:t>Small numbers; 'some improvement' is consistent with a large placebo effect. Boston found no dose effect above versus below 1 mg/kg.</a:t>
            </a:r>
          </a:p>
        </p:txBody>
      </p:sp>
      <p:sp>
        <p:nvSpPr>
          <p:cNvPr id="31" name="TextBox 30"/>
          <p:cNvSpPr txBox="1"/>
          <p:nvPr/>
        </p:nvSpPr>
        <p:spPr>
          <a:xfrm>
            <a:off x="8778240" y="17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70–80%</a:t>
            </a:r>
          </a:p>
        </p:txBody>
      </p:sp>
      <p:sp>
        <p:nvSpPr>
          <p:cNvPr id="32" name="TextBox 31"/>
          <p:cNvSpPr txBox="1"/>
          <p:nvPr/>
        </p:nvSpPr>
        <p:spPr>
          <a:xfrm>
            <a:off x="8778240" y="20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Complete relief on PPI in adult erosive oesophagitis (ACG 2022).</a:t>
            </a:r>
          </a:p>
        </p:txBody>
      </p:sp>
      <p:sp>
        <p:nvSpPr>
          <p:cNvPr id="33" name="TextBox 32"/>
          <p:cNvSpPr txBox="1"/>
          <p:nvPr/>
        </p:nvSpPr>
        <p:spPr>
          <a:xfrm>
            <a:off x="8778240" y="26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50–60%</a:t>
            </a:r>
          </a:p>
        </p:txBody>
      </p:sp>
      <p:sp>
        <p:nvSpPr>
          <p:cNvPr id="34" name="TextBox 33"/>
          <p:cNvSpPr txBox="1"/>
          <p:nvPr/>
        </p:nvSpPr>
        <p:spPr>
          <a:xfrm>
            <a:off x="8778240" y="29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In adult NERD.</a:t>
            </a:r>
          </a:p>
        </p:txBody>
      </p:sp>
      <p:sp>
        <p:nvSpPr>
          <p:cNvPr id="35" name="TextBox 34"/>
          <p:cNvSpPr txBox="1"/>
          <p:nvPr/>
        </p:nvSpPr>
        <p:spPr>
          <a:xfrm>
            <a:off x="8778240" y="35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No value</a:t>
            </a:r>
          </a:p>
        </p:txBody>
      </p:sp>
      <p:sp>
        <p:nvSpPr>
          <p:cNvPr id="36" name="TextBox 35"/>
          <p:cNvSpPr txBox="1"/>
          <p:nvPr/>
        </p:nvSpPr>
        <p:spPr>
          <a:xfrm>
            <a:off x="8778240" y="38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AGA 2020: PPIs have no therapeutic value in functional heartburn without GERD.</a:t>
            </a:r>
          </a:p>
        </p:txBody>
      </p:sp>
      <p:sp>
        <p:nvSpPr>
          <p:cNvPr id="37" name="TextBox 36"/>
          <p:cNvSpPr txBox="1"/>
          <p:nvPr/>
        </p:nvSpPr>
        <p:spPr>
          <a:xfrm>
            <a:off x="548640" y="5029200"/>
            <a:ext cx="7955279" cy="80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Partial PPI response is the norm in all phenotypes. It is a reason to test, not a reason to double the dose.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IMPEDANCE BEYOND ACID</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IMPEDANCE SEPARATES DISEASE FROM FUNCTION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Mean nocturnal baseline impedance in children by phenotype, Ω (lower = more mucosal damage)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Blasi 2023 (medians) · Pop RS, Farcău D, Chiperi LE, Dumitrașcu DL. J Clin Med 2024;13:3351 (systematic review, 8 studies, 479 children)</a:t>
            </a:r>
          </a:p>
        </p:txBody>
      </p:sp>
      <p:sp>
        <p:nvSpPr>
          <p:cNvPr id="12" name="TextBox 11"/>
          <p:cNvSpPr txBox="1"/>
          <p:nvPr/>
        </p:nvSpPr>
        <p:spPr>
          <a:xfrm>
            <a:off x="548640" y="181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Europe 2023 · NERD</a:t>
            </a:r>
          </a:p>
        </p:txBody>
      </p:sp>
      <p:sp>
        <p:nvSpPr>
          <p:cNvPr id="13" name="Rectangle 12"/>
          <p:cNvSpPr/>
          <p:nvPr/>
        </p:nvSpPr>
        <p:spPr>
          <a:xfrm>
            <a:off x="3931920" y="1840612"/>
            <a:ext cx="1578197" cy="369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55837" y="181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1,315 Ω</a:t>
            </a:r>
          </a:p>
        </p:txBody>
      </p:sp>
      <p:sp>
        <p:nvSpPr>
          <p:cNvPr id="15" name="TextBox 14"/>
          <p:cNvSpPr txBox="1"/>
          <p:nvPr/>
        </p:nvSpPr>
        <p:spPr>
          <a:xfrm>
            <a:off x="548640" y="224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Europe 2023 · functional heartburn</a:t>
            </a:r>
          </a:p>
        </p:txBody>
      </p:sp>
      <p:sp>
        <p:nvSpPr>
          <p:cNvPr id="16" name="Rectangle 15"/>
          <p:cNvSpPr/>
          <p:nvPr/>
        </p:nvSpPr>
        <p:spPr>
          <a:xfrm>
            <a:off x="3931920" y="2270612"/>
            <a:ext cx="3091586" cy="3698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69226" y="224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2,576 Ω</a:t>
            </a:r>
          </a:p>
        </p:txBody>
      </p:sp>
      <p:sp>
        <p:nvSpPr>
          <p:cNvPr id="18" name="TextBox 17"/>
          <p:cNvSpPr txBox="1"/>
          <p:nvPr/>
        </p:nvSpPr>
        <p:spPr>
          <a:xfrm>
            <a:off x="548640" y="267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Europe 2023 · reflux hypersensitivity</a:t>
            </a:r>
          </a:p>
        </p:txBody>
      </p:sp>
      <p:sp>
        <p:nvSpPr>
          <p:cNvPr id="19" name="Rectangle 18"/>
          <p:cNvSpPr/>
          <p:nvPr/>
        </p:nvSpPr>
        <p:spPr>
          <a:xfrm>
            <a:off x="3931920" y="2700612"/>
            <a:ext cx="3269208" cy="3698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6848" y="267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2,724 Ω</a:t>
            </a:r>
          </a:p>
        </p:txBody>
      </p:sp>
      <p:sp>
        <p:nvSpPr>
          <p:cNvPr id="21" name="TextBox 20"/>
          <p:cNvSpPr txBox="1"/>
          <p:nvPr/>
        </p:nvSpPr>
        <p:spPr>
          <a:xfrm>
            <a:off x="548640" y="310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Pooled · GERD</a:t>
            </a:r>
          </a:p>
        </p:txBody>
      </p:sp>
      <p:sp>
        <p:nvSpPr>
          <p:cNvPr id="22" name="Rectangle 21"/>
          <p:cNvSpPr/>
          <p:nvPr/>
        </p:nvSpPr>
        <p:spPr>
          <a:xfrm>
            <a:off x="3931920" y="3130612"/>
            <a:ext cx="1504988" cy="369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2628" y="310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1,254 Ω</a:t>
            </a:r>
          </a:p>
        </p:txBody>
      </p:sp>
      <p:sp>
        <p:nvSpPr>
          <p:cNvPr id="24" name="TextBox 23"/>
          <p:cNvSpPr txBox="1"/>
          <p:nvPr/>
        </p:nvSpPr>
        <p:spPr>
          <a:xfrm>
            <a:off x="548640" y="353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Pooled · reflux hypersensitivity</a:t>
            </a:r>
          </a:p>
        </p:txBody>
      </p:sp>
      <p:sp>
        <p:nvSpPr>
          <p:cNvPr id="25" name="Rectangle 24"/>
          <p:cNvSpPr/>
          <p:nvPr/>
        </p:nvSpPr>
        <p:spPr>
          <a:xfrm>
            <a:off x="3931920" y="3560612"/>
            <a:ext cx="2154269" cy="3698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31909" y="353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1,795 Ω</a:t>
            </a:r>
          </a:p>
        </p:txBody>
      </p:sp>
      <p:sp>
        <p:nvSpPr>
          <p:cNvPr id="27" name="TextBox 26"/>
          <p:cNvSpPr txBox="1"/>
          <p:nvPr/>
        </p:nvSpPr>
        <p:spPr>
          <a:xfrm>
            <a:off x="548640" y="396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Pooled · functional heartburn</a:t>
            </a:r>
          </a:p>
        </p:txBody>
      </p:sp>
      <p:sp>
        <p:nvSpPr>
          <p:cNvPr id="28" name="Rectangle 27"/>
          <p:cNvSpPr/>
          <p:nvPr/>
        </p:nvSpPr>
        <p:spPr>
          <a:xfrm>
            <a:off x="3931920" y="3990612"/>
            <a:ext cx="2750743" cy="3698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8383" y="396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2,292 Ω</a:t>
            </a:r>
          </a:p>
        </p:txBody>
      </p:sp>
      <p:sp>
        <p:nvSpPr>
          <p:cNvPr id="30" name="TextBox 29"/>
          <p:cNvSpPr txBox="1"/>
          <p:nvPr/>
        </p:nvSpPr>
        <p:spPr>
          <a:xfrm>
            <a:off x="548640" y="4436232"/>
            <a:ext cx="7863840" cy="274320"/>
          </a:xfrm>
          <a:prstGeom prst="rect">
            <a:avLst/>
          </a:prstGeom>
          <a:noFill/>
        </p:spPr>
        <p:txBody>
          <a:bodyPr wrap="square" lIns="45720" rIns="45720" tIns="27432" bIns="27432" anchor="t">
            <a:spAutoFit/>
          </a:bodyPr>
          <a:lstStyle/>
          <a:p>
            <a:pPr algn="l"/>
            <a:r>
              <a:rPr sz="950" b="0" i="0">
                <a:solidFill>
                  <a:srgbClr val="8A939B"/>
                </a:solidFill>
                <a:latin typeface="Abadi"/>
              </a:rPr>
              <a:t>Adult Lyon 2.0: &lt; 1500 Ω supports GERD, &gt; 2500 Ω argues against it.</a:t>
            </a:r>
          </a:p>
        </p:txBody>
      </p:sp>
      <p:sp>
        <p:nvSpPr>
          <p:cNvPr id="31" name="TextBox 30"/>
          <p:cNvSpPr txBox="1"/>
          <p:nvPr/>
        </p:nvSpPr>
        <p:spPr>
          <a:xfrm>
            <a:off x="8778240" y="17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1466 Ω</a:t>
            </a:r>
          </a:p>
        </p:txBody>
      </p:sp>
      <p:sp>
        <p:nvSpPr>
          <p:cNvPr id="32" name="TextBox 31"/>
          <p:cNvSpPr txBox="1"/>
          <p:nvPr/>
        </p:nvSpPr>
        <p:spPr>
          <a:xfrm>
            <a:off x="8778240" y="20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The only proposed paediatric cut-off: AUC 0.73, sensitivity 50%, specificity 33%.</a:t>
            </a:r>
          </a:p>
        </p:txBody>
      </p:sp>
      <p:sp>
        <p:nvSpPr>
          <p:cNvPr id="33" name="TextBox 32"/>
          <p:cNvSpPr txBox="1"/>
          <p:nvPr/>
        </p:nvSpPr>
        <p:spPr>
          <a:xfrm>
            <a:off x="8778240" y="26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PSPW</a:t>
            </a:r>
          </a:p>
        </p:txBody>
      </p:sp>
      <p:sp>
        <p:nvSpPr>
          <p:cNvPr id="34" name="TextBox 33"/>
          <p:cNvSpPr txBox="1"/>
          <p:nvPr/>
        </p:nvSpPr>
        <p:spPr>
          <a:xfrm>
            <a:off x="8778240" y="29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Post-reflux swallow-induced peristaltic wave index: no paediatric cut-off.</a:t>
            </a:r>
          </a:p>
        </p:txBody>
      </p:sp>
      <p:sp>
        <p:nvSpPr>
          <p:cNvPr id="35" name="TextBox 34"/>
          <p:cNvSpPr txBox="1"/>
          <p:nvPr/>
        </p:nvSpPr>
        <p:spPr>
          <a:xfrm>
            <a:off x="8778240" y="35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Use</a:t>
            </a:r>
          </a:p>
        </p:txBody>
      </p:sp>
      <p:sp>
        <p:nvSpPr>
          <p:cNvPr id="36" name="TextBox 35"/>
          <p:cNvSpPr txBox="1"/>
          <p:nvPr/>
        </p:nvSpPr>
        <p:spPr>
          <a:xfrm>
            <a:off x="8778240" y="38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Adjunct in the grey zone, not a stand-alone test.</a:t>
            </a:r>
          </a:p>
        </p:txBody>
      </p:sp>
      <p:sp>
        <p:nvSpPr>
          <p:cNvPr id="37" name="TextBox 36"/>
          <p:cNvSpPr txBox="1"/>
          <p:nvPr/>
        </p:nvSpPr>
        <p:spPr>
          <a:xfrm>
            <a:off x="548640" y="5029200"/>
            <a:ext cx="7955279" cy="80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Low MNBI points towards true reflux disease; high MNBI with heartburn points towards a functional phenotype.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WHEN REFLUX IS NOT ACID</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WEAKLY ACIDIC REFLUX</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Why pH alone under-calls reflux in children, and why that rarely changes treatment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Rosen 2018 (NASPGHAN/ESPGHAN) · Mahoney 2017 · Viazis N, et al. Am J Gastroenterol 2012;107:1662–7 · Rosen 2026 (Rome V Paediatric)</a:t>
            </a:r>
          </a:p>
        </p:txBody>
      </p:sp>
      <p:sp>
        <p:nvSpPr>
          <p:cNvPr id="12" name="Rectangle 11"/>
          <p:cNvSpPr/>
          <p:nvPr/>
        </p:nvSpPr>
        <p:spPr>
          <a:xfrm>
            <a:off x="548640" y="1773936"/>
            <a:ext cx="2126284"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126284"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833676" cy="502920"/>
          </a:xfrm>
          <a:prstGeom prst="rect">
            <a:avLst/>
          </a:prstGeom>
          <a:noFill/>
        </p:spPr>
        <p:txBody>
          <a:bodyPr wrap="square" lIns="45720" rIns="45720" tIns="27432" bIns="27432" anchor="t">
            <a:spAutoFit/>
          </a:bodyPr>
          <a:lstStyle/>
          <a:p>
            <a:pPr algn="l"/>
            <a:r>
              <a:rPr sz="1500" b="1" i="0">
                <a:solidFill>
                  <a:srgbClr val="1B355E"/>
                </a:solidFill>
                <a:latin typeface="Abadi"/>
              </a:rPr>
              <a:t>Common</a:t>
            </a:r>
          </a:p>
        </p:txBody>
      </p:sp>
      <p:sp>
        <p:nvSpPr>
          <p:cNvPr id="15" name="TextBox 14"/>
          <p:cNvSpPr txBox="1"/>
          <p:nvPr/>
        </p:nvSpPr>
        <p:spPr>
          <a:xfrm>
            <a:off x="69494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45–89% of paediatric reflux episodes have pH &gt; 4</a:t>
            </a:r>
          </a:p>
          <a:p>
            <a:pPr algn="l">
              <a:spcAft>
                <a:spcPts val="400"/>
              </a:spcAft>
            </a:pPr>
            <a:r>
              <a:rPr sz="1100" b="0" i="0">
                <a:solidFill>
                  <a:srgbClr val="1A1A1A"/>
                </a:solidFill>
                <a:latin typeface="Abadi"/>
              </a:rPr>
              <a:t>▪  Highest in milk-fed infants</a:t>
            </a:r>
          </a:p>
        </p:txBody>
      </p:sp>
      <p:sp>
        <p:nvSpPr>
          <p:cNvPr id="16" name="Rectangle 15"/>
          <p:cNvSpPr/>
          <p:nvPr/>
        </p:nvSpPr>
        <p:spPr>
          <a:xfrm>
            <a:off x="2787700" y="1773936"/>
            <a:ext cx="2126284"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87700" y="1773936"/>
            <a:ext cx="2126284"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4004" y="1956816"/>
            <a:ext cx="1833676" cy="502920"/>
          </a:xfrm>
          <a:prstGeom prst="rect">
            <a:avLst/>
          </a:prstGeom>
          <a:noFill/>
        </p:spPr>
        <p:txBody>
          <a:bodyPr wrap="square" lIns="45720" rIns="45720" tIns="27432" bIns="27432" anchor="t">
            <a:spAutoFit/>
          </a:bodyPr>
          <a:lstStyle/>
          <a:p>
            <a:pPr algn="l"/>
            <a:r>
              <a:rPr sz="1500" b="1" i="0">
                <a:solidFill>
                  <a:srgbClr val="D97A0B"/>
                </a:solidFill>
                <a:latin typeface="Abadi"/>
              </a:rPr>
              <a:t>No norms</a:t>
            </a:r>
          </a:p>
        </p:txBody>
      </p:sp>
      <p:sp>
        <p:nvSpPr>
          <p:cNvPr id="19" name="TextBox 18"/>
          <p:cNvSpPr txBox="1"/>
          <p:nvPr/>
        </p:nvSpPr>
        <p:spPr>
          <a:xfrm>
            <a:off x="293400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No healthy-child impedance values</a:t>
            </a:r>
          </a:p>
          <a:p>
            <a:pPr algn="l">
              <a:spcAft>
                <a:spcPts val="400"/>
              </a:spcAft>
            </a:pPr>
            <a:r>
              <a:rPr sz="1100" b="0" i="0">
                <a:solidFill>
                  <a:srgbClr val="1A1A1A"/>
                </a:solidFill>
                <a:latin typeface="Abadi"/>
              </a:rPr>
              <a:t>▪  Reference series are symptomatic</a:t>
            </a:r>
          </a:p>
        </p:txBody>
      </p:sp>
      <p:sp>
        <p:nvSpPr>
          <p:cNvPr id="20" name="Rectangle 19"/>
          <p:cNvSpPr/>
          <p:nvPr/>
        </p:nvSpPr>
        <p:spPr>
          <a:xfrm>
            <a:off x="5026760" y="1773936"/>
            <a:ext cx="2126284"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6760" y="1773936"/>
            <a:ext cx="2126284"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3064" y="1956816"/>
            <a:ext cx="1833676" cy="502920"/>
          </a:xfrm>
          <a:prstGeom prst="rect">
            <a:avLst/>
          </a:prstGeom>
          <a:noFill/>
        </p:spPr>
        <p:txBody>
          <a:bodyPr wrap="square" lIns="45720" rIns="45720" tIns="27432" bIns="27432" anchor="t">
            <a:spAutoFit/>
          </a:bodyPr>
          <a:lstStyle/>
          <a:p>
            <a:pPr algn="l"/>
            <a:r>
              <a:rPr sz="1500" b="1" i="0">
                <a:solidFill>
                  <a:srgbClr val="1E7A33"/>
                </a:solidFill>
                <a:latin typeface="Abadi"/>
              </a:rPr>
              <a:t>Detection</a:t>
            </a:r>
          </a:p>
        </p:txBody>
      </p:sp>
      <p:sp>
        <p:nvSpPr>
          <p:cNvPr id="23" name="TextBox 22"/>
          <p:cNvSpPr txBox="1"/>
          <p:nvPr/>
        </p:nvSpPr>
        <p:spPr>
          <a:xfrm>
            <a:off x="517306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Only impedance sees non-acid episodes</a:t>
            </a:r>
          </a:p>
          <a:p>
            <a:pPr algn="l">
              <a:spcAft>
                <a:spcPts val="400"/>
              </a:spcAft>
            </a:pPr>
            <a:r>
              <a:rPr sz="1100" b="0" i="0">
                <a:solidFill>
                  <a:srgbClr val="1A1A1A"/>
                </a:solidFill>
                <a:latin typeface="Abadi"/>
              </a:rPr>
              <a:t>▪  Needed for the SI/SAP</a:t>
            </a:r>
          </a:p>
        </p:txBody>
      </p:sp>
      <p:sp>
        <p:nvSpPr>
          <p:cNvPr id="24" name="Rectangle 23"/>
          <p:cNvSpPr/>
          <p:nvPr/>
        </p:nvSpPr>
        <p:spPr>
          <a:xfrm>
            <a:off x="7265820" y="1773936"/>
            <a:ext cx="2126284"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5820" y="1773936"/>
            <a:ext cx="2126284"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2124" y="1956816"/>
            <a:ext cx="1833676" cy="502920"/>
          </a:xfrm>
          <a:prstGeom prst="rect">
            <a:avLst/>
          </a:prstGeom>
          <a:noFill/>
        </p:spPr>
        <p:txBody>
          <a:bodyPr wrap="square" lIns="45720" rIns="45720" tIns="27432" bIns="27432" anchor="t">
            <a:spAutoFit/>
          </a:bodyPr>
          <a:lstStyle/>
          <a:p>
            <a:pPr algn="l"/>
            <a:r>
              <a:rPr sz="1500" b="1" i="0">
                <a:solidFill>
                  <a:srgbClr val="B22222"/>
                </a:solidFill>
                <a:latin typeface="Abadi"/>
              </a:rPr>
              <a:t>Adults</a:t>
            </a:r>
          </a:p>
        </p:txBody>
      </p:sp>
      <p:sp>
        <p:nvSpPr>
          <p:cNvPr id="27" name="TextBox 26"/>
          <p:cNvSpPr txBox="1"/>
          <p:nvPr/>
        </p:nvSpPr>
        <p:spPr>
          <a:xfrm>
            <a:off x="741212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74% of SI-positive adults linked to non-acid reflux</a:t>
            </a:r>
          </a:p>
        </p:txBody>
      </p:sp>
      <p:sp>
        <p:nvSpPr>
          <p:cNvPr id="28" name="Rectangle 27"/>
          <p:cNvSpPr/>
          <p:nvPr/>
        </p:nvSpPr>
        <p:spPr>
          <a:xfrm>
            <a:off x="9504880" y="1773936"/>
            <a:ext cx="2126284"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4880" y="1773936"/>
            <a:ext cx="2126284"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51184" y="1956816"/>
            <a:ext cx="1833676" cy="502920"/>
          </a:xfrm>
          <a:prstGeom prst="rect">
            <a:avLst/>
          </a:prstGeom>
          <a:noFill/>
        </p:spPr>
        <p:txBody>
          <a:bodyPr wrap="square" lIns="45720" rIns="45720" tIns="27432" bIns="27432" anchor="t">
            <a:spAutoFit/>
          </a:bodyPr>
          <a:lstStyle/>
          <a:p>
            <a:pPr algn="l"/>
            <a:r>
              <a:rPr sz="1500" b="1" i="0">
                <a:solidFill>
                  <a:srgbClr val="8A939B"/>
                </a:solidFill>
                <a:latin typeface="Abadi"/>
              </a:rPr>
              <a:t>Treatment</a:t>
            </a:r>
          </a:p>
        </p:txBody>
      </p:sp>
      <p:sp>
        <p:nvSpPr>
          <p:cNvPr id="31" name="TextBox 30"/>
          <p:cNvSpPr txBox="1"/>
          <p:nvPr/>
        </p:nvSpPr>
        <p:spPr>
          <a:xfrm>
            <a:off x="965118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PPIs change pH, not volume</a:t>
            </a:r>
          </a:p>
          <a:p>
            <a:pPr algn="l">
              <a:spcAft>
                <a:spcPts val="400"/>
              </a:spcAft>
            </a:pPr>
            <a:r>
              <a:rPr sz="1100" b="0" i="0">
                <a:solidFill>
                  <a:srgbClr val="1A1A1A"/>
                </a:solidFill>
                <a:latin typeface="Abadi"/>
              </a:rPr>
              <a:t>▪  H2RA may reduce hypersensitivity</a:t>
            </a:r>
          </a:p>
        </p:txBody>
      </p:sp>
      <p:sp>
        <p:nvSpPr>
          <p:cNvPr id="32" name="TextBox 31"/>
          <p:cNvSpPr txBox="1"/>
          <p:nvPr/>
        </p:nvSpPr>
        <p:spPr>
          <a:xfrm>
            <a:off x="548640" y="4114800"/>
            <a:ext cx="11082528" cy="1500000"/>
          </a:xfrm>
          <a:prstGeom prst="rect">
            <a:avLst/>
          </a:prstGeom>
          <a:noFill/>
        </p:spPr>
        <p:txBody>
          <a:bodyPr wrap="square" lIns="45720" rIns="45720" tIns="27432" bIns="27432" anchor="t">
            <a:spAutoFit/>
          </a:bodyPr>
          <a:lstStyle/>
          <a:p>
            <a:pPr algn="l"/>
            <a:r>
              <a:rPr sz="1250" b="1" i="0">
                <a:solidFill>
                  <a:srgbClr val="1B355E"/>
                </a:solidFill>
                <a:latin typeface="Abadi"/>
              </a:rPr>
              <a:t>The key point.   </a:t>
            </a:r>
            <a:r>
              <a:rPr sz="1250" b="0" i="0">
                <a:solidFill>
                  <a:srgbClr val="1B355E"/>
                </a:solidFill>
                <a:latin typeface="Abadi"/>
              </a:rPr>
              <a:t>A positive association with weakly acidic reflux is exactly the situation in which more acid suppression cannot help. The options are to reduce reflux events (baclofen, behavioural treatment of belching) or to reduce perception (neuromodulators, brain–gut therapy). Rome V Paediatric suggests an H2 receptor antagonist as first-line while a child waits for endoscopy, partly because it may reduce oesophageal hypersensitivity.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HOW COMMON IN THE COMMUNITY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RARE IN THE POPULATION, COMMON IN THE CLINIC</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Rome V Paediatric questionnaire in 7,718 children from China, Italy, Mexico and the USA,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Nurko S, Taft T, Palsson OS, et al. Gut 2026 (doi 10.1136/gutjnl-2026-339667) · Fass 2020 (AGA)</a:t>
            </a:r>
          </a:p>
        </p:txBody>
      </p:sp>
      <p:sp>
        <p:nvSpPr>
          <p:cNvPr id="12" name="TextBox 11"/>
          <p:cNvSpPr txBox="1"/>
          <p:nvPr/>
        </p:nvSpPr>
        <p:spPr>
          <a:xfrm>
            <a:off x="548640" y="1810512"/>
            <a:ext cx="3291840" cy="480000"/>
          </a:xfrm>
          <a:prstGeom prst="rect">
            <a:avLst/>
          </a:prstGeom>
          <a:noFill/>
        </p:spPr>
        <p:txBody>
          <a:bodyPr wrap="square" lIns="45720" rIns="45720" tIns="27432" bIns="27432" anchor="ctr">
            <a:spAutoFit/>
          </a:bodyPr>
          <a:lstStyle/>
          <a:p>
            <a:pPr algn="l"/>
            <a:r>
              <a:rPr sz="1000" b="0" i="0">
                <a:solidFill>
                  <a:srgbClr val="1A1A1A"/>
                </a:solidFill>
                <a:latin typeface="Abadi"/>
              </a:rPr>
              <a:t>All oesophageal disorders</a:t>
            </a:r>
          </a:p>
        </p:txBody>
      </p:sp>
      <p:sp>
        <p:nvSpPr>
          <p:cNvPr id="13" name="Rectangle 12"/>
          <p:cNvSpPr/>
          <p:nvPr/>
        </p:nvSpPr>
        <p:spPr>
          <a:xfrm>
            <a:off x="3931920" y="1844112"/>
            <a:ext cx="2880360" cy="4128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1810512"/>
            <a:ext cx="1463040" cy="480000"/>
          </a:xfrm>
          <a:prstGeom prst="rect">
            <a:avLst/>
          </a:prstGeom>
          <a:noFill/>
        </p:spPr>
        <p:txBody>
          <a:bodyPr wrap="square" lIns="45720" rIns="45720" tIns="27432" bIns="27432" anchor="ctr">
            <a:spAutoFit/>
          </a:bodyPr>
          <a:lstStyle/>
          <a:p>
            <a:pPr algn="l"/>
            <a:r>
              <a:rPr sz="1000" b="1" i="0">
                <a:solidFill>
                  <a:srgbClr val="1A1A1A"/>
                </a:solidFill>
                <a:latin typeface="Abadi"/>
              </a:rPr>
              <a:t>0.6%</a:t>
            </a:r>
          </a:p>
        </p:txBody>
      </p:sp>
      <p:sp>
        <p:nvSpPr>
          <p:cNvPr id="15" name="TextBox 14"/>
          <p:cNvSpPr txBox="1"/>
          <p:nvPr/>
        </p:nvSpPr>
        <p:spPr>
          <a:xfrm>
            <a:off x="548640" y="2290512"/>
            <a:ext cx="3291840" cy="480000"/>
          </a:xfrm>
          <a:prstGeom prst="rect">
            <a:avLst/>
          </a:prstGeom>
          <a:noFill/>
        </p:spPr>
        <p:txBody>
          <a:bodyPr wrap="square" lIns="45720" rIns="45720" tIns="27432" bIns="27432" anchor="ctr">
            <a:spAutoFit/>
          </a:bodyPr>
          <a:lstStyle/>
          <a:p>
            <a:pPr algn="l"/>
            <a:r>
              <a:rPr sz="1000" b="0" i="0">
                <a:solidFill>
                  <a:srgbClr val="1A1A1A"/>
                </a:solidFill>
                <a:latin typeface="Abadi"/>
              </a:rPr>
              <a:t>Reflux hypersensitivity</a:t>
            </a:r>
          </a:p>
        </p:txBody>
      </p:sp>
      <p:sp>
        <p:nvSpPr>
          <p:cNvPr id="16" name="Rectangle 15"/>
          <p:cNvSpPr/>
          <p:nvPr/>
        </p:nvSpPr>
        <p:spPr>
          <a:xfrm>
            <a:off x="3931920" y="2324112"/>
            <a:ext cx="1440180" cy="4128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17820" y="2290512"/>
            <a:ext cx="1463040" cy="480000"/>
          </a:xfrm>
          <a:prstGeom prst="rect">
            <a:avLst/>
          </a:prstGeom>
          <a:noFill/>
        </p:spPr>
        <p:txBody>
          <a:bodyPr wrap="square" lIns="45720" rIns="45720" tIns="27432" bIns="27432" anchor="ctr">
            <a:spAutoFit/>
          </a:bodyPr>
          <a:lstStyle/>
          <a:p>
            <a:pPr algn="l"/>
            <a:r>
              <a:rPr sz="1000" b="1" i="0">
                <a:solidFill>
                  <a:srgbClr val="1A1A1A"/>
                </a:solidFill>
                <a:latin typeface="Abadi"/>
              </a:rPr>
              <a:t>0.3%</a:t>
            </a:r>
          </a:p>
        </p:txBody>
      </p:sp>
      <p:sp>
        <p:nvSpPr>
          <p:cNvPr id="18" name="TextBox 17"/>
          <p:cNvSpPr txBox="1"/>
          <p:nvPr/>
        </p:nvSpPr>
        <p:spPr>
          <a:xfrm>
            <a:off x="548640" y="2770512"/>
            <a:ext cx="3291840" cy="480000"/>
          </a:xfrm>
          <a:prstGeom prst="rect">
            <a:avLst/>
          </a:prstGeom>
          <a:noFill/>
        </p:spPr>
        <p:txBody>
          <a:bodyPr wrap="square" lIns="45720" rIns="45720" tIns="27432" bIns="27432" anchor="ctr">
            <a:spAutoFit/>
          </a:bodyPr>
          <a:lstStyle/>
          <a:p>
            <a:pPr algn="l"/>
            <a:r>
              <a:rPr sz="1000" b="0" i="0">
                <a:solidFill>
                  <a:srgbClr val="1A1A1A"/>
                </a:solidFill>
                <a:latin typeface="Abadi"/>
              </a:rPr>
              <a:t>Reflux-negative oesophageal pain</a:t>
            </a:r>
          </a:p>
        </p:txBody>
      </p:sp>
      <p:sp>
        <p:nvSpPr>
          <p:cNvPr id="19" name="Rectangle 18"/>
          <p:cNvSpPr/>
          <p:nvPr/>
        </p:nvSpPr>
        <p:spPr>
          <a:xfrm>
            <a:off x="3931920" y="2804112"/>
            <a:ext cx="1440180" cy="4128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17820" y="2770512"/>
            <a:ext cx="1463040" cy="480000"/>
          </a:xfrm>
          <a:prstGeom prst="rect">
            <a:avLst/>
          </a:prstGeom>
          <a:noFill/>
        </p:spPr>
        <p:txBody>
          <a:bodyPr wrap="square" lIns="45720" rIns="45720" tIns="27432" bIns="27432" anchor="ctr">
            <a:spAutoFit/>
          </a:bodyPr>
          <a:lstStyle/>
          <a:p>
            <a:pPr algn="l"/>
            <a:r>
              <a:rPr sz="1000" b="1" i="0">
                <a:solidFill>
                  <a:srgbClr val="1A1A1A"/>
                </a:solidFill>
                <a:latin typeface="Abadi"/>
              </a:rPr>
              <a:t>0.3%</a:t>
            </a:r>
          </a:p>
        </p:txBody>
      </p:sp>
      <p:sp>
        <p:nvSpPr>
          <p:cNvPr id="21" name="TextBox 20"/>
          <p:cNvSpPr txBox="1"/>
          <p:nvPr/>
        </p:nvSpPr>
        <p:spPr>
          <a:xfrm>
            <a:off x="548640" y="3250512"/>
            <a:ext cx="3291840" cy="480000"/>
          </a:xfrm>
          <a:prstGeom prst="rect">
            <a:avLst/>
          </a:prstGeom>
          <a:noFill/>
        </p:spPr>
        <p:txBody>
          <a:bodyPr wrap="square" lIns="45720" rIns="45720" tIns="27432" bIns="27432" anchor="ctr">
            <a:spAutoFit/>
          </a:bodyPr>
          <a:lstStyle/>
          <a:p>
            <a:pPr algn="l"/>
            <a:r>
              <a:rPr sz="1000" b="0" i="0">
                <a:solidFill>
                  <a:srgbClr val="1A1A1A"/>
                </a:solidFill>
                <a:latin typeface="Abadi"/>
              </a:rPr>
              <a:t>Supragastric belching</a:t>
            </a:r>
          </a:p>
        </p:txBody>
      </p:sp>
      <p:sp>
        <p:nvSpPr>
          <p:cNvPr id="22" name="Rectangle 21"/>
          <p:cNvSpPr/>
          <p:nvPr/>
        </p:nvSpPr>
        <p:spPr>
          <a:xfrm>
            <a:off x="3931920" y="3284112"/>
            <a:ext cx="960120" cy="41280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0" y="3250512"/>
            <a:ext cx="1463040" cy="480000"/>
          </a:xfrm>
          <a:prstGeom prst="rect">
            <a:avLst/>
          </a:prstGeom>
          <a:noFill/>
        </p:spPr>
        <p:txBody>
          <a:bodyPr wrap="square" lIns="45720" rIns="45720" tIns="27432" bIns="27432" anchor="ctr">
            <a:spAutoFit/>
          </a:bodyPr>
          <a:lstStyle/>
          <a:p>
            <a:pPr algn="l"/>
            <a:r>
              <a:rPr sz="1000" b="1" i="0">
                <a:solidFill>
                  <a:srgbClr val="1A1A1A"/>
                </a:solidFill>
                <a:latin typeface="Abadi"/>
              </a:rPr>
              <a:t>0.2%</a:t>
            </a:r>
          </a:p>
        </p:txBody>
      </p:sp>
      <p:sp>
        <p:nvSpPr>
          <p:cNvPr id="24" name="TextBox 23"/>
          <p:cNvSpPr txBox="1"/>
          <p:nvPr/>
        </p:nvSpPr>
        <p:spPr>
          <a:xfrm>
            <a:off x="548640" y="3730512"/>
            <a:ext cx="3291840" cy="480000"/>
          </a:xfrm>
          <a:prstGeom prst="rect">
            <a:avLst/>
          </a:prstGeom>
          <a:noFill/>
        </p:spPr>
        <p:txBody>
          <a:bodyPr wrap="square" lIns="45720" rIns="45720" tIns="27432" bIns="27432" anchor="ctr">
            <a:spAutoFit/>
          </a:bodyPr>
          <a:lstStyle/>
          <a:p>
            <a:pPr algn="l"/>
            <a:r>
              <a:rPr sz="1000" b="0" i="0">
                <a:solidFill>
                  <a:srgbClr val="1A1A1A"/>
                </a:solidFill>
                <a:latin typeface="Abadi"/>
              </a:rPr>
              <a:t>Aerophagia</a:t>
            </a:r>
          </a:p>
        </p:txBody>
      </p:sp>
      <p:sp>
        <p:nvSpPr>
          <p:cNvPr id="25" name="Rectangle 24"/>
          <p:cNvSpPr/>
          <p:nvPr/>
        </p:nvSpPr>
        <p:spPr>
          <a:xfrm>
            <a:off x="3931920" y="3764112"/>
            <a:ext cx="480060" cy="41280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7700" y="3730512"/>
            <a:ext cx="1463040" cy="480000"/>
          </a:xfrm>
          <a:prstGeom prst="rect">
            <a:avLst/>
          </a:prstGeom>
          <a:noFill/>
        </p:spPr>
        <p:txBody>
          <a:bodyPr wrap="square" lIns="45720" rIns="45720" tIns="27432" bIns="27432" anchor="ctr">
            <a:spAutoFit/>
          </a:bodyPr>
          <a:lstStyle/>
          <a:p>
            <a:pPr algn="l"/>
            <a:r>
              <a:rPr sz="1000" b="1" i="0">
                <a:solidFill>
                  <a:srgbClr val="1A1A1A"/>
                </a:solidFill>
                <a:latin typeface="Abadi"/>
              </a:rPr>
              <a:t>0.1%</a:t>
            </a:r>
          </a:p>
        </p:txBody>
      </p:sp>
      <p:sp>
        <p:nvSpPr>
          <p:cNvPr id="27" name="TextBox 26"/>
          <p:cNvSpPr txBox="1"/>
          <p:nvPr/>
        </p:nvSpPr>
        <p:spPr>
          <a:xfrm>
            <a:off x="548640" y="4256232"/>
            <a:ext cx="7863840" cy="274320"/>
          </a:xfrm>
          <a:prstGeom prst="rect">
            <a:avLst/>
          </a:prstGeom>
          <a:noFill/>
        </p:spPr>
        <p:txBody>
          <a:bodyPr wrap="square" lIns="45720" rIns="45720" tIns="27432" bIns="27432" anchor="t">
            <a:spAutoFit/>
          </a:bodyPr>
          <a:lstStyle/>
          <a:p>
            <a:pPr algn="l"/>
            <a:r>
              <a:rPr sz="950" b="0" i="0">
                <a:solidFill>
                  <a:srgbClr val="8A939B"/>
                </a:solidFill>
                <a:latin typeface="Abadi"/>
              </a:rPr>
              <a:t>Symptom-based estimates without testing; criteria need endoscopy and pH-impedance for confirmation.</a:t>
            </a:r>
          </a:p>
        </p:txBody>
      </p:sp>
      <p:sp>
        <p:nvSpPr>
          <p:cNvPr id="28" name="TextBox 27"/>
          <p:cNvSpPr txBox="1"/>
          <p:nvPr/>
        </p:nvSpPr>
        <p:spPr>
          <a:xfrm>
            <a:off x="8778240" y="17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&lt; 1%</a:t>
            </a:r>
          </a:p>
        </p:txBody>
      </p:sp>
      <p:sp>
        <p:nvSpPr>
          <p:cNvPr id="29" name="TextBox 28"/>
          <p:cNvSpPr txBox="1"/>
          <p:nvPr/>
        </p:nvSpPr>
        <p:spPr>
          <a:xfrm>
            <a:off x="8778240" y="20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of children in the community meet symptom criteria for an oesophageal gut–brain disorder.</a:t>
            </a:r>
          </a:p>
        </p:txBody>
      </p:sp>
      <p:sp>
        <p:nvSpPr>
          <p:cNvPr id="30" name="TextBox 29"/>
          <p:cNvSpPr txBox="1"/>
          <p:nvPr/>
        </p:nvSpPr>
        <p:spPr>
          <a:xfrm>
            <a:off x="8778240" y="26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21–39%</a:t>
            </a:r>
          </a:p>
        </p:txBody>
      </p:sp>
      <p:sp>
        <p:nvSpPr>
          <p:cNvPr id="31" name="TextBox 30"/>
          <p:cNvSpPr txBox="1"/>
          <p:nvPr/>
        </p:nvSpPr>
        <p:spPr>
          <a:xfrm>
            <a:off x="8778240" y="29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of adults with PPI-refractory heartburn tested by pH-impedance have functional heartburn (AGA 2020).</a:t>
            </a:r>
          </a:p>
        </p:txBody>
      </p:sp>
      <p:sp>
        <p:nvSpPr>
          <p:cNvPr id="32" name="TextBox 31"/>
          <p:cNvSpPr txBox="1"/>
          <p:nvPr/>
        </p:nvSpPr>
        <p:spPr>
          <a:xfrm>
            <a:off x="8778240" y="35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Selection</a:t>
            </a:r>
          </a:p>
        </p:txBody>
      </p:sp>
      <p:sp>
        <p:nvSpPr>
          <p:cNvPr id="33" name="TextBox 32"/>
          <p:cNvSpPr txBox="1"/>
          <p:nvPr/>
        </p:nvSpPr>
        <p:spPr>
          <a:xfrm>
            <a:off x="8778240" y="38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Referral concentrates them in tertiary clinics.</a:t>
            </a:r>
          </a:p>
        </p:txBody>
      </p:sp>
      <p:sp>
        <p:nvSpPr>
          <p:cNvPr id="34" name="TextBox 33"/>
          <p:cNvSpPr txBox="1"/>
          <p:nvPr/>
        </p:nvSpPr>
        <p:spPr>
          <a:xfrm>
            <a:off x="548640" y="4846320"/>
            <a:ext cx="7955279" cy="90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The phenotype is rare in the community but dominates the refractory clinic, which is where the testing decision is made.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NEUROMODULATORS: THE EVIDENCE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ADULT TRIALS, SMALL AND FEW</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Randomised and pilot data in reflux hypersensitivity and functional heartburn; no paediatric trial exists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Viazis 2012 · Ostovaneh MR, et al. Neurogastroenterol Motil 2014;26:670–8 · Limsrivilai J, et al. Am J Gastroenterol 2016;111:217–24 · Rodriguez-Stanley S, et al. Clin Gastroenterol Hepatol 2006;4:442–50 · Riehl ME, et al. Dis Esophagus 2016;29:490–6</a:t>
            </a:r>
          </a:p>
        </p:txBody>
      </p:sp>
      <p:graphicFrame>
        <p:nvGraphicFramePr>
          <p:cNvPr id="12" name="Table 11"/>
          <p:cNvGraphicFramePr>
            <a:graphicFrameLocks noGrp="1"/>
          </p:cNvGraphicFramePr>
          <p:nvPr/>
        </p:nvGraphicFramePr>
        <p:xfrm>
          <a:off x="548640" y="1783080"/>
          <a:ext cx="11082526" cy="2730000"/>
        </p:xfrm>
        <a:graphic>
          <a:graphicData uri="http://schemas.openxmlformats.org/drawingml/2006/table">
            <a:tbl>
              <a:tblPr firstRow="1" bandRow="1">
                <a:tableStyleId>{5C22544A-7EE6-4342-B048-85BDC9FD1C3A}</a:tableStyleId>
              </a:tblPr>
              <a:tblGrid>
                <a:gridCol w="2246458"/>
                <a:gridCol w="2995277"/>
                <a:gridCol w="2096694"/>
                <a:gridCol w="3744097"/>
              </a:tblGrid>
              <a:tr h="380000">
                <a:tc>
                  <a:txBody>
                    <a:bodyPr wrap="square"/>
                    <a:lstStyle/>
                    <a:p>
                      <a:r>
                        <a:rPr sz="1000" b="1" i="0">
                          <a:solidFill>
                            <a:srgbClr val="FFFFFF"/>
                          </a:solidFill>
                          <a:latin typeface="Abadi"/>
                        </a:rPr>
                        <a:t>Agent</a:t>
                      </a:r>
                    </a:p>
                  </a:txBody>
                  <a:tcPr marL="64008" marR="64008" marT="27432" marB="27432" anchor="ctr">
                    <a:solidFill>
                      <a:srgbClr val="1B355E"/>
                    </a:solidFill>
                  </a:tcPr>
                </a:tc>
                <a:tc>
                  <a:txBody>
                    <a:bodyPr wrap="square"/>
                    <a:lstStyle/>
                    <a:p>
                      <a:r>
                        <a:rPr sz="1000" b="1" i="0">
                          <a:solidFill>
                            <a:srgbClr val="FFFFFF"/>
                          </a:solidFill>
                          <a:latin typeface="Abadi"/>
                        </a:rPr>
                        <a:t>Population</a:t>
                      </a:r>
                    </a:p>
                  </a:txBody>
                  <a:tcPr marL="64008" marR="64008" marT="27432" marB="27432" anchor="ctr">
                    <a:solidFill>
                      <a:srgbClr val="1B355E"/>
                    </a:solidFill>
                  </a:tcPr>
                </a:tc>
                <a:tc>
                  <a:txBody>
                    <a:bodyPr wrap="square"/>
                    <a:lstStyle/>
                    <a:p>
                      <a:r>
                        <a:rPr sz="1000" b="1" i="0">
                          <a:solidFill>
                            <a:srgbClr val="FFFFFF"/>
                          </a:solidFill>
                          <a:latin typeface="Abadi"/>
                        </a:rPr>
                        <a:t>Design</a:t>
                      </a:r>
                    </a:p>
                  </a:txBody>
                  <a:tcPr marL="64008" marR="64008" marT="27432" marB="27432" anchor="ctr">
                    <a:solidFill>
                      <a:srgbClr val="1B355E"/>
                    </a:solidFill>
                  </a:tcPr>
                </a:tc>
                <a:tc>
                  <a:txBody>
                    <a:bodyPr wrap="square"/>
                    <a:lstStyle/>
                    <a:p>
                      <a:r>
                        <a:rPr sz="1000" b="1" i="0">
                          <a:solidFill>
                            <a:srgbClr val="FFFFFF"/>
                          </a:solidFill>
                          <a:latin typeface="Abadi"/>
                        </a:rPr>
                        <a:t>Result</a:t>
                      </a:r>
                    </a:p>
                  </a:txBody>
                  <a:tcPr marL="64008" marR="64008" marT="27432" marB="27432" anchor="ctr">
                    <a:solidFill>
                      <a:srgbClr val="1B355E"/>
                    </a:solidFill>
                  </a:tcPr>
                </a:tc>
              </a:tr>
              <a:tr h="470000">
                <a:tc>
                  <a:txBody>
                    <a:bodyPr wrap="square"/>
                    <a:lstStyle/>
                    <a:p>
                      <a:r>
                        <a:rPr sz="1000" b="1" i="0">
                          <a:solidFill>
                            <a:srgbClr val="1A1A1A"/>
                          </a:solidFill>
                          <a:latin typeface="Abadi"/>
                        </a:rPr>
                        <a:t>Citalopram 20 mg, 6 months</a:t>
                      </a:r>
                    </a:p>
                  </a:txBody>
                  <a:tcPr marL="64008" marR="64008" marT="27432" marB="27432" anchor="ctr">
                    <a:solidFill>
                      <a:srgbClr val="FFFFFF"/>
                    </a:solidFill>
                  </a:tcPr>
                </a:tc>
                <a:tc>
                  <a:txBody>
                    <a:bodyPr wrap="square"/>
                    <a:lstStyle/>
                    <a:p>
                      <a:r>
                        <a:rPr sz="1000" b="0" i="0">
                          <a:solidFill>
                            <a:srgbClr val="1A1A1A"/>
                          </a:solidFill>
                          <a:latin typeface="Abadi"/>
                        </a:rPr>
                        <a:t>75 adults, RH with normal acid exposure</a:t>
                      </a:r>
                    </a:p>
                  </a:txBody>
                  <a:tcPr marL="64008" marR="64008" marT="27432" marB="27432" anchor="ctr">
                    <a:solidFill>
                      <a:srgbClr val="FFFFFF"/>
                    </a:solidFill>
                  </a:tcPr>
                </a:tc>
                <a:tc>
                  <a:txBody>
                    <a:bodyPr wrap="square"/>
                    <a:lstStyle/>
                    <a:p>
                      <a:r>
                        <a:rPr sz="1000" b="0" i="0">
                          <a:solidFill>
                            <a:srgbClr val="1A1A1A"/>
                          </a:solidFill>
                          <a:latin typeface="Abadi"/>
                        </a:rPr>
                        <a:t>RCT vs placebo</a:t>
                      </a:r>
                    </a:p>
                  </a:txBody>
                  <a:tcPr marL="64008" marR="64008" marT="27432" marB="27432" anchor="ctr">
                    <a:solidFill>
                      <a:srgbClr val="FFFFFF"/>
                    </a:solidFill>
                  </a:tcPr>
                </a:tc>
                <a:tc>
                  <a:txBody>
                    <a:bodyPr wrap="square"/>
                    <a:lstStyle/>
                    <a:p>
                      <a:r>
                        <a:rPr sz="1000" b="0" i="0">
                          <a:solidFill>
                            <a:srgbClr val="1A1A1A"/>
                          </a:solidFill>
                          <a:latin typeface="Abadi"/>
                        </a:rPr>
                        <a:t>Persistent symptoms 38.5% vs 66.7%, P = 0.021</a:t>
                      </a:r>
                    </a:p>
                  </a:txBody>
                  <a:tcPr marL="64008" marR="64008" marT="27432" marB="27432" anchor="ctr">
                    <a:solidFill>
                      <a:srgbClr val="FFFFFF"/>
                    </a:solidFill>
                  </a:tcPr>
                </a:tc>
              </a:tr>
              <a:tr h="470000">
                <a:tc>
                  <a:txBody>
                    <a:bodyPr wrap="square"/>
                    <a:lstStyle/>
                    <a:p>
                      <a:r>
                        <a:rPr sz="1000" b="1" i="0">
                          <a:solidFill>
                            <a:srgbClr val="1A1A1A"/>
                          </a:solidFill>
                          <a:latin typeface="Abadi"/>
                        </a:rPr>
                        <a:t>Fluoxetine 20 mg, 6 weeks</a:t>
                      </a:r>
                    </a:p>
                  </a:txBody>
                  <a:tcPr marL="64008" marR="64008" marT="27432" marB="27432" anchor="ctr">
                    <a:solidFill>
                      <a:srgbClr val="F3F5F8"/>
                    </a:solidFill>
                  </a:tcPr>
                </a:tc>
                <a:tc>
                  <a:txBody>
                    <a:bodyPr wrap="square"/>
                    <a:lstStyle/>
                    <a:p>
                      <a:r>
                        <a:rPr sz="1000" b="0" i="0">
                          <a:solidFill>
                            <a:srgbClr val="1A1A1A"/>
                          </a:solidFill>
                          <a:latin typeface="Abadi"/>
                        </a:rPr>
                        <a:t>144 adults, PPI-refractory, normal EGD</a:t>
                      </a:r>
                    </a:p>
                  </a:txBody>
                  <a:tcPr marL="64008" marR="64008" marT="27432" marB="27432" anchor="ctr">
                    <a:solidFill>
                      <a:srgbClr val="F3F5F8"/>
                    </a:solidFill>
                  </a:tcPr>
                </a:tc>
                <a:tc>
                  <a:txBody>
                    <a:bodyPr wrap="square"/>
                    <a:lstStyle/>
                    <a:p>
                      <a:r>
                        <a:rPr sz="1000" b="0" i="0">
                          <a:solidFill>
                            <a:srgbClr val="1A1A1A"/>
                          </a:solidFill>
                          <a:latin typeface="Abadi"/>
                        </a:rPr>
                        <a:t>RCT vs omeprazole vs placebo</a:t>
                      </a:r>
                    </a:p>
                  </a:txBody>
                  <a:tcPr marL="64008" marR="64008" marT="27432" marB="27432" anchor="ctr">
                    <a:solidFill>
                      <a:srgbClr val="F3F5F8"/>
                    </a:solidFill>
                  </a:tcPr>
                </a:tc>
                <a:tc>
                  <a:txBody>
                    <a:bodyPr wrap="square"/>
                    <a:lstStyle/>
                    <a:p>
                      <a:r>
                        <a:rPr sz="1000" b="0" i="0">
                          <a:solidFill>
                            <a:srgbClr val="1A1A1A"/>
                          </a:solidFill>
                          <a:latin typeface="Abadi"/>
                        </a:rPr>
                        <a:t>Heartburn-free days 35.7 vs 7.1 vs 7.1; benefit only with normal pH</a:t>
                      </a:r>
                    </a:p>
                  </a:txBody>
                  <a:tcPr marL="64008" marR="64008" marT="27432" marB="27432" anchor="ctr">
                    <a:solidFill>
                      <a:srgbClr val="F3F5F8"/>
                    </a:solidFill>
                  </a:tcPr>
                </a:tc>
              </a:tr>
              <a:tr h="470000">
                <a:tc>
                  <a:txBody>
                    <a:bodyPr wrap="square"/>
                    <a:lstStyle/>
                    <a:p>
                      <a:r>
                        <a:rPr sz="1000" b="1" i="0">
                          <a:solidFill>
                            <a:srgbClr val="1A1A1A"/>
                          </a:solidFill>
                          <a:latin typeface="Abadi"/>
                        </a:rPr>
                        <a:t>Imipramine 25 mg, 8 weeks</a:t>
                      </a:r>
                    </a:p>
                  </a:txBody>
                  <a:tcPr marL="64008" marR="64008" marT="27432" marB="27432" anchor="ctr">
                    <a:solidFill>
                      <a:srgbClr val="FFFFFF"/>
                    </a:solidFill>
                  </a:tcPr>
                </a:tc>
                <a:tc>
                  <a:txBody>
                    <a:bodyPr wrap="square"/>
                    <a:lstStyle/>
                    <a:p>
                      <a:r>
                        <a:rPr sz="1000" b="0" i="0">
                          <a:solidFill>
                            <a:srgbClr val="1A1A1A"/>
                          </a:solidFill>
                          <a:latin typeface="Abadi"/>
                        </a:rPr>
                        <a:t>83 adults, FH or RH</a:t>
                      </a:r>
                    </a:p>
                  </a:txBody>
                  <a:tcPr marL="64008" marR="64008" marT="27432" marB="27432" anchor="ctr">
                    <a:solidFill>
                      <a:srgbClr val="FFFFFF"/>
                    </a:solidFill>
                  </a:tcPr>
                </a:tc>
                <a:tc>
                  <a:txBody>
                    <a:bodyPr wrap="square"/>
                    <a:lstStyle/>
                    <a:p>
                      <a:r>
                        <a:rPr sz="1000" b="0" i="0">
                          <a:solidFill>
                            <a:srgbClr val="1A1A1A"/>
                          </a:solidFill>
                          <a:latin typeface="Abadi"/>
                        </a:rPr>
                        <a:t>RCT vs placebo</a:t>
                      </a:r>
                    </a:p>
                  </a:txBody>
                  <a:tcPr marL="64008" marR="64008" marT="27432" marB="27432" anchor="ctr">
                    <a:solidFill>
                      <a:srgbClr val="FFFFFF"/>
                    </a:solidFill>
                  </a:tcPr>
                </a:tc>
                <a:tc>
                  <a:txBody>
                    <a:bodyPr wrap="square"/>
                    <a:lstStyle/>
                    <a:p>
                      <a:r>
                        <a:rPr sz="1000" b="0" i="0">
                          <a:solidFill>
                            <a:srgbClr val="1A1A1A"/>
                          </a:solidFill>
                          <a:latin typeface="Abadi"/>
                        </a:rPr>
                        <a:t>No difference in heartburn; QoL better per protocol</a:t>
                      </a:r>
                    </a:p>
                  </a:txBody>
                  <a:tcPr marL="64008" marR="64008" marT="27432" marB="27432" anchor="ctr">
                    <a:solidFill>
                      <a:srgbClr val="FFFFFF"/>
                    </a:solidFill>
                  </a:tcPr>
                </a:tc>
              </a:tr>
              <a:tr h="470000">
                <a:tc>
                  <a:txBody>
                    <a:bodyPr wrap="square"/>
                    <a:lstStyle/>
                    <a:p>
                      <a:r>
                        <a:rPr sz="1000" b="1" i="0">
                          <a:solidFill>
                            <a:srgbClr val="1A1A1A"/>
                          </a:solidFill>
                          <a:latin typeface="Abadi"/>
                        </a:rPr>
                        <a:t>Tegaserod 6 mg twice daily</a:t>
                      </a:r>
                    </a:p>
                  </a:txBody>
                  <a:tcPr marL="64008" marR="64008" marT="27432" marB="27432" anchor="ctr">
                    <a:solidFill>
                      <a:srgbClr val="F3F5F8"/>
                    </a:solidFill>
                  </a:tcPr>
                </a:tc>
                <a:tc>
                  <a:txBody>
                    <a:bodyPr wrap="square"/>
                    <a:lstStyle/>
                    <a:p>
                      <a:r>
                        <a:rPr sz="1000" b="0" i="0">
                          <a:solidFill>
                            <a:srgbClr val="1A1A1A"/>
                          </a:solidFill>
                          <a:latin typeface="Abadi"/>
                        </a:rPr>
                        <a:t>42 adults, functional heartburn</a:t>
                      </a:r>
                    </a:p>
                  </a:txBody>
                  <a:tcPr marL="64008" marR="64008" marT="27432" marB="27432" anchor="ctr">
                    <a:solidFill>
                      <a:srgbClr val="F3F5F8"/>
                    </a:solidFill>
                  </a:tcPr>
                </a:tc>
                <a:tc>
                  <a:txBody>
                    <a:bodyPr wrap="square"/>
                    <a:lstStyle/>
                    <a:p>
                      <a:r>
                        <a:rPr sz="1000" b="0" i="0">
                          <a:solidFill>
                            <a:srgbClr val="1A1A1A"/>
                          </a:solidFill>
                          <a:latin typeface="Abadi"/>
                        </a:rPr>
                        <a:t>RCT vs placebo</a:t>
                      </a:r>
                    </a:p>
                  </a:txBody>
                  <a:tcPr marL="64008" marR="64008" marT="27432" marB="27432" anchor="ctr">
                    <a:solidFill>
                      <a:srgbClr val="F3F5F8"/>
                    </a:solidFill>
                  </a:tcPr>
                </a:tc>
                <a:tc>
                  <a:txBody>
                    <a:bodyPr wrap="square"/>
                    <a:lstStyle/>
                    <a:p>
                      <a:r>
                        <a:rPr sz="1000" b="0" i="0">
                          <a:solidFill>
                            <a:srgbClr val="1A1A1A"/>
                          </a:solidFill>
                          <a:latin typeface="Abadi"/>
                        </a:rPr>
                        <a:t>Fewer heartburn days, P = 0.004</a:t>
                      </a:r>
                    </a:p>
                  </a:txBody>
                  <a:tcPr marL="64008" marR="64008" marT="27432" marB="27432" anchor="ctr">
                    <a:solidFill>
                      <a:srgbClr val="F3F5F8"/>
                    </a:solidFill>
                  </a:tcPr>
                </a:tc>
              </a:tr>
              <a:tr h="470000">
                <a:tc>
                  <a:txBody>
                    <a:bodyPr wrap="square"/>
                    <a:lstStyle/>
                    <a:p>
                      <a:r>
                        <a:rPr sz="1000" b="1" i="0">
                          <a:solidFill>
                            <a:srgbClr val="1A1A1A"/>
                          </a:solidFill>
                          <a:latin typeface="Abadi"/>
                        </a:rPr>
                        <a:t>Oesophageal hypnotherapy</a:t>
                      </a:r>
                    </a:p>
                  </a:txBody>
                  <a:tcPr marL="64008" marR="64008" marT="27432" marB="27432" anchor="ctr">
                    <a:solidFill>
                      <a:srgbClr val="FFFFFF"/>
                    </a:solidFill>
                  </a:tcPr>
                </a:tc>
                <a:tc>
                  <a:txBody>
                    <a:bodyPr wrap="square"/>
                    <a:lstStyle/>
                    <a:p>
                      <a:r>
                        <a:rPr sz="1000" b="0" i="0">
                          <a:solidFill>
                            <a:srgbClr val="1A1A1A"/>
                          </a:solidFill>
                          <a:latin typeface="Abadi"/>
                        </a:rPr>
                        <a:t>9 adults, FH</a:t>
                      </a:r>
                    </a:p>
                  </a:txBody>
                  <a:tcPr marL="64008" marR="64008" marT="27432" marB="27432" anchor="ctr">
                    <a:solidFill>
                      <a:srgbClr val="FFFFFF"/>
                    </a:solidFill>
                  </a:tcPr>
                </a:tc>
                <a:tc>
                  <a:txBody>
                    <a:bodyPr wrap="square"/>
                    <a:lstStyle/>
                    <a:p>
                      <a:r>
                        <a:rPr sz="1000" b="0" i="0">
                          <a:solidFill>
                            <a:srgbClr val="1A1A1A"/>
                          </a:solidFill>
                          <a:latin typeface="Abadi"/>
                        </a:rPr>
                        <a:t>Uncontrolled pilot</a:t>
                      </a:r>
                    </a:p>
                  </a:txBody>
                  <a:tcPr marL="64008" marR="64008" marT="27432" marB="27432" anchor="ctr">
                    <a:solidFill>
                      <a:srgbClr val="FFFFFF"/>
                    </a:solidFill>
                  </a:tcPr>
                </a:tc>
                <a:tc>
                  <a:txBody>
                    <a:bodyPr wrap="square"/>
                    <a:lstStyle/>
                    <a:p>
                      <a:r>
                        <a:rPr sz="1000" b="0" i="0">
                          <a:solidFill>
                            <a:srgbClr val="1A1A1A"/>
                          </a:solidFill>
                          <a:latin typeface="Abadi"/>
                        </a:rPr>
                        <a:t>Less heartburn and visceral anxiety</a:t>
                      </a:r>
                    </a:p>
                  </a:txBody>
                  <a:tcPr marL="64008" marR="64008" marT="27432" marB="27432" anchor="ctr">
                    <a:solidFill>
                      <a:srgbClr val="FFFFFF"/>
                    </a:solidFill>
                  </a:tcPr>
                </a:tc>
              </a:tr>
            </a:tbl>
          </a:graphicData>
        </a:graphic>
      </p:graphicFrame>
      <p:sp>
        <p:nvSpPr>
          <p:cNvPr id="13" name="TextBox 12"/>
          <p:cNvSpPr txBox="1"/>
          <p:nvPr/>
        </p:nvSpPr>
        <p:spPr>
          <a:xfrm>
            <a:off x="548640" y="4846320"/>
            <a:ext cx="11082528" cy="90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The best evidence is for SSRIs in hypersensitivity; tricyclic data are mixed. Doses are low, effects appear over weeks, and every trial is small.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CITALOPRAM TRIAL</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AN SSRI IN REFLUX HYPERSENSITIVITY</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Adults with normal acid exposure and a positive symptom index; 6 months of citalopram 20 mg or placebo: persistent symptoms,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Viazis N, Keyoglou A, Kanellopoulos AK, et al. Am J Gastroenterol 2012;107:1662–7</a:t>
            </a:r>
          </a:p>
        </p:txBody>
      </p:sp>
      <p:sp>
        <p:nvSpPr>
          <p:cNvPr id="12" name="TextBox 11"/>
          <p:cNvSpPr txBox="1"/>
          <p:nvPr/>
        </p:nvSpPr>
        <p:spPr>
          <a:xfrm>
            <a:off x="548640" y="1810512"/>
            <a:ext cx="3291840" cy="640000"/>
          </a:xfrm>
          <a:prstGeom prst="rect">
            <a:avLst/>
          </a:prstGeom>
          <a:noFill/>
        </p:spPr>
        <p:txBody>
          <a:bodyPr wrap="square" lIns="45720" rIns="45720" tIns="27432" bIns="27432" anchor="ctr">
            <a:spAutoFit/>
          </a:bodyPr>
          <a:lstStyle/>
          <a:p>
            <a:pPr algn="l"/>
            <a:r>
              <a:rPr sz="1100" b="0" i="0">
                <a:solidFill>
                  <a:srgbClr val="1A1A1A"/>
                </a:solidFill>
                <a:latin typeface="Abadi"/>
              </a:rPr>
              <a:t>Citalopram 20 mg (15/39)</a:t>
            </a:r>
          </a:p>
        </p:txBody>
      </p:sp>
      <p:sp>
        <p:nvSpPr>
          <p:cNvPr id="13" name="Rectangle 12"/>
          <p:cNvSpPr/>
          <p:nvPr/>
        </p:nvSpPr>
        <p:spPr>
          <a:xfrm>
            <a:off x="3931920" y="1855312"/>
            <a:ext cx="1848231" cy="55040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25871" y="1810512"/>
            <a:ext cx="1463040" cy="640000"/>
          </a:xfrm>
          <a:prstGeom prst="rect">
            <a:avLst/>
          </a:prstGeom>
          <a:noFill/>
        </p:spPr>
        <p:txBody>
          <a:bodyPr wrap="square" lIns="45720" rIns="45720" tIns="27432" bIns="27432" anchor="ctr">
            <a:spAutoFit/>
          </a:bodyPr>
          <a:lstStyle/>
          <a:p>
            <a:pPr algn="l"/>
            <a:r>
              <a:rPr sz="1100" b="1" i="0">
                <a:solidFill>
                  <a:srgbClr val="1A1A1A"/>
                </a:solidFill>
                <a:latin typeface="Abadi"/>
              </a:rPr>
              <a:t>38.5%</a:t>
            </a:r>
          </a:p>
        </p:txBody>
      </p:sp>
      <p:sp>
        <p:nvSpPr>
          <p:cNvPr id="15" name="TextBox 14"/>
          <p:cNvSpPr txBox="1"/>
          <p:nvPr/>
        </p:nvSpPr>
        <p:spPr>
          <a:xfrm>
            <a:off x="548640" y="2450512"/>
            <a:ext cx="3291840" cy="640000"/>
          </a:xfrm>
          <a:prstGeom prst="rect">
            <a:avLst/>
          </a:prstGeom>
          <a:noFill/>
        </p:spPr>
        <p:txBody>
          <a:bodyPr wrap="square" lIns="45720" rIns="45720" tIns="27432" bIns="27432" anchor="ctr">
            <a:spAutoFit/>
          </a:bodyPr>
          <a:lstStyle/>
          <a:p>
            <a:pPr algn="l"/>
            <a:r>
              <a:rPr sz="1100" b="0" i="0">
                <a:solidFill>
                  <a:srgbClr val="1A1A1A"/>
                </a:solidFill>
                <a:latin typeface="Abadi"/>
              </a:rPr>
              <a:t>Placebo (24/36)</a:t>
            </a:r>
          </a:p>
        </p:txBody>
      </p:sp>
      <p:sp>
        <p:nvSpPr>
          <p:cNvPr id="16" name="Rectangle 15"/>
          <p:cNvSpPr/>
          <p:nvPr/>
        </p:nvSpPr>
        <p:spPr>
          <a:xfrm>
            <a:off x="3931920" y="2495312"/>
            <a:ext cx="3202000" cy="55040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79640" y="2450512"/>
            <a:ext cx="1463040" cy="640000"/>
          </a:xfrm>
          <a:prstGeom prst="rect">
            <a:avLst/>
          </a:prstGeom>
          <a:noFill/>
        </p:spPr>
        <p:txBody>
          <a:bodyPr wrap="square" lIns="45720" rIns="45720" tIns="27432" bIns="27432" anchor="ctr">
            <a:spAutoFit/>
          </a:bodyPr>
          <a:lstStyle/>
          <a:p>
            <a:pPr algn="l"/>
            <a:r>
              <a:rPr sz="1100" b="1" i="0">
                <a:solidFill>
                  <a:srgbClr val="1A1A1A"/>
                </a:solidFill>
                <a:latin typeface="Abadi"/>
              </a:rPr>
              <a:t>66.7%</a:t>
            </a:r>
          </a:p>
        </p:txBody>
      </p:sp>
      <p:sp>
        <p:nvSpPr>
          <p:cNvPr id="18" name="TextBox 17"/>
          <p:cNvSpPr txBox="1"/>
          <p:nvPr/>
        </p:nvSpPr>
        <p:spPr>
          <a:xfrm>
            <a:off x="548640" y="3136232"/>
            <a:ext cx="7863840" cy="274320"/>
          </a:xfrm>
          <a:prstGeom prst="rect">
            <a:avLst/>
          </a:prstGeom>
          <a:noFill/>
        </p:spPr>
        <p:txBody>
          <a:bodyPr wrap="square" lIns="45720" rIns="45720" tIns="27432" bIns="27432" anchor="t">
            <a:spAutoFit/>
          </a:bodyPr>
          <a:lstStyle/>
          <a:p>
            <a:pPr algn="l"/>
            <a:r>
              <a:rPr sz="950" b="0" i="0">
                <a:solidFill>
                  <a:srgbClr val="8A939B"/>
                </a:solidFill>
                <a:latin typeface="Abadi"/>
              </a:rPr>
              <a:t>252 screened; 105 had a positive symptom index; 75 with normal acid exposure were randomised.</a:t>
            </a:r>
          </a:p>
        </p:txBody>
      </p:sp>
      <p:sp>
        <p:nvSpPr>
          <p:cNvPr id="19" name="TextBox 18"/>
          <p:cNvSpPr txBox="1"/>
          <p:nvPr/>
        </p:nvSpPr>
        <p:spPr>
          <a:xfrm>
            <a:off x="8778240" y="17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P = 0.021</a:t>
            </a:r>
          </a:p>
        </p:txBody>
      </p:sp>
      <p:sp>
        <p:nvSpPr>
          <p:cNvPr id="20" name="TextBox 19"/>
          <p:cNvSpPr txBox="1"/>
          <p:nvPr/>
        </p:nvSpPr>
        <p:spPr>
          <a:xfrm>
            <a:off x="8778240" y="20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Difference in persistent symptoms at six months.</a:t>
            </a:r>
          </a:p>
        </p:txBody>
      </p:sp>
      <p:sp>
        <p:nvSpPr>
          <p:cNvPr id="21" name="TextBox 20"/>
          <p:cNvSpPr txBox="1"/>
          <p:nvPr/>
        </p:nvSpPr>
        <p:spPr>
          <a:xfrm>
            <a:off x="8778240" y="26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NNT ≈ 4</a:t>
            </a:r>
          </a:p>
        </p:txBody>
      </p:sp>
      <p:sp>
        <p:nvSpPr>
          <p:cNvPr id="22" name="TextBox 21"/>
          <p:cNvSpPr txBox="1"/>
          <p:nvPr/>
        </p:nvSpPr>
        <p:spPr>
          <a:xfrm>
            <a:off x="8778240" y="29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Absolute difference 28 percentage points (our calculation).</a:t>
            </a:r>
          </a:p>
        </p:txBody>
      </p:sp>
      <p:sp>
        <p:nvSpPr>
          <p:cNvPr id="23" name="TextBox 22"/>
          <p:cNvSpPr txBox="1"/>
          <p:nvPr/>
        </p:nvSpPr>
        <p:spPr>
          <a:xfrm>
            <a:off x="8778240" y="35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74%</a:t>
            </a:r>
          </a:p>
        </p:txBody>
      </p:sp>
      <p:sp>
        <p:nvSpPr>
          <p:cNvPr id="24" name="TextBox 23"/>
          <p:cNvSpPr txBox="1"/>
          <p:nvPr/>
        </p:nvSpPr>
        <p:spPr>
          <a:xfrm>
            <a:off x="8778240" y="38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of the symptom-index–positive patients reacted to non-acid reflux.</a:t>
            </a:r>
          </a:p>
        </p:txBody>
      </p:sp>
      <p:sp>
        <p:nvSpPr>
          <p:cNvPr id="25" name="TextBox 24"/>
          <p:cNvSpPr txBox="1"/>
          <p:nvPr/>
        </p:nvSpPr>
        <p:spPr>
          <a:xfrm>
            <a:off x="548640" y="4206240"/>
            <a:ext cx="7955279" cy="150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This single-centre trial is the main reason SSRIs are offered in hypersensitivity. In children, it is extrapolation: no paediatric trial has tested an SSRI or a tricyclic in this indication.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NEUROMODULATORS IN CHILDREN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EXTRAPOLATION WITH CARE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What we can borrow from paediatric abdominal-pain disorders, and the safety steps that come with it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Saps M, et al. Gastroenterology 2009;137:1261–9 · Roohafza H, et al. Neurogastroenterol Motil 2014;26:1642–50 · Rosen 2026 (Rome V Paediatric) · FDA boxed warning on antidepressants (2004, extended 2007)</a:t>
            </a:r>
          </a:p>
        </p:txBody>
      </p:sp>
      <p:sp>
        <p:nvSpPr>
          <p:cNvPr id="12" name="Rectangle 11"/>
          <p:cNvSpPr/>
          <p:nvPr/>
        </p:nvSpPr>
        <p:spPr>
          <a:xfrm>
            <a:off x="548640" y="1773936"/>
            <a:ext cx="2126284"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126284"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833676" cy="502920"/>
          </a:xfrm>
          <a:prstGeom prst="rect">
            <a:avLst/>
          </a:prstGeom>
          <a:noFill/>
        </p:spPr>
        <p:txBody>
          <a:bodyPr wrap="square" lIns="45720" rIns="45720" tIns="27432" bIns="27432" anchor="t">
            <a:spAutoFit/>
          </a:bodyPr>
          <a:lstStyle/>
          <a:p>
            <a:pPr algn="l"/>
            <a:r>
              <a:rPr sz="1500" b="1" i="0">
                <a:solidFill>
                  <a:srgbClr val="8A939B"/>
                </a:solidFill>
                <a:latin typeface="Abadi"/>
              </a:rPr>
              <a:t>No direct trials</a:t>
            </a:r>
          </a:p>
        </p:txBody>
      </p:sp>
      <p:sp>
        <p:nvSpPr>
          <p:cNvPr id="15" name="TextBox 14"/>
          <p:cNvSpPr txBox="1"/>
          <p:nvPr/>
        </p:nvSpPr>
        <p:spPr>
          <a:xfrm>
            <a:off x="69494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No SSRI or TCA RCT in paediatric FH or RH (Rome V)</a:t>
            </a:r>
          </a:p>
        </p:txBody>
      </p:sp>
      <p:sp>
        <p:nvSpPr>
          <p:cNvPr id="16" name="Rectangle 15"/>
          <p:cNvSpPr/>
          <p:nvPr/>
        </p:nvSpPr>
        <p:spPr>
          <a:xfrm>
            <a:off x="2787700" y="1773936"/>
            <a:ext cx="2126284"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87700" y="1773936"/>
            <a:ext cx="2126284"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4004" y="1956816"/>
            <a:ext cx="1833676" cy="502920"/>
          </a:xfrm>
          <a:prstGeom prst="rect">
            <a:avLst/>
          </a:prstGeom>
          <a:noFill/>
        </p:spPr>
        <p:txBody>
          <a:bodyPr wrap="square" lIns="45720" rIns="45720" tIns="27432" bIns="27432" anchor="t">
            <a:spAutoFit/>
          </a:bodyPr>
          <a:lstStyle/>
          <a:p>
            <a:pPr algn="l"/>
            <a:r>
              <a:rPr sz="1500" b="1" i="0">
                <a:solidFill>
                  <a:srgbClr val="1B355E"/>
                </a:solidFill>
                <a:latin typeface="Abadi"/>
              </a:rPr>
              <a:t>Amitriptyline</a:t>
            </a:r>
          </a:p>
        </p:txBody>
      </p:sp>
      <p:sp>
        <p:nvSpPr>
          <p:cNvPr id="19" name="TextBox 18"/>
          <p:cNvSpPr txBox="1"/>
          <p:nvPr/>
        </p:nvSpPr>
        <p:spPr>
          <a:xfrm>
            <a:off x="293400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FAPD, n = 83: better 63% vs 57.5% placebo, P = 0.63</a:t>
            </a:r>
          </a:p>
          <a:p>
            <a:pPr algn="l">
              <a:spcAft>
                <a:spcPts val="400"/>
              </a:spcAft>
            </a:pPr>
            <a:r>
              <a:rPr sz="1050" b="0" i="0">
                <a:solidFill>
                  <a:srgbClr val="1A1A1A"/>
                </a:solidFill>
                <a:latin typeface="Abadi"/>
              </a:rPr>
              <a:t>▪  Anxiety improved</a:t>
            </a:r>
          </a:p>
        </p:txBody>
      </p:sp>
      <p:sp>
        <p:nvSpPr>
          <p:cNvPr id="20" name="Rectangle 19"/>
          <p:cNvSpPr/>
          <p:nvPr/>
        </p:nvSpPr>
        <p:spPr>
          <a:xfrm>
            <a:off x="5026760" y="1773936"/>
            <a:ext cx="2126284"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6760" y="1773936"/>
            <a:ext cx="2126284"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3064" y="1956816"/>
            <a:ext cx="1833676" cy="502920"/>
          </a:xfrm>
          <a:prstGeom prst="rect">
            <a:avLst/>
          </a:prstGeom>
          <a:noFill/>
        </p:spPr>
        <p:txBody>
          <a:bodyPr wrap="square" lIns="45720" rIns="45720" tIns="27432" bIns="27432" anchor="t">
            <a:spAutoFit/>
          </a:bodyPr>
          <a:lstStyle/>
          <a:p>
            <a:pPr algn="l"/>
            <a:r>
              <a:rPr sz="1500" b="1" i="0">
                <a:solidFill>
                  <a:srgbClr val="1E7A33"/>
                </a:solidFill>
                <a:latin typeface="Abadi"/>
              </a:rPr>
              <a:t>Citalopram</a:t>
            </a:r>
          </a:p>
        </p:txBody>
      </p:sp>
      <p:sp>
        <p:nvSpPr>
          <p:cNvPr id="23" name="TextBox 22"/>
          <p:cNvSpPr txBox="1"/>
          <p:nvPr/>
        </p:nvSpPr>
        <p:spPr>
          <a:xfrm>
            <a:off x="517306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Paediatric functional abdominal pain: reported benefit (Roohafza 2014)</a:t>
            </a:r>
          </a:p>
        </p:txBody>
      </p:sp>
      <p:sp>
        <p:nvSpPr>
          <p:cNvPr id="24" name="Rectangle 23"/>
          <p:cNvSpPr/>
          <p:nvPr/>
        </p:nvSpPr>
        <p:spPr>
          <a:xfrm>
            <a:off x="7265820" y="1773936"/>
            <a:ext cx="2126284"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5820" y="1773936"/>
            <a:ext cx="2126284"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2124" y="1956816"/>
            <a:ext cx="1833676" cy="502920"/>
          </a:xfrm>
          <a:prstGeom prst="rect">
            <a:avLst/>
          </a:prstGeom>
          <a:noFill/>
        </p:spPr>
        <p:txBody>
          <a:bodyPr wrap="square" lIns="45720" rIns="45720" tIns="27432" bIns="27432" anchor="t">
            <a:spAutoFit/>
          </a:bodyPr>
          <a:lstStyle/>
          <a:p>
            <a:pPr algn="l"/>
            <a:r>
              <a:rPr sz="1500" b="1" i="0">
                <a:solidFill>
                  <a:srgbClr val="D97A0B"/>
                </a:solidFill>
                <a:latin typeface="Abadi"/>
              </a:rPr>
              <a:t>TCA safety</a:t>
            </a:r>
          </a:p>
        </p:txBody>
      </p:sp>
      <p:sp>
        <p:nvSpPr>
          <p:cNvPr id="27" name="TextBox 26"/>
          <p:cNvSpPr txBox="1"/>
          <p:nvPr/>
        </p:nvSpPr>
        <p:spPr>
          <a:xfrm>
            <a:off x="741212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Low dose at night</a:t>
            </a:r>
          </a:p>
          <a:p>
            <a:pPr algn="l">
              <a:spcAft>
                <a:spcPts val="400"/>
              </a:spcAft>
            </a:pPr>
            <a:r>
              <a:rPr sz="1050" b="0" i="0">
                <a:solidFill>
                  <a:srgbClr val="1A1A1A"/>
                </a:solidFill>
                <a:latin typeface="Abadi"/>
              </a:rPr>
              <a:t>▪  Consider baseline ECG</a:t>
            </a:r>
          </a:p>
          <a:p>
            <a:pPr algn="l">
              <a:spcAft>
                <a:spcPts val="400"/>
              </a:spcAft>
            </a:pPr>
            <a:r>
              <a:rPr sz="1050" b="0" i="0">
                <a:solidFill>
                  <a:srgbClr val="1A1A1A"/>
                </a:solidFill>
                <a:latin typeface="Abadi"/>
              </a:rPr>
              <a:t>▪  Overdose risk at home</a:t>
            </a:r>
          </a:p>
        </p:txBody>
      </p:sp>
      <p:sp>
        <p:nvSpPr>
          <p:cNvPr id="28" name="Rectangle 27"/>
          <p:cNvSpPr/>
          <p:nvPr/>
        </p:nvSpPr>
        <p:spPr>
          <a:xfrm>
            <a:off x="9504880" y="1773936"/>
            <a:ext cx="2126284"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4880" y="1773936"/>
            <a:ext cx="2126284"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51184" y="1956816"/>
            <a:ext cx="1833676" cy="502920"/>
          </a:xfrm>
          <a:prstGeom prst="rect">
            <a:avLst/>
          </a:prstGeom>
          <a:noFill/>
        </p:spPr>
        <p:txBody>
          <a:bodyPr wrap="square" lIns="45720" rIns="45720" tIns="27432" bIns="27432" anchor="t">
            <a:spAutoFit/>
          </a:bodyPr>
          <a:lstStyle/>
          <a:p>
            <a:pPr algn="l"/>
            <a:r>
              <a:rPr sz="1500" b="1" i="0">
                <a:solidFill>
                  <a:srgbClr val="B22222"/>
                </a:solidFill>
                <a:latin typeface="Abadi"/>
              </a:rPr>
              <a:t>SSRI safety</a:t>
            </a:r>
          </a:p>
        </p:txBody>
      </p:sp>
      <p:sp>
        <p:nvSpPr>
          <p:cNvPr id="31" name="TextBox 30"/>
          <p:cNvSpPr txBox="1"/>
          <p:nvPr/>
        </p:nvSpPr>
        <p:spPr>
          <a:xfrm>
            <a:off x="965118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Boxed warning: suicidality &lt; 25 y</a:t>
            </a:r>
          </a:p>
          <a:p>
            <a:pPr algn="l">
              <a:spcAft>
                <a:spcPts val="400"/>
              </a:spcAft>
            </a:pPr>
            <a:r>
              <a:rPr sz="1050" b="0" i="0">
                <a:solidFill>
                  <a:srgbClr val="1A1A1A"/>
                </a:solidFill>
                <a:latin typeface="Abadi"/>
              </a:rPr>
              <a:t>▪  Review at 2–4 weeks</a:t>
            </a:r>
          </a:p>
        </p:txBody>
      </p:sp>
      <p:sp>
        <p:nvSpPr>
          <p:cNvPr id="32" name="TextBox 31"/>
          <p:cNvSpPr txBox="1"/>
          <p:nvPr/>
        </p:nvSpPr>
        <p:spPr>
          <a:xfrm>
            <a:off x="548640" y="4114800"/>
            <a:ext cx="11082528" cy="1500000"/>
          </a:xfrm>
          <a:prstGeom prst="rect">
            <a:avLst/>
          </a:prstGeom>
          <a:noFill/>
        </p:spPr>
        <p:txBody>
          <a:bodyPr wrap="square" lIns="45720" rIns="45720" tIns="27432" bIns="27432" anchor="t">
            <a:spAutoFit/>
          </a:bodyPr>
          <a:lstStyle/>
          <a:p>
            <a:pPr algn="l"/>
            <a:r>
              <a:rPr sz="1250" b="1" i="0">
                <a:solidFill>
                  <a:srgbClr val="1B355E"/>
                </a:solidFill>
                <a:latin typeface="Abadi"/>
              </a:rPr>
              <a:t>How to use them.   </a:t>
            </a:r>
            <a:r>
              <a:rPr sz="1250" b="0" i="0">
                <a:solidFill>
                  <a:srgbClr val="1B355E"/>
                </a:solidFill>
                <a:latin typeface="Abadi"/>
              </a:rPr>
              <a:t>Explain to the family that the drug is used to turn down nerve sensitivity, not to treat depression; this framing changes adherence. Start low, wait six to eight weeks before judging, and pair the drug with behavioural therapy. The large placebo response in paediatric pain trials (57.5% in the amitriptyline trial) is part of the therapeutic effect of a confident, explained plan.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BRAIN–GUT BEHAVIOURAL THERAPY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TREATING THE PERCEPTION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Non-drug treatments recommended for hypersensitivity and hypervigilance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Yadlapati R, Gyawali CP, Pandolfino JE. Clin Gastroenterol Hepatol 2022;20:984–94 (AGA, statement 11) · Fass 2020 (AGA) · Riehl 2016 · Rosen 2026 (Rome V Paediatric)</a:t>
            </a:r>
          </a:p>
        </p:txBody>
      </p:sp>
      <p:sp>
        <p:nvSpPr>
          <p:cNvPr id="12" name="Rectangle 11"/>
          <p:cNvSpPr/>
          <p:nvPr/>
        </p:nvSpPr>
        <p:spPr>
          <a:xfrm>
            <a:off x="548640" y="1773936"/>
            <a:ext cx="2011680" cy="17830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Explain</a:t>
            </a:r>
          </a:p>
        </p:txBody>
      </p:sp>
      <p:sp>
        <p:nvSpPr>
          <p:cNvPr id="15" name="TextBox 14"/>
          <p:cNvSpPr txBox="1"/>
          <p:nvPr/>
        </p:nvSpPr>
        <p:spPr>
          <a:xfrm>
            <a:off x="658368"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A positive diagnosis: the oesophagus is healthy and over-sensitive. Show the tracing.</a:t>
            </a:r>
          </a:p>
        </p:txBody>
      </p:sp>
      <p:sp>
        <p:nvSpPr>
          <p:cNvPr id="16" name="TextBox 15"/>
          <p:cNvSpPr txBox="1"/>
          <p:nvPr/>
        </p:nvSpPr>
        <p:spPr>
          <a:xfrm>
            <a:off x="2560320"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17" name="Rectangle 16"/>
          <p:cNvSpPr/>
          <p:nvPr/>
        </p:nvSpPr>
        <p:spPr>
          <a:xfrm>
            <a:off x="2816352" y="1773936"/>
            <a:ext cx="2011680" cy="17830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36576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9504"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Breathe</a:t>
            </a:r>
          </a:p>
        </p:txBody>
      </p:sp>
      <p:sp>
        <p:nvSpPr>
          <p:cNvPr id="20" name="TextBox 19"/>
          <p:cNvSpPr txBox="1"/>
          <p:nvPr/>
        </p:nvSpPr>
        <p:spPr>
          <a:xfrm>
            <a:off x="2926080"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Diaphragmatic breathing: also first-line for rumination and supragastric belching.</a:t>
            </a:r>
          </a:p>
        </p:txBody>
      </p:sp>
      <p:sp>
        <p:nvSpPr>
          <p:cNvPr id="21" name="TextBox 20"/>
          <p:cNvSpPr txBox="1"/>
          <p:nvPr/>
        </p:nvSpPr>
        <p:spPr>
          <a:xfrm>
            <a:off x="4828032"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22" name="Rectangle 21"/>
          <p:cNvSpPr/>
          <p:nvPr/>
        </p:nvSpPr>
        <p:spPr>
          <a:xfrm>
            <a:off x="5084064" y="1773936"/>
            <a:ext cx="2011680" cy="17830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3657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57216"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CBT</a:t>
            </a:r>
          </a:p>
        </p:txBody>
      </p:sp>
      <p:sp>
        <p:nvSpPr>
          <p:cNvPr id="25" name="TextBox 24"/>
          <p:cNvSpPr txBox="1"/>
          <p:nvPr/>
        </p:nvSpPr>
        <p:spPr>
          <a:xfrm>
            <a:off x="5193792"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Targets hypervigilance, catastrophising and avoidance of foods and activities.</a:t>
            </a:r>
          </a:p>
        </p:txBody>
      </p:sp>
      <p:sp>
        <p:nvSpPr>
          <p:cNvPr id="26" name="TextBox 25"/>
          <p:cNvSpPr txBox="1"/>
          <p:nvPr/>
        </p:nvSpPr>
        <p:spPr>
          <a:xfrm>
            <a:off x="7095744"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27" name="Rectangle 26"/>
          <p:cNvSpPr/>
          <p:nvPr/>
        </p:nvSpPr>
        <p:spPr>
          <a:xfrm>
            <a:off x="7351776" y="1773936"/>
            <a:ext cx="2011680" cy="17830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3657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24928"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Hypnotherapy</a:t>
            </a:r>
          </a:p>
        </p:txBody>
      </p:sp>
      <p:sp>
        <p:nvSpPr>
          <p:cNvPr id="30" name="TextBox 29"/>
          <p:cNvSpPr txBox="1"/>
          <p:nvPr/>
        </p:nvSpPr>
        <p:spPr>
          <a:xfrm>
            <a:off x="7461504"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Oesophageal-directed hypnotherapy: adult pilot data; paediatric gut-directed experience.</a:t>
            </a:r>
          </a:p>
        </p:txBody>
      </p:sp>
      <p:sp>
        <p:nvSpPr>
          <p:cNvPr id="31" name="TextBox 30"/>
          <p:cNvSpPr txBox="1"/>
          <p:nvPr/>
        </p:nvSpPr>
        <p:spPr>
          <a:xfrm>
            <a:off x="9363456"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32" name="Rectangle 31"/>
          <p:cNvSpPr/>
          <p:nvPr/>
        </p:nvSpPr>
        <p:spPr>
          <a:xfrm>
            <a:off x="9619488" y="1773936"/>
            <a:ext cx="2011680" cy="17830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3657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Function</a:t>
            </a:r>
          </a:p>
        </p:txBody>
      </p:sp>
      <p:sp>
        <p:nvSpPr>
          <p:cNvPr id="35" name="TextBox 34"/>
          <p:cNvSpPr txBox="1"/>
          <p:nvPr/>
        </p:nvSpPr>
        <p:spPr>
          <a:xfrm>
            <a:off x="9729216"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Return to school and sport is the outcome, not zero symptoms.</a:t>
            </a:r>
          </a:p>
        </p:txBody>
      </p:sp>
      <p:sp>
        <p:nvSpPr>
          <p:cNvPr id="36" name="TextBox 35"/>
          <p:cNvSpPr txBox="1"/>
          <p:nvPr/>
        </p:nvSpPr>
        <p:spPr>
          <a:xfrm>
            <a:off x="548640" y="3840480"/>
            <a:ext cx="11082528" cy="1700000"/>
          </a:xfrm>
          <a:prstGeom prst="rect">
            <a:avLst/>
          </a:prstGeom>
          <a:noFill/>
        </p:spPr>
        <p:txBody>
          <a:bodyPr wrap="square" lIns="45720" rIns="45720" tIns="27432" bIns="27432" anchor="t">
            <a:spAutoFit/>
          </a:bodyPr>
          <a:lstStyle/>
          <a:p>
            <a:pPr algn="l"/>
            <a:r>
              <a:rPr sz="1250" b="1" i="0">
                <a:solidFill>
                  <a:srgbClr val="1B355E"/>
                </a:solidFill>
                <a:latin typeface="Abadi"/>
              </a:rPr>
              <a:t>Evidence and access.   </a:t>
            </a:r>
            <a:r>
              <a:rPr sz="1250" b="0" i="0">
                <a:solidFill>
                  <a:srgbClr val="1B355E"/>
                </a:solidFill>
                <a:latin typeface="Abadi"/>
              </a:rPr>
              <a:t>AGA 2022 recommends neuromodulation and/or referral for hypnotherapy, cognitive behavioural therapy, diaphragmatic breathing or relaxation in functional heartburn and in reflux with hypersensitivity or hypervigilance. Rome V Paediatric lists these options but notes that no paediatric CBT study exists for these disorders. Access to a GI psychologist is the limiting step in most services.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WHEN 'REFLUX' IS SOMETHING ELSE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LOOK AGAIN BEFORE YOU LABEL</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Diagnoses that mimic refractory reflux and need different treatment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Grunder FR, Aspirot A, Faure C. JPGN 2017;65:627–32 · Rosen 2026 (Rome V Paediatric) · Yadlapati 2022 · Rosen 2018 · Katz 2022</a:t>
            </a:r>
          </a:p>
        </p:txBody>
      </p:sp>
      <p:sp>
        <p:nvSpPr>
          <p:cNvPr id="12" name="Rectangle 11"/>
          <p:cNvSpPr/>
          <p:nvPr/>
        </p:nvSpPr>
        <p:spPr>
          <a:xfrm>
            <a:off x="548640" y="1773936"/>
            <a:ext cx="2126284"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126284"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833676" cy="502920"/>
          </a:xfrm>
          <a:prstGeom prst="rect">
            <a:avLst/>
          </a:prstGeom>
          <a:noFill/>
        </p:spPr>
        <p:txBody>
          <a:bodyPr wrap="square" lIns="45720" rIns="45720" tIns="27432" bIns="27432" anchor="t">
            <a:spAutoFit/>
          </a:bodyPr>
          <a:lstStyle/>
          <a:p>
            <a:pPr algn="l"/>
            <a:r>
              <a:rPr sz="1500" b="1" i="0">
                <a:solidFill>
                  <a:srgbClr val="1B355E"/>
                </a:solidFill>
                <a:latin typeface="Abadi"/>
              </a:rPr>
              <a:t>Rumination</a:t>
            </a:r>
          </a:p>
        </p:txBody>
      </p:sp>
      <p:sp>
        <p:nvSpPr>
          <p:cNvPr id="15" name="TextBox 14"/>
          <p:cNvSpPr txBox="1"/>
          <p:nvPr/>
        </p:nvSpPr>
        <p:spPr>
          <a:xfrm>
            <a:off x="69494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Effortless regurgitation</a:t>
            </a:r>
          </a:p>
          <a:p>
            <a:pPr algn="l">
              <a:spcAft>
                <a:spcPts val="400"/>
              </a:spcAft>
            </a:pPr>
            <a:r>
              <a:rPr sz="1050" b="0" i="0">
                <a:solidFill>
                  <a:srgbClr val="1A1A1A"/>
                </a:solidFill>
                <a:latin typeface="Abadi"/>
              </a:rPr>
              <a:t>▪  HRIM: gastric pressure rise &gt; 30 mmHg</a:t>
            </a:r>
          </a:p>
          <a:p>
            <a:pPr algn="l">
              <a:spcAft>
                <a:spcPts val="400"/>
              </a:spcAft>
            </a:pPr>
            <a:r>
              <a:rPr sz="1050" b="0" i="0">
                <a:solidFill>
                  <a:srgbClr val="1A1A1A"/>
                </a:solidFill>
                <a:latin typeface="Abadi"/>
              </a:rPr>
              <a:t>▪  Sens 80%, spec 100%</a:t>
            </a:r>
          </a:p>
        </p:txBody>
      </p:sp>
      <p:sp>
        <p:nvSpPr>
          <p:cNvPr id="16" name="Rectangle 15"/>
          <p:cNvSpPr/>
          <p:nvPr/>
        </p:nvSpPr>
        <p:spPr>
          <a:xfrm>
            <a:off x="2787700" y="1773936"/>
            <a:ext cx="2126284"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87700" y="1773936"/>
            <a:ext cx="2126284"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4004" y="1956816"/>
            <a:ext cx="1833676" cy="502920"/>
          </a:xfrm>
          <a:prstGeom prst="rect">
            <a:avLst/>
          </a:prstGeom>
          <a:noFill/>
        </p:spPr>
        <p:txBody>
          <a:bodyPr wrap="square" lIns="45720" rIns="45720" tIns="27432" bIns="27432" anchor="t">
            <a:spAutoFit/>
          </a:bodyPr>
          <a:lstStyle/>
          <a:p>
            <a:pPr algn="l"/>
            <a:r>
              <a:rPr sz="1500" b="1" i="0">
                <a:solidFill>
                  <a:srgbClr val="1E7A33"/>
                </a:solidFill>
                <a:latin typeface="Abadi"/>
              </a:rPr>
              <a:t>Supragastric belching</a:t>
            </a:r>
          </a:p>
        </p:txBody>
      </p:sp>
      <p:sp>
        <p:nvSpPr>
          <p:cNvPr id="19" name="TextBox 18"/>
          <p:cNvSpPr txBox="1"/>
          <p:nvPr/>
        </p:nvSpPr>
        <p:spPr>
          <a:xfrm>
            <a:off x="293400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Repetitive belching, absent in sleep</a:t>
            </a:r>
          </a:p>
          <a:p>
            <a:pPr algn="l">
              <a:spcAft>
                <a:spcPts val="400"/>
              </a:spcAft>
            </a:pPr>
            <a:r>
              <a:rPr sz="1050" b="0" i="0">
                <a:solidFill>
                  <a:srgbClr val="1A1A1A"/>
                </a:solidFill>
                <a:latin typeface="Abadi"/>
              </a:rPr>
              <a:t>▪  2.4% of 287 children tested</a:t>
            </a:r>
          </a:p>
        </p:txBody>
      </p:sp>
      <p:sp>
        <p:nvSpPr>
          <p:cNvPr id="20" name="Rectangle 19"/>
          <p:cNvSpPr/>
          <p:nvPr/>
        </p:nvSpPr>
        <p:spPr>
          <a:xfrm>
            <a:off x="5026760" y="1773936"/>
            <a:ext cx="2126284"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6760" y="1773936"/>
            <a:ext cx="2126284"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3064" y="1956816"/>
            <a:ext cx="1833676" cy="502920"/>
          </a:xfrm>
          <a:prstGeom prst="rect">
            <a:avLst/>
          </a:prstGeom>
          <a:noFill/>
        </p:spPr>
        <p:txBody>
          <a:bodyPr wrap="square" lIns="45720" rIns="45720" tIns="27432" bIns="27432" anchor="t">
            <a:spAutoFit/>
          </a:bodyPr>
          <a:lstStyle/>
          <a:p>
            <a:pPr algn="l"/>
            <a:r>
              <a:rPr sz="1500" b="1" i="0">
                <a:solidFill>
                  <a:srgbClr val="B22222"/>
                </a:solidFill>
                <a:latin typeface="Abadi"/>
              </a:rPr>
              <a:t>EoE</a:t>
            </a:r>
          </a:p>
        </p:txBody>
      </p:sp>
      <p:sp>
        <p:nvSpPr>
          <p:cNvPr id="23" name="TextBox 22"/>
          <p:cNvSpPr txBox="1"/>
          <p:nvPr/>
        </p:nvSpPr>
        <p:spPr>
          <a:xfrm>
            <a:off x="517306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Needs biopsies</a:t>
            </a:r>
          </a:p>
          <a:p>
            <a:pPr algn="l">
              <a:spcAft>
                <a:spcPts val="400"/>
              </a:spcAft>
            </a:pPr>
            <a:r>
              <a:rPr sz="1050" b="0" i="0">
                <a:solidFill>
                  <a:srgbClr val="1A1A1A"/>
                </a:solidFill>
                <a:latin typeface="Abadi"/>
              </a:rPr>
              <a:t>▪  PPI before EGD can mask it</a:t>
            </a:r>
          </a:p>
        </p:txBody>
      </p:sp>
      <p:sp>
        <p:nvSpPr>
          <p:cNvPr id="24" name="Rectangle 23"/>
          <p:cNvSpPr/>
          <p:nvPr/>
        </p:nvSpPr>
        <p:spPr>
          <a:xfrm>
            <a:off x="7265820" y="1773936"/>
            <a:ext cx="2126284"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5820" y="1773936"/>
            <a:ext cx="2126284"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2124" y="1956816"/>
            <a:ext cx="1833676" cy="502920"/>
          </a:xfrm>
          <a:prstGeom prst="rect">
            <a:avLst/>
          </a:prstGeom>
          <a:noFill/>
        </p:spPr>
        <p:txBody>
          <a:bodyPr wrap="square" lIns="45720" rIns="45720" tIns="27432" bIns="27432" anchor="t">
            <a:spAutoFit/>
          </a:bodyPr>
          <a:lstStyle/>
          <a:p>
            <a:pPr algn="l"/>
            <a:r>
              <a:rPr sz="1500" b="1" i="0">
                <a:solidFill>
                  <a:srgbClr val="D97A0B"/>
                </a:solidFill>
                <a:latin typeface="Abadi"/>
              </a:rPr>
              <a:t>Motility</a:t>
            </a:r>
          </a:p>
        </p:txBody>
      </p:sp>
      <p:sp>
        <p:nvSpPr>
          <p:cNvPr id="27" name="TextBox 26"/>
          <p:cNvSpPr txBox="1"/>
          <p:nvPr/>
        </p:nvSpPr>
        <p:spPr>
          <a:xfrm>
            <a:off x="741212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Achalasia, spasm: HRM before invasive therapy</a:t>
            </a:r>
          </a:p>
        </p:txBody>
      </p:sp>
      <p:sp>
        <p:nvSpPr>
          <p:cNvPr id="28" name="Rectangle 27"/>
          <p:cNvSpPr/>
          <p:nvPr/>
        </p:nvSpPr>
        <p:spPr>
          <a:xfrm>
            <a:off x="9504880" y="1773936"/>
            <a:ext cx="2126284"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4880" y="1773936"/>
            <a:ext cx="2126284"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51184" y="1956816"/>
            <a:ext cx="1833676" cy="502920"/>
          </a:xfrm>
          <a:prstGeom prst="rect">
            <a:avLst/>
          </a:prstGeom>
          <a:noFill/>
        </p:spPr>
        <p:txBody>
          <a:bodyPr wrap="square" lIns="45720" rIns="45720" tIns="27432" bIns="27432" anchor="t">
            <a:spAutoFit/>
          </a:bodyPr>
          <a:lstStyle/>
          <a:p>
            <a:pPr algn="l"/>
            <a:r>
              <a:rPr sz="1500" b="1" i="0">
                <a:solidFill>
                  <a:srgbClr val="8A939B"/>
                </a:solidFill>
                <a:latin typeface="Abadi"/>
              </a:rPr>
              <a:t>Overlap</a:t>
            </a:r>
          </a:p>
        </p:txBody>
      </p:sp>
      <p:sp>
        <p:nvSpPr>
          <p:cNvPr id="31" name="TextBox 30"/>
          <p:cNvSpPr txBox="1"/>
          <p:nvPr/>
        </p:nvSpPr>
        <p:spPr>
          <a:xfrm>
            <a:off x="965118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Functional dyspepsia</a:t>
            </a:r>
          </a:p>
          <a:p>
            <a:pPr algn="l">
              <a:spcAft>
                <a:spcPts val="400"/>
              </a:spcAft>
            </a:pPr>
            <a:r>
              <a:rPr sz="1050" b="0" i="0">
                <a:solidFill>
                  <a:srgbClr val="1A1A1A"/>
                </a:solidFill>
                <a:latin typeface="Abadi"/>
              </a:rPr>
              <a:t>▪  Cyclic vomiting</a:t>
            </a:r>
          </a:p>
          <a:p>
            <a:pPr algn="l">
              <a:spcAft>
                <a:spcPts val="400"/>
              </a:spcAft>
            </a:pPr>
            <a:r>
              <a:rPr sz="1050" b="0" i="0">
                <a:solidFill>
                  <a:srgbClr val="1A1A1A"/>
                </a:solidFill>
                <a:latin typeface="Abadi"/>
              </a:rPr>
              <a:t>▪  Chest-wall pain</a:t>
            </a:r>
          </a:p>
        </p:txBody>
      </p:sp>
      <p:sp>
        <p:nvSpPr>
          <p:cNvPr id="32" name="TextBox 31"/>
          <p:cNvSpPr txBox="1"/>
          <p:nvPr/>
        </p:nvSpPr>
        <p:spPr>
          <a:xfrm>
            <a:off x="548640" y="4114800"/>
            <a:ext cx="11082528" cy="1500000"/>
          </a:xfrm>
          <a:prstGeom prst="rect">
            <a:avLst/>
          </a:prstGeom>
          <a:noFill/>
        </p:spPr>
        <p:txBody>
          <a:bodyPr wrap="square" lIns="45720" rIns="45720" tIns="27432" bIns="27432" anchor="t">
            <a:spAutoFit/>
          </a:bodyPr>
          <a:lstStyle/>
          <a:p>
            <a:pPr algn="l"/>
            <a:r>
              <a:rPr sz="1250" b="1" i="0">
                <a:solidFill>
                  <a:srgbClr val="1B355E"/>
                </a:solidFill>
                <a:latin typeface="Abadi"/>
              </a:rPr>
              <a:t>Pearl.   </a:t>
            </a:r>
            <a:r>
              <a:rPr sz="1250" b="0" i="0">
                <a:solidFill>
                  <a:srgbClr val="1B355E"/>
                </a:solidFill>
                <a:latin typeface="Abadi"/>
              </a:rPr>
              <a:t>Rumination and supragastric belching are behaviours, not reflux, and both get worse with fundoplication. Treat with diaphragmatic breathing and behavioural therapy; baclofen helped about half of children with rumination in a retrospective series. Neither surgery nor botulinum toxin is recommended.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A DIAGNOSTIC PATHWAY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FROM HEARTBURN TO A PHENOTYPE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A practical sequence for a school-age child or adolescent with persistent heartburn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Rosen 2018 (NASPGHAN/ESPGHAN) · Rosen 2026 (Rome V Paediatric) · Gyawali 2024 (Lyon 2.0) · Fass 2020 · Yadlapati 2022</a:t>
            </a:r>
          </a:p>
        </p:txBody>
      </p:sp>
      <p:graphicFrame>
        <p:nvGraphicFramePr>
          <p:cNvPr id="12" name="Table 11"/>
          <p:cNvGraphicFramePr>
            <a:graphicFrameLocks noGrp="1"/>
          </p:cNvGraphicFramePr>
          <p:nvPr/>
        </p:nvGraphicFramePr>
        <p:xfrm>
          <a:off x="548640" y="1783080"/>
          <a:ext cx="11082526" cy="3080000"/>
        </p:xfrm>
        <a:graphic>
          <a:graphicData uri="http://schemas.openxmlformats.org/drawingml/2006/table">
            <a:tbl>
              <a:tblPr firstRow="1" bandRow="1">
                <a:tableStyleId>{5C22544A-7EE6-4342-B048-85BDC9FD1C3A}</a:tableStyleId>
              </a:tblPr>
              <a:tblGrid>
                <a:gridCol w="2110957"/>
                <a:gridCol w="4573741"/>
                <a:gridCol w="4397828"/>
              </a:tblGrid>
              <a:tr h="380000">
                <a:tc>
                  <a:txBody>
                    <a:bodyPr wrap="square"/>
                    <a:lstStyle/>
                    <a:p>
                      <a:r>
                        <a:rPr sz="1000" b="1" i="0">
                          <a:solidFill>
                            <a:srgbClr val="FFFFFF"/>
                          </a:solidFill>
                          <a:latin typeface="Abadi"/>
                        </a:rPr>
                        <a:t>Step</a:t>
                      </a:r>
                    </a:p>
                  </a:txBody>
                  <a:tcPr marL="64008" marR="64008" marT="27432" marB="27432" anchor="ctr">
                    <a:solidFill>
                      <a:srgbClr val="1B355E"/>
                    </a:solidFill>
                  </a:tcPr>
                </a:tc>
                <a:tc>
                  <a:txBody>
                    <a:bodyPr wrap="square"/>
                    <a:lstStyle/>
                    <a:p>
                      <a:r>
                        <a:rPr sz="1000" b="1" i="0">
                          <a:solidFill>
                            <a:srgbClr val="FFFFFF"/>
                          </a:solidFill>
                          <a:latin typeface="Abadi"/>
                        </a:rPr>
                        <a:t>What</a:t>
                      </a:r>
                    </a:p>
                  </a:txBody>
                  <a:tcPr marL="64008" marR="64008" marT="27432" marB="27432" anchor="ctr">
                    <a:solidFill>
                      <a:srgbClr val="1B355E"/>
                    </a:solidFill>
                  </a:tcPr>
                </a:tc>
                <a:tc>
                  <a:txBody>
                    <a:bodyPr wrap="square"/>
                    <a:lstStyle/>
                    <a:p>
                      <a:r>
                        <a:rPr sz="1000" b="1" i="0">
                          <a:solidFill>
                            <a:srgbClr val="FFFFFF"/>
                          </a:solidFill>
                          <a:latin typeface="Abadi"/>
                        </a:rPr>
                        <a:t>Decision</a:t>
                      </a:r>
                    </a:p>
                  </a:txBody>
                  <a:tcPr marL="64008" marR="64008" marT="27432" marB="27432" anchor="ctr">
                    <a:solidFill>
                      <a:srgbClr val="1B355E"/>
                    </a:solidFill>
                  </a:tcPr>
                </a:tc>
              </a:tr>
              <a:tr h="450000">
                <a:tc>
                  <a:txBody>
                    <a:bodyPr wrap="square"/>
                    <a:lstStyle/>
                    <a:p>
                      <a:r>
                        <a:rPr sz="1000" b="1" i="0">
                          <a:solidFill>
                            <a:srgbClr val="1A1A1A"/>
                          </a:solidFill>
                          <a:latin typeface="Abadi"/>
                        </a:rPr>
                        <a:t>1. Empiric trial</a:t>
                      </a:r>
                    </a:p>
                  </a:txBody>
                  <a:tcPr marL="64008" marR="64008" marT="27432" marB="27432" anchor="ctr">
                    <a:solidFill>
                      <a:srgbClr val="FFFFFF"/>
                    </a:solidFill>
                  </a:tcPr>
                </a:tc>
                <a:tc>
                  <a:txBody>
                    <a:bodyPr wrap="square"/>
                    <a:lstStyle/>
                    <a:p>
                      <a:r>
                        <a:rPr sz="1000" b="0" i="0">
                          <a:solidFill>
                            <a:srgbClr val="1A1A1A"/>
                          </a:solidFill>
                          <a:latin typeface="Abadi"/>
                        </a:rPr>
                        <a:t>PPI 4–8 weeks (≤ 8 weeks, Rome V); never as a diagnostic test in infants</a:t>
                      </a:r>
                    </a:p>
                  </a:txBody>
                  <a:tcPr marL="64008" marR="64008" marT="27432" marB="27432" anchor="ctr">
                    <a:solidFill>
                      <a:srgbClr val="FFFFFF"/>
                    </a:solidFill>
                  </a:tcPr>
                </a:tc>
                <a:tc>
                  <a:txBody>
                    <a:bodyPr wrap="square"/>
                    <a:lstStyle/>
                    <a:p>
                      <a:r>
                        <a:rPr sz="1000" b="0" i="0">
                          <a:solidFill>
                            <a:srgbClr val="1A1A1A"/>
                          </a:solidFill>
                          <a:latin typeface="Abadi"/>
                        </a:rPr>
                        <a:t>Full response: wean. Partial or none: do not escalate; test</a:t>
                      </a:r>
                    </a:p>
                  </a:txBody>
                  <a:tcPr marL="64008" marR="64008" marT="27432" marB="27432" anchor="ctr">
                    <a:solidFill>
                      <a:srgbClr val="FFFFFF"/>
                    </a:solidFill>
                  </a:tcPr>
                </a:tc>
              </a:tr>
              <a:tr h="450000">
                <a:tc>
                  <a:txBody>
                    <a:bodyPr wrap="square"/>
                    <a:lstStyle/>
                    <a:p>
                      <a:r>
                        <a:rPr sz="1000" b="1" i="0">
                          <a:solidFill>
                            <a:srgbClr val="1A1A1A"/>
                          </a:solidFill>
                          <a:latin typeface="Abadi"/>
                        </a:rPr>
                        <a:t>2. Endoscopy</a:t>
                      </a:r>
                    </a:p>
                  </a:txBody>
                  <a:tcPr marL="64008" marR="64008" marT="27432" marB="27432" anchor="ctr">
                    <a:solidFill>
                      <a:srgbClr val="F3F5F8"/>
                    </a:solidFill>
                  </a:tcPr>
                </a:tc>
                <a:tc>
                  <a:txBody>
                    <a:bodyPr wrap="square"/>
                    <a:lstStyle/>
                    <a:p>
                      <a:r>
                        <a:rPr sz="1000" b="0" i="0">
                          <a:solidFill>
                            <a:srgbClr val="1A1A1A"/>
                          </a:solidFill>
                          <a:latin typeface="Abadi"/>
                        </a:rPr>
                        <a:t>With oesophageal biopsies, after stopping the PPI where safe</a:t>
                      </a:r>
                    </a:p>
                  </a:txBody>
                  <a:tcPr marL="64008" marR="64008" marT="27432" marB="27432" anchor="ctr">
                    <a:solidFill>
                      <a:srgbClr val="F3F5F8"/>
                    </a:solidFill>
                  </a:tcPr>
                </a:tc>
                <a:tc>
                  <a:txBody>
                    <a:bodyPr wrap="square"/>
                    <a:lstStyle/>
                    <a:p>
                      <a:r>
                        <a:rPr sz="1000" b="0" i="0">
                          <a:solidFill>
                            <a:srgbClr val="1A1A1A"/>
                          </a:solidFill>
                          <a:latin typeface="Abadi"/>
                        </a:rPr>
                        <a:t>Erosive oesophagitis, EoE or other diagnosis: treat that</a:t>
                      </a:r>
                    </a:p>
                  </a:txBody>
                  <a:tcPr marL="64008" marR="64008" marT="27432" marB="27432" anchor="ctr">
                    <a:solidFill>
                      <a:srgbClr val="F3F5F8"/>
                    </a:solidFill>
                  </a:tcPr>
                </a:tc>
              </a:tr>
              <a:tr h="450000">
                <a:tc>
                  <a:txBody>
                    <a:bodyPr wrap="square"/>
                    <a:lstStyle/>
                    <a:p>
                      <a:r>
                        <a:rPr sz="1000" b="1" i="0">
                          <a:solidFill>
                            <a:srgbClr val="1A1A1A"/>
                          </a:solidFill>
                          <a:latin typeface="Abadi"/>
                        </a:rPr>
                        <a:t>3. pH-impedance off PPI</a:t>
                      </a:r>
                    </a:p>
                  </a:txBody>
                  <a:tcPr marL="64008" marR="64008" marT="27432" marB="27432" anchor="ctr">
                    <a:solidFill>
                      <a:srgbClr val="FFFFFF"/>
                    </a:solidFill>
                  </a:tcPr>
                </a:tc>
                <a:tc>
                  <a:txBody>
                    <a:bodyPr wrap="square"/>
                    <a:lstStyle/>
                    <a:p>
                      <a:r>
                        <a:rPr sz="1000" b="0" i="0">
                          <a:solidFill>
                            <a:srgbClr val="1A1A1A"/>
                          </a:solidFill>
                          <a:latin typeface="Abadi"/>
                        </a:rPr>
                        <a:t>Stop the PPI first (commonly 7–14 days); coach symptom reporting</a:t>
                      </a:r>
                    </a:p>
                  </a:txBody>
                  <a:tcPr marL="64008" marR="64008" marT="27432" marB="27432" anchor="ctr">
                    <a:solidFill>
                      <a:srgbClr val="FFFFFF"/>
                    </a:solidFill>
                  </a:tcPr>
                </a:tc>
                <a:tc>
                  <a:txBody>
                    <a:bodyPr wrap="square"/>
                    <a:lstStyle/>
                    <a:p>
                      <a:r>
                        <a:rPr sz="1000" b="0" i="0">
                          <a:solidFill>
                            <a:srgbClr val="1A1A1A"/>
                          </a:solidFill>
                          <a:latin typeface="Abadi"/>
                        </a:rPr>
                        <a:t>AET &gt; 6% (or &gt; 12% under 1 y): NERD</a:t>
                      </a:r>
                    </a:p>
                  </a:txBody>
                  <a:tcPr marL="64008" marR="64008" marT="27432" marB="27432" anchor="ctr">
                    <a:solidFill>
                      <a:srgbClr val="FFFFFF"/>
                    </a:solidFill>
                  </a:tcPr>
                </a:tc>
              </a:tr>
              <a:tr h="450000">
                <a:tc>
                  <a:txBody>
                    <a:bodyPr wrap="square"/>
                    <a:lstStyle/>
                    <a:p>
                      <a:r>
                        <a:rPr sz="1000" b="1" i="0">
                          <a:solidFill>
                            <a:srgbClr val="1A1A1A"/>
                          </a:solidFill>
                          <a:latin typeface="Abadi"/>
                        </a:rPr>
                        <a:t>4. Symptom association</a:t>
                      </a:r>
                    </a:p>
                  </a:txBody>
                  <a:tcPr marL="64008" marR="64008" marT="27432" marB="27432" anchor="ctr">
                    <a:solidFill>
                      <a:srgbClr val="F3F5F8"/>
                    </a:solidFill>
                  </a:tcPr>
                </a:tc>
                <a:tc>
                  <a:txBody>
                    <a:bodyPr wrap="square"/>
                    <a:lstStyle/>
                    <a:p>
                      <a:r>
                        <a:rPr sz="1000" b="0" i="0">
                          <a:solidFill>
                            <a:srgbClr val="1A1A1A"/>
                          </a:solidFill>
                          <a:latin typeface="Abadi"/>
                        </a:rPr>
                        <a:t>SI ≥ 50% or SAP &gt; 95%</a:t>
                      </a:r>
                    </a:p>
                  </a:txBody>
                  <a:tcPr marL="64008" marR="64008" marT="27432" marB="27432" anchor="ctr">
                    <a:solidFill>
                      <a:srgbClr val="F3F5F8"/>
                    </a:solidFill>
                  </a:tcPr>
                </a:tc>
                <a:tc>
                  <a:txBody>
                    <a:bodyPr wrap="square"/>
                    <a:lstStyle/>
                    <a:p>
                      <a:r>
                        <a:rPr sz="1000" b="0" i="0">
                          <a:solidFill>
                            <a:srgbClr val="1A1A1A"/>
                          </a:solidFill>
                          <a:latin typeface="Abadi"/>
                        </a:rPr>
                        <a:t>Positive: reflux hypersensitivity. Negative: RNEPD / FH</a:t>
                      </a:r>
                    </a:p>
                  </a:txBody>
                  <a:tcPr marL="64008" marR="64008" marT="27432" marB="27432" anchor="ctr">
                    <a:solidFill>
                      <a:srgbClr val="F3F5F8"/>
                    </a:solidFill>
                  </a:tcPr>
                </a:tc>
              </a:tr>
              <a:tr h="450000">
                <a:tc>
                  <a:txBody>
                    <a:bodyPr wrap="square"/>
                    <a:lstStyle/>
                    <a:p>
                      <a:r>
                        <a:rPr sz="1000" b="1" i="0">
                          <a:solidFill>
                            <a:srgbClr val="1A1A1A"/>
                          </a:solidFill>
                          <a:latin typeface="Abadi"/>
                        </a:rPr>
                        <a:t>5. Consider HRM</a:t>
                      </a:r>
                    </a:p>
                  </a:txBody>
                  <a:tcPr marL="64008" marR="64008" marT="27432" marB="27432" anchor="ctr">
                    <a:solidFill>
                      <a:srgbClr val="FFFFFF"/>
                    </a:solidFill>
                  </a:tcPr>
                </a:tc>
                <a:tc>
                  <a:txBody>
                    <a:bodyPr wrap="square"/>
                    <a:lstStyle/>
                    <a:p>
                      <a:r>
                        <a:rPr sz="1000" b="0" i="0">
                          <a:solidFill>
                            <a:srgbClr val="1A1A1A"/>
                          </a:solidFill>
                          <a:latin typeface="Abadi"/>
                        </a:rPr>
                        <a:t>Before any invasive therapy, or if dysphagia, rumination or belching</a:t>
                      </a:r>
                    </a:p>
                  </a:txBody>
                  <a:tcPr marL="64008" marR="64008" marT="27432" marB="27432" anchor="ctr">
                    <a:solidFill>
                      <a:srgbClr val="FFFFFF"/>
                    </a:solidFill>
                  </a:tcPr>
                </a:tc>
                <a:tc>
                  <a:txBody>
                    <a:bodyPr wrap="square"/>
                    <a:lstStyle/>
                    <a:p>
                      <a:r>
                        <a:rPr sz="1000" b="0" i="0">
                          <a:solidFill>
                            <a:srgbClr val="1A1A1A"/>
                          </a:solidFill>
                          <a:latin typeface="Abadi"/>
                        </a:rPr>
                        <a:t>Motor disorder, rumination, supragastric belching</a:t>
                      </a:r>
                    </a:p>
                  </a:txBody>
                  <a:tcPr marL="64008" marR="64008" marT="27432" marB="27432" anchor="ctr">
                    <a:solidFill>
                      <a:srgbClr val="FFFFFF"/>
                    </a:solidFill>
                  </a:tcPr>
                </a:tc>
              </a:tr>
              <a:tr h="450000">
                <a:tc>
                  <a:txBody>
                    <a:bodyPr wrap="square"/>
                    <a:lstStyle/>
                    <a:p>
                      <a:r>
                        <a:rPr sz="1000" b="1" i="0">
                          <a:solidFill>
                            <a:srgbClr val="1A1A1A"/>
                          </a:solidFill>
                          <a:latin typeface="Abadi"/>
                        </a:rPr>
                        <a:t>6. CYP2C19</a:t>
                      </a:r>
                    </a:p>
                  </a:txBody>
                  <a:tcPr marL="64008" marR="64008" marT="27432" marB="27432" anchor="ctr">
                    <a:solidFill>
                      <a:srgbClr val="F3F5F8"/>
                    </a:solidFill>
                  </a:tcPr>
                </a:tc>
                <a:tc>
                  <a:txBody>
                    <a:bodyPr wrap="square"/>
                    <a:lstStyle/>
                    <a:p>
                      <a:r>
                        <a:rPr sz="1000" b="0" i="0">
                          <a:solidFill>
                            <a:srgbClr val="1A1A1A"/>
                          </a:solidFill>
                          <a:latin typeface="Abadi"/>
                        </a:rPr>
                        <a:t>If NERD with poor PPI response (Rome V suggests where available)</a:t>
                      </a:r>
                    </a:p>
                  </a:txBody>
                  <a:tcPr marL="64008" marR="64008" marT="27432" marB="27432" anchor="ctr">
                    <a:solidFill>
                      <a:srgbClr val="F3F5F8"/>
                    </a:solidFill>
                  </a:tcPr>
                </a:tc>
                <a:tc>
                  <a:txBody>
                    <a:bodyPr wrap="square"/>
                    <a:lstStyle/>
                    <a:p>
                      <a:r>
                        <a:rPr sz="1000" b="0" i="0">
                          <a:solidFill>
                            <a:srgbClr val="1A1A1A"/>
                          </a:solidFill>
                          <a:latin typeface="Abadi"/>
                        </a:rPr>
                        <a:t>Rapid metabolisers may need dose adjustment</a:t>
                      </a:r>
                    </a:p>
                  </a:txBody>
                  <a:tcPr marL="64008" marR="64008" marT="27432" marB="27432" anchor="ctr">
                    <a:solidFill>
                      <a:srgbClr val="F3F5F8"/>
                    </a:solidFill>
                  </a:tcPr>
                </a:tc>
              </a:tr>
            </a:tbl>
          </a:graphicData>
        </a:graphic>
      </p:graphicFrame>
      <p:sp>
        <p:nvSpPr>
          <p:cNvPr id="13" name="TextBox 12"/>
          <p:cNvSpPr txBox="1"/>
          <p:nvPr/>
        </p:nvSpPr>
        <p:spPr>
          <a:xfrm>
            <a:off x="548640" y="5029200"/>
            <a:ext cx="11082528" cy="760000"/>
          </a:xfrm>
          <a:prstGeom prst="rect">
            <a:avLst/>
          </a:prstGeom>
          <a:noFill/>
        </p:spPr>
        <p:txBody>
          <a:bodyPr wrap="square" lIns="45720" rIns="45720" tIns="27432" bIns="27432" anchor="t">
            <a:spAutoFit/>
          </a:bodyPr>
          <a:lstStyle/>
          <a:p>
            <a:pPr algn="l"/>
            <a:r>
              <a:rPr sz="1250" b="1" i="0">
                <a:solidFill>
                  <a:srgbClr val="1B355E"/>
                </a:solidFill>
                <a:latin typeface="Abadi"/>
              </a:rPr>
              <a:t>Practical point.   </a:t>
            </a:r>
            <a:r>
              <a:rPr sz="1250" b="0" i="0">
                <a:solidFill>
                  <a:srgbClr val="1B355E"/>
                </a:solidFill>
                <a:latin typeface="Abadi"/>
              </a:rPr>
              <a:t>Stop the PPI after a negative off-PPI study (ACG). Each label carries its own plan; write the phenotype in the letter so the next doctor does not restart escalation.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WHAT THE DOCUMENTS SAY</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Paediatric guideline, consensus documents and adult guidance compared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Rosen 2018 (NASPGHAN/ESPGHAN) · Rosen 2026 (Rome V Peds) · Gyawali 2024 (Lyon 2.0) · Katz 2022 (ACG) · Fass 2020 and Yadlapati 2022 (AGA)</a:t>
            </a:r>
          </a:p>
        </p:txBody>
      </p:sp>
      <p:graphicFrame>
        <p:nvGraphicFramePr>
          <p:cNvPr id="12" name="Table 11"/>
          <p:cNvGraphicFramePr>
            <a:graphicFrameLocks noGrp="1"/>
          </p:cNvGraphicFramePr>
          <p:nvPr/>
        </p:nvGraphicFramePr>
        <p:xfrm>
          <a:off x="548640" y="1783080"/>
          <a:ext cx="11082525" cy="3180000"/>
        </p:xfrm>
        <a:graphic>
          <a:graphicData uri="http://schemas.openxmlformats.org/drawingml/2006/table">
            <a:tbl>
              <a:tblPr firstRow="1" bandRow="1">
                <a:tableStyleId>{5C22544A-7EE6-4342-B048-85BDC9FD1C3A}</a:tableStyleId>
              </a:tblPr>
              <a:tblGrid>
                <a:gridCol w="1833200"/>
                <a:gridCol w="2666472"/>
                <a:gridCol w="2833127"/>
                <a:gridCol w="2666472"/>
                <a:gridCol w="1083254"/>
              </a:tblGrid>
              <a:tr h="380000">
                <a:tc>
                  <a:txBody>
                    <a:bodyPr wrap="square"/>
                    <a:lstStyle/>
                    <a:p>
                      <a:r>
                        <a:rPr sz="950" b="1" i="0">
                          <a:solidFill>
                            <a:srgbClr val="FFFFFF"/>
                          </a:solidFill>
                          <a:latin typeface="Abadi"/>
                        </a:rPr>
                        <a:t>Question</a:t>
                      </a:r>
                    </a:p>
                  </a:txBody>
                  <a:tcPr marL="64008" marR="64008" marT="27432" marB="27432" anchor="ctr">
                    <a:solidFill>
                      <a:srgbClr val="1B355E"/>
                    </a:solidFill>
                  </a:tcPr>
                </a:tc>
                <a:tc>
                  <a:txBody>
                    <a:bodyPr wrap="square"/>
                    <a:lstStyle/>
                    <a:p>
                      <a:r>
                        <a:rPr sz="950" b="1" i="0">
                          <a:solidFill>
                            <a:srgbClr val="FFFFFF"/>
                          </a:solidFill>
                          <a:latin typeface="Abadi"/>
                        </a:rPr>
                        <a:t>NASPGHAN/ESPGHAN 2018</a:t>
                      </a:r>
                    </a:p>
                  </a:txBody>
                  <a:tcPr marL="64008" marR="64008" marT="27432" marB="27432" anchor="ctr">
                    <a:solidFill>
                      <a:srgbClr val="1B355E"/>
                    </a:solidFill>
                  </a:tcPr>
                </a:tc>
                <a:tc>
                  <a:txBody>
                    <a:bodyPr wrap="square"/>
                    <a:lstStyle/>
                    <a:p>
                      <a:r>
                        <a:rPr sz="950" b="1" i="0">
                          <a:solidFill>
                            <a:srgbClr val="FFFFFF"/>
                          </a:solidFill>
                          <a:latin typeface="Abadi"/>
                        </a:rPr>
                        <a:t>Rome V Peds · Lyon 2.0</a:t>
                      </a:r>
                    </a:p>
                  </a:txBody>
                  <a:tcPr marL="64008" marR="64008" marT="27432" marB="27432" anchor="ctr">
                    <a:solidFill>
                      <a:srgbClr val="1B355E"/>
                    </a:solidFill>
                  </a:tcPr>
                </a:tc>
                <a:tc>
                  <a:txBody>
                    <a:bodyPr wrap="square"/>
                    <a:lstStyle/>
                    <a:p>
                      <a:r>
                        <a:rPr sz="950" b="1" i="0">
                          <a:solidFill>
                            <a:srgbClr val="FFFFFF"/>
                          </a:solidFill>
                          <a:latin typeface="Abadi"/>
                        </a:rPr>
                        <a:t>ACG 2022 · AGA 2020/2022</a:t>
                      </a:r>
                    </a:p>
                  </a:txBody>
                  <a:tcPr marL="64008" marR="64008" marT="27432" marB="27432" anchor="ctr">
                    <a:solidFill>
                      <a:srgbClr val="1B355E"/>
                    </a:solidFill>
                  </a:tcPr>
                </a:tc>
                <a:tc>
                  <a:txBody>
                    <a:bodyPr wrap="square"/>
                    <a:lstStyle/>
                    <a:p>
                      <a:r>
                        <a:rPr sz="950" b="1" i="0">
                          <a:solidFill>
                            <a:srgbClr val="FFFFFF"/>
                          </a:solidFill>
                          <a:latin typeface="Abadi"/>
                        </a:rPr>
                        <a:t>Verdict</a:t>
                      </a:r>
                    </a:p>
                  </a:txBody>
                  <a:tcPr marL="64008" marR="64008" marT="27432" marB="27432" anchor="ctr">
                    <a:solidFill>
                      <a:srgbClr val="1B355E"/>
                    </a:solidFill>
                  </a:tcPr>
                </a:tc>
              </a:tr>
              <a:tr h="400000">
                <a:tc>
                  <a:txBody>
                    <a:bodyPr wrap="square"/>
                    <a:lstStyle/>
                    <a:p>
                      <a:r>
                        <a:rPr sz="950" b="1" i="0">
                          <a:solidFill>
                            <a:srgbClr val="1A1A1A"/>
                          </a:solidFill>
                          <a:latin typeface="Abadi"/>
                        </a:rPr>
                        <a:t>Definitions</a:t>
                      </a:r>
                    </a:p>
                  </a:txBody>
                  <a:tcPr marL="64008" marR="64008" marT="27432" marB="27432" anchor="ctr">
                    <a:solidFill>
                      <a:srgbClr val="FFFFFF"/>
                    </a:solidFill>
                  </a:tcPr>
                </a:tc>
                <a:tc>
                  <a:txBody>
                    <a:bodyPr wrap="square"/>
                    <a:lstStyle/>
                    <a:p>
                      <a:r>
                        <a:rPr sz="950" b="0" i="0">
                          <a:solidFill>
                            <a:srgbClr val="1A1A1A"/>
                          </a:solidFill>
                          <a:latin typeface="Abadi"/>
                        </a:rPr>
                        <a:t>Adult Rome IV labels</a:t>
                      </a:r>
                    </a:p>
                  </a:txBody>
                  <a:tcPr marL="64008" marR="64008" marT="27432" marB="27432" anchor="ctr">
                    <a:solidFill>
                      <a:srgbClr val="FFFFFF"/>
                    </a:solidFill>
                  </a:tcPr>
                </a:tc>
                <a:tc>
                  <a:txBody>
                    <a:bodyPr wrap="square"/>
                    <a:lstStyle/>
                    <a:p>
                      <a:r>
                        <a:rPr sz="950" b="0" i="0">
                          <a:solidFill>
                            <a:srgbClr val="1A1A1A"/>
                          </a:solidFill>
                          <a:latin typeface="Abadi"/>
                        </a:rPr>
                        <a:t>New paediatric criteria; FH → RNEPD</a:t>
                      </a:r>
                    </a:p>
                  </a:txBody>
                  <a:tcPr marL="64008" marR="64008" marT="27432" marB="27432" anchor="ctr">
                    <a:solidFill>
                      <a:srgbClr val="FFFFFF"/>
                    </a:solidFill>
                  </a:tcPr>
                </a:tc>
                <a:tc>
                  <a:txBody>
                    <a:bodyPr wrap="square"/>
                    <a:lstStyle/>
                    <a:p>
                      <a:r>
                        <a:rPr sz="950" b="0" i="0">
                          <a:solidFill>
                            <a:srgbClr val="1A1A1A"/>
                          </a:solidFill>
                          <a:latin typeface="Abadi"/>
                        </a:rPr>
                        <a:t>Rome IV; ACG: FH out of scope</a:t>
                      </a:r>
                    </a:p>
                  </a:txBody>
                  <a:tcPr marL="64008" marR="64008" marT="27432" marB="27432" anchor="ctr">
                    <a:solidFill>
                      <a:srgbClr val="FFFFFF"/>
                    </a:solidFill>
                  </a:tcPr>
                </a:tc>
                <a:tc>
                  <a:txBody>
                    <a:bodyPr wrap="square"/>
                    <a:lstStyle/>
                    <a:p>
                      <a:pPr algn="ctr"/>
                      <a:r>
                        <a:rPr sz="950" b="1" i="0">
                          <a:solidFill>
                            <a:srgbClr val="FFFFFF"/>
                          </a:solidFill>
                          <a:latin typeface="Abadi"/>
                        </a:rPr>
                        <a:t>MATERIAL</a:t>
                      </a:r>
                    </a:p>
                  </a:txBody>
                  <a:tcPr marL="64008" marR="64008" marT="27432" marB="27432" anchor="ctr">
                    <a:solidFill>
                      <a:srgbClr val="B22222"/>
                    </a:solidFill>
                  </a:tcPr>
                </a:tc>
              </a:tr>
              <a:tr h="400000">
                <a:tc>
                  <a:txBody>
                    <a:bodyPr wrap="square"/>
                    <a:lstStyle/>
                    <a:p>
                      <a:r>
                        <a:rPr sz="950" b="1" i="0">
                          <a:solidFill>
                            <a:srgbClr val="1A1A1A"/>
                          </a:solidFill>
                          <a:latin typeface="Abadi"/>
                        </a:rPr>
                        <a:t>Acid threshold</a:t>
                      </a:r>
                    </a:p>
                  </a:txBody>
                  <a:tcPr marL="64008" marR="64008" marT="27432" marB="27432" anchor="ctr">
                    <a:solidFill>
                      <a:srgbClr val="F3F5F8"/>
                    </a:solidFill>
                  </a:tcPr>
                </a:tc>
                <a:tc>
                  <a:txBody>
                    <a:bodyPr wrap="square"/>
                    <a:lstStyle/>
                    <a:p>
                      <a:r>
                        <a:rPr sz="950" b="0" i="0">
                          <a:solidFill>
                            <a:srgbClr val="1A1A1A"/>
                          </a:solidFill>
                          <a:latin typeface="Abadi"/>
                        </a:rPr>
                        <a:t>Reflux index ~5–7%; no norms</a:t>
                      </a:r>
                    </a:p>
                  </a:txBody>
                  <a:tcPr marL="64008" marR="64008" marT="27432" marB="27432" anchor="ctr">
                    <a:solidFill>
                      <a:srgbClr val="F3F5F8"/>
                    </a:solidFill>
                  </a:tcPr>
                </a:tc>
                <a:tc>
                  <a:txBody>
                    <a:bodyPr wrap="square"/>
                    <a:lstStyle/>
                    <a:p>
                      <a:r>
                        <a:rPr sz="950" b="0" i="0">
                          <a:solidFill>
                            <a:srgbClr val="1A1A1A"/>
                          </a:solidFill>
                          <a:latin typeface="Abadi"/>
                        </a:rPr>
                        <a:t>Peds &lt; 6%; Lyon &lt; 4 / 4–6 / &gt; 6%</a:t>
                      </a:r>
                    </a:p>
                  </a:txBody>
                  <a:tcPr marL="64008" marR="64008" marT="27432" marB="27432" anchor="ctr">
                    <a:solidFill>
                      <a:srgbClr val="F3F5F8"/>
                    </a:solidFill>
                  </a:tcPr>
                </a:tc>
                <a:tc>
                  <a:txBody>
                    <a:bodyPr wrap="square"/>
                    <a:lstStyle/>
                    <a:p>
                      <a:r>
                        <a:rPr sz="950" b="0" i="0">
                          <a:solidFill>
                            <a:srgbClr val="1A1A1A"/>
                          </a:solidFill>
                          <a:latin typeface="Abadi"/>
                        </a:rPr>
                        <a:t>Lyon-aligned</a:t>
                      </a:r>
                    </a:p>
                  </a:txBody>
                  <a:tcPr marL="64008" marR="64008" marT="27432" marB="27432" anchor="ctr">
                    <a:solidFill>
                      <a:srgbClr val="F3F5F8"/>
                    </a:solidFill>
                  </a:tcPr>
                </a:tc>
                <a:tc>
                  <a:txBody>
                    <a:bodyPr wrap="square"/>
                    <a:lstStyle/>
                    <a:p>
                      <a:pPr algn="ctr"/>
                      <a:r>
                        <a:rPr sz="950" b="1" i="0">
                          <a:solidFill>
                            <a:srgbClr val="FFFFFF"/>
                          </a:solidFill>
                          <a:latin typeface="Abadi"/>
                        </a:rPr>
                        <a:t>DIFFERS</a:t>
                      </a:r>
                    </a:p>
                  </a:txBody>
                  <a:tcPr marL="64008" marR="64008" marT="27432" marB="27432" anchor="ctr">
                    <a:solidFill>
                      <a:srgbClr val="D97A0B"/>
                    </a:solidFill>
                  </a:tcPr>
                </a:tc>
              </a:tr>
              <a:tr h="400000">
                <a:tc>
                  <a:txBody>
                    <a:bodyPr wrap="square"/>
                    <a:lstStyle/>
                    <a:p>
                      <a:r>
                        <a:rPr sz="950" b="1" i="0">
                          <a:solidFill>
                            <a:srgbClr val="1A1A1A"/>
                          </a:solidFill>
                          <a:latin typeface="Abadi"/>
                        </a:rPr>
                        <a:t>Testing off PPI</a:t>
                      </a:r>
                    </a:p>
                  </a:txBody>
                  <a:tcPr marL="64008" marR="64008" marT="27432" marB="27432" anchor="ctr">
                    <a:solidFill>
                      <a:srgbClr val="FFFFFF"/>
                    </a:solidFill>
                  </a:tcPr>
                </a:tc>
                <a:tc>
                  <a:txBody>
                    <a:bodyPr wrap="square"/>
                    <a:lstStyle/>
                    <a:p>
                      <a:r>
                        <a:rPr sz="950" b="0" i="0">
                          <a:solidFill>
                            <a:srgbClr val="1A1A1A"/>
                          </a:solidFill>
                          <a:latin typeface="Abadi"/>
                        </a:rPr>
                        <a:t>Off PPI for correlation</a:t>
                      </a:r>
                    </a:p>
                  </a:txBody>
                  <a:tcPr marL="64008" marR="64008" marT="27432" marB="27432" anchor="ctr">
                    <a:solidFill>
                      <a:srgbClr val="FFFFFF"/>
                    </a:solidFill>
                  </a:tcPr>
                </a:tc>
                <a:tc>
                  <a:txBody>
                    <a:bodyPr wrap="square"/>
                    <a:lstStyle/>
                    <a:p>
                      <a:r>
                        <a:rPr sz="950" b="0" i="0">
                          <a:solidFill>
                            <a:srgbClr val="1A1A1A"/>
                          </a:solidFill>
                          <a:latin typeface="Abadi"/>
                        </a:rPr>
                        <a:t>Off PPI; wireless in adults</a:t>
                      </a:r>
                    </a:p>
                  </a:txBody>
                  <a:tcPr marL="64008" marR="64008" marT="27432" marB="27432" anchor="ctr">
                    <a:solidFill>
                      <a:srgbClr val="FFFFFF"/>
                    </a:solidFill>
                  </a:tcPr>
                </a:tc>
                <a:tc>
                  <a:txBody>
                    <a:bodyPr wrap="square"/>
                    <a:lstStyle/>
                    <a:p>
                      <a:r>
                        <a:rPr sz="950" b="0" i="0">
                          <a:solidFill>
                            <a:srgbClr val="1A1A1A"/>
                          </a:solidFill>
                          <a:latin typeface="Abadi"/>
                        </a:rPr>
                        <a:t>Off PPI if unproven GERD</a:t>
                      </a:r>
                    </a:p>
                  </a:txBody>
                  <a:tcPr marL="64008" marR="64008" marT="27432" marB="27432" anchor="ctr">
                    <a:solidFill>
                      <a:srgbClr val="FFFFFF"/>
                    </a:solidFill>
                  </a:tcPr>
                </a:tc>
                <a:tc>
                  <a:txBody>
                    <a:bodyPr wrap="square"/>
                    <a:lstStyle/>
                    <a:p>
                      <a:pPr algn="ctr"/>
                      <a:r>
                        <a:rPr sz="950" b="1" i="0">
                          <a:solidFill>
                            <a:srgbClr val="FFFFFF"/>
                          </a:solidFill>
                          <a:latin typeface="Abadi"/>
                        </a:rPr>
                        <a:t>ALIGNED</a:t>
                      </a:r>
                    </a:p>
                  </a:txBody>
                  <a:tcPr marL="64008" marR="64008" marT="27432" marB="27432" anchor="ctr">
                    <a:solidFill>
                      <a:srgbClr val="1E7A33"/>
                    </a:solidFill>
                  </a:tcPr>
                </a:tc>
              </a:tr>
              <a:tr h="400000">
                <a:tc>
                  <a:txBody>
                    <a:bodyPr wrap="square"/>
                    <a:lstStyle/>
                    <a:p>
                      <a:r>
                        <a:rPr sz="950" b="1" i="0">
                          <a:solidFill>
                            <a:srgbClr val="1A1A1A"/>
                          </a:solidFill>
                          <a:latin typeface="Abadi"/>
                        </a:rPr>
                        <a:t>Symptom association</a:t>
                      </a:r>
                    </a:p>
                  </a:txBody>
                  <a:tcPr marL="64008" marR="64008" marT="27432" marB="27432" anchor="ctr">
                    <a:solidFill>
                      <a:srgbClr val="F3F5F8"/>
                    </a:solidFill>
                  </a:tcPr>
                </a:tc>
                <a:tc>
                  <a:txBody>
                    <a:bodyPr wrap="square"/>
                    <a:lstStyle/>
                    <a:p>
                      <a:r>
                        <a:rPr sz="950" b="0" i="0">
                          <a:solidFill>
                            <a:srgbClr val="1A1A1A"/>
                          </a:solidFill>
                          <a:latin typeface="Abadi"/>
                        </a:rPr>
                        <a:t>No index predicts response</a:t>
                      </a:r>
                    </a:p>
                  </a:txBody>
                  <a:tcPr marL="64008" marR="64008" marT="27432" marB="27432" anchor="ctr">
                    <a:solidFill>
                      <a:srgbClr val="F3F5F8"/>
                    </a:solidFill>
                  </a:tcPr>
                </a:tc>
                <a:tc>
                  <a:txBody>
                    <a:bodyPr wrap="square"/>
                    <a:lstStyle/>
                    <a:p>
                      <a:r>
                        <a:rPr sz="950" b="0" i="0">
                          <a:solidFill>
                            <a:srgbClr val="1A1A1A"/>
                          </a:solidFill>
                          <a:latin typeface="Abadi"/>
                        </a:rPr>
                        <a:t>Required for RH; adjunct in Lyon</a:t>
                      </a:r>
                    </a:p>
                  </a:txBody>
                  <a:tcPr marL="64008" marR="64008" marT="27432" marB="27432" anchor="ctr">
                    <a:solidFill>
                      <a:srgbClr val="F3F5F8"/>
                    </a:solidFill>
                  </a:tcPr>
                </a:tc>
                <a:tc>
                  <a:txBody>
                    <a:bodyPr wrap="square"/>
                    <a:lstStyle/>
                    <a:p>
                      <a:r>
                        <a:rPr sz="950" b="0" i="0">
                          <a:solidFill>
                            <a:srgbClr val="1A1A1A"/>
                          </a:solidFill>
                          <a:latin typeface="Abadi"/>
                        </a:rPr>
                        <a:t>Validity questioned</a:t>
                      </a:r>
                    </a:p>
                  </a:txBody>
                  <a:tcPr marL="64008" marR="64008" marT="27432" marB="27432" anchor="ctr">
                    <a:solidFill>
                      <a:srgbClr val="F3F5F8"/>
                    </a:solidFill>
                  </a:tcPr>
                </a:tc>
                <a:tc>
                  <a:txBody>
                    <a:bodyPr wrap="square"/>
                    <a:lstStyle/>
                    <a:p>
                      <a:pPr algn="ctr"/>
                      <a:r>
                        <a:rPr sz="950" b="1" i="0">
                          <a:solidFill>
                            <a:srgbClr val="FFFFFF"/>
                          </a:solidFill>
                          <a:latin typeface="Abadi"/>
                        </a:rPr>
                        <a:t>DIFFERS</a:t>
                      </a:r>
                    </a:p>
                  </a:txBody>
                  <a:tcPr marL="64008" marR="64008" marT="27432" marB="27432" anchor="ctr">
                    <a:solidFill>
                      <a:srgbClr val="D97A0B"/>
                    </a:solidFill>
                  </a:tcPr>
                </a:tc>
              </a:tr>
              <a:tr h="400000">
                <a:tc>
                  <a:txBody>
                    <a:bodyPr wrap="square"/>
                    <a:lstStyle/>
                    <a:p>
                      <a:r>
                        <a:rPr sz="950" b="1" i="0">
                          <a:solidFill>
                            <a:srgbClr val="1A1A1A"/>
                          </a:solidFill>
                          <a:latin typeface="Abadi"/>
                        </a:rPr>
                        <a:t>PPI escalation</a:t>
                      </a:r>
                    </a:p>
                  </a:txBody>
                  <a:tcPr marL="64008" marR="64008" marT="27432" marB="27432" anchor="ctr">
                    <a:solidFill>
                      <a:srgbClr val="FFFFFF"/>
                    </a:solidFill>
                  </a:tcPr>
                </a:tc>
                <a:tc>
                  <a:txBody>
                    <a:bodyPr wrap="square"/>
                    <a:lstStyle/>
                    <a:p>
                      <a:r>
                        <a:rPr sz="950" b="0" i="0">
                          <a:solidFill>
                            <a:srgbClr val="1A1A1A"/>
                          </a:solidFill>
                          <a:latin typeface="Abadi"/>
                        </a:rPr>
                        <a:t>Wean; test rather than escalate</a:t>
                      </a:r>
                    </a:p>
                  </a:txBody>
                  <a:tcPr marL="64008" marR="64008" marT="27432" marB="27432" anchor="ctr">
                    <a:solidFill>
                      <a:srgbClr val="FFFFFF"/>
                    </a:solidFill>
                  </a:tcPr>
                </a:tc>
                <a:tc>
                  <a:txBody>
                    <a:bodyPr wrap="square"/>
                    <a:lstStyle/>
                    <a:p>
                      <a:r>
                        <a:rPr sz="950" b="0" i="0">
                          <a:solidFill>
                            <a:srgbClr val="1A1A1A"/>
                          </a:solidFill>
                          <a:latin typeface="Abadi"/>
                        </a:rPr>
                        <a:t>≤ 8 weeks, then test</a:t>
                      </a:r>
                    </a:p>
                  </a:txBody>
                  <a:tcPr marL="64008" marR="64008" marT="27432" marB="27432" anchor="ctr">
                    <a:solidFill>
                      <a:srgbClr val="FFFFFF"/>
                    </a:solidFill>
                  </a:tcPr>
                </a:tc>
                <a:tc>
                  <a:txBody>
                    <a:bodyPr wrap="square"/>
                    <a:lstStyle/>
                    <a:p>
                      <a:r>
                        <a:rPr sz="950" b="0" i="0">
                          <a:solidFill>
                            <a:srgbClr val="1A1A1A"/>
                          </a:solidFill>
                          <a:latin typeface="Abadi"/>
                        </a:rPr>
                        <a:t>No value in FH; stop if test negative</a:t>
                      </a:r>
                    </a:p>
                  </a:txBody>
                  <a:tcPr marL="64008" marR="64008" marT="27432" marB="27432" anchor="ctr">
                    <a:solidFill>
                      <a:srgbClr val="FFFFFF"/>
                    </a:solidFill>
                  </a:tcPr>
                </a:tc>
                <a:tc>
                  <a:txBody>
                    <a:bodyPr wrap="square"/>
                    <a:lstStyle/>
                    <a:p>
                      <a:pPr algn="ctr"/>
                      <a:r>
                        <a:rPr sz="950" b="1" i="0">
                          <a:solidFill>
                            <a:srgbClr val="FFFFFF"/>
                          </a:solidFill>
                          <a:latin typeface="Abadi"/>
                        </a:rPr>
                        <a:t>ALIGNED</a:t>
                      </a:r>
                    </a:p>
                  </a:txBody>
                  <a:tcPr marL="64008" marR="64008" marT="27432" marB="27432" anchor="ctr">
                    <a:solidFill>
                      <a:srgbClr val="1E7A33"/>
                    </a:solidFill>
                  </a:tcPr>
                </a:tc>
              </a:tr>
              <a:tr h="400000">
                <a:tc>
                  <a:txBody>
                    <a:bodyPr wrap="square"/>
                    <a:lstStyle/>
                    <a:p>
                      <a:r>
                        <a:rPr sz="950" b="1" i="0">
                          <a:solidFill>
                            <a:srgbClr val="1A1A1A"/>
                          </a:solidFill>
                          <a:latin typeface="Abadi"/>
                        </a:rPr>
                        <a:t>Neuromodulators</a:t>
                      </a:r>
                    </a:p>
                  </a:txBody>
                  <a:tcPr marL="64008" marR="64008" marT="27432" marB="27432" anchor="ctr">
                    <a:solidFill>
                      <a:srgbClr val="F3F5F8"/>
                    </a:solidFill>
                  </a:tcPr>
                </a:tc>
                <a:tc>
                  <a:txBody>
                    <a:bodyPr wrap="square"/>
                    <a:lstStyle/>
                    <a:p>
                      <a:r>
                        <a:rPr sz="950" b="0" i="0">
                          <a:solidFill>
                            <a:srgbClr val="1A1A1A"/>
                          </a:solidFill>
                          <a:latin typeface="Abadi"/>
                        </a:rPr>
                        <a:t>Adult data only; no recommendation</a:t>
                      </a:r>
                    </a:p>
                  </a:txBody>
                  <a:tcPr marL="64008" marR="64008" marT="27432" marB="27432" anchor="ctr">
                    <a:solidFill>
                      <a:srgbClr val="F3F5F8"/>
                    </a:solidFill>
                  </a:tcPr>
                </a:tc>
                <a:tc>
                  <a:txBody>
                    <a:bodyPr wrap="square"/>
                    <a:lstStyle/>
                    <a:p>
                      <a:r>
                        <a:rPr sz="950" b="0" i="0">
                          <a:solidFill>
                            <a:srgbClr val="1A1A1A"/>
                          </a:solidFill>
                          <a:latin typeface="Abadi"/>
                        </a:rPr>
                        <a:t>Mainstay for RNEPD</a:t>
                      </a:r>
                    </a:p>
                  </a:txBody>
                  <a:tcPr marL="64008" marR="64008" marT="27432" marB="27432" anchor="ctr">
                    <a:solidFill>
                      <a:srgbClr val="F3F5F8"/>
                    </a:solidFill>
                  </a:tcPr>
                </a:tc>
                <a:tc>
                  <a:txBody>
                    <a:bodyPr wrap="square"/>
                    <a:lstStyle/>
                    <a:p>
                      <a:r>
                        <a:rPr sz="950" b="0" i="0">
                          <a:solidFill>
                            <a:srgbClr val="1A1A1A"/>
                          </a:solidFill>
                          <a:latin typeface="Abadi"/>
                        </a:rPr>
                        <a:t>AGA: yes; ACG: silent</a:t>
                      </a:r>
                    </a:p>
                  </a:txBody>
                  <a:tcPr marL="64008" marR="64008" marT="27432" marB="27432" anchor="ctr">
                    <a:solidFill>
                      <a:srgbClr val="F3F5F8"/>
                    </a:solidFill>
                  </a:tcPr>
                </a:tc>
                <a:tc>
                  <a:txBody>
                    <a:bodyPr wrap="square"/>
                    <a:lstStyle/>
                    <a:p>
                      <a:pPr algn="ctr"/>
                      <a:r>
                        <a:rPr sz="950" b="1" i="0">
                          <a:solidFill>
                            <a:srgbClr val="FFFFFF"/>
                          </a:solidFill>
                          <a:latin typeface="Abadi"/>
                        </a:rPr>
                        <a:t>DIFFERS</a:t>
                      </a:r>
                    </a:p>
                  </a:txBody>
                  <a:tcPr marL="64008" marR="64008" marT="27432" marB="27432" anchor="ctr">
                    <a:solidFill>
                      <a:srgbClr val="D97A0B"/>
                    </a:solidFill>
                  </a:tcPr>
                </a:tc>
              </a:tr>
              <a:tr h="400000">
                <a:tc>
                  <a:txBody>
                    <a:bodyPr wrap="square"/>
                    <a:lstStyle/>
                    <a:p>
                      <a:r>
                        <a:rPr sz="950" b="1" i="0">
                          <a:solidFill>
                            <a:srgbClr val="1A1A1A"/>
                          </a:solidFill>
                          <a:latin typeface="Abadi"/>
                        </a:rPr>
                        <a:t>Surgery</a:t>
                      </a:r>
                    </a:p>
                  </a:txBody>
                  <a:tcPr marL="64008" marR="64008" marT="27432" marB="27432" anchor="ctr">
                    <a:solidFill>
                      <a:srgbClr val="FFFFFF"/>
                    </a:solidFill>
                  </a:tcPr>
                </a:tc>
                <a:tc>
                  <a:txBody>
                    <a:bodyPr wrap="square"/>
                    <a:lstStyle/>
                    <a:p>
                      <a:r>
                        <a:rPr sz="950" b="0" i="0">
                          <a:solidFill>
                            <a:srgbClr val="1A1A1A"/>
                          </a:solidFill>
                          <a:latin typeface="Abadi"/>
                        </a:rPr>
                        <a:t>Only for proven, refractory GERD</a:t>
                      </a:r>
                    </a:p>
                  </a:txBody>
                  <a:tcPr marL="64008" marR="64008" marT="27432" marB="27432" anchor="ctr">
                    <a:solidFill>
                      <a:srgbClr val="FFFFFF"/>
                    </a:solidFill>
                  </a:tcPr>
                </a:tc>
                <a:tc>
                  <a:txBody>
                    <a:bodyPr wrap="square"/>
                    <a:lstStyle/>
                    <a:p>
                      <a:r>
                        <a:rPr sz="950" b="0" i="0">
                          <a:solidFill>
                            <a:srgbClr val="1A1A1A"/>
                          </a:solidFill>
                          <a:latin typeface="Abadi"/>
                        </a:rPr>
                        <a:t>Not indicated in RNEPD</a:t>
                      </a:r>
                    </a:p>
                  </a:txBody>
                  <a:tcPr marL="64008" marR="64008" marT="27432" marB="27432" anchor="ctr">
                    <a:solidFill>
                      <a:srgbClr val="FFFFFF"/>
                    </a:solidFill>
                  </a:tcPr>
                </a:tc>
                <a:tc>
                  <a:txBody>
                    <a:bodyPr wrap="square"/>
                    <a:lstStyle/>
                    <a:p>
                      <a:r>
                        <a:rPr sz="950" b="0" i="0">
                          <a:solidFill>
                            <a:srgbClr val="1A1A1A"/>
                          </a:solidFill>
                          <a:latin typeface="Abadi"/>
                        </a:rPr>
                        <a:t>Avoid without objective GERD</a:t>
                      </a:r>
                    </a:p>
                  </a:txBody>
                  <a:tcPr marL="64008" marR="64008" marT="27432" marB="27432" anchor="ctr">
                    <a:solidFill>
                      <a:srgbClr val="FFFFFF"/>
                    </a:solidFill>
                  </a:tcPr>
                </a:tc>
                <a:tc>
                  <a:txBody>
                    <a:bodyPr wrap="square"/>
                    <a:lstStyle/>
                    <a:p>
                      <a:pPr algn="ctr"/>
                      <a:r>
                        <a:rPr sz="950" b="1" i="0">
                          <a:solidFill>
                            <a:srgbClr val="FFFFFF"/>
                          </a:solidFill>
                          <a:latin typeface="Abadi"/>
                        </a:rPr>
                        <a:t>ALIGNED</a:t>
                      </a:r>
                    </a:p>
                  </a:txBody>
                  <a:tcPr marL="64008" marR="64008" marT="27432" marB="27432" anchor="ctr">
                    <a:solidFill>
                      <a:srgbClr val="1E7A33"/>
                    </a:solidFill>
                  </a:tcPr>
                </a:tc>
              </a:tr>
            </a:tbl>
          </a:graphicData>
        </a:graphic>
      </p:graphicFrame>
      <p:sp>
        <p:nvSpPr>
          <p:cNvPr id="13" name="TextBox 12"/>
          <p:cNvSpPr txBox="1"/>
          <p:nvPr/>
        </p:nvSpPr>
        <p:spPr>
          <a:xfrm>
            <a:off x="548640" y="5029200"/>
            <a:ext cx="11082528" cy="760000"/>
          </a:xfrm>
          <a:prstGeom prst="rect">
            <a:avLst/>
          </a:prstGeom>
          <a:noFill/>
        </p:spPr>
        <p:txBody>
          <a:bodyPr wrap="square" lIns="45720" rIns="45720" tIns="27432" bIns="27432" anchor="t">
            <a:spAutoFit/>
          </a:bodyPr>
          <a:lstStyle/>
          <a:p>
            <a:pPr algn="l"/>
            <a:r>
              <a:rPr sz="1250" b="1" i="0">
                <a:solidFill>
                  <a:srgbClr val="1B355E"/>
                </a:solidFill>
                <a:latin typeface="Abadi"/>
              </a:rPr>
              <a:t>Material gap.   </a:t>
            </a:r>
            <a:r>
              <a:rPr sz="1250" b="0" i="0">
                <a:solidFill>
                  <a:srgbClr val="1B355E"/>
                </a:solidFill>
                <a:latin typeface="Abadi"/>
              </a:rPr>
              <a:t>Children now have their own Rome V criteria, but none of the Lyon impedance metrics has validated paediatric cut-offs, and no neuromodulator has been tested in paediatric FH or RH.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HOW THESE CHILDREN ARE MISMANAGED</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Errors seen in practice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Fass 2020 · Katz 2022 · Rosen 2018 · Rosen 2026 · Mahoney 2017</a:t>
            </a:r>
          </a:p>
        </p:txBody>
      </p:sp>
      <p:sp>
        <p:nvSpPr>
          <p:cNvPr id="12" name="Rectangle 11"/>
          <p:cNvSpPr/>
          <p:nvPr/>
        </p:nvSpPr>
        <p:spPr>
          <a:xfrm>
            <a:off x="548640" y="1773936"/>
            <a:ext cx="2126284"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126284"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833676" cy="502920"/>
          </a:xfrm>
          <a:prstGeom prst="rect">
            <a:avLst/>
          </a:prstGeom>
          <a:noFill/>
        </p:spPr>
        <p:txBody>
          <a:bodyPr wrap="square" lIns="45720" rIns="45720" tIns="27432" bIns="27432" anchor="t">
            <a:spAutoFit/>
          </a:bodyPr>
          <a:lstStyle/>
          <a:p>
            <a:pPr algn="l"/>
            <a:r>
              <a:rPr sz="1500" b="1" i="0">
                <a:solidFill>
                  <a:srgbClr val="B22222"/>
                </a:solidFill>
                <a:latin typeface="Abadi"/>
              </a:rPr>
              <a:t>Escalation</a:t>
            </a:r>
          </a:p>
        </p:txBody>
      </p:sp>
      <p:sp>
        <p:nvSpPr>
          <p:cNvPr id="15" name="TextBox 14"/>
          <p:cNvSpPr txBox="1"/>
          <p:nvPr/>
        </p:nvSpPr>
        <p:spPr>
          <a:xfrm>
            <a:off x="69494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Doubling the PPI after partial response</a:t>
            </a:r>
          </a:p>
          <a:p>
            <a:pPr algn="l">
              <a:spcAft>
                <a:spcPts val="400"/>
              </a:spcAft>
            </a:pPr>
            <a:r>
              <a:rPr sz="1050" b="0" i="0">
                <a:solidFill>
                  <a:srgbClr val="1A1A1A"/>
                </a:solidFill>
                <a:latin typeface="Abadi"/>
              </a:rPr>
              <a:t>▪  Adding a second acid drug</a:t>
            </a:r>
          </a:p>
        </p:txBody>
      </p:sp>
      <p:sp>
        <p:nvSpPr>
          <p:cNvPr id="16" name="Rectangle 15"/>
          <p:cNvSpPr/>
          <p:nvPr/>
        </p:nvSpPr>
        <p:spPr>
          <a:xfrm>
            <a:off x="2787700" y="1773936"/>
            <a:ext cx="2126284"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87700" y="1773936"/>
            <a:ext cx="2126284"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4004" y="1956816"/>
            <a:ext cx="1833676" cy="502920"/>
          </a:xfrm>
          <a:prstGeom prst="rect">
            <a:avLst/>
          </a:prstGeom>
          <a:noFill/>
        </p:spPr>
        <p:txBody>
          <a:bodyPr wrap="square" lIns="45720" rIns="45720" tIns="27432" bIns="27432" anchor="t">
            <a:spAutoFit/>
          </a:bodyPr>
          <a:lstStyle/>
          <a:p>
            <a:pPr algn="l"/>
            <a:r>
              <a:rPr sz="1500" b="1" i="0">
                <a:solidFill>
                  <a:srgbClr val="D97A0B"/>
                </a:solidFill>
                <a:latin typeface="Abadi"/>
              </a:rPr>
              <a:t>PPI before EGD</a:t>
            </a:r>
          </a:p>
        </p:txBody>
      </p:sp>
      <p:sp>
        <p:nvSpPr>
          <p:cNvPr id="19" name="TextBox 18"/>
          <p:cNvSpPr txBox="1"/>
          <p:nvPr/>
        </p:nvSpPr>
        <p:spPr>
          <a:xfrm>
            <a:off x="293400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Masks PPI-responsive EoE</a:t>
            </a:r>
          </a:p>
          <a:p>
            <a:pPr algn="l">
              <a:spcAft>
                <a:spcPts val="400"/>
              </a:spcAft>
            </a:pPr>
            <a:r>
              <a:rPr sz="1050" b="0" i="0">
                <a:solidFill>
                  <a:srgbClr val="1A1A1A"/>
                </a:solidFill>
                <a:latin typeface="Abadi"/>
              </a:rPr>
              <a:t>▪  False NERD or RH label</a:t>
            </a:r>
          </a:p>
        </p:txBody>
      </p:sp>
      <p:sp>
        <p:nvSpPr>
          <p:cNvPr id="20" name="Rectangle 19"/>
          <p:cNvSpPr/>
          <p:nvPr/>
        </p:nvSpPr>
        <p:spPr>
          <a:xfrm>
            <a:off x="5026760" y="1773936"/>
            <a:ext cx="2126284"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6760" y="1773936"/>
            <a:ext cx="2126284"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3064" y="1956816"/>
            <a:ext cx="1833676" cy="502920"/>
          </a:xfrm>
          <a:prstGeom prst="rect">
            <a:avLst/>
          </a:prstGeom>
          <a:noFill/>
        </p:spPr>
        <p:txBody>
          <a:bodyPr wrap="square" lIns="45720" rIns="45720" tIns="27432" bIns="27432" anchor="t">
            <a:spAutoFit/>
          </a:bodyPr>
          <a:lstStyle/>
          <a:p>
            <a:pPr algn="l"/>
            <a:r>
              <a:rPr sz="1500" b="1" i="0">
                <a:solidFill>
                  <a:srgbClr val="1B355E"/>
                </a:solidFill>
                <a:latin typeface="Abadi"/>
              </a:rPr>
              <a:t>Testing on PPI</a:t>
            </a:r>
          </a:p>
        </p:txBody>
      </p:sp>
      <p:sp>
        <p:nvSpPr>
          <p:cNvPr id="23" name="TextBox 22"/>
          <p:cNvSpPr txBox="1"/>
          <p:nvPr/>
        </p:nvSpPr>
        <p:spPr>
          <a:xfrm>
            <a:off x="517306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Cannot diagnose RH or FH</a:t>
            </a:r>
          </a:p>
          <a:p>
            <a:pPr algn="l">
              <a:spcAft>
                <a:spcPts val="400"/>
              </a:spcAft>
            </a:pPr>
            <a:r>
              <a:rPr sz="1050" b="0" i="0">
                <a:solidFill>
                  <a:srgbClr val="1A1A1A"/>
                </a:solidFill>
                <a:latin typeface="Abadi"/>
              </a:rPr>
              <a:t>▪  Off PPI unless GERD proven</a:t>
            </a:r>
          </a:p>
        </p:txBody>
      </p:sp>
      <p:sp>
        <p:nvSpPr>
          <p:cNvPr id="24" name="Rectangle 23"/>
          <p:cNvSpPr/>
          <p:nvPr/>
        </p:nvSpPr>
        <p:spPr>
          <a:xfrm>
            <a:off x="7265820" y="1773936"/>
            <a:ext cx="2126284"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5820" y="1773936"/>
            <a:ext cx="2126284"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2124" y="1956816"/>
            <a:ext cx="1833676" cy="502920"/>
          </a:xfrm>
          <a:prstGeom prst="rect">
            <a:avLst/>
          </a:prstGeom>
          <a:noFill/>
        </p:spPr>
        <p:txBody>
          <a:bodyPr wrap="square" lIns="45720" rIns="45720" tIns="27432" bIns="27432" anchor="t">
            <a:spAutoFit/>
          </a:bodyPr>
          <a:lstStyle/>
          <a:p>
            <a:pPr algn="l"/>
            <a:r>
              <a:rPr sz="1500" b="1" i="0">
                <a:solidFill>
                  <a:srgbClr val="1E7A33"/>
                </a:solidFill>
                <a:latin typeface="Abadi"/>
              </a:rPr>
              <a:t>Surgery</a:t>
            </a:r>
          </a:p>
        </p:txBody>
      </p:sp>
      <p:sp>
        <p:nvSpPr>
          <p:cNvPr id="27" name="TextBox 26"/>
          <p:cNvSpPr txBox="1"/>
          <p:nvPr/>
        </p:nvSpPr>
        <p:spPr>
          <a:xfrm>
            <a:off x="741212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Fundoplication with normal acid exposure</a:t>
            </a:r>
          </a:p>
          <a:p>
            <a:pPr algn="l">
              <a:spcAft>
                <a:spcPts val="400"/>
              </a:spcAft>
            </a:pPr>
            <a:r>
              <a:rPr sz="1050" b="0" i="0">
                <a:solidFill>
                  <a:srgbClr val="1A1A1A"/>
                </a:solidFill>
                <a:latin typeface="Abadi"/>
              </a:rPr>
              <a:t>▪  Worse outcomes</a:t>
            </a:r>
          </a:p>
        </p:txBody>
      </p:sp>
      <p:sp>
        <p:nvSpPr>
          <p:cNvPr id="28" name="Rectangle 27"/>
          <p:cNvSpPr/>
          <p:nvPr/>
        </p:nvSpPr>
        <p:spPr>
          <a:xfrm>
            <a:off x="9504880" y="1773936"/>
            <a:ext cx="2126284"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4880" y="1773936"/>
            <a:ext cx="2126284"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51184" y="1956816"/>
            <a:ext cx="1833676" cy="502920"/>
          </a:xfrm>
          <a:prstGeom prst="rect">
            <a:avLst/>
          </a:prstGeom>
          <a:noFill/>
        </p:spPr>
        <p:txBody>
          <a:bodyPr wrap="square" lIns="45720" rIns="45720" tIns="27432" bIns="27432" anchor="t">
            <a:spAutoFit/>
          </a:bodyPr>
          <a:lstStyle/>
          <a:p>
            <a:pPr algn="l"/>
            <a:r>
              <a:rPr sz="1500" b="1" i="0">
                <a:solidFill>
                  <a:srgbClr val="8A939B"/>
                </a:solidFill>
                <a:latin typeface="Abadi"/>
              </a:rPr>
              <a:t>Dismissal</a:t>
            </a:r>
          </a:p>
        </p:txBody>
      </p:sp>
      <p:sp>
        <p:nvSpPr>
          <p:cNvPr id="31" name="TextBox 30"/>
          <p:cNvSpPr txBox="1"/>
          <p:nvPr/>
        </p:nvSpPr>
        <p:spPr>
          <a:xfrm>
            <a:off x="965118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'Nothing is wrong'</a:t>
            </a:r>
          </a:p>
          <a:p>
            <a:pPr algn="l">
              <a:spcAft>
                <a:spcPts val="400"/>
              </a:spcAft>
            </a:pPr>
            <a:r>
              <a:rPr sz="1050" b="0" i="0">
                <a:solidFill>
                  <a:srgbClr val="1A1A1A"/>
                </a:solidFill>
                <a:latin typeface="Abadi"/>
              </a:rPr>
              <a:t>▪  No positive diagnosis, no plan</a:t>
            </a:r>
          </a:p>
        </p:txBody>
      </p:sp>
      <p:sp>
        <p:nvSpPr>
          <p:cNvPr id="32" name="TextBox 31"/>
          <p:cNvSpPr txBox="1"/>
          <p:nvPr/>
        </p:nvSpPr>
        <p:spPr>
          <a:xfrm>
            <a:off x="548640" y="4114800"/>
            <a:ext cx="11082528" cy="1500000"/>
          </a:xfrm>
          <a:prstGeom prst="rect">
            <a:avLst/>
          </a:prstGeom>
          <a:noFill/>
        </p:spPr>
        <p:txBody>
          <a:bodyPr wrap="square" lIns="45720" rIns="45720" tIns="27432" bIns="27432" anchor="t">
            <a:spAutoFit/>
          </a:bodyPr>
          <a:lstStyle/>
          <a:p>
            <a:pPr algn="l"/>
            <a:r>
              <a:rPr sz="1250" b="1" i="0">
                <a:solidFill>
                  <a:srgbClr val="1B355E"/>
                </a:solidFill>
                <a:latin typeface="Abadi"/>
              </a:rPr>
              <a:t>And the biggest one.   </a:t>
            </a:r>
            <a:r>
              <a:rPr sz="1250" b="0" i="0">
                <a:solidFill>
                  <a:srgbClr val="1B355E"/>
                </a:solidFill>
                <a:latin typeface="Abadi"/>
              </a:rPr>
              <a:t>Treating a normal test as the end of the work-up. A normal acid exposure time is a diagnosis waiting to be named: hypersensitivity or functional heartburn, each with a treatment. Families who hear 'the test was normal' without a name and a plan return to the emergency department and to the next prescriber.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The numbers worth carrying into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Mahoney 2017 · Blasi 2023 · Pop 2024 · Gyawali 2024 · Rosen 2018, 2026 · Viazis 2012 · Ostovaneh 2014 · Saps 2009 · Fass 2020 · Katz 2022</a:t>
            </a:r>
          </a:p>
        </p:txBody>
      </p:sp>
      <p:sp>
        <p:nvSpPr>
          <p:cNvPr id="12" name="TextBox 11"/>
          <p:cNvSpPr txBox="1"/>
          <p:nvPr/>
        </p:nvSpPr>
        <p:spPr>
          <a:xfrm>
            <a:off x="548640" y="1783080"/>
            <a:ext cx="11082528" cy="3900000"/>
          </a:xfrm>
          <a:prstGeom prst="rect">
            <a:avLst/>
          </a:prstGeom>
          <a:noFill/>
        </p:spPr>
        <p:txBody>
          <a:bodyPr wrap="square" lIns="45720" rIns="45720" tIns="27432" bIns="27432" anchor="t">
            <a:spAutoFit/>
          </a:bodyPr>
          <a:lstStyle/>
          <a:p>
            <a:pPr algn="l">
              <a:spcAft>
                <a:spcPts val="700"/>
              </a:spcAft>
            </a:pPr>
            <a:r>
              <a:rPr sz="1300" b="0" i="0">
                <a:solidFill>
                  <a:srgbClr val="1A1A1A"/>
                </a:solidFill>
                <a:latin typeface="Abadi"/>
              </a:rPr>
              <a:t>▪  After a normal EGD, functional heartburn is the commonest phenotype in children: 38–44%; hypersensitivity 21–29%; NERD ~27%.</a:t>
            </a:r>
          </a:p>
          <a:p>
            <a:pPr algn="l">
              <a:spcAft>
                <a:spcPts val="700"/>
              </a:spcAft>
            </a:pPr>
            <a:r>
              <a:rPr sz="1300" b="0" i="0">
                <a:solidFill>
                  <a:srgbClr val="1A1A1A"/>
                </a:solidFill>
                <a:latin typeface="Abadi"/>
              </a:rPr>
              <a:t>▪  Rome V Paediatric (2026): reflux hypersensitivity and reflux-negative oesophageal pain disorder, ≥ 3 days/week for ≥ 2 months.</a:t>
            </a:r>
          </a:p>
          <a:p>
            <a:pPr algn="l">
              <a:spcAft>
                <a:spcPts val="700"/>
              </a:spcAft>
            </a:pPr>
            <a:r>
              <a:rPr sz="1300" b="0" i="0">
                <a:solidFill>
                  <a:srgbClr val="1A1A1A"/>
                </a:solidFill>
                <a:latin typeface="Abadi"/>
              </a:rPr>
              <a:t>▪  Positive symptom association: SI ≥ 50% or SAP &gt; 95%; no index predicts treatment response in children.</a:t>
            </a:r>
          </a:p>
          <a:p>
            <a:pPr algn="l">
              <a:spcAft>
                <a:spcPts val="700"/>
              </a:spcAft>
            </a:pPr>
            <a:r>
              <a:rPr sz="1300" b="0" i="0">
                <a:solidFill>
                  <a:srgbClr val="1A1A1A"/>
                </a:solidFill>
                <a:latin typeface="Abadi"/>
              </a:rPr>
              <a:t>▪  Acid exposure: Lyon &lt; 4% normal, &gt; 6% abnormal; Rome V Paediatric &lt; 6% over 1 year, &lt; 12% under 1 year.</a:t>
            </a:r>
          </a:p>
          <a:p>
            <a:pPr algn="l">
              <a:spcAft>
                <a:spcPts val="700"/>
              </a:spcAft>
            </a:pPr>
            <a:r>
              <a:rPr sz="1300" b="0" i="0">
                <a:solidFill>
                  <a:srgbClr val="1A1A1A"/>
                </a:solidFill>
                <a:latin typeface="Abadi"/>
              </a:rPr>
              <a:t>▪  MNBI: GERD ~1250 Ω versus functional heartburn ~2300 Ω in pooled paediatric data; no validated paediatric cut-off.</a:t>
            </a:r>
          </a:p>
          <a:p>
            <a:pPr algn="l">
              <a:spcAft>
                <a:spcPts val="700"/>
              </a:spcAft>
            </a:pPr>
            <a:r>
              <a:rPr sz="1300" b="0" i="0">
                <a:solidFill>
                  <a:srgbClr val="1A1A1A"/>
                </a:solidFill>
                <a:latin typeface="Abadi"/>
              </a:rPr>
              <a:t>▪  45–89% of paediatric reflux episodes are non-acid; only impedance sees them.</a:t>
            </a:r>
          </a:p>
          <a:p>
            <a:pPr algn="l">
              <a:spcAft>
                <a:spcPts val="700"/>
              </a:spcAft>
            </a:pPr>
            <a:r>
              <a:rPr sz="1300" b="0" i="0">
                <a:solidFill>
                  <a:srgbClr val="1A1A1A"/>
                </a:solidFill>
                <a:latin typeface="Abadi"/>
              </a:rPr>
              <a:t>▪  PPI 'improvement' is similar across phenotypes (55–67%); partial response is a reason to test.</a:t>
            </a:r>
          </a:p>
          <a:p>
            <a:pPr algn="l">
              <a:spcAft>
                <a:spcPts val="700"/>
              </a:spcAft>
            </a:pPr>
            <a:r>
              <a:rPr sz="1300" b="0" i="0">
                <a:solidFill>
                  <a:srgbClr val="1A1A1A"/>
                </a:solidFill>
                <a:latin typeface="Abadi"/>
              </a:rPr>
              <a:t>▪  Citalopram 20 mg: persistent symptoms 38.5% vs 66.7% in adult hypersensitivity; no paediatric trial.</a:t>
            </a:r>
          </a:p>
          <a:p>
            <a:pPr algn="l">
              <a:spcAft>
                <a:spcPts val="700"/>
              </a:spcAft>
            </a:pPr>
            <a:r>
              <a:rPr sz="1300" b="0" i="0">
                <a:solidFill>
                  <a:srgbClr val="1A1A1A"/>
                </a:solidFill>
                <a:latin typeface="Abadi"/>
              </a:rPr>
              <a:t>▪  Amitriptyline was not better than placebo in paediatric abdominal pain (63% vs 57.5%).</a:t>
            </a:r>
          </a:p>
          <a:p>
            <a:pPr algn="l">
              <a:spcAft>
                <a:spcPts val="700"/>
              </a:spcAft>
            </a:pPr>
            <a:r>
              <a:rPr sz="1300" b="0" i="0">
                <a:solidFill>
                  <a:srgbClr val="1A1A1A"/>
                </a:solidFill>
                <a:latin typeface="Abadi"/>
              </a:rPr>
              <a:t>▪  No fundoplication without objective GERD; rumination and supragastric belching get breathing therapy.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Five common situations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21</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Synthesis of the sources in this deck</a:t>
            </a:r>
          </a:p>
        </p:txBody>
      </p:sp>
      <p:graphicFrame>
        <p:nvGraphicFramePr>
          <p:cNvPr id="12" name="Table 11"/>
          <p:cNvGraphicFramePr>
            <a:graphicFrameLocks noGrp="1"/>
          </p:cNvGraphicFramePr>
          <p:nvPr/>
        </p:nvGraphicFramePr>
        <p:xfrm>
          <a:off x="548640" y="1783080"/>
          <a:ext cx="11082528" cy="2980000"/>
        </p:xfrm>
        <a:graphic>
          <a:graphicData uri="http://schemas.openxmlformats.org/drawingml/2006/table">
            <a:tbl>
              <a:tblPr firstRow="1" bandRow="1">
                <a:tableStyleId>{5C22544A-7EE6-4342-B048-85BDC9FD1C3A}</a:tableStyleId>
              </a:tblPr>
              <a:tblGrid>
                <a:gridCol w="3694176"/>
                <a:gridCol w="4617720"/>
                <a:gridCol w="2770632"/>
              </a:tblGrid>
              <a:tr h="380000">
                <a:tc>
                  <a:txBody>
                    <a:bodyPr wrap="square"/>
                    <a:lstStyle/>
                    <a:p>
                      <a:r>
                        <a:rPr sz="1000" b="1" i="0">
                          <a:solidFill>
                            <a:srgbClr val="FFFFFF"/>
                          </a:solidFill>
                          <a:latin typeface="Abadi"/>
                        </a:rPr>
                        <a:t>Scenario</a:t>
                      </a:r>
                    </a:p>
                  </a:txBody>
                  <a:tcPr marL="64008" marR="64008" marT="27432" marB="27432" anchor="ctr">
                    <a:solidFill>
                      <a:srgbClr val="1B355E"/>
                    </a:solidFill>
                  </a:tcPr>
                </a:tc>
                <a:tc>
                  <a:txBody>
                    <a:bodyPr wrap="square"/>
                    <a:lstStyle/>
                    <a:p>
                      <a:r>
                        <a:rPr sz="1000" b="1" i="0">
                          <a:solidFill>
                            <a:srgbClr val="FFFFFF"/>
                          </a:solidFill>
                          <a:latin typeface="Abadi"/>
                        </a:rPr>
                        <a:t>Decision</a:t>
                      </a:r>
                    </a:p>
                  </a:txBody>
                  <a:tcPr marL="64008" marR="64008" marT="27432" marB="27432" anchor="ctr">
                    <a:solidFill>
                      <a:srgbClr val="1B355E"/>
                    </a:solidFill>
                  </a:tcPr>
                </a:tc>
                <a:tc>
                  <a:txBody>
                    <a:bodyPr wrap="square"/>
                    <a:lstStyle/>
                    <a:p>
                      <a:r>
                        <a:rPr sz="1000" b="1" i="0">
                          <a:solidFill>
                            <a:srgbClr val="FFFFFF"/>
                          </a:solidFill>
                          <a:latin typeface="Abadi"/>
                        </a:rPr>
                        <a:t>Why</a:t>
                      </a:r>
                    </a:p>
                  </a:txBody>
                  <a:tcPr marL="64008" marR="64008" marT="27432" marB="27432" anchor="ctr">
                    <a:solidFill>
                      <a:srgbClr val="1B355E"/>
                    </a:solidFill>
                  </a:tcPr>
                </a:tc>
              </a:tr>
              <a:tr h="520000">
                <a:tc>
                  <a:txBody>
                    <a:bodyPr wrap="square"/>
                    <a:lstStyle/>
                    <a:p>
                      <a:r>
                        <a:rPr sz="1000" b="1" i="0">
                          <a:solidFill>
                            <a:srgbClr val="1A1A1A"/>
                          </a:solidFill>
                          <a:latin typeface="Abadi"/>
                        </a:rPr>
                        <a:t>14 y, heartburn, partial PPI response, normal EGD</a:t>
                      </a:r>
                    </a:p>
                  </a:txBody>
                  <a:tcPr marL="64008" marR="64008" marT="27432" marB="27432" anchor="ctr">
                    <a:solidFill>
                      <a:srgbClr val="FFFFFF"/>
                    </a:solidFill>
                  </a:tcPr>
                </a:tc>
                <a:tc>
                  <a:txBody>
                    <a:bodyPr wrap="square"/>
                    <a:lstStyle/>
                    <a:p>
                      <a:r>
                        <a:rPr sz="1000" b="0" i="0">
                          <a:solidFill>
                            <a:srgbClr val="1A1A1A"/>
                          </a:solidFill>
                          <a:latin typeface="Abadi"/>
                        </a:rPr>
                        <a:t>pH-impedance off PPI; name the phenotype</a:t>
                      </a:r>
                    </a:p>
                  </a:txBody>
                  <a:tcPr marL="64008" marR="64008" marT="27432" marB="27432" anchor="ctr">
                    <a:solidFill>
                      <a:srgbClr val="FFFFFF"/>
                    </a:solidFill>
                  </a:tcPr>
                </a:tc>
                <a:tc>
                  <a:txBody>
                    <a:bodyPr wrap="square"/>
                    <a:lstStyle/>
                    <a:p>
                      <a:r>
                        <a:rPr sz="1000" b="0" i="0">
                          <a:solidFill>
                            <a:srgbClr val="1A1A1A"/>
                          </a:solidFill>
                          <a:latin typeface="Abadi"/>
                        </a:rPr>
                        <a:t>Most have normal acid exposure</a:t>
                      </a:r>
                    </a:p>
                  </a:txBody>
                  <a:tcPr marL="64008" marR="64008" marT="27432" marB="27432" anchor="ctr">
                    <a:solidFill>
                      <a:srgbClr val="FFFFFF"/>
                    </a:solidFill>
                  </a:tcPr>
                </a:tc>
              </a:tr>
              <a:tr h="520000">
                <a:tc>
                  <a:txBody>
                    <a:bodyPr wrap="square"/>
                    <a:lstStyle/>
                    <a:p>
                      <a:r>
                        <a:rPr sz="1000" b="1" i="0">
                          <a:solidFill>
                            <a:srgbClr val="1A1A1A"/>
                          </a:solidFill>
                          <a:latin typeface="Abadi"/>
                        </a:rPr>
                        <a:t>AET 2%, SI 70%, SAP 98%</a:t>
                      </a:r>
                    </a:p>
                  </a:txBody>
                  <a:tcPr marL="64008" marR="64008" marT="27432" marB="27432" anchor="ctr">
                    <a:solidFill>
                      <a:srgbClr val="F3F5F8"/>
                    </a:solidFill>
                  </a:tcPr>
                </a:tc>
                <a:tc>
                  <a:txBody>
                    <a:bodyPr wrap="square"/>
                    <a:lstStyle/>
                    <a:p>
                      <a:r>
                        <a:rPr sz="1000" b="0" i="0">
                          <a:solidFill>
                            <a:srgbClr val="1A1A1A"/>
                          </a:solidFill>
                          <a:latin typeface="Abadi"/>
                        </a:rPr>
                        <a:t>Reflux hypersensitivity: explain; consider SSRI or H2RA; breathing and CBT</a:t>
                      </a:r>
                    </a:p>
                  </a:txBody>
                  <a:tcPr marL="64008" marR="64008" marT="27432" marB="27432" anchor="ctr">
                    <a:solidFill>
                      <a:srgbClr val="F3F5F8"/>
                    </a:solidFill>
                  </a:tcPr>
                </a:tc>
                <a:tc>
                  <a:txBody>
                    <a:bodyPr wrap="square"/>
                    <a:lstStyle/>
                    <a:p>
                      <a:r>
                        <a:rPr sz="1000" b="0" i="0">
                          <a:solidFill>
                            <a:srgbClr val="1A1A1A"/>
                          </a:solidFill>
                          <a:latin typeface="Abadi"/>
                        </a:rPr>
                        <a:t>PPI cannot help non-acid triggers</a:t>
                      </a:r>
                    </a:p>
                  </a:txBody>
                  <a:tcPr marL="64008" marR="64008" marT="27432" marB="27432" anchor="ctr">
                    <a:solidFill>
                      <a:srgbClr val="F3F5F8"/>
                    </a:solidFill>
                  </a:tcPr>
                </a:tc>
              </a:tr>
              <a:tr h="520000">
                <a:tc>
                  <a:txBody>
                    <a:bodyPr wrap="square"/>
                    <a:lstStyle/>
                    <a:p>
                      <a:r>
                        <a:rPr sz="1000" b="1" i="0">
                          <a:solidFill>
                            <a:srgbClr val="1A1A1A"/>
                          </a:solidFill>
                          <a:latin typeface="Abadi"/>
                        </a:rPr>
                        <a:t>AET 2%, no association, school refusal</a:t>
                      </a:r>
                    </a:p>
                  </a:txBody>
                  <a:tcPr marL="64008" marR="64008" marT="27432" marB="27432" anchor="ctr">
                    <a:solidFill>
                      <a:srgbClr val="FFFFFF"/>
                    </a:solidFill>
                  </a:tcPr>
                </a:tc>
                <a:tc>
                  <a:txBody>
                    <a:bodyPr wrap="square"/>
                    <a:lstStyle/>
                    <a:p>
                      <a:r>
                        <a:rPr sz="1000" b="0" i="0">
                          <a:solidFill>
                            <a:srgbClr val="1A1A1A"/>
                          </a:solidFill>
                          <a:latin typeface="Abadi"/>
                        </a:rPr>
                        <a:t>RNEPD / FH: stop PPI; low-dose neuromodulator; GI psychology</a:t>
                      </a:r>
                    </a:p>
                  </a:txBody>
                  <a:tcPr marL="64008" marR="64008" marT="27432" marB="27432" anchor="ctr">
                    <a:solidFill>
                      <a:srgbClr val="FFFFFF"/>
                    </a:solidFill>
                  </a:tcPr>
                </a:tc>
                <a:tc>
                  <a:txBody>
                    <a:bodyPr wrap="square"/>
                    <a:lstStyle/>
                    <a:p>
                      <a:r>
                        <a:rPr sz="1000" b="0" i="0">
                          <a:solidFill>
                            <a:srgbClr val="1A1A1A"/>
                          </a:solidFill>
                          <a:latin typeface="Abadi"/>
                        </a:rPr>
                        <a:t>Rome V: neuromodulators the mainstay</a:t>
                      </a:r>
                    </a:p>
                  </a:txBody>
                  <a:tcPr marL="64008" marR="64008" marT="27432" marB="27432" anchor="ctr">
                    <a:solidFill>
                      <a:srgbClr val="FFFFFF"/>
                    </a:solidFill>
                  </a:tcPr>
                </a:tc>
              </a:tr>
              <a:tr h="520000">
                <a:tc>
                  <a:txBody>
                    <a:bodyPr wrap="square"/>
                    <a:lstStyle/>
                    <a:p>
                      <a:r>
                        <a:rPr sz="1000" b="1" i="0">
                          <a:solidFill>
                            <a:srgbClr val="1A1A1A"/>
                          </a:solidFill>
                          <a:latin typeface="Abadi"/>
                        </a:rPr>
                        <a:t>AET 9%, MNBI 1200 Ω</a:t>
                      </a:r>
                    </a:p>
                  </a:txBody>
                  <a:tcPr marL="64008" marR="64008" marT="27432" marB="27432" anchor="ctr">
                    <a:solidFill>
                      <a:srgbClr val="F3F5F8"/>
                    </a:solidFill>
                  </a:tcPr>
                </a:tc>
                <a:tc>
                  <a:txBody>
                    <a:bodyPr wrap="square"/>
                    <a:lstStyle/>
                    <a:p>
                      <a:r>
                        <a:rPr sz="1000" b="0" i="0">
                          <a:solidFill>
                            <a:srgbClr val="1A1A1A"/>
                          </a:solidFill>
                          <a:latin typeface="Abadi"/>
                        </a:rPr>
                        <a:t>NERD: optimise PPI timing and dose; check CYP2C19 if poor response</a:t>
                      </a:r>
                    </a:p>
                  </a:txBody>
                  <a:tcPr marL="64008" marR="64008" marT="27432" marB="27432" anchor="ctr">
                    <a:solidFill>
                      <a:srgbClr val="F3F5F8"/>
                    </a:solidFill>
                  </a:tcPr>
                </a:tc>
                <a:tc>
                  <a:txBody>
                    <a:bodyPr wrap="square"/>
                    <a:lstStyle/>
                    <a:p>
                      <a:r>
                        <a:rPr sz="1000" b="0" i="0">
                          <a:solidFill>
                            <a:srgbClr val="1A1A1A"/>
                          </a:solidFill>
                          <a:latin typeface="Abadi"/>
                        </a:rPr>
                        <a:t>True reflux disease</a:t>
                      </a:r>
                    </a:p>
                  </a:txBody>
                  <a:tcPr marL="64008" marR="64008" marT="27432" marB="27432" anchor="ctr">
                    <a:solidFill>
                      <a:srgbClr val="F3F5F8"/>
                    </a:solidFill>
                  </a:tcPr>
                </a:tc>
              </a:tr>
              <a:tr h="520000">
                <a:tc>
                  <a:txBody>
                    <a:bodyPr wrap="square"/>
                    <a:lstStyle/>
                    <a:p>
                      <a:r>
                        <a:rPr sz="1000" b="1" i="0">
                          <a:solidFill>
                            <a:srgbClr val="1A1A1A"/>
                          </a:solidFill>
                          <a:latin typeface="Abadi"/>
                        </a:rPr>
                        <a:t>Frequent belching, 'reflux' at every meal, family asks for a Nissen</a:t>
                      </a:r>
                    </a:p>
                  </a:txBody>
                  <a:tcPr marL="64008" marR="64008" marT="27432" marB="27432" anchor="ctr">
                    <a:solidFill>
                      <a:srgbClr val="FFFFFF"/>
                    </a:solidFill>
                  </a:tcPr>
                </a:tc>
                <a:tc>
                  <a:txBody>
                    <a:bodyPr wrap="square"/>
                    <a:lstStyle/>
                    <a:p>
                      <a:r>
                        <a:rPr sz="1000" b="0" i="0">
                          <a:solidFill>
                            <a:srgbClr val="1A1A1A"/>
                          </a:solidFill>
                          <a:latin typeface="Abadi"/>
                        </a:rPr>
                        <a:t>Impedance or HRIM for supragastric belching or rumination; no surgery</a:t>
                      </a:r>
                    </a:p>
                  </a:txBody>
                  <a:tcPr marL="64008" marR="64008" marT="27432" marB="27432" anchor="ctr">
                    <a:solidFill>
                      <a:srgbClr val="FFFFFF"/>
                    </a:solidFill>
                  </a:tcPr>
                </a:tc>
                <a:tc>
                  <a:txBody>
                    <a:bodyPr wrap="square"/>
                    <a:lstStyle/>
                    <a:p>
                      <a:r>
                        <a:rPr sz="1000" b="0" i="0">
                          <a:solidFill>
                            <a:srgbClr val="1A1A1A"/>
                          </a:solidFill>
                          <a:latin typeface="Abadi"/>
                        </a:rPr>
                        <a:t>Behaviours, not reflux</a:t>
                      </a:r>
                    </a:p>
                  </a:txBody>
                  <a:tcPr marL="64008" marR="64008" marT="27432" marB="27432"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00200"/>
            <a:ext cx="11082528" cy="2286000"/>
          </a:xfrm>
          <a:prstGeom prst="rect">
            <a:avLst/>
          </a:prstGeom>
          <a:noFill/>
        </p:spPr>
        <p:txBody>
          <a:bodyPr wrap="square" lIns="45720" rIns="45720" tIns="27432" bIns="27432" anchor="b">
            <a:spAutoFit/>
          </a:bodyPr>
          <a:lstStyle/>
          <a:p>
            <a:pPr algn="ctr"/>
            <a:r>
              <a:rPr sz="3000" b="1" i="0">
                <a:solidFill>
                  <a:srgbClr val="FFFFFF"/>
                </a:solidFill>
                <a:latin typeface="Abadi"/>
              </a:rPr>
              <a:t>Reflux Hypersensitivity and Functional Heartburn — Rome IV and Rome V, the Role of Impedance, Neuromodulators and When ‘Reflux’ Is Not Acid</a:t>
            </a:r>
          </a:p>
        </p:txBody>
      </p:sp>
      <p:sp>
        <p:nvSpPr>
          <p:cNvPr id="4" name="TextBox 3"/>
          <p:cNvSpPr txBox="1"/>
          <p:nvPr/>
        </p:nvSpPr>
        <p:spPr>
          <a:xfrm>
            <a:off x="548640" y="3977639"/>
            <a:ext cx="11082528" cy="365760"/>
          </a:xfrm>
          <a:prstGeom prst="rect">
            <a:avLst/>
          </a:prstGeom>
          <a:noFill/>
        </p:spPr>
        <p:txBody>
          <a:bodyPr wrap="square" lIns="45720" rIns="45720" tIns="27432" bIns="27432"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