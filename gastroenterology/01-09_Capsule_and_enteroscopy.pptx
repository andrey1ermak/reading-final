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1672" cy="141732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Seeing the Small Bowel in Children: Capsule Endoscopy, Patency Testing and Balloon Enteroscopy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1188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1672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91672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Tringali 2017 (ESGE/ESPGHAN) · Friedlander 2017 (NASPGHAN) · ESGE small-bowel update 2023 · Levine 2014 (Porto) · Cohen and Klevens 2011 · Pasha 2020 · Fritscher-Ravens 2009 · Li 2024 · Ohmiya 2022 · Urs 2014 · Hagiwara 2019 · Li 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CFD8E6"/>
                </a:solidFill>
                <a:latin typeface="Abadi"/>
              </a:rPr>
              <a:t>Who can swallow · who needs a patency capsule · when a retained capsule matters · what balloon enteroscopy can 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WHICH CHILD, WHICH TOOL, WHICH RISK?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Four decisions stand between a suspicion of small-bowel disease and a safe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Friedlander JA, et al. JPGN 2017;64:485–94 · Tringali A, et al. Endoscopy 2017;49:83–91 · ESGE small-bowel guideline update. Endoscopy 2023;55:58–95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3317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Video capsule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96312"/>
            <a:ext cx="2221992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Whole small bowel, no sedation if swallowed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No biopsy, no therapy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FDA-cleared from age 2 (2009)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3317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Patency capsule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96312"/>
            <a:ext cx="2221992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Dissolvable dummy of the same size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Starts to dissolve about 30 h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Intact passage means safe passage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3317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Endoscopic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96312"/>
            <a:ext cx="2221992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For the child who cannot swallow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Capsule placed into the duodenum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Used down to 10 months, 7.9 kg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3317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Balloon enteroscopy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96312"/>
            <a:ext cx="2221992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Biopsy, polypectomy, dilation, haemostasis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Retrieves a retained capsule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General anaesthesia; small-child limits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 capsule is a diagnostic tool whose main risk is retention, and that risk follows the disease, especially stricturing Crohn's, not the child's age. Enteroscopy is the therapeutic partner, not a competitor.</a:t>
            </a:r>
          </a:p>
          <a:p>
            <a:pPr algn="l">
              <a:spcBef>
                <a:spcPts val="800"/>
              </a:spcBef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clinical task.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Image first when obstruction is possible, test patency in known Crohn's, place the capsule in the child who cannot swallow, and send therapy to balloon enteroscopy.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HOW THE TOOLS REACH THE BOWEL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CAMERA THAT TRAVELS, A SCOPE THAT PLEATS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each technique physically does, and the limit that follows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FDA 510(k) K053639 (Agile patency system, 2006) · Hoskins BJ. Front Pediatr 2025;13:1562075 · Hagiwara SI, et al. JPGN 2019;68:306–10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035454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Capsule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2035454" cy="1728216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Swallowed or placed; carried by peristalsis; records the mucosa without air or sedation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20670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2694" y="1783080"/>
            <a:ext cx="2035454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4134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Narrowing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2694" y="2112264"/>
            <a:ext cx="2035454" cy="1728216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2422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 stricture that lets fluid pass may stop a rigid capsule: retention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84724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6748" y="1783080"/>
            <a:ext cx="203545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8188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Patency test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748" y="2112264"/>
            <a:ext cx="2035454" cy="1728216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6476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Same-size capsule of soluble material with a tag; dissolves from about 30 h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8779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0803" y="1783080"/>
            <a:ext cx="2035454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2243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Balloon scope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0803" y="2112264"/>
            <a:ext cx="2035454" cy="1728216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0531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Overtube and balloons pleat the bowel onto the scope; oral and anal routes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2833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4857" y="1783080"/>
            <a:ext cx="2035454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6297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Therapy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4857" y="2112264"/>
            <a:ext cx="2035454" cy="1728216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14585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Biopsy, polypectomy, dilation, haemostasis, capsule retrieval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023360"/>
            <a:ext cx="539496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Size matters.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Paediatric balloon series report procedures down to about 10.8 kg by the anal route and 12.9 kg orally; reviews cite at least 12 kg for double-balloon and 13.5 kg for single-balloon.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3912" y="4023360"/>
            <a:ext cx="548640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No spiral in children.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There are no paediatric data for spiral enteroscopy; its 16 mm overtube is unsuitable for small children.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WHAT THE CAPSULE FINDS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POSITIVE IN TWO OF THREE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Meta-analysis of paediatric capsule endoscopy, 740 procedures in 723 patients aged 18 or younger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Cohen SA, Klevens AI. Clin Gastroenterol Hepatol 2011;9:490–6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0972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65.4%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Studies with positive findings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0972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69.4%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Studies leading to a new diagnosis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0972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68.3%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Studies leading to a change in therapy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0972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86.2%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Complete small-bowel examinations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69080"/>
            <a:ext cx="11091672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Who was studied.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Inflammatory bowel disease was the indication in 54% (suspected Crohn's 34%, known Crohn's 16%); obscure bleeding and polyposis made up most of the rest.</a:t>
            </a:r>
          </a:p>
          <a:p>
            <a:pPr algn="l">
              <a:spcBef>
                <a:spcPts val="800"/>
              </a:spcBef>
            </a:pPr>
            <a:r>
              <a:rPr sz="1250" b="1" i="0">
                <a:solidFill>
                  <a:srgbClr val="B22222"/>
                </a:solidFill>
                <a:latin typeface="Abadi"/>
              </a:rPr>
              <a:t>Retention.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2.6% overall (95% CI 1.5–4.0): 0.5% in the stomach, 1.9% in the small bowel. The capsule changes management as often as it finds disease.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YIELD BY INDICATION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UNDER EIGHT YEARS, HALF THE STUDIES ARE POSITIVE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Diagnostic yield in 83 children aged 1.5–7.9 years, European multicentre study,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Fritscher-Ravens A, et al. Gut 2009;58:1467–72 · Cohen SA. Gastroenterol Hepatol (NY) 2013 (review)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137160" cy="1371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810512"/>
            <a:ext cx="2194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badi"/>
              </a:rPr>
              <a:t>Diagnostic yield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20640"/>
            <a:ext cx="5486400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" y="3715207"/>
            <a:ext cx="580461" cy="1405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" y="3440887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53%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359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Obscure bleeding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9091" y="3662172"/>
            <a:ext cx="580461" cy="1458467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0491" y="3387852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55%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19" y="5166359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Suspected Crohn's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6372" y="3794760"/>
            <a:ext cx="580461" cy="132587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7772" y="3520440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166359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Abdominal pain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73651" y="3343960"/>
            <a:ext cx="580461" cy="177667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5051" y="3069640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67%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79" y="5166359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Protein-losing enteropathy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70931" y="3794760"/>
            <a:ext cx="580461" cy="132587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42331" y="3520440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50%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5166359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Malabsorption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783080"/>
            <a:ext cx="502920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No retention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None of the 83 young children retained the capsule; about three quarters had it placed endoscopically.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Polyposis 80.2%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Pooled paediatric yield in polyposis was highest; obscure bleeding or iron-deficiency anaemia 38.4%; abdominal pain 43% (2013 review).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Weak indication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Isolated abdominal pain without alarm features is a low-yield reason to swallow a camera.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CROHN'S DISEASE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DIAGNOSIS TO TREAT-TO-TARGET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Paediatric Crohn's, pan-enteric capsule: patients with active inflammation over the first year,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Levine A, et al. JPGN 2014;58:795–806 (Porto) · Oliva S, et al. Clin Gastroenterol Hepatol 2019;17:2060–7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137160" cy="13716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810512"/>
            <a:ext cx="2194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badi"/>
              </a:rPr>
              <a:t>Capsule inflammation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20640"/>
            <a:ext cx="4754880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5651" y="3237890"/>
            <a:ext cx="580461" cy="1882749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051" y="2963570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71%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359"/>
            <a:ext cx="1584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10612" y="3900830"/>
            <a:ext cx="580461" cy="1219809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2012" y="3626510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46%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3600" y="5166359"/>
            <a:ext cx="1584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Week 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5572" y="4086453"/>
            <a:ext cx="580461" cy="103418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66971" y="3812133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39%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8560" y="5166359"/>
            <a:ext cx="1584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Week 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783080"/>
            <a:ext cx="557784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Porto 2014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Every child with suspected IBD needs small-bowel imaging, by MR enterography or wireless capsule, except typical ulcerative colitis.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71%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Therapy was changed at baseline in 71% of 48 children after the capsule result.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Mucosa, not wall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The capsule sees superficial jejunal disease that MRE can miss; MRE sees the wall, fistulae and strictures the capsule cannot.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RISK FOLLOWS THE DISEASE, NOT THE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Capsule retention by indication; retention means the capsule stays in the gut for 2 weeks or more,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Cohen SA. Gastroenterol Hepatol (NY) 2013 · Pasha SF, et al. Inflamm Bowel Dis 2020;26:33–42 · Atay O, et al. JPGN 2009;49:196–201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301752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Paediatric polyps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1892807"/>
            <a:ext cx="548640" cy="21945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828800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1.2%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31720"/>
            <a:ext cx="301752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Paediatric obscure bleeding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395727"/>
            <a:ext cx="640079" cy="21945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2331720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1.4%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34640"/>
            <a:ext cx="301752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Paediatric Crohn's (meta-analysis)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2898648"/>
            <a:ext cx="749808" cy="2194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2834640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1.64%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37560"/>
            <a:ext cx="301752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Paediatric Crohn's (pooled)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3401568"/>
            <a:ext cx="1005840" cy="2194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3337560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2.2%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40480"/>
            <a:ext cx="301752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Suspected Crohn's, all 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3904488"/>
            <a:ext cx="1074420" cy="21945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1748" y="3840480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2.35%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43400"/>
            <a:ext cx="301752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Established Crohn's, all ages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4407408"/>
            <a:ext cx="2116836" cy="21945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4164" y="4343400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4.63%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46320"/>
            <a:ext cx="301752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Children with known IBD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03320" y="4910328"/>
            <a:ext cx="2377440" cy="21945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4846320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5.2%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1783080"/>
            <a:ext cx="406908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1.64% vs 3.49%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Children versus adults with Crohn's (2020 meta-analysis); in children, established and suspected Crohn's did not differ.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2.3%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Pooled paediatric retention, 22 of 1,013 (2013 review); adults 1.2–2.6% by indication.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Age is not the driver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Retention tracks stricturing disease, not size.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WHO RETAINS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STRICTURES, THINNESS, A POSITIVE BARIUM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Paediatric groups at the highest retention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Atay O, et al. JPGN 2009;49:196–201 (as summarised in Cohen 2013) · Cohen SA, et al. JPGN 2012;54:409–13 · Li L, et al. Front Med 2024;11:1455894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0972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35.7%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Retention when a small-bowel follow-through already showed Crohn's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0972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43%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Known IBD with body-mass index below the 5th centile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0972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Retentions that went to surgery in a 2012 paediatric series of 284 procedures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0972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0.18%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Retention in 1,140 Chinese children in 2024; both had stenosing Crohn's, both retrieved by enteroscopy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69080"/>
            <a:ext cx="11091672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Reading the numbers.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 very high rates come from small, selected groups and an older era; they identify who to image first rather than predict an individual risk.</a:t>
            </a:r>
          </a:p>
          <a:p>
            <a:pPr algn="l">
              <a:spcBef>
                <a:spcPts val="800"/>
              </a:spcBef>
            </a:pPr>
            <a:r>
              <a:rPr sz="1250" b="1" i="0">
                <a:solidFill>
                  <a:srgbClr val="B22222"/>
                </a:solidFill>
                <a:latin typeface="Abadi"/>
              </a:rPr>
              <a:t>The change over time.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Surgery dominated earlier series; today most retained capsules are managed medically or retrieved by enteroscopy.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PATENCY CAPSULE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PROVE THE PASSAGE BEFORE YOU SEND THE CAMERA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How a patency test is used, with the paediatric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FDA K053639 · Cohen SA, et al. Dig Dis Sci 2011;56:860–5 · ESGE update. Endoscopy 2023;55:58–95 · Pasha SF, et al. Inflamm Bowel Dis 2020;26:33–42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035454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Select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2035454" cy="1728216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Known Crohn's, or suspected Crohn's with obstructive symptoms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20670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2694" y="1783080"/>
            <a:ext cx="2035454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4134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Image first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2694" y="2112264"/>
            <a:ext cx="2035454" cy="1728216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2422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MR enterography if stenosis is likely; it guides the decision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84724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6748" y="1783080"/>
            <a:ext cx="203545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8188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Swallow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748" y="2112264"/>
            <a:ext cx="2035454" cy="1728216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6476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Patency capsule; dissolution starts about 30 h, over about 12 h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8779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0803" y="1783080"/>
            <a:ext cx="203545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2243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Check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0803" y="2112264"/>
            <a:ext cx="2035454" cy="1728216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0531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Intact capsule passed, or located in the colon at about 30 h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2833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4857" y="1783080"/>
            <a:ext cx="2035454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6297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Proceed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4857" y="2112264"/>
            <a:ext cx="2035454" cy="1728216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14585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Patent: video capsule. Not patent: enteroscopy or MRE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023360"/>
            <a:ext cx="11091672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Paediatric data.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In 18 children aged 10–16, 15 passed the patency capsule intact (mean 34.5 h, range 9–60) and 16 had a successful capsule study with no retention; every child with transit of 40 h or more had Crohn's.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B22222"/>
                </a:solidFill>
                <a:latin typeface="Abadi"/>
              </a:rPr>
              <a:t>Imperfect.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In established Crohn's (all ages), retention was 2.88% after a patency capsule and 2.32% after MR or CT enterography: both lower the risk, neither abolishes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WHEN IT STAYS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RETAINED CAPSULE IS ALSO A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Managing capsule retention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ESGE update. Endoscopy 2023;55:58–95 · Friedlander JA, et al. JPGN 2017;64:485–94 · Li L, et al. Front Med 2024;11:1455894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24028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Wait and treat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96312"/>
            <a:ext cx="2221992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Most are asymptomatic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Treat the inflammation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Over half pass with conservative care (ESGE)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2402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Retrieve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96312"/>
            <a:ext cx="2221992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Balloon enteroscopy if it does not pass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Strong ESGE recommendation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Can dilate the stricture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2402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Operate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96312"/>
            <a:ext cx="2221992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Obstruction or failed retrieval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Resect the culprit stricture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Occasionally required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2402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96312"/>
            <a:ext cx="2221992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Locates the stricture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Reclassifies disease behaviour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Changes therapy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97680"/>
            <a:ext cx="1109167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1">
                <a:solidFill>
                  <a:srgbClr val="1B355E"/>
                </a:solidFill>
                <a:latin typeface="Abadi"/>
              </a:rPr>
              <a:t>Consent should name retention, its usual silence, and the routes to removal: endoscopic or, rarely, surgical.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SWALLOWING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MOST CHILDREN OVER EIGHT CAN SWALLOW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Children who swallowed the capsule, by age, 1,140 children,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Li L, et al. Front Med 2024;11:1455894 · Ohmiya N, et al. Dig Endosc 2022;34:543–52 · Cohen SA. Gastroenterol Hepatol (NY) 2013 · Arch Dis Child 2021;106:705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137160" cy="1371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810512"/>
            <a:ext cx="2194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badi"/>
              </a:rPr>
              <a:t>Swallowed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20640"/>
            <a:ext cx="4754880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5651" y="4351629"/>
            <a:ext cx="580461" cy="76901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051" y="4077309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29%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359"/>
            <a:ext cx="1584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5 years or younger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10612" y="3078784"/>
            <a:ext cx="580461" cy="204185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2012" y="2804464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77%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3600" y="5166359"/>
            <a:ext cx="1584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6–11 years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5572" y="2893161"/>
            <a:ext cx="580461" cy="222747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66971" y="2618841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84%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8560" y="5166359"/>
            <a:ext cx="1584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12 years or older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783080"/>
            <a:ext cx="557784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9 years 2 months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Age cut-off for spontaneous ingestion in Japanese children under 16, with height 132 cm and weight 24.8 kg (10,156 studies).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88.4%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Children who swallowed in pooled paediatric studies; the youngest reported swallower was about 4 years.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Train first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A single 15-minute pill-swallowing session taught 87% of children; some aged 3 succeeded (medicines, not capsules).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ENDOSCOPIC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BELOW EIGHT, PLACE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Endoscopic capsule placement in young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Oikawa-Kawamoto M, et al. World J Gastroenterol 2013;19:8342–8 · Fritscher-Ravens A, et al. Gut 2009;58:1467–72 · Ohmiya N, et al. Dig Endosc 2022;34:543–52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0972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10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Youngest child, 7.9 kg, with endoscopic placement; median age of placement 2 years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0972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401 vs 227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Minutes of small-bowel transit, placed versus swallowed (P = 0.008)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0972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91.8%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Successful delivery to duodenum or jejunum in children under 16 (AdvanCE-J)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0972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21.6%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Mild events with endoscopic delivery: mucosal damage, bleeding, pain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69080"/>
            <a:ext cx="11091672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Why place it.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 capsule left in the stomach of a small child may not empty before the battery ends; direct duodenal placement solves both swallowing and gastric delay.</a:t>
            </a:r>
          </a:p>
          <a:p>
            <a:pPr algn="l">
              <a:spcBef>
                <a:spcPts val="800"/>
              </a:spcBef>
            </a:pPr>
            <a:r>
              <a:rPr sz="1250" b="1" i="0">
                <a:solidFill>
                  <a:srgbClr val="B22222"/>
                </a:solidFill>
                <a:latin typeface="Abadi"/>
              </a:rPr>
              <a:t>The trade.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Placement adds anaesthesia and an upper endoscopy; combine it with the diagnostic gastroscopy the child often needs anyway.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BALLOON ENTEROSCOPY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PAEDIATRIC SERIES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Device-assisted enteroscopy in children: largest published series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Urs AN, et al. JPGN 2014;58:204–12 · Thomson M, et al. World J Gastroenterol 2010;16:56–62 · Hagiwara SI, et al. JPGN 2019;68:306–10 · Li BR, et al. Eur J Pediatr 2020;179:611–7 · Yokoyama K, et al. JPGN 2016;63:34–40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286000"/>
                <a:gridCol w="2377440"/>
                <a:gridCol w="203911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Series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Patients / procedures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Main indications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Yield / success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Complications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Urs 2014, UK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58 / 113, median 12.7 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Polyposis, obscure bleeding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Diagnostic 70.7%; therapy 46.5%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3 of 58 (5.2%), 1 perforation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Thomson 2010, UK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14, aged 8–17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Peutz–Jeghers, bleeding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Diagnostic 11 of 14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None from enteroscopy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Hagiwara 2019, Japan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79 / 96, aged 1–17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Mixed; prospective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Diagnostic 48%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2 severe; no perforation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Li 2020, China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41 / 82, aged 5–14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Peutz–Jeghers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Polypectomy in 80.5%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1.2% per procedure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Yokoyama 2016, Japan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257 procedures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Mixed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5.4%; 10.4% under 10 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Smallest children reported: 10.8 kg and 1.6 years by the anal route, 12.9 kg and 3.7 years orally (Hagiwara 2019).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COMPLICATIONS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SMALLER THE CHILD, THE HIGHER THE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Adverse events in paediatric balloon enteroscopy series, %; denominators differ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Li BR, et al. Eur J Pediatr 2020 · Hagiwara SI, et al. JPGN 2019 · Urs AN, et al. JPGN 2014 · Yokoyama K, et al. JPGN 2016 (via Hoskins, Front Pediatr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310896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Li 2020, per procedure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938527"/>
            <a:ext cx="274320" cy="21945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3088" y="1874519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1.2%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41448"/>
            <a:ext cx="310896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Hagiwara 2019, severe, per patient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2505456"/>
            <a:ext cx="571500" cy="21945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0268" y="2441448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08376"/>
            <a:ext cx="310896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Urs 2014, per patient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3072384"/>
            <a:ext cx="1188720" cy="21945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3008376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5.2%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75303"/>
            <a:ext cx="310896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Yokoyama 2016, all 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3639311"/>
            <a:ext cx="1234440" cy="21945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3208" y="3575303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5.4%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42231"/>
            <a:ext cx="310896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Yokoyama 2016, under 10 years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4206240"/>
            <a:ext cx="2377440" cy="21945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4142231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10.4%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1783080"/>
            <a:ext cx="406908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What goes wrong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Pancreatitis, post-polypectomy bleeding, perforation (often after surgery or transplant), bile-duct injury.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Who is at risk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Children under 10, altered anatomy, large polypectomies.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Where to do it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High-volume centres with paediatric anaesthesia and surgical back-up.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PEUTZ–JEGHERS SYNDROME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CLEAR THE BOWEL BEFORE IT INTUSSUSCEPTS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commonest therapeutic reason for balloon enteroscopy in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ESGE update. Endoscopy 2023;55:58–95 · Latchford A, et al. JPGN 2019;68:442–52 · Li BR, et al. Eur J Pediatr 2020;179:611–7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3774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96312"/>
            <a:ext cx="222199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Small-bowel surveillance by age 8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Earlier if symptoms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Capsule and/or MRE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3774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Remove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96312"/>
            <a:ext cx="222199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Balloon polypectomy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242 polyps in 41 children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Giant polyps over 5 cm in 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3774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Combine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96312"/>
            <a:ext cx="222199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Intra-operative enteroscopy at laparotomy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Raised clearance by 16% (ESGE)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For heavy burden or failure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3774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Respect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96312"/>
            <a:ext cx="222199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Polypectomy complications 4–6%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Children: even polyps under 15 mm may cause trouble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Plan intervals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34840"/>
            <a:ext cx="1109167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1">
                <a:solidFill>
                  <a:srgbClr val="1B355E"/>
                </a:solidFill>
                <a:latin typeface="Abadi"/>
              </a:rPr>
              <a:t>The goal is elective clearance in the endoscopy suite instead of emergency laparotomy for intussusception.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CHOOSING THE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CAPSULE TO DIAGNOSE, BALLOON TO TREAT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practical sequence for suspected small-bowel disease in a child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ESGE update 2023 · Tringali 2017 · Levine 2014 · Friedlander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035454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Question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2035454" cy="1728216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Bleeding, Crohn's, polyps, protein loss: what will change management?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20670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2694" y="1783080"/>
            <a:ext cx="203545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4134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Image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2694" y="2112264"/>
            <a:ext cx="2035454" cy="1728216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2422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MRE first if obstruction or stricture is possible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84724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6748" y="1783080"/>
            <a:ext cx="203545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8188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Patency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748" y="2112264"/>
            <a:ext cx="2035454" cy="1728216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6476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Patency capsule in known Crohn's or obstructive symptoms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8779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0803" y="1783080"/>
            <a:ext cx="2035454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2243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Capsule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0803" y="2112264"/>
            <a:ext cx="2035454" cy="1728216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0531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Swallowed if able, usually from about 8–9 years; otherwise placed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2833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4857" y="1783080"/>
            <a:ext cx="2035454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6297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Therapy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4857" y="2112264"/>
            <a:ext cx="2035454" cy="1728216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14585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Balloon enteroscopy for lesions to biopsy, cut, dilate or stop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023360"/>
            <a:ext cx="11091672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Skip the capsule.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Go straight to enteroscopy when the target is already known: a polyp on MRE in Peutz–Jeghers, or a stricture needing dilation.</a:t>
            </a:r>
          </a:p>
          <a:p>
            <a:pPr algn="l">
              <a:spcBef>
                <a:spcPts val="800"/>
              </a:spcBef>
            </a:pPr>
            <a:r>
              <a:rPr sz="1250" b="1" i="0">
                <a:solidFill>
                  <a:srgbClr val="B22222"/>
                </a:solidFill>
                <a:latin typeface="Abadi"/>
              </a:rPr>
              <a:t>Skip the enteroscope.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When the question is extent or healing in Crohn's, the capsule and MRE answer it without anaesthesia-heavy instrumentation.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(NASPGHAN, ACG, FDA) versus Europe (ESGE, ESPGHAN, ECCO-ESPGHAN Porto)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Friedlander 2017 (NASPGHAN) · Gerson 2015 (ACG) · Tringali 2017 (ESGE/ESPGHAN) · ESGE update 2023 · Levine 2014 · FDA 2009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9167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3429000"/>
                <a:gridCol w="3776472"/>
                <a:gridCol w="13716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North America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Europe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Small bowel in suspected paediatric IBD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NASPGHAN report: capsule for extent and recurrence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Porto: MRE or capsule for all except typical UC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Suspected small-bowel bleeding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ACG 2015 (adults): capsule after negative upper and lower endoscopy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ESGE/ESPGHAN: capsule in children; balloon for therapy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Patency before capsule in known Crohn's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paediatric mandate in the documents reviewed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ESGE 2023: patency capsule (strong)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Retained capsule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NASPGHAN: often silent; surgery occasionally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ESGE: conservative first, then enteroscopy (strong)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Minimum age or weight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FDA: capsule from age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floor; balloon series from about 10–13 kg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Capsule in acute upper bleeding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paediatric statement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ESGE/ESPGHAN: not routinely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Material gap: no society sets a weight floor for paediatric balloon enteroscopy; practice follows centre experience.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SMALL-BOWEL EVALUATION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reasons for a risky or wasted study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Pasha 2020 · Atay 2009 · Cohen 2011 · Oikawa-Kawamoto 2013 · Hoskins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1945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"Too young"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96312"/>
            <a:ext cx="222199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Age is not the risk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Place the capsule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From 10 months, 7.9 kg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1945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"Just a capsule"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96312"/>
            <a:ext cx="222199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Stricturing Crohn's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No MRE, no patency test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Retention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1945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"Patency passed"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96312"/>
            <a:ext cx="222199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Risk lowered, not zero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Late or fragmented passage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Read the capsule's position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1945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"Pain only"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96312"/>
            <a:ext cx="222199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Low-yield indication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No alarm features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A camera will not fix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51960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1">
                <a:solidFill>
                  <a:srgbClr val="1B355E"/>
                </a:solidFill>
                <a:latin typeface="Abadi"/>
              </a:rPr>
              <a:t>A negative capsule does not end the search when bleeding recurs; repeat, enteroscopy or MRE may still find the lesion.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Cohen and Klevens 2011 · Pasha 2020 · Atay 2009 · Cohen 2011 · Li 2024 · Ohmiya 2022 · Oikawa-Kawamoto 2013 · Hagiwara 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1091672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Abadi"/>
              </a:rPr>
              <a:t>▪  Paediatric capsule: positive in 65%, changes therapy in 68%, retention 2.6% in the 2011 meta-analysis.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Retention follows stricturing Crohn's: 1.64% in paediatric Crohn's, 5.2% in known IBD, 35.7% with a positive barium study.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Porto: small-bowel imaging by MRE or capsule in every suspected IBD except typical ulcerative colitis.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Patency capsule dissolves from about 30 h; intact passage means a safe passage, but risk is lowered, not abolished.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Swallowing: 29% at 5 or younger, 77% at 6–11, 84% at 12 or older; Japanese cut-off about 9 years, 25 kg.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Endoscopic placement works from 10 months and 7.9 kg; transit is slower when placed.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Balloon enteroscopy: diagnostic yield about 50–70%, complications 1–5%, about 10% under age 10.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Peutz–Jeghers: start small-bowel surveillance by age 8 and clear polyps electively.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small-bowel logic in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ESGE 2023 · Levine 2014 · Fritscher-Ravens 2009 · Li 2020 · Cohen 2011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94560"/>
                <a:gridCol w="505663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Think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Do now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12-year-old, known ileal Crohn's, post-prandial pain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Stricture risk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MRE, then patency capsule before any video capsule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4-year-old, recurrent melaena, normal gastroscopy and colonoscopy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Small-bowel bleeding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Capsule placed endoscopically; enteroscopy for the lesion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9-year-old with Peutz–Jeghers, 2 cm jejunal polyp on MRE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Elective clearance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Balloon enteroscopy polypectomy; skip the capsule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Capsule still in the ileum at 2 weeks, child well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Retention, finding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Treat inflammation; enteroscopic retrieval if it stays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7-year-old who cannot swallow tablets, suspected Crohn's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Delivery problem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Pill training or endoscopic placement at the diagnostic endoscopy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46304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badi"/>
              </a:rPr>
              <a:t>Seeing the Small Bowel in Children: Capsule Endoscopy, Patency Testing and Balloon Enteroscopy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9476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10916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