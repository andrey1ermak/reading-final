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14173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Imaging the Child's Bowel: Intestinal Ultrasound, MR Enterography, CT and the Upper GI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1188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1672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916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van Wassenaer 2019, 2020 · Kellar 2023 (IBUS) · Dolinger 2024 · Focht 2022 (ImageKids/PICMI) · Levine 2014 (Porto) · Kucharzik 2025 (ECCO-ESGAR-ESP-IBUS) · ACR 2022 · Pearce 2012 · Hauptmann 2023 · Nguyen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FD8E6"/>
                </a:solidFill>
                <a:latin typeface="Abadi"/>
              </a:rPr>
              <a:t>Paediatric wall thickness · PICMI · CT dose · malrotation · intussusception · Hirschsprung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PICTURE, FOR WHICH CHILD?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Each modality answers a different question; radiation and anaesthesia are the costs a child pays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Levine A, et al. JPGN 2014;58:795–806 · Kucharzik T, et al. J Crohns Colitis 2025;19:jjaf106 · Moore MM, et al. J Am Coll Radiol 2022;19:S19–36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Ultrasound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First look and bedside follow-up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radiation, no sedation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Intussusception, appendicitis, IBD activity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MR enterography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Maps small bowel at IBD diagnosis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Transmural healing: PICMI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Perianal disease with pelvic MRI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Upper GI series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Bilious vomiting: malrotation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Duodenojejunal flexure position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Fluoroscopy dose, but fast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Trauma, unstable abscess, drainage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Almost never for routine IBD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Every scan adds dose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child's bowel wall is thinner than an adult's, so adult cut-offs miss disease. Ultrasound is the first and repeatable look; MR enterography is the map and the healing endpoint; CT is reserved for emergencies; the upper GI series still decides malrotation when ultrasound is equivocal.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INFLAMMATION LOOKS LIKE ON A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same transmural process seen by sound waves and by magnetic resonance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Kellar A, et al. JPGN 2023;76:142–8 · Focht G, et al. Gastroenterology 2022;163:1306–20 · Bruining DH, et al. Radiology 2018;286:776–99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Thickening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7393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Oedema and inflammatory cells widen the wall: the most reproducible sign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Hyperaemia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7393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Doppler signal in the wall (Limberg 0–4); contrast enhancement on MRI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Stratification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7393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Layers blur or vanish; ulcers break the mucosal line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Mesentery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7393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Inflammatory fat, comb sign, mesenteric oedema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34639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Diffusion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7393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Restricted water motion on DWI; a PICMI item without gadolinium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539496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Activity versus damage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Hyperaemia, oedema and restricted diffusion mean active inflammation; a fixed narrowing with upstream dilatation means a stricture. The 2018 SAR–SPR consensus reserves "stricture" for narrowing with upstream dilatation.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114800"/>
            <a:ext cx="548640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 caution on DWI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Normal collapsed jejunum restricts diffusion. Restricted diffusion alone should not establish active disease; read it with wall thickness, ulcers and mesenteric signs.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NORMAL WALL THICKNESS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CHILD'S BOWEL IS 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Upper limit of normal bowel wall thickness in healthy children, mm, versus the adult 3 mm cut-off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Wassenaer EA, et al. Pediatr Radiol 2020;50:501–8 (7 studies, about 207 children)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19456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Jejunum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879457"/>
            <a:ext cx="1341120" cy="3118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5488" y="1783080"/>
            <a:ext cx="118872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1.1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50008"/>
            <a:ext cx="219456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Ileum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446385"/>
            <a:ext cx="2316480" cy="3118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0848" y="2350008"/>
            <a:ext cx="118872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1.9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16936"/>
            <a:ext cx="219456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Caecum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013313"/>
            <a:ext cx="2316480" cy="3118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0848" y="2916936"/>
            <a:ext cx="118872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1.9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83863"/>
            <a:ext cx="219456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Colon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580241"/>
            <a:ext cx="2316480" cy="3118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0848" y="3483863"/>
            <a:ext cx="118872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1.9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50791"/>
            <a:ext cx="219456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Adult cut-off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4147169"/>
            <a:ext cx="3657600" cy="31181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050791"/>
            <a:ext cx="1188720" cy="481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3.0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783080"/>
            <a:ext cx="4526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1.9 mm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Upper limit of normal for both small bowel and colon in healthy children.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Age effect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Ileum about 0.4 mm thicker at 0–4 years; colon thickens 0.3–0.5 mm through adolescence, judged not clinically relevant.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No consensus cut-off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Paediatric studies used 1.5–4 mm; the review suggests about 2–3 mm. The adult 3 mm sits well above the normal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DIAGNOSTIC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ADULT THRESHOLD MISSES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Intestinal ultrasound against colonoscopy in children: sensitivity and specificity at chosen cut-offs,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Räisänen L, et al. Inflamm Bowel Dis 2026;32:730–9 · Dell'Era A, et al. J Ultrasound 2023 · van Wassenaer EA, et al. J Crohns Colitis 2019;13:1501–9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3100" y="1874520"/>
            <a:ext cx="137160" cy="1371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426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621792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6591" y="3513374"/>
            <a:ext cx="630936" cy="169870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279" y="3239054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2392" y="2980944"/>
            <a:ext cx="630936" cy="223113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2080" y="2706624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2072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Colon ≥ 2.7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99232" y="3665497"/>
            <a:ext cx="630936" cy="154658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391177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5032" y="3285189"/>
            <a:ext cx="630936" cy="192689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010869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1280" y="5257800"/>
            <a:ext cx="2072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Ileum ≥ 2.7 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1871" y="3447454"/>
            <a:ext cx="630936" cy="17646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1559" y="3173134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69.6%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7671" y="2760365"/>
            <a:ext cx="630936" cy="245171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7359" y="2486045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3920" y="5257800"/>
            <a:ext cx="20726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Any segment &gt; 3 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783080"/>
            <a:ext cx="4526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60% missed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The adult 3.0 mm cut-off missed 60% of inflamed ilea in very-early-onset IBD; a tentative 2.2 mm cut-off is proposed under 6 years.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85%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Colon sensitivity rises to 85% for moderate–severe disease (AUC 0.907).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39–93%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Range of sensitivity at diagnosis across 14 paediatric studies; specificity 90–100%. Good to rule in, weaker to rule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SCORING 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THICKNESS TO A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Crohn disease intestinal ultrasound score (PCD-IUS): points for wall thickness by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Wassenaer EA, et al. JPGN 2023 (PCD-IUS) · Kellar A, et al. JPGN 2023;76:142–8 · Novak KL, et al. J Crohns Colitis 2021;15:609–16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3017520"/>
                <a:gridCol w="37764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Points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Terminal ileum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Colon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Other items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2.0–3.0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1.6–2.0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Mesenteric fat adds 1 point (colon)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3.0–3.7 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2.0–2.7 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Reference standard: SES-CD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3.7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2.7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74 children, 67 ileal and 364 colonic segments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8640" y="379476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82–85%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Sensitivity of a score ≥ 1 (ileum, colon)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79476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79476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6908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88–92%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70916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Specificity of a score ≥ 3 (ileum, colon)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κ 0.42–0.49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Inter-observer agreement: moderate; needs external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79476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3794760"/>
            <a:ext cx="2587752" cy="10972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06908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IBUS-SAS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70916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Adult score endorsed by the 2025 European guideline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EARLY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WEEK 8 ULTRASOUND BEATS CRP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Prediction of endoscopic remission in 44 children with ileal Crohn's starting biologics: AUROC at week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Dolinger MT, Aronskyy I, Kellar A, et al. J Crohns Colitis 2024;18:1002–11 ("Super Sonic")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AUROC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60350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9011" y="2811183"/>
            <a:ext cx="630936" cy="240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699" y="2536863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20116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Ileal wall thickness</a:t>
            </a:r>
          </a:p>
          <a:p>
            <a:pPr algn="ctr">
              <a:spcBef>
                <a:spcPts val="0"/>
              </a:spcBef>
            </a:pPr>
            <a:r>
              <a:rPr sz="950" b="0" i="0">
                <a:solidFill>
                  <a:srgbClr val="1A1A1A"/>
                </a:solidFill>
                <a:latin typeface="Abadi"/>
              </a:rPr>
              <a:t>fall ≥ 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0691" y="3587230"/>
            <a:ext cx="630936" cy="162484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0379" y="3312910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257800"/>
            <a:ext cx="20116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PCDAI fall ≥ 46%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62371" y="4023757"/>
            <a:ext cx="630936" cy="118832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2059" y="3749437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0.49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257800"/>
            <a:ext cx="201167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CRP fall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83080"/>
            <a:ext cx="4526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100% / 93%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and specificity of a ≥ 18% fall in ileal wall thickness; negative predictive value 100%.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66%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who reached endoscopic remission (SES-CD ≤ 2).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Caveat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Small single-centre cohort, ileal disease only; confirm before changing therapy on ultrasound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MR ENTEROGRAPHY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PICMI: A PAEDIATRIC INDEX WITHOUT NEEDLES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ImageKids study: development and validation of the Pediatric Inflammatory Crohn's MRE 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Focht G, Cytter-Kuint R, Greer MLC, et al. Gastroenterology 2022;163:1306–20 (NCT01881490)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r = 0.85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Correlation with the radiologist global assessment; r = 0.63 with SES-CD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ICC 0.84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Inter-observer reliability; test–retest 0.81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AUROC 0.96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Responsiveness to change across 116 repeat scans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≤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Transmural healing; response = fall of more than 20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3532632" cy="187451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353263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782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Five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53712"/>
            <a:ext cx="316687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Wall thickness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Wall diffusion (DWI)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Ulcerations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Mesenteric oedema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Comb 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59" y="3840480"/>
            <a:ext cx="3532632" cy="1874519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8159" y="3840480"/>
            <a:ext cx="353263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1039" y="40782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What it needs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1039" y="4553712"/>
            <a:ext cx="316687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No intravenous gadolinium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rectal enema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Oral contrast and DWI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7679" y="3840480"/>
            <a:ext cx="3532632" cy="1874519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7679" y="3840480"/>
            <a:ext cx="3532632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59" y="40782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badi"/>
              </a:rPr>
              <a:t>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0559" y="4553712"/>
            <a:ext cx="316687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30 candidate items reduced to 5 on 159 scans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Validated on 81 scans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Repeat MRE at 18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MRE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ACCURATE, BUT THE CHILD PAYS IN TIME AND SEDATION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Pooled accuracy of MRE for active terminal-ileal Crohn's in children,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Giles E, et al. Aliment Pharmacol Ther 2013;37:1121–31 · SPR enterography protocol · Lanier MH, et al. J Magn Reson Imaging 2018;48:341–8 · FDA Drug Safety Communication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MRE, 11 studies, 496 children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420624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4732" y="3082359"/>
            <a:ext cx="630936" cy="21297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" y="2808039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7851" y="2752759"/>
            <a:ext cx="630936" cy="24593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7539" y="2478439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25780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783080"/>
            <a:ext cx="621792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Preparation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Fast 4–6 hours; oral contrast 450–1,350 mL scaled to size over 45–60 minutes; glucagon to stop peristalsis.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Sedation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Usually needed under about 7 years: weigh the anaesthetic against ultrasound.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Gadolinium-free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In 52 children contrast did not change performance, but non-contrast MRE missed 3 of 5 perianal penetrating cases.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Gadolinium retention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All agents leave traces in brain; linear more than macrocyclic; no harm shown. FDA: use when necessary.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ACTIVITY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SCORES, TWO MODALITIES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Cross-sectional activity indices relevant to paediatric Crohn's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Rimola J, et al. Gut 2009;58:1113–20 · Focht 2022 · van Wassenaer 2023 · Novak KL, et al. J Crohns Colitis 2021;15:609–16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645920"/>
                <a:gridCol w="505663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Index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Modality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Gadolinium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Key performance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MaRIA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Adults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Required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Active disease: sensitivity 0.81, specificity 0.89; correlation with CDEIS r = 0.81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PICMI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Not needed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 = 0.85 with global assessment; ≤ 10 transmural healing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IBUS-SAS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Ultrasound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Adults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Not applicable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Wall thickness, fat, Doppler, stratification; endorsed by ECCO 2025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PCD-IUS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Ultrasound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Not applicable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Score ≥ 1: sensitivity 82–85%; needs external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846320"/>
            <a:ext cx="1109167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For a child, choose the index that avoids a needle: PICMI on MRI and wall thickness on ultrasound track the same inflammation that MaRIA measures with gadolinium.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CT AND CANCER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SMALL RISKS THAT ADD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Cancer after childhood CT: the cohort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Pearce MS, et al. Lancet 2012;380:499–505 · Mathews JD, et al. BMJ 2013;346:f2360 · Hauptmann M, et al. Lancet Oncol 2023;24:45–53 · Bosch de Basea Gomez M, et al. Nat Med 2023;29:3111–9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RR 3.18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1887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Leukaemia after ≥ 30 mGy marrow dose versus &lt; 5 mGy; about 178,000 UK patients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IRR 1.24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1887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Overall cancer after CT in 10.9 million Australians; about 1 excess cancer per 1,800 scans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ERR 1.27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1887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Brain cancer per 100 mGy, EPI-CT, 658,752 people in 9 countries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1–2 in 10k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1887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Excess blood cancers per child scanned over 12 years at about 8 mGy per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9167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Why it matters in IBD.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Crohn's disease is lifelong and imaged repeatedly. A CT enterography delivers 3–10 mSv in a child; ultrasound and MRI deliver none. Each scan adds a small, cumulative, permanent risk.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Reading the numbers.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absolute risk per scan is small; the relative risk is real and dose-dependent. The cohorts used lag periods to limit reverse causation.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WHEN CT IS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CT ALMOST NEVER, BUT NOT NEVER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Indications for CT in children with bowel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Moore MM, et al. J Am Coll Radiol 2022;19:S19–36 (ACR) · Lichtenstein GR, et al. Am J Gastroenterol 2025;120:1225–64 (ACG)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3532632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53263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Justified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316687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Abdominal trauma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Unstable child with suspected perforation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Guiding percutaneous abscess drainage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8159" y="1783080"/>
            <a:ext cx="353263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8159" y="1783080"/>
            <a:ext cx="353263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1039" y="20208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Debatable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1039" y="2496312"/>
            <a:ext cx="316687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Acute Crohn's flare when MRI is unavailable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Out-of-hours abscess question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Ultrasound non-diagnostic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7679" y="1783080"/>
            <a:ext cx="353263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679" y="1783080"/>
            <a:ext cx="353263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59" y="2020824"/>
            <a:ext cx="316687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Avoid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59" y="2496312"/>
            <a:ext cx="316687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Routine diagnosis of paediatric IBD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Serial monitoring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Suspected appendicitis before ultrasound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1109167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North America still lists it.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2022 ACR criteria rate CT enterography "usually appropriate" for paediatric Crohn's workup, alongside MRE; the 2025 ACG guideline calls CTE comparable to MRE but prefers MRE under 35. European paediatric guidance favours MRE and ultrasound.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MALROTATION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ULTRASOUND HAS CAUGHT UP, THE UGI STILL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 for malrotation by test,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Sizemore AW, et al. Pediatr Radiol 2008;38 · Nguyen HN, et al. Arch Dis Child 2021;106:1171 · Dufour D, 1992 and Orzech N, 2006 (via BestBETs)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30175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Upper GI series (Sizemore 2008)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891893"/>
            <a:ext cx="2809036" cy="35204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6364" y="1783080"/>
            <a:ext cx="11887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30175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Ultrasound, meta-analysis 2021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531973"/>
            <a:ext cx="2750515" cy="35204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7843" y="2423160"/>
            <a:ext cx="11887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39"/>
            <a:ext cx="30175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SMA/SMV relationship, 2006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172053"/>
            <a:ext cx="2545689" cy="35204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017" y="3063239"/>
            <a:ext cx="11887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0175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SMA/SMV relationship, 1992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3812133"/>
            <a:ext cx="2048256" cy="35204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4" y="3703320"/>
            <a:ext cx="1188720" cy="5440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83080"/>
            <a:ext cx="4526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100%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Specificity of ultrasound in the 2021 meta-analysis: 17 studies, 2,257 children; better in neonates and with fluid given first.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7 false negatives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Among 163 surgically proven cases on UGI, with 2 false positives; 30 of 38 volvulus cases were seen.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Whirlpool sign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Clockwise twist of the SMV and mesentery around the SMA: volvulus until proven otherwise.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READING THE UGI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DUODENOJEJUNAL FLEXURE MUST 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Normal position and common pitfalls on the upper GI contrast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Sizemore 2008 · McCurdie FK, et al. Pediatr Radiol 2024;54:2099–111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Normal flexure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Left of the left vertebral pedicle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At the level of the duodenal bulb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Posterior on the lateral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False positive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Mobile duodenum in neonates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Displacement by bowel or a mass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Distended stomach or NG tube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False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Flexure slightly low but called normal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Jejunal position over-trusted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Study stopped too early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Volvulus signs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Corkscrew duodenum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Abrupt beak-like obstruction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Flexure right of midline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A normal SMA/SMV relationship does not exclude malrotation. An equivocal ultrasound in a child with bilious vomiting goes to an immediate UGI or straight to the surgeon.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BILIOUS VOMITING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GREEN VOMIT IS A SURGICAL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Pathway for the infant with bilious vomiting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Nationwide Children's bilious emesis pathway · Neonatal Society 2016 abstract (term neonates) · Nguyen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Recognise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63677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Green, not yellow; assume malrotation with volvulus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7660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Stabilise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63677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Nil by mouth, NG decompression, fluids, surgical call now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7660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63677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Ultrasound if expert and immediate; otherwise STAT UGI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7660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Decide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63677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Whirlpool or abnormal flexure: theatre; equivocal: UGI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766060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63677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Under 1 hour from imaging result to theatre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53263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931920"/>
            <a:ext cx="353263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06240"/>
            <a:ext cx="3166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14.6%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846320"/>
            <a:ext cx="3166872" cy="7772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Term neonates with bilious vomiting who had a surgical cause in one UK series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8159" y="3931920"/>
            <a:ext cx="353263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8159" y="3931920"/>
            <a:ext cx="353263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11039" y="4206240"/>
            <a:ext cx="3166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3.3%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1039" y="4846320"/>
            <a:ext cx="3166872" cy="7772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Malrotation in the same series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07679" y="3931920"/>
            <a:ext cx="3532632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7679" y="3931920"/>
            <a:ext cx="3532632" cy="10972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0559" y="4206240"/>
            <a:ext cx="3166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20–51%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0559" y="4846320"/>
            <a:ext cx="3166872" cy="7772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Surgical causes in earlier tertiary series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OTHER BOWEL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ULTRASOUND WINS, THE ENEMA LOSES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 and specificity,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Hryhorczuk AL, Strouse PJ. Pediatr Radiol 2009 · Lin-Martore M, et al. West J Emerg Med 2020;21(4) · Doria AS, et al. Radiology 2006;241:83–94 · de Lorijn F, et al. JPGN 2006;42:496–505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43100" y="1874520"/>
            <a:ext cx="137160" cy="1371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4268" y="181051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7680960" cy="1097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2824263"/>
            <a:ext cx="457200" cy="229637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549943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97.9%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16152" y="2826609"/>
            <a:ext cx="457200" cy="229403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552289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97.8%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Intussusception,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radiology 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4248" y="2894632"/>
            <a:ext cx="457200" cy="222600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2620312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94.9%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6312" y="2796115"/>
            <a:ext cx="457200" cy="23245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521795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99.1%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Intussusception,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POCUS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3056481"/>
            <a:ext cx="457200" cy="206415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2782161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88%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76472" y="2915743"/>
            <a:ext cx="457200" cy="22048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641423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Appendicitis,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4568" y="2915743"/>
            <a:ext cx="457200" cy="2204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5" y="2641423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6632" y="2892286"/>
            <a:ext cx="457200" cy="222835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617966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Appendicitis,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24728" y="3478695"/>
            <a:ext cx="457200" cy="164194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14416" y="3204375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6792" y="3173763"/>
            <a:ext cx="457200" cy="194687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899443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83%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Hirschsprung,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contrast enema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4888" y="2939199"/>
            <a:ext cx="457200" cy="21814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4576" y="2664879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16952" y="2821917"/>
            <a:ext cx="457200" cy="229872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2547597"/>
            <a:ext cx="8778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B355E"/>
                </a:solidFill>
                <a:latin typeface="Abadi"/>
              </a:rPr>
              <a:t>98%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166359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Abadi"/>
              </a:rPr>
              <a:t>Hirschsprung,</a:t>
            </a:r>
          </a:p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1A1A1A"/>
                </a:solidFill>
                <a:latin typeface="Abadi"/>
              </a:rPr>
              <a:t>suction biopsy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1783080"/>
            <a:ext cx="301752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NPV 99.7%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1A1A1A"/>
                </a:solidFill>
                <a:latin typeface="Abadi"/>
              </a:rPr>
              <a:t>Radiology ultrasound for intussusception, 814 examinations.</a:t>
            </a:r>
          </a:p>
          <a:p>
            <a:pPr algn="l">
              <a:spcBef>
                <a:spcPts val="300"/>
              </a:spcBef>
            </a:pPr>
            <a:r>
              <a:rPr sz="1500" b="1" i="0">
                <a:solidFill>
                  <a:srgbClr val="1B355E"/>
                </a:solidFill>
                <a:latin typeface="Abadi"/>
              </a:rPr>
              <a:t>US first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1A1A1A"/>
                </a:solidFill>
                <a:latin typeface="Abadi"/>
              </a:rPr>
              <a:t>For appendicitis, CT gains little and costs dose.</a:t>
            </a:r>
          </a:p>
          <a:p>
            <a:pPr algn="l">
              <a:spcBef>
                <a:spcPts val="300"/>
              </a:spcBef>
            </a:pPr>
            <a:r>
              <a:rPr sz="1500" b="1" i="0">
                <a:solidFill>
                  <a:srgbClr val="1B355E"/>
                </a:solidFill>
                <a:latin typeface="Abadi"/>
              </a:rPr>
              <a:t>Enema ≠ extent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1A1A1A"/>
                </a:solidFill>
                <a:latin typeface="Abadi"/>
              </a:rPr>
              <a:t>Radiological transition zone matched the operative level in only half.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(NASPGHAN, ACG, AGA, ACR) versus Europe (ESPGHAN, ECCO, ESGAR)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Levine 2014 (Porto) · van Rheenen PF, et al. J Crohns Colitis 2021;15:171–94 · Kucharzik 2025 · ACR 2022 · ACG 2025 · Bruining 2018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291840"/>
                <a:gridCol w="3867912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Small-bowel imaging at diagnosis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ACG: yes; ACR: MRE usually appropriate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Porto: MRE or capsule in all except typical UC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Preferred cross-sectional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MRE preferred in the young; CTE comparable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MRE the modality of choice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Intestinal ultrasound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ACR: may be appropriate; ACG: adjunct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ECCO-ESGAR-ESP-IBUS 2025: first-line for diagnosis and monitoring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CT enterography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ACR: usually appropriate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Avoid; reserve for emergencies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activity index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society endorsement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PICMI from European-led ImageKids; not yet in guideline text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Malrotation imaging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society guideline; UGI standard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society guideline; US-first pathways emerging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B22222"/>
                </a:solidFill>
                <a:latin typeface="Abadi"/>
              </a:rPr>
              <a:t>The material difference: radiation. North American criteria still rate paediatric CTE usually appropriate.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BOWEL IMAGING MISLEADS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wrong or late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Wassenaer 2020 · Räisänen 2026 · Bruining 2018 · Sizemore 2008 · Haikal Z, et al. BMC Res Notes 2020;13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5146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Adult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3 mm cut-off in a 4-year-old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Inflamed ileum called normal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Use 2.2–2.7 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5146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DWI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Collapsed jejunum restricts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Activity overcalled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Read with thickness and ulcers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5146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Normal vessels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Normal SMA/SMV, still malrotated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Equivocal US not escalated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Delay to theatre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5146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Enema for extent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Transition zone ≠ aganglionic level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Surgery planned on enema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Biopsy decides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26280"/>
            <a:ext cx="1109167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A negative scan never overrides a bilious vomit, a pale stool or a rising faecal calprotectin: image again, scope, or call the surgeon.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Wassenaer 2020 · Räisänen 2026 · Dolinger 2024 · Focht 2022 · Giles 2013 · Pearce 2012 · Nguyen 2021 · Hryhorczuk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109167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badi"/>
              </a:rPr>
              <a:t>▪  Normal paediatric bowel wall is ≤ 1.9 mm; the adult 3 mm cut-off missed 60% of inflamed ilea in very-early-onset IBD.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Ultrasound rules in well (specificity 90–100%) but rules out less well (sensitivity 39–93%).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 ≥ 18% fall in ileal wall thickness at week 8 predicted remission (AUROC 0.99) where CRP did not (0.49).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PICMI: five items, no gadolinium, no enema; ≤ 10 = transmural healing, fall &gt; 20 = response.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MRE detects active ileal Crohn's with 84% sensitivity and 97% specificity; add gadolinium for perianal disease.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CT carries a small cumulative cancer risk: about 1–2 excess blood cancers per 10,000 children scanned.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Ultrasound for malrotation: 94% sensitive, 100% specific in experts; an equivocal scan still needs a UGI.</a:t>
            </a:r>
          </a:p>
          <a:p>
            <a:pPr algn="l">
              <a:spcBef>
                <a:spcPts val="11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Ultrasound for intussusception: 98% sensitive, NPV 99.7%; Hirschsprung extent is a biopsy question.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Choosing the picture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Dolinger 2024 · Focht 2022 · Räisänen 2026 · Nguyen 2021 · Levine 2014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926080"/>
                <a:gridCol w="432511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14-year-old, ileal Crohn's, starting anti-TNF; baseline ileal wall 5.5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Monitor with ultrasound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Repeat at week 8: 4.0 mm (−27%) predicts remission; MRE with PICMI at about 12 months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New suspected Crohn's in a 12-year-old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Small-bowel map needed (Porto)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Ileocolonoscopy plus MRE; ultrasound as baseline; no 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4-year-old, bloody diarrhoea, colon wall 2.3 mm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Abnormal for age despite "normal" adult cut-off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Endoscopy; ultrasound for follow-up; avoid MRE under anaesthesia unless needed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10-day-old, bilious vomiting, US shows whirlpool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Malrotation with volvulus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Theatre now; no further imaging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Teenager with Crohn's, fever, mass, unstable at night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Abscess or perforation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Ultrasound first; CT if unstable or drainage needed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badi"/>
              </a:rPr>
              <a:t>Imaging the Child's Bowel: Intestinal Ultrasound, MR Enterography, CT and the Upper GI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9476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