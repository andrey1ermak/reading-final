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i="0">
                <a:solidFill>
                  <a:srgbClr val="FFFFFF"/>
                </a:solidFill>
                <a:latin typeface="Abadi"/>
              </a:rPr>
              <a:t>BRUE, Apnoea and Reflux: Why the Guideline Says Do Not Test and Do Not Treat — and When Reflux Really Matters</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18288" bIns="18288" anchor="t">
            <a:spAutoFit/>
          </a:bodyPr>
          <a:lstStyle/>
          <a:p>
            <a:pPr algn="ctr"/>
            <a:r>
              <a:rPr sz="1100" b="0" i="0">
                <a:solidFill>
                  <a:srgbClr val="D9DEE7"/>
                </a:solidFill>
                <a:latin typeface="Abadi"/>
              </a:rPr>
              <a:t>Tieder 2016 (AAP BRUE) · Rosen 2018 (NASPGHAN/ESPGHAN) · NICE NG1 · Peter 2002 · Di Fiore 2005, 2010 · Corvaglia 2009 · Duncan 2017, 2024 · J Pediatr 2014 manometry · Nama 2022, 2025 · Mahant 2024 · Terrin 2012 · Mindlina 2020</a:t>
            </a:r>
          </a:p>
        </p:txBody>
      </p:sp>
      <p:sp>
        <p:nvSpPr>
          <p:cNvPr id="7" name="TextBox 6"/>
          <p:cNvSpPr txBox="1"/>
          <p:nvPr/>
        </p:nvSpPr>
        <p:spPr>
          <a:xfrm>
            <a:off x="548640" y="5193792"/>
            <a:ext cx="11082528" cy="548640"/>
          </a:xfrm>
          <a:prstGeom prst="rect">
            <a:avLst/>
          </a:prstGeom>
          <a:noFill/>
        </p:spPr>
        <p:txBody>
          <a:bodyPr wrap="square" lIns="0" rIns="0" tIns="18288" bIns="18288" anchor="t">
            <a:spAutoFit/>
          </a:bodyPr>
          <a:lstStyle/>
          <a:p>
            <a:pPr algn="ctr"/>
            <a:r>
              <a:rPr sz="1100" b="0" i="1">
                <a:solidFill>
                  <a:srgbClr val="D9DEE7"/>
                </a:solidFill>
                <a:latin typeface="Abadi"/>
              </a:rPr>
              <a:t>reflux is common and so is apnoea, together they are rare · a found cause is not a BRUE · look at the swallow before the stomach · Sandifer is reflux you can see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DID REFLUX STOP THIS BABY BREATHING?</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A 7-week-old went limp and dusky for 20 seconds after a feed and is now well: what links the event to reflux, and what does not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JS, et al. Pediatrics 2016;137:e20160590 · Rosen R, et al. JPGN 2018;66:516–54 · NICE NG1 (2015, updated 2019)</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18288" bIns="18288" anchor="t">
            <a:spAutoFit/>
          </a:bodyPr>
          <a:lstStyle/>
          <a:p>
            <a:pPr algn="l"/>
            <a:r>
              <a:rPr sz="1500" b="1" i="0">
                <a:solidFill>
                  <a:srgbClr val="1B355E"/>
                </a:solidFill>
                <a:latin typeface="Abadi"/>
              </a:rPr>
              <a:t>The event</a:t>
            </a:r>
          </a:p>
        </p:txBody>
      </p:sp>
      <p:sp>
        <p:nvSpPr>
          <p:cNvPr id="15" name="TextBox 14"/>
          <p:cNvSpPr txBox="1"/>
          <p:nvPr/>
        </p:nvSpPr>
        <p:spPr>
          <a:xfrm>
            <a:off x="694944" y="2505456"/>
            <a:ext cx="1777593"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BRUE: brief, resolved, unexplained</a:t>
            </a:r>
          </a:p>
          <a:p>
            <a:pPr algn="l">
              <a:spcAft>
                <a:spcPts val="300"/>
              </a:spcAft>
            </a:pPr>
            <a:r>
              <a:rPr sz="1150" b="0" i="0">
                <a:solidFill>
                  <a:srgbClr val="1A1A1A"/>
                </a:solidFill>
                <a:latin typeface="Abadi"/>
              </a:rPr>
              <a:t>▪  Under 1 year, under 1 minute</a:t>
            </a:r>
          </a:p>
          <a:p>
            <a:pPr algn="l">
              <a:spcAft>
                <a:spcPts val="300"/>
              </a:spcAft>
            </a:pPr>
            <a:r>
              <a:rPr sz="1150" b="0" i="0">
                <a:solidFill>
                  <a:srgbClr val="1A1A1A"/>
                </a:solidFill>
                <a:latin typeface="Abadi"/>
              </a:rPr>
              <a:t>▪  Replaced ALTE in 2016</a:t>
            </a:r>
          </a:p>
        </p:txBody>
      </p:sp>
      <p:sp>
        <p:nvSpPr>
          <p:cNvPr id="16" name="Rectangle 15"/>
          <p:cNvSpPr/>
          <p:nvPr/>
        </p:nvSpPr>
        <p:spPr>
          <a:xfrm>
            <a:off x="2801721"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18288" bIns="18288" anchor="t">
            <a:spAutoFit/>
          </a:bodyPr>
          <a:lstStyle/>
          <a:p>
            <a:pPr algn="l"/>
            <a:r>
              <a:rPr sz="1500" b="1" i="0">
                <a:solidFill>
                  <a:srgbClr val="D97A0B"/>
                </a:solidFill>
                <a:latin typeface="Abadi"/>
              </a:rPr>
              <a:t>Reflux</a:t>
            </a:r>
          </a:p>
        </p:txBody>
      </p:sp>
      <p:sp>
        <p:nvSpPr>
          <p:cNvPr id="19" name="TextBox 18"/>
          <p:cNvSpPr txBox="1"/>
          <p:nvPr/>
        </p:nvSpPr>
        <p:spPr>
          <a:xfrm>
            <a:off x="2948025" y="2505456"/>
            <a:ext cx="1777593"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Present in most infants</a:t>
            </a:r>
          </a:p>
          <a:p>
            <a:pPr algn="l">
              <a:spcAft>
                <a:spcPts val="300"/>
              </a:spcAft>
            </a:pPr>
            <a:r>
              <a:rPr sz="1150" b="0" i="0">
                <a:solidFill>
                  <a:srgbClr val="1A1A1A"/>
                </a:solidFill>
                <a:latin typeface="Abadi"/>
              </a:rPr>
              <a:t>▪  Mostly non-acid after feeds</a:t>
            </a:r>
          </a:p>
          <a:p>
            <a:pPr algn="l">
              <a:spcAft>
                <a:spcPts val="300"/>
              </a:spcAft>
            </a:pPr>
            <a:r>
              <a:rPr sz="1150" b="0" i="0">
                <a:solidFill>
                  <a:srgbClr val="1A1A1A"/>
                </a:solidFill>
                <a:latin typeface="Abadi"/>
              </a:rPr>
              <a:t>▪  Rarely times with apnoea</a:t>
            </a:r>
          </a:p>
        </p:txBody>
      </p:sp>
      <p:sp>
        <p:nvSpPr>
          <p:cNvPr id="20" name="Rectangle 19"/>
          <p:cNvSpPr/>
          <p:nvPr/>
        </p:nvSpPr>
        <p:spPr>
          <a:xfrm>
            <a:off x="5054803"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18288" bIns="18288" anchor="t">
            <a:spAutoFit/>
          </a:bodyPr>
          <a:lstStyle/>
          <a:p>
            <a:pPr algn="l"/>
            <a:r>
              <a:rPr sz="1500" b="1" i="0">
                <a:solidFill>
                  <a:srgbClr val="B22222"/>
                </a:solidFill>
                <a:latin typeface="Abadi"/>
              </a:rPr>
              <a:t>The swallow</a:t>
            </a:r>
          </a:p>
        </p:txBody>
      </p:sp>
      <p:sp>
        <p:nvSpPr>
          <p:cNvPr id="23" name="TextBox 22"/>
          <p:cNvSpPr txBox="1"/>
          <p:nvPr/>
        </p:nvSpPr>
        <p:spPr>
          <a:xfrm>
            <a:off x="5201107" y="2505456"/>
            <a:ext cx="1777593"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Dysphagia and aspiration</a:t>
            </a:r>
          </a:p>
          <a:p>
            <a:pPr algn="l">
              <a:spcAft>
                <a:spcPts val="300"/>
              </a:spcAft>
            </a:pPr>
            <a:r>
              <a:rPr sz="1150" b="0" i="0">
                <a:solidFill>
                  <a:srgbClr val="1A1A1A"/>
                </a:solidFill>
                <a:latin typeface="Abadi"/>
              </a:rPr>
              <a:t>▪  Often silent</a:t>
            </a:r>
          </a:p>
          <a:p>
            <a:pPr algn="l">
              <a:spcAft>
                <a:spcPts val="300"/>
              </a:spcAft>
            </a:pPr>
            <a:r>
              <a:rPr sz="1150" b="0" i="0">
                <a:solidFill>
                  <a:srgbClr val="1A1A1A"/>
                </a:solidFill>
                <a:latin typeface="Abadi"/>
              </a:rPr>
              <a:t>▪  High-yield in BRUE</a:t>
            </a:r>
          </a:p>
        </p:txBody>
      </p:sp>
      <p:sp>
        <p:nvSpPr>
          <p:cNvPr id="24" name="Rectangle 23"/>
          <p:cNvSpPr/>
          <p:nvPr/>
        </p:nvSpPr>
        <p:spPr>
          <a:xfrm>
            <a:off x="7307884"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18288" bIns="18288" anchor="t">
            <a:spAutoFit/>
          </a:bodyPr>
          <a:lstStyle/>
          <a:p>
            <a:pPr algn="l"/>
            <a:r>
              <a:rPr sz="1500" b="1" i="0">
                <a:solidFill>
                  <a:srgbClr val="7F7F7F"/>
                </a:solidFill>
                <a:latin typeface="Abadi"/>
              </a:rPr>
              <a:t>The mimics</a:t>
            </a:r>
          </a:p>
        </p:txBody>
      </p:sp>
      <p:sp>
        <p:nvSpPr>
          <p:cNvPr id="27" name="TextBox 26"/>
          <p:cNvSpPr txBox="1"/>
          <p:nvPr/>
        </p:nvSpPr>
        <p:spPr>
          <a:xfrm>
            <a:off x="7454188" y="2505456"/>
            <a:ext cx="1777593"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Seizures, infantile spasms</a:t>
            </a:r>
          </a:p>
          <a:p>
            <a:pPr algn="l">
              <a:spcAft>
                <a:spcPts val="300"/>
              </a:spcAft>
            </a:pPr>
            <a:r>
              <a:rPr sz="1150" b="0" i="0">
                <a:solidFill>
                  <a:srgbClr val="1A1A1A"/>
                </a:solidFill>
                <a:latin typeface="Abadi"/>
              </a:rPr>
              <a:t>▪  Airway, infection, abuse</a:t>
            </a:r>
          </a:p>
          <a:p>
            <a:pPr algn="l">
              <a:spcAft>
                <a:spcPts val="300"/>
              </a:spcAft>
            </a:pPr>
            <a:r>
              <a:rPr sz="1150" b="0" i="0">
                <a:solidFill>
                  <a:srgbClr val="1A1A1A"/>
                </a:solidFill>
                <a:latin typeface="Abadi"/>
              </a:rPr>
              <a:t>▪  Arrhythmia</a:t>
            </a:r>
          </a:p>
        </p:txBody>
      </p:sp>
      <p:sp>
        <p:nvSpPr>
          <p:cNvPr id="28" name="Rectangle 27"/>
          <p:cNvSpPr/>
          <p:nvPr/>
        </p:nvSpPr>
        <p:spPr>
          <a:xfrm>
            <a:off x="9560966"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18288" bIns="18288" anchor="t">
            <a:spAutoFit/>
          </a:bodyPr>
          <a:lstStyle/>
          <a:p>
            <a:pPr algn="l"/>
            <a:r>
              <a:rPr sz="1500" b="1" i="0">
                <a:solidFill>
                  <a:srgbClr val="1E7A33"/>
                </a:solidFill>
                <a:latin typeface="Abadi"/>
              </a:rPr>
              <a:t>Sandifer</a:t>
            </a:r>
          </a:p>
        </p:txBody>
      </p:sp>
      <p:sp>
        <p:nvSpPr>
          <p:cNvPr id="31" name="TextBox 30"/>
          <p:cNvSpPr txBox="1"/>
          <p:nvPr/>
        </p:nvSpPr>
        <p:spPr>
          <a:xfrm>
            <a:off x="9707270" y="2505456"/>
            <a:ext cx="1777593"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Reflux you can see</a:t>
            </a:r>
          </a:p>
          <a:p>
            <a:pPr algn="l">
              <a:spcAft>
                <a:spcPts val="300"/>
              </a:spcAft>
            </a:pPr>
            <a:r>
              <a:rPr sz="1150" b="0" i="0">
                <a:solidFill>
                  <a:srgbClr val="1A1A1A"/>
                </a:solidFill>
                <a:latin typeface="Abadi"/>
              </a:rPr>
              <a:t>▪  Neck extension and rotation</a:t>
            </a:r>
          </a:p>
          <a:p>
            <a:pPr algn="l">
              <a:spcAft>
                <a:spcPts val="300"/>
              </a:spcAft>
            </a:pPr>
            <a:r>
              <a:rPr sz="1150" b="0" i="0">
                <a:solidFill>
                  <a:srgbClr val="1A1A1A"/>
                </a:solidFill>
                <a:latin typeface="Abadi"/>
              </a:rPr>
              <a:t>▪  Resolves with treatment</a:t>
            </a:r>
          </a:p>
        </p:txBody>
      </p:sp>
      <p:sp>
        <p:nvSpPr>
          <p:cNvPr id="32" name="TextBox 31"/>
          <p:cNvSpPr txBox="1"/>
          <p:nvPr/>
        </p:nvSpPr>
        <p:spPr>
          <a:xfrm>
            <a:off x="548640" y="4114800"/>
            <a:ext cx="11082528" cy="169164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The main idea.  </a:t>
            </a:r>
            <a:r>
              <a:rPr sz="1250" b="0" i="0">
                <a:solidFill>
                  <a:srgbClr val="1A1A1A"/>
                </a:solidFill>
                <a:latin typeface="Abadi"/>
              </a:rPr>
              <a:t>Reflux and apnoea are both common in infants and almost never coincide in time. In a lower-risk BRUE the AAP advises against reflux testing and acid suppression; the evidence points instead to swallowing, and to the few serious diagnoses that reflux labels hide.</a:t>
            </a:r>
          </a:p>
          <a:p>
            <a:pPr algn="l">
              <a:spcAft>
                <a:spcPts val="600"/>
              </a:spcAft>
            </a:pPr>
            <a:r>
              <a:rPr sz="1250" b="1" i="0">
                <a:solidFill>
                  <a:srgbClr val="B22222"/>
                </a:solidFill>
                <a:latin typeface="Abadi"/>
              </a:rPr>
              <a:t>The clinical stake.  </a:t>
            </a:r>
            <a:r>
              <a:rPr sz="1250" b="0" i="0">
                <a:solidFill>
                  <a:srgbClr val="1A1A1A"/>
                </a:solidFill>
                <a:latin typeface="Abadi"/>
              </a:rPr>
              <a:t>A reflux label ends the search: it starts PPIs that do not work, delays a swallow study that would, and can hide epilepsy or abuse.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DEFINITIONS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FROM ALTE TO BRUE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The 2016 AAP guideline replaced a frightening description with a diagnosis of exclusion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JS, et al. Pediatrics 2016;137:e20160590</a:t>
            </a:r>
          </a:p>
        </p:txBody>
      </p:sp>
      <p:sp>
        <p:nvSpPr>
          <p:cNvPr id="12" name="Rectangle 11"/>
          <p:cNvSpPr/>
          <p:nvPr/>
        </p:nvSpPr>
        <p:spPr>
          <a:xfrm>
            <a:off x="548640" y="1773936"/>
            <a:ext cx="2551176" cy="16002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51176"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2368296" cy="274320"/>
          </a:xfrm>
          <a:prstGeom prst="rect">
            <a:avLst/>
          </a:prstGeom>
          <a:noFill/>
        </p:spPr>
        <p:txBody>
          <a:bodyPr wrap="square" lIns="0" rIns="0" tIns="18288" bIns="18288" anchor="ctr">
            <a:spAutoFit/>
          </a:bodyPr>
          <a:lstStyle/>
          <a:p>
            <a:pPr algn="l"/>
            <a:r>
              <a:rPr sz="1050" b="1" i="0">
                <a:solidFill>
                  <a:srgbClr val="FFFFFF"/>
                </a:solidFill>
                <a:latin typeface="Abadi"/>
              </a:rPr>
              <a:t>Age and duration</a:t>
            </a:r>
          </a:p>
        </p:txBody>
      </p:sp>
      <p:sp>
        <p:nvSpPr>
          <p:cNvPr id="15" name="TextBox 14"/>
          <p:cNvSpPr txBox="1"/>
          <p:nvPr/>
        </p:nvSpPr>
        <p:spPr>
          <a:xfrm>
            <a:off x="658368" y="2185416"/>
            <a:ext cx="2331720" cy="1143000"/>
          </a:xfrm>
          <a:prstGeom prst="rect">
            <a:avLst/>
          </a:prstGeom>
          <a:noFill/>
        </p:spPr>
        <p:txBody>
          <a:bodyPr wrap="square" lIns="0" rIns="0" tIns="18288" bIns="18288" anchor="t">
            <a:spAutoFit/>
          </a:bodyPr>
          <a:lstStyle/>
          <a:p>
            <a:pPr algn="l"/>
            <a:r>
              <a:rPr sz="1050" b="0" i="0">
                <a:solidFill>
                  <a:srgbClr val="1A1A1A"/>
                </a:solidFill>
                <a:latin typeface="Abadi"/>
              </a:rPr>
              <a:t>Infant under 1 year; event under 1 minute, typically under 20–30 seconds.</a:t>
            </a:r>
          </a:p>
        </p:txBody>
      </p:sp>
      <p:sp>
        <p:nvSpPr>
          <p:cNvPr id="16" name="TextBox 15"/>
          <p:cNvSpPr txBox="1"/>
          <p:nvPr/>
        </p:nvSpPr>
        <p:spPr>
          <a:xfrm>
            <a:off x="3099816" y="23911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17" name="Rectangle 16"/>
          <p:cNvSpPr/>
          <p:nvPr/>
        </p:nvSpPr>
        <p:spPr>
          <a:xfrm>
            <a:off x="3392424" y="1773936"/>
            <a:ext cx="2551176" cy="16002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2424" y="1773936"/>
            <a:ext cx="2551176"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1792224"/>
            <a:ext cx="2368296" cy="274320"/>
          </a:xfrm>
          <a:prstGeom prst="rect">
            <a:avLst/>
          </a:prstGeom>
          <a:noFill/>
        </p:spPr>
        <p:txBody>
          <a:bodyPr wrap="square" lIns="0" rIns="0" tIns="18288" bIns="18288" anchor="ctr">
            <a:spAutoFit/>
          </a:bodyPr>
          <a:lstStyle/>
          <a:p>
            <a:pPr algn="l"/>
            <a:r>
              <a:rPr sz="1050" b="1" i="0">
                <a:solidFill>
                  <a:srgbClr val="FFFFFF"/>
                </a:solidFill>
                <a:latin typeface="Abadi"/>
              </a:rPr>
              <a:t>At least one of</a:t>
            </a:r>
          </a:p>
        </p:txBody>
      </p:sp>
      <p:sp>
        <p:nvSpPr>
          <p:cNvPr id="20" name="TextBox 19"/>
          <p:cNvSpPr txBox="1"/>
          <p:nvPr/>
        </p:nvSpPr>
        <p:spPr>
          <a:xfrm>
            <a:off x="3502152" y="2185416"/>
            <a:ext cx="2331720" cy="1143000"/>
          </a:xfrm>
          <a:prstGeom prst="rect">
            <a:avLst/>
          </a:prstGeom>
          <a:noFill/>
        </p:spPr>
        <p:txBody>
          <a:bodyPr wrap="square" lIns="0" rIns="0" tIns="18288" bIns="18288" anchor="t">
            <a:spAutoFit/>
          </a:bodyPr>
          <a:lstStyle/>
          <a:p>
            <a:pPr algn="l"/>
            <a:r>
              <a:rPr sz="1050" b="0" i="0">
                <a:solidFill>
                  <a:srgbClr val="1A1A1A"/>
                </a:solidFill>
                <a:latin typeface="Abadi"/>
              </a:rPr>
              <a:t>Cyanosis or pallor; absent, decreased or irregular breathing; marked change in tone; altered responsiveness.</a:t>
            </a:r>
          </a:p>
        </p:txBody>
      </p:sp>
      <p:sp>
        <p:nvSpPr>
          <p:cNvPr id="21" name="TextBox 20"/>
          <p:cNvSpPr txBox="1"/>
          <p:nvPr/>
        </p:nvSpPr>
        <p:spPr>
          <a:xfrm>
            <a:off x="5943600" y="23911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2" name="Rectangle 21"/>
          <p:cNvSpPr/>
          <p:nvPr/>
        </p:nvSpPr>
        <p:spPr>
          <a:xfrm>
            <a:off x="6236207" y="1773936"/>
            <a:ext cx="2551176" cy="16002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7" y="1773936"/>
            <a:ext cx="2551176"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7" y="1792224"/>
            <a:ext cx="2368296" cy="274320"/>
          </a:xfrm>
          <a:prstGeom prst="rect">
            <a:avLst/>
          </a:prstGeom>
          <a:noFill/>
        </p:spPr>
        <p:txBody>
          <a:bodyPr wrap="square" lIns="0" rIns="0" tIns="18288" bIns="18288" anchor="ctr">
            <a:spAutoFit/>
          </a:bodyPr>
          <a:lstStyle/>
          <a:p>
            <a:pPr algn="l"/>
            <a:r>
              <a:rPr sz="1050" b="1" i="0">
                <a:solidFill>
                  <a:srgbClr val="FFFFFF"/>
                </a:solidFill>
                <a:latin typeface="Abadi"/>
              </a:rPr>
              <a:t>Resolved</a:t>
            </a:r>
          </a:p>
        </p:txBody>
      </p:sp>
      <p:sp>
        <p:nvSpPr>
          <p:cNvPr id="25" name="TextBox 24"/>
          <p:cNvSpPr txBox="1"/>
          <p:nvPr/>
        </p:nvSpPr>
        <p:spPr>
          <a:xfrm>
            <a:off x="6345936" y="2185416"/>
            <a:ext cx="2331720" cy="1143000"/>
          </a:xfrm>
          <a:prstGeom prst="rect">
            <a:avLst/>
          </a:prstGeom>
          <a:noFill/>
        </p:spPr>
        <p:txBody>
          <a:bodyPr wrap="square" lIns="0" rIns="0" tIns="18288" bIns="18288" anchor="t">
            <a:spAutoFit/>
          </a:bodyPr>
          <a:lstStyle/>
          <a:p>
            <a:pPr algn="l"/>
            <a:r>
              <a:rPr sz="1050" b="0" i="0">
                <a:solidFill>
                  <a:srgbClr val="1A1A1A"/>
                </a:solidFill>
                <a:latin typeface="Abadi"/>
              </a:rPr>
              <a:t>Back to baseline, with normal vital signs and examination at presentation.</a:t>
            </a:r>
          </a:p>
        </p:txBody>
      </p:sp>
      <p:sp>
        <p:nvSpPr>
          <p:cNvPr id="26" name="TextBox 25"/>
          <p:cNvSpPr txBox="1"/>
          <p:nvPr/>
        </p:nvSpPr>
        <p:spPr>
          <a:xfrm>
            <a:off x="8787384" y="23911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7" name="Rectangle 26"/>
          <p:cNvSpPr/>
          <p:nvPr/>
        </p:nvSpPr>
        <p:spPr>
          <a:xfrm>
            <a:off x="9079992" y="1773936"/>
            <a:ext cx="2551176" cy="16002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79992" y="1773936"/>
            <a:ext cx="2551176"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71432" y="1792224"/>
            <a:ext cx="2368296" cy="274320"/>
          </a:xfrm>
          <a:prstGeom prst="rect">
            <a:avLst/>
          </a:prstGeom>
          <a:noFill/>
        </p:spPr>
        <p:txBody>
          <a:bodyPr wrap="square" lIns="0" rIns="0" tIns="18288" bIns="18288" anchor="ctr">
            <a:spAutoFit/>
          </a:bodyPr>
          <a:lstStyle/>
          <a:p>
            <a:pPr algn="l"/>
            <a:r>
              <a:rPr sz="1050" b="1" i="0">
                <a:solidFill>
                  <a:srgbClr val="FFFFFF"/>
                </a:solidFill>
                <a:latin typeface="Abadi"/>
              </a:rPr>
              <a:t>Unexplained</a:t>
            </a:r>
          </a:p>
        </p:txBody>
      </p:sp>
      <p:sp>
        <p:nvSpPr>
          <p:cNvPr id="30" name="TextBox 29"/>
          <p:cNvSpPr txBox="1"/>
          <p:nvPr/>
        </p:nvSpPr>
        <p:spPr>
          <a:xfrm>
            <a:off x="9189719" y="2185416"/>
            <a:ext cx="2331720" cy="1143000"/>
          </a:xfrm>
          <a:prstGeom prst="rect">
            <a:avLst/>
          </a:prstGeom>
          <a:noFill/>
        </p:spPr>
        <p:txBody>
          <a:bodyPr wrap="square" lIns="0" rIns="0" tIns="18288" bIns="18288" anchor="t">
            <a:spAutoFit/>
          </a:bodyPr>
          <a:lstStyle/>
          <a:p>
            <a:pPr algn="l"/>
            <a:r>
              <a:rPr sz="1050" b="0" i="0">
                <a:solidFill>
                  <a:srgbClr val="1A1A1A"/>
                </a:solidFill>
                <a:latin typeface="Abadi"/>
              </a:rPr>
              <a:t>No cause after a careful history and examination.</a:t>
            </a:r>
          </a:p>
        </p:txBody>
      </p:sp>
      <p:sp>
        <p:nvSpPr>
          <p:cNvPr id="31" name="TextBox 30"/>
          <p:cNvSpPr txBox="1"/>
          <p:nvPr/>
        </p:nvSpPr>
        <p:spPr>
          <a:xfrm>
            <a:off x="548640" y="3657600"/>
            <a:ext cx="11082528" cy="182880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The key word.  </a:t>
            </a:r>
            <a:r>
              <a:rPr sz="1250" b="0" i="0">
                <a:solidFill>
                  <a:srgbClr val="1A1A1A"/>
                </a:solidFill>
                <a:latin typeface="Abadi"/>
              </a:rPr>
              <a:t>If the history explains the event, it is not a BRUE. Witnessed regurgitation with choking, gagging or coughing during or after a feed is a reflux or feeding event, managed as such; red face alone is not a BRUE feature.</a:t>
            </a:r>
          </a:p>
          <a:p>
            <a:pPr algn="l">
              <a:spcAft>
                <a:spcPts val="600"/>
              </a:spcAft>
            </a:pPr>
            <a:r>
              <a:rPr sz="1250" b="1" i="0">
                <a:solidFill>
                  <a:srgbClr val="B22222"/>
                </a:solidFill>
                <a:latin typeface="Abadi"/>
              </a:rPr>
              <a:t>Why it matters here.  </a:t>
            </a:r>
            <a:r>
              <a:rPr sz="1250" b="0" i="0">
                <a:solidFill>
                  <a:srgbClr val="1A1A1A"/>
                </a:solidFill>
                <a:latin typeface="Abadi"/>
              </a:rPr>
              <a:t>Because reflux is excluded by definition when it clearly explains the event, the BRUE question is about hidden reflux, and that is the link the evidence fails to find.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RISK STRATIFICATION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SIX CRITERIA, AND MOST BABIES FAIL THEM</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AAP lower-risk criteria and what happened to 1,042 infants with BRUE in 11 Canadian hospitals,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2016 · Mahant S, et al. BMJ Paediatr Open 2024;8:e002525</a:t>
            </a:r>
          </a:p>
        </p:txBody>
      </p:sp>
      <p:sp>
        <p:nvSpPr>
          <p:cNvPr id="12" name="TextBox 11"/>
          <p:cNvSpPr txBox="1"/>
          <p:nvPr/>
        </p:nvSpPr>
        <p:spPr>
          <a:xfrm>
            <a:off x="548640" y="1810512"/>
            <a:ext cx="3291840" cy="3931920"/>
          </a:xfrm>
          <a:prstGeom prst="rect">
            <a:avLst/>
          </a:prstGeom>
          <a:noFill/>
        </p:spPr>
        <p:txBody>
          <a:bodyPr wrap="square" lIns="0" rIns="0" tIns="18288" bIns="18288" anchor="t">
            <a:spAutoFit/>
          </a:bodyPr>
          <a:lstStyle/>
          <a:p>
            <a:pPr algn="l">
              <a:spcAft>
                <a:spcPts val="500"/>
              </a:spcAft>
            </a:pPr>
            <a:r>
              <a:rPr sz="1500" b="1" i="0">
                <a:solidFill>
                  <a:srgbClr val="1B355E"/>
                </a:solidFill>
                <a:latin typeface="Abadi"/>
              </a:rPr>
              <a:t>Lower risk requires all six</a:t>
            </a:r>
          </a:p>
          <a:p>
            <a:pPr algn="l">
              <a:spcAft>
                <a:spcPts val="500"/>
              </a:spcAft>
            </a:pPr>
            <a:r>
              <a:rPr sz="1150" b="0" i="0">
                <a:solidFill>
                  <a:srgbClr val="1A1A1A"/>
                </a:solidFill>
                <a:latin typeface="Abadi"/>
              </a:rPr>
              <a:t>▪  Age over 60 days</a:t>
            </a:r>
          </a:p>
          <a:p>
            <a:pPr algn="l">
              <a:spcAft>
                <a:spcPts val="500"/>
              </a:spcAft>
            </a:pPr>
            <a:r>
              <a:rPr sz="1150" b="0" i="0">
                <a:solidFill>
                  <a:srgbClr val="1A1A1A"/>
                </a:solidFill>
                <a:latin typeface="Abadi"/>
              </a:rPr>
              <a:t>▪  Born at 32 weeks or later and corrected age 45 weeks or more</a:t>
            </a:r>
          </a:p>
          <a:p>
            <a:pPr algn="l">
              <a:spcAft>
                <a:spcPts val="500"/>
              </a:spcAft>
            </a:pPr>
            <a:r>
              <a:rPr sz="1150" b="0" i="0">
                <a:solidFill>
                  <a:srgbClr val="1A1A1A"/>
                </a:solidFill>
                <a:latin typeface="Abadi"/>
              </a:rPr>
              <a:t>▪  No CPR by a trained provider</a:t>
            </a:r>
          </a:p>
          <a:p>
            <a:pPr algn="l">
              <a:spcAft>
                <a:spcPts val="500"/>
              </a:spcAft>
            </a:pPr>
            <a:r>
              <a:rPr sz="1150" b="0" i="0">
                <a:solidFill>
                  <a:srgbClr val="1A1A1A"/>
                </a:solidFill>
                <a:latin typeface="Abadi"/>
              </a:rPr>
              <a:t>▪  First event</a:t>
            </a:r>
          </a:p>
          <a:p>
            <a:pPr algn="l">
              <a:spcAft>
                <a:spcPts val="500"/>
              </a:spcAft>
            </a:pPr>
            <a:r>
              <a:rPr sz="1150" b="0" i="0">
                <a:solidFill>
                  <a:srgbClr val="1A1A1A"/>
                </a:solidFill>
                <a:latin typeface="Abadi"/>
              </a:rPr>
              <a:t>▪  Lasted under 1 minute</a:t>
            </a:r>
          </a:p>
          <a:p>
            <a:pPr algn="l">
              <a:spcAft>
                <a:spcPts val="500"/>
              </a:spcAft>
            </a:pPr>
            <a:r>
              <a:rPr sz="1150" b="0" i="0">
                <a:solidFill>
                  <a:srgbClr val="1A1A1A"/>
                </a:solidFill>
                <a:latin typeface="Abadi"/>
              </a:rPr>
              <a:t>▪  No concerning history or examination</a:t>
            </a:r>
          </a:p>
        </p:txBody>
      </p:sp>
      <p:sp>
        <p:nvSpPr>
          <p:cNvPr id="13" name="TextBox 12"/>
          <p:cNvSpPr txBox="1"/>
          <p:nvPr/>
        </p:nvSpPr>
        <p:spPr>
          <a:xfrm>
            <a:off x="4114800" y="18288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Higher risk by AAP criteria</a:t>
            </a:r>
          </a:p>
        </p:txBody>
      </p:sp>
      <p:sp>
        <p:nvSpPr>
          <p:cNvPr id="14" name="Rectangle 13"/>
          <p:cNvSpPr/>
          <p:nvPr/>
        </p:nvSpPr>
        <p:spPr>
          <a:xfrm>
            <a:off x="6492240" y="1911095"/>
            <a:ext cx="2744663"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1767" y="18288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93.8%</a:t>
            </a:r>
          </a:p>
        </p:txBody>
      </p:sp>
      <p:sp>
        <p:nvSpPr>
          <p:cNvPr id="16" name="TextBox 15"/>
          <p:cNvSpPr txBox="1"/>
          <p:nvPr/>
        </p:nvSpPr>
        <p:spPr>
          <a:xfrm>
            <a:off x="4114800" y="22860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Hospitalised</a:t>
            </a:r>
          </a:p>
        </p:txBody>
      </p:sp>
      <p:sp>
        <p:nvSpPr>
          <p:cNvPr id="17" name="Rectangle 16"/>
          <p:cNvSpPr/>
          <p:nvPr/>
        </p:nvSpPr>
        <p:spPr>
          <a:xfrm>
            <a:off x="6492240" y="2368296"/>
            <a:ext cx="1866839"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3943" y="22860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63.8%</a:t>
            </a:r>
          </a:p>
        </p:txBody>
      </p:sp>
      <p:sp>
        <p:nvSpPr>
          <p:cNvPr id="19" name="TextBox 18"/>
          <p:cNvSpPr txBox="1"/>
          <p:nvPr/>
        </p:nvSpPr>
        <p:spPr>
          <a:xfrm>
            <a:off x="4114800" y="27432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No explanatory diagnosis</a:t>
            </a:r>
          </a:p>
        </p:txBody>
      </p:sp>
      <p:sp>
        <p:nvSpPr>
          <p:cNvPr id="20" name="Rectangle 19"/>
          <p:cNvSpPr/>
          <p:nvPr/>
        </p:nvSpPr>
        <p:spPr>
          <a:xfrm>
            <a:off x="6492240" y="2825496"/>
            <a:ext cx="1547896"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5000" y="27432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52.9%</a:t>
            </a:r>
          </a:p>
        </p:txBody>
      </p:sp>
      <p:sp>
        <p:nvSpPr>
          <p:cNvPr id="22" name="TextBox 21"/>
          <p:cNvSpPr txBox="1"/>
          <p:nvPr/>
        </p:nvSpPr>
        <p:spPr>
          <a:xfrm>
            <a:off x="4114800" y="32004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Labelled GER (non-serious)</a:t>
            </a:r>
          </a:p>
        </p:txBody>
      </p:sp>
      <p:sp>
        <p:nvSpPr>
          <p:cNvPr id="23" name="Rectangle 22"/>
          <p:cNvSpPr/>
          <p:nvPr/>
        </p:nvSpPr>
        <p:spPr>
          <a:xfrm>
            <a:off x="6492240" y="3282696"/>
            <a:ext cx="752002"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9106" y="32004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25.7%</a:t>
            </a:r>
          </a:p>
        </p:txBody>
      </p:sp>
      <p:sp>
        <p:nvSpPr>
          <p:cNvPr id="25" name="TextBox 24"/>
          <p:cNvSpPr txBox="1"/>
          <p:nvPr/>
        </p:nvSpPr>
        <p:spPr>
          <a:xfrm>
            <a:off x="4114800" y="36576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Serious underlying diagnosis</a:t>
            </a:r>
          </a:p>
        </p:txBody>
      </p:sp>
      <p:sp>
        <p:nvSpPr>
          <p:cNvPr id="26" name="Rectangle 25"/>
          <p:cNvSpPr/>
          <p:nvPr/>
        </p:nvSpPr>
        <p:spPr>
          <a:xfrm>
            <a:off x="6492240" y="3739896"/>
            <a:ext cx="222382"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9486" y="36576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7.6%</a:t>
            </a:r>
          </a:p>
        </p:txBody>
      </p:sp>
      <p:sp>
        <p:nvSpPr>
          <p:cNvPr id="28" name="TextBox 27"/>
          <p:cNvSpPr txBox="1"/>
          <p:nvPr/>
        </p:nvSpPr>
        <p:spPr>
          <a:xfrm>
            <a:off x="4114800" y="4114800"/>
            <a:ext cx="2286000" cy="457200"/>
          </a:xfrm>
          <a:prstGeom prst="rect">
            <a:avLst/>
          </a:prstGeom>
          <a:noFill/>
        </p:spPr>
        <p:txBody>
          <a:bodyPr wrap="square" lIns="0" rIns="0" tIns="18288" bIns="18288" anchor="ctr">
            <a:spAutoFit/>
          </a:bodyPr>
          <a:lstStyle/>
          <a:p>
            <a:pPr algn="l"/>
            <a:r>
              <a:rPr sz="1000" b="0" i="0">
                <a:solidFill>
                  <a:srgbClr val="1A1A1A"/>
                </a:solidFill>
                <a:latin typeface="Abadi"/>
              </a:rPr>
              <a:t>Epilepsy or infantile spasms</a:t>
            </a:r>
          </a:p>
        </p:txBody>
      </p:sp>
      <p:sp>
        <p:nvSpPr>
          <p:cNvPr id="29" name="Rectangle 28"/>
          <p:cNvSpPr/>
          <p:nvPr/>
        </p:nvSpPr>
        <p:spPr>
          <a:xfrm>
            <a:off x="6492240" y="4197096"/>
            <a:ext cx="58521"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5625" y="4114800"/>
            <a:ext cx="1737360" cy="457200"/>
          </a:xfrm>
          <a:prstGeom prst="rect">
            <a:avLst/>
          </a:prstGeom>
          <a:noFill/>
        </p:spPr>
        <p:txBody>
          <a:bodyPr wrap="square" lIns="0" rIns="0" tIns="18288" bIns="18288" anchor="ctr">
            <a:spAutoFit/>
          </a:bodyPr>
          <a:lstStyle/>
          <a:p>
            <a:pPr algn="l"/>
            <a:r>
              <a:rPr sz="1000" b="1" i="0">
                <a:solidFill>
                  <a:srgbClr val="1A1A1A"/>
                </a:solidFill>
                <a:latin typeface="Abadi"/>
              </a:rPr>
              <a:t>2.0%</a:t>
            </a:r>
          </a:p>
        </p:txBody>
      </p:sp>
      <p:sp>
        <p:nvSpPr>
          <p:cNvPr id="31" name="TextBox 30"/>
          <p:cNvSpPr txBox="1"/>
          <p:nvPr/>
        </p:nvSpPr>
        <p:spPr>
          <a:xfrm>
            <a:off x="9829800" y="1783080"/>
            <a:ext cx="1801368" cy="3931920"/>
          </a:xfrm>
          <a:prstGeom prst="rect">
            <a:avLst/>
          </a:prstGeom>
          <a:noFill/>
        </p:spPr>
        <p:txBody>
          <a:bodyPr wrap="square" lIns="0" rIns="0" tIns="18288" bIns="18288" anchor="t">
            <a:spAutoFit/>
          </a:bodyPr>
          <a:lstStyle/>
          <a:p>
            <a:pPr algn="l">
              <a:spcAft>
                <a:spcPts val="400"/>
              </a:spcAft>
            </a:pPr>
            <a:r>
              <a:rPr sz="1500" b="1" i="0">
                <a:solidFill>
                  <a:srgbClr val="1B355E"/>
                </a:solidFill>
                <a:latin typeface="Abadi"/>
              </a:rPr>
              <a:t>The paradox</a:t>
            </a:r>
          </a:p>
          <a:p>
            <a:pPr algn="l">
              <a:spcAft>
                <a:spcPts val="400"/>
              </a:spcAft>
            </a:pPr>
            <a:r>
              <a:rPr sz="1050" b="0" i="0">
                <a:solidFill>
                  <a:srgbClr val="555555"/>
                </a:solidFill>
                <a:latin typeface="Abadi"/>
              </a:rPr>
              <a:t>Criteria meant to spare testing labelled 94% higher risk; 82% had tests.</a:t>
            </a:r>
          </a:p>
          <a:p>
            <a:pPr algn="l">
              <a:spcAft>
                <a:spcPts val="400"/>
              </a:spcAft>
            </a:pPr>
            <a:r>
              <a:rPr sz="1500" b="1" i="0">
                <a:solidFill>
                  <a:srgbClr val="1B355E"/>
                </a:solidFill>
                <a:latin typeface="Abadi"/>
              </a:rPr>
              <a:t>What was serious</a:t>
            </a:r>
          </a:p>
          <a:p>
            <a:pPr algn="l">
              <a:spcAft>
                <a:spcPts val="400"/>
              </a:spcAft>
            </a:pPr>
            <a:r>
              <a:rPr sz="1050" b="0" i="0">
                <a:solidFill>
                  <a:srgbClr val="555555"/>
                </a:solidFill>
                <a:latin typeface="Abadi"/>
              </a:rPr>
              <a:t>Epilepsy led; no invasive bacterial infection, arrhythmia or metabolic disease found.</a:t>
            </a:r>
          </a:p>
          <a:p>
            <a:pPr algn="l">
              <a:spcAft>
                <a:spcPts val="400"/>
              </a:spcAft>
            </a:pPr>
            <a:r>
              <a:rPr sz="1500" b="1" i="0">
                <a:solidFill>
                  <a:srgbClr val="1B355E"/>
                </a:solidFill>
                <a:latin typeface="Abadi"/>
              </a:rPr>
              <a:t>Reflux</a:t>
            </a:r>
          </a:p>
          <a:p>
            <a:pPr algn="l">
              <a:spcAft>
                <a:spcPts val="400"/>
              </a:spcAft>
            </a:pPr>
            <a:r>
              <a:rPr sz="1050" b="0" i="0">
                <a:solidFill>
                  <a:srgbClr val="555555"/>
                </a:solidFill>
                <a:latin typeface="Abadi"/>
              </a:rPr>
              <a:t>The commonest label, and by definition not serious.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THE AAP GUIDELINE</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WHAT THE LOWER-RISK PATHWAY SAYS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Key action statements for lower-risk BRUE, grouped by strength; the first two are the reflux statements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JS, et al. Pediatrics 2016;137:e20160590 · AAFP summary, Am Fam Physician 2017;95:330</a:t>
            </a:r>
          </a:p>
        </p:txBody>
      </p:sp>
      <p:graphicFrame>
        <p:nvGraphicFramePr>
          <p:cNvPr id="12" name="Table 11"/>
          <p:cNvGraphicFramePr>
            <a:graphicFrameLocks noGrp="1"/>
          </p:cNvGraphicFramePr>
          <p:nvPr/>
        </p:nvGraphicFramePr>
        <p:xfrm>
          <a:off x="548640" y="1783080"/>
          <a:ext cx="11082528" cy="3291840"/>
        </p:xfrm>
        <a:graphic>
          <a:graphicData uri="http://schemas.openxmlformats.org/drawingml/2006/table">
            <a:tbl>
              <a:tblPr firstRow="1" bandRow="1">
                <a:tableStyleId>{5C22544A-7EE6-4342-B048-85BDC9FD1C3A}</a:tableStyleId>
              </a:tblPr>
              <a:tblGrid>
                <a:gridCol w="4572000"/>
                <a:gridCol w="3291840"/>
                <a:gridCol w="3218688"/>
              </a:tblGrid>
              <a:tr h="548640">
                <a:tc>
                  <a:txBody>
                    <a:bodyPr wrap="square"/>
                    <a:lstStyle/>
                    <a:p>
                      <a:r>
                        <a:rPr sz="1050" b="1">
                          <a:solidFill>
                            <a:srgbClr val="FFFFFF"/>
                          </a:solidFill>
                          <a:latin typeface="Abadi"/>
                        </a:rPr>
                        <a:t>Should not</a:t>
                      </a:r>
                    </a:p>
                  </a:txBody>
                  <a:tcPr marL="73152" marR="73152" marT="27432" marB="27432" anchor="ctr">
                    <a:solidFill>
                      <a:srgbClr val="1B355E"/>
                    </a:solidFill>
                  </a:tcPr>
                </a:tc>
                <a:tc>
                  <a:txBody>
                    <a:bodyPr wrap="square"/>
                    <a:lstStyle/>
                    <a:p>
                      <a:r>
                        <a:rPr sz="1050" b="1">
                          <a:solidFill>
                            <a:srgbClr val="FFFFFF"/>
                          </a:solidFill>
                          <a:latin typeface="Abadi"/>
                        </a:rPr>
                        <a:t>May</a:t>
                      </a:r>
                    </a:p>
                  </a:txBody>
                  <a:tcPr marL="73152" marR="73152" marT="27432" marB="27432" anchor="ctr">
                    <a:solidFill>
                      <a:srgbClr val="1B355E"/>
                    </a:solidFill>
                  </a:tcPr>
                </a:tc>
                <a:tc>
                  <a:txBody>
                    <a:bodyPr wrap="square"/>
                    <a:lstStyle/>
                    <a:p>
                      <a:r>
                        <a:rPr sz="1050" b="1">
                          <a:solidFill>
                            <a:srgbClr val="FFFFFF"/>
                          </a:solidFill>
                          <a:latin typeface="Abadi"/>
                        </a:rPr>
                        <a:t>Should</a:t>
                      </a:r>
                    </a:p>
                  </a:txBody>
                  <a:tcPr marL="73152" marR="73152" marT="27432" marB="27432" anchor="ctr">
                    <a:solidFill>
                      <a:srgbClr val="1B355E"/>
                    </a:solidFill>
                  </a:tcPr>
                </a:tc>
              </a:tr>
              <a:tr h="548640">
                <a:tc>
                  <a:txBody>
                    <a:bodyPr wrap="square"/>
                    <a:lstStyle/>
                    <a:p>
                      <a:r>
                        <a:rPr sz="1050" b="1">
                          <a:solidFill>
                            <a:srgbClr val="1A1A1A"/>
                          </a:solidFill>
                          <a:latin typeface="Abadi"/>
                        </a:rPr>
                        <a:t>Investigate for GER (pH probe, impedance, endoscopy, contrast, scintigraphy, ultrasound)</a:t>
                      </a:r>
                    </a:p>
                  </a:txBody>
                  <a:tcPr marL="73152" marR="73152" marT="27432" marB="27432" anchor="ctr">
                    <a:solidFill>
                      <a:srgbClr val="FFFFFF"/>
                    </a:solidFill>
                  </a:tcPr>
                </a:tc>
                <a:tc>
                  <a:txBody>
                    <a:bodyPr wrap="square"/>
                    <a:lstStyle/>
                    <a:p>
                      <a:r>
                        <a:rPr sz="1050" b="0">
                          <a:solidFill>
                            <a:srgbClr val="1A1A1A"/>
                          </a:solidFill>
                          <a:latin typeface="Abadi"/>
                        </a:rPr>
                        <a:t>Brief observation, 1–4 h, with continuous pulse oximetry</a:t>
                      </a:r>
                    </a:p>
                  </a:txBody>
                  <a:tcPr marL="73152" marR="73152" marT="27432" marB="27432" anchor="ctr">
                    <a:solidFill>
                      <a:srgbClr val="FFFFFF"/>
                    </a:solidFill>
                  </a:tcPr>
                </a:tc>
                <a:tc>
                  <a:txBody>
                    <a:bodyPr wrap="square"/>
                    <a:lstStyle/>
                    <a:p>
                      <a:r>
                        <a:rPr sz="1050" b="0">
                          <a:solidFill>
                            <a:srgbClr val="1A1A1A"/>
                          </a:solidFill>
                          <a:latin typeface="Abadi"/>
                        </a:rPr>
                        <a:t>Educate caregivers about BRUE</a:t>
                      </a:r>
                    </a:p>
                  </a:txBody>
                  <a:tcPr marL="73152" marR="73152" marT="27432" marB="27432" anchor="ctr">
                    <a:solidFill>
                      <a:srgbClr val="FFFFFF"/>
                    </a:solidFill>
                  </a:tcPr>
                </a:tc>
              </a:tr>
              <a:tr h="548640">
                <a:tc>
                  <a:txBody>
                    <a:bodyPr wrap="square"/>
                    <a:lstStyle/>
                    <a:p>
                      <a:r>
                        <a:rPr sz="1050" b="1">
                          <a:solidFill>
                            <a:srgbClr val="1A1A1A"/>
                          </a:solidFill>
                          <a:latin typeface="Abadi"/>
                        </a:rPr>
                        <a:t>Prescribe acid suppression</a:t>
                      </a:r>
                    </a:p>
                  </a:txBody>
                  <a:tcPr marL="73152" marR="73152" marT="27432" marB="27432" anchor="ctr">
                    <a:solidFill>
                      <a:srgbClr val="F2F4F7"/>
                    </a:solidFill>
                  </a:tcPr>
                </a:tc>
                <a:tc>
                  <a:txBody>
                    <a:bodyPr wrap="square"/>
                    <a:lstStyle/>
                    <a:p>
                      <a:r>
                        <a:rPr sz="1050" b="0">
                          <a:solidFill>
                            <a:srgbClr val="1A1A1A"/>
                          </a:solidFill>
                          <a:latin typeface="Abadi"/>
                        </a:rPr>
                        <a:t>Obtain a 12-lead ECG</a:t>
                      </a:r>
                    </a:p>
                  </a:txBody>
                  <a:tcPr marL="73152" marR="73152" marT="27432" marB="27432" anchor="ctr">
                    <a:solidFill>
                      <a:srgbClr val="F2F4F7"/>
                    </a:solidFill>
                  </a:tcPr>
                </a:tc>
                <a:tc>
                  <a:txBody>
                    <a:bodyPr wrap="square"/>
                    <a:lstStyle/>
                    <a:p>
                      <a:r>
                        <a:rPr sz="1050" b="0">
                          <a:solidFill>
                            <a:srgbClr val="1A1A1A"/>
                          </a:solidFill>
                          <a:latin typeface="Abadi"/>
                        </a:rPr>
                        <a:t>Offer CPR training resources</a:t>
                      </a:r>
                    </a:p>
                  </a:txBody>
                  <a:tcPr marL="73152" marR="73152" marT="27432" marB="27432" anchor="ctr">
                    <a:solidFill>
                      <a:srgbClr val="F2F4F7"/>
                    </a:solidFill>
                  </a:tcPr>
                </a:tc>
              </a:tr>
              <a:tr h="548640">
                <a:tc>
                  <a:txBody>
                    <a:bodyPr wrap="square"/>
                    <a:lstStyle/>
                    <a:p>
                      <a:r>
                        <a:rPr sz="1050" b="1">
                          <a:solidFill>
                            <a:srgbClr val="1A1A1A"/>
                          </a:solidFill>
                          <a:latin typeface="Abadi"/>
                        </a:rPr>
                        <a:t>Blood count, blood culture, CSF; chest X-ray; echocardiogram</a:t>
                      </a:r>
                    </a:p>
                  </a:txBody>
                  <a:tcPr marL="73152" marR="73152" marT="27432" marB="27432" anchor="ctr">
                    <a:solidFill>
                      <a:srgbClr val="FFFFFF"/>
                    </a:solidFill>
                  </a:tcPr>
                </a:tc>
                <a:tc>
                  <a:txBody>
                    <a:bodyPr wrap="square"/>
                    <a:lstStyle/>
                    <a:p>
                      <a:r>
                        <a:rPr sz="1050" b="0">
                          <a:solidFill>
                            <a:srgbClr val="1A1A1A"/>
                          </a:solidFill>
                          <a:latin typeface="Abadi"/>
                        </a:rPr>
                        <a:t>Test for pertussis</a:t>
                      </a:r>
                    </a:p>
                  </a:txBody>
                  <a:tcPr marL="73152" marR="73152" marT="27432" marB="27432" anchor="ctr">
                    <a:solidFill>
                      <a:srgbClr val="FFFFFF"/>
                    </a:solidFill>
                  </a:tcPr>
                </a:tc>
                <a:tc>
                  <a:txBody>
                    <a:bodyPr wrap="square"/>
                    <a:lstStyle/>
                    <a:p>
                      <a:r>
                        <a:rPr sz="1050" b="0">
                          <a:solidFill>
                            <a:srgbClr val="1A1A1A"/>
                          </a:solidFill>
                          <a:latin typeface="Abadi"/>
                        </a:rPr>
                        <a:t>Assess social risk factors for abuse</a:t>
                      </a:r>
                    </a:p>
                  </a:txBody>
                  <a:tcPr marL="73152" marR="73152" marT="27432" marB="27432" anchor="ctr">
                    <a:solidFill>
                      <a:srgbClr val="FFFFFF"/>
                    </a:solidFill>
                  </a:tcPr>
                </a:tc>
              </a:tr>
              <a:tr h="548640">
                <a:tc>
                  <a:txBody>
                    <a:bodyPr wrap="square"/>
                    <a:lstStyle/>
                    <a:p>
                      <a:r>
                        <a:rPr sz="1050" b="1">
                          <a:solidFill>
                            <a:srgbClr val="1A1A1A"/>
                          </a:solidFill>
                          <a:latin typeface="Abadi"/>
                        </a:rPr>
                        <a:t>EEG, neuroimaging for seizures, antiepileptics</a:t>
                      </a:r>
                    </a:p>
                  </a:txBody>
                  <a:tcPr marL="73152" marR="73152" marT="27432" marB="27432" anchor="ctr">
                    <a:solidFill>
                      <a:srgbClr val="F2F4F7"/>
                    </a:solidFill>
                  </a:tcPr>
                </a:tc>
                <a:tc>
                  <a:txBody>
                    <a:bodyPr wrap="square"/>
                    <a:lstStyle/>
                    <a:p>
                      <a:r>
                        <a:rPr sz="1050" b="0">
                          <a:solidFill>
                            <a:srgbClr val="1A1A1A"/>
                          </a:solidFill>
                          <a:latin typeface="Abadi"/>
                        </a:rPr>
                        <a:t>—</a:t>
                      </a:r>
                    </a:p>
                  </a:txBody>
                  <a:tcPr marL="73152" marR="73152" marT="27432" marB="27432" anchor="ctr">
                    <a:solidFill>
                      <a:srgbClr val="F2F4F7"/>
                    </a:solidFill>
                  </a:tcPr>
                </a:tc>
                <a:tc>
                  <a:txBody>
                    <a:bodyPr wrap="square"/>
                    <a:lstStyle/>
                    <a:p>
                      <a:r>
                        <a:rPr sz="1050" b="0">
                          <a:solidFill>
                            <a:srgbClr val="1A1A1A"/>
                          </a:solidFill>
                          <a:latin typeface="Abadi"/>
                        </a:rPr>
                        <a:t>Use shared decision-making</a:t>
                      </a:r>
                    </a:p>
                  </a:txBody>
                  <a:tcPr marL="73152" marR="73152" marT="27432" marB="27432" anchor="ctr">
                    <a:solidFill>
                      <a:srgbClr val="F2F4F7"/>
                    </a:solidFill>
                  </a:tcPr>
                </a:tc>
              </a:tr>
              <a:tr h="548640">
                <a:tc>
                  <a:txBody>
                    <a:bodyPr wrap="square"/>
                    <a:lstStyle/>
                    <a:p>
                      <a:r>
                        <a:rPr sz="1050" b="1">
                          <a:solidFill>
                            <a:srgbClr val="1A1A1A"/>
                          </a:solidFill>
                          <a:latin typeface="Abadi"/>
                        </a:rPr>
                        <a:t>Home cardiorespiratory monitor; admission only to monitor</a:t>
                      </a:r>
                    </a:p>
                  </a:txBody>
                  <a:tcPr marL="73152" marR="73152" marT="27432" marB="27432" anchor="ctr">
                    <a:solidFill>
                      <a:srgbClr val="FFFFFF"/>
                    </a:solidFill>
                  </a:tcPr>
                </a:tc>
                <a:tc>
                  <a:txBody>
                    <a:bodyPr wrap="square"/>
                    <a:lstStyle/>
                    <a:p>
                      <a:r>
                        <a:rPr sz="1050" b="0">
                          <a:solidFill>
                            <a:srgbClr val="1A1A1A"/>
                          </a:solidFill>
                          <a:latin typeface="Abadi"/>
                        </a:rPr>
                        <a:t>—</a:t>
                      </a:r>
                    </a:p>
                  </a:txBody>
                  <a:tcPr marL="73152" marR="73152" marT="27432" marB="27432" anchor="ctr">
                    <a:solidFill>
                      <a:srgbClr val="FFFFFF"/>
                    </a:solidFill>
                  </a:tcPr>
                </a:tc>
                <a:tc>
                  <a:txBody>
                    <a:bodyPr wrap="square"/>
                    <a:lstStyle/>
                    <a:p>
                      <a:r>
                        <a:rPr sz="1050" b="0">
                          <a:solidFill>
                            <a:srgbClr val="1A1A1A"/>
                          </a:solidFill>
                          <a:latin typeface="Abadi"/>
                        </a:rPr>
                        <a:t>—</a:t>
                      </a:r>
                    </a:p>
                  </a:txBody>
                  <a:tcPr marL="73152" marR="73152" marT="27432" marB="27432" anchor="ctr">
                    <a:solidFill>
                      <a:srgbClr val="FFFFFF"/>
                    </a:solidFill>
                  </a:tcPr>
                </a:tc>
              </a:tr>
            </a:tbl>
          </a:graphicData>
        </a:graphic>
      </p:graphicFrame>
      <p:sp>
        <p:nvSpPr>
          <p:cNvPr id="13" name="TextBox 12"/>
          <p:cNvSpPr txBox="1"/>
          <p:nvPr/>
        </p:nvSpPr>
        <p:spPr>
          <a:xfrm>
            <a:off x="548640" y="5166360"/>
            <a:ext cx="11082528" cy="64008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Strength.  </a:t>
            </a:r>
            <a:r>
              <a:rPr sz="1200" b="0" i="0">
                <a:solidFill>
                  <a:srgbClr val="1A1A1A"/>
                </a:solidFill>
                <a:latin typeface="Abadi"/>
              </a:rPr>
              <a:t>Both reflux statements are moderate recommendations: the AAP judged the harm of testing and of PPIs to outweigh a benefit no study has shown.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THE LARYNGEAL CHEMOREFLEX</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How refluxate could stop breathing, why it rarely does, and why the arrow can point the other way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Rosen 2018 · Omari TI. J Pediatr 2009;154:374 · Aerodigestive manometry, J Pediatr 2014;165:250–5</a:t>
            </a:r>
          </a:p>
        </p:txBody>
      </p:sp>
      <p:sp>
        <p:nvSpPr>
          <p:cNvPr id="12" name="Rectangle 11"/>
          <p:cNvSpPr/>
          <p:nvPr/>
        </p:nvSpPr>
        <p:spPr>
          <a:xfrm>
            <a:off x="548640"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Refluxate rises</a:t>
            </a:r>
          </a:p>
        </p:txBody>
      </p:sp>
      <p:sp>
        <p:nvSpPr>
          <p:cNvPr id="15" name="TextBox 14"/>
          <p:cNvSpPr txBox="1"/>
          <p:nvPr/>
        </p:nvSpPr>
        <p:spPr>
          <a:xfrm>
            <a:off x="658368" y="2185416"/>
            <a:ext cx="1762963" cy="1554480"/>
          </a:xfrm>
          <a:prstGeom prst="rect">
            <a:avLst/>
          </a:prstGeom>
          <a:noFill/>
        </p:spPr>
        <p:txBody>
          <a:bodyPr wrap="square" lIns="0" rIns="0" tIns="18288" bIns="18288" anchor="t">
            <a:spAutoFit/>
          </a:bodyPr>
          <a:lstStyle/>
          <a:p>
            <a:pPr algn="l"/>
            <a:r>
              <a:rPr sz="1050" b="0" i="0">
                <a:solidFill>
                  <a:srgbClr val="1A1A1A"/>
                </a:solidFill>
                <a:latin typeface="Abadi"/>
              </a:rPr>
              <a:t>Milk-buffered, mostly non-acid fluid reaches the pharynx after a feed.</a:t>
            </a:r>
          </a:p>
        </p:txBody>
      </p:sp>
      <p:sp>
        <p:nvSpPr>
          <p:cNvPr id="16" name="TextBox 15"/>
          <p:cNvSpPr txBox="1"/>
          <p:nvPr/>
        </p:nvSpPr>
        <p:spPr>
          <a:xfrm>
            <a:off x="2531059" y="259689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Larynx senses</a:t>
            </a:r>
          </a:p>
        </p:txBody>
      </p:sp>
      <p:sp>
        <p:nvSpPr>
          <p:cNvPr id="20" name="TextBox 19"/>
          <p:cNvSpPr txBox="1"/>
          <p:nvPr/>
        </p:nvSpPr>
        <p:spPr>
          <a:xfrm>
            <a:off x="2933395" y="2185416"/>
            <a:ext cx="1762963" cy="1554480"/>
          </a:xfrm>
          <a:prstGeom prst="rect">
            <a:avLst/>
          </a:prstGeom>
          <a:noFill/>
        </p:spPr>
        <p:txBody>
          <a:bodyPr wrap="square" lIns="0" rIns="0" tIns="18288" bIns="18288" anchor="t">
            <a:spAutoFit/>
          </a:bodyPr>
          <a:lstStyle/>
          <a:p>
            <a:pPr algn="l"/>
            <a:r>
              <a:rPr sz="1050" b="0" i="0">
                <a:solidFill>
                  <a:srgbClr val="1A1A1A"/>
                </a:solidFill>
                <a:latin typeface="Abadi"/>
              </a:rPr>
              <a:t>Chemoreceptors on the larynx detect fluid at the airway entrance.</a:t>
            </a:r>
          </a:p>
        </p:txBody>
      </p:sp>
      <p:sp>
        <p:nvSpPr>
          <p:cNvPr id="21" name="TextBox 20"/>
          <p:cNvSpPr txBox="1"/>
          <p:nvPr/>
        </p:nvSpPr>
        <p:spPr>
          <a:xfrm>
            <a:off x="4806086" y="259689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Protective reflex</a:t>
            </a:r>
          </a:p>
        </p:txBody>
      </p:sp>
      <p:sp>
        <p:nvSpPr>
          <p:cNvPr id="25" name="TextBox 24"/>
          <p:cNvSpPr txBox="1"/>
          <p:nvPr/>
        </p:nvSpPr>
        <p:spPr>
          <a:xfrm>
            <a:off x="5208422" y="2185416"/>
            <a:ext cx="1762963" cy="1554480"/>
          </a:xfrm>
          <a:prstGeom prst="rect">
            <a:avLst/>
          </a:prstGeom>
          <a:noFill/>
        </p:spPr>
        <p:txBody>
          <a:bodyPr wrap="square" lIns="0" rIns="0" tIns="18288" bIns="18288" anchor="t">
            <a:spAutoFit/>
          </a:bodyPr>
          <a:lstStyle/>
          <a:p>
            <a:pPr algn="l"/>
            <a:r>
              <a:rPr sz="1050" b="0" i="0">
                <a:solidFill>
                  <a:srgbClr val="1A1A1A"/>
                </a:solidFill>
                <a:latin typeface="Abadi"/>
              </a:rPr>
              <a:t>Swallow, glottic closure, brief apnoea, sometimes bradycardia: airway protection.</a:t>
            </a:r>
          </a:p>
        </p:txBody>
      </p:sp>
      <p:sp>
        <p:nvSpPr>
          <p:cNvPr id="26" name="TextBox 25"/>
          <p:cNvSpPr txBox="1"/>
          <p:nvPr/>
        </p:nvSpPr>
        <p:spPr>
          <a:xfrm>
            <a:off x="7081113" y="259689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Exaggerated</a:t>
            </a:r>
          </a:p>
        </p:txBody>
      </p:sp>
      <p:sp>
        <p:nvSpPr>
          <p:cNvPr id="30" name="TextBox 29"/>
          <p:cNvSpPr txBox="1"/>
          <p:nvPr/>
        </p:nvSpPr>
        <p:spPr>
          <a:xfrm>
            <a:off x="7483449" y="2185416"/>
            <a:ext cx="1762963" cy="1554480"/>
          </a:xfrm>
          <a:prstGeom prst="rect">
            <a:avLst/>
          </a:prstGeom>
          <a:noFill/>
        </p:spPr>
        <p:txBody>
          <a:bodyPr wrap="square" lIns="0" rIns="0" tIns="18288" bIns="18288" anchor="t">
            <a:spAutoFit/>
          </a:bodyPr>
          <a:lstStyle/>
          <a:p>
            <a:pPr algn="l"/>
            <a:r>
              <a:rPr sz="1050" b="0" i="0">
                <a:solidFill>
                  <a:srgbClr val="1A1A1A"/>
                </a:solidFill>
                <a:latin typeface="Abadi"/>
              </a:rPr>
              <a:t>Immaturity, prematurity or illness prolong it into an obstructive event.</a:t>
            </a:r>
          </a:p>
        </p:txBody>
      </p:sp>
      <p:sp>
        <p:nvSpPr>
          <p:cNvPr id="31" name="TextBox 30"/>
          <p:cNvSpPr txBox="1"/>
          <p:nvPr/>
        </p:nvSpPr>
        <p:spPr>
          <a:xfrm>
            <a:off x="9356140" y="259689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Or reversed</a:t>
            </a:r>
          </a:p>
        </p:txBody>
      </p:sp>
      <p:sp>
        <p:nvSpPr>
          <p:cNvPr id="35" name="TextBox 34"/>
          <p:cNvSpPr txBox="1"/>
          <p:nvPr/>
        </p:nvSpPr>
        <p:spPr>
          <a:xfrm>
            <a:off x="9758476" y="2185416"/>
            <a:ext cx="1762963" cy="1554480"/>
          </a:xfrm>
          <a:prstGeom prst="rect">
            <a:avLst/>
          </a:prstGeom>
          <a:noFill/>
        </p:spPr>
        <p:txBody>
          <a:bodyPr wrap="square" lIns="0" rIns="0" tIns="18288" bIns="18288" anchor="t">
            <a:spAutoFit/>
          </a:bodyPr>
          <a:lstStyle/>
          <a:p>
            <a:pPr algn="l"/>
            <a:r>
              <a:rPr sz="1050" b="0" i="0">
                <a:solidFill>
                  <a:srgbClr val="1A1A1A"/>
                </a:solidFill>
                <a:latin typeface="Abadi"/>
              </a:rPr>
              <a:t>Apnoea itself lowers LES tone, so reflux can follow the event.</a:t>
            </a:r>
          </a:p>
        </p:txBody>
      </p:sp>
      <p:sp>
        <p:nvSpPr>
          <p:cNvPr id="36" name="TextBox 35"/>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Reading the chain.  </a:t>
            </a:r>
            <a:r>
              <a:rPr sz="1250" b="0" i="0">
                <a:solidFill>
                  <a:srgbClr val="1A1A1A"/>
                </a:solidFill>
                <a:latin typeface="Abadi"/>
              </a:rPr>
              <a:t>The plausible reflux event is obstructive, happens awake and soon after a feed, and is preceded by visible regurgitation or choking. Central apnoea in sleep, away from feeds, does not fit.</a:t>
            </a:r>
          </a:p>
          <a:p>
            <a:pPr algn="l">
              <a:spcAft>
                <a:spcPts val="600"/>
              </a:spcAft>
            </a:pPr>
            <a:r>
              <a:rPr sz="1250" b="1" i="0">
                <a:solidFill>
                  <a:srgbClr val="B22222"/>
                </a:solidFill>
                <a:latin typeface="Abadi"/>
              </a:rPr>
              <a:t>Why PPIs miss.  </a:t>
            </a:r>
            <a:r>
              <a:rPr sz="1250" b="0" i="0">
                <a:solidFill>
                  <a:srgbClr val="1A1A1A"/>
                </a:solidFill>
                <a:latin typeface="Abadi"/>
              </a:rPr>
              <a:t>The trigger is fluid volume at the larynx, not acid. Acid suppression changes pH, not the number or height of reflux episodes.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EVIDENCE IN PRETERM INFANTS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THE NUMBERS THAT BROKE THE LINK</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Share of cardiorespiratory events temporally preceded by or linked to reflux in polygraphy with impedance or pH,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Peter CS, et al. Pediatrics 2002;109:8–11 · Di Fiore JM, et al. Pediatrics 2005;116:1059–63 · Di Fiore J, et al. J Perinatol 2010;30:683–7 · Corvaglia L, et al. Arch Dis Child Fetal Neonatal Ed 2009;94:F188–92</a:t>
            </a:r>
          </a:p>
        </p:txBody>
      </p:sp>
      <p:sp>
        <p:nvSpPr>
          <p:cNvPr id="12" name="TextBox 11"/>
          <p:cNvSpPr txBox="1"/>
          <p:nvPr/>
        </p:nvSpPr>
        <p:spPr>
          <a:xfrm>
            <a:off x="548640" y="1828800"/>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Peter 2002: apnoeas (19 infants, 2,039 apnoeas)</a:t>
            </a:r>
          </a:p>
        </p:txBody>
      </p:sp>
      <p:sp>
        <p:nvSpPr>
          <p:cNvPr id="13" name="Rectangle 12"/>
          <p:cNvSpPr/>
          <p:nvPr/>
        </p:nvSpPr>
        <p:spPr>
          <a:xfrm>
            <a:off x="4114800" y="1920240"/>
            <a:ext cx="72009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89753" y="1828800"/>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3.5%</a:t>
            </a:r>
          </a:p>
        </p:txBody>
      </p:sp>
      <p:sp>
        <p:nvSpPr>
          <p:cNvPr id="15" name="TextBox 14"/>
          <p:cNvSpPr txBox="1"/>
          <p:nvPr/>
        </p:nvSpPr>
        <p:spPr>
          <a:xfrm>
            <a:off x="548640" y="2304288"/>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Di Fiore 2010: apnoeas (71 infants)</a:t>
            </a:r>
          </a:p>
        </p:txBody>
      </p:sp>
      <p:sp>
        <p:nvSpPr>
          <p:cNvPr id="16" name="Rectangle 15"/>
          <p:cNvSpPr/>
          <p:nvPr/>
        </p:nvSpPr>
        <p:spPr>
          <a:xfrm>
            <a:off x="4114800" y="2395728"/>
            <a:ext cx="699516"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9179" y="2304288"/>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3.4%</a:t>
            </a:r>
          </a:p>
        </p:txBody>
      </p:sp>
      <p:sp>
        <p:nvSpPr>
          <p:cNvPr id="18" name="TextBox 17"/>
          <p:cNvSpPr txBox="1"/>
          <p:nvPr/>
        </p:nvSpPr>
        <p:spPr>
          <a:xfrm>
            <a:off x="548640" y="2779776"/>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Di Fiore 2010: desaturations</a:t>
            </a:r>
          </a:p>
        </p:txBody>
      </p:sp>
      <p:sp>
        <p:nvSpPr>
          <p:cNvPr id="19" name="Rectangle 18"/>
          <p:cNvSpPr/>
          <p:nvPr/>
        </p:nvSpPr>
        <p:spPr>
          <a:xfrm>
            <a:off x="4114800" y="2871216"/>
            <a:ext cx="576072"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45736" y="2779776"/>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2.8%</a:t>
            </a:r>
          </a:p>
        </p:txBody>
      </p:sp>
      <p:sp>
        <p:nvSpPr>
          <p:cNvPr id="21" name="TextBox 20"/>
          <p:cNvSpPr txBox="1"/>
          <p:nvPr/>
        </p:nvSpPr>
        <p:spPr>
          <a:xfrm>
            <a:off x="548640" y="3255264"/>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Di Fiore 2010: bradycardias</a:t>
            </a:r>
          </a:p>
        </p:txBody>
      </p:sp>
      <p:sp>
        <p:nvSpPr>
          <p:cNvPr id="22" name="Rectangle 21"/>
          <p:cNvSpPr/>
          <p:nvPr/>
        </p:nvSpPr>
        <p:spPr>
          <a:xfrm>
            <a:off x="4114800" y="3346704"/>
            <a:ext cx="596646"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6309" y="3255264"/>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2.9%</a:t>
            </a:r>
          </a:p>
        </p:txBody>
      </p:sp>
      <p:sp>
        <p:nvSpPr>
          <p:cNvPr id="24" name="TextBox 23"/>
          <p:cNvSpPr txBox="1"/>
          <p:nvPr/>
        </p:nvSpPr>
        <p:spPr>
          <a:xfrm>
            <a:off x="548640" y="3730752"/>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Di Fiore 2005: reflux episodes followed by apnoea</a:t>
            </a:r>
          </a:p>
        </p:txBody>
      </p:sp>
      <p:sp>
        <p:nvSpPr>
          <p:cNvPr id="25" name="Rectangle 24"/>
          <p:cNvSpPr/>
          <p:nvPr/>
        </p:nvSpPr>
        <p:spPr>
          <a:xfrm>
            <a:off x="4114800" y="3822191"/>
            <a:ext cx="20574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5403" y="3730752"/>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about 1% of 6,255</a:t>
            </a:r>
          </a:p>
        </p:txBody>
      </p:sp>
      <p:sp>
        <p:nvSpPr>
          <p:cNvPr id="27" name="TextBox 26"/>
          <p:cNvSpPr txBox="1"/>
          <p:nvPr/>
        </p:nvSpPr>
        <p:spPr>
          <a:xfrm>
            <a:off x="548640" y="4206240"/>
            <a:ext cx="3474720" cy="475488"/>
          </a:xfrm>
          <a:prstGeom prst="rect">
            <a:avLst/>
          </a:prstGeom>
          <a:noFill/>
        </p:spPr>
        <p:txBody>
          <a:bodyPr wrap="square" lIns="0" rIns="0" tIns="18288" bIns="18288" anchor="ctr">
            <a:spAutoFit/>
          </a:bodyPr>
          <a:lstStyle/>
          <a:p>
            <a:pPr algn="l"/>
            <a:r>
              <a:rPr sz="1000" b="0" i="0">
                <a:solidFill>
                  <a:srgbClr val="1A1A1A"/>
                </a:solidFill>
                <a:latin typeface="Abadi"/>
              </a:rPr>
              <a:t>Corvaglia 2009: apnoeas (26 infants)</a:t>
            </a:r>
          </a:p>
        </p:txBody>
      </p:sp>
      <p:sp>
        <p:nvSpPr>
          <p:cNvPr id="28" name="Rectangle 27"/>
          <p:cNvSpPr/>
          <p:nvPr/>
        </p:nvSpPr>
        <p:spPr>
          <a:xfrm>
            <a:off x="4114800" y="4297679"/>
            <a:ext cx="2798064"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4206240"/>
            <a:ext cx="1737360" cy="475488"/>
          </a:xfrm>
          <a:prstGeom prst="rect">
            <a:avLst/>
          </a:prstGeom>
          <a:noFill/>
        </p:spPr>
        <p:txBody>
          <a:bodyPr wrap="square" lIns="0" rIns="0" tIns="18288" bIns="18288" anchor="ctr">
            <a:spAutoFit/>
          </a:bodyPr>
          <a:lstStyle/>
          <a:p>
            <a:pPr algn="l"/>
            <a:r>
              <a:rPr sz="1000" b="1" i="0">
                <a:solidFill>
                  <a:srgbClr val="1A1A1A"/>
                </a:solidFill>
                <a:latin typeface="Abadi"/>
              </a:rPr>
              <a:t>154 of 1,136</a:t>
            </a:r>
          </a:p>
        </p:txBody>
      </p:sp>
      <p:sp>
        <p:nvSpPr>
          <p:cNvPr id="30" name="TextBox 29"/>
          <p:cNvSpPr txBox="1"/>
          <p:nvPr/>
        </p:nvSpPr>
        <p:spPr>
          <a:xfrm>
            <a:off x="548640" y="4800600"/>
            <a:ext cx="7955279" cy="100584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Across 12,957 events in 71 infants, fewer than 3% followed reflux, and reflux did not lengthen or deepen them. Corvaglia is the outlier, discussed next.</a:t>
            </a:r>
          </a:p>
        </p:txBody>
      </p:sp>
      <p:sp>
        <p:nvSpPr>
          <p:cNvPr id="31" name="TextBox 30"/>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i="0">
                <a:solidFill>
                  <a:srgbClr val="1B355E"/>
                </a:solidFill>
                <a:latin typeface="Abadi"/>
              </a:rPr>
              <a:t>Not prolonged</a:t>
            </a:r>
          </a:p>
          <a:p>
            <a:pPr algn="l">
              <a:spcAft>
                <a:spcPts val="400"/>
              </a:spcAft>
            </a:pPr>
            <a:r>
              <a:rPr sz="1050" b="0" i="0">
                <a:solidFill>
                  <a:srgbClr val="555555"/>
                </a:solidFill>
                <a:latin typeface="Abadi"/>
              </a:rPr>
              <a:t>Di Fiore 2005: in 119 preterm infants, acid reflux did not prolong apnoea.</a:t>
            </a:r>
          </a:p>
          <a:p>
            <a:pPr algn="l">
              <a:spcAft>
                <a:spcPts val="400"/>
              </a:spcAft>
            </a:pPr>
            <a:r>
              <a:rPr sz="1500" b="1" i="0">
                <a:solidFill>
                  <a:srgbClr val="1B355E"/>
                </a:solidFill>
                <a:latin typeface="Abadi"/>
              </a:rPr>
              <a:t>More before than after</a:t>
            </a:r>
          </a:p>
          <a:p>
            <a:pPr algn="l">
              <a:spcAft>
                <a:spcPts val="400"/>
              </a:spcAft>
            </a:pPr>
            <a:r>
              <a:rPr sz="1050" b="0" i="0">
                <a:solidFill>
                  <a:srgbClr val="555555"/>
                </a:solidFill>
                <a:latin typeface="Abadi"/>
              </a:rPr>
              <a:t>Peter 2002: reflux reached the pharynx after an apnoea 45 times and before it 26 times.</a:t>
            </a:r>
          </a:p>
          <a:p>
            <a:pPr algn="l">
              <a:spcAft>
                <a:spcPts val="400"/>
              </a:spcAft>
            </a:pPr>
            <a:r>
              <a:rPr sz="1500" b="1" i="0">
                <a:solidFill>
                  <a:srgbClr val="1B355E"/>
                </a:solidFill>
                <a:latin typeface="Abadi"/>
              </a:rPr>
              <a:t>Guideline</a:t>
            </a:r>
          </a:p>
          <a:p>
            <a:pPr algn="l">
              <a:spcAft>
                <a:spcPts val="400"/>
              </a:spcAft>
            </a:pPr>
            <a:r>
              <a:rPr sz="1050" b="0" i="0">
                <a:solidFill>
                  <a:srgbClr val="555555"/>
                </a:solidFill>
                <a:latin typeface="Abadi"/>
              </a:rPr>
              <a:t>Pathological apnoea of prematurity has no established relation to reflux.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THE SUBGROUP</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A SUBGROUP, NOT A RULE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Where impedance did find a link, it was variable, individual and mostly non-acid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Corvaglia L, et al. Arch Dis Child Fetal Neonatal Ed 2009;94:F188–92 · Magistà AM, et al. Pediatr Res 2005;58:375 (abstract) · Rosen 2018</a:t>
            </a:r>
          </a:p>
        </p:txBody>
      </p:sp>
      <p:sp>
        <p:nvSpPr>
          <p:cNvPr id="12" name="Rectangle 11"/>
          <p:cNvSpPr/>
          <p:nvPr/>
        </p:nvSpPr>
        <p:spPr>
          <a:xfrm>
            <a:off x="548640" y="1773936"/>
            <a:ext cx="2633472"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000" b="1" i="0">
                <a:solidFill>
                  <a:srgbClr val="B22222"/>
                </a:solidFill>
                <a:latin typeface="Abadi"/>
              </a:rPr>
              <a:t>154 / 1,136</a:t>
            </a:r>
          </a:p>
        </p:txBody>
      </p:sp>
      <p:sp>
        <p:nvSpPr>
          <p:cNvPr id="15" name="TextBox 14"/>
          <p:cNvSpPr txBox="1"/>
          <p:nvPr/>
        </p:nvSpPr>
        <p:spPr>
          <a:xfrm>
            <a:off x="713232" y="2487168"/>
            <a:ext cx="2304288" cy="1234440"/>
          </a:xfrm>
          <a:prstGeom prst="rect">
            <a:avLst/>
          </a:prstGeom>
          <a:noFill/>
        </p:spPr>
        <p:txBody>
          <a:bodyPr wrap="square" lIns="0" rIns="0" tIns="18288" bIns="18288" anchor="t">
            <a:spAutoFit/>
          </a:bodyPr>
          <a:lstStyle/>
          <a:p>
            <a:pPr algn="l"/>
            <a:r>
              <a:rPr sz="1100" b="0" i="0">
                <a:solidFill>
                  <a:srgbClr val="1A1A1A"/>
                </a:solidFill>
                <a:latin typeface="Abadi"/>
              </a:rPr>
              <a:t>Corvaglia 2009: apnoeas within 30 s of reflux in 26 very preterm infants with recurrent apnoea.</a:t>
            </a:r>
          </a:p>
        </p:txBody>
      </p:sp>
      <p:sp>
        <p:nvSpPr>
          <p:cNvPr id="16" name="Rectangle 15"/>
          <p:cNvSpPr/>
          <p:nvPr/>
        </p:nvSpPr>
        <p:spPr>
          <a:xfrm>
            <a:off x="3364992" y="1773936"/>
            <a:ext cx="2633472"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000" b="1" i="0">
                <a:solidFill>
                  <a:srgbClr val="D97A0B"/>
                </a:solidFill>
                <a:latin typeface="Abadi"/>
              </a:rPr>
              <a:t>After &gt; before</a:t>
            </a:r>
          </a:p>
        </p:txBody>
      </p:sp>
      <p:sp>
        <p:nvSpPr>
          <p:cNvPr id="19" name="TextBox 18"/>
          <p:cNvSpPr txBox="1"/>
          <p:nvPr/>
        </p:nvSpPr>
        <p:spPr>
          <a:xfrm>
            <a:off x="3529584" y="2487168"/>
            <a:ext cx="2304288" cy="1234440"/>
          </a:xfrm>
          <a:prstGeom prst="rect">
            <a:avLst/>
          </a:prstGeom>
          <a:noFill/>
        </p:spPr>
        <p:txBody>
          <a:bodyPr wrap="square" lIns="0" rIns="0" tIns="18288" bIns="18288" anchor="t">
            <a:spAutoFit/>
          </a:bodyPr>
          <a:lstStyle/>
          <a:p>
            <a:pPr algn="l"/>
            <a:r>
              <a:rPr sz="1100" b="0" i="0">
                <a:solidFill>
                  <a:srgbClr val="1A1A1A"/>
                </a:solidFill>
                <a:latin typeface="Abadi"/>
              </a:rPr>
              <a:t>Apnoeas were more frequent in the 30 s after reflux than in the 30 s before (p = 0.01).</a:t>
            </a:r>
          </a:p>
        </p:txBody>
      </p:sp>
      <p:sp>
        <p:nvSpPr>
          <p:cNvPr id="20" name="Rectangle 19"/>
          <p:cNvSpPr/>
          <p:nvPr/>
        </p:nvSpPr>
        <p:spPr>
          <a:xfrm>
            <a:off x="6181344" y="1773936"/>
            <a:ext cx="2633472"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000" b="1" i="0">
                <a:solidFill>
                  <a:srgbClr val="1B355E"/>
                </a:solidFill>
                <a:latin typeface="Abadi"/>
              </a:rPr>
              <a:t>Variable</a:t>
            </a:r>
          </a:p>
        </p:txBody>
      </p:sp>
      <p:sp>
        <p:nvSpPr>
          <p:cNvPr id="23" name="TextBox 22"/>
          <p:cNvSpPr txBox="1"/>
          <p:nvPr/>
        </p:nvSpPr>
        <p:spPr>
          <a:xfrm>
            <a:off x="6345936" y="2487168"/>
            <a:ext cx="2304288" cy="1234440"/>
          </a:xfrm>
          <a:prstGeom prst="rect">
            <a:avLst/>
          </a:prstGeom>
          <a:noFill/>
        </p:spPr>
        <p:txBody>
          <a:bodyPr wrap="square" lIns="0" rIns="0" tIns="18288" bIns="18288" anchor="t">
            <a:spAutoFit/>
          </a:bodyPr>
          <a:lstStyle/>
          <a:p>
            <a:pPr algn="l"/>
            <a:r>
              <a:rPr sz="1100" b="0" i="0">
                <a:solidFill>
                  <a:srgbClr val="1A1A1A"/>
                </a:solidFill>
                <a:latin typeface="Abadi"/>
              </a:rPr>
              <a:t>The share of reflux-linked apnoeas differed widely between infants.</a:t>
            </a:r>
          </a:p>
        </p:txBody>
      </p:sp>
      <p:sp>
        <p:nvSpPr>
          <p:cNvPr id="24" name="Rectangle 23"/>
          <p:cNvSpPr/>
          <p:nvPr/>
        </p:nvSpPr>
        <p:spPr>
          <a:xfrm>
            <a:off x="8997696" y="1773936"/>
            <a:ext cx="2633472" cy="20116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000" b="1" i="0">
                <a:solidFill>
                  <a:srgbClr val="7F7F7F"/>
                </a:solidFill>
                <a:latin typeface="Abadi"/>
              </a:rPr>
              <a:t>86% non-acid</a:t>
            </a:r>
          </a:p>
        </p:txBody>
      </p:sp>
      <p:sp>
        <p:nvSpPr>
          <p:cNvPr id="27" name="TextBox 26"/>
          <p:cNvSpPr txBox="1"/>
          <p:nvPr/>
        </p:nvSpPr>
        <p:spPr>
          <a:xfrm>
            <a:off x="9162288" y="2487168"/>
            <a:ext cx="2304288" cy="1234440"/>
          </a:xfrm>
          <a:prstGeom prst="rect">
            <a:avLst/>
          </a:prstGeom>
          <a:noFill/>
        </p:spPr>
        <p:txBody>
          <a:bodyPr wrap="square" lIns="0" rIns="0" tIns="18288" bIns="18288" anchor="t">
            <a:spAutoFit/>
          </a:bodyPr>
          <a:lstStyle/>
          <a:p>
            <a:pPr algn="l"/>
            <a:r>
              <a:rPr sz="1100" b="0" i="0">
                <a:solidFill>
                  <a:srgbClr val="1A1A1A"/>
                </a:solidFill>
                <a:latin typeface="Abadi"/>
              </a:rPr>
              <a:t>Small impedance series: 31 of 36 reflux-linked apnoeas followed non-acid reflux.</a:t>
            </a:r>
          </a:p>
        </p:txBody>
      </p:sp>
      <p:sp>
        <p:nvSpPr>
          <p:cNvPr id="28" name="TextBox 27"/>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Interpretation.  </a:t>
            </a:r>
            <a:r>
              <a:rPr sz="1250" b="0" i="0">
                <a:solidFill>
                  <a:srgbClr val="1A1A1A"/>
                </a:solidFill>
                <a:latin typeface="Abadi"/>
              </a:rPr>
              <a:t>Some infants have reflux-triggered events, but they cannot be found by symptoms, and pH monitoring alone misses them because the refluxate is not acid. Finding them needs simultaneous polygraphy and impedance with event marking.</a:t>
            </a:r>
          </a:p>
          <a:p>
            <a:pPr algn="l">
              <a:spcAft>
                <a:spcPts val="600"/>
              </a:spcAft>
            </a:pPr>
            <a:r>
              <a:rPr sz="1250" b="1" i="0">
                <a:solidFill>
                  <a:srgbClr val="B22222"/>
                </a:solidFill>
                <a:latin typeface="Abadi"/>
              </a:rPr>
              <a:t>Clinical consequence.  </a:t>
            </a:r>
            <a:r>
              <a:rPr sz="1250" b="0" i="0">
                <a:solidFill>
                  <a:srgbClr val="1A1A1A"/>
                </a:solidFill>
                <a:latin typeface="Abadi"/>
              </a:rPr>
              <a:t>Even in this subgroup acid suppression has no target. Positioning, feed volume and time usually do the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THE TERM INFANT WITH BRUE</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LOOK AT THE SWALLOW BEFORE THE STOMACH</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Boston cohorts of infants admitted after ALTE or BRUE: what testing found and what labels did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Duncan DR, et al. JPGN 2017;65:168–73 · Duncan DR, et al. J Pediatr 2024;272:114128</a:t>
            </a:r>
          </a:p>
        </p:txBody>
      </p:sp>
      <p:sp>
        <p:nvSpPr>
          <p:cNvPr id="12" name="Rectangle 11"/>
          <p:cNvSpPr/>
          <p:nvPr/>
        </p:nvSpPr>
        <p:spPr>
          <a:xfrm>
            <a:off x="548640" y="1773936"/>
            <a:ext cx="2633472"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000" b="1" i="0">
                <a:solidFill>
                  <a:srgbClr val="B22222"/>
                </a:solidFill>
                <a:latin typeface="Abadi"/>
              </a:rPr>
              <a:t>73%</a:t>
            </a:r>
          </a:p>
        </p:txBody>
      </p:sp>
      <p:sp>
        <p:nvSpPr>
          <p:cNvPr id="15" name="TextBox 14"/>
          <p:cNvSpPr txBox="1"/>
          <p:nvPr/>
        </p:nvSpPr>
        <p:spPr>
          <a:xfrm>
            <a:off x="713232" y="2487168"/>
            <a:ext cx="2304288" cy="1371600"/>
          </a:xfrm>
          <a:prstGeom prst="rect">
            <a:avLst/>
          </a:prstGeom>
          <a:noFill/>
        </p:spPr>
        <p:txBody>
          <a:bodyPr wrap="square" lIns="0" rIns="0" tIns="18288" bIns="18288" anchor="t">
            <a:spAutoFit/>
          </a:bodyPr>
          <a:lstStyle/>
          <a:p>
            <a:pPr algn="l"/>
            <a:r>
              <a:rPr sz="1050" b="0" i="0">
                <a:solidFill>
                  <a:srgbClr val="1A1A1A"/>
                </a:solidFill>
                <a:latin typeface="Abadi"/>
              </a:rPr>
              <a:t>Duncan 2017: of admitted ALTE infants who had a videofluoroscopic swallow study, 73% aspirated or penetrated.</a:t>
            </a:r>
          </a:p>
        </p:txBody>
      </p:sp>
      <p:sp>
        <p:nvSpPr>
          <p:cNvPr id="16" name="Rectangle 15"/>
          <p:cNvSpPr/>
          <p:nvPr/>
        </p:nvSpPr>
        <p:spPr>
          <a:xfrm>
            <a:off x="3364992" y="1773936"/>
            <a:ext cx="2633472"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000" b="1" i="0">
                <a:solidFill>
                  <a:srgbClr val="D97A0B"/>
                </a:solidFill>
                <a:latin typeface="Abadi"/>
              </a:rPr>
              <a:t>26%</a:t>
            </a:r>
          </a:p>
        </p:txBody>
      </p:sp>
      <p:sp>
        <p:nvSpPr>
          <p:cNvPr id="19" name="TextBox 18"/>
          <p:cNvSpPr txBox="1"/>
          <p:nvPr/>
        </p:nvSpPr>
        <p:spPr>
          <a:xfrm>
            <a:off x="3529584" y="2487168"/>
            <a:ext cx="2304288" cy="1371600"/>
          </a:xfrm>
          <a:prstGeom prst="rect">
            <a:avLst/>
          </a:prstGeom>
          <a:noFill/>
        </p:spPr>
        <p:txBody>
          <a:bodyPr wrap="square" lIns="0" rIns="0" tIns="18288" bIns="18288" anchor="t">
            <a:spAutoFit/>
          </a:bodyPr>
          <a:lstStyle/>
          <a:p>
            <a:pPr algn="l"/>
            <a:r>
              <a:rPr sz="1050" b="0" i="0">
                <a:solidFill>
                  <a:srgbClr val="1A1A1A"/>
                </a:solidFill>
                <a:latin typeface="Abadi"/>
              </a:rPr>
              <a:t>Duncan 2017: dysphagia found only on the swallow study after a normal bedside feeding assessment.</a:t>
            </a:r>
          </a:p>
        </p:txBody>
      </p:sp>
      <p:sp>
        <p:nvSpPr>
          <p:cNvPr id="20" name="Rectangle 19"/>
          <p:cNvSpPr/>
          <p:nvPr/>
        </p:nvSpPr>
        <p:spPr>
          <a:xfrm>
            <a:off x="6181344" y="1773936"/>
            <a:ext cx="2633472"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000" b="1" i="0">
                <a:solidFill>
                  <a:srgbClr val="1B355E"/>
                </a:solidFill>
                <a:latin typeface="Abadi"/>
              </a:rPr>
              <a:t>42% → 33%</a:t>
            </a:r>
          </a:p>
        </p:txBody>
      </p:sp>
      <p:sp>
        <p:nvSpPr>
          <p:cNvPr id="23" name="TextBox 22"/>
          <p:cNvSpPr txBox="1"/>
          <p:nvPr/>
        </p:nvSpPr>
        <p:spPr>
          <a:xfrm>
            <a:off x="6345936" y="2487168"/>
            <a:ext cx="2304288" cy="1371600"/>
          </a:xfrm>
          <a:prstGeom prst="rect">
            <a:avLst/>
          </a:prstGeom>
          <a:noFill/>
        </p:spPr>
        <p:txBody>
          <a:bodyPr wrap="square" lIns="0" rIns="0" tIns="18288" bIns="18288" anchor="t">
            <a:spAutoFit/>
          </a:bodyPr>
          <a:lstStyle/>
          <a:p>
            <a:pPr algn="l"/>
            <a:r>
              <a:rPr sz="1050" b="0" i="0">
                <a:solidFill>
                  <a:srgbClr val="1A1A1A"/>
                </a:solidFill>
                <a:latin typeface="Abadi"/>
              </a:rPr>
              <a:t>Duncan 2024 (n = 157): BRUE attributed to GERD in 42%; 33% got acid suppression.</a:t>
            </a:r>
          </a:p>
        </p:txBody>
      </p:sp>
      <p:sp>
        <p:nvSpPr>
          <p:cNvPr id="24" name="Rectangle 23"/>
          <p:cNvSpPr/>
          <p:nvPr/>
        </p:nvSpPr>
        <p:spPr>
          <a:xfrm>
            <a:off x="8997696" y="1773936"/>
            <a:ext cx="2633472"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000" b="1" i="0">
                <a:solidFill>
                  <a:srgbClr val="7F7F7F"/>
                </a:solidFill>
                <a:latin typeface="Abadi"/>
              </a:rPr>
              <a:t>56 days</a:t>
            </a:r>
          </a:p>
        </p:txBody>
      </p:sp>
      <p:sp>
        <p:nvSpPr>
          <p:cNvPr id="27" name="TextBox 26"/>
          <p:cNvSpPr txBox="1"/>
          <p:nvPr/>
        </p:nvSpPr>
        <p:spPr>
          <a:xfrm>
            <a:off x="9162288" y="2487168"/>
            <a:ext cx="2304288" cy="1371600"/>
          </a:xfrm>
          <a:prstGeom prst="rect">
            <a:avLst/>
          </a:prstGeom>
          <a:noFill/>
        </p:spPr>
        <p:txBody>
          <a:bodyPr wrap="square" lIns="0" rIns="0" tIns="18288" bIns="18288" anchor="t">
            <a:spAutoFit/>
          </a:bodyPr>
          <a:lstStyle/>
          <a:p>
            <a:pPr algn="l"/>
            <a:r>
              <a:rPr sz="1050" b="0" i="0">
                <a:solidFill>
                  <a:srgbClr val="1A1A1A"/>
                </a:solidFill>
                <a:latin typeface="Abadi"/>
              </a:rPr>
              <a:t>Duncan 2024: delay to the aspiration diagnosis in GERD-labelled infants later tested; all 6 abnormal.</a:t>
            </a:r>
          </a:p>
        </p:txBody>
      </p:sp>
      <p:sp>
        <p:nvSpPr>
          <p:cNvPr id="28" name="TextBox 27"/>
          <p:cNvSpPr txBox="1"/>
          <p:nvPr/>
        </p:nvSpPr>
        <p:spPr>
          <a:xfrm>
            <a:off x="548640" y="4160520"/>
            <a:ext cx="11082528" cy="164592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Interpretation.  </a:t>
            </a:r>
            <a:r>
              <a:rPr sz="1250" b="0" i="0">
                <a:solidFill>
                  <a:srgbClr val="1A1A1A"/>
                </a:solidFill>
                <a:latin typeface="Abadi"/>
              </a:rPr>
              <a:t>Silent aspiration is the commonest positive finding in feed-related events, and a bedside feeding check misses it. The reflux label diverts these infants to PPIs, which do not help aspiration and may raise the risk of infection.</a:t>
            </a:r>
          </a:p>
          <a:p>
            <a:pPr algn="l">
              <a:spcAft>
                <a:spcPts val="600"/>
              </a:spcAft>
            </a:pPr>
            <a:r>
              <a:rPr sz="1250" b="1" i="0">
                <a:solidFill>
                  <a:srgbClr val="B22222"/>
                </a:solidFill>
                <a:latin typeface="Abadi"/>
              </a:rPr>
              <a:t>Practice.  </a:t>
            </a:r>
            <a:r>
              <a:rPr sz="1250" b="0" i="0">
                <a:solidFill>
                  <a:srgbClr val="1A1A1A"/>
                </a:solidFill>
                <a:latin typeface="Abadi"/>
              </a:rPr>
              <a:t>If events cluster around feeds, order a videofluoroscopic swallow study, not a pH study.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AERODIGESTIVE PHYSIOLOGY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THE PROBLEM IS PROXIMAL</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Pharyngo-oesophageal manometry in 10 infants with ALTE versus 10 controls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Aerodigestive manometry study, J Pediatr 2014;165:250–5 · Tieder JS, et al. J Pediatr 2013;163:94–9</a:t>
            </a:r>
          </a:p>
        </p:txBody>
      </p:sp>
      <p:sp>
        <p:nvSpPr>
          <p:cNvPr id="12" name="TextBox 11"/>
          <p:cNvSpPr txBox="1"/>
          <p:nvPr/>
        </p:nvSpPr>
        <p:spPr>
          <a:xfrm>
            <a:off x="731520" y="1856231"/>
            <a:ext cx="4937760" cy="228600"/>
          </a:xfrm>
          <a:prstGeom prst="rect">
            <a:avLst/>
          </a:prstGeom>
          <a:noFill/>
        </p:spPr>
        <p:txBody>
          <a:bodyPr wrap="square" lIns="0" rIns="0" tIns="18288" bIns="18288" anchor="t">
            <a:spAutoFit/>
          </a:bodyPr>
          <a:lstStyle/>
          <a:p>
            <a:pPr algn="l"/>
            <a:r>
              <a:rPr sz="950" b="0" i="1">
                <a:solidFill>
                  <a:srgbClr val="7F7F7F"/>
                </a:solidFill>
                <a:latin typeface="Abadi"/>
              </a:rPr>
              <a:t>Failed oesophageal propagation after spontaneous respiratory events, %</a:t>
            </a:r>
          </a:p>
        </p:txBody>
      </p:sp>
      <p:sp>
        <p:nvSpPr>
          <p:cNvPr id="13" name="Rectangle 12"/>
          <p:cNvSpPr/>
          <p:nvPr/>
        </p:nvSpPr>
        <p:spPr>
          <a:xfrm>
            <a:off x="731520" y="5212080"/>
            <a:ext cx="493776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08760" y="2811779"/>
            <a:ext cx="914400" cy="24003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2537460"/>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10%</a:t>
            </a:r>
          </a:p>
        </p:txBody>
      </p:sp>
      <p:sp>
        <p:nvSpPr>
          <p:cNvPr id="16" name="TextBox 15"/>
          <p:cNvSpPr txBox="1"/>
          <p:nvPr/>
        </p:nvSpPr>
        <p:spPr>
          <a:xfrm>
            <a:off x="731520" y="5248656"/>
            <a:ext cx="2468880" cy="411480"/>
          </a:xfrm>
          <a:prstGeom prst="rect">
            <a:avLst/>
          </a:prstGeom>
          <a:noFill/>
        </p:spPr>
        <p:txBody>
          <a:bodyPr wrap="square" lIns="0" rIns="0" tIns="18288" bIns="18288" anchor="t">
            <a:spAutoFit/>
          </a:bodyPr>
          <a:lstStyle/>
          <a:p>
            <a:pPr algn="ctr"/>
            <a:r>
              <a:rPr sz="950" b="0" i="0">
                <a:solidFill>
                  <a:srgbClr val="555555"/>
                </a:solidFill>
                <a:latin typeface="Abadi"/>
              </a:rPr>
              <a:t>ALTE infants</a:t>
            </a:r>
          </a:p>
        </p:txBody>
      </p:sp>
      <p:sp>
        <p:nvSpPr>
          <p:cNvPr id="17" name="Rectangle 16"/>
          <p:cNvSpPr/>
          <p:nvPr/>
        </p:nvSpPr>
        <p:spPr>
          <a:xfrm>
            <a:off x="3977639" y="5184648"/>
            <a:ext cx="914400" cy="2743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79" y="4910328"/>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0%</a:t>
            </a:r>
          </a:p>
        </p:txBody>
      </p:sp>
      <p:sp>
        <p:nvSpPr>
          <p:cNvPr id="19" name="TextBox 18"/>
          <p:cNvSpPr txBox="1"/>
          <p:nvPr/>
        </p:nvSpPr>
        <p:spPr>
          <a:xfrm>
            <a:off x="3200399" y="5248656"/>
            <a:ext cx="2468880" cy="411480"/>
          </a:xfrm>
          <a:prstGeom prst="rect">
            <a:avLst/>
          </a:prstGeom>
          <a:noFill/>
        </p:spPr>
        <p:txBody>
          <a:bodyPr wrap="square" lIns="0" rIns="0" tIns="18288" bIns="18288" anchor="t">
            <a:spAutoFit/>
          </a:bodyPr>
          <a:lstStyle/>
          <a:p>
            <a:pPr algn="ctr"/>
            <a:r>
              <a:rPr sz="950" b="0" i="0">
                <a:solidFill>
                  <a:srgbClr val="555555"/>
                </a:solidFill>
                <a:latin typeface="Abadi"/>
              </a:rPr>
              <a:t>Controls</a:t>
            </a:r>
          </a:p>
        </p:txBody>
      </p:sp>
      <p:sp>
        <p:nvSpPr>
          <p:cNvPr id="20" name="TextBox 19"/>
          <p:cNvSpPr txBox="1"/>
          <p:nvPr/>
        </p:nvSpPr>
        <p:spPr>
          <a:xfrm>
            <a:off x="6309360" y="1783080"/>
            <a:ext cx="5303520" cy="3931920"/>
          </a:xfrm>
          <a:prstGeom prst="rect">
            <a:avLst/>
          </a:prstGeom>
          <a:noFill/>
        </p:spPr>
        <p:txBody>
          <a:bodyPr wrap="square" lIns="0" rIns="0" tIns="18288" bIns="18288" anchor="t">
            <a:spAutoFit/>
          </a:bodyPr>
          <a:lstStyle/>
          <a:p>
            <a:pPr algn="l">
              <a:spcAft>
                <a:spcPts val="400"/>
              </a:spcAft>
            </a:pPr>
            <a:r>
              <a:rPr sz="1500" b="1" i="0">
                <a:solidFill>
                  <a:srgbClr val="1B355E"/>
                </a:solidFill>
                <a:latin typeface="Abadi"/>
              </a:rPr>
              <a:t>84% swallows</a:t>
            </a:r>
          </a:p>
          <a:p>
            <a:pPr algn="l">
              <a:spcAft>
                <a:spcPts val="400"/>
              </a:spcAft>
            </a:pPr>
            <a:r>
              <a:rPr sz="1050" b="0" i="0">
                <a:solidFill>
                  <a:srgbClr val="555555"/>
                </a:solidFill>
                <a:latin typeface="Abadi"/>
              </a:rPr>
              <a:t>Swallowing was the oesophageal event most often linked to spontaneous respiratory events.</a:t>
            </a:r>
          </a:p>
          <a:p>
            <a:pPr algn="l">
              <a:spcAft>
                <a:spcPts val="400"/>
              </a:spcAft>
            </a:pPr>
            <a:r>
              <a:rPr sz="1500" b="1" i="0">
                <a:solidFill>
                  <a:srgbClr val="1B355E"/>
                </a:solidFill>
                <a:latin typeface="Abadi"/>
              </a:rPr>
              <a:t>Weaker reflexes</a:t>
            </a:r>
          </a:p>
          <a:p>
            <a:pPr algn="l">
              <a:spcAft>
                <a:spcPts val="400"/>
              </a:spcAft>
            </a:pPr>
            <a:r>
              <a:rPr sz="1050" b="0" i="0">
                <a:solidFill>
                  <a:srgbClr val="555555"/>
                </a:solidFill>
                <a:latin typeface="Abadi"/>
              </a:rPr>
              <a:t>Upper oesophageal sphincter protective reflexes were smaller (p = 0.01), and recovery of aerodigestive normalcy slower (p = 0.03).</a:t>
            </a:r>
          </a:p>
          <a:p>
            <a:pPr algn="l">
              <a:spcAft>
                <a:spcPts val="400"/>
              </a:spcAft>
            </a:pPr>
            <a:r>
              <a:rPr sz="1500" b="1" i="0">
                <a:solidFill>
                  <a:srgbClr val="1B355E"/>
                </a:solidFill>
                <a:latin typeface="Abadi"/>
              </a:rPr>
              <a:t>Authors' conclusion</a:t>
            </a:r>
          </a:p>
          <a:p>
            <a:pPr algn="l">
              <a:spcAft>
                <a:spcPts val="400"/>
              </a:spcAft>
            </a:pPr>
            <a:r>
              <a:rPr sz="1050" b="0" i="0">
                <a:solidFill>
                  <a:srgbClr val="555555"/>
                </a:solidFill>
                <a:latin typeface="Abadi"/>
              </a:rPr>
              <a:t>Treatment should not target gastro-oesophageal reflux.</a:t>
            </a:r>
          </a:p>
          <a:p>
            <a:pPr algn="l">
              <a:spcAft>
                <a:spcPts val="400"/>
              </a:spcAft>
            </a:pPr>
            <a:r>
              <a:rPr sz="1500" b="1" i="0">
                <a:solidFill>
                  <a:srgbClr val="1B355E"/>
                </a:solidFill>
                <a:latin typeface="Abadi"/>
              </a:rPr>
              <a:t>Systematic review</a:t>
            </a:r>
          </a:p>
          <a:p>
            <a:pPr algn="l">
              <a:spcAft>
                <a:spcPts val="400"/>
              </a:spcAft>
            </a:pPr>
            <a:r>
              <a:rPr sz="1050" b="0" i="0">
                <a:solidFill>
                  <a:srgbClr val="555555"/>
                </a:solidFill>
                <a:latin typeface="Abadi"/>
              </a:rPr>
              <a:t>37 ALTE studies, none high quality: reflux testing is unnecessary.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HARM</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TREATING A REFLUX THAT DID NOT CAUSE IT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Ranitidine and outcomes in 274 very low birth weight infants, observational cohort,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Terrin G, et al. Pediatrics 2012;129:e40–5 · Rosen 2018 · Orenstein SR, et al. J Pediatr 2009;154:514–20</a:t>
            </a:r>
          </a:p>
        </p:txBody>
      </p:sp>
      <p:sp>
        <p:nvSpPr>
          <p:cNvPr id="12" name="TextBox 11"/>
          <p:cNvSpPr txBox="1"/>
          <p:nvPr/>
        </p:nvSpPr>
        <p:spPr>
          <a:xfrm>
            <a:off x="731520" y="1856231"/>
            <a:ext cx="6949440" cy="228600"/>
          </a:xfrm>
          <a:prstGeom prst="rect">
            <a:avLst/>
          </a:prstGeom>
          <a:noFill/>
        </p:spPr>
        <p:txBody>
          <a:bodyPr wrap="square" lIns="0" rIns="0" tIns="18288" bIns="18288" anchor="t">
            <a:spAutoFit/>
          </a:bodyPr>
          <a:lstStyle/>
          <a:p>
            <a:pPr algn="l"/>
            <a:r>
              <a:rPr sz="950" b="0" i="1">
                <a:solidFill>
                  <a:srgbClr val="7F7F7F"/>
                </a:solidFill>
                <a:latin typeface="Abadi"/>
              </a:rPr>
              <a:t>Per cent of infants</a:t>
            </a:r>
          </a:p>
        </p:txBody>
      </p:sp>
      <p:sp>
        <p:nvSpPr>
          <p:cNvPr id="13" name="Rectangle 12"/>
          <p:cNvSpPr/>
          <p:nvPr/>
        </p:nvSpPr>
        <p:spPr>
          <a:xfrm>
            <a:off x="731520" y="5212080"/>
            <a:ext cx="694944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65860" y="2518943"/>
            <a:ext cx="868680" cy="269313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244623"/>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37.4</a:t>
            </a:r>
          </a:p>
        </p:txBody>
      </p:sp>
      <p:sp>
        <p:nvSpPr>
          <p:cNvPr id="16" name="TextBox 15"/>
          <p:cNvSpPr txBox="1"/>
          <p:nvPr/>
        </p:nvSpPr>
        <p:spPr>
          <a:xfrm>
            <a:off x="731520" y="5248656"/>
            <a:ext cx="1737360" cy="411480"/>
          </a:xfrm>
          <a:prstGeom prst="rect">
            <a:avLst/>
          </a:prstGeom>
          <a:noFill/>
        </p:spPr>
        <p:txBody>
          <a:bodyPr wrap="square" lIns="0" rIns="0" tIns="18288" bIns="18288" anchor="t">
            <a:spAutoFit/>
          </a:bodyPr>
          <a:lstStyle/>
          <a:p>
            <a:pPr algn="ctr"/>
            <a:r>
              <a:rPr sz="950" b="0" i="0">
                <a:solidFill>
                  <a:srgbClr val="555555"/>
                </a:solidFill>
                <a:latin typeface="Abadi"/>
              </a:rPr>
              <a:t>Infections,</a:t>
            </a:r>
          </a:p>
          <a:p>
            <a:pPr algn="ctr"/>
            <a:r>
              <a:rPr sz="950" b="0" i="0">
                <a:solidFill>
                  <a:srgbClr val="555555"/>
                </a:solidFill>
                <a:latin typeface="Abadi"/>
              </a:rPr>
              <a:t>ranitidine</a:t>
            </a:r>
          </a:p>
        </p:txBody>
      </p:sp>
      <p:sp>
        <p:nvSpPr>
          <p:cNvPr id="17" name="Rectangle 16"/>
          <p:cNvSpPr/>
          <p:nvPr/>
        </p:nvSpPr>
        <p:spPr>
          <a:xfrm>
            <a:off x="2903220" y="4506391"/>
            <a:ext cx="868680" cy="70568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4232071"/>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9.8</a:t>
            </a:r>
          </a:p>
        </p:txBody>
      </p:sp>
      <p:sp>
        <p:nvSpPr>
          <p:cNvPr id="19" name="TextBox 18"/>
          <p:cNvSpPr txBox="1"/>
          <p:nvPr/>
        </p:nvSpPr>
        <p:spPr>
          <a:xfrm>
            <a:off x="2468880" y="5248656"/>
            <a:ext cx="1737360" cy="411480"/>
          </a:xfrm>
          <a:prstGeom prst="rect">
            <a:avLst/>
          </a:prstGeom>
          <a:noFill/>
        </p:spPr>
        <p:txBody>
          <a:bodyPr wrap="square" lIns="0" rIns="0" tIns="18288" bIns="18288" anchor="t">
            <a:spAutoFit/>
          </a:bodyPr>
          <a:lstStyle/>
          <a:p>
            <a:pPr algn="ctr"/>
            <a:r>
              <a:rPr sz="950" b="0" i="0">
                <a:solidFill>
                  <a:srgbClr val="555555"/>
                </a:solidFill>
                <a:latin typeface="Abadi"/>
              </a:rPr>
              <a:t>Infections,</a:t>
            </a:r>
          </a:p>
          <a:p>
            <a:pPr algn="ctr"/>
            <a:r>
              <a:rPr sz="950" b="0" i="0">
                <a:solidFill>
                  <a:srgbClr val="555555"/>
                </a:solidFill>
                <a:latin typeface="Abadi"/>
              </a:rPr>
              <a:t>no ranitidine</a:t>
            </a:r>
          </a:p>
        </p:txBody>
      </p:sp>
      <p:sp>
        <p:nvSpPr>
          <p:cNvPr id="20" name="Rectangle 19"/>
          <p:cNvSpPr/>
          <p:nvPr/>
        </p:nvSpPr>
        <p:spPr>
          <a:xfrm>
            <a:off x="4640580" y="4499190"/>
            <a:ext cx="868680" cy="71288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59" y="4224870"/>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9.9</a:t>
            </a:r>
          </a:p>
        </p:txBody>
      </p:sp>
      <p:sp>
        <p:nvSpPr>
          <p:cNvPr id="22" name="TextBox 21"/>
          <p:cNvSpPr txBox="1"/>
          <p:nvPr/>
        </p:nvSpPr>
        <p:spPr>
          <a:xfrm>
            <a:off x="4206240" y="5248656"/>
            <a:ext cx="1737360" cy="411480"/>
          </a:xfrm>
          <a:prstGeom prst="rect">
            <a:avLst/>
          </a:prstGeom>
          <a:noFill/>
        </p:spPr>
        <p:txBody>
          <a:bodyPr wrap="square" lIns="0" rIns="0" tIns="18288" bIns="18288" anchor="t">
            <a:spAutoFit/>
          </a:bodyPr>
          <a:lstStyle/>
          <a:p>
            <a:pPr algn="ctr"/>
            <a:r>
              <a:rPr sz="950" b="0" i="0">
                <a:solidFill>
                  <a:srgbClr val="555555"/>
                </a:solidFill>
                <a:latin typeface="Abadi"/>
              </a:rPr>
              <a:t>Death,</a:t>
            </a:r>
          </a:p>
          <a:p>
            <a:pPr algn="ctr"/>
            <a:r>
              <a:rPr sz="950" b="0" i="0">
                <a:solidFill>
                  <a:srgbClr val="555555"/>
                </a:solidFill>
                <a:latin typeface="Abadi"/>
              </a:rPr>
              <a:t>ranitidine</a:t>
            </a:r>
          </a:p>
        </p:txBody>
      </p:sp>
      <p:sp>
        <p:nvSpPr>
          <p:cNvPr id="23" name="Rectangle 22"/>
          <p:cNvSpPr/>
          <p:nvPr/>
        </p:nvSpPr>
        <p:spPr>
          <a:xfrm>
            <a:off x="6377940" y="5096865"/>
            <a:ext cx="868680" cy="11521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19" y="4822545"/>
            <a:ext cx="1645920" cy="256032"/>
          </a:xfrm>
          <a:prstGeom prst="rect">
            <a:avLst/>
          </a:prstGeom>
          <a:noFill/>
        </p:spPr>
        <p:txBody>
          <a:bodyPr wrap="square" lIns="0" rIns="0" tIns="18288" bIns="18288" anchor="t">
            <a:spAutoFit/>
          </a:bodyPr>
          <a:lstStyle/>
          <a:p>
            <a:pPr algn="ctr"/>
            <a:r>
              <a:rPr sz="1050" b="1" i="0">
                <a:solidFill>
                  <a:srgbClr val="1A1A1A"/>
                </a:solidFill>
                <a:latin typeface="Abadi"/>
              </a:rPr>
              <a:t>1.6</a:t>
            </a:r>
          </a:p>
        </p:txBody>
      </p:sp>
      <p:sp>
        <p:nvSpPr>
          <p:cNvPr id="25" name="TextBox 24"/>
          <p:cNvSpPr txBox="1"/>
          <p:nvPr/>
        </p:nvSpPr>
        <p:spPr>
          <a:xfrm>
            <a:off x="5943599" y="5248656"/>
            <a:ext cx="1737360" cy="411480"/>
          </a:xfrm>
          <a:prstGeom prst="rect">
            <a:avLst/>
          </a:prstGeom>
          <a:noFill/>
        </p:spPr>
        <p:txBody>
          <a:bodyPr wrap="square" lIns="0" rIns="0" tIns="18288" bIns="18288" anchor="t">
            <a:spAutoFit/>
          </a:bodyPr>
          <a:lstStyle/>
          <a:p>
            <a:pPr algn="ctr"/>
            <a:r>
              <a:rPr sz="950" b="0" i="0">
                <a:solidFill>
                  <a:srgbClr val="555555"/>
                </a:solidFill>
                <a:latin typeface="Abadi"/>
              </a:rPr>
              <a:t>Death,</a:t>
            </a:r>
          </a:p>
          <a:p>
            <a:pPr algn="ctr"/>
            <a:r>
              <a:rPr sz="950" b="0" i="0">
                <a:solidFill>
                  <a:srgbClr val="555555"/>
                </a:solidFill>
                <a:latin typeface="Abadi"/>
              </a:rPr>
              <a:t>no ranitidine</a:t>
            </a:r>
          </a:p>
        </p:txBody>
      </p:sp>
      <p:sp>
        <p:nvSpPr>
          <p:cNvPr id="26" name="TextBox 25"/>
          <p:cNvSpPr txBox="1"/>
          <p:nvPr/>
        </p:nvSpPr>
        <p:spPr>
          <a:xfrm>
            <a:off x="8138160" y="1783080"/>
            <a:ext cx="3474720" cy="3931920"/>
          </a:xfrm>
          <a:prstGeom prst="rect">
            <a:avLst/>
          </a:prstGeom>
          <a:noFill/>
        </p:spPr>
        <p:txBody>
          <a:bodyPr wrap="square" lIns="0" rIns="0" tIns="18288" bIns="18288" anchor="t">
            <a:spAutoFit/>
          </a:bodyPr>
          <a:lstStyle/>
          <a:p>
            <a:pPr algn="l">
              <a:spcAft>
                <a:spcPts val="400"/>
              </a:spcAft>
            </a:pPr>
            <a:r>
              <a:rPr sz="1500" b="1" i="0">
                <a:solidFill>
                  <a:srgbClr val="1B355E"/>
                </a:solidFill>
                <a:latin typeface="Abadi"/>
              </a:rPr>
              <a:t>Odds ratios</a:t>
            </a:r>
          </a:p>
          <a:p>
            <a:pPr algn="l">
              <a:spcAft>
                <a:spcPts val="400"/>
              </a:spcAft>
            </a:pPr>
            <a:r>
              <a:rPr sz="1050" b="0" i="0">
                <a:solidFill>
                  <a:srgbClr val="555555"/>
                </a:solidFill>
                <a:latin typeface="Abadi"/>
              </a:rPr>
              <a:t>Infection 5.5 (95% CI 2.9–10.4); necrotising enterocolitis 6.6 (1.7–25.0).</a:t>
            </a:r>
          </a:p>
          <a:p>
            <a:pPr algn="l">
              <a:spcAft>
                <a:spcPts val="400"/>
              </a:spcAft>
            </a:pPr>
            <a:r>
              <a:rPr sz="1500" b="1" i="0">
                <a:solidFill>
                  <a:srgbClr val="1B355E"/>
                </a:solidFill>
                <a:latin typeface="Abadi"/>
              </a:rPr>
              <a:t>No benefit to offset</a:t>
            </a:r>
          </a:p>
          <a:p>
            <a:pPr algn="l">
              <a:spcAft>
                <a:spcPts val="400"/>
              </a:spcAft>
            </a:pPr>
            <a:r>
              <a:rPr sz="1050" b="0" i="0">
                <a:solidFill>
                  <a:srgbClr val="555555"/>
                </a:solidFill>
                <a:latin typeface="Abadi"/>
              </a:rPr>
              <a:t>PPI trials in infants show no symptom gain over placebo; none tested apnoea as an outcome.</a:t>
            </a:r>
          </a:p>
          <a:p>
            <a:pPr algn="l">
              <a:spcAft>
                <a:spcPts val="400"/>
              </a:spcAft>
            </a:pPr>
            <a:r>
              <a:rPr sz="1500" b="1" i="0">
                <a:solidFill>
                  <a:srgbClr val="1B355E"/>
                </a:solidFill>
                <a:latin typeface="Abadi"/>
              </a:rPr>
              <a:t>Mechanism</a:t>
            </a:r>
          </a:p>
          <a:p>
            <a:pPr algn="l">
              <a:spcAft>
                <a:spcPts val="400"/>
              </a:spcAft>
            </a:pPr>
            <a:r>
              <a:rPr sz="1050" b="0" i="0">
                <a:solidFill>
                  <a:srgbClr val="555555"/>
                </a:solidFill>
                <a:latin typeface="Abadi"/>
              </a:rPr>
              <a:t>Loss of gastric acid barrier, altered microbiota.</a:t>
            </a:r>
          </a:p>
          <a:p>
            <a:pPr algn="l">
              <a:spcAft>
                <a:spcPts val="400"/>
              </a:spcAft>
            </a:pPr>
            <a:r>
              <a:rPr sz="1500" b="1" i="0">
                <a:solidFill>
                  <a:srgbClr val="1B355E"/>
                </a:solidFill>
                <a:latin typeface="Abadi"/>
              </a:rPr>
              <a:t>Caveat</a:t>
            </a:r>
          </a:p>
          <a:p>
            <a:pPr algn="l">
              <a:spcAft>
                <a:spcPts val="400"/>
              </a:spcAft>
            </a:pPr>
            <a:r>
              <a:rPr sz="1050" b="0" i="0">
                <a:solidFill>
                  <a:srgbClr val="555555"/>
                </a:solidFill>
                <a:latin typeface="Abadi"/>
              </a:rPr>
              <a:t>Observational: association, not proof.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BEYOND THE AAP CRITERIA</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CRITERIA THAT OVER-CALL RISK</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Discrimination for a serious underlying diagnosis, area under the ROC curve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Nama N, et al. Hosp Pediatr 2022 (BRUE 2.0 derivation) · Nama N, et al. JAMA Pediatr 2025;179:188–96</a:t>
            </a:r>
          </a:p>
        </p:txBody>
      </p:sp>
      <p:sp>
        <p:nvSpPr>
          <p:cNvPr id="12" name="TextBox 11"/>
          <p:cNvSpPr txBox="1"/>
          <p:nvPr/>
        </p:nvSpPr>
        <p:spPr>
          <a:xfrm>
            <a:off x="548640" y="1965960"/>
            <a:ext cx="3200400" cy="594360"/>
          </a:xfrm>
          <a:prstGeom prst="rect">
            <a:avLst/>
          </a:prstGeom>
          <a:noFill/>
        </p:spPr>
        <p:txBody>
          <a:bodyPr wrap="square" lIns="0" rIns="0" tIns="18288" bIns="18288" anchor="ctr">
            <a:spAutoFit/>
          </a:bodyPr>
          <a:lstStyle/>
          <a:p>
            <a:pPr algn="l"/>
            <a:r>
              <a:rPr sz="1050" b="0" i="0">
                <a:solidFill>
                  <a:srgbClr val="1A1A1A"/>
                </a:solidFill>
                <a:latin typeface="Abadi"/>
              </a:rPr>
              <a:t>AAP higher-risk criteria (external, 1,042)</a:t>
            </a:r>
          </a:p>
        </p:txBody>
      </p:sp>
      <p:sp>
        <p:nvSpPr>
          <p:cNvPr id="13" name="Rectangle 12"/>
          <p:cNvSpPr/>
          <p:nvPr/>
        </p:nvSpPr>
        <p:spPr>
          <a:xfrm>
            <a:off x="3840480" y="2098548"/>
            <a:ext cx="2035454"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30798" y="1965960"/>
            <a:ext cx="1737360" cy="594360"/>
          </a:xfrm>
          <a:prstGeom prst="rect">
            <a:avLst/>
          </a:prstGeom>
          <a:noFill/>
        </p:spPr>
        <p:txBody>
          <a:bodyPr wrap="square" lIns="0" rIns="0" tIns="18288" bIns="18288" anchor="ctr">
            <a:spAutoFit/>
          </a:bodyPr>
          <a:lstStyle/>
          <a:p>
            <a:pPr algn="l"/>
            <a:r>
              <a:rPr sz="1050" b="1" i="0">
                <a:solidFill>
                  <a:srgbClr val="1A1A1A"/>
                </a:solidFill>
                <a:latin typeface="Abadi"/>
              </a:rPr>
              <a:t>0.53</a:t>
            </a:r>
          </a:p>
        </p:txBody>
      </p:sp>
      <p:sp>
        <p:nvSpPr>
          <p:cNvPr id="15" name="TextBox 14"/>
          <p:cNvSpPr txBox="1"/>
          <p:nvPr/>
        </p:nvSpPr>
        <p:spPr>
          <a:xfrm>
            <a:off x="548640" y="2560320"/>
            <a:ext cx="3200400" cy="594360"/>
          </a:xfrm>
          <a:prstGeom prst="rect">
            <a:avLst/>
          </a:prstGeom>
          <a:noFill/>
        </p:spPr>
        <p:txBody>
          <a:bodyPr wrap="square" lIns="0" rIns="0" tIns="18288" bIns="18288" anchor="ctr">
            <a:spAutoFit/>
          </a:bodyPr>
          <a:lstStyle/>
          <a:p>
            <a:pPr algn="l"/>
            <a:r>
              <a:rPr sz="1050" b="0" i="0">
                <a:solidFill>
                  <a:srgbClr val="1A1A1A"/>
                </a:solidFill>
                <a:latin typeface="Abadi"/>
              </a:rPr>
              <a:t>BRUE prediction rule (derivation, 3,283)</a:t>
            </a:r>
          </a:p>
        </p:txBody>
      </p:sp>
      <p:sp>
        <p:nvSpPr>
          <p:cNvPr id="16" name="Rectangle 15"/>
          <p:cNvSpPr/>
          <p:nvPr/>
        </p:nvSpPr>
        <p:spPr>
          <a:xfrm>
            <a:off x="3840480" y="2692908"/>
            <a:ext cx="2457907"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3251" y="2560320"/>
            <a:ext cx="1737360" cy="594360"/>
          </a:xfrm>
          <a:prstGeom prst="rect">
            <a:avLst/>
          </a:prstGeom>
          <a:noFill/>
        </p:spPr>
        <p:txBody>
          <a:bodyPr wrap="square" lIns="0" rIns="0" tIns="18288" bIns="18288" anchor="ctr">
            <a:spAutoFit/>
          </a:bodyPr>
          <a:lstStyle/>
          <a:p>
            <a:pPr algn="l"/>
            <a:r>
              <a:rPr sz="1050" b="1" i="0">
                <a:solidFill>
                  <a:srgbClr val="1A1A1A"/>
                </a:solidFill>
                <a:latin typeface="Abadi"/>
              </a:rPr>
              <a:t>0.64</a:t>
            </a:r>
          </a:p>
        </p:txBody>
      </p:sp>
      <p:sp>
        <p:nvSpPr>
          <p:cNvPr id="18" name="TextBox 17"/>
          <p:cNvSpPr txBox="1"/>
          <p:nvPr/>
        </p:nvSpPr>
        <p:spPr>
          <a:xfrm>
            <a:off x="548640" y="3154680"/>
            <a:ext cx="3200400" cy="594360"/>
          </a:xfrm>
          <a:prstGeom prst="rect">
            <a:avLst/>
          </a:prstGeom>
          <a:noFill/>
        </p:spPr>
        <p:txBody>
          <a:bodyPr wrap="square" lIns="0" rIns="0" tIns="18288" bIns="18288" anchor="ctr">
            <a:spAutoFit/>
          </a:bodyPr>
          <a:lstStyle/>
          <a:p>
            <a:pPr algn="l"/>
            <a:r>
              <a:rPr sz="1050" b="0" i="0">
                <a:solidFill>
                  <a:srgbClr val="1A1A1A"/>
                </a:solidFill>
                <a:latin typeface="Abadi"/>
              </a:rPr>
              <a:t>BRUE rule, revised (external, 1,042)</a:t>
            </a:r>
          </a:p>
        </p:txBody>
      </p:sp>
      <p:sp>
        <p:nvSpPr>
          <p:cNvPr id="19" name="Rectangle 18"/>
          <p:cNvSpPr/>
          <p:nvPr/>
        </p:nvSpPr>
        <p:spPr>
          <a:xfrm>
            <a:off x="3840480" y="3287268"/>
            <a:ext cx="272674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2084" y="3154680"/>
            <a:ext cx="1737360" cy="594360"/>
          </a:xfrm>
          <a:prstGeom prst="rect">
            <a:avLst/>
          </a:prstGeom>
          <a:noFill/>
        </p:spPr>
        <p:txBody>
          <a:bodyPr wrap="square" lIns="0" rIns="0" tIns="18288" bIns="18288" anchor="ctr">
            <a:spAutoFit/>
          </a:bodyPr>
          <a:lstStyle/>
          <a:p>
            <a:pPr algn="l"/>
            <a:r>
              <a:rPr sz="1050" b="1" i="0">
                <a:solidFill>
                  <a:srgbClr val="1A1A1A"/>
                </a:solidFill>
                <a:latin typeface="Abadi"/>
              </a:rPr>
              <a:t>0.71</a:t>
            </a:r>
          </a:p>
        </p:txBody>
      </p:sp>
      <p:sp>
        <p:nvSpPr>
          <p:cNvPr id="21" name="TextBox 20"/>
          <p:cNvSpPr txBox="1"/>
          <p:nvPr/>
        </p:nvSpPr>
        <p:spPr>
          <a:xfrm>
            <a:off x="548640" y="3931920"/>
            <a:ext cx="7955279" cy="1874519"/>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The AAP criteria discriminate no better than chance for serious disease; the data-derived rule does modestly better. Serious diagnoses occurred in 4.6% of the derivation cohort and 7.6% of the validation cohort; events recurred in 14% to 16%.</a:t>
            </a:r>
          </a:p>
          <a:p>
            <a:pPr algn="l">
              <a:spcAft>
                <a:spcPts val="600"/>
              </a:spcAft>
            </a:pPr>
            <a:r>
              <a:rPr sz="1200" b="1" i="0">
                <a:solidFill>
                  <a:srgbClr val="B22222"/>
                </a:solidFill>
                <a:latin typeface="Abadi"/>
              </a:rPr>
              <a:t>Predictors.  </a:t>
            </a:r>
            <a:r>
              <a:rPr sz="1200" b="0" i="0">
                <a:solidFill>
                  <a:srgbClr val="1A1A1A"/>
                </a:solidFill>
                <a:latin typeface="Abadi"/>
              </a:rPr>
              <a:t>Prior similar event, clusters of events, CPR by a trained provider and an abnormal medical history; feeding-related features were not among them.</a:t>
            </a:r>
          </a:p>
        </p:txBody>
      </p:sp>
      <p:sp>
        <p:nvSpPr>
          <p:cNvPr id="22" name="TextBox 21"/>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i="0">
                <a:solidFill>
                  <a:srgbClr val="1B355E"/>
                </a:solidFill>
                <a:latin typeface="Abadi"/>
              </a:rPr>
              <a:t>Use</a:t>
            </a:r>
          </a:p>
          <a:p>
            <a:pPr algn="l">
              <a:spcAft>
                <a:spcPts val="400"/>
              </a:spcAft>
            </a:pPr>
            <a:r>
              <a:rPr sz="1050" b="0" i="0">
                <a:solidFill>
                  <a:srgbClr val="555555"/>
                </a:solidFill>
                <a:latin typeface="Abadi"/>
              </a:rPr>
              <a:t>Stratify by history: clusters, prior events, CPR and comorbidity drive work-up, not reflux symptoms.</a:t>
            </a:r>
          </a:p>
          <a:p>
            <a:pPr algn="l">
              <a:spcAft>
                <a:spcPts val="400"/>
              </a:spcAft>
            </a:pPr>
            <a:r>
              <a:rPr sz="1500" b="1" i="0">
                <a:solidFill>
                  <a:srgbClr val="1B355E"/>
                </a:solidFill>
                <a:latin typeface="Abadi"/>
              </a:rPr>
              <a:t>Calculators</a:t>
            </a:r>
          </a:p>
          <a:p>
            <a:pPr algn="l">
              <a:spcAft>
                <a:spcPts val="400"/>
              </a:spcAft>
            </a:pPr>
            <a:r>
              <a:rPr sz="1050" b="0" i="0">
                <a:solidFill>
                  <a:srgbClr val="555555"/>
                </a:solidFill>
                <a:latin typeface="Abadi"/>
              </a:rPr>
              <a:t>BRUE 2.0 online tools exist; use them to support, not replace, judgement.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SANDIFER SYNDROME</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WHEN REFLUX MOVES THE NECK</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Episodic torticollis with neck extension and rotation, back arching, in a neurologically normal child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Mindlina I. Eur J Pediatr 2020;179:243–50 · Systematic review of Sandifer syndrome, Pediatr Surg Int 2024 · NICE NG1 1.1.7</a:t>
            </a:r>
          </a:p>
        </p:txBody>
      </p:sp>
      <p:sp>
        <p:nvSpPr>
          <p:cNvPr id="12" name="Rectangle 11"/>
          <p:cNvSpPr/>
          <p:nvPr/>
        </p:nvSpPr>
        <p:spPr>
          <a:xfrm>
            <a:off x="548640" y="1773936"/>
            <a:ext cx="2633472"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000" b="1" i="0">
                <a:solidFill>
                  <a:srgbClr val="1B355E"/>
                </a:solidFill>
                <a:latin typeface="Abadi"/>
              </a:rPr>
              <a:t>44 cases</a:t>
            </a:r>
          </a:p>
        </p:txBody>
      </p:sp>
      <p:sp>
        <p:nvSpPr>
          <p:cNvPr id="15" name="TextBox 14"/>
          <p:cNvSpPr txBox="1"/>
          <p:nvPr/>
        </p:nvSpPr>
        <p:spPr>
          <a:xfrm>
            <a:off x="713232" y="2487168"/>
            <a:ext cx="2304288" cy="1325879"/>
          </a:xfrm>
          <a:prstGeom prst="rect">
            <a:avLst/>
          </a:prstGeom>
          <a:noFill/>
        </p:spPr>
        <p:txBody>
          <a:bodyPr wrap="square" lIns="0" rIns="0" tIns="18288" bIns="18288" anchor="t">
            <a:spAutoFit/>
          </a:bodyPr>
          <a:lstStyle/>
          <a:p>
            <a:pPr algn="l"/>
            <a:r>
              <a:rPr sz="1050" b="0" i="0">
                <a:solidFill>
                  <a:srgbClr val="1A1A1A"/>
                </a:solidFill>
                <a:latin typeface="Abadi"/>
              </a:rPr>
              <a:t>Mindlina 2020: 27 reports; many first given neuropsychiatric diagnoses, some mimicking seizures.</a:t>
            </a:r>
          </a:p>
        </p:txBody>
      </p:sp>
      <p:sp>
        <p:nvSpPr>
          <p:cNvPr id="16" name="Rectangle 15"/>
          <p:cNvSpPr/>
          <p:nvPr/>
        </p:nvSpPr>
        <p:spPr>
          <a:xfrm>
            <a:off x="3364992" y="1773936"/>
            <a:ext cx="2633472" cy="21031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000" b="1" i="0">
                <a:solidFill>
                  <a:srgbClr val="D97A0B"/>
                </a:solidFill>
                <a:latin typeface="Abadi"/>
              </a:rPr>
              <a:t>100%</a:t>
            </a:r>
          </a:p>
        </p:txBody>
      </p:sp>
      <p:sp>
        <p:nvSpPr>
          <p:cNvPr id="19" name="TextBox 18"/>
          <p:cNvSpPr txBox="1"/>
          <p:nvPr/>
        </p:nvSpPr>
        <p:spPr>
          <a:xfrm>
            <a:off x="3529584" y="2487168"/>
            <a:ext cx="2304288" cy="1325879"/>
          </a:xfrm>
          <a:prstGeom prst="rect">
            <a:avLst/>
          </a:prstGeom>
          <a:noFill/>
        </p:spPr>
        <p:txBody>
          <a:bodyPr wrap="square" lIns="0" rIns="0" tIns="18288" bIns="18288" anchor="t">
            <a:spAutoFit/>
          </a:bodyPr>
          <a:lstStyle/>
          <a:p>
            <a:pPr algn="l"/>
            <a:r>
              <a:rPr sz="1050" b="0" i="0">
                <a:solidFill>
                  <a:srgbClr val="1A1A1A"/>
                </a:solidFill>
                <a:latin typeface="Abadi"/>
              </a:rPr>
              <a:t>pH monitoring was positive in every case in which it was done (Mindlina).</a:t>
            </a:r>
          </a:p>
        </p:txBody>
      </p:sp>
      <p:sp>
        <p:nvSpPr>
          <p:cNvPr id="20" name="Rectangle 19"/>
          <p:cNvSpPr/>
          <p:nvPr/>
        </p:nvSpPr>
        <p:spPr>
          <a:xfrm>
            <a:off x="6181344" y="1773936"/>
            <a:ext cx="2633472" cy="21031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000" b="1" i="0">
                <a:solidFill>
                  <a:srgbClr val="B22222"/>
                </a:solidFill>
                <a:latin typeface="Abadi"/>
              </a:rPr>
              <a:t>19 of 56</a:t>
            </a:r>
          </a:p>
        </p:txBody>
      </p:sp>
      <p:sp>
        <p:nvSpPr>
          <p:cNvPr id="23" name="TextBox 22"/>
          <p:cNvSpPr txBox="1"/>
          <p:nvPr/>
        </p:nvSpPr>
        <p:spPr>
          <a:xfrm>
            <a:off x="6345936" y="2487168"/>
            <a:ext cx="2304288" cy="1325879"/>
          </a:xfrm>
          <a:prstGeom prst="rect">
            <a:avLst/>
          </a:prstGeom>
          <a:noFill/>
        </p:spPr>
        <p:txBody>
          <a:bodyPr wrap="square" lIns="0" rIns="0" tIns="18288" bIns="18288" anchor="t">
            <a:spAutoFit/>
          </a:bodyPr>
          <a:lstStyle/>
          <a:p>
            <a:pPr algn="l"/>
            <a:r>
              <a:rPr sz="1050" b="0" i="0">
                <a:solidFill>
                  <a:srgbClr val="1A1A1A"/>
                </a:solidFill>
                <a:latin typeface="Abadi"/>
              </a:rPr>
              <a:t>Pediatr Surg Int 2024: anatomical anomaly (hiatal hernia, malrotation); these needed surgery more often.</a:t>
            </a:r>
          </a:p>
        </p:txBody>
      </p:sp>
      <p:sp>
        <p:nvSpPr>
          <p:cNvPr id="24" name="Rectangle 23"/>
          <p:cNvSpPr/>
          <p:nvPr/>
        </p:nvSpPr>
        <p:spPr>
          <a:xfrm>
            <a:off x="8997696" y="1773936"/>
            <a:ext cx="2633472" cy="21031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000" b="1" i="0">
                <a:solidFill>
                  <a:srgbClr val="1E7A33"/>
                </a:solidFill>
                <a:latin typeface="Abadi"/>
              </a:rPr>
              <a:t>79%</a:t>
            </a:r>
          </a:p>
        </p:txBody>
      </p:sp>
      <p:sp>
        <p:nvSpPr>
          <p:cNvPr id="27" name="TextBox 26"/>
          <p:cNvSpPr txBox="1"/>
          <p:nvPr/>
        </p:nvSpPr>
        <p:spPr>
          <a:xfrm>
            <a:off x="9162288" y="2487168"/>
            <a:ext cx="2304288" cy="1325879"/>
          </a:xfrm>
          <a:prstGeom prst="rect">
            <a:avLst/>
          </a:prstGeom>
          <a:noFill/>
        </p:spPr>
        <p:txBody>
          <a:bodyPr wrap="square" lIns="0" rIns="0" tIns="18288" bIns="18288" anchor="t">
            <a:spAutoFit/>
          </a:bodyPr>
          <a:lstStyle/>
          <a:p>
            <a:pPr algn="l"/>
            <a:r>
              <a:rPr sz="1050" b="0" i="0">
                <a:solidFill>
                  <a:srgbClr val="1A1A1A"/>
                </a:solidFill>
                <a:latin typeface="Abadi"/>
              </a:rPr>
              <a:t>23 of 29 without an anomaly improved without surgery; median time to resolution 1 month.</a:t>
            </a:r>
          </a:p>
        </p:txBody>
      </p:sp>
      <p:sp>
        <p:nvSpPr>
          <p:cNvPr id="28" name="TextBox 27"/>
          <p:cNvSpPr txBox="1"/>
          <p:nvPr/>
        </p:nvSpPr>
        <p:spPr>
          <a:xfrm>
            <a:off x="548640" y="4114800"/>
            <a:ext cx="11082528" cy="169164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Recognise it.  </a:t>
            </a:r>
            <a:r>
              <a:rPr sz="1250" b="0" i="0">
                <a:solidFill>
                  <a:srgbClr val="1A1A1A"/>
                </a:solidFill>
                <a:latin typeface="Abadi"/>
              </a:rPr>
              <a:t>Posturing is tied to feeds, the child is awake and responsive, there is no post-ictal phase, and the neurological examination between episodes is normal.</a:t>
            </a:r>
          </a:p>
          <a:p>
            <a:pPr algn="l">
              <a:spcAft>
                <a:spcPts val="600"/>
              </a:spcAft>
            </a:pPr>
            <a:r>
              <a:rPr sz="1250" b="1" i="0">
                <a:solidFill>
                  <a:srgbClr val="B22222"/>
                </a:solidFill>
                <a:latin typeface="Abadi"/>
              </a:rPr>
              <a:t>Then treat the reflux.  </a:t>
            </a:r>
            <a:r>
              <a:rPr sz="1250" b="0" i="0">
                <a:solidFill>
                  <a:srgbClr val="1A1A1A"/>
                </a:solidFill>
                <a:latin typeface="Abadi"/>
              </a:rPr>
              <a:t>Here reflux is the proven cause: all reported cases improved with reflux treatment. Look for a hiatal hernia; fundoplication is reserved for failure or anatomy.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DIFFERENTIAL</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SANDIFER OR SEIZURE?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Paroxysmal posturing in an infant: discriminating features and the test that settles each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Mindlina 2020 · Mahant 2024 · NICE NG1 1.1.21 · Rosen 2018</a:t>
            </a:r>
          </a:p>
        </p:txBody>
      </p:sp>
      <p:sp>
        <p:nvSpPr>
          <p:cNvPr id="12" name="Rectangle 11"/>
          <p:cNvSpPr/>
          <p:nvPr/>
        </p:nvSpPr>
        <p:spPr>
          <a:xfrm>
            <a:off x="548640" y="1773936"/>
            <a:ext cx="2070201"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18288" bIns="18288" anchor="t">
            <a:spAutoFit/>
          </a:bodyPr>
          <a:lstStyle/>
          <a:p>
            <a:pPr algn="l"/>
            <a:r>
              <a:rPr sz="1500" b="1" i="0">
                <a:solidFill>
                  <a:srgbClr val="1E7A33"/>
                </a:solidFill>
                <a:latin typeface="Abadi"/>
              </a:rPr>
              <a:t>Sandifer</a:t>
            </a:r>
          </a:p>
        </p:txBody>
      </p:sp>
      <p:sp>
        <p:nvSpPr>
          <p:cNvPr id="15" name="TextBox 14"/>
          <p:cNvSpPr txBox="1"/>
          <p:nvPr/>
        </p:nvSpPr>
        <p:spPr>
          <a:xfrm>
            <a:off x="694944" y="2688336"/>
            <a:ext cx="1777593" cy="1280160"/>
          </a:xfrm>
          <a:prstGeom prst="rect">
            <a:avLst/>
          </a:prstGeom>
          <a:noFill/>
        </p:spPr>
        <p:txBody>
          <a:bodyPr wrap="square" lIns="0" rIns="0" tIns="18288" bIns="18288" anchor="t">
            <a:spAutoFit/>
          </a:bodyPr>
          <a:lstStyle/>
          <a:p>
            <a:pPr algn="l">
              <a:spcAft>
                <a:spcPts val="300"/>
              </a:spcAft>
            </a:pPr>
            <a:r>
              <a:rPr sz="1050" b="0" i="0">
                <a:solidFill>
                  <a:srgbClr val="1A1A1A"/>
                </a:solidFill>
                <a:latin typeface="Abadi"/>
              </a:rPr>
              <a:t>▪  With or after feeds</a:t>
            </a:r>
          </a:p>
          <a:p>
            <a:pPr algn="l">
              <a:spcAft>
                <a:spcPts val="300"/>
              </a:spcAft>
            </a:pPr>
            <a:r>
              <a:rPr sz="1050" b="0" i="0">
                <a:solidFill>
                  <a:srgbClr val="1A1A1A"/>
                </a:solidFill>
                <a:latin typeface="Abadi"/>
              </a:rPr>
              <a:t>▪  Awake, responsive</a:t>
            </a:r>
          </a:p>
          <a:p>
            <a:pPr algn="l">
              <a:spcAft>
                <a:spcPts val="300"/>
              </a:spcAft>
            </a:pPr>
            <a:r>
              <a:rPr sz="1050" b="0" i="0">
                <a:solidFill>
                  <a:srgbClr val="1A1A1A"/>
                </a:solidFill>
                <a:latin typeface="Abadi"/>
              </a:rPr>
              <a:t>▪  pH-impedance with video</a:t>
            </a:r>
          </a:p>
        </p:txBody>
      </p:sp>
      <p:sp>
        <p:nvSpPr>
          <p:cNvPr id="16" name="Rectangle 15"/>
          <p:cNvSpPr/>
          <p:nvPr/>
        </p:nvSpPr>
        <p:spPr>
          <a:xfrm>
            <a:off x="2801721" y="1773936"/>
            <a:ext cx="2070201"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18288" bIns="18288" anchor="t">
            <a:spAutoFit/>
          </a:bodyPr>
          <a:lstStyle/>
          <a:p>
            <a:pPr algn="l"/>
            <a:r>
              <a:rPr sz="1500" b="1" i="0">
                <a:solidFill>
                  <a:srgbClr val="B22222"/>
                </a:solidFill>
                <a:latin typeface="Abadi"/>
              </a:rPr>
              <a:t>Infantile spasms</a:t>
            </a:r>
          </a:p>
        </p:txBody>
      </p:sp>
      <p:sp>
        <p:nvSpPr>
          <p:cNvPr id="19" name="TextBox 18"/>
          <p:cNvSpPr txBox="1"/>
          <p:nvPr/>
        </p:nvSpPr>
        <p:spPr>
          <a:xfrm>
            <a:off x="2948025" y="2688336"/>
            <a:ext cx="1777593" cy="1280160"/>
          </a:xfrm>
          <a:prstGeom prst="rect">
            <a:avLst/>
          </a:prstGeom>
          <a:noFill/>
        </p:spPr>
        <p:txBody>
          <a:bodyPr wrap="square" lIns="0" rIns="0" tIns="18288" bIns="18288" anchor="t">
            <a:spAutoFit/>
          </a:bodyPr>
          <a:lstStyle/>
          <a:p>
            <a:pPr algn="l">
              <a:spcAft>
                <a:spcPts val="300"/>
              </a:spcAft>
            </a:pPr>
            <a:r>
              <a:rPr sz="1050" b="0" i="0">
                <a:solidFill>
                  <a:srgbClr val="1A1A1A"/>
                </a:solidFill>
                <a:latin typeface="Abadi"/>
              </a:rPr>
              <a:t>▪  Clusters on waking</a:t>
            </a:r>
          </a:p>
          <a:p>
            <a:pPr algn="l">
              <a:spcAft>
                <a:spcPts val="300"/>
              </a:spcAft>
            </a:pPr>
            <a:r>
              <a:rPr sz="1050" b="0" i="0">
                <a:solidFill>
                  <a:srgbClr val="1A1A1A"/>
                </a:solidFill>
                <a:latin typeface="Abadi"/>
              </a:rPr>
              <a:t>▪  Developmental plateau</a:t>
            </a:r>
          </a:p>
          <a:p>
            <a:pPr algn="l">
              <a:spcAft>
                <a:spcPts val="300"/>
              </a:spcAft>
            </a:pPr>
            <a:r>
              <a:rPr sz="1050" b="0" i="0">
                <a:solidFill>
                  <a:srgbClr val="1A1A1A"/>
                </a:solidFill>
                <a:latin typeface="Abadi"/>
              </a:rPr>
              <a:t>▪  EEG: hypsarrhythmia</a:t>
            </a:r>
          </a:p>
        </p:txBody>
      </p:sp>
      <p:sp>
        <p:nvSpPr>
          <p:cNvPr id="20" name="Rectangle 19"/>
          <p:cNvSpPr/>
          <p:nvPr/>
        </p:nvSpPr>
        <p:spPr>
          <a:xfrm>
            <a:off x="5054803" y="1773936"/>
            <a:ext cx="2070201"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18288" bIns="18288" anchor="t">
            <a:spAutoFit/>
          </a:bodyPr>
          <a:lstStyle/>
          <a:p>
            <a:pPr algn="l"/>
            <a:r>
              <a:rPr sz="1500" b="1" i="0">
                <a:solidFill>
                  <a:srgbClr val="B22222"/>
                </a:solidFill>
                <a:latin typeface="Abadi"/>
              </a:rPr>
              <a:t>Focal seizures</a:t>
            </a:r>
          </a:p>
        </p:txBody>
      </p:sp>
      <p:sp>
        <p:nvSpPr>
          <p:cNvPr id="23" name="TextBox 22"/>
          <p:cNvSpPr txBox="1"/>
          <p:nvPr/>
        </p:nvSpPr>
        <p:spPr>
          <a:xfrm>
            <a:off x="5201107" y="2688336"/>
            <a:ext cx="1777593" cy="1280160"/>
          </a:xfrm>
          <a:prstGeom prst="rect">
            <a:avLst/>
          </a:prstGeom>
          <a:noFill/>
        </p:spPr>
        <p:txBody>
          <a:bodyPr wrap="square" lIns="0" rIns="0" tIns="18288" bIns="18288" anchor="t">
            <a:spAutoFit/>
          </a:bodyPr>
          <a:lstStyle/>
          <a:p>
            <a:pPr algn="l">
              <a:spcAft>
                <a:spcPts val="300"/>
              </a:spcAft>
            </a:pPr>
            <a:r>
              <a:rPr sz="1050" b="0" i="0">
                <a:solidFill>
                  <a:srgbClr val="1A1A1A"/>
                </a:solidFill>
                <a:latin typeface="Abadi"/>
              </a:rPr>
              <a:t>▪  Gaze deviation, automatisms</a:t>
            </a:r>
          </a:p>
          <a:p>
            <a:pPr algn="l">
              <a:spcAft>
                <a:spcPts val="300"/>
              </a:spcAft>
            </a:pPr>
            <a:r>
              <a:rPr sz="1050" b="0" i="0">
                <a:solidFill>
                  <a:srgbClr val="1A1A1A"/>
                </a:solidFill>
                <a:latin typeface="Abadi"/>
              </a:rPr>
              <a:t>▪  Unrelated to feeds</a:t>
            </a:r>
          </a:p>
          <a:p>
            <a:pPr algn="l">
              <a:spcAft>
                <a:spcPts val="300"/>
              </a:spcAft>
            </a:pPr>
            <a:r>
              <a:rPr sz="1050" b="0" i="0">
                <a:solidFill>
                  <a:srgbClr val="1A1A1A"/>
                </a:solidFill>
                <a:latin typeface="Abadi"/>
              </a:rPr>
              <a:t>▪  EEG, neurology</a:t>
            </a:r>
          </a:p>
        </p:txBody>
      </p:sp>
      <p:sp>
        <p:nvSpPr>
          <p:cNvPr id="24" name="Rectangle 23"/>
          <p:cNvSpPr/>
          <p:nvPr/>
        </p:nvSpPr>
        <p:spPr>
          <a:xfrm>
            <a:off x="7307884" y="1773936"/>
            <a:ext cx="2070201"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18288" bIns="18288" anchor="t">
            <a:spAutoFit/>
          </a:bodyPr>
          <a:lstStyle/>
          <a:p>
            <a:pPr algn="l"/>
            <a:r>
              <a:rPr sz="1500" b="1" i="0">
                <a:solidFill>
                  <a:srgbClr val="1B355E"/>
                </a:solidFill>
                <a:latin typeface="Abadi"/>
              </a:rPr>
              <a:t>Benign torticollis</a:t>
            </a:r>
          </a:p>
        </p:txBody>
      </p:sp>
      <p:sp>
        <p:nvSpPr>
          <p:cNvPr id="27" name="TextBox 26"/>
          <p:cNvSpPr txBox="1"/>
          <p:nvPr/>
        </p:nvSpPr>
        <p:spPr>
          <a:xfrm>
            <a:off x="7454188" y="2688336"/>
            <a:ext cx="1777593" cy="1280160"/>
          </a:xfrm>
          <a:prstGeom prst="rect">
            <a:avLst/>
          </a:prstGeom>
          <a:noFill/>
        </p:spPr>
        <p:txBody>
          <a:bodyPr wrap="square" lIns="0" rIns="0" tIns="18288" bIns="18288" anchor="t">
            <a:spAutoFit/>
          </a:bodyPr>
          <a:lstStyle/>
          <a:p>
            <a:pPr algn="l">
              <a:spcAft>
                <a:spcPts val="300"/>
              </a:spcAft>
            </a:pPr>
            <a:r>
              <a:rPr sz="1050" b="0" i="0">
                <a:solidFill>
                  <a:srgbClr val="1A1A1A"/>
                </a:solidFill>
                <a:latin typeface="Abadi"/>
              </a:rPr>
              <a:t>▪  Hours to days</a:t>
            </a:r>
          </a:p>
          <a:p>
            <a:pPr algn="l">
              <a:spcAft>
                <a:spcPts val="300"/>
              </a:spcAft>
            </a:pPr>
            <a:r>
              <a:rPr sz="1050" b="0" i="0">
                <a:solidFill>
                  <a:srgbClr val="1A1A1A"/>
                </a:solidFill>
                <a:latin typeface="Abadi"/>
              </a:rPr>
              <a:t>▪  Pallor, vomiting, ataxia</a:t>
            </a:r>
          </a:p>
          <a:p>
            <a:pPr algn="l">
              <a:spcAft>
                <a:spcPts val="300"/>
              </a:spcAft>
            </a:pPr>
            <a:r>
              <a:rPr sz="1050" b="0" i="0">
                <a:solidFill>
                  <a:srgbClr val="1A1A1A"/>
                </a:solidFill>
                <a:latin typeface="Abadi"/>
              </a:rPr>
              <a:t>▪  Family migraine</a:t>
            </a:r>
          </a:p>
        </p:txBody>
      </p:sp>
      <p:sp>
        <p:nvSpPr>
          <p:cNvPr id="28" name="Rectangle 27"/>
          <p:cNvSpPr/>
          <p:nvPr/>
        </p:nvSpPr>
        <p:spPr>
          <a:xfrm>
            <a:off x="9560966" y="1773936"/>
            <a:ext cx="2070201"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18288" bIns="18288" anchor="t">
            <a:spAutoFit/>
          </a:bodyPr>
          <a:lstStyle/>
          <a:p>
            <a:pPr algn="l"/>
            <a:r>
              <a:rPr sz="1500" b="1" i="0">
                <a:solidFill>
                  <a:srgbClr val="7F7F7F"/>
                </a:solidFill>
                <a:latin typeface="Abadi"/>
              </a:rPr>
              <a:t>Structural</a:t>
            </a:r>
          </a:p>
        </p:txBody>
      </p:sp>
      <p:sp>
        <p:nvSpPr>
          <p:cNvPr id="31" name="TextBox 30"/>
          <p:cNvSpPr txBox="1"/>
          <p:nvPr/>
        </p:nvSpPr>
        <p:spPr>
          <a:xfrm>
            <a:off x="9707270" y="2688336"/>
            <a:ext cx="1777593" cy="1280160"/>
          </a:xfrm>
          <a:prstGeom prst="rect">
            <a:avLst/>
          </a:prstGeom>
          <a:noFill/>
        </p:spPr>
        <p:txBody>
          <a:bodyPr wrap="square" lIns="0" rIns="0" tIns="18288" bIns="18288" anchor="t">
            <a:spAutoFit/>
          </a:bodyPr>
          <a:lstStyle/>
          <a:p>
            <a:pPr algn="l">
              <a:spcAft>
                <a:spcPts val="300"/>
              </a:spcAft>
            </a:pPr>
            <a:r>
              <a:rPr sz="1050" b="0" i="0">
                <a:solidFill>
                  <a:srgbClr val="1A1A1A"/>
                </a:solidFill>
                <a:latin typeface="Abadi"/>
              </a:rPr>
              <a:t>▪  Posterior fossa, cervical spine</a:t>
            </a:r>
          </a:p>
          <a:p>
            <a:pPr algn="l">
              <a:spcAft>
                <a:spcPts val="300"/>
              </a:spcAft>
            </a:pPr>
            <a:r>
              <a:rPr sz="1050" b="0" i="0">
                <a:solidFill>
                  <a:srgbClr val="1A1A1A"/>
                </a:solidFill>
                <a:latin typeface="Abadi"/>
              </a:rPr>
              <a:t>▪  Fixed tilt, abnormal exam</a:t>
            </a:r>
          </a:p>
          <a:p>
            <a:pPr algn="l">
              <a:spcAft>
                <a:spcPts val="300"/>
              </a:spcAft>
            </a:pPr>
            <a:r>
              <a:rPr sz="1050" b="0" i="0">
                <a:solidFill>
                  <a:srgbClr val="1A1A1A"/>
                </a:solidFill>
                <a:latin typeface="Abadi"/>
              </a:rPr>
              <a:t>▪  Imaging</a:t>
            </a:r>
          </a:p>
        </p:txBody>
      </p:sp>
      <p:sp>
        <p:nvSpPr>
          <p:cNvPr id="32" name="TextBox 31"/>
          <p:cNvSpPr txBox="1"/>
          <p:nvPr/>
        </p:nvSpPr>
        <p:spPr>
          <a:xfrm>
            <a:off x="548640" y="4297680"/>
            <a:ext cx="11082528" cy="150876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The link to BRUE.  </a:t>
            </a:r>
            <a:r>
              <a:rPr sz="1200" b="0" i="0">
                <a:solidFill>
                  <a:srgbClr val="1A1A1A"/>
                </a:solidFill>
                <a:latin typeface="Abadi"/>
              </a:rPr>
              <a:t>Epilepsy was the most common serious diagnosis after BRUE in the Canadian cohort. A reflux label on stiffening episodes is the error with the highest cost.</a:t>
            </a:r>
          </a:p>
          <a:p>
            <a:pPr algn="l">
              <a:spcAft>
                <a:spcPts val="600"/>
              </a:spcAft>
            </a:pPr>
            <a:r>
              <a:rPr sz="1200" b="1" i="0">
                <a:solidFill>
                  <a:srgbClr val="B22222"/>
                </a:solidFill>
                <a:latin typeface="Abadi"/>
              </a:rPr>
              <a:t>Practical step.  </a:t>
            </a:r>
            <a:r>
              <a:rPr sz="1200" b="0" i="0">
                <a:solidFill>
                  <a:srgbClr val="1A1A1A"/>
                </a:solidFill>
                <a:latin typeface="Abadi"/>
              </a:rPr>
              <a:t>Ask the family to video the episode; time it against feeds; if uncertain, record EEG and impedance in the same admission.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WHEN REFLUX TESTING HELPS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WHEN IMPEDANCE MONITORING EARNS ITS PLACE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Narrow indications where reflux monitoring can change management after an event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NICE NG1 1.1.21 · Rosen 2018 · Corvaglia 2009</a:t>
            </a:r>
          </a:p>
        </p:txBody>
      </p:sp>
      <p:sp>
        <p:nvSpPr>
          <p:cNvPr id="12" name="Rectangle 11"/>
          <p:cNvSpPr/>
          <p:nvPr/>
        </p:nvSpPr>
        <p:spPr>
          <a:xfrm>
            <a:off x="548640" y="1773936"/>
            <a:ext cx="1982419" cy="1737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Recurrent, feed-linked</a:t>
            </a:r>
          </a:p>
        </p:txBody>
      </p:sp>
      <p:sp>
        <p:nvSpPr>
          <p:cNvPr id="15" name="TextBox 14"/>
          <p:cNvSpPr txBox="1"/>
          <p:nvPr/>
        </p:nvSpPr>
        <p:spPr>
          <a:xfrm>
            <a:off x="658368" y="2185416"/>
            <a:ext cx="1762963" cy="1280160"/>
          </a:xfrm>
          <a:prstGeom prst="rect">
            <a:avLst/>
          </a:prstGeom>
          <a:noFill/>
        </p:spPr>
        <p:txBody>
          <a:bodyPr wrap="square" lIns="0" rIns="0" tIns="18288" bIns="18288" anchor="t">
            <a:spAutoFit/>
          </a:bodyPr>
          <a:lstStyle/>
          <a:p>
            <a:pPr algn="l"/>
            <a:r>
              <a:rPr sz="1050" b="0" i="0">
                <a:solidFill>
                  <a:srgbClr val="1A1A1A"/>
                </a:solidFill>
                <a:latin typeface="Abadi"/>
              </a:rPr>
              <a:t>Repeated events clearly tied to feeds, after swallow assessment.</a:t>
            </a:r>
          </a:p>
        </p:txBody>
      </p:sp>
      <p:sp>
        <p:nvSpPr>
          <p:cNvPr id="16" name="TextBox 15"/>
          <p:cNvSpPr txBox="1"/>
          <p:nvPr/>
        </p:nvSpPr>
        <p:spPr>
          <a:xfrm>
            <a:off x="2531059" y="2459735"/>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1737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Suspected Sandifer</a:t>
            </a:r>
          </a:p>
        </p:txBody>
      </p:sp>
      <p:sp>
        <p:nvSpPr>
          <p:cNvPr id="20" name="TextBox 19"/>
          <p:cNvSpPr txBox="1"/>
          <p:nvPr/>
        </p:nvSpPr>
        <p:spPr>
          <a:xfrm>
            <a:off x="2933395" y="2185416"/>
            <a:ext cx="1762963" cy="1280160"/>
          </a:xfrm>
          <a:prstGeom prst="rect">
            <a:avLst/>
          </a:prstGeom>
          <a:noFill/>
        </p:spPr>
        <p:txBody>
          <a:bodyPr wrap="square" lIns="0" rIns="0" tIns="18288" bIns="18288" anchor="t">
            <a:spAutoFit/>
          </a:bodyPr>
          <a:lstStyle/>
          <a:p>
            <a:pPr algn="l"/>
            <a:r>
              <a:rPr sz="1050" b="0" i="0">
                <a:solidFill>
                  <a:srgbClr val="1A1A1A"/>
                </a:solidFill>
                <a:latin typeface="Abadi"/>
              </a:rPr>
              <a:t>Posturing episodes; confirm association before treating or operating.</a:t>
            </a:r>
          </a:p>
        </p:txBody>
      </p:sp>
      <p:sp>
        <p:nvSpPr>
          <p:cNvPr id="21" name="TextBox 20"/>
          <p:cNvSpPr txBox="1"/>
          <p:nvPr/>
        </p:nvSpPr>
        <p:spPr>
          <a:xfrm>
            <a:off x="4806086" y="2459735"/>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1737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Non-epileptic spells</a:t>
            </a:r>
          </a:p>
        </p:txBody>
      </p:sp>
      <p:sp>
        <p:nvSpPr>
          <p:cNvPr id="25" name="TextBox 24"/>
          <p:cNvSpPr txBox="1"/>
          <p:nvPr/>
        </p:nvSpPr>
        <p:spPr>
          <a:xfrm>
            <a:off x="5208422" y="2185416"/>
            <a:ext cx="1762963" cy="1280160"/>
          </a:xfrm>
          <a:prstGeom prst="rect">
            <a:avLst/>
          </a:prstGeom>
          <a:noFill/>
        </p:spPr>
        <p:txBody>
          <a:bodyPr wrap="square" lIns="0" rIns="0" tIns="18288" bIns="18288" anchor="t">
            <a:spAutoFit/>
          </a:bodyPr>
          <a:lstStyle/>
          <a:p>
            <a:pPr algn="l"/>
            <a:r>
              <a:rPr sz="1050" b="0" i="0">
                <a:solidFill>
                  <a:srgbClr val="1A1A1A"/>
                </a:solidFill>
                <a:latin typeface="Abadi"/>
              </a:rPr>
              <a:t>Seizure-like events with normal EEG (NICE).</a:t>
            </a:r>
          </a:p>
        </p:txBody>
      </p:sp>
      <p:sp>
        <p:nvSpPr>
          <p:cNvPr id="26" name="TextBox 25"/>
          <p:cNvSpPr txBox="1"/>
          <p:nvPr/>
        </p:nvSpPr>
        <p:spPr>
          <a:xfrm>
            <a:off x="7081113" y="2459735"/>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1737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How to record</a:t>
            </a:r>
          </a:p>
        </p:txBody>
      </p:sp>
      <p:sp>
        <p:nvSpPr>
          <p:cNvPr id="30" name="TextBox 29"/>
          <p:cNvSpPr txBox="1"/>
          <p:nvPr/>
        </p:nvSpPr>
        <p:spPr>
          <a:xfrm>
            <a:off x="7483449" y="2185416"/>
            <a:ext cx="1762963" cy="1280160"/>
          </a:xfrm>
          <a:prstGeom prst="rect">
            <a:avLst/>
          </a:prstGeom>
          <a:noFill/>
        </p:spPr>
        <p:txBody>
          <a:bodyPr wrap="square" lIns="0" rIns="0" tIns="18288" bIns="18288" anchor="t">
            <a:spAutoFit/>
          </a:bodyPr>
          <a:lstStyle/>
          <a:p>
            <a:pPr algn="l"/>
            <a:r>
              <a:rPr sz="1050" b="0" i="0">
                <a:solidFill>
                  <a:srgbClr val="1A1A1A"/>
                </a:solidFill>
                <a:latin typeface="Abadi"/>
              </a:rPr>
              <a:t>Impedance with pH, oximetry and respiratory channels, video, event marker.</a:t>
            </a:r>
          </a:p>
        </p:txBody>
      </p:sp>
      <p:sp>
        <p:nvSpPr>
          <p:cNvPr id="31" name="TextBox 30"/>
          <p:cNvSpPr txBox="1"/>
          <p:nvPr/>
        </p:nvSpPr>
        <p:spPr>
          <a:xfrm>
            <a:off x="9356140" y="2459735"/>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17373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How to read</a:t>
            </a:r>
          </a:p>
        </p:txBody>
      </p:sp>
      <p:sp>
        <p:nvSpPr>
          <p:cNvPr id="35" name="TextBox 34"/>
          <p:cNvSpPr txBox="1"/>
          <p:nvPr/>
        </p:nvSpPr>
        <p:spPr>
          <a:xfrm>
            <a:off x="9758476" y="2185416"/>
            <a:ext cx="1762963" cy="1280160"/>
          </a:xfrm>
          <a:prstGeom prst="rect">
            <a:avLst/>
          </a:prstGeom>
          <a:noFill/>
        </p:spPr>
        <p:txBody>
          <a:bodyPr wrap="square" lIns="0" rIns="0" tIns="18288" bIns="18288" anchor="t">
            <a:spAutoFit/>
          </a:bodyPr>
          <a:lstStyle/>
          <a:p>
            <a:pPr algn="l"/>
            <a:r>
              <a:rPr sz="1050" b="0" i="0">
                <a:solidFill>
                  <a:srgbClr val="1A1A1A"/>
                </a:solidFill>
                <a:latin typeface="Abadi"/>
              </a:rPr>
              <a:t>Symptom association probability 95% or more; parents miss over half of events.</a:t>
            </a:r>
          </a:p>
        </p:txBody>
      </p:sp>
      <p:sp>
        <p:nvSpPr>
          <p:cNvPr id="36" name="TextBox 35"/>
          <p:cNvSpPr txBox="1"/>
          <p:nvPr/>
        </p:nvSpPr>
        <p:spPr>
          <a:xfrm>
            <a:off x="548640" y="3794760"/>
            <a:ext cx="11082528" cy="169164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Do not test.  </a:t>
            </a:r>
            <a:r>
              <a:rPr sz="1200" b="0" i="0">
                <a:solidFill>
                  <a:srgbClr val="1A1A1A"/>
                </a:solidFill>
                <a:latin typeface="Abadi"/>
              </a:rPr>
              <a:t>A single lower-risk BRUE, or isolated apnoea of prematurity: the pre-test probability is too low for a positive result to mean causation.</a:t>
            </a:r>
          </a:p>
          <a:p>
            <a:pPr algn="l">
              <a:spcAft>
                <a:spcPts val="600"/>
              </a:spcAft>
            </a:pPr>
            <a:r>
              <a:rPr sz="1200" b="1" i="0">
                <a:solidFill>
                  <a:srgbClr val="B22222"/>
                </a:solidFill>
                <a:latin typeface="Abadi"/>
              </a:rPr>
              <a:t>Do not treat blind.  </a:t>
            </a:r>
            <a:r>
              <a:rPr sz="1200" b="0" i="0">
                <a:solidFill>
                  <a:srgbClr val="1A1A1A"/>
                </a:solidFill>
                <a:latin typeface="Abadi"/>
              </a:rPr>
              <a:t>If testing shows association, the first steps are volume, pacing and position; acid suppression only for proven acid-related disease.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AAP BRUE 2016 versus NASPGHAN/ESPGHAN 2018 and NICE NG1 (2015, updated 2019)</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2016 · Rosen R, et al. JPGN 2018;66:516–54 · NICE NG1 · Duncan 2024 · Nama 2025</a:t>
            </a:r>
          </a:p>
        </p:txBody>
      </p:sp>
      <p:graphicFrame>
        <p:nvGraphicFramePr>
          <p:cNvPr id="12" name="Table 11"/>
          <p:cNvGraphicFramePr>
            <a:graphicFrameLocks noGrp="1"/>
          </p:cNvGraphicFramePr>
          <p:nvPr/>
        </p:nvGraphicFramePr>
        <p:xfrm>
          <a:off x="548640" y="1783080"/>
          <a:ext cx="11082528" cy="3200400"/>
        </p:xfrm>
        <a:graphic>
          <a:graphicData uri="http://schemas.openxmlformats.org/drawingml/2006/table">
            <a:tbl>
              <a:tblPr firstRow="1" bandRow="1">
                <a:tableStyleId>{5C22544A-7EE6-4342-B048-85BDC9FD1C3A}</a:tableStyleId>
              </a:tblPr>
              <a:tblGrid>
                <a:gridCol w="2377440"/>
                <a:gridCol w="2103120"/>
                <a:gridCol w="2743200"/>
                <a:gridCol w="2743200"/>
                <a:gridCol w="1115568"/>
              </a:tblGrid>
              <a:tr h="457200">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AAP BRUE 2016</a:t>
                      </a:r>
                    </a:p>
                  </a:txBody>
                  <a:tcPr marL="73152" marR="73152" marT="27432" marB="27432" anchor="ctr">
                    <a:solidFill>
                      <a:srgbClr val="1B355E"/>
                    </a:solidFill>
                  </a:tcPr>
                </a:tc>
                <a:tc>
                  <a:txBody>
                    <a:bodyPr wrap="square"/>
                    <a:lstStyle/>
                    <a:p>
                      <a:r>
                        <a:rPr sz="1050" b="1">
                          <a:solidFill>
                            <a:srgbClr val="FFFFFF"/>
                          </a:solidFill>
                          <a:latin typeface="Abadi"/>
                        </a:rPr>
                        <a:t>NASPGHAN/ESPGHAN 2018</a:t>
                      </a:r>
                    </a:p>
                  </a:txBody>
                  <a:tcPr marL="73152" marR="73152" marT="27432" marB="27432" anchor="ctr">
                    <a:solidFill>
                      <a:srgbClr val="1B355E"/>
                    </a:solidFill>
                  </a:tcPr>
                </a:tc>
                <a:tc>
                  <a:txBody>
                    <a:bodyPr wrap="square"/>
                    <a:lstStyle/>
                    <a:p>
                      <a:r>
                        <a:rPr sz="1050" b="1">
                          <a:solidFill>
                            <a:srgbClr val="FFFFFF"/>
                          </a:solidFill>
                          <a:latin typeface="Abadi"/>
                        </a:rPr>
                        <a:t>NICE NG1</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57200">
                <a:tc>
                  <a:txBody>
                    <a:bodyPr wrap="square"/>
                    <a:lstStyle/>
                    <a:p>
                      <a:r>
                        <a:rPr sz="1000" b="1">
                          <a:solidFill>
                            <a:srgbClr val="1A1A1A"/>
                          </a:solidFill>
                          <a:latin typeface="Abadi"/>
                        </a:rPr>
                        <a:t>Reflux tests in lower-risk BRUE</a:t>
                      </a:r>
                    </a:p>
                  </a:txBody>
                  <a:tcPr marL="73152" marR="73152" marT="27432" marB="27432" anchor="ctr">
                    <a:solidFill>
                      <a:srgbClr val="FFFFFF"/>
                    </a:solidFill>
                  </a:tcPr>
                </a:tc>
                <a:tc>
                  <a:txBody>
                    <a:bodyPr wrap="square"/>
                    <a:lstStyle/>
                    <a:p>
                      <a:r>
                        <a:rPr sz="1000" b="0">
                          <a:solidFill>
                            <a:srgbClr val="1A1A1A"/>
                          </a:solidFill>
                          <a:latin typeface="Abadi"/>
                        </a:rPr>
                        <a:t>Should not</a:t>
                      </a:r>
                    </a:p>
                  </a:txBody>
                  <a:tcPr marL="73152" marR="73152" marT="27432" marB="27432" anchor="ctr">
                    <a:solidFill>
                      <a:srgbClr val="FFFFFF"/>
                    </a:solidFill>
                  </a:tcPr>
                </a:tc>
                <a:tc>
                  <a:txBody>
                    <a:bodyPr wrap="square"/>
                    <a:lstStyle/>
                    <a:p>
                      <a:r>
                        <a:rPr sz="1000" b="0">
                          <a:solidFill>
                            <a:srgbClr val="1A1A1A"/>
                          </a:solidFill>
                          <a:latin typeface="Abadi"/>
                        </a:rPr>
                        <a:t>pH-impedance for symptom correlation only</a:t>
                      </a:r>
                    </a:p>
                  </a:txBody>
                  <a:tcPr marL="73152" marR="73152" marT="27432" marB="27432" anchor="ctr">
                    <a:solidFill>
                      <a:srgbClr val="FFFFFF"/>
                    </a:solidFill>
                  </a:tcPr>
                </a:tc>
                <a:tc>
                  <a:txBody>
                    <a:bodyPr wrap="square"/>
                    <a:lstStyle/>
                    <a:p>
                      <a:r>
                        <a:rPr sz="1000" b="0">
                          <a:solidFill>
                            <a:srgbClr val="1A1A1A"/>
                          </a:solidFill>
                          <a:latin typeface="Abadi"/>
                        </a:rPr>
                        <a:t>Consider pH study for unexplained apnoeas</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57200">
                <a:tc>
                  <a:txBody>
                    <a:bodyPr wrap="square"/>
                    <a:lstStyle/>
                    <a:p>
                      <a:r>
                        <a:rPr sz="1000" b="1">
                          <a:solidFill>
                            <a:srgbClr val="1A1A1A"/>
                          </a:solidFill>
                          <a:latin typeface="Abadi"/>
                        </a:rPr>
                        <a:t>Acid suppression for events</a:t>
                      </a:r>
                    </a:p>
                  </a:txBody>
                  <a:tcPr marL="73152" marR="73152" marT="27432" marB="27432" anchor="ctr">
                    <a:solidFill>
                      <a:srgbClr val="F2F4F7"/>
                    </a:solidFill>
                  </a:tcPr>
                </a:tc>
                <a:tc>
                  <a:txBody>
                    <a:bodyPr wrap="square"/>
                    <a:lstStyle/>
                    <a:p>
                      <a:r>
                        <a:rPr sz="1000" b="0">
                          <a:solidFill>
                            <a:srgbClr val="1A1A1A"/>
                          </a:solidFill>
                          <a:latin typeface="Abadi"/>
                        </a:rPr>
                        <a:t>Should not</a:t>
                      </a:r>
                    </a:p>
                  </a:txBody>
                  <a:tcPr marL="73152" marR="73152" marT="27432" marB="27432" anchor="ctr">
                    <a:solidFill>
                      <a:srgbClr val="F2F4F7"/>
                    </a:solidFill>
                  </a:tcPr>
                </a:tc>
                <a:tc>
                  <a:txBody>
                    <a:bodyPr wrap="square"/>
                    <a:lstStyle/>
                    <a:p>
                      <a:r>
                        <a:rPr sz="1000" b="0">
                          <a:solidFill>
                            <a:srgbClr val="1A1A1A"/>
                          </a:solidFill>
                          <a:latin typeface="Abadi"/>
                        </a:rPr>
                        <a:t>No PPI trial for extra-oesophageal symptoms</a:t>
                      </a:r>
                    </a:p>
                  </a:txBody>
                  <a:tcPr marL="73152" marR="73152" marT="27432" marB="27432" anchor="ctr">
                    <a:solidFill>
                      <a:srgbClr val="F2F4F7"/>
                    </a:solidFill>
                  </a:tcPr>
                </a:tc>
                <a:tc>
                  <a:txBody>
                    <a:bodyPr wrap="square"/>
                    <a:lstStyle/>
                    <a:p>
                      <a:r>
                        <a:rPr sz="1000" b="0">
                          <a:solidFill>
                            <a:srgbClr val="1A1A1A"/>
                          </a:solidFill>
                          <a:latin typeface="Abadi"/>
                        </a:rPr>
                        <a:t>Not for isolated symptoms</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Reflux as a cause of apnoea</a:t>
                      </a:r>
                    </a:p>
                  </a:txBody>
                  <a:tcPr marL="73152" marR="73152" marT="27432" marB="27432" anchor="ctr">
                    <a:solidFill>
                      <a:srgbClr val="FFFFFF"/>
                    </a:solidFill>
                  </a:tcPr>
                </a:tc>
                <a:tc>
                  <a:txBody>
                    <a:bodyPr wrap="square"/>
                    <a:lstStyle/>
                    <a:p>
                      <a:r>
                        <a:rPr sz="1000" b="0">
                          <a:solidFill>
                            <a:srgbClr val="1A1A1A"/>
                          </a:solidFill>
                          <a:latin typeface="Abadi"/>
                        </a:rPr>
                        <a:t>Not a likely cause</a:t>
                      </a:r>
                    </a:p>
                  </a:txBody>
                  <a:tcPr marL="73152" marR="73152" marT="27432" marB="27432" anchor="ctr">
                    <a:solidFill>
                      <a:srgbClr val="FFFFFF"/>
                    </a:solidFill>
                  </a:tcPr>
                </a:tc>
                <a:tc>
                  <a:txBody>
                    <a:bodyPr wrap="square"/>
                    <a:lstStyle/>
                    <a:p>
                      <a:r>
                        <a:rPr sz="1000" b="0">
                          <a:solidFill>
                            <a:srgbClr val="1A1A1A"/>
                          </a:solidFill>
                          <a:latin typeface="Abadi"/>
                        </a:rPr>
                        <a:t>Listed as possible association</a:t>
                      </a:r>
                    </a:p>
                  </a:txBody>
                  <a:tcPr marL="73152" marR="73152" marT="27432" marB="27432" anchor="ctr">
                    <a:solidFill>
                      <a:srgbClr val="FFFFFF"/>
                    </a:solidFill>
                  </a:tcPr>
                </a:tc>
                <a:tc>
                  <a:txBody>
                    <a:bodyPr wrap="square"/>
                    <a:lstStyle/>
                    <a:p>
                      <a:r>
                        <a:rPr sz="1000" b="0">
                          <a:solidFill>
                            <a:srgbClr val="1A1A1A"/>
                          </a:solidFill>
                          <a:latin typeface="Abadi"/>
                        </a:rPr>
                        <a:t>Only rarely causes apnoea or ALTE</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Sandifer</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Listed as a reflux sign</a:t>
                      </a:r>
                    </a:p>
                  </a:txBody>
                  <a:tcPr marL="73152" marR="73152" marT="27432" marB="27432" anchor="ctr">
                    <a:solidFill>
                      <a:srgbClr val="F2F4F7"/>
                    </a:solidFill>
                  </a:tcPr>
                </a:tc>
                <a:tc>
                  <a:txBody>
                    <a:bodyPr wrap="square"/>
                    <a:lstStyle/>
                    <a:p>
                      <a:r>
                        <a:rPr sz="1000" b="0">
                          <a:solidFill>
                            <a:srgbClr val="1A1A1A"/>
                          </a:solidFill>
                          <a:latin typeface="Abadi"/>
                        </a:rPr>
                        <a:t>Specialist assessment; pH study</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57200">
                <a:tc>
                  <a:txBody>
                    <a:bodyPr wrap="square"/>
                    <a:lstStyle/>
                    <a:p>
                      <a:r>
                        <a:rPr sz="1000" b="1">
                          <a:solidFill>
                            <a:srgbClr val="1A1A1A"/>
                          </a:solidFill>
                          <a:latin typeface="Abadi"/>
                        </a:rPr>
                        <a:t>Swallow assessment</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57200">
                <a:tc>
                  <a:txBody>
                    <a:bodyPr wrap="square"/>
                    <a:lstStyle/>
                    <a:p>
                      <a:r>
                        <a:rPr sz="1000" b="1">
                          <a:solidFill>
                            <a:srgbClr val="1A1A1A"/>
                          </a:solidFill>
                          <a:latin typeface="Abadi"/>
                        </a:rPr>
                        <a:t>Risk stratification</a:t>
                      </a:r>
                    </a:p>
                  </a:txBody>
                  <a:tcPr marL="73152" marR="73152" marT="27432" marB="27432" anchor="ctr">
                    <a:solidFill>
                      <a:srgbClr val="F2F4F7"/>
                    </a:solidFill>
                  </a:tcPr>
                </a:tc>
                <a:tc>
                  <a:txBody>
                    <a:bodyPr wrap="square"/>
                    <a:lstStyle/>
                    <a:p>
                      <a:r>
                        <a:rPr sz="1000" b="0">
                          <a:solidFill>
                            <a:srgbClr val="1A1A1A"/>
                          </a:solidFill>
                          <a:latin typeface="Abadi"/>
                        </a:rPr>
                        <a:t>Six lower-risk criteria</a:t>
                      </a:r>
                    </a:p>
                  </a:txBody>
                  <a:tcPr marL="73152" marR="73152" marT="27432" marB="27432" anchor="ctr">
                    <a:solidFill>
                      <a:srgbClr val="F2F4F7"/>
                    </a:solidFill>
                  </a:tcPr>
                </a:tc>
                <a:tc>
                  <a:txBody>
                    <a:bodyPr wrap="square"/>
                    <a:lstStyle/>
                    <a:p>
                      <a:r>
                        <a:rPr sz="1000" b="0">
                          <a:solidFill>
                            <a:srgbClr val="1A1A1A"/>
                          </a:solidFill>
                          <a:latin typeface="Abadi"/>
                        </a:rPr>
                        <a:t>—</a:t>
                      </a:r>
                    </a:p>
                  </a:txBody>
                  <a:tcPr marL="73152" marR="73152" marT="27432" marB="27432" anchor="ctr">
                    <a:solidFill>
                      <a:srgbClr val="F2F4F7"/>
                    </a:solidFill>
                  </a:tcPr>
                </a:tc>
                <a:tc>
                  <a:txBody>
                    <a:bodyPr wrap="square"/>
                    <a:lstStyle/>
                    <a:p>
                      <a:r>
                        <a:rPr sz="1000" b="0">
                          <a:solidFill>
                            <a:srgbClr val="1A1A1A"/>
                          </a:solidFill>
                          <a:latin typeface="Abadi"/>
                        </a:rPr>
                        <a:t>—</a:t>
                      </a:r>
                    </a:p>
                  </a:txBody>
                  <a:tcPr marL="73152" marR="73152" marT="27432" marB="27432" anchor="ctr">
                    <a:solidFill>
                      <a:srgbClr val="F2F4F7"/>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bl>
          </a:graphicData>
        </a:graphic>
      </p:graphicFrame>
      <p:sp>
        <p:nvSpPr>
          <p:cNvPr id="13" name="TextBox 12"/>
          <p:cNvSpPr txBox="1"/>
          <p:nvPr/>
        </p:nvSpPr>
        <p:spPr>
          <a:xfrm>
            <a:off x="548640" y="5212080"/>
            <a:ext cx="11082528" cy="77724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Material gap.  </a:t>
            </a:r>
            <a:r>
              <a:rPr sz="1200" b="0" i="0">
                <a:solidFill>
                  <a:srgbClr val="1A1A1A"/>
                </a:solidFill>
                <a:latin typeface="Abadi"/>
              </a:rPr>
              <a:t>No guideline tells clinicians to assess the swallow after a feed-related event, and the AAP risk criteria discriminate at chance (AUC 0.53).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ALGORITHM</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THE INFANT AFTER AN EVENT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A practical sequence that keeps reflux in proportion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2016 · Duncan 2017, 2024 · Nama 2025 · NICE NG1 · Rosen 2018</a:t>
            </a:r>
          </a:p>
        </p:txBody>
      </p:sp>
      <p:sp>
        <p:nvSpPr>
          <p:cNvPr id="12" name="Rectangle 11"/>
          <p:cNvSpPr/>
          <p:nvPr/>
        </p:nvSpPr>
        <p:spPr>
          <a:xfrm>
            <a:off x="548640" y="1773936"/>
            <a:ext cx="1982419" cy="1828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1 · Is it a BRUE?</a:t>
            </a:r>
          </a:p>
        </p:txBody>
      </p:sp>
      <p:sp>
        <p:nvSpPr>
          <p:cNvPr id="15" name="TextBox 14"/>
          <p:cNvSpPr txBox="1"/>
          <p:nvPr/>
        </p:nvSpPr>
        <p:spPr>
          <a:xfrm>
            <a:off x="658368" y="2185416"/>
            <a:ext cx="1762963" cy="1371600"/>
          </a:xfrm>
          <a:prstGeom prst="rect">
            <a:avLst/>
          </a:prstGeom>
          <a:noFill/>
        </p:spPr>
        <p:txBody>
          <a:bodyPr wrap="square" lIns="0" rIns="0" tIns="18288" bIns="18288" anchor="t">
            <a:spAutoFit/>
          </a:bodyPr>
          <a:lstStyle/>
          <a:p>
            <a:pPr algn="l"/>
            <a:r>
              <a:rPr sz="1050" b="0" i="0">
                <a:solidFill>
                  <a:srgbClr val="1A1A1A"/>
                </a:solidFill>
                <a:latin typeface="Abadi"/>
              </a:rPr>
              <a:t>Choking with visible regurgitation during a feed is a feeding event, not a BRUE.</a:t>
            </a:r>
          </a:p>
        </p:txBody>
      </p:sp>
      <p:sp>
        <p:nvSpPr>
          <p:cNvPr id="16" name="TextBox 15"/>
          <p:cNvSpPr txBox="1"/>
          <p:nvPr/>
        </p:nvSpPr>
        <p:spPr>
          <a:xfrm>
            <a:off x="2531059" y="25054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18288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2 · Lower risk?</a:t>
            </a:r>
          </a:p>
        </p:txBody>
      </p:sp>
      <p:sp>
        <p:nvSpPr>
          <p:cNvPr id="20" name="TextBox 19"/>
          <p:cNvSpPr txBox="1"/>
          <p:nvPr/>
        </p:nvSpPr>
        <p:spPr>
          <a:xfrm>
            <a:off x="2933395" y="2185416"/>
            <a:ext cx="1762963" cy="1371600"/>
          </a:xfrm>
          <a:prstGeom prst="rect">
            <a:avLst/>
          </a:prstGeom>
          <a:noFill/>
        </p:spPr>
        <p:txBody>
          <a:bodyPr wrap="square" lIns="0" rIns="0" tIns="18288" bIns="18288" anchor="t">
            <a:spAutoFit/>
          </a:bodyPr>
          <a:lstStyle/>
          <a:p>
            <a:pPr algn="l"/>
            <a:r>
              <a:rPr sz="1050" b="0" i="0">
                <a:solidFill>
                  <a:srgbClr val="1A1A1A"/>
                </a:solidFill>
                <a:latin typeface="Abadi"/>
              </a:rPr>
              <a:t>All six criteria: educate, CPR resources, optional ECG, pertussis, 1–4 h oximetry.</a:t>
            </a:r>
          </a:p>
        </p:txBody>
      </p:sp>
      <p:sp>
        <p:nvSpPr>
          <p:cNvPr id="21" name="TextBox 20"/>
          <p:cNvSpPr txBox="1"/>
          <p:nvPr/>
        </p:nvSpPr>
        <p:spPr>
          <a:xfrm>
            <a:off x="4806086" y="25054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1828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3 · No reflux work-up</a:t>
            </a:r>
          </a:p>
        </p:txBody>
      </p:sp>
      <p:sp>
        <p:nvSpPr>
          <p:cNvPr id="25" name="TextBox 24"/>
          <p:cNvSpPr txBox="1"/>
          <p:nvPr/>
        </p:nvSpPr>
        <p:spPr>
          <a:xfrm>
            <a:off x="5208422" y="2185416"/>
            <a:ext cx="1762963" cy="1371600"/>
          </a:xfrm>
          <a:prstGeom prst="rect">
            <a:avLst/>
          </a:prstGeom>
          <a:noFill/>
        </p:spPr>
        <p:txBody>
          <a:bodyPr wrap="square" lIns="0" rIns="0" tIns="18288" bIns="18288" anchor="t">
            <a:spAutoFit/>
          </a:bodyPr>
          <a:lstStyle/>
          <a:p>
            <a:pPr algn="l"/>
            <a:r>
              <a:rPr sz="1050" b="0" i="0">
                <a:solidFill>
                  <a:srgbClr val="1A1A1A"/>
                </a:solidFill>
                <a:latin typeface="Abadi"/>
              </a:rPr>
              <a:t>No pH, no endoscopy, no PPI.</a:t>
            </a:r>
          </a:p>
        </p:txBody>
      </p:sp>
      <p:sp>
        <p:nvSpPr>
          <p:cNvPr id="26" name="TextBox 25"/>
          <p:cNvSpPr txBox="1"/>
          <p:nvPr/>
        </p:nvSpPr>
        <p:spPr>
          <a:xfrm>
            <a:off x="7081113" y="25054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18288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4 · Higher risk</a:t>
            </a:r>
          </a:p>
        </p:txBody>
      </p:sp>
      <p:sp>
        <p:nvSpPr>
          <p:cNvPr id="30" name="TextBox 29"/>
          <p:cNvSpPr txBox="1"/>
          <p:nvPr/>
        </p:nvSpPr>
        <p:spPr>
          <a:xfrm>
            <a:off x="7483449" y="2185416"/>
            <a:ext cx="1762963" cy="1371600"/>
          </a:xfrm>
          <a:prstGeom prst="rect">
            <a:avLst/>
          </a:prstGeom>
          <a:noFill/>
        </p:spPr>
        <p:txBody>
          <a:bodyPr wrap="square" lIns="0" rIns="0" tIns="18288" bIns="18288" anchor="t">
            <a:spAutoFit/>
          </a:bodyPr>
          <a:lstStyle/>
          <a:p>
            <a:pPr algn="l"/>
            <a:r>
              <a:rPr sz="1050" b="0" i="0">
                <a:solidFill>
                  <a:srgbClr val="1A1A1A"/>
                </a:solidFill>
                <a:latin typeface="Abadi"/>
              </a:rPr>
              <a:t>Feed-related: swallow study. Clusters or tone change: EEG. Social risk: abuse screen.</a:t>
            </a:r>
          </a:p>
        </p:txBody>
      </p:sp>
      <p:sp>
        <p:nvSpPr>
          <p:cNvPr id="31" name="TextBox 30"/>
          <p:cNvSpPr txBox="1"/>
          <p:nvPr/>
        </p:nvSpPr>
        <p:spPr>
          <a:xfrm>
            <a:off x="9356140" y="2505456"/>
            <a:ext cx="292608" cy="365760"/>
          </a:xfrm>
          <a:prstGeom prst="rect">
            <a:avLst/>
          </a:prstGeom>
          <a:noFill/>
        </p:spPr>
        <p:txBody>
          <a:bodyPr wrap="square" lIns="0" rIns="0" tIns="18288" bIns="18288"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18288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i="0">
                <a:solidFill>
                  <a:srgbClr val="FFFFFF"/>
                </a:solidFill>
                <a:latin typeface="Abadi"/>
              </a:rPr>
              <a:t>5 · Recurrent or posturing</a:t>
            </a:r>
          </a:p>
        </p:txBody>
      </p:sp>
      <p:sp>
        <p:nvSpPr>
          <p:cNvPr id="35" name="TextBox 34"/>
          <p:cNvSpPr txBox="1"/>
          <p:nvPr/>
        </p:nvSpPr>
        <p:spPr>
          <a:xfrm>
            <a:off x="9758476" y="2185416"/>
            <a:ext cx="1762963" cy="1371600"/>
          </a:xfrm>
          <a:prstGeom prst="rect">
            <a:avLst/>
          </a:prstGeom>
          <a:noFill/>
        </p:spPr>
        <p:txBody>
          <a:bodyPr wrap="square" lIns="0" rIns="0" tIns="18288" bIns="18288" anchor="t">
            <a:spAutoFit/>
          </a:bodyPr>
          <a:lstStyle/>
          <a:p>
            <a:pPr algn="l"/>
            <a:r>
              <a:rPr sz="1050" b="0" i="0">
                <a:solidFill>
                  <a:srgbClr val="1A1A1A"/>
                </a:solidFill>
                <a:latin typeface="Abadi"/>
              </a:rPr>
              <a:t>Polygraphy with impedance and video; treat proven Sandifer.</a:t>
            </a:r>
          </a:p>
        </p:txBody>
      </p:sp>
      <p:sp>
        <p:nvSpPr>
          <p:cNvPr id="36" name="TextBox 35"/>
          <p:cNvSpPr txBox="1"/>
          <p:nvPr/>
        </p:nvSpPr>
        <p:spPr>
          <a:xfrm>
            <a:off x="548640" y="3840480"/>
            <a:ext cx="11082528" cy="155448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Do not skip.  </a:t>
            </a:r>
            <a:r>
              <a:rPr sz="1200" b="0" i="0">
                <a:solidFill>
                  <a:srgbClr val="1A1A1A"/>
                </a:solidFill>
                <a:latin typeface="Abadi"/>
              </a:rPr>
              <a:t>The social history and a full skin, fontanelle and eye examination: abuse is a serious diagnosis that a reflux label can hide.</a:t>
            </a:r>
          </a:p>
          <a:p>
            <a:pPr algn="l">
              <a:spcAft>
                <a:spcPts val="600"/>
              </a:spcAft>
            </a:pPr>
            <a:r>
              <a:rPr sz="1200" b="1" i="0">
                <a:solidFill>
                  <a:srgbClr val="B22222"/>
                </a:solidFill>
                <a:latin typeface="Abadi"/>
              </a:rPr>
              <a:t>Do not repeat.  </a:t>
            </a:r>
            <a:r>
              <a:rPr sz="1200" b="0" i="0">
                <a:solidFill>
                  <a:srgbClr val="1A1A1A"/>
                </a:solidFill>
                <a:latin typeface="Abadi"/>
              </a:rPr>
              <a:t>A second PPI, or switching from ranitidine to a PPI, after an event has never been shown to help and adds infection risk.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WHERE REFLUX TAKES THE BLAME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Common reasoning errors after an infant event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2016 · Di Fiore 2010 · Duncan 2024 · Mahant 2024 · Terrin 2012</a:t>
            </a:r>
          </a:p>
        </p:txBody>
      </p:sp>
      <p:sp>
        <p:nvSpPr>
          <p:cNvPr id="12" name="Rectangle 11"/>
          <p:cNvSpPr/>
          <p:nvPr/>
        </p:nvSpPr>
        <p:spPr>
          <a:xfrm>
            <a:off x="548640" y="1773936"/>
            <a:ext cx="2633472" cy="23774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18288" bIns="18288" anchor="t">
            <a:spAutoFit/>
          </a:bodyPr>
          <a:lstStyle/>
          <a:p>
            <a:pPr algn="l"/>
            <a:r>
              <a:rPr sz="1500" b="1" i="0">
                <a:solidFill>
                  <a:srgbClr val="B22222"/>
                </a:solidFill>
                <a:latin typeface="Abadi"/>
              </a:rPr>
              <a:t>"He spits up a lot, so it was reflux"</a:t>
            </a:r>
          </a:p>
        </p:txBody>
      </p:sp>
      <p:sp>
        <p:nvSpPr>
          <p:cNvPr id="15" name="TextBox 14"/>
          <p:cNvSpPr txBox="1"/>
          <p:nvPr/>
        </p:nvSpPr>
        <p:spPr>
          <a:xfrm>
            <a:off x="694944" y="2734056"/>
            <a:ext cx="2340864"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Most infants reflux</a:t>
            </a:r>
          </a:p>
          <a:p>
            <a:pPr algn="l">
              <a:spcAft>
                <a:spcPts val="300"/>
              </a:spcAft>
            </a:pPr>
            <a:r>
              <a:rPr sz="1150" b="0" i="0">
                <a:solidFill>
                  <a:srgbClr val="1A1A1A"/>
                </a:solidFill>
                <a:latin typeface="Abadi"/>
              </a:rPr>
              <a:t>▪  Fewer than 3% of events follow reflux</a:t>
            </a:r>
          </a:p>
          <a:p>
            <a:pPr algn="l">
              <a:spcAft>
                <a:spcPts val="300"/>
              </a:spcAft>
            </a:pPr>
            <a:r>
              <a:rPr sz="1150" b="0" i="0">
                <a:solidFill>
                  <a:srgbClr val="1A1A1A"/>
                </a:solidFill>
                <a:latin typeface="Abadi"/>
              </a:rPr>
              <a:t>▪  Look for another cause</a:t>
            </a:r>
          </a:p>
        </p:txBody>
      </p:sp>
      <p:sp>
        <p:nvSpPr>
          <p:cNvPr id="16" name="Rectangle 15"/>
          <p:cNvSpPr/>
          <p:nvPr/>
        </p:nvSpPr>
        <p:spPr>
          <a:xfrm>
            <a:off x="3364992" y="1773936"/>
            <a:ext cx="2633472" cy="23774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18288" bIns="18288" anchor="t">
            <a:spAutoFit/>
          </a:bodyPr>
          <a:lstStyle/>
          <a:p>
            <a:pPr algn="l"/>
            <a:r>
              <a:rPr sz="1500" b="1" i="0">
                <a:solidFill>
                  <a:srgbClr val="D97A0B"/>
                </a:solidFill>
                <a:latin typeface="Abadi"/>
              </a:rPr>
              <a:t>"Start a PPI just in case"</a:t>
            </a:r>
          </a:p>
        </p:txBody>
      </p:sp>
      <p:sp>
        <p:nvSpPr>
          <p:cNvPr id="19" name="TextBox 18"/>
          <p:cNvSpPr txBox="1"/>
          <p:nvPr/>
        </p:nvSpPr>
        <p:spPr>
          <a:xfrm>
            <a:off x="3511296" y="2734056"/>
            <a:ext cx="2340864"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Refluxate is mostly non-acid</a:t>
            </a:r>
          </a:p>
          <a:p>
            <a:pPr algn="l">
              <a:spcAft>
                <a:spcPts val="300"/>
              </a:spcAft>
            </a:pPr>
            <a:r>
              <a:rPr sz="1150" b="0" i="0">
                <a:solidFill>
                  <a:srgbClr val="1A1A1A"/>
                </a:solidFill>
                <a:latin typeface="Abadi"/>
              </a:rPr>
              <a:t>▪  No apnoea benefit shown</a:t>
            </a:r>
          </a:p>
          <a:p>
            <a:pPr algn="l">
              <a:spcAft>
                <a:spcPts val="300"/>
              </a:spcAft>
            </a:pPr>
            <a:r>
              <a:rPr sz="1150" b="0" i="0">
                <a:solidFill>
                  <a:srgbClr val="1A1A1A"/>
                </a:solidFill>
                <a:latin typeface="Abadi"/>
              </a:rPr>
              <a:t>▪  Infection and NEC signals</a:t>
            </a:r>
          </a:p>
        </p:txBody>
      </p:sp>
      <p:sp>
        <p:nvSpPr>
          <p:cNvPr id="20" name="Rectangle 19"/>
          <p:cNvSpPr/>
          <p:nvPr/>
        </p:nvSpPr>
        <p:spPr>
          <a:xfrm>
            <a:off x="6181344" y="1773936"/>
            <a:ext cx="2633472" cy="23774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18288" bIns="18288" anchor="t">
            <a:spAutoFit/>
          </a:bodyPr>
          <a:lstStyle/>
          <a:p>
            <a:pPr algn="l"/>
            <a:r>
              <a:rPr sz="1500" b="1" i="0">
                <a:solidFill>
                  <a:srgbClr val="1B355E"/>
                </a:solidFill>
                <a:latin typeface="Abadi"/>
              </a:rPr>
              <a:t>"Bedside feeding assessment was fine"</a:t>
            </a:r>
          </a:p>
        </p:txBody>
      </p:sp>
      <p:sp>
        <p:nvSpPr>
          <p:cNvPr id="23" name="TextBox 22"/>
          <p:cNvSpPr txBox="1"/>
          <p:nvPr/>
        </p:nvSpPr>
        <p:spPr>
          <a:xfrm>
            <a:off x="6327648" y="2734056"/>
            <a:ext cx="2340864"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Aspiration is often silent</a:t>
            </a:r>
          </a:p>
          <a:p>
            <a:pPr algn="l">
              <a:spcAft>
                <a:spcPts val="300"/>
              </a:spcAft>
            </a:pPr>
            <a:r>
              <a:rPr sz="1150" b="0" i="0">
                <a:solidFill>
                  <a:srgbClr val="1A1A1A"/>
                </a:solidFill>
                <a:latin typeface="Abadi"/>
              </a:rPr>
              <a:t>▪  Dysphagia missed in 26%</a:t>
            </a:r>
          </a:p>
          <a:p>
            <a:pPr algn="l">
              <a:spcAft>
                <a:spcPts val="300"/>
              </a:spcAft>
            </a:pPr>
            <a:r>
              <a:rPr sz="1150" b="0" i="0">
                <a:solidFill>
                  <a:srgbClr val="1A1A1A"/>
                </a:solidFill>
                <a:latin typeface="Abadi"/>
              </a:rPr>
              <a:t>▪  Videofluoroscopy decides</a:t>
            </a:r>
          </a:p>
        </p:txBody>
      </p:sp>
      <p:sp>
        <p:nvSpPr>
          <p:cNvPr id="24" name="Rectangle 23"/>
          <p:cNvSpPr/>
          <p:nvPr/>
        </p:nvSpPr>
        <p:spPr>
          <a:xfrm>
            <a:off x="8997696" y="1773936"/>
            <a:ext cx="2633472" cy="23774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18288" bIns="18288" anchor="t">
            <a:spAutoFit/>
          </a:bodyPr>
          <a:lstStyle/>
          <a:p>
            <a:pPr algn="l"/>
            <a:r>
              <a:rPr sz="1500" b="1" i="0">
                <a:solidFill>
                  <a:srgbClr val="7F7F7F"/>
                </a:solidFill>
                <a:latin typeface="Abadi"/>
              </a:rPr>
              <a:t>"Arching after feeds: Sandifer"</a:t>
            </a:r>
          </a:p>
        </p:txBody>
      </p:sp>
      <p:sp>
        <p:nvSpPr>
          <p:cNvPr id="27" name="TextBox 26"/>
          <p:cNvSpPr txBox="1"/>
          <p:nvPr/>
        </p:nvSpPr>
        <p:spPr>
          <a:xfrm>
            <a:off x="9144000" y="2734056"/>
            <a:ext cx="2340864" cy="1325880"/>
          </a:xfrm>
          <a:prstGeom prst="rect">
            <a:avLst/>
          </a:prstGeom>
          <a:noFill/>
        </p:spPr>
        <p:txBody>
          <a:bodyPr wrap="square" lIns="0" rIns="0" tIns="18288" bIns="18288" anchor="t">
            <a:spAutoFit/>
          </a:bodyPr>
          <a:lstStyle/>
          <a:p>
            <a:pPr algn="l">
              <a:spcAft>
                <a:spcPts val="300"/>
              </a:spcAft>
            </a:pPr>
            <a:r>
              <a:rPr sz="1150" b="0" i="0">
                <a:solidFill>
                  <a:srgbClr val="1A1A1A"/>
                </a:solidFill>
                <a:latin typeface="Abadi"/>
              </a:rPr>
              <a:t>▪  Spasms and seizures mimic</a:t>
            </a:r>
          </a:p>
          <a:p>
            <a:pPr algn="l">
              <a:spcAft>
                <a:spcPts val="300"/>
              </a:spcAft>
            </a:pPr>
            <a:r>
              <a:rPr sz="1150" b="0" i="0">
                <a:solidFill>
                  <a:srgbClr val="1A1A1A"/>
                </a:solidFill>
                <a:latin typeface="Abadi"/>
              </a:rPr>
              <a:t>▪  Video and EEG if unsure</a:t>
            </a:r>
          </a:p>
          <a:p>
            <a:pPr algn="l">
              <a:spcAft>
                <a:spcPts val="300"/>
              </a:spcAft>
            </a:pPr>
            <a:r>
              <a:rPr sz="1150" b="0" i="0">
                <a:solidFill>
                  <a:srgbClr val="1A1A1A"/>
                </a:solidFill>
                <a:latin typeface="Abadi"/>
              </a:rPr>
              <a:t>▪  Prove the association</a:t>
            </a:r>
          </a:p>
        </p:txBody>
      </p:sp>
      <p:sp>
        <p:nvSpPr>
          <p:cNvPr id="28" name="TextBox 27"/>
          <p:cNvSpPr txBox="1"/>
          <p:nvPr/>
        </p:nvSpPr>
        <p:spPr>
          <a:xfrm>
            <a:off x="548640" y="4389120"/>
            <a:ext cx="11082528" cy="1371600"/>
          </a:xfrm>
          <a:prstGeom prst="rect">
            <a:avLst/>
          </a:prstGeom>
          <a:noFill/>
        </p:spPr>
        <p:txBody>
          <a:bodyPr wrap="square" lIns="0" rIns="0" tIns="18288" bIns="18288" anchor="t">
            <a:spAutoFit/>
          </a:bodyPr>
          <a:lstStyle/>
          <a:p>
            <a:pPr algn="l">
              <a:spcAft>
                <a:spcPts val="600"/>
              </a:spcAft>
            </a:pPr>
            <a:r>
              <a:rPr sz="1200" b="1" i="0">
                <a:solidFill>
                  <a:srgbClr val="1B355E"/>
                </a:solidFill>
                <a:latin typeface="Abadi"/>
              </a:rPr>
              <a:t>And one more.  </a:t>
            </a:r>
            <a:r>
              <a:rPr sz="1200" b="0" i="0">
                <a:solidFill>
                  <a:srgbClr val="1A1A1A"/>
                </a:solidFill>
                <a:latin typeface="Abadi"/>
              </a:rPr>
              <a:t>Treating apnoea of prematurity as reflux: caffeine, not acid suppression or prokinetics, is the treatment, and reflux medication adds risk without benefit.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Tieder 2016 · Peter 2002 · Di Fiore 2005, 2010 · Corvaglia 2009 · Duncan 2017, 2024 · Terrin 2012 · Nama 2025 · Mahant 2024 · Mindlina 2020</a:t>
            </a:r>
          </a:p>
        </p:txBody>
      </p:sp>
      <p:sp>
        <p:nvSpPr>
          <p:cNvPr id="12" name="TextBox 11"/>
          <p:cNvSpPr txBox="1"/>
          <p:nvPr/>
        </p:nvSpPr>
        <p:spPr>
          <a:xfrm>
            <a:off x="548640" y="1810512"/>
            <a:ext cx="11082528" cy="3931920"/>
          </a:xfrm>
          <a:prstGeom prst="rect">
            <a:avLst/>
          </a:prstGeom>
          <a:noFill/>
        </p:spPr>
        <p:txBody>
          <a:bodyPr wrap="square" lIns="0" rIns="0" tIns="18288" bIns="18288" anchor="t">
            <a:spAutoFit/>
          </a:bodyPr>
          <a:lstStyle/>
          <a:p>
            <a:pPr algn="l">
              <a:spcAft>
                <a:spcPts val="800"/>
              </a:spcAft>
            </a:pPr>
            <a:r>
              <a:rPr sz="1350" b="0" i="0">
                <a:solidFill>
                  <a:srgbClr val="1A1A1A"/>
                </a:solidFill>
                <a:latin typeface="Abadi"/>
              </a:rPr>
              <a:t>▪  BRUE: under 1 year, under 1 minute, resolved and unexplained; a reflux event explained by the history is not a BRUE.</a:t>
            </a:r>
          </a:p>
          <a:p>
            <a:pPr algn="l">
              <a:spcAft>
                <a:spcPts val="800"/>
              </a:spcAft>
            </a:pPr>
            <a:r>
              <a:rPr sz="1350" b="0" i="0">
                <a:solidFill>
                  <a:srgbClr val="1A1A1A"/>
                </a:solidFill>
                <a:latin typeface="Abadi"/>
              </a:rPr>
              <a:t>▪  Lower-risk BRUE: no reflux tests and no acid suppression (AAP 2016, moderate recommendations).</a:t>
            </a:r>
          </a:p>
          <a:p>
            <a:pPr algn="l">
              <a:spcAft>
                <a:spcPts val="800"/>
              </a:spcAft>
            </a:pPr>
            <a:r>
              <a:rPr sz="1350" b="0" i="0">
                <a:solidFill>
                  <a:srgbClr val="1A1A1A"/>
                </a:solidFill>
                <a:latin typeface="Abadi"/>
              </a:rPr>
              <a:t>▪  Fewer than 3% of 12,957 cardiorespiratory events in 71 preterm infants followed reflux (Di Fiore 2010).</a:t>
            </a:r>
          </a:p>
          <a:p>
            <a:pPr algn="l">
              <a:spcAft>
                <a:spcPts val="800"/>
              </a:spcAft>
            </a:pPr>
            <a:r>
              <a:rPr sz="1350" b="0" i="0">
                <a:solidFill>
                  <a:srgbClr val="1A1A1A"/>
                </a:solidFill>
                <a:latin typeface="Abadi"/>
              </a:rPr>
              <a:t>▪  Reflux does not prolong apnoea; reflux reaches the pharynx more often after apnoea than before.</a:t>
            </a:r>
          </a:p>
          <a:p>
            <a:pPr algn="l">
              <a:spcAft>
                <a:spcPts val="800"/>
              </a:spcAft>
            </a:pPr>
            <a:r>
              <a:rPr sz="1350" b="0" i="0">
                <a:solidFill>
                  <a:srgbClr val="1A1A1A"/>
                </a:solidFill>
                <a:latin typeface="Abadi"/>
              </a:rPr>
              <a:t>▪  A reflux-triggered subgroup exists (Corvaglia), mostly non-acid, so PPIs have no target.</a:t>
            </a:r>
          </a:p>
          <a:p>
            <a:pPr algn="l">
              <a:spcAft>
                <a:spcPts val="800"/>
              </a:spcAft>
            </a:pPr>
            <a:r>
              <a:rPr sz="1350" b="0" i="0">
                <a:solidFill>
                  <a:srgbClr val="1A1A1A"/>
                </a:solidFill>
                <a:latin typeface="Abadi"/>
              </a:rPr>
              <a:t>▪  Swallow studies are the highest-yield test after feed-related events: 73% abnormal; bedside checks miss a quarter.</a:t>
            </a:r>
          </a:p>
          <a:p>
            <a:pPr algn="l">
              <a:spcAft>
                <a:spcPts val="800"/>
              </a:spcAft>
            </a:pPr>
            <a:r>
              <a:rPr sz="1350" b="0" i="0">
                <a:solidFill>
                  <a:srgbClr val="1A1A1A"/>
                </a:solidFill>
                <a:latin typeface="Abadi"/>
              </a:rPr>
              <a:t>▪  Ranitidine in VLBW infants: infection 37.4% vs 9.8%, NEC odds ratio 6.6, death 9.9% vs 1.6%.</a:t>
            </a:r>
          </a:p>
          <a:p>
            <a:pPr algn="l">
              <a:spcAft>
                <a:spcPts val="800"/>
              </a:spcAft>
            </a:pPr>
            <a:r>
              <a:rPr sz="1350" b="0" i="0">
                <a:solidFill>
                  <a:srgbClr val="1A1A1A"/>
                </a:solidFill>
                <a:latin typeface="Abadi"/>
              </a:rPr>
              <a:t>▪  AAP higher-risk criteria predict serious disease no better than chance (AUC 0.53); epilepsy is the top serious diagnosis.</a:t>
            </a:r>
          </a:p>
          <a:p>
            <a:pPr algn="l">
              <a:spcAft>
                <a:spcPts val="800"/>
              </a:spcAft>
            </a:pPr>
            <a:r>
              <a:rPr sz="1350" b="0" i="0">
                <a:solidFill>
                  <a:srgbClr val="1A1A1A"/>
                </a:solidFill>
                <a:latin typeface="Abadi"/>
              </a:rPr>
              <a:t>▪  Sandifer is reflux you can see: tied to feeds, awake, normal neurology; 79% without anatomy resolve without surgery.</a:t>
            </a:r>
          </a:p>
          <a:p>
            <a:pPr algn="l">
              <a:spcAft>
                <a:spcPts val="800"/>
              </a:spcAft>
            </a:pPr>
            <a:r>
              <a:rPr sz="1350" b="0" i="0">
                <a:solidFill>
                  <a:srgbClr val="1A1A1A"/>
                </a:solidFill>
                <a:latin typeface="Abadi"/>
              </a:rPr>
              <a:t>▪  Test reflux only for recurrent feed-linked events, suspected Sandifer or non-epileptic spells, with polygraphy.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i="1">
                <a:solidFill>
                  <a:srgbClr val="555555"/>
                </a:solidFill>
                <a:latin typeface="Abadi"/>
              </a:rPr>
              <a:t>Applying the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i="1">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8" cy="3840480"/>
        </p:xfrm>
        <a:graphic>
          <a:graphicData uri="http://schemas.openxmlformats.org/drawingml/2006/table">
            <a:tbl>
              <a:tblPr firstRow="1" bandRow="1">
                <a:tableStyleId>{5C22544A-7EE6-4342-B048-85BDC9FD1C3A}</a:tableStyleId>
              </a:tblPr>
              <a:tblGrid>
                <a:gridCol w="5486400"/>
                <a:gridCol w="5596128"/>
              </a:tblGrid>
              <a:tr h="548640">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r>
              <a:tr h="548640">
                <a:tc>
                  <a:txBody>
                    <a:bodyPr wrap="square"/>
                    <a:lstStyle/>
                    <a:p>
                      <a:r>
                        <a:rPr sz="1050" b="1">
                          <a:solidFill>
                            <a:srgbClr val="1A1A1A"/>
                          </a:solidFill>
                          <a:latin typeface="Abadi"/>
                        </a:rPr>
                        <a:t>10-week-old, term, first 20-second pale limp episode, normal examination</a:t>
                      </a:r>
                    </a:p>
                  </a:txBody>
                  <a:tcPr marL="73152" marR="73152" marT="27432" marB="27432" anchor="ctr">
                    <a:solidFill>
                      <a:srgbClr val="FFFFFF"/>
                    </a:solidFill>
                  </a:tcPr>
                </a:tc>
                <a:tc>
                  <a:txBody>
                    <a:bodyPr wrap="square"/>
                    <a:lstStyle/>
                    <a:p>
                      <a:r>
                        <a:rPr sz="1050" b="0">
                          <a:solidFill>
                            <a:srgbClr val="1A1A1A"/>
                          </a:solidFill>
                          <a:latin typeface="Abadi"/>
                        </a:rPr>
                        <a:t>Lower-risk BRUE: educate, CPR resources, consider ECG; no pH study, no PPI</a:t>
                      </a:r>
                    </a:p>
                  </a:txBody>
                  <a:tcPr marL="73152" marR="73152" marT="27432" marB="27432" anchor="ctr">
                    <a:solidFill>
                      <a:srgbClr val="FFFFFF"/>
                    </a:solidFill>
                  </a:tcPr>
                </a:tc>
              </a:tr>
              <a:tr h="548640">
                <a:tc>
                  <a:txBody>
                    <a:bodyPr wrap="square"/>
                    <a:lstStyle/>
                    <a:p>
                      <a:r>
                        <a:rPr sz="1050" b="1">
                          <a:solidFill>
                            <a:srgbClr val="1A1A1A"/>
                          </a:solidFill>
                          <a:latin typeface="Abadi"/>
                        </a:rPr>
                        <a:t>7-week-old, coughing and choking with milk in the mouth, then dusky</a:t>
                      </a:r>
                    </a:p>
                  </a:txBody>
                  <a:tcPr marL="73152" marR="73152" marT="27432" marB="27432" anchor="ctr">
                    <a:solidFill>
                      <a:srgbClr val="F2F4F7"/>
                    </a:solidFill>
                  </a:tcPr>
                </a:tc>
                <a:tc>
                  <a:txBody>
                    <a:bodyPr wrap="square"/>
                    <a:lstStyle/>
                    <a:p>
                      <a:r>
                        <a:rPr sz="1050" b="0">
                          <a:solidFill>
                            <a:srgbClr val="1A1A1A"/>
                          </a:solidFill>
                          <a:latin typeface="Abadi"/>
                        </a:rPr>
                        <a:t>Not a BRUE: feeding event; assess feeding, consider swallow study</a:t>
                      </a:r>
                    </a:p>
                  </a:txBody>
                  <a:tcPr marL="73152" marR="73152" marT="27432" marB="27432" anchor="ctr">
                    <a:solidFill>
                      <a:srgbClr val="F2F4F7"/>
                    </a:solidFill>
                  </a:tcPr>
                </a:tc>
              </a:tr>
              <a:tr h="548640">
                <a:tc>
                  <a:txBody>
                    <a:bodyPr wrap="square"/>
                    <a:lstStyle/>
                    <a:p>
                      <a:r>
                        <a:rPr sz="1050" b="1">
                          <a:solidFill>
                            <a:srgbClr val="1A1A1A"/>
                          </a:solidFill>
                          <a:latin typeface="Abadi"/>
                        </a:rPr>
                        <a:t>Ex-29-week infant at 35 weeks with apnoeas, parents told it is reflux</a:t>
                      </a:r>
                    </a:p>
                  </a:txBody>
                  <a:tcPr marL="73152" marR="73152" marT="27432" marB="27432" anchor="ctr">
                    <a:solidFill>
                      <a:srgbClr val="FFFFFF"/>
                    </a:solidFill>
                  </a:tcPr>
                </a:tc>
                <a:tc>
                  <a:txBody>
                    <a:bodyPr wrap="square"/>
                    <a:lstStyle/>
                    <a:p>
                      <a:r>
                        <a:rPr sz="1050" b="0">
                          <a:solidFill>
                            <a:srgbClr val="1A1A1A"/>
                          </a:solidFill>
                          <a:latin typeface="Abadi"/>
                        </a:rPr>
                        <a:t>Apnoea of prematurity: caffeine; stop acid suppression</a:t>
                      </a:r>
                    </a:p>
                  </a:txBody>
                  <a:tcPr marL="73152" marR="73152" marT="27432" marB="27432" anchor="ctr">
                    <a:solidFill>
                      <a:srgbClr val="FFFFFF"/>
                    </a:solidFill>
                  </a:tcPr>
                </a:tc>
              </a:tr>
              <a:tr h="548640">
                <a:tc>
                  <a:txBody>
                    <a:bodyPr wrap="square"/>
                    <a:lstStyle/>
                    <a:p>
                      <a:r>
                        <a:rPr sz="1050" b="1">
                          <a:solidFill>
                            <a:srgbClr val="1A1A1A"/>
                          </a:solidFill>
                          <a:latin typeface="Abadi"/>
                        </a:rPr>
                        <a:t>4-month-old, repeated events within 10 minutes of feeds</a:t>
                      </a:r>
                    </a:p>
                  </a:txBody>
                  <a:tcPr marL="73152" marR="73152" marT="27432" marB="27432" anchor="ctr">
                    <a:solidFill>
                      <a:srgbClr val="F2F4F7"/>
                    </a:solidFill>
                  </a:tcPr>
                </a:tc>
                <a:tc>
                  <a:txBody>
                    <a:bodyPr wrap="square"/>
                    <a:lstStyle/>
                    <a:p>
                      <a:r>
                        <a:rPr sz="1050" b="0">
                          <a:solidFill>
                            <a:srgbClr val="1A1A1A"/>
                          </a:solidFill>
                          <a:latin typeface="Abadi"/>
                        </a:rPr>
                        <a:t>Videofluoroscopic swallow study first; impedance with polygraphy if normal</a:t>
                      </a:r>
                    </a:p>
                  </a:txBody>
                  <a:tcPr marL="73152" marR="73152" marT="27432" marB="27432" anchor="ctr">
                    <a:solidFill>
                      <a:srgbClr val="F2F4F7"/>
                    </a:solidFill>
                  </a:tcPr>
                </a:tc>
              </a:tr>
              <a:tr h="548640">
                <a:tc>
                  <a:txBody>
                    <a:bodyPr wrap="square"/>
                    <a:lstStyle/>
                    <a:p>
                      <a:r>
                        <a:rPr sz="1050" b="1">
                          <a:solidFill>
                            <a:srgbClr val="1A1A1A"/>
                          </a:solidFill>
                          <a:latin typeface="Abadi"/>
                        </a:rPr>
                        <a:t>5-month-old, neck twisting and arching with feeds, normal neurology</a:t>
                      </a:r>
                    </a:p>
                  </a:txBody>
                  <a:tcPr marL="73152" marR="73152" marT="27432" marB="27432" anchor="ctr">
                    <a:solidFill>
                      <a:srgbClr val="FFFFFF"/>
                    </a:solidFill>
                  </a:tcPr>
                </a:tc>
                <a:tc>
                  <a:txBody>
                    <a:bodyPr wrap="square"/>
                    <a:lstStyle/>
                    <a:p>
                      <a:r>
                        <a:rPr sz="1050" b="0">
                          <a:solidFill>
                            <a:srgbClr val="1A1A1A"/>
                          </a:solidFill>
                          <a:latin typeface="Abadi"/>
                        </a:rPr>
                        <a:t>Probable Sandifer: video, pH-impedance; treat reflux, check for hiatal hernia</a:t>
                      </a:r>
                    </a:p>
                  </a:txBody>
                  <a:tcPr marL="73152" marR="73152" marT="27432" marB="27432" anchor="ctr">
                    <a:solidFill>
                      <a:srgbClr val="FFFFFF"/>
                    </a:solidFill>
                  </a:tcPr>
                </a:tc>
              </a:tr>
              <a:tr h="548640">
                <a:tc>
                  <a:txBody>
                    <a:bodyPr wrap="square"/>
                    <a:lstStyle/>
                    <a:p>
                      <a:r>
                        <a:rPr sz="1050" b="1">
                          <a:solidFill>
                            <a:srgbClr val="1A1A1A"/>
                          </a:solidFill>
                          <a:latin typeface="Abadi"/>
                        </a:rPr>
                        <a:t>3-month-old, clusters of stiffening on waking, BRUE label</a:t>
                      </a:r>
                    </a:p>
                  </a:txBody>
                  <a:tcPr marL="73152" marR="73152" marT="27432" marB="27432" anchor="ctr">
                    <a:solidFill>
                      <a:srgbClr val="F2F4F7"/>
                    </a:solidFill>
                  </a:tcPr>
                </a:tc>
                <a:tc>
                  <a:txBody>
                    <a:bodyPr wrap="square"/>
                    <a:lstStyle/>
                    <a:p>
                      <a:r>
                        <a:rPr sz="1050" b="0">
                          <a:solidFill>
                            <a:srgbClr val="1A1A1A"/>
                          </a:solidFill>
                          <a:latin typeface="Abadi"/>
                        </a:rPr>
                        <a:t>Not reflux until proven otherwise: EEG for infantile spasms</a:t>
                      </a:r>
                    </a:p>
                  </a:txBody>
                  <a:tcPr marL="73152" marR="73152" marT="27432" marB="27432" anchor="ctr">
                    <a:solidFill>
                      <a:srgbClr val="F2F4F7"/>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i="0">
                <a:solidFill>
                  <a:srgbClr val="FFFFFF"/>
                </a:solidFill>
                <a:latin typeface="Abadi"/>
              </a:rPr>
              <a:t>BRUE, Apnoea and Reflux: Why the Guideline Says Do Not Test and Do Not Treat — and When Reflux Really Matters</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