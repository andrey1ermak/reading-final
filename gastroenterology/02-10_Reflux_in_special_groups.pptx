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1082528" cy="2194560"/>
          </a:xfrm>
          <a:prstGeom prst="rect">
            <a:avLst/>
          </a:prstGeom>
          <a:noFill/>
        </p:spPr>
        <p:txBody>
          <a:bodyPr wrap="square" anchor="b" lIns="36576" rIns="36576" tIns="36576" bIns="36576">
            <a:spAutoFit/>
          </a:bodyPr>
          <a:lstStyle/>
          <a:p>
            <a:pPr algn="ctr"/>
            <a:r>
              <a:rPr sz="4000" b="1" i="0">
                <a:solidFill>
                  <a:srgbClr val="FFFFFF"/>
                </a:solidFill>
                <a:latin typeface="Abadi"/>
              </a:rPr>
              <a:t>Reflux in Special Groups — Neurological Impairment, Oesophageal Atresia, Cystic Fibrosis and Obesity</a:t>
            </a:r>
          </a:p>
        </p:txBody>
      </p:sp>
      <p:sp>
        <p:nvSpPr>
          <p:cNvPr id="4" name="Rectangle 3"/>
          <p:cNvSpPr/>
          <p:nvPr/>
        </p:nvSpPr>
        <p:spPr>
          <a:xfrm>
            <a:off x="5184648" y="3630168"/>
            <a:ext cx="1828800"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31336"/>
            <a:ext cx="11082528" cy="292608"/>
          </a:xfrm>
          <a:prstGeom prst="rect">
            <a:avLst/>
          </a:prstGeom>
          <a:noFill/>
        </p:spPr>
        <p:txBody>
          <a:bodyPr wrap="square" anchor="t" lIns="36576" rIns="36576" tIns="36576" bIns="36576">
            <a:spAutoFit/>
          </a:bodyPr>
          <a:lstStyle/>
          <a:p>
            <a:pPr algn="ctr"/>
            <a:r>
              <a:rPr sz="1700" b="1" i="0">
                <a:solidFill>
                  <a:srgbClr val="FFFFFF"/>
                </a:solidFill>
                <a:latin typeface="Abadi"/>
              </a:rPr>
              <a:t>Andrey Ermak, MD</a:t>
            </a:r>
          </a:p>
        </p:txBody>
      </p:sp>
      <p:sp>
        <p:nvSpPr>
          <p:cNvPr id="6" name="TextBox 5"/>
          <p:cNvSpPr txBox="1"/>
          <p:nvPr/>
        </p:nvSpPr>
        <p:spPr>
          <a:xfrm>
            <a:off x="548640" y="4343400"/>
            <a:ext cx="11082528" cy="685800"/>
          </a:xfrm>
          <a:prstGeom prst="rect">
            <a:avLst/>
          </a:prstGeom>
          <a:noFill/>
        </p:spPr>
        <p:txBody>
          <a:bodyPr wrap="square" anchor="t" lIns="36576" rIns="36576" tIns="36576" bIns="36576">
            <a:spAutoFit/>
          </a:bodyPr>
          <a:lstStyle/>
          <a:p>
            <a:pPr algn="ctr"/>
            <a:r>
              <a:rPr sz="1100" b="0" i="0">
                <a:solidFill>
                  <a:srgbClr val="D9DEE7"/>
                </a:solidFill>
                <a:latin typeface="Abadi"/>
              </a:rPr>
              <a:t>Romano 2017 (ESPGHAN NI) · Rosen 2018 (NASPGHAN/ESPGHAN) · Krishnan 2016 (ESPGHAN-NASPGHAN EA) · Dingemann 2020 (ERNICA) · Pearl 1990 · Srivastava 2009 · Barnhart 2013 · Lauriti 2018 · Miyake 2018 · Wyllie 2023 · Vergouwe 2018 · Dziekiewicz 2015 · van Horck 2018 · Quitadamo 2012 · Koebnick 2011 · Shakhnovich 2018 · Katz 2022 (ACG) · Yadlapati 2022 (AGA) · Rode 2025 (Teen-LABS)</a:t>
            </a:r>
          </a:p>
        </p:txBody>
      </p:sp>
      <p:sp>
        <p:nvSpPr>
          <p:cNvPr id="7" name="TextBox 6"/>
          <p:cNvSpPr txBox="1"/>
          <p:nvPr/>
        </p:nvSpPr>
        <p:spPr>
          <a:xfrm>
            <a:off x="548640" y="5193792"/>
            <a:ext cx="11082528" cy="548640"/>
          </a:xfrm>
          <a:prstGeom prst="rect">
            <a:avLst/>
          </a:prstGeom>
          <a:noFill/>
        </p:spPr>
        <p:txBody>
          <a:bodyPr wrap="square" anchor="t" lIns="36576" rIns="36576" tIns="36576" bIns="36576">
            <a:spAutoFit/>
          </a:bodyPr>
          <a:lstStyle/>
          <a:p>
            <a:pPr algn="ctr"/>
            <a:r>
              <a:rPr sz="1100" b="0" i="1">
                <a:solidFill>
                  <a:srgbClr val="D9DEE7"/>
                </a:solidFill>
                <a:latin typeface="Abadi"/>
              </a:rPr>
              <a:t>same word, four diseases · test before you commit · gastrostomy alone is usually enough · prophylactic PPI does not prevent strictures · EA reflux is lifelong · in CF, acid suppression has a price · in obesity, weight is the treatment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anchor="ctr" lIns="0" rIns="0" tIns="0" bIns="0">
            <a:spAutoFit/>
          </a:bodyPr>
          <a:lstStyle/>
          <a:p>
            <a:pPr algn="ctr"/>
            <a:r>
              <a:rPr sz="1500" b="1" i="0">
                <a:solidFill>
                  <a:srgbClr val="FFFFFF"/>
                </a:solidFill>
                <a:latin typeface="Abadi"/>
              </a:rPr>
              <a:t>I</a:t>
            </a:r>
          </a:p>
        </p:txBody>
      </p:sp>
      <p:sp>
        <p:nvSpPr>
          <p:cNvPr id="4" name="TextBox 3"/>
          <p:cNvSpPr txBox="1"/>
          <p:nvPr/>
        </p:nvSpPr>
        <p:spPr>
          <a:xfrm>
            <a:off x="1380744" y="292608"/>
            <a:ext cx="10232136" cy="347472"/>
          </a:xfrm>
          <a:prstGeom prst="rect">
            <a:avLst/>
          </a:prstGeom>
          <a:noFill/>
        </p:spPr>
        <p:txBody>
          <a:bodyPr wrap="square" anchor="ctr" lIns="36576" rIns="36576" tIns="36576" bIns="36576">
            <a:spAutoFit/>
          </a:bodyPr>
          <a:lstStyle/>
          <a:p>
            <a:pPr algn="l"/>
            <a:r>
              <a:rPr sz="1200" b="1" i="0">
                <a:solidFill>
                  <a:srgbClr val="B22222"/>
                </a:solidFill>
                <a:latin typeface="Abadi"/>
              </a:rPr>
              <a:t>THE QUESTION OF THE DAY</a:t>
            </a:r>
          </a:p>
        </p:txBody>
      </p:sp>
      <p:sp>
        <p:nvSpPr>
          <p:cNvPr id="5" name="TextBox 4"/>
          <p:cNvSpPr txBox="1"/>
          <p:nvPr/>
        </p:nvSpPr>
        <p:spPr>
          <a:xfrm>
            <a:off x="548640" y="722376"/>
            <a:ext cx="11082528" cy="548640"/>
          </a:xfrm>
          <a:prstGeom prst="rect">
            <a:avLst/>
          </a:prstGeom>
          <a:noFill/>
        </p:spPr>
        <p:txBody>
          <a:bodyPr wrap="square" anchor="ctr" lIns="36576" rIns="36576" tIns="36576" bIns="36576">
            <a:spAutoFit/>
          </a:bodyPr>
          <a:lstStyle/>
          <a:p>
            <a:pPr algn="l"/>
            <a:r>
              <a:rPr sz="3000" b="1" i="0">
                <a:solidFill>
                  <a:srgbClr val="1B355E"/>
                </a:solidFill>
                <a:latin typeface="Abadi"/>
              </a:rPr>
              <a:t>ONE DIAGNOSIS, FOUR DIFFERENT DISEASES</a:t>
            </a:r>
          </a:p>
        </p:txBody>
      </p:sp>
      <p:sp>
        <p:nvSpPr>
          <p:cNvPr id="6" name="TextBox 5"/>
          <p:cNvSpPr txBox="1"/>
          <p:nvPr/>
        </p:nvSpPr>
        <p:spPr>
          <a:xfrm>
            <a:off x="548640" y="1307592"/>
            <a:ext cx="11082528" cy="265176"/>
          </a:xfrm>
          <a:prstGeom prst="rect">
            <a:avLst/>
          </a:prstGeom>
          <a:noFill/>
        </p:spPr>
        <p:txBody>
          <a:bodyPr wrap="square" anchor="t" lIns="36576" rIns="36576" tIns="36576" bIns="36576">
            <a:spAutoFit/>
          </a:bodyPr>
          <a:lstStyle/>
          <a:p>
            <a:pPr algn="l"/>
            <a:r>
              <a:rPr sz="1300" b="0" i="0">
                <a:solidFill>
                  <a:srgbClr val="555555"/>
                </a:solidFill>
                <a:latin typeface="Abadi"/>
              </a:rPr>
              <a:t>Reflux in a child with cerebral palsy, after oesophageal atresia repair, with cystic fibrosis, or with obesity: do the usual rules apply?</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anchor="t" lIns="36576" rIns="36576" tIns="36576" bIns="36576">
            <a:spAutoFit/>
          </a:bodyPr>
          <a:lstStyle/>
          <a:p>
            <a:pPr algn="r"/>
            <a:r>
              <a:rPr sz="1200" b="0" i="0">
                <a:solidFill>
                  <a:srgbClr val="555555"/>
                </a:solidFill>
                <a:latin typeface="Abadi"/>
              </a:rPr>
              <a:t>2</a:t>
            </a:r>
          </a:p>
        </p:txBody>
      </p:sp>
      <p:sp>
        <p:nvSpPr>
          <p:cNvPr id="11" name="TextBox 10"/>
          <p:cNvSpPr txBox="1"/>
          <p:nvPr/>
        </p:nvSpPr>
        <p:spPr>
          <a:xfrm>
            <a:off x="548640" y="5971032"/>
            <a:ext cx="10287000" cy="457200"/>
          </a:xfrm>
          <a:prstGeom prst="rect">
            <a:avLst/>
          </a:prstGeom>
          <a:noFill/>
        </p:spPr>
        <p:txBody>
          <a:bodyPr wrap="square" anchor="t" lIns="36576" rIns="36576" tIns="36576" bIns="36576">
            <a:spAutoFit/>
          </a:bodyPr>
          <a:lstStyle/>
          <a:p>
            <a:pPr algn="l"/>
            <a:r>
              <a:rPr sz="1000" b="0" i="0">
                <a:solidFill>
                  <a:srgbClr val="7F7F7F"/>
                </a:solidFill>
                <a:latin typeface="Abadi"/>
              </a:rPr>
              <a:t>Rosen R, et al. JPGN 2018;66:516–54 · Romano C, et al. JPGN 2017;65:242–64 · Krishnan U, et al. JPGN 2016;63:550–70</a:t>
            </a:r>
          </a:p>
        </p:txBody>
      </p:sp>
      <p:sp>
        <p:nvSpPr>
          <p:cNvPr id="12" name="Rectangle 11"/>
          <p:cNvSpPr/>
          <p:nvPr/>
        </p:nvSpPr>
        <p:spPr>
          <a:xfrm>
            <a:off x="548640" y="1773936"/>
            <a:ext cx="2070201" cy="214884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070201" cy="1005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1956816"/>
            <a:ext cx="1777593" cy="502920"/>
          </a:xfrm>
          <a:prstGeom prst="rect">
            <a:avLst/>
          </a:prstGeom>
          <a:noFill/>
        </p:spPr>
        <p:txBody>
          <a:bodyPr wrap="square" anchor="t" lIns="36576" rIns="36576" tIns="36576" bIns="36576">
            <a:spAutoFit/>
          </a:bodyPr>
          <a:lstStyle/>
          <a:p>
            <a:pPr algn="l"/>
            <a:r>
              <a:rPr sz="1350" b="1" i="0">
                <a:solidFill>
                  <a:srgbClr val="1B355E"/>
                </a:solidFill>
                <a:latin typeface="Abadi"/>
              </a:rPr>
              <a:t>Neurological impairment</a:t>
            </a:r>
          </a:p>
        </p:txBody>
      </p:sp>
      <p:sp>
        <p:nvSpPr>
          <p:cNvPr id="15" name="TextBox 14"/>
          <p:cNvSpPr txBox="1"/>
          <p:nvPr/>
        </p:nvSpPr>
        <p:spPr>
          <a:xfrm>
            <a:off x="694944" y="2487168"/>
            <a:ext cx="1777593" cy="1344168"/>
          </a:xfrm>
          <a:prstGeom prst="rect">
            <a:avLst/>
          </a:prstGeom>
          <a:noFill/>
        </p:spPr>
        <p:txBody>
          <a:bodyPr wrap="square" anchor="t" lIns="36576" rIns="36576" tIns="36576" bIns="36576">
            <a:spAutoFit/>
          </a:bodyPr>
          <a:lstStyle/>
          <a:p>
            <a:pPr algn="l">
              <a:spcAft>
                <a:spcPts val="400"/>
              </a:spcAft>
            </a:pPr>
            <a:r>
              <a:rPr sz="1100" b="0" i="0">
                <a:solidFill>
                  <a:srgbClr val="1A1A1A"/>
                </a:solidFill>
                <a:latin typeface="Abadi"/>
              </a:rPr>
              <a:t>▪  Up to 70% have reflux</a:t>
            </a:r>
          </a:p>
          <a:p>
            <a:pPr algn="l">
              <a:spcAft>
                <a:spcPts val="400"/>
              </a:spcAft>
            </a:pPr>
            <a:r>
              <a:rPr sz="1100" b="0" i="0">
                <a:solidFill>
                  <a:srgbClr val="1A1A1A"/>
                </a:solidFill>
                <a:latin typeface="Abadi"/>
              </a:rPr>
              <a:t>▪  Symptoms hidden</a:t>
            </a:r>
          </a:p>
          <a:p>
            <a:pPr algn="l">
              <a:spcAft>
                <a:spcPts val="400"/>
              </a:spcAft>
            </a:pPr>
            <a:r>
              <a:rPr sz="1100" b="0" i="0">
                <a:solidFill>
                  <a:srgbClr val="1A1A1A"/>
                </a:solidFill>
                <a:latin typeface="Abadi"/>
              </a:rPr>
              <a:t>▪  Aspiration is the danger</a:t>
            </a:r>
          </a:p>
        </p:txBody>
      </p:sp>
      <p:sp>
        <p:nvSpPr>
          <p:cNvPr id="16" name="Rectangle 15"/>
          <p:cNvSpPr/>
          <p:nvPr/>
        </p:nvSpPr>
        <p:spPr>
          <a:xfrm>
            <a:off x="2801721" y="1773936"/>
            <a:ext cx="2070201" cy="214884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801721" y="1773936"/>
            <a:ext cx="2070201"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48025" y="1956816"/>
            <a:ext cx="1777593" cy="502920"/>
          </a:xfrm>
          <a:prstGeom prst="rect">
            <a:avLst/>
          </a:prstGeom>
          <a:noFill/>
        </p:spPr>
        <p:txBody>
          <a:bodyPr wrap="square" anchor="t" lIns="36576" rIns="36576" tIns="36576" bIns="36576">
            <a:spAutoFit/>
          </a:bodyPr>
          <a:lstStyle/>
          <a:p>
            <a:pPr algn="l"/>
            <a:r>
              <a:rPr sz="1350" b="1" i="0">
                <a:solidFill>
                  <a:srgbClr val="B22222"/>
                </a:solidFill>
                <a:latin typeface="Abadi"/>
              </a:rPr>
              <a:t>Oesophageal atresia</a:t>
            </a:r>
          </a:p>
        </p:txBody>
      </p:sp>
      <p:sp>
        <p:nvSpPr>
          <p:cNvPr id="19" name="TextBox 18"/>
          <p:cNvSpPr txBox="1"/>
          <p:nvPr/>
        </p:nvSpPr>
        <p:spPr>
          <a:xfrm>
            <a:off x="2948025" y="2487168"/>
            <a:ext cx="1777593" cy="1344168"/>
          </a:xfrm>
          <a:prstGeom prst="rect">
            <a:avLst/>
          </a:prstGeom>
          <a:noFill/>
        </p:spPr>
        <p:txBody>
          <a:bodyPr wrap="square" anchor="t" lIns="36576" rIns="36576" tIns="36576" bIns="36576">
            <a:spAutoFit/>
          </a:bodyPr>
          <a:lstStyle/>
          <a:p>
            <a:pPr algn="l">
              <a:spcAft>
                <a:spcPts val="400"/>
              </a:spcAft>
            </a:pPr>
            <a:r>
              <a:rPr sz="1100" b="0" i="0">
                <a:solidFill>
                  <a:srgbClr val="1A1A1A"/>
                </a:solidFill>
                <a:latin typeface="Abadi"/>
              </a:rPr>
              <a:t>▪  Reflux in 25–80%</a:t>
            </a:r>
          </a:p>
          <a:p>
            <a:pPr algn="l">
              <a:spcAft>
                <a:spcPts val="400"/>
              </a:spcAft>
            </a:pPr>
            <a:r>
              <a:rPr sz="1100" b="0" i="0">
                <a:solidFill>
                  <a:srgbClr val="1A1A1A"/>
                </a:solidFill>
                <a:latin typeface="Abadi"/>
              </a:rPr>
              <a:t>▪  Strictures, Barrett</a:t>
            </a:r>
          </a:p>
          <a:p>
            <a:pPr algn="l">
              <a:spcAft>
                <a:spcPts val="400"/>
              </a:spcAft>
            </a:pPr>
            <a:r>
              <a:rPr sz="1100" b="0" i="0">
                <a:solidFill>
                  <a:srgbClr val="1A1A1A"/>
                </a:solidFill>
                <a:latin typeface="Abadi"/>
              </a:rPr>
              <a:t>▪  Lifelong surveillance</a:t>
            </a:r>
          </a:p>
        </p:txBody>
      </p:sp>
      <p:sp>
        <p:nvSpPr>
          <p:cNvPr id="20" name="Rectangle 19"/>
          <p:cNvSpPr/>
          <p:nvPr/>
        </p:nvSpPr>
        <p:spPr>
          <a:xfrm>
            <a:off x="5054803" y="1773936"/>
            <a:ext cx="2070201" cy="214884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54803" y="1773936"/>
            <a:ext cx="2070201"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01107" y="1956816"/>
            <a:ext cx="1777593" cy="502920"/>
          </a:xfrm>
          <a:prstGeom prst="rect">
            <a:avLst/>
          </a:prstGeom>
          <a:noFill/>
        </p:spPr>
        <p:txBody>
          <a:bodyPr wrap="square" anchor="t" lIns="36576" rIns="36576" tIns="36576" bIns="36576">
            <a:spAutoFit/>
          </a:bodyPr>
          <a:lstStyle/>
          <a:p>
            <a:pPr algn="l"/>
            <a:r>
              <a:rPr sz="1350" b="1" i="0">
                <a:solidFill>
                  <a:srgbClr val="D97A0B"/>
                </a:solidFill>
                <a:latin typeface="Abadi"/>
              </a:rPr>
              <a:t>Cystic fibrosis</a:t>
            </a:r>
          </a:p>
        </p:txBody>
      </p:sp>
      <p:sp>
        <p:nvSpPr>
          <p:cNvPr id="23" name="TextBox 22"/>
          <p:cNvSpPr txBox="1"/>
          <p:nvPr/>
        </p:nvSpPr>
        <p:spPr>
          <a:xfrm>
            <a:off x="5201107" y="2487168"/>
            <a:ext cx="1777593" cy="1344168"/>
          </a:xfrm>
          <a:prstGeom prst="rect">
            <a:avLst/>
          </a:prstGeom>
          <a:noFill/>
        </p:spPr>
        <p:txBody>
          <a:bodyPr wrap="square" anchor="t" lIns="36576" rIns="36576" tIns="36576" bIns="36576">
            <a:spAutoFit/>
          </a:bodyPr>
          <a:lstStyle/>
          <a:p>
            <a:pPr algn="l">
              <a:spcAft>
                <a:spcPts val="400"/>
              </a:spcAft>
            </a:pPr>
            <a:r>
              <a:rPr sz="1100" b="0" i="0">
                <a:solidFill>
                  <a:srgbClr val="1A1A1A"/>
                </a:solidFill>
                <a:latin typeface="Abadi"/>
              </a:rPr>
              <a:t>▪  Reflux in 35–81%</a:t>
            </a:r>
          </a:p>
          <a:p>
            <a:pPr algn="l">
              <a:spcAft>
                <a:spcPts val="400"/>
              </a:spcAft>
            </a:pPr>
            <a:r>
              <a:rPr sz="1100" b="0" i="0">
                <a:solidFill>
                  <a:srgbClr val="1A1A1A"/>
                </a:solidFill>
                <a:latin typeface="Abadi"/>
              </a:rPr>
              <a:t>▪  Often silent</a:t>
            </a:r>
          </a:p>
          <a:p>
            <a:pPr algn="l">
              <a:spcAft>
                <a:spcPts val="400"/>
              </a:spcAft>
            </a:pPr>
            <a:r>
              <a:rPr sz="1100" b="0" i="0">
                <a:solidFill>
                  <a:srgbClr val="1A1A1A"/>
                </a:solidFill>
                <a:latin typeface="Abadi"/>
              </a:rPr>
              <a:t>▪  Lungs, not heartburn</a:t>
            </a:r>
          </a:p>
        </p:txBody>
      </p:sp>
      <p:sp>
        <p:nvSpPr>
          <p:cNvPr id="24" name="Rectangle 23"/>
          <p:cNvSpPr/>
          <p:nvPr/>
        </p:nvSpPr>
        <p:spPr>
          <a:xfrm>
            <a:off x="7307884" y="1773936"/>
            <a:ext cx="2070201" cy="214884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07884" y="1773936"/>
            <a:ext cx="2070201" cy="1005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54188" y="1956816"/>
            <a:ext cx="1777593" cy="502920"/>
          </a:xfrm>
          <a:prstGeom prst="rect">
            <a:avLst/>
          </a:prstGeom>
          <a:noFill/>
        </p:spPr>
        <p:txBody>
          <a:bodyPr wrap="square" anchor="t" lIns="36576" rIns="36576" tIns="36576" bIns="36576">
            <a:spAutoFit/>
          </a:bodyPr>
          <a:lstStyle/>
          <a:p>
            <a:pPr algn="l"/>
            <a:r>
              <a:rPr sz="1350" b="1" i="0">
                <a:solidFill>
                  <a:srgbClr val="1E7A33"/>
                </a:solidFill>
                <a:latin typeface="Abadi"/>
              </a:rPr>
              <a:t>Obesity</a:t>
            </a:r>
          </a:p>
        </p:txBody>
      </p:sp>
      <p:sp>
        <p:nvSpPr>
          <p:cNvPr id="27" name="TextBox 26"/>
          <p:cNvSpPr txBox="1"/>
          <p:nvPr/>
        </p:nvSpPr>
        <p:spPr>
          <a:xfrm>
            <a:off x="7454188" y="2487168"/>
            <a:ext cx="1777593" cy="1344168"/>
          </a:xfrm>
          <a:prstGeom prst="rect">
            <a:avLst/>
          </a:prstGeom>
          <a:noFill/>
        </p:spPr>
        <p:txBody>
          <a:bodyPr wrap="square" anchor="t" lIns="36576" rIns="36576" tIns="36576" bIns="36576">
            <a:spAutoFit/>
          </a:bodyPr>
          <a:lstStyle/>
          <a:p>
            <a:pPr algn="l">
              <a:spcAft>
                <a:spcPts val="400"/>
              </a:spcAft>
            </a:pPr>
            <a:r>
              <a:rPr sz="1100" b="0" i="0">
                <a:solidFill>
                  <a:srgbClr val="1A1A1A"/>
                </a:solidFill>
                <a:latin typeface="Abadi"/>
              </a:rPr>
              <a:t>▪  Risk rises with BMI</a:t>
            </a:r>
          </a:p>
          <a:p>
            <a:pPr algn="l">
              <a:spcAft>
                <a:spcPts val="400"/>
              </a:spcAft>
            </a:pPr>
            <a:r>
              <a:rPr sz="1100" b="0" i="0">
                <a:solidFill>
                  <a:srgbClr val="1A1A1A"/>
                </a:solidFill>
                <a:latin typeface="Abadi"/>
              </a:rPr>
              <a:t>▪  Weight is the treatment</a:t>
            </a:r>
          </a:p>
          <a:p>
            <a:pPr algn="l">
              <a:spcAft>
                <a:spcPts val="400"/>
              </a:spcAft>
            </a:pPr>
            <a:r>
              <a:rPr sz="1100" b="0" i="0">
                <a:solidFill>
                  <a:srgbClr val="1A1A1A"/>
                </a:solidFill>
                <a:latin typeface="Abadi"/>
              </a:rPr>
              <a:t>▪  Dose by lean weight</a:t>
            </a:r>
          </a:p>
        </p:txBody>
      </p:sp>
      <p:sp>
        <p:nvSpPr>
          <p:cNvPr id="28" name="Rectangle 27"/>
          <p:cNvSpPr/>
          <p:nvPr/>
        </p:nvSpPr>
        <p:spPr>
          <a:xfrm>
            <a:off x="9560966" y="1773936"/>
            <a:ext cx="2070201" cy="2148840"/>
          </a:xfrm>
          <a:prstGeom prst="rect">
            <a:avLst/>
          </a:prstGeom>
          <a:solidFill>
            <a:srgbClr val="E7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560966" y="1773936"/>
            <a:ext cx="2070201" cy="1005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07270" y="1956816"/>
            <a:ext cx="1777593" cy="502920"/>
          </a:xfrm>
          <a:prstGeom prst="rect">
            <a:avLst/>
          </a:prstGeom>
          <a:noFill/>
        </p:spPr>
        <p:txBody>
          <a:bodyPr wrap="square" anchor="t" lIns="36576" rIns="36576" tIns="36576" bIns="36576">
            <a:spAutoFit/>
          </a:bodyPr>
          <a:lstStyle/>
          <a:p>
            <a:pPr algn="l"/>
            <a:r>
              <a:rPr sz="1350" b="1" i="0">
                <a:solidFill>
                  <a:srgbClr val="8A939B"/>
                </a:solidFill>
                <a:latin typeface="Abadi"/>
              </a:rPr>
              <a:t>Common thread</a:t>
            </a:r>
          </a:p>
        </p:txBody>
      </p:sp>
      <p:sp>
        <p:nvSpPr>
          <p:cNvPr id="31" name="TextBox 30"/>
          <p:cNvSpPr txBox="1"/>
          <p:nvPr/>
        </p:nvSpPr>
        <p:spPr>
          <a:xfrm>
            <a:off x="9707270" y="2487168"/>
            <a:ext cx="1777593" cy="1344168"/>
          </a:xfrm>
          <a:prstGeom prst="rect">
            <a:avLst/>
          </a:prstGeom>
          <a:noFill/>
        </p:spPr>
        <p:txBody>
          <a:bodyPr wrap="square" anchor="t" lIns="36576" rIns="36576" tIns="36576" bIns="36576">
            <a:spAutoFit/>
          </a:bodyPr>
          <a:lstStyle/>
          <a:p>
            <a:pPr algn="l">
              <a:spcAft>
                <a:spcPts val="400"/>
              </a:spcAft>
            </a:pPr>
            <a:r>
              <a:rPr sz="1100" b="0" i="0">
                <a:solidFill>
                  <a:srgbClr val="1A1A1A"/>
                </a:solidFill>
                <a:latin typeface="Abadi"/>
              </a:rPr>
              <a:t>▪  2018 guideline excludes them</a:t>
            </a:r>
          </a:p>
          <a:p>
            <a:pPr algn="l">
              <a:spcAft>
                <a:spcPts val="400"/>
              </a:spcAft>
            </a:pPr>
            <a:r>
              <a:rPr sz="1100" b="0" i="0">
                <a:solidFill>
                  <a:srgbClr val="1A1A1A"/>
                </a:solidFill>
                <a:latin typeface="Abadi"/>
              </a:rPr>
              <a:t>▪  Separate documents</a:t>
            </a:r>
          </a:p>
          <a:p>
            <a:pPr algn="l">
              <a:spcAft>
                <a:spcPts val="400"/>
              </a:spcAft>
            </a:pPr>
            <a:r>
              <a:rPr sz="1100" b="0" i="0">
                <a:solidFill>
                  <a:srgbClr val="1A1A1A"/>
                </a:solidFill>
                <a:latin typeface="Abadi"/>
              </a:rPr>
              <a:t>▪  Different thresholds</a:t>
            </a:r>
          </a:p>
        </p:txBody>
      </p:sp>
      <p:sp>
        <p:nvSpPr>
          <p:cNvPr id="32" name="TextBox 31"/>
          <p:cNvSpPr txBox="1"/>
          <p:nvPr/>
        </p:nvSpPr>
        <p:spPr>
          <a:xfrm>
            <a:off x="548640" y="4114800"/>
            <a:ext cx="11082528" cy="1691640"/>
          </a:xfrm>
          <a:prstGeom prst="rect">
            <a:avLst/>
          </a:prstGeom>
          <a:noFill/>
        </p:spPr>
        <p:txBody>
          <a:bodyPr wrap="square" anchor="t" lIns="36576" rIns="36576" tIns="36576" bIns="36576">
            <a:spAutoFit/>
          </a:bodyPr>
          <a:lstStyle/>
          <a:p>
            <a:pPr algn="l"/>
            <a:r>
              <a:rPr sz="1250" b="1" i="0">
                <a:solidFill>
                  <a:srgbClr val="1B355E"/>
                </a:solidFill>
                <a:latin typeface="Abadi"/>
              </a:rPr>
              <a:t>The main idea.   </a:t>
            </a:r>
            <a:r>
              <a:rPr sz="1250" b="0" i="0">
                <a:solidFill>
                  <a:srgbClr val="1A1A1A"/>
                </a:solidFill>
                <a:latin typeface="Abadi"/>
              </a:rPr>
              <a:t>The 2018 paediatric reflux guideline was written for otherwise healthy children and explicitly leaves these groups out. Each has its own mechanism, its own complication to prevent and its own threshold for testing and surgery. In neurological impairment, prove reflux objectively and avoid reflexive fundoplication. After oesophageal atresia, reflux is lifelong and needs scheduled endoscopy, but prophylactic acid suppression does not prevent strictures. In cystic fibrosis, reflux is often silent and acid suppression may carry respiratory harm. In obesity, weight is the main treatment and bariatric choice matters.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anchor="ctr" lIns="0" rIns="0" tIns="0" bIns="0">
            <a:spAutoFit/>
          </a:bodyPr>
          <a:lstStyle/>
          <a:p>
            <a:pPr algn="ctr"/>
            <a:r>
              <a:rPr sz="1500" b="1" i="0">
                <a:solidFill>
                  <a:srgbClr val="FFFFFF"/>
                </a:solidFill>
                <a:latin typeface="Abadi"/>
              </a:rPr>
              <a:t>I</a:t>
            </a:r>
          </a:p>
        </p:txBody>
      </p:sp>
      <p:sp>
        <p:nvSpPr>
          <p:cNvPr id="4" name="TextBox 3"/>
          <p:cNvSpPr txBox="1"/>
          <p:nvPr/>
        </p:nvSpPr>
        <p:spPr>
          <a:xfrm>
            <a:off x="1380744" y="292608"/>
            <a:ext cx="10232136" cy="347472"/>
          </a:xfrm>
          <a:prstGeom prst="rect">
            <a:avLst/>
          </a:prstGeom>
          <a:noFill/>
        </p:spPr>
        <p:txBody>
          <a:bodyPr wrap="square" anchor="ctr" lIns="36576" rIns="36576" tIns="36576" bIns="36576">
            <a:spAutoFit/>
          </a:bodyPr>
          <a:lstStyle/>
          <a:p>
            <a:pPr algn="l"/>
            <a:r>
              <a:rPr sz="1200" b="1" i="0">
                <a:solidFill>
                  <a:srgbClr val="B22222"/>
                </a:solidFill>
                <a:latin typeface="Abadi"/>
              </a:rPr>
              <a:t>MECHANISM</a:t>
            </a:r>
          </a:p>
        </p:txBody>
      </p:sp>
      <p:sp>
        <p:nvSpPr>
          <p:cNvPr id="5" name="TextBox 4"/>
          <p:cNvSpPr txBox="1"/>
          <p:nvPr/>
        </p:nvSpPr>
        <p:spPr>
          <a:xfrm>
            <a:off x="548640" y="722376"/>
            <a:ext cx="11082528" cy="548640"/>
          </a:xfrm>
          <a:prstGeom prst="rect">
            <a:avLst/>
          </a:prstGeom>
          <a:noFill/>
        </p:spPr>
        <p:txBody>
          <a:bodyPr wrap="square" anchor="ctr" lIns="36576" rIns="36576" tIns="36576" bIns="36576">
            <a:spAutoFit/>
          </a:bodyPr>
          <a:lstStyle/>
          <a:p>
            <a:pPr algn="l"/>
            <a:r>
              <a:rPr sz="3000" b="1" i="0">
                <a:solidFill>
                  <a:srgbClr val="1B355E"/>
                </a:solidFill>
                <a:latin typeface="Abadi"/>
              </a:rPr>
              <a:t>WHY THE BARRIER FAILS DIFFERENTLY</a:t>
            </a:r>
          </a:p>
        </p:txBody>
      </p:sp>
      <p:sp>
        <p:nvSpPr>
          <p:cNvPr id="6" name="TextBox 5"/>
          <p:cNvSpPr txBox="1"/>
          <p:nvPr/>
        </p:nvSpPr>
        <p:spPr>
          <a:xfrm>
            <a:off x="548640" y="1307592"/>
            <a:ext cx="11082528" cy="265176"/>
          </a:xfrm>
          <a:prstGeom prst="rect">
            <a:avLst/>
          </a:prstGeom>
          <a:noFill/>
        </p:spPr>
        <p:txBody>
          <a:bodyPr wrap="square" anchor="t" lIns="36576" rIns="36576" tIns="36576" bIns="36576">
            <a:spAutoFit/>
          </a:bodyPr>
          <a:lstStyle/>
          <a:p>
            <a:pPr algn="l"/>
            <a:r>
              <a:rPr sz="1300" b="0" i="0">
                <a:solidFill>
                  <a:srgbClr val="555555"/>
                </a:solidFill>
                <a:latin typeface="Abadi"/>
              </a:rPr>
              <a:t>Each group adds its own load on the antireflux barrier</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anchor="t" lIns="36576" rIns="36576" tIns="36576" bIns="36576">
            <a:spAutoFit/>
          </a:bodyPr>
          <a:lstStyle/>
          <a:p>
            <a:pPr algn="r"/>
            <a:r>
              <a:rPr sz="1200" b="0" i="0">
                <a:solidFill>
                  <a:srgbClr val="555555"/>
                </a:solidFill>
                <a:latin typeface="Abadi"/>
              </a:rPr>
              <a:t>3</a:t>
            </a:r>
          </a:p>
        </p:txBody>
      </p:sp>
      <p:sp>
        <p:nvSpPr>
          <p:cNvPr id="11" name="TextBox 10"/>
          <p:cNvSpPr txBox="1"/>
          <p:nvPr/>
        </p:nvSpPr>
        <p:spPr>
          <a:xfrm>
            <a:off x="548640" y="5971032"/>
            <a:ext cx="10287000" cy="457200"/>
          </a:xfrm>
          <a:prstGeom prst="rect">
            <a:avLst/>
          </a:prstGeom>
          <a:noFill/>
        </p:spPr>
        <p:txBody>
          <a:bodyPr wrap="square" anchor="t" lIns="36576" rIns="36576" tIns="36576" bIns="36576">
            <a:spAutoFit/>
          </a:bodyPr>
          <a:lstStyle/>
          <a:p>
            <a:pPr algn="l"/>
            <a:r>
              <a:rPr sz="1000" b="0" i="0">
                <a:solidFill>
                  <a:srgbClr val="7F7F7F"/>
                </a:solidFill>
                <a:latin typeface="Abadi"/>
              </a:rPr>
              <a:t>Romano 2017 · Krishnan 2016 · Gabel ME, et al. Semin Respir Crit Care Med 2019 (doi:10.1055/s-0039-1697591) · Yadlapati R, et al. Clin Gastroenterol Hepatol 2022</a:t>
            </a:r>
          </a:p>
        </p:txBody>
      </p:sp>
      <p:sp>
        <p:nvSpPr>
          <p:cNvPr id="12" name="Rectangle 11"/>
          <p:cNvSpPr/>
          <p:nvPr/>
        </p:nvSpPr>
        <p:spPr>
          <a:xfrm>
            <a:off x="548640" y="1773936"/>
            <a:ext cx="2633472" cy="41148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 y="1773936"/>
            <a:ext cx="2487168" cy="411480"/>
          </a:xfrm>
          <a:prstGeom prst="rect">
            <a:avLst/>
          </a:prstGeom>
          <a:noFill/>
        </p:spPr>
        <p:txBody>
          <a:bodyPr wrap="square" anchor="ctr" lIns="36576" rIns="36576" tIns="36576" bIns="36576">
            <a:spAutoFit/>
          </a:bodyPr>
          <a:lstStyle/>
          <a:p>
            <a:pPr algn="l"/>
            <a:r>
              <a:rPr sz="1150" b="1" i="0">
                <a:solidFill>
                  <a:srgbClr val="FFFFFF"/>
                </a:solidFill>
                <a:latin typeface="Abadi"/>
              </a:rPr>
              <a:t>Neurological</a:t>
            </a:r>
          </a:p>
        </p:txBody>
      </p:sp>
      <p:sp>
        <p:nvSpPr>
          <p:cNvPr id="14" name="Rectangle 13"/>
          <p:cNvSpPr/>
          <p:nvPr/>
        </p:nvSpPr>
        <p:spPr>
          <a:xfrm>
            <a:off x="548640" y="2185416"/>
            <a:ext cx="2633472" cy="1874519"/>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2276856"/>
            <a:ext cx="2450591" cy="1737360"/>
          </a:xfrm>
          <a:prstGeom prst="rect">
            <a:avLst/>
          </a:prstGeom>
          <a:noFill/>
        </p:spPr>
        <p:txBody>
          <a:bodyPr wrap="square" anchor="t" lIns="36576" rIns="36576" tIns="36576" bIns="36576">
            <a:spAutoFit/>
          </a:bodyPr>
          <a:lstStyle/>
          <a:p>
            <a:pPr algn="l"/>
            <a:r>
              <a:rPr sz="1100" b="0" i="0">
                <a:solidFill>
                  <a:srgbClr val="1A1A1A"/>
                </a:solidFill>
                <a:latin typeface="Abadi"/>
              </a:rPr>
              <a:t>Hypotonia and dysmotility, delayed gastric emptying, scoliosis, constant supine posture, constipation and spasticity raising abdominal pressure.</a:t>
            </a:r>
          </a:p>
        </p:txBody>
      </p:sp>
      <p:sp>
        <p:nvSpPr>
          <p:cNvPr id="16" name="Rectangle 15"/>
          <p:cNvSpPr/>
          <p:nvPr/>
        </p:nvSpPr>
        <p:spPr>
          <a:xfrm>
            <a:off x="3364992" y="1773936"/>
            <a:ext cx="2633472" cy="411480"/>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38144" y="1773936"/>
            <a:ext cx="2487168" cy="411480"/>
          </a:xfrm>
          <a:prstGeom prst="rect">
            <a:avLst/>
          </a:prstGeom>
          <a:noFill/>
        </p:spPr>
        <p:txBody>
          <a:bodyPr wrap="square" anchor="ctr" lIns="36576" rIns="36576" tIns="36576" bIns="36576">
            <a:spAutoFit/>
          </a:bodyPr>
          <a:lstStyle/>
          <a:p>
            <a:pPr algn="l"/>
            <a:r>
              <a:rPr sz="1150" b="1" i="0">
                <a:solidFill>
                  <a:srgbClr val="FFFFFF"/>
                </a:solidFill>
                <a:latin typeface="Abadi"/>
              </a:rPr>
              <a:t>Oesophageal atresia</a:t>
            </a:r>
          </a:p>
        </p:txBody>
      </p:sp>
      <p:sp>
        <p:nvSpPr>
          <p:cNvPr id="18" name="Rectangle 17"/>
          <p:cNvSpPr/>
          <p:nvPr/>
        </p:nvSpPr>
        <p:spPr>
          <a:xfrm>
            <a:off x="3364992" y="2185416"/>
            <a:ext cx="2633472" cy="1874519"/>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456432" y="2276856"/>
            <a:ext cx="2450591" cy="1737360"/>
          </a:xfrm>
          <a:prstGeom prst="rect">
            <a:avLst/>
          </a:prstGeom>
          <a:noFill/>
        </p:spPr>
        <p:txBody>
          <a:bodyPr wrap="square" anchor="t" lIns="36576" rIns="36576" tIns="36576" bIns="36576">
            <a:spAutoFit/>
          </a:bodyPr>
          <a:lstStyle/>
          <a:p>
            <a:pPr algn="l"/>
            <a:r>
              <a:rPr sz="1100" b="0" i="0">
                <a:solidFill>
                  <a:srgbClr val="1A1A1A"/>
                </a:solidFill>
                <a:latin typeface="Abadi"/>
              </a:rPr>
              <a:t>Intrinsically dysmotile oesophagus, poor clearance, a short or tense intra-abdominal segment after repair, and an anastomosis prone to stricture.</a:t>
            </a:r>
          </a:p>
        </p:txBody>
      </p:sp>
      <p:sp>
        <p:nvSpPr>
          <p:cNvPr id="20" name="Rectangle 19"/>
          <p:cNvSpPr/>
          <p:nvPr/>
        </p:nvSpPr>
        <p:spPr>
          <a:xfrm>
            <a:off x="6181344" y="1773936"/>
            <a:ext cx="2633472" cy="411480"/>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54496" y="1773936"/>
            <a:ext cx="2487168" cy="411480"/>
          </a:xfrm>
          <a:prstGeom prst="rect">
            <a:avLst/>
          </a:prstGeom>
          <a:noFill/>
        </p:spPr>
        <p:txBody>
          <a:bodyPr wrap="square" anchor="ctr" lIns="36576" rIns="36576" tIns="36576" bIns="36576">
            <a:spAutoFit/>
          </a:bodyPr>
          <a:lstStyle/>
          <a:p>
            <a:pPr algn="l"/>
            <a:r>
              <a:rPr sz="1150" b="1" i="0">
                <a:solidFill>
                  <a:srgbClr val="FFFFFF"/>
                </a:solidFill>
                <a:latin typeface="Abadi"/>
              </a:rPr>
              <a:t>Cystic fibrosis</a:t>
            </a:r>
          </a:p>
        </p:txBody>
      </p:sp>
      <p:sp>
        <p:nvSpPr>
          <p:cNvPr id="22" name="Rectangle 21"/>
          <p:cNvSpPr/>
          <p:nvPr/>
        </p:nvSpPr>
        <p:spPr>
          <a:xfrm>
            <a:off x="6181344" y="2185416"/>
            <a:ext cx="2633472" cy="1874519"/>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72783" y="2276856"/>
            <a:ext cx="2450591" cy="1737360"/>
          </a:xfrm>
          <a:prstGeom prst="rect">
            <a:avLst/>
          </a:prstGeom>
          <a:noFill/>
        </p:spPr>
        <p:txBody>
          <a:bodyPr wrap="square" anchor="t" lIns="36576" rIns="36576" tIns="36576" bIns="36576">
            <a:spAutoFit/>
          </a:bodyPr>
          <a:lstStyle/>
          <a:p>
            <a:pPr algn="l"/>
            <a:r>
              <a:rPr sz="1100" b="0" i="0">
                <a:solidFill>
                  <a:srgbClr val="1A1A1A"/>
                </a:solidFill>
                <a:latin typeface="Abadi"/>
              </a:rPr>
              <a:t>Cough and negative inspiratory pressure amplify transient sphincter relaxations; delayed emptying; postural drainage; bile acid aspiration.</a:t>
            </a:r>
          </a:p>
        </p:txBody>
      </p:sp>
      <p:sp>
        <p:nvSpPr>
          <p:cNvPr id="24" name="Rectangle 23"/>
          <p:cNvSpPr/>
          <p:nvPr/>
        </p:nvSpPr>
        <p:spPr>
          <a:xfrm>
            <a:off x="8997696" y="1773936"/>
            <a:ext cx="2633472" cy="411480"/>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70848" y="1773936"/>
            <a:ext cx="2487168" cy="411480"/>
          </a:xfrm>
          <a:prstGeom prst="rect">
            <a:avLst/>
          </a:prstGeom>
          <a:noFill/>
        </p:spPr>
        <p:txBody>
          <a:bodyPr wrap="square" anchor="ctr" lIns="36576" rIns="36576" tIns="36576" bIns="36576">
            <a:spAutoFit/>
          </a:bodyPr>
          <a:lstStyle/>
          <a:p>
            <a:pPr algn="l"/>
            <a:r>
              <a:rPr sz="1150" b="1" i="0">
                <a:solidFill>
                  <a:srgbClr val="FFFFFF"/>
                </a:solidFill>
                <a:latin typeface="Abadi"/>
              </a:rPr>
              <a:t>Obesity</a:t>
            </a:r>
          </a:p>
        </p:txBody>
      </p:sp>
      <p:sp>
        <p:nvSpPr>
          <p:cNvPr id="26" name="Rectangle 25"/>
          <p:cNvSpPr/>
          <p:nvPr/>
        </p:nvSpPr>
        <p:spPr>
          <a:xfrm>
            <a:off x="8997696" y="2185416"/>
            <a:ext cx="2633472" cy="1874519"/>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089136" y="2276856"/>
            <a:ext cx="2450591" cy="1737360"/>
          </a:xfrm>
          <a:prstGeom prst="rect">
            <a:avLst/>
          </a:prstGeom>
          <a:noFill/>
        </p:spPr>
        <p:txBody>
          <a:bodyPr wrap="square" anchor="t" lIns="36576" rIns="36576" tIns="36576" bIns="36576">
            <a:spAutoFit/>
          </a:bodyPr>
          <a:lstStyle/>
          <a:p>
            <a:pPr algn="l"/>
            <a:r>
              <a:rPr sz="1100" b="0" i="0">
                <a:solidFill>
                  <a:srgbClr val="1A1A1A"/>
                </a:solidFill>
                <a:latin typeface="Abadi"/>
              </a:rPr>
              <a:t>Raised intra-abdominal pressure, more transient relaxations and hiatal hernia; central adiposity matters more than weight.</a:t>
            </a:r>
          </a:p>
        </p:txBody>
      </p:sp>
      <p:sp>
        <p:nvSpPr>
          <p:cNvPr id="28" name="TextBox 27"/>
          <p:cNvSpPr txBox="1"/>
          <p:nvPr/>
        </p:nvSpPr>
        <p:spPr>
          <a:xfrm>
            <a:off x="548640" y="4251960"/>
            <a:ext cx="11082528" cy="1463040"/>
          </a:xfrm>
          <a:prstGeom prst="rect">
            <a:avLst/>
          </a:prstGeom>
          <a:noFill/>
        </p:spPr>
        <p:txBody>
          <a:bodyPr wrap="square" anchor="t" lIns="36576" rIns="36576" tIns="36576" bIns="36576">
            <a:spAutoFit/>
          </a:bodyPr>
          <a:lstStyle/>
          <a:p>
            <a:pPr algn="l"/>
            <a:r>
              <a:rPr sz="1250" b="1" i="0">
                <a:solidFill>
                  <a:srgbClr val="1B355E"/>
                </a:solidFill>
                <a:latin typeface="Abadi"/>
              </a:rPr>
              <a:t>Why it matters.   </a:t>
            </a:r>
            <a:r>
              <a:rPr sz="1250" b="0" i="0">
                <a:solidFill>
                  <a:srgbClr val="1A1A1A"/>
                </a:solidFill>
                <a:latin typeface="Abadi"/>
              </a:rPr>
              <a:t>The mechanism decides the goal. In neurological impairment and cystic fibrosis the target organ is the lung; after atresia it is the oesophagus itself, for life; in obesity it is the weight. A proton pump inhibitor, or PPI, reduces acid but not the number of reflux episodes, so it cannot fix a problem driven by volume, posture or dysmotility.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anchor="ctr" lIns="0" rIns="0" tIns="0" bIns="0">
            <a:spAutoFit/>
          </a:bodyPr>
          <a:lstStyle/>
          <a:p>
            <a:pPr algn="ctr"/>
            <a:r>
              <a:rPr sz="1500" b="1" i="0">
                <a:solidFill>
                  <a:srgbClr val="FFFFFF"/>
                </a:solidFill>
                <a:latin typeface="Abadi"/>
              </a:rPr>
              <a:t>II</a:t>
            </a:r>
          </a:p>
        </p:txBody>
      </p:sp>
      <p:sp>
        <p:nvSpPr>
          <p:cNvPr id="4" name="TextBox 3"/>
          <p:cNvSpPr txBox="1"/>
          <p:nvPr/>
        </p:nvSpPr>
        <p:spPr>
          <a:xfrm>
            <a:off x="1380744" y="292608"/>
            <a:ext cx="10232136" cy="347472"/>
          </a:xfrm>
          <a:prstGeom prst="rect">
            <a:avLst/>
          </a:prstGeom>
          <a:noFill/>
        </p:spPr>
        <p:txBody>
          <a:bodyPr wrap="square" anchor="ctr" lIns="36576" rIns="36576" tIns="36576" bIns="36576">
            <a:spAutoFit/>
          </a:bodyPr>
          <a:lstStyle/>
          <a:p>
            <a:pPr algn="l"/>
            <a:r>
              <a:rPr sz="1200" b="1" i="0">
                <a:solidFill>
                  <a:srgbClr val="B22222"/>
                </a:solidFill>
                <a:latin typeface="Abadi"/>
              </a:rPr>
              <a:t>NEUROLOGICAL IMPAIRMENT</a:t>
            </a:r>
          </a:p>
        </p:txBody>
      </p:sp>
      <p:sp>
        <p:nvSpPr>
          <p:cNvPr id="5" name="TextBox 4"/>
          <p:cNvSpPr txBox="1"/>
          <p:nvPr/>
        </p:nvSpPr>
        <p:spPr>
          <a:xfrm>
            <a:off x="548640" y="722376"/>
            <a:ext cx="11082528" cy="548640"/>
          </a:xfrm>
          <a:prstGeom prst="rect">
            <a:avLst/>
          </a:prstGeom>
          <a:noFill/>
        </p:spPr>
        <p:txBody>
          <a:bodyPr wrap="square" anchor="ctr" lIns="36576" rIns="36576" tIns="36576" bIns="36576">
            <a:spAutoFit/>
          </a:bodyPr>
          <a:lstStyle/>
          <a:p>
            <a:pPr algn="l"/>
            <a:r>
              <a:rPr sz="3000" b="1" i="0">
                <a:solidFill>
                  <a:srgbClr val="1B355E"/>
                </a:solidFill>
                <a:latin typeface="Abadi"/>
              </a:rPr>
              <a:t>UP TO 70%, AND HARD TO SEE</a:t>
            </a:r>
          </a:p>
        </p:txBody>
      </p:sp>
      <p:sp>
        <p:nvSpPr>
          <p:cNvPr id="6" name="TextBox 5"/>
          <p:cNvSpPr txBox="1"/>
          <p:nvPr/>
        </p:nvSpPr>
        <p:spPr>
          <a:xfrm>
            <a:off x="548640" y="1307592"/>
            <a:ext cx="11082528" cy="265176"/>
          </a:xfrm>
          <a:prstGeom prst="rect">
            <a:avLst/>
          </a:prstGeom>
          <a:noFill/>
        </p:spPr>
        <p:txBody>
          <a:bodyPr wrap="square" anchor="t" lIns="36576" rIns="36576" tIns="36576" bIns="36576">
            <a:spAutoFit/>
          </a:bodyPr>
          <a:lstStyle/>
          <a:p>
            <a:pPr algn="l"/>
            <a:r>
              <a:rPr sz="1300" b="0" i="0">
                <a:solidFill>
                  <a:srgbClr val="555555"/>
                </a:solidFill>
                <a:latin typeface="Abadi"/>
              </a:rPr>
              <a:t>ESPGHAN 2017 guideline on gastrointestinal and nutritional complications in children with neurological impairment</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anchor="t" lIns="36576" rIns="36576" tIns="36576" bIns="36576">
            <a:spAutoFit/>
          </a:bodyPr>
          <a:lstStyle/>
          <a:p>
            <a:pPr algn="r"/>
            <a:r>
              <a:rPr sz="1200" b="0" i="0">
                <a:solidFill>
                  <a:srgbClr val="555555"/>
                </a:solidFill>
                <a:latin typeface="Abadi"/>
              </a:rPr>
              <a:t>4</a:t>
            </a:r>
          </a:p>
        </p:txBody>
      </p:sp>
      <p:sp>
        <p:nvSpPr>
          <p:cNvPr id="11" name="TextBox 10"/>
          <p:cNvSpPr txBox="1"/>
          <p:nvPr/>
        </p:nvSpPr>
        <p:spPr>
          <a:xfrm>
            <a:off x="548640" y="5971032"/>
            <a:ext cx="10287000" cy="457200"/>
          </a:xfrm>
          <a:prstGeom prst="rect">
            <a:avLst/>
          </a:prstGeom>
          <a:noFill/>
        </p:spPr>
        <p:txBody>
          <a:bodyPr wrap="square" anchor="t" lIns="36576" rIns="36576" tIns="36576" bIns="36576">
            <a:spAutoFit/>
          </a:bodyPr>
          <a:lstStyle/>
          <a:p>
            <a:pPr algn="l"/>
            <a:r>
              <a:rPr sz="1000" b="0" i="0">
                <a:solidFill>
                  <a:srgbClr val="7F7F7F"/>
                </a:solidFill>
                <a:latin typeface="Abadi"/>
              </a:rPr>
              <a:t>Romano C, van Wynckel M, Hulst J, et al. JPGN 2017;65:242–64</a:t>
            </a:r>
          </a:p>
        </p:txBody>
      </p:sp>
      <p:sp>
        <p:nvSpPr>
          <p:cNvPr id="12" name="Rectangle 11"/>
          <p:cNvSpPr/>
          <p:nvPr/>
        </p:nvSpPr>
        <p:spPr>
          <a:xfrm>
            <a:off x="548640" y="1773936"/>
            <a:ext cx="2070201" cy="233172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070201" cy="1005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1956816"/>
            <a:ext cx="1777593" cy="548640"/>
          </a:xfrm>
          <a:prstGeom prst="rect">
            <a:avLst/>
          </a:prstGeom>
          <a:noFill/>
        </p:spPr>
        <p:txBody>
          <a:bodyPr wrap="square" anchor="t" lIns="36576" rIns="36576" tIns="36576" bIns="36576">
            <a:spAutoFit/>
          </a:bodyPr>
          <a:lstStyle/>
          <a:p>
            <a:pPr algn="l"/>
            <a:r>
              <a:rPr sz="2000" b="1" i="0">
                <a:solidFill>
                  <a:srgbClr val="1B355E"/>
                </a:solidFill>
                <a:latin typeface="Abadi"/>
              </a:rPr>
              <a:t>Up to 70%</a:t>
            </a:r>
          </a:p>
        </p:txBody>
      </p:sp>
      <p:sp>
        <p:nvSpPr>
          <p:cNvPr id="15" name="TextBox 14"/>
          <p:cNvSpPr txBox="1"/>
          <p:nvPr/>
        </p:nvSpPr>
        <p:spPr>
          <a:xfrm>
            <a:off x="694944" y="2551176"/>
            <a:ext cx="1777593" cy="1463039"/>
          </a:xfrm>
          <a:prstGeom prst="rect">
            <a:avLst/>
          </a:prstGeom>
          <a:noFill/>
        </p:spPr>
        <p:txBody>
          <a:bodyPr wrap="square" anchor="t" lIns="36576" rIns="36576" tIns="36576" bIns="36576">
            <a:spAutoFit/>
          </a:bodyPr>
          <a:lstStyle/>
          <a:p>
            <a:pPr algn="l"/>
            <a:r>
              <a:rPr sz="1100" b="0" i="0">
                <a:solidFill>
                  <a:srgbClr val="1A1A1A"/>
                </a:solidFill>
                <a:latin typeface="Abadi"/>
              </a:rPr>
              <a:t>Reported frequency of reflux disease in neurological impairment, as stated by the guideline.</a:t>
            </a:r>
          </a:p>
        </p:txBody>
      </p:sp>
      <p:sp>
        <p:nvSpPr>
          <p:cNvPr id="16" name="Rectangle 15"/>
          <p:cNvSpPr/>
          <p:nvPr/>
        </p:nvSpPr>
        <p:spPr>
          <a:xfrm>
            <a:off x="2801721" y="1773936"/>
            <a:ext cx="2070201" cy="233172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801721" y="1773936"/>
            <a:ext cx="2070201"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48025" y="1956816"/>
            <a:ext cx="1777593" cy="548640"/>
          </a:xfrm>
          <a:prstGeom prst="rect">
            <a:avLst/>
          </a:prstGeom>
          <a:noFill/>
        </p:spPr>
        <p:txBody>
          <a:bodyPr wrap="square" anchor="t" lIns="36576" rIns="36576" tIns="36576" bIns="36576">
            <a:spAutoFit/>
          </a:bodyPr>
          <a:lstStyle/>
          <a:p>
            <a:pPr algn="l"/>
            <a:r>
              <a:rPr sz="2000" b="1" i="0">
                <a:solidFill>
                  <a:srgbClr val="B22222"/>
                </a:solidFill>
                <a:latin typeface="Abadi"/>
              </a:rPr>
              <a:t>Test it</a:t>
            </a:r>
          </a:p>
        </p:txBody>
      </p:sp>
      <p:sp>
        <p:nvSpPr>
          <p:cNvPr id="19" name="TextBox 18"/>
          <p:cNvSpPr txBox="1"/>
          <p:nvPr/>
        </p:nvSpPr>
        <p:spPr>
          <a:xfrm>
            <a:off x="2948025" y="2551176"/>
            <a:ext cx="1777593" cy="1463039"/>
          </a:xfrm>
          <a:prstGeom prst="rect">
            <a:avLst/>
          </a:prstGeom>
          <a:noFill/>
        </p:spPr>
        <p:txBody>
          <a:bodyPr wrap="square" anchor="t" lIns="36576" rIns="36576" tIns="36576" bIns="36576">
            <a:spAutoFit/>
          </a:bodyPr>
          <a:lstStyle/>
          <a:p>
            <a:pPr algn="l"/>
            <a:r>
              <a:rPr sz="1100" b="0" i="0">
                <a:solidFill>
                  <a:srgbClr val="1A1A1A"/>
                </a:solidFill>
                <a:latin typeface="Abadi"/>
              </a:rPr>
              <a:t>Diagnose with pH or pH-impedance monitoring and/or endoscopy; a closely monitored PPI trial is acceptable.</a:t>
            </a:r>
          </a:p>
        </p:txBody>
      </p:sp>
      <p:sp>
        <p:nvSpPr>
          <p:cNvPr id="20" name="Rectangle 19"/>
          <p:cNvSpPr/>
          <p:nvPr/>
        </p:nvSpPr>
        <p:spPr>
          <a:xfrm>
            <a:off x="5054803" y="1773936"/>
            <a:ext cx="2070201" cy="233172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54803" y="1773936"/>
            <a:ext cx="2070201" cy="1005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01107" y="1956816"/>
            <a:ext cx="1777593" cy="548640"/>
          </a:xfrm>
          <a:prstGeom prst="rect">
            <a:avLst/>
          </a:prstGeom>
          <a:noFill/>
        </p:spPr>
        <p:txBody>
          <a:bodyPr wrap="square" anchor="t" lIns="36576" rIns="36576" tIns="36576" bIns="36576">
            <a:spAutoFit/>
          </a:bodyPr>
          <a:lstStyle/>
          <a:p>
            <a:pPr algn="l"/>
            <a:r>
              <a:rPr sz="2000" b="1" i="0">
                <a:solidFill>
                  <a:srgbClr val="1E7A33"/>
                </a:solidFill>
                <a:latin typeface="Abadi"/>
              </a:rPr>
              <a:t>PPI first</a:t>
            </a:r>
          </a:p>
        </p:txBody>
      </p:sp>
      <p:sp>
        <p:nvSpPr>
          <p:cNvPr id="23" name="TextBox 22"/>
          <p:cNvSpPr txBox="1"/>
          <p:nvPr/>
        </p:nvSpPr>
        <p:spPr>
          <a:xfrm>
            <a:off x="5201107" y="2551176"/>
            <a:ext cx="1777593" cy="1463039"/>
          </a:xfrm>
          <a:prstGeom prst="rect">
            <a:avLst/>
          </a:prstGeom>
          <a:noFill/>
        </p:spPr>
        <p:txBody>
          <a:bodyPr wrap="square" anchor="t" lIns="36576" rIns="36576" tIns="36576" bIns="36576">
            <a:spAutoFit/>
          </a:bodyPr>
          <a:lstStyle/>
          <a:p>
            <a:pPr algn="l"/>
            <a:r>
              <a:rPr sz="1100" b="0" i="0">
                <a:solidFill>
                  <a:srgbClr val="1A1A1A"/>
                </a:solidFill>
                <a:latin typeface="Abadi"/>
              </a:rPr>
              <a:t>Proton pump inhibitors first line (strong); re-evaluate long-term treatment periodically.</a:t>
            </a:r>
          </a:p>
        </p:txBody>
      </p:sp>
      <p:sp>
        <p:nvSpPr>
          <p:cNvPr id="24" name="Rectangle 23"/>
          <p:cNvSpPr/>
          <p:nvPr/>
        </p:nvSpPr>
        <p:spPr>
          <a:xfrm>
            <a:off x="7307884" y="1773936"/>
            <a:ext cx="2070201" cy="2331720"/>
          </a:xfrm>
          <a:prstGeom prst="rect">
            <a:avLst/>
          </a:prstGeom>
          <a:solidFill>
            <a:srgbClr val="E7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07884" y="1773936"/>
            <a:ext cx="2070201" cy="1005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54188" y="1956816"/>
            <a:ext cx="1777593" cy="548640"/>
          </a:xfrm>
          <a:prstGeom prst="rect">
            <a:avLst/>
          </a:prstGeom>
          <a:noFill/>
        </p:spPr>
        <p:txBody>
          <a:bodyPr wrap="square" anchor="t" lIns="36576" rIns="36576" tIns="36576" bIns="36576">
            <a:spAutoFit/>
          </a:bodyPr>
          <a:lstStyle/>
          <a:p>
            <a:pPr algn="l"/>
            <a:r>
              <a:rPr sz="2000" b="1" i="0">
                <a:solidFill>
                  <a:srgbClr val="8A939B"/>
                </a:solidFill>
                <a:latin typeface="Abadi"/>
              </a:rPr>
              <a:t>Not routine</a:t>
            </a:r>
          </a:p>
        </p:txBody>
      </p:sp>
      <p:sp>
        <p:nvSpPr>
          <p:cNvPr id="27" name="TextBox 26"/>
          <p:cNvSpPr txBox="1"/>
          <p:nvPr/>
        </p:nvSpPr>
        <p:spPr>
          <a:xfrm>
            <a:off x="7454188" y="2551176"/>
            <a:ext cx="1777593" cy="1463039"/>
          </a:xfrm>
          <a:prstGeom prst="rect">
            <a:avLst/>
          </a:prstGeom>
          <a:noFill/>
        </p:spPr>
        <p:txBody>
          <a:bodyPr wrap="square" anchor="t" lIns="36576" rIns="36576" tIns="36576" bIns="36576">
            <a:spAutoFit/>
          </a:bodyPr>
          <a:lstStyle/>
          <a:p>
            <a:pPr algn="l"/>
            <a:r>
              <a:rPr sz="1100" b="0" i="0">
                <a:solidFill>
                  <a:srgbClr val="1A1A1A"/>
                </a:solidFill>
                <a:latin typeface="Abadi"/>
              </a:rPr>
              <a:t>Prokinetics only for uncontrolled reflux; baclofen data from 8 children: less emesis, acid unchanged.</a:t>
            </a:r>
          </a:p>
        </p:txBody>
      </p:sp>
      <p:sp>
        <p:nvSpPr>
          <p:cNvPr id="28" name="Rectangle 27"/>
          <p:cNvSpPr/>
          <p:nvPr/>
        </p:nvSpPr>
        <p:spPr>
          <a:xfrm>
            <a:off x="9560966" y="1773936"/>
            <a:ext cx="2070201" cy="233172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560966" y="1773936"/>
            <a:ext cx="2070201"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07270" y="1956816"/>
            <a:ext cx="1777593" cy="548640"/>
          </a:xfrm>
          <a:prstGeom prst="rect">
            <a:avLst/>
          </a:prstGeom>
          <a:noFill/>
        </p:spPr>
        <p:txBody>
          <a:bodyPr wrap="square" anchor="t" lIns="36576" rIns="36576" tIns="36576" bIns="36576">
            <a:spAutoFit/>
          </a:bodyPr>
          <a:lstStyle/>
          <a:p>
            <a:pPr algn="l"/>
            <a:r>
              <a:rPr sz="2000" b="1" i="0">
                <a:solidFill>
                  <a:srgbClr val="D97A0B"/>
                </a:solidFill>
                <a:latin typeface="Abadi"/>
              </a:rPr>
              <a:t>Whey</a:t>
            </a:r>
          </a:p>
        </p:txBody>
      </p:sp>
      <p:sp>
        <p:nvSpPr>
          <p:cNvPr id="31" name="TextBox 30"/>
          <p:cNvSpPr txBox="1"/>
          <p:nvPr/>
        </p:nvSpPr>
        <p:spPr>
          <a:xfrm>
            <a:off x="9707270" y="2551176"/>
            <a:ext cx="1777593" cy="1463039"/>
          </a:xfrm>
          <a:prstGeom prst="rect">
            <a:avLst/>
          </a:prstGeom>
          <a:noFill/>
        </p:spPr>
        <p:txBody>
          <a:bodyPr wrap="square" anchor="t" lIns="36576" rIns="36576" tIns="36576" bIns="36576">
            <a:spAutoFit/>
          </a:bodyPr>
          <a:lstStyle/>
          <a:p>
            <a:pPr algn="l"/>
            <a:r>
              <a:rPr sz="1100" b="0" i="0">
                <a:solidFill>
                  <a:srgbClr val="1A1A1A"/>
                </a:solidFill>
                <a:latin typeface="Abadi"/>
              </a:rPr>
              <a:t>A trial of whey-based formula for reflux, gagging and retching; thickening as an add-on.</a:t>
            </a:r>
          </a:p>
        </p:txBody>
      </p:sp>
      <p:sp>
        <p:nvSpPr>
          <p:cNvPr id="32" name="TextBox 31"/>
          <p:cNvSpPr txBox="1"/>
          <p:nvPr/>
        </p:nvSpPr>
        <p:spPr>
          <a:xfrm>
            <a:off x="548640" y="4297680"/>
            <a:ext cx="11082528" cy="1463040"/>
          </a:xfrm>
          <a:prstGeom prst="rect">
            <a:avLst/>
          </a:prstGeom>
          <a:noFill/>
        </p:spPr>
        <p:txBody>
          <a:bodyPr wrap="square" anchor="t" lIns="36576" rIns="36576" tIns="36576" bIns="36576">
            <a:spAutoFit/>
          </a:bodyPr>
          <a:lstStyle/>
          <a:p>
            <a:pPr algn="l"/>
            <a:r>
              <a:rPr sz="1250" b="1" i="0">
                <a:solidFill>
                  <a:srgbClr val="1B355E"/>
                </a:solidFill>
                <a:latin typeface="Abadi"/>
              </a:rPr>
              <a:t>Practical point.   </a:t>
            </a:r>
            <a:r>
              <a:rPr sz="1250" b="0" i="0">
                <a:solidFill>
                  <a:srgbClr val="1A1A1A"/>
                </a:solidFill>
                <a:latin typeface="Abadi"/>
              </a:rPr>
              <a:t>Symptoms are often behavioural: arching, grimacing, sleep disturbance, food refusal, recurrent chest infections. Before attributing them to reflux, look for constipation, dental pain, fractures and hip dislocation, and prove the reflux if a long course or surgery is in view.</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anchor="ctr" lIns="0" rIns="0" tIns="0" bIns="0">
            <a:spAutoFit/>
          </a:bodyPr>
          <a:lstStyle/>
          <a:p>
            <a:pPr algn="ctr"/>
            <a:r>
              <a:rPr sz="1500" b="1" i="0">
                <a:solidFill>
                  <a:srgbClr val="FFFFFF"/>
                </a:solidFill>
                <a:latin typeface="Abadi"/>
              </a:rPr>
              <a:t>II</a:t>
            </a:r>
          </a:p>
        </p:txBody>
      </p:sp>
      <p:sp>
        <p:nvSpPr>
          <p:cNvPr id="4" name="TextBox 3"/>
          <p:cNvSpPr txBox="1"/>
          <p:nvPr/>
        </p:nvSpPr>
        <p:spPr>
          <a:xfrm>
            <a:off x="1380744" y="292608"/>
            <a:ext cx="10232136" cy="347472"/>
          </a:xfrm>
          <a:prstGeom prst="rect">
            <a:avLst/>
          </a:prstGeom>
          <a:noFill/>
        </p:spPr>
        <p:txBody>
          <a:bodyPr wrap="square" anchor="ctr" lIns="36576" rIns="36576" tIns="36576" bIns="36576">
            <a:spAutoFit/>
          </a:bodyPr>
          <a:lstStyle/>
          <a:p>
            <a:pPr algn="l"/>
            <a:r>
              <a:rPr sz="1200" b="1" i="0">
                <a:solidFill>
                  <a:srgbClr val="B22222"/>
                </a:solidFill>
                <a:latin typeface="Abadi"/>
              </a:rPr>
              <a:t>ANTIREFLUX SURGERY</a:t>
            </a:r>
          </a:p>
        </p:txBody>
      </p:sp>
      <p:sp>
        <p:nvSpPr>
          <p:cNvPr id="5" name="TextBox 4"/>
          <p:cNvSpPr txBox="1"/>
          <p:nvPr/>
        </p:nvSpPr>
        <p:spPr>
          <a:xfrm>
            <a:off x="548640" y="722376"/>
            <a:ext cx="11082528" cy="548640"/>
          </a:xfrm>
          <a:prstGeom prst="rect">
            <a:avLst/>
          </a:prstGeom>
          <a:noFill/>
        </p:spPr>
        <p:txBody>
          <a:bodyPr wrap="square" anchor="ctr" lIns="36576" rIns="36576" tIns="36576" bIns="36576">
            <a:spAutoFit/>
          </a:bodyPr>
          <a:lstStyle/>
          <a:p>
            <a:pPr algn="l"/>
            <a:r>
              <a:rPr sz="3000" b="1" i="0">
                <a:solidFill>
                  <a:srgbClr val="1B355E"/>
                </a:solidFill>
                <a:latin typeface="Abadi"/>
              </a:rPr>
              <a:t>FUNDOPLICATION FAILS MORE OFTEN</a:t>
            </a:r>
          </a:p>
        </p:txBody>
      </p:sp>
      <p:sp>
        <p:nvSpPr>
          <p:cNvPr id="6" name="TextBox 5"/>
          <p:cNvSpPr txBox="1"/>
          <p:nvPr/>
        </p:nvSpPr>
        <p:spPr>
          <a:xfrm>
            <a:off x="548640" y="1307592"/>
            <a:ext cx="11082528" cy="265176"/>
          </a:xfrm>
          <a:prstGeom prst="rect">
            <a:avLst/>
          </a:prstGeom>
          <a:noFill/>
        </p:spPr>
        <p:txBody>
          <a:bodyPr wrap="square" anchor="t" lIns="36576" rIns="36576" tIns="36576" bIns="36576">
            <a:spAutoFit/>
          </a:bodyPr>
          <a:lstStyle/>
          <a:p>
            <a:pPr algn="l"/>
            <a:r>
              <a:rPr sz="1300" b="0" i="0">
                <a:solidFill>
                  <a:srgbClr val="555555"/>
                </a:solidFill>
                <a:latin typeface="Abadi"/>
              </a:rPr>
              <a:t>Outcomes of fundoplication in neurologically impaired versus neurologically normal children, %</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anchor="t" lIns="36576" rIns="36576" tIns="36576" bIns="36576">
            <a:spAutoFit/>
          </a:bodyPr>
          <a:lstStyle/>
          <a:p>
            <a:pPr algn="r"/>
            <a:r>
              <a:rPr sz="1200" b="0" i="0">
                <a:solidFill>
                  <a:srgbClr val="555555"/>
                </a:solidFill>
                <a:latin typeface="Abadi"/>
              </a:rPr>
              <a:t>5</a:t>
            </a:r>
          </a:p>
        </p:txBody>
      </p:sp>
      <p:sp>
        <p:nvSpPr>
          <p:cNvPr id="11" name="TextBox 10"/>
          <p:cNvSpPr txBox="1"/>
          <p:nvPr/>
        </p:nvSpPr>
        <p:spPr>
          <a:xfrm>
            <a:off x="548640" y="5971032"/>
            <a:ext cx="10287000" cy="457200"/>
          </a:xfrm>
          <a:prstGeom prst="rect">
            <a:avLst/>
          </a:prstGeom>
          <a:noFill/>
        </p:spPr>
        <p:txBody>
          <a:bodyPr wrap="square" anchor="t" lIns="36576" rIns="36576" tIns="36576" bIns="36576">
            <a:spAutoFit/>
          </a:bodyPr>
          <a:lstStyle/>
          <a:p>
            <a:pPr algn="l"/>
            <a:r>
              <a:rPr sz="1000" b="0" i="0">
                <a:solidFill>
                  <a:srgbClr val="7F7F7F"/>
                </a:solidFill>
                <a:latin typeface="Abadi"/>
              </a:rPr>
              <a:t>Pearl RH, et al. J Pediatr Surg 1990 (PMID 2273433) · Lauriti G, et al. Pediatr Surg Int 2018;34:1139–49 · Romano 2017</a:t>
            </a:r>
          </a:p>
        </p:txBody>
      </p:sp>
      <p:sp>
        <p:nvSpPr>
          <p:cNvPr id="12" name="TextBox 11"/>
          <p:cNvSpPr txBox="1"/>
          <p:nvPr/>
        </p:nvSpPr>
        <p:spPr>
          <a:xfrm>
            <a:off x="548640" y="1828800"/>
            <a:ext cx="2834640" cy="384048"/>
          </a:xfrm>
          <a:prstGeom prst="rect">
            <a:avLst/>
          </a:prstGeom>
          <a:noFill/>
        </p:spPr>
        <p:txBody>
          <a:bodyPr wrap="square" anchor="ctr" lIns="36576" rIns="36576" tIns="36576" bIns="36576">
            <a:spAutoFit/>
          </a:bodyPr>
          <a:lstStyle/>
          <a:p>
            <a:pPr algn="l"/>
            <a:r>
              <a:rPr sz="1050" b="0" i="0">
                <a:solidFill>
                  <a:srgbClr val="1A1A1A"/>
                </a:solidFill>
                <a:latin typeface="Abadi"/>
              </a:rPr>
              <a:t>Late complications · impaired</a:t>
            </a:r>
          </a:p>
        </p:txBody>
      </p:sp>
      <p:sp>
        <p:nvSpPr>
          <p:cNvPr id="13" name="Rectangle 12"/>
          <p:cNvSpPr/>
          <p:nvPr/>
        </p:nvSpPr>
        <p:spPr>
          <a:xfrm>
            <a:off x="3474720" y="1856231"/>
            <a:ext cx="3090672" cy="3291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38544" y="1828800"/>
            <a:ext cx="1463040" cy="384048"/>
          </a:xfrm>
          <a:prstGeom prst="rect">
            <a:avLst/>
          </a:prstGeom>
          <a:noFill/>
        </p:spPr>
        <p:txBody>
          <a:bodyPr wrap="square" anchor="ctr" lIns="36576" rIns="36576" tIns="36576" bIns="36576">
            <a:spAutoFit/>
          </a:bodyPr>
          <a:lstStyle/>
          <a:p>
            <a:pPr algn="l"/>
            <a:r>
              <a:rPr sz="1050" b="1" i="0">
                <a:solidFill>
                  <a:srgbClr val="1A1A1A"/>
                </a:solidFill>
                <a:latin typeface="Abadi"/>
              </a:rPr>
              <a:t>26%</a:t>
            </a:r>
          </a:p>
        </p:txBody>
      </p:sp>
      <p:sp>
        <p:nvSpPr>
          <p:cNvPr id="15" name="TextBox 14"/>
          <p:cNvSpPr txBox="1"/>
          <p:nvPr/>
        </p:nvSpPr>
        <p:spPr>
          <a:xfrm>
            <a:off x="548640" y="2212848"/>
            <a:ext cx="2834640" cy="384048"/>
          </a:xfrm>
          <a:prstGeom prst="rect">
            <a:avLst/>
          </a:prstGeom>
          <a:noFill/>
        </p:spPr>
        <p:txBody>
          <a:bodyPr wrap="square" anchor="ctr" lIns="36576" rIns="36576" tIns="36576" bIns="36576">
            <a:spAutoFit/>
          </a:bodyPr>
          <a:lstStyle/>
          <a:p>
            <a:pPr algn="l"/>
            <a:r>
              <a:rPr sz="1050" b="0" i="0">
                <a:solidFill>
                  <a:srgbClr val="1A1A1A"/>
                </a:solidFill>
                <a:latin typeface="Abadi"/>
              </a:rPr>
              <a:t>Late complications · normal</a:t>
            </a:r>
          </a:p>
        </p:txBody>
      </p:sp>
      <p:sp>
        <p:nvSpPr>
          <p:cNvPr id="16" name="Rectangle 15"/>
          <p:cNvSpPr/>
          <p:nvPr/>
        </p:nvSpPr>
        <p:spPr>
          <a:xfrm>
            <a:off x="3474720" y="2240279"/>
            <a:ext cx="1426464" cy="3291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974336" y="2212848"/>
            <a:ext cx="1463040" cy="384048"/>
          </a:xfrm>
          <a:prstGeom prst="rect">
            <a:avLst/>
          </a:prstGeom>
          <a:noFill/>
        </p:spPr>
        <p:txBody>
          <a:bodyPr wrap="square" anchor="ctr" lIns="36576" rIns="36576" tIns="36576" bIns="36576">
            <a:spAutoFit/>
          </a:bodyPr>
          <a:lstStyle/>
          <a:p>
            <a:pPr algn="l"/>
            <a:r>
              <a:rPr sz="1050" b="1" i="0">
                <a:solidFill>
                  <a:srgbClr val="1A1A1A"/>
                </a:solidFill>
                <a:latin typeface="Abadi"/>
              </a:rPr>
              <a:t>12%</a:t>
            </a:r>
          </a:p>
        </p:txBody>
      </p:sp>
      <p:sp>
        <p:nvSpPr>
          <p:cNvPr id="18" name="TextBox 17"/>
          <p:cNvSpPr txBox="1"/>
          <p:nvPr/>
        </p:nvSpPr>
        <p:spPr>
          <a:xfrm>
            <a:off x="548640" y="2596896"/>
            <a:ext cx="2834640" cy="384048"/>
          </a:xfrm>
          <a:prstGeom prst="rect">
            <a:avLst/>
          </a:prstGeom>
          <a:noFill/>
        </p:spPr>
        <p:txBody>
          <a:bodyPr wrap="square" anchor="ctr" lIns="36576" rIns="36576" tIns="36576" bIns="36576">
            <a:spAutoFit/>
          </a:bodyPr>
          <a:lstStyle/>
          <a:p>
            <a:pPr algn="l"/>
            <a:r>
              <a:rPr sz="1050" b="0" i="0">
                <a:solidFill>
                  <a:srgbClr val="1A1A1A"/>
                </a:solidFill>
                <a:latin typeface="Abadi"/>
              </a:rPr>
              <a:t>Reoperation · impaired</a:t>
            </a:r>
          </a:p>
        </p:txBody>
      </p:sp>
      <p:sp>
        <p:nvSpPr>
          <p:cNvPr id="19" name="Rectangle 18"/>
          <p:cNvSpPr/>
          <p:nvPr/>
        </p:nvSpPr>
        <p:spPr>
          <a:xfrm>
            <a:off x="3474720" y="2624327"/>
            <a:ext cx="2258568" cy="3291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06440" y="2596896"/>
            <a:ext cx="1463040" cy="384048"/>
          </a:xfrm>
          <a:prstGeom prst="rect">
            <a:avLst/>
          </a:prstGeom>
          <a:noFill/>
        </p:spPr>
        <p:txBody>
          <a:bodyPr wrap="square" anchor="ctr" lIns="36576" rIns="36576" tIns="36576" bIns="36576">
            <a:spAutoFit/>
          </a:bodyPr>
          <a:lstStyle/>
          <a:p>
            <a:pPr algn="l"/>
            <a:r>
              <a:rPr sz="1050" b="1" i="0">
                <a:solidFill>
                  <a:srgbClr val="1A1A1A"/>
                </a:solidFill>
                <a:latin typeface="Abadi"/>
              </a:rPr>
              <a:t>19%</a:t>
            </a:r>
          </a:p>
        </p:txBody>
      </p:sp>
      <p:sp>
        <p:nvSpPr>
          <p:cNvPr id="21" name="TextBox 20"/>
          <p:cNvSpPr txBox="1"/>
          <p:nvPr/>
        </p:nvSpPr>
        <p:spPr>
          <a:xfrm>
            <a:off x="548640" y="2980944"/>
            <a:ext cx="2834640" cy="384048"/>
          </a:xfrm>
          <a:prstGeom prst="rect">
            <a:avLst/>
          </a:prstGeom>
          <a:noFill/>
        </p:spPr>
        <p:txBody>
          <a:bodyPr wrap="square" anchor="ctr" lIns="36576" rIns="36576" tIns="36576" bIns="36576">
            <a:spAutoFit/>
          </a:bodyPr>
          <a:lstStyle/>
          <a:p>
            <a:pPr algn="l"/>
            <a:r>
              <a:rPr sz="1050" b="0" i="0">
                <a:solidFill>
                  <a:srgbClr val="1A1A1A"/>
                </a:solidFill>
                <a:latin typeface="Abadi"/>
              </a:rPr>
              <a:t>Reoperation · normal</a:t>
            </a:r>
          </a:p>
        </p:txBody>
      </p:sp>
      <p:sp>
        <p:nvSpPr>
          <p:cNvPr id="22" name="Rectangle 21"/>
          <p:cNvSpPr/>
          <p:nvPr/>
        </p:nvSpPr>
        <p:spPr>
          <a:xfrm>
            <a:off x="3474720" y="3008375"/>
            <a:ext cx="594360" cy="3291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42232" y="2980944"/>
            <a:ext cx="1463040" cy="384048"/>
          </a:xfrm>
          <a:prstGeom prst="rect">
            <a:avLst/>
          </a:prstGeom>
          <a:noFill/>
        </p:spPr>
        <p:txBody>
          <a:bodyPr wrap="square" anchor="ctr" lIns="36576" rIns="36576" tIns="36576" bIns="36576">
            <a:spAutoFit/>
          </a:bodyPr>
          <a:lstStyle/>
          <a:p>
            <a:pPr algn="l"/>
            <a:r>
              <a:rPr sz="1050" b="1" i="0">
                <a:solidFill>
                  <a:srgbClr val="1A1A1A"/>
                </a:solidFill>
                <a:latin typeface="Abadi"/>
              </a:rPr>
              <a:t>5%</a:t>
            </a:r>
          </a:p>
        </p:txBody>
      </p:sp>
      <p:sp>
        <p:nvSpPr>
          <p:cNvPr id="24" name="TextBox 23"/>
          <p:cNvSpPr txBox="1"/>
          <p:nvPr/>
        </p:nvSpPr>
        <p:spPr>
          <a:xfrm>
            <a:off x="548640" y="3364991"/>
            <a:ext cx="2834640" cy="384048"/>
          </a:xfrm>
          <a:prstGeom prst="rect">
            <a:avLst/>
          </a:prstGeom>
          <a:noFill/>
        </p:spPr>
        <p:txBody>
          <a:bodyPr wrap="square" anchor="ctr" lIns="36576" rIns="36576" tIns="36576" bIns="36576">
            <a:spAutoFit/>
          </a:bodyPr>
          <a:lstStyle/>
          <a:p>
            <a:pPr algn="l"/>
            <a:r>
              <a:rPr sz="1050" b="0" i="0">
                <a:solidFill>
                  <a:srgbClr val="1A1A1A"/>
                </a:solidFill>
                <a:latin typeface="Abadi"/>
              </a:rPr>
              <a:t>Overall failure · impaired</a:t>
            </a:r>
          </a:p>
        </p:txBody>
      </p:sp>
      <p:sp>
        <p:nvSpPr>
          <p:cNvPr id="25" name="Rectangle 24"/>
          <p:cNvSpPr/>
          <p:nvPr/>
        </p:nvSpPr>
        <p:spPr>
          <a:xfrm>
            <a:off x="3474720" y="3392423"/>
            <a:ext cx="3328415" cy="3291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76288" y="3364991"/>
            <a:ext cx="1463040" cy="384048"/>
          </a:xfrm>
          <a:prstGeom prst="rect">
            <a:avLst/>
          </a:prstGeom>
          <a:noFill/>
        </p:spPr>
        <p:txBody>
          <a:bodyPr wrap="square" anchor="ctr" lIns="36576" rIns="36576" tIns="36576" bIns="36576">
            <a:spAutoFit/>
          </a:bodyPr>
          <a:lstStyle/>
          <a:p>
            <a:pPr algn="l"/>
            <a:r>
              <a:rPr sz="1050" b="1" i="0">
                <a:solidFill>
                  <a:srgbClr val="1A1A1A"/>
                </a:solidFill>
                <a:latin typeface="Abadi"/>
              </a:rPr>
              <a:t>28%</a:t>
            </a:r>
          </a:p>
        </p:txBody>
      </p:sp>
      <p:sp>
        <p:nvSpPr>
          <p:cNvPr id="27" name="TextBox 26"/>
          <p:cNvSpPr txBox="1"/>
          <p:nvPr/>
        </p:nvSpPr>
        <p:spPr>
          <a:xfrm>
            <a:off x="548640" y="3749039"/>
            <a:ext cx="2834640" cy="384048"/>
          </a:xfrm>
          <a:prstGeom prst="rect">
            <a:avLst/>
          </a:prstGeom>
          <a:noFill/>
        </p:spPr>
        <p:txBody>
          <a:bodyPr wrap="square" anchor="ctr" lIns="36576" rIns="36576" tIns="36576" bIns="36576">
            <a:spAutoFit/>
          </a:bodyPr>
          <a:lstStyle/>
          <a:p>
            <a:pPr algn="l"/>
            <a:r>
              <a:rPr sz="1050" b="0" i="0">
                <a:solidFill>
                  <a:srgbClr val="1A1A1A"/>
                </a:solidFill>
                <a:latin typeface="Abadi"/>
              </a:rPr>
              <a:t>Overall failure · normal</a:t>
            </a:r>
          </a:p>
        </p:txBody>
      </p:sp>
      <p:sp>
        <p:nvSpPr>
          <p:cNvPr id="28" name="Rectangle 27"/>
          <p:cNvSpPr/>
          <p:nvPr/>
        </p:nvSpPr>
        <p:spPr>
          <a:xfrm>
            <a:off x="3474720" y="3776472"/>
            <a:ext cx="713232" cy="3291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61104" y="3749039"/>
            <a:ext cx="1463040" cy="384048"/>
          </a:xfrm>
          <a:prstGeom prst="rect">
            <a:avLst/>
          </a:prstGeom>
          <a:noFill/>
        </p:spPr>
        <p:txBody>
          <a:bodyPr wrap="square" anchor="ctr" lIns="36576" rIns="36576" tIns="36576" bIns="36576">
            <a:spAutoFit/>
          </a:bodyPr>
          <a:lstStyle/>
          <a:p>
            <a:pPr algn="l"/>
            <a:r>
              <a:rPr sz="1050" b="1" i="0">
                <a:solidFill>
                  <a:srgbClr val="1A1A1A"/>
                </a:solidFill>
                <a:latin typeface="Abadi"/>
              </a:rPr>
              <a:t>6%</a:t>
            </a:r>
          </a:p>
        </p:txBody>
      </p:sp>
      <p:sp>
        <p:nvSpPr>
          <p:cNvPr id="30" name="TextBox 29"/>
          <p:cNvSpPr txBox="1"/>
          <p:nvPr/>
        </p:nvSpPr>
        <p:spPr>
          <a:xfrm>
            <a:off x="548640" y="4133087"/>
            <a:ext cx="2834640" cy="384048"/>
          </a:xfrm>
          <a:prstGeom prst="rect">
            <a:avLst/>
          </a:prstGeom>
          <a:noFill/>
        </p:spPr>
        <p:txBody>
          <a:bodyPr wrap="square" anchor="ctr" lIns="36576" rIns="36576" tIns="36576" bIns="36576">
            <a:spAutoFit/>
          </a:bodyPr>
          <a:lstStyle/>
          <a:p>
            <a:pPr algn="l"/>
            <a:r>
              <a:rPr sz="1050" b="0" i="0">
                <a:solidFill>
                  <a:srgbClr val="1A1A1A"/>
                </a:solidFill>
                <a:latin typeface="Abadi"/>
              </a:rPr>
              <a:t>Aspiration-related death · impaired</a:t>
            </a:r>
          </a:p>
        </p:txBody>
      </p:sp>
      <p:sp>
        <p:nvSpPr>
          <p:cNvPr id="31" name="Rectangle 30"/>
          <p:cNvSpPr/>
          <p:nvPr/>
        </p:nvSpPr>
        <p:spPr>
          <a:xfrm>
            <a:off x="3474720" y="4160520"/>
            <a:ext cx="1069848" cy="3291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617720" y="4133087"/>
            <a:ext cx="1463040" cy="384048"/>
          </a:xfrm>
          <a:prstGeom prst="rect">
            <a:avLst/>
          </a:prstGeom>
          <a:noFill/>
        </p:spPr>
        <p:txBody>
          <a:bodyPr wrap="square" anchor="ctr" lIns="36576" rIns="36576" tIns="36576" bIns="36576">
            <a:spAutoFit/>
          </a:bodyPr>
          <a:lstStyle/>
          <a:p>
            <a:pPr algn="l"/>
            <a:r>
              <a:rPr sz="1050" b="1" i="0">
                <a:solidFill>
                  <a:srgbClr val="1A1A1A"/>
                </a:solidFill>
                <a:latin typeface="Abadi"/>
              </a:rPr>
              <a:t>9%</a:t>
            </a:r>
          </a:p>
        </p:txBody>
      </p:sp>
      <p:sp>
        <p:nvSpPr>
          <p:cNvPr id="33" name="TextBox 32"/>
          <p:cNvSpPr txBox="1"/>
          <p:nvPr/>
        </p:nvSpPr>
        <p:spPr>
          <a:xfrm>
            <a:off x="548640" y="4517136"/>
            <a:ext cx="2834640" cy="384048"/>
          </a:xfrm>
          <a:prstGeom prst="rect">
            <a:avLst/>
          </a:prstGeom>
          <a:noFill/>
        </p:spPr>
        <p:txBody>
          <a:bodyPr wrap="square" anchor="ctr" lIns="36576" rIns="36576" tIns="36576" bIns="36576">
            <a:spAutoFit/>
          </a:bodyPr>
          <a:lstStyle/>
          <a:p>
            <a:pPr algn="l"/>
            <a:r>
              <a:rPr sz="1050" b="0" i="0">
                <a:solidFill>
                  <a:srgbClr val="1A1A1A"/>
                </a:solidFill>
                <a:latin typeface="Abadi"/>
              </a:rPr>
              <a:t>Aspiration-related death · normal</a:t>
            </a:r>
          </a:p>
        </p:txBody>
      </p:sp>
      <p:sp>
        <p:nvSpPr>
          <p:cNvPr id="34" name="Rectangle 33"/>
          <p:cNvSpPr/>
          <p:nvPr/>
        </p:nvSpPr>
        <p:spPr>
          <a:xfrm>
            <a:off x="3474720" y="4544568"/>
            <a:ext cx="118872" cy="3291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666744" y="4517136"/>
            <a:ext cx="1463040" cy="384048"/>
          </a:xfrm>
          <a:prstGeom prst="rect">
            <a:avLst/>
          </a:prstGeom>
          <a:noFill/>
        </p:spPr>
        <p:txBody>
          <a:bodyPr wrap="square" anchor="ctr" lIns="36576" rIns="36576" tIns="36576" bIns="36576">
            <a:spAutoFit/>
          </a:bodyPr>
          <a:lstStyle/>
          <a:p>
            <a:pPr algn="l"/>
            <a:r>
              <a:rPr sz="1050" b="1" i="0">
                <a:solidFill>
                  <a:srgbClr val="1A1A1A"/>
                </a:solidFill>
                <a:latin typeface="Abadi"/>
              </a:rPr>
              <a:t>1%</a:t>
            </a:r>
          </a:p>
        </p:txBody>
      </p:sp>
      <p:sp>
        <p:nvSpPr>
          <p:cNvPr id="36" name="TextBox 35"/>
          <p:cNvSpPr txBox="1"/>
          <p:nvPr/>
        </p:nvSpPr>
        <p:spPr>
          <a:xfrm>
            <a:off x="548640" y="4946903"/>
            <a:ext cx="7863840" cy="274320"/>
          </a:xfrm>
          <a:prstGeom prst="rect">
            <a:avLst/>
          </a:prstGeom>
          <a:noFill/>
        </p:spPr>
        <p:txBody>
          <a:bodyPr wrap="square" anchor="t" lIns="36576" rIns="36576" tIns="36576" bIns="36576">
            <a:spAutoFit/>
          </a:bodyPr>
          <a:lstStyle/>
          <a:p>
            <a:pPr algn="l"/>
            <a:r>
              <a:rPr sz="950" b="0" i="0">
                <a:solidFill>
                  <a:srgbClr val="7F7F7F"/>
                </a:solidFill>
                <a:latin typeface="Abadi"/>
              </a:rPr>
              <a:t>Pearl 1990: 153 impaired vs 81 normal children; all differences P &lt; .01. Wrap herniation: 59% of reoperations.</a:t>
            </a:r>
          </a:p>
        </p:txBody>
      </p:sp>
      <p:sp>
        <p:nvSpPr>
          <p:cNvPr id="37" name="TextBox 36"/>
          <p:cNvSpPr txBox="1"/>
          <p:nvPr/>
        </p:nvSpPr>
        <p:spPr>
          <a:xfrm>
            <a:off x="8778240" y="1783080"/>
            <a:ext cx="2834640" cy="3931920"/>
          </a:xfrm>
          <a:prstGeom prst="rect">
            <a:avLst/>
          </a:prstGeom>
          <a:noFill/>
        </p:spPr>
        <p:txBody>
          <a:bodyPr wrap="square" anchor="t" lIns="36576" rIns="36576" tIns="36576" bIns="36576">
            <a:spAutoFit/>
          </a:bodyPr>
          <a:lstStyle/>
          <a:p>
            <a:pPr algn="l">
              <a:spcAft>
                <a:spcPts val="300"/>
              </a:spcAft>
            </a:pPr>
            <a:r>
              <a:rPr sz="1500" b="1" i="0">
                <a:solidFill>
                  <a:srgbClr val="1B355E"/>
                </a:solidFill>
                <a:latin typeface="Abadi"/>
              </a:rPr>
              <a:t>Meta-analysis 2018</a:t>
            </a:r>
          </a:p>
          <a:p>
            <a:pPr algn="l">
              <a:spcAft>
                <a:spcPts val="300"/>
              </a:spcAft>
            </a:pPr>
            <a:r>
              <a:rPr sz="1050" b="0" i="0">
                <a:solidFill>
                  <a:srgbClr val="1A1A1A"/>
                </a:solidFill>
                <a:latin typeface="Abadi"/>
              </a:rPr>
              <a:t>Recurrent reflux 14.2% vs 9.4% (RR 1.55); redo fundoplication 12.6% vs 9.1% (RR 1.46).</a:t>
            </a:r>
          </a:p>
          <a:p>
            <a:pPr algn="l">
              <a:spcAft>
                <a:spcPts val="300"/>
              </a:spcAft>
            </a:pPr>
            <a:r>
              <a:rPr sz="1500" b="1" i="0">
                <a:solidFill>
                  <a:srgbClr val="1B355E"/>
                </a:solidFill>
                <a:latin typeface="Abadi"/>
              </a:rPr>
              <a:t>Guideline review</a:t>
            </a:r>
          </a:p>
          <a:p>
            <a:pPr algn="l">
              <a:spcAft>
                <a:spcPts val="300"/>
              </a:spcAft>
            </a:pPr>
            <a:r>
              <a:rPr sz="1050" b="0" i="0">
                <a:solidFill>
                  <a:srgbClr val="1A1A1A"/>
                </a:solidFill>
                <a:latin typeface="Abadi"/>
              </a:rPr>
              <a:t>Reoperation 15.4% vs 7.0%.</a:t>
            </a:r>
          </a:p>
          <a:p>
            <a:pPr algn="l">
              <a:spcAft>
                <a:spcPts val="300"/>
              </a:spcAft>
            </a:pPr>
            <a:r>
              <a:rPr sz="1500" b="1" i="0">
                <a:solidFill>
                  <a:srgbClr val="1B355E"/>
                </a:solidFill>
                <a:latin typeface="Abadi"/>
              </a:rPr>
              <a:t>Implication</a:t>
            </a:r>
          </a:p>
          <a:p>
            <a:pPr algn="l">
              <a:spcAft>
                <a:spcPts val="300"/>
              </a:spcAft>
            </a:pPr>
            <a:r>
              <a:rPr sz="1050" b="0" i="0">
                <a:solidFill>
                  <a:srgbClr val="1A1A1A"/>
                </a:solidFill>
                <a:latin typeface="Abadi"/>
              </a:rPr>
              <a:t>Optimise medical therapy and test before surgery; endoscopy with biopsies first.</a:t>
            </a:r>
          </a:p>
        </p:txBody>
      </p:sp>
      <p:sp>
        <p:nvSpPr>
          <p:cNvPr id="38" name="TextBox 37"/>
          <p:cNvSpPr txBox="1"/>
          <p:nvPr/>
        </p:nvSpPr>
        <p:spPr>
          <a:xfrm>
            <a:off x="548640" y="5285231"/>
            <a:ext cx="7955279" cy="548640"/>
          </a:xfrm>
          <a:prstGeom prst="rect">
            <a:avLst/>
          </a:prstGeom>
          <a:noFill/>
        </p:spPr>
        <p:txBody>
          <a:bodyPr wrap="square" anchor="t" lIns="36576" rIns="36576" tIns="36576" bIns="36576">
            <a:spAutoFit/>
          </a:bodyPr>
          <a:lstStyle/>
          <a:p>
            <a:pPr algn="l"/>
            <a:r>
              <a:rPr sz="1200" b="1" i="0">
                <a:solidFill>
                  <a:srgbClr val="1B355E"/>
                </a:solidFill>
                <a:latin typeface="Abadi"/>
              </a:rPr>
              <a:t>Read it as.   </a:t>
            </a:r>
            <a:r>
              <a:rPr sz="1200" b="0" i="0">
                <a:solidFill>
                  <a:srgbClr val="1A1A1A"/>
                </a:solidFill>
                <a:latin typeface="Abadi"/>
              </a:rPr>
              <a:t>Fundoplication in these children fails two to three times as often, and does not stop aspiration of saliva.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anchor="ctr" lIns="0" rIns="0" tIns="0" bIns="0">
            <a:spAutoFit/>
          </a:bodyPr>
          <a:lstStyle/>
          <a:p>
            <a:pPr algn="ctr"/>
            <a:r>
              <a:rPr sz="1500" b="1" i="0">
                <a:solidFill>
                  <a:srgbClr val="FFFFFF"/>
                </a:solidFill>
                <a:latin typeface="Abadi"/>
              </a:rPr>
              <a:t>II</a:t>
            </a:r>
          </a:p>
        </p:txBody>
      </p:sp>
      <p:sp>
        <p:nvSpPr>
          <p:cNvPr id="4" name="TextBox 3"/>
          <p:cNvSpPr txBox="1"/>
          <p:nvPr/>
        </p:nvSpPr>
        <p:spPr>
          <a:xfrm>
            <a:off x="1380744" y="292608"/>
            <a:ext cx="10232136" cy="347472"/>
          </a:xfrm>
          <a:prstGeom prst="rect">
            <a:avLst/>
          </a:prstGeom>
          <a:noFill/>
        </p:spPr>
        <p:txBody>
          <a:bodyPr wrap="square" anchor="ctr" lIns="36576" rIns="36576" tIns="36576" bIns="36576">
            <a:spAutoFit/>
          </a:bodyPr>
          <a:lstStyle/>
          <a:p>
            <a:pPr algn="l"/>
            <a:r>
              <a:rPr sz="1200" b="1" i="0">
                <a:solidFill>
                  <a:srgbClr val="B22222"/>
                </a:solidFill>
                <a:latin typeface="Abadi"/>
              </a:rPr>
              <a:t>GASTROSTOMY</a:t>
            </a:r>
          </a:p>
        </p:txBody>
      </p:sp>
      <p:sp>
        <p:nvSpPr>
          <p:cNvPr id="5" name="TextBox 4"/>
          <p:cNvSpPr txBox="1"/>
          <p:nvPr/>
        </p:nvSpPr>
        <p:spPr>
          <a:xfrm>
            <a:off x="548640" y="722376"/>
            <a:ext cx="11082528" cy="548640"/>
          </a:xfrm>
          <a:prstGeom prst="rect">
            <a:avLst/>
          </a:prstGeom>
          <a:noFill/>
        </p:spPr>
        <p:txBody>
          <a:bodyPr wrap="square" anchor="ctr" lIns="36576" rIns="36576" tIns="36576" bIns="36576">
            <a:spAutoFit/>
          </a:bodyPr>
          <a:lstStyle/>
          <a:p>
            <a:pPr algn="l"/>
            <a:r>
              <a:rPr sz="3000" b="1" i="0">
                <a:solidFill>
                  <a:srgbClr val="1B355E"/>
                </a:solidFill>
                <a:latin typeface="Abadi"/>
              </a:rPr>
              <a:t>GASTROSTOMY ALONE IS USUALLY ENOUGH</a:t>
            </a:r>
          </a:p>
        </p:txBody>
      </p:sp>
      <p:sp>
        <p:nvSpPr>
          <p:cNvPr id="6" name="TextBox 5"/>
          <p:cNvSpPr txBox="1"/>
          <p:nvPr/>
        </p:nvSpPr>
        <p:spPr>
          <a:xfrm>
            <a:off x="548640" y="1307592"/>
            <a:ext cx="11082528" cy="265176"/>
          </a:xfrm>
          <a:prstGeom prst="rect">
            <a:avLst/>
          </a:prstGeom>
          <a:noFill/>
        </p:spPr>
        <p:txBody>
          <a:bodyPr wrap="square" anchor="t" lIns="36576" rIns="36576" tIns="36576" bIns="36576">
            <a:spAutoFit/>
          </a:bodyPr>
          <a:lstStyle/>
          <a:p>
            <a:pPr algn="l"/>
            <a:r>
              <a:rPr sz="1300" b="0" i="0">
                <a:solidFill>
                  <a:srgbClr val="555555"/>
                </a:solidFill>
                <a:latin typeface="Abadi"/>
              </a:rPr>
              <a:t>Should a fundoplication be added when a feeding gastrostomy is placed?</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anchor="t" lIns="36576" rIns="36576" tIns="36576" bIns="36576">
            <a:spAutoFit/>
          </a:bodyPr>
          <a:lstStyle/>
          <a:p>
            <a:pPr algn="r"/>
            <a:r>
              <a:rPr sz="1200" b="0" i="0">
                <a:solidFill>
                  <a:srgbClr val="555555"/>
                </a:solidFill>
                <a:latin typeface="Abadi"/>
              </a:rPr>
              <a:t>6</a:t>
            </a:r>
          </a:p>
        </p:txBody>
      </p:sp>
      <p:sp>
        <p:nvSpPr>
          <p:cNvPr id="11" name="TextBox 10"/>
          <p:cNvSpPr txBox="1"/>
          <p:nvPr/>
        </p:nvSpPr>
        <p:spPr>
          <a:xfrm>
            <a:off x="548640" y="5971032"/>
            <a:ext cx="10287000" cy="457200"/>
          </a:xfrm>
          <a:prstGeom prst="rect">
            <a:avLst/>
          </a:prstGeom>
          <a:noFill/>
        </p:spPr>
        <p:txBody>
          <a:bodyPr wrap="square" anchor="t" lIns="36576" rIns="36576" tIns="36576" bIns="36576">
            <a:spAutoFit/>
          </a:bodyPr>
          <a:lstStyle/>
          <a:p>
            <a:pPr algn="l"/>
            <a:r>
              <a:rPr sz="1000" b="0" i="0">
                <a:solidFill>
                  <a:srgbClr val="7F7F7F"/>
                </a:solidFill>
                <a:latin typeface="Abadi"/>
              </a:rPr>
              <a:t>Barnhart DC, et al. JAMA Pediatr 2013 (doi:10.1001/jamapediatrics.2013.334) · Zambaiti E, et al. Children 2021;8:22 · Romano 2017 · Vernon-Roberts A, Sullivan PB. Cochrane 2013;CD006151</a:t>
            </a:r>
          </a:p>
        </p:txBody>
      </p:sp>
      <p:sp>
        <p:nvSpPr>
          <p:cNvPr id="12" name="Rectangle 11"/>
          <p:cNvSpPr/>
          <p:nvPr/>
        </p:nvSpPr>
        <p:spPr>
          <a:xfrm>
            <a:off x="548640" y="1773936"/>
            <a:ext cx="2070201" cy="233172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070201" cy="1005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1956816"/>
            <a:ext cx="1777593" cy="548640"/>
          </a:xfrm>
          <a:prstGeom prst="rect">
            <a:avLst/>
          </a:prstGeom>
          <a:noFill/>
        </p:spPr>
        <p:txBody>
          <a:bodyPr wrap="square" anchor="t" lIns="36576" rIns="36576" tIns="36576" bIns="36576">
            <a:spAutoFit/>
          </a:bodyPr>
          <a:lstStyle/>
          <a:p>
            <a:pPr algn="l"/>
            <a:r>
              <a:rPr sz="2000" b="1" i="0">
                <a:solidFill>
                  <a:srgbClr val="1B355E"/>
                </a:solidFill>
                <a:latin typeface="Abadi"/>
              </a:rPr>
              <a:t>0.92 vs 1.02</a:t>
            </a:r>
          </a:p>
        </p:txBody>
      </p:sp>
      <p:sp>
        <p:nvSpPr>
          <p:cNvPr id="15" name="TextBox 14"/>
          <p:cNvSpPr txBox="1"/>
          <p:nvPr/>
        </p:nvSpPr>
        <p:spPr>
          <a:xfrm>
            <a:off x="694944" y="2551176"/>
            <a:ext cx="1777593" cy="1463039"/>
          </a:xfrm>
          <a:prstGeom prst="rect">
            <a:avLst/>
          </a:prstGeom>
          <a:noFill/>
        </p:spPr>
        <p:txBody>
          <a:bodyPr wrap="square" anchor="t" lIns="36576" rIns="36576" tIns="36576" bIns="36576">
            <a:spAutoFit/>
          </a:bodyPr>
          <a:lstStyle/>
          <a:p>
            <a:pPr algn="l"/>
            <a:r>
              <a:rPr sz="1100" b="0" i="0">
                <a:solidFill>
                  <a:srgbClr val="1A1A1A"/>
                </a:solidFill>
                <a:latin typeface="Abadi"/>
              </a:rPr>
              <a:t>US NICU cohort, 4,163 impaired infants: reflux admissions in year 1, gastrostomy alone vs with fundoplication.</a:t>
            </a:r>
          </a:p>
        </p:txBody>
      </p:sp>
      <p:sp>
        <p:nvSpPr>
          <p:cNvPr id="16" name="Rectangle 15"/>
          <p:cNvSpPr/>
          <p:nvPr/>
        </p:nvSpPr>
        <p:spPr>
          <a:xfrm>
            <a:off x="2801721" y="1773936"/>
            <a:ext cx="2070201" cy="2331720"/>
          </a:xfrm>
          <a:prstGeom prst="rect">
            <a:avLst/>
          </a:prstGeom>
          <a:solidFill>
            <a:srgbClr val="E7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801721" y="1773936"/>
            <a:ext cx="2070201" cy="1005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48025" y="1956816"/>
            <a:ext cx="1777593" cy="548640"/>
          </a:xfrm>
          <a:prstGeom prst="rect">
            <a:avLst/>
          </a:prstGeom>
          <a:noFill/>
        </p:spPr>
        <p:txBody>
          <a:bodyPr wrap="square" anchor="t" lIns="36576" rIns="36576" tIns="36576" bIns="36576">
            <a:spAutoFit/>
          </a:bodyPr>
          <a:lstStyle/>
          <a:p>
            <a:pPr algn="l"/>
            <a:r>
              <a:rPr sz="2000" b="1" i="0">
                <a:solidFill>
                  <a:srgbClr val="8A939B"/>
                </a:solidFill>
                <a:latin typeface="Abadi"/>
              </a:rPr>
              <a:t>0.08 vs 0.08</a:t>
            </a:r>
          </a:p>
        </p:txBody>
      </p:sp>
      <p:sp>
        <p:nvSpPr>
          <p:cNvPr id="19" name="TextBox 18"/>
          <p:cNvSpPr txBox="1"/>
          <p:nvPr/>
        </p:nvSpPr>
        <p:spPr>
          <a:xfrm>
            <a:off x="2948025" y="2551176"/>
            <a:ext cx="1777593" cy="1463039"/>
          </a:xfrm>
          <a:prstGeom prst="rect">
            <a:avLst/>
          </a:prstGeom>
          <a:noFill/>
        </p:spPr>
        <p:txBody>
          <a:bodyPr wrap="square" anchor="t" lIns="36576" rIns="36576" tIns="36576" bIns="36576">
            <a:spAutoFit/>
          </a:bodyPr>
          <a:lstStyle/>
          <a:p>
            <a:pPr algn="l"/>
            <a:r>
              <a:rPr sz="1100" b="0" i="0">
                <a:solidFill>
                  <a:srgbClr val="1A1A1A"/>
                </a:solidFill>
                <a:latin typeface="Abadi"/>
              </a:rPr>
              <a:t>Aspiration pneumonia admissions in the same cohort: no difference.</a:t>
            </a:r>
          </a:p>
        </p:txBody>
      </p:sp>
      <p:sp>
        <p:nvSpPr>
          <p:cNvPr id="20" name="Rectangle 19"/>
          <p:cNvSpPr/>
          <p:nvPr/>
        </p:nvSpPr>
        <p:spPr>
          <a:xfrm>
            <a:off x="5054803" y="1773936"/>
            <a:ext cx="2070201" cy="233172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54803" y="1773936"/>
            <a:ext cx="2070201"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01107" y="1956816"/>
            <a:ext cx="1777593" cy="548640"/>
          </a:xfrm>
          <a:prstGeom prst="rect">
            <a:avLst/>
          </a:prstGeom>
          <a:noFill/>
        </p:spPr>
        <p:txBody>
          <a:bodyPr wrap="square" anchor="t" lIns="36576" rIns="36576" tIns="36576" bIns="36576">
            <a:spAutoFit/>
          </a:bodyPr>
          <a:lstStyle/>
          <a:p>
            <a:pPr algn="l"/>
            <a:r>
              <a:rPr sz="2000" b="1" i="0">
                <a:solidFill>
                  <a:srgbClr val="B22222"/>
                </a:solidFill>
                <a:latin typeface="Abadi"/>
              </a:rPr>
              <a:t>9% and 4%</a:t>
            </a:r>
          </a:p>
        </p:txBody>
      </p:sp>
      <p:sp>
        <p:nvSpPr>
          <p:cNvPr id="23" name="TextBox 22"/>
          <p:cNvSpPr txBox="1"/>
          <p:nvPr/>
        </p:nvSpPr>
        <p:spPr>
          <a:xfrm>
            <a:off x="5201107" y="2551176"/>
            <a:ext cx="1777593" cy="1463039"/>
          </a:xfrm>
          <a:prstGeom prst="rect">
            <a:avLst/>
          </a:prstGeom>
          <a:noFill/>
        </p:spPr>
        <p:txBody>
          <a:bodyPr wrap="square" anchor="t" lIns="36576" rIns="36576" tIns="36576" bIns="36576">
            <a:spAutoFit/>
          </a:bodyPr>
          <a:lstStyle/>
          <a:p>
            <a:pPr algn="l"/>
            <a:r>
              <a:rPr sz="1100" b="0" i="0">
                <a:solidFill>
                  <a:srgbClr val="1A1A1A"/>
                </a:solidFill>
                <a:latin typeface="Abadi"/>
              </a:rPr>
              <a:t>Infants who had a pH probe or an endoscopy before their fundoplication.</a:t>
            </a:r>
          </a:p>
        </p:txBody>
      </p:sp>
      <p:sp>
        <p:nvSpPr>
          <p:cNvPr id="24" name="Rectangle 23"/>
          <p:cNvSpPr/>
          <p:nvPr/>
        </p:nvSpPr>
        <p:spPr>
          <a:xfrm>
            <a:off x="7307884" y="1773936"/>
            <a:ext cx="2070201" cy="233172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07884" y="1773936"/>
            <a:ext cx="2070201" cy="1005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54188" y="1956816"/>
            <a:ext cx="1777593" cy="548640"/>
          </a:xfrm>
          <a:prstGeom prst="rect">
            <a:avLst/>
          </a:prstGeom>
          <a:noFill/>
        </p:spPr>
        <p:txBody>
          <a:bodyPr wrap="square" anchor="t" lIns="36576" rIns="36576" tIns="36576" bIns="36576">
            <a:spAutoFit/>
          </a:bodyPr>
          <a:lstStyle/>
          <a:p>
            <a:pPr algn="l"/>
            <a:r>
              <a:rPr sz="2000" b="1" i="0">
                <a:solidFill>
                  <a:srgbClr val="1E7A33"/>
                </a:solidFill>
                <a:latin typeface="Abadi"/>
              </a:rPr>
              <a:t>6%</a:t>
            </a:r>
          </a:p>
        </p:txBody>
      </p:sp>
      <p:sp>
        <p:nvSpPr>
          <p:cNvPr id="27" name="TextBox 26"/>
          <p:cNvSpPr txBox="1"/>
          <p:nvPr/>
        </p:nvSpPr>
        <p:spPr>
          <a:xfrm>
            <a:off x="7454188" y="2551176"/>
            <a:ext cx="1777593" cy="1463039"/>
          </a:xfrm>
          <a:prstGeom prst="rect">
            <a:avLst/>
          </a:prstGeom>
          <a:noFill/>
        </p:spPr>
        <p:txBody>
          <a:bodyPr wrap="square" anchor="t" lIns="36576" rIns="36576" tIns="36576" bIns="36576">
            <a:spAutoFit/>
          </a:bodyPr>
          <a:lstStyle/>
          <a:p>
            <a:pPr algn="l"/>
            <a:r>
              <a:rPr sz="1100" b="0" i="0">
                <a:solidFill>
                  <a:srgbClr val="1A1A1A"/>
                </a:solidFill>
                <a:latin typeface="Abadi"/>
              </a:rPr>
              <a:t>Italy 2021, 145 children: needed fundoplication later after gastrostomy alone; 5–10% across series.</a:t>
            </a:r>
          </a:p>
        </p:txBody>
      </p:sp>
      <p:sp>
        <p:nvSpPr>
          <p:cNvPr id="28" name="Rectangle 27"/>
          <p:cNvSpPr/>
          <p:nvPr/>
        </p:nvSpPr>
        <p:spPr>
          <a:xfrm>
            <a:off x="9560966" y="1773936"/>
            <a:ext cx="2070201" cy="233172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560966" y="1773936"/>
            <a:ext cx="2070201"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07270" y="1956816"/>
            <a:ext cx="1777593" cy="548640"/>
          </a:xfrm>
          <a:prstGeom prst="rect">
            <a:avLst/>
          </a:prstGeom>
          <a:noFill/>
        </p:spPr>
        <p:txBody>
          <a:bodyPr wrap="square" anchor="t" lIns="36576" rIns="36576" tIns="36576" bIns="36576">
            <a:spAutoFit/>
          </a:bodyPr>
          <a:lstStyle/>
          <a:p>
            <a:pPr algn="l"/>
            <a:r>
              <a:rPr sz="2000" b="1" i="0">
                <a:solidFill>
                  <a:srgbClr val="D97A0B"/>
                </a:solidFill>
                <a:latin typeface="Abadi"/>
              </a:rPr>
              <a:t>No RCTs</a:t>
            </a:r>
          </a:p>
        </p:txBody>
      </p:sp>
      <p:sp>
        <p:nvSpPr>
          <p:cNvPr id="31" name="TextBox 30"/>
          <p:cNvSpPr txBox="1"/>
          <p:nvPr/>
        </p:nvSpPr>
        <p:spPr>
          <a:xfrm>
            <a:off x="9707270" y="2551176"/>
            <a:ext cx="1777593" cy="1463039"/>
          </a:xfrm>
          <a:prstGeom prst="rect">
            <a:avLst/>
          </a:prstGeom>
          <a:noFill/>
        </p:spPr>
        <p:txBody>
          <a:bodyPr wrap="square" anchor="t" lIns="36576" rIns="36576" tIns="36576" bIns="36576">
            <a:spAutoFit/>
          </a:bodyPr>
          <a:lstStyle/>
          <a:p>
            <a:pPr algn="l"/>
            <a:r>
              <a:rPr sz="1100" b="0" i="0">
                <a:solidFill>
                  <a:srgbClr val="1A1A1A"/>
                </a:solidFill>
                <a:latin typeface="Abadi"/>
              </a:rPr>
              <a:t>Cochrane 2013: no randomised trial of fundoplication at gastrostomy.</a:t>
            </a:r>
          </a:p>
        </p:txBody>
      </p:sp>
      <p:sp>
        <p:nvSpPr>
          <p:cNvPr id="32" name="TextBox 31"/>
          <p:cNvSpPr txBox="1"/>
          <p:nvPr/>
        </p:nvSpPr>
        <p:spPr>
          <a:xfrm>
            <a:off x="548640" y="4297680"/>
            <a:ext cx="11082528" cy="1463040"/>
          </a:xfrm>
          <a:prstGeom prst="rect">
            <a:avLst/>
          </a:prstGeom>
          <a:noFill/>
        </p:spPr>
        <p:txBody>
          <a:bodyPr wrap="square" anchor="t" lIns="36576" rIns="36576" tIns="36576" bIns="36576">
            <a:spAutoFit/>
          </a:bodyPr>
          <a:lstStyle/>
          <a:p>
            <a:pPr algn="l"/>
            <a:r>
              <a:rPr sz="1250" b="1" i="0">
                <a:solidFill>
                  <a:srgbClr val="1B355E"/>
                </a:solidFill>
                <a:latin typeface="Abadi"/>
              </a:rPr>
              <a:t>Guideline.   </a:t>
            </a:r>
            <a:r>
              <a:rPr sz="1250" b="0" i="0">
                <a:solidFill>
                  <a:srgbClr val="1A1A1A"/>
                </a:solidFill>
                <a:latin typeface="Abadi"/>
              </a:rPr>
              <a:t>ESPGHAN 2017 recommends against routine antireflux surgery at the time of gastrostomy, a strong recommendation; about one child in ten needs a fundoplication later. Place the gastrostomy, treat reflux medically, and reassess with objective testing if symptoms persist.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anchor="ctr" lIns="0" rIns="0" tIns="0" bIns="0">
            <a:spAutoFit/>
          </a:bodyPr>
          <a:lstStyle/>
          <a:p>
            <a:pPr algn="ctr"/>
            <a:r>
              <a:rPr sz="1500" b="1" i="0">
                <a:solidFill>
                  <a:srgbClr val="FFFFFF"/>
                </a:solidFill>
                <a:latin typeface="Abadi"/>
              </a:rPr>
              <a:t>II</a:t>
            </a:r>
          </a:p>
        </p:txBody>
      </p:sp>
      <p:sp>
        <p:nvSpPr>
          <p:cNvPr id="4" name="TextBox 3"/>
          <p:cNvSpPr txBox="1"/>
          <p:nvPr/>
        </p:nvSpPr>
        <p:spPr>
          <a:xfrm>
            <a:off x="1380744" y="292608"/>
            <a:ext cx="10232136" cy="347472"/>
          </a:xfrm>
          <a:prstGeom prst="rect">
            <a:avLst/>
          </a:prstGeom>
          <a:noFill/>
        </p:spPr>
        <p:txBody>
          <a:bodyPr wrap="square" anchor="ctr" lIns="36576" rIns="36576" tIns="36576" bIns="36576">
            <a:spAutoFit/>
          </a:bodyPr>
          <a:lstStyle/>
          <a:p>
            <a:pPr algn="l"/>
            <a:r>
              <a:rPr sz="1200" b="1" i="0">
                <a:solidFill>
                  <a:srgbClr val="B22222"/>
                </a:solidFill>
                <a:latin typeface="Abadi"/>
              </a:rPr>
              <a:t>AFTER FUNDOPLICATION</a:t>
            </a:r>
          </a:p>
        </p:txBody>
      </p:sp>
      <p:sp>
        <p:nvSpPr>
          <p:cNvPr id="5" name="TextBox 4"/>
          <p:cNvSpPr txBox="1"/>
          <p:nvPr/>
        </p:nvSpPr>
        <p:spPr>
          <a:xfrm>
            <a:off x="548640" y="722376"/>
            <a:ext cx="11082528" cy="548640"/>
          </a:xfrm>
          <a:prstGeom prst="rect">
            <a:avLst/>
          </a:prstGeom>
          <a:noFill/>
        </p:spPr>
        <p:txBody>
          <a:bodyPr wrap="square" anchor="ctr" lIns="36576" rIns="36576" tIns="36576" bIns="36576">
            <a:spAutoFit/>
          </a:bodyPr>
          <a:lstStyle/>
          <a:p>
            <a:pPr algn="l"/>
            <a:r>
              <a:rPr sz="3000" b="1" i="0">
                <a:solidFill>
                  <a:srgbClr val="1B355E"/>
                </a:solidFill>
                <a:latin typeface="Abadi"/>
              </a:rPr>
              <a:t>WHAT THE WRAP CHANGES</a:t>
            </a:r>
          </a:p>
        </p:txBody>
      </p:sp>
      <p:sp>
        <p:nvSpPr>
          <p:cNvPr id="6" name="TextBox 5"/>
          <p:cNvSpPr txBox="1"/>
          <p:nvPr/>
        </p:nvSpPr>
        <p:spPr>
          <a:xfrm>
            <a:off x="548640" y="1307592"/>
            <a:ext cx="11082528" cy="265176"/>
          </a:xfrm>
          <a:prstGeom prst="rect">
            <a:avLst/>
          </a:prstGeom>
          <a:noFill/>
        </p:spPr>
        <p:txBody>
          <a:bodyPr wrap="square" anchor="t" lIns="36576" rIns="36576" tIns="36576" bIns="36576">
            <a:spAutoFit/>
          </a:bodyPr>
          <a:lstStyle/>
          <a:p>
            <a:pPr algn="l"/>
            <a:r>
              <a:rPr sz="1300" b="0" i="0">
                <a:solidFill>
                  <a:srgbClr val="555555"/>
                </a:solidFill>
                <a:latin typeface="Abadi"/>
              </a:rPr>
              <a:t>Hospital admissions after fundoplication in neurologically impaired children, 42 US hospitals; incidence rate ratio after versus before</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anchor="t" lIns="36576" rIns="36576" tIns="36576" bIns="36576">
            <a:spAutoFit/>
          </a:bodyPr>
          <a:lstStyle/>
          <a:p>
            <a:pPr algn="r"/>
            <a:r>
              <a:rPr sz="1200" b="0" i="0">
                <a:solidFill>
                  <a:srgbClr val="555555"/>
                </a:solidFill>
                <a:latin typeface="Abadi"/>
              </a:rPr>
              <a:t>7</a:t>
            </a:r>
          </a:p>
        </p:txBody>
      </p:sp>
      <p:sp>
        <p:nvSpPr>
          <p:cNvPr id="11" name="TextBox 10"/>
          <p:cNvSpPr txBox="1"/>
          <p:nvPr/>
        </p:nvSpPr>
        <p:spPr>
          <a:xfrm>
            <a:off x="548640" y="5971032"/>
            <a:ext cx="10287000" cy="457200"/>
          </a:xfrm>
          <a:prstGeom prst="rect">
            <a:avLst/>
          </a:prstGeom>
          <a:noFill/>
        </p:spPr>
        <p:txBody>
          <a:bodyPr wrap="square" anchor="t" lIns="36576" rIns="36576" tIns="36576" bIns="36576">
            <a:spAutoFit/>
          </a:bodyPr>
          <a:lstStyle/>
          <a:p>
            <a:pPr algn="l"/>
            <a:r>
              <a:rPr sz="1000" b="0" i="0">
                <a:solidFill>
                  <a:srgbClr val="7F7F7F"/>
                </a:solidFill>
                <a:latin typeface="Abadi"/>
              </a:rPr>
              <a:t>Srivastava R, Berry JG, Hall M, et al. BMJ 2009;339:b4411</a:t>
            </a:r>
          </a:p>
        </p:txBody>
      </p:sp>
      <p:sp>
        <p:nvSpPr>
          <p:cNvPr id="12" name="TextBox 11"/>
          <p:cNvSpPr txBox="1"/>
          <p:nvPr/>
        </p:nvSpPr>
        <p:spPr>
          <a:xfrm>
            <a:off x="548640" y="1920240"/>
            <a:ext cx="2834640" cy="502920"/>
          </a:xfrm>
          <a:prstGeom prst="rect">
            <a:avLst/>
          </a:prstGeom>
          <a:noFill/>
        </p:spPr>
        <p:txBody>
          <a:bodyPr wrap="square" anchor="ctr" lIns="36576" rIns="36576" tIns="36576" bIns="36576">
            <a:spAutoFit/>
          </a:bodyPr>
          <a:lstStyle/>
          <a:p>
            <a:pPr algn="l"/>
            <a:r>
              <a:rPr sz="1050" b="0" i="0">
                <a:solidFill>
                  <a:srgbClr val="1A1A1A"/>
                </a:solidFill>
                <a:latin typeface="Abadi"/>
              </a:rPr>
              <a:t>Mechanical ventilation</a:t>
            </a:r>
          </a:p>
        </p:txBody>
      </p:sp>
      <p:sp>
        <p:nvSpPr>
          <p:cNvPr id="13" name="Rectangle 12"/>
          <p:cNvSpPr/>
          <p:nvPr/>
        </p:nvSpPr>
        <p:spPr>
          <a:xfrm>
            <a:off x="3474720" y="2007108"/>
            <a:ext cx="877824" cy="3291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25696" y="1920240"/>
            <a:ext cx="1463040" cy="502920"/>
          </a:xfrm>
          <a:prstGeom prst="rect">
            <a:avLst/>
          </a:prstGeom>
          <a:noFill/>
        </p:spPr>
        <p:txBody>
          <a:bodyPr wrap="square" anchor="ctr" lIns="36576" rIns="36576" tIns="36576" bIns="36576">
            <a:spAutoFit/>
          </a:bodyPr>
          <a:lstStyle/>
          <a:p>
            <a:pPr algn="l"/>
            <a:r>
              <a:rPr sz="1050" b="1" i="0">
                <a:solidFill>
                  <a:srgbClr val="1A1A1A"/>
                </a:solidFill>
                <a:latin typeface="Abadi"/>
              </a:rPr>
              <a:t>0.40</a:t>
            </a:r>
          </a:p>
        </p:txBody>
      </p:sp>
      <p:sp>
        <p:nvSpPr>
          <p:cNvPr id="15" name="TextBox 14"/>
          <p:cNvSpPr txBox="1"/>
          <p:nvPr/>
        </p:nvSpPr>
        <p:spPr>
          <a:xfrm>
            <a:off x="548640" y="2423160"/>
            <a:ext cx="2834640" cy="502920"/>
          </a:xfrm>
          <a:prstGeom prst="rect">
            <a:avLst/>
          </a:prstGeom>
          <a:noFill/>
        </p:spPr>
        <p:txBody>
          <a:bodyPr wrap="square" anchor="ctr" lIns="36576" rIns="36576" tIns="36576" bIns="36576">
            <a:spAutoFit/>
          </a:bodyPr>
          <a:lstStyle/>
          <a:p>
            <a:pPr algn="l"/>
            <a:r>
              <a:rPr sz="1050" b="0" i="0">
                <a:solidFill>
                  <a:srgbClr val="1A1A1A"/>
                </a:solidFill>
                <a:latin typeface="Abadi"/>
              </a:rPr>
              <a:t>Reflux-related admission</a:t>
            </a:r>
          </a:p>
        </p:txBody>
      </p:sp>
      <p:sp>
        <p:nvSpPr>
          <p:cNvPr id="16" name="Rectangle 15"/>
          <p:cNvSpPr/>
          <p:nvPr/>
        </p:nvSpPr>
        <p:spPr>
          <a:xfrm>
            <a:off x="3474720" y="2510028"/>
            <a:ext cx="1514246" cy="3291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62118" y="2423160"/>
            <a:ext cx="1463040" cy="502920"/>
          </a:xfrm>
          <a:prstGeom prst="rect">
            <a:avLst/>
          </a:prstGeom>
          <a:noFill/>
        </p:spPr>
        <p:txBody>
          <a:bodyPr wrap="square" anchor="ctr" lIns="36576" rIns="36576" tIns="36576" bIns="36576">
            <a:spAutoFit/>
          </a:bodyPr>
          <a:lstStyle/>
          <a:p>
            <a:pPr algn="l"/>
            <a:r>
              <a:rPr sz="1050" b="1" i="0">
                <a:solidFill>
                  <a:srgbClr val="1A1A1A"/>
                </a:solidFill>
                <a:latin typeface="Abadi"/>
              </a:rPr>
              <a:t>0.69</a:t>
            </a:r>
          </a:p>
        </p:txBody>
      </p:sp>
      <p:sp>
        <p:nvSpPr>
          <p:cNvPr id="18" name="TextBox 17"/>
          <p:cNvSpPr txBox="1"/>
          <p:nvPr/>
        </p:nvSpPr>
        <p:spPr>
          <a:xfrm>
            <a:off x="548640" y="2926080"/>
            <a:ext cx="2834640" cy="502920"/>
          </a:xfrm>
          <a:prstGeom prst="rect">
            <a:avLst/>
          </a:prstGeom>
          <a:noFill/>
        </p:spPr>
        <p:txBody>
          <a:bodyPr wrap="square" anchor="ctr" lIns="36576" rIns="36576" tIns="36576" bIns="36576">
            <a:spAutoFit/>
          </a:bodyPr>
          <a:lstStyle/>
          <a:p>
            <a:pPr algn="l"/>
            <a:r>
              <a:rPr sz="1050" b="0" i="0">
                <a:solidFill>
                  <a:srgbClr val="1A1A1A"/>
                </a:solidFill>
                <a:latin typeface="Abadi"/>
              </a:rPr>
              <a:t>Aspiration pneumonia</a:t>
            </a:r>
          </a:p>
        </p:txBody>
      </p:sp>
      <p:sp>
        <p:nvSpPr>
          <p:cNvPr id="19" name="Rectangle 18"/>
          <p:cNvSpPr/>
          <p:nvPr/>
        </p:nvSpPr>
        <p:spPr>
          <a:xfrm>
            <a:off x="3474720" y="3012948"/>
            <a:ext cx="1558137" cy="3291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106009" y="2926080"/>
            <a:ext cx="1463040" cy="502920"/>
          </a:xfrm>
          <a:prstGeom prst="rect">
            <a:avLst/>
          </a:prstGeom>
          <a:noFill/>
        </p:spPr>
        <p:txBody>
          <a:bodyPr wrap="square" anchor="ctr" lIns="36576" rIns="36576" tIns="36576" bIns="36576">
            <a:spAutoFit/>
          </a:bodyPr>
          <a:lstStyle/>
          <a:p>
            <a:pPr algn="l"/>
            <a:r>
              <a:rPr sz="1050" b="1" i="0">
                <a:solidFill>
                  <a:srgbClr val="1A1A1A"/>
                </a:solidFill>
                <a:latin typeface="Abadi"/>
              </a:rPr>
              <a:t>0.71</a:t>
            </a:r>
          </a:p>
        </p:txBody>
      </p:sp>
      <p:sp>
        <p:nvSpPr>
          <p:cNvPr id="21" name="TextBox 20"/>
          <p:cNvSpPr txBox="1"/>
          <p:nvPr/>
        </p:nvSpPr>
        <p:spPr>
          <a:xfrm>
            <a:off x="548640" y="3429000"/>
            <a:ext cx="2834640" cy="502920"/>
          </a:xfrm>
          <a:prstGeom prst="rect">
            <a:avLst/>
          </a:prstGeom>
          <a:noFill/>
        </p:spPr>
        <p:txBody>
          <a:bodyPr wrap="square" anchor="ctr" lIns="36576" rIns="36576" tIns="36576" bIns="36576">
            <a:spAutoFit/>
          </a:bodyPr>
          <a:lstStyle/>
          <a:p>
            <a:pPr algn="l"/>
            <a:r>
              <a:rPr sz="1050" b="0" i="0">
                <a:solidFill>
                  <a:srgbClr val="1A1A1A"/>
                </a:solidFill>
                <a:latin typeface="Abadi"/>
              </a:rPr>
              <a:t>Pneumonia, all</a:t>
            </a:r>
          </a:p>
        </p:txBody>
      </p:sp>
      <p:sp>
        <p:nvSpPr>
          <p:cNvPr id="22" name="Rectangle 21"/>
          <p:cNvSpPr/>
          <p:nvPr/>
        </p:nvSpPr>
        <p:spPr>
          <a:xfrm>
            <a:off x="3474720" y="3515868"/>
            <a:ext cx="2348179" cy="3291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96051" y="3429000"/>
            <a:ext cx="1463040" cy="502920"/>
          </a:xfrm>
          <a:prstGeom prst="rect">
            <a:avLst/>
          </a:prstGeom>
          <a:noFill/>
        </p:spPr>
        <p:txBody>
          <a:bodyPr wrap="square" anchor="ctr" lIns="36576" rIns="36576" tIns="36576" bIns="36576">
            <a:spAutoFit/>
          </a:bodyPr>
          <a:lstStyle/>
          <a:p>
            <a:pPr algn="l"/>
            <a:r>
              <a:rPr sz="1050" b="1" i="0">
                <a:solidFill>
                  <a:srgbClr val="1A1A1A"/>
                </a:solidFill>
                <a:latin typeface="Abadi"/>
              </a:rPr>
              <a:t>1.07</a:t>
            </a:r>
          </a:p>
        </p:txBody>
      </p:sp>
      <p:sp>
        <p:nvSpPr>
          <p:cNvPr id="24" name="TextBox 23"/>
          <p:cNvSpPr txBox="1"/>
          <p:nvPr/>
        </p:nvSpPr>
        <p:spPr>
          <a:xfrm>
            <a:off x="548640" y="3931920"/>
            <a:ext cx="2834640" cy="502920"/>
          </a:xfrm>
          <a:prstGeom prst="rect">
            <a:avLst/>
          </a:prstGeom>
          <a:noFill/>
        </p:spPr>
        <p:txBody>
          <a:bodyPr wrap="square" anchor="ctr" lIns="36576" rIns="36576" tIns="36576" bIns="36576">
            <a:spAutoFit/>
          </a:bodyPr>
          <a:lstStyle/>
          <a:p>
            <a:pPr algn="l"/>
            <a:r>
              <a:rPr sz="1050" b="0" i="0">
                <a:solidFill>
                  <a:srgbClr val="1A1A1A"/>
                </a:solidFill>
                <a:latin typeface="Abadi"/>
              </a:rPr>
              <a:t>Asthma</a:t>
            </a:r>
          </a:p>
        </p:txBody>
      </p:sp>
      <p:sp>
        <p:nvSpPr>
          <p:cNvPr id="25" name="Rectangle 24"/>
          <p:cNvSpPr/>
          <p:nvPr/>
        </p:nvSpPr>
        <p:spPr>
          <a:xfrm>
            <a:off x="3474720" y="4018788"/>
            <a:ext cx="3335731" cy="3291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83603" y="3931920"/>
            <a:ext cx="1463040" cy="502920"/>
          </a:xfrm>
          <a:prstGeom prst="rect">
            <a:avLst/>
          </a:prstGeom>
          <a:noFill/>
        </p:spPr>
        <p:txBody>
          <a:bodyPr wrap="square" anchor="ctr" lIns="36576" rIns="36576" tIns="36576" bIns="36576">
            <a:spAutoFit/>
          </a:bodyPr>
          <a:lstStyle/>
          <a:p>
            <a:pPr algn="l"/>
            <a:r>
              <a:rPr sz="1050" b="1" i="0">
                <a:solidFill>
                  <a:srgbClr val="1A1A1A"/>
                </a:solidFill>
                <a:latin typeface="Abadi"/>
              </a:rPr>
              <a:t>1.52</a:t>
            </a:r>
          </a:p>
        </p:txBody>
      </p:sp>
      <p:sp>
        <p:nvSpPr>
          <p:cNvPr id="27" name="TextBox 26"/>
          <p:cNvSpPr txBox="1"/>
          <p:nvPr/>
        </p:nvSpPr>
        <p:spPr>
          <a:xfrm>
            <a:off x="548640" y="4480559"/>
            <a:ext cx="7863840" cy="274320"/>
          </a:xfrm>
          <a:prstGeom prst="rect">
            <a:avLst/>
          </a:prstGeom>
          <a:noFill/>
        </p:spPr>
        <p:txBody>
          <a:bodyPr wrap="square" anchor="t" lIns="36576" rIns="36576" tIns="36576" bIns="36576">
            <a:spAutoFit/>
          </a:bodyPr>
          <a:lstStyle/>
          <a:p>
            <a:pPr algn="l"/>
            <a:r>
              <a:rPr sz="950" b="0" i="0">
                <a:solidFill>
                  <a:srgbClr val="7F7F7F"/>
                </a:solidFill>
                <a:latin typeface="Abadi"/>
              </a:rPr>
              <a:t>Bars: ratio of admission rates after vs before surgery; 1.0 means no change. Uncontrolled before–after design.</a:t>
            </a:r>
          </a:p>
        </p:txBody>
      </p:sp>
      <p:sp>
        <p:nvSpPr>
          <p:cNvPr id="28" name="TextBox 27"/>
          <p:cNvSpPr txBox="1"/>
          <p:nvPr/>
        </p:nvSpPr>
        <p:spPr>
          <a:xfrm>
            <a:off x="8778240" y="1783080"/>
            <a:ext cx="2834640" cy="3931920"/>
          </a:xfrm>
          <a:prstGeom prst="rect">
            <a:avLst/>
          </a:prstGeom>
          <a:noFill/>
        </p:spPr>
        <p:txBody>
          <a:bodyPr wrap="square" anchor="t" lIns="36576" rIns="36576" tIns="36576" bIns="36576">
            <a:spAutoFit/>
          </a:bodyPr>
          <a:lstStyle/>
          <a:p>
            <a:pPr algn="l">
              <a:spcAft>
                <a:spcPts val="300"/>
              </a:spcAft>
            </a:pPr>
            <a:r>
              <a:rPr sz="1500" b="1" i="0">
                <a:solidFill>
                  <a:srgbClr val="1B355E"/>
                </a:solidFill>
                <a:latin typeface="Abadi"/>
              </a:rPr>
              <a:t>Reading</a:t>
            </a:r>
          </a:p>
          <a:p>
            <a:pPr algn="l">
              <a:spcAft>
                <a:spcPts val="300"/>
              </a:spcAft>
            </a:pPr>
            <a:r>
              <a:rPr sz="1050" b="0" i="0">
                <a:solidFill>
                  <a:srgbClr val="1A1A1A"/>
                </a:solidFill>
                <a:latin typeface="Abadi"/>
              </a:rPr>
              <a:t>Some admissions fell, overall pneumonia did not, asthma admissions rose.</a:t>
            </a:r>
          </a:p>
          <a:p>
            <a:pPr algn="l">
              <a:spcAft>
                <a:spcPts val="300"/>
              </a:spcAft>
            </a:pPr>
            <a:r>
              <a:rPr sz="1500" b="1" i="0">
                <a:solidFill>
                  <a:srgbClr val="1B355E"/>
                </a:solidFill>
                <a:latin typeface="Abadi"/>
              </a:rPr>
              <a:t>GJ feeding</a:t>
            </a:r>
          </a:p>
          <a:p>
            <a:pPr algn="l">
              <a:spcAft>
                <a:spcPts val="300"/>
              </a:spcAft>
            </a:pPr>
            <a:r>
              <a:rPr sz="1050" b="0" i="0">
                <a:solidFill>
                  <a:srgbClr val="1A1A1A"/>
                </a:solidFill>
                <a:latin typeface="Abadi"/>
              </a:rPr>
              <a:t>In a 2009 Pediatrics cohort (323 fundoplication, 43 gastrojejunal tubes) neither option was clearly superior.</a:t>
            </a:r>
          </a:p>
          <a:p>
            <a:pPr algn="l">
              <a:spcAft>
                <a:spcPts val="300"/>
              </a:spcAft>
            </a:pPr>
            <a:r>
              <a:rPr sz="1500" b="1" i="0">
                <a:solidFill>
                  <a:srgbClr val="1B355E"/>
                </a:solidFill>
                <a:latin typeface="Abadi"/>
              </a:rPr>
              <a:t>TOGD</a:t>
            </a:r>
          </a:p>
          <a:p>
            <a:pPr algn="l">
              <a:spcAft>
                <a:spcPts val="300"/>
              </a:spcAft>
            </a:pPr>
            <a:r>
              <a:rPr sz="1050" b="0" i="0">
                <a:solidFill>
                  <a:srgbClr val="1A1A1A"/>
                </a:solidFill>
                <a:latin typeface="Abadi"/>
              </a:rPr>
              <a:t>Total oesophagogastric dissociation: reserve for very selected children.</a:t>
            </a:r>
          </a:p>
        </p:txBody>
      </p:sp>
      <p:sp>
        <p:nvSpPr>
          <p:cNvPr id="29" name="TextBox 28"/>
          <p:cNvSpPr txBox="1"/>
          <p:nvPr/>
        </p:nvSpPr>
        <p:spPr>
          <a:xfrm>
            <a:off x="548640" y="4818888"/>
            <a:ext cx="7955279" cy="640080"/>
          </a:xfrm>
          <a:prstGeom prst="rect">
            <a:avLst/>
          </a:prstGeom>
          <a:noFill/>
        </p:spPr>
        <p:txBody>
          <a:bodyPr wrap="square" anchor="t" lIns="36576" rIns="36576" tIns="36576" bIns="36576">
            <a:spAutoFit/>
          </a:bodyPr>
          <a:lstStyle/>
          <a:p>
            <a:pPr algn="l"/>
            <a:r>
              <a:rPr sz="1200" b="1" i="0">
                <a:solidFill>
                  <a:srgbClr val="1B355E"/>
                </a:solidFill>
                <a:latin typeface="Abadi"/>
              </a:rPr>
              <a:t>Read it as.   </a:t>
            </a:r>
            <a:r>
              <a:rPr sz="1200" b="0" i="0">
                <a:solidFill>
                  <a:srgbClr val="1A1A1A"/>
                </a:solidFill>
                <a:latin typeface="Abadi"/>
              </a:rPr>
              <a:t>The wrap reduces some reflux-related events; it does not abolish respiratory admissions, because saliva and dysphagia remain.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anchor="ctr" lIns="0" rIns="0" tIns="0" bIns="0">
            <a:spAutoFit/>
          </a:bodyPr>
          <a:lstStyle/>
          <a:p>
            <a:pPr algn="ctr"/>
            <a:r>
              <a:rPr sz="1500" b="1" i="0">
                <a:solidFill>
                  <a:srgbClr val="FFFFFF"/>
                </a:solidFill>
                <a:latin typeface="Abadi"/>
              </a:rPr>
              <a:t>II</a:t>
            </a:r>
          </a:p>
        </p:txBody>
      </p:sp>
      <p:sp>
        <p:nvSpPr>
          <p:cNvPr id="4" name="TextBox 3"/>
          <p:cNvSpPr txBox="1"/>
          <p:nvPr/>
        </p:nvSpPr>
        <p:spPr>
          <a:xfrm>
            <a:off x="1380744" y="292608"/>
            <a:ext cx="10232136" cy="347472"/>
          </a:xfrm>
          <a:prstGeom prst="rect">
            <a:avLst/>
          </a:prstGeom>
          <a:noFill/>
        </p:spPr>
        <p:txBody>
          <a:bodyPr wrap="square" anchor="ctr" lIns="36576" rIns="36576" tIns="36576" bIns="36576">
            <a:spAutoFit/>
          </a:bodyPr>
          <a:lstStyle/>
          <a:p>
            <a:pPr algn="l"/>
            <a:r>
              <a:rPr sz="1200" b="1" i="0">
                <a:solidFill>
                  <a:srgbClr val="B22222"/>
                </a:solidFill>
                <a:latin typeface="Abadi"/>
              </a:rPr>
              <a:t>CHOOSING THE ROUTE</a:t>
            </a:r>
          </a:p>
        </p:txBody>
      </p:sp>
      <p:sp>
        <p:nvSpPr>
          <p:cNvPr id="5" name="TextBox 4"/>
          <p:cNvSpPr txBox="1"/>
          <p:nvPr/>
        </p:nvSpPr>
        <p:spPr>
          <a:xfrm>
            <a:off x="548640" y="722376"/>
            <a:ext cx="11082528" cy="548640"/>
          </a:xfrm>
          <a:prstGeom prst="rect">
            <a:avLst/>
          </a:prstGeom>
          <a:noFill/>
        </p:spPr>
        <p:txBody>
          <a:bodyPr wrap="square" anchor="ctr" lIns="36576" rIns="36576" tIns="36576" bIns="36576">
            <a:spAutoFit/>
          </a:bodyPr>
          <a:lstStyle/>
          <a:p>
            <a:pPr algn="l"/>
            <a:r>
              <a:rPr sz="3000" b="1" i="0">
                <a:solidFill>
                  <a:srgbClr val="1B355E"/>
                </a:solidFill>
                <a:latin typeface="Abadi"/>
              </a:rPr>
              <a:t>WRAP, JEJUNAL FEEDING OR DISSOCIATION</a:t>
            </a:r>
          </a:p>
        </p:txBody>
      </p:sp>
      <p:sp>
        <p:nvSpPr>
          <p:cNvPr id="6" name="TextBox 5"/>
          <p:cNvSpPr txBox="1"/>
          <p:nvPr/>
        </p:nvSpPr>
        <p:spPr>
          <a:xfrm>
            <a:off x="548640" y="1307592"/>
            <a:ext cx="11082528" cy="265176"/>
          </a:xfrm>
          <a:prstGeom prst="rect">
            <a:avLst/>
          </a:prstGeom>
          <a:noFill/>
        </p:spPr>
        <p:txBody>
          <a:bodyPr wrap="square" anchor="t" lIns="36576" rIns="36576" tIns="36576" bIns="36576">
            <a:spAutoFit/>
          </a:bodyPr>
          <a:lstStyle/>
          <a:p>
            <a:pPr algn="l"/>
            <a:r>
              <a:rPr sz="1300" b="0" i="0">
                <a:solidFill>
                  <a:srgbClr val="555555"/>
                </a:solidFill>
                <a:latin typeface="Abadi"/>
              </a:rPr>
              <a:t>Meta-analysis of comparative studies in neurologically impaired children, %</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anchor="t" lIns="36576" rIns="36576" tIns="36576" bIns="36576">
            <a:spAutoFit/>
          </a:bodyPr>
          <a:lstStyle/>
          <a:p>
            <a:pPr algn="r"/>
            <a:r>
              <a:rPr sz="1200" b="0" i="0">
                <a:solidFill>
                  <a:srgbClr val="555555"/>
                </a:solidFill>
                <a:latin typeface="Abadi"/>
              </a:rPr>
              <a:t>8</a:t>
            </a:r>
          </a:p>
        </p:txBody>
      </p:sp>
      <p:sp>
        <p:nvSpPr>
          <p:cNvPr id="11" name="TextBox 10"/>
          <p:cNvSpPr txBox="1"/>
          <p:nvPr/>
        </p:nvSpPr>
        <p:spPr>
          <a:xfrm>
            <a:off x="548640" y="5971032"/>
            <a:ext cx="10287000" cy="457200"/>
          </a:xfrm>
          <a:prstGeom prst="rect">
            <a:avLst/>
          </a:prstGeom>
          <a:noFill/>
        </p:spPr>
        <p:txBody>
          <a:bodyPr wrap="square" anchor="t" lIns="36576" rIns="36576" tIns="36576" bIns="36576">
            <a:spAutoFit/>
          </a:bodyPr>
          <a:lstStyle/>
          <a:p>
            <a:pPr algn="l"/>
            <a:r>
              <a:rPr sz="1000" b="0" i="0">
                <a:solidFill>
                  <a:srgbClr val="7F7F7F"/>
                </a:solidFill>
                <a:latin typeface="Abadi"/>
              </a:rPr>
              <a:t>Lauriti G, et al. Pediatr Surg Int 2018;34:1139–49 · Romano 2017 · Rosen 2018</a:t>
            </a:r>
          </a:p>
        </p:txBody>
      </p:sp>
      <p:graphicFrame>
        <p:nvGraphicFramePr>
          <p:cNvPr id="12" name="Table 11"/>
          <p:cNvGraphicFramePr>
            <a:graphicFrameLocks noGrp="1"/>
          </p:cNvGraphicFramePr>
          <p:nvPr/>
        </p:nvGraphicFramePr>
        <p:xfrm>
          <a:off x="548640" y="1783080"/>
          <a:ext cx="11082528" cy="3017520"/>
        </p:xfrm>
        <a:graphic>
          <a:graphicData uri="http://schemas.openxmlformats.org/drawingml/2006/table">
            <a:tbl>
              <a:tblPr firstRow="0" bandRow="0">
                <a:tableStyleId>{5C22544A-7EE6-4342-B048-85BDC9FD1C3A}</a:tableStyleId>
              </a:tblPr>
              <a:tblGrid>
                <a:gridCol w="3200400"/>
                <a:gridCol w="2011680"/>
                <a:gridCol w="2926080"/>
                <a:gridCol w="2944368"/>
              </a:tblGrid>
              <a:tr h="502920">
                <a:tc>
                  <a:txBody>
                    <a:bodyPr wrap="square"/>
                    <a:lstStyle/>
                    <a:p>
                      <a:r>
                        <a:rPr sz="1050" b="1">
                          <a:solidFill>
                            <a:srgbClr val="FFFFFF"/>
                          </a:solidFill>
                          <a:latin typeface="Abadi"/>
                        </a:rPr>
                        <a:t>Comparison</a:t>
                      </a:r>
                    </a:p>
                  </a:txBody>
                  <a:tcPr marL="73152" marR="73152" marT="27432" marB="27432" anchor="ctr">
                    <a:solidFill>
                      <a:srgbClr val="1B355E"/>
                    </a:solidFill>
                  </a:tcPr>
                </a:tc>
                <a:tc>
                  <a:txBody>
                    <a:bodyPr wrap="square"/>
                    <a:lstStyle/>
                    <a:p>
                      <a:r>
                        <a:rPr sz="1050" b="1">
                          <a:solidFill>
                            <a:srgbClr val="FFFFFF"/>
                          </a:solidFill>
                          <a:latin typeface="Abadi"/>
                        </a:rPr>
                        <a:t>Outcome</a:t>
                      </a:r>
                    </a:p>
                  </a:txBody>
                  <a:tcPr marL="73152" marR="73152" marT="27432" marB="27432" anchor="ctr">
                    <a:solidFill>
                      <a:srgbClr val="1B355E"/>
                    </a:solidFill>
                  </a:tcPr>
                </a:tc>
                <a:tc>
                  <a:txBody>
                    <a:bodyPr wrap="square"/>
                    <a:lstStyle/>
                    <a:p>
                      <a:r>
                        <a:rPr sz="1050" b="1">
                          <a:solidFill>
                            <a:srgbClr val="FFFFFF"/>
                          </a:solidFill>
                          <a:latin typeface="Abadi"/>
                        </a:rPr>
                        <a:t>Result</a:t>
                      </a:r>
                    </a:p>
                  </a:txBody>
                  <a:tcPr marL="73152" marR="73152" marT="27432" marB="27432" anchor="ctr">
                    <a:solidFill>
                      <a:srgbClr val="1B355E"/>
                    </a:solidFill>
                  </a:tcPr>
                </a:tc>
                <a:tc>
                  <a:txBody>
                    <a:bodyPr wrap="square"/>
                    <a:lstStyle/>
                    <a:p>
                      <a:r>
                        <a:rPr sz="1050" b="1">
                          <a:solidFill>
                            <a:srgbClr val="FFFFFF"/>
                          </a:solidFill>
                          <a:latin typeface="Abadi"/>
                        </a:rPr>
                        <a:t>Meaning</a:t>
                      </a:r>
                    </a:p>
                  </a:txBody>
                  <a:tcPr marL="73152" marR="73152" marT="27432" marB="27432" anchor="ctr">
                    <a:solidFill>
                      <a:srgbClr val="1B355E"/>
                    </a:solidFill>
                  </a:tcPr>
                </a:tc>
              </a:tr>
              <a:tr h="502920">
                <a:tc>
                  <a:txBody>
                    <a:bodyPr wrap="square"/>
                    <a:lstStyle/>
                    <a:p>
                      <a:r>
                        <a:rPr sz="1050" b="1">
                          <a:solidFill>
                            <a:srgbClr val="1A1A1A"/>
                          </a:solidFill>
                          <a:latin typeface="Abadi"/>
                        </a:rPr>
                        <a:t>Fundoplication vs gastrojejunal feeding</a:t>
                      </a:r>
                    </a:p>
                  </a:txBody>
                  <a:tcPr marL="73152" marR="73152" marT="27432" marB="27432" anchor="ctr">
                    <a:solidFill>
                      <a:srgbClr val="FFFFFF"/>
                    </a:solidFill>
                  </a:tcPr>
                </a:tc>
                <a:tc>
                  <a:txBody>
                    <a:bodyPr wrap="square"/>
                    <a:lstStyle/>
                    <a:p>
                      <a:r>
                        <a:rPr sz="1050" b="0">
                          <a:solidFill>
                            <a:srgbClr val="1A1A1A"/>
                          </a:solidFill>
                          <a:latin typeface="Abadi"/>
                        </a:rPr>
                        <a:t>Recurrent reflux</a:t>
                      </a:r>
                    </a:p>
                  </a:txBody>
                  <a:tcPr marL="73152" marR="73152" marT="27432" marB="27432" anchor="ctr">
                    <a:solidFill>
                      <a:srgbClr val="FFFFFF"/>
                    </a:solidFill>
                  </a:tcPr>
                </a:tc>
                <a:tc>
                  <a:txBody>
                    <a:bodyPr wrap="square"/>
                    <a:lstStyle/>
                    <a:p>
                      <a:r>
                        <a:rPr sz="1050" b="0">
                          <a:solidFill>
                            <a:srgbClr val="1A1A1A"/>
                          </a:solidFill>
                          <a:latin typeface="Abadi"/>
                        </a:rPr>
                        <a:t>35.2% vs 30.5%, not different</a:t>
                      </a:r>
                    </a:p>
                  </a:txBody>
                  <a:tcPr marL="73152" marR="73152" marT="27432" marB="27432" anchor="ctr">
                    <a:solidFill>
                      <a:srgbClr val="FFFFFF"/>
                    </a:solidFill>
                  </a:tcPr>
                </a:tc>
                <a:tc>
                  <a:txBody>
                    <a:bodyPr wrap="square"/>
                    <a:lstStyle/>
                    <a:p>
                      <a:r>
                        <a:rPr sz="1050" b="0">
                          <a:solidFill>
                            <a:srgbClr val="1A1A1A"/>
                          </a:solidFill>
                          <a:latin typeface="Abadi"/>
                        </a:rPr>
                        <a:t>Neither stops reflux events</a:t>
                      </a:r>
                    </a:p>
                  </a:txBody>
                  <a:tcPr marL="73152" marR="73152" marT="27432" marB="27432" anchor="ctr">
                    <a:solidFill>
                      <a:srgbClr val="FFFFFF"/>
                    </a:solidFill>
                  </a:tcPr>
                </a:tc>
              </a:tr>
              <a:tr h="502920">
                <a:tc>
                  <a:txBody>
                    <a:bodyPr wrap="square"/>
                    <a:lstStyle/>
                    <a:p>
                      <a:r>
                        <a:rPr sz="1050" b="1">
                          <a:solidFill>
                            <a:srgbClr val="1A1A1A"/>
                          </a:solidFill>
                          <a:latin typeface="Abadi"/>
                        </a:rPr>
                        <a:t>Fundoplication vs gastrojejunal feeding</a:t>
                      </a:r>
                    </a:p>
                  </a:txBody>
                  <a:tcPr marL="73152" marR="73152" marT="27432" marB="27432" anchor="ctr">
                    <a:solidFill>
                      <a:srgbClr val="F2F4F7"/>
                    </a:solidFill>
                  </a:tcPr>
                </a:tc>
                <a:tc>
                  <a:txBody>
                    <a:bodyPr wrap="square"/>
                    <a:lstStyle/>
                    <a:p>
                      <a:r>
                        <a:rPr sz="1050" b="0">
                          <a:solidFill>
                            <a:srgbClr val="1A1A1A"/>
                          </a:solidFill>
                          <a:latin typeface="Abadi"/>
                        </a:rPr>
                        <a:t>Complications</a:t>
                      </a:r>
                    </a:p>
                  </a:txBody>
                  <a:tcPr marL="73152" marR="73152" marT="27432" marB="27432" anchor="ctr">
                    <a:solidFill>
                      <a:srgbClr val="F2F4F7"/>
                    </a:solidFill>
                  </a:tcPr>
                </a:tc>
                <a:tc>
                  <a:txBody>
                    <a:bodyPr wrap="square"/>
                    <a:lstStyle/>
                    <a:p>
                      <a:r>
                        <a:rPr sz="1050" b="0">
                          <a:solidFill>
                            <a:srgbClr val="1A1A1A"/>
                          </a:solidFill>
                          <a:latin typeface="Abadi"/>
                        </a:rPr>
                        <a:t>51.8% vs 32.9%, RR 1.58</a:t>
                      </a:r>
                    </a:p>
                  </a:txBody>
                  <a:tcPr marL="73152" marR="73152" marT="27432" marB="27432" anchor="ctr">
                    <a:solidFill>
                      <a:srgbClr val="F2F4F7"/>
                    </a:solidFill>
                  </a:tcPr>
                </a:tc>
                <a:tc>
                  <a:txBody>
                    <a:bodyPr wrap="square"/>
                    <a:lstStyle/>
                    <a:p>
                      <a:r>
                        <a:rPr sz="1050" b="0">
                          <a:solidFill>
                            <a:srgbClr val="1A1A1A"/>
                          </a:solidFill>
                          <a:latin typeface="Abadi"/>
                        </a:rPr>
                        <a:t>Wrap has more complications</a:t>
                      </a:r>
                    </a:p>
                  </a:txBody>
                  <a:tcPr marL="73152" marR="73152" marT="27432" marB="27432" anchor="ctr">
                    <a:solidFill>
                      <a:srgbClr val="F2F4F7"/>
                    </a:solidFill>
                  </a:tcPr>
                </a:tc>
              </a:tr>
              <a:tr h="502920">
                <a:tc>
                  <a:txBody>
                    <a:bodyPr wrap="square"/>
                    <a:lstStyle/>
                    <a:p>
                      <a:r>
                        <a:rPr sz="1050" b="1">
                          <a:solidFill>
                            <a:srgbClr val="1A1A1A"/>
                          </a:solidFill>
                          <a:latin typeface="Abadi"/>
                        </a:rPr>
                        <a:t>Fundoplication vs gastrojejunal feeding</a:t>
                      </a:r>
                    </a:p>
                  </a:txBody>
                  <a:tcPr marL="73152" marR="73152" marT="27432" marB="27432" anchor="ctr">
                    <a:solidFill>
                      <a:srgbClr val="FFFFFF"/>
                    </a:solidFill>
                  </a:tcPr>
                </a:tc>
                <a:tc>
                  <a:txBody>
                    <a:bodyPr wrap="square"/>
                    <a:lstStyle/>
                    <a:p>
                      <a:r>
                        <a:rPr sz="1050" b="0">
                          <a:solidFill>
                            <a:srgbClr val="1A1A1A"/>
                          </a:solidFill>
                          <a:latin typeface="Abadi"/>
                        </a:rPr>
                        <a:t>Pneumonia</a:t>
                      </a:r>
                    </a:p>
                  </a:txBody>
                  <a:tcPr marL="73152" marR="73152" marT="27432" marB="27432" anchor="ctr">
                    <a:solidFill>
                      <a:srgbClr val="FFFFFF"/>
                    </a:solidFill>
                  </a:tcPr>
                </a:tc>
                <a:tc>
                  <a:txBody>
                    <a:bodyPr wrap="square"/>
                    <a:lstStyle/>
                    <a:p>
                      <a:r>
                        <a:rPr sz="1050" b="0">
                          <a:solidFill>
                            <a:srgbClr val="1A1A1A"/>
                          </a:solidFill>
                          <a:latin typeface="Abadi"/>
                        </a:rPr>
                        <a:t>16.9% vs 21.6%, not different</a:t>
                      </a:r>
                    </a:p>
                  </a:txBody>
                  <a:tcPr marL="73152" marR="73152" marT="27432" marB="27432" anchor="ctr">
                    <a:solidFill>
                      <a:srgbClr val="FFFFFF"/>
                    </a:solidFill>
                  </a:tcPr>
                </a:tc>
                <a:tc>
                  <a:txBody>
                    <a:bodyPr wrap="square"/>
                    <a:lstStyle/>
                    <a:p>
                      <a:r>
                        <a:rPr sz="1050" b="0">
                          <a:solidFill>
                            <a:srgbClr val="1A1A1A"/>
                          </a:solidFill>
                          <a:latin typeface="Abadi"/>
                        </a:rPr>
                        <a:t>Similar lung outcome</a:t>
                      </a:r>
                    </a:p>
                  </a:txBody>
                  <a:tcPr marL="73152" marR="73152" marT="27432" marB="27432" anchor="ctr">
                    <a:solidFill>
                      <a:srgbClr val="FFFFFF"/>
                    </a:solidFill>
                  </a:tcPr>
                </a:tc>
              </a:tr>
              <a:tr h="502920">
                <a:tc>
                  <a:txBody>
                    <a:bodyPr wrap="square"/>
                    <a:lstStyle/>
                    <a:p>
                      <a:r>
                        <a:rPr sz="1050" b="1">
                          <a:solidFill>
                            <a:srgbClr val="1A1A1A"/>
                          </a:solidFill>
                          <a:latin typeface="Abadi"/>
                        </a:rPr>
                        <a:t>Fundoplication vs dissociation</a:t>
                      </a:r>
                    </a:p>
                  </a:txBody>
                  <a:tcPr marL="73152" marR="73152" marT="27432" marB="27432" anchor="ctr">
                    <a:solidFill>
                      <a:srgbClr val="F2F4F7"/>
                    </a:solidFill>
                  </a:tcPr>
                </a:tc>
                <a:tc>
                  <a:txBody>
                    <a:bodyPr wrap="square"/>
                    <a:lstStyle/>
                    <a:p>
                      <a:r>
                        <a:rPr sz="1050" b="0">
                          <a:solidFill>
                            <a:srgbClr val="1A1A1A"/>
                          </a:solidFill>
                          <a:latin typeface="Abadi"/>
                        </a:rPr>
                        <a:t>Recurrent vomiting</a:t>
                      </a:r>
                    </a:p>
                  </a:txBody>
                  <a:tcPr marL="73152" marR="73152" marT="27432" marB="27432" anchor="ctr">
                    <a:solidFill>
                      <a:srgbClr val="F2F4F7"/>
                    </a:solidFill>
                  </a:tcPr>
                </a:tc>
                <a:tc>
                  <a:txBody>
                    <a:bodyPr wrap="square"/>
                    <a:lstStyle/>
                    <a:p>
                      <a:r>
                        <a:rPr sz="1050" b="0">
                          <a:solidFill>
                            <a:srgbClr val="1A1A1A"/>
                          </a:solidFill>
                          <a:latin typeface="Abadi"/>
                        </a:rPr>
                        <a:t>24.8% vs 1.4%, RR 7.4</a:t>
                      </a:r>
                    </a:p>
                  </a:txBody>
                  <a:tcPr marL="73152" marR="73152" marT="27432" marB="27432" anchor="ctr">
                    <a:solidFill>
                      <a:srgbClr val="F2F4F7"/>
                    </a:solidFill>
                  </a:tcPr>
                </a:tc>
                <a:tc>
                  <a:txBody>
                    <a:bodyPr wrap="square"/>
                    <a:lstStyle/>
                    <a:p>
                      <a:r>
                        <a:rPr sz="1050" b="0">
                          <a:solidFill>
                            <a:srgbClr val="1A1A1A"/>
                          </a:solidFill>
                          <a:latin typeface="Abadi"/>
                        </a:rPr>
                        <a:t>Dissociation is definitive but major</a:t>
                      </a:r>
                    </a:p>
                  </a:txBody>
                  <a:tcPr marL="73152" marR="73152" marT="27432" marB="27432" anchor="ctr">
                    <a:solidFill>
                      <a:srgbClr val="F2F4F7"/>
                    </a:solidFill>
                  </a:tcPr>
                </a:tc>
              </a:tr>
              <a:tr h="502920">
                <a:tc>
                  <a:txBody>
                    <a:bodyPr wrap="square"/>
                    <a:lstStyle/>
                    <a:p>
                      <a:r>
                        <a:rPr sz="1050" b="1">
                          <a:solidFill>
                            <a:srgbClr val="1A1A1A"/>
                          </a:solidFill>
                          <a:latin typeface="Abadi"/>
                        </a:rPr>
                        <a:t>Gastrojejunal tube</a:t>
                      </a:r>
                    </a:p>
                  </a:txBody>
                  <a:tcPr marL="73152" marR="73152" marT="27432" marB="27432" anchor="ctr">
                    <a:solidFill>
                      <a:srgbClr val="FFFFFF"/>
                    </a:solidFill>
                  </a:tcPr>
                </a:tc>
                <a:tc>
                  <a:txBody>
                    <a:bodyPr wrap="square"/>
                    <a:lstStyle/>
                    <a:p>
                      <a:r>
                        <a:rPr sz="1050" b="0">
                          <a:solidFill>
                            <a:srgbClr val="1A1A1A"/>
                          </a:solidFill>
                          <a:latin typeface="Abadi"/>
                        </a:rPr>
                        <a:t>Durability</a:t>
                      </a:r>
                    </a:p>
                  </a:txBody>
                  <a:tcPr marL="73152" marR="73152" marT="27432" marB="27432" anchor="ctr">
                    <a:solidFill>
                      <a:srgbClr val="FFFFFF"/>
                    </a:solidFill>
                  </a:tcPr>
                </a:tc>
                <a:tc>
                  <a:txBody>
                    <a:bodyPr wrap="square"/>
                    <a:lstStyle/>
                    <a:p>
                      <a:r>
                        <a:rPr sz="1050" b="0">
                          <a:solidFill>
                            <a:srgbClr val="1A1A1A"/>
                          </a:solidFill>
                          <a:latin typeface="Abadi"/>
                        </a:rPr>
                        <a:t>Mean function about 39 days</a:t>
                      </a:r>
                    </a:p>
                  </a:txBody>
                  <a:tcPr marL="73152" marR="73152" marT="27432" marB="27432" anchor="ctr">
                    <a:solidFill>
                      <a:srgbClr val="FFFFFF"/>
                    </a:solidFill>
                  </a:tcPr>
                </a:tc>
                <a:tc>
                  <a:txBody>
                    <a:bodyPr wrap="square"/>
                    <a:lstStyle/>
                    <a:p>
                      <a:r>
                        <a:rPr sz="1050" b="0">
                          <a:solidFill>
                            <a:srgbClr val="1A1A1A"/>
                          </a:solidFill>
                          <a:latin typeface="Abadi"/>
                        </a:rPr>
                        <a:t>Migrates; needs radiology</a:t>
                      </a:r>
                    </a:p>
                  </a:txBody>
                  <a:tcPr marL="73152" marR="73152" marT="27432" marB="27432" anchor="ctr">
                    <a:solidFill>
                      <a:srgbClr val="FFFFFF"/>
                    </a:solidFill>
                  </a:tcPr>
                </a:tc>
              </a:tr>
            </a:tbl>
          </a:graphicData>
        </a:graphic>
      </p:graphicFrame>
      <p:sp>
        <p:nvSpPr>
          <p:cNvPr id="13" name="TextBox 12"/>
          <p:cNvSpPr txBox="1"/>
          <p:nvPr/>
        </p:nvSpPr>
        <p:spPr>
          <a:xfrm>
            <a:off x="548640" y="5029200"/>
            <a:ext cx="11082528" cy="777240"/>
          </a:xfrm>
          <a:prstGeom prst="rect">
            <a:avLst/>
          </a:prstGeom>
          <a:noFill/>
        </p:spPr>
        <p:txBody>
          <a:bodyPr wrap="square" anchor="t" lIns="36576" rIns="36576" tIns="36576" bIns="36576">
            <a:spAutoFit/>
          </a:bodyPr>
          <a:lstStyle/>
          <a:p>
            <a:pPr algn="l"/>
            <a:r>
              <a:rPr sz="1250" b="1" i="0">
                <a:solidFill>
                  <a:srgbClr val="1B355E"/>
                </a:solidFill>
                <a:latin typeface="Abadi"/>
              </a:rPr>
              <a:t>Practical point.   </a:t>
            </a:r>
            <a:r>
              <a:rPr sz="1250" b="0" i="0">
                <a:solidFill>
                  <a:srgbClr val="1A1A1A"/>
                </a:solidFill>
                <a:latin typeface="Abadi"/>
              </a:rPr>
              <a:t>Both guidelines accept jejunal feeding as an alternative to fundoplication. Choose by what the family can live with: a wrap needs one operation and may fail; a gastrojejunal tube avoids surgery but needs frequent replacement.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anchor="ctr" lIns="0" rIns="0" tIns="0" bIns="0">
            <a:spAutoFit/>
          </a:bodyPr>
          <a:lstStyle/>
          <a:p>
            <a:pPr algn="ctr"/>
            <a:r>
              <a:rPr sz="1500" b="1" i="0">
                <a:solidFill>
                  <a:srgbClr val="FFFFFF"/>
                </a:solidFill>
                <a:latin typeface="Abadi"/>
              </a:rPr>
              <a:t>III</a:t>
            </a:r>
          </a:p>
        </p:txBody>
      </p:sp>
      <p:sp>
        <p:nvSpPr>
          <p:cNvPr id="4" name="TextBox 3"/>
          <p:cNvSpPr txBox="1"/>
          <p:nvPr/>
        </p:nvSpPr>
        <p:spPr>
          <a:xfrm>
            <a:off x="1380744" y="292608"/>
            <a:ext cx="10232136" cy="347472"/>
          </a:xfrm>
          <a:prstGeom prst="rect">
            <a:avLst/>
          </a:prstGeom>
          <a:noFill/>
        </p:spPr>
        <p:txBody>
          <a:bodyPr wrap="square" anchor="ctr" lIns="36576" rIns="36576" tIns="36576" bIns="36576">
            <a:spAutoFit/>
          </a:bodyPr>
          <a:lstStyle/>
          <a:p>
            <a:pPr algn="l"/>
            <a:r>
              <a:rPr sz="1200" b="1" i="0">
                <a:solidFill>
                  <a:srgbClr val="B22222"/>
                </a:solidFill>
                <a:latin typeface="Abadi"/>
              </a:rPr>
              <a:t>OESOPHAGEAL ATRESIA</a:t>
            </a:r>
          </a:p>
        </p:txBody>
      </p:sp>
      <p:sp>
        <p:nvSpPr>
          <p:cNvPr id="5" name="TextBox 4"/>
          <p:cNvSpPr txBox="1"/>
          <p:nvPr/>
        </p:nvSpPr>
        <p:spPr>
          <a:xfrm>
            <a:off x="548640" y="722376"/>
            <a:ext cx="11082528" cy="548640"/>
          </a:xfrm>
          <a:prstGeom prst="rect">
            <a:avLst/>
          </a:prstGeom>
          <a:noFill/>
        </p:spPr>
        <p:txBody>
          <a:bodyPr wrap="square" anchor="ctr" lIns="36576" rIns="36576" tIns="36576" bIns="36576">
            <a:spAutoFit/>
          </a:bodyPr>
          <a:lstStyle/>
          <a:p>
            <a:pPr algn="l"/>
            <a:r>
              <a:rPr sz="3000" b="1" i="0">
                <a:solidFill>
                  <a:srgbClr val="1B355E"/>
                </a:solidFill>
                <a:latin typeface="Abadi"/>
              </a:rPr>
              <a:t>REFLUX BY DEFAULT</a:t>
            </a:r>
          </a:p>
        </p:txBody>
      </p:sp>
      <p:sp>
        <p:nvSpPr>
          <p:cNvPr id="6" name="TextBox 5"/>
          <p:cNvSpPr txBox="1"/>
          <p:nvPr/>
        </p:nvSpPr>
        <p:spPr>
          <a:xfrm>
            <a:off x="548640" y="1307592"/>
            <a:ext cx="11082528" cy="265176"/>
          </a:xfrm>
          <a:prstGeom prst="rect">
            <a:avLst/>
          </a:prstGeom>
          <a:noFill/>
        </p:spPr>
        <p:txBody>
          <a:bodyPr wrap="square" anchor="t" lIns="36576" rIns="36576" tIns="36576" bIns="36576">
            <a:spAutoFit/>
          </a:bodyPr>
          <a:lstStyle/>
          <a:p>
            <a:pPr algn="l"/>
            <a:r>
              <a:rPr sz="1300" b="0" i="0">
                <a:solidFill>
                  <a:srgbClr val="555555"/>
                </a:solidFill>
                <a:latin typeface="Abadi"/>
              </a:rPr>
              <a:t>ESPGHAN-NASPGHAN 2016 guideline on gastrointestinal complications of oesophageal atresia</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anchor="t" lIns="36576" rIns="36576" tIns="36576" bIns="36576">
            <a:spAutoFit/>
          </a:bodyPr>
          <a:lstStyle/>
          <a:p>
            <a:pPr algn="r"/>
            <a:r>
              <a:rPr sz="1200" b="0" i="0">
                <a:solidFill>
                  <a:srgbClr val="555555"/>
                </a:solidFill>
                <a:latin typeface="Abadi"/>
              </a:rPr>
              <a:t>9</a:t>
            </a:r>
          </a:p>
        </p:txBody>
      </p:sp>
      <p:sp>
        <p:nvSpPr>
          <p:cNvPr id="11" name="TextBox 10"/>
          <p:cNvSpPr txBox="1"/>
          <p:nvPr/>
        </p:nvSpPr>
        <p:spPr>
          <a:xfrm>
            <a:off x="548640" y="5971032"/>
            <a:ext cx="10287000" cy="457200"/>
          </a:xfrm>
          <a:prstGeom prst="rect">
            <a:avLst/>
          </a:prstGeom>
          <a:noFill/>
        </p:spPr>
        <p:txBody>
          <a:bodyPr wrap="square" anchor="t" lIns="36576" rIns="36576" tIns="36576" bIns="36576">
            <a:spAutoFit/>
          </a:bodyPr>
          <a:lstStyle/>
          <a:p>
            <a:pPr algn="l"/>
            <a:r>
              <a:rPr sz="1000" b="0" i="0">
                <a:solidFill>
                  <a:srgbClr val="7F7F7F"/>
                </a:solidFill>
                <a:latin typeface="Abadi"/>
              </a:rPr>
              <a:t>Krishnan U, Mousa H, Dall'Oglio L, et al. JPGN 2016;63:550–70 · Fatemi Abhari SM, et al. Pediatr Surg Int 2025;41:246</a:t>
            </a:r>
          </a:p>
        </p:txBody>
      </p:sp>
      <p:sp>
        <p:nvSpPr>
          <p:cNvPr id="12" name="Rectangle 11"/>
          <p:cNvSpPr/>
          <p:nvPr/>
        </p:nvSpPr>
        <p:spPr>
          <a:xfrm>
            <a:off x="548640" y="1773936"/>
            <a:ext cx="1982419" cy="41148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 y="1773936"/>
            <a:ext cx="1836115" cy="411480"/>
          </a:xfrm>
          <a:prstGeom prst="rect">
            <a:avLst/>
          </a:prstGeom>
          <a:noFill/>
        </p:spPr>
        <p:txBody>
          <a:bodyPr wrap="square" anchor="ctr" lIns="36576" rIns="36576" tIns="36576" bIns="36576">
            <a:spAutoFit/>
          </a:bodyPr>
          <a:lstStyle/>
          <a:p>
            <a:pPr algn="l"/>
            <a:r>
              <a:rPr sz="1150" b="1" i="0">
                <a:solidFill>
                  <a:srgbClr val="FFFFFF"/>
                </a:solidFill>
                <a:latin typeface="Abadi"/>
              </a:rPr>
              <a:t>PPI in year 1</a:t>
            </a:r>
          </a:p>
        </p:txBody>
      </p:sp>
      <p:sp>
        <p:nvSpPr>
          <p:cNvPr id="14" name="Rectangle 13"/>
          <p:cNvSpPr/>
          <p:nvPr/>
        </p:nvSpPr>
        <p:spPr>
          <a:xfrm>
            <a:off x="548640" y="2185416"/>
            <a:ext cx="1982419" cy="1691639"/>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2276856"/>
            <a:ext cx="1799539" cy="1554480"/>
          </a:xfrm>
          <a:prstGeom prst="rect">
            <a:avLst/>
          </a:prstGeom>
          <a:noFill/>
        </p:spPr>
        <p:txBody>
          <a:bodyPr wrap="square" anchor="t" lIns="36576" rIns="36576" tIns="36576" bIns="36576">
            <a:spAutoFit/>
          </a:bodyPr>
          <a:lstStyle/>
          <a:p>
            <a:pPr algn="l"/>
            <a:r>
              <a:rPr sz="1100" b="0" i="0">
                <a:solidFill>
                  <a:srgbClr val="1A1A1A"/>
                </a:solidFill>
                <a:latin typeface="Abadi"/>
              </a:rPr>
              <a:t>From the neonatal period up to one year or longer if reflux persists (low evidence).</a:t>
            </a:r>
          </a:p>
        </p:txBody>
      </p:sp>
      <p:sp>
        <p:nvSpPr>
          <p:cNvPr id="16" name="TextBox 15"/>
          <p:cNvSpPr txBox="1"/>
          <p:nvPr/>
        </p:nvSpPr>
        <p:spPr>
          <a:xfrm>
            <a:off x="2531059" y="2642615"/>
            <a:ext cx="292608" cy="365760"/>
          </a:xfrm>
          <a:prstGeom prst="rect">
            <a:avLst/>
          </a:prstGeom>
          <a:noFill/>
        </p:spPr>
        <p:txBody>
          <a:bodyPr wrap="square" anchor="ctr" lIns="0" rIns="0" tIns="0" bIns="0">
            <a:spAutoFit/>
          </a:bodyPr>
          <a:lstStyle/>
          <a:p>
            <a:pPr algn="ctr"/>
            <a:r>
              <a:rPr sz="1200" b="0" i="0">
                <a:solidFill>
                  <a:srgbClr val="8A939B"/>
                </a:solidFill>
                <a:latin typeface="Abadi"/>
              </a:rPr>
              <a:t>▶</a:t>
            </a:r>
          </a:p>
        </p:txBody>
      </p:sp>
      <p:sp>
        <p:nvSpPr>
          <p:cNvPr id="17" name="Rectangle 16"/>
          <p:cNvSpPr/>
          <p:nvPr/>
        </p:nvSpPr>
        <p:spPr>
          <a:xfrm>
            <a:off x="2823667" y="1773936"/>
            <a:ext cx="1982419" cy="411480"/>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896819" y="1773936"/>
            <a:ext cx="1836115" cy="411480"/>
          </a:xfrm>
          <a:prstGeom prst="rect">
            <a:avLst/>
          </a:prstGeom>
          <a:noFill/>
        </p:spPr>
        <p:txBody>
          <a:bodyPr wrap="square" anchor="ctr" lIns="36576" rIns="36576" tIns="36576" bIns="36576">
            <a:spAutoFit/>
          </a:bodyPr>
          <a:lstStyle/>
          <a:p>
            <a:pPr algn="l"/>
            <a:r>
              <a:rPr sz="1150" b="1" i="0">
                <a:solidFill>
                  <a:srgbClr val="FFFFFF"/>
                </a:solidFill>
                <a:latin typeface="Abadi"/>
              </a:rPr>
              <a:t>Endoscopy</a:t>
            </a:r>
          </a:p>
        </p:txBody>
      </p:sp>
      <p:sp>
        <p:nvSpPr>
          <p:cNvPr id="19" name="Rectangle 18"/>
          <p:cNvSpPr/>
          <p:nvPr/>
        </p:nvSpPr>
        <p:spPr>
          <a:xfrm>
            <a:off x="2823667" y="2185416"/>
            <a:ext cx="1982419" cy="1691639"/>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915107" y="2276856"/>
            <a:ext cx="1799539" cy="1554480"/>
          </a:xfrm>
          <a:prstGeom prst="rect">
            <a:avLst/>
          </a:prstGeom>
          <a:noFill/>
        </p:spPr>
        <p:txBody>
          <a:bodyPr wrap="square" anchor="t" lIns="36576" rIns="36576" tIns="36576" bIns="36576">
            <a:spAutoFit/>
          </a:bodyPr>
          <a:lstStyle/>
          <a:p>
            <a:pPr algn="l"/>
            <a:r>
              <a:rPr sz="1100" b="0" i="0">
                <a:solidFill>
                  <a:srgbClr val="1A1A1A"/>
                </a:solidFill>
                <a:latin typeface="Abadi"/>
              </a:rPr>
              <a:t>Mandatory for monitoring, with biopsies (high evidence); pH-impedance in selected children.</a:t>
            </a:r>
          </a:p>
        </p:txBody>
      </p:sp>
      <p:sp>
        <p:nvSpPr>
          <p:cNvPr id="21" name="TextBox 20"/>
          <p:cNvSpPr txBox="1"/>
          <p:nvPr/>
        </p:nvSpPr>
        <p:spPr>
          <a:xfrm>
            <a:off x="4806086" y="2642615"/>
            <a:ext cx="292608" cy="365760"/>
          </a:xfrm>
          <a:prstGeom prst="rect">
            <a:avLst/>
          </a:prstGeom>
          <a:noFill/>
        </p:spPr>
        <p:txBody>
          <a:bodyPr wrap="square" anchor="ctr" lIns="0" rIns="0" tIns="0" bIns="0">
            <a:spAutoFit/>
          </a:bodyPr>
          <a:lstStyle/>
          <a:p>
            <a:pPr algn="ctr"/>
            <a:r>
              <a:rPr sz="1200" b="0" i="0">
                <a:solidFill>
                  <a:srgbClr val="8A939B"/>
                </a:solidFill>
                <a:latin typeface="Abadi"/>
              </a:rPr>
              <a:t>▶</a:t>
            </a:r>
          </a:p>
        </p:txBody>
      </p:sp>
      <p:sp>
        <p:nvSpPr>
          <p:cNvPr id="22" name="Rectangle 21"/>
          <p:cNvSpPr/>
          <p:nvPr/>
        </p:nvSpPr>
        <p:spPr>
          <a:xfrm>
            <a:off x="5098694" y="1773936"/>
            <a:ext cx="1982419" cy="411480"/>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171846" y="1773936"/>
            <a:ext cx="1836115" cy="411480"/>
          </a:xfrm>
          <a:prstGeom prst="rect">
            <a:avLst/>
          </a:prstGeom>
          <a:noFill/>
        </p:spPr>
        <p:txBody>
          <a:bodyPr wrap="square" anchor="ctr" lIns="36576" rIns="36576" tIns="36576" bIns="36576">
            <a:spAutoFit/>
          </a:bodyPr>
          <a:lstStyle/>
          <a:p>
            <a:pPr algn="l"/>
            <a:r>
              <a:rPr sz="1150" b="1" i="0">
                <a:solidFill>
                  <a:srgbClr val="FFFFFF"/>
                </a:solidFill>
                <a:latin typeface="Abadi"/>
              </a:rPr>
              <a:t>Schedule</a:t>
            </a:r>
          </a:p>
        </p:txBody>
      </p:sp>
      <p:sp>
        <p:nvSpPr>
          <p:cNvPr id="24" name="Rectangle 23"/>
          <p:cNvSpPr/>
          <p:nvPr/>
        </p:nvSpPr>
        <p:spPr>
          <a:xfrm>
            <a:off x="5098694" y="2185416"/>
            <a:ext cx="1982419" cy="1691639"/>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190134" y="2276856"/>
            <a:ext cx="1799539" cy="1554480"/>
          </a:xfrm>
          <a:prstGeom prst="rect">
            <a:avLst/>
          </a:prstGeom>
          <a:noFill/>
        </p:spPr>
        <p:txBody>
          <a:bodyPr wrap="square" anchor="t" lIns="36576" rIns="36576" tIns="36576" bIns="36576">
            <a:spAutoFit/>
          </a:bodyPr>
          <a:lstStyle/>
          <a:p>
            <a:pPr algn="l"/>
            <a:r>
              <a:rPr sz="1100" b="0" i="0">
                <a:solidFill>
                  <a:srgbClr val="1A1A1A"/>
                </a:solidFill>
                <a:latin typeface="Abadi"/>
              </a:rPr>
              <a:t>After stopping PPI, before age 10 and at transition to adult care (low evidence).</a:t>
            </a:r>
          </a:p>
        </p:txBody>
      </p:sp>
      <p:sp>
        <p:nvSpPr>
          <p:cNvPr id="26" name="TextBox 25"/>
          <p:cNvSpPr txBox="1"/>
          <p:nvPr/>
        </p:nvSpPr>
        <p:spPr>
          <a:xfrm>
            <a:off x="7081113" y="2642615"/>
            <a:ext cx="292608" cy="365760"/>
          </a:xfrm>
          <a:prstGeom prst="rect">
            <a:avLst/>
          </a:prstGeom>
          <a:noFill/>
        </p:spPr>
        <p:txBody>
          <a:bodyPr wrap="square" anchor="ctr" lIns="0" rIns="0" tIns="0" bIns="0">
            <a:spAutoFit/>
          </a:bodyPr>
          <a:lstStyle/>
          <a:p>
            <a:pPr algn="ctr"/>
            <a:r>
              <a:rPr sz="1200" b="0" i="0">
                <a:solidFill>
                  <a:srgbClr val="8A939B"/>
                </a:solidFill>
                <a:latin typeface="Abadi"/>
              </a:rPr>
              <a:t>▶</a:t>
            </a:r>
          </a:p>
        </p:txBody>
      </p:sp>
      <p:sp>
        <p:nvSpPr>
          <p:cNvPr id="27" name="Rectangle 26"/>
          <p:cNvSpPr/>
          <p:nvPr/>
        </p:nvSpPr>
        <p:spPr>
          <a:xfrm>
            <a:off x="7373721" y="1773936"/>
            <a:ext cx="1982419" cy="411480"/>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46873" y="1773936"/>
            <a:ext cx="1836115" cy="411480"/>
          </a:xfrm>
          <a:prstGeom prst="rect">
            <a:avLst/>
          </a:prstGeom>
          <a:noFill/>
        </p:spPr>
        <p:txBody>
          <a:bodyPr wrap="square" anchor="ctr" lIns="36576" rIns="36576" tIns="36576" bIns="36576">
            <a:spAutoFit/>
          </a:bodyPr>
          <a:lstStyle/>
          <a:p>
            <a:pPr algn="l"/>
            <a:r>
              <a:rPr sz="1150" b="1" i="0">
                <a:solidFill>
                  <a:srgbClr val="FFFFFF"/>
                </a:solidFill>
                <a:latin typeface="Abadi"/>
              </a:rPr>
              <a:t>Surgery</a:t>
            </a:r>
          </a:p>
        </p:txBody>
      </p:sp>
      <p:sp>
        <p:nvSpPr>
          <p:cNvPr id="29" name="Rectangle 28"/>
          <p:cNvSpPr/>
          <p:nvPr/>
        </p:nvSpPr>
        <p:spPr>
          <a:xfrm>
            <a:off x="7373721" y="2185416"/>
            <a:ext cx="1982419" cy="1691639"/>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65161" y="2276856"/>
            <a:ext cx="1799539" cy="1554480"/>
          </a:xfrm>
          <a:prstGeom prst="rect">
            <a:avLst/>
          </a:prstGeom>
          <a:noFill/>
        </p:spPr>
        <p:txBody>
          <a:bodyPr wrap="square" anchor="t" lIns="36576" rIns="36576" tIns="36576" bIns="36576">
            <a:spAutoFit/>
          </a:bodyPr>
          <a:lstStyle/>
          <a:p>
            <a:pPr algn="l"/>
            <a:r>
              <a:rPr sz="1100" b="0" i="0">
                <a:solidFill>
                  <a:srgbClr val="1A1A1A"/>
                </a:solidFill>
                <a:latin typeface="Abadi"/>
              </a:rPr>
              <a:t>Fundoplication for recurrent strictures or reflux uncontrolled on maximal PPI (high evidence).</a:t>
            </a:r>
          </a:p>
        </p:txBody>
      </p:sp>
      <p:sp>
        <p:nvSpPr>
          <p:cNvPr id="31" name="TextBox 30"/>
          <p:cNvSpPr txBox="1"/>
          <p:nvPr/>
        </p:nvSpPr>
        <p:spPr>
          <a:xfrm>
            <a:off x="9356140" y="2642615"/>
            <a:ext cx="292608" cy="365760"/>
          </a:xfrm>
          <a:prstGeom prst="rect">
            <a:avLst/>
          </a:prstGeom>
          <a:noFill/>
        </p:spPr>
        <p:txBody>
          <a:bodyPr wrap="square" anchor="ctr" lIns="0" rIns="0" tIns="0" bIns="0">
            <a:spAutoFit/>
          </a:bodyPr>
          <a:lstStyle/>
          <a:p>
            <a:pPr algn="ctr"/>
            <a:r>
              <a:rPr sz="1200" b="0" i="0">
                <a:solidFill>
                  <a:srgbClr val="8A939B"/>
                </a:solidFill>
                <a:latin typeface="Abadi"/>
              </a:rPr>
              <a:t>▶</a:t>
            </a:r>
          </a:p>
        </p:txBody>
      </p:sp>
      <p:sp>
        <p:nvSpPr>
          <p:cNvPr id="32" name="Rectangle 31"/>
          <p:cNvSpPr/>
          <p:nvPr/>
        </p:nvSpPr>
        <p:spPr>
          <a:xfrm>
            <a:off x="9648748" y="1773936"/>
            <a:ext cx="1982419" cy="411480"/>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721900" y="1773936"/>
            <a:ext cx="1836115" cy="411480"/>
          </a:xfrm>
          <a:prstGeom prst="rect">
            <a:avLst/>
          </a:prstGeom>
          <a:noFill/>
        </p:spPr>
        <p:txBody>
          <a:bodyPr wrap="square" anchor="ctr" lIns="36576" rIns="36576" tIns="36576" bIns="36576">
            <a:spAutoFit/>
          </a:bodyPr>
          <a:lstStyle/>
          <a:p>
            <a:pPr algn="l"/>
            <a:r>
              <a:rPr sz="1150" b="1" i="0">
                <a:solidFill>
                  <a:srgbClr val="FFFFFF"/>
                </a:solidFill>
                <a:latin typeface="Abadi"/>
              </a:rPr>
              <a:t>Adults</a:t>
            </a:r>
          </a:p>
        </p:txBody>
      </p:sp>
      <p:sp>
        <p:nvSpPr>
          <p:cNvPr id="34" name="Rectangle 33"/>
          <p:cNvSpPr/>
          <p:nvPr/>
        </p:nvSpPr>
        <p:spPr>
          <a:xfrm>
            <a:off x="9648748" y="2185416"/>
            <a:ext cx="1982419" cy="1691639"/>
          </a:xfrm>
          <a:prstGeom prst="rect">
            <a:avLst/>
          </a:prstGeom>
          <a:solidFill>
            <a:srgbClr val="E7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740188" y="2276856"/>
            <a:ext cx="1799539" cy="1554480"/>
          </a:xfrm>
          <a:prstGeom prst="rect">
            <a:avLst/>
          </a:prstGeom>
          <a:noFill/>
        </p:spPr>
        <p:txBody>
          <a:bodyPr wrap="square" anchor="t" lIns="36576" rIns="36576" tIns="36576" bIns="36576">
            <a:spAutoFit/>
          </a:bodyPr>
          <a:lstStyle/>
          <a:p>
            <a:pPr algn="l"/>
            <a:r>
              <a:rPr sz="1100" b="0" i="0">
                <a:solidFill>
                  <a:srgbClr val="1A1A1A"/>
                </a:solidFill>
                <a:latin typeface="Abadi"/>
              </a:rPr>
              <a:t>Barrett oesophagus is more frequent; surveillance continues after transition.</a:t>
            </a:r>
          </a:p>
        </p:txBody>
      </p:sp>
      <p:sp>
        <p:nvSpPr>
          <p:cNvPr id="36" name="TextBox 35"/>
          <p:cNvSpPr txBox="1"/>
          <p:nvPr/>
        </p:nvSpPr>
        <p:spPr>
          <a:xfrm>
            <a:off x="548640" y="4069080"/>
            <a:ext cx="11082528" cy="1691640"/>
          </a:xfrm>
          <a:prstGeom prst="rect">
            <a:avLst/>
          </a:prstGeom>
          <a:noFill/>
        </p:spPr>
        <p:txBody>
          <a:bodyPr wrap="square" anchor="t" lIns="36576" rIns="36576" tIns="36576" bIns="36576">
            <a:spAutoFit/>
          </a:bodyPr>
          <a:lstStyle/>
          <a:p>
            <a:pPr algn="l"/>
            <a:r>
              <a:rPr sz="1250" b="1" i="0">
                <a:solidFill>
                  <a:srgbClr val="1B355E"/>
                </a:solidFill>
                <a:latin typeface="Abadi"/>
              </a:rPr>
              <a:t>Why it is different.   </a:t>
            </a:r>
            <a:r>
              <a:rPr sz="1250" b="0" i="0">
                <a:solidFill>
                  <a:srgbClr val="1A1A1A"/>
                </a:solidFill>
                <a:latin typeface="Abadi"/>
              </a:rPr>
              <a:t>Reflux follows 25–80% of repairs because the oesophagus itself is dysmotile and the repair shortens the intra-abdominal segment. Symptoms correlate poorly with mucosal injury, so the guideline relies on endoscopy rather than symptoms. Routine stricture screening or dilatation is not needed in a child without symptoms.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anchor="ctr" lIns="0" rIns="0" tIns="0" bIns="0">
            <a:spAutoFit/>
          </a:bodyPr>
          <a:lstStyle/>
          <a:p>
            <a:pPr algn="ctr"/>
            <a:r>
              <a:rPr sz="1500" b="1" i="0">
                <a:solidFill>
                  <a:srgbClr val="FFFFFF"/>
                </a:solidFill>
                <a:latin typeface="Abadi"/>
              </a:rPr>
              <a:t>III</a:t>
            </a:r>
          </a:p>
        </p:txBody>
      </p:sp>
      <p:sp>
        <p:nvSpPr>
          <p:cNvPr id="4" name="TextBox 3"/>
          <p:cNvSpPr txBox="1"/>
          <p:nvPr/>
        </p:nvSpPr>
        <p:spPr>
          <a:xfrm>
            <a:off x="1380744" y="292608"/>
            <a:ext cx="10232136" cy="347472"/>
          </a:xfrm>
          <a:prstGeom prst="rect">
            <a:avLst/>
          </a:prstGeom>
          <a:noFill/>
        </p:spPr>
        <p:txBody>
          <a:bodyPr wrap="square" anchor="ctr" lIns="36576" rIns="36576" tIns="36576" bIns="36576">
            <a:spAutoFit/>
          </a:bodyPr>
          <a:lstStyle/>
          <a:p>
            <a:pPr algn="l"/>
            <a:r>
              <a:rPr sz="1200" b="1" i="0">
                <a:solidFill>
                  <a:srgbClr val="B22222"/>
                </a:solidFill>
                <a:latin typeface="Abadi"/>
              </a:rPr>
              <a:t>ANASTOMOTIC STRICTURE</a:t>
            </a:r>
          </a:p>
        </p:txBody>
      </p:sp>
      <p:sp>
        <p:nvSpPr>
          <p:cNvPr id="5" name="TextBox 4"/>
          <p:cNvSpPr txBox="1"/>
          <p:nvPr/>
        </p:nvSpPr>
        <p:spPr>
          <a:xfrm>
            <a:off x="548640" y="722376"/>
            <a:ext cx="11082528" cy="548640"/>
          </a:xfrm>
          <a:prstGeom prst="rect">
            <a:avLst/>
          </a:prstGeom>
          <a:noFill/>
        </p:spPr>
        <p:txBody>
          <a:bodyPr wrap="square" anchor="ctr" lIns="36576" rIns="36576" tIns="36576" bIns="36576">
            <a:spAutoFit/>
          </a:bodyPr>
          <a:lstStyle/>
          <a:p>
            <a:pPr algn="l"/>
            <a:r>
              <a:rPr sz="3000" b="1" i="0">
                <a:solidFill>
                  <a:srgbClr val="1B355E"/>
                </a:solidFill>
                <a:latin typeface="Abadi"/>
              </a:rPr>
              <a:t>PROPHYLACTIC PPI DOES NOT PREVENT STRICTURES</a:t>
            </a:r>
          </a:p>
        </p:txBody>
      </p:sp>
      <p:sp>
        <p:nvSpPr>
          <p:cNvPr id="6" name="TextBox 5"/>
          <p:cNvSpPr txBox="1"/>
          <p:nvPr/>
        </p:nvSpPr>
        <p:spPr>
          <a:xfrm>
            <a:off x="548640" y="1307592"/>
            <a:ext cx="11082528" cy="265176"/>
          </a:xfrm>
          <a:prstGeom prst="rect">
            <a:avLst/>
          </a:prstGeom>
          <a:noFill/>
        </p:spPr>
        <p:txBody>
          <a:bodyPr wrap="square" anchor="t" lIns="36576" rIns="36576" tIns="36576" bIns="36576">
            <a:spAutoFit/>
          </a:bodyPr>
          <a:lstStyle/>
          <a:p>
            <a:pPr algn="l"/>
            <a:r>
              <a:rPr sz="1300" b="0" i="0">
                <a:solidFill>
                  <a:srgbClr val="555555"/>
                </a:solidFill>
                <a:latin typeface="Abadi"/>
              </a:rPr>
              <a:t>Pooled and prospective evidence on acid suppression after atresia repair</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anchor="t" lIns="36576" rIns="36576" tIns="36576" bIns="36576">
            <a:spAutoFit/>
          </a:bodyPr>
          <a:lstStyle/>
          <a:p>
            <a:pPr algn="r"/>
            <a:r>
              <a:rPr sz="1200" b="0" i="0">
                <a:solidFill>
                  <a:srgbClr val="555555"/>
                </a:solidFill>
                <a:latin typeface="Abadi"/>
              </a:rPr>
              <a:t>10</a:t>
            </a:r>
          </a:p>
        </p:txBody>
      </p:sp>
      <p:sp>
        <p:nvSpPr>
          <p:cNvPr id="11" name="TextBox 10"/>
          <p:cNvSpPr txBox="1"/>
          <p:nvPr/>
        </p:nvSpPr>
        <p:spPr>
          <a:xfrm>
            <a:off x="548640" y="5971032"/>
            <a:ext cx="10287000" cy="457200"/>
          </a:xfrm>
          <a:prstGeom prst="rect">
            <a:avLst/>
          </a:prstGeom>
          <a:noFill/>
        </p:spPr>
        <p:txBody>
          <a:bodyPr wrap="square" anchor="t" lIns="36576" rIns="36576" tIns="36576" bIns="36576">
            <a:spAutoFit/>
          </a:bodyPr>
          <a:lstStyle/>
          <a:p>
            <a:pPr algn="l"/>
            <a:r>
              <a:rPr sz="1000" b="0" i="0">
                <a:solidFill>
                  <a:srgbClr val="7F7F7F"/>
                </a:solidFill>
                <a:latin typeface="Abadi"/>
              </a:rPr>
              <a:t>Miyake H, et al. Pediatr Surg Int 2018;34:491–7 · Wyllie T, et al. J Pediatr Surg 2023;58:1954–62 · Bowder AN, et al. J Pediatr Surg 2022;57:975–80 · Dingemann C, et al. Eur J Pediatr Surg 2020;30:475–82 · ISRCTN96912679</a:t>
            </a:r>
          </a:p>
        </p:txBody>
      </p:sp>
      <p:sp>
        <p:nvSpPr>
          <p:cNvPr id="12" name="Rectangle 11"/>
          <p:cNvSpPr/>
          <p:nvPr/>
        </p:nvSpPr>
        <p:spPr>
          <a:xfrm>
            <a:off x="548640" y="1773936"/>
            <a:ext cx="2070201" cy="2331720"/>
          </a:xfrm>
          <a:prstGeom prst="rect">
            <a:avLst/>
          </a:prstGeom>
          <a:solidFill>
            <a:srgbClr val="E7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070201" cy="1005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1956816"/>
            <a:ext cx="1777593" cy="548640"/>
          </a:xfrm>
          <a:prstGeom prst="rect">
            <a:avLst/>
          </a:prstGeom>
          <a:noFill/>
        </p:spPr>
        <p:txBody>
          <a:bodyPr wrap="square" anchor="t" lIns="36576" rIns="36576" tIns="36576" bIns="36576">
            <a:spAutoFit/>
          </a:bodyPr>
          <a:lstStyle/>
          <a:p>
            <a:pPr algn="l"/>
            <a:r>
              <a:rPr sz="1700" b="1" i="0">
                <a:solidFill>
                  <a:srgbClr val="8A939B"/>
                </a:solidFill>
                <a:latin typeface="Abadi"/>
              </a:rPr>
              <a:t>OR 1.14</a:t>
            </a:r>
          </a:p>
        </p:txBody>
      </p:sp>
      <p:sp>
        <p:nvSpPr>
          <p:cNvPr id="15" name="TextBox 14"/>
          <p:cNvSpPr txBox="1"/>
          <p:nvPr/>
        </p:nvSpPr>
        <p:spPr>
          <a:xfrm>
            <a:off x="694944" y="2551176"/>
            <a:ext cx="1777593" cy="1463039"/>
          </a:xfrm>
          <a:prstGeom prst="rect">
            <a:avLst/>
          </a:prstGeom>
          <a:noFill/>
        </p:spPr>
        <p:txBody>
          <a:bodyPr wrap="square" anchor="t" lIns="36576" rIns="36576" tIns="36576" bIns="36576">
            <a:spAutoFit/>
          </a:bodyPr>
          <a:lstStyle/>
          <a:p>
            <a:pPr algn="l"/>
            <a:r>
              <a:rPr sz="1100" b="0" i="0">
                <a:solidFill>
                  <a:srgbClr val="1A1A1A"/>
                </a:solidFill>
                <a:latin typeface="Abadi"/>
              </a:rPr>
              <a:t>2018 meta-analysis: strictures 44.8% with vs 44.1% without prophylactic PPI; 95% CI 0.61 to 2.13.</a:t>
            </a:r>
          </a:p>
        </p:txBody>
      </p:sp>
      <p:sp>
        <p:nvSpPr>
          <p:cNvPr id="16" name="Rectangle 15"/>
          <p:cNvSpPr/>
          <p:nvPr/>
        </p:nvSpPr>
        <p:spPr>
          <a:xfrm>
            <a:off x="2801721" y="1773936"/>
            <a:ext cx="2070201" cy="233172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801721" y="1773936"/>
            <a:ext cx="2070201"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48025" y="1956816"/>
            <a:ext cx="1777593" cy="548640"/>
          </a:xfrm>
          <a:prstGeom prst="rect">
            <a:avLst/>
          </a:prstGeom>
          <a:noFill/>
        </p:spPr>
        <p:txBody>
          <a:bodyPr wrap="square" anchor="t" lIns="36576" rIns="36576" tIns="36576" bIns="36576">
            <a:spAutoFit/>
          </a:bodyPr>
          <a:lstStyle/>
          <a:p>
            <a:pPr algn="l"/>
            <a:r>
              <a:rPr sz="1700" b="1" i="0">
                <a:solidFill>
                  <a:srgbClr val="D97A0B"/>
                </a:solidFill>
                <a:latin typeface="Abadi"/>
              </a:rPr>
              <a:t>OR 1.33</a:t>
            </a:r>
          </a:p>
        </p:txBody>
      </p:sp>
      <p:sp>
        <p:nvSpPr>
          <p:cNvPr id="19" name="TextBox 18"/>
          <p:cNvSpPr txBox="1"/>
          <p:nvPr/>
        </p:nvSpPr>
        <p:spPr>
          <a:xfrm>
            <a:off x="2948025" y="2551176"/>
            <a:ext cx="1777593" cy="1463039"/>
          </a:xfrm>
          <a:prstGeom prst="rect">
            <a:avLst/>
          </a:prstGeom>
          <a:noFill/>
        </p:spPr>
        <p:txBody>
          <a:bodyPr wrap="square" anchor="t" lIns="36576" rIns="36576" tIns="36576" bIns="36576">
            <a:spAutoFit/>
          </a:bodyPr>
          <a:lstStyle/>
          <a:p>
            <a:pPr algn="l"/>
            <a:r>
              <a:rPr sz="1100" b="0" i="0">
                <a:solidFill>
                  <a:srgbClr val="1A1A1A"/>
                </a:solidFill>
                <a:latin typeface="Abadi"/>
              </a:rPr>
              <a:t>2023 meta-analysis, 12 observational studies, 1,395 infants; 95% CI 0.92 to 1.92.</a:t>
            </a:r>
          </a:p>
        </p:txBody>
      </p:sp>
      <p:sp>
        <p:nvSpPr>
          <p:cNvPr id="20" name="Rectangle 19"/>
          <p:cNvSpPr/>
          <p:nvPr/>
        </p:nvSpPr>
        <p:spPr>
          <a:xfrm>
            <a:off x="5054803" y="1773936"/>
            <a:ext cx="2070201" cy="233172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54803" y="1773936"/>
            <a:ext cx="2070201"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01107" y="1956816"/>
            <a:ext cx="1777593" cy="548640"/>
          </a:xfrm>
          <a:prstGeom prst="rect">
            <a:avLst/>
          </a:prstGeom>
          <a:noFill/>
        </p:spPr>
        <p:txBody>
          <a:bodyPr wrap="square" anchor="t" lIns="36576" rIns="36576" tIns="36576" bIns="36576">
            <a:spAutoFit/>
          </a:bodyPr>
          <a:lstStyle/>
          <a:p>
            <a:pPr algn="l"/>
            <a:r>
              <a:rPr sz="1700" b="1" i="0">
                <a:solidFill>
                  <a:srgbClr val="B22222"/>
                </a:solidFill>
                <a:latin typeface="Abadi"/>
              </a:rPr>
              <a:t>51%</a:t>
            </a:r>
          </a:p>
        </p:txBody>
      </p:sp>
      <p:sp>
        <p:nvSpPr>
          <p:cNvPr id="23" name="TextBox 22"/>
          <p:cNvSpPr txBox="1"/>
          <p:nvPr/>
        </p:nvSpPr>
        <p:spPr>
          <a:xfrm>
            <a:off x="5201107" y="2551176"/>
            <a:ext cx="1777593" cy="1463039"/>
          </a:xfrm>
          <a:prstGeom prst="rect">
            <a:avLst/>
          </a:prstGeom>
          <a:noFill/>
        </p:spPr>
        <p:txBody>
          <a:bodyPr wrap="square" anchor="t" lIns="36576" rIns="36576" tIns="36576" bIns="36576">
            <a:spAutoFit/>
          </a:bodyPr>
          <a:lstStyle/>
          <a:p>
            <a:pPr algn="l"/>
            <a:r>
              <a:rPr sz="1100" b="0" i="0">
                <a:solidFill>
                  <a:srgbClr val="1A1A1A"/>
                </a:solidFill>
                <a:latin typeface="Abadi"/>
              </a:rPr>
              <a:t>Midwest consortium, 156 infants: strictures despite acid suppression in 90%; duration not associated.</a:t>
            </a:r>
          </a:p>
        </p:txBody>
      </p:sp>
      <p:sp>
        <p:nvSpPr>
          <p:cNvPr id="24" name="Rectangle 23"/>
          <p:cNvSpPr/>
          <p:nvPr/>
        </p:nvSpPr>
        <p:spPr>
          <a:xfrm>
            <a:off x="7307884" y="1773936"/>
            <a:ext cx="2070201" cy="233172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07884" y="1773936"/>
            <a:ext cx="2070201" cy="1005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54188" y="1956816"/>
            <a:ext cx="1777593" cy="548640"/>
          </a:xfrm>
          <a:prstGeom prst="rect">
            <a:avLst/>
          </a:prstGeom>
          <a:noFill/>
        </p:spPr>
        <p:txBody>
          <a:bodyPr wrap="square" anchor="t" lIns="36576" rIns="36576" tIns="36576" bIns="36576">
            <a:spAutoFit/>
          </a:bodyPr>
          <a:lstStyle/>
          <a:p>
            <a:pPr algn="l"/>
            <a:r>
              <a:rPr sz="1700" b="1" i="0">
                <a:solidFill>
                  <a:srgbClr val="1B355E"/>
                </a:solidFill>
                <a:latin typeface="Abadi"/>
              </a:rPr>
              <a:t>66.7%</a:t>
            </a:r>
          </a:p>
        </p:txBody>
      </p:sp>
      <p:sp>
        <p:nvSpPr>
          <p:cNvPr id="27" name="TextBox 26"/>
          <p:cNvSpPr txBox="1"/>
          <p:nvPr/>
        </p:nvSpPr>
        <p:spPr>
          <a:xfrm>
            <a:off x="7454188" y="2551176"/>
            <a:ext cx="1777593" cy="1463039"/>
          </a:xfrm>
          <a:prstGeom prst="rect">
            <a:avLst/>
          </a:prstGeom>
          <a:noFill/>
        </p:spPr>
        <p:txBody>
          <a:bodyPr wrap="square" anchor="t" lIns="36576" rIns="36576" tIns="36576" bIns="36576">
            <a:spAutoFit/>
          </a:bodyPr>
          <a:lstStyle/>
          <a:p>
            <a:pPr algn="l"/>
            <a:r>
              <a:rPr sz="1100" b="0" i="0">
                <a:solidFill>
                  <a:srgbClr val="1A1A1A"/>
                </a:solidFill>
                <a:latin typeface="Abadi"/>
              </a:rPr>
              <a:t>ERNICA 2020: a fixed 12-month course failed to reach the 75% consensus threshold.</a:t>
            </a:r>
          </a:p>
        </p:txBody>
      </p:sp>
      <p:sp>
        <p:nvSpPr>
          <p:cNvPr id="28" name="Rectangle 27"/>
          <p:cNvSpPr/>
          <p:nvPr/>
        </p:nvSpPr>
        <p:spPr>
          <a:xfrm>
            <a:off x="9560966" y="1773936"/>
            <a:ext cx="2070201" cy="233172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560966" y="1773936"/>
            <a:ext cx="2070201" cy="1005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07270" y="1956816"/>
            <a:ext cx="1777593" cy="548640"/>
          </a:xfrm>
          <a:prstGeom prst="rect">
            <a:avLst/>
          </a:prstGeom>
          <a:noFill/>
        </p:spPr>
        <p:txBody>
          <a:bodyPr wrap="square" anchor="t" lIns="36576" rIns="36576" tIns="36576" bIns="36576">
            <a:spAutoFit/>
          </a:bodyPr>
          <a:lstStyle/>
          <a:p>
            <a:pPr algn="l"/>
            <a:r>
              <a:rPr sz="1700" b="1" i="0">
                <a:solidFill>
                  <a:srgbClr val="1E7A33"/>
                </a:solidFill>
                <a:latin typeface="Abadi"/>
              </a:rPr>
              <a:t>TOAST</a:t>
            </a:r>
          </a:p>
        </p:txBody>
      </p:sp>
      <p:sp>
        <p:nvSpPr>
          <p:cNvPr id="31" name="TextBox 30"/>
          <p:cNvSpPr txBox="1"/>
          <p:nvPr/>
        </p:nvSpPr>
        <p:spPr>
          <a:xfrm>
            <a:off x="9707270" y="2551176"/>
            <a:ext cx="1777593" cy="1463039"/>
          </a:xfrm>
          <a:prstGeom prst="rect">
            <a:avLst/>
          </a:prstGeom>
          <a:noFill/>
        </p:spPr>
        <p:txBody>
          <a:bodyPr wrap="square" anchor="t" lIns="36576" rIns="36576" tIns="36576" bIns="36576">
            <a:spAutoFit/>
          </a:bodyPr>
          <a:lstStyle/>
          <a:p>
            <a:pPr algn="l"/>
            <a:r>
              <a:rPr sz="1100" b="0" i="0">
                <a:solidFill>
                  <a:srgbClr val="1A1A1A"/>
                </a:solidFill>
                <a:latin typeface="Abadi"/>
              </a:rPr>
              <a:t>UK multicentre RCT of acid suppression vs none to prevent stricture; ethics approval 2025.</a:t>
            </a:r>
          </a:p>
        </p:txBody>
      </p:sp>
      <p:sp>
        <p:nvSpPr>
          <p:cNvPr id="32" name="TextBox 31"/>
          <p:cNvSpPr txBox="1"/>
          <p:nvPr/>
        </p:nvSpPr>
        <p:spPr>
          <a:xfrm>
            <a:off x="548640" y="4297680"/>
            <a:ext cx="11082528" cy="1463040"/>
          </a:xfrm>
          <a:prstGeom prst="rect">
            <a:avLst/>
          </a:prstGeom>
          <a:noFill/>
        </p:spPr>
        <p:txBody>
          <a:bodyPr wrap="square" anchor="t" lIns="36576" rIns="36576" tIns="36576" bIns="36576">
            <a:spAutoFit/>
          </a:bodyPr>
          <a:lstStyle/>
          <a:p>
            <a:pPr algn="l"/>
            <a:r>
              <a:rPr sz="1250" b="1" i="0">
                <a:solidFill>
                  <a:srgbClr val="1B355E"/>
                </a:solidFill>
                <a:latin typeface="Abadi"/>
              </a:rPr>
              <a:t>Where this leaves us.   </a:t>
            </a:r>
            <a:r>
              <a:rPr sz="1250" b="0" i="0">
                <a:solidFill>
                  <a:srgbClr val="1A1A1A"/>
                </a:solidFill>
                <a:latin typeface="Abadi"/>
              </a:rPr>
              <a:t>All the data are observational, and none show that acid suppression prevents strictures. ERNICA still agrees on routine acid suppression after repair, with a taper and a pH study when it stops, but not on its length. The guideline's one-year course is now a habit awaiting a trial, not a proven prevention.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anchor="ctr" lIns="0" rIns="0" tIns="0" bIns="0">
            <a:spAutoFit/>
          </a:bodyPr>
          <a:lstStyle/>
          <a:p>
            <a:pPr algn="ctr"/>
            <a:r>
              <a:rPr sz="1500" b="1" i="0">
                <a:solidFill>
                  <a:srgbClr val="FFFFFF"/>
                </a:solidFill>
                <a:latin typeface="Abadi"/>
              </a:rPr>
              <a:t>III</a:t>
            </a:r>
          </a:p>
        </p:txBody>
      </p:sp>
      <p:sp>
        <p:nvSpPr>
          <p:cNvPr id="4" name="TextBox 3"/>
          <p:cNvSpPr txBox="1"/>
          <p:nvPr/>
        </p:nvSpPr>
        <p:spPr>
          <a:xfrm>
            <a:off x="1380744" y="292608"/>
            <a:ext cx="10232136" cy="347472"/>
          </a:xfrm>
          <a:prstGeom prst="rect">
            <a:avLst/>
          </a:prstGeom>
          <a:noFill/>
        </p:spPr>
        <p:txBody>
          <a:bodyPr wrap="square" anchor="ctr" lIns="36576" rIns="36576" tIns="36576" bIns="36576">
            <a:spAutoFit/>
          </a:bodyPr>
          <a:lstStyle/>
          <a:p>
            <a:pPr algn="l"/>
            <a:r>
              <a:rPr sz="1200" b="1" i="0">
                <a:solidFill>
                  <a:srgbClr val="B22222"/>
                </a:solidFill>
                <a:latin typeface="Abadi"/>
              </a:rPr>
              <a:t>LIFELONG FOLLOW-UP</a:t>
            </a:r>
          </a:p>
        </p:txBody>
      </p:sp>
      <p:sp>
        <p:nvSpPr>
          <p:cNvPr id="5" name="TextBox 4"/>
          <p:cNvSpPr txBox="1"/>
          <p:nvPr/>
        </p:nvSpPr>
        <p:spPr>
          <a:xfrm>
            <a:off x="548640" y="722376"/>
            <a:ext cx="11082528" cy="548640"/>
          </a:xfrm>
          <a:prstGeom prst="rect">
            <a:avLst/>
          </a:prstGeom>
          <a:noFill/>
        </p:spPr>
        <p:txBody>
          <a:bodyPr wrap="square" anchor="ctr" lIns="36576" rIns="36576" tIns="36576" bIns="36576">
            <a:spAutoFit/>
          </a:bodyPr>
          <a:lstStyle/>
          <a:p>
            <a:pPr algn="l"/>
            <a:r>
              <a:rPr sz="3000" b="1" i="0">
                <a:solidFill>
                  <a:srgbClr val="1B355E"/>
                </a:solidFill>
                <a:latin typeface="Abadi"/>
              </a:rPr>
              <a:t>REFLUX AFTER ATRESIA DOES NOT END AT SCHOOL AGE</a:t>
            </a:r>
          </a:p>
        </p:txBody>
      </p:sp>
      <p:sp>
        <p:nvSpPr>
          <p:cNvPr id="6" name="TextBox 5"/>
          <p:cNvSpPr txBox="1"/>
          <p:nvPr/>
        </p:nvSpPr>
        <p:spPr>
          <a:xfrm>
            <a:off x="548640" y="1307592"/>
            <a:ext cx="11082528" cy="265176"/>
          </a:xfrm>
          <a:prstGeom prst="rect">
            <a:avLst/>
          </a:prstGeom>
          <a:noFill/>
        </p:spPr>
        <p:txBody>
          <a:bodyPr wrap="square" anchor="t" lIns="36576" rIns="36576" tIns="36576" bIns="36576">
            <a:spAutoFit/>
          </a:bodyPr>
          <a:lstStyle/>
          <a:p>
            <a:pPr algn="l"/>
            <a:r>
              <a:rPr sz="1300" b="0" i="0">
                <a:solidFill>
                  <a:srgbClr val="555555"/>
                </a:solidFill>
                <a:latin typeface="Abadi"/>
              </a:rPr>
              <a:t>Mucosal complications in later childhood and adulthood, and the surveillance agreed by ERNICA</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anchor="t" lIns="36576" rIns="36576" tIns="36576" bIns="36576">
            <a:spAutoFit/>
          </a:bodyPr>
          <a:lstStyle/>
          <a:p>
            <a:pPr algn="r"/>
            <a:r>
              <a:rPr sz="1200" b="0" i="0">
                <a:solidFill>
                  <a:srgbClr val="555555"/>
                </a:solidFill>
                <a:latin typeface="Abadi"/>
              </a:rPr>
              <a:t>11</a:t>
            </a:r>
          </a:p>
        </p:txBody>
      </p:sp>
      <p:sp>
        <p:nvSpPr>
          <p:cNvPr id="11" name="TextBox 10"/>
          <p:cNvSpPr txBox="1"/>
          <p:nvPr/>
        </p:nvSpPr>
        <p:spPr>
          <a:xfrm>
            <a:off x="548640" y="5971032"/>
            <a:ext cx="10287000" cy="457200"/>
          </a:xfrm>
          <a:prstGeom prst="rect">
            <a:avLst/>
          </a:prstGeom>
          <a:noFill/>
        </p:spPr>
        <p:txBody>
          <a:bodyPr wrap="square" anchor="t" lIns="36576" rIns="36576" tIns="36576" bIns="36576">
            <a:spAutoFit/>
          </a:bodyPr>
          <a:lstStyle/>
          <a:p>
            <a:pPr algn="l"/>
            <a:r>
              <a:rPr sz="1000" b="0" i="0">
                <a:solidFill>
                  <a:srgbClr val="7F7F7F"/>
                </a:solidFill>
                <a:latin typeface="Abadi"/>
              </a:rPr>
              <a:t>Vergouwe FWT, et al. Clin Gastroenterol Hepatol 2018;16:513–21 · Grunder FR, et al. JPGN 2019;69:45–51 · Krishnan U. Front Pediatr 2019;7:497 · Dingemann 2020</a:t>
            </a:r>
          </a:p>
        </p:txBody>
      </p:sp>
      <p:sp>
        <p:nvSpPr>
          <p:cNvPr id="12" name="Rectangle 11"/>
          <p:cNvSpPr/>
          <p:nvPr/>
        </p:nvSpPr>
        <p:spPr>
          <a:xfrm>
            <a:off x="548640" y="1773936"/>
            <a:ext cx="2070201" cy="233172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070201"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1956816"/>
            <a:ext cx="1777593" cy="548640"/>
          </a:xfrm>
          <a:prstGeom prst="rect">
            <a:avLst/>
          </a:prstGeom>
          <a:noFill/>
        </p:spPr>
        <p:txBody>
          <a:bodyPr wrap="square" anchor="t" lIns="36576" rIns="36576" tIns="36576" bIns="36576">
            <a:spAutoFit/>
          </a:bodyPr>
          <a:lstStyle/>
          <a:p>
            <a:pPr algn="l"/>
            <a:r>
              <a:rPr sz="2000" b="1" i="0">
                <a:solidFill>
                  <a:srgbClr val="D97A0B"/>
                </a:solidFill>
                <a:latin typeface="Abadi"/>
              </a:rPr>
              <a:t>19%</a:t>
            </a:r>
          </a:p>
        </p:txBody>
      </p:sp>
      <p:sp>
        <p:nvSpPr>
          <p:cNvPr id="15" name="TextBox 14"/>
          <p:cNvSpPr txBox="1"/>
          <p:nvPr/>
        </p:nvSpPr>
        <p:spPr>
          <a:xfrm>
            <a:off x="694944" y="2551176"/>
            <a:ext cx="1777593" cy="1463039"/>
          </a:xfrm>
          <a:prstGeom prst="rect">
            <a:avLst/>
          </a:prstGeom>
          <a:noFill/>
        </p:spPr>
        <p:txBody>
          <a:bodyPr wrap="square" anchor="t" lIns="36576" rIns="36576" tIns="36576" bIns="36576">
            <a:spAutoFit/>
          </a:bodyPr>
          <a:lstStyle/>
          <a:p>
            <a:pPr algn="l"/>
            <a:r>
              <a:rPr sz="1100" b="0" i="0">
                <a:solidFill>
                  <a:srgbClr val="1A1A1A"/>
                </a:solidFill>
                <a:latin typeface="Abadi"/>
              </a:rPr>
              <a:t>Children with histological abnormalities after PPI was stopped.</a:t>
            </a:r>
          </a:p>
        </p:txBody>
      </p:sp>
      <p:sp>
        <p:nvSpPr>
          <p:cNvPr id="16" name="Rectangle 15"/>
          <p:cNvSpPr/>
          <p:nvPr/>
        </p:nvSpPr>
        <p:spPr>
          <a:xfrm>
            <a:off x="2801721" y="1773936"/>
            <a:ext cx="2070201" cy="233172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801721" y="1773936"/>
            <a:ext cx="2070201"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48025" y="1956816"/>
            <a:ext cx="1777593" cy="548640"/>
          </a:xfrm>
          <a:prstGeom prst="rect">
            <a:avLst/>
          </a:prstGeom>
          <a:noFill/>
        </p:spPr>
        <p:txBody>
          <a:bodyPr wrap="square" anchor="t" lIns="36576" rIns="36576" tIns="36576" bIns="36576">
            <a:spAutoFit/>
          </a:bodyPr>
          <a:lstStyle/>
          <a:p>
            <a:pPr algn="l"/>
            <a:r>
              <a:rPr sz="2000" b="1" i="0">
                <a:solidFill>
                  <a:srgbClr val="B22222"/>
                </a:solidFill>
                <a:latin typeface="Abadi"/>
              </a:rPr>
              <a:t>6.6%</a:t>
            </a:r>
          </a:p>
        </p:txBody>
      </p:sp>
      <p:sp>
        <p:nvSpPr>
          <p:cNvPr id="19" name="TextBox 18"/>
          <p:cNvSpPr txBox="1"/>
          <p:nvPr/>
        </p:nvSpPr>
        <p:spPr>
          <a:xfrm>
            <a:off x="2948025" y="2551176"/>
            <a:ext cx="1777593" cy="1463039"/>
          </a:xfrm>
          <a:prstGeom prst="rect">
            <a:avLst/>
          </a:prstGeom>
          <a:noFill/>
        </p:spPr>
        <p:txBody>
          <a:bodyPr wrap="square" anchor="t" lIns="36576" rIns="36576" tIns="36576" bIns="36576">
            <a:spAutoFit/>
          </a:bodyPr>
          <a:lstStyle/>
          <a:p>
            <a:pPr algn="l"/>
            <a:r>
              <a:rPr sz="1100" b="0" i="0">
                <a:solidFill>
                  <a:srgbClr val="1A1A1A"/>
                </a:solidFill>
                <a:latin typeface="Abadi"/>
              </a:rPr>
              <a:t>Barrett oesophagus in 151 adults after atresia repair, about 4 times the general population.</a:t>
            </a:r>
          </a:p>
        </p:txBody>
      </p:sp>
      <p:sp>
        <p:nvSpPr>
          <p:cNvPr id="20" name="Rectangle 19"/>
          <p:cNvSpPr/>
          <p:nvPr/>
        </p:nvSpPr>
        <p:spPr>
          <a:xfrm>
            <a:off x="5054803" y="1773936"/>
            <a:ext cx="2070201" cy="233172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54803" y="1773936"/>
            <a:ext cx="2070201"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01107" y="1956816"/>
            <a:ext cx="1777593" cy="548640"/>
          </a:xfrm>
          <a:prstGeom prst="rect">
            <a:avLst/>
          </a:prstGeom>
          <a:noFill/>
        </p:spPr>
        <p:txBody>
          <a:bodyPr wrap="square" anchor="t" lIns="36576" rIns="36576" tIns="36576" bIns="36576">
            <a:spAutoFit/>
          </a:bodyPr>
          <a:lstStyle/>
          <a:p>
            <a:pPr algn="l"/>
            <a:r>
              <a:rPr sz="2000" b="1" i="0">
                <a:solidFill>
                  <a:srgbClr val="B22222"/>
                </a:solidFill>
                <a:latin typeface="Abadi"/>
              </a:rPr>
              <a:t>0.7%</a:t>
            </a:r>
          </a:p>
        </p:txBody>
      </p:sp>
      <p:sp>
        <p:nvSpPr>
          <p:cNvPr id="23" name="TextBox 22"/>
          <p:cNvSpPr txBox="1"/>
          <p:nvPr/>
        </p:nvSpPr>
        <p:spPr>
          <a:xfrm>
            <a:off x="5201107" y="2551176"/>
            <a:ext cx="1777593" cy="1463039"/>
          </a:xfrm>
          <a:prstGeom prst="rect">
            <a:avLst/>
          </a:prstGeom>
          <a:noFill/>
        </p:spPr>
        <p:txBody>
          <a:bodyPr wrap="square" anchor="t" lIns="36576" rIns="36576" tIns="36576" bIns="36576">
            <a:spAutoFit/>
          </a:bodyPr>
          <a:lstStyle/>
          <a:p>
            <a:pPr algn="l"/>
            <a:r>
              <a:rPr sz="1100" b="0" i="0">
                <a:solidFill>
                  <a:srgbClr val="1A1A1A"/>
                </a:solidFill>
                <a:latin typeface="Abadi"/>
              </a:rPr>
              <a:t>Squamous cell carcinoma in the same cohort, about 100 times the expected rate.</a:t>
            </a:r>
          </a:p>
        </p:txBody>
      </p:sp>
      <p:sp>
        <p:nvSpPr>
          <p:cNvPr id="24" name="Rectangle 23"/>
          <p:cNvSpPr/>
          <p:nvPr/>
        </p:nvSpPr>
        <p:spPr>
          <a:xfrm>
            <a:off x="7307884" y="1773936"/>
            <a:ext cx="2070201" cy="233172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07884" y="1773936"/>
            <a:ext cx="2070201" cy="1005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54188" y="1956816"/>
            <a:ext cx="1777593" cy="548640"/>
          </a:xfrm>
          <a:prstGeom prst="rect">
            <a:avLst/>
          </a:prstGeom>
          <a:noFill/>
        </p:spPr>
        <p:txBody>
          <a:bodyPr wrap="square" anchor="t" lIns="36576" rIns="36576" tIns="36576" bIns="36576">
            <a:spAutoFit/>
          </a:bodyPr>
          <a:lstStyle/>
          <a:p>
            <a:pPr algn="l"/>
            <a:r>
              <a:rPr sz="2000" b="1" i="0">
                <a:solidFill>
                  <a:srgbClr val="1B355E"/>
                </a:solidFill>
                <a:latin typeface="Abadi"/>
              </a:rPr>
              <a:t>1–17%</a:t>
            </a:r>
          </a:p>
        </p:txBody>
      </p:sp>
      <p:sp>
        <p:nvSpPr>
          <p:cNvPr id="27" name="TextBox 26"/>
          <p:cNvSpPr txBox="1"/>
          <p:nvPr/>
        </p:nvSpPr>
        <p:spPr>
          <a:xfrm>
            <a:off x="7454188" y="2551176"/>
            <a:ext cx="1777593" cy="1463039"/>
          </a:xfrm>
          <a:prstGeom prst="rect">
            <a:avLst/>
          </a:prstGeom>
          <a:noFill/>
        </p:spPr>
        <p:txBody>
          <a:bodyPr wrap="square" anchor="t" lIns="36576" rIns="36576" tIns="36576" bIns="36576">
            <a:spAutoFit/>
          </a:bodyPr>
          <a:lstStyle/>
          <a:p>
            <a:pPr algn="l"/>
            <a:r>
              <a:rPr sz="1100" b="0" i="0">
                <a:solidFill>
                  <a:srgbClr val="1A1A1A"/>
                </a:solidFill>
                <a:latin typeface="Abadi"/>
              </a:rPr>
              <a:t>Eosinophilic oesophagitis in atresia series; manage as in other children.</a:t>
            </a:r>
          </a:p>
        </p:txBody>
      </p:sp>
      <p:sp>
        <p:nvSpPr>
          <p:cNvPr id="28" name="Rectangle 27"/>
          <p:cNvSpPr/>
          <p:nvPr/>
        </p:nvSpPr>
        <p:spPr>
          <a:xfrm>
            <a:off x="9560966" y="1773936"/>
            <a:ext cx="2070201" cy="233172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560966" y="1773936"/>
            <a:ext cx="2070201" cy="1005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07270" y="1956816"/>
            <a:ext cx="1777593" cy="548640"/>
          </a:xfrm>
          <a:prstGeom prst="rect">
            <a:avLst/>
          </a:prstGeom>
          <a:noFill/>
        </p:spPr>
        <p:txBody>
          <a:bodyPr wrap="square" anchor="t" lIns="36576" rIns="36576" tIns="36576" bIns="36576">
            <a:spAutoFit/>
          </a:bodyPr>
          <a:lstStyle/>
          <a:p>
            <a:pPr algn="l"/>
            <a:r>
              <a:rPr sz="2000" b="1" i="0">
                <a:solidFill>
                  <a:srgbClr val="1E7A33"/>
                </a:solidFill>
                <a:latin typeface="Abadi"/>
              </a:rPr>
              <a:t>5–10 years</a:t>
            </a:r>
          </a:p>
        </p:txBody>
      </p:sp>
      <p:sp>
        <p:nvSpPr>
          <p:cNvPr id="31" name="TextBox 30"/>
          <p:cNvSpPr txBox="1"/>
          <p:nvPr/>
        </p:nvSpPr>
        <p:spPr>
          <a:xfrm>
            <a:off x="9707270" y="2551176"/>
            <a:ext cx="1777593" cy="1463039"/>
          </a:xfrm>
          <a:prstGeom prst="rect">
            <a:avLst/>
          </a:prstGeom>
          <a:noFill/>
        </p:spPr>
        <p:txBody>
          <a:bodyPr wrap="square" anchor="t" lIns="36576" rIns="36576" tIns="36576" bIns="36576">
            <a:spAutoFit/>
          </a:bodyPr>
          <a:lstStyle/>
          <a:p>
            <a:pPr algn="l"/>
            <a:r>
              <a:rPr sz="1100" b="0" i="0">
                <a:solidFill>
                  <a:srgbClr val="1A1A1A"/>
                </a:solidFill>
                <a:latin typeface="Abadi"/>
              </a:rPr>
              <a:t>ERNICA: endoscopy with four-quadrant biopsies at transition, then every 5 to 10 years.</a:t>
            </a:r>
          </a:p>
        </p:txBody>
      </p:sp>
      <p:sp>
        <p:nvSpPr>
          <p:cNvPr id="32" name="TextBox 31"/>
          <p:cNvSpPr txBox="1"/>
          <p:nvPr/>
        </p:nvSpPr>
        <p:spPr>
          <a:xfrm>
            <a:off x="548640" y="4297680"/>
            <a:ext cx="11082528" cy="1463040"/>
          </a:xfrm>
          <a:prstGeom prst="rect">
            <a:avLst/>
          </a:prstGeom>
          <a:noFill/>
        </p:spPr>
        <p:txBody>
          <a:bodyPr wrap="square" anchor="t" lIns="36576" rIns="36576" tIns="36576" bIns="36576">
            <a:spAutoFit/>
          </a:bodyPr>
          <a:lstStyle/>
          <a:p>
            <a:pPr algn="l"/>
            <a:r>
              <a:rPr sz="1250" b="1" i="0">
                <a:solidFill>
                  <a:srgbClr val="1B355E"/>
                </a:solidFill>
                <a:latin typeface="Abadi"/>
              </a:rPr>
              <a:t>Practical point.   </a:t>
            </a:r>
            <a:r>
              <a:rPr sz="1250" b="0" i="0">
                <a:solidFill>
                  <a:srgbClr val="1A1A1A"/>
                </a:solidFill>
                <a:latin typeface="Abadi"/>
              </a:rPr>
              <a:t>Every child with repaired atresia needs a written surveillance plan that travels with them to adult care: endoscopy at one year, at least two more before transition, and then every five to ten years. Dysphagia in an adolescent is a stricture, a food bolus or eosinophilic oesophagitis until proved otherwise.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anchor="ctr" lIns="0" rIns="0" tIns="0" bIns="0">
            <a:spAutoFit/>
          </a:bodyPr>
          <a:lstStyle/>
          <a:p>
            <a:pPr algn="ctr"/>
            <a:r>
              <a:rPr sz="1500" b="1" i="0">
                <a:solidFill>
                  <a:srgbClr val="FFFFFF"/>
                </a:solidFill>
                <a:latin typeface="Abadi"/>
              </a:rPr>
              <a:t>IV</a:t>
            </a:r>
          </a:p>
        </p:txBody>
      </p:sp>
      <p:sp>
        <p:nvSpPr>
          <p:cNvPr id="4" name="TextBox 3"/>
          <p:cNvSpPr txBox="1"/>
          <p:nvPr/>
        </p:nvSpPr>
        <p:spPr>
          <a:xfrm>
            <a:off x="1380744" y="292608"/>
            <a:ext cx="10232136" cy="347472"/>
          </a:xfrm>
          <a:prstGeom prst="rect">
            <a:avLst/>
          </a:prstGeom>
          <a:noFill/>
        </p:spPr>
        <p:txBody>
          <a:bodyPr wrap="square" anchor="ctr" lIns="36576" rIns="36576" tIns="36576" bIns="36576">
            <a:spAutoFit/>
          </a:bodyPr>
          <a:lstStyle/>
          <a:p>
            <a:pPr algn="l"/>
            <a:r>
              <a:rPr sz="1200" b="1" i="0">
                <a:solidFill>
                  <a:srgbClr val="B22222"/>
                </a:solidFill>
                <a:latin typeface="Abadi"/>
              </a:rPr>
              <a:t>CYSTIC FIBROSIS</a:t>
            </a:r>
          </a:p>
        </p:txBody>
      </p:sp>
      <p:sp>
        <p:nvSpPr>
          <p:cNvPr id="5" name="TextBox 4"/>
          <p:cNvSpPr txBox="1"/>
          <p:nvPr/>
        </p:nvSpPr>
        <p:spPr>
          <a:xfrm>
            <a:off x="548640" y="722376"/>
            <a:ext cx="11082528" cy="548640"/>
          </a:xfrm>
          <a:prstGeom prst="rect">
            <a:avLst/>
          </a:prstGeom>
          <a:noFill/>
        </p:spPr>
        <p:txBody>
          <a:bodyPr wrap="square" anchor="ctr" lIns="36576" rIns="36576" tIns="36576" bIns="36576">
            <a:spAutoFit/>
          </a:bodyPr>
          <a:lstStyle/>
          <a:p>
            <a:pPr algn="l"/>
            <a:r>
              <a:rPr sz="3000" b="1" i="0">
                <a:solidFill>
                  <a:srgbClr val="1B355E"/>
                </a:solidFill>
                <a:latin typeface="Abadi"/>
              </a:rPr>
              <a:t>COMMON AND OFTEN SILENT</a:t>
            </a:r>
          </a:p>
        </p:txBody>
      </p:sp>
      <p:sp>
        <p:nvSpPr>
          <p:cNvPr id="6" name="TextBox 5"/>
          <p:cNvSpPr txBox="1"/>
          <p:nvPr/>
        </p:nvSpPr>
        <p:spPr>
          <a:xfrm>
            <a:off x="548640" y="1307592"/>
            <a:ext cx="11082528" cy="265176"/>
          </a:xfrm>
          <a:prstGeom prst="rect">
            <a:avLst/>
          </a:prstGeom>
          <a:noFill/>
        </p:spPr>
        <p:txBody>
          <a:bodyPr wrap="square" anchor="t" lIns="36576" rIns="36576" tIns="36576" bIns="36576">
            <a:spAutoFit/>
          </a:bodyPr>
          <a:lstStyle/>
          <a:p>
            <a:pPr algn="l"/>
            <a:r>
              <a:rPr sz="1300" b="0" i="0">
                <a:solidFill>
                  <a:srgbClr val="555555"/>
                </a:solidFill>
                <a:latin typeface="Abadi"/>
              </a:rPr>
              <a:t>Prevalence of pathological reflux on pH or pH-impedance monitoring in children with cystic fibrosis, %</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anchor="t" lIns="36576" rIns="36576" tIns="36576" bIns="36576">
            <a:spAutoFit/>
          </a:bodyPr>
          <a:lstStyle/>
          <a:p>
            <a:pPr algn="r"/>
            <a:r>
              <a:rPr sz="1200" b="0" i="0">
                <a:solidFill>
                  <a:srgbClr val="555555"/>
                </a:solidFill>
                <a:latin typeface="Abadi"/>
              </a:rPr>
              <a:t>12</a:t>
            </a:r>
          </a:p>
        </p:txBody>
      </p:sp>
      <p:sp>
        <p:nvSpPr>
          <p:cNvPr id="11" name="TextBox 10"/>
          <p:cNvSpPr txBox="1"/>
          <p:nvPr/>
        </p:nvSpPr>
        <p:spPr>
          <a:xfrm>
            <a:off x="548640" y="5971032"/>
            <a:ext cx="10287000" cy="457200"/>
          </a:xfrm>
          <a:prstGeom prst="rect">
            <a:avLst/>
          </a:prstGeom>
          <a:noFill/>
        </p:spPr>
        <p:txBody>
          <a:bodyPr wrap="square" anchor="t" lIns="36576" rIns="36576" tIns="36576" bIns="36576">
            <a:spAutoFit/>
          </a:bodyPr>
          <a:lstStyle/>
          <a:p>
            <a:pPr algn="l"/>
            <a:r>
              <a:rPr sz="1000" b="0" i="0">
                <a:solidFill>
                  <a:srgbClr val="7F7F7F"/>
                </a:solidFill>
                <a:latin typeface="Abadi"/>
              </a:rPr>
              <a:t>Dziekiewicz MA, et al. Adv Exp Med Biol 2015;873:1–7 · J Pediatr (Rio J) 2023 (doi:10.1016/j.jped.2022.11.007) · Gabel 2019 · Rosen 2018</a:t>
            </a:r>
          </a:p>
        </p:txBody>
      </p:sp>
      <p:sp>
        <p:nvSpPr>
          <p:cNvPr id="12" name="TextBox 11"/>
          <p:cNvSpPr txBox="1"/>
          <p:nvPr/>
        </p:nvSpPr>
        <p:spPr>
          <a:xfrm>
            <a:off x="548640" y="1828800"/>
            <a:ext cx="2834640" cy="502920"/>
          </a:xfrm>
          <a:prstGeom prst="rect">
            <a:avLst/>
          </a:prstGeom>
          <a:noFill/>
        </p:spPr>
        <p:txBody>
          <a:bodyPr wrap="square" anchor="ctr" lIns="36576" rIns="36576" tIns="36576" bIns="36576">
            <a:spAutoFit/>
          </a:bodyPr>
          <a:lstStyle/>
          <a:p>
            <a:pPr algn="l"/>
            <a:r>
              <a:rPr sz="1050" b="0" i="0">
                <a:solidFill>
                  <a:srgbClr val="1A1A1A"/>
                </a:solidFill>
                <a:latin typeface="Abadi"/>
              </a:rPr>
              <a:t>Blondeau · cited series</a:t>
            </a:r>
          </a:p>
        </p:txBody>
      </p:sp>
      <p:sp>
        <p:nvSpPr>
          <p:cNvPr id="13" name="Rectangle 12"/>
          <p:cNvSpPr/>
          <p:nvPr/>
        </p:nvSpPr>
        <p:spPr>
          <a:xfrm>
            <a:off x="3474720" y="1915668"/>
            <a:ext cx="3185769" cy="3291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3641" y="1828800"/>
            <a:ext cx="1463040" cy="502920"/>
          </a:xfrm>
          <a:prstGeom prst="rect">
            <a:avLst/>
          </a:prstGeom>
          <a:noFill/>
        </p:spPr>
        <p:txBody>
          <a:bodyPr wrap="square" anchor="ctr" lIns="36576" rIns="36576" tIns="36576" bIns="36576">
            <a:spAutoFit/>
          </a:bodyPr>
          <a:lstStyle/>
          <a:p>
            <a:pPr algn="l"/>
            <a:r>
              <a:rPr sz="1050" b="1" i="0">
                <a:solidFill>
                  <a:srgbClr val="1A1A1A"/>
                </a:solidFill>
                <a:latin typeface="Abadi"/>
              </a:rPr>
              <a:t>67%</a:t>
            </a:r>
          </a:p>
        </p:txBody>
      </p:sp>
      <p:sp>
        <p:nvSpPr>
          <p:cNvPr id="15" name="TextBox 14"/>
          <p:cNvSpPr txBox="1"/>
          <p:nvPr/>
        </p:nvSpPr>
        <p:spPr>
          <a:xfrm>
            <a:off x="548640" y="2331720"/>
            <a:ext cx="2834640" cy="502920"/>
          </a:xfrm>
          <a:prstGeom prst="rect">
            <a:avLst/>
          </a:prstGeom>
          <a:noFill/>
        </p:spPr>
        <p:txBody>
          <a:bodyPr wrap="square" anchor="ctr" lIns="36576" rIns="36576" tIns="36576" bIns="36576">
            <a:spAutoFit/>
          </a:bodyPr>
          <a:lstStyle/>
          <a:p>
            <a:pPr algn="l"/>
            <a:r>
              <a:rPr sz="1050" b="0" i="0">
                <a:solidFill>
                  <a:srgbClr val="1A1A1A"/>
                </a:solidFill>
                <a:latin typeface="Abadi"/>
              </a:rPr>
              <a:t>Poland 2015 · n = 44</a:t>
            </a:r>
          </a:p>
        </p:txBody>
      </p:sp>
      <p:sp>
        <p:nvSpPr>
          <p:cNvPr id="16" name="Rectangle 15"/>
          <p:cNvSpPr/>
          <p:nvPr/>
        </p:nvSpPr>
        <p:spPr>
          <a:xfrm>
            <a:off x="3474720" y="2418588"/>
            <a:ext cx="2591409" cy="3291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39281" y="2331720"/>
            <a:ext cx="1463040" cy="502920"/>
          </a:xfrm>
          <a:prstGeom prst="rect">
            <a:avLst/>
          </a:prstGeom>
          <a:noFill/>
        </p:spPr>
        <p:txBody>
          <a:bodyPr wrap="square" anchor="ctr" lIns="36576" rIns="36576" tIns="36576" bIns="36576">
            <a:spAutoFit/>
          </a:bodyPr>
          <a:lstStyle/>
          <a:p>
            <a:pPr algn="l"/>
            <a:r>
              <a:rPr sz="1050" b="1" i="0">
                <a:solidFill>
                  <a:srgbClr val="1A1A1A"/>
                </a:solidFill>
                <a:latin typeface="Abadi"/>
              </a:rPr>
              <a:t>54.5%</a:t>
            </a:r>
          </a:p>
        </p:txBody>
      </p:sp>
      <p:sp>
        <p:nvSpPr>
          <p:cNvPr id="18" name="TextBox 17"/>
          <p:cNvSpPr txBox="1"/>
          <p:nvPr/>
        </p:nvSpPr>
        <p:spPr>
          <a:xfrm>
            <a:off x="548640" y="2834640"/>
            <a:ext cx="2834640" cy="502920"/>
          </a:xfrm>
          <a:prstGeom prst="rect">
            <a:avLst/>
          </a:prstGeom>
          <a:noFill/>
        </p:spPr>
        <p:txBody>
          <a:bodyPr wrap="square" anchor="ctr" lIns="36576" rIns="36576" tIns="36576" bIns="36576">
            <a:spAutoFit/>
          </a:bodyPr>
          <a:lstStyle/>
          <a:p>
            <a:pPr algn="l"/>
            <a:r>
              <a:rPr sz="1050" b="0" i="0">
                <a:solidFill>
                  <a:srgbClr val="1A1A1A"/>
                </a:solidFill>
                <a:latin typeface="Abadi"/>
              </a:rPr>
              <a:t>Hauser · cited series</a:t>
            </a:r>
          </a:p>
        </p:txBody>
      </p:sp>
      <p:sp>
        <p:nvSpPr>
          <p:cNvPr id="19" name="Rectangle 18"/>
          <p:cNvSpPr/>
          <p:nvPr/>
        </p:nvSpPr>
        <p:spPr>
          <a:xfrm>
            <a:off x="3474720" y="2921508"/>
            <a:ext cx="2187244" cy="3291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735116" y="2834640"/>
            <a:ext cx="1463040" cy="502920"/>
          </a:xfrm>
          <a:prstGeom prst="rect">
            <a:avLst/>
          </a:prstGeom>
          <a:noFill/>
        </p:spPr>
        <p:txBody>
          <a:bodyPr wrap="square" anchor="ctr" lIns="36576" rIns="36576" tIns="36576" bIns="36576">
            <a:spAutoFit/>
          </a:bodyPr>
          <a:lstStyle/>
          <a:p>
            <a:pPr algn="l"/>
            <a:r>
              <a:rPr sz="1050" b="1" i="0">
                <a:solidFill>
                  <a:srgbClr val="1A1A1A"/>
                </a:solidFill>
                <a:latin typeface="Abadi"/>
              </a:rPr>
              <a:t>46%</a:t>
            </a:r>
          </a:p>
        </p:txBody>
      </p:sp>
      <p:sp>
        <p:nvSpPr>
          <p:cNvPr id="21" name="TextBox 20"/>
          <p:cNvSpPr txBox="1"/>
          <p:nvPr/>
        </p:nvSpPr>
        <p:spPr>
          <a:xfrm>
            <a:off x="548640" y="3337560"/>
            <a:ext cx="2834640" cy="502920"/>
          </a:xfrm>
          <a:prstGeom prst="rect">
            <a:avLst/>
          </a:prstGeom>
          <a:noFill/>
        </p:spPr>
        <p:txBody>
          <a:bodyPr wrap="square" anchor="ctr" lIns="36576" rIns="36576" tIns="36576" bIns="36576">
            <a:spAutoFit/>
          </a:bodyPr>
          <a:lstStyle/>
          <a:p>
            <a:pPr algn="l"/>
            <a:r>
              <a:rPr sz="1050" b="0" i="0">
                <a:solidFill>
                  <a:srgbClr val="1A1A1A"/>
                </a:solidFill>
                <a:latin typeface="Abadi"/>
              </a:rPr>
              <a:t>Brazil 2023 · n = 29, under 10 years</a:t>
            </a:r>
          </a:p>
        </p:txBody>
      </p:sp>
      <p:sp>
        <p:nvSpPr>
          <p:cNvPr id="22" name="Rectangle 21"/>
          <p:cNvSpPr/>
          <p:nvPr/>
        </p:nvSpPr>
        <p:spPr>
          <a:xfrm>
            <a:off x="3474720" y="3424428"/>
            <a:ext cx="1616659" cy="3291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164531" y="3337560"/>
            <a:ext cx="1463040" cy="502920"/>
          </a:xfrm>
          <a:prstGeom prst="rect">
            <a:avLst/>
          </a:prstGeom>
          <a:noFill/>
        </p:spPr>
        <p:txBody>
          <a:bodyPr wrap="square" anchor="ctr" lIns="36576" rIns="36576" tIns="36576" bIns="36576">
            <a:spAutoFit/>
          </a:bodyPr>
          <a:lstStyle/>
          <a:p>
            <a:pPr algn="l"/>
            <a:r>
              <a:rPr sz="1050" b="1" i="0">
                <a:solidFill>
                  <a:srgbClr val="1A1A1A"/>
                </a:solidFill>
                <a:latin typeface="Abadi"/>
              </a:rPr>
              <a:t>34%</a:t>
            </a:r>
          </a:p>
        </p:txBody>
      </p:sp>
      <p:sp>
        <p:nvSpPr>
          <p:cNvPr id="24" name="TextBox 23"/>
          <p:cNvSpPr txBox="1"/>
          <p:nvPr/>
        </p:nvSpPr>
        <p:spPr>
          <a:xfrm>
            <a:off x="548640" y="3886200"/>
            <a:ext cx="7863840" cy="274320"/>
          </a:xfrm>
          <a:prstGeom prst="rect">
            <a:avLst/>
          </a:prstGeom>
          <a:noFill/>
        </p:spPr>
        <p:txBody>
          <a:bodyPr wrap="square" anchor="t" lIns="36576" rIns="36576" tIns="36576" bIns="36576">
            <a:spAutoFit/>
          </a:bodyPr>
          <a:lstStyle/>
          <a:p>
            <a:pPr algn="l"/>
            <a:r>
              <a:rPr sz="950" b="0" i="0">
                <a:solidFill>
                  <a:srgbClr val="7F7F7F"/>
                </a:solidFill>
                <a:latin typeface="Abadi"/>
              </a:rPr>
              <a:t>Review range 35–81%. In Poland only 14 of 44 children had typical symptoms.</a:t>
            </a:r>
          </a:p>
        </p:txBody>
      </p:sp>
      <p:sp>
        <p:nvSpPr>
          <p:cNvPr id="25" name="TextBox 24"/>
          <p:cNvSpPr txBox="1"/>
          <p:nvPr/>
        </p:nvSpPr>
        <p:spPr>
          <a:xfrm>
            <a:off x="8778240" y="1783080"/>
            <a:ext cx="2834640" cy="3931920"/>
          </a:xfrm>
          <a:prstGeom prst="rect">
            <a:avLst/>
          </a:prstGeom>
          <a:noFill/>
        </p:spPr>
        <p:txBody>
          <a:bodyPr wrap="square" anchor="t" lIns="36576" rIns="36576" tIns="36576" bIns="36576">
            <a:spAutoFit/>
          </a:bodyPr>
          <a:lstStyle/>
          <a:p>
            <a:pPr algn="l">
              <a:spcAft>
                <a:spcPts val="300"/>
              </a:spcAft>
            </a:pPr>
            <a:r>
              <a:rPr sz="1500" b="1" i="0">
                <a:solidFill>
                  <a:srgbClr val="1B355E"/>
                </a:solidFill>
                <a:latin typeface="Abadi"/>
              </a:rPr>
              <a:t>Lungs</a:t>
            </a:r>
          </a:p>
          <a:p>
            <a:pPr algn="l">
              <a:spcAft>
                <a:spcPts val="300"/>
              </a:spcAft>
            </a:pPr>
            <a:r>
              <a:rPr sz="1050" b="0" i="0">
                <a:solidFill>
                  <a:srgbClr val="1A1A1A"/>
                </a:solidFill>
                <a:latin typeface="Abadi"/>
              </a:rPr>
              <a:t>Slower acid clearance correlated with exacerbations (P = .014); bile acid aspiration links to neutrophil elastase and lower FEV1.</a:t>
            </a:r>
          </a:p>
          <a:p>
            <a:pPr algn="l">
              <a:spcAft>
                <a:spcPts val="300"/>
              </a:spcAft>
            </a:pPr>
            <a:r>
              <a:rPr sz="1500" b="1" i="0">
                <a:solidFill>
                  <a:srgbClr val="1B355E"/>
                </a:solidFill>
                <a:latin typeface="Abadi"/>
              </a:rPr>
              <a:t>Transplant</a:t>
            </a:r>
          </a:p>
          <a:p>
            <a:pPr algn="l">
              <a:spcAft>
                <a:spcPts val="300"/>
              </a:spcAft>
            </a:pPr>
            <a:r>
              <a:rPr sz="1050" b="0" i="0">
                <a:solidFill>
                  <a:srgbClr val="1A1A1A"/>
                </a:solidFill>
                <a:latin typeface="Abadi"/>
              </a:rPr>
              <a:t>Fundoplication within 90 days of lung transplant is associated with better graft survival.</a:t>
            </a:r>
          </a:p>
          <a:p>
            <a:pPr algn="l">
              <a:spcAft>
                <a:spcPts val="300"/>
              </a:spcAft>
            </a:pPr>
            <a:r>
              <a:rPr sz="1500" b="1" i="0">
                <a:solidFill>
                  <a:srgbClr val="1B355E"/>
                </a:solidFill>
                <a:latin typeface="Abadi"/>
              </a:rPr>
              <a:t>Testing</a:t>
            </a:r>
          </a:p>
          <a:p>
            <a:pPr algn="l">
              <a:spcAft>
                <a:spcPts val="300"/>
              </a:spcAft>
            </a:pPr>
            <a:r>
              <a:rPr sz="1050" b="0" i="0">
                <a:solidFill>
                  <a:srgbClr val="1A1A1A"/>
                </a:solidFill>
                <a:latin typeface="Abadi"/>
              </a:rPr>
              <a:t>2018 guideline: pH testing on therapy in high-risk groups; wireless pH for chronic cough.</a:t>
            </a:r>
          </a:p>
        </p:txBody>
      </p:sp>
      <p:sp>
        <p:nvSpPr>
          <p:cNvPr id="26" name="TextBox 25"/>
          <p:cNvSpPr txBox="1"/>
          <p:nvPr/>
        </p:nvSpPr>
        <p:spPr>
          <a:xfrm>
            <a:off x="548640" y="4224528"/>
            <a:ext cx="7955279" cy="548640"/>
          </a:xfrm>
          <a:prstGeom prst="rect">
            <a:avLst/>
          </a:prstGeom>
          <a:noFill/>
        </p:spPr>
        <p:txBody>
          <a:bodyPr wrap="square" anchor="t" lIns="36576" rIns="36576" tIns="36576" bIns="36576">
            <a:spAutoFit/>
          </a:bodyPr>
          <a:lstStyle/>
          <a:p>
            <a:pPr algn="l"/>
            <a:r>
              <a:rPr sz="1200" b="1" i="0">
                <a:solidFill>
                  <a:srgbClr val="1B355E"/>
                </a:solidFill>
                <a:latin typeface="Abadi"/>
              </a:rPr>
              <a:t>Read it as.   </a:t>
            </a:r>
            <a:r>
              <a:rPr sz="1200" b="0" i="0">
                <a:solidFill>
                  <a:srgbClr val="1A1A1A"/>
                </a:solidFill>
                <a:latin typeface="Abadi"/>
              </a:rPr>
              <a:t>Reflux in cystic fibrosis is common, frequently without heartburn, and matters through the lung.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anchor="ctr" lIns="0" rIns="0" tIns="0" bIns="0">
            <a:spAutoFit/>
          </a:bodyPr>
          <a:lstStyle/>
          <a:p>
            <a:pPr algn="ctr"/>
            <a:r>
              <a:rPr sz="1500" b="1" i="0">
                <a:solidFill>
                  <a:srgbClr val="FFFFFF"/>
                </a:solidFill>
                <a:latin typeface="Abadi"/>
              </a:rPr>
              <a:t>IV</a:t>
            </a:r>
          </a:p>
        </p:txBody>
      </p:sp>
      <p:sp>
        <p:nvSpPr>
          <p:cNvPr id="4" name="TextBox 3"/>
          <p:cNvSpPr txBox="1"/>
          <p:nvPr/>
        </p:nvSpPr>
        <p:spPr>
          <a:xfrm>
            <a:off x="1380744" y="292608"/>
            <a:ext cx="10232136" cy="347472"/>
          </a:xfrm>
          <a:prstGeom prst="rect">
            <a:avLst/>
          </a:prstGeom>
          <a:noFill/>
        </p:spPr>
        <p:txBody>
          <a:bodyPr wrap="square" anchor="ctr" lIns="36576" rIns="36576" tIns="36576" bIns="36576">
            <a:spAutoFit/>
          </a:bodyPr>
          <a:lstStyle/>
          <a:p>
            <a:pPr algn="l"/>
            <a:r>
              <a:rPr sz="1200" b="1" i="0">
                <a:solidFill>
                  <a:srgbClr val="B22222"/>
                </a:solidFill>
                <a:latin typeface="Abadi"/>
              </a:rPr>
              <a:t>ACID SUPPRESSION IN CF</a:t>
            </a:r>
          </a:p>
        </p:txBody>
      </p:sp>
      <p:sp>
        <p:nvSpPr>
          <p:cNvPr id="5" name="TextBox 4"/>
          <p:cNvSpPr txBox="1"/>
          <p:nvPr/>
        </p:nvSpPr>
        <p:spPr>
          <a:xfrm>
            <a:off x="548640" y="722376"/>
            <a:ext cx="11082528" cy="548640"/>
          </a:xfrm>
          <a:prstGeom prst="rect">
            <a:avLst/>
          </a:prstGeom>
          <a:noFill/>
        </p:spPr>
        <p:txBody>
          <a:bodyPr wrap="square" anchor="ctr" lIns="36576" rIns="36576" tIns="36576" bIns="36576">
            <a:spAutoFit/>
          </a:bodyPr>
          <a:lstStyle/>
          <a:p>
            <a:pPr algn="l"/>
            <a:r>
              <a:rPr sz="3000" b="1" i="0">
                <a:solidFill>
                  <a:srgbClr val="1B355E"/>
                </a:solidFill>
                <a:latin typeface="Abadi"/>
              </a:rPr>
              <a:t>A DRUG WITH A RESPIRATORY PRICE</a:t>
            </a:r>
          </a:p>
        </p:txBody>
      </p:sp>
      <p:sp>
        <p:nvSpPr>
          <p:cNvPr id="6" name="TextBox 5"/>
          <p:cNvSpPr txBox="1"/>
          <p:nvPr/>
        </p:nvSpPr>
        <p:spPr>
          <a:xfrm>
            <a:off x="548640" y="1307592"/>
            <a:ext cx="11082528" cy="265176"/>
          </a:xfrm>
          <a:prstGeom prst="rect">
            <a:avLst/>
          </a:prstGeom>
          <a:noFill/>
        </p:spPr>
        <p:txBody>
          <a:bodyPr wrap="square" anchor="t" lIns="36576" rIns="36576" tIns="36576" bIns="36576">
            <a:spAutoFit/>
          </a:bodyPr>
          <a:lstStyle/>
          <a:p>
            <a:pPr algn="l"/>
            <a:r>
              <a:rPr sz="1300" b="0" i="0">
                <a:solidFill>
                  <a:srgbClr val="555555"/>
                </a:solidFill>
                <a:latin typeface="Abadi"/>
              </a:rPr>
              <a:t>PPIs are prescribed widely in cystic fibrosis, for reflux and to help pancreatic enzymes work</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anchor="t" lIns="36576" rIns="36576" tIns="36576" bIns="36576">
            <a:spAutoFit/>
          </a:bodyPr>
          <a:lstStyle/>
          <a:p>
            <a:pPr algn="r"/>
            <a:r>
              <a:rPr sz="1200" b="0" i="0">
                <a:solidFill>
                  <a:srgbClr val="555555"/>
                </a:solidFill>
                <a:latin typeface="Abadi"/>
              </a:rPr>
              <a:t>13</a:t>
            </a:r>
          </a:p>
        </p:txBody>
      </p:sp>
      <p:sp>
        <p:nvSpPr>
          <p:cNvPr id="11" name="TextBox 10"/>
          <p:cNvSpPr txBox="1"/>
          <p:nvPr/>
        </p:nvSpPr>
        <p:spPr>
          <a:xfrm>
            <a:off x="548640" y="5971032"/>
            <a:ext cx="10287000" cy="457200"/>
          </a:xfrm>
          <a:prstGeom prst="rect">
            <a:avLst/>
          </a:prstGeom>
          <a:noFill/>
        </p:spPr>
        <p:txBody>
          <a:bodyPr wrap="square" anchor="t" lIns="36576" rIns="36576" tIns="36576" bIns="36576">
            <a:spAutoFit/>
          </a:bodyPr>
          <a:lstStyle/>
          <a:p>
            <a:pPr algn="l"/>
            <a:r>
              <a:rPr sz="1000" b="0" i="0">
                <a:solidFill>
                  <a:srgbClr val="7F7F7F"/>
                </a:solidFill>
                <a:latin typeface="Abadi"/>
              </a:rPr>
              <a:t>Dimango E, et al. BMC Pulm Med 2014;14:21 · Ayoub F, et al. Gastroenterol Res 2017;10:288–93 · van Horck M, et al. Eur Respir J 2018;51:1702509 · Green N, et al. J Cyst Fibros 2026;25:489–94</a:t>
            </a:r>
          </a:p>
        </p:txBody>
      </p:sp>
      <p:sp>
        <p:nvSpPr>
          <p:cNvPr id="12" name="Rectangle 11"/>
          <p:cNvSpPr/>
          <p:nvPr/>
        </p:nvSpPr>
        <p:spPr>
          <a:xfrm>
            <a:off x="548640" y="1773936"/>
            <a:ext cx="2633472" cy="2286000"/>
          </a:xfrm>
          <a:prstGeom prst="rect">
            <a:avLst/>
          </a:prstGeom>
          <a:solidFill>
            <a:srgbClr val="E7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633472" cy="1005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1956816"/>
            <a:ext cx="2340864" cy="502920"/>
          </a:xfrm>
          <a:prstGeom prst="rect">
            <a:avLst/>
          </a:prstGeom>
          <a:noFill/>
        </p:spPr>
        <p:txBody>
          <a:bodyPr wrap="square" anchor="t" lIns="36576" rIns="36576" tIns="36576" bIns="36576">
            <a:spAutoFit/>
          </a:bodyPr>
          <a:lstStyle/>
          <a:p>
            <a:pPr algn="l"/>
            <a:r>
              <a:rPr sz="1500" b="1" i="0">
                <a:solidFill>
                  <a:srgbClr val="8A939B"/>
                </a:solidFill>
                <a:latin typeface="Abadi"/>
              </a:rPr>
              <a:t>RCT 2014</a:t>
            </a:r>
          </a:p>
        </p:txBody>
      </p:sp>
      <p:sp>
        <p:nvSpPr>
          <p:cNvPr id="15" name="TextBox 14"/>
          <p:cNvSpPr txBox="1"/>
          <p:nvPr/>
        </p:nvSpPr>
        <p:spPr>
          <a:xfrm>
            <a:off x="694944" y="2487168"/>
            <a:ext cx="2340864" cy="1481328"/>
          </a:xfrm>
          <a:prstGeom prst="rect">
            <a:avLst/>
          </a:prstGeom>
          <a:noFill/>
        </p:spPr>
        <p:txBody>
          <a:bodyPr wrap="square" anchor="t" lIns="36576" rIns="36576" tIns="36576" bIns="36576">
            <a:spAutoFit/>
          </a:bodyPr>
          <a:lstStyle/>
          <a:p>
            <a:pPr algn="l">
              <a:spcAft>
                <a:spcPts val="400"/>
              </a:spcAft>
            </a:pPr>
            <a:r>
              <a:rPr sz="1100" b="0" i="0">
                <a:solidFill>
                  <a:srgbClr val="1A1A1A"/>
                </a:solidFill>
                <a:latin typeface="Abadi"/>
              </a:rPr>
              <a:t>▪  Esomeprazole vs placebo, 17 adults</a:t>
            </a:r>
          </a:p>
          <a:p>
            <a:pPr algn="l">
              <a:spcAft>
                <a:spcPts val="400"/>
              </a:spcAft>
            </a:pPr>
            <a:r>
              <a:rPr sz="1100" b="0" i="0">
                <a:solidFill>
                  <a:srgbClr val="1A1A1A"/>
                </a:solidFill>
                <a:latin typeface="Abadi"/>
              </a:rPr>
              <a:t>▪  Exacerbations 5/9 vs 2/8</a:t>
            </a:r>
          </a:p>
          <a:p>
            <a:pPr algn="l">
              <a:spcAft>
                <a:spcPts val="400"/>
              </a:spcAft>
            </a:pPr>
            <a:r>
              <a:rPr sz="1100" b="0" i="0">
                <a:solidFill>
                  <a:srgbClr val="1A1A1A"/>
                </a:solidFill>
                <a:latin typeface="Abadi"/>
              </a:rPr>
              <a:t>▪  No FEV1 benefit</a:t>
            </a:r>
          </a:p>
        </p:txBody>
      </p:sp>
      <p:sp>
        <p:nvSpPr>
          <p:cNvPr id="16" name="Rectangle 15"/>
          <p:cNvSpPr/>
          <p:nvPr/>
        </p:nvSpPr>
        <p:spPr>
          <a:xfrm>
            <a:off x="3364992" y="1773936"/>
            <a:ext cx="2633472" cy="228600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64992" y="1773936"/>
            <a:ext cx="2633472"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11296" y="1956816"/>
            <a:ext cx="2340864" cy="502920"/>
          </a:xfrm>
          <a:prstGeom prst="rect">
            <a:avLst/>
          </a:prstGeom>
          <a:noFill/>
        </p:spPr>
        <p:txBody>
          <a:bodyPr wrap="square" anchor="t" lIns="36576" rIns="36576" tIns="36576" bIns="36576">
            <a:spAutoFit/>
          </a:bodyPr>
          <a:lstStyle/>
          <a:p>
            <a:pPr algn="l"/>
            <a:r>
              <a:rPr sz="1500" b="1" i="0">
                <a:solidFill>
                  <a:srgbClr val="D97A0B"/>
                </a:solidFill>
                <a:latin typeface="Abadi"/>
              </a:rPr>
              <a:t>Cohort 2017</a:t>
            </a:r>
          </a:p>
        </p:txBody>
      </p:sp>
      <p:sp>
        <p:nvSpPr>
          <p:cNvPr id="19" name="TextBox 18"/>
          <p:cNvSpPr txBox="1"/>
          <p:nvPr/>
        </p:nvSpPr>
        <p:spPr>
          <a:xfrm>
            <a:off x="3511296" y="2487168"/>
            <a:ext cx="2340864" cy="1481328"/>
          </a:xfrm>
          <a:prstGeom prst="rect">
            <a:avLst/>
          </a:prstGeom>
          <a:noFill/>
        </p:spPr>
        <p:txBody>
          <a:bodyPr wrap="square" anchor="t" lIns="36576" rIns="36576" tIns="36576" bIns="36576">
            <a:spAutoFit/>
          </a:bodyPr>
          <a:lstStyle/>
          <a:p>
            <a:pPr algn="l">
              <a:spcAft>
                <a:spcPts val="400"/>
              </a:spcAft>
            </a:pPr>
            <a:r>
              <a:rPr sz="1100" b="0" i="0">
                <a:solidFill>
                  <a:srgbClr val="1A1A1A"/>
                </a:solidFill>
                <a:latin typeface="Abadi"/>
              </a:rPr>
              <a:t>▪  114 patients</a:t>
            </a:r>
          </a:p>
          <a:p>
            <a:pPr algn="l">
              <a:spcAft>
                <a:spcPts val="400"/>
              </a:spcAft>
            </a:pPr>
            <a:r>
              <a:rPr sz="1100" b="0" i="0">
                <a:solidFill>
                  <a:srgbClr val="1A1A1A"/>
                </a:solidFill>
                <a:latin typeface="Abadi"/>
              </a:rPr>
              <a:t>▪  PPI use independently linked to more hospital admissions (P = .03)</a:t>
            </a:r>
          </a:p>
        </p:txBody>
      </p:sp>
      <p:sp>
        <p:nvSpPr>
          <p:cNvPr id="20" name="Rectangle 19"/>
          <p:cNvSpPr/>
          <p:nvPr/>
        </p:nvSpPr>
        <p:spPr>
          <a:xfrm>
            <a:off x="6181344" y="1773936"/>
            <a:ext cx="2633472" cy="228600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81344" y="1773936"/>
            <a:ext cx="2633472"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27648" y="1956816"/>
            <a:ext cx="2340864" cy="502920"/>
          </a:xfrm>
          <a:prstGeom prst="rect">
            <a:avLst/>
          </a:prstGeom>
          <a:noFill/>
        </p:spPr>
        <p:txBody>
          <a:bodyPr wrap="square" anchor="t" lIns="36576" rIns="36576" tIns="36576" bIns="36576">
            <a:spAutoFit/>
          </a:bodyPr>
          <a:lstStyle/>
          <a:p>
            <a:pPr algn="l"/>
            <a:r>
              <a:rPr sz="1500" b="1" i="0">
                <a:solidFill>
                  <a:srgbClr val="B22222"/>
                </a:solidFill>
                <a:latin typeface="Abadi"/>
              </a:rPr>
              <a:t>Cohort 2018</a:t>
            </a:r>
          </a:p>
        </p:txBody>
      </p:sp>
      <p:sp>
        <p:nvSpPr>
          <p:cNvPr id="23" name="TextBox 22"/>
          <p:cNvSpPr txBox="1"/>
          <p:nvPr/>
        </p:nvSpPr>
        <p:spPr>
          <a:xfrm>
            <a:off x="6327648" y="2487168"/>
            <a:ext cx="2340864" cy="1481328"/>
          </a:xfrm>
          <a:prstGeom prst="rect">
            <a:avLst/>
          </a:prstGeom>
          <a:noFill/>
        </p:spPr>
        <p:txBody>
          <a:bodyPr wrap="square" anchor="t" lIns="36576" rIns="36576" tIns="36576" bIns="36576">
            <a:spAutoFit/>
          </a:bodyPr>
          <a:lstStyle/>
          <a:p>
            <a:pPr algn="l">
              <a:spcAft>
                <a:spcPts val="400"/>
              </a:spcAft>
            </a:pPr>
            <a:r>
              <a:rPr sz="1100" b="0" i="0">
                <a:solidFill>
                  <a:srgbClr val="1A1A1A"/>
                </a:solidFill>
                <a:latin typeface="Abadi"/>
              </a:rPr>
              <a:t>▪  545 children</a:t>
            </a:r>
          </a:p>
          <a:p>
            <a:pPr algn="l">
              <a:spcAft>
                <a:spcPts val="400"/>
              </a:spcAft>
            </a:pPr>
            <a:r>
              <a:rPr sz="1100" b="0" i="0">
                <a:solidFill>
                  <a:srgbClr val="1A1A1A"/>
                </a:solidFill>
                <a:latin typeface="Abadi"/>
              </a:rPr>
              <a:t>▪  PPI use linked to FEV1 decline (P = .017) and later exacerbations (P = .006)</a:t>
            </a:r>
          </a:p>
        </p:txBody>
      </p:sp>
      <p:sp>
        <p:nvSpPr>
          <p:cNvPr id="24" name="Rectangle 23"/>
          <p:cNvSpPr/>
          <p:nvPr/>
        </p:nvSpPr>
        <p:spPr>
          <a:xfrm>
            <a:off x="8997696" y="1773936"/>
            <a:ext cx="2633472" cy="228600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997696" y="1773936"/>
            <a:ext cx="2633472" cy="1005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0" y="1956816"/>
            <a:ext cx="2340864" cy="502920"/>
          </a:xfrm>
          <a:prstGeom prst="rect">
            <a:avLst/>
          </a:prstGeom>
          <a:noFill/>
        </p:spPr>
        <p:txBody>
          <a:bodyPr wrap="square" anchor="t" lIns="36576" rIns="36576" tIns="36576" bIns="36576">
            <a:spAutoFit/>
          </a:bodyPr>
          <a:lstStyle/>
          <a:p>
            <a:pPr algn="l"/>
            <a:r>
              <a:rPr sz="1500" b="1" i="0">
                <a:solidFill>
                  <a:srgbClr val="1E7A33"/>
                </a:solidFill>
                <a:latin typeface="Abadi"/>
              </a:rPr>
              <a:t>Modulators</a:t>
            </a:r>
          </a:p>
        </p:txBody>
      </p:sp>
      <p:sp>
        <p:nvSpPr>
          <p:cNvPr id="27" name="TextBox 26"/>
          <p:cNvSpPr txBox="1"/>
          <p:nvPr/>
        </p:nvSpPr>
        <p:spPr>
          <a:xfrm>
            <a:off x="9144000" y="2487168"/>
            <a:ext cx="2340864" cy="1481328"/>
          </a:xfrm>
          <a:prstGeom prst="rect">
            <a:avLst/>
          </a:prstGeom>
          <a:noFill/>
        </p:spPr>
        <p:txBody>
          <a:bodyPr wrap="square" anchor="t" lIns="36576" rIns="36576" tIns="36576" bIns="36576">
            <a:spAutoFit/>
          </a:bodyPr>
          <a:lstStyle/>
          <a:p>
            <a:pPr algn="l">
              <a:spcAft>
                <a:spcPts val="400"/>
              </a:spcAft>
            </a:pPr>
            <a:r>
              <a:rPr sz="1100" b="0" i="0">
                <a:solidFill>
                  <a:srgbClr val="1A1A1A"/>
                </a:solidFill>
                <a:latin typeface="Abadi"/>
              </a:rPr>
              <a:t>▪  Children 6–11 on modulators</a:t>
            </a:r>
          </a:p>
          <a:p>
            <a:pPr algn="l">
              <a:spcAft>
                <a:spcPts val="400"/>
              </a:spcAft>
            </a:pPr>
            <a:r>
              <a:rPr sz="1100" b="0" i="0">
                <a:solidFill>
                  <a:srgbClr val="1A1A1A"/>
                </a:solidFill>
                <a:latin typeface="Abadi"/>
              </a:rPr>
              <a:t>▪  GI symptom scores unchanged at 12 months</a:t>
            </a:r>
          </a:p>
        </p:txBody>
      </p:sp>
      <p:sp>
        <p:nvSpPr>
          <p:cNvPr id="28" name="TextBox 27"/>
          <p:cNvSpPr txBox="1"/>
          <p:nvPr/>
        </p:nvSpPr>
        <p:spPr>
          <a:xfrm>
            <a:off x="548640" y="4251960"/>
            <a:ext cx="11082528" cy="1463040"/>
          </a:xfrm>
          <a:prstGeom prst="rect">
            <a:avLst/>
          </a:prstGeom>
          <a:noFill/>
        </p:spPr>
        <p:txBody>
          <a:bodyPr wrap="square" anchor="t" lIns="36576" rIns="36576" tIns="36576" bIns="36576">
            <a:spAutoFit/>
          </a:bodyPr>
          <a:lstStyle/>
          <a:p>
            <a:pPr algn="l"/>
            <a:r>
              <a:rPr sz="1250" b="1" i="0">
                <a:solidFill>
                  <a:srgbClr val="1B355E"/>
                </a:solidFill>
                <a:latin typeface="Abadi"/>
              </a:rPr>
              <a:t>Interpretation.   </a:t>
            </a:r>
            <a:r>
              <a:rPr sz="1250" b="0" i="0">
                <a:solidFill>
                  <a:srgbClr val="1A1A1A"/>
                </a:solidFill>
                <a:latin typeface="Abadi"/>
              </a:rPr>
              <a:t>No trial shows that suppressing acid improves the lungs in cystic fibrosis, and two cohorts associate PPI use with respiratory harm, though confounding by severity is likely. Use a PPI for proven acid disease or for malabsorption despite adequate enzymes, review it at every visit, and stop it when the indication ends. There is no CF Foundation or European CF Society guideline on reflux.</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anchor="ctr" lIns="0" rIns="0" tIns="0" bIns="0">
            <a:spAutoFit/>
          </a:bodyPr>
          <a:lstStyle/>
          <a:p>
            <a:pPr algn="ctr"/>
            <a:r>
              <a:rPr sz="1500" b="1" i="0">
                <a:solidFill>
                  <a:srgbClr val="FFFFFF"/>
                </a:solidFill>
                <a:latin typeface="Abadi"/>
              </a:rPr>
              <a:t>V</a:t>
            </a:r>
          </a:p>
        </p:txBody>
      </p:sp>
      <p:sp>
        <p:nvSpPr>
          <p:cNvPr id="4" name="TextBox 3"/>
          <p:cNvSpPr txBox="1"/>
          <p:nvPr/>
        </p:nvSpPr>
        <p:spPr>
          <a:xfrm>
            <a:off x="1380744" y="292608"/>
            <a:ext cx="10232136" cy="347472"/>
          </a:xfrm>
          <a:prstGeom prst="rect">
            <a:avLst/>
          </a:prstGeom>
          <a:noFill/>
        </p:spPr>
        <p:txBody>
          <a:bodyPr wrap="square" anchor="ctr" lIns="36576" rIns="36576" tIns="36576" bIns="36576">
            <a:spAutoFit/>
          </a:bodyPr>
          <a:lstStyle/>
          <a:p>
            <a:pPr algn="l"/>
            <a:r>
              <a:rPr sz="1200" b="1" i="0">
                <a:solidFill>
                  <a:srgbClr val="B22222"/>
                </a:solidFill>
                <a:latin typeface="Abadi"/>
              </a:rPr>
              <a:t>OBESITY</a:t>
            </a:r>
          </a:p>
        </p:txBody>
      </p:sp>
      <p:sp>
        <p:nvSpPr>
          <p:cNvPr id="5" name="TextBox 4"/>
          <p:cNvSpPr txBox="1"/>
          <p:nvPr/>
        </p:nvSpPr>
        <p:spPr>
          <a:xfrm>
            <a:off x="548640" y="722376"/>
            <a:ext cx="11082528" cy="548640"/>
          </a:xfrm>
          <a:prstGeom prst="rect">
            <a:avLst/>
          </a:prstGeom>
          <a:noFill/>
        </p:spPr>
        <p:txBody>
          <a:bodyPr wrap="square" anchor="ctr" lIns="36576" rIns="36576" tIns="36576" bIns="36576">
            <a:spAutoFit/>
          </a:bodyPr>
          <a:lstStyle/>
          <a:p>
            <a:pPr algn="l"/>
            <a:r>
              <a:rPr sz="3000" b="1" i="0">
                <a:solidFill>
                  <a:srgbClr val="1B355E"/>
                </a:solidFill>
                <a:latin typeface="Abadi"/>
              </a:rPr>
              <a:t>RISK RISES WITH WEIGHT, INCONSISTENTLY</a:t>
            </a:r>
          </a:p>
        </p:txBody>
      </p:sp>
      <p:sp>
        <p:nvSpPr>
          <p:cNvPr id="6" name="TextBox 5"/>
          <p:cNvSpPr txBox="1"/>
          <p:nvPr/>
        </p:nvSpPr>
        <p:spPr>
          <a:xfrm>
            <a:off x="548640" y="1307592"/>
            <a:ext cx="11082528" cy="265176"/>
          </a:xfrm>
          <a:prstGeom prst="rect">
            <a:avLst/>
          </a:prstGeom>
          <a:noFill/>
        </p:spPr>
        <p:txBody>
          <a:bodyPr wrap="square" anchor="t" lIns="36576" rIns="36576" tIns="36576" bIns="36576">
            <a:spAutoFit/>
          </a:bodyPr>
          <a:lstStyle/>
          <a:p>
            <a:pPr algn="l"/>
            <a:r>
              <a:rPr sz="1300" b="0" i="0">
                <a:solidFill>
                  <a:srgbClr val="555555"/>
                </a:solidFill>
                <a:latin typeface="Abadi"/>
              </a:rPr>
              <a:t>Reflux symptoms by weight status in children, %</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anchor="t" lIns="36576" rIns="36576" tIns="36576" bIns="36576">
            <a:spAutoFit/>
          </a:bodyPr>
          <a:lstStyle/>
          <a:p>
            <a:pPr algn="r"/>
            <a:r>
              <a:rPr sz="1200" b="0" i="0">
                <a:solidFill>
                  <a:srgbClr val="555555"/>
                </a:solidFill>
                <a:latin typeface="Abadi"/>
              </a:rPr>
              <a:t>14</a:t>
            </a:r>
          </a:p>
        </p:txBody>
      </p:sp>
      <p:sp>
        <p:nvSpPr>
          <p:cNvPr id="11" name="TextBox 10"/>
          <p:cNvSpPr txBox="1"/>
          <p:nvPr/>
        </p:nvSpPr>
        <p:spPr>
          <a:xfrm>
            <a:off x="548640" y="5971032"/>
            <a:ext cx="10287000" cy="457200"/>
          </a:xfrm>
          <a:prstGeom prst="rect">
            <a:avLst/>
          </a:prstGeom>
          <a:noFill/>
        </p:spPr>
        <p:txBody>
          <a:bodyPr wrap="square" anchor="t" lIns="36576" rIns="36576" tIns="36576" bIns="36576">
            <a:spAutoFit/>
          </a:bodyPr>
          <a:lstStyle/>
          <a:p>
            <a:pPr algn="l"/>
            <a:r>
              <a:rPr sz="1000" b="0" i="0">
                <a:solidFill>
                  <a:srgbClr val="7F7F7F"/>
                </a:solidFill>
                <a:latin typeface="Abadi"/>
              </a:rPr>
              <a:t>Quitadamo P, et al. JPGN 2012;55:72–5 · Koebnick C, et al. Int J Pediatr Obes 2011;6:e257–63 · Patel NR, et al. J Obes 2010 · Andrásdi Z, et al. J Pediatr Endocrinol Metab 2024</a:t>
            </a:r>
          </a:p>
        </p:txBody>
      </p:sp>
      <p:sp>
        <p:nvSpPr>
          <p:cNvPr id="12" name="TextBox 11"/>
          <p:cNvSpPr txBox="1"/>
          <p:nvPr/>
        </p:nvSpPr>
        <p:spPr>
          <a:xfrm>
            <a:off x="548640" y="1828800"/>
            <a:ext cx="2834640" cy="384048"/>
          </a:xfrm>
          <a:prstGeom prst="rect">
            <a:avLst/>
          </a:prstGeom>
          <a:noFill/>
        </p:spPr>
        <p:txBody>
          <a:bodyPr wrap="square" anchor="ctr" lIns="36576" rIns="36576" tIns="36576" bIns="36576">
            <a:spAutoFit/>
          </a:bodyPr>
          <a:lstStyle/>
          <a:p>
            <a:pPr algn="l"/>
            <a:r>
              <a:rPr sz="1050" b="0" i="0">
                <a:solidFill>
                  <a:srgbClr val="1A1A1A"/>
                </a:solidFill>
                <a:latin typeface="Abadi"/>
              </a:rPr>
              <a:t>Italy 2012 · obese</a:t>
            </a:r>
          </a:p>
        </p:txBody>
      </p:sp>
      <p:sp>
        <p:nvSpPr>
          <p:cNvPr id="13" name="Rectangle 12"/>
          <p:cNvSpPr/>
          <p:nvPr/>
        </p:nvSpPr>
        <p:spPr>
          <a:xfrm>
            <a:off x="3474720" y="1856231"/>
            <a:ext cx="2914741" cy="3291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62613" y="1828800"/>
            <a:ext cx="1463040" cy="384048"/>
          </a:xfrm>
          <a:prstGeom prst="rect">
            <a:avLst/>
          </a:prstGeom>
          <a:noFill/>
        </p:spPr>
        <p:txBody>
          <a:bodyPr wrap="square" anchor="ctr" lIns="36576" rIns="36576" tIns="36576" bIns="36576">
            <a:spAutoFit/>
          </a:bodyPr>
          <a:lstStyle/>
          <a:p>
            <a:pPr algn="l"/>
            <a:r>
              <a:rPr sz="1050" b="1" i="0">
                <a:solidFill>
                  <a:srgbClr val="1A1A1A"/>
                </a:solidFill>
                <a:latin typeface="Abadi"/>
              </a:rPr>
              <a:t>61.3%</a:t>
            </a:r>
          </a:p>
        </p:txBody>
      </p:sp>
      <p:sp>
        <p:nvSpPr>
          <p:cNvPr id="15" name="TextBox 14"/>
          <p:cNvSpPr txBox="1"/>
          <p:nvPr/>
        </p:nvSpPr>
        <p:spPr>
          <a:xfrm>
            <a:off x="548640" y="2212848"/>
            <a:ext cx="2834640" cy="384048"/>
          </a:xfrm>
          <a:prstGeom prst="rect">
            <a:avLst/>
          </a:prstGeom>
          <a:noFill/>
        </p:spPr>
        <p:txBody>
          <a:bodyPr wrap="square" anchor="ctr" lIns="36576" rIns="36576" tIns="36576" bIns="36576">
            <a:spAutoFit/>
          </a:bodyPr>
          <a:lstStyle/>
          <a:p>
            <a:pPr algn="l"/>
            <a:r>
              <a:rPr sz="1050" b="0" i="0">
                <a:solidFill>
                  <a:srgbClr val="1A1A1A"/>
                </a:solidFill>
                <a:latin typeface="Abadi"/>
              </a:rPr>
              <a:t>Italy 2012 · normal weight</a:t>
            </a:r>
          </a:p>
        </p:txBody>
      </p:sp>
      <p:sp>
        <p:nvSpPr>
          <p:cNvPr id="16" name="Rectangle 15"/>
          <p:cNvSpPr/>
          <p:nvPr/>
        </p:nvSpPr>
        <p:spPr>
          <a:xfrm>
            <a:off x="3474720" y="2240279"/>
            <a:ext cx="1036563" cy="3291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84435" y="2212848"/>
            <a:ext cx="1463040" cy="384048"/>
          </a:xfrm>
          <a:prstGeom prst="rect">
            <a:avLst/>
          </a:prstGeom>
          <a:noFill/>
        </p:spPr>
        <p:txBody>
          <a:bodyPr wrap="square" anchor="ctr" lIns="36576" rIns="36576" tIns="36576" bIns="36576">
            <a:spAutoFit/>
          </a:bodyPr>
          <a:lstStyle/>
          <a:p>
            <a:pPr algn="l"/>
            <a:r>
              <a:rPr sz="1050" b="1" i="0">
                <a:solidFill>
                  <a:srgbClr val="1A1A1A"/>
                </a:solidFill>
                <a:latin typeface="Abadi"/>
              </a:rPr>
              <a:t>21.8%</a:t>
            </a:r>
          </a:p>
        </p:txBody>
      </p:sp>
      <p:sp>
        <p:nvSpPr>
          <p:cNvPr id="18" name="TextBox 17"/>
          <p:cNvSpPr txBox="1"/>
          <p:nvPr/>
        </p:nvSpPr>
        <p:spPr>
          <a:xfrm>
            <a:off x="548640" y="2596896"/>
            <a:ext cx="2834640" cy="384048"/>
          </a:xfrm>
          <a:prstGeom prst="rect">
            <a:avLst/>
          </a:prstGeom>
          <a:noFill/>
        </p:spPr>
        <p:txBody>
          <a:bodyPr wrap="square" anchor="ctr" lIns="36576" rIns="36576" tIns="36576" bIns="36576">
            <a:spAutoFit/>
          </a:bodyPr>
          <a:lstStyle/>
          <a:p>
            <a:pPr algn="l"/>
            <a:r>
              <a:rPr sz="1050" b="0" i="0">
                <a:solidFill>
                  <a:srgbClr val="1A1A1A"/>
                </a:solidFill>
                <a:latin typeface="Abadi"/>
              </a:rPr>
              <a:t>Italy 2012 · waist &gt; 90th centile</a:t>
            </a:r>
          </a:p>
        </p:txBody>
      </p:sp>
      <p:sp>
        <p:nvSpPr>
          <p:cNvPr id="19" name="Rectangle 18"/>
          <p:cNvSpPr/>
          <p:nvPr/>
        </p:nvSpPr>
        <p:spPr>
          <a:xfrm>
            <a:off x="3474720" y="2624327"/>
            <a:ext cx="2948025" cy="3291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5897" y="2596896"/>
            <a:ext cx="1463040" cy="384048"/>
          </a:xfrm>
          <a:prstGeom prst="rect">
            <a:avLst/>
          </a:prstGeom>
          <a:noFill/>
        </p:spPr>
        <p:txBody>
          <a:bodyPr wrap="square" anchor="ctr" lIns="36576" rIns="36576" tIns="36576" bIns="36576">
            <a:spAutoFit/>
          </a:bodyPr>
          <a:lstStyle/>
          <a:p>
            <a:pPr algn="l"/>
            <a:r>
              <a:rPr sz="1050" b="1" i="0">
                <a:solidFill>
                  <a:srgbClr val="1A1A1A"/>
                </a:solidFill>
                <a:latin typeface="Abadi"/>
              </a:rPr>
              <a:t>62%</a:t>
            </a:r>
          </a:p>
        </p:txBody>
      </p:sp>
      <p:sp>
        <p:nvSpPr>
          <p:cNvPr id="21" name="TextBox 20"/>
          <p:cNvSpPr txBox="1"/>
          <p:nvPr/>
        </p:nvSpPr>
        <p:spPr>
          <a:xfrm>
            <a:off x="548640" y="2980944"/>
            <a:ext cx="2834640" cy="384048"/>
          </a:xfrm>
          <a:prstGeom prst="rect">
            <a:avLst/>
          </a:prstGeom>
          <a:noFill/>
        </p:spPr>
        <p:txBody>
          <a:bodyPr wrap="square" anchor="ctr" lIns="36576" rIns="36576" tIns="36576" bIns="36576">
            <a:spAutoFit/>
          </a:bodyPr>
          <a:lstStyle/>
          <a:p>
            <a:pPr algn="l"/>
            <a:r>
              <a:rPr sz="1050" b="0" i="0">
                <a:solidFill>
                  <a:srgbClr val="1A1A1A"/>
                </a:solidFill>
                <a:latin typeface="Abadi"/>
              </a:rPr>
              <a:t>Italy 2012 · waist &lt; 75th centile</a:t>
            </a:r>
          </a:p>
        </p:txBody>
      </p:sp>
      <p:sp>
        <p:nvSpPr>
          <p:cNvPr id="22" name="Rectangle 21"/>
          <p:cNvSpPr/>
          <p:nvPr/>
        </p:nvSpPr>
        <p:spPr>
          <a:xfrm>
            <a:off x="3474720" y="3008375"/>
            <a:ext cx="1141171" cy="3291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89043" y="2980944"/>
            <a:ext cx="1463040" cy="384048"/>
          </a:xfrm>
          <a:prstGeom prst="rect">
            <a:avLst/>
          </a:prstGeom>
          <a:noFill/>
        </p:spPr>
        <p:txBody>
          <a:bodyPr wrap="square" anchor="ctr" lIns="36576" rIns="36576" tIns="36576" bIns="36576">
            <a:spAutoFit/>
          </a:bodyPr>
          <a:lstStyle/>
          <a:p>
            <a:pPr algn="l"/>
            <a:r>
              <a:rPr sz="1050" b="1" i="0">
                <a:solidFill>
                  <a:srgbClr val="1A1A1A"/>
                </a:solidFill>
                <a:latin typeface="Abadi"/>
              </a:rPr>
              <a:t>24%</a:t>
            </a:r>
          </a:p>
        </p:txBody>
      </p:sp>
      <p:sp>
        <p:nvSpPr>
          <p:cNvPr id="24" name="TextBox 23"/>
          <p:cNvSpPr txBox="1"/>
          <p:nvPr/>
        </p:nvSpPr>
        <p:spPr>
          <a:xfrm>
            <a:off x="548640" y="3364991"/>
            <a:ext cx="2834640" cy="384048"/>
          </a:xfrm>
          <a:prstGeom prst="rect">
            <a:avLst/>
          </a:prstGeom>
          <a:noFill/>
        </p:spPr>
        <p:txBody>
          <a:bodyPr wrap="square" anchor="ctr" lIns="36576" rIns="36576" tIns="36576" bIns="36576">
            <a:spAutoFit/>
          </a:bodyPr>
          <a:lstStyle/>
          <a:p>
            <a:pPr algn="l"/>
            <a:r>
              <a:rPr sz="1050" b="0" i="0">
                <a:solidFill>
                  <a:srgbClr val="1A1A1A"/>
                </a:solidFill>
                <a:latin typeface="Abadi"/>
              </a:rPr>
              <a:t>Endoscopic oesophagitis · overweight</a:t>
            </a:r>
          </a:p>
        </p:txBody>
      </p:sp>
      <p:sp>
        <p:nvSpPr>
          <p:cNvPr id="25" name="Rectangle 24"/>
          <p:cNvSpPr/>
          <p:nvPr/>
        </p:nvSpPr>
        <p:spPr>
          <a:xfrm>
            <a:off x="3474720" y="3392423"/>
            <a:ext cx="1136416" cy="3291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84288" y="3364991"/>
            <a:ext cx="1463040" cy="384048"/>
          </a:xfrm>
          <a:prstGeom prst="rect">
            <a:avLst/>
          </a:prstGeom>
          <a:noFill/>
        </p:spPr>
        <p:txBody>
          <a:bodyPr wrap="square" anchor="ctr" lIns="36576" rIns="36576" tIns="36576" bIns="36576">
            <a:spAutoFit/>
          </a:bodyPr>
          <a:lstStyle/>
          <a:p>
            <a:pPr algn="l"/>
            <a:r>
              <a:rPr sz="1050" b="1" i="0">
                <a:solidFill>
                  <a:srgbClr val="1A1A1A"/>
                </a:solidFill>
                <a:latin typeface="Abadi"/>
              </a:rPr>
              <a:t>23.9%</a:t>
            </a:r>
          </a:p>
        </p:txBody>
      </p:sp>
      <p:sp>
        <p:nvSpPr>
          <p:cNvPr id="27" name="TextBox 26"/>
          <p:cNvSpPr txBox="1"/>
          <p:nvPr/>
        </p:nvSpPr>
        <p:spPr>
          <a:xfrm>
            <a:off x="548640" y="3749039"/>
            <a:ext cx="2834640" cy="384048"/>
          </a:xfrm>
          <a:prstGeom prst="rect">
            <a:avLst/>
          </a:prstGeom>
          <a:noFill/>
        </p:spPr>
        <p:txBody>
          <a:bodyPr wrap="square" anchor="ctr" lIns="36576" rIns="36576" tIns="36576" bIns="36576">
            <a:spAutoFit/>
          </a:bodyPr>
          <a:lstStyle/>
          <a:p>
            <a:pPr algn="l"/>
            <a:r>
              <a:rPr sz="1050" b="0" i="0">
                <a:solidFill>
                  <a:srgbClr val="1A1A1A"/>
                </a:solidFill>
                <a:latin typeface="Abadi"/>
              </a:rPr>
              <a:t>Endoscopic oesophagitis · normal</a:t>
            </a:r>
          </a:p>
        </p:txBody>
      </p:sp>
      <p:sp>
        <p:nvSpPr>
          <p:cNvPr id="28" name="Rectangle 27"/>
          <p:cNvSpPr/>
          <p:nvPr/>
        </p:nvSpPr>
        <p:spPr>
          <a:xfrm>
            <a:off x="3474720" y="3776472"/>
            <a:ext cx="1164945" cy="3291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712817" y="3749039"/>
            <a:ext cx="1463040" cy="384048"/>
          </a:xfrm>
          <a:prstGeom prst="rect">
            <a:avLst/>
          </a:prstGeom>
          <a:noFill/>
        </p:spPr>
        <p:txBody>
          <a:bodyPr wrap="square" anchor="ctr" lIns="36576" rIns="36576" tIns="36576" bIns="36576">
            <a:spAutoFit/>
          </a:bodyPr>
          <a:lstStyle/>
          <a:p>
            <a:pPr algn="l"/>
            <a:r>
              <a:rPr sz="1050" b="1" i="0">
                <a:solidFill>
                  <a:srgbClr val="1A1A1A"/>
                </a:solidFill>
                <a:latin typeface="Abadi"/>
              </a:rPr>
              <a:t>24.5%</a:t>
            </a:r>
          </a:p>
        </p:txBody>
      </p:sp>
      <p:sp>
        <p:nvSpPr>
          <p:cNvPr id="30" name="TextBox 29"/>
          <p:cNvSpPr txBox="1"/>
          <p:nvPr/>
        </p:nvSpPr>
        <p:spPr>
          <a:xfrm>
            <a:off x="548640" y="4133087"/>
            <a:ext cx="2834640" cy="384048"/>
          </a:xfrm>
          <a:prstGeom prst="rect">
            <a:avLst/>
          </a:prstGeom>
          <a:noFill/>
        </p:spPr>
        <p:txBody>
          <a:bodyPr wrap="square" anchor="ctr" lIns="36576" rIns="36576" tIns="36576" bIns="36576">
            <a:spAutoFit/>
          </a:bodyPr>
          <a:lstStyle/>
          <a:p>
            <a:pPr algn="l"/>
            <a:r>
              <a:rPr sz="1050" b="0" i="0">
                <a:solidFill>
                  <a:srgbClr val="1A1A1A"/>
                </a:solidFill>
                <a:latin typeface="Abadi"/>
              </a:rPr>
              <a:t>Hungary 2024 · questionnaire, obese</a:t>
            </a:r>
          </a:p>
        </p:txBody>
      </p:sp>
      <p:sp>
        <p:nvSpPr>
          <p:cNvPr id="31" name="Rectangle 30"/>
          <p:cNvSpPr/>
          <p:nvPr/>
        </p:nvSpPr>
        <p:spPr>
          <a:xfrm>
            <a:off x="3474720" y="4160520"/>
            <a:ext cx="1378915" cy="3291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926787" y="4133087"/>
            <a:ext cx="1463040" cy="384048"/>
          </a:xfrm>
          <a:prstGeom prst="rect">
            <a:avLst/>
          </a:prstGeom>
          <a:noFill/>
        </p:spPr>
        <p:txBody>
          <a:bodyPr wrap="square" anchor="ctr" lIns="36576" rIns="36576" tIns="36576" bIns="36576">
            <a:spAutoFit/>
          </a:bodyPr>
          <a:lstStyle/>
          <a:p>
            <a:pPr algn="l"/>
            <a:r>
              <a:rPr sz="1050" b="1" i="0">
                <a:solidFill>
                  <a:srgbClr val="1A1A1A"/>
                </a:solidFill>
                <a:latin typeface="Abadi"/>
              </a:rPr>
              <a:t>29%</a:t>
            </a:r>
          </a:p>
        </p:txBody>
      </p:sp>
      <p:sp>
        <p:nvSpPr>
          <p:cNvPr id="33" name="TextBox 32"/>
          <p:cNvSpPr txBox="1"/>
          <p:nvPr/>
        </p:nvSpPr>
        <p:spPr>
          <a:xfrm>
            <a:off x="548640" y="4517136"/>
            <a:ext cx="2834640" cy="384048"/>
          </a:xfrm>
          <a:prstGeom prst="rect">
            <a:avLst/>
          </a:prstGeom>
          <a:noFill/>
        </p:spPr>
        <p:txBody>
          <a:bodyPr wrap="square" anchor="ctr" lIns="36576" rIns="36576" tIns="36576" bIns="36576">
            <a:spAutoFit/>
          </a:bodyPr>
          <a:lstStyle/>
          <a:p>
            <a:pPr algn="l"/>
            <a:r>
              <a:rPr sz="1050" b="0" i="0">
                <a:solidFill>
                  <a:srgbClr val="1A1A1A"/>
                </a:solidFill>
                <a:latin typeface="Abadi"/>
              </a:rPr>
              <a:t>Hungary 2024 · non-obese</a:t>
            </a:r>
          </a:p>
        </p:txBody>
      </p:sp>
      <p:sp>
        <p:nvSpPr>
          <p:cNvPr id="34" name="Rectangle 33"/>
          <p:cNvSpPr/>
          <p:nvPr/>
        </p:nvSpPr>
        <p:spPr>
          <a:xfrm>
            <a:off x="3474720" y="4544568"/>
            <a:ext cx="1283817" cy="3291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831689" y="4517136"/>
            <a:ext cx="1463040" cy="384048"/>
          </a:xfrm>
          <a:prstGeom prst="rect">
            <a:avLst/>
          </a:prstGeom>
          <a:noFill/>
        </p:spPr>
        <p:txBody>
          <a:bodyPr wrap="square" anchor="ctr" lIns="36576" rIns="36576" tIns="36576" bIns="36576">
            <a:spAutoFit/>
          </a:bodyPr>
          <a:lstStyle/>
          <a:p>
            <a:pPr algn="l"/>
            <a:r>
              <a:rPr sz="1050" b="1" i="0">
                <a:solidFill>
                  <a:srgbClr val="1A1A1A"/>
                </a:solidFill>
                <a:latin typeface="Abadi"/>
              </a:rPr>
              <a:t>27%</a:t>
            </a:r>
          </a:p>
        </p:txBody>
      </p:sp>
      <p:sp>
        <p:nvSpPr>
          <p:cNvPr id="36" name="TextBox 35"/>
          <p:cNvSpPr txBox="1"/>
          <p:nvPr/>
        </p:nvSpPr>
        <p:spPr>
          <a:xfrm>
            <a:off x="548640" y="4946903"/>
            <a:ext cx="7863840" cy="274320"/>
          </a:xfrm>
          <a:prstGeom prst="rect">
            <a:avLst/>
          </a:prstGeom>
          <a:noFill/>
        </p:spPr>
        <p:txBody>
          <a:bodyPr wrap="square" anchor="t" lIns="36576" rIns="36576" tIns="36576" bIns="36576">
            <a:spAutoFit/>
          </a:bodyPr>
          <a:lstStyle/>
          <a:p>
            <a:pPr algn="l"/>
            <a:r>
              <a:rPr sz="950" b="0" i="0">
                <a:solidFill>
                  <a:srgbClr val="7F7F7F"/>
                </a:solidFill>
                <a:latin typeface="Abadi"/>
              </a:rPr>
              <a:t>Italian questionnaire unvalidated, 153 children. Oesophagitis series (2010) and Hungarian study: no difference.</a:t>
            </a:r>
          </a:p>
        </p:txBody>
      </p:sp>
      <p:sp>
        <p:nvSpPr>
          <p:cNvPr id="37" name="TextBox 36"/>
          <p:cNvSpPr txBox="1"/>
          <p:nvPr/>
        </p:nvSpPr>
        <p:spPr>
          <a:xfrm>
            <a:off x="8778240" y="1783080"/>
            <a:ext cx="2834640" cy="3931920"/>
          </a:xfrm>
          <a:prstGeom prst="rect">
            <a:avLst/>
          </a:prstGeom>
          <a:noFill/>
        </p:spPr>
        <p:txBody>
          <a:bodyPr wrap="square" anchor="t" lIns="36576" rIns="36576" tIns="36576" bIns="36576">
            <a:spAutoFit/>
          </a:bodyPr>
          <a:lstStyle/>
          <a:p>
            <a:pPr algn="l">
              <a:spcAft>
                <a:spcPts val="300"/>
              </a:spcAft>
            </a:pPr>
            <a:r>
              <a:rPr sz="1500" b="1" i="0">
                <a:solidFill>
                  <a:srgbClr val="1B355E"/>
                </a:solidFill>
                <a:latin typeface="Abadi"/>
              </a:rPr>
              <a:t>California 2011</a:t>
            </a:r>
          </a:p>
          <a:p>
            <a:pPr algn="l">
              <a:spcAft>
                <a:spcPts val="300"/>
              </a:spcAft>
            </a:pPr>
            <a:r>
              <a:rPr sz="1050" b="0" i="0">
                <a:solidFill>
                  <a:srgbClr val="1A1A1A"/>
                </a:solidFill>
                <a:latin typeface="Abadi"/>
              </a:rPr>
              <a:t>690,321 children aged 2–19: diagnosed reflux about 30% more likely with moderate and 40% with extreme obesity; none at 2–5 years.</a:t>
            </a:r>
          </a:p>
          <a:p>
            <a:pPr algn="l">
              <a:spcAft>
                <a:spcPts val="300"/>
              </a:spcAft>
            </a:pPr>
            <a:r>
              <a:rPr sz="1500" b="1" i="0">
                <a:solidFill>
                  <a:srgbClr val="1B355E"/>
                </a:solidFill>
                <a:latin typeface="Abadi"/>
              </a:rPr>
              <a:t>Signal</a:t>
            </a:r>
          </a:p>
          <a:p>
            <a:pPr algn="l">
              <a:spcAft>
                <a:spcPts val="300"/>
              </a:spcAft>
            </a:pPr>
            <a:r>
              <a:rPr sz="1050" b="0" i="0">
                <a:solidFill>
                  <a:srgbClr val="1A1A1A"/>
                </a:solidFill>
                <a:latin typeface="Abadi"/>
              </a:rPr>
              <a:t>Central adiposity tracks symptoms more than BMI.</a:t>
            </a:r>
          </a:p>
        </p:txBody>
      </p:sp>
      <p:sp>
        <p:nvSpPr>
          <p:cNvPr id="38" name="TextBox 37"/>
          <p:cNvSpPr txBox="1"/>
          <p:nvPr/>
        </p:nvSpPr>
        <p:spPr>
          <a:xfrm>
            <a:off x="548640" y="5285231"/>
            <a:ext cx="7955279" cy="548640"/>
          </a:xfrm>
          <a:prstGeom prst="rect">
            <a:avLst/>
          </a:prstGeom>
          <a:noFill/>
        </p:spPr>
        <p:txBody>
          <a:bodyPr wrap="square" anchor="t" lIns="36576" rIns="36576" tIns="36576" bIns="36576">
            <a:spAutoFit/>
          </a:bodyPr>
          <a:lstStyle/>
          <a:p>
            <a:pPr algn="l"/>
            <a:r>
              <a:rPr sz="1200" b="1" i="0">
                <a:solidFill>
                  <a:srgbClr val="1B355E"/>
                </a:solidFill>
                <a:latin typeface="Abadi"/>
              </a:rPr>
              <a:t>Read it as.   </a:t>
            </a:r>
            <a:r>
              <a:rPr sz="1200" b="0" i="0">
                <a:solidFill>
                  <a:srgbClr val="1A1A1A"/>
                </a:solidFill>
                <a:latin typeface="Abadi"/>
              </a:rPr>
              <a:t>Symptoms rise with weight, mucosal injury less clearly; the association appears after early childhood.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anchor="ctr" lIns="0" rIns="0" tIns="0" bIns="0">
            <a:spAutoFit/>
          </a:bodyPr>
          <a:lstStyle/>
          <a:p>
            <a:pPr algn="ctr"/>
            <a:r>
              <a:rPr sz="1500" b="1" i="0">
                <a:solidFill>
                  <a:srgbClr val="FFFFFF"/>
                </a:solidFill>
                <a:latin typeface="Abadi"/>
              </a:rPr>
              <a:t>V</a:t>
            </a:r>
          </a:p>
        </p:txBody>
      </p:sp>
      <p:sp>
        <p:nvSpPr>
          <p:cNvPr id="4" name="TextBox 3"/>
          <p:cNvSpPr txBox="1"/>
          <p:nvPr/>
        </p:nvSpPr>
        <p:spPr>
          <a:xfrm>
            <a:off x="1380744" y="292608"/>
            <a:ext cx="10232136" cy="347472"/>
          </a:xfrm>
          <a:prstGeom prst="rect">
            <a:avLst/>
          </a:prstGeom>
          <a:noFill/>
        </p:spPr>
        <p:txBody>
          <a:bodyPr wrap="square" anchor="ctr" lIns="36576" rIns="36576" tIns="36576" bIns="36576">
            <a:spAutoFit/>
          </a:bodyPr>
          <a:lstStyle/>
          <a:p>
            <a:pPr algn="l"/>
            <a:r>
              <a:rPr sz="1200" b="1" i="0">
                <a:solidFill>
                  <a:srgbClr val="B22222"/>
                </a:solidFill>
                <a:latin typeface="Abadi"/>
              </a:rPr>
              <a:t>TREATING REFLUX IN OBESITY</a:t>
            </a:r>
          </a:p>
        </p:txBody>
      </p:sp>
      <p:sp>
        <p:nvSpPr>
          <p:cNvPr id="5" name="TextBox 4"/>
          <p:cNvSpPr txBox="1"/>
          <p:nvPr/>
        </p:nvSpPr>
        <p:spPr>
          <a:xfrm>
            <a:off x="548640" y="722376"/>
            <a:ext cx="11082528" cy="548640"/>
          </a:xfrm>
          <a:prstGeom prst="rect">
            <a:avLst/>
          </a:prstGeom>
          <a:noFill/>
        </p:spPr>
        <p:txBody>
          <a:bodyPr wrap="square" anchor="ctr" lIns="36576" rIns="36576" tIns="36576" bIns="36576">
            <a:spAutoFit/>
          </a:bodyPr>
          <a:lstStyle/>
          <a:p>
            <a:pPr algn="l"/>
            <a:r>
              <a:rPr sz="3000" b="1" i="0">
                <a:solidFill>
                  <a:srgbClr val="1B355E"/>
                </a:solidFill>
                <a:latin typeface="Abadi"/>
              </a:rPr>
              <a:t>WEIGHT, DOSE AND THE OPERATION CHOSEN</a:t>
            </a:r>
          </a:p>
        </p:txBody>
      </p:sp>
      <p:sp>
        <p:nvSpPr>
          <p:cNvPr id="6" name="TextBox 5"/>
          <p:cNvSpPr txBox="1"/>
          <p:nvPr/>
        </p:nvSpPr>
        <p:spPr>
          <a:xfrm>
            <a:off x="548640" y="1307592"/>
            <a:ext cx="11082528" cy="265176"/>
          </a:xfrm>
          <a:prstGeom prst="rect">
            <a:avLst/>
          </a:prstGeom>
          <a:noFill/>
        </p:spPr>
        <p:txBody>
          <a:bodyPr wrap="square" anchor="t" lIns="36576" rIns="36576" tIns="36576" bIns="36576">
            <a:spAutoFit/>
          </a:bodyPr>
          <a:lstStyle/>
          <a:p>
            <a:pPr algn="l"/>
            <a:r>
              <a:rPr sz="1300" b="0" i="0">
                <a:solidFill>
                  <a:srgbClr val="555555"/>
                </a:solidFill>
                <a:latin typeface="Abadi"/>
              </a:rPr>
              <a:t>Adult guidance, adolescent bariatric outcomes and paediatric pharmacokinetics</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anchor="t" lIns="36576" rIns="36576" tIns="36576" bIns="36576">
            <a:spAutoFit/>
          </a:bodyPr>
          <a:lstStyle/>
          <a:p>
            <a:pPr algn="r"/>
            <a:r>
              <a:rPr sz="1200" b="0" i="0">
                <a:solidFill>
                  <a:srgbClr val="555555"/>
                </a:solidFill>
                <a:latin typeface="Abadi"/>
              </a:rPr>
              <a:t>15</a:t>
            </a:r>
          </a:p>
        </p:txBody>
      </p:sp>
      <p:sp>
        <p:nvSpPr>
          <p:cNvPr id="11" name="TextBox 10"/>
          <p:cNvSpPr txBox="1"/>
          <p:nvPr/>
        </p:nvSpPr>
        <p:spPr>
          <a:xfrm>
            <a:off x="548640" y="5971032"/>
            <a:ext cx="10287000" cy="457200"/>
          </a:xfrm>
          <a:prstGeom prst="rect">
            <a:avLst/>
          </a:prstGeom>
          <a:noFill/>
        </p:spPr>
        <p:txBody>
          <a:bodyPr wrap="square" anchor="t" lIns="36576" rIns="36576" tIns="36576" bIns="36576">
            <a:spAutoFit/>
          </a:bodyPr>
          <a:lstStyle/>
          <a:p>
            <a:pPr algn="l"/>
            <a:r>
              <a:rPr sz="1000" b="0" i="0">
                <a:solidFill>
                  <a:srgbClr val="7F7F7F"/>
                </a:solidFill>
                <a:latin typeface="Abadi"/>
              </a:rPr>
              <a:t>Katz PO, et al. Am J Gastroenterol 2022;117:27–56 · Yadlapati R, et al. Clin Gastroenterol Hepatol 2022 · Rode JB, et al. J Pediatr Surg 2025;60:162215 · Shakhnovich V, et al. J Pediatr 2018;193:102–8</a:t>
            </a:r>
          </a:p>
        </p:txBody>
      </p:sp>
      <p:sp>
        <p:nvSpPr>
          <p:cNvPr id="12" name="Rectangle 11"/>
          <p:cNvSpPr/>
          <p:nvPr/>
        </p:nvSpPr>
        <p:spPr>
          <a:xfrm>
            <a:off x="548640" y="1773936"/>
            <a:ext cx="2070201" cy="233172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070201" cy="1005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1956816"/>
            <a:ext cx="1777593" cy="548640"/>
          </a:xfrm>
          <a:prstGeom prst="rect">
            <a:avLst/>
          </a:prstGeom>
          <a:noFill/>
        </p:spPr>
        <p:txBody>
          <a:bodyPr wrap="square" anchor="t" lIns="36576" rIns="36576" tIns="36576" bIns="36576">
            <a:spAutoFit/>
          </a:bodyPr>
          <a:lstStyle/>
          <a:p>
            <a:pPr algn="l"/>
            <a:r>
              <a:rPr sz="2000" b="1" i="0">
                <a:solidFill>
                  <a:srgbClr val="1E7A33"/>
                </a:solidFill>
                <a:latin typeface="Abadi"/>
              </a:rPr>
              <a:t>Strong</a:t>
            </a:r>
          </a:p>
        </p:txBody>
      </p:sp>
      <p:sp>
        <p:nvSpPr>
          <p:cNvPr id="15" name="TextBox 14"/>
          <p:cNvSpPr txBox="1"/>
          <p:nvPr/>
        </p:nvSpPr>
        <p:spPr>
          <a:xfrm>
            <a:off x="694944" y="2551176"/>
            <a:ext cx="1777593" cy="1463039"/>
          </a:xfrm>
          <a:prstGeom prst="rect">
            <a:avLst/>
          </a:prstGeom>
          <a:noFill/>
        </p:spPr>
        <p:txBody>
          <a:bodyPr wrap="square" anchor="t" lIns="36576" rIns="36576" tIns="36576" bIns="36576">
            <a:spAutoFit/>
          </a:bodyPr>
          <a:lstStyle/>
          <a:p>
            <a:pPr algn="l"/>
            <a:r>
              <a:rPr sz="1100" b="0" i="0">
                <a:solidFill>
                  <a:srgbClr val="1A1A1A"/>
                </a:solidFill>
                <a:latin typeface="Abadi"/>
              </a:rPr>
              <a:t>ACG 2022: weight loss for overweight or obese patients with reflux; moderate evidence.</a:t>
            </a:r>
          </a:p>
        </p:txBody>
      </p:sp>
      <p:sp>
        <p:nvSpPr>
          <p:cNvPr id="16" name="Rectangle 15"/>
          <p:cNvSpPr/>
          <p:nvPr/>
        </p:nvSpPr>
        <p:spPr>
          <a:xfrm>
            <a:off x="2801721" y="1773936"/>
            <a:ext cx="2070201" cy="233172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801721" y="1773936"/>
            <a:ext cx="2070201"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48025" y="1956816"/>
            <a:ext cx="1777593" cy="548640"/>
          </a:xfrm>
          <a:prstGeom prst="rect">
            <a:avLst/>
          </a:prstGeom>
          <a:noFill/>
        </p:spPr>
        <p:txBody>
          <a:bodyPr wrap="square" anchor="t" lIns="36576" rIns="36576" tIns="36576" bIns="36576">
            <a:spAutoFit/>
          </a:bodyPr>
          <a:lstStyle/>
          <a:p>
            <a:pPr algn="l"/>
            <a:r>
              <a:rPr sz="2000" b="1" i="0">
                <a:solidFill>
                  <a:srgbClr val="B22222"/>
                </a:solidFill>
                <a:latin typeface="Abadi"/>
              </a:rPr>
              <a:t>9% → 27%</a:t>
            </a:r>
          </a:p>
        </p:txBody>
      </p:sp>
      <p:sp>
        <p:nvSpPr>
          <p:cNvPr id="19" name="TextBox 18"/>
          <p:cNvSpPr txBox="1"/>
          <p:nvPr/>
        </p:nvSpPr>
        <p:spPr>
          <a:xfrm>
            <a:off x="2948025" y="2551176"/>
            <a:ext cx="1777593" cy="1463039"/>
          </a:xfrm>
          <a:prstGeom prst="rect">
            <a:avLst/>
          </a:prstGeom>
          <a:noFill/>
        </p:spPr>
        <p:txBody>
          <a:bodyPr wrap="square" anchor="t" lIns="36576" rIns="36576" tIns="36576" bIns="36576">
            <a:spAutoFit/>
          </a:bodyPr>
          <a:lstStyle/>
          <a:p>
            <a:pPr algn="l"/>
            <a:r>
              <a:rPr sz="1100" b="0" i="0">
                <a:solidFill>
                  <a:srgbClr val="1A1A1A"/>
                </a:solidFill>
                <a:latin typeface="Abadi"/>
              </a:rPr>
              <a:t>Teen-LABS: reflux symptoms 8 years after sleeve gastrectomy; bypass 12% to 13%.</a:t>
            </a:r>
          </a:p>
        </p:txBody>
      </p:sp>
      <p:sp>
        <p:nvSpPr>
          <p:cNvPr id="20" name="Rectangle 19"/>
          <p:cNvSpPr/>
          <p:nvPr/>
        </p:nvSpPr>
        <p:spPr>
          <a:xfrm>
            <a:off x="5054803" y="1773936"/>
            <a:ext cx="2070201" cy="233172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54803" y="1773936"/>
            <a:ext cx="2070201"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01107" y="1956816"/>
            <a:ext cx="1777593" cy="548640"/>
          </a:xfrm>
          <a:prstGeom prst="rect">
            <a:avLst/>
          </a:prstGeom>
          <a:noFill/>
        </p:spPr>
        <p:txBody>
          <a:bodyPr wrap="square" anchor="t" lIns="36576" rIns="36576" tIns="36576" bIns="36576">
            <a:spAutoFit/>
          </a:bodyPr>
          <a:lstStyle/>
          <a:p>
            <a:pPr algn="l"/>
            <a:r>
              <a:rPr sz="2000" b="1" i="0">
                <a:solidFill>
                  <a:srgbClr val="B22222"/>
                </a:solidFill>
                <a:latin typeface="Abadi"/>
              </a:rPr>
              <a:t>OR 2.67</a:t>
            </a:r>
          </a:p>
        </p:txBody>
      </p:sp>
      <p:sp>
        <p:nvSpPr>
          <p:cNvPr id="23" name="TextBox 22"/>
          <p:cNvSpPr txBox="1"/>
          <p:nvPr/>
        </p:nvSpPr>
        <p:spPr>
          <a:xfrm>
            <a:off x="5201107" y="2551176"/>
            <a:ext cx="1777593" cy="1463039"/>
          </a:xfrm>
          <a:prstGeom prst="rect">
            <a:avLst/>
          </a:prstGeom>
          <a:noFill/>
        </p:spPr>
        <p:txBody>
          <a:bodyPr wrap="square" anchor="t" lIns="36576" rIns="36576" tIns="36576" bIns="36576">
            <a:spAutoFit/>
          </a:bodyPr>
          <a:lstStyle/>
          <a:p>
            <a:pPr algn="l"/>
            <a:r>
              <a:rPr sz="1100" b="0" i="0">
                <a:solidFill>
                  <a:srgbClr val="1A1A1A"/>
                </a:solidFill>
                <a:latin typeface="Abadi"/>
              </a:rPr>
              <a:t>Sleeve vs bypass, adjusted odds of reflux symptoms (1.57–4.55).</a:t>
            </a:r>
          </a:p>
        </p:txBody>
      </p:sp>
      <p:sp>
        <p:nvSpPr>
          <p:cNvPr id="24" name="Rectangle 23"/>
          <p:cNvSpPr/>
          <p:nvPr/>
        </p:nvSpPr>
        <p:spPr>
          <a:xfrm>
            <a:off x="7307884" y="1773936"/>
            <a:ext cx="2070201" cy="233172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07884" y="1773936"/>
            <a:ext cx="2070201" cy="1005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54188" y="1956816"/>
            <a:ext cx="1777593" cy="548640"/>
          </a:xfrm>
          <a:prstGeom prst="rect">
            <a:avLst/>
          </a:prstGeom>
          <a:noFill/>
        </p:spPr>
        <p:txBody>
          <a:bodyPr wrap="square" anchor="t" lIns="36576" rIns="36576" tIns="36576" bIns="36576">
            <a:spAutoFit/>
          </a:bodyPr>
          <a:lstStyle/>
          <a:p>
            <a:pPr algn="l"/>
            <a:r>
              <a:rPr sz="2000" b="1" i="0">
                <a:solidFill>
                  <a:srgbClr val="1B355E"/>
                </a:solidFill>
                <a:latin typeface="Abadi"/>
              </a:rPr>
              <a:t>Lean weight</a:t>
            </a:r>
          </a:p>
        </p:txBody>
      </p:sp>
      <p:sp>
        <p:nvSpPr>
          <p:cNvPr id="27" name="TextBox 26"/>
          <p:cNvSpPr txBox="1"/>
          <p:nvPr/>
        </p:nvSpPr>
        <p:spPr>
          <a:xfrm>
            <a:off x="7454188" y="2551176"/>
            <a:ext cx="1777593" cy="1463039"/>
          </a:xfrm>
          <a:prstGeom prst="rect">
            <a:avLst/>
          </a:prstGeom>
          <a:noFill/>
        </p:spPr>
        <p:txBody>
          <a:bodyPr wrap="square" anchor="t" lIns="36576" rIns="36576" tIns="36576" bIns="36576">
            <a:spAutoFit/>
          </a:bodyPr>
          <a:lstStyle/>
          <a:p>
            <a:pPr algn="l"/>
            <a:r>
              <a:rPr sz="1100" b="0" i="0">
                <a:solidFill>
                  <a:srgbClr val="1A1A1A"/>
                </a:solidFill>
                <a:latin typeface="Abadi"/>
              </a:rPr>
              <a:t>Pantoprazole by total weight overexposes obese children; lean body weight normalises exposure at 12 years and older.</a:t>
            </a:r>
          </a:p>
        </p:txBody>
      </p:sp>
      <p:sp>
        <p:nvSpPr>
          <p:cNvPr id="28" name="Rectangle 27"/>
          <p:cNvSpPr/>
          <p:nvPr/>
        </p:nvSpPr>
        <p:spPr>
          <a:xfrm>
            <a:off x="9560966" y="1773936"/>
            <a:ext cx="2070201" cy="2331720"/>
          </a:xfrm>
          <a:prstGeom prst="rect">
            <a:avLst/>
          </a:prstGeom>
          <a:solidFill>
            <a:srgbClr val="E7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560966" y="1773936"/>
            <a:ext cx="2070201" cy="1005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07270" y="1956816"/>
            <a:ext cx="1777593" cy="548640"/>
          </a:xfrm>
          <a:prstGeom prst="rect">
            <a:avLst/>
          </a:prstGeom>
          <a:noFill/>
        </p:spPr>
        <p:txBody>
          <a:bodyPr wrap="square" anchor="t" lIns="36576" rIns="36576" tIns="36576" bIns="36576">
            <a:spAutoFit/>
          </a:bodyPr>
          <a:lstStyle/>
          <a:p>
            <a:pPr algn="l"/>
            <a:r>
              <a:rPr sz="2000" b="1" i="0">
                <a:solidFill>
                  <a:srgbClr val="8A939B"/>
                </a:solidFill>
                <a:latin typeface="Abadi"/>
              </a:rPr>
              <a:t>Lifestyle</a:t>
            </a:r>
          </a:p>
        </p:txBody>
      </p:sp>
      <p:sp>
        <p:nvSpPr>
          <p:cNvPr id="31" name="TextBox 30"/>
          <p:cNvSpPr txBox="1"/>
          <p:nvPr/>
        </p:nvSpPr>
        <p:spPr>
          <a:xfrm>
            <a:off x="9707270" y="2551176"/>
            <a:ext cx="1777593" cy="1463039"/>
          </a:xfrm>
          <a:prstGeom prst="rect">
            <a:avLst/>
          </a:prstGeom>
          <a:noFill/>
        </p:spPr>
        <p:txBody>
          <a:bodyPr wrap="square" anchor="t" lIns="36576" rIns="36576" tIns="36576" bIns="36576">
            <a:spAutoFit/>
          </a:bodyPr>
          <a:lstStyle/>
          <a:p>
            <a:pPr algn="l"/>
            <a:r>
              <a:rPr sz="1100" b="0" i="0">
                <a:solidFill>
                  <a:srgbClr val="1A1A1A"/>
                </a:solidFill>
                <a:latin typeface="Abadi"/>
              </a:rPr>
              <a:t>ACG: head-of-bed elevation, no meals 2–3 hours before bed; conditional.</a:t>
            </a:r>
          </a:p>
        </p:txBody>
      </p:sp>
      <p:sp>
        <p:nvSpPr>
          <p:cNvPr id="32" name="TextBox 31"/>
          <p:cNvSpPr txBox="1"/>
          <p:nvPr/>
        </p:nvSpPr>
        <p:spPr>
          <a:xfrm>
            <a:off x="548640" y="4297680"/>
            <a:ext cx="11082528" cy="1463040"/>
          </a:xfrm>
          <a:prstGeom prst="rect">
            <a:avLst/>
          </a:prstGeom>
          <a:noFill/>
        </p:spPr>
        <p:txBody>
          <a:bodyPr wrap="square" anchor="t" lIns="36576" rIns="36576" tIns="36576" bIns="36576">
            <a:spAutoFit/>
          </a:bodyPr>
          <a:lstStyle/>
          <a:p>
            <a:pPr algn="l"/>
            <a:r>
              <a:rPr sz="1250" b="1" i="0">
                <a:solidFill>
                  <a:srgbClr val="1B355E"/>
                </a:solidFill>
                <a:latin typeface="Abadi"/>
              </a:rPr>
              <a:t>Practical point.   </a:t>
            </a:r>
            <a:r>
              <a:rPr sz="1250" b="0" i="0">
                <a:solidFill>
                  <a:srgbClr val="1A1A1A"/>
                </a:solidFill>
                <a:latin typeface="Abadi"/>
              </a:rPr>
              <a:t>Dose a PPI by lean or ideal weight, not total weight, and cap at the adult dose. In an adolescent with reflux who is being considered for bariatric surgery, the AGA advice that gastric bypass treats reflux while sleeve gastrectomy may worsen it should enter the decision.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anchor="ctr" lIns="0" rIns="0" tIns="0" bIns="0">
            <a:spAutoFit/>
          </a:bodyPr>
          <a:lstStyle/>
          <a:p>
            <a:pPr algn="ctr"/>
            <a:r>
              <a:rPr sz="1500" b="1" i="0">
                <a:solidFill>
                  <a:srgbClr val="FFFFFF"/>
                </a:solidFill>
                <a:latin typeface="Abadi"/>
              </a:rPr>
              <a:t>VI</a:t>
            </a:r>
          </a:p>
        </p:txBody>
      </p:sp>
      <p:sp>
        <p:nvSpPr>
          <p:cNvPr id="4" name="TextBox 3"/>
          <p:cNvSpPr txBox="1"/>
          <p:nvPr/>
        </p:nvSpPr>
        <p:spPr>
          <a:xfrm>
            <a:off x="1380744" y="292608"/>
            <a:ext cx="10232136" cy="347472"/>
          </a:xfrm>
          <a:prstGeom prst="rect">
            <a:avLst/>
          </a:prstGeom>
          <a:noFill/>
        </p:spPr>
        <p:txBody>
          <a:bodyPr wrap="square" anchor="ctr" lIns="36576" rIns="36576" tIns="36576" bIns="36576">
            <a:spAutoFit/>
          </a:bodyPr>
          <a:lstStyle/>
          <a:p>
            <a:pPr algn="l"/>
            <a:r>
              <a:rPr sz="1200" b="1" i="0">
                <a:solidFill>
                  <a:srgbClr val="B22222"/>
                </a:solidFill>
                <a:latin typeface="Abadi"/>
              </a:rPr>
              <a:t>DIFFERENT GOALS</a:t>
            </a:r>
          </a:p>
        </p:txBody>
      </p:sp>
      <p:sp>
        <p:nvSpPr>
          <p:cNvPr id="5" name="TextBox 4"/>
          <p:cNvSpPr txBox="1"/>
          <p:nvPr/>
        </p:nvSpPr>
        <p:spPr>
          <a:xfrm>
            <a:off x="548640" y="722376"/>
            <a:ext cx="11082528" cy="548640"/>
          </a:xfrm>
          <a:prstGeom prst="rect">
            <a:avLst/>
          </a:prstGeom>
          <a:noFill/>
        </p:spPr>
        <p:txBody>
          <a:bodyPr wrap="square" anchor="ctr" lIns="36576" rIns="36576" tIns="36576" bIns="36576">
            <a:spAutoFit/>
          </a:bodyPr>
          <a:lstStyle/>
          <a:p>
            <a:pPr algn="l"/>
            <a:r>
              <a:rPr sz="3000" b="1" i="0">
                <a:solidFill>
                  <a:srgbClr val="1B355E"/>
                </a:solidFill>
                <a:latin typeface="Abadi"/>
              </a:rPr>
              <a:t>FOUR GROUPS, FOUR THRESHOLDS</a:t>
            </a:r>
          </a:p>
        </p:txBody>
      </p:sp>
      <p:sp>
        <p:nvSpPr>
          <p:cNvPr id="6" name="TextBox 5"/>
          <p:cNvSpPr txBox="1"/>
          <p:nvPr/>
        </p:nvSpPr>
        <p:spPr>
          <a:xfrm>
            <a:off x="548640" y="1307592"/>
            <a:ext cx="11082528" cy="265176"/>
          </a:xfrm>
          <a:prstGeom prst="rect">
            <a:avLst/>
          </a:prstGeom>
          <a:noFill/>
        </p:spPr>
        <p:txBody>
          <a:bodyPr wrap="square" anchor="t" lIns="36576" rIns="36576" tIns="36576" bIns="36576">
            <a:spAutoFit/>
          </a:bodyPr>
          <a:lstStyle/>
          <a:p>
            <a:pPr algn="l"/>
            <a:r>
              <a:rPr sz="1300" b="0" i="0">
                <a:solidFill>
                  <a:srgbClr val="555555"/>
                </a:solidFill>
                <a:latin typeface="Abadi"/>
              </a:rPr>
              <a:t>What you are trying to prevent, and when to test or operate; a frame built from the sources above</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anchor="t" lIns="36576" rIns="36576" tIns="36576" bIns="36576">
            <a:spAutoFit/>
          </a:bodyPr>
          <a:lstStyle/>
          <a:p>
            <a:pPr algn="r"/>
            <a:r>
              <a:rPr sz="1200" b="0" i="0">
                <a:solidFill>
                  <a:srgbClr val="555555"/>
                </a:solidFill>
                <a:latin typeface="Abadi"/>
              </a:rPr>
              <a:t>16</a:t>
            </a:r>
          </a:p>
        </p:txBody>
      </p:sp>
      <p:sp>
        <p:nvSpPr>
          <p:cNvPr id="11" name="TextBox 10"/>
          <p:cNvSpPr txBox="1"/>
          <p:nvPr/>
        </p:nvSpPr>
        <p:spPr>
          <a:xfrm>
            <a:off x="548640" y="5971032"/>
            <a:ext cx="10287000" cy="457200"/>
          </a:xfrm>
          <a:prstGeom prst="rect">
            <a:avLst/>
          </a:prstGeom>
          <a:noFill/>
        </p:spPr>
        <p:txBody>
          <a:bodyPr wrap="square" anchor="t" lIns="36576" rIns="36576" tIns="36576" bIns="36576">
            <a:spAutoFit/>
          </a:bodyPr>
          <a:lstStyle/>
          <a:p>
            <a:pPr algn="l"/>
            <a:r>
              <a:rPr sz="1000" b="0" i="0">
                <a:solidFill>
                  <a:srgbClr val="7F7F7F"/>
                </a:solidFill>
                <a:latin typeface="Abadi"/>
              </a:rPr>
              <a:t>Romano 2017 · Krishnan 2016 · Dingemann 2020 · Rosen 2018 · Gabel 2019 · Katz 2022</a:t>
            </a:r>
          </a:p>
        </p:txBody>
      </p:sp>
      <p:graphicFrame>
        <p:nvGraphicFramePr>
          <p:cNvPr id="12" name="Table 11"/>
          <p:cNvGraphicFramePr>
            <a:graphicFrameLocks noGrp="1"/>
          </p:cNvGraphicFramePr>
          <p:nvPr/>
        </p:nvGraphicFramePr>
        <p:xfrm>
          <a:off x="548640" y="1783080"/>
          <a:ext cx="11082528" cy="3429000"/>
        </p:xfrm>
        <a:graphic>
          <a:graphicData uri="http://schemas.openxmlformats.org/drawingml/2006/table">
            <a:tbl>
              <a:tblPr firstRow="0" bandRow="0">
                <a:tableStyleId>{5C22544A-7EE6-4342-B048-85BDC9FD1C3A}</a:tableStyleId>
              </a:tblPr>
              <a:tblGrid>
                <a:gridCol w="2103120"/>
                <a:gridCol w="2103120"/>
                <a:gridCol w="2468880"/>
                <a:gridCol w="2194560"/>
                <a:gridCol w="2212848"/>
              </a:tblGrid>
              <a:tr h="685800">
                <a:tc>
                  <a:txBody>
                    <a:bodyPr wrap="square"/>
                    <a:lstStyle/>
                    <a:p>
                      <a:r>
                        <a:rPr sz="1050" b="1">
                          <a:solidFill>
                            <a:srgbClr val="FFFFFF"/>
                          </a:solidFill>
                          <a:latin typeface="Abadi"/>
                        </a:rPr>
                        <a:t>Group</a:t>
                      </a:r>
                    </a:p>
                  </a:txBody>
                  <a:tcPr marL="73152" marR="73152" marT="27432" marB="27432" anchor="ctr">
                    <a:solidFill>
                      <a:srgbClr val="1B355E"/>
                    </a:solidFill>
                  </a:tcPr>
                </a:tc>
                <a:tc>
                  <a:txBody>
                    <a:bodyPr wrap="square"/>
                    <a:lstStyle/>
                    <a:p>
                      <a:r>
                        <a:rPr sz="1050" b="1">
                          <a:solidFill>
                            <a:srgbClr val="FFFFFF"/>
                          </a:solidFill>
                          <a:latin typeface="Abadi"/>
                        </a:rPr>
                        <a:t>Main goal</a:t>
                      </a:r>
                    </a:p>
                  </a:txBody>
                  <a:tcPr marL="73152" marR="73152" marT="27432" marB="27432" anchor="ctr">
                    <a:solidFill>
                      <a:srgbClr val="1B355E"/>
                    </a:solidFill>
                  </a:tcPr>
                </a:tc>
                <a:tc>
                  <a:txBody>
                    <a:bodyPr wrap="square"/>
                    <a:lstStyle/>
                    <a:p>
                      <a:r>
                        <a:rPr sz="1050" b="1">
                          <a:solidFill>
                            <a:srgbClr val="FFFFFF"/>
                          </a:solidFill>
                          <a:latin typeface="Abadi"/>
                        </a:rPr>
                        <a:t>Test</a:t>
                      </a:r>
                    </a:p>
                  </a:txBody>
                  <a:tcPr marL="73152" marR="73152" marT="27432" marB="27432" anchor="ctr">
                    <a:solidFill>
                      <a:srgbClr val="1B355E"/>
                    </a:solidFill>
                  </a:tcPr>
                </a:tc>
                <a:tc>
                  <a:txBody>
                    <a:bodyPr wrap="square"/>
                    <a:lstStyle/>
                    <a:p>
                      <a:r>
                        <a:rPr sz="1050" b="1">
                          <a:solidFill>
                            <a:srgbClr val="FFFFFF"/>
                          </a:solidFill>
                          <a:latin typeface="Abadi"/>
                        </a:rPr>
                        <a:t>First-line</a:t>
                      </a:r>
                    </a:p>
                  </a:txBody>
                  <a:tcPr marL="73152" marR="73152" marT="27432" marB="27432" anchor="ctr">
                    <a:solidFill>
                      <a:srgbClr val="1B355E"/>
                    </a:solidFill>
                  </a:tcPr>
                </a:tc>
                <a:tc>
                  <a:txBody>
                    <a:bodyPr wrap="square"/>
                    <a:lstStyle/>
                    <a:p>
                      <a:r>
                        <a:rPr sz="1050" b="1">
                          <a:solidFill>
                            <a:srgbClr val="FFFFFF"/>
                          </a:solidFill>
                          <a:latin typeface="Abadi"/>
                        </a:rPr>
                        <a:t>Surgery threshold</a:t>
                      </a:r>
                    </a:p>
                  </a:txBody>
                  <a:tcPr marL="73152" marR="73152" marT="27432" marB="27432" anchor="ctr">
                    <a:solidFill>
                      <a:srgbClr val="1B355E"/>
                    </a:solidFill>
                  </a:tcPr>
                </a:tc>
              </a:tr>
              <a:tr h="685800">
                <a:tc>
                  <a:txBody>
                    <a:bodyPr wrap="square"/>
                    <a:lstStyle/>
                    <a:p>
                      <a:r>
                        <a:rPr sz="1000" b="1">
                          <a:solidFill>
                            <a:srgbClr val="1A1A1A"/>
                          </a:solidFill>
                          <a:latin typeface="Abadi"/>
                        </a:rPr>
                        <a:t>Neurological impairment</a:t>
                      </a:r>
                    </a:p>
                  </a:txBody>
                  <a:tcPr marL="73152" marR="73152" marT="27432" marB="27432" anchor="ctr">
                    <a:solidFill>
                      <a:srgbClr val="FFFFFF"/>
                    </a:solidFill>
                  </a:tcPr>
                </a:tc>
                <a:tc>
                  <a:txBody>
                    <a:bodyPr wrap="square"/>
                    <a:lstStyle/>
                    <a:p>
                      <a:r>
                        <a:rPr sz="1000" b="0">
                          <a:solidFill>
                            <a:srgbClr val="1A1A1A"/>
                          </a:solidFill>
                          <a:latin typeface="Abadi"/>
                        </a:rPr>
                        <a:t>Prevent aspiration; comfort</a:t>
                      </a:r>
                    </a:p>
                  </a:txBody>
                  <a:tcPr marL="73152" marR="73152" marT="27432" marB="27432" anchor="ctr">
                    <a:solidFill>
                      <a:srgbClr val="FFFFFF"/>
                    </a:solidFill>
                  </a:tcPr>
                </a:tc>
                <a:tc>
                  <a:txBody>
                    <a:bodyPr wrap="square"/>
                    <a:lstStyle/>
                    <a:p>
                      <a:r>
                        <a:rPr sz="1000" b="0">
                          <a:solidFill>
                            <a:srgbClr val="1A1A1A"/>
                          </a:solidFill>
                          <a:latin typeface="Abadi"/>
                        </a:rPr>
                        <a:t>pH-impedance or endoscopy before long-term therapy</a:t>
                      </a:r>
                    </a:p>
                  </a:txBody>
                  <a:tcPr marL="73152" marR="73152" marT="27432" marB="27432" anchor="ctr">
                    <a:solidFill>
                      <a:srgbClr val="FFFFFF"/>
                    </a:solidFill>
                  </a:tcPr>
                </a:tc>
                <a:tc>
                  <a:txBody>
                    <a:bodyPr wrap="square"/>
                    <a:lstStyle/>
                    <a:p>
                      <a:r>
                        <a:rPr sz="1000" b="0">
                          <a:solidFill>
                            <a:srgbClr val="1A1A1A"/>
                          </a:solidFill>
                          <a:latin typeface="Abadi"/>
                        </a:rPr>
                        <a:t>PPI, whey formula, treat constipation</a:t>
                      </a:r>
                    </a:p>
                  </a:txBody>
                  <a:tcPr marL="73152" marR="73152" marT="27432" marB="27432" anchor="ctr">
                    <a:solidFill>
                      <a:srgbClr val="FFFFFF"/>
                    </a:solidFill>
                  </a:tcPr>
                </a:tc>
                <a:tc>
                  <a:txBody>
                    <a:bodyPr wrap="square"/>
                    <a:lstStyle/>
                    <a:p>
                      <a:r>
                        <a:rPr sz="1000" b="0">
                          <a:solidFill>
                            <a:srgbClr val="1A1A1A"/>
                          </a:solidFill>
                          <a:latin typeface="Abadi"/>
                        </a:rPr>
                        <a:t>Failed medical therapy, respiratory complications; not at gastrostomy</a:t>
                      </a:r>
                    </a:p>
                  </a:txBody>
                  <a:tcPr marL="73152" marR="73152" marT="27432" marB="27432" anchor="ctr">
                    <a:solidFill>
                      <a:srgbClr val="FFFFFF"/>
                    </a:solidFill>
                  </a:tcPr>
                </a:tc>
              </a:tr>
              <a:tr h="685800">
                <a:tc>
                  <a:txBody>
                    <a:bodyPr wrap="square"/>
                    <a:lstStyle/>
                    <a:p>
                      <a:r>
                        <a:rPr sz="1000" b="1">
                          <a:solidFill>
                            <a:srgbClr val="1A1A1A"/>
                          </a:solidFill>
                          <a:latin typeface="Abadi"/>
                        </a:rPr>
                        <a:t>Oesophageal atresia</a:t>
                      </a:r>
                    </a:p>
                  </a:txBody>
                  <a:tcPr marL="73152" marR="73152" marT="27432" marB="27432" anchor="ctr">
                    <a:solidFill>
                      <a:srgbClr val="F2F4F7"/>
                    </a:solidFill>
                  </a:tcPr>
                </a:tc>
                <a:tc>
                  <a:txBody>
                    <a:bodyPr wrap="square"/>
                    <a:lstStyle/>
                    <a:p>
                      <a:r>
                        <a:rPr sz="1000" b="0">
                          <a:solidFill>
                            <a:srgbClr val="1A1A1A"/>
                          </a:solidFill>
                          <a:latin typeface="Abadi"/>
                        </a:rPr>
                        <a:t>Protect the oesophagus for life</a:t>
                      </a:r>
                    </a:p>
                  </a:txBody>
                  <a:tcPr marL="73152" marR="73152" marT="27432" marB="27432" anchor="ctr">
                    <a:solidFill>
                      <a:srgbClr val="F2F4F7"/>
                    </a:solidFill>
                  </a:tcPr>
                </a:tc>
                <a:tc>
                  <a:txBody>
                    <a:bodyPr wrap="square"/>
                    <a:lstStyle/>
                    <a:p>
                      <a:r>
                        <a:rPr sz="1000" b="0">
                          <a:solidFill>
                            <a:srgbClr val="1A1A1A"/>
                          </a:solidFill>
                          <a:latin typeface="Abadi"/>
                        </a:rPr>
                        <a:t>Endoscopy on a schedule; pH-impedance when PPI stops</a:t>
                      </a:r>
                    </a:p>
                  </a:txBody>
                  <a:tcPr marL="73152" marR="73152" marT="27432" marB="27432" anchor="ctr">
                    <a:solidFill>
                      <a:srgbClr val="F2F4F7"/>
                    </a:solidFill>
                  </a:tcPr>
                </a:tc>
                <a:tc>
                  <a:txBody>
                    <a:bodyPr wrap="square"/>
                    <a:lstStyle/>
                    <a:p>
                      <a:r>
                        <a:rPr sz="1000" b="0">
                          <a:solidFill>
                            <a:srgbClr val="1A1A1A"/>
                          </a:solidFill>
                          <a:latin typeface="Abadi"/>
                        </a:rPr>
                        <a:t>PPI in year 1, then by findings</a:t>
                      </a:r>
                    </a:p>
                  </a:txBody>
                  <a:tcPr marL="73152" marR="73152" marT="27432" marB="27432" anchor="ctr">
                    <a:solidFill>
                      <a:srgbClr val="F2F4F7"/>
                    </a:solidFill>
                  </a:tcPr>
                </a:tc>
                <a:tc>
                  <a:txBody>
                    <a:bodyPr wrap="square"/>
                    <a:lstStyle/>
                    <a:p>
                      <a:r>
                        <a:rPr sz="1000" b="0">
                          <a:solidFill>
                            <a:srgbClr val="1A1A1A"/>
                          </a:solidFill>
                          <a:latin typeface="Abadi"/>
                        </a:rPr>
                        <a:t>Recurrent strictures, reflux on maximal PPI</a:t>
                      </a:r>
                    </a:p>
                  </a:txBody>
                  <a:tcPr marL="73152" marR="73152" marT="27432" marB="27432" anchor="ctr">
                    <a:solidFill>
                      <a:srgbClr val="F2F4F7"/>
                    </a:solidFill>
                  </a:tcPr>
                </a:tc>
              </a:tr>
              <a:tr h="685800">
                <a:tc>
                  <a:txBody>
                    <a:bodyPr wrap="square"/>
                    <a:lstStyle/>
                    <a:p>
                      <a:r>
                        <a:rPr sz="1000" b="1">
                          <a:solidFill>
                            <a:srgbClr val="1A1A1A"/>
                          </a:solidFill>
                          <a:latin typeface="Abadi"/>
                        </a:rPr>
                        <a:t>Cystic fibrosis</a:t>
                      </a:r>
                    </a:p>
                  </a:txBody>
                  <a:tcPr marL="73152" marR="73152" marT="27432" marB="27432" anchor="ctr">
                    <a:solidFill>
                      <a:srgbClr val="FFFFFF"/>
                    </a:solidFill>
                  </a:tcPr>
                </a:tc>
                <a:tc>
                  <a:txBody>
                    <a:bodyPr wrap="square"/>
                    <a:lstStyle/>
                    <a:p>
                      <a:r>
                        <a:rPr sz="1000" b="0">
                          <a:solidFill>
                            <a:srgbClr val="1A1A1A"/>
                          </a:solidFill>
                          <a:latin typeface="Abadi"/>
                        </a:rPr>
                        <a:t>Protect the lungs</a:t>
                      </a:r>
                    </a:p>
                  </a:txBody>
                  <a:tcPr marL="73152" marR="73152" marT="27432" marB="27432" anchor="ctr">
                    <a:solidFill>
                      <a:srgbClr val="FFFFFF"/>
                    </a:solidFill>
                  </a:tcPr>
                </a:tc>
                <a:tc>
                  <a:txBody>
                    <a:bodyPr wrap="square"/>
                    <a:lstStyle/>
                    <a:p>
                      <a:r>
                        <a:rPr sz="1000" b="0">
                          <a:solidFill>
                            <a:srgbClr val="1A1A1A"/>
                          </a:solidFill>
                          <a:latin typeface="Abadi"/>
                        </a:rPr>
                        <a:t>pH-impedance for cough or decline</a:t>
                      </a:r>
                    </a:p>
                  </a:txBody>
                  <a:tcPr marL="73152" marR="73152" marT="27432" marB="27432" anchor="ctr">
                    <a:solidFill>
                      <a:srgbClr val="FFFFFF"/>
                    </a:solidFill>
                  </a:tcPr>
                </a:tc>
                <a:tc>
                  <a:txBody>
                    <a:bodyPr wrap="square"/>
                    <a:lstStyle/>
                    <a:p>
                      <a:r>
                        <a:rPr sz="1000" b="0">
                          <a:solidFill>
                            <a:srgbClr val="1A1A1A"/>
                          </a:solidFill>
                          <a:latin typeface="Abadi"/>
                        </a:rPr>
                        <a:t>Shortest effective PPI</a:t>
                      </a:r>
                    </a:p>
                  </a:txBody>
                  <a:tcPr marL="73152" marR="73152" marT="27432" marB="27432" anchor="ctr">
                    <a:solidFill>
                      <a:srgbClr val="FFFFFF"/>
                    </a:solidFill>
                  </a:tcPr>
                </a:tc>
                <a:tc>
                  <a:txBody>
                    <a:bodyPr wrap="square"/>
                    <a:lstStyle/>
                    <a:p>
                      <a:r>
                        <a:rPr sz="1000" b="0">
                          <a:solidFill>
                            <a:srgbClr val="1A1A1A"/>
                          </a:solidFill>
                          <a:latin typeface="Abadi"/>
                        </a:rPr>
                        <a:t>Before or after lung transplant</a:t>
                      </a:r>
                    </a:p>
                  </a:txBody>
                  <a:tcPr marL="73152" marR="73152" marT="27432" marB="27432" anchor="ctr">
                    <a:solidFill>
                      <a:srgbClr val="FFFFFF"/>
                    </a:solidFill>
                  </a:tcPr>
                </a:tc>
              </a:tr>
              <a:tr h="685800">
                <a:tc>
                  <a:txBody>
                    <a:bodyPr wrap="square"/>
                    <a:lstStyle/>
                    <a:p>
                      <a:r>
                        <a:rPr sz="1000" b="1">
                          <a:solidFill>
                            <a:srgbClr val="1A1A1A"/>
                          </a:solidFill>
                          <a:latin typeface="Abadi"/>
                        </a:rPr>
                        <a:t>Obesity</a:t>
                      </a:r>
                    </a:p>
                  </a:txBody>
                  <a:tcPr marL="73152" marR="73152" marT="27432" marB="27432" anchor="ctr">
                    <a:solidFill>
                      <a:srgbClr val="F2F4F7"/>
                    </a:solidFill>
                  </a:tcPr>
                </a:tc>
                <a:tc>
                  <a:txBody>
                    <a:bodyPr wrap="square"/>
                    <a:lstStyle/>
                    <a:p>
                      <a:r>
                        <a:rPr sz="1000" b="0">
                          <a:solidFill>
                            <a:srgbClr val="1A1A1A"/>
                          </a:solidFill>
                          <a:latin typeface="Abadi"/>
                        </a:rPr>
                        <a:t>Treat the cause</a:t>
                      </a:r>
                    </a:p>
                  </a:txBody>
                  <a:tcPr marL="73152" marR="73152" marT="27432" marB="27432" anchor="ctr">
                    <a:solidFill>
                      <a:srgbClr val="F2F4F7"/>
                    </a:solidFill>
                  </a:tcPr>
                </a:tc>
                <a:tc>
                  <a:txBody>
                    <a:bodyPr wrap="square"/>
                    <a:lstStyle/>
                    <a:p>
                      <a:r>
                        <a:rPr sz="1000" b="0">
                          <a:solidFill>
                            <a:srgbClr val="1A1A1A"/>
                          </a:solidFill>
                          <a:latin typeface="Abadi"/>
                        </a:rPr>
                        <a:t>Endoscopy if alarm features</a:t>
                      </a:r>
                    </a:p>
                  </a:txBody>
                  <a:tcPr marL="73152" marR="73152" marT="27432" marB="27432" anchor="ctr">
                    <a:solidFill>
                      <a:srgbClr val="F2F4F7"/>
                    </a:solidFill>
                  </a:tcPr>
                </a:tc>
                <a:tc>
                  <a:txBody>
                    <a:bodyPr wrap="square"/>
                    <a:lstStyle/>
                    <a:p>
                      <a:r>
                        <a:rPr sz="1000" b="0">
                          <a:solidFill>
                            <a:srgbClr val="1A1A1A"/>
                          </a:solidFill>
                          <a:latin typeface="Abadi"/>
                        </a:rPr>
                        <a:t>Weight loss; PPI by lean weight</a:t>
                      </a:r>
                    </a:p>
                  </a:txBody>
                  <a:tcPr marL="73152" marR="73152" marT="27432" marB="27432" anchor="ctr">
                    <a:solidFill>
                      <a:srgbClr val="F2F4F7"/>
                    </a:solidFill>
                  </a:tcPr>
                </a:tc>
                <a:tc>
                  <a:txBody>
                    <a:bodyPr wrap="square"/>
                    <a:lstStyle/>
                    <a:p>
                      <a:r>
                        <a:rPr sz="1000" b="0">
                          <a:solidFill>
                            <a:srgbClr val="1A1A1A"/>
                          </a:solidFill>
                          <a:latin typeface="Abadi"/>
                        </a:rPr>
                        <a:t>Bypass rather than sleeve if bariatric</a:t>
                      </a:r>
                    </a:p>
                  </a:txBody>
                  <a:tcPr marL="73152" marR="73152" marT="27432" marB="27432" anchor="ctr">
                    <a:solidFill>
                      <a:srgbClr val="F2F4F7"/>
                    </a:solidFill>
                  </a:tcPr>
                </a:tc>
              </a:tr>
            </a:tbl>
          </a:graphicData>
        </a:graphic>
      </p:graphicFrame>
      <p:sp>
        <p:nvSpPr>
          <p:cNvPr id="13" name="TextBox 12"/>
          <p:cNvSpPr txBox="1"/>
          <p:nvPr/>
        </p:nvSpPr>
        <p:spPr>
          <a:xfrm>
            <a:off x="548640" y="5349240"/>
            <a:ext cx="11082528" cy="457200"/>
          </a:xfrm>
          <a:prstGeom prst="rect">
            <a:avLst/>
          </a:prstGeom>
          <a:noFill/>
        </p:spPr>
        <p:txBody>
          <a:bodyPr wrap="square" anchor="t" lIns="36576" rIns="36576" tIns="36576" bIns="36576">
            <a:spAutoFit/>
          </a:bodyPr>
          <a:lstStyle/>
          <a:p>
            <a:pPr algn="l"/>
            <a:r>
              <a:rPr sz="1200" b="1" i="0">
                <a:solidFill>
                  <a:srgbClr val="1B355E"/>
                </a:solidFill>
                <a:latin typeface="Abadi"/>
              </a:rPr>
              <a:t>Bottom line.   </a:t>
            </a:r>
            <a:r>
              <a:rPr sz="1200" b="0" i="0">
                <a:solidFill>
                  <a:srgbClr val="1A1A1A"/>
                </a:solidFill>
                <a:latin typeface="Abadi"/>
              </a:rPr>
              <a:t>The healthy-child rule of an empirical PPI trial and watchful waiting fits none of these groups without adjustment.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anchor="ctr" lIns="0" rIns="0" tIns="0" bIns="0">
            <a:spAutoFit/>
          </a:bodyPr>
          <a:lstStyle/>
          <a:p>
            <a:pPr algn="ctr"/>
            <a:r>
              <a:rPr sz="1500" b="1" i="0">
                <a:solidFill>
                  <a:srgbClr val="FFFFFF"/>
                </a:solidFill>
                <a:latin typeface="Abadi"/>
              </a:rPr>
              <a:t>VII</a:t>
            </a:r>
          </a:p>
        </p:txBody>
      </p:sp>
      <p:sp>
        <p:nvSpPr>
          <p:cNvPr id="4" name="TextBox 3"/>
          <p:cNvSpPr txBox="1"/>
          <p:nvPr/>
        </p:nvSpPr>
        <p:spPr>
          <a:xfrm>
            <a:off x="1380744" y="292608"/>
            <a:ext cx="10232136" cy="347472"/>
          </a:xfrm>
          <a:prstGeom prst="rect">
            <a:avLst/>
          </a:prstGeom>
          <a:noFill/>
        </p:spPr>
        <p:txBody>
          <a:bodyPr wrap="square" anchor="ctr" lIns="36576" rIns="36576" tIns="36576" bIns="36576">
            <a:spAutoFit/>
          </a:bodyPr>
          <a:lstStyle/>
          <a:p>
            <a:pPr algn="l"/>
            <a:r>
              <a:rPr sz="1200" b="1" i="0">
                <a:solidFill>
                  <a:srgbClr val="B22222"/>
                </a:solidFill>
                <a:latin typeface="Abadi"/>
              </a:rPr>
              <a:t>GUIDELINES</a:t>
            </a:r>
          </a:p>
        </p:txBody>
      </p:sp>
      <p:sp>
        <p:nvSpPr>
          <p:cNvPr id="5" name="TextBox 4"/>
          <p:cNvSpPr txBox="1"/>
          <p:nvPr/>
        </p:nvSpPr>
        <p:spPr>
          <a:xfrm>
            <a:off x="548640" y="722376"/>
            <a:ext cx="11082528" cy="548640"/>
          </a:xfrm>
          <a:prstGeom prst="rect">
            <a:avLst/>
          </a:prstGeom>
          <a:noFill/>
        </p:spPr>
        <p:txBody>
          <a:bodyPr wrap="square" anchor="ctr" lIns="36576" rIns="36576" tIns="36576" bIns="36576">
            <a:spAutoFit/>
          </a:bodyPr>
          <a:lstStyle/>
          <a:p>
            <a:pPr algn="l"/>
            <a:r>
              <a:rPr sz="3000" b="1" i="0">
                <a:solidFill>
                  <a:srgbClr val="1B355E"/>
                </a:solidFill>
                <a:latin typeface="Abadi"/>
              </a:rPr>
              <a:t>WHAT THE DOCUMENTS SAY</a:t>
            </a:r>
          </a:p>
        </p:txBody>
      </p:sp>
      <p:sp>
        <p:nvSpPr>
          <p:cNvPr id="6" name="TextBox 5"/>
          <p:cNvSpPr txBox="1"/>
          <p:nvPr/>
        </p:nvSpPr>
        <p:spPr>
          <a:xfrm>
            <a:off x="548640" y="1307592"/>
            <a:ext cx="11082528" cy="265176"/>
          </a:xfrm>
          <a:prstGeom prst="rect">
            <a:avLst/>
          </a:prstGeom>
          <a:noFill/>
        </p:spPr>
        <p:txBody>
          <a:bodyPr wrap="square" anchor="t" lIns="36576" rIns="36576" tIns="36576" bIns="36576">
            <a:spAutoFit/>
          </a:bodyPr>
          <a:lstStyle/>
          <a:p>
            <a:pPr algn="l"/>
            <a:r>
              <a:rPr sz="1300" b="0" i="0">
                <a:solidFill>
                  <a:srgbClr val="555555"/>
                </a:solidFill>
                <a:latin typeface="Abadi"/>
              </a:rPr>
              <a:t>General paediatric guidance versus group-specific documents and adult societies</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anchor="t" lIns="36576" rIns="36576" tIns="36576" bIns="36576">
            <a:spAutoFit/>
          </a:bodyPr>
          <a:lstStyle/>
          <a:p>
            <a:pPr algn="r"/>
            <a:r>
              <a:rPr sz="1200" b="0" i="0">
                <a:solidFill>
                  <a:srgbClr val="555555"/>
                </a:solidFill>
                <a:latin typeface="Abadi"/>
              </a:rPr>
              <a:t>17</a:t>
            </a:r>
          </a:p>
        </p:txBody>
      </p:sp>
      <p:sp>
        <p:nvSpPr>
          <p:cNvPr id="11" name="TextBox 10"/>
          <p:cNvSpPr txBox="1"/>
          <p:nvPr/>
        </p:nvSpPr>
        <p:spPr>
          <a:xfrm>
            <a:off x="548640" y="5971032"/>
            <a:ext cx="10287000" cy="457200"/>
          </a:xfrm>
          <a:prstGeom prst="rect">
            <a:avLst/>
          </a:prstGeom>
          <a:noFill/>
        </p:spPr>
        <p:txBody>
          <a:bodyPr wrap="square" anchor="t" lIns="36576" rIns="36576" tIns="36576" bIns="36576">
            <a:spAutoFit/>
          </a:bodyPr>
          <a:lstStyle/>
          <a:p>
            <a:pPr algn="l"/>
            <a:r>
              <a:rPr sz="1000" b="0" i="0">
                <a:solidFill>
                  <a:srgbClr val="7F7F7F"/>
                </a:solidFill>
                <a:latin typeface="Abadi"/>
              </a:rPr>
              <a:t>Rosen 2018 · Romano 2017 · Krishnan 2016 · Dingemann 2020 · Katz 2022 (ACG) · Yadlapati 2022 (AGA) · Miyake 2018 · Wyllie 2023</a:t>
            </a:r>
          </a:p>
        </p:txBody>
      </p:sp>
      <p:graphicFrame>
        <p:nvGraphicFramePr>
          <p:cNvPr id="12" name="Table 11"/>
          <p:cNvGraphicFramePr>
            <a:graphicFrameLocks noGrp="1"/>
          </p:cNvGraphicFramePr>
          <p:nvPr/>
        </p:nvGraphicFramePr>
        <p:xfrm>
          <a:off x="548640" y="1783080"/>
          <a:ext cx="11082528" cy="3328416"/>
        </p:xfrm>
        <a:graphic>
          <a:graphicData uri="http://schemas.openxmlformats.org/drawingml/2006/table">
            <a:tbl>
              <a:tblPr firstRow="0" bandRow="0">
                <a:tableStyleId>{5C22544A-7EE6-4342-B048-85BDC9FD1C3A}</a:tableStyleId>
              </a:tblPr>
              <a:tblGrid>
                <a:gridCol w="2103120"/>
                <a:gridCol w="2286000"/>
                <a:gridCol w="3017520"/>
                <a:gridCol w="2377440"/>
                <a:gridCol w="1298448"/>
              </a:tblGrid>
              <a:tr h="475488">
                <a:tc>
                  <a:txBody>
                    <a:bodyPr wrap="square"/>
                    <a:lstStyle/>
                    <a:p>
                      <a:r>
                        <a:rPr sz="1050" b="1">
                          <a:solidFill>
                            <a:srgbClr val="FFFFFF"/>
                          </a:solidFill>
                          <a:latin typeface="Abadi"/>
                        </a:rPr>
                        <a:t>Question</a:t>
                      </a:r>
                    </a:p>
                  </a:txBody>
                  <a:tcPr marL="73152" marR="73152" marT="27432" marB="27432" anchor="ctr">
                    <a:solidFill>
                      <a:srgbClr val="1B355E"/>
                    </a:solidFill>
                  </a:tcPr>
                </a:tc>
                <a:tc>
                  <a:txBody>
                    <a:bodyPr wrap="square"/>
                    <a:lstStyle/>
                    <a:p>
                      <a:r>
                        <a:rPr sz="1050" b="1">
                          <a:solidFill>
                            <a:srgbClr val="FFFFFF"/>
                          </a:solidFill>
                          <a:latin typeface="Abadi"/>
                        </a:rPr>
                        <a:t>NASPGHAN/ESPGHAN 2018</a:t>
                      </a:r>
                    </a:p>
                  </a:txBody>
                  <a:tcPr marL="73152" marR="73152" marT="27432" marB="27432" anchor="ctr">
                    <a:solidFill>
                      <a:srgbClr val="1B355E"/>
                    </a:solidFill>
                  </a:tcPr>
                </a:tc>
                <a:tc>
                  <a:txBody>
                    <a:bodyPr wrap="square"/>
                    <a:lstStyle/>
                    <a:p>
                      <a:r>
                        <a:rPr sz="1050" b="1">
                          <a:solidFill>
                            <a:srgbClr val="FFFFFF"/>
                          </a:solidFill>
                          <a:latin typeface="Abadi"/>
                        </a:rPr>
                        <a:t>Group-specific (ESPGHAN NI 2017, EA 2016, ERNICA 2020)</a:t>
                      </a:r>
                    </a:p>
                  </a:txBody>
                  <a:tcPr marL="73152" marR="73152" marT="27432" marB="27432" anchor="ctr">
                    <a:solidFill>
                      <a:srgbClr val="1B355E"/>
                    </a:solidFill>
                  </a:tcPr>
                </a:tc>
                <a:tc>
                  <a:txBody>
                    <a:bodyPr wrap="square"/>
                    <a:lstStyle/>
                    <a:p>
                      <a:r>
                        <a:rPr sz="1050" b="1">
                          <a:solidFill>
                            <a:srgbClr val="FFFFFF"/>
                          </a:solidFill>
                          <a:latin typeface="Abadi"/>
                        </a:rPr>
                        <a:t>ACG 2022 · AGA 2022</a:t>
                      </a:r>
                    </a:p>
                  </a:txBody>
                  <a:tcPr marL="73152" marR="73152" marT="27432" marB="27432" anchor="ctr">
                    <a:solidFill>
                      <a:srgbClr val="1B355E"/>
                    </a:solidFill>
                  </a:tcPr>
                </a:tc>
                <a:tc>
                  <a:txBody>
                    <a:bodyPr wrap="square"/>
                    <a:lstStyle/>
                    <a:p>
                      <a:r>
                        <a:rPr sz="1050" b="1">
                          <a:solidFill>
                            <a:srgbClr val="FFFFFF"/>
                          </a:solidFill>
                          <a:latin typeface="Abadi"/>
                        </a:rPr>
                        <a:t>Verdict</a:t>
                      </a:r>
                    </a:p>
                  </a:txBody>
                  <a:tcPr marL="73152" marR="73152" marT="27432" marB="27432" anchor="ctr">
                    <a:solidFill>
                      <a:srgbClr val="1B355E"/>
                    </a:solidFill>
                  </a:tcPr>
                </a:tc>
              </a:tr>
              <a:tr h="475488">
                <a:tc>
                  <a:txBody>
                    <a:bodyPr wrap="square"/>
                    <a:lstStyle/>
                    <a:p>
                      <a:r>
                        <a:rPr sz="950" b="1">
                          <a:solidFill>
                            <a:srgbClr val="1A1A1A"/>
                          </a:solidFill>
                          <a:latin typeface="Abadi"/>
                        </a:rPr>
                        <a:t>Objective testing</a:t>
                      </a:r>
                    </a:p>
                  </a:txBody>
                  <a:tcPr marL="73152" marR="73152" marT="27432" marB="27432" anchor="ctr">
                    <a:solidFill>
                      <a:srgbClr val="FFFFFF"/>
                    </a:solidFill>
                  </a:tcPr>
                </a:tc>
                <a:tc>
                  <a:txBody>
                    <a:bodyPr wrap="square"/>
                    <a:lstStyle/>
                    <a:p>
                      <a:r>
                        <a:rPr sz="950" b="0">
                          <a:solidFill>
                            <a:srgbClr val="1A1A1A"/>
                          </a:solidFill>
                          <a:latin typeface="Abadi"/>
                        </a:rPr>
                        <a:t>pH on therapy in high-risk children</a:t>
                      </a:r>
                    </a:p>
                  </a:txBody>
                  <a:tcPr marL="73152" marR="73152" marT="27432" marB="27432" anchor="ctr">
                    <a:solidFill>
                      <a:srgbClr val="FFFFFF"/>
                    </a:solidFill>
                  </a:tcPr>
                </a:tc>
                <a:tc>
                  <a:txBody>
                    <a:bodyPr wrap="square"/>
                    <a:lstStyle/>
                    <a:p>
                      <a:r>
                        <a:rPr sz="950" b="0">
                          <a:solidFill>
                            <a:srgbClr val="1A1A1A"/>
                          </a:solidFill>
                          <a:latin typeface="Abadi"/>
                        </a:rPr>
                        <a:t>NI: pH-impedance or endoscopy, or watched PPI trial</a:t>
                      </a:r>
                    </a:p>
                  </a:txBody>
                  <a:tcPr marL="73152" marR="73152" marT="27432" marB="27432" anchor="ctr">
                    <a:solidFill>
                      <a:srgbClr val="FFFFFF"/>
                    </a:solidFill>
                  </a:tcPr>
                </a:tc>
                <a:tc>
                  <a:txBody>
                    <a:bodyPr wrap="square"/>
                    <a:lstStyle/>
                    <a:p>
                      <a:r>
                        <a:rPr sz="950" b="0">
                          <a:solidFill>
                            <a:srgbClr val="1A1A1A"/>
                          </a:solidFill>
                          <a:latin typeface="Abadi"/>
                        </a:rPr>
                        <a:t>Test first for extra-oesophageal symptoms</a:t>
                      </a:r>
                    </a:p>
                  </a:txBody>
                  <a:tcPr marL="73152" marR="73152" marT="27432" marB="27432" anchor="ctr">
                    <a:solidFill>
                      <a:srgbClr val="FFFFFF"/>
                    </a:solidFill>
                  </a:tcPr>
                </a:tc>
                <a:tc>
                  <a:txBody>
                    <a:bodyPr wrap="square"/>
                    <a:lstStyle/>
                    <a:p>
                      <a:pPr algn="ctr"/>
                      <a:r>
                        <a:rPr sz="850" b="1">
                          <a:solidFill>
                            <a:srgbClr val="FFFFFF"/>
                          </a:solidFill>
                          <a:latin typeface="Abadi"/>
                        </a:rPr>
                        <a:t>ALIGNED</a:t>
                      </a:r>
                    </a:p>
                  </a:txBody>
                  <a:tcPr marL="73152" marR="73152" marT="27432" marB="27432" anchor="ctr">
                    <a:solidFill>
                      <a:srgbClr val="1E7A33"/>
                    </a:solidFill>
                  </a:tcPr>
                </a:tc>
              </a:tr>
              <a:tr h="475488">
                <a:tc>
                  <a:txBody>
                    <a:bodyPr wrap="square"/>
                    <a:lstStyle/>
                    <a:p>
                      <a:r>
                        <a:rPr sz="950" b="1">
                          <a:solidFill>
                            <a:srgbClr val="1A1A1A"/>
                          </a:solidFill>
                          <a:latin typeface="Abadi"/>
                        </a:rPr>
                        <a:t>Fundoplication at gastrostomy</a:t>
                      </a:r>
                    </a:p>
                  </a:txBody>
                  <a:tcPr marL="73152" marR="73152" marT="27432" marB="27432" anchor="ctr">
                    <a:solidFill>
                      <a:srgbClr val="F2F4F7"/>
                    </a:solidFill>
                  </a:tcPr>
                </a:tc>
                <a:tc>
                  <a:txBody>
                    <a:bodyPr wrap="square"/>
                    <a:lstStyle/>
                    <a:p>
                      <a:r>
                        <a:rPr sz="950" b="0">
                          <a:solidFill>
                            <a:srgbClr val="1A1A1A"/>
                          </a:solidFill>
                          <a:latin typeface="Abadi"/>
                        </a:rPr>
                        <a:t>Jejunal feeding as alternative</a:t>
                      </a:r>
                    </a:p>
                  </a:txBody>
                  <a:tcPr marL="73152" marR="73152" marT="27432" marB="27432" anchor="ctr">
                    <a:solidFill>
                      <a:srgbClr val="F2F4F7"/>
                    </a:solidFill>
                  </a:tcPr>
                </a:tc>
                <a:tc>
                  <a:txBody>
                    <a:bodyPr wrap="square"/>
                    <a:lstStyle/>
                    <a:p>
                      <a:r>
                        <a:rPr sz="950" b="0">
                          <a:solidFill>
                            <a:srgbClr val="1A1A1A"/>
                          </a:solidFill>
                          <a:latin typeface="Abadi"/>
                        </a:rPr>
                        <a:t>NI: not routine (strong)</a:t>
                      </a:r>
                    </a:p>
                  </a:txBody>
                  <a:tcPr marL="73152" marR="73152" marT="27432" marB="27432" anchor="ctr">
                    <a:solidFill>
                      <a:srgbClr val="F2F4F7"/>
                    </a:solidFill>
                  </a:tcPr>
                </a:tc>
                <a:tc>
                  <a:txBody>
                    <a:bodyPr wrap="square"/>
                    <a:lstStyle/>
                    <a:p>
                      <a:r>
                        <a:rPr sz="950" b="0">
                          <a:solidFill>
                            <a:srgbClr val="1A1A1A"/>
                          </a:solidFill>
                          <a:latin typeface="Abadi"/>
                        </a:rPr>
                        <a:t>Not addressed</a:t>
                      </a:r>
                    </a:p>
                  </a:txBody>
                  <a:tcPr marL="73152" marR="73152" marT="27432" marB="27432" anchor="ctr">
                    <a:solidFill>
                      <a:srgbClr val="F2F4F7"/>
                    </a:solidFill>
                  </a:tcPr>
                </a:tc>
                <a:tc>
                  <a:txBody>
                    <a:bodyPr wrap="square"/>
                    <a:lstStyle/>
                    <a:p>
                      <a:pPr algn="ctr"/>
                      <a:r>
                        <a:rPr sz="850" b="1">
                          <a:solidFill>
                            <a:srgbClr val="FFFFFF"/>
                          </a:solidFill>
                          <a:latin typeface="Abadi"/>
                        </a:rPr>
                        <a:t>ALIGNED</a:t>
                      </a:r>
                    </a:p>
                  </a:txBody>
                  <a:tcPr marL="73152" marR="73152" marT="27432" marB="27432" anchor="ctr">
                    <a:solidFill>
                      <a:srgbClr val="1E7A33"/>
                    </a:solidFill>
                  </a:tcPr>
                </a:tc>
              </a:tr>
              <a:tr h="475488">
                <a:tc>
                  <a:txBody>
                    <a:bodyPr wrap="square"/>
                    <a:lstStyle/>
                    <a:p>
                      <a:r>
                        <a:rPr sz="950" b="1">
                          <a:solidFill>
                            <a:srgbClr val="1A1A1A"/>
                          </a:solidFill>
                          <a:latin typeface="Abadi"/>
                        </a:rPr>
                        <a:t>Prophylactic PPI after EA</a:t>
                      </a:r>
                    </a:p>
                  </a:txBody>
                  <a:tcPr marL="73152" marR="73152" marT="27432" marB="27432" anchor="ctr">
                    <a:solidFill>
                      <a:srgbClr val="FFFFFF"/>
                    </a:solidFill>
                  </a:tcPr>
                </a:tc>
                <a:tc>
                  <a:txBody>
                    <a:bodyPr wrap="square"/>
                    <a:lstStyle/>
                    <a:p>
                      <a:r>
                        <a:rPr sz="950" b="0">
                          <a:solidFill>
                            <a:srgbClr val="1A1A1A"/>
                          </a:solidFill>
                          <a:latin typeface="Abadi"/>
                        </a:rPr>
                        <a:t>Defers to EA guideline</a:t>
                      </a:r>
                    </a:p>
                  </a:txBody>
                  <a:tcPr marL="73152" marR="73152" marT="27432" marB="27432" anchor="ctr">
                    <a:solidFill>
                      <a:srgbClr val="FFFFFF"/>
                    </a:solidFill>
                  </a:tcPr>
                </a:tc>
                <a:tc>
                  <a:txBody>
                    <a:bodyPr wrap="square"/>
                    <a:lstStyle/>
                    <a:p>
                      <a:r>
                        <a:rPr sz="950" b="0">
                          <a:solidFill>
                            <a:srgbClr val="1A1A1A"/>
                          </a:solidFill>
                          <a:latin typeface="Abadi"/>
                        </a:rPr>
                        <a:t>EA 2016: to 1 year; ERNICA: no consensus on length</a:t>
                      </a:r>
                    </a:p>
                  </a:txBody>
                  <a:tcPr marL="73152" marR="73152" marT="27432" marB="27432" anchor="ctr">
                    <a:solidFill>
                      <a:srgbClr val="FFFFFF"/>
                    </a:solidFill>
                  </a:tcPr>
                </a:tc>
                <a:tc>
                  <a:txBody>
                    <a:bodyPr wrap="square"/>
                    <a:lstStyle/>
                    <a:p>
                      <a:r>
                        <a:rPr sz="950" b="0">
                          <a:solidFill>
                            <a:srgbClr val="1A1A1A"/>
                          </a:solidFill>
                          <a:latin typeface="Abadi"/>
                        </a:rPr>
                        <a:t>Not addressed</a:t>
                      </a:r>
                    </a:p>
                  </a:txBody>
                  <a:tcPr marL="73152" marR="73152" marT="27432" marB="27432" anchor="ctr">
                    <a:solidFill>
                      <a:srgbClr val="FFFFFF"/>
                    </a:solidFill>
                  </a:tcPr>
                </a:tc>
                <a:tc>
                  <a:txBody>
                    <a:bodyPr wrap="square"/>
                    <a:lstStyle/>
                    <a:p>
                      <a:pPr algn="ctr"/>
                      <a:r>
                        <a:rPr sz="850" b="1">
                          <a:solidFill>
                            <a:srgbClr val="FFFFFF"/>
                          </a:solidFill>
                          <a:latin typeface="Abadi"/>
                        </a:rPr>
                        <a:t>MATERIAL</a:t>
                      </a:r>
                    </a:p>
                  </a:txBody>
                  <a:tcPr marL="73152" marR="73152" marT="27432" marB="27432" anchor="ctr">
                    <a:solidFill>
                      <a:srgbClr val="B22222"/>
                    </a:solidFill>
                  </a:tcPr>
                </a:tc>
              </a:tr>
              <a:tr h="475488">
                <a:tc>
                  <a:txBody>
                    <a:bodyPr wrap="square"/>
                    <a:lstStyle/>
                    <a:p>
                      <a:r>
                        <a:rPr sz="950" b="1">
                          <a:solidFill>
                            <a:srgbClr val="1A1A1A"/>
                          </a:solidFill>
                          <a:latin typeface="Abadi"/>
                        </a:rPr>
                        <a:t>EA surveillance</a:t>
                      </a:r>
                    </a:p>
                  </a:txBody>
                  <a:tcPr marL="73152" marR="73152" marT="27432" marB="27432" anchor="ctr">
                    <a:solidFill>
                      <a:srgbClr val="F2F4F7"/>
                    </a:solidFill>
                  </a:tcPr>
                </a:tc>
                <a:tc>
                  <a:txBody>
                    <a:bodyPr wrap="square"/>
                    <a:lstStyle/>
                    <a:p>
                      <a:r>
                        <a:rPr sz="950" b="0">
                          <a:solidFill>
                            <a:srgbClr val="1A1A1A"/>
                          </a:solidFill>
                          <a:latin typeface="Abadi"/>
                        </a:rPr>
                        <a:t>Not addressed</a:t>
                      </a:r>
                    </a:p>
                  </a:txBody>
                  <a:tcPr marL="73152" marR="73152" marT="27432" marB="27432" anchor="ctr">
                    <a:solidFill>
                      <a:srgbClr val="F2F4F7"/>
                    </a:solidFill>
                  </a:tcPr>
                </a:tc>
                <a:tc>
                  <a:txBody>
                    <a:bodyPr wrap="square"/>
                    <a:lstStyle/>
                    <a:p>
                      <a:r>
                        <a:rPr sz="950" b="0">
                          <a:solidFill>
                            <a:srgbClr val="1A1A1A"/>
                          </a:solidFill>
                          <a:latin typeface="Abadi"/>
                        </a:rPr>
                        <a:t>Endoscopy schedule; ERNICA every 5–10 years in adults</a:t>
                      </a:r>
                    </a:p>
                  </a:txBody>
                  <a:tcPr marL="73152" marR="73152" marT="27432" marB="27432" anchor="ctr">
                    <a:solidFill>
                      <a:srgbClr val="F2F4F7"/>
                    </a:solidFill>
                  </a:tcPr>
                </a:tc>
                <a:tc>
                  <a:txBody>
                    <a:bodyPr wrap="square"/>
                    <a:lstStyle/>
                    <a:p>
                      <a:r>
                        <a:rPr sz="950" b="0">
                          <a:solidFill>
                            <a:srgbClr val="1A1A1A"/>
                          </a:solidFill>
                          <a:latin typeface="Abadi"/>
                        </a:rPr>
                        <a:t>Barrett rules for adults in general</a:t>
                      </a:r>
                    </a:p>
                  </a:txBody>
                  <a:tcPr marL="73152" marR="73152" marT="27432" marB="27432" anchor="ctr">
                    <a:solidFill>
                      <a:srgbClr val="F2F4F7"/>
                    </a:solidFill>
                  </a:tcPr>
                </a:tc>
                <a:tc>
                  <a:txBody>
                    <a:bodyPr wrap="square"/>
                    <a:lstStyle/>
                    <a:p>
                      <a:pPr algn="ctr"/>
                      <a:r>
                        <a:rPr sz="850" b="1">
                          <a:solidFill>
                            <a:srgbClr val="FFFFFF"/>
                          </a:solidFill>
                          <a:latin typeface="Abadi"/>
                        </a:rPr>
                        <a:t>DIFFERS</a:t>
                      </a:r>
                    </a:p>
                  </a:txBody>
                  <a:tcPr marL="73152" marR="73152" marT="27432" marB="27432" anchor="ctr">
                    <a:solidFill>
                      <a:srgbClr val="D97A0B"/>
                    </a:solidFill>
                  </a:tcPr>
                </a:tc>
              </a:tr>
              <a:tr h="475488">
                <a:tc>
                  <a:txBody>
                    <a:bodyPr wrap="square"/>
                    <a:lstStyle/>
                    <a:p>
                      <a:r>
                        <a:rPr sz="950" b="1">
                          <a:solidFill>
                            <a:srgbClr val="1A1A1A"/>
                          </a:solidFill>
                          <a:latin typeface="Abadi"/>
                        </a:rPr>
                        <a:t>Reflux in CF</a:t>
                      </a:r>
                    </a:p>
                  </a:txBody>
                  <a:tcPr marL="73152" marR="73152" marT="27432" marB="27432" anchor="ctr">
                    <a:solidFill>
                      <a:srgbClr val="FFFFFF"/>
                    </a:solidFill>
                  </a:tcPr>
                </a:tc>
                <a:tc>
                  <a:txBody>
                    <a:bodyPr wrap="square"/>
                    <a:lstStyle/>
                    <a:p>
                      <a:r>
                        <a:rPr sz="950" b="0">
                          <a:solidFill>
                            <a:srgbClr val="1A1A1A"/>
                          </a:solidFill>
                          <a:latin typeface="Abadi"/>
                        </a:rPr>
                        <a:t>High-risk group for pH testing</a:t>
                      </a:r>
                    </a:p>
                  </a:txBody>
                  <a:tcPr marL="73152" marR="73152" marT="27432" marB="27432" anchor="ctr">
                    <a:solidFill>
                      <a:srgbClr val="FFFFFF"/>
                    </a:solidFill>
                  </a:tcPr>
                </a:tc>
                <a:tc>
                  <a:txBody>
                    <a:bodyPr wrap="square"/>
                    <a:lstStyle/>
                    <a:p>
                      <a:r>
                        <a:rPr sz="950" b="0">
                          <a:solidFill>
                            <a:srgbClr val="1A1A1A"/>
                          </a:solidFill>
                          <a:latin typeface="Abadi"/>
                        </a:rPr>
                        <a:t>No CF-specific guideline</a:t>
                      </a:r>
                    </a:p>
                  </a:txBody>
                  <a:tcPr marL="73152" marR="73152" marT="27432" marB="27432" anchor="ctr">
                    <a:solidFill>
                      <a:srgbClr val="FFFFFF"/>
                    </a:solidFill>
                  </a:tcPr>
                </a:tc>
                <a:tc>
                  <a:txBody>
                    <a:bodyPr wrap="square"/>
                    <a:lstStyle/>
                    <a:p>
                      <a:r>
                        <a:rPr sz="950" b="0">
                          <a:solidFill>
                            <a:srgbClr val="1A1A1A"/>
                          </a:solidFill>
                          <a:latin typeface="Abadi"/>
                        </a:rPr>
                        <a:t>Not addressed</a:t>
                      </a:r>
                    </a:p>
                  </a:txBody>
                  <a:tcPr marL="73152" marR="73152" marT="27432" marB="27432" anchor="ctr">
                    <a:solidFill>
                      <a:srgbClr val="FFFFFF"/>
                    </a:solidFill>
                  </a:tcPr>
                </a:tc>
                <a:tc>
                  <a:txBody>
                    <a:bodyPr wrap="square"/>
                    <a:lstStyle/>
                    <a:p>
                      <a:pPr algn="ctr"/>
                      <a:r>
                        <a:rPr sz="850" b="1">
                          <a:solidFill>
                            <a:srgbClr val="FFFFFF"/>
                          </a:solidFill>
                          <a:latin typeface="Abadi"/>
                        </a:rPr>
                        <a:t>GAP</a:t>
                      </a:r>
                    </a:p>
                  </a:txBody>
                  <a:tcPr marL="73152" marR="73152" marT="27432" marB="27432" anchor="ctr">
                    <a:solidFill>
                      <a:srgbClr val="8A939B"/>
                    </a:solidFill>
                  </a:tcPr>
                </a:tc>
              </a:tr>
              <a:tr h="475488">
                <a:tc>
                  <a:txBody>
                    <a:bodyPr wrap="square"/>
                    <a:lstStyle/>
                    <a:p>
                      <a:r>
                        <a:rPr sz="950" b="1">
                          <a:solidFill>
                            <a:srgbClr val="1A1A1A"/>
                          </a:solidFill>
                          <a:latin typeface="Abadi"/>
                        </a:rPr>
                        <a:t>Weight loss in obesity</a:t>
                      </a:r>
                    </a:p>
                  </a:txBody>
                  <a:tcPr marL="73152" marR="73152" marT="27432" marB="27432" anchor="ctr">
                    <a:solidFill>
                      <a:srgbClr val="F2F4F7"/>
                    </a:solidFill>
                  </a:tcPr>
                </a:tc>
                <a:tc>
                  <a:txBody>
                    <a:bodyPr wrap="square"/>
                    <a:lstStyle/>
                    <a:p>
                      <a:r>
                        <a:rPr sz="950" b="0">
                          <a:solidFill>
                            <a:srgbClr val="1A1A1A"/>
                          </a:solidFill>
                          <a:latin typeface="Abadi"/>
                        </a:rPr>
                        <a:t>Not specific to obesity</a:t>
                      </a:r>
                    </a:p>
                  </a:txBody>
                  <a:tcPr marL="73152" marR="73152" marT="27432" marB="27432" anchor="ctr">
                    <a:solidFill>
                      <a:srgbClr val="F2F4F7"/>
                    </a:solidFill>
                  </a:tcPr>
                </a:tc>
                <a:tc>
                  <a:txBody>
                    <a:bodyPr wrap="square"/>
                    <a:lstStyle/>
                    <a:p>
                      <a:r>
                        <a:rPr sz="950" b="0">
                          <a:solidFill>
                            <a:srgbClr val="1A1A1A"/>
                          </a:solidFill>
                          <a:latin typeface="Abadi"/>
                        </a:rPr>
                        <a:t>Not addressed</a:t>
                      </a:r>
                    </a:p>
                  </a:txBody>
                  <a:tcPr marL="73152" marR="73152" marT="27432" marB="27432" anchor="ctr">
                    <a:solidFill>
                      <a:srgbClr val="F2F4F7"/>
                    </a:solidFill>
                  </a:tcPr>
                </a:tc>
                <a:tc>
                  <a:txBody>
                    <a:bodyPr wrap="square"/>
                    <a:lstStyle/>
                    <a:p>
                      <a:r>
                        <a:rPr sz="950" b="0">
                          <a:solidFill>
                            <a:srgbClr val="1A1A1A"/>
                          </a:solidFill>
                          <a:latin typeface="Abadi"/>
                        </a:rPr>
                        <a:t>Strong (ACG); bypass over sleeve (AGA)</a:t>
                      </a:r>
                    </a:p>
                  </a:txBody>
                  <a:tcPr marL="73152" marR="73152" marT="27432" marB="27432" anchor="ctr">
                    <a:solidFill>
                      <a:srgbClr val="F2F4F7"/>
                    </a:solidFill>
                  </a:tcPr>
                </a:tc>
                <a:tc>
                  <a:txBody>
                    <a:bodyPr wrap="square"/>
                    <a:lstStyle/>
                    <a:p>
                      <a:pPr algn="ctr"/>
                      <a:r>
                        <a:rPr sz="850" b="1">
                          <a:solidFill>
                            <a:srgbClr val="FFFFFF"/>
                          </a:solidFill>
                          <a:latin typeface="Abadi"/>
                        </a:rPr>
                        <a:t>DIFFERS</a:t>
                      </a:r>
                    </a:p>
                  </a:txBody>
                  <a:tcPr marL="73152" marR="73152" marT="27432" marB="27432" anchor="ctr">
                    <a:solidFill>
                      <a:srgbClr val="D97A0B"/>
                    </a:solidFill>
                  </a:tcPr>
                </a:tc>
              </a:tr>
            </a:tbl>
          </a:graphicData>
        </a:graphic>
      </p:graphicFrame>
      <p:sp>
        <p:nvSpPr>
          <p:cNvPr id="13" name="TextBox 12"/>
          <p:cNvSpPr txBox="1"/>
          <p:nvPr/>
        </p:nvSpPr>
        <p:spPr>
          <a:xfrm>
            <a:off x="548640" y="5257800"/>
            <a:ext cx="11082528" cy="548640"/>
          </a:xfrm>
          <a:prstGeom prst="rect">
            <a:avLst/>
          </a:prstGeom>
          <a:noFill/>
        </p:spPr>
        <p:txBody>
          <a:bodyPr wrap="square" anchor="t" lIns="36576" rIns="36576" tIns="36576" bIns="36576">
            <a:spAutoFit/>
          </a:bodyPr>
          <a:lstStyle/>
          <a:p>
            <a:pPr algn="l"/>
            <a:r>
              <a:rPr sz="1200" b="1" i="0">
                <a:solidFill>
                  <a:srgbClr val="1B355E"/>
                </a:solidFill>
                <a:latin typeface="Abadi"/>
              </a:rPr>
              <a:t>Material point.   </a:t>
            </a:r>
            <a:r>
              <a:rPr sz="1200" b="0" i="0">
                <a:solidFill>
                  <a:srgbClr val="1A1A1A"/>
                </a:solidFill>
                <a:latin typeface="Abadi"/>
              </a:rPr>
              <a:t>The one-year prophylactic PPI after atresia repair is the only recommendation directly contradicted by later pooled data: three analyses show no fall in strictures. The 2016 guideline update is pending.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anchor="ctr" lIns="0" rIns="0" tIns="0" bIns="0">
            <a:spAutoFit/>
          </a:bodyPr>
          <a:lstStyle/>
          <a:p>
            <a:pPr algn="ctr"/>
            <a:r>
              <a:rPr sz="1500" b="1" i="0">
                <a:solidFill>
                  <a:srgbClr val="FFFFFF"/>
                </a:solidFill>
                <a:latin typeface="Abadi"/>
              </a:rPr>
              <a:t>VIII</a:t>
            </a:r>
          </a:p>
        </p:txBody>
      </p:sp>
      <p:sp>
        <p:nvSpPr>
          <p:cNvPr id="4" name="TextBox 3"/>
          <p:cNvSpPr txBox="1"/>
          <p:nvPr/>
        </p:nvSpPr>
        <p:spPr>
          <a:xfrm>
            <a:off x="1380744" y="292608"/>
            <a:ext cx="10232136" cy="347472"/>
          </a:xfrm>
          <a:prstGeom prst="rect">
            <a:avLst/>
          </a:prstGeom>
          <a:noFill/>
        </p:spPr>
        <p:txBody>
          <a:bodyPr wrap="square" anchor="ctr" lIns="36576" rIns="36576" tIns="36576" bIns="36576">
            <a:spAutoFit/>
          </a:bodyPr>
          <a:lstStyle/>
          <a:p>
            <a:pPr algn="l"/>
            <a:r>
              <a:rPr sz="1200" b="1" i="0">
                <a:solidFill>
                  <a:srgbClr val="B22222"/>
                </a:solidFill>
                <a:latin typeface="Abadi"/>
              </a:rPr>
              <a:t>TRAPS</a:t>
            </a:r>
          </a:p>
        </p:txBody>
      </p:sp>
      <p:sp>
        <p:nvSpPr>
          <p:cNvPr id="5" name="TextBox 4"/>
          <p:cNvSpPr txBox="1"/>
          <p:nvPr/>
        </p:nvSpPr>
        <p:spPr>
          <a:xfrm>
            <a:off x="548640" y="722376"/>
            <a:ext cx="11082528" cy="548640"/>
          </a:xfrm>
          <a:prstGeom prst="rect">
            <a:avLst/>
          </a:prstGeom>
          <a:noFill/>
        </p:spPr>
        <p:txBody>
          <a:bodyPr wrap="square" anchor="ctr" lIns="36576" rIns="36576" tIns="36576" bIns="36576">
            <a:spAutoFit/>
          </a:bodyPr>
          <a:lstStyle/>
          <a:p>
            <a:pPr algn="l"/>
            <a:r>
              <a:rPr sz="3000" b="1" i="0">
                <a:solidFill>
                  <a:srgbClr val="1B355E"/>
                </a:solidFill>
                <a:latin typeface="Abadi"/>
              </a:rPr>
              <a:t>HOW REFLUX CARE GOES WRONG</a:t>
            </a:r>
          </a:p>
        </p:txBody>
      </p:sp>
      <p:sp>
        <p:nvSpPr>
          <p:cNvPr id="6" name="TextBox 5"/>
          <p:cNvSpPr txBox="1"/>
          <p:nvPr/>
        </p:nvSpPr>
        <p:spPr>
          <a:xfrm>
            <a:off x="548640" y="1307592"/>
            <a:ext cx="11082528" cy="265176"/>
          </a:xfrm>
          <a:prstGeom prst="rect">
            <a:avLst/>
          </a:prstGeom>
          <a:noFill/>
        </p:spPr>
        <p:txBody>
          <a:bodyPr wrap="square" anchor="t" lIns="36576" rIns="36576" tIns="36576" bIns="36576">
            <a:spAutoFit/>
          </a:bodyPr>
          <a:lstStyle/>
          <a:p>
            <a:pPr algn="l"/>
            <a:r>
              <a:rPr sz="1300" b="0" i="0">
                <a:solidFill>
                  <a:srgbClr val="555555"/>
                </a:solidFill>
                <a:latin typeface="Abadi"/>
              </a:rPr>
              <a:t>Errors in reasoning in special groups</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anchor="t" lIns="36576" rIns="36576" tIns="36576" bIns="36576">
            <a:spAutoFit/>
          </a:bodyPr>
          <a:lstStyle/>
          <a:p>
            <a:pPr algn="r"/>
            <a:r>
              <a:rPr sz="1200" b="0" i="0">
                <a:solidFill>
                  <a:srgbClr val="555555"/>
                </a:solidFill>
                <a:latin typeface="Abadi"/>
              </a:rPr>
              <a:t>18</a:t>
            </a:r>
          </a:p>
        </p:txBody>
      </p:sp>
      <p:sp>
        <p:nvSpPr>
          <p:cNvPr id="11" name="TextBox 10"/>
          <p:cNvSpPr txBox="1"/>
          <p:nvPr/>
        </p:nvSpPr>
        <p:spPr>
          <a:xfrm>
            <a:off x="548640" y="5971032"/>
            <a:ext cx="10287000" cy="457200"/>
          </a:xfrm>
          <a:prstGeom prst="rect">
            <a:avLst/>
          </a:prstGeom>
          <a:noFill/>
        </p:spPr>
        <p:txBody>
          <a:bodyPr wrap="square" anchor="t" lIns="36576" rIns="36576" tIns="36576" bIns="36576">
            <a:spAutoFit/>
          </a:bodyPr>
          <a:lstStyle/>
          <a:p>
            <a:pPr algn="l"/>
            <a:r>
              <a:rPr sz="1000" b="0" i="0">
                <a:solidFill>
                  <a:srgbClr val="7F7F7F"/>
                </a:solidFill>
                <a:latin typeface="Abadi"/>
              </a:rPr>
              <a:t>Barnhart 2013 · Pearl 1990 · Miyake 2018 · Vergouwe 2018 · van Horck 2018 · Shakhnovich 2018</a:t>
            </a:r>
          </a:p>
        </p:txBody>
      </p:sp>
      <p:sp>
        <p:nvSpPr>
          <p:cNvPr id="12" name="Rectangle 11"/>
          <p:cNvSpPr/>
          <p:nvPr/>
        </p:nvSpPr>
        <p:spPr>
          <a:xfrm>
            <a:off x="548640" y="1773936"/>
            <a:ext cx="2070201" cy="224028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070201"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1956816"/>
            <a:ext cx="1777593" cy="502920"/>
          </a:xfrm>
          <a:prstGeom prst="rect">
            <a:avLst/>
          </a:prstGeom>
          <a:noFill/>
        </p:spPr>
        <p:txBody>
          <a:bodyPr wrap="square" anchor="t" lIns="36576" rIns="36576" tIns="36576" bIns="36576">
            <a:spAutoFit/>
          </a:bodyPr>
          <a:lstStyle/>
          <a:p>
            <a:pPr algn="l"/>
            <a:r>
              <a:rPr sz="1300" b="1" i="0">
                <a:solidFill>
                  <a:srgbClr val="B22222"/>
                </a:solidFill>
                <a:latin typeface="Abadi"/>
              </a:rPr>
              <a:t>"Wrap with the gastrostomy"</a:t>
            </a:r>
          </a:p>
        </p:txBody>
      </p:sp>
      <p:sp>
        <p:nvSpPr>
          <p:cNvPr id="15" name="TextBox 14"/>
          <p:cNvSpPr txBox="1"/>
          <p:nvPr/>
        </p:nvSpPr>
        <p:spPr>
          <a:xfrm>
            <a:off x="694944" y="2487168"/>
            <a:ext cx="1777593" cy="1435608"/>
          </a:xfrm>
          <a:prstGeom prst="rect">
            <a:avLst/>
          </a:prstGeom>
          <a:noFill/>
        </p:spPr>
        <p:txBody>
          <a:bodyPr wrap="square" anchor="t" lIns="36576" rIns="36576" tIns="36576" bIns="36576">
            <a:spAutoFit/>
          </a:bodyPr>
          <a:lstStyle/>
          <a:p>
            <a:pPr algn="l">
              <a:spcAft>
                <a:spcPts val="400"/>
              </a:spcAft>
            </a:pPr>
            <a:r>
              <a:rPr sz="1100" b="0" i="0">
                <a:solidFill>
                  <a:srgbClr val="1A1A1A"/>
                </a:solidFill>
                <a:latin typeface="Abadi"/>
              </a:rPr>
              <a:t>▪  Admissions not reduced</a:t>
            </a:r>
          </a:p>
          <a:p>
            <a:pPr algn="l">
              <a:spcAft>
                <a:spcPts val="400"/>
              </a:spcAft>
            </a:pPr>
            <a:r>
              <a:rPr sz="1100" b="0" i="0">
                <a:solidFill>
                  <a:srgbClr val="1A1A1A"/>
                </a:solidFill>
                <a:latin typeface="Abadi"/>
              </a:rPr>
              <a:t>▪  Most never need it</a:t>
            </a:r>
          </a:p>
        </p:txBody>
      </p:sp>
      <p:sp>
        <p:nvSpPr>
          <p:cNvPr id="16" name="Rectangle 15"/>
          <p:cNvSpPr/>
          <p:nvPr/>
        </p:nvSpPr>
        <p:spPr>
          <a:xfrm>
            <a:off x="2801721" y="1773936"/>
            <a:ext cx="2070201" cy="224028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801721" y="1773936"/>
            <a:ext cx="2070201"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48025" y="1956816"/>
            <a:ext cx="1777593" cy="502920"/>
          </a:xfrm>
          <a:prstGeom prst="rect">
            <a:avLst/>
          </a:prstGeom>
          <a:noFill/>
        </p:spPr>
        <p:txBody>
          <a:bodyPr wrap="square" anchor="t" lIns="36576" rIns="36576" tIns="36576" bIns="36576">
            <a:spAutoFit/>
          </a:bodyPr>
          <a:lstStyle/>
          <a:p>
            <a:pPr algn="l"/>
            <a:r>
              <a:rPr sz="1300" b="1" i="0">
                <a:solidFill>
                  <a:srgbClr val="D97A0B"/>
                </a:solidFill>
                <a:latin typeface="Abadi"/>
              </a:rPr>
              <a:t>"The wrap stops aspiration"</a:t>
            </a:r>
          </a:p>
        </p:txBody>
      </p:sp>
      <p:sp>
        <p:nvSpPr>
          <p:cNvPr id="19" name="TextBox 18"/>
          <p:cNvSpPr txBox="1"/>
          <p:nvPr/>
        </p:nvSpPr>
        <p:spPr>
          <a:xfrm>
            <a:off x="2948025" y="2487168"/>
            <a:ext cx="1777593" cy="1435608"/>
          </a:xfrm>
          <a:prstGeom prst="rect">
            <a:avLst/>
          </a:prstGeom>
          <a:noFill/>
        </p:spPr>
        <p:txBody>
          <a:bodyPr wrap="square" anchor="t" lIns="36576" rIns="36576" tIns="36576" bIns="36576">
            <a:spAutoFit/>
          </a:bodyPr>
          <a:lstStyle/>
          <a:p>
            <a:pPr algn="l">
              <a:spcAft>
                <a:spcPts val="400"/>
              </a:spcAft>
            </a:pPr>
            <a:r>
              <a:rPr sz="1100" b="0" i="0">
                <a:solidFill>
                  <a:srgbClr val="1A1A1A"/>
                </a:solidFill>
                <a:latin typeface="Abadi"/>
              </a:rPr>
              <a:t>▪  Saliva still aspirated</a:t>
            </a:r>
          </a:p>
          <a:p>
            <a:pPr algn="l">
              <a:spcAft>
                <a:spcPts val="400"/>
              </a:spcAft>
            </a:pPr>
            <a:r>
              <a:rPr sz="1100" b="0" i="0">
                <a:solidFill>
                  <a:srgbClr val="1A1A1A"/>
                </a:solidFill>
                <a:latin typeface="Abadi"/>
              </a:rPr>
              <a:t>▪  Pneumonia unchanged</a:t>
            </a:r>
          </a:p>
        </p:txBody>
      </p:sp>
      <p:sp>
        <p:nvSpPr>
          <p:cNvPr id="20" name="Rectangle 19"/>
          <p:cNvSpPr/>
          <p:nvPr/>
        </p:nvSpPr>
        <p:spPr>
          <a:xfrm>
            <a:off x="5054803" y="1773936"/>
            <a:ext cx="2070201" cy="224028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54803" y="1773936"/>
            <a:ext cx="2070201"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01107" y="1956816"/>
            <a:ext cx="1777593" cy="502920"/>
          </a:xfrm>
          <a:prstGeom prst="rect">
            <a:avLst/>
          </a:prstGeom>
          <a:noFill/>
        </p:spPr>
        <p:txBody>
          <a:bodyPr wrap="square" anchor="t" lIns="36576" rIns="36576" tIns="36576" bIns="36576">
            <a:spAutoFit/>
          </a:bodyPr>
          <a:lstStyle/>
          <a:p>
            <a:pPr algn="l"/>
            <a:r>
              <a:rPr sz="1300" b="1" i="0">
                <a:solidFill>
                  <a:srgbClr val="D97A0B"/>
                </a:solidFill>
                <a:latin typeface="Abadi"/>
              </a:rPr>
              <a:t>"PPI prevents strictures"</a:t>
            </a:r>
          </a:p>
        </p:txBody>
      </p:sp>
      <p:sp>
        <p:nvSpPr>
          <p:cNvPr id="23" name="TextBox 22"/>
          <p:cNvSpPr txBox="1"/>
          <p:nvPr/>
        </p:nvSpPr>
        <p:spPr>
          <a:xfrm>
            <a:off x="5201107" y="2487168"/>
            <a:ext cx="1777593" cy="1435608"/>
          </a:xfrm>
          <a:prstGeom prst="rect">
            <a:avLst/>
          </a:prstGeom>
          <a:noFill/>
        </p:spPr>
        <p:txBody>
          <a:bodyPr wrap="square" anchor="t" lIns="36576" rIns="36576" tIns="36576" bIns="36576">
            <a:spAutoFit/>
          </a:bodyPr>
          <a:lstStyle/>
          <a:p>
            <a:pPr algn="l">
              <a:spcAft>
                <a:spcPts val="400"/>
              </a:spcAft>
            </a:pPr>
            <a:r>
              <a:rPr sz="1100" b="0" i="0">
                <a:solidFill>
                  <a:srgbClr val="1A1A1A"/>
                </a:solidFill>
                <a:latin typeface="Abadi"/>
              </a:rPr>
              <a:t>▪  Meta-analyses null</a:t>
            </a:r>
          </a:p>
          <a:p>
            <a:pPr algn="l">
              <a:spcAft>
                <a:spcPts val="400"/>
              </a:spcAft>
            </a:pPr>
            <a:r>
              <a:rPr sz="1100" b="0" i="0">
                <a:solidFill>
                  <a:srgbClr val="1A1A1A"/>
                </a:solidFill>
                <a:latin typeface="Abadi"/>
              </a:rPr>
              <a:t>▪  Dilate for symptoms</a:t>
            </a:r>
          </a:p>
        </p:txBody>
      </p:sp>
      <p:sp>
        <p:nvSpPr>
          <p:cNvPr id="24" name="Rectangle 23"/>
          <p:cNvSpPr/>
          <p:nvPr/>
        </p:nvSpPr>
        <p:spPr>
          <a:xfrm>
            <a:off x="7307884" y="1773936"/>
            <a:ext cx="2070201" cy="224028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07884" y="1773936"/>
            <a:ext cx="2070201"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54188" y="1956816"/>
            <a:ext cx="1777593" cy="502920"/>
          </a:xfrm>
          <a:prstGeom prst="rect">
            <a:avLst/>
          </a:prstGeom>
          <a:noFill/>
        </p:spPr>
        <p:txBody>
          <a:bodyPr wrap="square" anchor="t" lIns="36576" rIns="36576" tIns="36576" bIns="36576">
            <a:spAutoFit/>
          </a:bodyPr>
          <a:lstStyle/>
          <a:p>
            <a:pPr algn="l"/>
            <a:r>
              <a:rPr sz="1300" b="1" i="0">
                <a:solidFill>
                  <a:srgbClr val="B22222"/>
                </a:solidFill>
                <a:latin typeface="Abadi"/>
              </a:rPr>
              <a:t>"He is well; discharge"</a:t>
            </a:r>
          </a:p>
        </p:txBody>
      </p:sp>
      <p:sp>
        <p:nvSpPr>
          <p:cNvPr id="27" name="TextBox 26"/>
          <p:cNvSpPr txBox="1"/>
          <p:nvPr/>
        </p:nvSpPr>
        <p:spPr>
          <a:xfrm>
            <a:off x="7454188" y="2487168"/>
            <a:ext cx="1777593" cy="1435608"/>
          </a:xfrm>
          <a:prstGeom prst="rect">
            <a:avLst/>
          </a:prstGeom>
          <a:noFill/>
        </p:spPr>
        <p:txBody>
          <a:bodyPr wrap="square" anchor="t" lIns="36576" rIns="36576" tIns="36576" bIns="36576">
            <a:spAutoFit/>
          </a:bodyPr>
          <a:lstStyle/>
          <a:p>
            <a:pPr algn="l">
              <a:spcAft>
                <a:spcPts val="400"/>
              </a:spcAft>
            </a:pPr>
            <a:r>
              <a:rPr sz="1100" b="0" i="0">
                <a:solidFill>
                  <a:srgbClr val="1A1A1A"/>
                </a:solidFill>
                <a:latin typeface="Abadi"/>
              </a:rPr>
              <a:t>▪  Barrett in 6.6% of adults</a:t>
            </a:r>
          </a:p>
          <a:p>
            <a:pPr algn="l">
              <a:spcAft>
                <a:spcPts val="400"/>
              </a:spcAft>
            </a:pPr>
            <a:r>
              <a:rPr sz="1100" b="0" i="0">
                <a:solidFill>
                  <a:srgbClr val="1A1A1A"/>
                </a:solidFill>
                <a:latin typeface="Abadi"/>
              </a:rPr>
              <a:t>▪  Surveillance for life</a:t>
            </a:r>
          </a:p>
        </p:txBody>
      </p:sp>
      <p:sp>
        <p:nvSpPr>
          <p:cNvPr id="28" name="Rectangle 27"/>
          <p:cNvSpPr/>
          <p:nvPr/>
        </p:nvSpPr>
        <p:spPr>
          <a:xfrm>
            <a:off x="9560966" y="1773936"/>
            <a:ext cx="2070201" cy="2240280"/>
          </a:xfrm>
          <a:prstGeom prst="rect">
            <a:avLst/>
          </a:prstGeom>
          <a:solidFill>
            <a:srgbClr val="E7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560966" y="1773936"/>
            <a:ext cx="2070201" cy="1005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07270" y="1956816"/>
            <a:ext cx="1777593" cy="502920"/>
          </a:xfrm>
          <a:prstGeom prst="rect">
            <a:avLst/>
          </a:prstGeom>
          <a:noFill/>
        </p:spPr>
        <p:txBody>
          <a:bodyPr wrap="square" anchor="t" lIns="36576" rIns="36576" tIns="36576" bIns="36576">
            <a:spAutoFit/>
          </a:bodyPr>
          <a:lstStyle/>
          <a:p>
            <a:pPr algn="l"/>
            <a:r>
              <a:rPr sz="1300" b="1" i="0">
                <a:solidFill>
                  <a:srgbClr val="8A939B"/>
                </a:solidFill>
                <a:latin typeface="Abadi"/>
              </a:rPr>
              <a:t>"PPI is harmless in CF"</a:t>
            </a:r>
          </a:p>
        </p:txBody>
      </p:sp>
      <p:sp>
        <p:nvSpPr>
          <p:cNvPr id="31" name="TextBox 30"/>
          <p:cNvSpPr txBox="1"/>
          <p:nvPr/>
        </p:nvSpPr>
        <p:spPr>
          <a:xfrm>
            <a:off x="9707270" y="2487168"/>
            <a:ext cx="1777593" cy="1435608"/>
          </a:xfrm>
          <a:prstGeom prst="rect">
            <a:avLst/>
          </a:prstGeom>
          <a:noFill/>
        </p:spPr>
        <p:txBody>
          <a:bodyPr wrap="square" anchor="t" lIns="36576" rIns="36576" tIns="36576" bIns="36576">
            <a:spAutoFit/>
          </a:bodyPr>
          <a:lstStyle/>
          <a:p>
            <a:pPr algn="l">
              <a:spcAft>
                <a:spcPts val="400"/>
              </a:spcAft>
            </a:pPr>
            <a:r>
              <a:rPr sz="1100" b="0" i="0">
                <a:solidFill>
                  <a:srgbClr val="1A1A1A"/>
                </a:solidFill>
                <a:latin typeface="Abadi"/>
              </a:rPr>
              <a:t>▪  Linked to FEV1 decline</a:t>
            </a:r>
          </a:p>
          <a:p>
            <a:pPr algn="l">
              <a:spcAft>
                <a:spcPts val="400"/>
              </a:spcAft>
            </a:pPr>
            <a:r>
              <a:rPr sz="1100" b="0" i="0">
                <a:solidFill>
                  <a:srgbClr val="1A1A1A"/>
                </a:solidFill>
                <a:latin typeface="Abadi"/>
              </a:rPr>
              <a:t>▪  Review each visit</a:t>
            </a:r>
          </a:p>
        </p:txBody>
      </p:sp>
      <p:sp>
        <p:nvSpPr>
          <p:cNvPr id="32" name="TextBox 31"/>
          <p:cNvSpPr txBox="1"/>
          <p:nvPr/>
        </p:nvSpPr>
        <p:spPr>
          <a:xfrm>
            <a:off x="548640" y="4251960"/>
            <a:ext cx="11082528" cy="914400"/>
          </a:xfrm>
          <a:prstGeom prst="rect">
            <a:avLst/>
          </a:prstGeom>
          <a:noFill/>
        </p:spPr>
        <p:txBody>
          <a:bodyPr wrap="square" anchor="t" lIns="36576" rIns="36576" tIns="36576" bIns="36576">
            <a:spAutoFit/>
          </a:bodyPr>
          <a:lstStyle/>
          <a:p>
            <a:pPr algn="l"/>
            <a:r>
              <a:rPr sz="1250" b="1" i="0">
                <a:solidFill>
                  <a:srgbClr val="1B355E"/>
                </a:solidFill>
                <a:latin typeface="Abadi"/>
              </a:rPr>
              <a:t>And one more.   </a:t>
            </a:r>
            <a:r>
              <a:rPr sz="1250" b="0" i="0">
                <a:solidFill>
                  <a:srgbClr val="1A1A1A"/>
                </a:solidFill>
                <a:latin typeface="Abadi"/>
              </a:rPr>
              <a:t>Dosing a PPI by total body weight in an obese adolescent overexposes the child; use lean weight.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anchor="ctr" lIns="0" rIns="0" tIns="0" bIns="0">
            <a:spAutoFit/>
          </a:bodyPr>
          <a:lstStyle/>
          <a:p>
            <a:pPr algn="ctr"/>
            <a:r>
              <a:rPr sz="1500" b="1" i="0">
                <a:solidFill>
                  <a:srgbClr val="FFFFFF"/>
                </a:solidFill>
                <a:latin typeface="Abadi"/>
              </a:rPr>
              <a:t>IX</a:t>
            </a:r>
          </a:p>
        </p:txBody>
      </p:sp>
      <p:sp>
        <p:nvSpPr>
          <p:cNvPr id="4" name="TextBox 3"/>
          <p:cNvSpPr txBox="1"/>
          <p:nvPr/>
        </p:nvSpPr>
        <p:spPr>
          <a:xfrm>
            <a:off x="1380744" y="292608"/>
            <a:ext cx="10232136" cy="347472"/>
          </a:xfrm>
          <a:prstGeom prst="rect">
            <a:avLst/>
          </a:prstGeom>
          <a:noFill/>
        </p:spPr>
        <p:txBody>
          <a:bodyPr wrap="square" anchor="ctr" lIns="36576" rIns="36576" tIns="36576" bIns="36576">
            <a:spAutoFit/>
          </a:bodyPr>
          <a:lstStyle/>
          <a:p>
            <a:pPr algn="l"/>
            <a:r>
              <a:rPr sz="1200" b="1" i="0">
                <a:solidFill>
                  <a:srgbClr val="B22222"/>
                </a:solidFill>
                <a:latin typeface="Abadi"/>
              </a:rPr>
              <a:t>PEARLS</a:t>
            </a:r>
          </a:p>
        </p:txBody>
      </p:sp>
      <p:sp>
        <p:nvSpPr>
          <p:cNvPr id="5" name="TextBox 4"/>
          <p:cNvSpPr txBox="1"/>
          <p:nvPr/>
        </p:nvSpPr>
        <p:spPr>
          <a:xfrm>
            <a:off x="548640" y="722376"/>
            <a:ext cx="11082528" cy="548640"/>
          </a:xfrm>
          <a:prstGeom prst="rect">
            <a:avLst/>
          </a:prstGeom>
          <a:noFill/>
        </p:spPr>
        <p:txBody>
          <a:bodyPr wrap="square" anchor="ctr" lIns="36576" rIns="36576" tIns="36576" bIns="36576">
            <a:spAutoFit/>
          </a:bodyPr>
          <a:lstStyle/>
          <a:p>
            <a:pPr algn="l"/>
            <a:r>
              <a:rPr sz="3000" b="1" i="0">
                <a:solidFill>
                  <a:srgbClr val="1B355E"/>
                </a:solidFill>
                <a:latin typeface="Abadi"/>
              </a:rPr>
              <a:t>TEN THINGS TO REMEMBER</a:t>
            </a:r>
          </a:p>
        </p:txBody>
      </p:sp>
      <p:sp>
        <p:nvSpPr>
          <p:cNvPr id="6" name="TextBox 5"/>
          <p:cNvSpPr txBox="1"/>
          <p:nvPr/>
        </p:nvSpPr>
        <p:spPr>
          <a:xfrm>
            <a:off x="548640" y="1307592"/>
            <a:ext cx="11082528" cy="265176"/>
          </a:xfrm>
          <a:prstGeom prst="rect">
            <a:avLst/>
          </a:prstGeom>
          <a:noFill/>
        </p:spPr>
        <p:txBody>
          <a:bodyPr wrap="square" anchor="t" lIns="36576" rIns="36576" tIns="36576" bIns="36576">
            <a:spAutoFit/>
          </a:bodyPr>
          <a:lstStyle/>
          <a:p>
            <a:pPr algn="l"/>
            <a:r>
              <a:rPr sz="1300" b="0" i="0">
                <a:solidFill>
                  <a:srgbClr val="555555"/>
                </a:solidFill>
                <a:latin typeface="Abadi"/>
              </a:rPr>
              <a:t>The numbers worth carrying into clinic</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anchor="t" lIns="36576" rIns="36576" tIns="36576" bIns="36576">
            <a:spAutoFit/>
          </a:bodyPr>
          <a:lstStyle/>
          <a:p>
            <a:pPr algn="r"/>
            <a:r>
              <a:rPr sz="1200" b="0" i="0">
                <a:solidFill>
                  <a:srgbClr val="555555"/>
                </a:solidFill>
                <a:latin typeface="Abadi"/>
              </a:rPr>
              <a:t>19</a:t>
            </a:r>
          </a:p>
        </p:txBody>
      </p:sp>
      <p:sp>
        <p:nvSpPr>
          <p:cNvPr id="11" name="TextBox 10"/>
          <p:cNvSpPr txBox="1"/>
          <p:nvPr/>
        </p:nvSpPr>
        <p:spPr>
          <a:xfrm>
            <a:off x="548640" y="5971032"/>
            <a:ext cx="10287000" cy="457200"/>
          </a:xfrm>
          <a:prstGeom prst="rect">
            <a:avLst/>
          </a:prstGeom>
          <a:noFill/>
        </p:spPr>
        <p:txBody>
          <a:bodyPr wrap="square" anchor="t" lIns="36576" rIns="36576" tIns="36576" bIns="36576">
            <a:spAutoFit/>
          </a:bodyPr>
          <a:lstStyle/>
          <a:p>
            <a:pPr algn="l"/>
            <a:r>
              <a:rPr sz="1000" b="0" i="0">
                <a:solidFill>
                  <a:srgbClr val="7F7F7F"/>
                </a:solidFill>
                <a:latin typeface="Abadi"/>
              </a:rPr>
              <a:t>Romano 2017 · Pearl 1990 · Barnhart 2013 · Srivastava 2009 · Krishnan 2016 · Miyake 2018 · Vergouwe 2018 · Dziekiewicz 2015 · Rode 2025 · Shakhnovich 2018</a:t>
            </a:r>
          </a:p>
        </p:txBody>
      </p:sp>
      <p:sp>
        <p:nvSpPr>
          <p:cNvPr id="12" name="TextBox 11"/>
          <p:cNvSpPr txBox="1"/>
          <p:nvPr/>
        </p:nvSpPr>
        <p:spPr>
          <a:xfrm>
            <a:off x="548640" y="1810512"/>
            <a:ext cx="11082528" cy="3931920"/>
          </a:xfrm>
          <a:prstGeom prst="rect">
            <a:avLst/>
          </a:prstGeom>
          <a:noFill/>
        </p:spPr>
        <p:txBody>
          <a:bodyPr wrap="square" anchor="t" lIns="36576" rIns="36576" tIns="36576" bIns="36576">
            <a:spAutoFit/>
          </a:bodyPr>
          <a:lstStyle/>
          <a:p>
            <a:pPr algn="l">
              <a:spcAft>
                <a:spcPts val="500"/>
              </a:spcAft>
            </a:pPr>
            <a:r>
              <a:rPr sz="1300" b="0" i="0">
                <a:solidFill>
                  <a:srgbClr val="1A1A1A"/>
                </a:solidFill>
                <a:latin typeface="Abadi"/>
              </a:rPr>
              <a:t>▪  The 2018 reflux guideline excludes neurological impairment, atresia and cystic fibrosis; use the group documents.</a:t>
            </a:r>
          </a:p>
          <a:p>
            <a:pPr algn="l">
              <a:spcAft>
                <a:spcPts val="500"/>
              </a:spcAft>
            </a:pPr>
            <a:r>
              <a:rPr sz="1300" b="0" i="0">
                <a:solidFill>
                  <a:srgbClr val="1A1A1A"/>
                </a:solidFill>
                <a:latin typeface="Abadi"/>
              </a:rPr>
              <a:t>▪  Reflux affects up to 70% of neurologically impaired children; prove it before long-term therapy or surgery.</a:t>
            </a:r>
          </a:p>
          <a:p>
            <a:pPr algn="l">
              <a:spcAft>
                <a:spcPts val="500"/>
              </a:spcAft>
            </a:pPr>
            <a:r>
              <a:rPr sz="1300" b="0" i="0">
                <a:solidFill>
                  <a:srgbClr val="1A1A1A"/>
                </a:solidFill>
                <a:latin typeface="Abadi"/>
              </a:rPr>
              <a:t>▪  Fundoplication in impaired children: reoperation 19% vs 5%, aspiration deaths 9% vs 1% (Pearl 1990).</a:t>
            </a:r>
          </a:p>
          <a:p>
            <a:pPr algn="l">
              <a:spcAft>
                <a:spcPts val="500"/>
              </a:spcAft>
            </a:pPr>
            <a:r>
              <a:rPr sz="1300" b="0" i="0">
                <a:solidFill>
                  <a:srgbClr val="1A1A1A"/>
                </a:solidFill>
                <a:latin typeface="Abadi"/>
              </a:rPr>
              <a:t>▪  No fundoplication at gastrostomy: reflux admissions 0.92 vs 1.02; only about 1 in 10 needs one later.</a:t>
            </a:r>
          </a:p>
          <a:p>
            <a:pPr algn="l">
              <a:spcAft>
                <a:spcPts val="500"/>
              </a:spcAft>
            </a:pPr>
            <a:r>
              <a:rPr sz="1300" b="0" i="0">
                <a:solidFill>
                  <a:srgbClr val="1A1A1A"/>
                </a:solidFill>
                <a:latin typeface="Abadi"/>
              </a:rPr>
              <a:t>▪  After a wrap, aspiration pneumonia admissions fell (0.71) but all-cause pneumonia did not (1.07).</a:t>
            </a:r>
          </a:p>
          <a:p>
            <a:pPr algn="l">
              <a:spcAft>
                <a:spcPts val="500"/>
              </a:spcAft>
            </a:pPr>
            <a:r>
              <a:rPr sz="1300" b="0" i="0">
                <a:solidFill>
                  <a:srgbClr val="1A1A1A"/>
                </a:solidFill>
                <a:latin typeface="Abadi"/>
              </a:rPr>
              <a:t>▪  After atresia repair, reflux in 25–80%; endoscopy, not symptoms, guides care.</a:t>
            </a:r>
          </a:p>
          <a:p>
            <a:pPr algn="l">
              <a:spcAft>
                <a:spcPts val="500"/>
              </a:spcAft>
            </a:pPr>
            <a:r>
              <a:rPr sz="1300" b="0" i="0">
                <a:solidFill>
                  <a:srgbClr val="1A1A1A"/>
                </a:solidFill>
                <a:latin typeface="Abadi"/>
              </a:rPr>
              <a:t>▪  Prophylactic PPI does not prevent anastomotic strictures: 44.8% vs 44.1%; OR 1.33 in 2023.</a:t>
            </a:r>
          </a:p>
          <a:p>
            <a:pPr algn="l">
              <a:spcAft>
                <a:spcPts val="500"/>
              </a:spcAft>
            </a:pPr>
            <a:r>
              <a:rPr sz="1300" b="0" i="0">
                <a:solidFill>
                  <a:srgbClr val="1A1A1A"/>
                </a:solidFill>
                <a:latin typeface="Abadi"/>
              </a:rPr>
              <a:t>▪  Adults after atresia: Barrett 6.6%, squamous carcinoma 0.7%; endoscopy every 5–10 years.</a:t>
            </a:r>
          </a:p>
          <a:p>
            <a:pPr algn="l">
              <a:spcAft>
                <a:spcPts val="500"/>
              </a:spcAft>
            </a:pPr>
            <a:r>
              <a:rPr sz="1300" b="0" i="0">
                <a:solidFill>
                  <a:srgbClr val="1A1A1A"/>
                </a:solidFill>
                <a:latin typeface="Abadi"/>
              </a:rPr>
              <a:t>▪  In cystic fibrosis reflux is common and silent; PPI use is linked to FEV1 decline and exacerbations.</a:t>
            </a:r>
          </a:p>
          <a:p>
            <a:pPr algn="l">
              <a:spcAft>
                <a:spcPts val="500"/>
              </a:spcAft>
            </a:pPr>
            <a:r>
              <a:rPr sz="1300" b="0" i="0">
                <a:solidFill>
                  <a:srgbClr val="1A1A1A"/>
                </a:solidFill>
                <a:latin typeface="Abadi"/>
              </a:rPr>
              <a:t>▪  In obesity, weight loss is the treatment; sleeve gastrectomy triples reflux symptoms; dose PPI by lean weight.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anchor="ctr" lIns="0" rIns="0" tIns="0" bIns="0">
            <a:spAutoFit/>
          </a:bodyPr>
          <a:lstStyle/>
          <a:p>
            <a:pPr algn="ctr"/>
            <a:r>
              <a:rPr sz="1500" b="1" i="0">
                <a:solidFill>
                  <a:srgbClr val="FFFFFF"/>
                </a:solidFill>
                <a:latin typeface="Abadi"/>
              </a:rPr>
              <a:t>X</a:t>
            </a:r>
          </a:p>
        </p:txBody>
      </p:sp>
      <p:sp>
        <p:nvSpPr>
          <p:cNvPr id="4" name="TextBox 3"/>
          <p:cNvSpPr txBox="1"/>
          <p:nvPr/>
        </p:nvSpPr>
        <p:spPr>
          <a:xfrm>
            <a:off x="1380744" y="292608"/>
            <a:ext cx="10232136" cy="347472"/>
          </a:xfrm>
          <a:prstGeom prst="rect">
            <a:avLst/>
          </a:prstGeom>
          <a:noFill/>
        </p:spPr>
        <p:txBody>
          <a:bodyPr wrap="square" anchor="ctr" lIns="36576" rIns="36576" tIns="36576" bIns="36576">
            <a:spAutoFit/>
          </a:bodyPr>
          <a:lstStyle/>
          <a:p>
            <a:pPr algn="l"/>
            <a:r>
              <a:rPr sz="1200" b="1" i="0">
                <a:solidFill>
                  <a:srgbClr val="B22222"/>
                </a:solidFill>
                <a:latin typeface="Abadi"/>
              </a:rPr>
              <a:t>SYNTHESIS — SCENARIO TO DECISION</a:t>
            </a:r>
          </a:p>
        </p:txBody>
      </p:sp>
      <p:sp>
        <p:nvSpPr>
          <p:cNvPr id="5" name="TextBox 4"/>
          <p:cNvSpPr txBox="1"/>
          <p:nvPr/>
        </p:nvSpPr>
        <p:spPr>
          <a:xfrm>
            <a:off x="548640" y="722376"/>
            <a:ext cx="11082528" cy="548640"/>
          </a:xfrm>
          <a:prstGeom prst="rect">
            <a:avLst/>
          </a:prstGeom>
          <a:noFill/>
        </p:spPr>
        <p:txBody>
          <a:bodyPr wrap="square" anchor="ctr" lIns="36576" rIns="36576" tIns="36576" bIns="36576">
            <a:spAutoFit/>
          </a:bodyPr>
          <a:lstStyle/>
          <a:p>
            <a:pPr algn="l"/>
            <a:r>
              <a:rPr sz="3000" b="1" i="0">
                <a:solidFill>
                  <a:srgbClr val="1B355E"/>
                </a:solidFill>
                <a:latin typeface="Abadi"/>
              </a:rPr>
              <a:t>FROM SCENARIO TO DECISION</a:t>
            </a:r>
          </a:p>
        </p:txBody>
      </p:sp>
      <p:sp>
        <p:nvSpPr>
          <p:cNvPr id="6" name="TextBox 5"/>
          <p:cNvSpPr txBox="1"/>
          <p:nvPr/>
        </p:nvSpPr>
        <p:spPr>
          <a:xfrm>
            <a:off x="548640" y="1307592"/>
            <a:ext cx="11082528" cy="265176"/>
          </a:xfrm>
          <a:prstGeom prst="rect">
            <a:avLst/>
          </a:prstGeom>
          <a:noFill/>
        </p:spPr>
        <p:txBody>
          <a:bodyPr wrap="square" anchor="t" lIns="36576" rIns="36576" tIns="36576" bIns="36576">
            <a:spAutoFit/>
          </a:bodyPr>
          <a:lstStyle/>
          <a:p>
            <a:pPr algn="l"/>
            <a:r>
              <a:rPr sz="1300" b="0" i="0">
                <a:solidFill>
                  <a:srgbClr val="555555"/>
                </a:solidFill>
                <a:latin typeface="Abadi"/>
              </a:rPr>
              <a:t>Applying the evidence in clinic</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anchor="t" lIns="36576" rIns="36576" tIns="36576" bIns="36576">
            <a:spAutoFit/>
          </a:bodyPr>
          <a:lstStyle/>
          <a:p>
            <a:pPr algn="r"/>
            <a:r>
              <a:rPr sz="1200" b="0" i="0">
                <a:solidFill>
                  <a:srgbClr val="555555"/>
                </a:solidFill>
                <a:latin typeface="Abadi"/>
              </a:rPr>
              <a:t>20</a:t>
            </a:r>
          </a:p>
        </p:txBody>
      </p:sp>
      <p:sp>
        <p:nvSpPr>
          <p:cNvPr id="11" name="TextBox 10"/>
          <p:cNvSpPr txBox="1"/>
          <p:nvPr/>
        </p:nvSpPr>
        <p:spPr>
          <a:xfrm>
            <a:off x="548640" y="5971032"/>
            <a:ext cx="10287000" cy="457200"/>
          </a:xfrm>
          <a:prstGeom prst="rect">
            <a:avLst/>
          </a:prstGeom>
          <a:noFill/>
        </p:spPr>
        <p:txBody>
          <a:bodyPr wrap="square" anchor="t" lIns="36576" rIns="36576" tIns="36576" bIns="36576">
            <a:spAutoFit/>
          </a:bodyPr>
          <a:lstStyle/>
          <a:p>
            <a:pPr algn="l"/>
            <a:r>
              <a:rPr sz="1000" b="0" i="0">
                <a:solidFill>
                  <a:srgbClr val="7F7F7F"/>
                </a:solidFill>
                <a:latin typeface="Abadi"/>
              </a:rPr>
              <a:t>Synthesis of the sources above</a:t>
            </a:r>
          </a:p>
        </p:txBody>
      </p:sp>
      <p:graphicFrame>
        <p:nvGraphicFramePr>
          <p:cNvPr id="12" name="Table 11"/>
          <p:cNvGraphicFramePr>
            <a:graphicFrameLocks noGrp="1"/>
          </p:cNvGraphicFramePr>
          <p:nvPr/>
        </p:nvGraphicFramePr>
        <p:xfrm>
          <a:off x="548640" y="1783080"/>
          <a:ext cx="11082527" cy="3657600"/>
        </p:xfrm>
        <a:graphic>
          <a:graphicData uri="http://schemas.openxmlformats.org/drawingml/2006/table">
            <a:tbl>
              <a:tblPr firstRow="0" bandRow="0">
                <a:tableStyleId>{5C22544A-7EE6-4342-B048-85BDC9FD1C3A}</a:tableStyleId>
              </a:tblPr>
              <a:tblGrid>
                <a:gridCol w="3749039"/>
                <a:gridCol w="3931920"/>
                <a:gridCol w="3401568"/>
              </a:tblGrid>
              <a:tr h="457200">
                <a:tc>
                  <a:txBody>
                    <a:bodyPr wrap="square"/>
                    <a:lstStyle/>
                    <a:p>
                      <a:r>
                        <a:rPr sz="1050" b="1">
                          <a:solidFill>
                            <a:srgbClr val="FFFFFF"/>
                          </a:solidFill>
                          <a:latin typeface="Abadi"/>
                        </a:rPr>
                        <a:t>Scenario</a:t>
                      </a:r>
                    </a:p>
                  </a:txBody>
                  <a:tcPr marL="73152" marR="73152" marT="27432" marB="27432" anchor="ctr">
                    <a:solidFill>
                      <a:srgbClr val="1B355E"/>
                    </a:solidFill>
                  </a:tcPr>
                </a:tc>
                <a:tc>
                  <a:txBody>
                    <a:bodyPr wrap="square"/>
                    <a:lstStyle/>
                    <a:p>
                      <a:r>
                        <a:rPr sz="1050" b="1">
                          <a:solidFill>
                            <a:srgbClr val="FFFFFF"/>
                          </a:solidFill>
                          <a:latin typeface="Abadi"/>
                        </a:rPr>
                        <a:t>Decision</a:t>
                      </a:r>
                    </a:p>
                  </a:txBody>
                  <a:tcPr marL="73152" marR="73152" marT="27432" marB="27432" anchor="ctr">
                    <a:solidFill>
                      <a:srgbClr val="1B355E"/>
                    </a:solidFill>
                  </a:tcPr>
                </a:tc>
                <a:tc>
                  <a:txBody>
                    <a:bodyPr wrap="square"/>
                    <a:lstStyle/>
                    <a:p>
                      <a:r>
                        <a:rPr sz="1050" b="1">
                          <a:solidFill>
                            <a:srgbClr val="FFFFFF"/>
                          </a:solidFill>
                          <a:latin typeface="Abadi"/>
                        </a:rPr>
                        <a:t>Why</a:t>
                      </a:r>
                    </a:p>
                  </a:txBody>
                  <a:tcPr marL="73152" marR="73152" marT="27432" marB="27432" anchor="ctr">
                    <a:solidFill>
                      <a:srgbClr val="1B355E"/>
                    </a:solidFill>
                  </a:tcPr>
                </a:tc>
              </a:tr>
              <a:tr h="457200">
                <a:tc>
                  <a:txBody>
                    <a:bodyPr wrap="square"/>
                    <a:lstStyle/>
                    <a:p>
                      <a:r>
                        <a:rPr sz="1000" b="1">
                          <a:solidFill>
                            <a:srgbClr val="1A1A1A"/>
                          </a:solidFill>
                          <a:latin typeface="Abadi"/>
                        </a:rPr>
                        <a:t>Cerebral palsy, gastrostomy planned, surgeon offers a wrap</a:t>
                      </a:r>
                    </a:p>
                  </a:txBody>
                  <a:tcPr marL="73152" marR="73152" marT="27432" marB="27432" anchor="ctr">
                    <a:solidFill>
                      <a:srgbClr val="FFFFFF"/>
                    </a:solidFill>
                  </a:tcPr>
                </a:tc>
                <a:tc>
                  <a:txBody>
                    <a:bodyPr wrap="square"/>
                    <a:lstStyle/>
                    <a:p>
                      <a:r>
                        <a:rPr sz="1000" b="0">
                          <a:solidFill>
                            <a:srgbClr val="1A1A1A"/>
                          </a:solidFill>
                          <a:latin typeface="Abadi"/>
                        </a:rPr>
                        <a:t>Gastrostomy alone; treat reflux medically</a:t>
                      </a:r>
                    </a:p>
                  </a:txBody>
                  <a:tcPr marL="73152" marR="73152" marT="27432" marB="27432" anchor="ctr">
                    <a:solidFill>
                      <a:srgbClr val="FFFFFF"/>
                    </a:solidFill>
                  </a:tcPr>
                </a:tc>
                <a:tc>
                  <a:txBody>
                    <a:bodyPr wrap="square"/>
                    <a:lstStyle/>
                    <a:p>
                      <a:r>
                        <a:rPr sz="1000" b="0">
                          <a:solidFill>
                            <a:srgbClr val="1A1A1A"/>
                          </a:solidFill>
                          <a:latin typeface="Abadi"/>
                        </a:rPr>
                        <a:t>No fewer admissions with a wrap</a:t>
                      </a:r>
                    </a:p>
                  </a:txBody>
                  <a:tcPr marL="73152" marR="73152" marT="27432" marB="27432" anchor="ctr">
                    <a:solidFill>
                      <a:srgbClr val="FFFFFF"/>
                    </a:solidFill>
                  </a:tcPr>
                </a:tc>
              </a:tr>
              <a:tr h="457200">
                <a:tc>
                  <a:txBody>
                    <a:bodyPr wrap="square"/>
                    <a:lstStyle/>
                    <a:p>
                      <a:r>
                        <a:rPr sz="1000" b="1">
                          <a:solidFill>
                            <a:srgbClr val="1A1A1A"/>
                          </a:solidFill>
                          <a:latin typeface="Abadi"/>
                        </a:rPr>
                        <a:t>Impaired child, arching and sleep loss</a:t>
                      </a:r>
                    </a:p>
                  </a:txBody>
                  <a:tcPr marL="73152" marR="73152" marT="27432" marB="27432" anchor="ctr">
                    <a:solidFill>
                      <a:srgbClr val="F2F4F7"/>
                    </a:solidFill>
                  </a:tcPr>
                </a:tc>
                <a:tc>
                  <a:txBody>
                    <a:bodyPr wrap="square"/>
                    <a:lstStyle/>
                    <a:p>
                      <a:r>
                        <a:rPr sz="1000" b="0">
                          <a:solidFill>
                            <a:srgbClr val="1A1A1A"/>
                          </a:solidFill>
                          <a:latin typeface="Abadi"/>
                        </a:rPr>
                        <a:t>Exclude constipation, pain, fractures; then pH-impedance</a:t>
                      </a:r>
                    </a:p>
                  </a:txBody>
                  <a:tcPr marL="73152" marR="73152" marT="27432" marB="27432" anchor="ctr">
                    <a:solidFill>
                      <a:srgbClr val="F2F4F7"/>
                    </a:solidFill>
                  </a:tcPr>
                </a:tc>
                <a:tc>
                  <a:txBody>
                    <a:bodyPr wrap="square"/>
                    <a:lstStyle/>
                    <a:p>
                      <a:r>
                        <a:rPr sz="1000" b="0">
                          <a:solidFill>
                            <a:srgbClr val="1A1A1A"/>
                          </a:solidFill>
                          <a:latin typeface="Abadi"/>
                        </a:rPr>
                        <a:t>Symptoms are non-specific</a:t>
                      </a:r>
                    </a:p>
                  </a:txBody>
                  <a:tcPr marL="73152" marR="73152" marT="27432" marB="27432" anchor="ctr">
                    <a:solidFill>
                      <a:srgbClr val="F2F4F7"/>
                    </a:solidFill>
                  </a:tcPr>
                </a:tc>
              </a:tr>
              <a:tr h="457200">
                <a:tc>
                  <a:txBody>
                    <a:bodyPr wrap="square"/>
                    <a:lstStyle/>
                    <a:p>
                      <a:r>
                        <a:rPr sz="1000" b="1">
                          <a:solidFill>
                            <a:srgbClr val="1A1A1A"/>
                          </a:solidFill>
                          <a:latin typeface="Abadi"/>
                        </a:rPr>
                        <a:t>Recurrent aspiration despite PPI</a:t>
                      </a:r>
                    </a:p>
                  </a:txBody>
                  <a:tcPr marL="73152" marR="73152" marT="27432" marB="27432" anchor="ctr">
                    <a:solidFill>
                      <a:srgbClr val="FFFFFF"/>
                    </a:solidFill>
                  </a:tcPr>
                </a:tc>
                <a:tc>
                  <a:txBody>
                    <a:bodyPr wrap="square"/>
                    <a:lstStyle/>
                    <a:p>
                      <a:r>
                        <a:rPr sz="1000" b="0">
                          <a:solidFill>
                            <a:srgbClr val="1A1A1A"/>
                          </a:solidFill>
                          <a:latin typeface="Abadi"/>
                        </a:rPr>
                        <a:t>Discuss jejunal feeding or fundoplication</a:t>
                      </a:r>
                    </a:p>
                  </a:txBody>
                  <a:tcPr marL="73152" marR="73152" marT="27432" marB="27432" anchor="ctr">
                    <a:solidFill>
                      <a:srgbClr val="FFFFFF"/>
                    </a:solidFill>
                  </a:tcPr>
                </a:tc>
                <a:tc>
                  <a:txBody>
                    <a:bodyPr wrap="square"/>
                    <a:lstStyle/>
                    <a:p>
                      <a:r>
                        <a:rPr sz="1000" b="0">
                          <a:solidFill>
                            <a:srgbClr val="1A1A1A"/>
                          </a:solidFill>
                          <a:latin typeface="Abadi"/>
                        </a:rPr>
                        <a:t>Similar pneumonia rates; different burdens</a:t>
                      </a:r>
                    </a:p>
                  </a:txBody>
                  <a:tcPr marL="73152" marR="73152" marT="27432" marB="27432" anchor="ctr">
                    <a:solidFill>
                      <a:srgbClr val="FFFFFF"/>
                    </a:solidFill>
                  </a:tcPr>
                </a:tc>
              </a:tr>
              <a:tr h="457200">
                <a:tc>
                  <a:txBody>
                    <a:bodyPr wrap="square"/>
                    <a:lstStyle/>
                    <a:p>
                      <a:r>
                        <a:rPr sz="1000" b="1">
                          <a:solidFill>
                            <a:srgbClr val="1A1A1A"/>
                          </a:solidFill>
                          <a:latin typeface="Abadi"/>
                        </a:rPr>
                        <a:t>Atresia repair, 12 months on PPI</a:t>
                      </a:r>
                    </a:p>
                  </a:txBody>
                  <a:tcPr marL="73152" marR="73152" marT="27432" marB="27432" anchor="ctr">
                    <a:solidFill>
                      <a:srgbClr val="F2F4F7"/>
                    </a:solidFill>
                  </a:tcPr>
                </a:tc>
                <a:tc>
                  <a:txBody>
                    <a:bodyPr wrap="square"/>
                    <a:lstStyle/>
                    <a:p>
                      <a:r>
                        <a:rPr sz="1000" b="0">
                          <a:solidFill>
                            <a:srgbClr val="1A1A1A"/>
                          </a:solidFill>
                          <a:latin typeface="Abadi"/>
                        </a:rPr>
                        <a:t>Stop with taper; pH-impedance and endoscopy</a:t>
                      </a:r>
                    </a:p>
                  </a:txBody>
                  <a:tcPr marL="73152" marR="73152" marT="27432" marB="27432" anchor="ctr">
                    <a:solidFill>
                      <a:srgbClr val="F2F4F7"/>
                    </a:solidFill>
                  </a:tcPr>
                </a:tc>
                <a:tc>
                  <a:txBody>
                    <a:bodyPr wrap="square"/>
                    <a:lstStyle/>
                    <a:p>
                      <a:r>
                        <a:rPr sz="1000" b="0">
                          <a:solidFill>
                            <a:srgbClr val="1A1A1A"/>
                          </a:solidFill>
                          <a:latin typeface="Abadi"/>
                        </a:rPr>
                        <a:t>ERNICA; strictures not prevented</a:t>
                      </a:r>
                    </a:p>
                  </a:txBody>
                  <a:tcPr marL="73152" marR="73152" marT="27432" marB="27432" anchor="ctr">
                    <a:solidFill>
                      <a:srgbClr val="F2F4F7"/>
                    </a:solidFill>
                  </a:tcPr>
                </a:tc>
              </a:tr>
              <a:tr h="457200">
                <a:tc>
                  <a:txBody>
                    <a:bodyPr wrap="square"/>
                    <a:lstStyle/>
                    <a:p>
                      <a:r>
                        <a:rPr sz="1000" b="1">
                          <a:solidFill>
                            <a:srgbClr val="1A1A1A"/>
                          </a:solidFill>
                          <a:latin typeface="Abadi"/>
                        </a:rPr>
                        <a:t>Teen with repaired atresia moving to adult care</a:t>
                      </a:r>
                    </a:p>
                  </a:txBody>
                  <a:tcPr marL="73152" marR="73152" marT="27432" marB="27432" anchor="ctr">
                    <a:solidFill>
                      <a:srgbClr val="FFFFFF"/>
                    </a:solidFill>
                  </a:tcPr>
                </a:tc>
                <a:tc>
                  <a:txBody>
                    <a:bodyPr wrap="square"/>
                    <a:lstStyle/>
                    <a:p>
                      <a:r>
                        <a:rPr sz="1000" b="0">
                          <a:solidFill>
                            <a:srgbClr val="1A1A1A"/>
                          </a:solidFill>
                          <a:latin typeface="Abadi"/>
                        </a:rPr>
                        <a:t>Endoscopy with biopsies; written plan</a:t>
                      </a:r>
                    </a:p>
                  </a:txBody>
                  <a:tcPr marL="73152" marR="73152" marT="27432" marB="27432" anchor="ctr">
                    <a:solidFill>
                      <a:srgbClr val="FFFFFF"/>
                    </a:solidFill>
                  </a:tcPr>
                </a:tc>
                <a:tc>
                  <a:txBody>
                    <a:bodyPr wrap="square"/>
                    <a:lstStyle/>
                    <a:p>
                      <a:r>
                        <a:rPr sz="1000" b="0">
                          <a:solidFill>
                            <a:srgbClr val="1A1A1A"/>
                          </a:solidFill>
                          <a:latin typeface="Abadi"/>
                        </a:rPr>
                        <a:t>Barrett 6.6% in adults</a:t>
                      </a:r>
                    </a:p>
                  </a:txBody>
                  <a:tcPr marL="73152" marR="73152" marT="27432" marB="27432" anchor="ctr">
                    <a:solidFill>
                      <a:srgbClr val="FFFFFF"/>
                    </a:solidFill>
                  </a:tcPr>
                </a:tc>
              </a:tr>
              <a:tr h="457200">
                <a:tc>
                  <a:txBody>
                    <a:bodyPr wrap="square"/>
                    <a:lstStyle/>
                    <a:p>
                      <a:r>
                        <a:rPr sz="1000" b="1">
                          <a:solidFill>
                            <a:srgbClr val="1A1A1A"/>
                          </a:solidFill>
                          <a:latin typeface="Abadi"/>
                        </a:rPr>
                        <a:t>CF child on long-term PPI without clear reason</a:t>
                      </a:r>
                    </a:p>
                  </a:txBody>
                  <a:tcPr marL="73152" marR="73152" marT="27432" marB="27432" anchor="ctr">
                    <a:solidFill>
                      <a:srgbClr val="F2F4F7"/>
                    </a:solidFill>
                  </a:tcPr>
                </a:tc>
                <a:tc>
                  <a:txBody>
                    <a:bodyPr wrap="square"/>
                    <a:lstStyle/>
                    <a:p>
                      <a:r>
                        <a:rPr sz="1000" b="0">
                          <a:solidFill>
                            <a:srgbClr val="1A1A1A"/>
                          </a:solidFill>
                          <a:latin typeface="Abadi"/>
                        </a:rPr>
                        <a:t>Trial off; test if symptoms return</a:t>
                      </a:r>
                    </a:p>
                  </a:txBody>
                  <a:tcPr marL="73152" marR="73152" marT="27432" marB="27432" anchor="ctr">
                    <a:solidFill>
                      <a:srgbClr val="F2F4F7"/>
                    </a:solidFill>
                  </a:tcPr>
                </a:tc>
                <a:tc>
                  <a:txBody>
                    <a:bodyPr wrap="square"/>
                    <a:lstStyle/>
                    <a:p>
                      <a:r>
                        <a:rPr sz="1000" b="0">
                          <a:solidFill>
                            <a:srgbClr val="1A1A1A"/>
                          </a:solidFill>
                          <a:latin typeface="Abadi"/>
                        </a:rPr>
                        <a:t>Linked to FEV1 decline</a:t>
                      </a:r>
                    </a:p>
                  </a:txBody>
                  <a:tcPr marL="73152" marR="73152" marT="27432" marB="27432" anchor="ctr">
                    <a:solidFill>
                      <a:srgbClr val="F2F4F7"/>
                    </a:solidFill>
                  </a:tcPr>
                </a:tc>
              </a:tr>
              <a:tr h="457200">
                <a:tc>
                  <a:txBody>
                    <a:bodyPr wrap="square"/>
                    <a:lstStyle/>
                    <a:p>
                      <a:r>
                        <a:rPr sz="1000" b="1">
                          <a:solidFill>
                            <a:srgbClr val="1A1A1A"/>
                          </a:solidFill>
                          <a:latin typeface="Abadi"/>
                        </a:rPr>
                        <a:t>Obese 15-year-old with heartburn</a:t>
                      </a:r>
                    </a:p>
                  </a:txBody>
                  <a:tcPr marL="73152" marR="73152" marT="27432" marB="27432" anchor="ctr">
                    <a:solidFill>
                      <a:srgbClr val="FFFFFF"/>
                    </a:solidFill>
                  </a:tcPr>
                </a:tc>
                <a:tc>
                  <a:txBody>
                    <a:bodyPr wrap="square"/>
                    <a:lstStyle/>
                    <a:p>
                      <a:r>
                        <a:rPr sz="1000" b="0">
                          <a:solidFill>
                            <a:srgbClr val="1A1A1A"/>
                          </a:solidFill>
                          <a:latin typeface="Abadi"/>
                        </a:rPr>
                        <a:t>Weight programme; PPI by lean weight</a:t>
                      </a:r>
                    </a:p>
                  </a:txBody>
                  <a:tcPr marL="73152" marR="73152" marT="27432" marB="27432" anchor="ctr">
                    <a:solidFill>
                      <a:srgbClr val="FFFFFF"/>
                    </a:solidFill>
                  </a:tcPr>
                </a:tc>
                <a:tc>
                  <a:txBody>
                    <a:bodyPr wrap="square"/>
                    <a:lstStyle/>
                    <a:p>
                      <a:r>
                        <a:rPr sz="1000" b="0">
                          <a:solidFill>
                            <a:srgbClr val="1A1A1A"/>
                          </a:solidFill>
                          <a:latin typeface="Abadi"/>
                        </a:rPr>
                        <a:t>ACG strong; pharmacokinetics</a:t>
                      </a:r>
                    </a:p>
                  </a:txBody>
                  <a:tcPr marL="73152" marR="73152" marT="27432" marB="27432" anchor="ctr">
                    <a:solidFill>
                      <a:srgbClr val="FFFFFF"/>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737360"/>
            <a:ext cx="11082528" cy="2194560"/>
          </a:xfrm>
          <a:prstGeom prst="rect">
            <a:avLst/>
          </a:prstGeom>
          <a:noFill/>
        </p:spPr>
        <p:txBody>
          <a:bodyPr wrap="square" anchor="b" lIns="36576" rIns="36576" tIns="36576" bIns="36576">
            <a:spAutoFit/>
          </a:bodyPr>
          <a:lstStyle/>
          <a:p>
            <a:pPr algn="ctr"/>
            <a:r>
              <a:rPr sz="4000" b="1" i="0">
                <a:solidFill>
                  <a:srgbClr val="FFFFFF"/>
                </a:solidFill>
                <a:latin typeface="Abadi"/>
              </a:rPr>
              <a:t>Reflux in Special Groups — Neurological Impairment, Oesophageal Atresia, Cystic Fibrosis and Obesity</a:t>
            </a:r>
          </a:p>
        </p:txBody>
      </p:sp>
      <p:sp>
        <p:nvSpPr>
          <p:cNvPr id="4" name="TextBox 3"/>
          <p:cNvSpPr txBox="1"/>
          <p:nvPr/>
        </p:nvSpPr>
        <p:spPr>
          <a:xfrm>
            <a:off x="548640" y="4114800"/>
            <a:ext cx="11082528" cy="365760"/>
          </a:xfrm>
          <a:prstGeom prst="rect">
            <a:avLst/>
          </a:prstGeom>
          <a:noFill/>
        </p:spPr>
        <p:txBody>
          <a:bodyPr wrap="square" anchor="t" lIns="36576" rIns="36576" tIns="36576" bIns="36576">
            <a:spAutoFit/>
          </a:bodyPr>
          <a:lstStyle/>
          <a:p>
            <a:pPr algn="ctr"/>
            <a:r>
              <a:rPr sz="1700" b="1" i="0">
                <a:solidFill>
                  <a:srgbClr val="FFFFFF"/>
                </a:solidFill>
                <a:latin typeface="Abadi"/>
              </a:rPr>
              <a:t>Andrey Ermak, 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