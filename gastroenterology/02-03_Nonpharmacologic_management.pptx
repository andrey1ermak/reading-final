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2011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badi"/>
              </a:rPr>
              <a:t>Before Any Drug: Feeds, Thickeners, the Milk Trial and Safe Sleep in the Regurgitating Infant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49039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10916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10916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Rosen 2018 (NASPGHAN/ESPGHAN) · NICE NG1 and QS112 · AAP safe sleep 2022 (Moon) · ESPGHAN cow's milk allergy 2024 (Vandenplas)</a:t>
            </a:r>
          </a:p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Kwok 2017 (Cochrane) · Horvath 2008 · Wenzl 2003 · Loots 2014 · Orenstein 1983 · Del Buono 2005 · Cavataio 1996 · FDA 2011,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CFD8E6"/>
                </a:solidFill>
                <a:latin typeface="Abadi"/>
              </a:rPr>
              <a:t>volume is a question · thickening hides reflux, it does not stop it · a milk trial needs a re-challenge · supine, flat, always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WORKS BEFORE ANY DRUG?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regurgitating infant whose family needs help, without tests and without acid suppression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· NICE NG1, 2015 (updated 2019) · Kwok TC, et al. Cochrane 2017;CD003211 · Moon RY, et al. Pediatrics 2022;150:e2022057990 · Vandenplas Y, et al. JPGN 2024;78:386–413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1998878" cy="2743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19988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16331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Feed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05456"/>
            <a:ext cx="1633118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Ask, measure, then adjust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Smaller, more frequent feeds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Same daily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1838" y="1773936"/>
            <a:ext cx="1998878" cy="27432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21838" y="1773936"/>
            <a:ext cx="19988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4718" y="2011680"/>
            <a:ext cx="16331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Thickening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4718" y="2505456"/>
            <a:ext cx="1633118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Fewer visible spills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Reflux events barely change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Choose the agent by 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95036" y="1773936"/>
            <a:ext cx="1998878" cy="27432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5036" y="1773936"/>
            <a:ext cx="19988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7916" y="2011680"/>
            <a:ext cx="16331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Milk trial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7916" y="2505456"/>
            <a:ext cx="1633118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2–4 weeks hydrolysate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Or maternal dairy elimination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Then re-challenge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8235" y="1773936"/>
            <a:ext cx="1998878" cy="27432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8235" y="1773936"/>
            <a:ext cx="19988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1115" y="2011680"/>
            <a:ext cx="16331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Position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1115" y="2505456"/>
            <a:ext cx="1633118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Upright when awake, after feeds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Supine, flat for sleep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wedges, no inclines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1433" y="1773936"/>
            <a:ext cx="1998878" cy="2743200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1433" y="1773936"/>
            <a:ext cx="1998878" cy="12801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4313" y="2011680"/>
            <a:ext cx="16331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No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4313" y="2505456"/>
            <a:ext cx="1633118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Massage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Infant seats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Alginate for regurgitation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09160"/>
            <a:ext cx="11091672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In a thriving infant non-drug measures treat the family's distress and the laundry, not a disease. Thickening reduces visible regurgitation; nothing on this list has been shown to reduce crying.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Every week of a well-run non-drug plan is a week without a proton pump inhibitor, which in infants matched placebo for symptoms and caused more infections.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EACH MEASURE ACTS AT A DIFFERENT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From a full stomach to milk on the shoulder: where each non-drug measure intervenes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· Wenzl TG, et al. Pediatrics 2003;111:e355–9 · Loots C, et al. JPGN 2014;59:237–43 · Omari T, et al. Gut 1997;40:370–5 · Cavataio F, et al. Arch Dis Child 1996;75:51–6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13508" cy="23317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13508" cy="292608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6720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1 · Distension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57984"/>
            <a:ext cx="1794052" cy="1874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 large feed stretches the proximal stomach and triggers transient LES relaxations. Smaller feeds lower the trigger.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3860" y="2802636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18180" y="1773936"/>
            <a:ext cx="2013508" cy="2331720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3936"/>
            <a:ext cx="2013508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3936"/>
            <a:ext cx="186720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2 · Opening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7908" y="2157984"/>
            <a:ext cx="1794052" cy="1874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The sphincter opens on purpose, 82–94% of reflux. No position or thickener stops a TLESR.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3401" y="2802636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7721" y="1773936"/>
            <a:ext cx="2013508" cy="23317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7721" y="1773936"/>
            <a:ext cx="2013508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0873" y="1773936"/>
            <a:ext cx="186720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3 · 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7449" y="2157984"/>
            <a:ext cx="1794052" cy="1874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Thin milk climbs the oesophagus. Thickening lowers reflux height, so less reaches the mouth.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2942" y="2802636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57262" y="1773936"/>
            <a:ext cx="2013508" cy="23317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7262" y="1773936"/>
            <a:ext cx="2013508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0414" y="1773936"/>
            <a:ext cx="186720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4 · Exit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6990" y="2157984"/>
            <a:ext cx="1794052" cy="1874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Gravity decides how much spills. Lying left side down keeps the junction above the milk.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2483" y="2802636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26803" y="1773936"/>
            <a:ext cx="2013508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26803" y="1773936"/>
            <a:ext cx="2013508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1773936"/>
            <a:ext cx="186720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5 · Allergy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6531" y="2157984"/>
            <a:ext cx="1794052" cy="1874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In cow's milk allergy, dysmotility and slow emptying amplify every step. Removing the protein treats the cause.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434840"/>
            <a:ext cx="1109167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The mechanism lesson.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Most infant reflux is not acid and is carried by normal sphincter relaxations. Non-drug measures therefore change the volume, height and visibility of reflux far more than its frequency, which is why they help the spilling and not the crying.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Wenzl 2003.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Carob-thickened feeds cut regurgitation fourfold while impedance-detected reflux fell only by about a sixth.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FEED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OVERFEEDING IS A QUESTION, NOT A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the documents say about volume and frequency, and what the evidence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· NICE QS112 (2016) statement 3 · NICE NG1, 2015 (updated 2019)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194560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9144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4A5560"/>
                </a:solidFill>
                <a:latin typeface="Abadi"/>
              </a:rPr>
              <a:t>0 trials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Studies of reduced volume or more frequent feeds that met the 2018 guideline's inclusion criteria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1945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9144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E5A88"/>
                </a:solidFill>
                <a:latin typeface="Abadi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NICE: reduce volumes only if excessive for the infant's weight; no threshold given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1945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9144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7A33"/>
                </a:solidFill>
                <a:latin typeface="Abad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NICE: trial of smaller, more frequent feeds while keeping an appropriate total daily amount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9144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Weight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Use the growth chart, not the bottle: a spilling infant gaining well is not underfed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69080"/>
            <a:ext cx="11091672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How to ask.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Ask how many millilitres per feed, how many feeds a day, and who feeds at night; then divide by the weight. Ask whether a bottle is offered every time the infant cries, because hunger cues and colic cues look alike.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How to change.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Reduce only what is excess, split the same daily total into more feeds, and recheck weight in 1–2 weeks. Never cut the daily volume of a faltering infant to reduce spilling.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Ask about smoke.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 2018 guideline lists tobacco and second-hand smoke exposure in the history of every infant with reflux symptoms.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THICKENING — MECHANISM IN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THICKER MILK SPILLS LESS, BUT STILL REFLUXES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Placebo-controlled crossover with impedance-pH and video, 14 infants aged about 6 weeks, carob bean gum; counts over 342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Wenzl TG, et al. Pediatrics 2003;111:e355–9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57399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badi"/>
              </a:rPr>
              <a:t>Episodes (impedance counts scaled ÷ 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532811"/>
            <a:ext cx="731520" cy="58782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58491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" y="5166359"/>
            <a:ext cx="13807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Regurgitation, thickened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455817"/>
            <a:ext cx="731520" cy="266482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2181497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7107" y="5166359"/>
            <a:ext cx="13807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Regurgitation, standard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020132"/>
            <a:ext cx="731520" cy="2100507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39" y="2745812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536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4427" y="5166359"/>
            <a:ext cx="13807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Reflux by impedance ÷ 10, thickened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59" y="2585139"/>
            <a:ext cx="731520" cy="25355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2310819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647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1747" y="5166359"/>
            <a:ext cx="13807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Reflux by impedance ÷ 10, standard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120640"/>
            <a:ext cx="5760719" cy="109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828800"/>
            <a:ext cx="4846320" cy="3840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40"/>
              </a:spcAft>
            </a:pPr>
            <a:r>
              <a:rPr sz="1500" b="1" i="0">
                <a:solidFill>
                  <a:srgbClr val="8C1C1C"/>
                </a:solidFill>
                <a:latin typeface="Abadi"/>
              </a:rPr>
              <a:t>−78%</a:t>
            </a:r>
          </a:p>
          <a:p>
            <a:pPr algn="l">
              <a:spcAft>
                <a:spcPts val="24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Regurgitation episodes with thickened feeds; severity score 0.6 versus 1.8.</a:t>
            </a:r>
          </a:p>
          <a:p>
            <a:pPr algn="l">
              <a:spcAft>
                <a:spcPts val="240"/>
              </a:spcAft>
            </a:pPr>
            <a:r>
              <a:rPr sz="1500" b="1" i="0">
                <a:solidFill>
                  <a:srgbClr val="8C1C1C"/>
                </a:solidFill>
                <a:latin typeface="Abadi"/>
              </a:rPr>
              <a:t>−17%</a:t>
            </a:r>
          </a:p>
          <a:p>
            <a:pPr algn="l">
              <a:spcAft>
                <a:spcPts val="24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Impedance-detected reflux episodes: the reduction was mostly in non-acid reflux.</a:t>
            </a:r>
          </a:p>
          <a:p>
            <a:pPr algn="l">
              <a:spcAft>
                <a:spcPts val="240"/>
              </a:spcAft>
            </a:pPr>
            <a:r>
              <a:rPr sz="1500" b="1" i="0">
                <a:solidFill>
                  <a:srgbClr val="8C1C1C"/>
                </a:solidFill>
                <a:latin typeface="Abadi"/>
              </a:rPr>
              <a:t>No change</a:t>
            </a:r>
          </a:p>
          <a:p>
            <a:pPr algn="l">
              <a:spcAft>
                <a:spcPts val="24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Acid reflux frequency and mean episode duration were unchanged; maximum reflux height fell but not significantly.</a:t>
            </a:r>
          </a:p>
          <a:p>
            <a:pPr algn="l">
              <a:spcAft>
                <a:spcPts val="240"/>
              </a:spcAft>
            </a:pPr>
            <a:r>
              <a:rPr sz="1500" b="1" i="0">
                <a:solidFill>
                  <a:srgbClr val="8C1C1C"/>
                </a:solidFill>
                <a:latin typeface="Abadi"/>
              </a:rPr>
              <a:t>Lesson</a:t>
            </a:r>
          </a:p>
          <a:p>
            <a:pPr algn="l">
              <a:spcAft>
                <a:spcPts val="24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Thickening converts visible regurgitation into silent reflux. It treats the spill, not the reflux.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THICKENING — POOLED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ABOUT TWO FEWER SPILLS A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Randomised trials of thickened feeds in infants with reflux: what the meta-analyses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Kwok TC, Ojha S, Dorling J. Cochrane Database Syst Rev 2017;12:CD003211 · Horvath A, et al. Pediatrics 2008;122:e1268–77 · Rosen R, et al. JPGN 2018;66:516–54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3317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9144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7A33"/>
                </a:solidFill>
                <a:latin typeface="Abadi"/>
              </a:rPr>
              <a:t>−1.97 a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05456"/>
            <a:ext cx="2292858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Regurgitation or vomiting episodes, 6 trials, 442 infants (95% CI −2.32 to −1.61) (Cochrane 2017)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3317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9144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7A33"/>
                </a:solidFill>
                <a:latin typeface="Abadi"/>
              </a:rPr>
              <a:t>RR 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2505456"/>
            <a:ext cx="2292858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Free of regurgitation at 1–8 weeks, 2 trials, 186 infants (1.38–4.51); number needed to treat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331720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9144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4A5560"/>
                </a:solidFill>
                <a:latin typeface="Abadi"/>
              </a:rPr>
              <a:t>No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505456"/>
            <a:ext cx="2292858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Reflux index, acid reflux episodes per hour and long episodes on pH monitoring (Horvath 2008, 14 trials, 877 infants)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9144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Low to very 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2505456"/>
            <a:ext cx="2292858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Quality of evidence for thickened feeds in the 2018 joint guideline; no agent superior to another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51960"/>
            <a:ext cx="1109167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Read it carefully.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 trials measured spills that parents can count. Thickening also increased weight gain modestly in the 2008 meta-analysis, and no serious harms were reported in term infants. The effect on crying, arching and sleep is unknown.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Guideline position.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NASPGHAN/ESPGHAN suggest thickened feeds for visible regurgitation and vomiting; NICE offers a thickened formula as the fourth step for formula-fed infants with distress.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THICKENING — WHICH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CHOOSE THE THICKENER BY AGE AND MILK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Agents, how they behave, and the cautions that matter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· FDA/CDC Health Alert 27 May 2011 (SimplyThick) · FDA guidance on inorganic arsenic in infant rice cereals, Aug 2020 · Wenzl 2003 · NICE NG1, 2015 (updated 2019)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514600"/>
                <a:gridCol w="2743200"/>
                <a:gridCol w="345643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Agent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How it works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Best fit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Caution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Rice cereal added to formula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Bulk starch; thickens in the bottle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Formula-fed term infant where AR formula unavailable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Adds energy; inorganic arsenic (FDA action level 100 ppb); nipple 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Pre-thickened AR formula (rice or corn starch)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Thin in the bottle, thickens in the stomach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Formula-fed term infant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Isocaloric; do not add cereal on top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Carob or locust bean gum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Non-digestible gum; thickens in the bottle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Formula or expressed breast milk, from 42 weeks post-menstrual 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Looser stools; needs hot or cold preparation as labelled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Xanthan gum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Gel-based commercial thickener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Older children with dysphagia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in preterm infants: 17 NEC cases, 5 deaths (FDA 2011); guideline: after 1 year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Starch in breast milk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Broken down by milk amylase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Rarely useful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Thickness falls within minutes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Alginate (infant sachets)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Gel raft with gastric acid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NICE: 1–2 week trial if steps fail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 thickener; little effect on reflux events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B22222"/>
                </a:solidFill>
                <a:latin typeface="Abadi"/>
              </a:rPr>
              <a:t>Practical point.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Pre-thickened formula avoids extra calories and a bigger teat hole; when cereal is used, prefer oat or multigrain and watch the weight curve.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MILK PROTEIN OVERLAP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ALLERGY CAN LOOK EXACTLY LIKE REFLUX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often cow's milk protein allergy sits behind reflux symptoms, and how often it is wrongly suspected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Cavataio F, et al. Arch Dis Child 1996;75:51–6 · Schoemaker AA, et al. Allergy 2015;70:963–72 · Vandenplas Y, et al. JPGN 2024;78:386–413 · Rosen R, et al. JPGN 2018;66:516–54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9144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14 of 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Infants with primary reflux who also had cow's milk allergy in an Italian series (30%); mean age 7.8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1945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9144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2222"/>
                </a:solidFill>
                <a:latin typeface="Abadi"/>
              </a:rPr>
              <a:t>55 of 358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Suspected infants confirmed by double-blind challenge in the EuroPrevall birth cohort of 12,049 (about 1 in 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1945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9144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E5A88"/>
                </a:solidFill>
                <a:latin typeface="Abadi"/>
              </a:rPr>
              <a:t>0.54%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Challenge-proven incidence of cow's milk allergy in European infants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1945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9144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7A33"/>
                </a:solidFill>
                <a:latin typeface="Abadi"/>
              </a:rPr>
              <a:t>2–4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Diagnostic elimination, followed by a re-challenge: the core of ESPGHAN 2024 and the 2018 joint guideline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69080"/>
            <a:ext cx="11091672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Both errors happen.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Allergy is real in a minority of regurgitating infants, especially with eczema, blood or mucus in the stool, diarrhoea, or faltering growth. But ESPGHAN 2024 states that over-diagnosis is far more common than under-diagnosis, and a long unnecessary diet has its own costs.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The rule.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milk trial is a test: it has a start date, an end date and a re-challenge, or it is not a 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MILK TRIAL DONE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TEST WITH A START, AN END AND A RE-CHALLENGE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two- to four-week cow's milk elimination as recommended for infants with persistent symptoms after feeding advice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· Vandenplas Y, et al. JPGN 2024;78:386–413 · NICE NG1, 2015 (updated 2019)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13508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13508" cy="292608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6720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1 · 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57984"/>
            <a:ext cx="1794052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Persistent troublesome regurgitation after feeding advice, or atopic features, blood or mucus in stool.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3860" y="2825496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18180" y="1773936"/>
            <a:ext cx="2013508" cy="23774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3936"/>
            <a:ext cx="2013508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3936"/>
            <a:ext cx="186720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2 · Eliminate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7908" y="2157984"/>
            <a:ext cx="1794052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Formula: extensively hydrolysed formula. Breastfed: mother removes all dairy, with calcium supplement.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3401" y="2825496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7721" y="1773936"/>
            <a:ext cx="2013508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7721" y="1773936"/>
            <a:ext cx="2013508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0873" y="1773936"/>
            <a:ext cx="186720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3 · Judge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7449" y="2157984"/>
            <a:ext cx="1794052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At 2–4 weeks: is the infant clearly better on a diary? No change means not allergy; stop the diet.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2942" y="2825496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57262" y="1773936"/>
            <a:ext cx="2013508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7262" y="1773936"/>
            <a:ext cx="2013508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0414" y="1773936"/>
            <a:ext cx="186720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4 · Re-challenge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6990" y="2157984"/>
            <a:ext cx="1794052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Reintroduce cow's milk at home if non-IgE and no severe reaction; in hospital if IgE features.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2483" y="2825496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26803" y="1773936"/>
            <a:ext cx="2013508" cy="2377440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26803" y="1773936"/>
            <a:ext cx="2013508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1773936"/>
            <a:ext cx="186720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5 · 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6531" y="2157984"/>
            <a:ext cx="1794052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Symptoms return: diagnosis made, continue diet and review every 6–12 months. Symptoms do not return: normal feeds.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526280"/>
            <a:ext cx="11091672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Formula choice.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Extensively hydrolysed formula is first choice; amino acid formula is reserved for severe or anaphylactic reactions or failure of the hydrolysate. The 2018 guideline does not recommend soy or rice hydrolysate as the trial formula.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Breastfeeding.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Continue breastfeeding. Maternal elimination is the trial; switching to formula is 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POSITIONING — THE PHYSIOLOGY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LEFT SIDE DOWN REDUCES REFLUX, NOT CRYING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Sham-controlled trial, 51 infants aged 0–6 months, 8-hour impedance-pH before and after 2 weeks of each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Loots C, et al. JPGN 2014;59:237–43 · Orenstein SR, Whitington PF. J Pediatr 1983;103:534–7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Left lateral position: fall in total reflux episodes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2139696"/>
            <a:ext cx="3226003" cy="20116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8123" y="2093976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−21 per 8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70048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Head-of-cot elevation: fall in total reflux episodes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2706624"/>
            <a:ext cx="1536192" cy="20116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266090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−10 per 8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36976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Proton pump inhibitor plus left lateral: episodes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3273552"/>
            <a:ext cx="3533241" cy="201168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5361" y="3227832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69 → 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03904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Proton pump inhibitor: fall in acid exposure, %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3840480"/>
            <a:ext cx="1044610" cy="201168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6730" y="3794760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−6.8 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2011679"/>
            <a:ext cx="9144" cy="2313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1109167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B355E"/>
                </a:solidFill>
                <a:latin typeface="Abadi"/>
              </a:rPr>
              <a:t>The catch.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Lateral versus elevation: P = 0.056. No group improved in crying or irritability on standard analysis; only vomiting fell, in the antacid plus left lateral group (7 to 2 episodes).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B355E"/>
                </a:solidFill>
                <a:latin typeface="Abadi"/>
              </a:rPr>
              <a:t>Seats make it worse.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In 1983 the infant seat produced more reflux than prone, head-elevated positioning (P &lt; 0.001). A slumped, semi-upright infant compresses the stomach.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B22222"/>
                </a:solidFill>
                <a:latin typeface="Abadi"/>
              </a:rPr>
              <a:t>Why it does not matter for sleep.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Prone and lateral positions raise the risk of sudden infant death; any reflux benefit is only for the awake, observed infant.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POSITIONING — THE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SUPINE, FLAT, ALWAYS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no reflux benefit justifies a change in sleep position or surface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Moon RY, et al. Pediatrics 2022;150:e2022057990 · Safe Sleep for Babies Act 2022 · CPSC data cited by Congress 2022 · Rosen R, et al. JPGN 2018;66:516–54 · NICE NG1, 2015 (updated 2019)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1945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9144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2222"/>
                </a:solidFill>
                <a:latin typeface="Abadi"/>
              </a:rPr>
              <a:t>≈ 3,500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US infants who die each year from sleep-related causes (AAP 2022)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1945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9144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2222"/>
                </a:solidFill>
                <a:latin typeface="Abadi"/>
              </a:rPr>
              <a:t>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Deaths linked to inclined sleepers recorded by the CPSC; products above 10° banned in 2022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9144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4.7 million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Fisher-Price Rock 'n Play sleepers sold before the 2019 recall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194560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9144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1975104"/>
            <a:ext cx="229285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4A5560"/>
                </a:solidFill>
                <a:latin typeface="Abadi"/>
              </a:rPr>
              <a:t>Not effective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2505456"/>
            <a:ext cx="2292858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AAP: elevating the head of the crib does not reduce GER and is not recommended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69080"/>
            <a:ext cx="11091672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What to say.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Healthy infants placed on their backs are not more likely to choke on spit-up: the airway reflexes protect them. Sleep supine on a firm, flat, non-inclined surface, with no wedges, positioners or car seats for sleep.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Guidelines agree.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NASPGHAN/ESPGHAN 2018 recommend against positioning therapy for sleeping infants; NICE NG1 says do not advise positional management for sleeping infants.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Awake.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Holding the infant upright after a feed, and supervised tummy time, are safe and reasonable.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WHAT DOES NOT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POPULAR, PLAUSIBLE, UNPROVEN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Measures families ask about, with the evidence behind 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Del Buono R, et al. Arch Dis Child 2005;90:460–3 · Orenstein SR, Whitington PF. J Pediatr 1983;103:534–7 · Rosen R, et al. JPGN 2018;66:516–54 · NICE NG1, 2015 (updated 2019) · Moon 2022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776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5029200"/>
                <a:gridCol w="331927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Verdict for practice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Infant massage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One small trial in the 2018 guideline review; no benefit on reflux symptoms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recommended for reflux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Alginate (infant sachets)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Impedance crossover, 20 infants: reflux 1.58 vs 1.68 per hour, acid 0.26 vs 0.43, both not significant; height 67% vs 77%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NICE: 1–2 week trial after steps fail; NASPGHAN/ESPGHAN: against chronic use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Infant seat or car seat after feeds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More reflux than prone head-elevated position (1983)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Avoid as a reflux treatment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Wedges, inclined sleepers, cot elevation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reduction in reflux; 97 inclined-sleeper deaths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Never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Early solids before 4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evidence for reflux; linked to later obesity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advised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Switching formula brand repeatedly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trial; delays the real diagnosis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One planned milk trial instead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Soy or rice hydrolysate as the trial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recommended by the 2018 guideline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Use extensively hydrolysed formula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BREASTFED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KEEP BREASTFEEDING; CHANGE THE MOTHER'S 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Non-drug options when the regurgitating infant is breastfed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· NICE QS112 (2016) statement 4 · NICE NG1, 2015 (updated 2019) · Vandenplas Y, et al. JPGN 2024;78:386–413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743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22014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Assess the feed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05456"/>
            <a:ext cx="2201418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Latch, positioning, frequency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Oversupply and fast let-down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NICE: assessment by a trained person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743200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3018" y="2011680"/>
            <a:ext cx="22014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Do not thicken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3018" y="2505456"/>
            <a:ext cx="2201418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Starch broken down by milk amylase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Carob only on expressed milk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 a first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7432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4516" y="2011680"/>
            <a:ext cx="22014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Maternal elimination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505456"/>
            <a:ext cx="2201418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All cow's milk protein, 2–4 weeks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Calcium and vitamin D for mother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Re-challenge at the 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7432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6013" y="2011680"/>
            <a:ext cx="220141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badi"/>
              </a:rPr>
              <a:t>Then, if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6013" y="2505456"/>
            <a:ext cx="2201418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NICE: alginate trial 1–2 weeks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Review the red flags again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Specialist before any acid suppression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1091672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The trap.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Stopping breastfeeding to "see if formula helps" replaces a diagnostic question with a permanent change and removes the protection of breast milk.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The fair point.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For the thriving breastfed infant, explanation of the natural history is still the main treatment.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STEPPED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STEP AT A TIME, EACH WITH A REVIEW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NASPGHAN/ESPGHAN algorithm with the NICE formula-fed sequence, for the infant with troublesome regurgitation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(algorithm 1) · NICE QS112 statements 3–4 · NICE NG1, 2015 (updated 2019)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1680972" cy="2286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1680972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53466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1 · Red flags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57984"/>
            <a:ext cx="1461516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History, examination and growth chart; any flag leaves this pathway.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1324" y="2779776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0780" y="1773936"/>
            <a:ext cx="1680972" cy="2286000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0780" y="1773936"/>
            <a:ext cx="1680972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03932" y="1773936"/>
            <a:ext cx="153466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2 · 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508" y="2157984"/>
            <a:ext cx="1461516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Natural history: peak at 4 months, 90% gone by 1 year.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3464" y="2779776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1773936"/>
            <a:ext cx="1680972" cy="2286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2920" y="1773936"/>
            <a:ext cx="1680972" cy="292608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6072" y="1773936"/>
            <a:ext cx="153466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3 ·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2648" y="2157984"/>
            <a:ext cx="1461516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Correct excess; smaller, more frequent feeds; review in 1–2 weeks.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5604" y="2779776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5060" y="1773936"/>
            <a:ext cx="1680972" cy="2286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5060" y="1773936"/>
            <a:ext cx="1680972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8212" y="1773936"/>
            <a:ext cx="153466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4 · Thicken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4788" y="2157984"/>
            <a:ext cx="1461516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AR formula or thickener for formula-fed infants; 2 weeks.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7744" y="2779776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7200" y="1773936"/>
            <a:ext cx="1680972" cy="2286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7200" y="1773936"/>
            <a:ext cx="1680972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0352" y="1773936"/>
            <a:ext cx="153466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5 · Milk trial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6928" y="2157984"/>
            <a:ext cx="1461516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2–4 weeks hydrolysate or maternal dairy elimination; re-challenge.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9884" y="2779776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badi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59340" y="1773936"/>
            <a:ext cx="1680972" cy="2286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59340" y="1773936"/>
            <a:ext cx="1680972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32492" y="1773936"/>
            <a:ext cx="153466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6 · Specialist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69068" y="2157984"/>
            <a:ext cx="1461516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Only then a time-limited acid suppression trial, by a specialist.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434840"/>
            <a:ext cx="1109167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Where NICE differs.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For formula-fed infants NICE runs volume, frequency, thickener, then a 1–2 week alginate trial; it has no hydrolysate step and reaches allergy through its own pathway. For breastfed infants NICE starts with a breastfeeding assessment.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One change at a time.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Changing feed volume, formula and position on the same day makes every later decision impossible.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and Europe (NASPGHAN/ESPGHAN 2018, ESPGHAN 2024) versus the UK (NICE NG1) and the AAP safe sleep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· NICE NG1, 2015 (updated 2019) · NICE QS112 · Moon RY, et al. Pediatrics 2022 · Vandenplas Y, et al. JPGN 2024;78:386–413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6027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566160"/>
                <a:gridCol w="3566160"/>
                <a:gridCol w="158191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NASPGHAN/ESPGHAN 2018 · ESPGHAN 2024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NICE NG1 · AAP 2022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Avoid overfeeding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Avoid overfeeding; no threshold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Reduce only if excessive for weight; no number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Smaller, more frequent feeds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In algorithm; no trials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Explicit trial step, same daily total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Thickened feeds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Suggest for visible regurgitation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Trial of thickened formula after volume steps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Milk protein trial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2–4 weeks hydrolysate or maternal elimination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hydrolysate step for reflux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Alginate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Against chronic use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1–2 week trial if steps fail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Sleep position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Against positioning therapy when asleep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Supine, flat; elevation ineffective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Thickener in preterm infants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Agent and age limits stated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addressed; FDA warning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Feed volume threshold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number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number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B22222"/>
                </a:solidFill>
                <a:latin typeface="Abadi"/>
              </a:rPr>
              <a:t>Material gap.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Xanthan thickener caused NEC and deaths in preterm infants; NICE reflux guidance does not carry the warning.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NON-DRUG PLAN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failure, harm or a missed diagnosis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2018 · NICE NG1 · Wenzl 2003 · Kwok 2017 · Loots 2014 · Moon 2022 · FDA 2011 · Vandenplas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57400" cy="24688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57400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1691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badi"/>
              </a:rPr>
              <a:t>'Less milk, less spit'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05456"/>
            <a:ext cx="16916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Cuts calories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Faltering growth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Correct only excess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7208" y="1773936"/>
            <a:ext cx="2057400" cy="24688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7208" y="1773936"/>
            <a:ext cx="2057400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0088" y="2011680"/>
            <a:ext cx="1691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badi"/>
              </a:rPr>
              <a:t>'Thick means fixed'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2505456"/>
            <a:ext cx="16916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Spills fall, reflux persists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Crying unchanged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Add calories, add weight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65776" y="1773936"/>
            <a:ext cx="2057400" cy="24688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5776" y="1773936"/>
            <a:ext cx="2057400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8656" y="2011680"/>
            <a:ext cx="1691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badi"/>
              </a:rPr>
              <a:t>'Dairy-free forever'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505456"/>
            <a:ext cx="16916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re-challenge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Over-diagnosis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Nutritional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24344" y="1773936"/>
            <a:ext cx="2057400" cy="2468880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4344" y="1773936"/>
            <a:ext cx="2057400" cy="12801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07223" y="2011680"/>
            <a:ext cx="1691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badi"/>
              </a:rPr>
              <a:t>'Raise the cot'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3" y="2505456"/>
            <a:ext cx="16916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 effective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Infant slides down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Inclines kill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2912" y="1773936"/>
            <a:ext cx="2057400" cy="24688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82912" y="1773936"/>
            <a:ext cx="2057400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5792" y="2011680"/>
            <a:ext cx="1691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badi"/>
              </a:rPr>
              <a:t>'Thickener in the NICU graduate'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2505456"/>
            <a:ext cx="16916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Xanthan: NEC, deaths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Check the agent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Check corrected 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34840"/>
            <a:ext cx="1109167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And two more.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Changing several things at once, so nothing can be judged; and treating a red flag (green vomit, projectile vomiting, onset after 6 months) with feeding advice.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2018 · NICE NG1 and QS112 · Kwok 2017 · Horvath 2008 · Wenzl 2003 · Loots 2014 · Orenstein 1983 · Moon 2022 · FDA 2011 · Cavataio 1996 · Schoemaker 2015 · Del Buono 2005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11091672" cy="4114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▪  No trial of smaller or more frequent feeds met the 2018 guideline's criteria: adjust volume by weight and growth, not by habit.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▪  Thickening: about 2 fewer spills a day, regurgitation-free RR 2.5, NNT 5; no change in pH reflux index.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▪  Carob thickening cut regurgitation from 68 to 15 episodes while impedance reflux fell only from 647 to 536.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▪  Pre-thickened formula is isocaloric; cereal adds calories and rice adds arsenic.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▪  No xanthan gum in preterm infants: 17 NEC cases and 5 deaths prompted the 2011 FDA warning.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▪  Cow's milk allergy in 14 of 47 infants with reflux in one series, yet only 55 of 358 suspected infants confirmed.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▪  Milk trial: 2–4 weeks of extensively hydrolysed formula or maternal elimination, then re-challenge.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▪  Left lateral position reduces reflux episodes (−21 vs −10 per 8 h) but not crying; seats increase reflux.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▪  Sleep supine on a flat surface: cot elevation is ineffective and 97 deaths followed inclined sleepers.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▪  Alginate did not reduce reflux episodes (1.58 vs 1.68 per hour); NICE allows a 1–2 week trial only.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logic in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776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852160"/>
                <a:gridCol w="523951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3-month-old, 200 mL/kg/day, spills after most feeds, gaining above the 75th centile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Reduce to an appropriate total, split into smaller feeds; recheck weight in 2 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Formula-fed 2-month-old, troublesome spilling, normal volumes, thriving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Pre-thickened formula for 2 weeks; explain it treats the spills, not crying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Breastfed 6-week-old, frequent spills, fast let-down, thriving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Breastfeeding assessment; no thickener; reassure and review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4-month-old with eczema, mucus in stools, persistent spilling despite thickened formula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Extensively hydrolysed formula 2–4 weeks, then planned re-challenge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Parents ask for a wedge and want to raise the cot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Supine, flat, no positioners; upright holding after feeds when awake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Former 30-week infant at 2 months corrected, family bought a xanthan thickener online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Stop it; if thickening is needed, AR formula or carob at the right age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Thickened, smaller feeds and milk trial done; still crying, now losing weight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Leave the non-drug pathway: red flags, growth review, specialist assessment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1672" cy="182880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badi"/>
              </a:rPr>
              <a:t>Before Any Drug: Feeds, Thickeners, the Milk Trial and Safe Sleep in the Regurgitating Infant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84048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110916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